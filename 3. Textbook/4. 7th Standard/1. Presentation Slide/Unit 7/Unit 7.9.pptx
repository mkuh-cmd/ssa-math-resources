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7"/>
  </p:notesMasterIdLst>
  <p:sldIdLst>
    <p:sldId id="256" r:id="rId2"/>
    <p:sldId id="257" r:id="rId3"/>
    <p:sldId id="285" r:id="rId4"/>
    <p:sldId id="286" r:id="rId5"/>
    <p:sldId id="261" r:id="rId6"/>
    <p:sldId id="287" r:id="rId7"/>
    <p:sldId id="289" r:id="rId8"/>
    <p:sldId id="290" r:id="rId9"/>
    <p:sldId id="336" r:id="rId10"/>
    <p:sldId id="342" r:id="rId11"/>
    <p:sldId id="343" r:id="rId12"/>
    <p:sldId id="320" r:id="rId13"/>
    <p:sldId id="321" r:id="rId14"/>
    <p:sldId id="335" r:id="rId15"/>
    <p:sldId id="345" r:id="rId16"/>
    <p:sldId id="314" r:id="rId17"/>
    <p:sldId id="315" r:id="rId18"/>
    <p:sldId id="332" r:id="rId19"/>
    <p:sldId id="346" r:id="rId20"/>
    <p:sldId id="347" r:id="rId21"/>
    <p:sldId id="348" r:id="rId22"/>
    <p:sldId id="302" r:id="rId23"/>
    <p:sldId id="303" r:id="rId24"/>
    <p:sldId id="306" r:id="rId25"/>
    <p:sldId id="307" r:id="rId26"/>
  </p:sldIdLst>
  <p:sldSz cx="12192000" cy="6858000"/>
  <p:notesSz cx="6858000" cy="9144000"/>
  <p:embeddedFontLst>
    <p:embeddedFont>
      <p:font typeface="Cambria" pitchFamily="18" charset="0"/>
      <p:regular r:id="rId28"/>
      <p:bold r:id="rId29"/>
      <p:italic r:id="rId30"/>
      <p:boldItalic r:id="rId31"/>
    </p:embeddedFont>
    <p:embeddedFont>
      <p:font typeface="Arial Black" pitchFamily="34" charset="0"/>
      <p:bold r:id="rId32"/>
    </p:embeddedFont>
    <p:embeddedFont>
      <p:font typeface="Verdana" pitchFamily="34" charset="0"/>
      <p:regular r:id="rId33"/>
      <p:bold r:id="rId34"/>
      <p:italic r:id="rId35"/>
      <p:boldItalic r:id="rId36"/>
    </p:embeddedFont>
    <p:embeddedFont>
      <p:font typeface="Calibri" pitchFamily="34" charset="0"/>
      <p:regular r:id="rId37"/>
      <p:bold r:id="rId38"/>
      <p:italic r:id="rId39"/>
      <p:boldItalic r:id="rId40"/>
    </p:embeddedFont>
    <p:embeddedFont>
      <p:font typeface="Kristen ITC" pitchFamily="66" charset="0"/>
      <p:regular r:id="rId41"/>
    </p:embeddedFont>
    <p:embeddedFont>
      <p:font typeface="Century Gothic" pitchFamily="34" charset="0"/>
      <p:regular r:id="rId42"/>
      <p:bold r:id="rId43"/>
      <p:italic r:id="rId44"/>
      <p:boldItalic r:id="rId45"/>
    </p:embeddedFont>
    <p:embeddedFont>
      <p:font typeface="Cambria Math" pitchFamily="18" charset="0"/>
      <p:regular r:id="rId4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xmlns="">
        <p15:guide id="1" orient="horz" pos="2160" userDrawn="1">
          <p15:clr>
            <a:srgbClr val="A4A3A4"/>
          </p15:clr>
        </p15:guide>
        <p15:guide id="2" pos="3840" userDrawn="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1BFAC"/>
    <a:srgbClr val="B399C8"/>
    <a:srgbClr val="276C46"/>
    <a:srgbClr val="C9DF6F"/>
    <a:srgbClr val="417DBF"/>
    <a:srgbClr val="3F2A67"/>
    <a:srgbClr val="E24E5F"/>
    <a:srgbClr val="26B7D4"/>
    <a:srgbClr val="54B5D1"/>
    <a:srgbClr val="33BE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680" autoAdjust="0"/>
    <p:restoredTop sz="94694"/>
  </p:normalViewPr>
  <p:slideViewPr>
    <p:cSldViewPr snapToGrid="0">
      <p:cViewPr varScale="1">
        <p:scale>
          <a:sx n="105" d="100"/>
          <a:sy n="105" d="100"/>
        </p:scale>
        <p:origin x="-1128" y="-7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2.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7.fntdata"/><Relationship Id="rId42" Type="http://schemas.openxmlformats.org/officeDocument/2006/relationships/font" Target="fonts/font15.fntdata"/><Relationship Id="rId55"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6.fntdata"/><Relationship Id="rId38" Type="http://schemas.openxmlformats.org/officeDocument/2006/relationships/font" Target="fonts/font11.fntdata"/><Relationship Id="rId46" Type="http://schemas.openxmlformats.org/officeDocument/2006/relationships/font" Target="fonts/font19.fntdata"/><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2.fntdata"/><Relationship Id="rId41" Type="http://schemas.openxmlformats.org/officeDocument/2006/relationships/font" Target="fonts/font1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37" Type="http://schemas.openxmlformats.org/officeDocument/2006/relationships/font" Target="fonts/font10.fntdata"/><Relationship Id="rId40" Type="http://schemas.openxmlformats.org/officeDocument/2006/relationships/font" Target="fonts/font13.fntdata"/><Relationship Id="rId45" Type="http://schemas.openxmlformats.org/officeDocument/2006/relationships/font" Target="fonts/font18.fntdata"/><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font" Target="fonts/font9.fntdata"/><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4" Type="http://schemas.openxmlformats.org/officeDocument/2006/relationships/font" Target="fonts/font1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font" Target="fonts/font8.fntdata"/><Relationship Id="rId43" Type="http://schemas.openxmlformats.org/officeDocument/2006/relationships/font" Target="fonts/font16.fntdata"/><Relationship Id="rId56"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762963770"/>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3918865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35627792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34937200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34937200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34937200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extLst>
      <p:ext uri="{BB962C8B-B14F-4D97-AF65-F5344CB8AC3E}">
        <p14:creationId xmlns:p14="http://schemas.microsoft.com/office/powerpoint/2010/main" val="14165849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303073590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317407910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317407910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extLst>
      <p:ext uri="{BB962C8B-B14F-4D97-AF65-F5344CB8AC3E}">
        <p14:creationId xmlns:p14="http://schemas.microsoft.com/office/powerpoint/2010/main" val="2580380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263999061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414602280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414602280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414602280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414602280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Tree>
    <p:extLst>
      <p:ext uri="{BB962C8B-B14F-4D97-AF65-F5344CB8AC3E}">
        <p14:creationId xmlns:p14="http://schemas.microsoft.com/office/powerpoint/2010/main" val="401656324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spTree>
    <p:extLst>
      <p:ext uri="{BB962C8B-B14F-4D97-AF65-F5344CB8AC3E}">
        <p14:creationId xmlns:p14="http://schemas.microsoft.com/office/powerpoint/2010/main" val="133611023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24</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25</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8.xml"/><Relationship Id="rId6" Type="http://schemas.openxmlformats.org/officeDocument/2006/relationships/image" Target="../media/image15.png"/><Relationship Id="rId5" Type="http://schemas.openxmlformats.org/officeDocument/2006/relationships/image" Target="../media/image13.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8.xml"/><Relationship Id="rId5" Type="http://schemas.openxmlformats.org/officeDocument/2006/relationships/image" Target="../media/image17.png"/><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 Id="rId5" Type="http://schemas.openxmlformats.org/officeDocument/2006/relationships/image" Target="../media/image20.png"/><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 Id="rId5" Type="http://schemas.openxmlformats.org/officeDocument/2006/relationships/image" Target="../media/image23.png"/><Relationship Id="rId4" Type="http://schemas.openxmlformats.org/officeDocument/2006/relationships/image" Target="../media/image22.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8.xml"/><Relationship Id="rId5" Type="http://schemas.openxmlformats.org/officeDocument/2006/relationships/image" Target="../media/image26.png"/><Relationship Id="rId4" Type="http://schemas.openxmlformats.org/officeDocument/2006/relationships/image" Target="../media/image25.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8.xml"/><Relationship Id="rId4" Type="http://schemas.openxmlformats.org/officeDocument/2006/relationships/image" Target="../media/image27.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8.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8.xml"/><Relationship Id="rId5" Type="http://schemas.openxmlformats.org/officeDocument/2006/relationships/image" Target="../media/image32.png"/><Relationship Id="rId4" Type="http://schemas.openxmlformats.org/officeDocument/2006/relationships/image" Target="../media/image31.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8.xml"/><Relationship Id="rId4" Type="http://schemas.openxmlformats.org/officeDocument/2006/relationships/image" Target="../media/image33.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36.png"/><Relationship Id="rId2" Type="http://schemas.openxmlformats.org/officeDocument/2006/relationships/notesSlide" Target="../notesSlides/notesSlide20.xml"/><Relationship Id="rId1" Type="http://schemas.openxmlformats.org/officeDocument/2006/relationships/slideLayout" Target="../slideLayouts/slideLayout8.xml"/><Relationship Id="rId6" Type="http://schemas.openxmlformats.org/officeDocument/2006/relationships/image" Target="../media/image35.png"/><Relationship Id="rId5" Type="http://schemas.openxmlformats.org/officeDocument/2006/relationships/image" Target="../media/image330.png"/><Relationship Id="rId4" Type="http://schemas.openxmlformats.org/officeDocument/2006/relationships/image" Target="../media/image34.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8.xml"/><Relationship Id="rId4" Type="http://schemas.openxmlformats.org/officeDocument/2006/relationships/image" Target="../media/image37.png"/></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8.xml"/><Relationship Id="rId4" Type="http://schemas.openxmlformats.org/officeDocument/2006/relationships/image" Target="../media/image37.png"/></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8.xml"/><Relationship Id="rId4" Type="http://schemas.openxmlformats.org/officeDocument/2006/relationships/image" Target="../media/image38.png"/></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8.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0" name="Google Shape;309;g104476d1465_1_39">
            <a:extLst>
              <a:ext uri="{FF2B5EF4-FFF2-40B4-BE49-F238E27FC236}">
                <a16:creationId xmlns:a16="http://schemas.microsoft.com/office/drawing/2014/main" xmlns="" id="{566F1422-A32C-7745-9E85-5AF7B9DBC697}"/>
              </a:ext>
            </a:extLst>
          </p:cNvPr>
          <p:cNvSpPr/>
          <p:nvPr/>
        </p:nvSpPr>
        <p:spPr>
          <a:xfrm>
            <a:off x="0" y="0"/>
            <a:ext cx="4094106" cy="6866100"/>
          </a:xfrm>
          <a:prstGeom prst="rect">
            <a:avLst/>
          </a:prstGeom>
          <a:solidFill>
            <a:srgbClr val="41BFAC"/>
          </a:solidFill>
          <a:ln w="9525" cap="flat" cmpd="sng">
            <a:solidFill>
              <a:srgbClr val="41BFAC"/>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261" name="Google Shape;261;g104476d1465_0_0"/>
          <p:cNvSpPr txBox="1">
            <a:spLocks noGrp="1"/>
          </p:cNvSpPr>
          <p:nvPr>
            <p:ph type="ctrTitle" idx="4294967295"/>
          </p:nvPr>
        </p:nvSpPr>
        <p:spPr>
          <a:xfrm>
            <a:off x="5742834" y="2054277"/>
            <a:ext cx="4925167" cy="3194455"/>
          </a:xfrm>
          <a:prstGeom prst="rect">
            <a:avLst/>
          </a:prstGeom>
        </p:spPr>
        <p:txBody>
          <a:bodyPr spcFirstLastPara="1" wrap="square" lIns="91425" tIns="45700" rIns="91425" bIns="45700" anchor="ctr" anchorCtr="0">
            <a:noAutofit/>
          </a:bodyPr>
          <a:lstStyle/>
          <a:p>
            <a:pPr algn="ctr">
              <a:lnSpc>
                <a:spcPct val="100000"/>
              </a:lnSpc>
            </a:pPr>
            <a:r>
              <a:rPr lang="en-US" sz="3800" b="1" dirty="0">
                <a:solidFill>
                  <a:srgbClr val="417DBF"/>
                </a:solidFill>
                <a:latin typeface="Verdana"/>
                <a:ea typeface="Verdana"/>
                <a:cs typeface="Verdana"/>
                <a:sym typeface="Verdana"/>
              </a:rPr>
              <a:t>7</a:t>
            </a:r>
            <a:r>
              <a:rPr lang="en-US" sz="3800" b="1" baseline="30000" dirty="0">
                <a:solidFill>
                  <a:srgbClr val="417DBF"/>
                </a:solidFill>
                <a:latin typeface="Verdana"/>
                <a:ea typeface="Verdana"/>
                <a:cs typeface="Verdana"/>
                <a:sym typeface="Verdana"/>
              </a:rPr>
              <a:t>th</a:t>
            </a:r>
            <a:r>
              <a:rPr lang="en-US" sz="3800" b="1" dirty="0">
                <a:solidFill>
                  <a:srgbClr val="417DBF"/>
                </a:solidFill>
                <a:latin typeface="Verdana"/>
                <a:ea typeface="Verdana"/>
                <a:cs typeface="Verdana"/>
                <a:sym typeface="Verdana"/>
              </a:rPr>
              <a:t> Grade Math</a:t>
            </a:r>
            <a:br>
              <a:rPr lang="en-US" sz="3800" b="1" dirty="0">
                <a:solidFill>
                  <a:srgbClr val="417DBF"/>
                </a:solidFill>
                <a:latin typeface="Verdana"/>
                <a:ea typeface="Verdana"/>
                <a:cs typeface="Verdana"/>
                <a:sym typeface="Verdana"/>
              </a:rPr>
            </a:br>
            <a:endParaRPr lang="en-US" sz="3800" b="1" dirty="0">
              <a:solidFill>
                <a:srgbClr val="417DBF"/>
              </a:solidFill>
              <a:latin typeface="Verdana"/>
              <a:ea typeface="Verdana"/>
              <a:cs typeface="Verdana"/>
              <a:sym typeface="Verdana"/>
            </a:endParaRPr>
          </a:p>
          <a:p>
            <a:pPr lvl="0" algn="ctr">
              <a:lnSpc>
                <a:spcPct val="100000"/>
              </a:lnSpc>
              <a:buClr>
                <a:srgbClr val="000000"/>
              </a:buClr>
            </a:pPr>
            <a:r>
              <a:rPr lang="en-US" sz="3800" b="1" dirty="0">
                <a:solidFill>
                  <a:srgbClr val="417DBF"/>
                </a:solidFill>
                <a:latin typeface="Verdana"/>
                <a:ea typeface="Verdana"/>
                <a:cs typeface="Verdana"/>
                <a:sym typeface="Verdana"/>
              </a:rPr>
              <a:t>Unit 7, Lesson 9</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Percent Increase and Decrease</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1, pg. 337</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pic>
        <p:nvPicPr>
          <p:cNvPr id="3" name="Picture 2" descr="A blue sign with white text&#10;&#10;Description automatically generated with medium confidence">
            <a:extLst>
              <a:ext uri="{FF2B5EF4-FFF2-40B4-BE49-F238E27FC236}">
                <a16:creationId xmlns:a16="http://schemas.microsoft.com/office/drawing/2014/main" xmlns="" id="{5DE477E5-56CA-9D49-B76A-D5EDA7B79A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08753" y="1531721"/>
            <a:ext cx="3270825" cy="3812847"/>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167037" y="91172"/>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326705" y="380372"/>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337</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xmlns="" id="{527A9F9F-07B8-ED47-B967-E5507C67DBC5}"/>
              </a:ext>
            </a:extLst>
          </p:cNvPr>
          <p:cNvSpPr txBox="1">
            <a:spLocks/>
          </p:cNvSpPr>
          <p:nvPr/>
        </p:nvSpPr>
        <p:spPr>
          <a:xfrm>
            <a:off x="436230" y="1600200"/>
            <a:ext cx="10800000"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3500" dirty="0">
                <a:solidFill>
                  <a:schemeClr val="tx1"/>
                </a:solidFill>
                <a:latin typeface="Verdana"/>
                <a:ea typeface="Verdana"/>
                <a:cs typeface="Verdana"/>
                <a:sym typeface="Verdana"/>
              </a:rPr>
              <a:t>MA.7.AR.3.1 </a:t>
            </a:r>
          </a:p>
          <a:p>
            <a:pPr indent="0">
              <a:buNone/>
            </a:pPr>
            <a:r>
              <a:rPr lang="en-US" sz="3500" dirty="0">
                <a:solidFill>
                  <a:schemeClr val="tx1"/>
                </a:solidFill>
                <a:latin typeface="Verdana"/>
                <a:ea typeface="Verdana"/>
                <a:cs typeface="Verdana"/>
                <a:sym typeface="Verdana"/>
              </a:rPr>
              <a:t>Apply previous understanding of percentages and ratios to solve multi-step, real-world percent problems. </a:t>
            </a:r>
            <a:endParaRPr lang="en-US" dirty="0">
              <a:solidFill>
                <a:schemeClr val="tx1"/>
              </a:solidFill>
              <a:latin typeface="Century Gothic"/>
              <a:ea typeface="Century Gothic"/>
              <a:cs typeface="Century Gothic"/>
              <a:sym typeface="Century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xmlns="" id="{08B3C7FF-E6D0-2145-9A84-003D15672764}"/>
              </a:ext>
            </a:extLst>
          </p:cNvPr>
          <p:cNvSpPr txBox="1">
            <a:spLocks/>
          </p:cNvSpPr>
          <p:nvPr/>
        </p:nvSpPr>
        <p:spPr>
          <a:xfrm>
            <a:off x="1154217" y="91172"/>
            <a:ext cx="9206023"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1" name="Google Shape;296;g103996e1364_0_10">
            <a:extLst>
              <a:ext uri="{FF2B5EF4-FFF2-40B4-BE49-F238E27FC236}">
                <a16:creationId xmlns:a16="http://schemas.microsoft.com/office/drawing/2014/main" xmlns="" id="{A6E18E39-B007-D647-9935-55A748533A45}"/>
              </a:ext>
            </a:extLst>
          </p:cNvPr>
          <p:cNvSpPr txBox="1">
            <a:spLocks/>
          </p:cNvSpPr>
          <p:nvPr/>
        </p:nvSpPr>
        <p:spPr>
          <a:xfrm>
            <a:off x="1154217" y="1596390"/>
            <a:ext cx="1008000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MA.K12.MTR.2.1 Demonstrate understanding by representing problems in multiple ways.</a:t>
            </a:r>
          </a:p>
          <a:p>
            <a:pPr marL="457200">
              <a:buSzPts val="523"/>
            </a:pPr>
            <a:endPar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marL="457200">
              <a:buSzPts val="523"/>
            </a:pPr>
            <a:endPar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MA.K12.MTR.7.1 </a:t>
            </a:r>
            <a:r>
              <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rPr>
              <a:t>Apply mathematics to real-world contexts.</a:t>
            </a:r>
            <a:endPar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p:txBody>
      </p:sp>
      <p:sp>
        <p:nvSpPr>
          <p:cNvPr id="9" name="Google Shape;282;g104476d1465_1_17"/>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337</a:t>
            </a:r>
            <a:endParaRPr i="1" dirty="0">
              <a:latin typeface="Calibri"/>
              <a:ea typeface="Calibri"/>
              <a:cs typeface="Calibri"/>
              <a:sym typeface="Calibri"/>
            </a:endParaRPr>
          </a:p>
        </p:txBody>
      </p:sp>
      <p:pic>
        <p:nvPicPr>
          <p:cNvPr id="10" name="Google Shape;281;g104476d1465_1_17"/>
          <p:cNvPicPr preferRelativeResize="0"/>
          <p:nvPr/>
        </p:nvPicPr>
        <p:blipFill>
          <a:blip r:embed="rId4">
            <a:alphaModFix/>
          </a:blip>
          <a:stretch>
            <a:fillRect/>
          </a:stretch>
        </p:blipFill>
        <p:spPr>
          <a:xfrm>
            <a:off x="326705" y="380372"/>
            <a:ext cx="747300" cy="747300"/>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a16="http://schemas.microsoft.com/office/drawing/2014/main" xmlns="" id="{5771FBFA-7311-BB45-8AFF-04B380531EE6}"/>
              </a:ext>
            </a:extLst>
          </p:cNvPr>
          <p:cNvSpPr txBox="1">
            <a:spLocks/>
          </p:cNvSpPr>
          <p:nvPr/>
        </p:nvSpPr>
        <p:spPr>
          <a:xfrm>
            <a:off x="1151269" y="91172"/>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a:t>
            </a:r>
          </a:p>
        </p:txBody>
      </p:sp>
      <p:pic>
        <p:nvPicPr>
          <p:cNvPr id="12" name="Google Shape;303;g103996e1364_0_16">
            <a:extLst>
              <a:ext uri="{FF2B5EF4-FFF2-40B4-BE49-F238E27FC236}">
                <a16:creationId xmlns:a16="http://schemas.microsoft.com/office/drawing/2014/main" xmlns="" id="{81DC7EB0-4FED-FC45-BAEC-D699ED5C2169}"/>
              </a:ext>
            </a:extLst>
          </p:cNvPr>
          <p:cNvPicPr preferRelativeResize="0"/>
          <p:nvPr/>
        </p:nvPicPr>
        <p:blipFill>
          <a:blip r:embed="rId4">
            <a:alphaModFix/>
          </a:blip>
          <a:stretch>
            <a:fillRect/>
          </a:stretch>
        </p:blipFill>
        <p:spPr>
          <a:xfrm>
            <a:off x="326705" y="380372"/>
            <a:ext cx="747300" cy="747300"/>
          </a:xfrm>
          <a:prstGeom prst="rect">
            <a:avLst/>
          </a:prstGeom>
          <a:noFill/>
          <a:ln>
            <a:noFill/>
          </a:ln>
          <a:effectLst>
            <a:outerShdw blurRad="50800" dist="38100" dir="2700000" algn="tl" rotWithShape="0">
              <a:prstClr val="black">
                <a:alpha val="40000"/>
              </a:prstClr>
            </a:outerShdw>
          </a:effectLst>
        </p:spPr>
      </p:pic>
      <p:sp>
        <p:nvSpPr>
          <p:cNvPr id="14" name="Google Shape;302;g103996e1364_0_16">
            <a:extLst>
              <a:ext uri="{FF2B5EF4-FFF2-40B4-BE49-F238E27FC236}">
                <a16:creationId xmlns:a16="http://schemas.microsoft.com/office/drawing/2014/main" xmlns="" id="{9B7C98EC-F13C-9146-B728-D7044DB4247D}"/>
              </a:ext>
            </a:extLst>
          </p:cNvPr>
          <p:cNvSpPr txBox="1">
            <a:spLocks/>
          </p:cNvSpPr>
          <p:nvPr/>
        </p:nvSpPr>
        <p:spPr>
          <a:xfrm>
            <a:off x="436485" y="1600200"/>
            <a:ext cx="1080000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623888" indent="-617538">
              <a:buClr>
                <a:srgbClr val="434343"/>
              </a:buClr>
              <a:buSzPts val="3500"/>
              <a:buFont typeface="Verdana"/>
              <a:buChar char="❏"/>
            </a:pPr>
            <a:r>
              <a:rPr lang="en-US" sz="3500" dirty="0">
                <a:solidFill>
                  <a:schemeClr val="tx1"/>
                </a:solidFill>
                <a:latin typeface="Verdana"/>
                <a:ea typeface="Verdana"/>
                <a:cs typeface="Verdana"/>
                <a:sym typeface="Verdana"/>
              </a:rPr>
              <a:t>I can find percent increase or percent decrease.</a:t>
            </a:r>
          </a:p>
        </p:txBody>
      </p:sp>
      <p:sp>
        <p:nvSpPr>
          <p:cNvPr id="8" name="Google Shape;282;g104476d1465_1_17"/>
          <p:cNvSpPr txBox="1"/>
          <p:nvPr/>
        </p:nvSpPr>
        <p:spPr>
          <a:xfrm>
            <a:off x="8889924" y="64658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337</a:t>
            </a:r>
            <a:endParaRPr i="1" dirty="0">
              <a:latin typeface="Calibri"/>
              <a:ea typeface="Calibri"/>
              <a:cs typeface="Calibri"/>
              <a:sym typeface="Calibri"/>
            </a:endParaRP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pic>
        <p:nvPicPr>
          <p:cNvPr id="312" name="Google Shape;312;g104476d1465_1_39"/>
          <p:cNvPicPr preferRelativeResize="0"/>
          <p:nvPr/>
        </p:nvPicPr>
        <p:blipFill>
          <a:blip r:embed="rId4">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8" name="Google Shape;282;g104476d1465_1_17"/>
          <p:cNvSpPr txBox="1"/>
          <p:nvPr/>
        </p:nvSpPr>
        <p:spPr>
          <a:xfrm>
            <a:off x="8889924" y="64658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338</a:t>
            </a:r>
            <a:endParaRPr i="1" dirty="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xmlns="" id="{DB5796CA-12EB-BB4C-8338-B127D750A026}"/>
              </a:ext>
            </a:extLst>
          </p:cNvPr>
          <p:cNvSpPr txBox="1">
            <a:spLocks/>
          </p:cNvSpPr>
          <p:nvPr/>
        </p:nvSpPr>
        <p:spPr>
          <a:xfrm>
            <a:off x="1150465" y="91172"/>
            <a:ext cx="11041535"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7.9.1 Warm-Up: </a:t>
            </a:r>
            <a:r>
              <a:rPr lang="en-US" sz="3600" b="1" dirty="0" smtClean="0">
                <a:solidFill>
                  <a:srgbClr val="3F2A67"/>
                </a:solidFill>
                <a:latin typeface="Verdana"/>
                <a:ea typeface="Verdana"/>
                <a:cs typeface="Verdana"/>
                <a:sym typeface="Verdana"/>
              </a:rPr>
              <a:t>Interpreting </a:t>
            </a:r>
            <a:r>
              <a:rPr lang="en-US" sz="3600" b="1" dirty="0">
                <a:solidFill>
                  <a:srgbClr val="3F2A67"/>
                </a:solidFill>
                <a:latin typeface="Verdana"/>
                <a:ea typeface="Verdana"/>
                <a:cs typeface="Verdana"/>
                <a:sym typeface="Verdana"/>
              </a:rPr>
              <a:t>Percentages </a:t>
            </a:r>
          </a:p>
        </p:txBody>
      </p:sp>
      <p:pic>
        <p:nvPicPr>
          <p:cNvPr id="13" name="Google Shape;326;g103996e1364_0_25">
            <a:extLst>
              <a:ext uri="{FF2B5EF4-FFF2-40B4-BE49-F238E27FC236}">
                <a16:creationId xmlns:a16="http://schemas.microsoft.com/office/drawing/2014/main" xmlns="" id="{0B25478F-1F7B-DF44-A9BD-898178E878B3}"/>
              </a:ext>
            </a:extLst>
          </p:cNvPr>
          <p:cNvPicPr preferRelativeResize="0"/>
          <p:nvPr/>
        </p:nvPicPr>
        <p:blipFill>
          <a:blip r:embed="rId4">
            <a:alphaModFix/>
          </a:blip>
          <a:stretch>
            <a:fillRect/>
          </a:stretch>
        </p:blipFill>
        <p:spPr>
          <a:xfrm>
            <a:off x="326705" y="380372"/>
            <a:ext cx="747300" cy="747300"/>
          </a:xfrm>
          <a:prstGeom prst="rect">
            <a:avLst/>
          </a:prstGeom>
          <a:noFill/>
          <a:ln>
            <a:noFill/>
          </a:ln>
          <a:effectLst>
            <a:outerShdw blurRad="50800" dist="38100" dir="2700000" algn="tl" rotWithShape="0">
              <a:prstClr val="black">
                <a:alpha val="40000"/>
              </a:prstClr>
            </a:outerShdw>
          </a:effectLst>
        </p:spPr>
      </p:pic>
      <p:sp>
        <p:nvSpPr>
          <p:cNvPr id="2" name="TextBox 1">
            <a:extLst>
              <a:ext uri="{FF2B5EF4-FFF2-40B4-BE49-F238E27FC236}">
                <a16:creationId xmlns:a16="http://schemas.microsoft.com/office/drawing/2014/main" xmlns="" id="{E1D7562E-134F-D14B-AF1A-DF40E11EF758}"/>
              </a:ext>
            </a:extLst>
          </p:cNvPr>
          <p:cNvSpPr txBox="1"/>
          <p:nvPr/>
        </p:nvSpPr>
        <p:spPr>
          <a:xfrm>
            <a:off x="536983" y="1466302"/>
            <a:ext cx="10800000" cy="3785652"/>
          </a:xfrm>
          <a:prstGeom prst="rect">
            <a:avLst/>
          </a:prstGeom>
          <a:noFill/>
        </p:spPr>
        <p:txBody>
          <a:bodyPr wrap="square" rtlCol="0">
            <a:spAutoFit/>
          </a:bodyPr>
          <a:lstStyle/>
          <a:p>
            <a:pPr marL="457200" indent="-457200">
              <a:buFont typeface="+mj-lt"/>
              <a:buAutoNum type="arabicPeriod"/>
            </a:pPr>
            <a:r>
              <a:rPr lang="en-US" sz="2400" dirty="0">
                <a:latin typeface="Verdana"/>
                <a:ea typeface="Times New Roman"/>
              </a:rPr>
              <a:t>If exactly </a:t>
            </a:r>
            <a:r>
              <a:rPr lang="en-US" sz="2400" dirty="0">
                <a:latin typeface="Cambria Math"/>
                <a:ea typeface="Times New Roman"/>
              </a:rPr>
              <a:t>93.6%</a:t>
            </a:r>
            <a:r>
              <a:rPr lang="en-US" sz="2400" dirty="0">
                <a:latin typeface="Verdana"/>
                <a:ea typeface="Times New Roman"/>
              </a:rPr>
              <a:t> of people completed a survey, what is the fewest number of people that were surveyed? Consider: How could it be determined if only one person could have completed it? Can partial people complete the survey?</a:t>
            </a:r>
            <a:endParaRPr lang="en-PH" sz="1600" dirty="0">
              <a:latin typeface="Times New Roman"/>
              <a:ea typeface="Times New Roman"/>
            </a:endParaRPr>
          </a:p>
          <a:p>
            <a:pPr marL="457200" indent="-457200">
              <a:buFont typeface="+mj-lt"/>
              <a:buAutoNum type="arabicPeriod"/>
            </a:pPr>
            <a:endParaRPr lang="en-US" sz="2400" dirty="0">
              <a:latin typeface="Verdana"/>
              <a:ea typeface="Times New Roman"/>
              <a:cs typeface="Times New Roman"/>
            </a:endParaRPr>
          </a:p>
          <a:p>
            <a:pPr marL="457200" indent="-457200">
              <a:buFont typeface="+mj-lt"/>
              <a:buAutoNum type="arabicPeriod"/>
            </a:pPr>
            <a:endParaRPr lang="en-US" sz="2400" dirty="0">
              <a:latin typeface="Verdana"/>
              <a:ea typeface="Times New Roman"/>
              <a:cs typeface="Times New Roman"/>
            </a:endParaRPr>
          </a:p>
          <a:p>
            <a:pPr marL="457200" indent="-457200">
              <a:buFont typeface="+mj-lt"/>
              <a:buAutoNum type="arabicPeriod"/>
            </a:pPr>
            <a:endParaRPr lang="en-US" sz="2400" dirty="0">
              <a:latin typeface="Verdana"/>
              <a:ea typeface="Times New Roman"/>
              <a:cs typeface="Times New Roman"/>
            </a:endParaRPr>
          </a:p>
          <a:p>
            <a:pPr marL="457200" indent="-457200">
              <a:buFont typeface="+mj-lt"/>
              <a:buAutoNum type="arabicPeriod"/>
            </a:pPr>
            <a:endParaRPr lang="en-US" sz="2400" dirty="0">
              <a:latin typeface="Verdana"/>
              <a:ea typeface="Times New Roman"/>
              <a:cs typeface="Times New Roman"/>
            </a:endParaRPr>
          </a:p>
          <a:p>
            <a:pPr marL="457200" indent="-457200">
              <a:buFont typeface="+mj-lt"/>
              <a:buAutoNum type="arabicPeriod"/>
            </a:pPr>
            <a:r>
              <a:rPr lang="en-US" sz="2400" dirty="0">
                <a:latin typeface="Verdana"/>
                <a:ea typeface="Times New Roman"/>
                <a:cs typeface="Times New Roman"/>
              </a:rPr>
              <a:t>Explain your answer using mathematics.</a:t>
            </a:r>
            <a:endParaRPr lang="en-PH" sz="1600" dirty="0">
              <a:latin typeface="Cambria"/>
              <a:ea typeface="Times New Roman"/>
              <a:cs typeface="Times New Roman"/>
            </a:endParaRPr>
          </a:p>
        </p:txBody>
      </p:sp>
      <p:sp>
        <p:nvSpPr>
          <p:cNvPr id="9" name="Google Shape;278;g104476d1465_1_17">
            <a:extLst>
              <a:ext uri="{FF2B5EF4-FFF2-40B4-BE49-F238E27FC236}">
                <a16:creationId xmlns:a16="http://schemas.microsoft.com/office/drawing/2014/main" xmlns="" id="{F1992A8F-F621-054D-B71E-96605FF7377D}"/>
              </a:ext>
            </a:extLst>
          </p:cNvPr>
          <p:cNvSpPr/>
          <p:nvPr/>
        </p:nvSpPr>
        <p:spPr>
          <a:xfrm>
            <a:off x="0" y="-8225"/>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sp>
        <p:nvSpPr>
          <p:cNvPr id="10" name="Google Shape;282;g104476d1465_1_17"/>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338</a:t>
            </a:r>
            <a:endParaRPr i="1" dirty="0">
              <a:latin typeface="Calibri"/>
              <a:ea typeface="Calibri"/>
              <a:cs typeface="Calibri"/>
              <a:sym typeface="Calibri"/>
            </a:endParaRPr>
          </a:p>
        </p:txBody>
      </p:sp>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Instruction</a:t>
            </a:r>
            <a:endParaRPr sz="5100" b="1" dirty="0">
              <a:solidFill>
                <a:srgbClr val="54B5D1"/>
              </a:solidFill>
              <a:latin typeface="Verdana"/>
              <a:ea typeface="Verdana"/>
              <a:cs typeface="Verdana"/>
              <a:sym typeface="Verdana"/>
            </a:endParaRPr>
          </a:p>
        </p:txBody>
      </p:sp>
      <p:pic>
        <p:nvPicPr>
          <p:cNvPr id="7" name="Google Shape;338;g103996e1364_0_315">
            <a:extLst>
              <a:ext uri="{FF2B5EF4-FFF2-40B4-BE49-F238E27FC236}">
                <a16:creationId xmlns:a16="http://schemas.microsoft.com/office/drawing/2014/main" xmlns="" id="{2AC58C8F-2DD8-F347-9ECA-58EE9E1B7E9C}"/>
              </a:ext>
            </a:extLst>
          </p:cNvPr>
          <p:cNvPicPr preferRelativeResize="0"/>
          <p:nvPr/>
        </p:nvPicPr>
        <p:blipFill rotWithShape="1">
          <a:blip r:embed="rId4">
            <a:alphaModFix/>
          </a:blip>
          <a:srcRect/>
          <a:stretch/>
        </p:blipFill>
        <p:spPr>
          <a:xfrm>
            <a:off x="4519075" y="2849920"/>
            <a:ext cx="1145792" cy="1158150"/>
          </a:xfrm>
          <a:prstGeom prst="rect">
            <a:avLst/>
          </a:prstGeom>
          <a:noFill/>
          <a:ln>
            <a:noFill/>
          </a:ln>
          <a:effectLst>
            <a:outerShdw blurRad="50800" dist="38100" dir="2700000" algn="tl" rotWithShape="0">
              <a:prstClr val="black">
                <a:alpha val="40000"/>
              </a:prstClr>
            </a:outerShdw>
          </a:effectLst>
        </p:spPr>
      </p:pic>
      <p:sp>
        <p:nvSpPr>
          <p:cNvPr id="9" name="Google Shape;282;g104476d1465_1_17"/>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338</a:t>
            </a:r>
            <a:endParaRPr i="1" dirty="0">
              <a:latin typeface="Calibri"/>
              <a:ea typeface="Calibri"/>
              <a:cs typeface="Calibri"/>
              <a:sym typeface="Calibri"/>
            </a:endParaRPr>
          </a:p>
        </p:txBody>
      </p:sp>
    </p:spTree>
    <p:extLst>
      <p:ext uri="{BB962C8B-B14F-4D97-AF65-F5344CB8AC3E}">
        <p14:creationId xmlns:p14="http://schemas.microsoft.com/office/powerpoint/2010/main" val="37026124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grpSp>
        <p:nvGrpSpPr>
          <p:cNvPr id="16" name="Group 15"/>
          <p:cNvGrpSpPr/>
          <p:nvPr/>
        </p:nvGrpSpPr>
        <p:grpSpPr>
          <a:xfrm>
            <a:off x="2727048" y="4071114"/>
            <a:ext cx="6928739" cy="2286000"/>
            <a:chOff x="788687" y="4243238"/>
            <a:chExt cx="6928739" cy="2286000"/>
          </a:xfrm>
        </p:grpSpPr>
        <p:pic>
          <p:nvPicPr>
            <p:cNvPr id="11" name="Picture 10"/>
            <p:cNvPicPr/>
            <p:nvPr/>
          </p:nvPicPr>
          <p:blipFill>
            <a:blip r:embed="rId3">
              <a:extLst>
                <a:ext uri="{28A0092B-C50C-407E-A947-70E740481C1C}">
                  <a14:useLocalDpi xmlns:a14="http://schemas.microsoft.com/office/drawing/2010/main"/>
                </a:ext>
              </a:extLst>
            </a:blip>
            <a:stretch>
              <a:fillRect/>
            </a:stretch>
          </p:blipFill>
          <p:spPr>
            <a:xfrm>
              <a:off x="2497091" y="4243238"/>
              <a:ext cx="5220335" cy="2286000"/>
            </a:xfrm>
            <a:prstGeom prst="rect">
              <a:avLst/>
            </a:prstGeom>
          </p:spPr>
        </p:pic>
        <p:cxnSp>
          <p:nvCxnSpPr>
            <p:cNvPr id="15" name="Straight Connector 14"/>
            <p:cNvCxnSpPr/>
            <p:nvPr/>
          </p:nvCxnSpPr>
          <p:spPr>
            <a:xfrm flipH="1">
              <a:off x="788688" y="5285678"/>
              <a:ext cx="161919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flipH="1">
              <a:off x="788687" y="5820937"/>
              <a:ext cx="161919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xmlns="" id="{21B1DF8E-16A0-FA4E-8CEB-434668DFA68D}"/>
              </a:ext>
            </a:extLst>
          </p:cNvPr>
          <p:cNvSpPr txBox="1">
            <a:spLocks/>
          </p:cNvSpPr>
          <p:nvPr/>
        </p:nvSpPr>
        <p:spPr>
          <a:xfrm>
            <a:off x="1152688" y="91172"/>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54B5D1"/>
                </a:solidFill>
                <a:latin typeface="Verdana"/>
                <a:ea typeface="Verdana"/>
                <a:cs typeface="Verdana"/>
                <a:sym typeface="Verdana"/>
              </a:rPr>
              <a:t>7.9.2 Guided Instruction: Percent of Change</a:t>
            </a:r>
          </a:p>
        </p:txBody>
      </p:sp>
      <p:pic>
        <p:nvPicPr>
          <p:cNvPr id="9" name="Google Shape;345;g103996e1364_0_321">
            <a:extLst>
              <a:ext uri="{FF2B5EF4-FFF2-40B4-BE49-F238E27FC236}">
                <a16:creationId xmlns:a16="http://schemas.microsoft.com/office/drawing/2014/main" xmlns="" id="{CBDD45DF-949B-9F42-BFF6-A7167F0CF795}"/>
              </a:ext>
            </a:extLst>
          </p:cNvPr>
          <p:cNvPicPr preferRelativeResize="0"/>
          <p:nvPr/>
        </p:nvPicPr>
        <p:blipFill rotWithShape="1">
          <a:blip r:embed="rId5">
            <a:alphaModFix/>
          </a:blip>
          <a:srcRect/>
          <a:stretch/>
        </p:blipFill>
        <p:spPr>
          <a:xfrm>
            <a:off x="326705" y="380372"/>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xmlns="" id="{C01B13E8-EC8D-E443-A329-C5E3593DD13A}"/>
                  </a:ext>
                </a:extLst>
              </p:cNvPr>
              <p:cNvSpPr txBox="1"/>
              <p:nvPr/>
            </p:nvSpPr>
            <p:spPr>
              <a:xfrm>
                <a:off x="536154" y="1462371"/>
                <a:ext cx="10800000" cy="3143681"/>
              </a:xfrm>
              <a:prstGeom prst="rect">
                <a:avLst/>
              </a:prstGeom>
              <a:noFill/>
            </p:spPr>
            <p:txBody>
              <a:bodyPr wrap="square" rtlCol="0">
                <a:spAutoFit/>
              </a:bodyPr>
              <a:lstStyle/>
              <a:p>
                <a:pPr>
                  <a:spcAft>
                    <a:spcPts val="1200"/>
                  </a:spcAft>
                </a:pPr>
                <a:r>
                  <a:rPr lang="en-US" sz="2000" dirty="0">
                    <a:latin typeface="Verdana" pitchFamily="34" charset="0"/>
                    <a:ea typeface="Verdana" pitchFamily="34" charset="0"/>
                    <a:cs typeface="Times New Roman"/>
                  </a:rPr>
                  <a:t>Percentages can be used to make comparisons from one quantity to another.</a:t>
                </a:r>
              </a:p>
              <a:p>
                <a:pPr marL="457200" indent="-457200">
                  <a:buFont typeface="+mj-lt"/>
                  <a:buAutoNum type="arabicPeriod"/>
                </a:pPr>
                <a:r>
                  <a:rPr lang="en-US" sz="2000" dirty="0">
                    <a:latin typeface="Verdana" pitchFamily="34" charset="0"/>
                    <a:ea typeface="Verdana" pitchFamily="34" charset="0"/>
                    <a:cs typeface="Times New Roman"/>
                  </a:rPr>
                  <a:t>It takes Andre </a:t>
                </a:r>
                <a14:m>
                  <m:oMath xmlns:m="http://schemas.openxmlformats.org/officeDocument/2006/math">
                    <m:f>
                      <m:fPr>
                        <m:ctrlPr>
                          <a:rPr lang="en-PH" sz="2000" i="1">
                            <a:latin typeface="Cambria Math"/>
                            <a:ea typeface="Times New Roman"/>
                            <a:cs typeface="Times New Roman"/>
                          </a:rPr>
                        </m:ctrlPr>
                      </m:fPr>
                      <m:num>
                        <m:r>
                          <a:rPr lang="en-US" sz="2000" i="1">
                            <a:latin typeface="Cambria Math"/>
                            <a:ea typeface="Times New Roman"/>
                            <a:cs typeface="Times New Roman"/>
                          </a:rPr>
                          <m:t>3</m:t>
                        </m:r>
                      </m:num>
                      <m:den>
                        <m:r>
                          <a:rPr lang="en-US" sz="2000" i="1">
                            <a:latin typeface="Cambria Math"/>
                            <a:ea typeface="Times New Roman"/>
                            <a:cs typeface="Times New Roman"/>
                          </a:rPr>
                          <m:t>4</m:t>
                        </m:r>
                      </m:den>
                    </m:f>
                  </m:oMath>
                </a14:m>
                <a:r>
                  <a:rPr lang="en-US" sz="2000" dirty="0">
                    <a:latin typeface="Verdana" pitchFamily="34" charset="0"/>
                    <a:ea typeface="Verdana" pitchFamily="34" charset="0"/>
                    <a:cs typeface="Times New Roman"/>
                  </a:rPr>
                  <a:t> times longer than it took Jada to get to school. </a:t>
                </a:r>
                <a:endParaRPr lang="en-PH" sz="2000" dirty="0">
                  <a:latin typeface="Verdana" pitchFamily="34" charset="0"/>
                  <a:ea typeface="Verdana" pitchFamily="34" charset="0"/>
                  <a:cs typeface="Times New Roman"/>
                </a:endParaRPr>
              </a:p>
              <a:p>
                <a:pPr marL="457200"/>
                <a:endParaRPr lang="en-US" sz="2000" dirty="0">
                  <a:latin typeface="Verdana" pitchFamily="34" charset="0"/>
                  <a:ea typeface="Verdana" pitchFamily="34" charset="0"/>
                  <a:cs typeface="Times New Roman"/>
                </a:endParaRPr>
              </a:p>
              <a:p>
                <a:pPr marL="457200"/>
                <a:r>
                  <a:rPr lang="en-US" sz="2000" dirty="0">
                    <a:latin typeface="Verdana" pitchFamily="34" charset="0"/>
                    <a:ea typeface="Verdana" pitchFamily="34" charset="0"/>
                    <a:cs typeface="Times New Roman"/>
                  </a:rPr>
                  <a:t>The diagram models this in terms of percentages. </a:t>
                </a:r>
                <a:endParaRPr lang="en-PH" sz="2000" dirty="0">
                  <a:latin typeface="Verdana" pitchFamily="34" charset="0"/>
                  <a:ea typeface="Verdana" pitchFamily="34" charset="0"/>
                  <a:cs typeface="Times New Roman"/>
                </a:endParaRPr>
              </a:p>
              <a:p>
                <a:pPr marL="892175" indent="-457200">
                  <a:buFont typeface="+mj-lt"/>
                  <a:buAutoNum type="alphaLcPeriod"/>
                </a:pPr>
                <a:endParaRPr lang="en-US" sz="2000" dirty="0">
                  <a:latin typeface="Verdana" pitchFamily="34" charset="0"/>
                  <a:ea typeface="Verdana" pitchFamily="34" charset="0"/>
                  <a:cs typeface="Times New Roman"/>
                </a:endParaRPr>
              </a:p>
              <a:p>
                <a:pPr marL="892175" indent="-457200">
                  <a:buFont typeface="+mj-lt"/>
                  <a:buAutoNum type="alphaLcPeriod"/>
                </a:pPr>
                <a:r>
                  <a:rPr lang="en-US" sz="2000" dirty="0">
                    <a:latin typeface="Verdana" pitchFamily="34" charset="0"/>
                    <a:ea typeface="Verdana" pitchFamily="34" charset="0"/>
                    <a:cs typeface="Times New Roman"/>
                  </a:rPr>
                  <a:t>Label each line of the tape diagram with the name of the student who is represented. </a:t>
                </a:r>
                <a:endParaRPr lang="en-PH" sz="2000" dirty="0">
                  <a:latin typeface="Verdana" pitchFamily="34" charset="0"/>
                  <a:ea typeface="Verdana" pitchFamily="34" charset="0"/>
                  <a:cs typeface="Times New Roman"/>
                </a:endParaRPr>
              </a:p>
            </p:txBody>
          </p:sp>
        </mc:Choice>
        <mc:Fallback>
          <p:sp>
            <p:nvSpPr>
              <p:cNvPr id="13" name="TextBox 12">
                <a:extLst>
                  <a:ext uri="{FF2B5EF4-FFF2-40B4-BE49-F238E27FC236}">
                    <a16:creationId xmlns:a16="http://schemas.microsoft.com/office/drawing/2014/main" xmlns:a14="http://schemas.microsoft.com/office/drawing/2010/main" xmlns="" id="{C01B13E8-EC8D-E443-A329-C5E3593DD13A}"/>
                  </a:ext>
                </a:extLst>
              </p:cNvPr>
              <p:cNvSpPr txBox="1">
                <a:spLocks noRot="1" noChangeAspect="1" noMove="1" noResize="1" noEditPoints="1" noAdjustHandles="1" noChangeArrowheads="1" noChangeShapeType="1" noTextEdit="1"/>
              </p:cNvSpPr>
              <p:nvPr/>
            </p:nvSpPr>
            <p:spPr>
              <a:xfrm>
                <a:off x="536154" y="1462371"/>
                <a:ext cx="10800000" cy="3143681"/>
              </a:xfrm>
              <a:prstGeom prst="rect">
                <a:avLst/>
              </a:prstGeom>
              <a:blipFill rotWithShape="1">
                <a:blip r:embed="rId6"/>
                <a:stretch>
                  <a:fillRect l="-621" t="-969"/>
                </a:stretch>
              </a:blipFill>
            </p:spPr>
            <p:txBody>
              <a:bodyPr/>
              <a:lstStyle/>
              <a:p>
                <a:r>
                  <a:rPr lang="en-PH">
                    <a:noFill/>
                  </a:rPr>
                  <a:t> </a:t>
                </a:r>
              </a:p>
            </p:txBody>
          </p:sp>
        </mc:Fallback>
      </mc:AlternateContent>
      <p:sp>
        <p:nvSpPr>
          <p:cNvPr id="8" name="Google Shape;278;g104476d1465_1_17">
            <a:extLst>
              <a:ext uri="{FF2B5EF4-FFF2-40B4-BE49-F238E27FC236}">
                <a16:creationId xmlns:a16="http://schemas.microsoft.com/office/drawing/2014/main" xmlns="" id="{2B75021C-9817-6449-B54A-E1D9EB71417A}"/>
              </a:ext>
            </a:extLst>
          </p:cNvPr>
          <p:cNvSpPr/>
          <p:nvPr/>
        </p:nvSpPr>
        <p:spPr>
          <a:xfrm>
            <a:off x="0" y="-8225"/>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sp>
        <p:nvSpPr>
          <p:cNvPr id="19" name="Google Shape;282;g104476d1465_1_17"/>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338</a:t>
            </a:r>
            <a:endParaRPr i="1" dirty="0">
              <a:latin typeface="Calibri"/>
              <a:ea typeface="Calibri"/>
              <a:cs typeface="Calibri"/>
              <a:sym typeface="Calibri"/>
            </a:endParaRPr>
          </a:p>
        </p:txBody>
      </p:sp>
    </p:spTree>
    <p:extLst>
      <p:ext uri="{BB962C8B-B14F-4D97-AF65-F5344CB8AC3E}">
        <p14:creationId xmlns:p14="http://schemas.microsoft.com/office/powerpoint/2010/main" val="39024578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xmlns="" id="{2FA392D8-3ED3-7940-83A8-1451AA8A08D4}"/>
                  </a:ext>
                </a:extLst>
              </p:cNvPr>
              <p:cNvSpPr txBox="1"/>
              <p:nvPr/>
            </p:nvSpPr>
            <p:spPr>
              <a:xfrm>
                <a:off x="533254" y="388147"/>
                <a:ext cx="10800000" cy="5427127"/>
              </a:xfrm>
              <a:prstGeom prst="rect">
                <a:avLst/>
              </a:prstGeom>
              <a:noFill/>
            </p:spPr>
            <p:txBody>
              <a:bodyPr wrap="square" rtlCol="0">
                <a:spAutoFit/>
              </a:bodyPr>
              <a:lstStyle/>
              <a:p>
                <a:pPr marL="896938" indent="-457200">
                  <a:spcBef>
                    <a:spcPts val="180"/>
                  </a:spcBef>
                  <a:spcAft>
                    <a:spcPts val="1800"/>
                  </a:spcAft>
                  <a:buFont typeface="+mj-lt"/>
                  <a:buAutoNum type="alphaLcPeriod" startAt="2"/>
                </a:pPr>
                <a:r>
                  <a:rPr lang="en-US" sz="2000" dirty="0">
                    <a:latin typeface="Verdana" pitchFamily="34" charset="0"/>
                    <a:ea typeface="Verdana" pitchFamily="34" charset="0"/>
                    <a:cs typeface="Times New Roman"/>
                  </a:rPr>
                  <a:t>Complete the statements.</a:t>
                </a:r>
                <a:endParaRPr lang="en-PH" sz="2000" dirty="0">
                  <a:latin typeface="Verdana" pitchFamily="34" charset="0"/>
                  <a:ea typeface="Verdana" pitchFamily="34" charset="0"/>
                  <a:cs typeface="Times New Roman"/>
                </a:endParaRPr>
              </a:p>
              <a:p>
                <a:pPr marL="892175">
                  <a:spcBef>
                    <a:spcPts val="180"/>
                  </a:spcBef>
                </a:pPr>
                <a:r>
                  <a:rPr lang="en-US" sz="2000" dirty="0">
                    <a:latin typeface="Verdana" pitchFamily="34" charset="0"/>
                    <a:ea typeface="Verdana" pitchFamily="34" charset="0"/>
                  </a:rPr>
                  <a:t>The time it takes Andre to get to school is </a:t>
                </a:r>
                <a14:m>
                  <m:oMath xmlns:m="http://schemas.openxmlformats.org/officeDocument/2006/math">
                    <m:r>
                      <a:rPr lang="en-US" sz="2000" i="1">
                        <a:latin typeface="Cambria Math"/>
                      </a:rPr>
                      <m:t>75%</m:t>
                    </m:r>
                  </m:oMath>
                </a14:m>
                <a:r>
                  <a:rPr lang="en-US" sz="2000" dirty="0">
                    <a:latin typeface="Verdana" pitchFamily="34" charset="0"/>
                    <a:ea typeface="Verdana" pitchFamily="34" charset="0"/>
                    <a:cs typeface="Times New Roman"/>
                  </a:rPr>
                  <a:t> </a:t>
                </a:r>
                <a:r>
                  <a:rPr lang="en-US" sz="2000" dirty="0" smtClean="0">
                    <a:latin typeface="Verdana" pitchFamily="34" charset="0"/>
                    <a:ea typeface="Verdana" pitchFamily="34" charset="0"/>
                    <a:cs typeface="Times New Roman"/>
                  </a:rPr>
                  <a:t>      </a:t>
                </a:r>
                <a:r>
                  <a:rPr lang="en-US" sz="2000" dirty="0">
                    <a:latin typeface="Verdana" pitchFamily="34" charset="0"/>
                    <a:ea typeface="Verdana" pitchFamily="34" charset="0"/>
                    <a:cs typeface="Times New Roman"/>
                  </a:rPr>
                  <a:t>	</a:t>
                </a:r>
                <a:r>
                  <a:rPr lang="en-US" sz="2000" dirty="0" smtClean="0">
                    <a:latin typeface="Verdana" pitchFamily="34" charset="0"/>
                    <a:ea typeface="Verdana" pitchFamily="34" charset="0"/>
                    <a:cs typeface="Times New Roman"/>
                  </a:rPr>
                  <a:t> than </a:t>
                </a:r>
                <a:r>
                  <a:rPr lang="en-US" sz="2000" dirty="0">
                    <a:latin typeface="Verdana" pitchFamily="34" charset="0"/>
                    <a:ea typeface="Verdana" pitchFamily="34" charset="0"/>
                    <a:cs typeface="Times New Roman"/>
                  </a:rPr>
                  <a:t>the time it </a:t>
                </a:r>
                <a:r>
                  <a:rPr lang="en-US" sz="2000" dirty="0" smtClean="0">
                    <a:latin typeface="Verdana" pitchFamily="34" charset="0"/>
                    <a:ea typeface="Verdana" pitchFamily="34" charset="0"/>
                    <a:cs typeface="Times New Roman"/>
                  </a:rPr>
                  <a:t/>
                </a:r>
                <a:br>
                  <a:rPr lang="en-US" sz="2000" dirty="0" smtClean="0">
                    <a:latin typeface="Verdana" pitchFamily="34" charset="0"/>
                    <a:ea typeface="Verdana" pitchFamily="34" charset="0"/>
                    <a:cs typeface="Times New Roman"/>
                  </a:rPr>
                </a:br>
                <a:r>
                  <a:rPr lang="en-US" sz="2000" dirty="0" smtClean="0">
                    <a:latin typeface="Verdana" pitchFamily="34" charset="0"/>
                    <a:ea typeface="Verdana" pitchFamily="34" charset="0"/>
                    <a:cs typeface="Times New Roman"/>
                  </a:rPr>
                  <a:t/>
                </a:r>
                <a:br>
                  <a:rPr lang="en-US" sz="2000" dirty="0" smtClean="0">
                    <a:latin typeface="Verdana" pitchFamily="34" charset="0"/>
                    <a:ea typeface="Verdana" pitchFamily="34" charset="0"/>
                    <a:cs typeface="Times New Roman"/>
                  </a:rPr>
                </a:br>
                <a:r>
                  <a:rPr lang="en-US" sz="2000" dirty="0" smtClean="0">
                    <a:latin typeface="Verdana" pitchFamily="34" charset="0"/>
                    <a:ea typeface="Verdana" pitchFamily="34" charset="0"/>
                    <a:cs typeface="Times New Roman"/>
                  </a:rPr>
                  <a:t/>
                </a:r>
                <a:br>
                  <a:rPr lang="en-US" sz="2000" dirty="0" smtClean="0">
                    <a:latin typeface="Verdana" pitchFamily="34" charset="0"/>
                    <a:ea typeface="Verdana" pitchFamily="34" charset="0"/>
                    <a:cs typeface="Times New Roman"/>
                  </a:rPr>
                </a:br>
                <a:r>
                  <a:rPr lang="en-US" sz="2000" dirty="0" smtClean="0">
                    <a:latin typeface="Verdana" pitchFamily="34" charset="0"/>
                    <a:ea typeface="Verdana" pitchFamily="34" charset="0"/>
                    <a:cs typeface="Times New Roman"/>
                  </a:rPr>
                  <a:t>takes </a:t>
                </a:r>
                <a:r>
                  <a:rPr lang="en-US" sz="2000" dirty="0">
                    <a:latin typeface="Verdana" pitchFamily="34" charset="0"/>
                    <a:ea typeface="Verdana" pitchFamily="34" charset="0"/>
                    <a:cs typeface="Times New Roman"/>
                  </a:rPr>
                  <a:t>Jada. The diagram shows </a:t>
                </a:r>
                <a:r>
                  <a:rPr lang="en-US" sz="2000" dirty="0" smtClean="0">
                    <a:latin typeface="Verdana" pitchFamily="34" charset="0"/>
                    <a:ea typeface="Verdana" pitchFamily="34" charset="0"/>
                    <a:cs typeface="Times New Roman"/>
                  </a:rPr>
                  <a:t>Andre’s </a:t>
                </a:r>
                <a:r>
                  <a:rPr lang="en-US" sz="2000" dirty="0">
                    <a:latin typeface="Verdana" pitchFamily="34" charset="0"/>
                    <a:ea typeface="Verdana" pitchFamily="34" charset="0"/>
                    <a:cs typeface="Times New Roman"/>
                  </a:rPr>
                  <a:t>travel time is 	      </a:t>
                </a:r>
                <a:r>
                  <a:rPr lang="en-US" sz="2000" dirty="0">
                    <a:latin typeface="Verdana" pitchFamily="34" charset="0"/>
                    <a:ea typeface="Verdana" pitchFamily="34" charset="0"/>
                    <a:cs typeface="Times New Roman"/>
                  </a:rPr>
                  <a:t> </a:t>
                </a:r>
                <a:r>
                  <a:rPr lang="en-US" sz="2000" dirty="0" smtClean="0">
                    <a:latin typeface="Verdana" pitchFamily="34" charset="0"/>
                    <a:ea typeface="Verdana" pitchFamily="34" charset="0"/>
                    <a:cs typeface="Times New Roman"/>
                  </a:rPr>
                  <a:t>   </a:t>
                </a:r>
                <a:r>
                  <a:rPr lang="en-US" sz="2000" dirty="0" smtClean="0">
                    <a:latin typeface="Verdana" pitchFamily="34" charset="0"/>
                    <a:ea typeface="Verdana" pitchFamily="34" charset="0"/>
                    <a:cs typeface="Times New Roman"/>
                  </a:rPr>
                  <a:t>of </a:t>
                </a:r>
                <a:r>
                  <a:rPr lang="en-US" sz="2000" dirty="0">
                    <a:latin typeface="Verdana" pitchFamily="34" charset="0"/>
                    <a:ea typeface="Verdana" pitchFamily="34" charset="0"/>
                    <a:cs typeface="Times New Roman"/>
                  </a:rPr>
                  <a:t>Jada’s </a:t>
                </a:r>
                <a:r>
                  <a:rPr lang="en-US" sz="2000" dirty="0" smtClean="0">
                    <a:latin typeface="Verdana" pitchFamily="34" charset="0"/>
                    <a:ea typeface="Verdana" pitchFamily="34" charset="0"/>
                    <a:cs typeface="Times New Roman"/>
                  </a:rPr>
                  <a:t/>
                </a:r>
                <a:br>
                  <a:rPr lang="en-US" sz="2000" dirty="0" smtClean="0">
                    <a:latin typeface="Verdana" pitchFamily="34" charset="0"/>
                    <a:ea typeface="Verdana" pitchFamily="34" charset="0"/>
                    <a:cs typeface="Times New Roman"/>
                  </a:rPr>
                </a:br>
                <a:r>
                  <a:rPr lang="en-US" sz="2000" dirty="0" smtClean="0">
                    <a:latin typeface="Verdana" pitchFamily="34" charset="0"/>
                    <a:ea typeface="Verdana" pitchFamily="34" charset="0"/>
                    <a:cs typeface="Times New Roman"/>
                  </a:rPr>
                  <a:t/>
                </a:r>
                <a:br>
                  <a:rPr lang="en-US" sz="2000" dirty="0" smtClean="0">
                    <a:latin typeface="Verdana" pitchFamily="34" charset="0"/>
                    <a:ea typeface="Verdana" pitchFamily="34" charset="0"/>
                    <a:cs typeface="Times New Roman"/>
                  </a:rPr>
                </a:br>
                <a:r>
                  <a:rPr lang="en-US" sz="2000" dirty="0" smtClean="0">
                    <a:latin typeface="Verdana" pitchFamily="34" charset="0"/>
                    <a:ea typeface="Verdana" pitchFamily="34" charset="0"/>
                    <a:cs typeface="Times New Roman"/>
                  </a:rPr>
                  <a:t/>
                </a:r>
                <a:br>
                  <a:rPr lang="en-US" sz="2000" dirty="0" smtClean="0">
                    <a:latin typeface="Verdana" pitchFamily="34" charset="0"/>
                    <a:ea typeface="Verdana" pitchFamily="34" charset="0"/>
                    <a:cs typeface="Times New Roman"/>
                  </a:rPr>
                </a:br>
                <a:r>
                  <a:rPr lang="en-US" sz="2000" dirty="0" smtClean="0">
                    <a:latin typeface="Verdana" pitchFamily="34" charset="0"/>
                    <a:ea typeface="Verdana" pitchFamily="34" charset="0"/>
                    <a:cs typeface="Times New Roman"/>
                  </a:rPr>
                  <a:t>travel </a:t>
                </a:r>
                <a:r>
                  <a:rPr lang="en-US" sz="2000" dirty="0">
                    <a:latin typeface="Verdana" pitchFamily="34" charset="0"/>
                    <a:ea typeface="Verdana" pitchFamily="34" charset="0"/>
                    <a:cs typeface="Times New Roman"/>
                  </a:rPr>
                  <a:t>time.</a:t>
                </a:r>
              </a:p>
              <a:p>
                <a:pPr marL="457200" indent="-457200">
                  <a:spcBef>
                    <a:spcPts val="180"/>
                  </a:spcBef>
                  <a:buFont typeface="+mj-lt"/>
                  <a:buAutoNum type="alphaLcPeriod" startAt="3"/>
                </a:pPr>
                <a:endParaRPr lang="en-US" sz="2000" dirty="0">
                  <a:latin typeface="Verdana"/>
                  <a:ea typeface="Times New Roman"/>
                  <a:cs typeface="Times New Roman"/>
                </a:endParaRPr>
              </a:p>
              <a:p>
                <a:pPr marL="896938" indent="-457200">
                  <a:spcBef>
                    <a:spcPts val="180"/>
                  </a:spcBef>
                  <a:buFont typeface="+mj-lt"/>
                  <a:buAutoNum type="alphaLcPeriod" startAt="3"/>
                </a:pPr>
                <a:endParaRPr lang="en-US" sz="2000" dirty="0" smtClean="0">
                  <a:latin typeface="Verdana"/>
                  <a:ea typeface="Times New Roman"/>
                  <a:cs typeface="Times New Roman"/>
                </a:endParaRPr>
              </a:p>
              <a:p>
                <a:pPr marL="896938" indent="-457200">
                  <a:spcBef>
                    <a:spcPts val="180"/>
                  </a:spcBef>
                  <a:buFont typeface="+mj-lt"/>
                  <a:buAutoNum type="alphaLcPeriod" startAt="3"/>
                </a:pPr>
                <a:r>
                  <a:rPr lang="en-US" sz="2000" dirty="0" smtClean="0">
                    <a:latin typeface="Verdana"/>
                    <a:ea typeface="Times New Roman"/>
                    <a:cs typeface="Times New Roman"/>
                  </a:rPr>
                  <a:t>Let </a:t>
                </a:r>
                <a14:m>
                  <m:oMath xmlns:m="http://schemas.openxmlformats.org/officeDocument/2006/math">
                    <m:r>
                      <a:rPr lang="en-US" sz="2000" i="1">
                        <a:latin typeface="Cambria Math"/>
                        <a:ea typeface="Times New Roman"/>
                        <a:cs typeface="Times New Roman"/>
                      </a:rPr>
                      <m:t>𝑥</m:t>
                    </m:r>
                  </m:oMath>
                </a14:m>
                <a:r>
                  <a:rPr lang="en-US" sz="2000" dirty="0">
                    <a:latin typeface="Verdana"/>
                    <a:ea typeface="Times New Roman"/>
                    <a:cs typeface="Times New Roman"/>
                  </a:rPr>
                  <a:t> represent Jada’s time. Write an expression to model how long it takes Andre to get to school. </a:t>
                </a:r>
                <a:endParaRPr lang="en-PH" sz="2000" dirty="0">
                  <a:latin typeface="Cambria"/>
                  <a:ea typeface="Times New Roman"/>
                  <a:cs typeface="Times New Roman"/>
                </a:endParaRPr>
              </a:p>
              <a:p>
                <a:pPr marL="896938" indent="-457200">
                  <a:spcBef>
                    <a:spcPts val="180"/>
                  </a:spcBef>
                  <a:buFont typeface="+mj-lt"/>
                  <a:buAutoNum type="alphaLcPeriod" startAt="3"/>
                </a:pPr>
                <a:endParaRPr lang="en-US" sz="2000" dirty="0">
                  <a:latin typeface="Verdana"/>
                  <a:ea typeface="Times New Roman"/>
                  <a:cs typeface="Times New Roman"/>
                </a:endParaRPr>
              </a:p>
              <a:p>
                <a:pPr marL="896938" indent="-457200">
                  <a:spcBef>
                    <a:spcPts val="180"/>
                  </a:spcBef>
                  <a:buFont typeface="+mj-lt"/>
                  <a:buAutoNum type="alphaLcPeriod" startAt="3"/>
                </a:pPr>
                <a:endParaRPr lang="en-US" sz="2000" dirty="0">
                  <a:latin typeface="Verdana"/>
                  <a:ea typeface="Times New Roman"/>
                  <a:cs typeface="Times New Roman"/>
                </a:endParaRPr>
              </a:p>
              <a:p>
                <a:pPr marL="896938" indent="-457200">
                  <a:spcBef>
                    <a:spcPts val="180"/>
                  </a:spcBef>
                  <a:buFont typeface="+mj-lt"/>
                  <a:buAutoNum type="alphaLcPeriod" startAt="3"/>
                </a:pPr>
                <a:r>
                  <a:rPr lang="en-US" sz="2000" dirty="0">
                    <a:latin typeface="Verdana"/>
                    <a:ea typeface="Times New Roman"/>
                    <a:cs typeface="Times New Roman"/>
                  </a:rPr>
                  <a:t>If it takes Jada </a:t>
                </a:r>
                <a:r>
                  <a:rPr lang="en-US" sz="2000" dirty="0">
                    <a:latin typeface="Cambria Math"/>
                    <a:ea typeface="Times New Roman"/>
                    <a:cs typeface="Times New Roman"/>
                  </a:rPr>
                  <a:t>8</a:t>
                </a:r>
                <a:r>
                  <a:rPr lang="en-US" sz="2000" dirty="0">
                    <a:latin typeface="Verdana"/>
                    <a:ea typeface="Times New Roman"/>
                    <a:cs typeface="Times New Roman"/>
                  </a:rPr>
                  <a:t> minutes to get to school, calculate how long it takes Andre to get to school.</a:t>
                </a:r>
                <a:endParaRPr lang="en-PH" sz="2000" dirty="0">
                  <a:latin typeface="Cambria"/>
                  <a:ea typeface="Times New Roman"/>
                  <a:cs typeface="Times New Roman"/>
                </a:endParaRPr>
              </a:p>
            </p:txBody>
          </p:sp>
        </mc:Choice>
        <mc:Fallback>
          <p:sp>
            <p:nvSpPr>
              <p:cNvPr id="14" name="TextBox 13">
                <a:extLst>
                  <a:ext uri="{FF2B5EF4-FFF2-40B4-BE49-F238E27FC236}">
                    <a16:creationId xmlns:a16="http://schemas.microsoft.com/office/drawing/2014/main" xmlns:a14="http://schemas.microsoft.com/office/drawing/2010/main" xmlns="" id="{2FA392D8-3ED3-7940-83A8-1451AA8A08D4}"/>
                  </a:ext>
                </a:extLst>
              </p:cNvPr>
              <p:cNvSpPr txBox="1">
                <a:spLocks noRot="1" noChangeAspect="1" noMove="1" noResize="1" noEditPoints="1" noAdjustHandles="1" noChangeArrowheads="1" noChangeShapeType="1" noTextEdit="1"/>
              </p:cNvSpPr>
              <p:nvPr/>
            </p:nvSpPr>
            <p:spPr>
              <a:xfrm>
                <a:off x="533254" y="388147"/>
                <a:ext cx="10800000" cy="5427127"/>
              </a:xfrm>
              <a:prstGeom prst="rect">
                <a:avLst/>
              </a:prstGeom>
              <a:blipFill rotWithShape="1">
                <a:blip r:embed="rId4"/>
                <a:stretch>
                  <a:fillRect t="-674" r="-903" b="-1011"/>
                </a:stretch>
              </a:blipFill>
            </p:spPr>
            <p:txBody>
              <a:bodyPr/>
              <a:lstStyle/>
              <a:p>
                <a:r>
                  <a:rPr lang="en-PH">
                    <a:noFill/>
                  </a:rPr>
                  <a:t> </a:t>
                </a:r>
              </a:p>
            </p:txBody>
          </p:sp>
        </mc:Fallback>
      </mc:AlternateContent>
      <p:sp>
        <p:nvSpPr>
          <p:cNvPr id="6" name="Google Shape;278;g104476d1465_1_17">
            <a:extLst>
              <a:ext uri="{FF2B5EF4-FFF2-40B4-BE49-F238E27FC236}">
                <a16:creationId xmlns:a16="http://schemas.microsoft.com/office/drawing/2014/main" xmlns="" id="{D2AEBEA3-B321-FF43-939E-DBF04267F34A}"/>
              </a:ext>
            </a:extLst>
          </p:cNvPr>
          <p:cNvSpPr/>
          <p:nvPr/>
        </p:nvSpPr>
        <p:spPr>
          <a:xfrm>
            <a:off x="0" y="-8225"/>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sp>
        <p:nvSpPr>
          <p:cNvPr id="8" name="Rounded Rectangle 7"/>
          <p:cNvSpPr/>
          <p:nvPr/>
        </p:nvSpPr>
        <p:spPr>
          <a:xfrm>
            <a:off x="7634254" y="746522"/>
            <a:ext cx="1180396" cy="681038"/>
          </a:xfrm>
          <a:prstGeom prst="roundRect">
            <a:avLst/>
          </a:prstGeom>
          <a:solidFill>
            <a:sysClr val="window" lastClr="FFFFFF"/>
          </a:solidFill>
          <a:ln w="19050" cap="flat" cmpd="sng" algn="ctr">
            <a:solidFill>
              <a:sysClr val="windowText" lastClr="000000"/>
            </a:solidFill>
            <a:prstDash val="solid"/>
          </a:ln>
          <a:effectLst/>
        </p:spPr>
        <p:txBody>
          <a:bodyPr rot="0" spcFirstLastPara="0" vert="horz" wrap="none" lIns="91440" tIns="0" rIns="91440" bIns="0" numCol="1" spcCol="0" rtlCol="0" fromWordArt="0" anchor="ctr" anchorCtr="0" forceAA="0" compatLnSpc="1">
            <a:prstTxWarp prst="textNoShape">
              <a:avLst/>
            </a:prstTxWarp>
            <a:spAutoFit/>
          </a:bodyPr>
          <a:lstStyle/>
          <a:p>
            <a:pPr marL="271463" indent="-271463">
              <a:buClrTx/>
              <a:buSzPct val="100000"/>
              <a:buFont typeface="Courier New"/>
              <a:buChar char="o"/>
              <a:defRPr/>
            </a:pPr>
            <a:r>
              <a:rPr lang="en-US" sz="2000" dirty="0">
                <a:solidFill>
                  <a:sysClr val="windowText" lastClr="000000"/>
                </a:solidFill>
                <a:latin typeface="Verdana" pitchFamily="34" charset="0"/>
                <a:ea typeface="Verdana" pitchFamily="34" charset="0"/>
                <a:cs typeface="Times New Roman"/>
              </a:rPr>
              <a:t>more</a:t>
            </a:r>
            <a:endParaRPr lang="en-PH" sz="2000" dirty="0">
              <a:solidFill>
                <a:sysClr val="windowText" lastClr="000000"/>
              </a:solidFill>
              <a:latin typeface="Verdana" pitchFamily="34" charset="0"/>
              <a:ea typeface="Verdana" pitchFamily="34" charset="0"/>
              <a:cs typeface="Times New Roman"/>
            </a:endParaRPr>
          </a:p>
          <a:p>
            <a:pPr marL="271463" indent="-271463">
              <a:spcAft>
                <a:spcPts val="1000"/>
              </a:spcAft>
              <a:buClrTx/>
              <a:buSzPct val="100000"/>
              <a:buFont typeface="Courier New"/>
              <a:buChar char="o"/>
              <a:defRPr/>
            </a:pPr>
            <a:r>
              <a:rPr lang="en-US" sz="2000" dirty="0">
                <a:solidFill>
                  <a:sysClr val="windowText" lastClr="000000"/>
                </a:solidFill>
                <a:latin typeface="Verdana" pitchFamily="34" charset="0"/>
                <a:ea typeface="Verdana" pitchFamily="34" charset="0"/>
                <a:cs typeface="Times New Roman"/>
              </a:rPr>
              <a:t>less</a:t>
            </a:r>
            <a:endParaRPr lang="en-PH" sz="2000" dirty="0">
              <a:solidFill>
                <a:sysClr val="windowText" lastClr="000000"/>
              </a:solidFill>
              <a:latin typeface="Verdana" pitchFamily="34" charset="0"/>
              <a:ea typeface="Verdana" pitchFamily="34" charset="0"/>
              <a:cs typeface="Times New Roman"/>
            </a:endParaRPr>
          </a:p>
        </p:txBody>
      </p:sp>
      <mc:AlternateContent xmlns:mc="http://schemas.openxmlformats.org/markup-compatibility/2006">
        <mc:Choice xmlns:a14="http://schemas.microsoft.com/office/drawing/2010/main" Requires="a14">
          <p:sp>
            <p:nvSpPr>
              <p:cNvPr id="13" name="Rounded Rectangle 12"/>
              <p:cNvSpPr/>
              <p:nvPr/>
            </p:nvSpPr>
            <p:spPr>
              <a:xfrm>
                <a:off x="8430075" y="1716225"/>
                <a:ext cx="1200997" cy="721256"/>
              </a:xfrm>
              <a:prstGeom prst="roundRect">
                <a:avLst/>
              </a:prstGeom>
              <a:solidFill>
                <a:sysClr val="window" lastClr="FFFFFF"/>
              </a:solidFill>
              <a:ln w="19050" cap="flat" cmpd="sng" algn="ctr">
                <a:solidFill>
                  <a:sysClr val="windowText" lastClr="000000"/>
                </a:solidFill>
                <a:prstDash val="solid"/>
              </a:ln>
              <a:effectLst/>
            </p:spPr>
            <p:txBody>
              <a:bodyPr rot="0" spcFirstLastPara="0" vert="horz" wrap="none" lIns="91440" tIns="36000" rIns="91440" bIns="0" numCol="1" spcCol="0" rtlCol="0" fromWordArt="0" anchor="ctr" anchorCtr="0" forceAA="0" compatLnSpc="1">
                <a:prstTxWarp prst="textNoShape">
                  <a:avLst/>
                </a:prstTxWarp>
                <a:spAutoFit/>
              </a:bodyPr>
              <a:lstStyle/>
              <a:p>
                <a:pPr marL="271463" indent="-271463">
                  <a:buClrTx/>
                  <a:buSzPct val="100000"/>
                  <a:buFont typeface="Courier New"/>
                  <a:buChar char="o"/>
                  <a:defRPr/>
                </a:pPr>
                <a14:m>
                  <m:oMath xmlns:m="http://schemas.openxmlformats.org/officeDocument/2006/math">
                    <m:r>
                      <a:rPr lang="en-US" sz="2000" i="1">
                        <a:solidFill>
                          <a:sysClr val="windowText" lastClr="000000"/>
                        </a:solidFill>
                        <a:latin typeface="Cambria Math"/>
                        <a:ea typeface="Times New Roman"/>
                        <a:cs typeface="Times New Roman"/>
                      </a:rPr>
                      <m:t>75%</m:t>
                    </m:r>
                  </m:oMath>
                </a14:m>
                <a:endParaRPr lang="en-PH" sz="2000" dirty="0">
                  <a:solidFill>
                    <a:sysClr val="windowText" lastClr="000000"/>
                  </a:solidFill>
                  <a:latin typeface="Verdana" pitchFamily="34" charset="0"/>
                  <a:ea typeface="Verdana" pitchFamily="34" charset="0"/>
                  <a:cs typeface="Times New Roman"/>
                </a:endParaRPr>
              </a:p>
              <a:p>
                <a:pPr marL="271463" indent="-271463">
                  <a:spcAft>
                    <a:spcPts val="1000"/>
                  </a:spcAft>
                  <a:buClrTx/>
                  <a:buSzPct val="100000"/>
                  <a:buFont typeface="Courier New"/>
                  <a:buChar char="o"/>
                  <a:defRPr/>
                </a:pPr>
                <a14:m>
                  <m:oMath xmlns:m="http://schemas.openxmlformats.org/officeDocument/2006/math">
                    <m:r>
                      <a:rPr lang="en-US" sz="2000" i="1">
                        <a:solidFill>
                          <a:sysClr val="windowText" lastClr="000000"/>
                        </a:solidFill>
                        <a:latin typeface="Cambria Math"/>
                        <a:ea typeface="Times New Roman"/>
                        <a:cs typeface="Times New Roman"/>
                      </a:rPr>
                      <m:t>175%</m:t>
                    </m:r>
                  </m:oMath>
                </a14:m>
                <a:endParaRPr lang="en-PH" sz="2000" dirty="0">
                  <a:solidFill>
                    <a:sysClr val="windowText" lastClr="000000"/>
                  </a:solidFill>
                  <a:latin typeface="Verdana" pitchFamily="34" charset="0"/>
                  <a:ea typeface="Verdana" pitchFamily="34" charset="0"/>
                  <a:cs typeface="Times New Roman"/>
                </a:endParaRPr>
              </a:p>
            </p:txBody>
          </p:sp>
        </mc:Choice>
        <mc:Fallback>
          <p:sp>
            <p:nvSpPr>
              <p:cNvPr id="13" name="Rounded Rectangle 12"/>
              <p:cNvSpPr>
                <a:spLocks noRot="1" noChangeAspect="1" noMove="1" noResize="1" noEditPoints="1" noAdjustHandles="1" noChangeArrowheads="1" noChangeShapeType="1" noTextEdit="1"/>
              </p:cNvSpPr>
              <p:nvPr/>
            </p:nvSpPr>
            <p:spPr>
              <a:xfrm>
                <a:off x="8430075" y="1716225"/>
                <a:ext cx="1200997" cy="721256"/>
              </a:xfrm>
              <a:prstGeom prst="roundRect">
                <a:avLst/>
              </a:prstGeom>
              <a:blipFill rotWithShape="1">
                <a:blip r:embed="rId5"/>
                <a:stretch>
                  <a:fillRect l="-1500" b="-16529"/>
                </a:stretch>
              </a:blipFill>
              <a:ln w="19050" cap="flat" cmpd="sng" algn="ctr">
                <a:solidFill>
                  <a:sysClr val="windowText" lastClr="000000"/>
                </a:solidFill>
                <a:prstDash val="solid"/>
              </a:ln>
              <a:effectLst/>
            </p:spPr>
            <p:txBody>
              <a:bodyPr/>
              <a:lstStyle/>
              <a:p>
                <a:r>
                  <a:rPr lang="en-PH">
                    <a:noFill/>
                  </a:rPr>
                  <a:t> </a:t>
                </a:r>
              </a:p>
            </p:txBody>
          </p:sp>
        </mc:Fallback>
      </mc:AlternateContent>
      <p:sp>
        <p:nvSpPr>
          <p:cNvPr id="15" name="Google Shape;282;g104476d1465_1_17"/>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338</a:t>
            </a:r>
            <a:endParaRPr i="1" dirty="0">
              <a:latin typeface="Calibri"/>
              <a:ea typeface="Calibri"/>
              <a:cs typeface="Calibri"/>
              <a:sym typeface="Calibri"/>
            </a:endParaRPr>
          </a:p>
        </p:txBody>
      </p:sp>
    </p:spTree>
    <p:extLst>
      <p:ext uri="{BB962C8B-B14F-4D97-AF65-F5344CB8AC3E}">
        <p14:creationId xmlns:p14="http://schemas.microsoft.com/office/powerpoint/2010/main" val="16177500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14" name="TextBox 13">
            <a:extLst>
              <a:ext uri="{FF2B5EF4-FFF2-40B4-BE49-F238E27FC236}">
                <a16:creationId xmlns:a16="http://schemas.microsoft.com/office/drawing/2014/main" xmlns="" id="{2FA392D8-3ED3-7940-83A8-1451AA8A08D4}"/>
              </a:ext>
            </a:extLst>
          </p:cNvPr>
          <p:cNvSpPr txBox="1"/>
          <p:nvPr/>
        </p:nvSpPr>
        <p:spPr>
          <a:xfrm>
            <a:off x="536154" y="378351"/>
            <a:ext cx="10800000" cy="4478149"/>
          </a:xfrm>
          <a:prstGeom prst="rect">
            <a:avLst/>
          </a:prstGeom>
          <a:noFill/>
        </p:spPr>
        <p:txBody>
          <a:bodyPr wrap="square" rtlCol="0">
            <a:spAutoFit/>
          </a:bodyPr>
          <a:lstStyle/>
          <a:p>
            <a:pPr>
              <a:spcBef>
                <a:spcPts val="900"/>
              </a:spcBef>
            </a:pPr>
            <a:r>
              <a:rPr lang="en-US" sz="2400" dirty="0">
                <a:latin typeface="Verdana"/>
                <a:ea typeface="Times New Roman"/>
                <a:cs typeface="Times New Roman"/>
              </a:rPr>
              <a:t>The terms “percent increase” and “percent decrease”</a:t>
            </a:r>
            <a:r>
              <a:rPr lang="en-US" sz="2400" b="1" dirty="0">
                <a:latin typeface="Verdana"/>
                <a:ea typeface="Times New Roman"/>
                <a:cs typeface="Times New Roman"/>
              </a:rPr>
              <a:t> </a:t>
            </a:r>
            <a:r>
              <a:rPr lang="en-US" sz="2400" dirty="0">
                <a:latin typeface="Verdana"/>
                <a:ea typeface="Times New Roman"/>
                <a:cs typeface="Times New Roman"/>
              </a:rPr>
              <a:t>are used to</a:t>
            </a:r>
            <a:r>
              <a:rPr lang="en-US" sz="2400" b="1" dirty="0">
                <a:latin typeface="Verdana"/>
                <a:ea typeface="Times New Roman"/>
                <a:cs typeface="Times New Roman"/>
              </a:rPr>
              <a:t> </a:t>
            </a:r>
            <a:r>
              <a:rPr lang="en-US" sz="2400" dirty="0">
                <a:latin typeface="Verdana"/>
                <a:ea typeface="Times New Roman"/>
                <a:cs typeface="Times New Roman"/>
              </a:rPr>
              <a:t>describe a specific</a:t>
            </a:r>
            <a:r>
              <a:rPr lang="en-US" sz="2400" b="1" dirty="0">
                <a:latin typeface="Verdana"/>
                <a:ea typeface="Times New Roman"/>
                <a:cs typeface="Times New Roman"/>
              </a:rPr>
              <a:t> </a:t>
            </a:r>
            <a:r>
              <a:rPr lang="en-US" sz="2400" b="1" i="1" dirty="0">
                <a:latin typeface="Verdana"/>
                <a:ea typeface="Times New Roman"/>
                <a:cs typeface="Times New Roman"/>
              </a:rPr>
              <a:t>percent of change</a:t>
            </a:r>
            <a:r>
              <a:rPr lang="en-US" sz="2400" b="1" dirty="0">
                <a:latin typeface="Verdana"/>
                <a:ea typeface="Times New Roman"/>
                <a:cs typeface="Times New Roman"/>
              </a:rPr>
              <a:t>.</a:t>
            </a:r>
          </a:p>
          <a:p>
            <a:pPr>
              <a:spcBef>
                <a:spcPts val="900"/>
              </a:spcBef>
            </a:pPr>
            <a:endParaRPr lang="en-US" sz="2400" b="1" dirty="0">
              <a:latin typeface="Verdana"/>
              <a:ea typeface="Times New Roman"/>
              <a:cs typeface="Times New Roman"/>
            </a:endParaRPr>
          </a:p>
          <a:p>
            <a:pPr>
              <a:spcBef>
                <a:spcPts val="900"/>
              </a:spcBef>
            </a:pPr>
            <a:endParaRPr lang="en-US" sz="2400" b="1" dirty="0">
              <a:latin typeface="Verdana"/>
              <a:ea typeface="Times New Roman"/>
              <a:cs typeface="Times New Roman"/>
            </a:endParaRPr>
          </a:p>
          <a:p>
            <a:pPr>
              <a:spcBef>
                <a:spcPts val="900"/>
              </a:spcBef>
            </a:pPr>
            <a:endParaRPr lang="en-US" sz="2400" b="1" dirty="0">
              <a:latin typeface="Verdana"/>
              <a:ea typeface="Times New Roman"/>
              <a:cs typeface="Times New Roman"/>
            </a:endParaRPr>
          </a:p>
          <a:p>
            <a:pPr>
              <a:spcBef>
                <a:spcPts val="900"/>
              </a:spcBef>
            </a:pPr>
            <a:endParaRPr lang="en-US" sz="2400" b="1" dirty="0">
              <a:latin typeface="Verdana"/>
              <a:ea typeface="Times New Roman"/>
              <a:cs typeface="Times New Roman"/>
            </a:endParaRPr>
          </a:p>
          <a:p>
            <a:pPr>
              <a:spcBef>
                <a:spcPts val="900"/>
              </a:spcBef>
            </a:pPr>
            <a:endParaRPr lang="en-US" sz="2400" b="1" dirty="0">
              <a:latin typeface="Verdana"/>
              <a:ea typeface="Times New Roman"/>
              <a:cs typeface="Times New Roman"/>
            </a:endParaRPr>
          </a:p>
          <a:p>
            <a:pPr>
              <a:spcBef>
                <a:spcPts val="900"/>
              </a:spcBef>
            </a:pPr>
            <a:r>
              <a:rPr lang="en-US" sz="2400" dirty="0">
                <a:latin typeface="Verdana"/>
                <a:ea typeface="Times New Roman"/>
                <a:cs typeface="Times New Roman"/>
              </a:rPr>
              <a:t>A double number line can also be used to model percent increase or percent decrease.</a:t>
            </a:r>
            <a:endParaRPr lang="en-PH" sz="1600" dirty="0">
              <a:latin typeface="Cambria"/>
              <a:ea typeface="Times New Roman"/>
              <a:cs typeface="Times New Roman"/>
            </a:endParaRPr>
          </a:p>
        </p:txBody>
      </p:sp>
      <p:sp>
        <p:nvSpPr>
          <p:cNvPr id="6" name="Google Shape;278;g104476d1465_1_17">
            <a:extLst>
              <a:ext uri="{FF2B5EF4-FFF2-40B4-BE49-F238E27FC236}">
                <a16:creationId xmlns:a16="http://schemas.microsoft.com/office/drawing/2014/main" xmlns="" id="{D2AEBEA3-B321-FF43-939E-DBF04267F34A}"/>
              </a:ext>
            </a:extLst>
          </p:cNvPr>
          <p:cNvSpPr/>
          <p:nvPr/>
        </p:nvSpPr>
        <p:spPr>
          <a:xfrm>
            <a:off x="0" y="0"/>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grpSp>
        <p:nvGrpSpPr>
          <p:cNvPr id="20" name="Group 19"/>
          <p:cNvGrpSpPr/>
          <p:nvPr/>
        </p:nvGrpSpPr>
        <p:grpSpPr>
          <a:xfrm>
            <a:off x="2007765" y="1579270"/>
            <a:ext cx="8280000" cy="1294932"/>
            <a:chOff x="0" y="-120430"/>
            <a:chExt cx="8280000" cy="1295111"/>
          </a:xfrm>
          <a:effectLst>
            <a:outerShdw blurRad="50800" dist="38100" dir="2700000" algn="tl" rotWithShape="0">
              <a:prstClr val="black">
                <a:alpha val="40000"/>
              </a:prstClr>
            </a:outerShdw>
          </a:effectLst>
        </p:grpSpPr>
        <p:grpSp>
          <p:nvGrpSpPr>
            <p:cNvPr id="21" name="Group 20"/>
            <p:cNvGrpSpPr/>
            <p:nvPr/>
          </p:nvGrpSpPr>
          <p:grpSpPr>
            <a:xfrm>
              <a:off x="0" y="-120430"/>
              <a:ext cx="8280000" cy="1295111"/>
              <a:chOff x="2031300" y="3144006"/>
              <a:chExt cx="8280000" cy="1271988"/>
            </a:xfrm>
          </p:grpSpPr>
          <p:sp>
            <p:nvSpPr>
              <p:cNvPr id="23" name="Rectangle 22"/>
              <p:cNvSpPr/>
              <p:nvPr/>
            </p:nvSpPr>
            <p:spPr>
              <a:xfrm>
                <a:off x="2031300" y="3262288"/>
                <a:ext cx="6629400" cy="10354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a:ea typeface="Times New Roman"/>
                    <a:cs typeface="Times New Roman"/>
                  </a:rPr>
                  <a:t> </a:t>
                </a:r>
                <a:endParaRPr lang="en-PH" sz="1200">
                  <a:latin typeface="Cambria"/>
                  <a:ea typeface="Times New Roman"/>
                  <a:cs typeface="Times New Roman"/>
                </a:endParaRPr>
              </a:p>
            </p:txBody>
          </p:sp>
          <p:grpSp>
            <p:nvGrpSpPr>
              <p:cNvPr id="24" name="Group 23"/>
              <p:cNvGrpSpPr/>
              <p:nvPr/>
            </p:nvGrpSpPr>
            <p:grpSpPr>
              <a:xfrm>
                <a:off x="2031300" y="3144006"/>
                <a:ext cx="8280000" cy="1271988"/>
                <a:chOff x="2031300" y="3255318"/>
                <a:chExt cx="8280000" cy="1271988"/>
              </a:xfrm>
            </p:grpSpPr>
            <p:sp>
              <p:nvSpPr>
                <p:cNvPr id="25" name="Rectangle 24"/>
                <p:cNvSpPr/>
                <p:nvPr/>
              </p:nvSpPr>
              <p:spPr>
                <a:xfrm>
                  <a:off x="2031300" y="3373600"/>
                  <a:ext cx="6629400" cy="10354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a:ea typeface="Times New Roman"/>
                      <a:cs typeface="Times New Roman"/>
                    </a:rPr>
                    <a:t> </a:t>
                  </a:r>
                  <a:endParaRPr lang="en-PH" sz="1200">
                    <a:latin typeface="Cambria"/>
                    <a:ea typeface="Times New Roman"/>
                    <a:cs typeface="Times New Roman"/>
                  </a:endParaRPr>
                </a:p>
              </p:txBody>
            </p:sp>
            <p:grpSp>
              <p:nvGrpSpPr>
                <p:cNvPr id="26" name="Group 25"/>
                <p:cNvGrpSpPr/>
                <p:nvPr/>
              </p:nvGrpSpPr>
              <p:grpSpPr>
                <a:xfrm>
                  <a:off x="2031300" y="3255318"/>
                  <a:ext cx="8280000" cy="1271988"/>
                  <a:chOff x="2031300" y="3255318"/>
                  <a:chExt cx="8280000" cy="1271988"/>
                </a:xfrm>
              </p:grpSpPr>
              <p:sp>
                <p:nvSpPr>
                  <p:cNvPr id="27" name="Rectangle 26"/>
                  <p:cNvSpPr/>
                  <p:nvPr/>
                </p:nvSpPr>
                <p:spPr>
                  <a:xfrm>
                    <a:off x="2031300" y="3373600"/>
                    <a:ext cx="6629400" cy="8128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a:ea typeface="Times New Roman"/>
                        <a:cs typeface="Times New Roman"/>
                      </a:rPr>
                      <a:t> </a:t>
                    </a:r>
                    <a:endParaRPr lang="en-PH" sz="1200">
                      <a:latin typeface="Cambria"/>
                      <a:ea typeface="Times New Roman"/>
                      <a:cs typeface="Times New Roman"/>
                    </a:endParaRPr>
                  </a:p>
                </p:txBody>
              </p:sp>
              <p:grpSp>
                <p:nvGrpSpPr>
                  <p:cNvPr id="28" name="Group 27"/>
                  <p:cNvGrpSpPr/>
                  <p:nvPr/>
                </p:nvGrpSpPr>
                <p:grpSpPr>
                  <a:xfrm>
                    <a:off x="2031300" y="3255318"/>
                    <a:ext cx="8280000" cy="1271988"/>
                    <a:chOff x="0" y="-118282"/>
                    <a:chExt cx="8280000" cy="1271988"/>
                  </a:xfrm>
                </p:grpSpPr>
                <p:sp>
                  <p:nvSpPr>
                    <p:cNvPr id="29" name="Rectangle 28"/>
                    <p:cNvSpPr/>
                    <p:nvPr/>
                  </p:nvSpPr>
                  <p:spPr>
                    <a:xfrm>
                      <a:off x="0" y="0"/>
                      <a:ext cx="6629400" cy="8128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a:ea typeface="Times New Roman"/>
                          <a:cs typeface="Times New Roman"/>
                        </a:rPr>
                        <a:t> </a:t>
                      </a:r>
                      <a:endParaRPr lang="en-PH" sz="1200">
                        <a:latin typeface="Cambria"/>
                        <a:ea typeface="Times New Roman"/>
                        <a:cs typeface="Times New Roman"/>
                      </a:endParaRPr>
                    </a:p>
                  </p:txBody>
                </p:sp>
                <p:sp>
                  <p:nvSpPr>
                    <p:cNvPr id="30" name="Rounded Rectangle 29"/>
                    <p:cNvSpPr/>
                    <p:nvPr/>
                  </p:nvSpPr>
                  <p:spPr>
                    <a:xfrm>
                      <a:off x="0" y="-118282"/>
                      <a:ext cx="8280000" cy="1271988"/>
                    </a:xfrm>
                    <a:prstGeom prst="roundRect">
                      <a:avLst>
                        <a:gd name="adj" fmla="val 16667"/>
                      </a:avLst>
                    </a:prstGeom>
                    <a:solidFill>
                      <a:srgbClr val="E2EED5"/>
                    </a:solidFill>
                    <a:ln>
                      <a:noFill/>
                    </a:ln>
                  </p:spPr>
                  <p:txBody>
                    <a:bodyPr spcFirstLastPara="1" wrap="square" lIns="91425" tIns="72000" rIns="91425" bIns="0" anchor="ctr" anchorCtr="0">
                      <a:spAutoFit/>
                    </a:bodyPr>
                    <a:lstStyle/>
                    <a:p>
                      <a:pPr marL="685800">
                        <a:spcAft>
                          <a:spcPts val="1000"/>
                        </a:spcAft>
                      </a:pPr>
                      <a:r>
                        <a:rPr lang="en-US" sz="2000" dirty="0">
                          <a:solidFill>
                            <a:srgbClr val="6D983E"/>
                          </a:solidFill>
                          <a:latin typeface="Verdana"/>
                          <a:ea typeface="Times New Roman"/>
                          <a:cs typeface="Times New Roman"/>
                        </a:rPr>
                        <a:t>A </a:t>
                      </a:r>
                      <a:r>
                        <a:rPr lang="en-US" sz="2000" b="1" i="1" dirty="0">
                          <a:solidFill>
                            <a:srgbClr val="6D983E"/>
                          </a:solidFill>
                          <a:latin typeface="Verdana"/>
                          <a:ea typeface="Times New Roman"/>
                          <a:cs typeface="Times New Roman"/>
                        </a:rPr>
                        <a:t>percent of change</a:t>
                      </a:r>
                      <a:r>
                        <a:rPr lang="en-US" sz="2000" dirty="0">
                          <a:solidFill>
                            <a:srgbClr val="6D983E"/>
                          </a:solidFill>
                          <a:latin typeface="Verdana"/>
                          <a:ea typeface="Times New Roman"/>
                          <a:cs typeface="Times New Roman"/>
                        </a:rPr>
                        <a:t> is the difference between a final value and an initial value, expressed as a percentage of the initial value.</a:t>
                      </a:r>
                      <a:endParaRPr lang="en-PH" sz="2000" dirty="0">
                        <a:latin typeface="Cambria"/>
                        <a:ea typeface="Times New Roman"/>
                        <a:cs typeface="Times New Roman"/>
                      </a:endParaRPr>
                    </a:p>
                  </p:txBody>
                </p:sp>
              </p:grpSp>
            </p:grpSp>
          </p:grpSp>
        </p:grpSp>
        <p:pic>
          <p:nvPicPr>
            <p:cNvPr id="22" name="Shape 11" descr="Icon&#10;&#10;Description automatically generated"/>
            <p:cNvPicPr/>
            <p:nvPr/>
          </p:nvPicPr>
          <p:blipFill rotWithShape="1">
            <a:blip r:embed="rId4" cstate="screen">
              <a:alphaModFix/>
              <a:extLst>
                <a:ext uri="{28A0092B-C50C-407E-A947-70E740481C1C}">
                  <a14:useLocalDpi xmlns:a14="http://schemas.microsoft.com/office/drawing/2010/main"/>
                </a:ext>
              </a:extLst>
            </a:blip>
            <a:srcRect/>
            <a:stretch/>
          </p:blipFill>
          <p:spPr>
            <a:xfrm>
              <a:off x="152400" y="252488"/>
              <a:ext cx="539750" cy="549275"/>
            </a:xfrm>
            <a:prstGeom prst="rect">
              <a:avLst/>
            </a:prstGeom>
            <a:noFill/>
            <a:ln>
              <a:noFill/>
            </a:ln>
            <a:effectLst>
              <a:outerShdw blurRad="50800" dist="38100" dir="2700000" algn="tl" rotWithShape="0">
                <a:prstClr val="black">
                  <a:alpha val="40000"/>
                </a:prstClr>
              </a:outerShdw>
            </a:effectLst>
          </p:spPr>
        </p:pic>
      </p:grpSp>
      <p:sp>
        <p:nvSpPr>
          <p:cNvPr id="31" name="Google Shape;282;g104476d1465_1_17"/>
          <p:cNvSpPr txBox="1"/>
          <p:nvPr/>
        </p:nvSpPr>
        <p:spPr>
          <a:xfrm>
            <a:off x="8889924" y="64658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339</a:t>
            </a:r>
            <a:endParaRPr i="1" dirty="0">
              <a:latin typeface="Calibri"/>
              <a:ea typeface="Calibri"/>
              <a:cs typeface="Calibri"/>
              <a:sym typeface="Calibri"/>
            </a:endParaRPr>
          </a:p>
        </p:txBody>
      </p:sp>
    </p:spTree>
    <p:extLst>
      <p:ext uri="{BB962C8B-B14F-4D97-AF65-F5344CB8AC3E}">
        <p14:creationId xmlns:p14="http://schemas.microsoft.com/office/powerpoint/2010/main" val="6365379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xmlns="" id="{2FA392D8-3ED3-7940-83A8-1451AA8A08D4}"/>
                  </a:ext>
                </a:extLst>
              </p:cNvPr>
              <p:cNvSpPr txBox="1"/>
              <p:nvPr/>
            </p:nvSpPr>
            <p:spPr>
              <a:xfrm>
                <a:off x="536154" y="379013"/>
                <a:ext cx="10800000" cy="5170646"/>
              </a:xfrm>
              <a:prstGeom prst="rect">
                <a:avLst/>
              </a:prstGeom>
              <a:noFill/>
            </p:spPr>
            <p:txBody>
              <a:bodyPr wrap="square" rtlCol="0">
                <a:spAutoFit/>
              </a:bodyPr>
              <a:lstStyle/>
              <a:p>
                <a:pPr marL="457200" indent="-457200">
                  <a:buFont typeface="+mj-lt"/>
                  <a:buAutoNum type="arabicPeriod" startAt="2"/>
                </a:pPr>
                <a:r>
                  <a:rPr lang="en-US" sz="2000" dirty="0">
                    <a:latin typeface="Verdana" pitchFamily="34" charset="0"/>
                    <a:ea typeface="Verdana" pitchFamily="34" charset="0"/>
                    <a:cs typeface="Times New Roman"/>
                  </a:rPr>
                  <a:t>A movie theater decreased the size of popcorn bags by </a:t>
                </a:r>
                <a14:m>
                  <m:oMath xmlns:m="http://schemas.openxmlformats.org/officeDocument/2006/math">
                    <m:r>
                      <a:rPr lang="en-US" sz="2000" i="1" dirty="0">
                        <a:latin typeface="Cambria Math"/>
                        <a:ea typeface="Verdana" pitchFamily="34" charset="0"/>
                        <a:cs typeface="Times New Roman"/>
                      </a:rPr>
                      <m:t>20%</m:t>
                    </m:r>
                  </m:oMath>
                </a14:m>
                <a:r>
                  <a:rPr lang="en-US" sz="2000" dirty="0">
                    <a:latin typeface="Verdana" pitchFamily="34" charset="0"/>
                    <a:ea typeface="Verdana" pitchFamily="34" charset="0"/>
                    <a:cs typeface="Times New Roman"/>
                  </a:rPr>
                  <a:t>. The old bags held </a:t>
                </a:r>
                <a14:m>
                  <m:oMath xmlns:m="http://schemas.openxmlformats.org/officeDocument/2006/math">
                    <m:r>
                      <a:rPr lang="en-US" sz="2000" i="1" dirty="0">
                        <a:latin typeface="Cambria Math"/>
                        <a:ea typeface="Verdana" pitchFamily="34" charset="0"/>
                        <a:cs typeface="Times New Roman"/>
                      </a:rPr>
                      <m:t>15 </m:t>
                    </m:r>
                  </m:oMath>
                </a14:m>
                <a:r>
                  <a:rPr lang="en-US" sz="2000" dirty="0">
                    <a:latin typeface="Verdana" pitchFamily="34" charset="0"/>
                    <a:ea typeface="Verdana" pitchFamily="34" charset="0"/>
                    <a:cs typeface="Times New Roman"/>
                  </a:rPr>
                  <a:t>cups of popcorn.</a:t>
                </a:r>
                <a:endParaRPr lang="en-PH" sz="2000" dirty="0">
                  <a:latin typeface="Verdana" pitchFamily="34" charset="0"/>
                  <a:ea typeface="Verdana" pitchFamily="34" charset="0"/>
                  <a:cs typeface="Times New Roman"/>
                </a:endParaRPr>
              </a:p>
              <a:p>
                <a:pPr marL="896938" indent="-457200">
                  <a:buFont typeface="+mj-lt"/>
                  <a:buAutoNum type="alphaLcPeriod"/>
                </a:pPr>
                <a:endParaRPr lang="en-US" sz="2000" dirty="0">
                  <a:latin typeface="Verdana" pitchFamily="34" charset="0"/>
                  <a:ea typeface="Verdana" pitchFamily="34" charset="0"/>
                  <a:cs typeface="Times New Roman"/>
                </a:endParaRPr>
              </a:p>
              <a:p>
                <a:pPr marL="896938" indent="-457200">
                  <a:buFont typeface="+mj-lt"/>
                  <a:buAutoNum type="alphaLcPeriod"/>
                </a:pPr>
                <a:endParaRPr lang="en-US" sz="2000" dirty="0">
                  <a:latin typeface="Verdana" pitchFamily="34" charset="0"/>
                  <a:ea typeface="Verdana" pitchFamily="34" charset="0"/>
                  <a:cs typeface="Times New Roman"/>
                </a:endParaRPr>
              </a:p>
              <a:p>
                <a:pPr marL="896938" indent="-457200">
                  <a:buFont typeface="+mj-lt"/>
                  <a:buAutoNum type="alphaLcPeriod"/>
                </a:pPr>
                <a:endParaRPr lang="en-US" sz="2000" dirty="0">
                  <a:latin typeface="Verdana" pitchFamily="34" charset="0"/>
                  <a:ea typeface="Verdana" pitchFamily="34" charset="0"/>
                  <a:cs typeface="Times New Roman"/>
                </a:endParaRPr>
              </a:p>
              <a:p>
                <a:pPr marL="896938" indent="-457200">
                  <a:buFont typeface="+mj-lt"/>
                  <a:buAutoNum type="alphaLcPeriod"/>
                </a:pPr>
                <a:endParaRPr lang="en-US" sz="2000" dirty="0">
                  <a:latin typeface="Verdana" pitchFamily="34" charset="0"/>
                  <a:ea typeface="Verdana" pitchFamily="34" charset="0"/>
                  <a:cs typeface="Times New Roman"/>
                </a:endParaRPr>
              </a:p>
              <a:p>
                <a:pPr marL="896938" indent="-457200">
                  <a:buFont typeface="+mj-lt"/>
                  <a:buAutoNum type="alphaLcPeriod"/>
                </a:pPr>
                <a:endParaRPr lang="en-US" sz="2000" dirty="0">
                  <a:latin typeface="Verdana" pitchFamily="34" charset="0"/>
                  <a:ea typeface="Verdana" pitchFamily="34" charset="0"/>
                  <a:cs typeface="Times New Roman"/>
                </a:endParaRPr>
              </a:p>
              <a:p>
                <a:pPr marL="896938" indent="-457200">
                  <a:buFont typeface="+mj-lt"/>
                  <a:buAutoNum type="alphaLcPeriod"/>
                </a:pPr>
                <a:r>
                  <a:rPr lang="en-US" sz="2000" dirty="0">
                    <a:latin typeface="Verdana" pitchFamily="34" charset="0"/>
                    <a:ea typeface="Verdana" pitchFamily="34" charset="0"/>
                    <a:cs typeface="Times New Roman"/>
                  </a:rPr>
                  <a:t>On the top number line, plot the </a:t>
                </a:r>
                <a14:m>
                  <m:oMath xmlns:m="http://schemas.openxmlformats.org/officeDocument/2006/math">
                    <m:r>
                      <a:rPr lang="en-US" sz="2000" i="1" dirty="0">
                        <a:latin typeface="Cambria Math"/>
                        <a:ea typeface="Verdana" pitchFamily="34" charset="0"/>
                        <a:cs typeface="Times New Roman"/>
                      </a:rPr>
                      <m:t>15 </m:t>
                    </m:r>
                  </m:oMath>
                </a14:m>
                <a:r>
                  <a:rPr lang="en-US" sz="2000" dirty="0">
                    <a:latin typeface="Verdana" pitchFamily="34" charset="0"/>
                    <a:ea typeface="Verdana" pitchFamily="34" charset="0"/>
                    <a:cs typeface="Times New Roman"/>
                  </a:rPr>
                  <a:t>cups of popcorn as the initial value </a:t>
                </a:r>
                <a:r>
                  <a:rPr lang="en-US" sz="2000" dirty="0" smtClean="0">
                    <a:latin typeface="Verdana" pitchFamily="34" charset="0"/>
                    <a:ea typeface="Verdana" pitchFamily="34" charset="0"/>
                    <a:cs typeface="Times New Roman"/>
                  </a:rPr>
                  <a:t/>
                </a:r>
                <a:br>
                  <a:rPr lang="en-US" sz="2000" dirty="0" smtClean="0">
                    <a:latin typeface="Verdana" pitchFamily="34" charset="0"/>
                    <a:ea typeface="Verdana" pitchFamily="34" charset="0"/>
                    <a:cs typeface="Times New Roman"/>
                  </a:rPr>
                </a:br>
                <a:r>
                  <a:rPr lang="en-US" sz="2000" dirty="0" smtClean="0">
                    <a:latin typeface="Verdana" pitchFamily="34" charset="0"/>
                    <a:ea typeface="Verdana" pitchFamily="34" charset="0"/>
                    <a:cs typeface="Times New Roman"/>
                  </a:rPr>
                  <a:t>of </a:t>
                </a:r>
                <a14:m>
                  <m:oMath xmlns:m="http://schemas.openxmlformats.org/officeDocument/2006/math">
                    <m:r>
                      <a:rPr lang="en-US" sz="2000" i="1" dirty="0">
                        <a:latin typeface="Cambria Math"/>
                        <a:ea typeface="Verdana" pitchFamily="34" charset="0"/>
                        <a:cs typeface="Times New Roman"/>
                      </a:rPr>
                      <m:t>100%</m:t>
                    </m:r>
                  </m:oMath>
                </a14:m>
                <a:r>
                  <a:rPr lang="en-US" sz="2000" dirty="0">
                    <a:latin typeface="Verdana" pitchFamily="34" charset="0"/>
                    <a:ea typeface="Verdana" pitchFamily="34" charset="0"/>
                    <a:cs typeface="Times New Roman"/>
                  </a:rPr>
                  <a:t>. </a:t>
                </a:r>
                <a:endParaRPr lang="en-PH" sz="2000" dirty="0">
                  <a:latin typeface="Verdana" pitchFamily="34" charset="0"/>
                  <a:ea typeface="Verdana" pitchFamily="34" charset="0"/>
                  <a:cs typeface="Times New Roman"/>
                </a:endParaRPr>
              </a:p>
              <a:p>
                <a:pPr marL="896938" indent="-457200">
                  <a:spcBef>
                    <a:spcPts val="180"/>
                  </a:spcBef>
                  <a:buFont typeface="+mj-lt"/>
                  <a:buAutoNum type="alphaLcPeriod"/>
                </a:pPr>
                <a:endParaRPr lang="en-US" sz="2000" dirty="0">
                  <a:latin typeface="Verdana" pitchFamily="34" charset="0"/>
                  <a:ea typeface="Verdana" pitchFamily="34" charset="0"/>
                  <a:cs typeface="Times New Roman"/>
                </a:endParaRPr>
              </a:p>
              <a:p>
                <a:pPr marL="896938" indent="-457200">
                  <a:spcBef>
                    <a:spcPts val="180"/>
                  </a:spcBef>
                  <a:buFont typeface="+mj-lt"/>
                  <a:buAutoNum type="alphaLcPeriod"/>
                </a:pPr>
                <a:r>
                  <a:rPr lang="en-US" sz="2000" dirty="0">
                    <a:latin typeface="Verdana" pitchFamily="34" charset="0"/>
                    <a:ea typeface="Verdana" pitchFamily="34" charset="0"/>
                    <a:cs typeface="Times New Roman"/>
                  </a:rPr>
                  <a:t>On the second line, plot </a:t>
                </a:r>
                <a14:m>
                  <m:oMath xmlns:m="http://schemas.openxmlformats.org/officeDocument/2006/math">
                    <m:r>
                      <a:rPr lang="en-US" sz="2000" i="1" dirty="0">
                        <a:latin typeface="Cambria Math"/>
                        <a:ea typeface="Verdana" pitchFamily="34" charset="0"/>
                        <a:cs typeface="Times New Roman"/>
                      </a:rPr>
                      <m:t>20%</m:t>
                    </m:r>
                  </m:oMath>
                </a14:m>
                <a:r>
                  <a:rPr lang="en-US" sz="2000" dirty="0">
                    <a:latin typeface="Verdana" pitchFamily="34" charset="0"/>
                    <a:ea typeface="Verdana" pitchFamily="34" charset="0"/>
                    <a:cs typeface="Times New Roman"/>
                  </a:rPr>
                  <a:t> less than the initial </a:t>
                </a:r>
                <a14:m>
                  <m:oMath xmlns:m="http://schemas.openxmlformats.org/officeDocument/2006/math">
                    <m:r>
                      <a:rPr lang="en-US" sz="2000" i="1">
                        <a:latin typeface="Cambria Math"/>
                        <a:ea typeface="Times New Roman"/>
                        <a:cs typeface="Times New Roman"/>
                      </a:rPr>
                      <m:t>100%</m:t>
                    </m:r>
                  </m:oMath>
                </a14:m>
                <a:r>
                  <a:rPr lang="en-US" sz="2000" dirty="0">
                    <a:latin typeface="Verdana" pitchFamily="34" charset="0"/>
                    <a:ea typeface="Verdana" pitchFamily="34" charset="0"/>
                    <a:cs typeface="Times New Roman"/>
                  </a:rPr>
                  <a:t>. </a:t>
                </a:r>
                <a:endParaRPr lang="en-PH" sz="2000" dirty="0">
                  <a:latin typeface="Verdana" pitchFamily="34" charset="0"/>
                  <a:ea typeface="Verdana" pitchFamily="34" charset="0"/>
                  <a:cs typeface="Times New Roman"/>
                </a:endParaRPr>
              </a:p>
              <a:p>
                <a:pPr marL="896938" indent="-457200">
                  <a:spcBef>
                    <a:spcPts val="180"/>
                  </a:spcBef>
                  <a:buFont typeface="+mj-lt"/>
                  <a:buAutoNum type="alphaLcPeriod"/>
                </a:pPr>
                <a:endParaRPr lang="en-US" sz="2000" dirty="0">
                  <a:latin typeface="Verdana" pitchFamily="34" charset="0"/>
                  <a:ea typeface="Verdana" pitchFamily="34" charset="0"/>
                  <a:cs typeface="Times New Roman"/>
                </a:endParaRPr>
              </a:p>
              <a:p>
                <a:pPr marL="896938" indent="-457200">
                  <a:spcBef>
                    <a:spcPts val="180"/>
                  </a:spcBef>
                  <a:buFont typeface="+mj-lt"/>
                  <a:buAutoNum type="alphaLcPeriod"/>
                </a:pPr>
                <a:r>
                  <a:rPr lang="en-US" sz="2000" dirty="0">
                    <a:latin typeface="Verdana" pitchFamily="34" charset="0"/>
                    <a:ea typeface="Verdana" pitchFamily="34" charset="0"/>
                    <a:cs typeface="Times New Roman"/>
                  </a:rPr>
                  <a:t>Use the double number line to find the number of cups in the smaller bag.</a:t>
                </a:r>
                <a:endParaRPr lang="en-PH" sz="2000" dirty="0">
                  <a:latin typeface="Verdana" pitchFamily="34" charset="0"/>
                  <a:ea typeface="Verdana" pitchFamily="34" charset="0"/>
                  <a:cs typeface="Times New Roman"/>
                </a:endParaRPr>
              </a:p>
              <a:p>
                <a:pPr marL="896938" indent="-457200">
                  <a:spcBef>
                    <a:spcPts val="180"/>
                  </a:spcBef>
                  <a:buFont typeface="+mj-lt"/>
                  <a:buAutoNum type="alphaLcPeriod"/>
                </a:pPr>
                <a:endParaRPr lang="en-US" sz="2000" dirty="0">
                  <a:latin typeface="Verdana" pitchFamily="34" charset="0"/>
                  <a:ea typeface="Verdana" pitchFamily="34" charset="0"/>
                  <a:cs typeface="Times New Roman"/>
                </a:endParaRPr>
              </a:p>
              <a:p>
                <a:pPr marL="896938" indent="-457200">
                  <a:spcBef>
                    <a:spcPts val="180"/>
                  </a:spcBef>
                  <a:buFont typeface="+mj-lt"/>
                  <a:buAutoNum type="alphaLcPeriod"/>
                </a:pPr>
                <a:r>
                  <a:rPr lang="en-US" sz="2000" dirty="0">
                    <a:latin typeface="Verdana" pitchFamily="34" charset="0"/>
                    <a:ea typeface="Verdana" pitchFamily="34" charset="0"/>
                    <a:cs typeface="Times New Roman"/>
                  </a:rPr>
                  <a:t>Discuss with your partner how the double number line is helpful for determining the impact of a </a:t>
                </a:r>
                <a14:m>
                  <m:oMath xmlns:m="http://schemas.openxmlformats.org/officeDocument/2006/math">
                    <m:r>
                      <a:rPr lang="en-US" sz="2000" i="1">
                        <a:latin typeface="Cambria Math"/>
                        <a:ea typeface="Times New Roman"/>
                        <a:cs typeface="Times New Roman"/>
                      </a:rPr>
                      <m:t>20%</m:t>
                    </m:r>
                  </m:oMath>
                </a14:m>
                <a:r>
                  <a:rPr lang="en-US" sz="2000" dirty="0">
                    <a:latin typeface="Verdana" pitchFamily="34" charset="0"/>
                    <a:ea typeface="Verdana" pitchFamily="34" charset="0"/>
                    <a:cs typeface="Times New Roman"/>
                  </a:rPr>
                  <a:t> decrease in the size of the popcorn bag.</a:t>
                </a:r>
                <a:endParaRPr lang="en-PH" sz="2000" dirty="0">
                  <a:latin typeface="Verdana" pitchFamily="34" charset="0"/>
                  <a:ea typeface="Verdana" pitchFamily="34" charset="0"/>
                  <a:cs typeface="Times New Roman"/>
                </a:endParaRPr>
              </a:p>
            </p:txBody>
          </p:sp>
        </mc:Choice>
        <mc:Fallback>
          <p:sp>
            <p:nvSpPr>
              <p:cNvPr id="14" name="TextBox 13">
                <a:extLst>
                  <a:ext uri="{FF2B5EF4-FFF2-40B4-BE49-F238E27FC236}">
                    <a16:creationId xmlns:a16="http://schemas.microsoft.com/office/drawing/2014/main" xmlns:a14="http://schemas.microsoft.com/office/drawing/2010/main" xmlns="" id="{2FA392D8-3ED3-7940-83A8-1451AA8A08D4}"/>
                  </a:ext>
                </a:extLst>
              </p:cNvPr>
              <p:cNvSpPr txBox="1">
                <a:spLocks noRot="1" noChangeAspect="1" noMove="1" noResize="1" noEditPoints="1" noAdjustHandles="1" noChangeArrowheads="1" noChangeShapeType="1" noTextEdit="1"/>
              </p:cNvSpPr>
              <p:nvPr/>
            </p:nvSpPr>
            <p:spPr>
              <a:xfrm>
                <a:off x="536154" y="379013"/>
                <a:ext cx="10800000" cy="5170646"/>
              </a:xfrm>
              <a:prstGeom prst="rect">
                <a:avLst/>
              </a:prstGeom>
              <a:blipFill rotWithShape="1">
                <a:blip r:embed="rId4"/>
                <a:stretch>
                  <a:fillRect l="-621" t="-708" r="-564" b="-1179"/>
                </a:stretch>
              </a:blipFill>
            </p:spPr>
            <p:txBody>
              <a:bodyPr/>
              <a:lstStyle/>
              <a:p>
                <a:r>
                  <a:rPr lang="en-PH">
                    <a:noFill/>
                  </a:rPr>
                  <a:t> </a:t>
                </a:r>
              </a:p>
            </p:txBody>
          </p:sp>
        </mc:Fallback>
      </mc:AlternateContent>
      <p:pic>
        <p:nvPicPr>
          <p:cNvPr id="8" name="Picture" descr="A double number line for “popcorn in cups” with 7 evenly spaced tick marks. On the top number line the number zero is on the first tick mark and the remaining tick marks are not labeled. The bottom number line, starting with the first tick mark, zero percent, 20 percent, 40 percent, 60 percent, 80 percent, 100 percent, and 120 percent are labeled."/>
          <p:cNvPicPr/>
          <p:nvPr/>
        </p:nvPicPr>
        <p:blipFill>
          <a:blip r:embed="rId5" cstate="screen">
            <a:extLst>
              <a:ext uri="{28A0092B-C50C-407E-A947-70E740481C1C}">
                <a14:useLocalDpi xmlns:a14="http://schemas.microsoft.com/office/drawing/2010/main"/>
              </a:ext>
            </a:extLst>
          </a:blip>
          <a:stretch>
            <a:fillRect/>
          </a:stretch>
        </p:blipFill>
        <p:spPr bwMode="auto">
          <a:xfrm>
            <a:off x="2297676" y="1095647"/>
            <a:ext cx="7596647" cy="1170116"/>
          </a:xfrm>
          <a:prstGeom prst="rect">
            <a:avLst/>
          </a:prstGeom>
          <a:noFill/>
          <a:ln w="9525">
            <a:noFill/>
            <a:headEnd/>
            <a:tailEnd/>
          </a:ln>
        </p:spPr>
      </p:pic>
      <p:sp>
        <p:nvSpPr>
          <p:cNvPr id="9" name="Google Shape;282;g104476d1465_1_17"/>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339</a:t>
            </a:r>
            <a:endParaRPr i="1" dirty="0">
              <a:latin typeface="Calibri"/>
              <a:ea typeface="Calibri"/>
              <a:cs typeface="Calibri"/>
              <a:sym typeface="Calibri"/>
            </a:endParaRPr>
          </a:p>
        </p:txBody>
      </p:sp>
      <p:sp>
        <p:nvSpPr>
          <p:cNvPr id="7" name="Google Shape;278;g104476d1465_1_17">
            <a:extLst>
              <a:ext uri="{FF2B5EF4-FFF2-40B4-BE49-F238E27FC236}">
                <a16:creationId xmlns:a16="http://schemas.microsoft.com/office/drawing/2014/main" xmlns="" id="{D2AEBEA3-B321-FF43-939E-DBF04267F34A}"/>
              </a:ext>
            </a:extLst>
          </p:cNvPr>
          <p:cNvSpPr/>
          <p:nvPr/>
        </p:nvSpPr>
        <p:spPr>
          <a:xfrm>
            <a:off x="0" y="0"/>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spTree>
    <p:extLst>
      <p:ext uri="{BB962C8B-B14F-4D97-AF65-F5344CB8AC3E}">
        <p14:creationId xmlns:p14="http://schemas.microsoft.com/office/powerpoint/2010/main" val="1300607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116285" y="2766150"/>
            <a:ext cx="439693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3BEA6"/>
                </a:solidFill>
                <a:latin typeface="Verdana"/>
                <a:ea typeface="Verdana"/>
                <a:cs typeface="Verdana"/>
                <a:sym typeface="Verdana"/>
              </a:rPr>
              <a:t>Try It</a:t>
            </a:r>
            <a:endParaRPr sz="5100" b="1" dirty="0">
              <a:solidFill>
                <a:srgbClr val="33BEA6"/>
              </a:solidFill>
              <a:latin typeface="Verdana"/>
              <a:ea typeface="Verdana"/>
              <a:cs typeface="Verdana"/>
              <a:sym typeface="Verdana"/>
            </a:endParaRPr>
          </a:p>
        </p:txBody>
      </p:sp>
      <p:pic>
        <p:nvPicPr>
          <p:cNvPr id="7170" name="Picture 2">
            <a:extLst>
              <a:ext uri="{FF2B5EF4-FFF2-40B4-BE49-F238E27FC236}">
                <a16:creationId xmlns:a16="http://schemas.microsoft.com/office/drawing/2014/main" xmlns="" id="{B098E9CE-9B4F-0D4F-9369-4E0B8D4E3D1A}"/>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813171" y="2852928"/>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8" name="Google Shape;282;g104476d1465_1_17"/>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340</a:t>
            </a:r>
            <a:endParaRPr i="1" dirty="0">
              <a:latin typeface="Calibri"/>
              <a:ea typeface="Calibri"/>
              <a:cs typeface="Calibri"/>
              <a:sym typeface="Calibri"/>
            </a:endParaRPr>
          </a:p>
        </p:txBody>
      </p:sp>
    </p:spTree>
    <p:extLst>
      <p:ext uri="{BB962C8B-B14F-4D97-AF65-F5344CB8AC3E}">
        <p14:creationId xmlns:p14="http://schemas.microsoft.com/office/powerpoint/2010/main" val="10068580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xmlns="" id="{DB5796CA-12EB-BB4C-8338-B127D750A026}"/>
              </a:ext>
            </a:extLst>
          </p:cNvPr>
          <p:cNvSpPr txBox="1">
            <a:spLocks/>
          </p:cNvSpPr>
          <p:nvPr/>
        </p:nvSpPr>
        <p:spPr>
          <a:xfrm>
            <a:off x="1152043" y="89338"/>
            <a:ext cx="982371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7.9.3 Try It: Percent of Change</a:t>
            </a:r>
          </a:p>
        </p:txBody>
      </p:sp>
      <p:pic>
        <p:nvPicPr>
          <p:cNvPr id="9" name="Picture 2">
            <a:extLst>
              <a:ext uri="{FF2B5EF4-FFF2-40B4-BE49-F238E27FC236}">
                <a16:creationId xmlns:a16="http://schemas.microsoft.com/office/drawing/2014/main" xmlns="" id="{E0B7508E-1910-D441-91B6-6EA6022F20CC}"/>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24197" y="377284"/>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xmlns="" id="{0AB6A3A1-5A0D-C84F-AC89-57E6782F43E5}"/>
              </a:ext>
            </a:extLst>
          </p:cNvPr>
          <p:cNvSpPr txBox="1"/>
          <p:nvPr/>
        </p:nvSpPr>
        <p:spPr>
          <a:xfrm>
            <a:off x="536154" y="1460537"/>
            <a:ext cx="10800000" cy="830997"/>
          </a:xfrm>
          <a:prstGeom prst="rect">
            <a:avLst/>
          </a:prstGeom>
          <a:noFill/>
        </p:spPr>
        <p:txBody>
          <a:bodyPr wrap="square" rtlCol="0">
            <a:spAutoFit/>
          </a:bodyPr>
          <a:lstStyle/>
          <a:p>
            <a:pPr marL="457200" indent="-457200">
              <a:buFont typeface="+mj-lt"/>
              <a:buAutoNum type="arabicPeriod"/>
            </a:pPr>
            <a:r>
              <a:rPr lang="en-US" sz="2400" dirty="0">
                <a:latin typeface="Verdana"/>
                <a:ea typeface="Times New Roman"/>
                <a:cs typeface="Times New Roman"/>
              </a:rPr>
              <a:t>Explain which diagram, A or B, matches each situation.</a:t>
            </a:r>
            <a:endParaRPr lang="en-PH" sz="1600" dirty="0">
              <a:latin typeface="Cambria"/>
              <a:ea typeface="Times New Roman"/>
              <a:cs typeface="Times New Roman"/>
            </a:endParaRPr>
          </a:p>
        </p:txBody>
      </p:sp>
      <p:sp>
        <p:nvSpPr>
          <p:cNvPr id="11" name="Google Shape;278;g104476d1465_1_17">
            <a:extLst>
              <a:ext uri="{FF2B5EF4-FFF2-40B4-BE49-F238E27FC236}">
                <a16:creationId xmlns:a16="http://schemas.microsoft.com/office/drawing/2014/main" xmlns="" id="{440AE1AA-6F88-2440-A824-BEA9B94BEF8D}"/>
              </a:ext>
            </a:extLst>
          </p:cNvPr>
          <p:cNvSpPr/>
          <p:nvPr/>
        </p:nvSpPr>
        <p:spPr>
          <a:xfrm>
            <a:off x="0" y="-8225"/>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sp>
        <p:nvSpPr>
          <p:cNvPr id="31" name="Google Shape;282;g104476d1465_1_17"/>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340</a:t>
            </a:r>
            <a:endParaRPr i="1" dirty="0">
              <a:latin typeface="Calibri"/>
              <a:ea typeface="Calibri"/>
              <a:cs typeface="Calibri"/>
              <a:sym typeface="Calibri"/>
            </a:endParaRPr>
          </a:p>
        </p:txBody>
      </p:sp>
      <p:pic>
        <p:nvPicPr>
          <p:cNvPr id="3" name="Picture 2">
            <a:extLst>
              <a:ext uri="{FF2B5EF4-FFF2-40B4-BE49-F238E27FC236}">
                <a16:creationId xmlns:a16="http://schemas.microsoft.com/office/drawing/2014/main" xmlns="" id="{9E1114C3-8775-9600-CB71-864A527290D1}"/>
              </a:ext>
            </a:extLst>
          </p:cNvPr>
          <p:cNvPicPr>
            <a:picLocks noChangeAspect="1"/>
          </p:cNvPicPr>
          <p:nvPr/>
        </p:nvPicPr>
        <p:blipFill>
          <a:blip r:embed="rId5"/>
          <a:stretch>
            <a:fillRect/>
          </a:stretch>
        </p:blipFill>
        <p:spPr>
          <a:xfrm>
            <a:off x="2246012" y="2132386"/>
            <a:ext cx="7380283" cy="3934669"/>
          </a:xfrm>
          <a:prstGeom prst="rect">
            <a:avLst/>
          </a:prstGeom>
        </p:spPr>
      </p:pic>
    </p:spTree>
    <p:extLst>
      <p:ext uri="{BB962C8B-B14F-4D97-AF65-F5344CB8AC3E}">
        <p14:creationId xmlns:p14="http://schemas.microsoft.com/office/powerpoint/2010/main" val="38403594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6" name="Google Shape;278;g104476d1465_1_17">
            <a:extLst>
              <a:ext uri="{FF2B5EF4-FFF2-40B4-BE49-F238E27FC236}">
                <a16:creationId xmlns:a16="http://schemas.microsoft.com/office/drawing/2014/main" xmlns="" id="{7202F70B-4E43-2A4C-9678-6A71785BE75B}"/>
              </a:ext>
            </a:extLst>
          </p:cNvPr>
          <p:cNvSpPr/>
          <p:nvPr/>
        </p:nvSpPr>
        <p:spPr>
          <a:xfrm>
            <a:off x="0" y="-8225"/>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mc:AlternateContent xmlns:mc="http://schemas.openxmlformats.org/markup-compatibility/2006">
        <mc:Choice xmlns:a14="http://schemas.microsoft.com/office/drawing/2010/main" Requires="a14">
          <p:graphicFrame>
            <p:nvGraphicFramePr>
              <p:cNvPr id="8" name="Table 7"/>
              <p:cNvGraphicFramePr>
                <a:graphicFrameLocks noGrp="1"/>
              </p:cNvGraphicFramePr>
              <p:nvPr>
                <p:extLst>
                  <p:ext uri="{D42A27DB-BD31-4B8C-83A1-F6EECF244321}">
                    <p14:modId xmlns:p14="http://schemas.microsoft.com/office/powerpoint/2010/main" val="392403850"/>
                  </p:ext>
                </p:extLst>
              </p:nvPr>
            </p:nvGraphicFramePr>
            <p:xfrm>
              <a:off x="2316000" y="376941"/>
              <a:ext cx="7560000" cy="5021040"/>
            </p:xfrm>
            <a:graphic>
              <a:graphicData uri="http://schemas.openxmlformats.org/drawingml/2006/table">
                <a:tbl>
                  <a:tblPr firstRow="1" firstCol="1" bandRow="1"/>
                  <a:tblGrid>
                    <a:gridCol w="3960000">
                      <a:extLst>
                        <a:ext uri="{9D8B030D-6E8A-4147-A177-3AD203B41FA5}">
                          <a16:colId xmlns:a16="http://schemas.microsoft.com/office/drawing/2014/main" xmlns="" val="20000"/>
                        </a:ext>
                      </a:extLst>
                    </a:gridCol>
                    <a:gridCol w="1800000">
                      <a:extLst>
                        <a:ext uri="{9D8B030D-6E8A-4147-A177-3AD203B41FA5}">
                          <a16:colId xmlns:a16="http://schemas.microsoft.com/office/drawing/2014/main" xmlns="" val="20001"/>
                        </a:ext>
                      </a:extLst>
                    </a:gridCol>
                    <a:gridCol w="1800000">
                      <a:extLst>
                        <a:ext uri="{9D8B030D-6E8A-4147-A177-3AD203B41FA5}">
                          <a16:colId xmlns:a16="http://schemas.microsoft.com/office/drawing/2014/main" xmlns="" val="20002"/>
                        </a:ext>
                      </a:extLst>
                    </a:gridCol>
                  </a:tblGrid>
                  <a:tr h="360000">
                    <a:tc>
                      <a:txBody>
                        <a:bodyPr/>
                        <a:lstStyle/>
                        <a:p>
                          <a:pPr algn="ctr">
                            <a:spcAft>
                              <a:spcPts val="0"/>
                            </a:spcAft>
                          </a:pPr>
                          <a:r>
                            <a:rPr lang="en-US" sz="2000" b="1" dirty="0">
                              <a:effectLst/>
                              <a:latin typeface="Verdana" pitchFamily="34" charset="0"/>
                              <a:ea typeface="Verdana" pitchFamily="34" charset="0"/>
                              <a:cs typeface="Times New Roman"/>
                            </a:rPr>
                            <a:t>Situation</a:t>
                          </a:r>
                          <a:endParaRPr lang="en-PH" sz="2000" dirty="0">
                            <a:effectLst/>
                            <a:latin typeface="Verdana" pitchFamily="34" charset="0"/>
                            <a:ea typeface="Verdana" pitchFamily="34" charset="0"/>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algn="ctr">
                            <a:spcAft>
                              <a:spcPts val="0"/>
                            </a:spcAft>
                          </a:pPr>
                          <a:r>
                            <a:rPr lang="en-US" sz="2000" b="1" dirty="0">
                              <a:effectLst/>
                              <a:latin typeface="Verdana" pitchFamily="34" charset="0"/>
                              <a:ea typeface="Verdana" pitchFamily="34" charset="0"/>
                              <a:cs typeface="Times New Roman"/>
                            </a:rPr>
                            <a:t>Matching Diagram</a:t>
                          </a:r>
                          <a:endParaRPr lang="en-PH" sz="2000" dirty="0">
                            <a:effectLst/>
                            <a:latin typeface="Verdana" pitchFamily="34" charset="0"/>
                            <a:ea typeface="Verdana" pitchFamily="34" charset="0"/>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algn="ctr">
                            <a:spcAft>
                              <a:spcPts val="0"/>
                            </a:spcAft>
                          </a:pPr>
                          <a:r>
                            <a:rPr lang="en-US" sz="2000" b="1" dirty="0">
                              <a:effectLst/>
                              <a:latin typeface="Verdana" pitchFamily="34" charset="0"/>
                              <a:ea typeface="Verdana" pitchFamily="34" charset="0"/>
                              <a:cs typeface="Times New Roman"/>
                            </a:rPr>
                            <a:t>Reason</a:t>
                          </a:r>
                          <a:endParaRPr lang="en-PH" sz="2000" dirty="0">
                            <a:effectLst/>
                            <a:latin typeface="Verdana" pitchFamily="34" charset="0"/>
                            <a:ea typeface="Verdana" pitchFamily="34" charset="0"/>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xmlns="" val="10000"/>
                      </a:ext>
                    </a:extLst>
                  </a:tr>
                  <a:tr h="1080000">
                    <a:tc>
                      <a:txBody>
                        <a:bodyPr/>
                        <a:lstStyle/>
                        <a:p>
                          <a:pPr>
                            <a:spcAft>
                              <a:spcPts val="0"/>
                            </a:spcAft>
                          </a:pPr>
                          <a:r>
                            <a:rPr lang="en-US" sz="2000" dirty="0">
                              <a:effectLst/>
                              <a:latin typeface="Verdana" pitchFamily="34" charset="0"/>
                              <a:ea typeface="Verdana" pitchFamily="34" charset="0"/>
                              <a:cs typeface="Times New Roman"/>
                            </a:rPr>
                            <a:t>Compared to last year’s strawberry harvest, this year’s increased </a:t>
                          </a:r>
                          <a14:m>
                            <m:oMath xmlns:m="http://schemas.openxmlformats.org/officeDocument/2006/math">
                              <m:r>
                                <a:rPr lang="en-US" sz="2000" i="1" dirty="0" smtClean="0">
                                  <a:effectLst/>
                                  <a:latin typeface="Cambria Math"/>
                                  <a:ea typeface="Verdana" pitchFamily="34" charset="0"/>
                                  <a:cs typeface="Times New Roman"/>
                                </a:rPr>
                                <m:t>25%</m:t>
                              </m:r>
                            </m:oMath>
                          </a14:m>
                          <a:r>
                            <a:rPr lang="en-US" sz="2000" dirty="0">
                              <a:effectLst/>
                              <a:latin typeface="Verdana" pitchFamily="34" charset="0"/>
                              <a:ea typeface="Verdana" pitchFamily="34" charset="0"/>
                              <a:cs typeface="Times New Roman"/>
                            </a:rPr>
                            <a:t>. </a:t>
                          </a:r>
                          <a:endParaRPr lang="en-PH" sz="2000" dirty="0">
                            <a:effectLst/>
                            <a:latin typeface="Verdana" pitchFamily="34" charset="0"/>
                            <a:ea typeface="Verdana" pitchFamily="34" charset="0"/>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spcAft>
                              <a:spcPts val="0"/>
                            </a:spcAft>
                          </a:pPr>
                          <a:r>
                            <a:rPr lang="en-US" sz="2000">
                              <a:effectLst/>
                              <a:latin typeface="Verdana" pitchFamily="34" charset="0"/>
                              <a:ea typeface="Verdana" pitchFamily="34" charset="0"/>
                              <a:cs typeface="Times New Roman"/>
                            </a:rPr>
                            <a:t> </a:t>
                          </a:r>
                          <a:endParaRPr lang="en-PH" sz="2000">
                            <a:effectLst/>
                            <a:latin typeface="Verdana" pitchFamily="34" charset="0"/>
                            <a:ea typeface="Verdana" pitchFamily="34" charset="0"/>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spcAft>
                              <a:spcPts val="0"/>
                            </a:spcAft>
                          </a:pPr>
                          <a:r>
                            <a:rPr lang="en-US" sz="2000">
                              <a:effectLst/>
                              <a:latin typeface="Verdana" pitchFamily="34" charset="0"/>
                              <a:ea typeface="Verdana" pitchFamily="34" charset="0"/>
                              <a:cs typeface="Times New Roman"/>
                            </a:rPr>
                            <a:t> </a:t>
                          </a:r>
                          <a:endParaRPr lang="en-PH" sz="2000">
                            <a:effectLst/>
                            <a:latin typeface="Verdana" pitchFamily="34" charset="0"/>
                            <a:ea typeface="Verdana" pitchFamily="34" charset="0"/>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1"/>
                      </a:ext>
                    </a:extLst>
                  </a:tr>
                  <a:tr h="1080000">
                    <a:tc>
                      <a:txBody>
                        <a:bodyPr/>
                        <a:lstStyle/>
                        <a:p>
                          <a:pPr>
                            <a:spcAft>
                              <a:spcPts val="0"/>
                            </a:spcAft>
                          </a:pPr>
                          <a:r>
                            <a:rPr lang="en-US" sz="2000" dirty="0">
                              <a:effectLst/>
                              <a:latin typeface="Verdana" pitchFamily="34" charset="0"/>
                              <a:ea typeface="Verdana" pitchFamily="34" charset="0"/>
                              <a:cs typeface="Times New Roman"/>
                            </a:rPr>
                            <a:t>This year’s blueberry harvest is </a:t>
                          </a:r>
                          <a14:m>
                            <m:oMath xmlns:m="http://schemas.openxmlformats.org/officeDocument/2006/math">
                              <m:r>
                                <a:rPr lang="en-US" sz="2000" i="1" dirty="0" smtClean="0">
                                  <a:effectLst/>
                                  <a:latin typeface="Cambria Math"/>
                                  <a:ea typeface="Verdana" pitchFamily="34" charset="0"/>
                                  <a:cs typeface="Times New Roman"/>
                                </a:rPr>
                                <m:t>75%</m:t>
                              </m:r>
                            </m:oMath>
                          </a14:m>
                          <a:r>
                            <a:rPr lang="en-US" sz="2000" dirty="0">
                              <a:effectLst/>
                              <a:latin typeface="Verdana" pitchFamily="34" charset="0"/>
                              <a:ea typeface="Verdana" pitchFamily="34" charset="0"/>
                              <a:cs typeface="Times New Roman"/>
                            </a:rPr>
                            <a:t> of last year’s. </a:t>
                          </a:r>
                          <a:endParaRPr lang="en-PH" sz="2000" dirty="0">
                            <a:effectLst/>
                            <a:latin typeface="Verdana" pitchFamily="34" charset="0"/>
                            <a:ea typeface="Verdana" pitchFamily="34" charset="0"/>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spcAft>
                              <a:spcPts val="0"/>
                            </a:spcAft>
                          </a:pPr>
                          <a:r>
                            <a:rPr lang="en-US" sz="2000" dirty="0">
                              <a:effectLst/>
                              <a:latin typeface="Verdana" pitchFamily="34" charset="0"/>
                              <a:ea typeface="Verdana" pitchFamily="34" charset="0"/>
                              <a:cs typeface="Times New Roman"/>
                            </a:rPr>
                            <a:t> </a:t>
                          </a:r>
                          <a:endParaRPr lang="en-PH" sz="2000" dirty="0">
                            <a:effectLst/>
                            <a:latin typeface="Verdana" pitchFamily="34" charset="0"/>
                            <a:ea typeface="Verdana" pitchFamily="34" charset="0"/>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spcAft>
                              <a:spcPts val="0"/>
                            </a:spcAft>
                          </a:pPr>
                          <a:r>
                            <a:rPr lang="en-US" sz="2000">
                              <a:effectLst/>
                              <a:latin typeface="Verdana" pitchFamily="34" charset="0"/>
                              <a:ea typeface="Verdana" pitchFamily="34" charset="0"/>
                              <a:cs typeface="Times New Roman"/>
                            </a:rPr>
                            <a:t> </a:t>
                          </a:r>
                          <a:endParaRPr lang="en-PH" sz="2000">
                            <a:effectLst/>
                            <a:latin typeface="Verdana" pitchFamily="34" charset="0"/>
                            <a:ea typeface="Verdana" pitchFamily="34" charset="0"/>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2"/>
                      </a:ext>
                    </a:extLst>
                  </a:tr>
                  <a:tr h="1080000">
                    <a:tc>
                      <a:txBody>
                        <a:bodyPr/>
                        <a:lstStyle/>
                        <a:p>
                          <a:pPr>
                            <a:spcAft>
                              <a:spcPts val="0"/>
                            </a:spcAft>
                          </a:pPr>
                          <a:r>
                            <a:rPr lang="en-US" sz="2000" dirty="0">
                              <a:effectLst/>
                              <a:latin typeface="Verdana" pitchFamily="34" charset="0"/>
                              <a:ea typeface="Verdana" pitchFamily="34" charset="0"/>
                              <a:cs typeface="Times New Roman"/>
                            </a:rPr>
                            <a:t>Compared to last year, this year’s peach harvest decreased by </a:t>
                          </a:r>
                          <a14:m>
                            <m:oMath xmlns:m="http://schemas.openxmlformats.org/officeDocument/2006/math">
                              <m:r>
                                <a:rPr lang="en-US" sz="2000" i="1" dirty="0" smtClean="0">
                                  <a:effectLst/>
                                  <a:latin typeface="Cambria Math"/>
                                  <a:ea typeface="Verdana" pitchFamily="34" charset="0"/>
                                  <a:cs typeface="Times New Roman"/>
                                </a:rPr>
                                <m:t>25%</m:t>
                              </m:r>
                            </m:oMath>
                          </a14:m>
                          <a:r>
                            <a:rPr lang="en-US" sz="2000" dirty="0">
                              <a:effectLst/>
                              <a:latin typeface="Verdana" pitchFamily="34" charset="0"/>
                              <a:ea typeface="Verdana" pitchFamily="34" charset="0"/>
                              <a:cs typeface="Times New Roman"/>
                            </a:rPr>
                            <a:t>.</a:t>
                          </a:r>
                          <a:endParaRPr lang="en-PH" sz="2000" dirty="0">
                            <a:effectLst/>
                            <a:latin typeface="Verdana" pitchFamily="34" charset="0"/>
                            <a:ea typeface="Verdana" pitchFamily="34" charset="0"/>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spcAft>
                              <a:spcPts val="0"/>
                            </a:spcAft>
                          </a:pPr>
                          <a:r>
                            <a:rPr lang="en-US" sz="2000" dirty="0">
                              <a:effectLst/>
                              <a:latin typeface="Verdana" pitchFamily="34" charset="0"/>
                              <a:ea typeface="Verdana" pitchFamily="34" charset="0"/>
                              <a:cs typeface="Times New Roman"/>
                            </a:rPr>
                            <a:t> </a:t>
                          </a:r>
                          <a:endParaRPr lang="en-PH" sz="2000" dirty="0">
                            <a:effectLst/>
                            <a:latin typeface="Verdana" pitchFamily="34" charset="0"/>
                            <a:ea typeface="Verdana" pitchFamily="34" charset="0"/>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spcAft>
                              <a:spcPts val="0"/>
                            </a:spcAft>
                          </a:pPr>
                          <a:r>
                            <a:rPr lang="en-US" sz="2000" dirty="0">
                              <a:effectLst/>
                              <a:latin typeface="Verdana" pitchFamily="34" charset="0"/>
                              <a:ea typeface="Verdana" pitchFamily="34" charset="0"/>
                              <a:cs typeface="Times New Roman"/>
                            </a:rPr>
                            <a:t> </a:t>
                          </a:r>
                          <a:endParaRPr lang="en-PH" sz="2000" dirty="0">
                            <a:effectLst/>
                            <a:latin typeface="Verdana" pitchFamily="34" charset="0"/>
                            <a:ea typeface="Verdana" pitchFamily="34" charset="0"/>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3"/>
                      </a:ext>
                    </a:extLst>
                  </a:tr>
                  <a:tr h="1080000">
                    <a:tc>
                      <a:txBody>
                        <a:bodyPr/>
                        <a:lstStyle/>
                        <a:p>
                          <a:pPr>
                            <a:spcAft>
                              <a:spcPts val="0"/>
                            </a:spcAft>
                          </a:pPr>
                          <a:r>
                            <a:rPr lang="en-US" sz="2000" dirty="0">
                              <a:effectLst/>
                              <a:latin typeface="Verdana" pitchFamily="34" charset="0"/>
                              <a:ea typeface="Verdana" pitchFamily="34" charset="0"/>
                              <a:cs typeface="Times New Roman"/>
                            </a:rPr>
                            <a:t>This year’s plum harvest is </a:t>
                          </a:r>
                          <a14:m>
                            <m:oMath xmlns:m="http://schemas.openxmlformats.org/officeDocument/2006/math">
                              <m:r>
                                <a:rPr lang="en-US" sz="2000" i="1" dirty="0" smtClean="0">
                                  <a:effectLst/>
                                  <a:latin typeface="Cambria Math"/>
                                  <a:ea typeface="Verdana" pitchFamily="34" charset="0"/>
                                  <a:cs typeface="Times New Roman"/>
                                </a:rPr>
                                <m:t>125%</m:t>
                              </m:r>
                            </m:oMath>
                          </a14:m>
                          <a:r>
                            <a:rPr lang="en-US" sz="2000" dirty="0">
                              <a:effectLst/>
                              <a:latin typeface="Verdana" pitchFamily="34" charset="0"/>
                              <a:ea typeface="Verdana" pitchFamily="34" charset="0"/>
                              <a:cs typeface="Times New Roman"/>
                            </a:rPr>
                            <a:t> of last year’s plum harvest. </a:t>
                          </a:r>
                          <a:endParaRPr lang="en-PH" sz="2000" dirty="0">
                            <a:effectLst/>
                            <a:latin typeface="Verdana" pitchFamily="34" charset="0"/>
                            <a:ea typeface="Verdana" pitchFamily="34" charset="0"/>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spcAft>
                              <a:spcPts val="0"/>
                            </a:spcAft>
                          </a:pPr>
                          <a:r>
                            <a:rPr lang="en-US" sz="2000">
                              <a:effectLst/>
                              <a:latin typeface="Verdana" pitchFamily="34" charset="0"/>
                              <a:ea typeface="Verdana" pitchFamily="34" charset="0"/>
                              <a:cs typeface="Times New Roman"/>
                            </a:rPr>
                            <a:t> </a:t>
                          </a:r>
                          <a:endParaRPr lang="en-PH" sz="2000">
                            <a:effectLst/>
                            <a:latin typeface="Verdana" pitchFamily="34" charset="0"/>
                            <a:ea typeface="Verdana" pitchFamily="34" charset="0"/>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spcAft>
                              <a:spcPts val="0"/>
                            </a:spcAft>
                          </a:pPr>
                          <a:r>
                            <a:rPr lang="en-US" sz="2000" dirty="0">
                              <a:effectLst/>
                              <a:latin typeface="Verdana" pitchFamily="34" charset="0"/>
                              <a:ea typeface="Verdana" pitchFamily="34" charset="0"/>
                              <a:cs typeface="Times New Roman"/>
                            </a:rPr>
                            <a:t> </a:t>
                          </a:r>
                          <a:endParaRPr lang="en-PH" sz="2000" dirty="0">
                            <a:effectLst/>
                            <a:latin typeface="Verdana" pitchFamily="34" charset="0"/>
                            <a:ea typeface="Verdana" pitchFamily="34" charset="0"/>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4"/>
                      </a:ext>
                    </a:extLst>
                  </a:tr>
                </a:tbl>
              </a:graphicData>
            </a:graphic>
          </p:graphicFrame>
        </mc:Choice>
        <mc:Fallback>
          <p:graphicFrame>
            <p:nvGraphicFramePr>
              <p:cNvPr id="8" name="Table 7"/>
              <p:cNvGraphicFramePr>
                <a:graphicFrameLocks noGrp="1"/>
              </p:cNvGraphicFramePr>
              <p:nvPr>
                <p:extLst>
                  <p:ext uri="{D42A27DB-BD31-4B8C-83A1-F6EECF244321}">
                    <p14:modId xmlns:p14="http://schemas.microsoft.com/office/powerpoint/2010/main" val="392403850"/>
                  </p:ext>
                </p:extLst>
              </p:nvPr>
            </p:nvGraphicFramePr>
            <p:xfrm>
              <a:off x="2316000" y="376941"/>
              <a:ext cx="7560000" cy="5021040"/>
            </p:xfrm>
            <a:graphic>
              <a:graphicData uri="http://schemas.openxmlformats.org/drawingml/2006/table">
                <a:tbl>
                  <a:tblPr firstRow="1" firstCol="1" bandRow="1"/>
                  <a:tblGrid>
                    <a:gridCol w="3960000">
                      <a:extLst>
                        <a:ext uri="{9D8B030D-6E8A-4147-A177-3AD203B41FA5}">
                          <a16:colId xmlns:a16="http://schemas.microsoft.com/office/drawing/2014/main" xmlns:a14="http://schemas.microsoft.com/office/drawing/2010/main" xmlns="" val="20000"/>
                        </a:ext>
                      </a:extLst>
                    </a:gridCol>
                    <a:gridCol w="1800000">
                      <a:extLst>
                        <a:ext uri="{9D8B030D-6E8A-4147-A177-3AD203B41FA5}">
                          <a16:colId xmlns:a16="http://schemas.microsoft.com/office/drawing/2014/main" xmlns:a14="http://schemas.microsoft.com/office/drawing/2010/main" xmlns="" val="20001"/>
                        </a:ext>
                      </a:extLst>
                    </a:gridCol>
                    <a:gridCol w="1800000">
                      <a:extLst>
                        <a:ext uri="{9D8B030D-6E8A-4147-A177-3AD203B41FA5}">
                          <a16:colId xmlns:a16="http://schemas.microsoft.com/office/drawing/2014/main" xmlns:a14="http://schemas.microsoft.com/office/drawing/2010/main" xmlns="" val="20002"/>
                        </a:ext>
                      </a:extLst>
                    </a:gridCol>
                  </a:tblGrid>
                  <a:tr h="701040">
                    <a:tc>
                      <a:txBody>
                        <a:bodyPr/>
                        <a:lstStyle/>
                        <a:p>
                          <a:pPr algn="ctr">
                            <a:spcAft>
                              <a:spcPts val="0"/>
                            </a:spcAft>
                          </a:pPr>
                          <a:r>
                            <a:rPr lang="en-US" sz="2000" b="1" dirty="0">
                              <a:effectLst/>
                              <a:latin typeface="Verdana" pitchFamily="34" charset="0"/>
                              <a:ea typeface="Verdana" pitchFamily="34" charset="0"/>
                              <a:cs typeface="Times New Roman"/>
                            </a:rPr>
                            <a:t>Situation</a:t>
                          </a:r>
                          <a:endParaRPr lang="en-PH" sz="2000" dirty="0">
                            <a:effectLst/>
                            <a:latin typeface="Verdana" pitchFamily="34" charset="0"/>
                            <a:ea typeface="Verdana" pitchFamily="34" charset="0"/>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algn="ctr">
                            <a:spcAft>
                              <a:spcPts val="0"/>
                            </a:spcAft>
                          </a:pPr>
                          <a:r>
                            <a:rPr lang="en-US" sz="2000" b="1" dirty="0">
                              <a:effectLst/>
                              <a:latin typeface="Verdana" pitchFamily="34" charset="0"/>
                              <a:ea typeface="Verdana" pitchFamily="34" charset="0"/>
                              <a:cs typeface="Times New Roman"/>
                            </a:rPr>
                            <a:t>Matching Diagram</a:t>
                          </a:r>
                          <a:endParaRPr lang="en-PH" sz="2000" dirty="0">
                            <a:effectLst/>
                            <a:latin typeface="Verdana" pitchFamily="34" charset="0"/>
                            <a:ea typeface="Verdana" pitchFamily="34" charset="0"/>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algn="ctr">
                            <a:spcAft>
                              <a:spcPts val="0"/>
                            </a:spcAft>
                          </a:pPr>
                          <a:r>
                            <a:rPr lang="en-US" sz="2000" b="1" dirty="0">
                              <a:effectLst/>
                              <a:latin typeface="Verdana" pitchFamily="34" charset="0"/>
                              <a:ea typeface="Verdana" pitchFamily="34" charset="0"/>
                              <a:cs typeface="Times New Roman"/>
                            </a:rPr>
                            <a:t>Reason</a:t>
                          </a:r>
                          <a:endParaRPr lang="en-PH" sz="2000" dirty="0">
                            <a:effectLst/>
                            <a:latin typeface="Verdana" pitchFamily="34" charset="0"/>
                            <a:ea typeface="Verdana" pitchFamily="34" charset="0"/>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xmlns:a14="http://schemas.microsoft.com/office/drawing/2010/main" xmlns="" val="10000"/>
                      </a:ext>
                    </a:extLst>
                  </a:tr>
                  <a:tr h="1080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154" t="-67797" r="-90923" b="-306780"/>
                          </a:stretch>
                        </a:blipFill>
                      </a:tcPr>
                    </a:tc>
                    <a:tc>
                      <a:txBody>
                        <a:bodyPr/>
                        <a:lstStyle/>
                        <a:p>
                          <a:pPr>
                            <a:spcAft>
                              <a:spcPts val="0"/>
                            </a:spcAft>
                          </a:pPr>
                          <a:r>
                            <a:rPr lang="en-US" sz="2000">
                              <a:effectLst/>
                              <a:latin typeface="Verdana" pitchFamily="34" charset="0"/>
                              <a:ea typeface="Verdana" pitchFamily="34" charset="0"/>
                              <a:cs typeface="Times New Roman"/>
                            </a:rPr>
                            <a:t> </a:t>
                          </a:r>
                          <a:endParaRPr lang="en-PH" sz="2000">
                            <a:effectLst/>
                            <a:latin typeface="Verdana" pitchFamily="34" charset="0"/>
                            <a:ea typeface="Verdana" pitchFamily="34" charset="0"/>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spcAft>
                              <a:spcPts val="0"/>
                            </a:spcAft>
                          </a:pPr>
                          <a:r>
                            <a:rPr lang="en-US" sz="2000">
                              <a:effectLst/>
                              <a:latin typeface="Verdana" pitchFamily="34" charset="0"/>
                              <a:ea typeface="Verdana" pitchFamily="34" charset="0"/>
                              <a:cs typeface="Times New Roman"/>
                            </a:rPr>
                            <a:t> </a:t>
                          </a:r>
                          <a:endParaRPr lang="en-PH" sz="2000">
                            <a:effectLst/>
                            <a:latin typeface="Verdana" pitchFamily="34" charset="0"/>
                            <a:ea typeface="Verdana" pitchFamily="34" charset="0"/>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0001"/>
                      </a:ext>
                    </a:extLst>
                  </a:tr>
                  <a:tr h="1080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154" t="-167797" r="-90923" b="-206780"/>
                          </a:stretch>
                        </a:blipFill>
                      </a:tcPr>
                    </a:tc>
                    <a:tc>
                      <a:txBody>
                        <a:bodyPr/>
                        <a:lstStyle/>
                        <a:p>
                          <a:pPr>
                            <a:spcAft>
                              <a:spcPts val="0"/>
                            </a:spcAft>
                          </a:pPr>
                          <a:r>
                            <a:rPr lang="en-US" sz="2000" dirty="0">
                              <a:effectLst/>
                              <a:latin typeface="Verdana" pitchFamily="34" charset="0"/>
                              <a:ea typeface="Verdana" pitchFamily="34" charset="0"/>
                              <a:cs typeface="Times New Roman"/>
                            </a:rPr>
                            <a:t> </a:t>
                          </a:r>
                          <a:endParaRPr lang="en-PH" sz="2000" dirty="0">
                            <a:effectLst/>
                            <a:latin typeface="Verdana" pitchFamily="34" charset="0"/>
                            <a:ea typeface="Verdana" pitchFamily="34" charset="0"/>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spcAft>
                              <a:spcPts val="0"/>
                            </a:spcAft>
                          </a:pPr>
                          <a:r>
                            <a:rPr lang="en-US" sz="2000">
                              <a:effectLst/>
                              <a:latin typeface="Verdana" pitchFamily="34" charset="0"/>
                              <a:ea typeface="Verdana" pitchFamily="34" charset="0"/>
                              <a:cs typeface="Times New Roman"/>
                            </a:rPr>
                            <a:t> </a:t>
                          </a:r>
                          <a:endParaRPr lang="en-PH" sz="2000">
                            <a:effectLst/>
                            <a:latin typeface="Verdana" pitchFamily="34" charset="0"/>
                            <a:ea typeface="Verdana" pitchFamily="34" charset="0"/>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0002"/>
                      </a:ext>
                    </a:extLst>
                  </a:tr>
                  <a:tr h="1080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154" t="-267797" r="-90923" b="-106780"/>
                          </a:stretch>
                        </a:blipFill>
                      </a:tcPr>
                    </a:tc>
                    <a:tc>
                      <a:txBody>
                        <a:bodyPr/>
                        <a:lstStyle/>
                        <a:p>
                          <a:pPr>
                            <a:spcAft>
                              <a:spcPts val="0"/>
                            </a:spcAft>
                          </a:pPr>
                          <a:r>
                            <a:rPr lang="en-US" sz="2000" dirty="0">
                              <a:effectLst/>
                              <a:latin typeface="Verdana" pitchFamily="34" charset="0"/>
                              <a:ea typeface="Verdana" pitchFamily="34" charset="0"/>
                              <a:cs typeface="Times New Roman"/>
                            </a:rPr>
                            <a:t> </a:t>
                          </a:r>
                          <a:endParaRPr lang="en-PH" sz="2000" dirty="0">
                            <a:effectLst/>
                            <a:latin typeface="Verdana" pitchFamily="34" charset="0"/>
                            <a:ea typeface="Verdana" pitchFamily="34" charset="0"/>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spcAft>
                              <a:spcPts val="0"/>
                            </a:spcAft>
                          </a:pPr>
                          <a:r>
                            <a:rPr lang="en-US" sz="2000" dirty="0">
                              <a:effectLst/>
                              <a:latin typeface="Verdana" pitchFamily="34" charset="0"/>
                              <a:ea typeface="Verdana" pitchFamily="34" charset="0"/>
                              <a:cs typeface="Times New Roman"/>
                            </a:rPr>
                            <a:t> </a:t>
                          </a:r>
                          <a:endParaRPr lang="en-PH" sz="2000" dirty="0">
                            <a:effectLst/>
                            <a:latin typeface="Verdana" pitchFamily="34" charset="0"/>
                            <a:ea typeface="Verdana" pitchFamily="34" charset="0"/>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0003"/>
                      </a:ext>
                    </a:extLst>
                  </a:tr>
                  <a:tr h="1080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154" t="-367797" r="-90923" b="-6780"/>
                          </a:stretch>
                        </a:blipFill>
                      </a:tcPr>
                    </a:tc>
                    <a:tc>
                      <a:txBody>
                        <a:bodyPr/>
                        <a:lstStyle/>
                        <a:p>
                          <a:pPr>
                            <a:spcAft>
                              <a:spcPts val="0"/>
                            </a:spcAft>
                          </a:pPr>
                          <a:r>
                            <a:rPr lang="en-US" sz="2000">
                              <a:effectLst/>
                              <a:latin typeface="Verdana" pitchFamily="34" charset="0"/>
                              <a:ea typeface="Verdana" pitchFamily="34" charset="0"/>
                              <a:cs typeface="Times New Roman"/>
                            </a:rPr>
                            <a:t> </a:t>
                          </a:r>
                          <a:endParaRPr lang="en-PH" sz="2000">
                            <a:effectLst/>
                            <a:latin typeface="Verdana" pitchFamily="34" charset="0"/>
                            <a:ea typeface="Verdana" pitchFamily="34" charset="0"/>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spcAft>
                              <a:spcPts val="0"/>
                            </a:spcAft>
                          </a:pPr>
                          <a:r>
                            <a:rPr lang="en-US" sz="2000" dirty="0">
                              <a:effectLst/>
                              <a:latin typeface="Verdana" pitchFamily="34" charset="0"/>
                              <a:ea typeface="Verdana" pitchFamily="34" charset="0"/>
                              <a:cs typeface="Times New Roman"/>
                            </a:rPr>
                            <a:t> </a:t>
                          </a:r>
                          <a:endParaRPr lang="en-PH" sz="2000" dirty="0">
                            <a:effectLst/>
                            <a:latin typeface="Verdana" pitchFamily="34" charset="0"/>
                            <a:ea typeface="Verdana" pitchFamily="34" charset="0"/>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0004"/>
                      </a:ext>
                    </a:extLst>
                  </a:tr>
                </a:tbl>
              </a:graphicData>
            </a:graphic>
          </p:graphicFrame>
        </mc:Fallback>
      </mc:AlternateContent>
      <p:sp>
        <p:nvSpPr>
          <p:cNvPr id="9" name="Google Shape;282;g104476d1465_1_17"/>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340</a:t>
            </a:r>
            <a:endParaRPr i="1" dirty="0">
              <a:latin typeface="Calibri"/>
              <a:ea typeface="Calibri"/>
              <a:cs typeface="Calibri"/>
              <a:sym typeface="Calibri"/>
            </a:endParaRPr>
          </a:p>
        </p:txBody>
      </p:sp>
    </p:spTree>
    <p:extLst>
      <p:ext uri="{BB962C8B-B14F-4D97-AF65-F5344CB8AC3E}">
        <p14:creationId xmlns:p14="http://schemas.microsoft.com/office/powerpoint/2010/main" val="11922520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14" name="TextBox 13">
            <a:extLst>
              <a:ext uri="{FF2B5EF4-FFF2-40B4-BE49-F238E27FC236}">
                <a16:creationId xmlns:a16="http://schemas.microsoft.com/office/drawing/2014/main" xmlns="" id="{2FA392D8-3ED3-7940-83A8-1451AA8A08D4}"/>
              </a:ext>
            </a:extLst>
          </p:cNvPr>
          <p:cNvSpPr txBox="1"/>
          <p:nvPr/>
        </p:nvSpPr>
        <p:spPr>
          <a:xfrm>
            <a:off x="536154" y="378351"/>
            <a:ext cx="10800000" cy="4426853"/>
          </a:xfrm>
          <a:prstGeom prst="rect">
            <a:avLst/>
          </a:prstGeom>
          <a:noFill/>
        </p:spPr>
        <p:txBody>
          <a:bodyPr wrap="square" rtlCol="0">
            <a:spAutoFit/>
          </a:bodyPr>
          <a:lstStyle/>
          <a:p>
            <a:pPr marL="457200" indent="-457200">
              <a:spcBef>
                <a:spcPts val="180"/>
              </a:spcBef>
              <a:spcAft>
                <a:spcPts val="1200"/>
              </a:spcAft>
              <a:buFont typeface="+mj-lt"/>
              <a:buAutoNum type="arabicPeriod" startAt="2"/>
            </a:pPr>
            <a:r>
              <a:rPr lang="en-US" sz="2000" dirty="0">
                <a:latin typeface="Verdana"/>
                <a:ea typeface="Times New Roman"/>
                <a:cs typeface="Times New Roman"/>
              </a:rPr>
              <a:t>The number of mosquitoes decreased by</a:t>
            </a:r>
            <a:r>
              <a:rPr lang="en-US" sz="2000" dirty="0">
                <a:latin typeface="Century Gothic"/>
                <a:ea typeface="Times New Roman"/>
                <a:cs typeface="Times New Roman"/>
              </a:rPr>
              <a:t> </a:t>
            </a:r>
            <a:r>
              <a:rPr lang="en-US" sz="2000" dirty="0">
                <a:latin typeface="Cambria Math"/>
                <a:ea typeface="Times New Roman"/>
                <a:cs typeface="Times New Roman"/>
              </a:rPr>
              <a:t>80% </a:t>
            </a:r>
            <a:r>
              <a:rPr lang="en-US" sz="2000" dirty="0">
                <a:latin typeface="Verdana"/>
                <a:ea typeface="Times New Roman"/>
                <a:cs typeface="Times New Roman"/>
              </a:rPr>
              <a:t>from last month to this month. Create a tape diagram of this month to represent the situation.</a:t>
            </a:r>
          </a:p>
          <a:p>
            <a:pPr marL="457200" indent="-457200">
              <a:spcBef>
                <a:spcPts val="180"/>
              </a:spcBef>
              <a:buFont typeface="+mj-lt"/>
              <a:buAutoNum type="arabicPeriod" startAt="2"/>
            </a:pPr>
            <a:endParaRPr lang="en-US" sz="2000" dirty="0">
              <a:latin typeface="Verdana"/>
              <a:ea typeface="Times New Roman"/>
              <a:cs typeface="Times New Roman"/>
            </a:endParaRPr>
          </a:p>
          <a:p>
            <a:pPr marL="457200" indent="-457200">
              <a:spcBef>
                <a:spcPts val="180"/>
              </a:spcBef>
              <a:buFont typeface="+mj-lt"/>
              <a:buAutoNum type="arabicPeriod" startAt="2"/>
            </a:pPr>
            <a:endParaRPr lang="en-US" sz="2000" dirty="0">
              <a:latin typeface="Verdana"/>
              <a:ea typeface="Times New Roman"/>
              <a:cs typeface="Times New Roman"/>
            </a:endParaRPr>
          </a:p>
          <a:p>
            <a:pPr marL="457200" indent="-457200">
              <a:spcBef>
                <a:spcPts val="180"/>
              </a:spcBef>
              <a:buFont typeface="+mj-lt"/>
              <a:buAutoNum type="arabicPeriod" startAt="2"/>
            </a:pPr>
            <a:endParaRPr lang="en-US" sz="2000" dirty="0">
              <a:latin typeface="Verdana"/>
              <a:ea typeface="Times New Roman"/>
              <a:cs typeface="Times New Roman"/>
            </a:endParaRPr>
          </a:p>
          <a:p>
            <a:pPr marL="457200" indent="-457200">
              <a:spcBef>
                <a:spcPts val="180"/>
              </a:spcBef>
              <a:buFont typeface="+mj-lt"/>
              <a:buAutoNum type="arabicPeriod" startAt="2"/>
            </a:pPr>
            <a:endParaRPr lang="en-US" sz="2000" dirty="0">
              <a:latin typeface="Verdana"/>
              <a:ea typeface="Times New Roman"/>
              <a:cs typeface="Times New Roman"/>
            </a:endParaRPr>
          </a:p>
          <a:p>
            <a:pPr marL="457200" indent="-457200">
              <a:spcBef>
                <a:spcPts val="180"/>
              </a:spcBef>
              <a:buFont typeface="+mj-lt"/>
              <a:buAutoNum type="arabicPeriod" startAt="2"/>
            </a:pPr>
            <a:endParaRPr lang="en-US" sz="2000" dirty="0">
              <a:latin typeface="Verdana"/>
              <a:ea typeface="Times New Roman"/>
              <a:cs typeface="Times New Roman"/>
            </a:endParaRPr>
          </a:p>
          <a:p>
            <a:pPr marL="457200" indent="-457200">
              <a:spcBef>
                <a:spcPts val="180"/>
              </a:spcBef>
              <a:buFont typeface="+mj-lt"/>
              <a:buAutoNum type="arabicPeriod" startAt="2"/>
            </a:pPr>
            <a:endParaRPr lang="en-US" sz="2000" dirty="0">
              <a:latin typeface="Verdana"/>
              <a:ea typeface="Times New Roman"/>
              <a:cs typeface="Times New Roman"/>
            </a:endParaRPr>
          </a:p>
          <a:p>
            <a:pPr marL="457200" indent="-457200">
              <a:spcBef>
                <a:spcPts val="180"/>
              </a:spcBef>
              <a:buFont typeface="+mj-lt"/>
              <a:buAutoNum type="arabicPeriod" startAt="2"/>
            </a:pPr>
            <a:r>
              <a:rPr lang="en-US" sz="2000" dirty="0">
                <a:latin typeface="Verdana"/>
                <a:ea typeface="Times New Roman"/>
                <a:cs typeface="Times New Roman"/>
              </a:rPr>
              <a:t>The gas tank in Robert’s truck holds</a:t>
            </a:r>
            <a:r>
              <a:rPr lang="en-US" sz="2000" dirty="0">
                <a:latin typeface="Century Gothic"/>
                <a:ea typeface="Times New Roman"/>
                <a:cs typeface="Times New Roman"/>
              </a:rPr>
              <a:t> </a:t>
            </a:r>
            <a:r>
              <a:rPr lang="en-US" sz="2000" dirty="0">
                <a:latin typeface="Cambria Math"/>
                <a:ea typeface="Times New Roman"/>
                <a:cs typeface="Times New Roman"/>
              </a:rPr>
              <a:t>12</a:t>
            </a:r>
            <a:r>
              <a:rPr lang="en-US" sz="2000" dirty="0">
                <a:latin typeface="Century Gothic"/>
                <a:ea typeface="Times New Roman"/>
                <a:cs typeface="Times New Roman"/>
              </a:rPr>
              <a:t> </a:t>
            </a:r>
            <a:r>
              <a:rPr lang="en-US" sz="2000" dirty="0">
                <a:latin typeface="Verdana"/>
                <a:ea typeface="Times New Roman"/>
                <a:cs typeface="Times New Roman"/>
              </a:rPr>
              <a:t>gallons. The gas tank in his mom’s truck holds</a:t>
            </a:r>
            <a:r>
              <a:rPr lang="en-US" sz="2000" dirty="0">
                <a:latin typeface="Century Gothic"/>
                <a:ea typeface="Times New Roman"/>
                <a:cs typeface="Times New Roman"/>
              </a:rPr>
              <a:t> </a:t>
            </a:r>
            <a:r>
              <a:rPr lang="en-US" sz="2000" dirty="0">
                <a:latin typeface="Cambria Math"/>
                <a:ea typeface="Times New Roman"/>
                <a:cs typeface="Times New Roman"/>
              </a:rPr>
              <a:t>50%</a:t>
            </a:r>
            <a:r>
              <a:rPr lang="en-US" sz="2000" dirty="0">
                <a:latin typeface="Century Gothic"/>
                <a:ea typeface="Times New Roman"/>
                <a:cs typeface="Times New Roman"/>
              </a:rPr>
              <a:t> </a:t>
            </a:r>
            <a:r>
              <a:rPr lang="en-US" sz="2000" dirty="0">
                <a:latin typeface="Verdana"/>
                <a:ea typeface="Times New Roman"/>
                <a:cs typeface="Times New Roman"/>
              </a:rPr>
              <a:t>more gas. Using the double number lines, determine how many gallons the gas tank of Robert’s mom’s truck holds.</a:t>
            </a:r>
            <a:endParaRPr lang="en-PH" dirty="0">
              <a:latin typeface="Cambria"/>
              <a:ea typeface="Times New Roman"/>
              <a:cs typeface="Times New Roman"/>
            </a:endParaRPr>
          </a:p>
        </p:txBody>
      </p:sp>
      <p:sp>
        <p:nvSpPr>
          <p:cNvPr id="6" name="Google Shape;278;g104476d1465_1_17">
            <a:extLst>
              <a:ext uri="{FF2B5EF4-FFF2-40B4-BE49-F238E27FC236}">
                <a16:creationId xmlns:a16="http://schemas.microsoft.com/office/drawing/2014/main" xmlns="" id="{7202F70B-4E43-2A4C-9678-6A71785BE75B}"/>
              </a:ext>
            </a:extLst>
          </p:cNvPr>
          <p:cNvSpPr/>
          <p:nvPr/>
        </p:nvSpPr>
        <p:spPr>
          <a:xfrm>
            <a:off x="0" y="-8225"/>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4100" name="Picture 4"/>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2977124" y="1131797"/>
            <a:ext cx="5918060" cy="17911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9" name="Picture" descr="A double number line for “gas in gallons” with 4 evenly spaced tick marks. The top number line, starting with the first tick mark, has the numbers zero; the remaining tick marks are not labeled. The bottom number line, starting with the first tick mark, has zero percent, 50 percent, 100 percent, and 150 percent labeled."/>
          <p:cNvPicPr/>
          <p:nvPr/>
        </p:nvPicPr>
        <p:blipFill>
          <a:blip r:embed="rId5" cstate="screen">
            <a:extLst>
              <a:ext uri="{28A0092B-C50C-407E-A947-70E740481C1C}">
                <a14:useLocalDpi xmlns:a14="http://schemas.microsoft.com/office/drawing/2010/main"/>
              </a:ext>
            </a:extLst>
          </a:blip>
          <a:stretch>
            <a:fillRect/>
          </a:stretch>
        </p:blipFill>
        <p:spPr bwMode="auto">
          <a:xfrm>
            <a:off x="2582474" y="4467852"/>
            <a:ext cx="7470503" cy="1166322"/>
          </a:xfrm>
          <a:prstGeom prst="rect">
            <a:avLst/>
          </a:prstGeom>
          <a:noFill/>
          <a:ln w="9525">
            <a:noFill/>
            <a:headEnd/>
            <a:tailEnd/>
          </a:ln>
        </p:spPr>
      </p:pic>
      <p:sp>
        <p:nvSpPr>
          <p:cNvPr id="30" name="Google Shape;282;g104476d1465_1_17"/>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340</a:t>
            </a:r>
            <a:endParaRPr i="1" dirty="0">
              <a:latin typeface="Calibri"/>
              <a:ea typeface="Calibri"/>
              <a:cs typeface="Calibri"/>
              <a:sym typeface="Calibri"/>
            </a:endParaRPr>
          </a:p>
        </p:txBody>
      </p:sp>
    </p:spTree>
    <p:extLst>
      <p:ext uri="{BB962C8B-B14F-4D97-AF65-F5344CB8AC3E}">
        <p14:creationId xmlns:p14="http://schemas.microsoft.com/office/powerpoint/2010/main" val="32171289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665258" y="2766145"/>
            <a:ext cx="5002742"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Collaboration</a:t>
            </a:r>
            <a:endParaRPr sz="5100" b="1" dirty="0">
              <a:solidFill>
                <a:srgbClr val="33BEA6"/>
              </a:solidFill>
              <a:latin typeface="Verdana"/>
              <a:ea typeface="Verdana"/>
              <a:cs typeface="Verdana"/>
              <a:sym typeface="Verdana"/>
            </a:endParaRPr>
          </a:p>
        </p:txBody>
      </p:sp>
      <p:pic>
        <p:nvPicPr>
          <p:cNvPr id="3074" name="Picture 2">
            <a:extLst>
              <a:ext uri="{FF2B5EF4-FFF2-40B4-BE49-F238E27FC236}">
                <a16:creationId xmlns:a16="http://schemas.microsoft.com/office/drawing/2014/main" xmlns="" id="{D0821C8B-4657-A74D-94B5-D6CF373A1741}"/>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513114"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8" name="Google Shape;282;g104476d1465_1_17"/>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341</a:t>
            </a:r>
            <a:endParaRPr i="1" dirty="0">
              <a:latin typeface="Calibri"/>
              <a:ea typeface="Calibri"/>
              <a:cs typeface="Calibri"/>
              <a:sym typeface="Calibri"/>
            </a:endParaRPr>
          </a:p>
        </p:txBody>
      </p:sp>
    </p:spTree>
    <p:extLst>
      <p:ext uri="{BB962C8B-B14F-4D97-AF65-F5344CB8AC3E}">
        <p14:creationId xmlns:p14="http://schemas.microsoft.com/office/powerpoint/2010/main" val="35607887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xmlns="" id="{DB5796CA-12EB-BB4C-8338-B127D750A026}"/>
              </a:ext>
            </a:extLst>
          </p:cNvPr>
          <p:cNvSpPr txBox="1">
            <a:spLocks/>
          </p:cNvSpPr>
          <p:nvPr/>
        </p:nvSpPr>
        <p:spPr>
          <a:xfrm>
            <a:off x="1163913" y="89918"/>
            <a:ext cx="108000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7.9.4 Collaboration: Calculating Percent Increase or Decrease</a:t>
            </a:r>
          </a:p>
        </p:txBody>
      </p:sp>
      <p:pic>
        <p:nvPicPr>
          <p:cNvPr id="9" name="Picture 2">
            <a:extLst>
              <a:ext uri="{FF2B5EF4-FFF2-40B4-BE49-F238E27FC236}">
                <a16:creationId xmlns:a16="http://schemas.microsoft.com/office/drawing/2014/main" xmlns="" id="{A80EBD0F-404F-0B4B-AC09-DA5A6DF6026E}"/>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24197" y="377864"/>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xmlns="" id="{E44DF7DE-9172-3E4E-B74A-7A51585FB6EA}"/>
                  </a:ext>
                </a:extLst>
              </p:cNvPr>
              <p:cNvSpPr txBox="1"/>
              <p:nvPr/>
            </p:nvSpPr>
            <p:spPr>
              <a:xfrm>
                <a:off x="536154" y="1547882"/>
                <a:ext cx="10800000" cy="4529445"/>
              </a:xfrm>
              <a:prstGeom prst="rect">
                <a:avLst/>
              </a:prstGeom>
              <a:noFill/>
            </p:spPr>
            <p:txBody>
              <a:bodyPr wrap="square" rtlCol="0">
                <a:spAutoFit/>
              </a:bodyPr>
              <a:lstStyle/>
              <a:p>
                <a:pPr>
                  <a:spcBef>
                    <a:spcPts val="180"/>
                  </a:spcBef>
                  <a:spcAft>
                    <a:spcPts val="1800"/>
                  </a:spcAft>
                </a:pPr>
                <a:r>
                  <a:rPr lang="en-US" sz="2400" dirty="0">
                    <a:latin typeface="Verdana"/>
                    <a:ea typeface="Times New Roman"/>
                    <a:cs typeface="Times New Roman"/>
                  </a:rPr>
                  <a:t>Percent increase and decrease can also be found through calculations.</a:t>
                </a:r>
              </a:p>
              <a:p>
                <a:pPr>
                  <a:spcBef>
                    <a:spcPts val="180"/>
                  </a:spcBef>
                  <a:spcAft>
                    <a:spcPts val="1800"/>
                  </a:spcAft>
                </a:pPr>
                <a:r>
                  <a:rPr lang="en-US" sz="2400" dirty="0">
                    <a:latin typeface="Verdana"/>
                    <a:ea typeface="Times New Roman"/>
                    <a:cs typeface="Times New Roman"/>
                  </a:rPr>
                  <a:t>Complete the following with your partner.</a:t>
                </a:r>
                <a:endParaRPr lang="en-PH" sz="1600" dirty="0">
                  <a:latin typeface="Cambria"/>
                  <a:ea typeface="Times New Roman"/>
                  <a:cs typeface="Times New Roman"/>
                </a:endParaRPr>
              </a:p>
              <a:p>
                <a:pPr marL="457200" indent="-457200">
                  <a:spcBef>
                    <a:spcPts val="180"/>
                  </a:spcBef>
                  <a:spcAft>
                    <a:spcPts val="1200"/>
                  </a:spcAft>
                  <a:buFont typeface="+mj-lt"/>
                  <a:buAutoNum type="arabicPeriod"/>
                </a:pPr>
                <a:r>
                  <a:rPr lang="en-US" sz="2400" dirty="0">
                    <a:latin typeface="Verdana"/>
                    <a:ea typeface="Times New Roman"/>
                    <a:cs typeface="Times New Roman"/>
                  </a:rPr>
                  <a:t>A new cereal box contains </a:t>
                </a:r>
                <a:r>
                  <a:rPr lang="en-US" sz="2400" dirty="0" smtClean="0">
                    <a:latin typeface="Verdana"/>
                    <a:ea typeface="Times New Roman"/>
                    <a:cs typeface="Times New Roman"/>
                  </a:rPr>
                  <a:t>“</a:t>
                </a:r>
                <a14:m>
                  <m:oMath xmlns:m="http://schemas.openxmlformats.org/officeDocument/2006/math">
                    <m:r>
                      <a:rPr lang="en-US" sz="2400" i="1">
                        <a:latin typeface="Cambria Math"/>
                        <a:ea typeface="Times New Roman"/>
                        <a:cs typeface="Times New Roman"/>
                      </a:rPr>
                      <m:t>20%</m:t>
                    </m:r>
                  </m:oMath>
                </a14:m>
                <a:r>
                  <a:rPr lang="en-US" sz="2400" dirty="0">
                    <a:latin typeface="Verdana"/>
                    <a:ea typeface="Times New Roman"/>
                    <a:cs typeface="Times New Roman"/>
                  </a:rPr>
                  <a:t> More” cereal. </a:t>
                </a:r>
                <a:r>
                  <a:rPr lang="en-US" sz="2400" dirty="0" smtClean="0">
                    <a:latin typeface="Verdana"/>
                    <a:ea typeface="Times New Roman"/>
                    <a:cs typeface="Times New Roman"/>
                  </a:rPr>
                  <a:t/>
                </a:r>
                <a:br>
                  <a:rPr lang="en-US" sz="2400" dirty="0" smtClean="0">
                    <a:latin typeface="Verdana"/>
                    <a:ea typeface="Times New Roman"/>
                    <a:cs typeface="Times New Roman"/>
                  </a:rPr>
                </a:br>
                <a:r>
                  <a:rPr lang="en-US" sz="2400" dirty="0" smtClean="0">
                    <a:latin typeface="Verdana"/>
                    <a:ea typeface="Times New Roman"/>
                    <a:cs typeface="Times New Roman"/>
                  </a:rPr>
                  <a:t>The </a:t>
                </a:r>
                <a:r>
                  <a:rPr lang="en-US" sz="2400" dirty="0">
                    <a:latin typeface="Verdana"/>
                    <a:ea typeface="Times New Roman"/>
                    <a:cs typeface="Times New Roman"/>
                  </a:rPr>
                  <a:t>original </a:t>
                </a:r>
                <a:r>
                  <a:rPr lang="en-US" sz="2400" dirty="0" smtClean="0">
                    <a:latin typeface="Verdana"/>
                    <a:ea typeface="Times New Roman"/>
                    <a:cs typeface="Times New Roman"/>
                  </a:rPr>
                  <a:t>cereal </a:t>
                </a:r>
                <a:r>
                  <a:rPr lang="en-US" sz="2400" dirty="0">
                    <a:latin typeface="Verdana"/>
                    <a:ea typeface="Times New Roman"/>
                    <a:cs typeface="Times New Roman"/>
                  </a:rPr>
                  <a:t>boxes contained </a:t>
                </a:r>
                <a:r>
                  <a:rPr lang="en-US" sz="2400" dirty="0">
                    <a:latin typeface="Cambria Math"/>
                    <a:ea typeface="Times New Roman"/>
                    <a:cs typeface="Times New Roman"/>
                  </a:rPr>
                  <a:t>500</a:t>
                </a:r>
                <a:r>
                  <a:rPr lang="en-US" sz="2400" dirty="0">
                    <a:latin typeface="Verdana"/>
                    <a:ea typeface="Times New Roman"/>
                    <a:cs typeface="Times New Roman"/>
                  </a:rPr>
                  <a:t> grams </a:t>
                </a:r>
                <a:br>
                  <a:rPr lang="en-US" sz="2400" dirty="0">
                    <a:latin typeface="Verdana"/>
                    <a:ea typeface="Times New Roman"/>
                    <a:cs typeface="Times New Roman"/>
                  </a:rPr>
                </a:br>
                <a:r>
                  <a:rPr lang="en-US" sz="2400" dirty="0">
                    <a:latin typeface="Verdana"/>
                    <a:ea typeface="Times New Roman"/>
                    <a:cs typeface="Times New Roman"/>
                  </a:rPr>
                  <a:t>of cereal.</a:t>
                </a:r>
                <a:endParaRPr lang="en-PH" sz="1600" dirty="0">
                  <a:latin typeface="Cambria"/>
                  <a:ea typeface="Times New Roman"/>
                  <a:cs typeface="Times New Roman"/>
                </a:endParaRPr>
              </a:p>
              <a:p>
                <a:pPr marL="896938" indent="-457200">
                  <a:spcBef>
                    <a:spcPts val="180"/>
                  </a:spcBef>
                  <a:buFont typeface="+mj-lt"/>
                  <a:buAutoNum type="alphaLcPeriod"/>
                </a:pPr>
                <a:r>
                  <a:rPr lang="en-US" sz="2400" dirty="0">
                    <a:latin typeface="Verdana"/>
                    <a:ea typeface="Times New Roman"/>
                    <a:cs typeface="Times New Roman"/>
                  </a:rPr>
                  <a:t>Explain how to determine how </a:t>
                </a:r>
                <a:r>
                  <a:rPr lang="en-US" sz="2400" dirty="0" smtClean="0">
                    <a:latin typeface="Verdana"/>
                    <a:ea typeface="Times New Roman"/>
                    <a:cs typeface="Times New Roman"/>
                  </a:rPr>
                  <a:t>much </a:t>
                </a:r>
                <a:r>
                  <a:rPr lang="en-US" sz="2400" dirty="0">
                    <a:latin typeface="Verdana"/>
                    <a:ea typeface="Times New Roman"/>
                    <a:cs typeface="Times New Roman"/>
                  </a:rPr>
                  <a:t>cereal </a:t>
                </a:r>
                <a:r>
                  <a:rPr lang="en-US" sz="2400" dirty="0" smtClean="0">
                    <a:latin typeface="Verdana"/>
                    <a:ea typeface="Times New Roman"/>
                    <a:cs typeface="Times New Roman"/>
                  </a:rPr>
                  <a:t/>
                </a:r>
                <a:br>
                  <a:rPr lang="en-US" sz="2400" dirty="0" smtClean="0">
                    <a:latin typeface="Verdana"/>
                    <a:ea typeface="Times New Roman"/>
                    <a:cs typeface="Times New Roman"/>
                  </a:rPr>
                </a:br>
                <a:r>
                  <a:rPr lang="en-US" sz="2400" dirty="0" smtClean="0">
                    <a:latin typeface="Verdana"/>
                    <a:ea typeface="Times New Roman"/>
                    <a:cs typeface="Times New Roman"/>
                  </a:rPr>
                  <a:t>is </a:t>
                </a:r>
                <a:r>
                  <a:rPr lang="en-US" sz="2400" dirty="0">
                    <a:latin typeface="Verdana"/>
                    <a:ea typeface="Times New Roman"/>
                    <a:cs typeface="Times New Roman"/>
                  </a:rPr>
                  <a:t>in the new box. </a:t>
                </a:r>
                <a:endParaRPr lang="en-PH" sz="1600" dirty="0">
                  <a:latin typeface="Cambria"/>
                  <a:ea typeface="Times New Roman"/>
                  <a:cs typeface="Times New Roman"/>
                </a:endParaRPr>
              </a:p>
              <a:p>
                <a:pPr marL="896938" indent="-457200">
                  <a:spcBef>
                    <a:spcPts val="180"/>
                  </a:spcBef>
                  <a:buFont typeface="+mj-lt"/>
                  <a:buAutoNum type="alphaLcPeriod"/>
                </a:pPr>
                <a:endParaRPr lang="en-US" sz="2400" dirty="0">
                  <a:latin typeface="Verdana"/>
                  <a:ea typeface="Times New Roman"/>
                  <a:cs typeface="Times New Roman"/>
                </a:endParaRPr>
              </a:p>
              <a:p>
                <a:pPr marL="896938" indent="-457200">
                  <a:spcBef>
                    <a:spcPts val="180"/>
                  </a:spcBef>
                  <a:buFont typeface="+mj-lt"/>
                  <a:buAutoNum type="alphaLcPeriod"/>
                </a:pPr>
                <a:r>
                  <a:rPr lang="en-US" sz="2400" dirty="0">
                    <a:latin typeface="Verdana"/>
                    <a:ea typeface="Times New Roman"/>
                    <a:cs typeface="Times New Roman"/>
                  </a:rPr>
                  <a:t>How much cereal comes in the new box?</a:t>
                </a:r>
                <a:endParaRPr lang="en-PH" sz="1600" dirty="0">
                  <a:latin typeface="Cambria"/>
                  <a:ea typeface="Times New Roman"/>
                  <a:cs typeface="Times New Roman"/>
                </a:endParaRPr>
              </a:p>
            </p:txBody>
          </p:sp>
        </mc:Choice>
        <mc:Fallback>
          <p:sp>
            <p:nvSpPr>
              <p:cNvPr id="10" name="TextBox 9">
                <a:extLst>
                  <a:ext uri="{FF2B5EF4-FFF2-40B4-BE49-F238E27FC236}">
                    <a16:creationId xmlns:a16="http://schemas.microsoft.com/office/drawing/2014/main" xmlns:a14="http://schemas.microsoft.com/office/drawing/2010/main" xmlns="" id="{E44DF7DE-9172-3E4E-B74A-7A51585FB6EA}"/>
                  </a:ext>
                </a:extLst>
              </p:cNvPr>
              <p:cNvSpPr txBox="1">
                <a:spLocks noRot="1" noChangeAspect="1" noMove="1" noResize="1" noEditPoints="1" noAdjustHandles="1" noChangeArrowheads="1" noChangeShapeType="1" noTextEdit="1"/>
              </p:cNvSpPr>
              <p:nvPr/>
            </p:nvSpPr>
            <p:spPr>
              <a:xfrm>
                <a:off x="536154" y="1547882"/>
                <a:ext cx="10800000" cy="4529445"/>
              </a:xfrm>
              <a:prstGeom prst="rect">
                <a:avLst/>
              </a:prstGeom>
              <a:blipFill rotWithShape="1">
                <a:blip r:embed="rId5"/>
                <a:stretch>
                  <a:fillRect l="-903" t="-1077" b="-2019"/>
                </a:stretch>
              </a:blipFill>
            </p:spPr>
            <p:txBody>
              <a:bodyPr/>
              <a:lstStyle/>
              <a:p>
                <a:r>
                  <a:rPr lang="en-PH">
                    <a:noFill/>
                  </a:rPr>
                  <a:t> </a:t>
                </a:r>
              </a:p>
            </p:txBody>
          </p:sp>
        </mc:Fallback>
      </mc:AlternateContent>
      <p:sp>
        <p:nvSpPr>
          <p:cNvPr id="11" name="Google Shape;278;g104476d1465_1_17">
            <a:extLst>
              <a:ext uri="{FF2B5EF4-FFF2-40B4-BE49-F238E27FC236}">
                <a16:creationId xmlns:a16="http://schemas.microsoft.com/office/drawing/2014/main" xmlns="" id="{50C37AA2-8B34-A044-9CF0-D6F9EE428461}"/>
              </a:ext>
            </a:extLst>
          </p:cNvPr>
          <p:cNvSpPr/>
          <p:nvPr/>
        </p:nvSpPr>
        <p:spPr>
          <a:xfrm>
            <a:off x="0" y="-8225"/>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13" name="Picture" descr="Picture of a cereal box with the label &quot;20% more free&quot; on the box."/>
          <p:cNvPicPr/>
          <p:nvPr/>
        </p:nvPicPr>
        <p:blipFill>
          <a:blip r:embed="rId6" cstate="print">
            <a:extLst>
              <a:ext uri="{28A0092B-C50C-407E-A947-70E740481C1C}">
                <a14:useLocalDpi xmlns:a14="http://schemas.microsoft.com/office/drawing/2010/main"/>
              </a:ext>
            </a:extLst>
          </a:blip>
          <a:stretch>
            <a:fillRect/>
          </a:stretch>
        </p:blipFill>
        <p:spPr bwMode="auto">
          <a:xfrm>
            <a:off x="9121909" y="3228548"/>
            <a:ext cx="2214245" cy="2621915"/>
          </a:xfrm>
          <a:prstGeom prst="rect">
            <a:avLst/>
          </a:prstGeom>
          <a:noFill/>
          <a:ln w="9525">
            <a:noFill/>
            <a:headEnd/>
            <a:tailEnd/>
          </a:ln>
        </p:spPr>
      </p:pic>
      <p:sp>
        <p:nvSpPr>
          <p:cNvPr id="14" name="Google Shape;282;g104476d1465_1_17"/>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341</a:t>
            </a:r>
            <a:endParaRPr i="1" dirty="0">
              <a:latin typeface="Calibri"/>
              <a:ea typeface="Calibri"/>
              <a:cs typeface="Calibri"/>
              <a:sym typeface="Calibri"/>
            </a:endParaRPr>
          </a:p>
        </p:txBody>
      </p:sp>
    </p:spTree>
    <p:extLst>
      <p:ext uri="{BB962C8B-B14F-4D97-AF65-F5344CB8AC3E}">
        <p14:creationId xmlns:p14="http://schemas.microsoft.com/office/powerpoint/2010/main" val="16744370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xmlns="" id="{2FA392D8-3ED3-7940-83A8-1451AA8A08D4}"/>
                  </a:ext>
                </a:extLst>
              </p:cNvPr>
              <p:cNvSpPr txBox="1"/>
              <p:nvPr/>
            </p:nvSpPr>
            <p:spPr>
              <a:xfrm>
                <a:off x="536154" y="378343"/>
                <a:ext cx="10800000" cy="1915909"/>
              </a:xfrm>
              <a:prstGeom prst="rect">
                <a:avLst/>
              </a:prstGeom>
              <a:noFill/>
            </p:spPr>
            <p:txBody>
              <a:bodyPr wrap="square" rtlCol="0">
                <a:spAutoFit/>
              </a:bodyPr>
              <a:lstStyle/>
              <a:p>
                <a:pPr marL="457200" indent="-457200">
                  <a:spcAft>
                    <a:spcPts val="1800"/>
                  </a:spcAft>
                  <a:buFont typeface="+mj-lt"/>
                  <a:buAutoNum type="arabicPeriod" startAt="2"/>
                </a:pPr>
                <a:r>
                  <a:rPr lang="en-US" sz="2400" dirty="0">
                    <a:latin typeface="Verdana" pitchFamily="34" charset="0"/>
                    <a:ea typeface="Verdana" pitchFamily="34" charset="0"/>
                    <a:cs typeface="Times New Roman"/>
                  </a:rPr>
                  <a:t>The price of a shirt at </a:t>
                </a:r>
                <a:r>
                  <a:rPr lang="en-US" sz="2400" dirty="0" err="1">
                    <a:latin typeface="Verdana" pitchFamily="34" charset="0"/>
                    <a:ea typeface="Verdana" pitchFamily="34" charset="0"/>
                    <a:cs typeface="Times New Roman"/>
                  </a:rPr>
                  <a:t>ClothesMart</a:t>
                </a:r>
                <a:r>
                  <a:rPr lang="en-US" sz="2400" dirty="0">
                    <a:latin typeface="Verdana" pitchFamily="34" charset="0"/>
                    <a:ea typeface="Verdana" pitchFamily="34" charset="0"/>
                    <a:cs typeface="Times New Roman"/>
                  </a:rPr>
                  <a:t> is </a:t>
                </a:r>
                <a14:m>
                  <m:oMath xmlns:m="http://schemas.openxmlformats.org/officeDocument/2006/math">
                    <m:r>
                      <a:rPr lang="en-US" sz="2400" i="1" dirty="0">
                        <a:latin typeface="Cambria Math"/>
                        <a:ea typeface="Verdana" pitchFamily="34" charset="0"/>
                        <a:cs typeface="Times New Roman"/>
                      </a:rPr>
                      <m:t>$18.50</m:t>
                    </m:r>
                  </m:oMath>
                </a14:m>
                <a:r>
                  <a:rPr lang="en-US" sz="2400" dirty="0">
                    <a:latin typeface="Verdana" pitchFamily="34" charset="0"/>
                    <a:ea typeface="Verdana" pitchFamily="34" charset="0"/>
                    <a:cs typeface="Times New Roman"/>
                  </a:rPr>
                  <a:t>, but there is a store coupon that lowers the price </a:t>
                </a:r>
                <a:r>
                  <a:rPr lang="en-US" sz="2400" dirty="0" smtClean="0">
                    <a:latin typeface="Verdana" pitchFamily="34" charset="0"/>
                    <a:ea typeface="Verdana" pitchFamily="34" charset="0"/>
                    <a:cs typeface="Times New Roman"/>
                  </a:rPr>
                  <a:t>by </a:t>
                </a:r>
                <a14:m>
                  <m:oMath xmlns:m="http://schemas.openxmlformats.org/officeDocument/2006/math">
                    <m:r>
                      <a:rPr lang="en-US" sz="2400" i="1">
                        <a:latin typeface="Cambria Math"/>
                        <a:ea typeface="Times New Roman"/>
                        <a:cs typeface="Times New Roman"/>
                      </a:rPr>
                      <m:t>20%</m:t>
                    </m:r>
                  </m:oMath>
                </a14:m>
                <a:r>
                  <a:rPr lang="en-US" sz="2400" dirty="0">
                    <a:latin typeface="Verdana" pitchFamily="34" charset="0"/>
                    <a:ea typeface="Verdana" pitchFamily="34" charset="0"/>
                    <a:cs typeface="Times New Roman"/>
                  </a:rPr>
                  <a:t>.</a:t>
                </a:r>
              </a:p>
              <a:p>
                <a:pPr marL="896938" indent="-457200">
                  <a:spcBef>
                    <a:spcPts val="900"/>
                  </a:spcBef>
                  <a:buFont typeface="+mj-lt"/>
                  <a:buAutoNum type="alphaLcPeriod"/>
                </a:pPr>
                <a:r>
                  <a:rPr lang="en-US" sz="2400" dirty="0">
                    <a:latin typeface="Verdana" pitchFamily="34" charset="0"/>
                    <a:ea typeface="Verdana" pitchFamily="34" charset="0"/>
                    <a:cs typeface="Times New Roman"/>
                  </a:rPr>
                  <a:t>Work with your partner to </a:t>
                </a:r>
                <a:r>
                  <a:rPr lang="en-US" sz="2400" dirty="0" smtClean="0">
                    <a:latin typeface="Verdana" pitchFamily="34" charset="0"/>
                    <a:ea typeface="Verdana" pitchFamily="34" charset="0"/>
                    <a:cs typeface="Times New Roman"/>
                  </a:rPr>
                  <a:t>determine </a:t>
                </a:r>
                <a:br>
                  <a:rPr lang="en-US" sz="2400" dirty="0" smtClean="0">
                    <a:latin typeface="Verdana" pitchFamily="34" charset="0"/>
                    <a:ea typeface="Verdana" pitchFamily="34" charset="0"/>
                    <a:cs typeface="Times New Roman"/>
                  </a:rPr>
                </a:br>
                <a:r>
                  <a:rPr lang="en-US" sz="2400" dirty="0" smtClean="0">
                    <a:latin typeface="Verdana" pitchFamily="34" charset="0"/>
                    <a:ea typeface="Verdana" pitchFamily="34" charset="0"/>
                    <a:cs typeface="Times New Roman"/>
                  </a:rPr>
                  <a:t>how </a:t>
                </a:r>
                <a:r>
                  <a:rPr lang="en-US" sz="2400" dirty="0">
                    <a:latin typeface="Verdana" pitchFamily="34" charset="0"/>
                    <a:ea typeface="Verdana" pitchFamily="34" charset="0"/>
                    <a:cs typeface="Times New Roman"/>
                  </a:rPr>
                  <a:t>much the </a:t>
                </a:r>
                <a:r>
                  <a:rPr lang="en-US" sz="2400" dirty="0" smtClean="0">
                    <a:latin typeface="Verdana" pitchFamily="34" charset="0"/>
                    <a:ea typeface="Verdana" pitchFamily="34" charset="0"/>
                    <a:cs typeface="Times New Roman"/>
                  </a:rPr>
                  <a:t>shirt </a:t>
                </a:r>
                <a:r>
                  <a:rPr lang="en-US" sz="2400" dirty="0">
                    <a:latin typeface="Verdana" pitchFamily="34" charset="0"/>
                    <a:ea typeface="Verdana" pitchFamily="34" charset="0"/>
                    <a:cs typeface="Times New Roman"/>
                  </a:rPr>
                  <a:t>is with the coupon.</a:t>
                </a:r>
              </a:p>
            </p:txBody>
          </p:sp>
        </mc:Choice>
        <mc:Fallback>
          <p:sp>
            <p:nvSpPr>
              <p:cNvPr id="14" name="TextBox 13">
                <a:extLst>
                  <a:ext uri="{FF2B5EF4-FFF2-40B4-BE49-F238E27FC236}">
                    <a16:creationId xmlns:a16="http://schemas.microsoft.com/office/drawing/2014/main" xmlns:a14="http://schemas.microsoft.com/office/drawing/2010/main" xmlns="" id="{2FA392D8-3ED3-7940-83A8-1451AA8A08D4}"/>
                  </a:ext>
                </a:extLst>
              </p:cNvPr>
              <p:cNvSpPr txBox="1">
                <a:spLocks noRot="1" noChangeAspect="1" noMove="1" noResize="1" noEditPoints="1" noAdjustHandles="1" noChangeArrowheads="1" noChangeShapeType="1" noTextEdit="1"/>
              </p:cNvSpPr>
              <p:nvPr/>
            </p:nvSpPr>
            <p:spPr>
              <a:xfrm>
                <a:off x="536154" y="378343"/>
                <a:ext cx="10800000" cy="1915909"/>
              </a:xfrm>
              <a:prstGeom prst="rect">
                <a:avLst/>
              </a:prstGeom>
              <a:blipFill rotWithShape="1">
                <a:blip r:embed="rId4"/>
                <a:stretch>
                  <a:fillRect l="-903" t="-2866" b="-6369"/>
                </a:stretch>
              </a:blipFill>
            </p:spPr>
            <p:txBody>
              <a:bodyPr/>
              <a:lstStyle/>
              <a:p>
                <a:r>
                  <a:rPr lang="en-PH">
                    <a:noFill/>
                  </a:rPr>
                  <a:t> </a:t>
                </a:r>
              </a:p>
            </p:txBody>
          </p:sp>
        </mc:Fallback>
      </mc:AlternateContent>
      <p:sp>
        <p:nvSpPr>
          <p:cNvPr id="6" name="Google Shape;278;g104476d1465_1_17">
            <a:extLst>
              <a:ext uri="{FF2B5EF4-FFF2-40B4-BE49-F238E27FC236}">
                <a16:creationId xmlns:a16="http://schemas.microsoft.com/office/drawing/2014/main" xmlns="" id="{5B857E21-14F1-9C47-B2E8-32DB537DBF85}"/>
              </a:ext>
            </a:extLst>
          </p:cNvPr>
          <p:cNvSpPr/>
          <p:nvPr/>
        </p:nvSpPr>
        <p:spPr>
          <a:xfrm>
            <a:off x="0" y="0"/>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8" name="Picture"/>
          <p:cNvPicPr/>
          <p:nvPr/>
        </p:nvPicPr>
        <p:blipFill>
          <a:blip r:embed="rId5" cstate="print">
            <a:extLst>
              <a:ext uri="{28A0092B-C50C-407E-A947-70E740481C1C}">
                <a14:useLocalDpi xmlns:a14="http://schemas.microsoft.com/office/drawing/2010/main"/>
              </a:ext>
            </a:extLst>
          </a:blip>
          <a:stretch>
            <a:fillRect/>
          </a:stretch>
        </p:blipFill>
        <p:spPr bwMode="auto">
          <a:xfrm>
            <a:off x="7796663" y="1235115"/>
            <a:ext cx="3539491" cy="3622079"/>
          </a:xfrm>
          <a:prstGeom prst="rect">
            <a:avLst/>
          </a:prstGeom>
          <a:noFill/>
          <a:ln w="9525">
            <a:noFill/>
            <a:headEnd/>
            <a:tailEnd/>
          </a:ln>
        </p:spPr>
      </p:pic>
      <p:sp>
        <p:nvSpPr>
          <p:cNvPr id="10" name="Google Shape;282;g104476d1465_1_17"/>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341</a:t>
            </a:r>
            <a:endParaRPr i="1" dirty="0">
              <a:latin typeface="Calibri"/>
              <a:ea typeface="Calibri"/>
              <a:cs typeface="Calibri"/>
              <a:sym typeface="Calibri"/>
            </a:endParaRPr>
          </a:p>
        </p:txBody>
      </p:sp>
    </p:spTree>
    <p:extLst>
      <p:ext uri="{BB962C8B-B14F-4D97-AF65-F5344CB8AC3E}">
        <p14:creationId xmlns:p14="http://schemas.microsoft.com/office/powerpoint/2010/main" val="31348416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14" name="TextBox 13">
            <a:extLst>
              <a:ext uri="{FF2B5EF4-FFF2-40B4-BE49-F238E27FC236}">
                <a16:creationId xmlns:a16="http://schemas.microsoft.com/office/drawing/2014/main" xmlns="" id="{2FA392D8-3ED3-7940-83A8-1451AA8A08D4}"/>
              </a:ext>
            </a:extLst>
          </p:cNvPr>
          <p:cNvSpPr txBox="1"/>
          <p:nvPr/>
        </p:nvSpPr>
        <p:spPr>
          <a:xfrm>
            <a:off x="536154" y="378351"/>
            <a:ext cx="10800000" cy="5573321"/>
          </a:xfrm>
          <a:prstGeom prst="rect">
            <a:avLst/>
          </a:prstGeom>
          <a:noFill/>
        </p:spPr>
        <p:txBody>
          <a:bodyPr wrap="square" rtlCol="0">
            <a:spAutoFit/>
          </a:bodyPr>
          <a:lstStyle/>
          <a:p>
            <a:pPr>
              <a:spcBef>
                <a:spcPts val="900"/>
              </a:spcBef>
            </a:pPr>
            <a:r>
              <a:rPr lang="en-US" sz="2400" dirty="0">
                <a:latin typeface="Verdana" pitchFamily="34" charset="0"/>
                <a:ea typeface="Verdana" pitchFamily="34" charset="0"/>
                <a:cs typeface="Times New Roman"/>
              </a:rPr>
              <a:t>The table shows two different ways to complete this problem, along with corresponding answers.</a:t>
            </a:r>
            <a:endParaRPr lang="en-PH" sz="2400" dirty="0">
              <a:latin typeface="Verdana" pitchFamily="34" charset="0"/>
              <a:ea typeface="Verdana" pitchFamily="34" charset="0"/>
              <a:cs typeface="Times New Roman"/>
            </a:endParaRPr>
          </a:p>
          <a:p>
            <a:pPr>
              <a:spcBef>
                <a:spcPts val="900"/>
              </a:spcBef>
            </a:pPr>
            <a:endParaRPr lang="en-PH" sz="2400" dirty="0">
              <a:latin typeface="Verdana" pitchFamily="34" charset="0"/>
              <a:ea typeface="Verdana" pitchFamily="34" charset="0"/>
              <a:cs typeface="Times New Roman"/>
            </a:endParaRPr>
          </a:p>
          <a:p>
            <a:pPr>
              <a:spcBef>
                <a:spcPts val="900"/>
              </a:spcBef>
            </a:pPr>
            <a:endParaRPr lang="en-PH" sz="2400" dirty="0">
              <a:latin typeface="Verdana" pitchFamily="34" charset="0"/>
              <a:ea typeface="Verdana" pitchFamily="34" charset="0"/>
              <a:cs typeface="Times New Roman"/>
            </a:endParaRPr>
          </a:p>
          <a:p>
            <a:pPr>
              <a:spcBef>
                <a:spcPts val="900"/>
              </a:spcBef>
            </a:pPr>
            <a:endParaRPr lang="en-PH" sz="2400" dirty="0">
              <a:latin typeface="Verdana" pitchFamily="34" charset="0"/>
              <a:ea typeface="Verdana" pitchFamily="34" charset="0"/>
              <a:cs typeface="Times New Roman"/>
            </a:endParaRPr>
          </a:p>
          <a:p>
            <a:pPr>
              <a:spcBef>
                <a:spcPts val="900"/>
              </a:spcBef>
            </a:pPr>
            <a:endParaRPr lang="en-PH" sz="2400" dirty="0">
              <a:latin typeface="Verdana" pitchFamily="34" charset="0"/>
              <a:ea typeface="Verdana" pitchFamily="34" charset="0"/>
              <a:cs typeface="Times New Roman"/>
            </a:endParaRPr>
          </a:p>
          <a:p>
            <a:pPr>
              <a:spcBef>
                <a:spcPts val="900"/>
              </a:spcBef>
            </a:pPr>
            <a:endParaRPr lang="en-PH" sz="2400" dirty="0">
              <a:latin typeface="Verdana" pitchFamily="34" charset="0"/>
              <a:ea typeface="Verdana" pitchFamily="34" charset="0"/>
              <a:cs typeface="Times New Roman"/>
            </a:endParaRPr>
          </a:p>
          <a:p>
            <a:pPr marL="896938" indent="-457200">
              <a:spcBef>
                <a:spcPts val="180"/>
              </a:spcBef>
              <a:buFont typeface="+mj-lt"/>
              <a:buAutoNum type="alphaLcPeriod" startAt="2"/>
            </a:pPr>
            <a:endParaRPr lang="en-US" sz="2400" dirty="0">
              <a:latin typeface="Verdana" pitchFamily="34" charset="0"/>
              <a:ea typeface="Verdana" pitchFamily="34" charset="0"/>
              <a:cs typeface="Times New Roman"/>
            </a:endParaRPr>
          </a:p>
          <a:p>
            <a:pPr marL="896938" indent="-457200">
              <a:spcBef>
                <a:spcPts val="180"/>
              </a:spcBef>
              <a:buFont typeface="+mj-lt"/>
              <a:buAutoNum type="alphaLcPeriod" startAt="2"/>
            </a:pPr>
            <a:r>
              <a:rPr lang="en-US" sz="2400" dirty="0">
                <a:latin typeface="Verdana" pitchFamily="34" charset="0"/>
                <a:ea typeface="Verdana" pitchFamily="34" charset="0"/>
                <a:cs typeface="Times New Roman"/>
              </a:rPr>
              <a:t>Explain whether or not these equations are equivalent.</a:t>
            </a:r>
          </a:p>
          <a:p>
            <a:pPr marL="896938" indent="-457200">
              <a:spcBef>
                <a:spcPts val="180"/>
              </a:spcBef>
              <a:buFont typeface="+mj-lt"/>
              <a:buAutoNum type="alphaLcPeriod" startAt="2"/>
            </a:pPr>
            <a:endParaRPr lang="en-US" sz="2400" dirty="0">
              <a:latin typeface="Verdana" pitchFamily="34" charset="0"/>
              <a:ea typeface="Verdana" pitchFamily="34" charset="0"/>
              <a:cs typeface="Times New Roman"/>
            </a:endParaRPr>
          </a:p>
          <a:p>
            <a:pPr marL="896938" indent="-457200">
              <a:spcBef>
                <a:spcPts val="180"/>
              </a:spcBef>
              <a:buFont typeface="+mj-lt"/>
              <a:buAutoNum type="alphaLcPeriod" startAt="2"/>
            </a:pPr>
            <a:r>
              <a:rPr lang="en-US" sz="2400" dirty="0">
                <a:latin typeface="Verdana" pitchFamily="34" charset="0"/>
                <a:ea typeface="Verdana" pitchFamily="34" charset="0"/>
                <a:cs typeface="Times New Roman"/>
              </a:rPr>
              <a:t>Did your answer to Part A match the solution(s) of the equations in the table?</a:t>
            </a:r>
            <a:endParaRPr lang="en-PH" sz="2400" dirty="0">
              <a:latin typeface="Verdana" pitchFamily="34" charset="0"/>
              <a:ea typeface="Verdana" pitchFamily="34" charset="0"/>
              <a:cs typeface="Times New Roman"/>
            </a:endParaRPr>
          </a:p>
        </p:txBody>
      </p:sp>
      <p:sp>
        <p:nvSpPr>
          <p:cNvPr id="6" name="Google Shape;278;g104476d1465_1_17">
            <a:extLst>
              <a:ext uri="{FF2B5EF4-FFF2-40B4-BE49-F238E27FC236}">
                <a16:creationId xmlns:a16="http://schemas.microsoft.com/office/drawing/2014/main" xmlns="" id="{5B857E21-14F1-9C47-B2E8-32DB537DBF85}"/>
              </a:ext>
            </a:extLst>
          </p:cNvPr>
          <p:cNvSpPr/>
          <p:nvPr/>
        </p:nvSpPr>
        <p:spPr>
          <a:xfrm>
            <a:off x="0" y="-8225"/>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mc:AlternateContent xmlns:mc="http://schemas.openxmlformats.org/markup-compatibility/2006">
        <mc:Choice xmlns:a14="http://schemas.microsoft.com/office/drawing/2010/main" Requires="a14">
          <p:graphicFrame>
            <p:nvGraphicFramePr>
              <p:cNvPr id="7" name="Table 6"/>
              <p:cNvGraphicFramePr>
                <a:graphicFrameLocks noGrp="1"/>
              </p:cNvGraphicFramePr>
              <p:nvPr>
                <p:extLst>
                  <p:ext uri="{D42A27DB-BD31-4B8C-83A1-F6EECF244321}">
                    <p14:modId xmlns:p14="http://schemas.microsoft.com/office/powerpoint/2010/main" val="333069196"/>
                  </p:ext>
                </p:extLst>
              </p:nvPr>
            </p:nvGraphicFramePr>
            <p:xfrm>
              <a:off x="2090351" y="1339338"/>
              <a:ext cx="8280000" cy="2160000"/>
            </p:xfrm>
            <a:graphic>
              <a:graphicData uri="http://schemas.openxmlformats.org/drawingml/2006/table">
                <a:tbl>
                  <a:tblPr firstRow="1" firstCol="1" bandRow="1"/>
                  <a:tblGrid>
                    <a:gridCol w="3600000">
                      <a:extLst>
                        <a:ext uri="{9D8B030D-6E8A-4147-A177-3AD203B41FA5}">
                          <a16:colId xmlns:a16="http://schemas.microsoft.com/office/drawing/2014/main" xmlns="" val="20000"/>
                        </a:ext>
                      </a:extLst>
                    </a:gridCol>
                    <a:gridCol w="4680000">
                      <a:extLst>
                        <a:ext uri="{9D8B030D-6E8A-4147-A177-3AD203B41FA5}">
                          <a16:colId xmlns:a16="http://schemas.microsoft.com/office/drawing/2014/main" xmlns="" val="20001"/>
                        </a:ext>
                      </a:extLst>
                    </a:gridCol>
                  </a:tblGrid>
                  <a:tr h="468000">
                    <a:tc>
                      <a:txBody>
                        <a:bodyPr/>
                        <a:lstStyle/>
                        <a:p>
                          <a:pPr algn="ctr">
                            <a:spcBef>
                              <a:spcPts val="900"/>
                            </a:spcBef>
                            <a:spcAft>
                              <a:spcPts val="0"/>
                            </a:spcAft>
                          </a:pPr>
                          <a:r>
                            <a:rPr lang="en-US" sz="2000" b="1" dirty="0">
                              <a:effectLst/>
                              <a:latin typeface="Verdana" pitchFamily="34" charset="0"/>
                              <a:ea typeface="Verdana" pitchFamily="34" charset="0"/>
                              <a:cs typeface="Times New Roman"/>
                            </a:rPr>
                            <a:t>Approach </a:t>
                          </a:r>
                          <a14:m>
                            <m:oMath xmlns:m="http://schemas.openxmlformats.org/officeDocument/2006/math">
                              <m:r>
                                <a:rPr lang="en-US" sz="2000" b="1" i="1">
                                  <a:effectLst/>
                                  <a:latin typeface="Cambria Math"/>
                                  <a:ea typeface="Times New Roman"/>
                                  <a:cs typeface="Times New Roman"/>
                                </a:rPr>
                                <m:t>𝟏</m:t>
                              </m:r>
                            </m:oMath>
                          </a14:m>
                          <a:endParaRPr lang="en-PH" sz="2000" dirty="0">
                            <a:effectLst/>
                            <a:latin typeface="Verdana" pitchFamily="34" charset="0"/>
                            <a:ea typeface="Verdana" pitchFamily="34" charset="0"/>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algn="ctr">
                            <a:spcBef>
                              <a:spcPts val="900"/>
                            </a:spcBef>
                            <a:spcAft>
                              <a:spcPts val="0"/>
                            </a:spcAft>
                          </a:pPr>
                          <a:r>
                            <a:rPr lang="en-US" sz="2000" b="1" dirty="0">
                              <a:effectLst/>
                              <a:latin typeface="Verdana" pitchFamily="34" charset="0"/>
                              <a:ea typeface="Verdana" pitchFamily="34" charset="0"/>
                              <a:cs typeface="Times New Roman"/>
                            </a:rPr>
                            <a:t>Approach </a:t>
                          </a:r>
                          <a14:m>
                            <m:oMath xmlns:m="http://schemas.openxmlformats.org/officeDocument/2006/math">
                              <m:r>
                                <a:rPr lang="en-US" sz="2000" b="1" i="1">
                                  <a:effectLst/>
                                  <a:latin typeface="Cambria Math"/>
                                  <a:ea typeface="Times New Roman"/>
                                  <a:cs typeface="Times New Roman"/>
                                </a:rPr>
                                <m:t>𝟐</m:t>
                              </m:r>
                            </m:oMath>
                          </a14:m>
                          <a:endParaRPr lang="en-PH" sz="2000" dirty="0">
                            <a:effectLst/>
                            <a:latin typeface="Verdana" pitchFamily="34" charset="0"/>
                            <a:ea typeface="Verdana" pitchFamily="34" charset="0"/>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xmlns="" val="10000"/>
                      </a:ext>
                    </a:extLst>
                  </a:tr>
                  <a:tr h="1152000">
                    <a:tc>
                      <a:txBody>
                        <a:bodyPr/>
                        <a:lstStyle/>
                        <a:p>
                          <a:pPr algn="ctr">
                            <a:spcBef>
                              <a:spcPts val="900"/>
                            </a:spcBef>
                            <a:spcAft>
                              <a:spcPts val="0"/>
                            </a:spcAft>
                          </a:pPr>
                          <a:r>
                            <a:rPr lang="en-US" sz="2000" dirty="0">
                              <a:effectLst/>
                              <a:latin typeface="Verdana" pitchFamily="34" charset="0"/>
                              <a:ea typeface="Verdana" pitchFamily="34" charset="0"/>
                              <a:cs typeface="Times New Roman"/>
                            </a:rPr>
                            <a:t>The cost of the shirt with the coupon will be </a:t>
                          </a:r>
                          <a14:m>
                            <m:oMath xmlns:m="http://schemas.openxmlformats.org/officeDocument/2006/math">
                              <m:r>
                                <a:rPr lang="en-US" sz="2000" i="1">
                                  <a:effectLst/>
                                  <a:latin typeface="Cambria Math"/>
                                  <a:ea typeface="Times New Roman"/>
                                  <a:cs typeface="Times New Roman"/>
                                </a:rPr>
                                <m:t>80%</m:t>
                              </m:r>
                            </m:oMath>
                          </a14:m>
                          <a:r>
                            <a:rPr lang="en-US" sz="2000" dirty="0">
                              <a:effectLst/>
                              <a:latin typeface="Verdana" pitchFamily="34" charset="0"/>
                              <a:ea typeface="Verdana" pitchFamily="34" charset="0"/>
                              <a:cs typeface="Times New Roman"/>
                            </a:rPr>
                            <a:t> of the original cost.</a:t>
                          </a:r>
                          <a:endParaRPr lang="en-PH" sz="2000" dirty="0">
                            <a:effectLst/>
                            <a:latin typeface="Verdana" pitchFamily="34" charset="0"/>
                            <a:ea typeface="Verdana" pitchFamily="34" charset="0"/>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spcBef>
                              <a:spcPts val="900"/>
                            </a:spcBef>
                            <a:spcAft>
                              <a:spcPts val="0"/>
                            </a:spcAft>
                          </a:pPr>
                          <a:r>
                            <a:rPr lang="en-US" sz="2000" dirty="0">
                              <a:effectLst/>
                              <a:latin typeface="Verdana" pitchFamily="34" charset="0"/>
                              <a:ea typeface="Verdana" pitchFamily="34" charset="0"/>
                              <a:cs typeface="Times New Roman"/>
                            </a:rPr>
                            <a:t>The new cost of the shirt is what’s remaining after the </a:t>
                          </a:r>
                          <a14:m>
                            <m:oMath xmlns:m="http://schemas.openxmlformats.org/officeDocument/2006/math">
                              <m:r>
                                <a:rPr lang="en-US" sz="2000" i="1">
                                  <a:effectLst/>
                                  <a:latin typeface="Cambria Math"/>
                                  <a:ea typeface="Times New Roman"/>
                                  <a:cs typeface="Times New Roman"/>
                                </a:rPr>
                                <m:t>20%</m:t>
                              </m:r>
                            </m:oMath>
                          </a14:m>
                          <a:r>
                            <a:rPr lang="en-US" sz="2000" dirty="0">
                              <a:effectLst/>
                              <a:latin typeface="Verdana" pitchFamily="34" charset="0"/>
                              <a:ea typeface="Verdana" pitchFamily="34" charset="0"/>
                              <a:cs typeface="Times New Roman"/>
                            </a:rPr>
                            <a:t> has been deducted from the original cost.</a:t>
                          </a:r>
                          <a:endParaRPr lang="en-PH" sz="2000" dirty="0">
                            <a:effectLst/>
                            <a:latin typeface="Verdana" pitchFamily="34" charset="0"/>
                            <a:ea typeface="Verdana" pitchFamily="34" charset="0"/>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1"/>
                      </a:ext>
                    </a:extLst>
                  </a:tr>
                  <a:tr h="540000">
                    <a:tc>
                      <a:txBody>
                        <a:bodyPr/>
                        <a:lstStyle/>
                        <a:p>
                          <a:pPr algn="ctr">
                            <a:spcBef>
                              <a:spcPts val="900"/>
                            </a:spcBef>
                            <a:spcAft>
                              <a:spcPts val="0"/>
                            </a:spcAft>
                          </a:pPr>
                          <a:r>
                            <a:rPr lang="en-US" sz="2000" dirty="0">
                              <a:effectLst/>
                              <a:latin typeface="Verdana" pitchFamily="34" charset="0"/>
                              <a:ea typeface="Verdana" pitchFamily="34" charset="0"/>
                              <a:cs typeface="Times New Roman"/>
                            </a:rPr>
                            <a:t>New cost </a:t>
                          </a:r>
                          <a14:m>
                            <m:oMath xmlns:m="http://schemas.openxmlformats.org/officeDocument/2006/math">
                              <m:r>
                                <a:rPr lang="en-US" sz="2000" i="1">
                                  <a:effectLst/>
                                  <a:latin typeface="Cambria Math"/>
                                  <a:ea typeface="Times New Roman"/>
                                  <a:cs typeface="Times New Roman"/>
                                </a:rPr>
                                <m:t>=</m:t>
                              </m:r>
                            </m:oMath>
                          </a14:m>
                          <a:r>
                            <a:rPr lang="en-US" sz="2000" dirty="0">
                              <a:effectLst/>
                              <a:latin typeface="Verdana" pitchFamily="34" charset="0"/>
                              <a:ea typeface="Verdana" pitchFamily="34" charset="0"/>
                              <a:cs typeface="Times New Roman"/>
                            </a:rPr>
                            <a:t> </a:t>
                          </a:r>
                          <a14:m>
                            <m:oMath xmlns:m="http://schemas.openxmlformats.org/officeDocument/2006/math">
                              <m:r>
                                <a:rPr lang="en-US" sz="2000" i="1">
                                  <a:effectLst/>
                                  <a:latin typeface="Cambria Math"/>
                                  <a:ea typeface="Times New Roman"/>
                                  <a:cs typeface="Times New Roman"/>
                                </a:rPr>
                                <m:t>0.8</m:t>
                              </m:r>
                              <m:d>
                                <m:dPr>
                                  <m:ctrlPr>
                                    <a:rPr lang="en-PH" sz="2000" i="1">
                                      <a:effectLst/>
                                      <a:latin typeface="Cambria Math"/>
                                      <a:ea typeface="Times New Roman"/>
                                      <a:cs typeface="Times New Roman"/>
                                    </a:rPr>
                                  </m:ctrlPr>
                                </m:dPr>
                                <m:e>
                                  <m:r>
                                    <a:rPr lang="en-US" sz="2000" i="1">
                                      <a:effectLst/>
                                      <a:latin typeface="Cambria Math"/>
                                      <a:ea typeface="Times New Roman"/>
                                      <a:cs typeface="Times New Roman"/>
                                    </a:rPr>
                                    <m:t>18.50</m:t>
                                  </m:r>
                                </m:e>
                              </m:d>
                            </m:oMath>
                          </a14:m>
                          <a:endParaRPr lang="en-PH" sz="2000" dirty="0">
                            <a:effectLst/>
                            <a:latin typeface="Verdana" pitchFamily="34" charset="0"/>
                            <a:ea typeface="Verdana" pitchFamily="34" charset="0"/>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spcBef>
                              <a:spcPts val="900"/>
                            </a:spcBef>
                            <a:spcAft>
                              <a:spcPts val="0"/>
                            </a:spcAft>
                          </a:pPr>
                          <a:r>
                            <a:rPr lang="en-US" sz="2000" dirty="0">
                              <a:effectLst/>
                              <a:latin typeface="Verdana" pitchFamily="34" charset="0"/>
                              <a:ea typeface="Verdana" pitchFamily="34" charset="0"/>
                              <a:cs typeface="Times New Roman"/>
                            </a:rPr>
                            <a:t>New cost </a:t>
                          </a:r>
                          <a14:m>
                            <m:oMath xmlns:m="http://schemas.openxmlformats.org/officeDocument/2006/math">
                              <m:r>
                                <a:rPr lang="en-US" sz="2000" i="1">
                                  <a:effectLst/>
                                  <a:latin typeface="Cambria Math"/>
                                  <a:ea typeface="Times New Roman"/>
                                  <a:cs typeface="Times New Roman"/>
                                </a:rPr>
                                <m:t>=</m:t>
                              </m:r>
                            </m:oMath>
                          </a14:m>
                          <a:r>
                            <a:rPr lang="en-US" sz="2000" dirty="0">
                              <a:effectLst/>
                              <a:latin typeface="Verdana" pitchFamily="34" charset="0"/>
                              <a:ea typeface="Verdana" pitchFamily="34" charset="0"/>
                              <a:cs typeface="Times New Roman"/>
                            </a:rPr>
                            <a:t> </a:t>
                          </a:r>
                          <a14:m>
                            <m:oMath xmlns:m="http://schemas.openxmlformats.org/officeDocument/2006/math">
                              <m:r>
                                <a:rPr lang="en-US" sz="2000" i="1">
                                  <a:effectLst/>
                                  <a:latin typeface="Cambria Math"/>
                                  <a:ea typeface="Times New Roman"/>
                                  <a:cs typeface="Times New Roman"/>
                                </a:rPr>
                                <m:t>18.50−0.2</m:t>
                              </m:r>
                              <m:d>
                                <m:dPr>
                                  <m:ctrlPr>
                                    <a:rPr lang="en-PH" sz="2000" i="1">
                                      <a:effectLst/>
                                      <a:latin typeface="Cambria Math"/>
                                      <a:ea typeface="Times New Roman"/>
                                      <a:cs typeface="Times New Roman"/>
                                    </a:rPr>
                                  </m:ctrlPr>
                                </m:dPr>
                                <m:e>
                                  <m:r>
                                    <a:rPr lang="en-US" sz="2000" i="1">
                                      <a:effectLst/>
                                      <a:latin typeface="Cambria Math"/>
                                      <a:ea typeface="Times New Roman"/>
                                      <a:cs typeface="Times New Roman"/>
                                    </a:rPr>
                                    <m:t>18.50</m:t>
                                  </m:r>
                                </m:e>
                              </m:d>
                            </m:oMath>
                          </a14:m>
                          <a:endParaRPr lang="en-PH" sz="2000" dirty="0">
                            <a:effectLst/>
                            <a:latin typeface="Verdana" pitchFamily="34" charset="0"/>
                            <a:ea typeface="Verdana" pitchFamily="34" charset="0"/>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2"/>
                      </a:ext>
                    </a:extLst>
                  </a:tr>
                </a:tbl>
              </a:graphicData>
            </a:graphic>
          </p:graphicFrame>
        </mc:Choice>
        <mc:Fallback>
          <p:graphicFrame>
            <p:nvGraphicFramePr>
              <p:cNvPr id="7" name="Table 6"/>
              <p:cNvGraphicFramePr>
                <a:graphicFrameLocks noGrp="1"/>
              </p:cNvGraphicFramePr>
              <p:nvPr>
                <p:extLst>
                  <p:ext uri="{D42A27DB-BD31-4B8C-83A1-F6EECF244321}">
                    <p14:modId xmlns:p14="http://schemas.microsoft.com/office/powerpoint/2010/main" val="333069196"/>
                  </p:ext>
                </p:extLst>
              </p:nvPr>
            </p:nvGraphicFramePr>
            <p:xfrm>
              <a:off x="2090351" y="1339338"/>
              <a:ext cx="8280000" cy="2160000"/>
            </p:xfrm>
            <a:graphic>
              <a:graphicData uri="http://schemas.openxmlformats.org/drawingml/2006/table">
                <a:tbl>
                  <a:tblPr firstRow="1" firstCol="1" bandRow="1"/>
                  <a:tblGrid>
                    <a:gridCol w="3600000">
                      <a:extLst>
                        <a:ext uri="{9D8B030D-6E8A-4147-A177-3AD203B41FA5}">
                          <a16:colId xmlns:a16="http://schemas.microsoft.com/office/drawing/2014/main" xmlns:a14="http://schemas.microsoft.com/office/drawing/2010/main" xmlns="" val="20000"/>
                        </a:ext>
                      </a:extLst>
                    </a:gridCol>
                    <a:gridCol w="4680000">
                      <a:extLst>
                        <a:ext uri="{9D8B030D-6E8A-4147-A177-3AD203B41FA5}">
                          <a16:colId xmlns:a16="http://schemas.microsoft.com/office/drawing/2014/main" xmlns:a14="http://schemas.microsoft.com/office/drawing/2010/main" xmlns="" val="20001"/>
                        </a:ext>
                      </a:extLst>
                    </a:gridCol>
                  </a:tblGrid>
                  <a:tr h="468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169" t="-1299" r="-130339" b="-367532"/>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76953" t="-1299" r="-130" b="-367532"/>
                          </a:stretch>
                        </a:blipFill>
                      </a:tcPr>
                    </a:tc>
                    <a:extLst>
                      <a:ext uri="{0D108BD9-81ED-4DB2-BD59-A6C34878D82A}">
                        <a16:rowId xmlns:a16="http://schemas.microsoft.com/office/drawing/2014/main" xmlns:a14="http://schemas.microsoft.com/office/drawing/2010/main" xmlns="" val="10000"/>
                      </a:ext>
                    </a:extLst>
                  </a:tr>
                  <a:tr h="1152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169" t="-41270" r="-130339" b="-49735"/>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76953" t="-41270" r="-130" b="-49735"/>
                          </a:stretch>
                        </a:blipFill>
                      </a:tcPr>
                    </a:tc>
                    <a:extLst>
                      <a:ext uri="{0D108BD9-81ED-4DB2-BD59-A6C34878D82A}">
                        <a16:rowId xmlns:a16="http://schemas.microsoft.com/office/drawing/2014/main" xmlns:a14="http://schemas.microsoft.com/office/drawing/2010/main" xmlns="" val="10001"/>
                      </a:ext>
                    </a:extLst>
                  </a:tr>
                  <a:tr h="540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169" t="-303409" r="-130339" b="-6818"/>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76953" t="-303409" r="-130" b="-6818"/>
                          </a:stretch>
                        </a:blipFill>
                      </a:tcPr>
                    </a:tc>
                    <a:extLst>
                      <a:ext uri="{0D108BD9-81ED-4DB2-BD59-A6C34878D82A}">
                        <a16:rowId xmlns:a16="http://schemas.microsoft.com/office/drawing/2014/main" xmlns:a14="http://schemas.microsoft.com/office/drawing/2010/main" xmlns="" val="10002"/>
                      </a:ext>
                    </a:extLst>
                  </a:tr>
                </a:tbl>
              </a:graphicData>
            </a:graphic>
          </p:graphicFrame>
        </mc:Fallback>
      </mc:AlternateContent>
      <p:sp>
        <p:nvSpPr>
          <p:cNvPr id="8" name="Google Shape;282;g104476d1465_1_17"/>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341</a:t>
            </a:r>
            <a:endParaRPr i="1" dirty="0">
              <a:latin typeface="Calibri"/>
              <a:ea typeface="Calibri"/>
              <a:cs typeface="Calibri"/>
              <a:sym typeface="Calibri"/>
            </a:endParaRPr>
          </a:p>
        </p:txBody>
      </p:sp>
    </p:spTree>
    <p:extLst>
      <p:ext uri="{BB962C8B-B14F-4D97-AF65-F5344CB8AC3E}">
        <p14:creationId xmlns:p14="http://schemas.microsoft.com/office/powerpoint/2010/main" val="37326166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xmlns="" id="{2FA392D8-3ED3-7940-83A8-1451AA8A08D4}"/>
                  </a:ext>
                </a:extLst>
              </p:cNvPr>
              <p:cNvSpPr txBox="1"/>
              <p:nvPr/>
            </p:nvSpPr>
            <p:spPr>
              <a:xfrm>
                <a:off x="536154" y="1536394"/>
                <a:ext cx="10800000" cy="4555093"/>
              </a:xfrm>
              <a:prstGeom prst="rect">
                <a:avLst/>
              </a:prstGeom>
              <a:noFill/>
            </p:spPr>
            <p:txBody>
              <a:bodyPr wrap="square" rtlCol="0">
                <a:spAutoFit/>
              </a:bodyPr>
              <a:lstStyle/>
              <a:p>
                <a:pPr marL="457200" indent="-457200">
                  <a:spcBef>
                    <a:spcPts val="180"/>
                  </a:spcBef>
                  <a:spcAft>
                    <a:spcPts val="1800"/>
                  </a:spcAft>
                  <a:buFont typeface="+mj-lt"/>
                  <a:buAutoNum type="arabicPeriod" startAt="3"/>
                </a:pPr>
                <a:r>
                  <a:rPr lang="en-US" sz="2000" dirty="0">
                    <a:latin typeface="Verdana"/>
                    <a:ea typeface="Times New Roman"/>
                    <a:cs typeface="Times New Roman"/>
                  </a:rPr>
                  <a:t>The original cost of pants at </a:t>
                </a:r>
                <a:r>
                  <a:rPr lang="en-US" sz="2000" dirty="0" err="1">
                    <a:latin typeface="Verdana"/>
                    <a:ea typeface="Times New Roman"/>
                    <a:cs typeface="Times New Roman"/>
                  </a:rPr>
                  <a:t>ClothesMart</a:t>
                </a:r>
                <a:r>
                  <a:rPr lang="en-US" sz="2000" dirty="0">
                    <a:latin typeface="Verdana"/>
                    <a:ea typeface="Times New Roman"/>
                    <a:cs typeface="Times New Roman"/>
                  </a:rPr>
                  <a:t> is </a:t>
                </a:r>
                <a14:m>
                  <m:oMath xmlns:m="http://schemas.openxmlformats.org/officeDocument/2006/math">
                    <m:r>
                      <a:rPr lang="en-US" sz="2000" i="1">
                        <a:latin typeface="Cambria Math"/>
                        <a:ea typeface="Times New Roman"/>
                        <a:cs typeface="Times New Roman"/>
                      </a:rPr>
                      <m:t>$30.00</m:t>
                    </m:r>
                  </m:oMath>
                </a14:m>
                <a:r>
                  <a:rPr lang="en-US" sz="2000" dirty="0">
                    <a:latin typeface="Verdana"/>
                    <a:ea typeface="Times New Roman"/>
                    <a:cs typeface="Times New Roman"/>
                  </a:rPr>
                  <a:t>, and after a store coupon is applied, the cost is only </a:t>
                </a:r>
                <a14:m>
                  <m:oMath xmlns:m="http://schemas.openxmlformats.org/officeDocument/2006/math">
                    <m:r>
                      <a:rPr lang="en-US" sz="2000" i="1">
                        <a:latin typeface="Cambria Math"/>
                        <a:ea typeface="Times New Roman"/>
                        <a:cs typeface="Times New Roman"/>
                      </a:rPr>
                      <m:t>$25.50</m:t>
                    </m:r>
                  </m:oMath>
                </a14:m>
                <a:r>
                  <a:rPr lang="en-US" sz="2000" dirty="0">
                    <a:latin typeface="Verdana"/>
                    <a:ea typeface="Times New Roman"/>
                    <a:cs typeface="Times New Roman"/>
                  </a:rPr>
                  <a:t>.</a:t>
                </a:r>
              </a:p>
              <a:p>
                <a:pPr marL="896938" indent="-457200">
                  <a:spcBef>
                    <a:spcPts val="180"/>
                  </a:spcBef>
                  <a:buFont typeface="+mj-lt"/>
                  <a:buAutoNum type="alphaLcPeriod"/>
                </a:pPr>
                <a:r>
                  <a:rPr lang="en-US" sz="2000" dirty="0">
                    <a:latin typeface="Verdana"/>
                    <a:ea typeface="Times New Roman"/>
                    <a:cs typeface="Times New Roman"/>
                  </a:rPr>
                  <a:t>Determine the percent of change by filling in the blanks of the percent of change ratio for the situation.</a:t>
                </a:r>
                <a:endParaRPr lang="en-PH" dirty="0">
                  <a:latin typeface="Cambria"/>
                  <a:ea typeface="Times New Roman"/>
                  <a:cs typeface="Times New Roman"/>
                </a:endParaRPr>
              </a:p>
              <a:p>
                <a:pPr marL="896938" indent="-457200">
                  <a:spcBef>
                    <a:spcPts val="180"/>
                  </a:spcBef>
                  <a:buFont typeface="+mj-lt"/>
                  <a:buAutoNum type="alphaLcPeriod"/>
                </a:pPr>
                <a:endParaRPr lang="en-PH" sz="2000" dirty="0">
                  <a:latin typeface="Cambria"/>
                  <a:ea typeface="Verdana" pitchFamily="34" charset="0"/>
                  <a:cs typeface="Times New Roman"/>
                </a:endParaRPr>
              </a:p>
              <a:p>
                <a:pPr marL="896938" indent="-457200">
                  <a:spcBef>
                    <a:spcPts val="180"/>
                  </a:spcBef>
                  <a:buFont typeface="+mj-lt"/>
                  <a:buAutoNum type="alphaLcPeriod"/>
                </a:pPr>
                <a:endParaRPr lang="en-PH" sz="2000" dirty="0">
                  <a:latin typeface="Cambria"/>
                  <a:ea typeface="Verdana" pitchFamily="34" charset="0"/>
                  <a:cs typeface="Times New Roman"/>
                </a:endParaRPr>
              </a:p>
              <a:p>
                <a:pPr marL="896938" indent="-457200">
                  <a:spcBef>
                    <a:spcPts val="180"/>
                  </a:spcBef>
                  <a:buFont typeface="+mj-lt"/>
                  <a:buAutoNum type="alphaLcPeriod"/>
                </a:pPr>
                <a:endParaRPr lang="en-PH" sz="2000" dirty="0">
                  <a:latin typeface="Cambria"/>
                  <a:ea typeface="Verdana" pitchFamily="34" charset="0"/>
                  <a:cs typeface="Times New Roman"/>
                </a:endParaRPr>
              </a:p>
              <a:p>
                <a:pPr marL="896938" indent="-457200">
                  <a:spcBef>
                    <a:spcPts val="180"/>
                  </a:spcBef>
                  <a:buFont typeface="+mj-lt"/>
                  <a:buAutoNum type="alphaLcPeriod"/>
                </a:pPr>
                <a:endParaRPr lang="en-PH" sz="2000" dirty="0">
                  <a:latin typeface="Cambria"/>
                  <a:ea typeface="Verdana" pitchFamily="34" charset="0"/>
                  <a:cs typeface="Times New Roman"/>
                </a:endParaRPr>
              </a:p>
              <a:p>
                <a:pPr marL="896938" indent="-457200">
                  <a:spcBef>
                    <a:spcPts val="180"/>
                  </a:spcBef>
                  <a:buFont typeface="+mj-lt"/>
                  <a:buAutoNum type="alphaLcPeriod"/>
                </a:pPr>
                <a:endParaRPr lang="en-PH" sz="2000" dirty="0">
                  <a:latin typeface="Cambria"/>
                  <a:ea typeface="Verdana" pitchFamily="34" charset="0"/>
                  <a:cs typeface="Times New Roman"/>
                </a:endParaRPr>
              </a:p>
              <a:p>
                <a:pPr marL="896938" indent="-457200">
                  <a:spcBef>
                    <a:spcPts val="180"/>
                  </a:spcBef>
                  <a:buFont typeface="+mj-lt"/>
                  <a:buAutoNum type="alphaLcPeriod"/>
                </a:pPr>
                <a:endParaRPr lang="en-PH" sz="2000" dirty="0">
                  <a:latin typeface="Cambria"/>
                  <a:ea typeface="Verdana" pitchFamily="34" charset="0"/>
                  <a:cs typeface="Times New Roman"/>
                </a:endParaRPr>
              </a:p>
              <a:p>
                <a:pPr marL="896938" indent="-457200">
                  <a:spcBef>
                    <a:spcPts val="180"/>
                  </a:spcBef>
                  <a:buFont typeface="+mj-lt"/>
                  <a:buAutoNum type="alphaLcPeriod"/>
                </a:pPr>
                <a:endParaRPr lang="en-US" sz="2000" dirty="0">
                  <a:latin typeface="Verdana" pitchFamily="34" charset="0"/>
                  <a:ea typeface="Verdana" pitchFamily="34" charset="0"/>
                  <a:cs typeface="Times New Roman"/>
                </a:endParaRPr>
              </a:p>
              <a:p>
                <a:pPr marL="896938" indent="-457200">
                  <a:spcBef>
                    <a:spcPts val="180"/>
                  </a:spcBef>
                  <a:buFont typeface="+mj-lt"/>
                  <a:buAutoNum type="alphaLcPeriod"/>
                </a:pPr>
                <a:r>
                  <a:rPr lang="en-US" sz="2000" dirty="0">
                    <a:latin typeface="Verdana" pitchFamily="34" charset="0"/>
                    <a:ea typeface="Verdana" pitchFamily="34" charset="0"/>
                    <a:cs typeface="Times New Roman"/>
                  </a:rPr>
                  <a:t>Explain whether the percent of change represents a percent increase or decrease based on its value.</a:t>
                </a:r>
              </a:p>
            </p:txBody>
          </p:sp>
        </mc:Choice>
        <mc:Fallback>
          <p:sp>
            <p:nvSpPr>
              <p:cNvPr id="14" name="TextBox 13">
                <a:extLst>
                  <a:ext uri="{FF2B5EF4-FFF2-40B4-BE49-F238E27FC236}">
                    <a16:creationId xmlns:a16="http://schemas.microsoft.com/office/drawing/2014/main" xmlns:a14="http://schemas.microsoft.com/office/drawing/2010/main" xmlns="" id="{2FA392D8-3ED3-7940-83A8-1451AA8A08D4}"/>
                  </a:ext>
                </a:extLst>
              </p:cNvPr>
              <p:cNvSpPr txBox="1">
                <a:spLocks noRot="1" noChangeAspect="1" noMove="1" noResize="1" noEditPoints="1" noAdjustHandles="1" noChangeArrowheads="1" noChangeShapeType="1" noTextEdit="1"/>
              </p:cNvSpPr>
              <p:nvPr/>
            </p:nvSpPr>
            <p:spPr>
              <a:xfrm>
                <a:off x="536154" y="1536394"/>
                <a:ext cx="10800000" cy="4555093"/>
              </a:xfrm>
              <a:prstGeom prst="rect">
                <a:avLst/>
              </a:prstGeom>
              <a:blipFill rotWithShape="1">
                <a:blip r:embed="rId4"/>
                <a:stretch>
                  <a:fillRect l="-621" t="-803" b="-1473"/>
                </a:stretch>
              </a:blipFill>
            </p:spPr>
            <p:txBody>
              <a:bodyPr/>
              <a:lstStyle/>
              <a:p>
                <a:r>
                  <a:rPr lang="en-PH">
                    <a:noFill/>
                  </a:rPr>
                  <a:t> </a:t>
                </a:r>
              </a:p>
            </p:txBody>
          </p:sp>
        </mc:Fallback>
      </mc:AlternateContent>
      <p:sp>
        <p:nvSpPr>
          <p:cNvPr id="6" name="Google Shape;278;g104476d1465_1_17">
            <a:extLst>
              <a:ext uri="{FF2B5EF4-FFF2-40B4-BE49-F238E27FC236}">
                <a16:creationId xmlns:a16="http://schemas.microsoft.com/office/drawing/2014/main" xmlns="" id="{5B857E21-14F1-9C47-B2E8-32DB537DBF85}"/>
              </a:ext>
            </a:extLst>
          </p:cNvPr>
          <p:cNvSpPr/>
          <p:nvPr/>
        </p:nvSpPr>
        <p:spPr>
          <a:xfrm>
            <a:off x="0" y="0"/>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grpSp>
        <p:nvGrpSpPr>
          <p:cNvPr id="10" name="Group 9"/>
          <p:cNvGrpSpPr/>
          <p:nvPr/>
        </p:nvGrpSpPr>
        <p:grpSpPr>
          <a:xfrm>
            <a:off x="2521639" y="378345"/>
            <a:ext cx="7020000" cy="797560"/>
            <a:chOff x="134470" y="2"/>
            <a:chExt cx="7020000" cy="798022"/>
          </a:xfrm>
        </p:grpSpPr>
        <mc:AlternateContent xmlns:mc="http://schemas.openxmlformats.org/markup-compatibility/2006" xmlns:a14="http://schemas.microsoft.com/office/drawing/2010/main">
          <mc:Choice Requires="a14">
            <p:sp>
              <p:nvSpPr>
                <p:cNvPr id="11" name="Rounded Rectangle 10"/>
                <p:cNvSpPr/>
                <p:nvPr/>
              </p:nvSpPr>
              <p:spPr>
                <a:xfrm>
                  <a:off x="134470" y="2"/>
                  <a:ext cx="7020000" cy="798022"/>
                </a:xfrm>
                <a:prstGeom prst="roundRect">
                  <a:avLst>
                    <a:gd name="adj" fmla="val 16667"/>
                  </a:avLst>
                </a:prstGeom>
                <a:solidFill>
                  <a:srgbClr val="AEDBF1"/>
                </a:solidFill>
                <a:ln>
                  <a:noFill/>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pPr marL="628650">
                    <a:lnSpc>
                      <a:spcPct val="114000"/>
                    </a:lnSpc>
                    <a:spcAft>
                      <a:spcPts val="1000"/>
                    </a:spcAft>
                  </a:pPr>
                  <a:r>
                    <a:rPr lang="en-US" sz="2000" b="1" dirty="0">
                      <a:solidFill>
                        <a:srgbClr val="0076BF"/>
                      </a:solidFill>
                      <a:latin typeface="Verdana" pitchFamily="34" charset="0"/>
                      <a:ea typeface="Verdana" pitchFamily="34" charset="0"/>
                      <a:cs typeface="Times New Roman"/>
                    </a:rPr>
                    <a:t>Percent of Change </a:t>
                  </a:r>
                  <a14:m>
                    <m:oMath xmlns:m="http://schemas.openxmlformats.org/officeDocument/2006/math">
                      <m:r>
                        <a:rPr lang="en-US" sz="2000" b="1" i="1">
                          <a:solidFill>
                            <a:srgbClr val="0076BF"/>
                          </a:solidFill>
                          <a:latin typeface="Cambria Math"/>
                          <a:ea typeface="Verdana"/>
                          <a:cs typeface="Verdana"/>
                        </a:rPr>
                        <m:t>=</m:t>
                      </m:r>
                      <m:r>
                        <a:rPr lang="en-US" sz="2000" b="1" i="1">
                          <a:solidFill>
                            <a:srgbClr val="0076BF"/>
                          </a:solidFill>
                          <a:latin typeface="Cambria Math"/>
                          <a:ea typeface="Verdana"/>
                          <a:cs typeface="Verdana"/>
                        </a:rPr>
                        <m:t>𝟏𝟎𝟎</m:t>
                      </m:r>
                      <m:r>
                        <a:rPr lang="en-US" sz="2000" b="1" i="1">
                          <a:solidFill>
                            <a:srgbClr val="0076BF"/>
                          </a:solidFill>
                          <a:latin typeface="Cambria Math"/>
                          <a:ea typeface="Verdana"/>
                          <a:cs typeface="Verdana"/>
                        </a:rPr>
                        <m:t> ×</m:t>
                      </m:r>
                      <m:r>
                        <a:rPr lang="en-US" sz="2000" b="1">
                          <a:solidFill>
                            <a:srgbClr val="0076BF"/>
                          </a:solidFill>
                          <a:latin typeface="Cambria Math"/>
                          <a:ea typeface="Verdana"/>
                          <a:cs typeface="Verdana"/>
                        </a:rPr>
                        <m:t> </m:t>
                      </m:r>
                      <m:f>
                        <m:fPr>
                          <m:ctrlPr>
                            <a:rPr lang="en-PH" sz="2000" b="1" i="1">
                              <a:solidFill>
                                <a:srgbClr val="0076BF"/>
                              </a:solidFill>
                              <a:latin typeface="Cambria Math"/>
                              <a:ea typeface="Verdana"/>
                              <a:cs typeface="Verdana"/>
                            </a:rPr>
                          </m:ctrlPr>
                        </m:fPr>
                        <m:num>
                          <m:r>
                            <a:rPr lang="en-US" sz="2000" b="1" i="1">
                              <a:solidFill>
                                <a:srgbClr val="0076BF"/>
                              </a:solidFill>
                              <a:latin typeface="Cambria Math"/>
                              <a:ea typeface="Verdana"/>
                              <a:cs typeface="Verdana"/>
                            </a:rPr>
                            <m:t>𝐅𝐢𝐧𝐚𝐥</m:t>
                          </m:r>
                          <m:r>
                            <a:rPr lang="en-US" sz="2000" b="1">
                              <a:solidFill>
                                <a:srgbClr val="0076BF"/>
                              </a:solidFill>
                              <a:latin typeface="Cambria Math"/>
                              <a:ea typeface="Verdana"/>
                              <a:cs typeface="Verdana"/>
                            </a:rPr>
                            <m:t> </m:t>
                          </m:r>
                          <m:r>
                            <a:rPr lang="en-US" sz="2000" b="1" i="1">
                              <a:solidFill>
                                <a:srgbClr val="0076BF"/>
                              </a:solidFill>
                              <a:latin typeface="Cambria Math"/>
                              <a:ea typeface="Verdana"/>
                              <a:cs typeface="Verdana"/>
                            </a:rPr>
                            <m:t>𝐕𝐚𝐥𝐮𝐞</m:t>
                          </m:r>
                          <m:r>
                            <a:rPr lang="en-US" sz="2000" b="1" i="1">
                              <a:solidFill>
                                <a:srgbClr val="0076BF"/>
                              </a:solidFill>
                              <a:latin typeface="Cambria Math"/>
                              <a:ea typeface="Verdana"/>
                              <a:cs typeface="Verdana"/>
                            </a:rPr>
                            <m:t>−</m:t>
                          </m:r>
                          <m:r>
                            <a:rPr lang="en-US" sz="2000" b="1" i="1">
                              <a:solidFill>
                                <a:srgbClr val="0076BF"/>
                              </a:solidFill>
                              <a:latin typeface="Cambria Math"/>
                              <a:ea typeface="Verdana"/>
                              <a:cs typeface="Verdana"/>
                            </a:rPr>
                            <m:t>𝐈𝐧𝐢𝐭𝐢𝐚𝐥</m:t>
                          </m:r>
                          <m:r>
                            <a:rPr lang="en-US" sz="2000" b="1">
                              <a:solidFill>
                                <a:srgbClr val="0076BF"/>
                              </a:solidFill>
                              <a:latin typeface="Cambria Math"/>
                              <a:ea typeface="Verdana"/>
                              <a:cs typeface="Verdana"/>
                            </a:rPr>
                            <m:t> </m:t>
                          </m:r>
                          <m:r>
                            <a:rPr lang="en-US" sz="2000" b="1" i="1">
                              <a:solidFill>
                                <a:srgbClr val="0076BF"/>
                              </a:solidFill>
                              <a:latin typeface="Cambria Math"/>
                              <a:ea typeface="Verdana"/>
                              <a:cs typeface="Verdana"/>
                            </a:rPr>
                            <m:t>𝐕𝐚𝐥𝐮𝐞</m:t>
                          </m:r>
                        </m:num>
                        <m:den>
                          <m:r>
                            <a:rPr lang="en-US" sz="2000" b="1" i="1">
                              <a:solidFill>
                                <a:srgbClr val="0076BF"/>
                              </a:solidFill>
                              <a:latin typeface="Cambria Math"/>
                              <a:ea typeface="Verdana"/>
                              <a:cs typeface="Verdana"/>
                            </a:rPr>
                            <m:t>𝐈𝐧𝐢𝐭𝐢𝐚𝐥</m:t>
                          </m:r>
                          <m:r>
                            <a:rPr lang="en-US" sz="2000" b="1">
                              <a:solidFill>
                                <a:srgbClr val="0076BF"/>
                              </a:solidFill>
                              <a:latin typeface="Cambria Math"/>
                              <a:ea typeface="Verdana"/>
                              <a:cs typeface="Verdana"/>
                            </a:rPr>
                            <m:t> </m:t>
                          </m:r>
                          <m:r>
                            <a:rPr lang="en-US" sz="2000" b="1" i="1">
                              <a:solidFill>
                                <a:srgbClr val="0076BF"/>
                              </a:solidFill>
                              <a:latin typeface="Cambria Math"/>
                              <a:ea typeface="Verdana"/>
                              <a:cs typeface="Verdana"/>
                            </a:rPr>
                            <m:t>𝐕𝐚𝐥𝐮𝐞</m:t>
                          </m:r>
                        </m:den>
                      </m:f>
                    </m:oMath>
                  </a14:m>
                  <a:endParaRPr lang="en-PH" sz="2000" dirty="0">
                    <a:latin typeface="Verdana" pitchFamily="34" charset="0"/>
                    <a:ea typeface="Verdana" pitchFamily="34" charset="0"/>
                    <a:cs typeface="Times New Roman"/>
                  </a:endParaRPr>
                </a:p>
              </p:txBody>
            </p:sp>
          </mc:Choice>
          <mc:Fallback xmlns="">
            <p:sp>
              <p:nvSpPr>
                <p:cNvPr id="11" name="Rounded Rectangle 10"/>
                <p:cNvSpPr>
                  <a:spLocks noRot="1" noChangeAspect="1" noMove="1" noResize="1" noEditPoints="1" noAdjustHandles="1" noChangeArrowheads="1" noChangeShapeType="1" noTextEdit="1"/>
                </p:cNvSpPr>
                <p:nvPr/>
              </p:nvSpPr>
              <p:spPr>
                <a:xfrm>
                  <a:off x="134470" y="2"/>
                  <a:ext cx="7020000" cy="798022"/>
                </a:xfrm>
                <a:prstGeom prst="roundRect">
                  <a:avLst>
                    <a:gd name="adj" fmla="val 16667"/>
                  </a:avLst>
                </a:prstGeom>
                <a:blipFill rotWithShape="1">
                  <a:blip r:embed="rId5"/>
                  <a:stretch>
                    <a:fillRect/>
                  </a:stretch>
                </a:blipFill>
                <a:ln>
                  <a:noFill/>
                </a:ln>
                <a:effectLst>
                  <a:outerShdw blurRad="50800" dist="38100" dir="2700000" algn="tl" rotWithShape="0">
                    <a:prstClr val="black">
                      <a:alpha val="40000"/>
                    </a:prstClr>
                  </a:outerShdw>
                </a:effectLst>
              </p:spPr>
              <p:txBody>
                <a:bodyPr/>
                <a:lstStyle/>
                <a:p>
                  <a:r>
                    <a:rPr lang="en-PH">
                      <a:noFill/>
                    </a:rPr>
                    <a:t> </a:t>
                  </a:r>
                </a:p>
              </p:txBody>
            </p:sp>
          </mc:Fallback>
        </mc:AlternateContent>
        <p:pic>
          <p:nvPicPr>
            <p:cNvPr id="13" name="Shape 6" descr="Icon&#10;&#10;Description automatically generated"/>
            <p:cNvPicPr/>
            <p:nvPr/>
          </p:nvPicPr>
          <p:blipFill>
            <a:blip r:embed="rId6">
              <a:alphaModFix/>
            </a:blip>
            <a:stretch>
              <a:fillRect/>
            </a:stretch>
          </p:blipFill>
          <p:spPr>
            <a:xfrm>
              <a:off x="240175" y="106386"/>
              <a:ext cx="527050" cy="532130"/>
            </a:xfrm>
            <a:prstGeom prst="rect">
              <a:avLst/>
            </a:prstGeom>
            <a:noFill/>
            <a:ln>
              <a:noFill/>
            </a:ln>
            <a:effectLst>
              <a:outerShdw blurRad="50800" dist="38100" dir="2700000" algn="tl" rotWithShape="0">
                <a:prstClr val="black">
                  <a:alpha val="40000"/>
                </a:prstClr>
              </a:outerShdw>
            </a:effectLst>
          </p:spPr>
        </p:pic>
      </p:grpSp>
      <p:pic>
        <p:nvPicPr>
          <p:cNvPr id="6146" name="Picture 2"/>
          <p:cNvPicPr>
            <a:picLocks noChangeAspect="1" noChangeArrowheads="1"/>
          </p:cNvPicPr>
          <p:nvPr/>
        </p:nvPicPr>
        <p:blipFill>
          <a:blip r:embed="rId7">
            <a:extLst>
              <a:ext uri="{28A0092B-C50C-407E-A947-70E740481C1C}">
                <a14:useLocalDpi xmlns:a14="http://schemas.microsoft.com/office/drawing/2010/main"/>
              </a:ext>
            </a:extLst>
          </a:blip>
          <a:srcRect/>
          <a:stretch>
            <a:fillRect/>
          </a:stretch>
        </p:blipFill>
        <p:spPr bwMode="auto">
          <a:xfrm>
            <a:off x="2890870" y="3142605"/>
            <a:ext cx="6892297" cy="17865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 name="Google Shape;282;g104476d1465_1_17"/>
          <p:cNvSpPr txBox="1"/>
          <p:nvPr/>
        </p:nvSpPr>
        <p:spPr>
          <a:xfrm>
            <a:off x="8889924" y="64658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342</a:t>
            </a:r>
            <a:endParaRPr i="1" dirty="0">
              <a:latin typeface="Calibri"/>
              <a:ea typeface="Calibri"/>
              <a:cs typeface="Calibri"/>
              <a:sym typeface="Calibri"/>
            </a:endParaRPr>
          </a:p>
        </p:txBody>
      </p:sp>
    </p:spTree>
    <p:extLst>
      <p:ext uri="{BB962C8B-B14F-4D97-AF65-F5344CB8AC3E}">
        <p14:creationId xmlns:p14="http://schemas.microsoft.com/office/powerpoint/2010/main" val="13094556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14" name="TextBox 13">
            <a:extLst>
              <a:ext uri="{FF2B5EF4-FFF2-40B4-BE49-F238E27FC236}">
                <a16:creationId xmlns:a16="http://schemas.microsoft.com/office/drawing/2014/main" xmlns="" id="{2FA392D8-3ED3-7940-83A8-1451AA8A08D4}"/>
              </a:ext>
            </a:extLst>
          </p:cNvPr>
          <p:cNvSpPr txBox="1"/>
          <p:nvPr/>
        </p:nvSpPr>
        <p:spPr>
          <a:xfrm>
            <a:off x="536154" y="386026"/>
            <a:ext cx="10800000" cy="5042406"/>
          </a:xfrm>
          <a:prstGeom prst="rect">
            <a:avLst/>
          </a:prstGeom>
          <a:noFill/>
        </p:spPr>
        <p:txBody>
          <a:bodyPr wrap="square" rtlCol="0">
            <a:spAutoFit/>
          </a:bodyPr>
          <a:lstStyle/>
          <a:p>
            <a:pPr marL="896938" indent="-457200">
              <a:spcBef>
                <a:spcPts val="180"/>
              </a:spcBef>
              <a:buFont typeface="+mj-lt"/>
              <a:buAutoNum type="alphaLcPeriod" startAt="3"/>
            </a:pPr>
            <a:r>
              <a:rPr lang="en-US" sz="2000" dirty="0">
                <a:latin typeface="Verdana" pitchFamily="34" charset="0"/>
                <a:ea typeface="Verdana" pitchFamily="34" charset="0"/>
                <a:cs typeface="Times New Roman"/>
              </a:rPr>
              <a:t>Complete the statements.</a:t>
            </a:r>
          </a:p>
          <a:p>
            <a:pPr marL="900113">
              <a:lnSpc>
                <a:spcPct val="300000"/>
              </a:lnSpc>
              <a:spcBef>
                <a:spcPts val="180"/>
              </a:spcBef>
            </a:pPr>
            <a:r>
              <a:rPr lang="en-US" sz="2000" dirty="0">
                <a:latin typeface="Verdana" pitchFamily="34" charset="0"/>
                <a:ea typeface="Verdana" pitchFamily="34" charset="0"/>
              </a:rPr>
              <a:t>When calculating the percent of change using the ratio, </a:t>
            </a:r>
            <a:r>
              <a:rPr lang="en-US" sz="2000" dirty="0">
                <a:latin typeface="Verdana" pitchFamily="34" charset="0"/>
                <a:ea typeface="Verdana" pitchFamily="34" charset="0"/>
                <a:cs typeface="Times New Roman"/>
              </a:rPr>
              <a:t>a positive value represents a percent  		 </a:t>
            </a:r>
            <a:r>
              <a:rPr lang="en-US" sz="2000" dirty="0" smtClean="0">
                <a:latin typeface="Verdana" pitchFamily="34" charset="0"/>
                <a:ea typeface="Verdana" pitchFamily="34" charset="0"/>
                <a:cs typeface="Times New Roman"/>
              </a:rPr>
              <a:t> </a:t>
            </a:r>
            <a:r>
              <a:rPr lang="en-US" sz="2000" dirty="0">
                <a:latin typeface="Verdana" pitchFamily="34" charset="0"/>
                <a:ea typeface="Verdana" pitchFamily="34" charset="0"/>
              </a:rPr>
              <a:t>and a negative value represents a percent</a:t>
            </a:r>
            <a:r>
              <a:rPr lang="en-PH" sz="2000" dirty="0">
                <a:latin typeface="Verdana" pitchFamily="34" charset="0"/>
                <a:ea typeface="Verdana" pitchFamily="34" charset="0"/>
              </a:rPr>
              <a:t> 		   </a:t>
            </a:r>
            <a:r>
              <a:rPr lang="en-US" sz="2000" dirty="0" smtClean="0">
                <a:latin typeface="Verdana" pitchFamily="34" charset="0"/>
                <a:ea typeface="Verdana" pitchFamily="34" charset="0"/>
                <a:cs typeface="Times New Roman"/>
              </a:rPr>
              <a:t>In </a:t>
            </a:r>
            <a:r>
              <a:rPr lang="en-US" sz="2000" dirty="0">
                <a:latin typeface="Verdana" pitchFamily="34" charset="0"/>
                <a:ea typeface="Verdana" pitchFamily="34" charset="0"/>
                <a:cs typeface="Times New Roman"/>
              </a:rPr>
              <a:t>this context, it makes sense that the percent change is a percent 		      </a:t>
            </a:r>
            <a:r>
              <a:rPr lang="en-US" sz="2000" dirty="0" smtClean="0">
                <a:latin typeface="Verdana" pitchFamily="34" charset="0"/>
                <a:ea typeface="Verdana" pitchFamily="34" charset="0"/>
                <a:cs typeface="Times New Roman"/>
              </a:rPr>
              <a:t>   because </a:t>
            </a:r>
            <a:r>
              <a:rPr lang="en-US" sz="2000" dirty="0">
                <a:latin typeface="Verdana" pitchFamily="34" charset="0"/>
                <a:ea typeface="Verdana" pitchFamily="34" charset="0"/>
                <a:cs typeface="Times New Roman"/>
              </a:rPr>
              <a:t>the change is the result of a discount. </a:t>
            </a:r>
          </a:p>
        </p:txBody>
      </p:sp>
      <p:sp>
        <p:nvSpPr>
          <p:cNvPr id="6" name="Google Shape;278;g104476d1465_1_17">
            <a:extLst>
              <a:ext uri="{FF2B5EF4-FFF2-40B4-BE49-F238E27FC236}">
                <a16:creationId xmlns:a16="http://schemas.microsoft.com/office/drawing/2014/main" xmlns="" id="{5B857E21-14F1-9C47-B2E8-32DB537DBF85}"/>
              </a:ext>
            </a:extLst>
          </p:cNvPr>
          <p:cNvSpPr/>
          <p:nvPr/>
        </p:nvSpPr>
        <p:spPr>
          <a:xfrm>
            <a:off x="0" y="0"/>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sp>
        <p:nvSpPr>
          <p:cNvPr id="8" name="Rounded Rectangle 7"/>
          <p:cNvSpPr/>
          <p:nvPr/>
        </p:nvSpPr>
        <p:spPr>
          <a:xfrm>
            <a:off x="4327379" y="1829933"/>
            <a:ext cx="1812572" cy="783193"/>
          </a:xfrm>
          <a:prstGeom prst="roundRect">
            <a:avLst/>
          </a:prstGeom>
          <a:noFill/>
          <a:ln w="19050" cap="flat" cmpd="sng" algn="ctr">
            <a:solidFill>
              <a:sysClr val="windowText" lastClr="000000"/>
            </a:solidFill>
            <a:prstDash val="solid"/>
          </a:ln>
          <a:effectLst/>
        </p:spPr>
        <p:txBody>
          <a:bodyPr rot="0" spcFirstLastPara="0" vert="horz" wrap="square" lIns="91440" tIns="45720" rIns="91440" bIns="45720" numCol="1" spcCol="0" rtlCol="0" fromWordArt="0" anchor="ctr" anchorCtr="0" forceAA="0" compatLnSpc="1">
            <a:prstTxWarp prst="textNoShape">
              <a:avLst/>
            </a:prstTxWarp>
            <a:spAutoFit/>
          </a:bodyPr>
          <a:lstStyle/>
          <a:p>
            <a:pPr marL="271463" indent="-271463" algn="just">
              <a:buFont typeface="Courier New"/>
              <a:buChar char="o"/>
              <a:defRPr/>
            </a:pPr>
            <a:r>
              <a:rPr lang="en-US" sz="2000" dirty="0">
                <a:latin typeface="Verdana" pitchFamily="34" charset="0"/>
                <a:ea typeface="Verdana" pitchFamily="34" charset="0"/>
                <a:cs typeface="Times New Roman"/>
              </a:rPr>
              <a:t>increase,</a:t>
            </a:r>
            <a:endParaRPr lang="en-PH" sz="2000" dirty="0">
              <a:solidFill>
                <a:sysClr val="window" lastClr="FFFFFF"/>
              </a:solidFill>
              <a:latin typeface="Verdana" pitchFamily="34" charset="0"/>
              <a:ea typeface="Verdana" pitchFamily="34" charset="0"/>
              <a:cs typeface="Times New Roman"/>
            </a:endParaRPr>
          </a:p>
          <a:p>
            <a:pPr marL="271463" indent="-271463" algn="just">
              <a:spcAft>
                <a:spcPts val="1000"/>
              </a:spcAft>
              <a:buFont typeface="Courier New"/>
              <a:buChar char="o"/>
              <a:defRPr/>
            </a:pPr>
            <a:r>
              <a:rPr lang="en-US" sz="2000" dirty="0">
                <a:latin typeface="Verdana" pitchFamily="34" charset="0"/>
                <a:ea typeface="Verdana" pitchFamily="34" charset="0"/>
                <a:cs typeface="Times New Roman"/>
              </a:rPr>
              <a:t>decrease,</a:t>
            </a:r>
            <a:endParaRPr lang="en-PH" sz="2000" dirty="0">
              <a:solidFill>
                <a:sysClr val="window" lastClr="FFFFFF"/>
              </a:solidFill>
              <a:latin typeface="Verdana" pitchFamily="34" charset="0"/>
              <a:ea typeface="Verdana" pitchFamily="34" charset="0"/>
              <a:cs typeface="Times New Roman"/>
            </a:endParaRPr>
          </a:p>
        </p:txBody>
      </p:sp>
      <p:sp>
        <p:nvSpPr>
          <p:cNvPr id="9" name="Rounded Rectangle 8"/>
          <p:cNvSpPr/>
          <p:nvPr/>
        </p:nvSpPr>
        <p:spPr>
          <a:xfrm>
            <a:off x="2601658" y="2771907"/>
            <a:ext cx="1812572" cy="783193"/>
          </a:xfrm>
          <a:prstGeom prst="roundRect">
            <a:avLst/>
          </a:prstGeom>
          <a:noFill/>
          <a:ln w="19050" cap="flat" cmpd="sng" algn="ctr">
            <a:solidFill>
              <a:sysClr val="windowText" lastClr="000000"/>
            </a:solidFill>
            <a:prstDash val="solid"/>
          </a:ln>
          <a:effectLst/>
        </p:spPr>
        <p:txBody>
          <a:bodyPr rot="0" spcFirstLastPara="0" vert="horz" wrap="square" lIns="91440" tIns="45720" rIns="91440" bIns="45720" numCol="1" spcCol="0" rtlCol="0" fromWordArt="0" anchor="ctr" anchorCtr="0" forceAA="0" compatLnSpc="1">
            <a:prstTxWarp prst="textNoShape">
              <a:avLst/>
            </a:prstTxWarp>
            <a:spAutoFit/>
          </a:bodyPr>
          <a:lstStyle/>
          <a:p>
            <a:pPr marL="271463" indent="-271463" algn="just">
              <a:buFont typeface="Courier New"/>
              <a:buChar char="o"/>
              <a:defRPr/>
            </a:pPr>
            <a:r>
              <a:rPr lang="en-US" sz="2000" dirty="0">
                <a:latin typeface="Verdana" pitchFamily="34" charset="0"/>
                <a:ea typeface="Verdana" pitchFamily="34" charset="0"/>
                <a:cs typeface="Times New Roman"/>
              </a:rPr>
              <a:t>increase.</a:t>
            </a:r>
            <a:endParaRPr lang="en-PH" sz="2000" dirty="0">
              <a:solidFill>
                <a:sysClr val="window" lastClr="FFFFFF"/>
              </a:solidFill>
              <a:latin typeface="Verdana" pitchFamily="34" charset="0"/>
              <a:ea typeface="Verdana" pitchFamily="34" charset="0"/>
              <a:cs typeface="Times New Roman"/>
            </a:endParaRPr>
          </a:p>
          <a:p>
            <a:pPr marL="271463" indent="-271463" algn="just">
              <a:spcAft>
                <a:spcPts val="1000"/>
              </a:spcAft>
              <a:buFont typeface="Courier New"/>
              <a:buChar char="o"/>
              <a:defRPr/>
            </a:pPr>
            <a:r>
              <a:rPr lang="en-US" sz="2000" dirty="0">
                <a:latin typeface="Verdana" pitchFamily="34" charset="0"/>
                <a:ea typeface="Verdana" pitchFamily="34" charset="0"/>
                <a:cs typeface="Times New Roman"/>
              </a:rPr>
              <a:t>decrease.</a:t>
            </a:r>
            <a:endParaRPr lang="en-PH" sz="2000" dirty="0">
              <a:solidFill>
                <a:sysClr val="window" lastClr="FFFFFF"/>
              </a:solidFill>
              <a:latin typeface="Verdana" pitchFamily="34" charset="0"/>
              <a:ea typeface="Verdana" pitchFamily="34" charset="0"/>
              <a:cs typeface="Times New Roman"/>
            </a:endParaRPr>
          </a:p>
        </p:txBody>
      </p:sp>
      <p:sp>
        <p:nvSpPr>
          <p:cNvPr id="10" name="Rounded Rectangle 9"/>
          <p:cNvSpPr/>
          <p:nvPr/>
        </p:nvSpPr>
        <p:spPr>
          <a:xfrm>
            <a:off x="4181871" y="3713462"/>
            <a:ext cx="1727649" cy="783193"/>
          </a:xfrm>
          <a:prstGeom prst="roundRect">
            <a:avLst/>
          </a:prstGeom>
          <a:noFill/>
          <a:ln w="19050" cap="flat" cmpd="sng" algn="ctr">
            <a:solidFill>
              <a:sysClr val="windowText" lastClr="000000"/>
            </a:solidFill>
            <a:prstDash val="solid"/>
          </a:ln>
          <a:effectLst/>
        </p:spPr>
        <p:txBody>
          <a:bodyPr rot="0" spcFirstLastPara="0" vert="horz" wrap="square" lIns="91440" tIns="45720" rIns="91440" bIns="45720" numCol="1" spcCol="0" rtlCol="0" fromWordArt="0" anchor="ctr" anchorCtr="0" forceAA="0" compatLnSpc="1">
            <a:prstTxWarp prst="textNoShape">
              <a:avLst/>
            </a:prstTxWarp>
            <a:spAutoFit/>
          </a:bodyPr>
          <a:lstStyle/>
          <a:p>
            <a:pPr marL="271463" indent="-271463" algn="just">
              <a:buFont typeface="Courier New"/>
              <a:buChar char="o"/>
              <a:defRPr/>
            </a:pPr>
            <a:r>
              <a:rPr lang="en-US" sz="2000" dirty="0">
                <a:latin typeface="Verdana" pitchFamily="34" charset="0"/>
                <a:ea typeface="Verdana" pitchFamily="34" charset="0"/>
                <a:cs typeface="Times New Roman"/>
              </a:rPr>
              <a:t>increase</a:t>
            </a:r>
            <a:endParaRPr lang="en-PH" sz="2000" dirty="0">
              <a:solidFill>
                <a:sysClr val="window" lastClr="FFFFFF"/>
              </a:solidFill>
              <a:latin typeface="Verdana" pitchFamily="34" charset="0"/>
              <a:ea typeface="Verdana" pitchFamily="34" charset="0"/>
              <a:cs typeface="Times New Roman"/>
            </a:endParaRPr>
          </a:p>
          <a:p>
            <a:pPr marL="271463" indent="-271463" algn="just">
              <a:spcAft>
                <a:spcPts val="1000"/>
              </a:spcAft>
              <a:buFont typeface="Courier New"/>
              <a:buChar char="o"/>
              <a:defRPr/>
            </a:pPr>
            <a:r>
              <a:rPr lang="en-US" sz="2000" dirty="0">
                <a:latin typeface="Verdana" pitchFamily="34" charset="0"/>
                <a:ea typeface="Verdana" pitchFamily="34" charset="0"/>
                <a:cs typeface="Times New Roman"/>
              </a:rPr>
              <a:t>decrease</a:t>
            </a:r>
            <a:endParaRPr lang="en-PH" sz="2000" dirty="0">
              <a:solidFill>
                <a:sysClr val="window" lastClr="FFFFFF"/>
              </a:solidFill>
              <a:latin typeface="Verdana" pitchFamily="34" charset="0"/>
              <a:ea typeface="Verdana" pitchFamily="34" charset="0"/>
              <a:cs typeface="Times New Roman"/>
            </a:endParaRPr>
          </a:p>
        </p:txBody>
      </p:sp>
      <p:sp>
        <p:nvSpPr>
          <p:cNvPr id="11" name="Google Shape;282;g104476d1465_1_17"/>
          <p:cNvSpPr txBox="1"/>
          <p:nvPr/>
        </p:nvSpPr>
        <p:spPr>
          <a:xfrm>
            <a:off x="8889924" y="64658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342</a:t>
            </a:r>
            <a:endParaRPr i="1" dirty="0">
              <a:latin typeface="Calibri"/>
              <a:ea typeface="Calibri"/>
              <a:cs typeface="Calibri"/>
              <a:sym typeface="Calibri"/>
            </a:endParaRPr>
          </a:p>
        </p:txBody>
      </p:sp>
    </p:spTree>
    <p:extLst>
      <p:ext uri="{BB962C8B-B14F-4D97-AF65-F5344CB8AC3E}">
        <p14:creationId xmlns:p14="http://schemas.microsoft.com/office/powerpoint/2010/main" val="41712031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E24E5F"/>
                </a:solidFill>
                <a:latin typeface="Verdana"/>
                <a:ea typeface="Verdana"/>
                <a:cs typeface="Verdana"/>
                <a:sym typeface="Verdana"/>
              </a:rPr>
              <a:t>Your Turn</a:t>
            </a:r>
            <a:endParaRPr sz="5100" b="1" dirty="0">
              <a:solidFill>
                <a:srgbClr val="E24E5F"/>
              </a:solidFill>
              <a:latin typeface="Verdana"/>
              <a:ea typeface="Verdana"/>
              <a:cs typeface="Verdana"/>
              <a:sym typeface="Verdana"/>
            </a:endParaRPr>
          </a:p>
        </p:txBody>
      </p:sp>
      <p:pic>
        <p:nvPicPr>
          <p:cNvPr id="8" name="Google Shape;423;g103996e1364_0_416">
            <a:extLst>
              <a:ext uri="{FF2B5EF4-FFF2-40B4-BE49-F238E27FC236}">
                <a16:creationId xmlns:a16="http://schemas.microsoft.com/office/drawing/2014/main" xmlns="" id="{93D338D9-F4F3-AC46-BAB5-0DC7D3916679}"/>
              </a:ext>
            </a:extLst>
          </p:cNvPr>
          <p:cNvPicPr preferRelativeResize="0"/>
          <p:nvPr/>
        </p:nvPicPr>
        <p:blipFill rotWithShape="1">
          <a:blip r:embed="rId4">
            <a:alphaModFix/>
          </a:blip>
          <a:srcRect/>
          <a:stretch/>
        </p:blipFill>
        <p:spPr>
          <a:xfrm>
            <a:off x="4412728" y="2897929"/>
            <a:ext cx="1122440" cy="1062143"/>
          </a:xfrm>
          <a:prstGeom prst="rect">
            <a:avLst/>
          </a:prstGeom>
          <a:noFill/>
          <a:ln>
            <a:noFill/>
          </a:ln>
          <a:effectLst>
            <a:outerShdw blurRad="50800" dist="38100" dir="2700000" algn="tl" rotWithShape="0">
              <a:prstClr val="black">
                <a:alpha val="40000"/>
              </a:prstClr>
            </a:outerShdw>
          </a:effectLst>
        </p:spPr>
      </p:pic>
      <p:sp>
        <p:nvSpPr>
          <p:cNvPr id="7" name="Google Shape;282;g104476d1465_1_17"/>
          <p:cNvSpPr txBox="1"/>
          <p:nvPr/>
        </p:nvSpPr>
        <p:spPr>
          <a:xfrm>
            <a:off x="8889924" y="64658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343</a:t>
            </a:r>
            <a:endParaRPr i="1" dirty="0">
              <a:latin typeface="Calibri"/>
              <a:ea typeface="Calibri"/>
              <a:cs typeface="Calibri"/>
              <a:sym typeface="Calibri"/>
            </a:endParaRPr>
          </a:p>
        </p:txBody>
      </p:sp>
    </p:spTree>
    <p:extLst>
      <p:ext uri="{BB962C8B-B14F-4D97-AF65-F5344CB8AC3E}">
        <p14:creationId xmlns:p14="http://schemas.microsoft.com/office/powerpoint/2010/main" val="17908396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6" name="Google Shape;428;g103996e1364_0_428">
            <a:extLst>
              <a:ext uri="{FF2B5EF4-FFF2-40B4-BE49-F238E27FC236}">
                <a16:creationId xmlns:a16="http://schemas.microsoft.com/office/drawing/2014/main" xmlns="" id="{07112538-C7A8-8B4A-B739-C3032B04086A}"/>
              </a:ext>
            </a:extLst>
          </p:cNvPr>
          <p:cNvSpPr txBox="1">
            <a:spLocks/>
          </p:cNvSpPr>
          <p:nvPr/>
        </p:nvSpPr>
        <p:spPr>
          <a:xfrm>
            <a:off x="1158299" y="380372"/>
            <a:ext cx="8019300" cy="7473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300" b="1" dirty="0">
                <a:solidFill>
                  <a:srgbClr val="E24E5F"/>
                </a:solidFill>
                <a:latin typeface="Verdana"/>
                <a:ea typeface="Verdana"/>
                <a:cs typeface="Verdana"/>
                <a:sym typeface="Verdana"/>
              </a:rPr>
              <a:t>7.9.5 Your Turn!</a:t>
            </a:r>
          </a:p>
        </p:txBody>
      </p:sp>
      <p:pic>
        <p:nvPicPr>
          <p:cNvPr id="9" name="Google Shape;430;g103996e1364_0_428">
            <a:extLst>
              <a:ext uri="{FF2B5EF4-FFF2-40B4-BE49-F238E27FC236}">
                <a16:creationId xmlns:a16="http://schemas.microsoft.com/office/drawing/2014/main" xmlns="" id="{032D5487-B5A9-DE4B-AE87-33198BE16145}"/>
              </a:ext>
            </a:extLst>
          </p:cNvPr>
          <p:cNvPicPr preferRelativeResize="0"/>
          <p:nvPr/>
        </p:nvPicPr>
        <p:blipFill rotWithShape="1">
          <a:blip r:embed="rId4">
            <a:alphaModFix/>
          </a:blip>
          <a:srcRect/>
          <a:stretch/>
        </p:blipFill>
        <p:spPr>
          <a:xfrm>
            <a:off x="326705" y="380372"/>
            <a:ext cx="747300" cy="747300"/>
          </a:xfrm>
          <a:prstGeom prst="rect">
            <a:avLst/>
          </a:prstGeom>
          <a:noFill/>
          <a:ln>
            <a:noFill/>
          </a:ln>
        </p:spPr>
      </p:pic>
      <p:sp>
        <p:nvSpPr>
          <p:cNvPr id="12" name="TextBox 11">
            <a:extLst>
              <a:ext uri="{FF2B5EF4-FFF2-40B4-BE49-F238E27FC236}">
                <a16:creationId xmlns:a16="http://schemas.microsoft.com/office/drawing/2014/main" xmlns="" id="{759C3E41-93EC-B84D-963F-86A3B15AC1C6}"/>
              </a:ext>
            </a:extLst>
          </p:cNvPr>
          <p:cNvSpPr txBox="1"/>
          <p:nvPr/>
        </p:nvSpPr>
        <p:spPr>
          <a:xfrm>
            <a:off x="536154" y="1386025"/>
            <a:ext cx="10800000" cy="3762568"/>
          </a:xfrm>
          <a:prstGeom prst="rect">
            <a:avLst/>
          </a:prstGeom>
          <a:noFill/>
        </p:spPr>
        <p:txBody>
          <a:bodyPr wrap="square" rtlCol="0">
            <a:spAutoFit/>
          </a:bodyPr>
          <a:lstStyle/>
          <a:p>
            <a:pPr marL="457200" indent="-457200">
              <a:buFont typeface="+mj-lt"/>
              <a:buAutoNum type="arabicPeriod"/>
            </a:pPr>
            <a:r>
              <a:rPr lang="en-US" sz="2400" dirty="0">
                <a:latin typeface="Verdana"/>
                <a:ea typeface="Times New Roman"/>
                <a:cs typeface="Times New Roman"/>
              </a:rPr>
              <a:t>A school had </a:t>
            </a:r>
            <a:r>
              <a:rPr lang="en-US" sz="2400" dirty="0">
                <a:latin typeface="Cambria Math"/>
                <a:ea typeface="Times New Roman"/>
                <a:cs typeface="Times New Roman"/>
              </a:rPr>
              <a:t>1,200</a:t>
            </a:r>
            <a:r>
              <a:rPr lang="en-US" sz="2400" dirty="0">
                <a:latin typeface="Verdana"/>
                <a:ea typeface="Times New Roman"/>
                <a:cs typeface="Times New Roman"/>
              </a:rPr>
              <a:t> students last year and only </a:t>
            </a:r>
            <a:r>
              <a:rPr lang="en-US" sz="2400" dirty="0">
                <a:latin typeface="Cambria Math"/>
                <a:ea typeface="Times New Roman"/>
                <a:cs typeface="Times New Roman"/>
              </a:rPr>
              <a:t>1,080</a:t>
            </a:r>
            <a:r>
              <a:rPr lang="en-US" sz="2400" dirty="0">
                <a:latin typeface="Verdana"/>
                <a:ea typeface="Times New Roman"/>
                <a:cs typeface="Times New Roman"/>
              </a:rPr>
              <a:t> students this year. What was the percentage decrease in the number of students?</a:t>
            </a:r>
            <a:endParaRPr lang="en-PH" sz="1600" dirty="0">
              <a:latin typeface="Cambria"/>
              <a:ea typeface="Times New Roman"/>
              <a:cs typeface="Times New Roman"/>
            </a:endParaRPr>
          </a:p>
          <a:p>
            <a:pPr marL="457200" indent="-457200">
              <a:spcBef>
                <a:spcPts val="900"/>
              </a:spcBef>
              <a:buFont typeface="+mj-lt"/>
              <a:buAutoNum type="arabicPeriod"/>
            </a:pPr>
            <a:endParaRPr lang="en-US" sz="2400" dirty="0">
              <a:latin typeface="Verdana"/>
              <a:ea typeface="Times New Roman"/>
              <a:cs typeface="Times New Roman"/>
            </a:endParaRPr>
          </a:p>
          <a:p>
            <a:pPr marL="457200" indent="-457200">
              <a:spcBef>
                <a:spcPts val="900"/>
              </a:spcBef>
              <a:buFont typeface="+mj-lt"/>
              <a:buAutoNum type="arabicPeriod"/>
            </a:pPr>
            <a:endParaRPr lang="en-US" sz="2400" dirty="0">
              <a:latin typeface="Verdana"/>
              <a:ea typeface="Times New Roman"/>
              <a:cs typeface="Times New Roman"/>
            </a:endParaRPr>
          </a:p>
          <a:p>
            <a:pPr marL="457200" indent="-457200">
              <a:spcBef>
                <a:spcPts val="900"/>
              </a:spcBef>
              <a:buFont typeface="+mj-lt"/>
              <a:buAutoNum type="arabicPeriod"/>
            </a:pPr>
            <a:r>
              <a:rPr lang="en-US" sz="2400" dirty="0">
                <a:latin typeface="Verdana"/>
                <a:ea typeface="Times New Roman"/>
                <a:cs typeface="Times New Roman"/>
              </a:rPr>
              <a:t>A juice box has </a:t>
            </a:r>
            <a:r>
              <a:rPr lang="en-US" sz="2400" dirty="0">
                <a:latin typeface="Cambria Math"/>
                <a:ea typeface="Times New Roman"/>
                <a:cs typeface="Times New Roman"/>
              </a:rPr>
              <a:t>20%</a:t>
            </a:r>
            <a:r>
              <a:rPr lang="en-US" sz="2400" dirty="0">
                <a:latin typeface="Verdana"/>
                <a:ea typeface="Times New Roman"/>
                <a:cs typeface="Times New Roman"/>
              </a:rPr>
              <a:t> more juice in its new packaging. The original packaging held </a:t>
            </a:r>
            <a:r>
              <a:rPr lang="en-US" sz="2400" dirty="0">
                <a:latin typeface="Cambria Math"/>
                <a:ea typeface="Times New Roman"/>
                <a:cs typeface="Times New Roman"/>
              </a:rPr>
              <a:t>12</a:t>
            </a:r>
            <a:r>
              <a:rPr lang="en-US" sz="2400" dirty="0">
                <a:latin typeface="Verdana"/>
                <a:ea typeface="Times New Roman"/>
                <a:cs typeface="Times New Roman"/>
              </a:rPr>
              <a:t> fluid ounces. How much juice does the new packaging hold?</a:t>
            </a:r>
            <a:endParaRPr lang="en-PH" sz="1600" dirty="0">
              <a:latin typeface="Cambria"/>
              <a:ea typeface="Times New Roman"/>
              <a:cs typeface="Times New Roman"/>
            </a:endParaRPr>
          </a:p>
        </p:txBody>
      </p:sp>
      <p:sp>
        <p:nvSpPr>
          <p:cNvPr id="8" name="Google Shape;278;g104476d1465_1_17">
            <a:extLst>
              <a:ext uri="{FF2B5EF4-FFF2-40B4-BE49-F238E27FC236}">
                <a16:creationId xmlns:a16="http://schemas.microsoft.com/office/drawing/2014/main" xmlns="" id="{EDD7E546-9334-CD4B-9098-7FA33B42DB04}"/>
              </a:ext>
            </a:extLst>
          </p:cNvPr>
          <p:cNvSpPr/>
          <p:nvPr/>
        </p:nvSpPr>
        <p:spPr>
          <a:xfrm>
            <a:off x="0" y="0"/>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sp>
        <p:nvSpPr>
          <p:cNvPr id="10" name="Google Shape;282;g104476d1465_1_17"/>
          <p:cNvSpPr txBox="1"/>
          <p:nvPr/>
        </p:nvSpPr>
        <p:spPr>
          <a:xfrm>
            <a:off x="8889924" y="64658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343</a:t>
            </a:r>
            <a:endParaRPr i="1" dirty="0">
              <a:latin typeface="Calibri"/>
              <a:ea typeface="Calibri"/>
              <a:cs typeface="Calibri"/>
              <a:sym typeface="Calibri"/>
            </a:endParaRPr>
          </a:p>
        </p:txBody>
      </p:sp>
    </p:spTree>
    <p:extLst>
      <p:ext uri="{BB962C8B-B14F-4D97-AF65-F5344CB8AC3E}">
        <p14:creationId xmlns:p14="http://schemas.microsoft.com/office/powerpoint/2010/main" val="31012998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xmlns="" id="{DE95225C-59B5-E847-AFA2-B83DCFFA10D8}"/>
              </a:ext>
            </a:extLst>
          </p:cNvPr>
          <p:cNvPicPr preferRelativeResize="0"/>
          <p:nvPr/>
        </p:nvPicPr>
        <p:blipFill rotWithShape="1">
          <a:blip r:embed="rId4">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343</a:t>
            </a:r>
            <a:endParaRPr i="1" dirty="0">
              <a:latin typeface="Calibri"/>
              <a:ea typeface="Calibri"/>
              <a:cs typeface="Calibri"/>
              <a:sym typeface="Calibri"/>
            </a:endParaRPr>
          </a:p>
        </p:txBody>
      </p:sp>
    </p:spTree>
    <p:extLst>
      <p:ext uri="{BB962C8B-B14F-4D97-AF65-F5344CB8AC3E}">
        <p14:creationId xmlns:p14="http://schemas.microsoft.com/office/powerpoint/2010/main" val="6769087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a16="http://schemas.microsoft.com/office/drawing/2014/main" xmlns="" id="{68C03D65-F0BF-3F41-B52A-024F47388982}"/>
              </a:ext>
            </a:extLst>
          </p:cNvPr>
          <p:cNvSpPr txBox="1">
            <a:spLocks/>
          </p:cNvSpPr>
          <p:nvPr/>
        </p:nvSpPr>
        <p:spPr>
          <a:xfrm>
            <a:off x="1153907" y="460253"/>
            <a:ext cx="8019300" cy="590891"/>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7.9.6 Wrap-Up: Error Analysis</a:t>
            </a:r>
          </a:p>
        </p:txBody>
      </p:sp>
      <p:pic>
        <p:nvPicPr>
          <p:cNvPr id="9" name="Google Shape;458;g103996e1364_0_463">
            <a:extLst>
              <a:ext uri="{FF2B5EF4-FFF2-40B4-BE49-F238E27FC236}">
                <a16:creationId xmlns:a16="http://schemas.microsoft.com/office/drawing/2014/main" xmlns="" id="{EEA44D6C-2366-AC41-B1B5-EDDC34786A66}"/>
              </a:ext>
            </a:extLst>
          </p:cNvPr>
          <p:cNvPicPr preferRelativeResize="0"/>
          <p:nvPr/>
        </p:nvPicPr>
        <p:blipFill rotWithShape="1">
          <a:blip r:embed="rId4">
            <a:alphaModFix/>
          </a:blip>
          <a:srcRect/>
          <a:stretch/>
        </p:blipFill>
        <p:spPr>
          <a:xfrm>
            <a:off x="326705" y="382049"/>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xmlns="" id="{0370EDB7-6994-3D43-ABF9-E04CBAFB9CD9}"/>
                  </a:ext>
                </a:extLst>
              </p:cNvPr>
              <p:cNvSpPr txBox="1"/>
              <p:nvPr/>
            </p:nvSpPr>
            <p:spPr>
              <a:xfrm>
                <a:off x="536154" y="1386025"/>
                <a:ext cx="10800000" cy="2677656"/>
              </a:xfrm>
              <a:prstGeom prst="rect">
                <a:avLst/>
              </a:prstGeom>
              <a:noFill/>
            </p:spPr>
            <p:txBody>
              <a:bodyPr wrap="square" rtlCol="0">
                <a:spAutoFit/>
              </a:bodyPr>
              <a:lstStyle/>
              <a:p>
                <a:pPr marL="457200" indent="-457200">
                  <a:buFont typeface="+mj-lt"/>
                  <a:buAutoNum type="arabicPeriod"/>
                </a:pPr>
                <a:r>
                  <a:rPr lang="en-US" sz="2400" dirty="0">
                    <a:latin typeface="Verdana"/>
                  </a:rPr>
                  <a:t>The number of campers </a:t>
                </a:r>
                <a:r>
                  <a:rPr lang="en-US" sz="2400" dirty="0" smtClean="0">
                    <a:latin typeface="Verdana"/>
                  </a:rPr>
                  <a:t>who </a:t>
                </a:r>
                <a:r>
                  <a:rPr lang="en-US" sz="2400" dirty="0">
                    <a:latin typeface="Verdana"/>
                  </a:rPr>
                  <a:t>attend a </a:t>
                </a:r>
                <a:r>
                  <a:rPr lang="en-US" sz="2400" dirty="0" smtClean="0">
                    <a:latin typeface="Verdana"/>
                  </a:rPr>
                  <a:t/>
                </a:r>
                <a:br>
                  <a:rPr lang="en-US" sz="2400" dirty="0" smtClean="0">
                    <a:latin typeface="Verdana"/>
                  </a:rPr>
                </a:br>
                <a:r>
                  <a:rPr lang="en-US" sz="2400" dirty="0" smtClean="0">
                    <a:latin typeface="Verdana"/>
                  </a:rPr>
                  <a:t>local </a:t>
                </a:r>
                <a:r>
                  <a:rPr lang="en-US" sz="2400" dirty="0">
                    <a:latin typeface="Verdana"/>
                  </a:rPr>
                  <a:t>summer </a:t>
                </a:r>
                <a:r>
                  <a:rPr lang="en-US" sz="2400" dirty="0" smtClean="0">
                    <a:latin typeface="Verdana"/>
                  </a:rPr>
                  <a:t>camp </a:t>
                </a:r>
                <a:r>
                  <a:rPr lang="en-US" sz="2400" dirty="0">
                    <a:latin typeface="Verdana"/>
                  </a:rPr>
                  <a:t>has increased from </a:t>
                </a:r>
                <a:br>
                  <a:rPr lang="en-US" sz="2400" dirty="0">
                    <a:latin typeface="Verdana"/>
                  </a:rPr>
                </a:br>
                <a14:m>
                  <m:oMath xmlns:m="http://schemas.openxmlformats.org/officeDocument/2006/math">
                    <m:r>
                      <a:rPr lang="en-US" sz="2400" i="1">
                        <a:latin typeface="Cambria Math"/>
                      </a:rPr>
                      <m:t>1,938</m:t>
                    </m:r>
                  </m:oMath>
                </a14:m>
                <a:r>
                  <a:rPr lang="en-US" sz="2400" dirty="0">
                    <a:latin typeface="Verdana"/>
                  </a:rPr>
                  <a:t> to </a:t>
                </a:r>
                <a14:m>
                  <m:oMath xmlns:m="http://schemas.openxmlformats.org/officeDocument/2006/math">
                    <m:r>
                      <a:rPr lang="en-US" sz="2400" i="1">
                        <a:latin typeface="Cambria Math"/>
                      </a:rPr>
                      <m:t>2,128</m:t>
                    </m:r>
                  </m:oMath>
                </a14:m>
                <a:r>
                  <a:rPr lang="en-US" sz="2400" dirty="0">
                    <a:latin typeface="Verdana"/>
                  </a:rPr>
                  <a:t>. The camp </a:t>
                </a:r>
                <a:r>
                  <a:rPr lang="en-US" sz="2400" dirty="0" smtClean="0">
                    <a:latin typeface="Verdana"/>
                  </a:rPr>
                  <a:t>director </a:t>
                </a:r>
                <a:br>
                  <a:rPr lang="en-US" sz="2400" dirty="0" smtClean="0">
                    <a:latin typeface="Verdana"/>
                  </a:rPr>
                </a:br>
                <a:r>
                  <a:rPr lang="en-US" sz="2400" dirty="0" smtClean="0">
                    <a:latin typeface="Verdana"/>
                  </a:rPr>
                  <a:t>calculates </a:t>
                </a:r>
                <a:r>
                  <a:rPr lang="en-US" sz="2400" dirty="0">
                    <a:latin typeface="Verdana"/>
                  </a:rPr>
                  <a:t>the </a:t>
                </a:r>
                <a:r>
                  <a:rPr lang="en-US" sz="2400" dirty="0" smtClean="0">
                    <a:latin typeface="Verdana"/>
                  </a:rPr>
                  <a:t>percent </a:t>
                </a:r>
                <a:r>
                  <a:rPr lang="en-US" sz="2400" dirty="0">
                    <a:latin typeface="Verdana"/>
                  </a:rPr>
                  <a:t>of increase for an </a:t>
                </a:r>
                <a:r>
                  <a:rPr lang="en-US" sz="2400" dirty="0" smtClean="0">
                    <a:latin typeface="Verdana"/>
                  </a:rPr>
                  <a:t/>
                </a:r>
                <a:br>
                  <a:rPr lang="en-US" sz="2400" dirty="0" smtClean="0">
                    <a:latin typeface="Verdana"/>
                  </a:rPr>
                </a:br>
                <a:r>
                  <a:rPr lang="en-US" sz="2400" dirty="0" smtClean="0">
                    <a:latin typeface="Verdana"/>
                  </a:rPr>
                  <a:t>upcoming </a:t>
                </a:r>
                <a:r>
                  <a:rPr lang="en-US" sz="2400" dirty="0">
                    <a:latin typeface="Verdana"/>
                  </a:rPr>
                  <a:t>presentation. Her work is shown.</a:t>
                </a:r>
              </a:p>
              <a:p>
                <a:pPr marL="457200" indent="-457200">
                  <a:buFont typeface="+mj-lt"/>
                  <a:buAutoNum type="arabicPeriod"/>
                </a:pPr>
                <a:endParaRPr lang="en-US" sz="2400" dirty="0">
                  <a:latin typeface="Verdana" panose="020B0604030504040204" pitchFamily="34" charset="0"/>
                  <a:ea typeface="Verdana" panose="020B0604030504040204" pitchFamily="34" charset="0"/>
                </a:endParaRPr>
              </a:p>
              <a:p>
                <a:pPr marL="457200"/>
                <a:r>
                  <a:rPr lang="en-US" sz="2400" dirty="0">
                    <a:latin typeface="Verdana"/>
                    <a:ea typeface="Times New Roman"/>
                    <a:cs typeface="Times New Roman"/>
                  </a:rPr>
                  <a:t>Explain the camp director’s mistake.</a:t>
                </a:r>
                <a:endParaRPr lang="en-PH" sz="1600" dirty="0">
                  <a:latin typeface="Cambria"/>
                  <a:ea typeface="Times New Roman"/>
                  <a:cs typeface="Times New Roman"/>
                </a:endParaRPr>
              </a:p>
            </p:txBody>
          </p:sp>
        </mc:Choice>
        <mc:Fallback>
          <p:sp>
            <p:nvSpPr>
              <p:cNvPr id="12" name="TextBox 11">
                <a:extLst>
                  <a:ext uri="{FF2B5EF4-FFF2-40B4-BE49-F238E27FC236}">
                    <a16:creationId xmlns:a16="http://schemas.microsoft.com/office/drawing/2014/main" xmlns:a14="http://schemas.microsoft.com/office/drawing/2010/main" xmlns="" id="{0370EDB7-6994-3D43-ABF9-E04CBAFB9CD9}"/>
                  </a:ext>
                </a:extLst>
              </p:cNvPr>
              <p:cNvSpPr txBox="1">
                <a:spLocks noRot="1" noChangeAspect="1" noMove="1" noResize="1" noEditPoints="1" noAdjustHandles="1" noChangeArrowheads="1" noChangeShapeType="1" noTextEdit="1"/>
              </p:cNvSpPr>
              <p:nvPr/>
            </p:nvSpPr>
            <p:spPr>
              <a:xfrm>
                <a:off x="536154" y="1386025"/>
                <a:ext cx="10800000" cy="2677656"/>
              </a:xfrm>
              <a:prstGeom prst="rect">
                <a:avLst/>
              </a:prstGeom>
              <a:blipFill rotWithShape="1">
                <a:blip r:embed="rId5"/>
                <a:stretch>
                  <a:fillRect l="-903" t="-1818" b="-3864"/>
                </a:stretch>
              </a:blipFill>
            </p:spPr>
            <p:txBody>
              <a:bodyPr/>
              <a:lstStyle/>
              <a:p>
                <a:r>
                  <a:rPr lang="en-PH">
                    <a:noFill/>
                  </a:rPr>
                  <a:t> </a:t>
                </a:r>
              </a:p>
            </p:txBody>
          </p:sp>
        </mc:Fallback>
      </mc:AlternateContent>
      <p:sp>
        <p:nvSpPr>
          <p:cNvPr id="8" name="Google Shape;278;g104476d1465_1_17">
            <a:extLst>
              <a:ext uri="{FF2B5EF4-FFF2-40B4-BE49-F238E27FC236}">
                <a16:creationId xmlns:a16="http://schemas.microsoft.com/office/drawing/2014/main" xmlns="" id="{C9825640-5649-F74D-866E-EC8F188D5640}"/>
              </a:ext>
            </a:extLst>
          </p:cNvPr>
          <p:cNvSpPr/>
          <p:nvPr/>
        </p:nvSpPr>
        <p:spPr>
          <a:xfrm>
            <a:off x="0" y="-8225"/>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mc:AlternateContent xmlns:mc="http://schemas.openxmlformats.org/markup-compatibility/2006">
        <mc:Choice xmlns:a14="http://schemas.microsoft.com/office/drawing/2010/main" Requires="a14">
          <p:sp>
            <p:nvSpPr>
              <p:cNvPr id="13" name="Snip and Round Single Corner Rectangle 12"/>
              <p:cNvSpPr/>
              <p:nvPr/>
            </p:nvSpPr>
            <p:spPr>
              <a:xfrm>
                <a:off x="8084954" y="1508549"/>
                <a:ext cx="3251200" cy="1537970"/>
              </a:xfrm>
              <a:prstGeom prst="snipRoundRect">
                <a:avLst/>
              </a:prstGeom>
              <a:solidFill>
                <a:sysClr val="window" lastClr="FFFFFF"/>
              </a:solidFill>
              <a:ln w="57150" cap="flat" cmpd="sng" algn="ctr">
                <a:solidFill>
                  <a:srgbClr val="8064A2"/>
                </a:solidFill>
                <a:prstDash val="solid"/>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algn="ctr">
                  <a:spcAft>
                    <a:spcPts val="1000"/>
                  </a:spcAft>
                  <a:buClrTx/>
                  <a:defRPr/>
                </a:pPr>
                <a:r>
                  <a:rPr lang="en-US" sz="2000" dirty="0">
                    <a:solidFill>
                      <a:sysClr val="windowText" lastClr="000000"/>
                    </a:solidFill>
                    <a:latin typeface="Kristen ITC"/>
                    <a:ea typeface="Times New Roman"/>
                    <a:cs typeface="Times New Roman"/>
                  </a:rPr>
                  <a:t>2,128 </a:t>
                </a:r>
                <a14:m>
                  <m:oMath xmlns:m="http://schemas.openxmlformats.org/officeDocument/2006/math">
                    <m:r>
                      <a:rPr lang="en-US" sz="2000" i="1">
                        <a:solidFill>
                          <a:sysClr val="windowText" lastClr="000000"/>
                        </a:solidFill>
                        <a:latin typeface="Cambria Math"/>
                        <a:ea typeface="Times New Roman"/>
                        <a:cs typeface="Times New Roman"/>
                      </a:rPr>
                      <m:t>–</m:t>
                    </m:r>
                  </m:oMath>
                </a14:m>
                <a:r>
                  <a:rPr lang="en-US" sz="2000" dirty="0">
                    <a:solidFill>
                      <a:sysClr val="windowText" lastClr="000000"/>
                    </a:solidFill>
                    <a:latin typeface="Kristen ITC"/>
                    <a:ea typeface="Times New Roman"/>
                    <a:cs typeface="Times New Roman"/>
                  </a:rPr>
                  <a:t> 1,938 = 190</a:t>
                </a:r>
                <a:endParaRPr lang="en-PH" sz="2000" dirty="0">
                  <a:solidFill>
                    <a:sysClr val="windowText" lastClr="000000"/>
                  </a:solidFill>
                  <a:latin typeface="Cambria"/>
                  <a:ea typeface="Times New Roman"/>
                  <a:cs typeface="Times New Roman"/>
                </a:endParaRPr>
              </a:p>
              <a:p>
                <a:pPr algn="ctr">
                  <a:spcAft>
                    <a:spcPts val="1000"/>
                  </a:spcAft>
                  <a:buClrTx/>
                  <a:defRPr/>
                </a:pPr>
                <a:r>
                  <a:rPr lang="en-US" sz="2000" dirty="0">
                    <a:solidFill>
                      <a:sysClr val="windowText" lastClr="000000"/>
                    </a:solidFill>
                    <a:latin typeface="Kristen ITC"/>
                    <a:ea typeface="Times New Roman"/>
                    <a:cs typeface="Times New Roman"/>
                  </a:rPr>
                  <a:t>190 </a:t>
                </a:r>
                <a14:m>
                  <m:oMath xmlns:m="http://schemas.openxmlformats.org/officeDocument/2006/math">
                    <m:r>
                      <a:rPr lang="en-US" sz="2000" i="1">
                        <a:solidFill>
                          <a:sysClr val="windowText" lastClr="000000"/>
                        </a:solidFill>
                        <a:latin typeface="Cambria Math"/>
                        <a:ea typeface="Times New Roman"/>
                        <a:cs typeface="Times New Roman"/>
                      </a:rPr>
                      <m:t>÷</m:t>
                    </m:r>
                  </m:oMath>
                </a14:m>
                <a:r>
                  <a:rPr lang="en-US" sz="2000" dirty="0">
                    <a:solidFill>
                      <a:sysClr val="windowText" lastClr="000000"/>
                    </a:solidFill>
                    <a:latin typeface="Kristen ITC"/>
                    <a:ea typeface="Times New Roman"/>
                    <a:cs typeface="Times New Roman"/>
                  </a:rPr>
                  <a:t>  2,128 = 0.089</a:t>
                </a:r>
                <a:endParaRPr lang="en-PH" sz="2000" dirty="0">
                  <a:solidFill>
                    <a:sysClr val="windowText" lastClr="000000"/>
                  </a:solidFill>
                  <a:latin typeface="Cambria"/>
                  <a:ea typeface="Times New Roman"/>
                  <a:cs typeface="Times New Roman"/>
                </a:endParaRPr>
              </a:p>
              <a:p>
                <a:pPr algn="ctr">
                  <a:spcAft>
                    <a:spcPts val="1000"/>
                  </a:spcAft>
                  <a:buClrTx/>
                  <a:defRPr/>
                </a:pPr>
                <a:r>
                  <a:rPr lang="en-US" sz="2000" dirty="0">
                    <a:solidFill>
                      <a:sysClr val="windowText" lastClr="000000"/>
                    </a:solidFill>
                    <a:latin typeface="Kristen ITC"/>
                    <a:ea typeface="Times New Roman"/>
                    <a:cs typeface="Times New Roman"/>
                  </a:rPr>
                  <a:t>0.089 = 8.9%</a:t>
                </a:r>
                <a:endParaRPr lang="en-PH" sz="2000" dirty="0">
                  <a:solidFill>
                    <a:sysClr val="windowText" lastClr="000000"/>
                  </a:solidFill>
                  <a:latin typeface="Cambria"/>
                  <a:ea typeface="Times New Roman"/>
                  <a:cs typeface="Times New Roman"/>
                </a:endParaRPr>
              </a:p>
            </p:txBody>
          </p:sp>
        </mc:Choice>
        <mc:Fallback>
          <p:sp>
            <p:nvSpPr>
              <p:cNvPr id="13" name="Snip and Round Single Corner Rectangle 12"/>
              <p:cNvSpPr>
                <a:spLocks noRot="1" noChangeAspect="1" noMove="1" noResize="1" noEditPoints="1" noAdjustHandles="1" noChangeArrowheads="1" noChangeShapeType="1" noTextEdit="1"/>
              </p:cNvSpPr>
              <p:nvPr/>
            </p:nvSpPr>
            <p:spPr>
              <a:xfrm>
                <a:off x="8084954" y="1508549"/>
                <a:ext cx="3251200" cy="1537970"/>
              </a:xfrm>
              <a:prstGeom prst="snipRoundRect">
                <a:avLst/>
              </a:prstGeom>
              <a:blipFill rotWithShape="1">
                <a:blip r:embed="rId6"/>
                <a:stretch>
                  <a:fillRect/>
                </a:stretch>
              </a:blipFill>
              <a:ln w="57150" cap="flat" cmpd="sng" algn="ctr">
                <a:solidFill>
                  <a:srgbClr val="8064A2"/>
                </a:solidFill>
                <a:prstDash val="solid"/>
              </a:ln>
              <a:effectLst/>
            </p:spPr>
            <p:txBody>
              <a:bodyPr/>
              <a:lstStyle/>
              <a:p>
                <a:r>
                  <a:rPr lang="en-PH">
                    <a:noFill/>
                  </a:rPr>
                  <a:t> </a:t>
                </a:r>
              </a:p>
            </p:txBody>
          </p:sp>
        </mc:Fallback>
      </mc:AlternateContent>
      <p:sp>
        <p:nvSpPr>
          <p:cNvPr id="14" name="Google Shape;282;g104476d1465_1_17"/>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343</a:t>
            </a:r>
            <a:endParaRPr i="1" dirty="0">
              <a:latin typeface="Calibri"/>
              <a:ea typeface="Calibri"/>
              <a:cs typeface="Calibri"/>
              <a:sym typeface="Calibri"/>
            </a:endParaRPr>
          </a:p>
        </p:txBody>
      </p:sp>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1355</TotalTime>
  <Words>935</Words>
  <Application>Microsoft Office PowerPoint</Application>
  <PresentationFormat>Custom</PresentationFormat>
  <Paragraphs>199</Paragraphs>
  <Slides>25</Slides>
  <Notes>25</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25</vt:i4>
      </vt:variant>
    </vt:vector>
  </HeadingPairs>
  <TitlesOfParts>
    <vt:vector size="36" baseType="lpstr">
      <vt:lpstr>Arial</vt:lpstr>
      <vt:lpstr>Cambria</vt:lpstr>
      <vt:lpstr>Arial Black</vt:lpstr>
      <vt:lpstr>Verdana</vt:lpstr>
      <vt:lpstr>Calibri</vt:lpstr>
      <vt:lpstr>Kristen ITC</vt:lpstr>
      <vt:lpstr>Courier New</vt:lpstr>
      <vt:lpstr>Times New Roman</vt:lpstr>
      <vt:lpstr>Century Gothic</vt:lpstr>
      <vt:lpstr>Cambria Math</vt:lpstr>
      <vt:lpstr>1_Office Theme</vt:lpstr>
      <vt:lpstr>7th Grade Math  Unit 7, Lesson 9  Percent Increase and Decrease  Volume 1, pg. 337  </vt:lpstr>
      <vt:lpstr>Benchmark</vt:lpstr>
      <vt:lpstr>PowerPoint Presentation</vt:lpstr>
      <vt:lpstr>PowerPoint Presentation</vt:lpstr>
      <vt:lpstr>Warm-Up</vt:lpstr>
      <vt:lpstr>PowerPoint Presentation</vt:lpstr>
      <vt:lpstr>Guided Instruction</vt:lpstr>
      <vt:lpstr>PowerPoint Presentation</vt:lpstr>
      <vt:lpstr>PowerPoint Presentation</vt:lpstr>
      <vt:lpstr>PowerPoint Presentation</vt:lpstr>
      <vt:lpstr>PowerPoint Presentation</vt:lpstr>
      <vt:lpstr>Try It</vt:lpstr>
      <vt:lpstr>PowerPoint Presentation</vt:lpstr>
      <vt:lpstr>PowerPoint Presentation</vt:lpstr>
      <vt:lpstr>PowerPoint Presentation</vt:lpstr>
      <vt:lpstr>Collaboration</vt:lpstr>
      <vt:lpstr>PowerPoint Presentation</vt:lpstr>
      <vt:lpstr>PowerPoint Presentation</vt:lpstr>
      <vt:lpstr>PowerPoint Presentation</vt:lpstr>
      <vt:lpstr>PowerPoint Presentation</vt:lpstr>
      <vt:lpstr>PowerPoint Presentation</vt:lpstr>
      <vt:lpstr>Your Turn</vt:lpstr>
      <vt:lpstr>PowerPoint Presentation</vt:lpstr>
      <vt:lpstr>Wrap-Up</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Sensei</cp:lastModifiedBy>
  <cp:revision>34</cp:revision>
  <dcterms:created xsi:type="dcterms:W3CDTF">2015-03-17T18:51:18Z</dcterms:created>
  <dcterms:modified xsi:type="dcterms:W3CDTF">2022-06-10T23:05:27Z</dcterms:modified>
</cp:coreProperties>
</file>