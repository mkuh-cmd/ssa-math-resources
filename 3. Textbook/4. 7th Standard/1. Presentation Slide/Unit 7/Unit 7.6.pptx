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embeddedFontLst>
    <p:embeddedFont>
      <p:font typeface="Calibri" pitchFamily="34" charset="0"/>
      <p:regular r:id="rId31"/>
      <p:bold r:id="rId32"/>
      <p:italic r:id="rId33"/>
      <p:boldItalic r:id="rId34"/>
    </p:embeddedFont>
    <p:embeddedFont>
      <p:font typeface="Century Gothic" pitchFamily="34" charset="0"/>
      <p:regular r:id="rId35"/>
      <p:bold r:id="rId36"/>
      <p:italic r:id="rId37"/>
      <p:boldItalic r:id="rId38"/>
    </p:embeddedFont>
    <p:embeddedFont>
      <p:font typeface="Cambria Math" pitchFamily="18" charset="0"/>
      <p:regular r:id="rId39"/>
    </p:embeddedFont>
    <p:embeddedFont>
      <p:font typeface="Cambria" pitchFamily="18" charset="0"/>
      <p:regular r:id="rId40"/>
      <p:bold r:id="rId41"/>
      <p:italic r:id="rId42"/>
      <p:boldItalic r:id="rId43"/>
    </p:embeddedFont>
    <p:embeddedFont>
      <p:font typeface="Arial Black" pitchFamily="34" charset="0"/>
      <p:bold r:id="rId44"/>
    </p:embeddedFont>
    <p:embeddedFont>
      <p:font typeface="Verdana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4A5BC46-FBD7-424C-8B80-3E3F3D612F68}">
  <a:tblStyle styleId="{14A5BC46-FBD7-424C-8B80-3E3F3D612F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4C6BFDD-0EAB-4D22-8787-C9C6E1D2F5B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249" autoAdjust="0"/>
    <p:restoredTop sz="94660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923039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" name="Google Shape;29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" name="Google Shape;389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9" name="Google Shape;399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4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5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5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6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7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8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3800" b="1" i="0" u="none" strike="noStrike" cap="none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i="0" u="none" strike="noStrike" cap="none" baseline="30000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i="0" u="none" strike="noStrike" cap="none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i="0" u="none" strike="noStrike" cap="none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 i="0" u="none" strike="noStrike" cap="none" dirty="0" smtClean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rPr lang="en-US" sz="3800" b="1" i="0" u="none" strike="noStrike" cap="none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6</a:t>
            </a:r>
            <a:br>
              <a:rPr lang="en-US" sz="3800" b="1" i="0" u="none" strike="noStrike" cap="none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i="0" u="none" strike="noStrike" cap="none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i="0" u="none" strike="noStrike" cap="none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i="0" u="none" strike="noStrike" cap="none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Determining Tax, Tip, or Fees Given a Percentage </a:t>
            </a:r>
            <a:r>
              <a:rPr lang="en-US" sz="3800" b="1" i="0" u="none" strike="noStrike" cap="none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i="0" u="none" strike="noStrike" cap="none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i="0" u="none" strike="noStrike" cap="none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i="0" u="none" strike="noStrike" cap="none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i="0" u="none" strike="noStrike" cap="none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319</a:t>
            </a:r>
            <a:endParaRPr dirty="0" smtClean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endParaRPr sz="3400" b="1" i="0" u="none" strike="noStrike" cap="none" dirty="0" smtClean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 b="0" i="0" u="none" strike="noStrike" cap="none" dirty="0">
              <a:solidFill>
                <a:srgbClr val="417D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279;g104476d1465_1_17"/>
          <p:cNvSpPr txBox="1">
            <a:spLocks/>
          </p:cNvSpPr>
          <p:nvPr/>
        </p:nvSpPr>
        <p:spPr>
          <a:xfrm>
            <a:off x="1151917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1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4683" y="1600200"/>
            <a:ext cx="103267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latin typeface="Verdana"/>
                <a:ea typeface="Verdana"/>
                <a:cs typeface="Verdana"/>
              </a:rPr>
              <a:t>MA.7.AR.3.1</a:t>
            </a:r>
            <a:endParaRPr lang="en-US" sz="36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>
              <a:buNone/>
            </a:pPr>
            <a:r>
              <a:rPr lang="en-US" sz="3600" dirty="0">
                <a:latin typeface="Verdana"/>
                <a:ea typeface="Verdana"/>
                <a:cs typeface="Verdana"/>
              </a:rPr>
              <a:t>Apply previous understanding of percentages and ratios to solve </a:t>
            </a:r>
            <a:r>
              <a:rPr lang="en-US" sz="3600" dirty="0" smtClean="0">
                <a:latin typeface="Verdana"/>
                <a:ea typeface="Verdana"/>
                <a:cs typeface="Verdana"/>
              </a:rPr>
              <a:t/>
            </a:r>
            <a:br>
              <a:rPr lang="en-US" sz="3600" dirty="0" smtClean="0">
                <a:latin typeface="Verdana"/>
                <a:ea typeface="Verdana"/>
                <a:cs typeface="Verdana"/>
              </a:rPr>
            </a:br>
            <a:r>
              <a:rPr lang="en-US" sz="3600" dirty="0" smtClean="0">
                <a:latin typeface="Verdana"/>
                <a:ea typeface="Verdana"/>
                <a:cs typeface="Verdana"/>
              </a:rPr>
              <a:t>multi-step</a:t>
            </a:r>
            <a:r>
              <a:rPr lang="en-US" sz="3600" dirty="0">
                <a:latin typeface="Verdana"/>
                <a:ea typeface="Verdana"/>
                <a:cs typeface="Verdana"/>
              </a:rPr>
              <a:t>, real-world percent problems.</a:t>
            </a:r>
            <a:endParaRPr lang="en-US" sz="36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0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2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2089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lang="en-US" sz="3200" dirty="0"/>
          </a:p>
          <a:p>
            <a:pPr marL="457200" lvl="0"/>
            <a:endParaRPr lang="en-US" sz="3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lang="en-US" sz="3200" dirty="0"/>
          </a:p>
          <a:p>
            <a:pPr lvl="0"/>
            <a:endParaRPr lang="en-US" sz="3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4682" y="1600199"/>
            <a:ext cx="10800000" cy="303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5475" lvl="0" indent="-619125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determine the amount of tax, tip, or fee given a percentage.</a:t>
            </a:r>
            <a:endParaRPr lang="en-US" sz="3600" dirty="0"/>
          </a:p>
          <a:p>
            <a:pPr marL="625475" lvl="0" indent="-396875">
              <a:buClr>
                <a:srgbClr val="434343"/>
              </a:buClr>
              <a:buSzPts val="3500"/>
            </a:pPr>
            <a:endParaRPr lang="en-US" sz="3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25475" lvl="0" indent="-619125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determine the percentage of a discount or markup.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p23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70;p4"/>
          <p:cNvSpPr txBox="1"/>
          <p:nvPr/>
        </p:nvSpPr>
        <p:spPr>
          <a:xfrm>
            <a:off x="914400" y="1595576"/>
            <a:ext cx="10479741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 smtClean="0">
                <a:solidFill>
                  <a:srgbClr val="221E1F"/>
                </a:solidFill>
                <a:latin typeface="Verdana" pitchFamily="34" charset="0"/>
                <a:ea typeface="Verdana" pitchFamily="34" charset="0"/>
              </a:rPr>
              <a:t>The </a:t>
            </a:r>
            <a:r>
              <a:rPr lang="en-US" sz="2400" dirty="0">
                <a:solidFill>
                  <a:srgbClr val="221E1F"/>
                </a:solidFill>
                <a:latin typeface="Verdana" pitchFamily="34" charset="0"/>
                <a:ea typeface="Verdana" pitchFamily="34" charset="0"/>
              </a:rPr>
              <a:t>following sticker was </a:t>
            </a:r>
            <a:r>
              <a:rPr lang="en-US" sz="2400" dirty="0" smtClean="0">
                <a:solidFill>
                  <a:srgbClr val="221E1F"/>
                </a:solidFill>
                <a:latin typeface="Verdana" pitchFamily="34" charset="0"/>
                <a:ea typeface="Verdana" pitchFamily="34" charset="0"/>
              </a:rPr>
              <a:t>placed </a:t>
            </a:r>
            <a:r>
              <a:rPr lang="en-US" sz="2400" dirty="0">
                <a:solidFill>
                  <a:srgbClr val="221E1F"/>
                </a:solidFill>
                <a:latin typeface="Verdana" pitchFamily="34" charset="0"/>
                <a:ea typeface="Verdana" pitchFamily="34" charset="0"/>
              </a:rPr>
              <a:t>on an </a:t>
            </a:r>
            <a:r>
              <a:rPr lang="en-US" sz="2400" dirty="0" smtClean="0">
                <a:solidFill>
                  <a:srgbClr val="221E1F"/>
                </a:solidFill>
                <a:latin typeface="Verdana" pitchFamily="34" charset="0"/>
                <a:ea typeface="Verdana" pitchFamily="34" charset="0"/>
              </a:rPr>
              <a:t/>
            </a:r>
            <a:br>
              <a:rPr lang="en-US" sz="2400" dirty="0" smtClean="0">
                <a:solidFill>
                  <a:srgbClr val="221E1F"/>
                </a:solidFill>
                <a:latin typeface="Verdana" pitchFamily="34" charset="0"/>
                <a:ea typeface="Verdana" pitchFamily="34" charset="0"/>
              </a:rPr>
            </a:br>
            <a:r>
              <a:rPr lang="en-US" sz="2400" dirty="0" smtClean="0">
                <a:solidFill>
                  <a:srgbClr val="221E1F"/>
                </a:solidFill>
                <a:latin typeface="Verdana" pitchFamily="34" charset="0"/>
                <a:ea typeface="Verdana" pitchFamily="34" charset="0"/>
              </a:rPr>
              <a:t>item </a:t>
            </a:r>
            <a:r>
              <a:rPr lang="en-US" sz="2400" dirty="0">
                <a:solidFill>
                  <a:srgbClr val="221E1F"/>
                </a:solidFill>
                <a:latin typeface="Verdana" pitchFamily="34" charset="0"/>
                <a:ea typeface="Verdana" pitchFamily="34" charset="0"/>
              </a:rPr>
              <a:t>for sale</a:t>
            </a:r>
            <a:r>
              <a:rPr lang="en-US" sz="2400" dirty="0" smtClean="0">
                <a:solidFill>
                  <a:srgbClr val="221E1F"/>
                </a:solidFill>
                <a:latin typeface="Verdana" pitchFamily="34" charset="0"/>
                <a:ea typeface="Verdana" pitchFamily="34" charset="0"/>
              </a:rPr>
              <a:t>.</a:t>
            </a:r>
          </a:p>
          <a:p>
            <a:endParaRPr lang="en-US" sz="2400" dirty="0">
              <a:solidFill>
                <a:srgbClr val="221E1F"/>
              </a:solidFill>
              <a:latin typeface="Verdana" pitchFamily="34" charset="0"/>
              <a:ea typeface="Verdana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rgbClr val="221E1F"/>
                </a:solidFill>
                <a:latin typeface="Verdana" pitchFamily="34" charset="0"/>
                <a:ea typeface="Verdana" pitchFamily="34" charset="0"/>
              </a:rPr>
              <a:t>Describe </a:t>
            </a:r>
            <a:r>
              <a:rPr lang="en-US" sz="2400" dirty="0">
                <a:solidFill>
                  <a:srgbClr val="221E1F"/>
                </a:solidFill>
                <a:latin typeface="Verdana" pitchFamily="34" charset="0"/>
                <a:ea typeface="Verdana" pitchFamily="34" charset="0"/>
              </a:rPr>
              <a:t>any error(s) on </a:t>
            </a:r>
            <a:r>
              <a:rPr lang="en-US" sz="2400" dirty="0" smtClean="0">
                <a:solidFill>
                  <a:srgbClr val="221E1F"/>
                </a:solidFill>
                <a:latin typeface="Verdana" pitchFamily="34" charset="0"/>
                <a:ea typeface="Verdana" pitchFamily="34" charset="0"/>
              </a:rPr>
              <a:t>the sticker.</a:t>
            </a:r>
          </a:p>
          <a:p>
            <a:pPr marL="457200" indent="-457200">
              <a:buFont typeface="+mj-lt"/>
              <a:buAutoNum type="arabicPeriod"/>
            </a:pPr>
            <a:endParaRPr lang="en-PH" sz="2400" dirty="0">
              <a:solidFill>
                <a:srgbClr val="221E1F"/>
              </a:solidFill>
              <a:latin typeface="Verdana" pitchFamily="34" charset="0"/>
              <a:ea typeface="Verdana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 smtClean="0">
              <a:solidFill>
                <a:srgbClr val="221E1F"/>
              </a:solidFill>
              <a:latin typeface="Verdana" pitchFamily="34" charset="0"/>
              <a:ea typeface="Verdana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Verdana" pitchFamily="34" charset="0"/>
                <a:ea typeface="Verdana" pitchFamily="34" charset="0"/>
              </a:rPr>
              <a:t>Correct 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the sticker so that </a:t>
            </a:r>
            <a:r>
              <a:rPr lang="en-US" sz="2400" dirty="0" smtClean="0">
                <a:latin typeface="Verdana" pitchFamily="34" charset="0"/>
                <a:ea typeface="Verdana" pitchFamily="34" charset="0"/>
              </a:rPr>
              <a:t>it 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accurately </a:t>
            </a:r>
            <a:r>
              <a:rPr lang="en-US" sz="2400" dirty="0" smtClean="0">
                <a:latin typeface="Verdana" pitchFamily="34" charset="0"/>
                <a:ea typeface="Verdana" pitchFamily="34" charset="0"/>
              </a:rPr>
              <a:t/>
            </a:r>
            <a:br>
              <a:rPr lang="en-US" sz="2400" dirty="0" smtClean="0">
                <a:latin typeface="Verdana" pitchFamily="34" charset="0"/>
                <a:ea typeface="Verdana" pitchFamily="34" charset="0"/>
              </a:rPr>
            </a:br>
            <a:r>
              <a:rPr lang="en-US" sz="2400" dirty="0" smtClean="0">
                <a:latin typeface="Verdana" pitchFamily="34" charset="0"/>
                <a:ea typeface="Verdana" pitchFamily="34" charset="0"/>
              </a:rPr>
              <a:t>reflects 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400" dirty="0" smtClean="0">
                <a:latin typeface="Verdana" pitchFamily="34" charset="0"/>
                <a:ea typeface="Verdana" pitchFamily="34" charset="0"/>
              </a:rPr>
              <a:t>“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1/2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 </a:t>
            </a:r>
            <a:r>
              <a:rPr lang="en-US" sz="2400" dirty="0" smtClean="0">
                <a:latin typeface="Verdana" pitchFamily="34" charset="0"/>
                <a:ea typeface="Verdana" pitchFamily="34" charset="0"/>
              </a:rPr>
              <a:t>Price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” advertised in </a:t>
            </a:r>
            <a:r>
              <a:rPr lang="en-US" sz="2400" dirty="0" smtClean="0">
                <a:latin typeface="Verdana" pitchFamily="34" charset="0"/>
                <a:ea typeface="Verdana" pitchFamily="34" charset="0"/>
              </a:rPr>
              <a:t/>
            </a:r>
            <a:br>
              <a:rPr lang="en-US" sz="2400" dirty="0" smtClean="0">
                <a:latin typeface="Verdana" pitchFamily="34" charset="0"/>
                <a:ea typeface="Verdana" pitchFamily="34" charset="0"/>
              </a:rPr>
            </a:br>
            <a:r>
              <a:rPr lang="en-US" sz="2400" dirty="0" smtClean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first line</a:t>
            </a:r>
            <a:r>
              <a:rPr lang="en-US" sz="2400" dirty="0" smtClean="0">
                <a:latin typeface="Verdana" pitchFamily="34" charset="0"/>
                <a:ea typeface="Verdana" pitchFamily="34" charset="0"/>
              </a:rPr>
              <a:t>.</a:t>
            </a:r>
            <a:endParaRPr lang="en-US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4" descr="Text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531" r="4582" b="8452"/>
          <a:stretch/>
        </p:blipFill>
        <p:spPr>
          <a:xfrm>
            <a:off x="7993715" y="1650952"/>
            <a:ext cx="3400426" cy="36830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67;p4"/>
          <p:cNvSpPr txBox="1"/>
          <p:nvPr/>
        </p:nvSpPr>
        <p:spPr>
          <a:xfrm>
            <a:off x="1143000" y="431412"/>
            <a:ext cx="105156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7.6.1 Warm-Up: Math Fail </a:t>
            </a:r>
            <a:endParaRPr lang="en-US" sz="3600" dirty="0"/>
          </a:p>
        </p:txBody>
      </p:sp>
      <p:pic>
        <p:nvPicPr>
          <p:cNvPr id="10" name="Google Shape;16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35320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2" name="Google Shape;156;g104476d1465_1_3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320;p19"/>
          <p:cNvSpPr txBox="1"/>
          <p:nvPr/>
        </p:nvSpPr>
        <p:spPr>
          <a:xfrm>
            <a:off x="914400" y="1330237"/>
            <a:ext cx="9858375" cy="483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Recall that discount and markup problems typically include </a:t>
            </a:r>
            <a:br>
              <a:rPr lang="en-US" sz="2000" dirty="0" smtClean="0">
                <a:solidFill>
                  <a:srgbClr val="221E1F"/>
                </a:solidFill>
                <a:latin typeface="Verdana"/>
              </a:rPr>
            </a:b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given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percentages. </a:t>
            </a:r>
            <a:endParaRPr lang="en-US" sz="2000" dirty="0">
              <a:latin typeface="Verdana"/>
            </a:endParaRPr>
          </a:p>
          <a:p>
            <a:endParaRPr lang="en-PH" sz="2000" dirty="0" smtClean="0">
              <a:latin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The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tape diagram shows the original cost of a shirt,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$30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solidFill>
                <a:srgbClr val="221E1F"/>
              </a:solidFill>
              <a:latin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 smtClean="0">
              <a:solidFill>
                <a:srgbClr val="221E1F"/>
              </a:solidFill>
              <a:latin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solidFill>
                <a:srgbClr val="221E1F"/>
              </a:solidFill>
              <a:latin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 smtClean="0">
              <a:solidFill>
                <a:srgbClr val="221E1F"/>
              </a:solidFill>
              <a:latin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 smtClean="0">
              <a:solidFill>
                <a:srgbClr val="221E1F"/>
              </a:solidFill>
              <a:latin typeface="Verdana"/>
            </a:endParaRPr>
          </a:p>
          <a:p>
            <a:endParaRPr lang="en-US" sz="2400" dirty="0">
              <a:latin typeface="Verdana"/>
            </a:endParaRPr>
          </a:p>
          <a:p>
            <a:pPr marL="457200"/>
            <a:r>
              <a:rPr lang="en-US" sz="2000" dirty="0">
                <a:solidFill>
                  <a:srgbClr val="221E1F"/>
                </a:solidFill>
                <a:latin typeface="Verdana"/>
              </a:rPr>
              <a:t>A store manager wants to sell more of this shirt before the end of summer. The manager decides to put the shirt on sale for </a:t>
            </a:r>
            <a:r>
              <a:rPr lang="en-US" sz="2000" dirty="0" smtClean="0">
                <a:solidFill>
                  <a:srgbClr val="221E1F"/>
                </a:solidFill>
                <a:latin typeface="Cambria Math"/>
              </a:rPr>
              <a:t>1/3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off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the original price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.</a:t>
            </a:r>
          </a:p>
          <a:p>
            <a:endParaRPr lang="en-US" sz="2400" dirty="0">
              <a:latin typeface="Verdana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solidFill>
                  <a:srgbClr val="221E1F"/>
                </a:solidFill>
                <a:latin typeface="Verdana"/>
              </a:rPr>
              <a:t>Will customers pay more or less than the original price for the shirt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?</a:t>
            </a:r>
            <a:endParaRPr lang="en-US" sz="2000" dirty="0">
              <a:latin typeface="Verdana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82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26"/>
          <p:cNvGrpSpPr/>
          <p:nvPr/>
        </p:nvGrpSpPr>
        <p:grpSpPr>
          <a:xfrm>
            <a:off x="3514154" y="2758899"/>
            <a:ext cx="3743326" cy="1560451"/>
            <a:chOff x="2700337" y="2851529"/>
            <a:chExt cx="3743326" cy="1560451"/>
          </a:xfrm>
        </p:grpSpPr>
        <p:grpSp>
          <p:nvGrpSpPr>
            <p:cNvPr id="193" name="Google Shape;193;p26"/>
            <p:cNvGrpSpPr/>
            <p:nvPr/>
          </p:nvGrpSpPr>
          <p:grpSpPr>
            <a:xfrm>
              <a:off x="2700338" y="2851529"/>
              <a:ext cx="3743325" cy="779145"/>
              <a:chOff x="-18740" y="0"/>
              <a:chExt cx="3682235" cy="779263"/>
            </a:xfrm>
          </p:grpSpPr>
          <p:sp>
            <p:nvSpPr>
              <p:cNvPr id="194" name="Google Shape;194;p26"/>
              <p:cNvSpPr/>
              <p:nvPr/>
            </p:nvSpPr>
            <p:spPr>
              <a:xfrm rot="-5400000">
                <a:off x="1641085" y="-1243148"/>
                <a:ext cx="362586" cy="3682235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  <p:sp>
            <p:nvSpPr>
              <p:cNvPr id="195" name="Google Shape;195;p26"/>
              <p:cNvSpPr txBox="1"/>
              <p:nvPr/>
            </p:nvSpPr>
            <p:spPr>
              <a:xfrm>
                <a:off x="895905" y="0"/>
                <a:ext cx="2104799" cy="400171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l="-2840" t="-7691" r="-4544" b="-27691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/>
              </a:p>
            </p:txBody>
          </p:sp>
        </p:grpSp>
        <p:sp>
          <p:nvSpPr>
            <p:cNvPr id="196" name="Google Shape;196;p26"/>
            <p:cNvSpPr/>
            <p:nvPr/>
          </p:nvSpPr>
          <p:spPr>
            <a:xfrm>
              <a:off x="2700337" y="3740515"/>
              <a:ext cx="3740400" cy="671465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317;p19"/>
          <p:cNvSpPr txBox="1"/>
          <p:nvPr/>
        </p:nvSpPr>
        <p:spPr>
          <a:xfrm>
            <a:off x="1143000" y="30073"/>
            <a:ext cx="105156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7.6.2 Guided Instruction: Finding the Percentage of a Discount or Markup </a:t>
            </a:r>
            <a:endParaRPr lang="en-US" sz="3600" dirty="0"/>
          </a:p>
        </p:txBody>
      </p:sp>
      <p:pic>
        <p:nvPicPr>
          <p:cNvPr id="14" name="Google Shape;31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6" name="Google Shape;156;g104476d1465_1_3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79;p5"/>
          <p:cNvSpPr txBox="1"/>
          <p:nvPr/>
        </p:nvSpPr>
        <p:spPr>
          <a:xfrm>
            <a:off x="914400" y="487736"/>
            <a:ext cx="10515600" cy="600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The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tape diagram is divided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/>
            </a:r>
            <a:br>
              <a:rPr lang="en-US" sz="2000" dirty="0" smtClean="0">
                <a:solidFill>
                  <a:srgbClr val="221E1F"/>
                </a:solidFill>
                <a:latin typeface="Verdana"/>
              </a:rPr>
            </a:b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into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thirds. </a:t>
            </a:r>
            <a:endParaRPr lang="en-US" sz="2000" dirty="0">
              <a:latin typeface="Verdana"/>
            </a:endParaRPr>
          </a:p>
          <a:p>
            <a:endParaRPr lang="en-US" sz="2400" dirty="0"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solidFill>
                  <a:srgbClr val="221E1F"/>
                </a:solidFill>
                <a:latin typeface="Verdana"/>
              </a:rPr>
              <a:t>What is the price of the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/>
            </a:r>
            <a:br>
              <a:rPr lang="en-US" sz="2000" dirty="0" smtClean="0">
                <a:solidFill>
                  <a:srgbClr val="221E1F"/>
                </a:solidFill>
                <a:latin typeface="Verdana"/>
              </a:rPr>
            </a:b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shirt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after the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discount?</a:t>
            </a: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solidFill>
                <a:srgbClr val="221E1F"/>
              </a:solidFill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 smtClean="0">
              <a:solidFill>
                <a:srgbClr val="221E1F"/>
              </a:solidFill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How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much will customers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/>
            </a:r>
            <a:br>
              <a:rPr lang="en-US" sz="2000" dirty="0" smtClean="0">
                <a:solidFill>
                  <a:srgbClr val="221E1F"/>
                </a:solidFill>
                <a:latin typeface="Verdana"/>
              </a:rPr>
            </a:b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save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from the original price? </a:t>
            </a:r>
            <a:endParaRPr lang="en-US" sz="2000" dirty="0" smtClean="0">
              <a:solidFill>
                <a:srgbClr val="221E1F"/>
              </a:solidFill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solidFill>
                <a:srgbClr val="221E1F"/>
              </a:solidFill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 smtClean="0">
              <a:solidFill>
                <a:srgbClr val="221E1F"/>
              </a:solidFill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Discuss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with your partner how to calculate the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/>
            </a:r>
            <a:br>
              <a:rPr lang="en-US" sz="2000" dirty="0" smtClean="0">
                <a:solidFill>
                  <a:srgbClr val="221E1F"/>
                </a:solidFill>
                <a:latin typeface="Verdana"/>
              </a:rPr>
            </a:b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percentage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discounted if given the original price of the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/>
            </a:r>
            <a:br>
              <a:rPr lang="en-US" sz="2000" dirty="0" smtClean="0">
                <a:solidFill>
                  <a:srgbClr val="221E1F"/>
                </a:solidFill>
                <a:latin typeface="Verdana"/>
              </a:rPr>
            </a:b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shirt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and the sale price of the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shirt.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solidFill>
                <a:srgbClr val="221E1F"/>
              </a:solidFill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 smtClean="0">
              <a:solidFill>
                <a:srgbClr val="221E1F"/>
              </a:solidFill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If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the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$30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shirt was discounted to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$18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, what percentage of the shirt was discounted? </a:t>
            </a:r>
            <a:endParaRPr lang="en-US" sz="2000" dirty="0"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27"/>
          <p:cNvGrpSpPr/>
          <p:nvPr/>
        </p:nvGrpSpPr>
        <p:grpSpPr>
          <a:xfrm>
            <a:off x="5876075" y="517336"/>
            <a:ext cx="3775761" cy="2241463"/>
            <a:chOff x="2076132" y="1132840"/>
            <a:chExt cx="3775761" cy="2241463"/>
          </a:xfrm>
        </p:grpSpPr>
        <p:grpSp>
          <p:nvGrpSpPr>
            <p:cNvPr id="207" name="Google Shape;207;p27"/>
            <p:cNvGrpSpPr/>
            <p:nvPr/>
          </p:nvGrpSpPr>
          <p:grpSpPr>
            <a:xfrm>
              <a:off x="2076132" y="1132840"/>
              <a:ext cx="3775761" cy="2241463"/>
              <a:chOff x="1" y="142875"/>
              <a:chExt cx="3776102" cy="2241469"/>
            </a:xfrm>
          </p:grpSpPr>
          <p:sp>
            <p:nvSpPr>
              <p:cNvPr id="208" name="Google Shape;208;p27"/>
              <p:cNvSpPr/>
              <p:nvPr/>
            </p:nvSpPr>
            <p:spPr>
              <a:xfrm rot="-5400000">
                <a:off x="1659825" y="-1145177"/>
                <a:ext cx="362586" cy="3682235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09" name="Google Shape;209;p27"/>
              <p:cNvSpPr/>
              <p:nvPr/>
            </p:nvSpPr>
            <p:spPr>
              <a:xfrm rot="5400000">
                <a:off x="2911682" y="1215663"/>
                <a:ext cx="362587" cy="1167951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10" name="Google Shape;210;p27"/>
              <p:cNvSpPr txBox="1"/>
              <p:nvPr/>
            </p:nvSpPr>
            <p:spPr>
              <a:xfrm>
                <a:off x="2409848" y="1980933"/>
                <a:ext cx="1366255" cy="40341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discount</a:t>
                </a:r>
                <a:endParaRPr sz="1400" b="0" i="0" u="none" strike="noStrike" cap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11" name="Google Shape;211;p27"/>
              <p:cNvSpPr txBox="1"/>
              <p:nvPr/>
            </p:nvSpPr>
            <p:spPr>
              <a:xfrm>
                <a:off x="734424" y="142875"/>
                <a:ext cx="2213385" cy="403225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l="-2754" t="-7574" r="-1376" b="-25755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/>
              </a:p>
            </p:txBody>
          </p:sp>
        </p:grpSp>
        <p:pic>
          <p:nvPicPr>
            <p:cNvPr id="212" name="Google Shape;212;p2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76132" y="1930125"/>
              <a:ext cx="3743325" cy="609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Google Shape;156;g104476d1465_1_3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3" name="Google Shape;223;p28"/>
              <p:cNvGraphicFramePr/>
              <p:nvPr>
                <p:extLst>
                  <p:ext uri="{D42A27DB-BD31-4B8C-83A1-F6EECF244321}">
                    <p14:modId xmlns:p14="http://schemas.microsoft.com/office/powerpoint/2010/main" val="2264499289"/>
                  </p:ext>
                </p:extLst>
              </p:nvPr>
            </p:nvGraphicFramePr>
            <p:xfrm>
              <a:off x="1846988" y="2213650"/>
              <a:ext cx="8265795" cy="3108960"/>
            </p:xfrm>
            <a:graphic>
              <a:graphicData uri="http://schemas.openxmlformats.org/drawingml/2006/table">
                <a:tbl>
                  <a:tblPr>
                    <a:noFill/>
                    <a:tableStyleId>{14A5BC46-FBD7-424C-8B80-3E3F3D612F68}</a:tableStyleId>
                  </a:tblPr>
                  <a:tblGrid>
                    <a:gridCol w="4389120"/>
                    <a:gridCol w="3876675"/>
                  </a:tblGrid>
                  <a:tr h="45720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Method 1</a:t>
                          </a:r>
                          <a:endParaRPr sz="2000" b="1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Method 2</a:t>
                          </a:r>
                          <a:endParaRPr sz="2000" b="1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</a:tr>
                  <a:tr h="265176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$24.95=(1+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i="0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Markup</m:t>
                                </m:r>
                                <m:r>
                                  <a:rPr lang="en-US" sz="2000" i="0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i="0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rate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)</m:t>
                                </m:r>
                                <m:r>
                                  <a:rPr lang="en-US" sz="2000" i="1" dirty="0">
                                    <a:latin typeface="Cambria Math"/>
                                    <a:ea typeface="Century Gothic"/>
                                    <a:cs typeface="Century Gothic"/>
                                    <a:sym typeface="Century Gothic"/>
                                  </a:rPr>
                                  <m:t>× </m:t>
                                </m:r>
                                <m:r>
                                  <a:rPr lang="en-US" sz="2000" i="1" dirty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$13.20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ar-AE" sz="2000" i="1" dirty="0" smtClean="0"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ar-AE" sz="2000" i="1" dirty="0" smtClean="0"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>24</m:t>
                                  </m:r>
                                  <m:r>
                                    <a:rPr lang="ar-AE" sz="2000" i="1" dirty="0" smtClean="0"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>.</m:t>
                                  </m:r>
                                  <m:r>
                                    <a:rPr lang="ar-AE" sz="2000" i="1" dirty="0" smtClean="0"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>95</m:t>
                                  </m:r>
                                </m:num>
                                <m:den>
                                  <m:r>
                                    <a:rPr lang="ar-AE" sz="2000" i="1" dirty="0" smtClean="0"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>13</m:t>
                                  </m:r>
                                  <m:r>
                                    <a:rPr lang="ar-AE" sz="2000" i="1" dirty="0" smtClean="0"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>.</m:t>
                                  </m:r>
                                  <m:r>
                                    <a:rPr lang="ar-AE" sz="2000" i="1" dirty="0" smtClean="0"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>20</m:t>
                                  </m:r>
                                </m:den>
                              </m:f>
                              <m:r>
                                <a:rPr lang="ar-AE" sz="2000" b="0" i="1" dirty="0" smtClean="0"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>=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1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000" i="0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Markup</m:t>
                              </m:r>
                              <m:r>
                                <a:rPr lang="en-US" sz="2000" i="0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i="0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rate</m:t>
                              </m:r>
                            </m:oMath>
                          </a14:m>
                          <a:r>
                            <a:rPr lang="en-PH" sz="2000" dirty="0" smtClean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 </a:t>
                          </a:r>
                        </a:p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PH" sz="2000" b="0" i="1" dirty="0" smtClean="0"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>1</m:t>
                              </m:r>
                              <m:r>
                                <a:rPr lang="en-PH" sz="2000" b="0" i="1" dirty="0" smtClean="0"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>.</m:t>
                              </m:r>
                              <m:r>
                                <a:rPr lang="en-PH" sz="2000" b="0" i="1" dirty="0" smtClean="0"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>89</m:t>
                              </m:r>
                              <m:r>
                                <a:rPr lang="ar-AE" sz="2000" b="0" i="1" dirty="0" smtClean="0"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>=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1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000" i="0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Markup</m:t>
                              </m:r>
                              <m:r>
                                <a:rPr lang="en-US" sz="2000" i="0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i="0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rate</m:t>
                              </m:r>
                            </m:oMath>
                          </a14:m>
                          <a:r>
                            <a:rPr lang="en-PH" sz="2000" dirty="0" smtClean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PH" sz="2000" b="0" i="1" dirty="0" smtClean="0"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>1</m:t>
                              </m:r>
                              <m:r>
                                <a:rPr lang="en-PH" sz="2000" b="0" i="1" dirty="0" smtClean="0"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>.</m:t>
                              </m:r>
                              <m:r>
                                <a:rPr lang="en-PH" sz="2000" b="0" i="1" dirty="0" smtClean="0"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>89</m:t>
                              </m:r>
                              <m:r>
                                <a:rPr lang="en-PH" sz="2000" b="0" i="1" dirty="0" smtClean="0"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>−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1</m:t>
                              </m:r>
                              <m:r>
                                <a:rPr lang="en-PH" sz="2000" b="0" i="1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2000" i="0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Markup</m:t>
                              </m:r>
                              <m:r>
                                <a:rPr lang="en-US" sz="2000" i="0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i="0" dirty="0" smtClean="0"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rate</m:t>
                              </m:r>
                            </m:oMath>
                          </a14:m>
                          <a:r>
                            <a:rPr lang="en-PH" sz="2000" dirty="0" smtClean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 </a:t>
                          </a:r>
                          <a:endParaRPr lang="ar-AE"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 smtClean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Nova paid </a:t>
                          </a:r>
                          <a:r>
                            <a:rPr lang="en-US" sz="2000" dirty="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$13.20</a:t>
                          </a:r>
                        </a:p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  <a:buNone/>
                          </a:pP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Nova is selling for</a:t>
                          </a:r>
                          <a:r>
                            <a:rPr lang="en-US" sz="2000" i="1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 </a:t>
                          </a:r>
                          <a:r>
                            <a:rPr lang="en-US" sz="2000" dirty="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$</a:t>
                          </a:r>
                          <a:r>
                            <a:rPr lang="en-US" sz="2000" dirty="0" smtClean="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24.95</a:t>
                          </a:r>
                          <a:endParaRPr lang="en-US" sz="2000" dirty="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$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24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.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95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−$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13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.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20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=$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11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.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75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What</a:t>
                          </a:r>
                          <a:r>
                            <a:rPr lang="en-US" sz="2000" i="1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 </a:t>
                          </a:r>
                          <a:r>
                            <a:rPr lang="en-US" sz="2000" dirty="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%</a:t>
                          </a:r>
                          <a:r>
                            <a:rPr lang="en-US" sz="2000" i="1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 </a:t>
                          </a: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is </a:t>
                          </a:r>
                          <a:r>
                            <a:rPr lang="en-US" sz="2000" dirty="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11.75</a:t>
                          </a: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 of </a:t>
                          </a:r>
                          <a:r>
                            <a:rPr lang="en-US" sz="2000" dirty="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13.2</a:t>
                          </a:r>
                          <a:r>
                            <a:rPr lang="en-US" sz="2000" dirty="0" smtClean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?</a:t>
                          </a:r>
                        </a:p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ar-AE" sz="2000" i="1" smtClean="0">
                                      <a:latin typeface="Cambria Math"/>
                                      <a:ea typeface="Verdana"/>
                                      <a:sym typeface="Verdana"/>
                                    </a:rPr>
                                  </m:ctrlPr>
                                </m:fPr>
                                <m:num>
                                  <m:r>
                                    <a:rPr lang="ar-AE" sz="2000" b="0" i="1" smtClean="0">
                                      <a:latin typeface="Cambria Math"/>
                                      <a:ea typeface="Verdana"/>
                                      <a:sym typeface="Verdana"/>
                                    </a:rPr>
                                    <m:t>1</m:t>
                                  </m:r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  <a:sym typeface="Verdana"/>
                                    </a:rPr>
                                    <m:t>1</m:t>
                                  </m:r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  <a:sym typeface="Verdana"/>
                                    </a:rPr>
                                    <m:t>.</m:t>
                                  </m:r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  <a:sym typeface="Verdana"/>
                                    </a:rPr>
                                    <m:t>75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  <a:sym typeface="Verdana"/>
                                    </a:rPr>
                                    <m:t>13</m:t>
                                  </m:r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  <a:sym typeface="Verdana"/>
                                    </a:rPr>
                                    <m:t>.</m:t>
                                  </m:r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  <a:sym typeface="Verdana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PH" sz="2000" b="0" i="1" smtClean="0">
                                  <a:latin typeface="Cambria Math"/>
                                  <a:ea typeface="Verdana"/>
                                  <a:sym typeface="Verdana"/>
                                </a:rPr>
                                <m:t>=</m:t>
                              </m:r>
                              <m:r>
                                <a:rPr lang="en-PH" sz="2000" b="0" i="1" smtClean="0">
                                  <a:latin typeface="Cambria Math"/>
                                  <a:ea typeface="Verdana"/>
                                  <a:sym typeface="Verdana"/>
                                </a:rPr>
                                <m:t>0</m:t>
                              </m:r>
                              <m:r>
                                <a:rPr lang="en-PH" sz="2000" b="0" i="1" smtClean="0">
                                  <a:latin typeface="Cambria Math"/>
                                  <a:ea typeface="Verdana"/>
                                  <a:sym typeface="Verdana"/>
                                </a:rPr>
                                <m:t>.</m:t>
                              </m:r>
                              <m:r>
                                <a:rPr lang="en-PH" sz="2000" b="0" i="1" smtClean="0">
                                  <a:latin typeface="Cambria Math"/>
                                  <a:ea typeface="Verdana"/>
                                  <a:sym typeface="Verdana"/>
                                </a:rPr>
                                <m:t>89</m:t>
                              </m:r>
                            </m:oMath>
                          </a14:m>
                          <a:r>
                            <a:rPr lang="en-PH" sz="2000" dirty="0" smtClean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 </a:t>
                          </a:r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23" name="Google Shape;223;p28"/>
              <p:cNvGraphicFramePr/>
              <p:nvPr>
                <p:extLst>
                  <p:ext uri="{D42A27DB-BD31-4B8C-83A1-F6EECF244321}">
                    <p14:modId xmlns:p14="http://schemas.microsoft.com/office/powerpoint/2010/main" val="2264499289"/>
                  </p:ext>
                </p:extLst>
              </p:nvPr>
            </p:nvGraphicFramePr>
            <p:xfrm>
              <a:off x="1846988" y="2213650"/>
              <a:ext cx="8265795" cy="3108960"/>
            </p:xfrm>
            <a:graphic>
              <a:graphicData uri="http://schemas.openxmlformats.org/drawingml/2006/table">
                <a:tbl>
                  <a:tblPr>
                    <a:noFill/>
                    <a:tableStyleId>{14A5BC46-FBD7-424C-8B80-3E3F3D612F68}</a:tableStyleId>
                  </a:tblPr>
                  <a:tblGrid>
                    <a:gridCol w="4389120"/>
                    <a:gridCol w="3876675"/>
                  </a:tblGrid>
                  <a:tr h="45720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Method 1</a:t>
                          </a:r>
                          <a:endParaRPr sz="2000" b="1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Method 2</a:t>
                          </a:r>
                          <a:endParaRPr sz="2000" b="1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</a:tr>
                  <a:tr h="2651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1">
                          <a:blip r:embed="rId3"/>
                          <a:stretch>
                            <a:fillRect l="-139" t="-17701" r="-88333" b="-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1">
                          <a:blip r:embed="rId3"/>
                          <a:stretch>
                            <a:fillRect l="-113365" t="-17701" b="-23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179;p5"/>
          <p:cNvSpPr txBox="1"/>
          <p:nvPr/>
        </p:nvSpPr>
        <p:spPr>
          <a:xfrm>
            <a:off x="914400" y="487736"/>
            <a:ext cx="105156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Nova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buys earrings from a supplier for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$13.20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. She sells them in her boutique for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$24.95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. Clare works at the boutique and was curious what percentage markup Nova uses. The table shows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2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different methods Clare used to determine the percentage the earrings are marked up when sold. </a:t>
            </a:r>
            <a:endParaRPr lang="en-US" sz="2000" dirty="0">
              <a:latin typeface="Verdana"/>
            </a:endParaRPr>
          </a:p>
        </p:txBody>
      </p:sp>
      <p:pic>
        <p:nvPicPr>
          <p:cNvPr id="8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9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9;p5"/>
          <p:cNvSpPr txBox="1"/>
          <p:nvPr/>
        </p:nvSpPr>
        <p:spPr>
          <a:xfrm>
            <a:off x="914400" y="487736"/>
            <a:ext cx="10515600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lvl="0" indent="-457200">
              <a:buSzPts val="2000"/>
              <a:buFont typeface="Arial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Compare both methods. Discuss the similarities and differences in the two methods with your 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partner. Then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, write them in the 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table.</a:t>
            </a: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US" sz="20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US" sz="20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US" sz="20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US" sz="20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US" sz="20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endParaRPr lang="en-US" sz="20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000"/>
              <a:buFont typeface="Arial"/>
              <a:buAutoNum type="alphaLcPeriod"/>
            </a:pP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What 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is the percentage of the markup?</a:t>
            </a:r>
          </a:p>
        </p:txBody>
      </p:sp>
      <p:sp>
        <p:nvSpPr>
          <p:cNvPr id="231" name="Google Shape;231;p29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2" name="Google Shape;232;p29"/>
          <p:cNvGraphicFramePr/>
          <p:nvPr>
            <p:extLst>
              <p:ext uri="{D42A27DB-BD31-4B8C-83A1-F6EECF244321}">
                <p14:modId xmlns:p14="http://schemas.microsoft.com/office/powerpoint/2010/main" val="711660175"/>
              </p:ext>
            </p:extLst>
          </p:nvPr>
        </p:nvGraphicFramePr>
        <p:xfrm>
          <a:off x="2811975" y="1434981"/>
          <a:ext cx="7113100" cy="2814450"/>
        </p:xfrm>
        <a:graphic>
          <a:graphicData uri="http://schemas.openxmlformats.org/drawingml/2006/table">
            <a:tbl>
              <a:tblPr firstRow="1" bandRow="1">
                <a:noFill/>
                <a:tableStyleId>{94C6BFDD-0EAB-4D22-8787-C9C6E1D2F5B7}</a:tableStyleId>
              </a:tblPr>
              <a:tblGrid>
                <a:gridCol w="3556550"/>
                <a:gridCol w="355655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Similarities</a:t>
                      </a:r>
                      <a:endParaRPr sz="2000" b="1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Differences</a:t>
                      </a:r>
                      <a:endParaRPr sz="20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</a:tr>
              <a:tr h="2357250">
                <a:tc>
                  <a:txBody>
                    <a:bodyPr/>
                    <a:lstStyle/>
                    <a:p>
                      <a:pPr marL="1085850" marR="0" lvl="0" indent="-1085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8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9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=""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320;p19"/>
          <p:cNvSpPr txBox="1"/>
          <p:nvPr/>
        </p:nvSpPr>
        <p:spPr>
          <a:xfrm>
            <a:off x="914400" y="1330237"/>
            <a:ext cx="985837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rgbClr val="221E1F"/>
                </a:solidFill>
                <a:latin typeface="Verdana"/>
              </a:rPr>
              <a:t>Johnetta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calculated the percentage discounted for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a </a:t>
            </a:r>
            <a:br>
              <a:rPr lang="en-US" sz="2000" dirty="0" smtClean="0">
                <a:solidFill>
                  <a:srgbClr val="221E1F"/>
                </a:solidFill>
                <a:latin typeface="Verdana"/>
              </a:rPr>
            </a:b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backpack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that normally costs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$25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but is on sale for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$21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.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/>
            </a:r>
            <a:br>
              <a:rPr lang="en-US" sz="2000" dirty="0" smtClean="0">
                <a:solidFill>
                  <a:srgbClr val="221E1F"/>
                </a:solidFill>
                <a:latin typeface="Verdana"/>
              </a:rPr>
            </a:br>
            <a:r>
              <a:rPr lang="en-US" sz="2000" dirty="0" err="1" smtClean="0">
                <a:solidFill>
                  <a:srgbClr val="221E1F"/>
                </a:solidFill>
                <a:latin typeface="Verdana"/>
              </a:rPr>
              <a:t>Johnetta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has made errors in her work. Identify </a:t>
            </a:r>
            <a:r>
              <a:rPr lang="en-US" sz="2000" dirty="0" err="1">
                <a:solidFill>
                  <a:srgbClr val="221E1F"/>
                </a:solidFill>
                <a:latin typeface="Verdana"/>
              </a:rPr>
              <a:t>Johnetta’s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/>
            </a:r>
            <a:br>
              <a:rPr lang="en-US" sz="2000" dirty="0" smtClean="0">
                <a:solidFill>
                  <a:srgbClr val="221E1F"/>
                </a:solidFill>
                <a:latin typeface="Verdana"/>
              </a:rPr>
            </a:b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errors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and correct her work. </a:t>
            </a:r>
            <a:endParaRPr lang="en-US" sz="2000" dirty="0">
              <a:latin typeface="Verdana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90162" y="1325806"/>
            <a:ext cx="1123950" cy="123317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1"/>
          <p:cNvSpPr txBox="1"/>
          <p:nvPr/>
        </p:nvSpPr>
        <p:spPr>
          <a:xfrm>
            <a:off x="3477047" y="2941126"/>
            <a:ext cx="3785235" cy="1936750"/>
          </a:xfrm>
          <a:prstGeom prst="rect">
            <a:avLst/>
          </a:pr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298"/>
            </a:stretch>
          </a:blip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10" name="Google Shape;311;g104476d1465_1_3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7" y="86728"/>
            <a:ext cx="10793931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7.6.3 Try It: Finding the Percentage </a:t>
            </a:r>
            <a:b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of a Discount or Markup</a:t>
            </a:r>
            <a:endParaRPr lang="en-US" sz="3200" dirty="0"/>
          </a:p>
        </p:txBody>
      </p:sp>
      <p:pic>
        <p:nvPicPr>
          <p:cNvPr id="13" name="Picture 2">
            <a:extLst>
              <a:ext uri="{FF2B5EF4-FFF2-40B4-BE49-F238E27FC236}">
                <a16:creationId xmlns=""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2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5" name="Google Shape;26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320;p19"/>
          <p:cNvSpPr txBox="1"/>
          <p:nvPr/>
        </p:nvSpPr>
        <p:spPr>
          <a:xfrm>
            <a:off x="914400" y="1330237"/>
            <a:ext cx="9858375" cy="384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Baxter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has been saving all of his money to purchase new Nike Air Max sneakers. After four months, he finally had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$200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saved, so he went to purchase the sneakers. Unfortunately, when Baxter checked out, the total came to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$212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, which was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$12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more than he had saved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.</a:t>
            </a:r>
          </a:p>
          <a:p>
            <a:endParaRPr lang="en-PH" sz="2400" dirty="0" smtClean="0">
              <a:latin typeface="Verdana"/>
            </a:endParaRPr>
          </a:p>
          <a:p>
            <a:endParaRPr lang="en-PH" sz="2400" dirty="0" smtClean="0">
              <a:latin typeface="Verdana"/>
            </a:endParaRPr>
          </a:p>
          <a:p>
            <a:endParaRPr lang="en-PH" sz="2400" dirty="0">
              <a:latin typeface="Verdana"/>
            </a:endParaRPr>
          </a:p>
          <a:p>
            <a:endParaRPr lang="en-PH" sz="2400" dirty="0" smtClean="0">
              <a:latin typeface="Verdana"/>
            </a:endParaRPr>
          </a:p>
          <a:p>
            <a:endParaRPr lang="en-PH" sz="2400" dirty="0">
              <a:latin typeface="Verdana"/>
            </a:endParaRPr>
          </a:p>
          <a:p>
            <a:endParaRPr lang="en-US" sz="2400" dirty="0">
              <a:latin typeface="Verdana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solidFill>
                  <a:srgbClr val="221E1F"/>
                </a:solidFill>
                <a:latin typeface="Verdana"/>
              </a:rPr>
              <a:t>Discuss with your partner why Baxter’s total was more than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$200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. </a:t>
            </a:r>
            <a:endParaRPr lang="en-US" sz="2000" dirty="0">
              <a:latin typeface="Verdana"/>
            </a:endParaRPr>
          </a:p>
        </p:txBody>
      </p:sp>
      <p:graphicFrame>
        <p:nvGraphicFramePr>
          <p:cNvPr id="278" name="Google Shape;278;p33"/>
          <p:cNvGraphicFramePr/>
          <p:nvPr>
            <p:extLst>
              <p:ext uri="{D42A27DB-BD31-4B8C-83A1-F6EECF244321}">
                <p14:modId xmlns:p14="http://schemas.microsoft.com/office/powerpoint/2010/main" val="66147333"/>
              </p:ext>
            </p:extLst>
          </p:nvPr>
        </p:nvGraphicFramePr>
        <p:xfrm>
          <a:off x="6400800" y="2774240"/>
          <a:ext cx="3920490" cy="1828800"/>
        </p:xfrm>
        <a:graphic>
          <a:graphicData uri="http://schemas.openxmlformats.org/drawingml/2006/table">
            <a:tbl>
              <a:tblPr>
                <a:noFill/>
                <a:tableStyleId>{14A5BC46-FBD7-424C-8B80-3E3F3D612F68}</a:tableStyleId>
              </a:tblPr>
              <a:tblGrid>
                <a:gridCol w="2834640"/>
                <a:gridCol w="1085850"/>
              </a:tblGrid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Subtotal</a:t>
                      </a:r>
                      <a:endParaRPr sz="20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7315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$200.00</a:t>
                      </a:r>
                      <a:endParaRPr sz="2000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7315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Estimated Shipping</a:t>
                      </a:r>
                      <a:endParaRPr sz="20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7315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$0.00</a:t>
                      </a:r>
                      <a:endParaRPr sz="2000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7315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Estimated Tax</a:t>
                      </a:r>
                      <a:endParaRPr sz="20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7315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$12.00</a:t>
                      </a:r>
                      <a:endParaRPr sz="2000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7315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TOTAL</a:t>
                      </a:r>
                      <a:endParaRPr sz="20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7315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$212.00</a:t>
                      </a:r>
                      <a:endParaRPr sz="2000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7315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9" name="Google Shape;317;p19"/>
          <p:cNvSpPr txBox="1"/>
          <p:nvPr/>
        </p:nvSpPr>
        <p:spPr>
          <a:xfrm>
            <a:off x="1143000" y="30073"/>
            <a:ext cx="105156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7.6.4 Guided Instruction: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Taxes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, Tips, and Fees</a:t>
            </a:r>
            <a:endParaRPr lang="en-US" sz="3600" dirty="0"/>
          </a:p>
        </p:txBody>
      </p:sp>
      <p:pic>
        <p:nvPicPr>
          <p:cNvPr id="10" name="Google Shape;31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2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86;p34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79;p5"/>
          <p:cNvSpPr txBox="1"/>
          <p:nvPr/>
        </p:nvSpPr>
        <p:spPr>
          <a:xfrm>
            <a:off x="914400" y="487736"/>
            <a:ext cx="105156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If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Baxter had to pay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8%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sales tax on the same Nike Air Max sneakers, what would the cost of the taxes be</a:t>
            </a: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?</a:t>
            </a:r>
          </a:p>
          <a:p>
            <a:pPr marL="914400" indent="-457200">
              <a:buFont typeface="+mj-lt"/>
              <a:buAutoNum type="alphaLcPeriod" startAt="2"/>
            </a:pPr>
            <a:endParaRPr lang="en-PH" sz="2400" dirty="0" smtClean="0"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 smtClean="0"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solidFill>
                  <a:srgbClr val="221E1F"/>
                </a:solidFill>
                <a:latin typeface="Verdana"/>
              </a:rPr>
              <a:t>Explain whether the estimated tax from Baxter’s online search was more or less than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8</a:t>
            </a:r>
            <a:r>
              <a:rPr lang="en-US" sz="2400" dirty="0" smtClean="0">
                <a:solidFill>
                  <a:srgbClr val="221E1F"/>
                </a:solidFill>
                <a:latin typeface="Cambria Math"/>
              </a:rPr>
              <a:t>%</a:t>
            </a: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.</a:t>
            </a:r>
            <a:endParaRPr lang="en-US" sz="2400" dirty="0">
              <a:latin typeface="Verdana"/>
            </a:endParaRPr>
          </a:p>
        </p:txBody>
      </p:sp>
      <p:pic>
        <p:nvPicPr>
          <p:cNvPr id="7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9;p5"/>
          <p:cNvSpPr txBox="1"/>
          <p:nvPr/>
        </p:nvSpPr>
        <p:spPr>
          <a:xfrm>
            <a:off x="914400" y="487736"/>
            <a:ext cx="105156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Work with your partner to complete the following.</a:t>
            </a:r>
            <a:endParaRPr lang="en-US" sz="2400" dirty="0"/>
          </a:p>
          <a:p>
            <a:pPr lvl="0"/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457200">
              <a:buSzPts val="2400"/>
              <a:buFont typeface="Arial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2400" dirty="0" err="1">
                <a:latin typeface="Verdana"/>
                <a:ea typeface="Verdana"/>
                <a:cs typeface="Verdana"/>
                <a:sym typeface="Verdana"/>
              </a:rPr>
              <a:t>Cardone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Family is planning to have a birthday celebration at one of their favorite restaurants. The restaurants they are considering are in different counties that each have different sales tax rates.</a:t>
            </a:r>
            <a:endParaRPr lang="en-US" sz="2400" dirty="0"/>
          </a:p>
          <a:p>
            <a:pPr marL="457200" lvl="0" indent="-304800">
              <a:buSzPts val="2400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457200">
              <a:buSzPts val="2400"/>
              <a:buFont typeface="Arial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Complete the table to determine how much tax will be at each restaurant given the same pre-tax cost of dinner. The first row of the table has been completed.</a:t>
            </a:r>
          </a:p>
        </p:txBody>
      </p:sp>
      <p:pic>
        <p:nvPicPr>
          <p:cNvPr id="7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86;p34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5" name="Google Shape;305;p36"/>
              <p:cNvGraphicFramePr/>
              <p:nvPr>
                <p:extLst>
                  <p:ext uri="{D42A27DB-BD31-4B8C-83A1-F6EECF244321}">
                    <p14:modId xmlns:p14="http://schemas.microsoft.com/office/powerpoint/2010/main" val="2745642950"/>
                  </p:ext>
                </p:extLst>
              </p:nvPr>
            </p:nvGraphicFramePr>
            <p:xfrm>
              <a:off x="2441750" y="1252150"/>
              <a:ext cx="7759650" cy="4093025"/>
            </p:xfrm>
            <a:graphic>
              <a:graphicData uri="http://schemas.openxmlformats.org/drawingml/2006/table">
                <a:tbl>
                  <a:tblPr>
                    <a:noFill/>
                    <a:tableStyleId>{14A5BC46-FBD7-424C-8B80-3E3F3D612F68}</a:tableStyleId>
                  </a:tblPr>
                  <a:tblGrid>
                    <a:gridCol w="2334375"/>
                    <a:gridCol w="1848050"/>
                    <a:gridCol w="3577225"/>
                  </a:tblGrid>
                  <a:tr h="12955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Restaurant</a:t>
                          </a:r>
                          <a:endParaRPr sz="2000" b="1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Cost of Dinner (Pre-tax)</a:t>
                          </a:r>
                          <a:endParaRPr sz="2000" b="1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How Much Sales Tax?</a:t>
                          </a:r>
                          <a:endParaRPr sz="2000" b="1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</a:tr>
                  <a:tr h="12955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Restaurant A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$120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Sales Tax </a:t>
                          </a:r>
                          <a:r>
                            <a:rPr lang="en-US" sz="2000" dirty="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7%</a:t>
                          </a:r>
                          <a:endParaRPr sz="2000" dirty="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(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120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)(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0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.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07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)=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8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.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sz="2000" dirty="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$8.40</a:t>
                          </a: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 tax</a:t>
                          </a:r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</a:tr>
                  <a:tr h="5006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Restaurant B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$120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Sales Tax </a:t>
                          </a: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7.5%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</a:tr>
                  <a:tr h="5006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Restaurant C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$120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Sales Tax </a:t>
                          </a: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8%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</a:tr>
                  <a:tr h="5006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Restaurant D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$120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Sales Tax </a:t>
                          </a: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8.5%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05" name="Google Shape;305;p36"/>
              <p:cNvGraphicFramePr/>
              <p:nvPr>
                <p:extLst>
                  <p:ext uri="{D42A27DB-BD31-4B8C-83A1-F6EECF244321}">
                    <p14:modId xmlns:p14="http://schemas.microsoft.com/office/powerpoint/2010/main" val="2745642950"/>
                  </p:ext>
                </p:extLst>
              </p:nvPr>
            </p:nvGraphicFramePr>
            <p:xfrm>
              <a:off x="2441750" y="1252150"/>
              <a:ext cx="7759650" cy="4093025"/>
            </p:xfrm>
            <a:graphic>
              <a:graphicData uri="http://schemas.openxmlformats.org/drawingml/2006/table">
                <a:tbl>
                  <a:tblPr>
                    <a:noFill/>
                    <a:tableStyleId>{14A5BC46-FBD7-424C-8B80-3E3F3D612F68}</a:tableStyleId>
                  </a:tblPr>
                  <a:tblGrid>
                    <a:gridCol w="2334375"/>
                    <a:gridCol w="1848050"/>
                    <a:gridCol w="3577225"/>
                  </a:tblGrid>
                  <a:tr h="12955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Restaurant</a:t>
                          </a:r>
                          <a:endParaRPr sz="2000" b="1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Cost of Dinner (Pre-tax)</a:t>
                          </a:r>
                          <a:endParaRPr sz="2000" b="1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How Much Sales Tax?</a:t>
                          </a:r>
                          <a:endParaRPr sz="2000" b="1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</a:tr>
                  <a:tr h="12955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Restaurant A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$120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1">
                          <a:blip r:embed="rId3"/>
                          <a:stretch>
                            <a:fillRect l="-117235" t="-100472" r="-171" b="-120283"/>
                          </a:stretch>
                        </a:blipFill>
                      </a:tcPr>
                    </a:tc>
                  </a:tr>
                  <a:tr h="5006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Restaurant B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$120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Sales Tax </a:t>
                          </a: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7.5%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</a:tr>
                  <a:tr h="5006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Restaurant C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$120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Sales Tax </a:t>
                          </a: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8%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</a:tr>
                  <a:tr h="5006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Restaurant D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$120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Sales Tax </a:t>
                          </a:r>
                          <a:r>
                            <a:rPr lang="en-US" sz="2000">
                              <a:latin typeface="Cambria Math"/>
                              <a:ea typeface="Cambria Math"/>
                              <a:cs typeface="Cambria Math"/>
                              <a:sym typeface="Cambria Math"/>
                            </a:rPr>
                            <a:t>8.5%</a:t>
                          </a:r>
                          <a:endParaRPr sz="200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91450" marR="91450" marT="45725" marB="45725" anchor="ctr">
                        <a:lnL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6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7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7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79;p5"/>
          <p:cNvSpPr txBox="1"/>
          <p:nvPr/>
        </p:nvSpPr>
        <p:spPr>
          <a:xfrm>
            <a:off x="914400" y="487736"/>
            <a:ext cx="105156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The </a:t>
            </a:r>
            <a:r>
              <a:rPr lang="en-US" sz="2400" dirty="0" err="1">
                <a:solidFill>
                  <a:srgbClr val="221E1F"/>
                </a:solidFill>
                <a:latin typeface="Verdana"/>
              </a:rPr>
              <a:t>Cardone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 Family plans to leave a tip for their server. They intend to tip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20%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of the cost of their dinner. If the cost of dinner is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$120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, how much tip will the server receive</a:t>
            </a: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?</a:t>
            </a: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solidFill>
                <a:srgbClr val="221E1F"/>
              </a:solidFill>
              <a:latin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 smtClean="0">
              <a:solidFill>
                <a:srgbClr val="221E1F"/>
              </a:solidFill>
              <a:latin typeface="Verdana"/>
            </a:endParaRPr>
          </a:p>
          <a:p>
            <a:endParaRPr lang="en-US" sz="2400" dirty="0">
              <a:latin typeface="Verdana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 err="1">
                <a:solidFill>
                  <a:srgbClr val="221E1F"/>
                </a:solidFill>
                <a:latin typeface="Verdana"/>
              </a:rPr>
              <a:t>Qualyen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 bought a new computer and printer online totaling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$850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. He had to pay an additional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3%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in shipping fees on top of the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$850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. With your partner, determine the cost of the shipping fees</a:t>
            </a: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.</a:t>
            </a:r>
            <a:endParaRPr lang="en-US" sz="2400" dirty="0">
              <a:latin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79;p5"/>
              <p:cNvSpPr txBox="1"/>
              <p:nvPr/>
            </p:nvSpPr>
            <p:spPr>
              <a:xfrm>
                <a:off x="914400" y="487736"/>
                <a:ext cx="10515600" cy="51706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000" dirty="0" smtClean="0">
                    <a:solidFill>
                      <a:srgbClr val="221E1F"/>
                    </a:solidFill>
                    <a:latin typeface="Verdana"/>
                  </a:rPr>
                  <a:t>There 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are many situations where a percentage of an amount of money is added to or subtracted from a total amount. For example</a:t>
                </a:r>
                <a:r>
                  <a:rPr lang="en-US" sz="2000" dirty="0" smtClean="0">
                    <a:solidFill>
                      <a:srgbClr val="221E1F"/>
                    </a:solidFill>
                    <a:latin typeface="Verdana"/>
                  </a:rPr>
                  <a:t>:</a:t>
                </a:r>
              </a:p>
              <a:p>
                <a:endParaRPr lang="en-US" sz="2000" dirty="0">
                  <a:latin typeface="Verdana"/>
                </a:endParaRPr>
              </a:p>
              <a:p>
                <a:pPr marL="342900" indent="-342900">
                  <a:spcAft>
                    <a:spcPts val="2000"/>
                  </a:spcAft>
                  <a:buFont typeface="Arial" pitchFamily="34" charset="0"/>
                  <a:buChar char="•"/>
                </a:pP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If a restaurant bill is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$34 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and the customer pays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$40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, they left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$6 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dollars as a tip for the server. That is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18% 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of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$34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, so they left an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18% </a:t>
                </a:r>
                <a:r>
                  <a:rPr lang="en-US" sz="2000" dirty="0" smtClean="0">
                    <a:solidFill>
                      <a:srgbClr val="221E1F"/>
                    </a:solidFill>
                    <a:latin typeface="Verdana"/>
                  </a:rPr>
                  <a:t>tip.</a:t>
                </a:r>
              </a:p>
              <a:p>
                <a:pPr marL="342900" indent="-342900">
                  <a:spcAft>
                    <a:spcPts val="2000"/>
                  </a:spcAft>
                  <a:buFont typeface="Arial" pitchFamily="34" charset="0"/>
                  <a:buChar char="•"/>
                </a:pPr>
                <a:r>
                  <a:rPr lang="en-US" sz="2000" dirty="0" smtClean="0">
                    <a:solidFill>
                      <a:srgbClr val="221E1F"/>
                    </a:solidFill>
                    <a:latin typeface="Verdana"/>
                  </a:rPr>
                  <a:t>If 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the price tag on a shirt in Arizona is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$11.50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, then the sales tax is </a:t>
                </a:r>
                <a:r>
                  <a:rPr lang="en-US" sz="2000" dirty="0" smtClean="0">
                    <a:solidFill>
                      <a:srgbClr val="221E1F"/>
                    </a:solidFill>
                    <a:latin typeface="Verdana"/>
                  </a:rPr>
                  <a:t/>
                </a:r>
                <a:br>
                  <a:rPr lang="en-US" sz="2000" dirty="0" smtClean="0">
                    <a:solidFill>
                      <a:srgbClr val="221E1F"/>
                    </a:solidFill>
                    <a:latin typeface="Verdana"/>
                  </a:rPr>
                </a:b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221E1F"/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221E1F"/>
                        </a:solidFill>
                        <a:latin typeface="Cambria Math"/>
                      </a:rPr>
                      <m:t>0.075)⋅11.5</m:t>
                    </m:r>
                    <m:r>
                      <a:rPr lang="en-US" sz="2000" i="1" dirty="0" smtClean="0">
                        <a:solidFill>
                          <a:srgbClr val="221E1F"/>
                        </a:solidFill>
                        <a:latin typeface="Cambria Math"/>
                      </a:rPr>
                      <m:t>=</m:t>
                    </m:r>
                    <m:r>
                      <a:rPr lang="en-US" sz="2000" i="1" dirty="0">
                        <a:solidFill>
                          <a:srgbClr val="221E1F"/>
                        </a:solidFill>
                        <a:latin typeface="Cambria Math"/>
                      </a:rPr>
                      <m:t>0.8625</m:t>
                    </m:r>
                  </m:oMath>
                </a14:m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, which rounds to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86 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cents. The customer pays </a:t>
                </a:r>
                <a:r>
                  <a:rPr lang="en-US" sz="2000" dirty="0" smtClean="0">
                    <a:solidFill>
                      <a:srgbClr val="221E1F"/>
                    </a:solidFill>
                    <a:latin typeface="Verdana"/>
                  </a:rPr>
                  <a:t/>
                </a:r>
                <a:br>
                  <a:rPr lang="en-US" sz="2000" dirty="0" smtClean="0">
                    <a:solidFill>
                      <a:srgbClr val="221E1F"/>
                    </a:solidFill>
                    <a:latin typeface="Verdana"/>
                  </a:rPr>
                </a:b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221E1F"/>
                        </a:solidFill>
                        <a:latin typeface="Cambria Math"/>
                      </a:rPr>
                      <m:t>11.50 </m:t>
                    </m:r>
                    <m:r>
                      <a:rPr lang="en-US" sz="2000" i="1" dirty="0">
                        <a:solidFill>
                          <a:srgbClr val="221E1F"/>
                        </a:solidFill>
                        <a:latin typeface="Cambria Math"/>
                      </a:rPr>
                      <m:t>+ 0.86</m:t>
                    </m:r>
                  </m:oMath>
                </a14:m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, or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$12.36 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for the shirt. </a:t>
                </a:r>
              </a:p>
              <a:p>
                <a:pPr marL="342900" indent="-342900">
                  <a:spcAft>
                    <a:spcPts val="2000"/>
                  </a:spcAft>
                  <a:buFont typeface="Arial" pitchFamily="34" charset="0"/>
                  <a:buChar char="•"/>
                </a:pPr>
                <a:r>
                  <a:rPr lang="en-US" sz="2000" dirty="0" smtClean="0">
                    <a:solidFill>
                      <a:srgbClr val="221E1F"/>
                    </a:solidFill>
                    <a:latin typeface="Verdana"/>
                  </a:rPr>
                  <a:t>A 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student goes to a hairdresser to get ready for the </a:t>
                </a:r>
                <a:r>
                  <a:rPr lang="en-US" sz="2000" dirty="0" smtClean="0">
                    <a:solidFill>
                      <a:srgbClr val="221E1F"/>
                    </a:solidFill>
                    <a:latin typeface="Cambria Math"/>
                  </a:rPr>
                  <a:t>8</a:t>
                </a:r>
                <a:r>
                  <a:rPr lang="en-US" sz="2000" baseline="30000" dirty="0" smtClean="0">
                    <a:solidFill>
                      <a:srgbClr val="221E1F"/>
                    </a:solidFill>
                    <a:latin typeface="Verdana"/>
                  </a:rPr>
                  <a:t>th</a:t>
                </a:r>
                <a:r>
                  <a:rPr lang="en-US" sz="2000" dirty="0" smtClean="0">
                    <a:solidFill>
                      <a:srgbClr val="221E1F"/>
                    </a:solidFill>
                    <a:latin typeface="Verdana"/>
                  </a:rPr>
                  <a:t> grade 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formal dance. The total is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$125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. The student’s parents tip the hairdresser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15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%. The total cost of the service is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$143.75. </a:t>
                </a:r>
                <a:endParaRPr lang="en-US" sz="2000" dirty="0">
                  <a:solidFill>
                    <a:srgbClr val="221E1F"/>
                  </a:solidFill>
                  <a:latin typeface="Verdana"/>
                </a:endParaRP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000" dirty="0" smtClean="0">
                    <a:solidFill>
                      <a:srgbClr val="221E1F"/>
                    </a:solidFill>
                    <a:latin typeface="Verdana"/>
                  </a:rPr>
                  <a:t>A 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gentleman purchases a suit originally priced at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$397.98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. The suit is on clearance with a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45% 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off sticker. The discount reduces the suit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$179.09 </a:t>
                </a:r>
                <a:r>
                  <a:rPr lang="en-US" sz="2000" dirty="0">
                    <a:solidFill>
                      <a:srgbClr val="221E1F"/>
                    </a:solidFill>
                    <a:latin typeface="Verdana"/>
                  </a:rPr>
                  <a:t>off the original price, resulting in the new suit price being </a:t>
                </a:r>
                <a:r>
                  <a:rPr lang="en-US" sz="2000" dirty="0">
                    <a:solidFill>
                      <a:srgbClr val="221E1F"/>
                    </a:solidFill>
                    <a:latin typeface="Cambria Math"/>
                  </a:rPr>
                  <a:t>$218.89</a:t>
                </a:r>
                <a:r>
                  <a:rPr lang="en-US" sz="2000" dirty="0" smtClean="0">
                    <a:solidFill>
                      <a:srgbClr val="221E1F"/>
                    </a:solidFill>
                    <a:latin typeface="Verdana"/>
                  </a:rPr>
                  <a:t>.</a:t>
                </a:r>
                <a:endParaRPr lang="en-US" sz="2000" dirty="0">
                  <a:latin typeface="Verdana"/>
                </a:endParaRPr>
              </a:p>
            </p:txBody>
          </p:sp>
        </mc:Choice>
        <mc:Fallback xmlns="">
          <p:sp>
            <p:nvSpPr>
              <p:cNvPr id="6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5170606"/>
              </a:xfrm>
              <a:prstGeom prst="rect">
                <a:avLst/>
              </a:prstGeom>
              <a:blipFill rotWithShape="1">
                <a:blip r:embed="rId3"/>
                <a:stretch>
                  <a:fillRect l="-638" t="-590" r="-232" b="-11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9"/>
          <p:cNvSpPr/>
          <p:nvPr/>
        </p:nvSpPr>
        <p:spPr>
          <a:xfrm>
            <a:off x="0" y="-1116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" name="Google Shape;332;p39"/>
          <p:cNvGraphicFramePr/>
          <p:nvPr>
            <p:extLst>
              <p:ext uri="{D42A27DB-BD31-4B8C-83A1-F6EECF244321}">
                <p14:modId xmlns:p14="http://schemas.microsoft.com/office/powerpoint/2010/main" val="2792644865"/>
              </p:ext>
            </p:extLst>
          </p:nvPr>
        </p:nvGraphicFramePr>
        <p:xfrm>
          <a:off x="2117217" y="520393"/>
          <a:ext cx="7863850" cy="5486400"/>
        </p:xfrm>
        <a:graphic>
          <a:graphicData uri="http://schemas.openxmlformats.org/drawingml/2006/table">
            <a:tbl>
              <a:tblPr>
                <a:noFill/>
                <a:tableStyleId>{14A5BC46-FBD7-424C-8B80-3E3F3D612F68}</a:tableStyleId>
              </a:tblPr>
              <a:tblGrid>
                <a:gridCol w="1920250"/>
                <a:gridCol w="2286000"/>
                <a:gridCol w="36576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Goes to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How It Works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Sales Tax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government</a:t>
                      </a:r>
                      <a:endParaRPr dirty="0"/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Added to the price of the item</a:t>
                      </a:r>
                      <a:endParaRPr/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Gratuity (tip)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person providing the service</a:t>
                      </a:r>
                      <a:endParaRPr dirty="0"/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Added to the cost of the service</a:t>
                      </a:r>
                      <a:endParaRPr/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Markup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seller</a:t>
                      </a:r>
                      <a:endParaRPr dirty="0"/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Added to the cost of an item so the seller can make a profit</a:t>
                      </a:r>
                      <a:endParaRPr dirty="0"/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Markdown (discount)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customer</a:t>
                      </a:r>
                      <a:endParaRPr/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Subtracted from the price of an item to encourage the customer to buy it</a:t>
                      </a:r>
                      <a:endParaRPr dirty="0"/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Commission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salesperson</a:t>
                      </a:r>
                      <a:endParaRPr/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Percentage of the value of the sale that is subtracted from the total sale and given to the salesperson</a:t>
                      </a:r>
                      <a:endParaRPr dirty="0"/>
                    </a:p>
                  </a:txBody>
                  <a:tcPr marL="68575" marR="6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DC83FE6C-2A92-0840-AA21-B0B38F631C9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85471"/>
            <a:ext cx="1051560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7.6.5 Guided Practice: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Calculating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Tax, Tip, and Fees</a:t>
            </a:r>
            <a:endParaRPr lang="en-US" sz="3200" dirty="0"/>
          </a:p>
        </p:txBody>
      </p:sp>
      <p:pic>
        <p:nvPicPr>
          <p:cNvPr id="12" name="image12.png" descr="Icon&#10;&#10;Description automatically generated">
            <a:extLst>
              <a:ext uri="{FF2B5EF4-FFF2-40B4-BE49-F238E27FC236}">
                <a16:creationId xmlns="" xmlns:a16="http://schemas.microsoft.com/office/drawing/2014/main" id="{C1A623A4-375D-1245-AB19-099EA111153D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7299" cy="74729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20;p19"/>
          <p:cNvSpPr txBox="1"/>
          <p:nvPr/>
        </p:nvSpPr>
        <p:spPr>
          <a:xfrm>
            <a:off x="914400" y="1244512"/>
            <a:ext cx="9210675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Johnny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went shopping for his mom at Save More Foods and his subtotal was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$11.75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. The tax applied at the grocery store is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6%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. How much was the tax for his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purchase?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 smtClean="0">
              <a:solidFill>
                <a:srgbClr val="221E1F"/>
              </a:solidFill>
              <a:latin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rgbClr val="221E1F"/>
              </a:solidFill>
              <a:latin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Rosa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and her friends are eating at a restaurant for dinner.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/>
            </a:r>
            <a:br>
              <a:rPr lang="en-US" sz="2000" dirty="0" smtClean="0">
                <a:solidFill>
                  <a:srgbClr val="221E1F"/>
                </a:solidFill>
                <a:latin typeface="Verdana"/>
              </a:rPr>
            </a:b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Their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bill was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$45.80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. They want to leave a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20%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tip. How much tip will the server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receive?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 smtClean="0">
              <a:solidFill>
                <a:srgbClr val="221E1F"/>
              </a:solidFill>
              <a:latin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rgbClr val="221E1F"/>
              </a:solidFill>
              <a:latin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Rick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bought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3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shirts for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$18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each,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2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pairs of socks for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$3.99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a pair, and a pair of slacks for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$45.00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. The sales tax rate is </a:t>
            </a:r>
            <a:r>
              <a:rPr lang="en-US" sz="2000" dirty="0">
                <a:solidFill>
                  <a:srgbClr val="221E1F"/>
                </a:solidFill>
                <a:latin typeface="Cambria Math"/>
              </a:rPr>
              <a:t>8.5%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. 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/>
            </a:r>
            <a:br>
              <a:rPr lang="en-US" sz="2000" dirty="0" smtClean="0">
                <a:solidFill>
                  <a:srgbClr val="221E1F"/>
                </a:solidFill>
                <a:latin typeface="Verdana"/>
              </a:rPr>
            </a:b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How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much sales tax did Rick pay</a:t>
            </a: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?</a:t>
            </a:r>
            <a:endParaRPr lang="en-US" sz="2000" dirty="0">
              <a:latin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2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63" name="Google Shape;36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6" name="Google Shape;376;p43"/>
          <p:cNvGraphicFramePr/>
          <p:nvPr>
            <p:extLst>
              <p:ext uri="{D42A27DB-BD31-4B8C-83A1-F6EECF244321}">
                <p14:modId xmlns:p14="http://schemas.microsoft.com/office/powerpoint/2010/main" val="2043060972"/>
              </p:ext>
            </p:extLst>
          </p:nvPr>
        </p:nvGraphicFramePr>
        <p:xfrm>
          <a:off x="1478056" y="2374933"/>
          <a:ext cx="7353300" cy="2880360"/>
        </p:xfrm>
        <a:graphic>
          <a:graphicData uri="http://schemas.openxmlformats.org/drawingml/2006/table">
            <a:tbl>
              <a:tblPr>
                <a:noFill/>
                <a:tableStyleId>{14A5BC46-FBD7-424C-8B80-3E3F3D612F68}</a:tableStyleId>
              </a:tblPr>
              <a:tblGrid>
                <a:gridCol w="1743075"/>
                <a:gridCol w="2295525"/>
                <a:gridCol w="3314700"/>
              </a:tblGrid>
              <a:tr h="6381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Item</a:t>
                      </a:r>
                      <a:endParaRPr sz="2000" b="1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Price Before Tax ($)</a:t>
                      </a:r>
                      <a:endParaRPr sz="2000" b="1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Sales Tax ($)</a:t>
                      </a:r>
                      <a:endParaRPr sz="20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Pillow</a:t>
                      </a:r>
                      <a:endParaRPr sz="2000" b="1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8.69</a:t>
                      </a:r>
                      <a:endParaRPr sz="2000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2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2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Blanket</a:t>
                      </a:r>
                      <a:endParaRPr sz="20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22.00</a:t>
                      </a:r>
                      <a:endParaRPr sz="2000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20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20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Trash Can</a:t>
                      </a:r>
                      <a:endParaRPr sz="20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14.50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20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20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37332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7.6.6 Your Turn!</a:t>
            </a:r>
            <a:endParaRPr lang="en-US" sz="4400" dirty="0"/>
          </a:p>
        </p:txBody>
      </p:sp>
      <p:pic>
        <p:nvPicPr>
          <p:cNvPr id="12" name="Google Shape;430;g103996e1364_0_428">
            <a:extLst>
              <a:ext uri="{FF2B5EF4-FFF2-40B4-BE49-F238E27FC236}">
                <a16:creationId xmlns=""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20;p19"/>
          <p:cNvSpPr txBox="1"/>
          <p:nvPr/>
        </p:nvSpPr>
        <p:spPr>
          <a:xfrm>
            <a:off x="914400" y="1244512"/>
            <a:ext cx="1061618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A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city in Ohio has a sales tax rate of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7.25%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. Complete the table to determine how much sales tax is for each item. </a:t>
            </a:r>
            <a:endParaRPr lang="en-US" sz="2400" dirty="0">
              <a:latin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79;p5"/>
          <p:cNvSpPr txBox="1"/>
          <p:nvPr/>
        </p:nvSpPr>
        <p:spPr>
          <a:xfrm>
            <a:off x="914400" y="487736"/>
            <a:ext cx="105156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A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store has a sale on pants. The original price of the pants is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$19.00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. With the discount, the price of one pair of pants before tax is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$15.20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. What was the percent </a:t>
            </a: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discount?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400" dirty="0" smtClean="0">
              <a:solidFill>
                <a:srgbClr val="221E1F"/>
              </a:solidFill>
              <a:latin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400" dirty="0">
              <a:solidFill>
                <a:srgbClr val="221E1F"/>
              </a:solidFill>
              <a:latin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400" dirty="0" smtClean="0">
              <a:solidFill>
                <a:srgbClr val="221E1F"/>
              </a:solidFill>
              <a:latin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solidFill>
                <a:srgbClr val="221E1F"/>
              </a:solidFill>
              <a:latin typeface="Verdana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A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music store marks up its instruments. The store bought a guitar for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$45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and sold it for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$58.50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. The store bought a trumpet for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$80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and sold it for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$104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. What is the percent markup the store used to price the guitar and trumpet</a:t>
            </a: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?</a:t>
            </a:r>
            <a:endParaRPr lang="en-US" sz="2400" dirty="0">
              <a:latin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5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5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94" name="Google Shape;39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468;p34"/>
          <p:cNvSpPr txBox="1"/>
          <p:nvPr/>
        </p:nvSpPr>
        <p:spPr>
          <a:xfrm>
            <a:off x="1142999" y="284833"/>
            <a:ext cx="9401175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7.6.7 Wrap-Up: Ticket Out the Door</a:t>
            </a:r>
            <a:endParaRPr lang="en-US" sz="3600" dirty="0"/>
          </a:p>
        </p:txBody>
      </p:sp>
      <p:pic>
        <p:nvPicPr>
          <p:cNvPr id="11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" name="Google Shape;470;p34"/>
          <p:cNvSpPr txBox="1"/>
          <p:nvPr/>
        </p:nvSpPr>
        <p:spPr>
          <a:xfrm>
            <a:off x="914400" y="1386025"/>
            <a:ext cx="8740588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Mrs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. Jones attended a Southern Living home party. </a:t>
            </a: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She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purchased a vase that cost $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34.99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plus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$3.00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for shipping. There is a </a:t>
            </a:r>
            <a:r>
              <a:rPr lang="en-US" sz="2400" dirty="0">
                <a:solidFill>
                  <a:srgbClr val="221E1F"/>
                </a:solidFill>
                <a:latin typeface="Cambria Math"/>
              </a:rPr>
              <a:t>8.25%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sales tax on the cost of the vase and shipping </a:t>
            </a: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charge.</a:t>
            </a:r>
            <a:br>
              <a:rPr lang="en-US" sz="2400" dirty="0" smtClean="0">
                <a:solidFill>
                  <a:srgbClr val="221E1F"/>
                </a:solidFill>
                <a:latin typeface="Verdana"/>
              </a:rPr>
            </a:b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/>
            </a:r>
            <a:br>
              <a:rPr lang="en-US" sz="2400" dirty="0" smtClean="0">
                <a:solidFill>
                  <a:srgbClr val="221E1F"/>
                </a:solidFill>
                <a:latin typeface="Verdana"/>
              </a:rPr>
            </a:b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What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is the amount of tax Mrs. Jones paid on her purchase? </a:t>
            </a:r>
            <a:endParaRPr lang="en-US" sz="2400" dirty="0">
              <a:latin typeface="Verdana"/>
            </a:endParaRPr>
          </a:p>
        </p:txBody>
      </p:sp>
      <p:sp>
        <p:nvSpPr>
          <p:cNvPr id="13" name="Google Shape;384;p4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1236</Words>
  <Application>Microsoft Office PowerPoint</Application>
  <PresentationFormat>Custom</PresentationFormat>
  <Paragraphs>248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Century Gothic</vt:lpstr>
      <vt:lpstr>Cambria Math</vt:lpstr>
      <vt:lpstr>Cambria</vt:lpstr>
      <vt:lpstr>Arial Black</vt:lpstr>
      <vt:lpstr>Verdana</vt:lpstr>
      <vt:lpstr>1_Office Theme</vt:lpstr>
      <vt:lpstr>7th Grade Math  Unit 7, Lesson 6  Determining Tax, Tip, or Fees Given a Percentage   Volume 1, pg. 319  </vt:lpstr>
      <vt:lpstr>PowerPoint Presentation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7th Grade Math  Unit 7, Lesson 6  Determining Tax, Tip, or Fees Given a Percentage   Volume 1, pg. 319</dc:title>
  <dc:creator>John Patrick</dc:creator>
  <cp:lastModifiedBy>John Patrick</cp:lastModifiedBy>
  <cp:revision>20</cp:revision>
  <dcterms:modified xsi:type="dcterms:W3CDTF">2022-07-11T12:09:00Z</dcterms:modified>
</cp:coreProperties>
</file>