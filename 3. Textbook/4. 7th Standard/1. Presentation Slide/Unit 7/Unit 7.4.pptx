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Arial Black" panose="020B06040202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cJzZTzQp/giDA1PQEHyn8B9/k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BDF2EC-C4CC-4C3A-98EB-487245A8E9FB}">
  <a:tblStyle styleId="{8ABDF2EC-C4CC-4C3A-98EB-487245A8E9F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6"/>
    <p:restoredTop sz="94660"/>
  </p:normalViewPr>
  <p:slideViewPr>
    <p:cSldViewPr snapToGrid="0">
      <p:cViewPr varScale="1">
        <p:scale>
          <a:sx n="128" d="100"/>
          <a:sy n="128" d="100"/>
        </p:scale>
        <p:origin x="42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78122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i="0" u="none" strike="noStrike" cap="none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4000" b="1" i="0" u="none" strike="noStrike" cap="none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4</a:t>
            </a:r>
            <a:b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Interpreting Circle Graphs</a:t>
            </a:r>
            <a:b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i="0" u="none" strike="noStrike" cap="none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308</a:t>
            </a:r>
            <a:endParaRPr sz="32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endParaRPr sz="3400" b="1" i="0" u="none" strike="noStrike" cap="none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 b="0" i="0" u="none" strike="noStrike" cap="none" dirty="0">
              <a:solidFill>
                <a:srgbClr val="417D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753" y="1531721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58159" y="9797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298" y="38717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436486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MA.7.DP.1.4</a:t>
            </a:r>
            <a:endParaRPr sz="3500" dirty="0"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35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proportional reasoning to construct, display, and interpret data in circle graphs.</a:t>
            </a:r>
            <a:endParaRPr sz="35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154218" y="129667"/>
            <a:ext cx="869999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i="0" u="none" strike="noStrike" cap="none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1085328" y="159639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32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298" y="38717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157875" y="9797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i="0" u="none" strike="noStrike" cap="none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298" y="38717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431349" y="146141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marR="0" lvl="0" indent="-565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interpret the data in a circle graph.</a:t>
            </a:r>
            <a:endParaRPr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152689" y="0"/>
            <a:ext cx="97490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7.4.1 Warm-Up: Would You Rather?</a:t>
            </a:r>
            <a:endParaRPr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298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0" name="Google Shape;170;p4"/>
              <p:cNvGraphicFramePr/>
              <p:nvPr>
                <p:extLst>
                  <p:ext uri="{D42A27DB-BD31-4B8C-83A1-F6EECF244321}">
                    <p14:modId xmlns:p14="http://schemas.microsoft.com/office/powerpoint/2010/main" val="3224948560"/>
                  </p:ext>
                </p:extLst>
              </p:nvPr>
            </p:nvGraphicFramePr>
            <p:xfrm>
              <a:off x="2146200" y="2530475"/>
              <a:ext cx="7950300" cy="320040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{8ABDF2EC-C4CC-4C3A-98EB-487245A8E9FB}</a:tableStyleId>
                  </a:tblPr>
                  <a:tblGrid>
                    <a:gridCol w="3975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751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u="none" strike="noStrike" cap="none" dirty="0" smtClean="0">
                                  <a:latin typeface="Cambria Math"/>
                                  <a:ea typeface="Verdana"/>
                                  <a:cs typeface="Verdana"/>
                                  <a:sym typeface="Verdana"/>
                                </a:rPr>
                                <m:t>𝟏𝟎</m:t>
                              </m:r>
                            </m:oMath>
                          </a14:m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’’ Pizza</a:t>
                          </a:r>
                          <a:endParaRPr dirty="0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u="none" strike="noStrike" cap="none" dirty="0" smtClean="0">
                                  <a:latin typeface="Cambria Math"/>
                                  <a:ea typeface="Verdana"/>
                                  <a:cs typeface="Verdana"/>
                                  <a:sym typeface="Verdana"/>
                                </a:rPr>
                                <m:t>𝟏𝟒</m:t>
                              </m:r>
                            </m:oMath>
                          </a14:m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’’ Pizza</a:t>
                          </a:r>
                          <a:endParaRPr dirty="0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0" name="Google Shape;170;p4"/>
              <p:cNvGraphicFramePr/>
              <p:nvPr>
                <p:extLst>
                  <p:ext uri="{D42A27DB-BD31-4B8C-83A1-F6EECF244321}">
                    <p14:modId xmlns:p14="http://schemas.microsoft.com/office/powerpoint/2010/main" val="3224948560"/>
                  </p:ext>
                </p:extLst>
              </p:nvPr>
            </p:nvGraphicFramePr>
            <p:xfrm>
              <a:off x="2146200" y="2530475"/>
              <a:ext cx="7950300" cy="3200400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{8ABDF2EC-C4CC-4C3A-98EB-487245A8E9FB}</a:tableStyleId>
                  </a:tblPr>
                  <a:tblGrid>
                    <a:gridCol w="3975150"/>
                    <a:gridCol w="3975150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r="-100153" b="-6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r="-153" b="-601333"/>
                          </a:stretch>
                        </a:blipFill>
                      </a:tcPr>
                    </a:tc>
                  </a:tr>
                  <a:tr h="27432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71" name="Google Shape;17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93670" y="3534729"/>
            <a:ext cx="29337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29501" y="3299460"/>
            <a:ext cx="3297555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542544" y="1365631"/>
            <a:ext cx="10800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Verdana" pitchFamily="34" charset="0"/>
                <a:ea typeface="Verdana" pitchFamily="34" charset="0"/>
              </a:rPr>
              <a:t>A 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-inch pizza with 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8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 slices and a 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14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-inch pizza with 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-slices were ordered for a party.</a:t>
            </a:r>
            <a:endParaRPr lang="en-PH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3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2544" y="371332"/>
            <a:ext cx="10800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Would you rather have a slice from the 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10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″ pizza, or a slice from the 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14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″ pizza?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Explain your choice or justify it by showing your work.</a:t>
            </a:r>
            <a:endParaRPr lang="en-PH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1" name="Google Shape;19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/>
        </p:nvSpPr>
        <p:spPr>
          <a:xfrm>
            <a:off x="1152689" y="106866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7.4.2 Guided Instruction: Interpreting a Circle Graph</a:t>
            </a:r>
            <a:endParaRPr dirty="0"/>
          </a:p>
        </p:txBody>
      </p:sp>
      <p:pic>
        <p:nvPicPr>
          <p:cNvPr id="200" name="Google Shape;20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298" y="39606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1" name="Google Shape;201;p7"/>
          <p:cNvSpPr txBox="1"/>
          <p:nvPr/>
        </p:nvSpPr>
        <p:spPr>
          <a:xfrm>
            <a:off x="536154" y="1386025"/>
            <a:ext cx="10800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graph reflects the top five after-school activities at the Capital City Recreation Center based on the number of participants for each activity.</a:t>
            </a:r>
            <a:endParaRPr dirty="0"/>
          </a:p>
          <a:p>
            <a:pPr marL="914400" marR="0" lvl="0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Fill in the missing percent for Chess Club.</a:t>
            </a: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31701" y="2737647"/>
            <a:ext cx="4984631" cy="392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42544" y="371332"/>
                <a:ext cx="10800000" cy="593675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Which activity has the most participants?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Which activity has the least participants?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In which activity do about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PH" sz="2400" b="0" i="1" smtClean="0">
                            <a:latin typeface="Cambria Math"/>
                            <a:ea typeface="Verdana" pitchFamily="34" charset="0"/>
                          </a:rPr>
                          <m:t>1</m:t>
                        </m:r>
                      </m:num>
                      <m:den>
                        <m:r>
                          <a:rPr lang="en-PH" sz="2400" b="0" i="1" smtClean="0">
                            <a:latin typeface="Cambria Math"/>
                            <a:ea typeface="Verdana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of the kids participate?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In which two activities, when combined, do about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PH" sz="2400" b="0" i="1" dirty="0" smtClean="0">
                            <a:latin typeface="Cambria Math"/>
                            <a:ea typeface="Verdana" pitchFamily="34" charset="0"/>
                          </a:rPr>
                          <m:t>1</m:t>
                        </m:r>
                      </m:num>
                      <m:den>
                        <m:r>
                          <a:rPr lang="en-PH" sz="2400" b="0" i="1" dirty="0" smtClean="0">
                            <a:latin typeface="Cambria Math"/>
                            <a:ea typeface="Verdana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of the kids participate?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Discuss with your partner how the circle graph helped you to answer the questions.</a:t>
                </a: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" y="371332"/>
                <a:ext cx="10800000" cy="5936753"/>
              </a:xfrm>
              <a:prstGeom prst="rect">
                <a:avLst/>
              </a:prstGeom>
              <a:blipFill>
                <a:blip r:embed="rId3"/>
                <a:stretch>
                  <a:fillRect t="-855" r="-822" b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-10972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693" y="2415576"/>
            <a:ext cx="7217426" cy="1896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42544" y="371332"/>
                <a:ext cx="10800000" cy="501675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Budget Committee members at the Capital City Recreation Center want to look at ways to better support their after-school programs. They decided to purchase one sketch book for every student in the art club.</a:t>
                </a:r>
              </a:p>
              <a:p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Determine how many of the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283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total students that participate in extracurricular activities are in the art club by filling in the blanks.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</a:rPr>
                </a:b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Determine how many of the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283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total students that participate in extracurricular activities are in the robotics club.</a:t>
                </a: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" y="371332"/>
                <a:ext cx="10800000" cy="5016758"/>
              </a:xfrm>
              <a:prstGeom prst="rect">
                <a:avLst/>
              </a:prstGeom>
              <a:blipFill rotWithShape="1">
                <a:blip r:embed="rId5"/>
                <a:stretch>
                  <a:fillRect l="-564" t="-729" r="-451" b="-12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/>
        </p:nvSpPr>
        <p:spPr>
          <a:xfrm>
            <a:off x="1161276" y="108120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7.4.3 Collaboration: What Does the Graph Say?</a:t>
            </a:r>
            <a:endParaRPr dirty="0"/>
          </a:p>
        </p:txBody>
      </p:sp>
      <p:pic>
        <p:nvPicPr>
          <p:cNvPr id="241" name="Google Shape;241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9298" y="39606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42" name="Google Shape;242;p11"/>
          <p:cNvSpPr txBox="1"/>
          <p:nvPr/>
        </p:nvSpPr>
        <p:spPr>
          <a:xfrm>
            <a:off x="536154" y="1460454"/>
            <a:ext cx="108000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Determine with your partner who will be partner A and who will be partner B. Partners A and B will be given two different ingredient lists for two popular holiday snack mixes and a blank circle.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not let your partner see your list.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Use your recipe to fill in the chart. Then, construct a circle graph for your recipe using the circle provided. Round each percent to the nearest tenth and angle measure to the nearest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whole number.</a:t>
            </a: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/>
          <p:nvPr/>
        </p:nvSpPr>
        <p:spPr>
          <a:xfrm>
            <a:off x="534071" y="4210274"/>
            <a:ext cx="108000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2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Exchange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only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your completed circle graph with your partner and use your partner’s completed circle graph to answer the following questions.</a:t>
            </a:r>
            <a:endParaRPr dirty="0"/>
          </a:p>
          <a:p>
            <a:pPr marL="914400" marR="0" lvl="0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Which ingredient was used most in your partner’s recipe?</a:t>
            </a: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3" name="Google Shape;253;p12"/>
              <p:cNvGraphicFramePr/>
              <p:nvPr>
                <p:extLst>
                  <p:ext uri="{D42A27DB-BD31-4B8C-83A1-F6EECF244321}">
                    <p14:modId xmlns:p14="http://schemas.microsoft.com/office/powerpoint/2010/main" val="49399968"/>
                  </p:ext>
                </p:extLst>
              </p:nvPr>
            </p:nvGraphicFramePr>
            <p:xfrm>
              <a:off x="2007765" y="369472"/>
              <a:ext cx="8640000" cy="3627175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{8ABDF2EC-C4CC-4C3A-98EB-487245A8E9FB}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44875">
                    <a:tc gridSpan="4"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Your Recipe _____________________</a:t>
                          </a:r>
                          <a:endParaRPr dirty="0"/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Total Number of Cups _______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91450" marT="0" marB="182875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Ingredient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1800" b="1" i="1" u="none" strike="noStrike" cap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PH" sz="1800" b="1" i="0" u="none" strike="noStrike" cap="none" smtClean="0">
                                        <a:latin typeface="Verdana" pitchFamily="34" charset="0"/>
                                        <a:ea typeface="Verdana" pitchFamily="34" charset="0"/>
                                      </a:rPr>
                                      <m:t>ingredient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PH" sz="1800" b="1" i="0" u="none" strike="noStrike" cap="none" smtClean="0">
                                        <a:latin typeface="Verdana" pitchFamily="34" charset="0"/>
                                        <a:ea typeface="Verdana" pitchFamily="34" charset="0"/>
                                      </a:rPr>
                                      <m:t> 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PH" sz="1800" b="1" i="0" u="none" strike="noStrike" cap="none" smtClean="0">
                                        <a:latin typeface="Verdana" pitchFamily="34" charset="0"/>
                                        <a:ea typeface="Verdana" pitchFamily="34" charset="0"/>
                                      </a:rPr>
                                      <m:t>cups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PH" sz="1800" b="1" i="0" u="none" strike="noStrike" cap="none" smtClean="0">
                                        <a:latin typeface="Verdana" pitchFamily="34" charset="0"/>
                                        <a:ea typeface="Verdana" pitchFamily="34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PH" sz="1800" b="1" i="0" u="none" strike="noStrike" cap="none" smtClean="0">
                                        <a:latin typeface="Verdana" pitchFamily="34" charset="0"/>
                                        <a:ea typeface="Verdana" pitchFamily="34" charset="0"/>
                                      </a:rPr>
                                      <m:t>total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PH" sz="1800" b="1" i="0" u="none" strike="noStrike" cap="none" smtClean="0">
                                        <a:latin typeface="Verdana" pitchFamily="34" charset="0"/>
                                        <a:ea typeface="Verdana" pitchFamily="34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PH" sz="1800" b="1" i="0" u="none" strike="noStrike" cap="none" smtClean="0">
                                        <a:latin typeface="Verdana" pitchFamily="34" charset="0"/>
                                        <a:ea typeface="Verdana" pitchFamily="34" charset="0"/>
                                      </a:rPr>
                                      <m:t>cups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2000" b="1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Percentage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PH" sz="2000" b="1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Angle </a:t>
                          </a:r>
                          <a:br>
                            <a:rPr lang="en-PH" sz="2000" b="1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</a:br>
                          <a:r>
                            <a:rPr lang="en-PH" sz="2000" b="1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Measure (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1" i="1" u="none" strike="noStrike" cap="none" smtClean="0">
                                  <a:latin typeface="Cambria Math"/>
                                  <a:ea typeface="Cambria Math"/>
                                </a:rPr>
                                <m:t>°</m:t>
                              </m:r>
                            </m:oMath>
                          </a14:m>
                          <a:r>
                            <a:rPr lang="en-PH" sz="2000" b="1" u="none" strike="noStrike" cap="none" dirty="0">
                              <a:latin typeface="Verdana" pitchFamily="34" charset="0"/>
                              <a:ea typeface="Verdana" pitchFamily="34" charset="0"/>
                            </a:rPr>
                            <a:t>)</a:t>
                          </a:r>
                          <a:endParaRPr sz="2000" b="1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3" name="Google Shape;253;p12"/>
              <p:cNvGraphicFramePr/>
              <p:nvPr>
                <p:extLst>
                  <p:ext uri="{D42A27DB-BD31-4B8C-83A1-F6EECF244321}">
                    <p14:modId xmlns:p14="http://schemas.microsoft.com/office/powerpoint/2010/main" val="49399968"/>
                  </p:ext>
                </p:extLst>
              </p:nvPr>
            </p:nvGraphicFramePr>
            <p:xfrm>
              <a:off x="2007765" y="369472"/>
              <a:ext cx="8640000" cy="3627175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{8ABDF2EC-C4CC-4C3A-98EB-487245A8E9FB}</a:tableStyleId>
                  </a:tblPr>
                  <a:tblGrid>
                    <a:gridCol w="1800000"/>
                    <a:gridCol w="2520000"/>
                    <a:gridCol w="1800000"/>
                    <a:gridCol w="2520000"/>
                  </a:tblGrid>
                  <a:tr h="944875">
                    <a:tc gridSpan="4"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Your Recipe _____________________</a:t>
                          </a:r>
                          <a:endParaRPr dirty="0" smtClean="0"/>
                        </a:p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120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Total Number of Cups _______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0" marR="91450" marT="0" marB="182875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7010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Ingredient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1256" t="-146087" r="-171256" b="-28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 smtClean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Percentage</a:t>
                          </a: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42512" t="-146087" b="-282609"/>
                          </a:stretch>
                        </a:blipFill>
                      </a:tcPr>
                    </a:tc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9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 txBox="1"/>
          <p:nvPr/>
        </p:nvSpPr>
        <p:spPr>
          <a:xfrm>
            <a:off x="534073" y="378350"/>
            <a:ext cx="108000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Which ingredient was used least?</a:t>
            </a:r>
            <a:endParaRPr dirty="0"/>
          </a:p>
          <a:p>
            <a:pPr marL="9144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PH"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PH"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PH"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PH"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PH" sz="2400" dirty="0"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+mj-lt"/>
              <a:buAutoNum type="alphaLcPeriod" startAt="3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Record your observations about any similarities or differences between your graph and your partner’s graph.</a:t>
            </a:r>
            <a:endParaRPr dirty="0"/>
          </a:p>
        </p:txBody>
      </p:sp>
      <p:sp>
        <p:nvSpPr>
          <p:cNvPr id="262" name="Google Shape;262;p1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/>
        </p:nvSpPr>
        <p:spPr>
          <a:xfrm>
            <a:off x="540763" y="381982"/>
            <a:ext cx="10800000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eriod" startAt="4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Complete the table by using your partner’s graph to calculate the number of cups necessary for each ingredient.</a:t>
            </a:r>
            <a:endParaRPr dirty="0"/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PH"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+mj-lt"/>
              <a:buAutoNum type="alphaLcPeriod" startAt="5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Explain the process you used to determine the number of cups for each ingredient in your partner’s recipe.</a:t>
            </a: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9144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2" name="Google Shape;272;p14"/>
          <p:cNvGraphicFramePr/>
          <p:nvPr>
            <p:extLst>
              <p:ext uri="{D42A27DB-BD31-4B8C-83A1-F6EECF244321}">
                <p14:modId xmlns:p14="http://schemas.microsoft.com/office/powerpoint/2010/main" val="115736435"/>
              </p:ext>
            </p:extLst>
          </p:nvPr>
        </p:nvGraphicFramePr>
        <p:xfrm>
          <a:off x="2766008" y="1215974"/>
          <a:ext cx="7200000" cy="3466125"/>
        </p:xfrm>
        <a:graphic>
          <a:graphicData uri="http://schemas.openxmlformats.org/drawingml/2006/table">
            <a:tbl>
              <a:tblPr firstRow="1" bandRow="1">
                <a:noFill/>
                <a:tableStyleId>{8ABDF2EC-C4CC-4C3A-98EB-487245A8E9FB}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Partner’s Recipe _____________________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Total Number of Cups Used _______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91450" marT="0" marB="1828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Ingredient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Number of Cups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2" name="Google Shape;28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 txBox="1"/>
          <p:nvPr/>
        </p:nvSpPr>
        <p:spPr>
          <a:xfrm>
            <a:off x="1154745" y="26125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i="0" u="none" strike="noStrike" cap="none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7.4.4 Your Turn!</a:t>
            </a:r>
            <a:endParaRPr dirty="0"/>
          </a:p>
        </p:txBody>
      </p:sp>
      <p:pic>
        <p:nvPicPr>
          <p:cNvPr id="291" name="Google Shape;29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806" y="22585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3" name="Google Shape;293;p16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16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3656736" y="2321327"/>
            <a:ext cx="5172660" cy="39909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42;p11"/>
              <p:cNvSpPr txBox="1"/>
              <p:nvPr/>
            </p:nvSpPr>
            <p:spPr>
              <a:xfrm>
                <a:off x="536154" y="1267414"/>
                <a:ext cx="10800000" cy="7078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A health club surveyed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itchFamily="34" charset="0"/>
                      </a:rPr>
                      <m:t>500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of its members to determine which activities they come to the club to participate in. Use the graph to answer the questions.</a:t>
                </a: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3" name="Google Shape;242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54" y="1267414"/>
                <a:ext cx="10800000" cy="707846"/>
              </a:xfrm>
              <a:prstGeom prst="rect">
                <a:avLst/>
              </a:prstGeom>
              <a:blipFill rotWithShape="1">
                <a:blip r:embed="rId5"/>
                <a:stretch>
                  <a:fillRect l="-621" t="-5172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3;p16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60;p13"/>
              <p:cNvSpPr txBox="1"/>
              <p:nvPr/>
            </p:nvSpPr>
            <p:spPr>
              <a:xfrm>
                <a:off x="534073" y="378350"/>
                <a:ext cx="10800000" cy="4555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00113" lvl="0" indent="-457200">
                  <a:buSzPct val="100000"/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Describe how to determine which two activities approximately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Verdana" pitchFamily="34" charset="0"/>
                          </a:rPr>
                        </m:ctrlPr>
                      </m:fPr>
                      <m:num>
                        <m:r>
                          <a:rPr lang="en-PH" sz="2000" b="0" i="1" dirty="0" smtClean="0">
                            <a:latin typeface="Cambria Math"/>
                            <a:ea typeface="Verdana" pitchFamily="34" charset="0"/>
                          </a:rPr>
                          <m:t>2</m:t>
                        </m:r>
                      </m:num>
                      <m:den>
                        <m:r>
                          <a:rPr lang="en-PH" sz="2000" b="0" i="1" dirty="0" smtClean="0">
                            <a:latin typeface="Cambria Math"/>
                            <a:ea typeface="Verdana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of the members participate in.</a:t>
                </a:r>
              </a:p>
              <a:p>
                <a:pPr marL="900113" lvl="0" indent="-457200">
                  <a:buSzPts val="24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0" indent="-457200">
                  <a:buSzPts val="24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0" indent="-457200">
                  <a:buSzPts val="24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0" indent="-457200">
                  <a:buSzPts val="24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0" indent="-457200">
                  <a:buSzPts val="2400"/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How many members come to the club for swimming?</a:t>
                </a: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How many club members participate in an exercise class?</a:t>
                </a:r>
                <a:endParaRPr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9" name="Google Shape;260;p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3" y="378350"/>
                <a:ext cx="10800000" cy="4555887"/>
              </a:xfrm>
              <a:prstGeom prst="rect">
                <a:avLst/>
              </a:prstGeom>
              <a:blipFill rotWithShape="1">
                <a:blip r:embed="rId4"/>
                <a:stretch>
                  <a:fillRect b="-9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3" name="Google Shape;31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Google Shape;279;p1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/>
          <p:nvPr/>
        </p:nvSpPr>
        <p:spPr>
          <a:xfrm>
            <a:off x="1150466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7.4.5 Wrap-Up: Reflection</a:t>
            </a:r>
            <a:endParaRPr dirty="0"/>
          </a:p>
        </p:txBody>
      </p:sp>
      <p:pic>
        <p:nvPicPr>
          <p:cNvPr id="322" name="Google Shape;32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806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23" name="Google Shape;323;p19"/>
          <p:cNvSpPr txBox="1"/>
          <p:nvPr/>
        </p:nvSpPr>
        <p:spPr>
          <a:xfrm>
            <a:off x="535199" y="1386026"/>
            <a:ext cx="10800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Choose the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emoji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that reflects your understanding of interpreting data in a circle graph.</a:t>
            </a: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05551" y="2366964"/>
            <a:ext cx="761047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/>
        </p:nvSpPr>
        <p:spPr>
          <a:xfrm>
            <a:off x="536154" y="378350"/>
            <a:ext cx="108000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2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Complete the statement.</a:t>
            </a:r>
            <a:endParaRPr dirty="0"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chose this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emoji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because ______________________________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____________________________________________________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____________________________________________________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lvl="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____________________________________________________</a:t>
            </a: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7" y="-405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812</Words>
  <Application>Microsoft Macintosh PowerPoint</Application>
  <PresentationFormat>Widescreen</PresentationFormat>
  <Paragraphs>166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Arial Black</vt:lpstr>
      <vt:lpstr>Cambria Math</vt:lpstr>
      <vt:lpstr>Verdana</vt:lpstr>
      <vt:lpstr>Arial</vt:lpstr>
      <vt:lpstr>Century Gothic</vt:lpstr>
      <vt:lpstr>1_Office Theme</vt:lpstr>
      <vt:lpstr>7th Grade Math  Unit 7, Lesson 4  Interpreting Circle Graphs  Volume 1, pg. 308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Math  Unit 7, Lesson 4  Interpreting Circle Graphs  Volume 1, pg. 308</dc:title>
  <dc:creator>Karen McKenzie</dc:creator>
  <cp:lastModifiedBy>Diana Barnett</cp:lastModifiedBy>
  <cp:revision>9</cp:revision>
  <dcterms:created xsi:type="dcterms:W3CDTF">2015-03-17T18:51:18Z</dcterms:created>
  <dcterms:modified xsi:type="dcterms:W3CDTF">2023-01-30T14:04:15Z</dcterms:modified>
</cp:coreProperties>
</file>