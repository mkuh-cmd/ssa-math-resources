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33" r:id="rId11"/>
    <p:sldId id="342" r:id="rId12"/>
    <p:sldId id="314" r:id="rId13"/>
    <p:sldId id="315" r:id="rId14"/>
    <p:sldId id="332" r:id="rId15"/>
    <p:sldId id="343" r:id="rId16"/>
    <p:sldId id="289" r:id="rId17"/>
    <p:sldId id="290" r:id="rId18"/>
    <p:sldId id="336" r:id="rId19"/>
    <p:sldId id="344" r:id="rId20"/>
    <p:sldId id="345" r:id="rId21"/>
    <p:sldId id="346" r:id="rId22"/>
    <p:sldId id="347" r:id="rId23"/>
    <p:sldId id="306" r:id="rId24"/>
    <p:sldId id="307" r:id="rId25"/>
  </p:sldIdLst>
  <p:sldSz cx="12192000" cy="6858000"/>
  <p:notesSz cx="6858000" cy="9144000"/>
  <p:embeddedFontLst>
    <p:embeddedFont>
      <p:font typeface="Calibri" pitchFamily="34" charset="0"/>
      <p:regular r:id="rId27"/>
      <p:bold r:id="rId28"/>
      <p:italic r:id="rId29"/>
      <p:boldItalic r:id="rId30"/>
    </p:embeddedFont>
    <p:embeddedFont>
      <p:font typeface="Century Gothic" pitchFamily="34" charset="0"/>
      <p:regular r:id="rId31"/>
      <p:bold r:id="rId32"/>
      <p:italic r:id="rId33"/>
      <p:boldItalic r:id="rId34"/>
    </p:embeddedFont>
    <p:embeddedFont>
      <p:font typeface="Cambria Math" pitchFamily="18" charset="0"/>
      <p:regular r:id="rId35"/>
    </p:embeddedFont>
    <p:embeddedFont>
      <p:font typeface="Cambria" pitchFamily="18" charset="0"/>
      <p:regular r:id="rId36"/>
      <p:bold r:id="rId37"/>
      <p:italic r:id="rId38"/>
      <p:boldItalic r:id="rId39"/>
    </p:embeddedFont>
    <p:embeddedFont>
      <p:font typeface="Arial Black" pitchFamily="34" charset="0"/>
      <p:bold r:id="rId40"/>
    </p:embeddedFont>
    <p:embeddedFont>
      <p:font typeface="Verdana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381" autoAdjust="0"/>
    <p:restoredTop sz="94694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6336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4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Circle Graphs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MA.7.DP.1.4 </a:t>
            </a:r>
          </a:p>
          <a:p>
            <a:pPr indent="0"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proportional reasoning to construct, display, and interpret data in circle graphs.</a:t>
            </a: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3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103763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4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3888" indent="-61753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show how an angle measure is related to a portion of a circle.</a:t>
            </a:r>
          </a:p>
        </p:txBody>
      </p:sp>
      <p:sp>
        <p:nvSpPr>
          <p:cNvPr id="11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 descr="Diagram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8270" y="1386026"/>
            <a:ext cx="3681730" cy="3718560"/>
          </a:xfrm>
          <a:prstGeom prst="rect">
            <a:avLst/>
          </a:prstGeom>
        </p:spPr>
      </p:pic>
      <p:sp>
        <p:nvSpPr>
          <p:cNvPr id="12" name="Google Shape;167;p4"/>
          <p:cNvSpPr txBox="1"/>
          <p:nvPr/>
        </p:nvSpPr>
        <p:spPr>
          <a:xfrm>
            <a:off x="1143000" y="43141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7.1.1 Warm-Up: NFL Draft</a:t>
            </a:r>
          </a:p>
        </p:txBody>
      </p:sp>
      <p:pic>
        <p:nvPicPr>
          <p:cNvPr id="14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Google Shape;170;p4"/>
          <p:cNvSpPr txBox="1"/>
          <p:nvPr/>
        </p:nvSpPr>
        <p:spPr>
          <a:xfrm>
            <a:off x="914400" y="1386026"/>
            <a:ext cx="6305549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/>
                <a:ea typeface="Verdana"/>
                <a:cs typeface="Verdana"/>
              </a:rPr>
              <a:t>The circle graph shows the number of National Football League’s (NFL) first round picks for five schools for the common era ending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in 2017.</a:t>
            </a:r>
            <a:endParaRPr lang="en-PH" sz="2400" dirty="0">
              <a:latin typeface="Cambri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do you notice about the circle graph?</a:t>
            </a:r>
            <a:endParaRPr lang="en-PH" sz="2400" dirty="0">
              <a:latin typeface="Cambria"/>
              <a:ea typeface="Times New Roman"/>
              <a:cs typeface="Cambria"/>
            </a:endParaRPr>
          </a:p>
        </p:txBody>
      </p:sp>
      <p:pic>
        <p:nvPicPr>
          <p:cNvPr id="16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9;p5"/>
          <p:cNvSpPr txBox="1"/>
          <p:nvPr/>
        </p:nvSpPr>
        <p:spPr>
          <a:xfrm>
            <a:off x="914400" y="487736"/>
            <a:ext cx="10515600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Cambria"/>
              </a:rPr>
              <a:t>A data scientist created a bar chart for the same data.</a:t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endParaRPr lang="en-US" sz="2000" dirty="0" smtClean="0">
              <a:latin typeface="Verdana"/>
              <a:ea typeface="Verdana"/>
              <a:cs typeface="Cambria"/>
            </a:endParaRPr>
          </a:p>
          <a:p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endParaRPr lang="en-US" sz="2000" dirty="0" smtClean="0">
              <a:latin typeface="Verdana"/>
              <a:ea typeface="Verdana"/>
              <a:cs typeface="Cambria"/>
            </a:endParaRPr>
          </a:p>
          <a:p>
            <a:endParaRPr lang="en-US" sz="2000" dirty="0">
              <a:latin typeface="Verdana"/>
              <a:ea typeface="Verdana"/>
              <a:cs typeface="Cambria"/>
            </a:endParaRPr>
          </a:p>
          <a:p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r>
              <a:rPr lang="en-US" sz="2000" dirty="0">
                <a:latin typeface="Verdana"/>
                <a:ea typeface="Verdana"/>
                <a:cs typeface="Cambria"/>
              </a:rPr>
              <a:t/>
            </a:r>
            <a:br>
              <a:rPr lang="en-US" sz="2000" dirty="0">
                <a:latin typeface="Verdana"/>
                <a:ea typeface="Verdana"/>
                <a:cs typeface="Cambria"/>
              </a:rPr>
            </a:br>
            <a:endParaRPr lang="en-US" sz="2000" dirty="0">
              <a:latin typeface="Verdana"/>
              <a:ea typeface="Verdana"/>
              <a:cs typeface="Cambria"/>
            </a:endParaRPr>
          </a:p>
          <a:p>
            <a:pPr marL="446088"/>
            <a:r>
              <a:rPr lang="en-US" sz="2000" dirty="0">
                <a:latin typeface="Verdana"/>
                <a:ea typeface="Verdana"/>
                <a:cs typeface="Cambria"/>
              </a:rPr>
              <a:t>Describe how the bar chart better represents the data than the circle graph.</a:t>
            </a:r>
            <a:endParaRPr lang="en-PH" dirty="0">
              <a:latin typeface="Cambria"/>
              <a:ea typeface="Times New Roman"/>
              <a:cs typeface="Cambria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20996" y="1001167"/>
            <a:ext cx="7502405" cy="4297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4861" y="2850881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42286" y="1346852"/>
            <a:ext cx="6773740" cy="56283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72000" rIns="91425" bIns="0" anchor="ctr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sector 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is a fractional part of the area of a circle.</a:t>
            </a:r>
            <a:endParaRPr lang="en-PH" dirty="0">
              <a:latin typeface="Cambria"/>
              <a:ea typeface="Times New Roman"/>
              <a:cs typeface="Cambri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939684" y="3326571"/>
            <a:ext cx="6384486" cy="3051515"/>
            <a:chOff x="1097021" y="3477722"/>
            <a:chExt cx="6384486" cy="3051515"/>
          </a:xfrm>
        </p:grpSpPr>
        <p:grpSp>
          <p:nvGrpSpPr>
            <p:cNvPr id="5" name="Group 4"/>
            <p:cNvGrpSpPr/>
            <p:nvPr/>
          </p:nvGrpSpPr>
          <p:grpSpPr>
            <a:xfrm>
              <a:off x="1097021" y="3477722"/>
              <a:ext cx="2935467" cy="3051515"/>
              <a:chOff x="1097021" y="3477722"/>
              <a:chExt cx="2935467" cy="3051515"/>
            </a:xfrm>
          </p:grpSpPr>
          <p:pic>
            <p:nvPicPr>
              <p:cNvPr id="12" name="Picture 11"/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1097021" y="3883124"/>
                <a:ext cx="2935467" cy="26461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1990718" y="3477722"/>
                <a:ext cx="11480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b="1" dirty="0">
                    <a:latin typeface="Verdana" pitchFamily="34" charset="0"/>
                    <a:ea typeface="Verdana" pitchFamily="34" charset="0"/>
                  </a:rPr>
                  <a:t>Halves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4546040" y="3483014"/>
              <a:ext cx="2935467" cy="3040931"/>
              <a:chOff x="4034046" y="3483014"/>
              <a:chExt cx="2935467" cy="3040931"/>
            </a:xfrm>
          </p:grpSpPr>
          <p:pic>
            <p:nvPicPr>
              <p:cNvPr id="13" name="Picture 12"/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034046" y="3877832"/>
                <a:ext cx="2935467" cy="26461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4956597" y="3483014"/>
                <a:ext cx="10903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b="1" dirty="0">
                    <a:latin typeface="Verdana" pitchFamily="34" charset="0"/>
                    <a:ea typeface="Verdana" pitchFamily="34" charset="0"/>
                  </a:rPr>
                  <a:t>Thirds</a:t>
                </a:r>
              </a:p>
            </p:txBody>
          </p:sp>
        </p:grpSp>
      </p:grpSp>
      <p:sp>
        <p:nvSpPr>
          <p:cNvPr id="17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2286" y="32550"/>
            <a:ext cx="10949714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7.1.2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Sectors and Circles</a:t>
            </a:r>
          </a:p>
        </p:txBody>
      </p:sp>
      <p:pic>
        <p:nvPicPr>
          <p:cNvPr id="1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732743" y="1490008"/>
            <a:ext cx="107983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Verdana"/>
                <a:ea typeface="Verdana"/>
                <a:cs typeface="Verdana"/>
              </a:rPr>
              <a:t>There </a:t>
            </a:r>
            <a:r>
              <a:rPr lang="en-US" sz="2000" dirty="0">
                <a:latin typeface="Verdana"/>
                <a:ea typeface="Verdana"/>
                <a:cs typeface="Verdana"/>
              </a:rPr>
              <a:t>are six congruent circles drawn below. Use a protractor to divide the circles into sectors that represent halves, thirds, fourths, fifths, sixths, and eighths, as indicated. </a:t>
            </a:r>
            <a:endParaRPr lang="en-PH" sz="2000" dirty="0">
              <a:latin typeface="Cambria"/>
              <a:ea typeface="Times New Roman"/>
              <a:cs typeface="Cambria"/>
            </a:endParaRPr>
          </a:p>
        </p:txBody>
      </p:sp>
      <p:pic>
        <p:nvPicPr>
          <p:cNvPr id="21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621021" y="191756"/>
            <a:ext cx="6384486" cy="3051515"/>
            <a:chOff x="1097021" y="3477722"/>
            <a:chExt cx="6384486" cy="3051515"/>
          </a:xfrm>
        </p:grpSpPr>
        <p:grpSp>
          <p:nvGrpSpPr>
            <p:cNvPr id="8" name="Group 7"/>
            <p:cNvGrpSpPr/>
            <p:nvPr/>
          </p:nvGrpSpPr>
          <p:grpSpPr>
            <a:xfrm>
              <a:off x="1097021" y="3477722"/>
              <a:ext cx="2935467" cy="3051515"/>
              <a:chOff x="1097021" y="3477722"/>
              <a:chExt cx="2935467" cy="3051515"/>
            </a:xfrm>
          </p:grpSpPr>
          <p:pic>
            <p:nvPicPr>
              <p:cNvPr id="13" name="Picture 12"/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1097021" y="3883124"/>
                <a:ext cx="2935467" cy="26461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5" name="TextBox 14"/>
              <p:cNvSpPr txBox="1"/>
              <p:nvPr/>
            </p:nvSpPr>
            <p:spPr>
              <a:xfrm>
                <a:off x="1919385" y="3477722"/>
                <a:ext cx="12907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b="1" dirty="0">
                    <a:latin typeface="Verdana" pitchFamily="34" charset="0"/>
                    <a:ea typeface="Verdana" pitchFamily="34" charset="0"/>
                  </a:rPr>
                  <a:t>Fourths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4546040" y="3483014"/>
              <a:ext cx="2935467" cy="3040931"/>
              <a:chOff x="4034046" y="3483014"/>
              <a:chExt cx="2935467" cy="3040931"/>
            </a:xfrm>
          </p:grpSpPr>
          <p:pic>
            <p:nvPicPr>
              <p:cNvPr id="10" name="Picture 9"/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034046" y="3877832"/>
                <a:ext cx="2935467" cy="26461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5001480" y="3483014"/>
                <a:ext cx="10005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b="1" dirty="0">
                    <a:latin typeface="Verdana" pitchFamily="34" charset="0"/>
                    <a:ea typeface="Verdana" pitchFamily="34" charset="0"/>
                  </a:rPr>
                  <a:t>Fifths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2621021" y="3406161"/>
            <a:ext cx="6384486" cy="3051515"/>
            <a:chOff x="1097021" y="3477722"/>
            <a:chExt cx="6384486" cy="3051515"/>
          </a:xfrm>
        </p:grpSpPr>
        <p:grpSp>
          <p:nvGrpSpPr>
            <p:cNvPr id="17" name="Group 16"/>
            <p:cNvGrpSpPr/>
            <p:nvPr/>
          </p:nvGrpSpPr>
          <p:grpSpPr>
            <a:xfrm>
              <a:off x="1097021" y="3477722"/>
              <a:ext cx="2935467" cy="3051515"/>
              <a:chOff x="1097021" y="3477722"/>
              <a:chExt cx="2935467" cy="3051515"/>
            </a:xfrm>
          </p:grpSpPr>
          <p:pic>
            <p:nvPicPr>
              <p:cNvPr id="21" name="Picture 20"/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1097021" y="3883124"/>
                <a:ext cx="2935467" cy="26461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22" name="TextBox 21"/>
              <p:cNvSpPr txBox="1"/>
              <p:nvPr/>
            </p:nvSpPr>
            <p:spPr>
              <a:xfrm>
                <a:off x="2025183" y="3477722"/>
                <a:ext cx="10791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b="1" dirty="0">
                    <a:latin typeface="Verdana" pitchFamily="34" charset="0"/>
                    <a:ea typeface="Verdana" pitchFamily="34" charset="0"/>
                  </a:rPr>
                  <a:t>Sixths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546040" y="3477722"/>
              <a:ext cx="2935467" cy="3046223"/>
              <a:chOff x="4034046" y="3477722"/>
              <a:chExt cx="2935467" cy="3046223"/>
            </a:xfrm>
          </p:grpSpPr>
          <p:pic>
            <p:nvPicPr>
              <p:cNvPr id="19" name="Picture 18"/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034046" y="3877832"/>
                <a:ext cx="2935467" cy="2646113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20" name="TextBox 19"/>
              <p:cNvSpPr txBox="1"/>
              <p:nvPr/>
            </p:nvSpPr>
            <p:spPr>
              <a:xfrm>
                <a:off x="4962208" y="3477722"/>
                <a:ext cx="10791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b="1" dirty="0">
                    <a:latin typeface="Verdana" pitchFamily="34" charset="0"/>
                    <a:ea typeface="Verdana" pitchFamily="34" charset="0"/>
                  </a:rPr>
                  <a:t>Eights</a:t>
                </a:r>
              </a:p>
            </p:txBody>
          </p:sp>
        </p:grpSp>
      </p:grpSp>
      <p:pic>
        <p:nvPicPr>
          <p:cNvPr id="24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980322"/>
              </p:ext>
            </p:extLst>
          </p:nvPr>
        </p:nvGraphicFramePr>
        <p:xfrm>
          <a:off x="1535273" y="1544462"/>
          <a:ext cx="7560000" cy="4140000"/>
        </p:xfrm>
        <a:graphic>
          <a:graphicData uri="http://schemas.openxmlformats.org/drawingml/2006/table">
            <a:tbl>
              <a:tblPr firstRow="1" firstCol="1" bandRow="1"/>
              <a:tblGrid>
                <a:gridCol w="252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Cambria"/>
                        </a:rPr>
                        <a:t>Sector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Cambria"/>
                        </a:rPr>
                        <a:t>Fraction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Cambria"/>
                        </a:rPr>
                        <a:t>Percentage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tabLst/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Halves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Thirds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Fourths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Fifths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Sixths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Eighths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Cambria"/>
                        </a:rPr>
                        <a:t> </a:t>
                      </a:r>
                      <a:endParaRPr lang="en-PH" sz="2000" dirty="0">
                        <a:effectLst/>
                        <a:latin typeface="Cambria"/>
                        <a:ea typeface="Times New Roman"/>
                        <a:cs typeface="Cambri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79;p5"/>
          <p:cNvSpPr txBox="1"/>
          <p:nvPr/>
        </p:nvSpPr>
        <p:spPr>
          <a:xfrm>
            <a:off x="914400" y="487736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Cambria"/>
              </a:rPr>
              <a:t>Complete the table with the fraction and percentage of </a:t>
            </a:r>
            <a:r>
              <a:rPr lang="en-US" sz="2400" dirty="0" smtClean="0">
                <a:latin typeface="Verdana"/>
                <a:ea typeface="Verdana"/>
                <a:cs typeface="Cambria"/>
              </a:rPr>
              <a:t/>
            </a:r>
            <a:br>
              <a:rPr lang="en-US" sz="2400" dirty="0" smtClean="0">
                <a:latin typeface="Verdana"/>
                <a:ea typeface="Verdana"/>
                <a:cs typeface="Cambria"/>
              </a:rPr>
            </a:br>
            <a:r>
              <a:rPr lang="en-US" sz="2400" dirty="0" smtClean="0">
                <a:latin typeface="Verdana"/>
                <a:ea typeface="Verdana"/>
                <a:cs typeface="Cambria"/>
              </a:rPr>
              <a:t>the </a:t>
            </a:r>
            <a:r>
              <a:rPr lang="en-US" sz="2400" dirty="0">
                <a:latin typeface="Verdana"/>
                <a:ea typeface="Verdana"/>
                <a:cs typeface="Cambria"/>
              </a:rPr>
              <a:t>whole circle that each congruent sector represents. </a:t>
            </a:r>
            <a:r>
              <a:rPr lang="en-US" sz="2400" i="1" dirty="0">
                <a:latin typeface="Verdana"/>
                <a:ea typeface="Cambria"/>
                <a:cs typeface="Cambria"/>
              </a:rPr>
              <a:t> </a:t>
            </a:r>
            <a:endParaRPr lang="en-PH" sz="2400" dirty="0">
              <a:latin typeface="Cambria"/>
              <a:ea typeface="Times New Roman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2189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2" name="Picture 11" descr="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70940" y="2625177"/>
            <a:ext cx="3445267" cy="33532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914400" y="2639806"/>
            <a:ext cx="62674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 smtClean="0">
                <a:latin typeface="Verdana"/>
                <a:ea typeface="Verdana"/>
                <a:cs typeface="Cambria"/>
              </a:rPr>
              <a:t>Use the circle on the coordinate grid to answer the following questions.</a:t>
            </a:r>
            <a:endParaRPr lang="en-PH" sz="2000" dirty="0" smtClean="0">
              <a:latin typeface="Cambria"/>
              <a:ea typeface="Verdana"/>
              <a:cs typeface="Cambria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 smtClean="0">
                <a:latin typeface="Verdana"/>
                <a:ea typeface="Verdana"/>
                <a:cs typeface="Cambria"/>
              </a:rPr>
              <a:t>Discuss with your partner how to divide the circle into </a:t>
            </a:r>
            <a:r>
              <a:rPr lang="en-US" sz="2000" dirty="0" smtClean="0">
                <a:latin typeface="Verdana"/>
                <a:ea typeface="Verdana"/>
                <a:cs typeface="Cambria"/>
              </a:rPr>
              <a:t>a </a:t>
            </a:r>
            <a:r>
              <a:rPr lang="en-US" sz="2000" dirty="0" smtClean="0">
                <a:latin typeface="Verdana"/>
                <a:ea typeface="Verdana"/>
                <a:cs typeface="Cambria"/>
              </a:rPr>
              <a:t>half and two quarters.</a:t>
            </a: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/>
              <a:ea typeface="Verdana"/>
              <a:cs typeface="Cambri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 smtClean="0">
              <a:latin typeface="Verdana"/>
              <a:ea typeface="Verdana"/>
              <a:cs typeface="Cambria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Use a straight edge to divide the circle. Label each sector with the fraction and percentage of the whole circle the sector represents.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3" name="Google Shape;197;p7"/>
          <p:cNvSpPr txBox="1"/>
          <p:nvPr/>
        </p:nvSpPr>
        <p:spPr>
          <a:xfrm>
            <a:off x="1143000" y="86728"/>
            <a:ext cx="105156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7.1.3 Collaboration: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Dividing Circles into Sectors</a:t>
            </a:r>
          </a:p>
        </p:txBody>
      </p:sp>
      <p:pic>
        <p:nvPicPr>
          <p:cNvPr id="15" name="Google Shape;199;p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Google Shape;200;p7"/>
          <p:cNvSpPr txBox="1"/>
          <p:nvPr/>
        </p:nvSpPr>
        <p:spPr>
          <a:xfrm>
            <a:off x="914400" y="1368628"/>
            <a:ext cx="105156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/>
                <a:ea typeface="Verdana"/>
                <a:cs typeface="Verdana"/>
              </a:rPr>
              <a:t>In the Exploration, all of the circles were divided into congruent sectors.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000" dirty="0" smtClean="0">
                <a:latin typeface="Verdana"/>
                <a:ea typeface="Verdana"/>
                <a:cs typeface="Verdana"/>
              </a:rPr>
            </a:br>
            <a:r>
              <a:rPr lang="en-US" sz="2000" dirty="0" smtClean="0">
                <a:latin typeface="Verdana"/>
                <a:ea typeface="Verdana"/>
                <a:cs typeface="Verdana"/>
              </a:rPr>
              <a:t>Data </a:t>
            </a:r>
            <a:r>
              <a:rPr lang="en-US" sz="2000" dirty="0">
                <a:latin typeface="Verdana"/>
                <a:ea typeface="Verdana"/>
                <a:cs typeface="Verdana"/>
              </a:rPr>
              <a:t>displayed in </a:t>
            </a:r>
            <a:r>
              <a:rPr lang="en-US" sz="2000" b="1" i="1" dirty="0">
                <a:latin typeface="Verdana"/>
                <a:ea typeface="Verdana"/>
                <a:cs typeface="Verdana"/>
              </a:rPr>
              <a:t>circle graphs</a:t>
            </a:r>
            <a:r>
              <a:rPr lang="en-US" sz="2000" dirty="0">
                <a:latin typeface="Verdana"/>
                <a:ea typeface="Verdana"/>
                <a:cs typeface="Verdana"/>
              </a:rPr>
              <a:t> are not typically divided equally among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000" dirty="0" smtClean="0">
                <a:latin typeface="Verdana"/>
                <a:ea typeface="Verdana"/>
                <a:cs typeface="Verdana"/>
              </a:rPr>
            </a:br>
            <a:r>
              <a:rPr lang="en-US" sz="2000" dirty="0" smtClean="0">
                <a:latin typeface="Verdana"/>
                <a:ea typeface="Verdana"/>
                <a:cs typeface="Verdana"/>
              </a:rPr>
              <a:t>each </a:t>
            </a:r>
            <a:r>
              <a:rPr lang="en-US" sz="2000" dirty="0">
                <a:latin typeface="Verdana"/>
                <a:ea typeface="Verdana"/>
                <a:cs typeface="Verdana"/>
              </a:rPr>
              <a:t>category.</a:t>
            </a:r>
            <a:endParaRPr lang="en-PH" sz="2000" dirty="0">
              <a:latin typeface="Cambria"/>
              <a:ea typeface="Verdana"/>
              <a:cs typeface="Verdana"/>
            </a:endParaRPr>
          </a:p>
        </p:txBody>
      </p:sp>
      <p:pic>
        <p:nvPicPr>
          <p:cNvPr id="17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9;p5"/>
          <p:cNvSpPr txBox="1"/>
          <p:nvPr/>
        </p:nvSpPr>
        <p:spPr>
          <a:xfrm>
            <a:off x="914400" y="487736"/>
            <a:ext cx="10515600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lvl="1" indent="-457200">
              <a:spcAft>
                <a:spcPts val="1200"/>
              </a:spcAft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What is the sum of all the fractions in the labeled circle?</a:t>
            </a:r>
          </a:p>
          <a:p>
            <a:pPr marL="892175" lvl="1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892175" lvl="1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892175" lvl="1" indent="-457200"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What is the sum of all the percentages in the labeled circle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Cambria"/>
              </a:rPr>
              <a:t>?</a:t>
            </a:r>
          </a:p>
          <a:p>
            <a:pPr marL="892175" lvl="1" indent="-457200">
              <a:buFont typeface="+mj-lt"/>
              <a:buAutoNum type="alphaLcPeriod" startAt="3"/>
            </a:pPr>
            <a:endParaRPr lang="en-PH" sz="2000" dirty="0" smtClean="0">
              <a:latin typeface="Verdana" pitchFamily="34" charset="0"/>
              <a:ea typeface="Verdana" pitchFamily="34" charset="0"/>
              <a:cs typeface="Cambria"/>
            </a:endParaRPr>
          </a:p>
          <a:p>
            <a:pPr marL="892175" lvl="1" indent="-457200">
              <a:buFont typeface="+mj-lt"/>
              <a:buAutoNum type="alphaLcPeriod" startAt="3"/>
            </a:pP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892175" lvl="1" indent="-457200">
              <a:buFont typeface="+mj-lt"/>
              <a:buAutoNum type="alphaLcPeriod" startAt="3"/>
            </a:pPr>
            <a:endParaRPr lang="en-US" sz="2000" dirty="0" smtClean="0">
              <a:latin typeface="Verdana" pitchFamily="34" charset="0"/>
              <a:ea typeface="Verdana" pitchFamily="34" charset="0"/>
              <a:cs typeface="Cambria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Use the circle on the coordinate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Cambria"/>
              </a:rPr>
              <a:t>grid </a:t>
            </a: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to answer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Cambria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  <a:cs typeface="Cambria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  <a:cs typeface="Cambria"/>
              </a:rPr>
              <a:t>the </a:t>
            </a: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following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Cambria"/>
              </a:rPr>
              <a:t>questions</a:t>
            </a: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892175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Discuss with your partner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how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to divide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circle into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a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half, a third, and a sixth.  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  <a:p>
            <a:pPr marL="892175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Use a straight edge to divide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circle.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>Label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each sector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with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the fraction and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percentage of the whole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circle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>sector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represents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8" name="Picture 7" descr="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984733" y="2847213"/>
            <a:ext cx="3445267" cy="33533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179;p5"/>
          <p:cNvSpPr txBox="1"/>
          <p:nvPr/>
        </p:nvSpPr>
        <p:spPr>
          <a:xfrm>
            <a:off x="914400" y="487736"/>
            <a:ext cx="105156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indent="-457200">
              <a:spcAft>
                <a:spcPts val="1200"/>
              </a:spcAft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Cambria"/>
              </a:rPr>
              <a:t>What is the sum of all the fractions in the labeled circle?</a:t>
            </a:r>
          </a:p>
          <a:p>
            <a:pPr marL="892175" indent="-457200">
              <a:buFont typeface="+mj-lt"/>
              <a:buAutoNum type="alphaLcPeriod" startAt="3"/>
            </a:pPr>
            <a:endParaRPr lang="en-US" sz="2000" dirty="0">
              <a:latin typeface="Verdana"/>
              <a:ea typeface="Verdana"/>
              <a:cs typeface="Cambria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000" dirty="0">
              <a:latin typeface="Verdana"/>
              <a:ea typeface="Verdana"/>
              <a:cs typeface="Cambria"/>
            </a:endParaRPr>
          </a:p>
          <a:p>
            <a:pPr marL="892175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Verdana"/>
                <a:cs typeface="Cambria"/>
              </a:rPr>
              <a:t>What is the sum of all the percentages in the labeled circle?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 smtClean="0">
              <a:latin typeface="Verdana" pitchFamily="34" charset="0"/>
              <a:ea typeface="Verdana" pitchFamily="34" charset="0"/>
              <a:cs typeface="Cambria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Consider a circle divided into any number of sectors.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What should be the sum of all fractions in order to represent the area of the whole circle?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971550" lvl="1" indent="-51435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71550" lvl="1" indent="-51435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71550" lvl="1" indent="-51435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What should be the sum of all the </a:t>
            </a: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percentages 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in order to represent the area of the whole circle?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pic>
        <p:nvPicPr>
          <p:cNvPr id="8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4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20;p19"/>
          <p:cNvSpPr txBox="1"/>
          <p:nvPr/>
        </p:nvSpPr>
        <p:spPr>
          <a:xfrm>
            <a:off x="914400" y="1330237"/>
            <a:ext cx="985837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sz="2000" dirty="0" smtClean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/>
            </a:endParaRP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/>
              </a:rPr>
              <a:t>A 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diagram of a circle with four congruent sectors is shown.</a:t>
            </a:r>
            <a:endParaRPr lang="en-PH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Use the definition of a central angle to determine how many central angles are in the circle with four congruent sectors.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914400" y="3213975"/>
            <a:ext cx="4754880" cy="1225868"/>
            <a:chOff x="62630" y="-111924"/>
            <a:chExt cx="4754880" cy="12259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ounded Rectangle 16"/>
            <p:cNvSpPr/>
            <p:nvPr/>
          </p:nvSpPr>
          <p:spPr>
            <a:xfrm>
              <a:off x="62630" y="-111924"/>
              <a:ext cx="4754880" cy="1225932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40" rIns="91425" bIns="91440" anchor="ctr" anchorCtr="0">
              <a:spAutoFit/>
            </a:bodyPr>
            <a:lstStyle/>
            <a:p>
              <a:pPr marL="619125"/>
              <a:r>
                <a:rPr lang="en-US" sz="2000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  <a:cs typeface="Verdana"/>
                </a:rPr>
                <a:t>A</a:t>
              </a:r>
              <a:r>
                <a:rPr lang="en-US" sz="2000" i="1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  <a:cs typeface="Verdana"/>
                </a:rPr>
                <a:t> </a:t>
              </a:r>
              <a:r>
                <a:rPr lang="en-US" sz="2000" b="1" i="1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  <a:cs typeface="Verdana"/>
                </a:rPr>
                <a:t>central angle </a:t>
              </a:r>
              <a:r>
                <a:rPr lang="en-US" sz="2000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  <a:cs typeface="Verdana"/>
                </a:rPr>
                <a:t>has its vertex at the center of a circle with radii as its sides.</a:t>
              </a:r>
              <a:endParaRPr lang="en-PH" sz="2000" dirty="0">
                <a:latin typeface="Verdana" pitchFamily="34" charset="0"/>
                <a:ea typeface="Verdana" pitchFamily="34" charset="0"/>
                <a:cs typeface="Cambria"/>
              </a:endParaRPr>
            </a:p>
          </p:txBody>
        </p:sp>
        <p:pic>
          <p:nvPicPr>
            <p:cNvPr id="18" name="Shape 5" descr="Icon&#10;&#10;Description automatically generated with medium confidence"/>
            <p:cNvPicPr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9540" y="226721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/>
          <p:cNvGrpSpPr/>
          <p:nvPr/>
        </p:nvGrpSpPr>
        <p:grpSpPr>
          <a:xfrm>
            <a:off x="914400" y="1330237"/>
            <a:ext cx="4754880" cy="1566386"/>
            <a:chOff x="62630" y="-282192"/>
            <a:chExt cx="4754880" cy="15664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ounded Rectangle 22"/>
            <p:cNvSpPr/>
            <p:nvPr/>
          </p:nvSpPr>
          <p:spPr>
            <a:xfrm>
              <a:off x="62630" y="-282192"/>
              <a:ext cx="4754880" cy="1566469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40" rIns="91425" bIns="91440" anchor="ctr" anchorCtr="0">
              <a:spAutoFit/>
            </a:bodyPr>
            <a:lstStyle/>
            <a:p>
              <a:pPr marL="628650"/>
              <a:r>
                <a:rPr lang="en-US" sz="2000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</a:rPr>
                <a:t>An</a:t>
              </a:r>
              <a:r>
                <a:rPr lang="en-US" sz="2000" i="1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</a:rPr>
                <a:t> </a:t>
              </a:r>
              <a:r>
                <a:rPr lang="en-US" sz="2000" b="1" i="1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</a:rPr>
                <a:t>angle </a:t>
              </a:r>
              <a:r>
                <a:rPr lang="en-US" sz="2000" dirty="0">
                  <a:solidFill>
                    <a:srgbClr val="6C993D"/>
                  </a:solidFill>
                  <a:latin typeface="Verdana" pitchFamily="34" charset="0"/>
                  <a:ea typeface="Verdana" pitchFamily="34" charset="0"/>
                </a:rPr>
                <a:t>is formed wherever two lines, segments, or rays intersect. Angles are measured in degrees.</a:t>
              </a:r>
              <a:r>
                <a:rPr lang="en-US" sz="2000" dirty="0">
                  <a:latin typeface="Verdana" pitchFamily="34" charset="0"/>
                  <a:ea typeface="Verdana" pitchFamily="34" charset="0"/>
                  <a:cs typeface="Cambria"/>
                </a:rPr>
                <a:t> </a:t>
              </a:r>
              <a:endParaRPr lang="en-PH" sz="2000" dirty="0">
                <a:latin typeface="Verdana" pitchFamily="34" charset="0"/>
                <a:ea typeface="Verdana" pitchFamily="34" charset="0"/>
                <a:cs typeface="Cambria"/>
              </a:endParaRPr>
            </a:p>
          </p:txBody>
        </p:sp>
        <p:pic>
          <p:nvPicPr>
            <p:cNvPr id="24" name="Shape 5" descr="Icon&#10;&#10;Description automatically generated with medium confidence"/>
            <p:cNvPicPr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9540" y="226721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5" name="Picture 24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7057" y="1392343"/>
            <a:ext cx="3350119" cy="3010423"/>
          </a:xfrm>
          <a:prstGeom prst="rect">
            <a:avLst/>
          </a:prstGeom>
        </p:spPr>
      </p:pic>
      <p:sp>
        <p:nvSpPr>
          <p:cNvPr id="15" name="Google Shape;317;p19"/>
          <p:cNvSpPr txBox="1"/>
          <p:nvPr/>
        </p:nvSpPr>
        <p:spPr>
          <a:xfrm>
            <a:off x="1143000" y="85473"/>
            <a:ext cx="105156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7.1.4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Determining Central Angle Measures</a:t>
            </a:r>
          </a:p>
        </p:txBody>
      </p:sp>
      <p:pic>
        <p:nvPicPr>
          <p:cNvPr id="19" name="Google Shape;31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1" name="Google Shape;156;g104476d1465_1_39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179;p5"/>
              <p:cNvSpPr txBox="1"/>
              <p:nvPr/>
            </p:nvSpPr>
            <p:spPr>
              <a:xfrm>
                <a:off x="914400" y="487736"/>
                <a:ext cx="10515600" cy="467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Complete the statements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.</a:t>
                </a:r>
                <a:br>
                  <a:rPr lang="en-US" sz="2400" dirty="0" smtClean="0">
                    <a:latin typeface="Verdana"/>
                    <a:ea typeface="Verdana"/>
                    <a:cs typeface="Verdana"/>
                  </a:rPr>
                </a:b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US" sz="2400" dirty="0">
                    <a:latin typeface="Verdana"/>
                    <a:ea typeface="Verdana"/>
                    <a:cs typeface="Verdana"/>
                  </a:rPr>
                  <a:t>Each of the equal sectors form a                   angle 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in the center of the circle. A 	          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angle is a 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90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degree angle. The total sum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central 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angles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equals</a:t>
                </a:r>
                <a:endParaRPr lang="en-PH" sz="2400" dirty="0">
                  <a:latin typeface="Cambria"/>
                  <a:ea typeface="Times New Roman"/>
                  <a:cs typeface="Cambria"/>
                </a:endParaRPr>
              </a:p>
            </p:txBody>
          </p:sp>
        </mc:Choice>
        <mc:Fallback xmlns="">
          <p:sp>
            <p:nvSpPr>
              <p:cNvPr id="12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678163"/>
              </a:xfrm>
              <a:prstGeom prst="rect">
                <a:avLst/>
              </a:prstGeom>
              <a:blipFill rotWithShape="1">
                <a:blip r:embed="rId3"/>
                <a:stretch>
                  <a:fillRect l="-928" t="-1043" b="-19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36714" y="1181338"/>
            <a:ext cx="1728244" cy="919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68288" indent="-268288">
              <a:buFont typeface="Courier New" pitchFamily="49" charset="0"/>
              <a:buChar char="o"/>
            </a:pPr>
            <a:r>
              <a:rPr lang="en-US" sz="2400" dirty="0">
                <a:latin typeface="Verdana"/>
                <a:ea typeface="Times New Roman"/>
                <a:cs typeface="Cambria"/>
              </a:rPr>
              <a:t>right</a:t>
            </a:r>
            <a:endParaRPr lang="en-PH" sz="2400" dirty="0">
              <a:ea typeface="Times New Roman"/>
              <a:cs typeface="Cambria"/>
            </a:endParaRPr>
          </a:p>
          <a:p>
            <a:pPr marL="268288" indent="-268288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/>
                <a:ea typeface="Times New Roman"/>
                <a:cs typeface="Cambria"/>
              </a:rPr>
              <a:t>straight</a:t>
            </a:r>
            <a:endParaRPr lang="en-PH" sz="2400" dirty="0">
              <a:ea typeface="Times New Roman"/>
              <a:cs typeface="Cambri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1389" y="2269279"/>
            <a:ext cx="1728244" cy="919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68288" indent="-268288">
              <a:buFont typeface="Courier New" pitchFamily="49" charset="0"/>
              <a:buChar char="o"/>
            </a:pPr>
            <a:r>
              <a:rPr lang="en-US" sz="2400" dirty="0">
                <a:latin typeface="Verdana"/>
                <a:ea typeface="Times New Roman"/>
                <a:cs typeface="Cambria"/>
              </a:rPr>
              <a:t>right</a:t>
            </a:r>
            <a:endParaRPr lang="en-PH" sz="2400" dirty="0">
              <a:ea typeface="Times New Roman"/>
              <a:cs typeface="Cambria"/>
            </a:endParaRPr>
          </a:p>
          <a:p>
            <a:pPr marL="268288" indent="-268288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/>
                <a:ea typeface="Times New Roman"/>
                <a:cs typeface="Cambria"/>
              </a:rPr>
              <a:t>straight</a:t>
            </a:r>
            <a:endParaRPr lang="en-PH" sz="2400" dirty="0">
              <a:ea typeface="Times New Roman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3690039" y="4450039"/>
                <a:ext cx="2558723" cy="919401"/>
              </a:xfrm>
              <a:prstGeom prst="round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68288" indent="-268288">
                  <a:buClrTx/>
                  <a:buFont typeface="Courier New" pitchFamily="49" charset="0"/>
                  <a:buChar char="o"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ysClr val="windowText" lastClr="000000"/>
                        </a:solidFill>
                        <a:latin typeface="Cambria Math"/>
                        <a:ea typeface="Times New Roman"/>
                        <a:cs typeface="Cambria"/>
                      </a:rPr>
                      <m:t>90</m:t>
                    </m:r>
                  </m:oMath>
                </a14:m>
                <a:r>
                  <a:rPr lang="en-US" sz="2400" dirty="0">
                    <a:solidFill>
                      <a:sysClr val="windowText" lastClr="000000"/>
                    </a:solidFill>
                    <a:latin typeface="Verdana"/>
                    <a:ea typeface="Times New Roman"/>
                    <a:cs typeface="Cambria"/>
                  </a:rPr>
                  <a:t> degrees.</a:t>
                </a:r>
                <a:endParaRPr lang="en-PH" sz="2400" dirty="0">
                  <a:solidFill>
                    <a:sysClr val="windowText" lastClr="000000"/>
                  </a:solidFill>
                  <a:latin typeface="Cambria"/>
                  <a:ea typeface="Times New Roman"/>
                  <a:cs typeface="Cambria"/>
                </a:endParaRPr>
              </a:p>
              <a:p>
                <a:pPr marL="268288" indent="-268288">
                  <a:spcAft>
                    <a:spcPts val="1000"/>
                  </a:spcAft>
                  <a:buClrTx/>
                  <a:buFont typeface="Courier New" pitchFamily="49" charset="0"/>
                  <a:buChar char="o"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ysClr val="windowText" lastClr="000000"/>
                        </a:solidFill>
                        <a:latin typeface="Cambria Math"/>
                        <a:ea typeface="Times New Roman"/>
                        <a:cs typeface="Cambria"/>
                      </a:rPr>
                      <m:t>360</m:t>
                    </m:r>
                  </m:oMath>
                </a14:m>
                <a:r>
                  <a:rPr lang="en-US" sz="2400" dirty="0">
                    <a:solidFill>
                      <a:sysClr val="windowText" lastClr="000000"/>
                    </a:solidFill>
                    <a:latin typeface="Verdana"/>
                    <a:ea typeface="Times New Roman"/>
                    <a:cs typeface="Cambria"/>
                  </a:rPr>
                  <a:t> degrees.</a:t>
                </a:r>
                <a:endParaRPr lang="en-PH" sz="2400" dirty="0">
                  <a:solidFill>
                    <a:sysClr val="windowText" lastClr="000000"/>
                  </a:solidFill>
                  <a:latin typeface="Cambria"/>
                  <a:ea typeface="Times New Roman"/>
                  <a:cs typeface="Cambria"/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039" y="4450039"/>
                <a:ext cx="2558723" cy="919401"/>
              </a:xfrm>
              <a:prstGeom prst="roundRect">
                <a:avLst/>
              </a:prstGeom>
              <a:blipFill rotWithShape="1">
                <a:blip r:embed="rId4"/>
                <a:stretch>
                  <a:fillRect l="-943" b="-9677"/>
                </a:stretch>
              </a:blip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9;p5"/>
              <p:cNvSpPr txBox="1"/>
              <p:nvPr/>
            </p:nvSpPr>
            <p:spPr>
              <a:xfrm>
                <a:off x="914400" y="487736"/>
                <a:ext cx="10515600" cy="246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highlight>
                      <a:srgbClr val="FFFFFF"/>
                    </a:highlight>
                    <a:latin typeface="Verdana"/>
                    <a:ea typeface="Verdana"/>
                    <a:cs typeface="Cambria"/>
                  </a:rPr>
                  <a:t>The measure of each central angle can be written as a ratio of the angle to</a:t>
                </a:r>
                <a:r>
                  <a:rPr lang="en-US" sz="2400" dirty="0">
                    <a:highlight>
                      <a:srgbClr val="FFFFFF"/>
                    </a:highlight>
                    <a:latin typeface="Cambria"/>
                    <a:ea typeface="Verdana"/>
                    <a:cs typeface="Cambri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Cambria"/>
                      </a:rPr>
                      <m:t>360°</m:t>
                    </m:r>
                  </m:oMath>
                </a14:m>
                <a:r>
                  <a:rPr lang="en-US" sz="2400" dirty="0">
                    <a:latin typeface="Cambria"/>
                    <a:ea typeface="Verdana"/>
                    <a:cs typeface="Cambria"/>
                  </a:rPr>
                  <a:t>.</a:t>
                </a:r>
                <a:r>
                  <a:rPr lang="en-US" sz="2400" dirty="0">
                    <a:highlight>
                      <a:srgbClr val="FFFFFF"/>
                    </a:highlight>
                    <a:latin typeface="Cambria"/>
                    <a:ea typeface="Verdana"/>
                    <a:cs typeface="Cambria"/>
                  </a:rPr>
                  <a:t> </a:t>
                </a:r>
                <a:r>
                  <a:rPr lang="en-US" sz="2400" dirty="0">
                    <a:highlight>
                      <a:srgbClr val="FFFFFF"/>
                    </a:highlight>
                    <a:latin typeface="Verdana"/>
                    <a:ea typeface="Verdana"/>
                    <a:cs typeface="Cambria"/>
                  </a:rPr>
                  <a:t>Thus, each sector in the circle divided into fourths takes up </a:t>
                </a:r>
                <a:r>
                  <a:rPr lang="en-US" sz="2400" dirty="0">
                    <a:highlight>
                      <a:srgbClr val="FFFFFF"/>
                    </a:highlight>
                    <a:latin typeface="Cambria"/>
                    <a:ea typeface="Verdana"/>
                    <a:cs typeface="Cambri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highlight>
                              <a:srgbClr val="FFFFFF"/>
                            </a:highlight>
                            <a:latin typeface="Cambria Math"/>
                            <a:ea typeface="Verdana"/>
                            <a:cs typeface="Cambria"/>
                          </a:rPr>
                        </m:ctrlPr>
                      </m:fPr>
                      <m:num>
                        <m:r>
                          <a:rPr lang="en-US" sz="2400" i="1">
                            <a:highlight>
                              <a:srgbClr val="FFFFFF"/>
                            </a:highlight>
                            <a:latin typeface="Cambria Math"/>
                            <a:ea typeface="Verdana"/>
                            <a:cs typeface="Cambria"/>
                          </a:rPr>
                          <m:t>90</m:t>
                        </m:r>
                      </m:num>
                      <m:den>
                        <m:r>
                          <a:rPr lang="en-US" sz="2400" i="1">
                            <a:highlight>
                              <a:srgbClr val="FFFFFF"/>
                            </a:highlight>
                            <a:latin typeface="Cambria Math"/>
                            <a:ea typeface="Verdana"/>
                            <a:cs typeface="Cambria"/>
                          </a:rPr>
                          <m:t>360</m:t>
                        </m:r>
                      </m:den>
                    </m:f>
                  </m:oMath>
                </a14:m>
                <a:r>
                  <a:rPr lang="en-US" sz="2400" dirty="0">
                    <a:highlight>
                      <a:srgbClr val="FFFFFF"/>
                    </a:highlight>
                    <a:latin typeface="Cambria"/>
                    <a:ea typeface="Verdana"/>
                    <a:cs typeface="Cambria"/>
                  </a:rPr>
                  <a:t>  </a:t>
                </a:r>
                <a:r>
                  <a:rPr lang="en-US" sz="2400" dirty="0">
                    <a:highlight>
                      <a:srgbClr val="FFFFFF"/>
                    </a:highlight>
                    <a:latin typeface="Verdana"/>
                    <a:ea typeface="Verdana"/>
                    <a:cs typeface="Cambria"/>
                  </a:rPr>
                  <a:t>of the degrees of the circle.</a:t>
                </a:r>
              </a:p>
              <a:p>
                <a:endParaRPr lang="en-US" sz="2400" dirty="0">
                  <a:highlight>
                    <a:srgbClr val="FFFFFF"/>
                  </a:highlight>
                  <a:latin typeface="Verdana"/>
                  <a:ea typeface="Verdana"/>
                  <a:cs typeface="Cambri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highlight>
                      <a:srgbClr val="FFFFFF"/>
                    </a:highlight>
                    <a:latin typeface="Verdana"/>
                    <a:ea typeface="Verdana"/>
                    <a:cs typeface="Cambria"/>
                  </a:rPr>
                  <a:t>How does this ratio compare to the fraction used to label the sector in the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Exploration</a:t>
                </a:r>
                <a:r>
                  <a:rPr lang="en-US" sz="2400" dirty="0" smtClean="0">
                    <a:highlight>
                      <a:srgbClr val="FFFFFF"/>
                    </a:highlight>
                    <a:latin typeface="Verdana"/>
                    <a:ea typeface="Verdana"/>
                    <a:cs typeface="Cambria"/>
                  </a:rPr>
                  <a:t>?</a:t>
                </a:r>
                <a:endParaRPr lang="en-PH" sz="1600" dirty="0">
                  <a:latin typeface="Cambria"/>
                  <a:ea typeface="Times New Roman"/>
                  <a:cs typeface="Cambria"/>
                </a:endParaRPr>
              </a:p>
            </p:txBody>
          </p:sp>
        </mc:Choice>
        <mc:Fallback xmlns="">
          <p:sp>
            <p:nvSpPr>
              <p:cNvPr id="9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2463583"/>
              </a:xfrm>
              <a:prstGeom prst="rect">
                <a:avLst/>
              </a:prstGeom>
              <a:blipFill rotWithShape="1">
                <a:blip r:embed="rId4"/>
                <a:stretch>
                  <a:fillRect l="-928" t="-1980" r="-464" b="-4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6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9;p5"/>
              <p:cNvSpPr txBox="1"/>
              <p:nvPr/>
            </p:nvSpPr>
            <p:spPr>
              <a:xfrm>
                <a:off x="914400" y="487736"/>
                <a:ext cx="10515600" cy="4939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A circle that is divided into halves is shown.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What is the measure of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>one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of the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>central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angles?</a:t>
                </a: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What is the name of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>the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type of angle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>that represents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the central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"/>
                  </a:rPr>
                  <a:t>angle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"/>
                  </a:rPr>
                  <a:t>?</a:t>
                </a: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Write the ratio of the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/>
                  </a:rPr>
                  <a:t>measure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of the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/>
                  </a:rPr>
                  <a:t/>
                </a:r>
                <a:br>
                  <a:rPr lang="en-US" sz="2000" dirty="0" smtClean="0">
                    <a:latin typeface="Verdana" pitchFamily="34" charset="0"/>
                    <a:ea typeface="Verdana" pitchFamily="34" charset="0"/>
                    <a:cs typeface="Verdana"/>
                  </a:rPr>
                </a:b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/>
                  </a:rPr>
                  <a:t>central angle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360°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.</a:t>
                </a: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How does this ratio compare to the fraction used to label the sector in the Exploration?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9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939773"/>
              </a:xfrm>
              <a:prstGeom prst="rect">
                <a:avLst/>
              </a:prstGeom>
              <a:blipFill rotWithShape="1">
                <a:blip r:embed="rId3"/>
                <a:stretch>
                  <a:fillRect l="-638" t="-741" b="-13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65996" y="487736"/>
            <a:ext cx="3864004" cy="3806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oogle Shape;156;g104476d1465_1_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1613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998298"/>
                  </p:ext>
                </p:extLst>
              </p:nvPr>
            </p:nvGraphicFramePr>
            <p:xfrm>
              <a:off x="1945251" y="3359776"/>
              <a:ext cx="7380000" cy="273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Circle Division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Central Angle Measure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Ratio of Angle Measure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𝟑𝟔𝟎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°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Thirds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Fifths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Sixths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Eighths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998298"/>
                  </p:ext>
                </p:extLst>
              </p:nvPr>
            </p:nvGraphicFramePr>
            <p:xfrm>
              <a:off x="1945251" y="3359776"/>
              <a:ext cx="7380000" cy="273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Circle Division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Central Angle Measure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2512" t="-2542" b="-288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Thirds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Fifths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Sixths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  <a:tr h="504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Eighths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79;p5"/>
          <p:cNvSpPr txBox="1"/>
          <p:nvPr/>
        </p:nvSpPr>
        <p:spPr>
          <a:xfrm>
            <a:off x="914400" y="487736"/>
            <a:ext cx="1051560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r>
              <a:rPr lang="en-US" sz="2000" dirty="0">
                <a:latin typeface="Verdana"/>
                <a:ea typeface="Verdana"/>
                <a:cs typeface="Verdana"/>
              </a:rPr>
              <a:t>Answer the following with your partner.</a:t>
            </a:r>
          </a:p>
          <a:p>
            <a:pPr marL="917575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If a circle is divided into any number of congruent sectors, how can the central angle measures be calculated? Summarize your discussion.</a:t>
            </a:r>
            <a:endParaRPr lang="en-PH" sz="2000" dirty="0">
              <a:latin typeface="Cambria"/>
              <a:ea typeface="Times New Roman"/>
              <a:cs typeface="Cambria"/>
            </a:endParaRPr>
          </a:p>
          <a:p>
            <a:pPr marL="917575" indent="-457200">
              <a:buFont typeface="+mj-lt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</a:endParaRPr>
          </a:p>
          <a:p>
            <a:pPr marL="917575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7575" indent="-457200">
              <a:buFont typeface="+mj-lt"/>
              <a:buAutoNum type="alphaLcPeriod"/>
            </a:pPr>
            <a:endParaRPr lang="en-US" sz="2000" dirty="0" smtClean="0">
              <a:latin typeface="Verdana"/>
              <a:ea typeface="Verdana"/>
              <a:cs typeface="Verdana"/>
            </a:endParaRPr>
          </a:p>
          <a:p>
            <a:pPr marL="917575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7575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Based on your discussion, fill in the table.</a:t>
            </a:r>
            <a:endParaRPr lang="en-PH" sz="2000" dirty="0">
              <a:latin typeface="Cambria"/>
              <a:ea typeface="Times New Roman"/>
              <a:cs typeface="Cambria"/>
            </a:endParaRPr>
          </a:p>
        </p:txBody>
      </p:sp>
      <p:pic>
        <p:nvPicPr>
          <p:cNvPr id="8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1300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179;p5"/>
          <p:cNvSpPr txBox="1"/>
          <p:nvPr/>
        </p:nvSpPr>
        <p:spPr>
          <a:xfrm>
            <a:off x="914400" y="487736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indent="-457200">
              <a:buFont typeface="+mj-lt"/>
              <a:buAutoNum type="alphaLcPeriod" startAt="3"/>
            </a:pPr>
            <a:r>
              <a:rPr lang="en-US" sz="24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Compare the ratios in the table to the fractions used to label the circles in the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Exploration</a:t>
            </a:r>
            <a:r>
              <a:rPr lang="en-US" sz="24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. Discuss what you notice with your partner.</a:t>
            </a: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2175" indent="-457200">
              <a:buFont typeface="+mj-lt"/>
              <a:buAutoNum type="alphaLcPeriod" startAt="3"/>
            </a:pPr>
            <a:endParaRPr lang="en-PH" sz="24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892175" indent="-457200">
              <a:buFont typeface="+mj-lt"/>
              <a:buAutoNum type="alphaLcPeriod" startAt="3"/>
            </a:pPr>
            <a:r>
              <a:rPr lang="en-US" sz="24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Write a conjecture of how the angle measure ratio relates to the amount of a circle.</a:t>
            </a:r>
            <a:endParaRPr lang="en-PH" sz="24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pic>
        <p:nvPicPr>
          <p:cNvPr id="9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9935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oogle Shape;156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470;p34"/>
          <p:cNvSpPr txBox="1"/>
          <p:nvPr/>
        </p:nvSpPr>
        <p:spPr>
          <a:xfrm>
            <a:off x="914400" y="1386025"/>
            <a:ext cx="8429626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Complete each statement based on your understanding of today’s lesson.</a:t>
            </a:r>
            <a:endParaRPr lang="en-PH" sz="24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I am still unsure about ____________________ _______________________________________ ______________________________________.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Cambria"/>
              </a:rPr>
              <a:t>One question I have that will help me better understand is </a:t>
            </a: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___________________________ ______________________________________ ______________________________________?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159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468;p34"/>
          <p:cNvSpPr txBox="1"/>
          <p:nvPr/>
        </p:nvSpPr>
        <p:spPr>
          <a:xfrm>
            <a:off x="1143000" y="284833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7.1.5 Wrap-Up: Reflection</a:t>
            </a: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824</Words>
  <Application>Microsoft Office PowerPoint</Application>
  <PresentationFormat>Custom</PresentationFormat>
  <Paragraphs>206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Courier New</vt:lpstr>
      <vt:lpstr>Times New Roman</vt:lpstr>
      <vt:lpstr>Century Gothic</vt:lpstr>
      <vt:lpstr>Cambria Math</vt:lpstr>
      <vt:lpstr>Cambria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42</cp:revision>
  <dcterms:created xsi:type="dcterms:W3CDTF">2015-03-17T18:51:18Z</dcterms:created>
  <dcterms:modified xsi:type="dcterms:W3CDTF">2022-07-11T09:33:03Z</dcterms:modified>
</cp:coreProperties>
</file>