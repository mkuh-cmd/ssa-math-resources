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288" r:id="rId8"/>
    <p:sldId id="289" r:id="rId9"/>
    <p:sldId id="290" r:id="rId10"/>
    <p:sldId id="356" r:id="rId11"/>
    <p:sldId id="362" r:id="rId12"/>
    <p:sldId id="311" r:id="rId13"/>
    <p:sldId id="312" r:id="rId14"/>
    <p:sldId id="353" r:id="rId15"/>
    <p:sldId id="314" r:id="rId16"/>
    <p:sldId id="315" r:id="rId17"/>
    <p:sldId id="352" r:id="rId18"/>
    <p:sldId id="302" r:id="rId19"/>
    <p:sldId id="303" r:id="rId20"/>
    <p:sldId id="306" r:id="rId21"/>
    <p:sldId id="307" r:id="rId22"/>
  </p:sldIdLst>
  <p:sldSz cx="12192000" cy="6858000"/>
  <p:notesSz cx="6858000" cy="9144000"/>
  <p:embeddedFontLst>
    <p:embeddedFont>
      <p:font typeface="Arial Black" panose="020B0A04020102020204" pitchFamily="34" charset="0"/>
      <p:bold r:id="rId24"/>
    </p:embeddedFont>
    <p:embeddedFont>
      <p:font typeface="Calibri" panose="020F0502020204030204" pitchFamily="34" charset="0"/>
      <p:regular r:id="rId25"/>
      <p:bold r:id="rId26"/>
      <p:italic r:id="rId27"/>
      <p:boldItalic r:id="rId28"/>
    </p:embeddedFont>
    <p:embeddedFont>
      <p:font typeface="Cambria Math" panose="02040503050406030204" pitchFamily="18" charset="0"/>
      <p:regular r:id="rId29"/>
    </p:embeddedFont>
    <p:embeddedFont>
      <p:font typeface="Century Gothic" panose="020B0502020202020204" pitchFamily="34" charset="0"/>
      <p:regular r:id="rId30"/>
      <p:bold r:id="rId31"/>
      <p:italic r:id="rId32"/>
      <p:boldItalic r:id="rId33"/>
    </p:embeddedFont>
    <p:embeddedFont>
      <p:font typeface="Verdana" panose="020B060403050404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B0DD"/>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05" autoAdjust="0"/>
    <p:restoredTop sz="94694"/>
  </p:normalViewPr>
  <p:slideViewPr>
    <p:cSldViewPr snapToGrid="0">
      <p:cViewPr varScale="1">
        <p:scale>
          <a:sx n="81" d="100"/>
          <a:sy n="81" d="100"/>
        </p:scale>
        <p:origin x="44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1.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4598604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85173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585173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https://images-na.ssl-images-amazon.com/images/I/81RSEKtCJtL._AC_SL1500_.jpg"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https://images-na.ssl-images-amazon.com/images/I/81RSEKtCJtL._AC_SL1500_.jpg" TargetMode="External"/><Relationship Id="rId5" Type="http://schemas.openxmlformats.org/officeDocument/2006/relationships/image" Target="../media/image14.jpe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0.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30.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50.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8, Lesson 5</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Evaluating Numeric Expressions –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Part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453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80875" y="136525"/>
            <a:ext cx="8320275"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1033575"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08386" y="1609531"/>
            <a:ext cx="8802414" cy="4205700"/>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a:ea typeface="Verdana"/>
                <a:cs typeface="Verdana"/>
                <a:sym typeface="Verdana"/>
              </a:rPr>
              <a:t>MA.7.NSO.2.1 </a:t>
            </a:r>
          </a:p>
          <a:p>
            <a:pPr indent="0">
              <a:buNone/>
            </a:pPr>
            <a:r>
              <a:rPr lang="en-US" sz="3200" dirty="0">
                <a:solidFill>
                  <a:schemeClr val="tx1"/>
                </a:solidFill>
                <a:latin typeface="Verdana"/>
                <a:ea typeface="Verdana"/>
                <a:cs typeface="Verdana"/>
                <a:sym typeface="Verdana"/>
              </a:rPr>
              <a:t>Solve mathematical problems using multi step order of operations with rational numbers including grouping symbols, whole-number exponents, and absolute value.</a:t>
            </a:r>
          </a:p>
          <a:p>
            <a:pPr indent="0">
              <a:buNone/>
            </a:pPr>
            <a:endParaRPr lang="en-US" sz="2000" dirty="0">
              <a:solidFill>
                <a:schemeClr val="tx1"/>
              </a:solidFill>
              <a:latin typeface="Century Gothic"/>
              <a:ea typeface="Verdana"/>
              <a:cs typeface="Verdana"/>
              <a:sym typeface="Century Gothic"/>
            </a:endParaRPr>
          </a:p>
          <a:p>
            <a:pPr marL="0" indent="0">
              <a:buSzPts val="1100"/>
              <a:buNone/>
            </a:pPr>
            <a:r>
              <a:rPr lang="en-US" sz="3200" dirty="0">
                <a:solidFill>
                  <a:schemeClr val="tx1"/>
                </a:solidFill>
                <a:latin typeface="Verdana"/>
                <a:ea typeface="Verdana"/>
                <a:cs typeface="Verdana"/>
                <a:sym typeface="Verdana"/>
              </a:rPr>
              <a:t>MA.7.NSO.2.2 </a:t>
            </a:r>
          </a:p>
          <a:p>
            <a:pPr indent="0">
              <a:buNone/>
            </a:pPr>
            <a:r>
              <a:rPr lang="en-US" sz="3200" dirty="0">
                <a:solidFill>
                  <a:schemeClr val="tx1"/>
                </a:solidFill>
                <a:latin typeface="Verdana"/>
                <a:ea typeface="Verdana"/>
                <a:cs typeface="Verdana"/>
                <a:sym typeface="Verdana"/>
              </a:rPr>
              <a:t>Add, subtract, multiply and divide rational numbers with procedural fluency.</a:t>
            </a:r>
            <a:endParaRPr lang="en-US" sz="32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613"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1037281" y="4188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1888"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784581" y="129667"/>
            <a:ext cx="883224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08387" y="1596390"/>
            <a:ext cx="880241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tabLst>
                <a:tab pos="1527175" algn="l"/>
              </a:tabLst>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tabLst>
                <a:tab pos="1527175" algn="l"/>
              </a:tabLst>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tabLst>
                <a:tab pos="1527175" algn="l"/>
              </a:tabLst>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tabLst>
                <a:tab pos="1527175" algn="l"/>
              </a:tabLst>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tabLst>
                <a:tab pos="1527175" algn="l"/>
              </a:tabLst>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tabLst>
                <a:tab pos="1527175" algn="l"/>
              </a:tabLst>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tabLst>
                <a:tab pos="1527175" algn="l"/>
              </a:tabLst>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tabLst>
                <a:tab pos="1527175" algn="l"/>
              </a:tabLst>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tabLst>
                <a:tab pos="1527175" algn="l"/>
              </a:tabLst>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p:cNvSpPr txBox="1"/>
          <p:nvPr/>
        </p:nvSpPr>
        <p:spPr>
          <a:xfrm>
            <a:off x="8883662"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852175" y="77150"/>
            <a:ext cx="859220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1107196" y="36635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306287" y="1600200"/>
            <a:ext cx="890451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57200">
              <a:buClr>
                <a:srgbClr val="434343"/>
              </a:buClr>
              <a:buSzPts val="3500"/>
              <a:buFont typeface="Verdana"/>
              <a:buChar char="❏"/>
            </a:pPr>
            <a:r>
              <a:rPr lang="en-US" sz="3500" dirty="0">
                <a:solidFill>
                  <a:schemeClr val="tx1"/>
                </a:solidFill>
                <a:latin typeface="Verdana"/>
                <a:ea typeface="Verdana"/>
                <a:cs typeface="Verdana"/>
                <a:sym typeface="Verdana"/>
              </a:rPr>
              <a:t>I can evaluate numeric expressions with up to three or four operations.</a:t>
            </a:r>
          </a:p>
        </p:txBody>
      </p:sp>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2374"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34678"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757547" y="477899"/>
            <a:ext cx="9191502"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8.5.1 Warm-Up: Estimating Length</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961432" y="34340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1306286" y="1386026"/>
                <a:ext cx="9081298" cy="5314981"/>
              </a:xfrm>
              <a:prstGeom prst="rect">
                <a:avLst/>
              </a:prstGeom>
              <a:noFill/>
            </p:spPr>
            <p:txBody>
              <a:bodyPr wrap="square" rtlCol="0">
                <a:spAutoFit/>
              </a:bodyPr>
              <a:lstStyle/>
              <a:p>
                <a:pPr>
                  <a:lnSpc>
                    <a:spcPct val="107000"/>
                  </a:lnSpc>
                </a:pPr>
                <a:r>
                  <a:rPr lang="en-US" sz="2000" dirty="0">
                    <a:latin typeface="Verdana" pitchFamily="34" charset="0"/>
                    <a:ea typeface="Verdana" pitchFamily="34" charset="0"/>
                    <a:cs typeface="Verdana"/>
                  </a:rPr>
                  <a:t>The roll of bubble wrap on the left is </a:t>
                </a:r>
                <a14:m>
                  <m:oMath xmlns:m="http://schemas.openxmlformats.org/officeDocument/2006/math">
                    <m:r>
                      <a:rPr lang="en-US" sz="2000" i="1">
                        <a:latin typeface="Cambria Math"/>
                        <a:ea typeface="Verdana"/>
                        <a:cs typeface="Verdana"/>
                      </a:rPr>
                      <m:t>1</m:t>
                    </m:r>
                  </m:oMath>
                </a14:m>
                <a:r>
                  <a:rPr lang="en-US" sz="2000" dirty="0">
                    <a:latin typeface="Verdana" pitchFamily="34" charset="0"/>
                    <a:ea typeface="Verdana" pitchFamily="34" charset="0"/>
                    <a:cs typeface="Verdana"/>
                  </a:rPr>
                  <a:t> foot high and </a:t>
                </a:r>
                <a14:m>
                  <m:oMath xmlns:m="http://schemas.openxmlformats.org/officeDocument/2006/math">
                    <m:r>
                      <a:rPr lang="en-US" sz="2000" i="1">
                        <a:latin typeface="Cambria Math"/>
                        <a:ea typeface="Verdana"/>
                        <a:cs typeface="Verdana"/>
                      </a:rPr>
                      <m:t>100</m:t>
                    </m:r>
                  </m:oMath>
                </a14:m>
                <a:r>
                  <a:rPr lang="en-US" sz="2000" dirty="0">
                    <a:latin typeface="Verdana" pitchFamily="34" charset="0"/>
                    <a:ea typeface="Verdana" pitchFamily="34" charset="0"/>
                    <a:cs typeface="Verdana"/>
                  </a:rPr>
                  <a:t> feet long.</a:t>
                </a:r>
                <a:endParaRPr lang="en-PH" sz="2000" i="1" dirty="0">
                  <a:latin typeface="Verdana" pitchFamily="34" charset="0"/>
                  <a:ea typeface="Verdana" pitchFamily="34" charset="0"/>
                  <a:cs typeface="Verdana"/>
                </a:endParaRPr>
              </a:p>
              <a:p>
                <a:pPr>
                  <a:lnSpc>
                    <a:spcPct val="107000"/>
                  </a:lnSpc>
                </a:pPr>
                <a:endParaRPr lang="en-PH" sz="2000" i="1" dirty="0">
                  <a:latin typeface="Verdana" pitchFamily="34" charset="0"/>
                  <a:ea typeface="Verdana" pitchFamily="34" charset="0"/>
                  <a:cs typeface="Verdana"/>
                </a:endParaRPr>
              </a:p>
              <a:p>
                <a:pPr>
                  <a:lnSpc>
                    <a:spcPct val="107000"/>
                  </a:lnSpc>
                </a:pPr>
                <a:endParaRPr lang="en-PH" sz="2000" i="1" dirty="0">
                  <a:latin typeface="Verdana" pitchFamily="34" charset="0"/>
                  <a:ea typeface="Verdana" pitchFamily="34" charset="0"/>
                  <a:cs typeface="Verdana"/>
                </a:endParaRPr>
              </a:p>
              <a:p>
                <a:pPr>
                  <a:lnSpc>
                    <a:spcPct val="107000"/>
                  </a:lnSpc>
                </a:pPr>
                <a:endParaRPr lang="en-PH" sz="2000" i="1" dirty="0">
                  <a:latin typeface="Verdana" pitchFamily="34" charset="0"/>
                  <a:ea typeface="Verdana" pitchFamily="34" charset="0"/>
                  <a:cs typeface="Verdana"/>
                </a:endParaRPr>
              </a:p>
              <a:p>
                <a:pPr>
                  <a:lnSpc>
                    <a:spcPct val="107000"/>
                  </a:lnSpc>
                </a:pPr>
                <a:endParaRPr lang="en-PH" sz="2000" i="1" dirty="0">
                  <a:latin typeface="Verdana" pitchFamily="34" charset="0"/>
                  <a:ea typeface="Verdana" pitchFamily="34" charset="0"/>
                  <a:cs typeface="Verdana"/>
                </a:endParaRPr>
              </a:p>
              <a:p>
                <a:pPr>
                  <a:lnSpc>
                    <a:spcPct val="107000"/>
                  </a:lnSpc>
                </a:pPr>
                <a:endParaRPr lang="en-PH" sz="2000" i="1" dirty="0">
                  <a:latin typeface="Verdana" pitchFamily="34" charset="0"/>
                  <a:ea typeface="Verdana" pitchFamily="34" charset="0"/>
                  <a:cs typeface="Verdana"/>
                </a:endParaRPr>
              </a:p>
              <a:p>
                <a:pPr>
                  <a:lnSpc>
                    <a:spcPct val="107000"/>
                  </a:lnSpc>
                </a:pPr>
                <a:endParaRPr lang="en-PH" sz="2000" i="1" dirty="0">
                  <a:latin typeface="Verdana" pitchFamily="34" charset="0"/>
                  <a:ea typeface="Verdana" pitchFamily="34" charset="0"/>
                  <a:cs typeface="Verdana"/>
                </a:endParaRPr>
              </a:p>
              <a:p>
                <a:pPr>
                  <a:lnSpc>
                    <a:spcPct val="107000"/>
                  </a:lnSpc>
                </a:pPr>
                <a:endParaRPr lang="en-PH" sz="2000" i="1" dirty="0">
                  <a:latin typeface="Verdana" pitchFamily="34" charset="0"/>
                  <a:ea typeface="Verdana" pitchFamily="34" charset="0"/>
                  <a:cs typeface="Verdana"/>
                </a:endParaRPr>
              </a:p>
              <a:p>
                <a:pPr>
                  <a:lnSpc>
                    <a:spcPct val="107000"/>
                  </a:lnSpc>
                  <a:spcAft>
                    <a:spcPts val="1200"/>
                  </a:spcAft>
                </a:pPr>
                <a:endParaRPr lang="en-US" sz="2000" dirty="0">
                  <a:latin typeface="Verdana" pitchFamily="34" charset="0"/>
                  <a:ea typeface="Verdana" pitchFamily="34" charset="0"/>
                  <a:cs typeface="Verdana"/>
                </a:endParaRPr>
              </a:p>
              <a:p>
                <a:pPr>
                  <a:lnSpc>
                    <a:spcPct val="107000"/>
                  </a:lnSpc>
                  <a:spcAft>
                    <a:spcPts val="1200"/>
                  </a:spcAft>
                </a:pPr>
                <a:r>
                  <a:rPr lang="en-US" sz="2000" dirty="0">
                    <a:latin typeface="Verdana" pitchFamily="34" charset="0"/>
                    <a:ea typeface="Verdana" pitchFamily="34" charset="0"/>
                    <a:cs typeface="Verdana"/>
                  </a:rPr>
                  <a:t>Complete the following to guess the length of the bubble wrap on the right.</a:t>
                </a:r>
              </a:p>
              <a:p>
                <a:pPr marL="457200" indent="-457200">
                  <a:lnSpc>
                    <a:spcPct val="107000"/>
                  </a:lnSpc>
                  <a:buFont typeface="+mj-lt"/>
                  <a:buAutoNum type="arabicPeriod"/>
                </a:pPr>
                <a:r>
                  <a:rPr lang="en-US" sz="2000" dirty="0">
                    <a:latin typeface="Verdana" pitchFamily="34" charset="0"/>
                    <a:ea typeface="Verdana" pitchFamily="34" charset="0"/>
                    <a:cs typeface="Verdana"/>
                  </a:rPr>
                  <a:t>What is a guess that is too low?</a:t>
                </a:r>
                <a:endParaRPr lang="en-PH" sz="2000" i="1" dirty="0">
                  <a:latin typeface="Verdana" pitchFamily="34" charset="0"/>
                  <a:ea typeface="Verdana" pitchFamily="34" charset="0"/>
                  <a:cs typeface="Verdana"/>
                </a:endParaRPr>
              </a:p>
              <a:p>
                <a:pPr marL="457200" indent="-457200">
                  <a:lnSpc>
                    <a:spcPct val="107000"/>
                  </a:lnSpc>
                  <a:buFont typeface="+mj-lt"/>
                  <a:buAutoNum type="arabicPeriod"/>
                </a:pPr>
                <a:endParaRPr lang="en-US" sz="2000" dirty="0">
                  <a:latin typeface="Verdana"/>
                  <a:ea typeface="Verdana"/>
                  <a:cs typeface="Verdana"/>
                </a:endParaRPr>
              </a:p>
              <a:p>
                <a:pPr marL="457200" indent="-457200">
                  <a:lnSpc>
                    <a:spcPct val="107000"/>
                  </a:lnSpc>
                  <a:buFont typeface="+mj-lt"/>
                  <a:buAutoNum type="arabicPeriod"/>
                </a:pPr>
                <a:r>
                  <a:rPr lang="en-US" sz="2000" dirty="0">
                    <a:latin typeface="Verdana"/>
                    <a:ea typeface="Verdana"/>
                    <a:cs typeface="Verdana"/>
                  </a:rPr>
                  <a:t>Give a guess that does not make sense and explain how you know it doesn’t make sense.</a:t>
                </a:r>
                <a:endParaRPr lang="en-PH" sz="1800" i="1" dirty="0">
                  <a:latin typeface="Cambria Math"/>
                  <a:ea typeface="Cambria Math"/>
                  <a:cs typeface="Cambria Math"/>
                </a:endParaRP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1306286" y="1386026"/>
                <a:ext cx="9081298" cy="5314981"/>
              </a:xfrm>
              <a:prstGeom prst="rect">
                <a:avLst/>
              </a:prstGeom>
              <a:blipFill>
                <a:blip r:embed="rId5"/>
                <a:stretch>
                  <a:fillRect l="-738" t="-688" r="-1544" b="-1032"/>
                </a:stretch>
              </a:blipFill>
            </p:spPr>
            <p:txBody>
              <a:bodyPr/>
              <a:lstStyle/>
              <a:p>
                <a:r>
                  <a:rPr lang="en-US">
                    <a:noFill/>
                  </a:rPr>
                  <a:t> </a:t>
                </a:r>
              </a:p>
            </p:txBody>
          </p:sp>
        </mc:Fallback>
      </mc:AlternateContent>
      <p:grpSp>
        <p:nvGrpSpPr>
          <p:cNvPr id="6" name="Group 5"/>
          <p:cNvGrpSpPr/>
          <p:nvPr/>
        </p:nvGrpSpPr>
        <p:grpSpPr>
          <a:xfrm>
            <a:off x="3253070" y="2001652"/>
            <a:ext cx="5941893" cy="2200416"/>
            <a:chOff x="1943100" y="2752725"/>
            <a:chExt cx="6481650" cy="2400300"/>
          </a:xfrm>
        </p:grpSpPr>
        <p:pic>
          <p:nvPicPr>
            <p:cNvPr id="1026" name="Picture 2" descr="Description: A picture containing white, stone&#10;&#10;Description automatically generated"/>
            <p:cNvPicPr>
              <a:picLocks noChangeAspect="1" noChangeArrowheads="1"/>
            </p:cNvPicPr>
            <p:nvPr/>
          </p:nvPicPr>
          <p:blipFill>
            <a:blip r:embed="rId6" r:link="rId7" cstate="screen">
              <a:extLst>
                <a:ext uri="{28A0092B-C50C-407E-A947-70E740481C1C}">
                  <a14:useLocalDpi xmlns:a14="http://schemas.microsoft.com/office/drawing/2010/main"/>
                </a:ext>
              </a:extLst>
            </a:blip>
            <a:srcRect/>
            <a:stretch>
              <a:fillRect/>
            </a:stretch>
          </p:blipFill>
          <p:spPr bwMode="auto">
            <a:xfrm>
              <a:off x="1943100" y="2857500"/>
              <a:ext cx="2628900" cy="2295525"/>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4" descr="Description: A picture containing white, stone&#10;&#10;Description automatically generated"/>
            <p:cNvPicPr>
              <a:picLocks noChangeAspect="1" noChangeArrowheads="1"/>
            </p:cNvPicPr>
            <p:nvPr/>
          </p:nvPicPr>
          <p:blipFill>
            <a:blip r:embed="rId8" r:link="rId7" cstate="screen">
              <a:extLst>
                <a:ext uri="{28A0092B-C50C-407E-A947-70E740481C1C}">
                  <a14:useLocalDpi xmlns:a14="http://schemas.microsoft.com/office/drawing/2010/main"/>
                </a:ext>
              </a:extLst>
            </a:blip>
            <a:srcRect/>
            <a:stretch>
              <a:fillRect/>
            </a:stretch>
          </p:blipFill>
          <p:spPr bwMode="auto">
            <a:xfrm>
              <a:off x="4843350" y="2752725"/>
              <a:ext cx="3581400" cy="2400300"/>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Rectangle 3"/>
          <p:cNvSpPr>
            <a:spLocks noChangeArrowheads="1"/>
          </p:cNvSpPr>
          <p:nvPr/>
        </p:nvSpPr>
        <p:spPr bwMode="auto">
          <a:xfrm>
            <a:off x="1524001" y="7471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H"/>
          </a:p>
        </p:txBody>
      </p:sp>
      <p:sp>
        <p:nvSpPr>
          <p:cNvPr id="4" name="Rectangle 4"/>
          <p:cNvSpPr>
            <a:spLocks noChangeArrowheads="1"/>
          </p:cNvSpPr>
          <p:nvPr/>
        </p:nvSpPr>
        <p:spPr bwMode="auto">
          <a:xfrm>
            <a:off x="1524001" y="2598838"/>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H"/>
          </a:p>
        </p:txBody>
      </p:sp>
      <p:sp>
        <p:nvSpPr>
          <p:cNvPr id="5" name="Rectangle 5"/>
          <p:cNvSpPr>
            <a:spLocks noChangeArrowheads="1"/>
          </p:cNvSpPr>
          <p:nvPr/>
        </p:nvSpPr>
        <p:spPr bwMode="auto">
          <a:xfrm>
            <a:off x="1524001" y="4968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buClrTx/>
            </a:pPr>
            <a:endParaRPr lang="en-US" sz="1800">
              <a:solidFill>
                <a:schemeClr val="tx1"/>
              </a:solidFill>
              <a:latin typeface="Arial" pitchFamily="34" charset="0"/>
              <a:cs typeface="Arial" pitchFamily="34" charset="0"/>
            </a:endParaRPr>
          </a:p>
        </p:txBody>
      </p:sp>
      <p:sp>
        <p:nvSpPr>
          <p:cNvPr id="14" name="Google Shape;282;g104476d1465_1_17"/>
          <p:cNvSpPr txBox="1"/>
          <p:nvPr/>
        </p:nvSpPr>
        <p:spPr>
          <a:xfrm>
            <a:off x="889645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1875"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344572" y="3772640"/>
            <a:ext cx="8990329" cy="2038250"/>
          </a:xfrm>
          <a:prstGeom prst="rect">
            <a:avLst/>
          </a:prstGeom>
          <a:noFill/>
        </p:spPr>
        <p:txBody>
          <a:bodyPr wrap="square" rtlCol="0">
            <a:spAutoFit/>
          </a:bodyPr>
          <a:lstStyle/>
          <a:p>
            <a:pPr marL="457200" indent="-457200">
              <a:lnSpc>
                <a:spcPct val="107000"/>
              </a:lnSpc>
              <a:buFont typeface="+mj-lt"/>
              <a:buAutoNum type="arabicPeriod" startAt="3"/>
            </a:pPr>
            <a:r>
              <a:rPr lang="en-US" sz="2400" dirty="0">
                <a:latin typeface="Verdana"/>
                <a:ea typeface="Verdana"/>
                <a:cs typeface="Verdana"/>
              </a:rPr>
              <a:t>What is a guess that is too high?</a:t>
            </a:r>
          </a:p>
          <a:p>
            <a:pPr marL="457200" indent="-457200">
              <a:lnSpc>
                <a:spcPct val="107000"/>
              </a:lnSpc>
              <a:buFont typeface="+mj-lt"/>
              <a:buAutoNum type="arabicPeriod" startAt="3"/>
            </a:pPr>
            <a:endParaRPr lang="en-US" sz="2400" dirty="0">
              <a:latin typeface="Verdana"/>
              <a:ea typeface="Verdana"/>
              <a:cs typeface="Verdana"/>
            </a:endParaRPr>
          </a:p>
          <a:p>
            <a:pPr marL="457200" indent="-457200">
              <a:lnSpc>
                <a:spcPct val="107000"/>
              </a:lnSpc>
              <a:buFont typeface="+mj-lt"/>
              <a:buAutoNum type="arabicPeriod" startAt="3"/>
            </a:pPr>
            <a:endParaRPr lang="en-US" sz="2400" dirty="0">
              <a:latin typeface="Verdana"/>
              <a:ea typeface="Verdana"/>
              <a:cs typeface="Verdana"/>
            </a:endParaRPr>
          </a:p>
          <a:p>
            <a:pPr marL="457200" indent="-457200">
              <a:lnSpc>
                <a:spcPct val="107000"/>
              </a:lnSpc>
              <a:buFont typeface="+mj-lt"/>
              <a:buAutoNum type="arabicPeriod" startAt="3"/>
            </a:pPr>
            <a:r>
              <a:rPr lang="en-US" sz="2400" dirty="0">
                <a:latin typeface="Verdana"/>
                <a:ea typeface="Verdana"/>
                <a:cs typeface="Verdana"/>
              </a:rPr>
              <a:t>What is your best guess of the length of the bubble wrap on the right when unrolled?</a:t>
            </a:r>
            <a:endParaRPr lang="en-PH" sz="2000" i="1" dirty="0">
              <a:latin typeface="Cambria Math"/>
              <a:ea typeface="Cambria Math"/>
              <a:cs typeface="Cambria Math"/>
            </a:endParaRPr>
          </a:p>
        </p:txBody>
      </p:sp>
      <p:sp>
        <p:nvSpPr>
          <p:cNvPr id="6"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AE5D4AA-90B6-45A1-91F9-3E84F1C35AD3}"/>
                  </a:ext>
                </a:extLst>
              </p:cNvPr>
              <p:cNvSpPr txBox="1"/>
              <p:nvPr/>
            </p:nvSpPr>
            <p:spPr>
              <a:xfrm>
                <a:off x="1344572" y="458244"/>
                <a:ext cx="8327136" cy="724942"/>
              </a:xfrm>
              <a:prstGeom prst="rect">
                <a:avLst/>
              </a:prstGeom>
              <a:noFill/>
            </p:spPr>
            <p:txBody>
              <a:bodyPr wrap="square">
                <a:spAutoFit/>
              </a:bodyPr>
              <a:lstStyle/>
              <a:p>
                <a:pPr>
                  <a:lnSpc>
                    <a:spcPct val="107000"/>
                  </a:lnSpc>
                </a:pPr>
                <a:r>
                  <a:rPr lang="en-US" sz="2000" dirty="0">
                    <a:latin typeface="Verdana" pitchFamily="34" charset="0"/>
                    <a:ea typeface="Verdana" pitchFamily="34" charset="0"/>
                    <a:cs typeface="Verdana"/>
                  </a:rPr>
                  <a:t>The roll of bubble wrap on the left is </a:t>
                </a:r>
                <a14:m>
                  <m:oMath xmlns:m="http://schemas.openxmlformats.org/officeDocument/2006/math">
                    <m:r>
                      <a:rPr lang="en-US" sz="2000" i="1">
                        <a:latin typeface="Cambria Math"/>
                        <a:ea typeface="Verdana"/>
                        <a:cs typeface="Verdana"/>
                      </a:rPr>
                      <m:t>1</m:t>
                    </m:r>
                  </m:oMath>
                </a14:m>
                <a:r>
                  <a:rPr lang="en-US" sz="2000" dirty="0">
                    <a:latin typeface="Verdana" pitchFamily="34" charset="0"/>
                    <a:ea typeface="Verdana" pitchFamily="34" charset="0"/>
                    <a:cs typeface="Verdana"/>
                  </a:rPr>
                  <a:t> foot high and </a:t>
                </a:r>
                <a14:m>
                  <m:oMath xmlns:m="http://schemas.openxmlformats.org/officeDocument/2006/math">
                    <m:r>
                      <a:rPr lang="en-US" sz="2000" i="1">
                        <a:latin typeface="Cambria Math"/>
                        <a:ea typeface="Verdana"/>
                        <a:cs typeface="Verdana"/>
                      </a:rPr>
                      <m:t>100</m:t>
                    </m:r>
                  </m:oMath>
                </a14:m>
                <a:r>
                  <a:rPr lang="en-US" sz="2000" dirty="0">
                    <a:latin typeface="Verdana" pitchFamily="34" charset="0"/>
                    <a:ea typeface="Verdana" pitchFamily="34" charset="0"/>
                    <a:cs typeface="Verdana"/>
                  </a:rPr>
                  <a:t> feet long.</a:t>
                </a:r>
                <a:endParaRPr lang="en-PH" sz="2000" i="1" dirty="0">
                  <a:latin typeface="Verdana" pitchFamily="34" charset="0"/>
                  <a:ea typeface="Verdana" pitchFamily="34" charset="0"/>
                  <a:cs typeface="Verdana"/>
                </a:endParaRPr>
              </a:p>
            </p:txBody>
          </p:sp>
        </mc:Choice>
        <mc:Fallback>
          <p:sp>
            <p:nvSpPr>
              <p:cNvPr id="7" name="TextBox 6">
                <a:extLst>
                  <a:ext uri="{FF2B5EF4-FFF2-40B4-BE49-F238E27FC236}">
                    <a16:creationId xmlns:a16="http://schemas.microsoft.com/office/drawing/2014/main" id="{2AE5D4AA-90B6-45A1-91F9-3E84F1C35AD3}"/>
                  </a:ext>
                </a:extLst>
              </p:cNvPr>
              <p:cNvSpPr txBox="1">
                <a:spLocks noRot="1" noChangeAspect="1" noMove="1" noResize="1" noEditPoints="1" noAdjustHandles="1" noChangeArrowheads="1" noChangeShapeType="1" noTextEdit="1"/>
              </p:cNvSpPr>
              <p:nvPr/>
            </p:nvSpPr>
            <p:spPr>
              <a:xfrm>
                <a:off x="1344572" y="458244"/>
                <a:ext cx="8327136" cy="724942"/>
              </a:xfrm>
              <a:prstGeom prst="rect">
                <a:avLst/>
              </a:prstGeom>
              <a:blipFill>
                <a:blip r:embed="rId4"/>
                <a:stretch>
                  <a:fillRect l="-805" t="-5042" b="-14286"/>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F01B09F0-74C1-4ADB-BF06-3938895BAC09}"/>
              </a:ext>
            </a:extLst>
          </p:cNvPr>
          <p:cNvGrpSpPr/>
          <p:nvPr/>
        </p:nvGrpSpPr>
        <p:grpSpPr>
          <a:xfrm>
            <a:off x="3200387" y="1248832"/>
            <a:ext cx="5941893" cy="2200416"/>
            <a:chOff x="1943100" y="2752725"/>
            <a:chExt cx="6481650" cy="2400300"/>
          </a:xfrm>
        </p:grpSpPr>
        <p:pic>
          <p:nvPicPr>
            <p:cNvPr id="9" name="Picture 2" descr="Description: A picture containing white, stone&#10;&#10;Description automatically generated">
              <a:extLst>
                <a:ext uri="{FF2B5EF4-FFF2-40B4-BE49-F238E27FC236}">
                  <a16:creationId xmlns:a16="http://schemas.microsoft.com/office/drawing/2014/main" id="{4A6A80F3-0061-4207-8E35-9C635DBAB192}"/>
                </a:ext>
              </a:extLst>
            </p:cNvPr>
            <p:cNvPicPr>
              <a:picLocks noChangeAspect="1" noChangeArrowheads="1"/>
            </p:cNvPicPr>
            <p:nvPr/>
          </p:nvPicPr>
          <p:blipFill>
            <a:blip r:embed="rId5" r:link="rId6" cstate="screen">
              <a:extLst>
                <a:ext uri="{28A0092B-C50C-407E-A947-70E740481C1C}">
                  <a14:useLocalDpi xmlns:a14="http://schemas.microsoft.com/office/drawing/2010/main"/>
                </a:ext>
              </a:extLst>
            </a:blip>
            <a:srcRect/>
            <a:stretch>
              <a:fillRect/>
            </a:stretch>
          </p:blipFill>
          <p:spPr bwMode="auto">
            <a:xfrm>
              <a:off x="1943100" y="2857500"/>
              <a:ext cx="2628900" cy="229552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Description: A picture containing white, stone&#10;&#10;Description automatically generated">
              <a:extLst>
                <a:ext uri="{FF2B5EF4-FFF2-40B4-BE49-F238E27FC236}">
                  <a16:creationId xmlns:a16="http://schemas.microsoft.com/office/drawing/2014/main" id="{6555A315-A782-430A-81C0-CD7AFFD2467D}"/>
                </a:ext>
              </a:extLst>
            </p:cNvPr>
            <p:cNvPicPr>
              <a:picLocks noChangeAspect="1" noChangeArrowheads="1"/>
            </p:cNvPicPr>
            <p:nvPr/>
          </p:nvPicPr>
          <p:blipFill>
            <a:blip r:embed="rId7" r:link="rId6" cstate="screen">
              <a:extLst>
                <a:ext uri="{28A0092B-C50C-407E-A947-70E740481C1C}">
                  <a14:useLocalDpi xmlns:a14="http://schemas.microsoft.com/office/drawing/2010/main"/>
                </a:ext>
              </a:extLst>
            </a:blip>
            <a:srcRect/>
            <a:stretch>
              <a:fillRect/>
            </a:stretch>
          </p:blipFill>
          <p:spPr bwMode="auto">
            <a:xfrm>
              <a:off x="4843350" y="2752725"/>
              <a:ext cx="3581400" cy="24003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5661"/>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745175" y="82334"/>
            <a:ext cx="85897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8.5.2 Guided Instruction: Using the Order of Operations on Expressions with Nested Grouping Symbols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997875" y="20322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01B13E8-EC8D-E443-A329-C5E3593DD13A}"/>
                  </a:ext>
                </a:extLst>
              </p:cNvPr>
              <p:cNvSpPr txBox="1"/>
              <p:nvPr/>
            </p:nvSpPr>
            <p:spPr>
              <a:xfrm>
                <a:off x="1650670" y="1386025"/>
                <a:ext cx="8736914" cy="5168274"/>
              </a:xfrm>
              <a:prstGeom prst="rect">
                <a:avLst/>
              </a:prstGeom>
              <a:noFill/>
            </p:spPr>
            <p:txBody>
              <a:bodyPr wrap="square" rtlCol="0">
                <a:spAutoFit/>
              </a:bodyPr>
              <a:lstStyle/>
              <a:p>
                <a:pPr>
                  <a:lnSpc>
                    <a:spcPct val="107000"/>
                  </a:lnSpc>
                  <a:spcAft>
                    <a:spcPts val="1800"/>
                  </a:spcAft>
                </a:pPr>
                <a:r>
                  <a:rPr lang="en-US" sz="2000" dirty="0">
                    <a:latin typeface="Verdana"/>
                    <a:ea typeface="Verdana"/>
                    <a:cs typeface="Verdana"/>
                  </a:rPr>
                  <a:t>The order of operations can be </a:t>
                </a:r>
                <a:br>
                  <a:rPr lang="en-US" sz="2000" dirty="0">
                    <a:latin typeface="Verdana"/>
                    <a:ea typeface="Verdana"/>
                    <a:cs typeface="Verdana"/>
                  </a:rPr>
                </a:br>
                <a:r>
                  <a:rPr lang="en-US" sz="2000" dirty="0">
                    <a:latin typeface="Verdana"/>
                    <a:ea typeface="Verdana"/>
                    <a:cs typeface="Verdana"/>
                  </a:rPr>
                  <a:t>used to evaluate expressions </a:t>
                </a:r>
                <a:br>
                  <a:rPr lang="en-US" sz="2000" dirty="0">
                    <a:latin typeface="Verdana"/>
                    <a:ea typeface="Verdana"/>
                    <a:cs typeface="Verdana"/>
                  </a:rPr>
                </a:br>
                <a:r>
                  <a:rPr lang="en-US" sz="2000" dirty="0">
                    <a:latin typeface="Verdana"/>
                    <a:ea typeface="Verdana"/>
                    <a:cs typeface="Verdana"/>
                  </a:rPr>
                  <a:t>using grouping symbols, rational </a:t>
                </a:r>
                <a:br>
                  <a:rPr lang="en-US" sz="2000" dirty="0">
                    <a:latin typeface="Verdana"/>
                    <a:ea typeface="Verdana"/>
                    <a:cs typeface="Verdana"/>
                  </a:rPr>
                </a:br>
                <a:r>
                  <a:rPr lang="en-US" sz="2000" dirty="0">
                    <a:latin typeface="Verdana"/>
                    <a:ea typeface="Verdana"/>
                    <a:cs typeface="Verdana"/>
                  </a:rPr>
                  <a:t>numbers, exponents, and </a:t>
                </a:r>
                <a:br>
                  <a:rPr lang="en-US" sz="2000" dirty="0">
                    <a:latin typeface="Verdana"/>
                    <a:ea typeface="Verdana"/>
                    <a:cs typeface="Verdana"/>
                  </a:rPr>
                </a:br>
                <a:r>
                  <a:rPr lang="en-US" sz="2000" dirty="0">
                    <a:latin typeface="Verdana"/>
                    <a:ea typeface="Verdana"/>
                    <a:cs typeface="Verdana"/>
                  </a:rPr>
                  <a:t>absolute values.</a:t>
                </a:r>
                <a:endParaRPr lang="en-PH" sz="1800" i="1" dirty="0">
                  <a:latin typeface="Cambria Math"/>
                  <a:ea typeface="Cambria Math"/>
                  <a:cs typeface="Verdana"/>
                </a:endParaRPr>
              </a:p>
              <a:p>
                <a:pPr marL="457200" indent="-457200">
                  <a:lnSpc>
                    <a:spcPct val="107000"/>
                  </a:lnSpc>
                  <a:buFont typeface="+mj-lt"/>
                  <a:buAutoNum type="arabicPeriod"/>
                </a:pPr>
                <a:r>
                  <a:rPr lang="en-US" sz="2000" dirty="0">
                    <a:latin typeface="Verdana"/>
                    <a:ea typeface="Verdana"/>
                    <a:cs typeface="Verdana"/>
                  </a:rPr>
                  <a:t>Two students evaluated the </a:t>
                </a:r>
                <a:br>
                  <a:rPr lang="en-US" sz="2000" dirty="0">
                    <a:latin typeface="Verdana"/>
                    <a:ea typeface="Verdana"/>
                    <a:cs typeface="Verdana"/>
                  </a:rPr>
                </a:br>
                <a:r>
                  <a:rPr lang="en-US" sz="2000" dirty="0">
                    <a:latin typeface="Verdana"/>
                    <a:ea typeface="Verdana"/>
                    <a:cs typeface="Verdana"/>
                  </a:rPr>
                  <a:t>expression </a:t>
                </a:r>
                <a14:m>
                  <m:oMath xmlns:m="http://schemas.openxmlformats.org/officeDocument/2006/math">
                    <m:sSup>
                      <m:sSupPr>
                        <m:ctrlPr>
                          <a:rPr lang="en-PH" sz="2000" i="1">
                            <a:latin typeface="Cambria Math" panose="02040503050406030204" pitchFamily="18" charset="0"/>
                            <a:ea typeface="Verdana"/>
                            <a:cs typeface="Verdana"/>
                          </a:rPr>
                        </m:ctrlPr>
                      </m:sSupPr>
                      <m:e>
                        <m:d>
                          <m:dPr>
                            <m:ctrlPr>
                              <a:rPr lang="en-PH" sz="2000" i="1">
                                <a:latin typeface="Cambria Math" panose="02040503050406030204" pitchFamily="18" charset="0"/>
                                <a:ea typeface="Verdana"/>
                                <a:cs typeface="Verdana"/>
                              </a:rPr>
                            </m:ctrlPr>
                          </m:dPr>
                          <m:e>
                            <m:f>
                              <m:fPr>
                                <m:ctrlPr>
                                  <a:rPr lang="en-PH" sz="2000" i="1">
                                    <a:latin typeface="Cambria Math" panose="02040503050406030204" pitchFamily="18" charset="0"/>
                                    <a:ea typeface="Verdana"/>
                                    <a:cs typeface="Verdana"/>
                                  </a:rPr>
                                </m:ctrlPr>
                              </m:fPr>
                              <m:num>
                                <m:d>
                                  <m:dPr>
                                    <m:ctrlPr>
                                      <a:rPr lang="en-PH" sz="2000" i="1">
                                        <a:latin typeface="Cambria Math" panose="02040503050406030204" pitchFamily="18" charset="0"/>
                                        <a:ea typeface="Verdana"/>
                                        <a:cs typeface="Verdana"/>
                                      </a:rPr>
                                    </m:ctrlPr>
                                  </m:dPr>
                                  <m:e>
                                    <m:r>
                                      <a:rPr lang="en-US" sz="2000" i="1">
                                        <a:latin typeface="Cambria Math"/>
                                        <a:ea typeface="Verdana"/>
                                        <a:cs typeface="Verdana"/>
                                      </a:rPr>
                                      <m:t>3+0.5</m:t>
                                    </m:r>
                                  </m:e>
                                </m:d>
                              </m:num>
                              <m:den>
                                <m:r>
                                  <a:rPr lang="en-US" sz="2000" i="1">
                                    <a:latin typeface="Cambria Math"/>
                                    <a:ea typeface="Verdana"/>
                                    <a:cs typeface="Verdana"/>
                                  </a:rPr>
                                  <m:t>0.5</m:t>
                                </m:r>
                              </m:den>
                            </m:f>
                          </m:e>
                        </m:d>
                      </m:e>
                      <m:sup>
                        <m:r>
                          <a:rPr lang="en-US" sz="2000" i="1">
                            <a:latin typeface="Cambria Math"/>
                            <a:ea typeface="Verdana"/>
                            <a:cs typeface="Verdana"/>
                          </a:rPr>
                          <m:t>3</m:t>
                        </m:r>
                      </m:sup>
                    </m:sSup>
                  </m:oMath>
                </a14:m>
                <a:r>
                  <a:rPr lang="en-US" sz="2000" dirty="0">
                    <a:latin typeface="Verdana"/>
                    <a:ea typeface="Verdana"/>
                    <a:cs typeface="Verdana"/>
                  </a:rPr>
                  <a:t>. This </a:t>
                </a:r>
                <a:br>
                  <a:rPr lang="en-US" sz="2000" dirty="0">
                    <a:latin typeface="Verdana"/>
                    <a:ea typeface="Verdana"/>
                    <a:cs typeface="Verdana"/>
                  </a:rPr>
                </a:br>
                <a:r>
                  <a:rPr lang="en-US" sz="2000" dirty="0">
                    <a:latin typeface="Verdana"/>
                    <a:ea typeface="Verdana"/>
                    <a:cs typeface="Verdana"/>
                  </a:rPr>
                  <a:t>expression shows nested </a:t>
                </a:r>
                <a:br>
                  <a:rPr lang="en-US" sz="2000" dirty="0">
                    <a:latin typeface="Verdana"/>
                    <a:ea typeface="Verdana"/>
                    <a:cs typeface="Verdana"/>
                  </a:rPr>
                </a:br>
                <a:r>
                  <a:rPr lang="en-US" sz="2000" dirty="0">
                    <a:latin typeface="Verdana"/>
                    <a:ea typeface="Verdana"/>
                    <a:cs typeface="Verdana"/>
                  </a:rPr>
                  <a:t>grouping symbols, or groupings </a:t>
                </a:r>
                <a:br>
                  <a:rPr lang="en-US" sz="2000" dirty="0">
                    <a:latin typeface="Verdana"/>
                    <a:ea typeface="Verdana"/>
                    <a:cs typeface="Verdana"/>
                  </a:rPr>
                </a:br>
                <a:r>
                  <a:rPr lang="en-US" sz="2000" dirty="0">
                    <a:latin typeface="Verdana"/>
                    <a:ea typeface="Verdana"/>
                    <a:cs typeface="Verdana"/>
                  </a:rPr>
                  <a:t>inside of other groupings.</a:t>
                </a:r>
              </a:p>
              <a:p>
                <a:pPr marL="457200">
                  <a:lnSpc>
                    <a:spcPct val="107000"/>
                  </a:lnSpc>
                </a:pPr>
                <a:endParaRPr lang="en-US" sz="2000" dirty="0">
                  <a:latin typeface="Verdana"/>
                  <a:ea typeface="Verdana"/>
                  <a:cs typeface="Verdana"/>
                </a:endParaRPr>
              </a:p>
              <a:p>
                <a:pPr marL="457200">
                  <a:lnSpc>
                    <a:spcPct val="107000"/>
                  </a:lnSpc>
                </a:pPr>
                <a:r>
                  <a:rPr lang="en-US" sz="2000" dirty="0">
                    <a:latin typeface="Verdana"/>
                    <a:ea typeface="Verdana"/>
                    <a:cs typeface="Verdana"/>
                  </a:rPr>
                  <a:t>How were Abby’s steps and </a:t>
                </a:r>
                <a:br>
                  <a:rPr lang="en-US" sz="2000" dirty="0">
                    <a:latin typeface="Verdana"/>
                    <a:ea typeface="Verdana"/>
                    <a:cs typeface="Verdana"/>
                  </a:rPr>
                </a:br>
                <a:r>
                  <a:rPr lang="en-US" sz="2000" dirty="0">
                    <a:latin typeface="Verdana"/>
                    <a:ea typeface="Verdana"/>
                    <a:cs typeface="Verdana"/>
                  </a:rPr>
                  <a:t>Devon’s steps different from </a:t>
                </a:r>
                <a:br>
                  <a:rPr lang="en-US" sz="2000" dirty="0">
                    <a:latin typeface="Verdana"/>
                    <a:ea typeface="Verdana"/>
                    <a:cs typeface="Verdana"/>
                  </a:rPr>
                </a:br>
                <a:r>
                  <a:rPr lang="en-US" sz="2000" dirty="0">
                    <a:latin typeface="Verdana"/>
                    <a:ea typeface="Verdana"/>
                    <a:cs typeface="Verdana"/>
                  </a:rPr>
                  <a:t>each other?</a:t>
                </a:r>
                <a:endParaRPr lang="en-PH" sz="1800" i="1" dirty="0">
                  <a:latin typeface="Cambria Math"/>
                  <a:ea typeface="Cambria Math"/>
                  <a:cs typeface="Cambria Math"/>
                </a:endParaRPr>
              </a:p>
            </p:txBody>
          </p:sp>
        </mc:Choice>
        <mc:Fallback>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1650670" y="1386025"/>
                <a:ext cx="8736914" cy="5168274"/>
              </a:xfrm>
              <a:prstGeom prst="rect">
                <a:avLst/>
              </a:prstGeom>
              <a:blipFill>
                <a:blip r:embed="rId5"/>
                <a:stretch>
                  <a:fillRect l="-768" t="-708" b="-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060647517"/>
                  </p:ext>
                </p:extLst>
              </p:nvPr>
            </p:nvGraphicFramePr>
            <p:xfrm>
              <a:off x="6831750" y="1470619"/>
              <a:ext cx="3600000" cy="4450271"/>
            </p:xfrm>
            <a:graphic>
              <a:graphicData uri="http://schemas.openxmlformats.org/drawingml/2006/table">
                <a:tbl>
                  <a:tblPr firstRow="1" firstCol="1" bandRow="1"/>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tblGrid>
                  <a:tr h="0">
                    <a:tc>
                      <a:txBody>
                        <a:bodyPr/>
                        <a:lstStyle/>
                        <a:p>
                          <a:pPr algn="ctr">
                            <a:lnSpc>
                              <a:spcPct val="107000"/>
                            </a:lnSpc>
                            <a:spcAft>
                              <a:spcPts val="0"/>
                            </a:spcAft>
                          </a:pPr>
                          <a:r>
                            <a:rPr lang="en-US" sz="2000" b="1" i="0" dirty="0">
                              <a:effectLst/>
                              <a:latin typeface="Verdana"/>
                              <a:ea typeface="Verdana"/>
                              <a:cs typeface="Verdana"/>
                            </a:rPr>
                            <a:t>Abby</a:t>
                          </a:r>
                          <a:endParaRPr lang="en-PH" sz="2000" i="1" dirty="0">
                            <a:effectLst/>
                            <a:latin typeface="Cambria Math"/>
                            <a:ea typeface="Cambria Math"/>
                            <a:cs typeface="Cambria Math"/>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a:ea typeface="Verdana"/>
                              <a:cs typeface="Verdana"/>
                            </a:rPr>
                            <a:t>Devon</a:t>
                          </a:r>
                          <a:endParaRPr lang="en-PH" sz="2000" i="1" dirty="0">
                            <a:effectLst/>
                            <a:latin typeface="Cambria Math"/>
                            <a:ea typeface="Cambria Math"/>
                            <a:cs typeface="Cambria Math"/>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a:lnSpc>
                              <a:spcPct val="107000"/>
                            </a:lnSpc>
                            <a:spcAft>
                              <a:spcPts val="180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f>
                                          <m:fPr>
                                            <m:ctrlPr>
                                              <a:rPr lang="en-PH" sz="2000" i="1">
                                                <a:effectLst/>
                                                <a:latin typeface="Cambria Math" panose="02040503050406030204" pitchFamily="18" charset="0"/>
                                                <a:ea typeface="Verdana"/>
                                                <a:cs typeface="Verdana"/>
                                              </a:rPr>
                                            </m:ctrlPr>
                                          </m:fPr>
                                          <m:num>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3+0.5</m:t>
                                                </m:r>
                                              </m:e>
                                            </m:d>
                                          </m:num>
                                          <m:den>
                                            <m:r>
                                              <a:rPr lang="en-US" sz="2000" i="1">
                                                <a:effectLst/>
                                                <a:latin typeface="Cambria Math"/>
                                                <a:ea typeface="Verdana"/>
                                                <a:cs typeface="Verdana"/>
                                              </a:rPr>
                                              <m:t>0.5</m:t>
                                            </m:r>
                                          </m:den>
                                        </m:f>
                                      </m:e>
                                    </m:d>
                                  </m:e>
                                  <m:sup>
                                    <m:r>
                                      <a:rPr lang="en-US" sz="2000" i="1">
                                        <a:effectLst/>
                                        <a:latin typeface="Cambria Math"/>
                                        <a:ea typeface="Verdana"/>
                                        <a:cs typeface="Verdana"/>
                                      </a:rPr>
                                      <m:t>3</m:t>
                                    </m:r>
                                  </m:sup>
                                </m:sSup>
                              </m:oMath>
                            </m:oMathPara>
                          </a14:m>
                          <a:endParaRPr lang="en-PH" sz="2000" i="1" dirty="0">
                            <a:effectLst/>
                            <a:latin typeface="Cambria Math"/>
                            <a:ea typeface="Cambria Math"/>
                            <a:cs typeface="Cambria Math"/>
                          </a:endParaRPr>
                        </a:p>
                        <a:p>
                          <a:pPr>
                            <a:lnSpc>
                              <a:spcPct val="107000"/>
                            </a:lnSpc>
                            <a:spcAft>
                              <a:spcPts val="180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f>
                                          <m:fPr>
                                            <m:ctrlPr>
                                              <a:rPr lang="en-PH" sz="2000" i="1">
                                                <a:effectLst/>
                                                <a:latin typeface="Cambria Math" panose="02040503050406030204" pitchFamily="18" charset="0"/>
                                                <a:ea typeface="Verdana"/>
                                                <a:cs typeface="Verdana"/>
                                              </a:rPr>
                                            </m:ctrlPr>
                                          </m:fPr>
                                          <m:num>
                                            <m:r>
                                              <a:rPr lang="en-US" sz="2000" i="1">
                                                <a:effectLst/>
                                                <a:latin typeface="Cambria Math"/>
                                                <a:ea typeface="Verdana"/>
                                                <a:cs typeface="Verdana"/>
                                              </a:rPr>
                                              <m:t>3.5</m:t>
                                            </m:r>
                                          </m:num>
                                          <m:den>
                                            <m:r>
                                              <a:rPr lang="en-US" sz="2000" i="1">
                                                <a:effectLst/>
                                                <a:latin typeface="Cambria Math"/>
                                                <a:ea typeface="Verdana"/>
                                                <a:cs typeface="Verdana"/>
                                              </a:rPr>
                                              <m:t>0.5</m:t>
                                            </m:r>
                                          </m:den>
                                        </m:f>
                                      </m:e>
                                    </m:d>
                                  </m:e>
                                  <m:sup>
                                    <m:r>
                                      <a:rPr lang="en-US" sz="2000" i="1">
                                        <a:effectLst/>
                                        <a:latin typeface="Cambria Math"/>
                                        <a:ea typeface="Verdana"/>
                                        <a:cs typeface="Verdana"/>
                                      </a:rPr>
                                      <m:t>3</m:t>
                                    </m:r>
                                  </m:sup>
                                </m:sSup>
                              </m:oMath>
                            </m:oMathPara>
                          </a14:m>
                          <a:endParaRPr lang="en-PH" sz="2000" i="1" dirty="0">
                            <a:effectLst/>
                            <a:latin typeface="Cambria Math"/>
                            <a:ea typeface="Cambria Math"/>
                            <a:cs typeface="Cambria Math"/>
                          </a:endParaRPr>
                        </a:p>
                        <a:p>
                          <a:pPr>
                            <a:lnSpc>
                              <a:spcPct val="107000"/>
                            </a:lnSpc>
                            <a:spcAft>
                              <a:spcPts val="180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7</m:t>
                                        </m:r>
                                      </m:e>
                                    </m:d>
                                  </m:e>
                                  <m:sup>
                                    <m:r>
                                      <a:rPr lang="en-US" sz="2000" i="1">
                                        <a:effectLst/>
                                        <a:latin typeface="Cambria Math"/>
                                        <a:ea typeface="Verdana"/>
                                        <a:cs typeface="Verdana"/>
                                      </a:rPr>
                                      <m:t>3</m:t>
                                    </m:r>
                                  </m:sup>
                                </m:sSup>
                              </m:oMath>
                            </m:oMathPara>
                          </a14:m>
                          <a:endParaRPr lang="en-PH" sz="2000" i="1" dirty="0">
                            <a:effectLst/>
                            <a:latin typeface="Cambria Math"/>
                            <a:ea typeface="Cambria Math"/>
                            <a:cs typeface="Cambria Math"/>
                          </a:endParaRPr>
                        </a:p>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343</m:t>
                                </m:r>
                              </m:oMath>
                            </m:oMathPara>
                          </a14:m>
                          <a:endParaRPr lang="en-PH" sz="2000" i="1" dirty="0">
                            <a:effectLst/>
                            <a:latin typeface="Cambria Math"/>
                            <a:ea typeface="Cambria Math"/>
                            <a:cs typeface="Cambria Math"/>
                          </a:endParaRPr>
                        </a:p>
                        <a:p>
                          <a:pPr>
                            <a:lnSpc>
                              <a:spcPct val="107000"/>
                            </a:lnSpc>
                            <a:spcAft>
                              <a:spcPts val="0"/>
                            </a:spcAft>
                          </a:pPr>
                          <a:r>
                            <a:rPr lang="en-US" sz="2000" i="0" dirty="0">
                              <a:effectLst/>
                              <a:latin typeface="Verdana"/>
                              <a:ea typeface="Verdana"/>
                              <a:cs typeface="Verdana"/>
                            </a:rPr>
                            <a:t> </a:t>
                          </a:r>
                          <a:endParaRPr lang="en-PH" sz="2000" i="1" dirty="0">
                            <a:effectLst/>
                            <a:latin typeface="Cambria Math"/>
                            <a:ea typeface="Cambria Math"/>
                            <a:cs typeface="Cambria Math"/>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180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f>
                                          <m:fPr>
                                            <m:ctrlPr>
                                              <a:rPr lang="en-PH" sz="2000" i="1">
                                                <a:effectLst/>
                                                <a:latin typeface="Cambria Math" panose="02040503050406030204" pitchFamily="18" charset="0"/>
                                                <a:ea typeface="Verdana"/>
                                                <a:cs typeface="Verdana"/>
                                              </a:rPr>
                                            </m:ctrlPr>
                                          </m:fPr>
                                          <m:num>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3+0.5</m:t>
                                                </m:r>
                                              </m:e>
                                            </m:d>
                                          </m:num>
                                          <m:den>
                                            <m:r>
                                              <a:rPr lang="en-US" sz="2000" i="1">
                                                <a:effectLst/>
                                                <a:latin typeface="Cambria Math"/>
                                                <a:ea typeface="Verdana"/>
                                                <a:cs typeface="Verdana"/>
                                              </a:rPr>
                                              <m:t>0.5</m:t>
                                            </m:r>
                                          </m:den>
                                        </m:f>
                                      </m:e>
                                    </m:d>
                                  </m:e>
                                  <m:sup>
                                    <m:r>
                                      <a:rPr lang="en-US" sz="2000" i="1">
                                        <a:effectLst/>
                                        <a:latin typeface="Cambria Math"/>
                                        <a:ea typeface="Verdana"/>
                                        <a:cs typeface="Verdana"/>
                                      </a:rPr>
                                      <m:t>3</m:t>
                                    </m:r>
                                  </m:sup>
                                </m:sSup>
                              </m:oMath>
                            </m:oMathPara>
                          </a14:m>
                          <a:endParaRPr lang="en-PH" sz="2000" i="1" dirty="0">
                            <a:effectLst/>
                            <a:latin typeface="Cambria Math"/>
                            <a:ea typeface="Cambria Math"/>
                            <a:cs typeface="Cambria Math"/>
                          </a:endParaRPr>
                        </a:p>
                        <a:p>
                          <a:pPr>
                            <a:lnSpc>
                              <a:spcPct val="107000"/>
                            </a:lnSpc>
                            <a:spcAft>
                              <a:spcPts val="180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3+0.5</m:t>
                                            </m:r>
                                          </m:e>
                                        </m:d>
                                      </m:e>
                                      <m:sup>
                                        <m:r>
                                          <a:rPr lang="en-US" sz="2000" i="1">
                                            <a:effectLst/>
                                            <a:latin typeface="Cambria Math"/>
                                            <a:ea typeface="Verdana"/>
                                            <a:cs typeface="Verdana"/>
                                          </a:rPr>
                                          <m:t>3</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0.5</m:t>
                                        </m:r>
                                      </m:e>
                                      <m:sup>
                                        <m:r>
                                          <a:rPr lang="en-US" sz="2000" i="1">
                                            <a:effectLst/>
                                            <a:latin typeface="Cambria Math"/>
                                            <a:ea typeface="Verdana"/>
                                            <a:cs typeface="Verdana"/>
                                          </a:rPr>
                                          <m:t>3</m:t>
                                        </m:r>
                                      </m:sup>
                                    </m:sSup>
                                  </m:den>
                                </m:f>
                              </m:oMath>
                            </m:oMathPara>
                          </a14:m>
                          <a:endParaRPr lang="en-PH" sz="2000" i="1" dirty="0">
                            <a:effectLst/>
                            <a:latin typeface="Cambria Math"/>
                            <a:ea typeface="Cambria Math"/>
                            <a:cs typeface="Cambria Math"/>
                          </a:endParaRPr>
                        </a:p>
                        <a:p>
                          <a:pPr>
                            <a:lnSpc>
                              <a:spcPct val="107000"/>
                            </a:lnSpc>
                            <a:spcAft>
                              <a:spcPts val="180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3.5</m:t>
                                        </m:r>
                                      </m:e>
                                      <m:sup>
                                        <m:r>
                                          <a:rPr lang="en-US" sz="2000" i="1">
                                            <a:effectLst/>
                                            <a:latin typeface="Cambria Math"/>
                                            <a:ea typeface="Verdana"/>
                                            <a:cs typeface="Verdana"/>
                                          </a:rPr>
                                          <m:t>3</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0.5</m:t>
                                        </m:r>
                                      </m:e>
                                      <m:sup>
                                        <m:r>
                                          <a:rPr lang="en-US" sz="2000" i="1">
                                            <a:effectLst/>
                                            <a:latin typeface="Cambria Math"/>
                                            <a:ea typeface="Verdana"/>
                                            <a:cs typeface="Verdana"/>
                                          </a:rPr>
                                          <m:t>3</m:t>
                                        </m:r>
                                      </m:sup>
                                    </m:sSup>
                                  </m:den>
                                </m:f>
                              </m:oMath>
                            </m:oMathPara>
                          </a14:m>
                          <a:endParaRPr lang="en-PH" sz="2000" i="1" dirty="0">
                            <a:effectLst/>
                            <a:latin typeface="Cambria Math"/>
                            <a:ea typeface="Cambria Math"/>
                            <a:cs typeface="Cambria Math"/>
                          </a:endParaRPr>
                        </a:p>
                        <a:p>
                          <a:pPr>
                            <a:lnSpc>
                              <a:spcPct val="107000"/>
                            </a:lnSpc>
                            <a:spcAft>
                              <a:spcPts val="180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ea typeface="Verdana"/>
                                        <a:cs typeface="Verdana"/>
                                      </a:rPr>
                                    </m:ctrlPr>
                                  </m:fPr>
                                  <m:num>
                                    <m:r>
                                      <a:rPr lang="en-US" sz="2000" i="1">
                                        <a:effectLst/>
                                        <a:latin typeface="Cambria Math"/>
                                        <a:ea typeface="Verdana"/>
                                        <a:cs typeface="Verdana"/>
                                      </a:rPr>
                                      <m:t>42.875</m:t>
                                    </m:r>
                                  </m:num>
                                  <m:den>
                                    <m:r>
                                      <a:rPr lang="en-US" sz="2000" i="1">
                                        <a:effectLst/>
                                        <a:latin typeface="Cambria Math"/>
                                        <a:ea typeface="Verdana"/>
                                        <a:cs typeface="Verdana"/>
                                      </a:rPr>
                                      <m:t>0.125</m:t>
                                    </m:r>
                                  </m:den>
                                </m:f>
                              </m:oMath>
                            </m:oMathPara>
                          </a14:m>
                          <a:endParaRPr lang="en-PH" sz="2000" i="1" dirty="0">
                            <a:effectLst/>
                            <a:latin typeface="Cambria Math"/>
                            <a:ea typeface="Cambria Math"/>
                            <a:cs typeface="Cambria Math"/>
                          </a:endParaRPr>
                        </a:p>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343</m:t>
                                </m:r>
                              </m:oMath>
                            </m:oMathPara>
                          </a14:m>
                          <a:endParaRPr lang="en-PH" sz="2000" i="1" dirty="0">
                            <a:effectLst/>
                            <a:latin typeface="Cambria Math"/>
                            <a:ea typeface="Cambria Math"/>
                            <a:cs typeface="Cambria Math"/>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060647517"/>
                  </p:ext>
                </p:extLst>
              </p:nvPr>
            </p:nvGraphicFramePr>
            <p:xfrm>
              <a:off x="6831750" y="1470619"/>
              <a:ext cx="3600000" cy="4458018"/>
            </p:xfrm>
            <a:graphic>
              <a:graphicData uri="http://schemas.openxmlformats.org/drawingml/2006/table">
                <a:tbl>
                  <a:tblPr firstRow="1" firstCol="1" bandRow="1"/>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tblGrid>
                  <a:tr h="400622">
                    <a:tc>
                      <a:txBody>
                        <a:bodyPr/>
                        <a:lstStyle/>
                        <a:p>
                          <a:pPr algn="ctr">
                            <a:lnSpc>
                              <a:spcPct val="107000"/>
                            </a:lnSpc>
                            <a:spcAft>
                              <a:spcPts val="0"/>
                            </a:spcAft>
                          </a:pPr>
                          <a:r>
                            <a:rPr lang="en-US" sz="2000" b="1" i="0" dirty="0">
                              <a:effectLst/>
                              <a:latin typeface="Verdana"/>
                              <a:ea typeface="Verdana"/>
                              <a:cs typeface="Verdana"/>
                            </a:rPr>
                            <a:t>Abby</a:t>
                          </a:r>
                          <a:endParaRPr lang="en-PH" sz="2000" i="1" dirty="0">
                            <a:effectLst/>
                            <a:latin typeface="Cambria Math"/>
                            <a:ea typeface="Cambria Math"/>
                            <a:cs typeface="Cambria Math"/>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a:ea typeface="Verdana"/>
                              <a:cs typeface="Verdana"/>
                            </a:rPr>
                            <a:t>Devon</a:t>
                          </a:r>
                          <a:endParaRPr lang="en-PH" sz="2000" i="1" dirty="0">
                            <a:effectLst/>
                            <a:latin typeface="Cambria Math"/>
                            <a:ea typeface="Cambria Math"/>
                            <a:cs typeface="Cambria Math"/>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057396">
                    <a:tc>
                      <a:txBody>
                        <a:bodyPr/>
                        <a:lstStyle/>
                        <a:p>
                          <a:endParaRPr lang="en-US"/>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t="-10938" r="-100699" b="-625"/>
                          </a:stretch>
                        </a:blipFill>
                      </a:tcPr>
                    </a:tc>
                    <a:tc>
                      <a:txBody>
                        <a:bodyPr/>
                        <a:lstStyle/>
                        <a:p>
                          <a:endParaRPr lang="en-US"/>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00704" t="-10938" r="-1408" b="-625"/>
                          </a:stretch>
                        </a:blipFill>
                      </a:tcPr>
                    </a:tc>
                    <a:extLst>
                      <a:ext uri="{0D108BD9-81ED-4DB2-BD59-A6C34878D82A}">
                        <a16:rowId xmlns:a16="http://schemas.microsoft.com/office/drawing/2014/main" val="10001"/>
                      </a:ext>
                    </a:extLst>
                  </a:tr>
                </a:tbl>
              </a:graphicData>
            </a:graphic>
          </p:graphicFrame>
        </mc:Fallback>
      </mc:AlternateContent>
      <p:sp>
        <p:nvSpPr>
          <p:cNvPr id="10" name="Google Shape;282;g104476d1465_1_17"/>
          <p:cNvSpPr txBox="1"/>
          <p:nvPr/>
        </p:nvSpPr>
        <p:spPr>
          <a:xfrm>
            <a:off x="8889924" y="648273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1650670" y="1947750"/>
                <a:ext cx="8684231" cy="3253711"/>
              </a:xfrm>
              <a:prstGeom prst="rect">
                <a:avLst/>
              </a:prstGeom>
              <a:noFill/>
            </p:spPr>
            <p:txBody>
              <a:bodyPr wrap="square" rtlCol="0">
                <a:spAutoFit/>
              </a:bodyPr>
              <a:lstStyle/>
              <a:p>
                <a:pPr marL="457200" indent="-457200">
                  <a:lnSpc>
                    <a:spcPct val="107000"/>
                  </a:lnSpc>
                  <a:buFont typeface="+mj-lt"/>
                  <a:buAutoNum type="arabicPeriod" startAt="2"/>
                </a:pPr>
                <a:r>
                  <a:rPr lang="en-US" sz="2400" dirty="0">
                    <a:latin typeface="Verdana"/>
                    <a:ea typeface="Verdana"/>
                    <a:cs typeface="Verdana"/>
                  </a:rPr>
                  <a:t>Zion says since multiplication is commutative and the order does not matter, he thinks he can evaluate the expression </a:t>
                </a:r>
                <a14:m>
                  <m:oMath xmlns:m="http://schemas.openxmlformats.org/officeDocument/2006/math">
                    <m:sSup>
                      <m:sSupPr>
                        <m:ctrlPr>
                          <a:rPr lang="en-PH" sz="2400" i="1">
                            <a:latin typeface="Cambria Math" panose="02040503050406030204" pitchFamily="18" charset="0"/>
                            <a:ea typeface="Verdana"/>
                            <a:cs typeface="Verdana"/>
                          </a:rPr>
                        </m:ctrlPr>
                      </m:sSupPr>
                      <m:e>
                        <m:d>
                          <m:dPr>
                            <m:begChr m:val="["/>
                            <m:endChr m:val="]"/>
                            <m:ctrlPr>
                              <a:rPr lang="en-PH" sz="2400" i="1">
                                <a:latin typeface="Cambria Math" panose="02040503050406030204" pitchFamily="18" charset="0"/>
                                <a:ea typeface="Verdana"/>
                                <a:cs typeface="Verdana"/>
                              </a:rPr>
                            </m:ctrlPr>
                          </m:dPr>
                          <m:e>
                            <m:r>
                              <a:rPr lang="en-US" sz="2400" i="1">
                                <a:latin typeface="Cambria Math"/>
                                <a:ea typeface="Verdana"/>
                                <a:cs typeface="Verdana"/>
                              </a:rPr>
                              <m:t>0.05×</m:t>
                            </m:r>
                            <m:sSup>
                              <m:sSupPr>
                                <m:ctrlPr>
                                  <a:rPr lang="en-PH" sz="2400" i="1">
                                    <a:latin typeface="Cambria Math" panose="02040503050406030204" pitchFamily="18" charset="0"/>
                                    <a:ea typeface="Verdana"/>
                                    <a:cs typeface="Verdana"/>
                                  </a:rPr>
                                </m:ctrlPr>
                              </m:sSupPr>
                              <m:e>
                                <m:d>
                                  <m:dPr>
                                    <m:ctrlPr>
                                      <a:rPr lang="en-PH" sz="2400" i="1">
                                        <a:latin typeface="Cambria Math" panose="02040503050406030204" pitchFamily="18" charset="0"/>
                                        <a:ea typeface="Verdana"/>
                                        <a:cs typeface="Verdana"/>
                                      </a:rPr>
                                    </m:ctrlPr>
                                  </m:dPr>
                                  <m:e>
                                    <m:r>
                                      <a:rPr lang="en-US" sz="2400" i="1">
                                        <a:latin typeface="Cambria Math"/>
                                        <a:ea typeface="Verdana"/>
                                        <a:cs typeface="Verdana"/>
                                      </a:rPr>
                                      <m:t>3×2</m:t>
                                    </m:r>
                                  </m:e>
                                </m:d>
                              </m:e>
                              <m:sup>
                                <m:r>
                                  <a:rPr lang="en-US" sz="2400" i="1">
                                    <a:latin typeface="Cambria Math"/>
                                    <a:ea typeface="Verdana"/>
                                    <a:cs typeface="Verdana"/>
                                  </a:rPr>
                                  <m:t>4</m:t>
                                </m:r>
                              </m:sup>
                            </m:sSup>
                          </m:e>
                        </m:d>
                      </m:e>
                      <m:sup>
                        <m:r>
                          <a:rPr lang="en-US" sz="2400" i="1">
                            <a:latin typeface="Cambria Math"/>
                            <a:ea typeface="Verdana"/>
                            <a:cs typeface="Verdana"/>
                          </a:rPr>
                          <m:t>2</m:t>
                        </m:r>
                      </m:sup>
                    </m:sSup>
                  </m:oMath>
                </a14:m>
                <a:r>
                  <a:rPr lang="en-US" sz="2400" dirty="0">
                    <a:latin typeface="Verdana"/>
                    <a:ea typeface="Verdana"/>
                    <a:cs typeface="Verdana"/>
                  </a:rPr>
                  <a:t> by either multiplying </a:t>
                </a:r>
                <a14:m>
                  <m:oMath xmlns:m="http://schemas.openxmlformats.org/officeDocument/2006/math">
                    <m:r>
                      <a:rPr lang="en-US" sz="2400" i="1">
                        <a:latin typeface="Cambria Math"/>
                        <a:ea typeface="Verdana"/>
                        <a:cs typeface="Verdana"/>
                      </a:rPr>
                      <m:t>0.05 × 3</m:t>
                    </m:r>
                  </m:oMath>
                </a14:m>
                <a:r>
                  <a:rPr lang="en-US" sz="2400" dirty="0">
                    <a:latin typeface="Verdana"/>
                    <a:ea typeface="Verdana"/>
                    <a:cs typeface="Verdana"/>
                  </a:rPr>
                  <a:t> first or by multiplying </a:t>
                </a:r>
                <a14:m>
                  <m:oMath xmlns:m="http://schemas.openxmlformats.org/officeDocument/2006/math">
                    <m:r>
                      <a:rPr lang="en-US" sz="2400" i="1">
                        <a:latin typeface="Cambria Math"/>
                        <a:ea typeface="Verdana"/>
                        <a:cs typeface="Verdana"/>
                      </a:rPr>
                      <m:t>3 × 2</m:t>
                    </m:r>
                  </m:oMath>
                </a14:m>
                <a:r>
                  <a:rPr lang="en-US" sz="2400" dirty="0">
                    <a:latin typeface="Verdana"/>
                    <a:ea typeface="Verdana"/>
                    <a:cs typeface="Verdana"/>
                  </a:rPr>
                  <a:t> first. </a:t>
                </a:r>
                <a:endParaRPr lang="en-PH" sz="2000" i="1" dirty="0">
                  <a:latin typeface="Cambria Math"/>
                  <a:ea typeface="Cambria Math"/>
                  <a:cs typeface="Cambria Math"/>
                </a:endParaRPr>
              </a:p>
              <a:p>
                <a:pPr>
                  <a:lnSpc>
                    <a:spcPct val="107000"/>
                  </a:lnSpc>
                </a:pPr>
                <a:r>
                  <a:rPr lang="en-US" sz="2400" dirty="0">
                    <a:latin typeface="Verdana"/>
                    <a:ea typeface="Verdana"/>
                    <a:cs typeface="Verdana"/>
                  </a:rPr>
                  <a:t> </a:t>
                </a:r>
                <a:endParaRPr lang="en-PH" sz="2000" i="1" dirty="0">
                  <a:latin typeface="Cambria Math"/>
                  <a:ea typeface="Cambria Math"/>
                  <a:cs typeface="Cambria Math"/>
                </a:endParaRPr>
              </a:p>
              <a:p>
                <a:pPr marL="457200">
                  <a:lnSpc>
                    <a:spcPct val="107000"/>
                  </a:lnSpc>
                </a:pPr>
                <a:r>
                  <a:rPr lang="en-US" sz="2400" dirty="0">
                    <a:latin typeface="Verdana"/>
                    <a:ea typeface="Verdana"/>
                    <a:cs typeface="Verdana"/>
                  </a:rPr>
                  <a:t>Discuss with your partner if Zion is correct when he stated that both would work. </a:t>
                </a:r>
                <a:endParaRPr lang="en-PH" sz="2000" i="1" dirty="0">
                  <a:latin typeface="Cambria Math"/>
                  <a:ea typeface="Cambria Math"/>
                  <a:cs typeface="Cambria Math"/>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650670" y="1947750"/>
                <a:ext cx="8684231" cy="3253711"/>
              </a:xfrm>
              <a:prstGeom prst="rect">
                <a:avLst/>
              </a:prstGeom>
              <a:blipFill>
                <a:blip r:embed="rId4"/>
                <a:stretch>
                  <a:fillRect l="-1124" t="-1876" r="-1264" b="-2439"/>
                </a:stretch>
              </a:blipFill>
            </p:spPr>
            <p:txBody>
              <a:bodyPr/>
              <a:lstStyle/>
              <a:p>
                <a:r>
                  <a:rPr lang="en-US">
                    <a:noFill/>
                  </a:rPr>
                  <a:t> </a:t>
                </a:r>
              </a:p>
            </p:txBody>
          </p:sp>
        </mc:Fallback>
      </mc:AlternateContent>
      <p:sp>
        <p:nvSpPr>
          <p:cNvPr id="7" name="Rectangle: Rounded Corners 69"/>
          <p:cNvSpPr/>
          <p:nvPr/>
        </p:nvSpPr>
        <p:spPr>
          <a:xfrm>
            <a:off x="2007764" y="520394"/>
            <a:ext cx="8460000" cy="1195221"/>
          </a:xfrm>
          <a:prstGeom prst="roundRect">
            <a:avLst/>
          </a:prstGeom>
          <a:solidFill>
            <a:srgbClr val="BAE6F4"/>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horz" wrap="square" lIns="91440" tIns="45720" rIns="91440" bIns="45720" numCol="1" spcCol="0" rtlCol="0" fromWordArt="0" anchor="t" anchorCtr="0" forceAA="0" compatLnSpc="1">
            <a:prstTxWarp prst="textNoShape">
              <a:avLst/>
            </a:prstTxWarp>
            <a:spAutoFit/>
          </a:bodyPr>
          <a:lstStyle/>
          <a:p>
            <a:pPr marL="628650">
              <a:lnSpc>
                <a:spcPct val="107000"/>
              </a:lnSpc>
              <a:spcAft>
                <a:spcPts val="800"/>
              </a:spcAft>
              <a:buClrTx/>
              <a:defRPr/>
            </a:pPr>
            <a:r>
              <a:rPr lang="en-US" sz="2000" dirty="0">
                <a:solidFill>
                  <a:srgbClr val="00629D"/>
                </a:solidFill>
                <a:latin typeface="Verdana"/>
                <a:ea typeface="Cambria Math"/>
                <a:cs typeface="Cambria Math"/>
              </a:rPr>
              <a:t>When using the order of operations to evaluate an expression with nested grouping symbols, apply the order of operations inside the inner grouping symbols first.</a:t>
            </a:r>
            <a:endParaRPr lang="en-PH" sz="1800" i="1" dirty="0">
              <a:solidFill>
                <a:sysClr val="window" lastClr="FFFFFF"/>
              </a:solidFill>
              <a:latin typeface="Cambria Math"/>
              <a:ea typeface="Cambria Math"/>
              <a:cs typeface="Cambria Math"/>
            </a:endParaRPr>
          </a:p>
        </p:txBody>
      </p:sp>
      <p:pic>
        <p:nvPicPr>
          <p:cNvPr id="8" name="Shape 19" descr="Icon&#10;&#10;Description automatically generated"/>
          <p:cNvPicPr/>
          <p:nvPr/>
        </p:nvPicPr>
        <p:blipFill rotWithShape="1">
          <a:blip r:embed="rId5" cstate="screen">
            <a:alphaModFix/>
            <a:extLst>
              <a:ext uri="{28A0092B-C50C-407E-A947-70E740481C1C}">
                <a14:useLocalDpi xmlns:a14="http://schemas.microsoft.com/office/drawing/2010/main"/>
              </a:ext>
            </a:extLst>
          </a:blip>
          <a:srcRect/>
          <a:stretch/>
        </p:blipFill>
        <p:spPr>
          <a:xfrm>
            <a:off x="2146222" y="700734"/>
            <a:ext cx="539750" cy="539115"/>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a:t>
            </a:r>
            <a:endParaRPr i="1" dirty="0">
              <a:latin typeface="Calibri"/>
              <a:ea typeface="Calibri"/>
              <a:cs typeface="Calibri"/>
              <a:sym typeface="Calibri"/>
            </a:endParaRPr>
          </a:p>
        </p:txBody>
      </p:sp>
    </p:spTree>
    <p:extLst>
      <p:ext uri="{BB962C8B-B14F-4D97-AF65-F5344CB8AC3E}">
        <p14:creationId xmlns:p14="http://schemas.microsoft.com/office/powerpoint/2010/main" val="1640120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58622" y="62088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650670" y="520393"/>
            <a:ext cx="8684231" cy="2038250"/>
          </a:xfrm>
          <a:prstGeom prst="rect">
            <a:avLst/>
          </a:prstGeom>
          <a:noFill/>
        </p:spPr>
        <p:txBody>
          <a:bodyPr wrap="square" rtlCol="0">
            <a:spAutoFit/>
          </a:bodyPr>
          <a:lstStyle/>
          <a:p>
            <a:pPr marL="457200" indent="-457200">
              <a:lnSpc>
                <a:spcPct val="107000"/>
              </a:lnSpc>
              <a:buFont typeface="+mj-lt"/>
              <a:buAutoNum type="arabicPeriod" startAt="3"/>
            </a:pPr>
            <a:r>
              <a:rPr lang="en-US" sz="2400" dirty="0" err="1">
                <a:latin typeface="Verdana"/>
                <a:ea typeface="Verdana"/>
                <a:cs typeface="Verdana"/>
              </a:rPr>
              <a:t>Telena</a:t>
            </a:r>
            <a:r>
              <a:rPr lang="en-US" sz="2400" dirty="0">
                <a:latin typeface="Verdana"/>
                <a:ea typeface="Verdana"/>
                <a:cs typeface="Verdana"/>
              </a:rPr>
              <a:t> says the problem can be worked either by following the order of operations or by using the laws of exponents. Complete the table to show the work for both possibilities to determine if </a:t>
            </a:r>
            <a:r>
              <a:rPr lang="en-US" sz="2400" dirty="0" err="1">
                <a:latin typeface="Verdana"/>
                <a:ea typeface="Verdana"/>
                <a:cs typeface="Verdana"/>
              </a:rPr>
              <a:t>Telena</a:t>
            </a:r>
            <a:r>
              <a:rPr lang="en-US" sz="2400" dirty="0">
                <a:latin typeface="Verdana"/>
                <a:ea typeface="Verdana"/>
                <a:cs typeface="Verdana"/>
              </a:rPr>
              <a:t> is correct. </a:t>
            </a:r>
            <a:endParaRPr lang="en-PH" sz="2000" i="1" dirty="0">
              <a:latin typeface="Cambria Math"/>
              <a:ea typeface="Cambria Math"/>
              <a:cs typeface="Cambria Math"/>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667590464"/>
                  </p:ext>
                </p:extLst>
              </p:nvPr>
            </p:nvGraphicFramePr>
            <p:xfrm>
              <a:off x="2622836" y="2721235"/>
              <a:ext cx="7200000" cy="3528000"/>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68000">
                    <a:tc>
                      <a:txBody>
                        <a:bodyPr/>
                        <a:lstStyle/>
                        <a:p>
                          <a:pPr algn="ctr">
                            <a:lnSpc>
                              <a:spcPct val="107000"/>
                            </a:lnSpc>
                            <a:spcAft>
                              <a:spcPts val="0"/>
                            </a:spcAft>
                          </a:pPr>
                          <a:r>
                            <a:rPr lang="en-US" sz="2000" b="1" i="0" dirty="0">
                              <a:effectLst/>
                              <a:latin typeface="Verdana" pitchFamily="34" charset="0"/>
                              <a:ea typeface="Verdana" pitchFamily="34" charset="0"/>
                              <a:cs typeface="Verdana"/>
                            </a:rPr>
                            <a:t>Order of Operations</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Laws of Exponents</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0600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Verdana"/>
                                        <a:cs typeface="Verdana"/>
                                      </a:rPr>
                                    </m:ctrlPr>
                                  </m:sSupPr>
                                  <m:e>
                                    <m:d>
                                      <m:dPr>
                                        <m:begChr m:val="["/>
                                        <m:endChr m:val="]"/>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0.1∙</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f>
                                                  <m:fPr>
                                                    <m:ctrlPr>
                                                      <a:rPr lang="en-PH" sz="2000" i="1">
                                                        <a:effectLst/>
                                                        <a:latin typeface="Cambria Math" panose="02040503050406030204" pitchFamily="18" charset="0"/>
                                                        <a:ea typeface="Verdana"/>
                                                        <a:cs typeface="Verdana"/>
                                                      </a:rPr>
                                                    </m:ctrlPr>
                                                  </m:fPr>
                                                  <m:num>
                                                    <m:r>
                                                      <a:rPr lang="en-US" sz="2000" i="1">
                                                        <a:effectLst/>
                                                        <a:latin typeface="Cambria Math"/>
                                                        <a:ea typeface="Verdana"/>
                                                        <a:cs typeface="Verdana"/>
                                                      </a:rPr>
                                                      <m:t>2</m:t>
                                                    </m:r>
                                                  </m:num>
                                                  <m:den>
                                                    <m:r>
                                                      <a:rPr lang="en-US" sz="2000" i="1">
                                                        <a:effectLst/>
                                                        <a:latin typeface="Cambria Math"/>
                                                        <a:ea typeface="Verdana"/>
                                                        <a:cs typeface="Verdana"/>
                                                      </a:rPr>
                                                      <m:t>3</m:t>
                                                    </m:r>
                                                  </m:den>
                                                </m:f>
                                                <m:r>
                                                  <a:rPr lang="en-US" sz="2000" i="1">
                                                    <a:effectLst/>
                                                    <a:latin typeface="Cambria Math"/>
                                                    <a:ea typeface="Verdana"/>
                                                    <a:cs typeface="Verdana"/>
                                                  </a:rPr>
                                                  <m:t>∙−3</m:t>
                                                </m:r>
                                              </m:e>
                                            </m:d>
                                          </m:e>
                                          <m:sup>
                                            <m:r>
                                              <a:rPr lang="en-US" sz="2000" i="1">
                                                <a:effectLst/>
                                                <a:latin typeface="Cambria Math"/>
                                                <a:ea typeface="Verdana"/>
                                                <a:cs typeface="Verdana"/>
                                              </a:rPr>
                                              <m:t>3</m:t>
                                            </m:r>
                                          </m:sup>
                                        </m:sSup>
                                      </m:e>
                                    </m:d>
                                  </m:e>
                                  <m:sup>
                                    <m:r>
                                      <a:rPr lang="en-US" sz="2000" i="1">
                                        <a:effectLst/>
                                        <a:latin typeface="Cambria Math"/>
                                        <a:ea typeface="Verdana"/>
                                        <a:cs typeface="Verdana"/>
                                      </a:rPr>
                                      <m:t>2</m:t>
                                    </m:r>
                                  </m:sup>
                                </m:sSup>
                              </m:oMath>
                            </m:oMathPara>
                          </a14:m>
                          <a:endParaRPr lang="en-PH" sz="2000" i="1" dirty="0">
                            <a:effectLst/>
                            <a:latin typeface="Verdana" pitchFamily="34" charset="0"/>
                            <a:ea typeface="Verdana" pitchFamily="34" charset="0"/>
                            <a:cs typeface="Cambria Math"/>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Verdana"/>
                                        <a:cs typeface="Verdana"/>
                                      </a:rPr>
                                    </m:ctrlPr>
                                  </m:sSupPr>
                                  <m:e>
                                    <m:d>
                                      <m:dPr>
                                        <m:begChr m:val="["/>
                                        <m:endChr m:val="]"/>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0.1∙</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f>
                                                  <m:fPr>
                                                    <m:ctrlPr>
                                                      <a:rPr lang="en-PH" sz="2000" i="1">
                                                        <a:effectLst/>
                                                        <a:latin typeface="Cambria Math" panose="02040503050406030204" pitchFamily="18" charset="0"/>
                                                        <a:ea typeface="Verdana"/>
                                                        <a:cs typeface="Verdana"/>
                                                      </a:rPr>
                                                    </m:ctrlPr>
                                                  </m:fPr>
                                                  <m:num>
                                                    <m:r>
                                                      <a:rPr lang="en-US" sz="2000" i="1">
                                                        <a:effectLst/>
                                                        <a:latin typeface="Cambria Math"/>
                                                        <a:ea typeface="Verdana"/>
                                                        <a:cs typeface="Verdana"/>
                                                      </a:rPr>
                                                      <m:t>2</m:t>
                                                    </m:r>
                                                  </m:num>
                                                  <m:den>
                                                    <m:r>
                                                      <a:rPr lang="en-US" sz="2000" i="1">
                                                        <a:effectLst/>
                                                        <a:latin typeface="Cambria Math"/>
                                                        <a:ea typeface="Verdana"/>
                                                        <a:cs typeface="Verdana"/>
                                                      </a:rPr>
                                                      <m:t>3</m:t>
                                                    </m:r>
                                                  </m:den>
                                                </m:f>
                                                <m:r>
                                                  <a:rPr lang="en-US" sz="2000" i="1">
                                                    <a:effectLst/>
                                                    <a:latin typeface="Cambria Math"/>
                                                    <a:ea typeface="Verdana"/>
                                                    <a:cs typeface="Verdana"/>
                                                  </a:rPr>
                                                  <m:t>∙−3</m:t>
                                                </m:r>
                                              </m:e>
                                            </m:d>
                                          </m:e>
                                          <m:sup>
                                            <m:r>
                                              <a:rPr lang="en-US" sz="2000" i="1">
                                                <a:effectLst/>
                                                <a:latin typeface="Cambria Math"/>
                                                <a:ea typeface="Verdana"/>
                                                <a:cs typeface="Verdana"/>
                                              </a:rPr>
                                              <m:t>3</m:t>
                                            </m:r>
                                          </m:sup>
                                        </m:sSup>
                                      </m:e>
                                    </m:d>
                                  </m:e>
                                  <m:sup>
                                    <m:r>
                                      <a:rPr lang="en-US" sz="2000" i="1">
                                        <a:effectLst/>
                                        <a:latin typeface="Cambria Math"/>
                                        <a:ea typeface="Verdana"/>
                                        <a:cs typeface="Verdana"/>
                                      </a:rPr>
                                      <m:t>2</m:t>
                                    </m:r>
                                  </m:sup>
                                </m:sSup>
                              </m:oMath>
                            </m:oMathPara>
                          </a14:m>
                          <a:endParaRPr lang="en-PH" sz="2000" i="1" dirty="0">
                            <a:effectLst/>
                            <a:latin typeface="Verdana" pitchFamily="34" charset="0"/>
                            <a:ea typeface="Verdana" pitchFamily="34" charset="0"/>
                            <a:cs typeface="Cambria Math"/>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667590464"/>
                  </p:ext>
                </p:extLst>
              </p:nvPr>
            </p:nvGraphicFramePr>
            <p:xfrm>
              <a:off x="2622836" y="2721235"/>
              <a:ext cx="7200000" cy="3528000"/>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68000">
                    <a:tc>
                      <a:txBody>
                        <a:bodyPr/>
                        <a:lstStyle/>
                        <a:p>
                          <a:pPr algn="ctr">
                            <a:lnSpc>
                              <a:spcPct val="107000"/>
                            </a:lnSpc>
                            <a:spcAft>
                              <a:spcPts val="0"/>
                            </a:spcAft>
                          </a:pPr>
                          <a:r>
                            <a:rPr lang="en-US" sz="2000" b="1" i="0" dirty="0">
                              <a:effectLst/>
                              <a:latin typeface="Verdana" pitchFamily="34" charset="0"/>
                              <a:ea typeface="Verdana" pitchFamily="34" charset="0"/>
                              <a:cs typeface="Verdana"/>
                            </a:rPr>
                            <a:t>Order of Operations</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Laws of Exponents</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06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52" t="-15702" r="-100704" b="-413"/>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00352" t="-15702" r="-704" b="-413"/>
                          </a:stretch>
                        </a:blipFill>
                      </a:tcPr>
                    </a:tc>
                    <a:extLst>
                      <a:ext uri="{0D108BD9-81ED-4DB2-BD59-A6C34878D82A}">
                        <a16:rowId xmlns:a16="http://schemas.microsoft.com/office/drawing/2014/main" val="10001"/>
                      </a:ext>
                    </a:extLst>
                  </a:tr>
                </a:tbl>
              </a:graphicData>
            </a:graphic>
          </p:graphicFrame>
        </mc:Fallback>
      </mc:AlternateContent>
      <p:sp>
        <p:nvSpPr>
          <p:cNvPr id="11" name="Google Shape;282;g104476d1465_1_17"/>
          <p:cNvSpPr txBox="1"/>
          <p:nvPr/>
        </p:nvSpPr>
        <p:spPr>
          <a:xfrm>
            <a:off x="8920396"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a:t>
            </a:r>
            <a:endParaRPr i="1" dirty="0">
              <a:latin typeface="Calibri"/>
              <a:ea typeface="Calibri"/>
              <a:cs typeface="Calibri"/>
              <a:sym typeface="Calibri"/>
            </a:endParaRPr>
          </a:p>
        </p:txBody>
      </p:sp>
    </p:spTree>
    <p:extLst>
      <p:ext uri="{BB962C8B-B14F-4D97-AF65-F5344CB8AC3E}">
        <p14:creationId xmlns:p14="http://schemas.microsoft.com/office/powerpoint/2010/main" val="2125147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9042"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2060447" y="69230"/>
            <a:ext cx="970799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8.5.3 Exploration: Grouping Symbols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57567" y="322349"/>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1650670" y="1386025"/>
            <a:ext cx="8736914" cy="721801"/>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pitchFamily="34" charset="0"/>
                <a:ea typeface="Verdana" pitchFamily="34" charset="0"/>
                <a:cs typeface="Verdana"/>
              </a:rPr>
              <a:t>Without working the problems, discuss with your partner which expression in the table you expect to have the largest value.</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863378124"/>
                  </p:ext>
                </p:extLst>
              </p:nvPr>
            </p:nvGraphicFramePr>
            <p:xfrm>
              <a:off x="2671121" y="2613806"/>
              <a:ext cx="6480000" cy="3735092"/>
            </p:xfrm>
            <a:graphic>
              <a:graphicData uri="http://schemas.openxmlformats.org/drawingml/2006/table">
                <a:tbl>
                  <a:tblPr firstRow="1" firstCol="1" bandRow="1"/>
                  <a:tblGrid>
                    <a:gridCol w="324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tblGrid>
                  <a:tr h="409160">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A</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B</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44000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10−</m:t>
                                </m:r>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0.75×12</m:t>
                                    </m:r>
                                  </m:e>
                                </m:d>
                                <m:r>
                                  <a:rPr lang="en-US" sz="2000" i="1">
                                    <a:effectLst/>
                                    <a:latin typeface="Cambria Math"/>
                                    <a:ea typeface="Verdana"/>
                                    <a:cs typeface="Verdana"/>
                                  </a:rPr>
                                  <m:t>+</m:t>
                                </m:r>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2</m:t>
                                    </m:r>
                                  </m:sup>
                                </m:sSup>
                              </m:oMath>
                            </m:oMathPara>
                          </a14:m>
                          <a:endParaRPr lang="en-PH" sz="2000" i="1" dirty="0">
                            <a:effectLst/>
                            <a:latin typeface="Verdana" pitchFamily="34" charset="0"/>
                            <a:ea typeface="Verdana" pitchFamily="34" charset="0"/>
                            <a:cs typeface="Cambria Math"/>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10−0.75</m:t>
                                    </m:r>
                                  </m:e>
                                </m:d>
                                <m:r>
                                  <a:rPr lang="en-US" sz="2000" i="1">
                                    <a:effectLst/>
                                    <a:latin typeface="Cambria Math"/>
                                    <a:ea typeface="Verdana"/>
                                    <a:cs typeface="Verdana"/>
                                  </a:rPr>
                                  <m:t>×</m:t>
                                </m:r>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12+</m:t>
                                    </m:r>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2</m:t>
                                        </m:r>
                                      </m:sup>
                                    </m:sSup>
                                  </m:e>
                                </m:d>
                              </m:oMath>
                            </m:oMathPara>
                          </a14:m>
                          <a:endParaRPr lang="en-PH" sz="2000" i="1" dirty="0">
                            <a:effectLst/>
                            <a:latin typeface="Verdana" pitchFamily="34" charset="0"/>
                            <a:ea typeface="Verdana" pitchFamily="34" charset="0"/>
                            <a:cs typeface="Cambria Math"/>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45932">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C</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D</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144000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10−0.75×12+</m:t>
                                </m:r>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2</m:t>
                                    </m:r>
                                  </m:sup>
                                </m:sSup>
                              </m:oMath>
                            </m:oMathPara>
                          </a14:m>
                          <a:endParaRPr lang="en-PH" sz="2000" i="1" dirty="0">
                            <a:effectLst/>
                            <a:latin typeface="Verdana" pitchFamily="34" charset="0"/>
                            <a:ea typeface="Verdana" pitchFamily="34" charset="0"/>
                            <a:cs typeface="Cambria Math"/>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10−0.75×</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12+4</m:t>
                                        </m:r>
                                      </m:e>
                                    </m:d>
                                  </m:e>
                                  <m:sup>
                                    <m:r>
                                      <a:rPr lang="en-US" sz="2000" i="1">
                                        <a:effectLst/>
                                        <a:latin typeface="Cambria Math"/>
                                        <a:ea typeface="Verdana"/>
                                        <a:cs typeface="Verdana"/>
                                      </a:rPr>
                                      <m:t>2</m:t>
                                    </m:r>
                                  </m:sup>
                                </m:sSup>
                              </m:oMath>
                            </m:oMathPara>
                          </a14:m>
                          <a:endParaRPr lang="en-PH" sz="2000" i="1" dirty="0">
                            <a:effectLst/>
                            <a:latin typeface="Verdana" pitchFamily="34" charset="0"/>
                            <a:ea typeface="Verdana" pitchFamily="34" charset="0"/>
                            <a:cs typeface="Cambria Math"/>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863378124"/>
                  </p:ext>
                </p:extLst>
              </p:nvPr>
            </p:nvGraphicFramePr>
            <p:xfrm>
              <a:off x="2671121" y="2613806"/>
              <a:ext cx="6480000" cy="3735092"/>
            </p:xfrm>
            <a:graphic>
              <a:graphicData uri="http://schemas.openxmlformats.org/drawingml/2006/table">
                <a:tbl>
                  <a:tblPr firstRow="1" firstCol="1" bandRow="1"/>
                  <a:tblGrid>
                    <a:gridCol w="324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tblGrid>
                  <a:tr h="409160">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A</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B</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44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91" t="-29825" r="-100391" b="-132456"/>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784" t="-29825" r="-784" b="-132456"/>
                          </a:stretch>
                        </a:blipFill>
                      </a:tcPr>
                    </a:tc>
                    <a:extLst>
                      <a:ext uri="{0D108BD9-81ED-4DB2-BD59-A6C34878D82A}">
                        <a16:rowId xmlns:a16="http://schemas.microsoft.com/office/drawing/2014/main" val="10001"/>
                      </a:ext>
                    </a:extLst>
                  </a:tr>
                  <a:tr h="445932">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C</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D</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144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91" t="-160526" r="-100391" b="-1754"/>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784" t="-160526" r="-784" b="-1754"/>
                          </a:stretch>
                        </a:blipFill>
                      </a:tcPr>
                    </a:tc>
                    <a:extLst>
                      <a:ext uri="{0D108BD9-81ED-4DB2-BD59-A6C34878D82A}">
                        <a16:rowId xmlns:a16="http://schemas.microsoft.com/office/drawing/2014/main" val="10003"/>
                      </a:ext>
                    </a:extLst>
                  </a:tr>
                </a:tbl>
              </a:graphicData>
            </a:graphic>
          </p:graphicFrame>
        </mc:Fallback>
      </mc:AlternateContent>
      <p:sp>
        <p:nvSpPr>
          <p:cNvPr id="11" name="Google Shape;282;g104476d1465_1_17"/>
          <p:cNvSpPr txBox="1"/>
          <p:nvPr/>
        </p:nvSpPr>
        <p:spPr>
          <a:xfrm>
            <a:off x="8860816"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638795" y="520393"/>
            <a:ext cx="8696106" cy="5661614"/>
          </a:xfrm>
          <a:prstGeom prst="rect">
            <a:avLst/>
          </a:prstGeom>
          <a:noFill/>
        </p:spPr>
        <p:txBody>
          <a:bodyPr wrap="square" rtlCol="0">
            <a:spAutoFit/>
          </a:bodyPr>
          <a:lstStyle/>
          <a:p>
            <a:pPr marL="457200" indent="-457200">
              <a:lnSpc>
                <a:spcPct val="107000"/>
              </a:lnSpc>
              <a:buFont typeface="+mj-lt"/>
              <a:buAutoNum type="arabicPeriod" startAt="2"/>
            </a:pPr>
            <a:r>
              <a:rPr lang="en-US" sz="2000" dirty="0">
                <a:latin typeface="Verdana" pitchFamily="34" charset="0"/>
                <a:ea typeface="Verdana" pitchFamily="34" charset="0"/>
                <a:cs typeface="Verdana"/>
              </a:rPr>
              <a:t>Put an asterisk (*) next to the expression you expect will have the largest value. Write your explanation here.</a:t>
            </a:r>
            <a:endParaRPr lang="en-PH" sz="2000" i="1" dirty="0">
              <a:latin typeface="Verdana" pitchFamily="34" charset="0"/>
              <a:ea typeface="Verdana" pitchFamily="34" charset="0"/>
              <a:cs typeface="Verdana"/>
            </a:endParaRPr>
          </a:p>
          <a:p>
            <a:pPr marL="457200" indent="-457200">
              <a:lnSpc>
                <a:spcPct val="107000"/>
              </a:lnSpc>
              <a:buFont typeface="+mj-lt"/>
              <a:buAutoNum type="arabicPeriod" startAt="2"/>
            </a:pPr>
            <a:endParaRPr lang="en-US" sz="2000" dirty="0">
              <a:latin typeface="Verdana" pitchFamily="34" charset="0"/>
              <a:ea typeface="Verdana" pitchFamily="34" charset="0"/>
              <a:cs typeface="Verdana"/>
            </a:endParaRPr>
          </a:p>
          <a:p>
            <a:pPr marL="457200" indent="-457200">
              <a:lnSpc>
                <a:spcPct val="107000"/>
              </a:lnSpc>
              <a:buFont typeface="+mj-lt"/>
              <a:buAutoNum type="arabicPeriod" startAt="2"/>
            </a:pPr>
            <a:endParaRPr lang="en-US" sz="2000" dirty="0">
              <a:latin typeface="Verdana" pitchFamily="34" charset="0"/>
              <a:ea typeface="Verdana" pitchFamily="34" charset="0"/>
              <a:cs typeface="Verdana"/>
            </a:endParaRPr>
          </a:p>
          <a:p>
            <a:pPr marL="457200" indent="-457200">
              <a:lnSpc>
                <a:spcPct val="107000"/>
              </a:lnSpc>
              <a:buFont typeface="+mj-lt"/>
              <a:buAutoNum type="arabicPeriod" startAt="2"/>
            </a:pPr>
            <a:r>
              <a:rPr lang="en-US" sz="2000" dirty="0">
                <a:latin typeface="Verdana" pitchFamily="34" charset="0"/>
                <a:ea typeface="Verdana" pitchFamily="34" charset="0"/>
                <a:cs typeface="Verdana"/>
              </a:rPr>
              <a:t>Evaluate each of the expressions in the table with your partner.</a:t>
            </a:r>
            <a:endParaRPr lang="en-PH" sz="2000" i="1" dirty="0">
              <a:latin typeface="Verdana" pitchFamily="34" charset="0"/>
              <a:ea typeface="Verdana" pitchFamily="34" charset="0"/>
              <a:cs typeface="Cambria Math"/>
            </a:endParaRPr>
          </a:p>
          <a:p>
            <a:pPr marL="457200" indent="-457200">
              <a:lnSpc>
                <a:spcPct val="107000"/>
              </a:lnSpc>
              <a:buFont typeface="+mj-lt"/>
              <a:buAutoNum type="arabicPeriod" startAt="2"/>
            </a:pPr>
            <a:endParaRPr lang="en-US" sz="2000" dirty="0">
              <a:latin typeface="Verdana" pitchFamily="34" charset="0"/>
              <a:ea typeface="Verdana" pitchFamily="34" charset="0"/>
              <a:cs typeface="Verdana"/>
            </a:endParaRPr>
          </a:p>
          <a:p>
            <a:pPr marL="457200" indent="-457200">
              <a:lnSpc>
                <a:spcPct val="107000"/>
              </a:lnSpc>
              <a:buFont typeface="+mj-lt"/>
              <a:buAutoNum type="arabicPeriod" startAt="2"/>
            </a:pPr>
            <a:endParaRPr lang="en-US" sz="2000" dirty="0">
              <a:latin typeface="Verdana" pitchFamily="34" charset="0"/>
              <a:ea typeface="Verdana" pitchFamily="34" charset="0"/>
              <a:cs typeface="Verdana"/>
            </a:endParaRPr>
          </a:p>
          <a:p>
            <a:pPr marL="457200" indent="-457200">
              <a:lnSpc>
                <a:spcPct val="107000"/>
              </a:lnSpc>
              <a:buFont typeface="+mj-lt"/>
              <a:buAutoNum type="arabicPeriod" startAt="2"/>
            </a:pPr>
            <a:endParaRPr lang="en-US" sz="2000" dirty="0">
              <a:latin typeface="Verdana" pitchFamily="34" charset="0"/>
              <a:ea typeface="Verdana" pitchFamily="34" charset="0"/>
              <a:cs typeface="Verdana"/>
            </a:endParaRPr>
          </a:p>
          <a:p>
            <a:pPr marL="457200" indent="-457200">
              <a:lnSpc>
                <a:spcPct val="107000"/>
              </a:lnSpc>
              <a:buFont typeface="+mj-lt"/>
              <a:buAutoNum type="arabicPeriod" startAt="2"/>
            </a:pPr>
            <a:r>
              <a:rPr lang="en-US" sz="2000" dirty="0">
                <a:latin typeface="Verdana" pitchFamily="34" charset="0"/>
                <a:ea typeface="Verdana" pitchFamily="34" charset="0"/>
                <a:cs typeface="Verdana"/>
              </a:rPr>
              <a:t>With another set of partners, share if your guess was or was not correct. Discuss how the order of operations affected the value of your guesses. Summarize your discussion.</a:t>
            </a:r>
            <a:endParaRPr lang="en-PH" sz="2000" i="1" dirty="0">
              <a:latin typeface="Verdana" pitchFamily="34" charset="0"/>
              <a:ea typeface="Verdana" pitchFamily="34" charset="0"/>
              <a:cs typeface="Cambria Math"/>
            </a:endParaRPr>
          </a:p>
          <a:p>
            <a:pPr marL="457200" indent="-457200">
              <a:lnSpc>
                <a:spcPct val="107000"/>
              </a:lnSpc>
              <a:buFont typeface="+mj-lt"/>
              <a:buAutoNum type="arabicPeriod" startAt="2"/>
            </a:pPr>
            <a:endParaRPr lang="en-US" sz="2000" dirty="0">
              <a:latin typeface="Verdana" pitchFamily="34" charset="0"/>
              <a:ea typeface="Verdana" pitchFamily="34" charset="0"/>
              <a:cs typeface="Verdana"/>
            </a:endParaRPr>
          </a:p>
          <a:p>
            <a:pPr marL="457200" indent="-457200">
              <a:lnSpc>
                <a:spcPct val="107000"/>
              </a:lnSpc>
              <a:buFont typeface="+mj-lt"/>
              <a:buAutoNum type="arabicPeriod" startAt="2"/>
            </a:pPr>
            <a:endParaRPr lang="en-US" sz="2000" dirty="0">
              <a:latin typeface="Verdana" pitchFamily="34" charset="0"/>
              <a:ea typeface="Verdana" pitchFamily="34" charset="0"/>
              <a:cs typeface="Verdana"/>
            </a:endParaRPr>
          </a:p>
          <a:p>
            <a:pPr marL="457200" indent="-457200">
              <a:lnSpc>
                <a:spcPct val="107000"/>
              </a:lnSpc>
              <a:buFont typeface="+mj-lt"/>
              <a:buAutoNum type="arabicPeriod" startAt="2"/>
            </a:pPr>
            <a:endParaRPr lang="en-US" sz="2000" dirty="0">
              <a:latin typeface="Verdana" pitchFamily="34" charset="0"/>
              <a:ea typeface="Verdana" pitchFamily="34" charset="0"/>
              <a:cs typeface="Verdana"/>
            </a:endParaRPr>
          </a:p>
          <a:p>
            <a:pPr marL="457200" indent="-457200">
              <a:lnSpc>
                <a:spcPct val="107000"/>
              </a:lnSpc>
              <a:buFont typeface="+mj-lt"/>
              <a:buAutoNum type="arabicPeriod" startAt="2"/>
            </a:pPr>
            <a:r>
              <a:rPr lang="en-US" sz="2000" dirty="0">
                <a:latin typeface="Verdana" pitchFamily="34" charset="0"/>
                <a:ea typeface="Verdana" pitchFamily="34" charset="0"/>
                <a:cs typeface="Verdana"/>
              </a:rPr>
              <a:t>For the two expressions in the table that resulted in the same value, explain why they have the same value.  </a:t>
            </a:r>
            <a:endParaRPr lang="en-PH" sz="2000" i="1" dirty="0">
              <a:latin typeface="Verdana" pitchFamily="34" charset="0"/>
              <a:ea typeface="Verdana" pitchFamily="34" charset="0"/>
              <a:cs typeface="Cambria Math"/>
            </a:endParaRPr>
          </a:p>
        </p:txBody>
      </p:sp>
      <p:sp>
        <p:nvSpPr>
          <p:cNvPr id="6"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a:t>
            </a:r>
            <a:endParaRPr i="1" dirty="0">
              <a:latin typeface="Calibri"/>
              <a:ea typeface="Calibri"/>
              <a:cs typeface="Calibri"/>
              <a:sym typeface="Calibri"/>
            </a:endParaRPr>
          </a:p>
        </p:txBody>
      </p:sp>
    </p:spTree>
    <p:extLst>
      <p:ext uri="{BB962C8B-B14F-4D97-AF65-F5344CB8AC3E}">
        <p14:creationId xmlns:p14="http://schemas.microsoft.com/office/powerpoint/2010/main" val="40731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2027754" y="299282"/>
            <a:ext cx="851139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8.5.4 Collaboration: Using the Order </a:t>
            </a:r>
            <a:br>
              <a:rPr lang="en-US" sz="2800" b="1" dirty="0">
                <a:solidFill>
                  <a:srgbClr val="33BEA6"/>
                </a:solidFill>
                <a:latin typeface="Verdana"/>
                <a:ea typeface="Verdana"/>
                <a:cs typeface="Verdana"/>
                <a:sym typeface="Verdana"/>
              </a:rPr>
            </a:br>
            <a:r>
              <a:rPr lang="en-US" sz="2800" b="1" dirty="0">
                <a:solidFill>
                  <a:srgbClr val="33BEA6"/>
                </a:solidFill>
                <a:latin typeface="Verdana"/>
                <a:ea typeface="Verdana"/>
                <a:cs typeface="Verdana"/>
                <a:sym typeface="Verdana"/>
              </a:rPr>
              <a:t>of Operations to Evaluate Expressions with Nested Grouping Symbols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27794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650670" y="1648785"/>
            <a:ext cx="8694873" cy="1713995"/>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a:ea typeface="Verdana"/>
                <a:cs typeface="Verdana"/>
              </a:rPr>
              <a:t>The expressions in each row have the same value. Evaluate the expressions in one column while your partner evaluates the expressions in the other column. Compare values and if they are not equivalent, work together to find and correct the error(s). </a:t>
            </a:r>
            <a:endParaRPr lang="en-PH" sz="1800" i="1" dirty="0">
              <a:latin typeface="Cambria Math"/>
              <a:ea typeface="Cambria Math"/>
              <a:cs typeface="Cambria Math"/>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199700364"/>
                  </p:ext>
                </p:extLst>
              </p:nvPr>
            </p:nvGraphicFramePr>
            <p:xfrm>
              <a:off x="2624860" y="3582648"/>
              <a:ext cx="7560000" cy="2313220"/>
            </p:xfrm>
            <a:graphic>
              <a:graphicData uri="http://schemas.openxmlformats.org/drawingml/2006/table">
                <a:tbl>
                  <a:tblPr firstRow="1" firstCol="1" bandRow="1"/>
                  <a:tblGrid>
                    <a:gridCol w="252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gridCol w="2520000">
                      <a:extLst>
                        <a:ext uri="{9D8B030D-6E8A-4147-A177-3AD203B41FA5}">
                          <a16:colId xmlns:a16="http://schemas.microsoft.com/office/drawing/2014/main" val="20002"/>
                        </a:ext>
                      </a:extLst>
                    </a:gridCol>
                  </a:tblGrid>
                  <a:tr h="355157">
                    <a:tc>
                      <a:txBody>
                        <a:bodyPr/>
                        <a:lstStyle/>
                        <a:p>
                          <a:pPr algn="ctr">
                            <a:lnSpc>
                              <a:spcPct val="107000"/>
                            </a:lnSpc>
                            <a:spcAft>
                              <a:spcPts val="0"/>
                            </a:spcAft>
                          </a:pPr>
                          <a:r>
                            <a:rPr lang="en-US" sz="2000" b="1" i="0" dirty="0">
                              <a:effectLst/>
                              <a:latin typeface="Verdana" pitchFamily="34" charset="0"/>
                              <a:ea typeface="Verdana" pitchFamily="34" charset="0"/>
                              <a:cs typeface="Verdana"/>
                            </a:rPr>
                            <a:t>Partner A</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Value of Both Expressions</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Partner B</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59840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d>
                                  <m:dPr>
                                    <m:begChr m:val="|"/>
                                    <m:endChr m:val="|"/>
                                    <m:ctrlPr>
                                      <a:rPr lang="en-PH" sz="2000" i="1">
                                        <a:effectLst/>
                                        <a:latin typeface="Cambria Math" panose="02040503050406030204" pitchFamily="18" charset="0"/>
                                        <a:ea typeface="Verdana"/>
                                        <a:cs typeface="Verdana"/>
                                      </a:rPr>
                                    </m:ctrlPr>
                                  </m:d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35.5−</m:t>
                                        </m:r>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5</m:t>
                                            </m:r>
                                          </m:e>
                                          <m:sup>
                                            <m:r>
                                              <a:rPr lang="en-US" sz="2000" i="1">
                                                <a:effectLst/>
                                                <a:latin typeface="Cambria Math"/>
                                                <a:ea typeface="Verdana"/>
                                                <a:cs typeface="Verdana"/>
                                              </a:rPr>
                                              <m:t>2</m:t>
                                            </m:r>
                                          </m:sup>
                                        </m:sSup>
                                      </m:e>
                                    </m:d>
                                    <m:r>
                                      <a:rPr lang="en-US" sz="2000" i="1">
                                        <a:effectLst/>
                                        <a:latin typeface="Cambria Math"/>
                                        <a:ea typeface="Verdana"/>
                                        <a:cs typeface="Verdana"/>
                                      </a:rPr>
                                      <m:t>÷3</m:t>
                                    </m:r>
                                  </m:e>
                                </m:d>
                              </m:oMath>
                            </m:oMathPara>
                          </a14:m>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2000" i="0" dirty="0">
                              <a:effectLst/>
                              <a:latin typeface="Verdana" pitchFamily="34" charset="0"/>
                              <a:ea typeface="Verdana" pitchFamily="34" charset="0"/>
                              <a:cs typeface="Verdana"/>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d>
                                  <m:dPr>
                                    <m:begChr m:val="|"/>
                                    <m:endChr m:val="|"/>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4.3 × 5 − </m:t>
                                    </m:r>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5</m:t>
                                        </m:r>
                                      </m:e>
                                      <m:sup>
                                        <m:r>
                                          <a:rPr lang="en-US" sz="2000" i="1">
                                            <a:effectLst/>
                                            <a:latin typeface="Cambria Math"/>
                                            <a:ea typeface="Verdana"/>
                                            <a:cs typeface="Verdana"/>
                                          </a:rPr>
                                          <m:t>2</m:t>
                                        </m:r>
                                      </m:sup>
                                    </m:sSup>
                                  </m:e>
                                </m:d>
                              </m:oMath>
                            </m:oMathPara>
                          </a14:m>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199700364"/>
                  </p:ext>
                </p:extLst>
              </p:nvPr>
            </p:nvGraphicFramePr>
            <p:xfrm>
              <a:off x="2624860" y="3582648"/>
              <a:ext cx="7560000" cy="2313220"/>
            </p:xfrm>
            <a:graphic>
              <a:graphicData uri="http://schemas.openxmlformats.org/drawingml/2006/table">
                <a:tbl>
                  <a:tblPr firstRow="1" firstCol="1" bandRow="1"/>
                  <a:tblGrid>
                    <a:gridCol w="252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gridCol w="2520000">
                      <a:extLst>
                        <a:ext uri="{9D8B030D-6E8A-4147-A177-3AD203B41FA5}">
                          <a16:colId xmlns:a16="http://schemas.microsoft.com/office/drawing/2014/main" val="20002"/>
                        </a:ext>
                      </a:extLst>
                    </a:gridCol>
                  </a:tblGrid>
                  <a:tr h="714820">
                    <a:tc>
                      <a:txBody>
                        <a:bodyPr/>
                        <a:lstStyle/>
                        <a:p>
                          <a:pPr algn="ctr">
                            <a:lnSpc>
                              <a:spcPct val="107000"/>
                            </a:lnSpc>
                            <a:spcAft>
                              <a:spcPts val="0"/>
                            </a:spcAft>
                          </a:pPr>
                          <a:r>
                            <a:rPr lang="en-US" sz="2000" b="1" i="0" dirty="0">
                              <a:effectLst/>
                              <a:latin typeface="Verdana" pitchFamily="34" charset="0"/>
                              <a:ea typeface="Verdana" pitchFamily="34" charset="0"/>
                              <a:cs typeface="Verdana"/>
                            </a:rPr>
                            <a:t>Partner A</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Value of Both Expressions</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Partner B</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5984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03" t="-48413" r="-200503" b="-1587"/>
                          </a:stretch>
                        </a:blipFill>
                      </a:tcPr>
                    </a:tc>
                    <a:tc>
                      <a:txBody>
                        <a:bodyPr/>
                        <a:lstStyle/>
                        <a:p>
                          <a:pPr>
                            <a:lnSpc>
                              <a:spcPct val="107000"/>
                            </a:lnSpc>
                            <a:spcAft>
                              <a:spcPts val="0"/>
                            </a:spcAft>
                          </a:pPr>
                          <a:r>
                            <a:rPr lang="en-US" sz="2000" i="0" dirty="0">
                              <a:effectLst/>
                              <a:latin typeface="Verdana" pitchFamily="34" charset="0"/>
                              <a:ea typeface="Verdana" pitchFamily="34" charset="0"/>
                              <a:cs typeface="Verdana"/>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0000" t="-48413" r="-1005" b="-1587"/>
                          </a:stretch>
                        </a:blipFill>
                      </a:tcPr>
                    </a:tc>
                    <a:extLst>
                      <a:ext uri="{0D108BD9-81ED-4DB2-BD59-A6C34878D82A}">
                        <a16:rowId xmlns:a16="http://schemas.microsoft.com/office/drawing/2014/main" val="10001"/>
                      </a:ext>
                    </a:extLst>
                  </a:tr>
                </a:tbl>
              </a:graphicData>
            </a:graphic>
          </p:graphicFrame>
        </mc:Fallback>
      </mc:AlternateContent>
      <p:sp>
        <p:nvSpPr>
          <p:cNvPr id="11"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6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2279"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263000665"/>
                  </p:ext>
                </p:extLst>
              </p:nvPr>
            </p:nvGraphicFramePr>
            <p:xfrm>
              <a:off x="2666901" y="520393"/>
              <a:ext cx="7704000" cy="5505826"/>
            </p:xfrm>
            <a:graphic>
              <a:graphicData uri="http://schemas.openxmlformats.org/drawingml/2006/table">
                <a:tbl>
                  <a:tblPr firstRow="1" firstCol="1" bandRow="1"/>
                  <a:tblGrid>
                    <a:gridCol w="2772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2772000">
                      <a:extLst>
                        <a:ext uri="{9D8B030D-6E8A-4147-A177-3AD203B41FA5}">
                          <a16:colId xmlns:a16="http://schemas.microsoft.com/office/drawing/2014/main" val="20002"/>
                        </a:ext>
                      </a:extLst>
                    </a:gridCol>
                  </a:tblGrid>
                  <a:tr h="527822">
                    <a:tc>
                      <a:txBody>
                        <a:bodyPr/>
                        <a:lstStyle/>
                        <a:p>
                          <a:pPr algn="ctr">
                            <a:lnSpc>
                              <a:spcPct val="107000"/>
                            </a:lnSpc>
                            <a:spcAft>
                              <a:spcPts val="0"/>
                            </a:spcAft>
                          </a:pPr>
                          <a:r>
                            <a:rPr lang="en-US" sz="2000" b="1" i="0" dirty="0">
                              <a:effectLst/>
                              <a:latin typeface="Verdana" pitchFamily="34" charset="0"/>
                              <a:ea typeface="Verdana" pitchFamily="34" charset="0"/>
                              <a:cs typeface="Verdana"/>
                            </a:rPr>
                            <a:t>Partner A</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Value of Both Expressions</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Partner B</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597002">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32 ÷ </m:t>
                                </m:r>
                                <m:d>
                                  <m:dPr>
                                    <m:begChr m:val="["/>
                                    <m:endChr m:val="]"/>
                                    <m:ctrlPr>
                                      <a:rPr lang="en-PH" sz="2000" i="1">
                                        <a:effectLst/>
                                        <a:latin typeface="Cambria Math" panose="02040503050406030204" pitchFamily="18" charset="0"/>
                                        <a:ea typeface="Verdana"/>
                                        <a:cs typeface="Verdana"/>
                                      </a:rPr>
                                    </m:ctrlPr>
                                  </m:dPr>
                                  <m:e>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−2</m:t>
                                            </m:r>
                                          </m:e>
                                        </m:d>
                                      </m:e>
                                      <m:sup>
                                        <m:r>
                                          <a:rPr lang="en-US" sz="2000" i="1">
                                            <a:effectLst/>
                                            <a:latin typeface="Cambria Math"/>
                                            <a:ea typeface="Verdana"/>
                                            <a:cs typeface="Verdana"/>
                                          </a:rPr>
                                          <m:t>2</m:t>
                                        </m:r>
                                      </m:sup>
                                    </m:sSup>
                                    <m:r>
                                      <a:rPr lang="en-US" sz="2000" i="1">
                                        <a:effectLst/>
                                        <a:latin typeface="Cambria Math"/>
                                        <a:ea typeface="Verdana"/>
                                        <a:cs typeface="Verdana"/>
                                      </a:rPr>
                                      <m:t> × 5−4</m:t>
                                    </m:r>
                                  </m:e>
                                </m:d>
                              </m:oMath>
                            </m:oMathPara>
                          </a14:m>
                          <a:endParaRPr lang="en-PH"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2000" i="0" dirty="0">
                              <a:effectLst/>
                              <a:latin typeface="Verdana" pitchFamily="34" charset="0"/>
                              <a:ea typeface="Verdana" pitchFamily="34" charset="0"/>
                              <a:cs typeface="Cambria Math"/>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d>
                                  <m:dPr>
                                    <m:begChr m:val="["/>
                                    <m:endChr m:val="]"/>
                                    <m:ctrlPr>
                                      <a:rPr lang="en-PH" sz="2000" i="1">
                                        <a:effectLst/>
                                        <a:latin typeface="Cambria Math" panose="02040503050406030204" pitchFamily="18" charset="0"/>
                                        <a:ea typeface="Verdana"/>
                                        <a:cs typeface="Verdana"/>
                                      </a:rPr>
                                    </m:ctrlPr>
                                  </m:dPr>
                                  <m:e>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−2</m:t>
                                            </m:r>
                                          </m:e>
                                        </m:d>
                                      </m:e>
                                      <m:sup>
                                        <m:r>
                                          <a:rPr lang="en-US" sz="2000" i="1">
                                            <a:effectLst/>
                                            <a:latin typeface="Cambria Math"/>
                                            <a:ea typeface="Verdana"/>
                                            <a:cs typeface="Verdana"/>
                                          </a:rPr>
                                          <m:t>3</m:t>
                                        </m:r>
                                      </m:sup>
                                    </m:sSup>
                                    <m:r>
                                      <a:rPr lang="en-US" sz="2000" i="1">
                                        <a:effectLst/>
                                        <a:latin typeface="Cambria Math"/>
                                        <a:ea typeface="Verdana"/>
                                        <a:cs typeface="Verdana"/>
                                      </a:rPr>
                                      <m:t>+16</m:t>
                                    </m:r>
                                  </m:e>
                                </m:d>
                                <m:r>
                                  <a:rPr lang="en-US" sz="2000" i="1">
                                    <a:effectLst/>
                                    <a:latin typeface="Cambria Math"/>
                                    <a:ea typeface="Verdana"/>
                                    <a:cs typeface="Verdana"/>
                                  </a:rPr>
                                  <m:t>÷</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−2</m:t>
                                        </m:r>
                                      </m:e>
                                    </m:d>
                                  </m:e>
                                  <m:sup>
                                    <m:r>
                                      <a:rPr lang="en-US" sz="2000" i="1">
                                        <a:effectLst/>
                                        <a:latin typeface="Cambria Math"/>
                                        <a:ea typeface="Verdana"/>
                                        <a:cs typeface="Verdana"/>
                                      </a:rPr>
                                      <m:t>2</m:t>
                                    </m:r>
                                  </m:sup>
                                </m:sSup>
                              </m:oMath>
                            </m:oMathPara>
                          </a14:m>
                          <a:endParaRPr lang="en-PH"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597002">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Verdana"/>
                                        <a:cs typeface="Verdana"/>
                                      </a:rPr>
                                    </m:ctrlPr>
                                  </m:sSupPr>
                                  <m:e>
                                    <m:d>
                                      <m:dPr>
                                        <m:begChr m:val="["/>
                                        <m:endChr m:val="]"/>
                                        <m:ctrlPr>
                                          <a:rPr lang="en-PH" sz="2000" i="1">
                                            <a:effectLst/>
                                            <a:latin typeface="Cambria Math" panose="02040503050406030204" pitchFamily="18" charset="0"/>
                                            <a:ea typeface="Verdana"/>
                                            <a:cs typeface="Verdana"/>
                                          </a:rPr>
                                        </m:ctrlPr>
                                      </m:d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18−4×5</m:t>
                                            </m:r>
                                          </m:e>
                                        </m:d>
                                        <m:r>
                                          <a:rPr lang="en-US" sz="2000" i="1">
                                            <a:effectLst/>
                                            <a:latin typeface="Cambria Math"/>
                                            <a:ea typeface="Verdana"/>
                                            <a:cs typeface="Verdana"/>
                                          </a:rPr>
                                          <m:t>×3</m:t>
                                        </m:r>
                                      </m:e>
                                    </m:d>
                                  </m:e>
                                  <m:sup>
                                    <m:r>
                                      <a:rPr lang="en-US" sz="2000" i="1">
                                        <a:effectLst/>
                                        <a:latin typeface="Cambria Math"/>
                                        <a:ea typeface="Verdana"/>
                                        <a:cs typeface="Verdana"/>
                                      </a:rPr>
                                      <m:t>4</m:t>
                                    </m:r>
                                  </m:sup>
                                </m:sSup>
                              </m:oMath>
                            </m:oMathPara>
                          </a14:m>
                          <a:endParaRPr lang="en-PH"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PH"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2000" i="0" dirty="0">
                              <a:effectLst/>
                              <a:latin typeface="Verdana" pitchFamily="34" charset="0"/>
                              <a:ea typeface="Verdana" pitchFamily="34" charset="0"/>
                              <a:cs typeface="Cambria Math"/>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Verdana"/>
                                        <a:cs typeface="Verdana"/>
                                      </a:rPr>
                                    </m:ctrlPr>
                                  </m:sSupPr>
                                  <m:e>
                                    <m:d>
                                      <m:dPr>
                                        <m:begChr m:val="["/>
                                        <m:endChr m:val="]"/>
                                        <m:ctrlPr>
                                          <a:rPr lang="en-PH" sz="2000" i="1">
                                            <a:effectLst/>
                                            <a:latin typeface="Cambria Math" panose="02040503050406030204" pitchFamily="18" charset="0"/>
                                            <a:ea typeface="Verdana"/>
                                            <a:cs typeface="Verdana"/>
                                          </a:rPr>
                                        </m:ctrlPr>
                                      </m:d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2.4−5.4</m:t>
                                            </m:r>
                                          </m:e>
                                        </m:d>
                                        <m:r>
                                          <a:rPr lang="en-US" sz="2000" i="1">
                                            <a:effectLst/>
                                            <a:latin typeface="Cambria Math"/>
                                            <a:ea typeface="Verdana"/>
                                            <a:cs typeface="Verdana"/>
                                          </a:rPr>
                                          <m:t>×</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−2</m:t>
                                                </m:r>
                                              </m:e>
                                            </m:d>
                                          </m:e>
                                          <m:sup>
                                            <m:r>
                                              <a:rPr lang="en-US" sz="2000" i="1">
                                                <a:effectLst/>
                                                <a:latin typeface="Cambria Math"/>
                                                <a:ea typeface="Verdana"/>
                                                <a:cs typeface="Verdana"/>
                                              </a:rPr>
                                              <m:t>1</m:t>
                                            </m:r>
                                          </m:sup>
                                        </m:sSup>
                                      </m:e>
                                    </m:d>
                                  </m:e>
                                  <m:sup>
                                    <m:r>
                                      <a:rPr lang="en-US" sz="2000" i="1">
                                        <a:effectLst/>
                                        <a:latin typeface="Cambria Math"/>
                                        <a:ea typeface="Verdana"/>
                                        <a:cs typeface="Verdana"/>
                                      </a:rPr>
                                      <m:t>4</m:t>
                                    </m:r>
                                  </m:sup>
                                </m:sSup>
                              </m:oMath>
                            </m:oMathPara>
                          </a14:m>
                          <a:endParaRPr lang="en-PH"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597002">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11+ </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0.3</m:t>
                                            </m:r>
                                          </m:e>
                                          <m:sup>
                                            <m:r>
                                              <a:rPr lang="en-US" sz="2000" i="1">
                                                <a:effectLst/>
                                                <a:latin typeface="Cambria Math"/>
                                                <a:ea typeface="Verdana"/>
                                                <a:cs typeface="Verdana"/>
                                              </a:rPr>
                                              <m:t>0</m:t>
                                            </m:r>
                                          </m:sup>
                                        </m:sSup>
                                        <m:r>
                                          <a:rPr lang="en-US" sz="2000" i="1">
                                            <a:effectLst/>
                                            <a:latin typeface="Cambria Math"/>
                                            <a:ea typeface="Verdana"/>
                                            <a:cs typeface="Verdana"/>
                                          </a:rPr>
                                          <m:t>+3</m:t>
                                        </m:r>
                                      </m:e>
                                    </m:d>
                                  </m:e>
                                  <m:sup>
                                    <m:r>
                                      <a:rPr lang="en-US" sz="2000" i="1">
                                        <a:effectLst/>
                                        <a:latin typeface="Cambria Math"/>
                                        <a:ea typeface="Verdana"/>
                                        <a:cs typeface="Verdana"/>
                                      </a:rPr>
                                      <m:t>2</m:t>
                                    </m:r>
                                  </m:sup>
                                </m:sSup>
                              </m:oMath>
                            </m:oMathPara>
                          </a14:m>
                          <a:endParaRPr lang="en-PH"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2000" i="0" dirty="0">
                              <a:effectLst/>
                              <a:latin typeface="Verdana" pitchFamily="34" charset="0"/>
                              <a:ea typeface="Verdana" pitchFamily="34" charset="0"/>
                              <a:cs typeface="Cambria Math"/>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228600">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Verdana"/>
                                        <a:cs typeface="Verdana"/>
                                      </a:rPr>
                                    </m:ctrlPr>
                                  </m:sSupPr>
                                  <m:e>
                                    <m:d>
                                      <m:dPr>
                                        <m:begChr m:val="["/>
                                        <m:endChr m:val="]"/>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36÷</m:t>
                                        </m:r>
                                        <m:d>
                                          <m:dPr>
                                            <m:ctrlPr>
                                              <a:rPr lang="en-PH" sz="2000" i="1">
                                                <a:effectLst/>
                                                <a:latin typeface="Cambria Math" panose="02040503050406030204" pitchFamily="18" charset="0"/>
                                                <a:ea typeface="Verdana"/>
                                                <a:cs typeface="Verdana"/>
                                              </a:rPr>
                                            </m:ctrlPr>
                                          </m:dPr>
                                          <m:e>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2</m:t>
                                                </m:r>
                                              </m:e>
                                              <m:sup>
                                                <m:r>
                                                  <a:rPr lang="en-US" sz="2000" i="1">
                                                    <a:effectLst/>
                                                    <a:latin typeface="Cambria Math"/>
                                                    <a:ea typeface="Verdana"/>
                                                    <a:cs typeface="Verdana"/>
                                                  </a:rPr>
                                                  <m:t>3</m:t>
                                                </m:r>
                                              </m:sup>
                                            </m:sSup>
                                            <m:r>
                                              <a:rPr lang="en-US" sz="2000" i="1">
                                                <a:effectLst/>
                                                <a:latin typeface="Cambria Math"/>
                                                <a:ea typeface="Verdana"/>
                                                <a:cs typeface="Verdana"/>
                                              </a:rPr>
                                              <m:t>+4</m:t>
                                            </m:r>
                                          </m:e>
                                        </m:d>
                                      </m:e>
                                    </m:d>
                                  </m:e>
                                  <m:sup>
                                    <m:r>
                                      <a:rPr lang="en-US" sz="2000" i="1">
                                        <a:effectLst/>
                                        <a:latin typeface="Cambria Math"/>
                                        <a:ea typeface="Verdana"/>
                                        <a:cs typeface="Verdana"/>
                                      </a:rPr>
                                      <m:t>3</m:t>
                                    </m:r>
                                  </m:sup>
                                </m:sSup>
                              </m:oMath>
                            </m:oMathPara>
                          </a14:m>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263000665"/>
                  </p:ext>
                </p:extLst>
              </p:nvPr>
            </p:nvGraphicFramePr>
            <p:xfrm>
              <a:off x="2666901" y="520393"/>
              <a:ext cx="7704000" cy="5505826"/>
            </p:xfrm>
            <a:graphic>
              <a:graphicData uri="http://schemas.openxmlformats.org/drawingml/2006/table">
                <a:tbl>
                  <a:tblPr firstRow="1" firstCol="1" bandRow="1"/>
                  <a:tblGrid>
                    <a:gridCol w="2772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2772000">
                      <a:extLst>
                        <a:ext uri="{9D8B030D-6E8A-4147-A177-3AD203B41FA5}">
                          <a16:colId xmlns:a16="http://schemas.microsoft.com/office/drawing/2014/main" val="20002"/>
                        </a:ext>
                      </a:extLst>
                    </a:gridCol>
                  </a:tblGrid>
                  <a:tr h="714820">
                    <a:tc>
                      <a:txBody>
                        <a:bodyPr/>
                        <a:lstStyle/>
                        <a:p>
                          <a:pPr algn="ctr">
                            <a:lnSpc>
                              <a:spcPct val="107000"/>
                            </a:lnSpc>
                            <a:spcAft>
                              <a:spcPts val="0"/>
                            </a:spcAft>
                          </a:pPr>
                          <a:r>
                            <a:rPr lang="en-US" sz="2000" b="1" i="0" dirty="0">
                              <a:effectLst/>
                              <a:latin typeface="Verdana" pitchFamily="34" charset="0"/>
                              <a:ea typeface="Verdana" pitchFamily="34" charset="0"/>
                              <a:cs typeface="Verdana"/>
                            </a:rPr>
                            <a:t>Partner A</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Value of Both Expressions</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Partner B</a:t>
                          </a:r>
                          <a:endParaRPr lang="en-PH" sz="20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597002">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57" t="-46457" r="-178539" b="-200000"/>
                          </a:stretch>
                        </a:blipFill>
                      </a:tcPr>
                    </a:tc>
                    <a:tc>
                      <a:txBody>
                        <a:bodyPr/>
                        <a:lstStyle/>
                        <a:p>
                          <a:pPr>
                            <a:lnSpc>
                              <a:spcPct val="107000"/>
                            </a:lnSpc>
                            <a:spcAft>
                              <a:spcPts val="0"/>
                            </a:spcAft>
                          </a:pPr>
                          <a:r>
                            <a:rPr lang="en-US" sz="2000" i="0" dirty="0">
                              <a:effectLst/>
                              <a:latin typeface="Verdana" pitchFamily="34" charset="0"/>
                              <a:ea typeface="Verdana" pitchFamily="34" charset="0"/>
                              <a:cs typeface="Cambria Math"/>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78082" t="-46457" r="-913" b="-200000"/>
                          </a:stretch>
                        </a:blipFill>
                      </a:tcPr>
                    </a:tc>
                    <a:extLst>
                      <a:ext uri="{0D108BD9-81ED-4DB2-BD59-A6C34878D82A}">
                        <a16:rowId xmlns:a16="http://schemas.microsoft.com/office/drawing/2014/main" val="10001"/>
                      </a:ext>
                    </a:extLst>
                  </a:tr>
                  <a:tr h="1597002">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57" t="-147619" r="-178539" b="-101587"/>
                          </a:stretch>
                        </a:blipFill>
                      </a:tcPr>
                    </a:tc>
                    <a:tc>
                      <a:txBody>
                        <a:bodyPr/>
                        <a:lstStyle/>
                        <a:p>
                          <a:pPr>
                            <a:lnSpc>
                              <a:spcPct val="107000"/>
                            </a:lnSpc>
                            <a:spcAft>
                              <a:spcPts val="0"/>
                            </a:spcAft>
                          </a:pPr>
                          <a:r>
                            <a:rPr lang="en-US" sz="2000" i="0" dirty="0">
                              <a:effectLst/>
                              <a:latin typeface="Verdana" pitchFamily="34" charset="0"/>
                              <a:ea typeface="Verdana" pitchFamily="34" charset="0"/>
                              <a:cs typeface="Cambria Math"/>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78082" t="-147619" r="-913" b="-101587"/>
                          </a:stretch>
                        </a:blipFill>
                      </a:tcPr>
                    </a:tc>
                    <a:extLst>
                      <a:ext uri="{0D108BD9-81ED-4DB2-BD59-A6C34878D82A}">
                        <a16:rowId xmlns:a16="http://schemas.microsoft.com/office/drawing/2014/main" val="10002"/>
                      </a:ext>
                    </a:extLst>
                  </a:tr>
                  <a:tr h="1597002">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57" t="-247619" r="-178539" b="-1587"/>
                          </a:stretch>
                        </a:blipFill>
                      </a:tcPr>
                    </a:tc>
                    <a:tc>
                      <a:txBody>
                        <a:bodyPr/>
                        <a:lstStyle/>
                        <a:p>
                          <a:pPr>
                            <a:lnSpc>
                              <a:spcPct val="107000"/>
                            </a:lnSpc>
                            <a:spcAft>
                              <a:spcPts val="0"/>
                            </a:spcAft>
                          </a:pPr>
                          <a:r>
                            <a:rPr lang="en-US" sz="2000" i="0" dirty="0">
                              <a:effectLst/>
                              <a:latin typeface="Verdana" pitchFamily="34" charset="0"/>
                              <a:ea typeface="Verdana" pitchFamily="34" charset="0"/>
                              <a:cs typeface="Cambria Math"/>
                            </a:rPr>
                            <a:t> </a:t>
                          </a:r>
                          <a:endParaRPr lang="en-PH" sz="20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78082" t="-247619" r="-913" b="-1587"/>
                          </a:stretch>
                        </a:blipFill>
                      </a:tcPr>
                    </a:tc>
                    <a:extLst>
                      <a:ext uri="{0D108BD9-81ED-4DB2-BD59-A6C34878D82A}">
                        <a16:rowId xmlns:a16="http://schemas.microsoft.com/office/drawing/2014/main" val="10003"/>
                      </a:ext>
                    </a:extLst>
                  </a:tr>
                </a:tbl>
              </a:graphicData>
            </a:graphic>
          </p:graphicFrame>
        </mc:Fallback>
      </mc:AlternateContent>
      <p:sp>
        <p:nvSpPr>
          <p:cNvPr id="8" name="Google Shape;282;g104476d1465_1_17"/>
          <p:cNvSpPr txBox="1"/>
          <p:nvPr/>
        </p:nvSpPr>
        <p:spPr>
          <a:xfrm>
            <a:off x="882405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a:t>
            </a:r>
            <a:endParaRPr i="1" dirty="0">
              <a:latin typeface="Calibri"/>
              <a:ea typeface="Calibri"/>
              <a:cs typeface="Calibri"/>
              <a:sym typeface="Calibri"/>
            </a:endParaRPr>
          </a:p>
        </p:txBody>
      </p:sp>
    </p:spTree>
    <p:extLst>
      <p:ext uri="{BB962C8B-B14F-4D97-AF65-F5344CB8AC3E}">
        <p14:creationId xmlns:p14="http://schemas.microsoft.com/office/powerpoint/2010/main" val="3755819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32758"/>
            <a:ext cx="563850" cy="625242"/>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826168" y="354615"/>
            <a:ext cx="8712983"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8.5.5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1078868" y="35461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759C3E41-93EC-B84D-963F-86A3B15AC1C6}"/>
              </a:ext>
            </a:extLst>
          </p:cNvPr>
          <p:cNvSpPr txBox="1"/>
          <p:nvPr/>
        </p:nvSpPr>
        <p:spPr>
          <a:xfrm>
            <a:off x="1674601" y="1386026"/>
            <a:ext cx="8712983" cy="452560"/>
          </a:xfrm>
          <a:prstGeom prst="rect">
            <a:avLst/>
          </a:prstGeom>
          <a:noFill/>
        </p:spPr>
        <p:txBody>
          <a:bodyPr wrap="square" rtlCol="0">
            <a:spAutoFit/>
          </a:bodyPr>
          <a:lstStyle/>
          <a:p>
            <a:pPr marL="457200" indent="-457200">
              <a:lnSpc>
                <a:spcPct val="107000"/>
              </a:lnSpc>
              <a:buFont typeface="+mj-lt"/>
              <a:buAutoNum type="arabicPeriod"/>
            </a:pPr>
            <a:r>
              <a:rPr lang="en-US" sz="2400" dirty="0">
                <a:latin typeface="Verdana"/>
                <a:ea typeface="Verdana"/>
                <a:cs typeface="Verdana"/>
              </a:rPr>
              <a:t>Evaluate each expression without using a calculator.</a:t>
            </a: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3271029622"/>
                  </p:ext>
                </p:extLst>
              </p:nvPr>
            </p:nvGraphicFramePr>
            <p:xfrm>
              <a:off x="2149435" y="2438516"/>
              <a:ext cx="8550056" cy="3511876"/>
            </p:xfrm>
            <a:graphic>
              <a:graphicData uri="http://schemas.openxmlformats.org/drawingml/2006/table">
                <a:tbl>
                  <a:tblPr firstRow="1" bandRow="1">
                    <a:tableStyleId>{A91F0D33-8C57-4600-99A7-42BC86742BE1}</a:tableStyleId>
                  </a:tblPr>
                  <a:tblGrid>
                    <a:gridCol w="3875917">
                      <a:extLst>
                        <a:ext uri="{9D8B030D-6E8A-4147-A177-3AD203B41FA5}">
                          <a16:colId xmlns:a16="http://schemas.microsoft.com/office/drawing/2014/main" val="20000"/>
                        </a:ext>
                      </a:extLst>
                    </a:gridCol>
                    <a:gridCol w="4674139">
                      <a:extLst>
                        <a:ext uri="{9D8B030D-6E8A-4147-A177-3AD203B41FA5}">
                          <a16:colId xmlns:a16="http://schemas.microsoft.com/office/drawing/2014/main" val="20001"/>
                        </a:ext>
                      </a:extLst>
                    </a:gridCol>
                  </a:tblGrid>
                  <a:tr h="1496064">
                    <a:tc>
                      <a:txBody>
                        <a:bodyPr/>
                        <a:lstStyle/>
                        <a:p>
                          <a:pPr marL="357188" lvl="0" indent="-357188" algn="l">
                            <a:lnSpc>
                              <a:spcPct val="107000"/>
                            </a:lnSpc>
                            <a:spcAft>
                              <a:spcPts val="0"/>
                            </a:spcAft>
                            <a:buFont typeface="+mj-lt"/>
                            <a:buAutoNum type="alphaLcPeriod"/>
                          </a:pPr>
                          <a:r>
                            <a:rPr lang="en-PH" sz="2400" baseline="0" dirty="0">
                              <a:effectLst/>
                              <a:latin typeface="Verdana" pitchFamily="34" charset="0"/>
                              <a:ea typeface="Verdana" pitchFamily="34" charset="0"/>
                              <a:cs typeface="Verdana"/>
                            </a:rPr>
                            <a:t> </a:t>
                          </a:r>
                          <a14:m>
                            <m:oMath xmlns:m="http://schemas.openxmlformats.org/officeDocument/2006/math">
                              <m:sSup>
                                <m:sSupPr>
                                  <m:ctrlPr>
                                    <a:rPr lang="en-PH" sz="2400" i="1" smtClean="0">
                                      <a:effectLst/>
                                      <a:latin typeface="Cambria Math" panose="02040503050406030204" pitchFamily="18" charset="0"/>
                                      <a:ea typeface="Verdana"/>
                                      <a:cs typeface="Verdana"/>
                                    </a:rPr>
                                  </m:ctrlPr>
                                </m:sSupPr>
                                <m:e>
                                  <m:d>
                                    <m:dPr>
                                      <m:begChr m:val="["/>
                                      <m:endChr m:val="]"/>
                                      <m:ctrlPr>
                                        <a:rPr lang="en-PH" sz="2400" i="1">
                                          <a:effectLst/>
                                          <a:latin typeface="Cambria Math" panose="02040503050406030204" pitchFamily="18" charset="0"/>
                                          <a:ea typeface="Verdana"/>
                                          <a:cs typeface="Verdana"/>
                                        </a:rPr>
                                      </m:ctrlPr>
                                    </m:dPr>
                                    <m:e>
                                      <m:d>
                                        <m:dPr>
                                          <m:ctrlPr>
                                            <a:rPr lang="en-PH" sz="2400" i="1">
                                              <a:effectLst/>
                                              <a:latin typeface="Cambria Math" panose="02040503050406030204" pitchFamily="18" charset="0"/>
                                              <a:ea typeface="Verdana"/>
                                              <a:cs typeface="Verdana"/>
                                            </a:rPr>
                                          </m:ctrlPr>
                                        </m:dPr>
                                        <m:e>
                                          <m:r>
                                            <a:rPr lang="en-US" sz="2400" i="1">
                                              <a:effectLst/>
                                              <a:latin typeface="Cambria Math"/>
                                              <a:ea typeface="Verdana"/>
                                              <a:cs typeface="Verdana"/>
                                            </a:rPr>
                                            <m:t>10−15</m:t>
                                          </m:r>
                                        </m:e>
                                      </m:d>
                                      <m:r>
                                        <a:rPr lang="en-US" sz="2400" i="1">
                                          <a:effectLst/>
                                          <a:latin typeface="Cambria Math"/>
                                          <a:ea typeface="Verdana"/>
                                          <a:cs typeface="Verdana"/>
                                        </a:rPr>
                                        <m:t>×2</m:t>
                                      </m:r>
                                    </m:e>
                                  </m:d>
                                </m:e>
                                <m:sup>
                                  <m:r>
                                    <a:rPr lang="en-US" sz="2400" i="1">
                                      <a:effectLst/>
                                      <a:latin typeface="Cambria Math"/>
                                      <a:ea typeface="Verdana"/>
                                      <a:cs typeface="Verdana"/>
                                    </a:rPr>
                                    <m:t>3</m:t>
                                  </m:r>
                                </m:sup>
                              </m:sSup>
                              <m:r>
                                <a:rPr lang="en-US" sz="2400" i="1">
                                  <a:effectLst/>
                                  <a:latin typeface="Cambria Math"/>
                                  <a:ea typeface="Verdana"/>
                                  <a:cs typeface="Verdana"/>
                                </a:rPr>
                                <m:t>+50</m:t>
                              </m:r>
                            </m:oMath>
                          </a14:m>
                          <a:r>
                            <a:rPr lang="en-US" sz="2400" i="0" dirty="0">
                              <a:effectLst/>
                              <a:latin typeface="Verdana" pitchFamily="34" charset="0"/>
                              <a:ea typeface="Verdana" pitchFamily="34" charset="0"/>
                              <a:cs typeface="Verdana"/>
                            </a:rPr>
                            <a:t> </a:t>
                          </a:r>
                          <a:endParaRPr lang="en-PH" sz="2400" i="1" dirty="0">
                            <a:effectLst/>
                            <a:latin typeface="Verdana" pitchFamily="34" charset="0"/>
                            <a:ea typeface="Verdana" pitchFamily="34" charset="0"/>
                            <a:cs typeface="Cambria Math"/>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457200" indent="-457200">
                            <a:buFont typeface="+mj-lt"/>
                            <a:buAutoNum type="alphaLcPeriod" startAt="4"/>
                          </a:pPr>
                          <a:r>
                            <a:rPr lang="en-PH" sz="2400" dirty="0">
                              <a:effectLst/>
                              <a:latin typeface="Verdana" pitchFamily="34" charset="0"/>
                              <a:ea typeface="Verdana" pitchFamily="34" charset="0"/>
                              <a:cs typeface="Verdana"/>
                            </a:rPr>
                            <a:t> </a:t>
                          </a:r>
                          <a14:m>
                            <m:oMath xmlns:m="http://schemas.openxmlformats.org/officeDocument/2006/math">
                              <m:sSup>
                                <m:sSupPr>
                                  <m:ctrlPr>
                                    <a:rPr lang="en-PH" sz="2400" i="1" smtClean="0">
                                      <a:effectLst/>
                                      <a:latin typeface="Cambria Math" panose="02040503050406030204" pitchFamily="18" charset="0"/>
                                      <a:ea typeface="Verdana"/>
                                      <a:cs typeface="Verdana"/>
                                    </a:rPr>
                                  </m:ctrlPr>
                                </m:sSupPr>
                                <m:e>
                                  <m:d>
                                    <m:dPr>
                                      <m:begChr m:val="["/>
                                      <m:endChr m:val="]"/>
                                      <m:ctrlPr>
                                        <a:rPr lang="en-PH" sz="2400" i="1">
                                          <a:effectLst/>
                                          <a:latin typeface="Cambria Math" panose="02040503050406030204" pitchFamily="18" charset="0"/>
                                          <a:ea typeface="Verdana"/>
                                          <a:cs typeface="Verdana"/>
                                        </a:rPr>
                                      </m:ctrlPr>
                                    </m:dPr>
                                    <m:e>
                                      <m:sSup>
                                        <m:sSupPr>
                                          <m:ctrlPr>
                                            <a:rPr lang="en-PH" sz="2400" i="1">
                                              <a:effectLst/>
                                              <a:latin typeface="Cambria Math" panose="02040503050406030204" pitchFamily="18" charset="0"/>
                                              <a:ea typeface="Verdana"/>
                                              <a:cs typeface="Verdana"/>
                                            </a:rPr>
                                          </m:ctrlPr>
                                        </m:sSupPr>
                                        <m:e>
                                          <m:r>
                                            <a:rPr lang="en-US" sz="2400">
                                              <a:effectLst/>
                                              <a:latin typeface="Cambria Math"/>
                                              <a:ea typeface="Verdana"/>
                                              <a:cs typeface="Verdana"/>
                                            </a:rPr>
                                            <m:t>0.8×</m:t>
                                          </m:r>
                                          <m:d>
                                            <m:dPr>
                                              <m:ctrlPr>
                                                <a:rPr lang="en-PH" sz="2400" i="1">
                                                  <a:effectLst/>
                                                  <a:latin typeface="Cambria Math" panose="02040503050406030204" pitchFamily="18" charset="0"/>
                                                  <a:ea typeface="Verdana"/>
                                                  <a:cs typeface="Verdana"/>
                                                </a:rPr>
                                              </m:ctrlPr>
                                            </m:dPr>
                                            <m:e>
                                              <m:r>
                                                <a:rPr lang="en-US" sz="2400">
                                                  <a:effectLst/>
                                                  <a:latin typeface="Cambria Math"/>
                                                  <a:ea typeface="Verdana"/>
                                                  <a:cs typeface="Verdana"/>
                                                </a:rPr>
                                                <m:t>1.2+2.8</m:t>
                                              </m:r>
                                            </m:e>
                                          </m:d>
                                        </m:e>
                                        <m:sup>
                                          <m:r>
                                            <a:rPr lang="en-US" sz="2400">
                                              <a:effectLst/>
                                              <a:latin typeface="Cambria Math"/>
                                              <a:ea typeface="Verdana"/>
                                              <a:cs typeface="Verdana"/>
                                            </a:rPr>
                                            <m:t>2</m:t>
                                          </m:r>
                                        </m:sup>
                                      </m:sSup>
                                    </m:e>
                                  </m:d>
                                </m:e>
                                <m:sup>
                                  <m:r>
                                    <a:rPr lang="en-US" sz="2400">
                                      <a:effectLst/>
                                      <a:latin typeface="Cambria Math"/>
                                      <a:ea typeface="Verdana"/>
                                      <a:cs typeface="Verdana"/>
                                    </a:rPr>
                                    <m:t>2</m:t>
                                  </m:r>
                                </m:sup>
                              </m:sSup>
                            </m:oMath>
                          </a14:m>
                          <a:endParaRPr lang="en-PH" sz="2400" dirty="0">
                            <a:latin typeface="Verdana" pitchFamily="34" charset="0"/>
                            <a:ea typeface="Verdana"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496064">
                    <a:tc>
                      <a:txBody>
                        <a:bodyPr/>
                        <a:lstStyle/>
                        <a:p>
                          <a:pPr marL="457200" lvl="0" indent="-457200" algn="l">
                            <a:lnSpc>
                              <a:spcPct val="107000"/>
                            </a:lnSpc>
                            <a:spcAft>
                              <a:spcPts val="0"/>
                            </a:spcAft>
                            <a:buFont typeface="+mj-lt"/>
                            <a:buAutoNum type="alphaLcPeriod" startAt="2"/>
                          </a:pPr>
                          <a:r>
                            <a:rPr lang="en-PH" sz="2400" dirty="0">
                              <a:effectLst/>
                              <a:latin typeface="Verdana" pitchFamily="34" charset="0"/>
                              <a:ea typeface="Verdana" pitchFamily="34" charset="0"/>
                              <a:cs typeface="Verdana"/>
                            </a:rPr>
                            <a:t> </a:t>
                          </a:r>
                          <a14:m>
                            <m:oMath xmlns:m="http://schemas.openxmlformats.org/officeDocument/2006/math">
                              <m:sSup>
                                <m:sSupPr>
                                  <m:ctrlPr>
                                    <a:rPr lang="en-PH" sz="2400" i="1" smtClean="0">
                                      <a:effectLst/>
                                      <a:latin typeface="Cambria Math" panose="02040503050406030204" pitchFamily="18" charset="0"/>
                                      <a:ea typeface="Verdana"/>
                                      <a:cs typeface="Verdana"/>
                                    </a:rPr>
                                  </m:ctrlPr>
                                </m:sSupPr>
                                <m:e>
                                  <m:d>
                                    <m:dPr>
                                      <m:ctrlPr>
                                        <a:rPr lang="en-PH" sz="2400" i="1">
                                          <a:effectLst/>
                                          <a:latin typeface="Cambria Math" panose="02040503050406030204" pitchFamily="18" charset="0"/>
                                          <a:ea typeface="Verdana"/>
                                          <a:cs typeface="Verdana"/>
                                        </a:rPr>
                                      </m:ctrlPr>
                                    </m:dPr>
                                    <m:e>
                                      <m:sSup>
                                        <m:sSupPr>
                                          <m:ctrlPr>
                                            <a:rPr lang="en-PH" sz="2400" i="1">
                                              <a:effectLst/>
                                              <a:latin typeface="Cambria Math" panose="02040503050406030204" pitchFamily="18" charset="0"/>
                                              <a:ea typeface="Verdana"/>
                                              <a:cs typeface="Verdana"/>
                                            </a:rPr>
                                          </m:ctrlPr>
                                        </m:sSupPr>
                                        <m:e>
                                          <m:r>
                                            <a:rPr lang="en-US" sz="2400" i="1">
                                              <a:effectLst/>
                                              <a:latin typeface="Cambria Math"/>
                                              <a:ea typeface="Verdana"/>
                                              <a:cs typeface="Verdana"/>
                                            </a:rPr>
                                            <m:t>2</m:t>
                                          </m:r>
                                        </m:e>
                                        <m:sup>
                                          <m:r>
                                            <a:rPr lang="en-US" sz="2400" i="1">
                                              <a:effectLst/>
                                              <a:latin typeface="Cambria Math"/>
                                              <a:ea typeface="Verdana"/>
                                              <a:cs typeface="Verdana"/>
                                            </a:rPr>
                                            <m:t>4</m:t>
                                          </m:r>
                                        </m:sup>
                                      </m:sSup>
                                      <m:r>
                                        <a:rPr lang="en-US" sz="2400" i="1">
                                          <a:effectLst/>
                                          <a:latin typeface="Cambria Math"/>
                                          <a:ea typeface="Verdana"/>
                                          <a:cs typeface="Verdana"/>
                                        </a:rPr>
                                        <m:t>−3×6</m:t>
                                      </m:r>
                                    </m:e>
                                  </m:d>
                                </m:e>
                                <m:sup>
                                  <m:r>
                                    <a:rPr lang="en-US" sz="2400" i="1">
                                      <a:effectLst/>
                                      <a:latin typeface="Cambria Math"/>
                                      <a:ea typeface="Verdana"/>
                                      <a:cs typeface="Verdana"/>
                                    </a:rPr>
                                    <m:t>2</m:t>
                                  </m:r>
                                </m:sup>
                              </m:sSup>
                            </m:oMath>
                          </a14:m>
                          <a:r>
                            <a:rPr lang="en-US" sz="2400" i="0" dirty="0">
                              <a:effectLst/>
                              <a:latin typeface="Verdana" pitchFamily="34" charset="0"/>
                              <a:ea typeface="Verdana" pitchFamily="34" charset="0"/>
                              <a:cs typeface="Verdana"/>
                            </a:rPr>
                            <a:t> </a:t>
                          </a:r>
                          <a:endParaRPr lang="en-PH" sz="2400" i="1" dirty="0">
                            <a:effectLst/>
                            <a:latin typeface="Verdana" pitchFamily="34" charset="0"/>
                            <a:ea typeface="Verdana" pitchFamily="34" charset="0"/>
                            <a:cs typeface="Cambria Math"/>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457200" lvl="0" indent="-457200">
                            <a:lnSpc>
                              <a:spcPct val="107000"/>
                            </a:lnSpc>
                            <a:spcAft>
                              <a:spcPts val="0"/>
                            </a:spcAft>
                            <a:buFont typeface="+mj-lt"/>
                            <a:buAutoNum type="alphaLcPeriod" startAt="5"/>
                          </a:pPr>
                          <a:r>
                            <a:rPr lang="en-PH" sz="2400" dirty="0">
                              <a:effectLst/>
                              <a:latin typeface="Verdana" pitchFamily="34" charset="0"/>
                              <a:ea typeface="Verdana" pitchFamily="34" charset="0"/>
                              <a:cs typeface="Verdana"/>
                            </a:rPr>
                            <a:t> </a:t>
                          </a:r>
                          <a14:m>
                            <m:oMath xmlns:m="http://schemas.openxmlformats.org/officeDocument/2006/math">
                              <m:d>
                                <m:dPr>
                                  <m:begChr m:val="["/>
                                  <m:endChr m:val="]"/>
                                  <m:ctrlPr>
                                    <a:rPr lang="en-PH" sz="2400" i="1" smtClean="0">
                                      <a:effectLst/>
                                      <a:latin typeface="Cambria Math" panose="02040503050406030204" pitchFamily="18" charset="0"/>
                                      <a:ea typeface="Verdana"/>
                                      <a:cs typeface="Verdana"/>
                                    </a:rPr>
                                  </m:ctrlPr>
                                </m:dPr>
                                <m:e>
                                  <m:sSup>
                                    <m:sSupPr>
                                      <m:ctrlPr>
                                        <a:rPr lang="en-PH" sz="2400" i="1">
                                          <a:effectLst/>
                                          <a:latin typeface="Cambria Math" panose="02040503050406030204" pitchFamily="18" charset="0"/>
                                          <a:ea typeface="Verdana"/>
                                          <a:cs typeface="Verdana"/>
                                        </a:rPr>
                                      </m:ctrlPr>
                                    </m:sSupPr>
                                    <m:e>
                                      <m:d>
                                        <m:dPr>
                                          <m:ctrlPr>
                                            <a:rPr lang="en-PH" sz="2400" i="1">
                                              <a:effectLst/>
                                              <a:latin typeface="Cambria Math" panose="02040503050406030204" pitchFamily="18" charset="0"/>
                                              <a:ea typeface="Verdana"/>
                                              <a:cs typeface="Verdana"/>
                                            </a:rPr>
                                          </m:ctrlPr>
                                        </m:dPr>
                                        <m:e>
                                          <m:r>
                                            <a:rPr lang="en-US" sz="2400" i="1">
                                              <a:effectLst/>
                                              <a:latin typeface="Cambria Math"/>
                                              <a:ea typeface="Verdana"/>
                                              <a:cs typeface="Verdana"/>
                                            </a:rPr>
                                            <m:t>0.8×10</m:t>
                                          </m:r>
                                        </m:e>
                                      </m:d>
                                    </m:e>
                                    <m:sup>
                                      <m:r>
                                        <a:rPr lang="en-US" sz="2400" i="1">
                                          <a:effectLst/>
                                          <a:latin typeface="Cambria Math"/>
                                          <a:ea typeface="Verdana"/>
                                          <a:cs typeface="Verdana"/>
                                        </a:rPr>
                                        <m:t>2</m:t>
                                      </m:r>
                                    </m:sup>
                                  </m:sSup>
                                  <m:r>
                                    <a:rPr lang="en-US" sz="2400" i="1">
                                      <a:effectLst/>
                                      <a:latin typeface="Cambria Math"/>
                                      <a:ea typeface="Verdana"/>
                                      <a:cs typeface="Verdana"/>
                                    </a:rPr>
                                    <m:t>+4.5</m:t>
                                  </m:r>
                                </m:e>
                              </m:d>
                              <m:r>
                                <a:rPr lang="en-US" sz="2400" i="1">
                                  <a:effectLst/>
                                  <a:latin typeface="Cambria Math"/>
                                  <a:ea typeface="Verdana"/>
                                  <a:cs typeface="Verdana"/>
                                </a:rPr>
                                <m:t>÷0.5</m:t>
                              </m:r>
                            </m:oMath>
                          </a14:m>
                          <a:r>
                            <a:rPr lang="en-US" sz="2400" i="0" dirty="0">
                              <a:effectLst/>
                              <a:latin typeface="Verdana" pitchFamily="34" charset="0"/>
                              <a:ea typeface="Verdana" pitchFamily="34" charset="0"/>
                              <a:cs typeface="Verdana"/>
                            </a:rPr>
                            <a:t> </a:t>
                          </a:r>
                          <a:endParaRPr lang="en-PH" sz="2400" i="1" dirty="0">
                            <a:effectLst/>
                            <a:latin typeface="Verdana" pitchFamily="34" charset="0"/>
                            <a:ea typeface="Verdana" pitchFamily="34" charset="0"/>
                            <a:cs typeface="Cambria Math"/>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60000">
                    <a:tc>
                      <a:txBody>
                        <a:bodyPr/>
                        <a:lstStyle/>
                        <a:p>
                          <a:pPr marL="457200" lvl="0" indent="-457200" algn="l">
                            <a:lnSpc>
                              <a:spcPct val="107000"/>
                            </a:lnSpc>
                            <a:spcAft>
                              <a:spcPts val="0"/>
                            </a:spcAft>
                            <a:buFont typeface="+mj-lt"/>
                            <a:buAutoNum type="alphaLcPeriod" startAt="3"/>
                          </a:pPr>
                          <a:r>
                            <a:rPr lang="en-PH" sz="2400" dirty="0">
                              <a:effectLst/>
                              <a:latin typeface="Verdana" pitchFamily="34" charset="0"/>
                              <a:ea typeface="Verdana" pitchFamily="34" charset="0"/>
                              <a:cs typeface="Verdana"/>
                            </a:rPr>
                            <a:t> </a:t>
                          </a:r>
                          <a14:m>
                            <m:oMath xmlns:m="http://schemas.openxmlformats.org/officeDocument/2006/math">
                              <m:sSup>
                                <m:sSupPr>
                                  <m:ctrlPr>
                                    <a:rPr lang="en-PH" sz="2400" i="1" smtClean="0">
                                      <a:effectLst/>
                                      <a:latin typeface="Cambria Math" panose="02040503050406030204" pitchFamily="18" charset="0"/>
                                      <a:ea typeface="Verdana"/>
                                      <a:cs typeface="Verdana"/>
                                    </a:rPr>
                                  </m:ctrlPr>
                                </m:sSupPr>
                                <m:e>
                                  <m:d>
                                    <m:dPr>
                                      <m:begChr m:val="|"/>
                                      <m:endChr m:val="|"/>
                                      <m:ctrlPr>
                                        <a:rPr lang="en-PH" sz="2400" i="1">
                                          <a:effectLst/>
                                          <a:latin typeface="Cambria Math" panose="02040503050406030204" pitchFamily="18" charset="0"/>
                                          <a:ea typeface="Verdana"/>
                                          <a:cs typeface="Verdana"/>
                                        </a:rPr>
                                      </m:ctrlPr>
                                    </m:dPr>
                                    <m:e>
                                      <m:r>
                                        <a:rPr lang="en-US" sz="2400" i="1">
                                          <a:effectLst/>
                                          <a:latin typeface="Cambria Math"/>
                                          <a:ea typeface="Verdana"/>
                                          <a:cs typeface="Verdana"/>
                                        </a:rPr>
                                        <m:t>18+</m:t>
                                      </m:r>
                                      <m:d>
                                        <m:dPr>
                                          <m:ctrlPr>
                                            <a:rPr lang="en-PH" sz="2400" i="1">
                                              <a:effectLst/>
                                              <a:latin typeface="Cambria Math" panose="02040503050406030204" pitchFamily="18" charset="0"/>
                                              <a:ea typeface="Verdana"/>
                                              <a:cs typeface="Verdana"/>
                                            </a:rPr>
                                          </m:ctrlPr>
                                        </m:dPr>
                                        <m:e>
                                          <m:r>
                                            <a:rPr lang="en-US" sz="2400" i="1">
                                              <a:effectLst/>
                                              <a:latin typeface="Cambria Math"/>
                                              <a:ea typeface="Verdana"/>
                                              <a:cs typeface="Verdana"/>
                                            </a:rPr>
                                            <m:t>−2</m:t>
                                          </m:r>
                                        </m:e>
                                      </m:d>
                                      <m:r>
                                        <a:rPr lang="en-US" sz="2400" i="1">
                                          <a:effectLst/>
                                          <a:latin typeface="Cambria Math"/>
                                          <a:ea typeface="Verdana"/>
                                          <a:cs typeface="Verdana"/>
                                        </a:rPr>
                                        <m:t>×14</m:t>
                                      </m:r>
                                    </m:e>
                                  </m:d>
                                </m:e>
                                <m:sup>
                                  <m:r>
                                    <a:rPr lang="en-US" sz="2400" i="1">
                                      <a:effectLst/>
                                      <a:latin typeface="Cambria Math"/>
                                      <a:ea typeface="Verdana"/>
                                      <a:cs typeface="Verdana"/>
                                    </a:rPr>
                                    <m:t>5</m:t>
                                  </m:r>
                                </m:sup>
                              </m:sSup>
                            </m:oMath>
                          </a14:m>
                          <a:endParaRPr lang="en-PH" sz="2400" i="1" dirty="0">
                            <a:effectLst/>
                            <a:latin typeface="Verdana" pitchFamily="34" charset="0"/>
                            <a:ea typeface="Verdana" pitchFamily="34" charset="0"/>
                            <a:cs typeface="Cambria Math"/>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457200" lvl="0" indent="-457200">
                            <a:lnSpc>
                              <a:spcPct val="107000"/>
                            </a:lnSpc>
                            <a:spcAft>
                              <a:spcPts val="0"/>
                            </a:spcAft>
                            <a:buFont typeface="+mj-lt"/>
                            <a:buAutoNum type="alphaLcPeriod" startAt="6"/>
                          </a:pPr>
                          <a:r>
                            <a:rPr lang="en-PH" sz="2400" dirty="0">
                              <a:effectLst/>
                              <a:latin typeface="Verdana" pitchFamily="34" charset="0"/>
                              <a:ea typeface="Verdana" pitchFamily="34" charset="0"/>
                              <a:cs typeface="Verdana"/>
                            </a:rPr>
                            <a:t> </a:t>
                          </a:r>
                          <a14:m>
                            <m:oMath xmlns:m="http://schemas.openxmlformats.org/officeDocument/2006/math">
                              <m:sSup>
                                <m:sSupPr>
                                  <m:ctrlPr>
                                    <a:rPr lang="en-PH" sz="2400" i="1" smtClean="0">
                                      <a:effectLst/>
                                      <a:latin typeface="Cambria Math" panose="02040503050406030204" pitchFamily="18" charset="0"/>
                                      <a:ea typeface="Verdana"/>
                                      <a:cs typeface="Verdana"/>
                                    </a:rPr>
                                  </m:ctrlPr>
                                </m:sSupPr>
                                <m:e>
                                  <m:d>
                                    <m:dPr>
                                      <m:ctrlPr>
                                        <a:rPr lang="en-PH" sz="2400" i="1">
                                          <a:effectLst/>
                                          <a:latin typeface="Cambria Math" panose="02040503050406030204" pitchFamily="18" charset="0"/>
                                          <a:ea typeface="Verdana"/>
                                          <a:cs typeface="Verdana"/>
                                        </a:rPr>
                                      </m:ctrlPr>
                                    </m:dPr>
                                    <m:e>
                                      <m:r>
                                        <a:rPr lang="en-US" sz="2400" i="1">
                                          <a:effectLst/>
                                          <a:latin typeface="Cambria Math"/>
                                          <a:ea typeface="Verdana"/>
                                          <a:cs typeface="Verdana"/>
                                        </a:rPr>
                                        <m:t>10×0.4</m:t>
                                      </m:r>
                                    </m:e>
                                  </m:d>
                                </m:e>
                                <m:sup>
                                  <m:r>
                                    <a:rPr lang="en-US" sz="2400" i="1">
                                      <a:effectLst/>
                                      <a:latin typeface="Cambria Math"/>
                                      <a:ea typeface="Verdana"/>
                                      <a:cs typeface="Verdana"/>
                                    </a:rPr>
                                    <m:t>2</m:t>
                                  </m:r>
                                </m:sup>
                              </m:sSup>
                              <m:r>
                                <a:rPr lang="en-US" sz="2400" i="1">
                                  <a:effectLst/>
                                  <a:latin typeface="Cambria Math"/>
                                  <a:ea typeface="Verdana"/>
                                  <a:cs typeface="Verdana"/>
                                </a:rPr>
                                <m:t>+</m:t>
                              </m:r>
                              <m:d>
                                <m:dPr>
                                  <m:ctrlPr>
                                    <a:rPr lang="en-PH" sz="2400" i="1">
                                      <a:effectLst/>
                                      <a:latin typeface="Cambria Math" panose="02040503050406030204" pitchFamily="18" charset="0"/>
                                      <a:ea typeface="Verdana"/>
                                      <a:cs typeface="Verdana"/>
                                    </a:rPr>
                                  </m:ctrlPr>
                                </m:dPr>
                                <m:e>
                                  <m:r>
                                    <a:rPr lang="en-US" sz="2400" i="1">
                                      <a:effectLst/>
                                      <a:latin typeface="Cambria Math"/>
                                      <a:ea typeface="Verdana"/>
                                      <a:cs typeface="Verdana"/>
                                    </a:rPr>
                                    <m:t>28.4÷</m:t>
                                  </m:r>
                                  <m:d>
                                    <m:dPr>
                                      <m:ctrlPr>
                                        <a:rPr lang="en-PH" sz="2400" i="1">
                                          <a:effectLst/>
                                          <a:latin typeface="Cambria Math" panose="02040503050406030204" pitchFamily="18" charset="0"/>
                                          <a:ea typeface="Verdana"/>
                                          <a:cs typeface="Verdana"/>
                                        </a:rPr>
                                      </m:ctrlPr>
                                    </m:dPr>
                                    <m:e>
                                      <m:r>
                                        <a:rPr lang="en-US" sz="2400" i="1">
                                          <a:effectLst/>
                                          <a:latin typeface="Cambria Math"/>
                                          <a:ea typeface="Verdana"/>
                                          <a:cs typeface="Verdana"/>
                                        </a:rPr>
                                        <m:t>−4</m:t>
                                      </m:r>
                                    </m:e>
                                  </m:d>
                                </m:e>
                              </m:d>
                            </m:oMath>
                          </a14:m>
                          <a:endParaRPr lang="en-PH" sz="2400" i="1" dirty="0">
                            <a:effectLst/>
                            <a:latin typeface="Verdana" pitchFamily="34" charset="0"/>
                            <a:ea typeface="Verdana" pitchFamily="34" charset="0"/>
                            <a:cs typeface="Cambria Math"/>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3271029622"/>
                  </p:ext>
                </p:extLst>
              </p:nvPr>
            </p:nvGraphicFramePr>
            <p:xfrm>
              <a:off x="2149435" y="2438516"/>
              <a:ext cx="8550056" cy="3511876"/>
            </p:xfrm>
            <a:graphic>
              <a:graphicData uri="http://schemas.openxmlformats.org/drawingml/2006/table">
                <a:tbl>
                  <a:tblPr firstRow="1" bandRow="1">
                    <a:tableStyleId>{A91F0D33-8C57-4600-99A7-42BC86742BE1}</a:tableStyleId>
                  </a:tblPr>
                  <a:tblGrid>
                    <a:gridCol w="3875917">
                      <a:extLst>
                        <a:ext uri="{9D8B030D-6E8A-4147-A177-3AD203B41FA5}">
                          <a16:colId xmlns:a16="http://schemas.microsoft.com/office/drawing/2014/main" val="20000"/>
                        </a:ext>
                      </a:extLst>
                    </a:gridCol>
                    <a:gridCol w="4674139">
                      <a:extLst>
                        <a:ext uri="{9D8B030D-6E8A-4147-A177-3AD203B41FA5}">
                          <a16:colId xmlns:a16="http://schemas.microsoft.com/office/drawing/2014/main" val="20001"/>
                        </a:ext>
                      </a:extLst>
                    </a:gridCol>
                  </a:tblGrid>
                  <a:tr h="1496064">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4065" r="-120755" b="-141057"/>
                          </a:stretch>
                        </a:blipFill>
                      </a:tcPr>
                    </a:tc>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82813" t="-4065" b="-141057"/>
                          </a:stretch>
                        </a:blipFill>
                      </a:tcPr>
                    </a:tc>
                    <a:extLst>
                      <a:ext uri="{0D108BD9-81ED-4DB2-BD59-A6C34878D82A}">
                        <a16:rowId xmlns:a16="http://schemas.microsoft.com/office/drawing/2014/main" val="10000"/>
                      </a:ext>
                    </a:extLst>
                  </a:tr>
                  <a:tr h="1496064">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104065" r="-120755" b="-41057"/>
                          </a:stretch>
                        </a:blipFill>
                      </a:tcPr>
                    </a:tc>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82813" t="-104065" b="-41057"/>
                          </a:stretch>
                        </a:blipFill>
                      </a:tcPr>
                    </a:tc>
                    <a:extLst>
                      <a:ext uri="{0D108BD9-81ED-4DB2-BD59-A6C34878D82A}">
                        <a16:rowId xmlns:a16="http://schemas.microsoft.com/office/drawing/2014/main" val="10001"/>
                      </a:ext>
                    </a:extLst>
                  </a:tr>
                  <a:tr h="519748">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590588" r="-120755" b="-18824"/>
                          </a:stretch>
                        </a:blipFill>
                      </a:tcPr>
                    </a:tc>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82813" t="-590588" b="-18824"/>
                          </a:stretch>
                        </a:blipFill>
                      </a:tcPr>
                    </a:tc>
                    <a:extLst>
                      <a:ext uri="{0D108BD9-81ED-4DB2-BD59-A6C34878D82A}">
                        <a16:rowId xmlns:a16="http://schemas.microsoft.com/office/drawing/2014/main" val="10002"/>
                      </a:ext>
                    </a:extLst>
                  </a:tr>
                </a:tbl>
              </a:graphicData>
            </a:graphic>
          </p:graphicFrame>
        </mc:Fallback>
      </mc:AlternateContent>
      <p:sp>
        <p:nvSpPr>
          <p:cNvPr id="10"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31</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7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89924" y="6474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786250" y="512180"/>
            <a:ext cx="8601334"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8.5.6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937869" y="43397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685169" y="1386026"/>
            <a:ext cx="8702415" cy="5065233"/>
          </a:xfrm>
          <a:prstGeom prst="rect">
            <a:avLst/>
          </a:prstGeom>
          <a:noFill/>
        </p:spPr>
        <p:txBody>
          <a:bodyPr wrap="square" rtlCol="0">
            <a:spAutoFit/>
          </a:bodyPr>
          <a:lstStyle/>
          <a:p>
            <a:pPr marL="457200" indent="-457200">
              <a:lnSpc>
                <a:spcPct val="107000"/>
              </a:lnSpc>
              <a:spcAft>
                <a:spcPts val="1800"/>
              </a:spcAft>
              <a:buFont typeface="+mj-lt"/>
              <a:buAutoNum type="arabicPeriod"/>
            </a:pPr>
            <a:r>
              <a:rPr lang="en-US" sz="2400" dirty="0">
                <a:latin typeface="Verdana"/>
                <a:ea typeface="Verdana"/>
                <a:cs typeface="Verdana"/>
              </a:rPr>
              <a:t>Complete each statement based on your learning today.</a:t>
            </a:r>
            <a:endParaRPr lang="en-PH" sz="2000" i="1" dirty="0">
              <a:latin typeface="Cambria Math"/>
              <a:ea typeface="Cambria Math"/>
              <a:cs typeface="Verdana"/>
            </a:endParaRPr>
          </a:p>
          <a:p>
            <a:pPr marL="914400" indent="-457200" defTabSz="803275">
              <a:lnSpc>
                <a:spcPct val="107000"/>
              </a:lnSpc>
              <a:buFont typeface="Arial" pitchFamily="34" charset="0"/>
              <a:buChar char="•"/>
            </a:pPr>
            <a:r>
              <a:rPr lang="en-US" sz="2400" dirty="0">
                <a:latin typeface="Verdana"/>
                <a:ea typeface="Verdana"/>
                <a:cs typeface="Verdana"/>
              </a:rPr>
              <a:t>A barrier to my learning was … </a:t>
            </a:r>
            <a:endParaRPr lang="en-PH" sz="2000" i="1" dirty="0">
              <a:latin typeface="Cambria Math"/>
              <a:ea typeface="Cambria Math"/>
              <a:cs typeface="Cambria Math"/>
            </a:endParaRPr>
          </a:p>
          <a:p>
            <a:pPr marL="914400" indent="-457200" defTabSz="803275">
              <a:lnSpc>
                <a:spcPct val="107000"/>
              </a:lnSpc>
              <a:buFont typeface="Arial" pitchFamily="34" charset="0"/>
              <a:buChar char="•"/>
            </a:pPr>
            <a:endParaRPr lang="en-US" sz="2400" dirty="0">
              <a:latin typeface="Verdana"/>
              <a:ea typeface="Verdana"/>
              <a:cs typeface="Verdana"/>
            </a:endParaRPr>
          </a:p>
          <a:p>
            <a:pPr marL="914400" indent="-457200" defTabSz="803275">
              <a:lnSpc>
                <a:spcPct val="107000"/>
              </a:lnSpc>
              <a:buFont typeface="Arial" pitchFamily="34" charset="0"/>
              <a:buChar char="•"/>
            </a:pPr>
            <a:endParaRPr lang="en-US" sz="2400" dirty="0">
              <a:latin typeface="Verdana"/>
              <a:ea typeface="Verdana"/>
              <a:cs typeface="Verdana"/>
            </a:endParaRPr>
          </a:p>
          <a:p>
            <a:pPr marL="914400" indent="-457200" defTabSz="803275">
              <a:lnSpc>
                <a:spcPct val="107000"/>
              </a:lnSpc>
              <a:buFont typeface="Arial" pitchFamily="34" charset="0"/>
              <a:buChar char="•"/>
            </a:pPr>
            <a:r>
              <a:rPr lang="en-US" sz="2400" dirty="0">
                <a:latin typeface="Verdana"/>
                <a:ea typeface="Verdana"/>
                <a:cs typeface="Verdana"/>
              </a:rPr>
              <a:t>I will try to overcome this by …</a:t>
            </a:r>
            <a:endParaRPr lang="en-PH" sz="2000" i="1" dirty="0">
              <a:latin typeface="Cambria Math"/>
              <a:ea typeface="Cambria Math"/>
              <a:cs typeface="Cambria Math"/>
            </a:endParaRPr>
          </a:p>
          <a:p>
            <a:pPr marL="914400" indent="-457200" defTabSz="803275">
              <a:lnSpc>
                <a:spcPct val="107000"/>
              </a:lnSpc>
              <a:buFont typeface="Arial" pitchFamily="34" charset="0"/>
              <a:buChar char="•"/>
            </a:pPr>
            <a:endParaRPr lang="en-US" sz="2400" dirty="0">
              <a:latin typeface="Verdana"/>
              <a:ea typeface="Verdana"/>
              <a:cs typeface="Verdana"/>
            </a:endParaRPr>
          </a:p>
          <a:p>
            <a:pPr marL="914400" indent="-457200" defTabSz="803275">
              <a:lnSpc>
                <a:spcPct val="107000"/>
              </a:lnSpc>
              <a:buFont typeface="Arial" pitchFamily="34" charset="0"/>
              <a:buChar char="•"/>
            </a:pPr>
            <a:endParaRPr lang="en-US" sz="2400" dirty="0">
              <a:latin typeface="Verdana"/>
              <a:ea typeface="Verdana"/>
              <a:cs typeface="Verdana"/>
            </a:endParaRPr>
          </a:p>
          <a:p>
            <a:pPr marL="914400" indent="-457200" defTabSz="803275">
              <a:lnSpc>
                <a:spcPct val="107000"/>
              </a:lnSpc>
              <a:buFont typeface="Arial" pitchFamily="34" charset="0"/>
              <a:buChar char="•"/>
            </a:pPr>
            <a:r>
              <a:rPr lang="en-US" sz="2400" dirty="0">
                <a:latin typeface="Verdana"/>
                <a:ea typeface="Verdana"/>
                <a:cs typeface="Verdana"/>
              </a:rPr>
              <a:t>Today I am still unsure about …</a:t>
            </a:r>
            <a:endParaRPr lang="en-PH" sz="2000" i="1" dirty="0">
              <a:latin typeface="Cambria Math"/>
              <a:ea typeface="Cambria Math"/>
              <a:cs typeface="Cambria Math"/>
            </a:endParaRPr>
          </a:p>
          <a:p>
            <a:pPr marL="914400" indent="-457200" defTabSz="803275">
              <a:lnSpc>
                <a:spcPct val="107000"/>
              </a:lnSpc>
              <a:buFont typeface="Arial" pitchFamily="34" charset="0"/>
              <a:buChar char="•"/>
            </a:pPr>
            <a:endParaRPr lang="en-US" sz="2400" dirty="0">
              <a:latin typeface="Verdana"/>
              <a:ea typeface="Verdana"/>
              <a:cs typeface="Verdana"/>
            </a:endParaRPr>
          </a:p>
          <a:p>
            <a:pPr marL="914400" indent="-457200" defTabSz="803275">
              <a:lnSpc>
                <a:spcPct val="107000"/>
              </a:lnSpc>
              <a:buFont typeface="Arial" pitchFamily="34" charset="0"/>
              <a:buChar char="•"/>
            </a:pPr>
            <a:endParaRPr lang="en-US" sz="2400" dirty="0">
              <a:latin typeface="Verdana"/>
              <a:ea typeface="Verdana"/>
              <a:cs typeface="Verdana"/>
            </a:endParaRPr>
          </a:p>
          <a:p>
            <a:pPr marL="914400" indent="-457200" defTabSz="803275">
              <a:lnSpc>
                <a:spcPct val="107000"/>
              </a:lnSpc>
              <a:buFont typeface="Arial" pitchFamily="34" charset="0"/>
              <a:buChar char="•"/>
            </a:pPr>
            <a:r>
              <a:rPr lang="en-US" sz="2400" dirty="0">
                <a:latin typeface="Verdana"/>
                <a:ea typeface="Verdana"/>
                <a:cs typeface="Verdana"/>
              </a:rPr>
              <a:t>To fill in this gap I intend to …</a:t>
            </a:r>
            <a:endParaRPr lang="en-PH" sz="2000" i="1" dirty="0">
              <a:latin typeface="Cambria Math"/>
              <a:ea typeface="Cambria Math"/>
              <a:cs typeface="Cambria Math"/>
            </a:endParaRPr>
          </a:p>
        </p:txBody>
      </p:sp>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31</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1344</TotalTime>
  <Words>978</Words>
  <Application>Microsoft Office PowerPoint</Application>
  <PresentationFormat>Widescreen</PresentationFormat>
  <Paragraphs>179</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Cambria Math</vt:lpstr>
      <vt:lpstr>Arial</vt:lpstr>
      <vt:lpstr>Verdana</vt:lpstr>
      <vt:lpstr>Century Gothic</vt:lpstr>
      <vt:lpstr>Calibri</vt:lpstr>
      <vt:lpstr>Arial Black</vt:lpstr>
      <vt:lpstr>1_Office Theme</vt:lpstr>
      <vt:lpstr>7th Grade Math  Unit 8, Lesson 5  Evaluating Numeric Expressions –  Part 2  Volume 2, pg. 27  </vt:lpstr>
      <vt:lpstr>Benchmarks</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Exploration</vt:lpstr>
      <vt:lpstr>PowerPoint Presentation</vt:lpstr>
      <vt:lpstr>PowerPoint Presentation</vt:lpstr>
      <vt:lpstr>Collaboration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26</cp:revision>
  <dcterms:created xsi:type="dcterms:W3CDTF">2015-03-17T18:51:18Z</dcterms:created>
  <dcterms:modified xsi:type="dcterms:W3CDTF">2022-06-10T22:50:45Z</dcterms:modified>
</cp:coreProperties>
</file>