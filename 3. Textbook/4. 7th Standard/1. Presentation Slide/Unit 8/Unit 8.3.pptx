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2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sldSz cx="12192000" cy="6858000"/>
  <p:notesSz cx="6858000" cy="9144000"/>
  <p:embeddedFontLst>
    <p:embeddedFont>
      <p:font typeface="Arial Black" panose="020B0A04020102020204" pitchFamily="34" charset="0"/>
      <p:regular r:id="rId25"/>
      <p:bold r:id="rId26"/>
    </p:embeddedFont>
    <p:embeddedFont>
      <p:font typeface="Calibri" panose="020F0502020204030204" pitchFamily="34" charset="0"/>
      <p:regular r:id="rId27"/>
      <p:bold r:id="rId28"/>
      <p:italic r:id="rId29"/>
      <p:boldItalic r:id="rId30"/>
    </p:embeddedFont>
    <p:embeddedFont>
      <p:font typeface="Cambria Math" panose="02040503050406030204" pitchFamily="18" charset="0"/>
      <p:regular r:id="rId31"/>
    </p:embeddedFont>
    <p:embeddedFont>
      <p:font typeface="Century Gothic" panose="020B0502020202020204" pitchFamily="34" charset="0"/>
      <p:regular r:id="rId32"/>
      <p:bold r:id="rId33"/>
      <p:italic r:id="rId34"/>
      <p:boldItalic r:id="rId35"/>
    </p:embeddedFont>
    <p:embeddedFont>
      <p:font typeface="Verdana" panose="020B0604030504040204" pitchFamily="34" charset="0"/>
      <p:regular r:id="rId36"/>
      <p:bold r:id="rId37"/>
      <p:italic r:id="rId38"/>
      <p:boldItalic r:id="rId39"/>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http://customooxmlschemas.google.com/">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40" roundtripDataSignature="AMtx7milEmHkAhmdduDHVvQUIMVJSw8a5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07A82D6B-0012-41CB-8D28-B149B940E5F0}">
  <a:tblStyle styleId="{07A82D6B-0012-41CB-8D28-B149B940E5F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 styleId="{0D89DDD4-F3FB-4D2D-B92F-923BBF67B673}" styleName="Table_1">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947"/>
    <p:restoredTop sz="94687"/>
  </p:normalViewPr>
  <p:slideViewPr>
    <p:cSldViewPr snapToGrid="0">
      <p:cViewPr varScale="1">
        <p:scale>
          <a:sx n="81" d="100"/>
          <a:sy n="81" d="100"/>
        </p:scale>
        <p:origin x="618" y="8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font" Target="fonts/font2.fntdata"/><Relationship Id="rId39" Type="http://schemas.openxmlformats.org/officeDocument/2006/relationships/font" Target="fonts/font15.fntdata"/><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font" Target="fonts/font10.fntdata"/><Relationship Id="rId42"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1.fntdata"/><Relationship Id="rId33" Type="http://schemas.openxmlformats.org/officeDocument/2006/relationships/font" Target="fonts/font9.fntdata"/><Relationship Id="rId38" Type="http://schemas.openxmlformats.org/officeDocument/2006/relationships/font" Target="fonts/font14.fntdata"/><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5.fntdata"/><Relationship Id="rId41"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32" Type="http://schemas.openxmlformats.org/officeDocument/2006/relationships/font" Target="fonts/font8.fntdata"/><Relationship Id="rId37" Type="http://schemas.openxmlformats.org/officeDocument/2006/relationships/font" Target="fonts/font13.fntdata"/><Relationship Id="rId40" Type="http://customschemas.google.com/relationships/presentationmetadata" Target="metadata"/><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4.fntdata"/><Relationship Id="rId36" Type="http://schemas.openxmlformats.org/officeDocument/2006/relationships/font" Target="fonts/font12.fntdata"/><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7.fntdata"/><Relationship Id="rId44"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font" Target="fonts/font3.fntdata"/><Relationship Id="rId30" Type="http://schemas.openxmlformats.org/officeDocument/2006/relationships/font" Target="fonts/font6.fntdata"/><Relationship Id="rId35" Type="http://schemas.openxmlformats.org/officeDocument/2006/relationships/font" Target="fonts/font11.fntdata"/><Relationship Id="rId4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8788"/>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8788"/>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400550"/>
            <a:ext cx="5486400" cy="3600450"/>
          </a:xfrm>
          <a:prstGeom prst="rect">
            <a:avLst/>
          </a:prstGeom>
          <a:noFill/>
          <a:ln>
            <a:noFill/>
          </a:ln>
        </p:spPr>
        <p:txBody>
          <a:bodyPr spcFirstLastPara="1" wrap="square" lIns="91425" tIns="45700" rIns="91425" bIns="45700" anchor="t" anchorCtr="0">
            <a:no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8787"/>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8787"/>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9"/>
        <p:cNvGrpSpPr/>
        <p:nvPr/>
      </p:nvGrpSpPr>
      <p:grpSpPr>
        <a:xfrm>
          <a:off x="0" y="0"/>
          <a:ext cx="0" cy="0"/>
          <a:chOff x="0" y="0"/>
          <a:chExt cx="0" cy="0"/>
        </a:xfrm>
      </p:grpSpPr>
      <p:sp>
        <p:nvSpPr>
          <p:cNvPr id="110" name="Google Shape;110;g104476d1465_0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1" name="Google Shape;111;g104476d1465_0_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6"/>
        <p:cNvGrpSpPr/>
        <p:nvPr/>
      </p:nvGrpSpPr>
      <p:grpSpPr>
        <a:xfrm>
          <a:off x="0" y="0"/>
          <a:ext cx="0" cy="0"/>
          <a:chOff x="0" y="0"/>
          <a:chExt cx="0" cy="0"/>
        </a:xfrm>
      </p:grpSpPr>
      <p:sp>
        <p:nvSpPr>
          <p:cNvPr id="117" name="Google Shape;117;g104476d1465_1_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8" name="Google Shape;118;g104476d1465_1_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19" name="Google Shape;119;g104476d1465_1_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29" name="Google Shape;129;p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0" name="Google Shape;130;p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3</a:t>
            </a:fld>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8"/>
        <p:cNvGrpSpPr/>
        <p:nvPr/>
      </p:nvGrpSpPr>
      <p:grpSpPr>
        <a:xfrm>
          <a:off x="0" y="0"/>
          <a:ext cx="0" cy="0"/>
          <a:chOff x="0" y="0"/>
          <a:chExt cx="0" cy="0"/>
        </a:xfrm>
      </p:grpSpPr>
      <p:sp>
        <p:nvSpPr>
          <p:cNvPr id="139" name="Google Shape;139;p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0" name="Google Shape;140;p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4</a:t>
            </a:fld>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9"/>
        <p:cNvGrpSpPr/>
        <p:nvPr/>
      </p:nvGrpSpPr>
      <p:grpSpPr>
        <a:xfrm>
          <a:off x="0" y="0"/>
          <a:ext cx="0" cy="0"/>
          <a:chOff x="0" y="0"/>
          <a:chExt cx="0" cy="0"/>
        </a:xfrm>
      </p:grpSpPr>
      <p:sp>
        <p:nvSpPr>
          <p:cNvPr id="150" name="Google Shape;150;g104476d1465_1_3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51" name="Google Shape;151;g104476d1465_1_3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2" name="Google Shape;152;g104476d1465_1_3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5</a:t>
            </a:fld>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9"/>
        <p:cNvGrpSpPr/>
        <p:nvPr/>
      </p:nvGrpSpPr>
      <p:grpSpPr>
        <a:xfrm>
          <a:off x="0" y="0"/>
          <a:ext cx="0" cy="0"/>
          <a:chOff x="0" y="0"/>
          <a:chExt cx="0" cy="0"/>
        </a:xfrm>
      </p:grpSpPr>
      <p:sp>
        <p:nvSpPr>
          <p:cNvPr id="160" name="Google Shape;160;p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1" name="Google Shape;161;p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2" name="Google Shape;162;p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6</a:t>
            </a:fld>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7"/>
        <p:cNvGrpSpPr/>
        <p:nvPr/>
      </p:nvGrpSpPr>
      <p:grpSpPr>
        <a:xfrm>
          <a:off x="0" y="0"/>
          <a:ext cx="0" cy="0"/>
          <a:chOff x="0" y="0"/>
          <a:chExt cx="0" cy="0"/>
        </a:xfrm>
      </p:grpSpPr>
      <p:sp>
        <p:nvSpPr>
          <p:cNvPr id="178" name="Google Shape;178;p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79" name="Google Shape;179;p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0" name="Google Shape;180;p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a:t>
            </a:fld>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
        <p:cNvGrpSpPr/>
        <p:nvPr/>
      </p:nvGrpSpPr>
      <p:grpSpPr>
        <a:xfrm>
          <a:off x="0" y="0"/>
          <a:ext cx="0" cy="0"/>
          <a:chOff x="0" y="0"/>
          <a:chExt cx="0" cy="0"/>
        </a:xfrm>
      </p:grpSpPr>
      <p:sp>
        <p:nvSpPr>
          <p:cNvPr id="188" name="Google Shape;188;p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89" name="Google Shape;189;p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0" name="Google Shape;190;p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8</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8"/>
        <p:cNvGrpSpPr/>
        <p:nvPr/>
      </p:nvGrpSpPr>
      <p:grpSpPr>
        <a:xfrm>
          <a:off x="0" y="0"/>
          <a:ext cx="0" cy="0"/>
          <a:chOff x="0" y="0"/>
          <a:chExt cx="0" cy="0"/>
        </a:xfrm>
      </p:grpSpPr>
      <p:sp>
        <p:nvSpPr>
          <p:cNvPr id="199" name="Google Shape;199;p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00" name="Google Shape;200;p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01" name="Google Shape;201;p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9</a:t>
            </a:fld>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8"/>
        <p:cNvGrpSpPr/>
        <p:nvPr/>
      </p:nvGrpSpPr>
      <p:grpSpPr>
        <a:xfrm>
          <a:off x="0" y="0"/>
          <a:ext cx="0" cy="0"/>
          <a:chOff x="0" y="0"/>
          <a:chExt cx="0" cy="0"/>
        </a:xfrm>
      </p:grpSpPr>
      <p:sp>
        <p:nvSpPr>
          <p:cNvPr id="209" name="Google Shape;209;p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10" name="Google Shape;210;p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1" name="Google Shape;211;p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10</a:t>
            </a:fld>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8"/>
        <p:cNvGrpSpPr/>
        <p:nvPr/>
      </p:nvGrpSpPr>
      <p:grpSpPr>
        <a:xfrm>
          <a:off x="0" y="0"/>
          <a:ext cx="0" cy="0"/>
          <a:chOff x="0" y="0"/>
          <a:chExt cx="0" cy="0"/>
        </a:xfrm>
      </p:grpSpPr>
      <p:sp>
        <p:nvSpPr>
          <p:cNvPr id="219" name="Google Shape;219;p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20" name="Google Shape;220;p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11</a:t>
            </a:fld>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32" name="Google Shape;232;p1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3" name="Google Shape;233;p1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12</a:t>
            </a:fld>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1"/>
        <p:cNvGrpSpPr/>
        <p:nvPr/>
      </p:nvGrpSpPr>
      <p:grpSpPr>
        <a:xfrm>
          <a:off x="0" y="0"/>
          <a:ext cx="0" cy="0"/>
          <a:chOff x="0" y="0"/>
          <a:chExt cx="0" cy="0"/>
        </a:xfrm>
      </p:grpSpPr>
      <p:sp>
        <p:nvSpPr>
          <p:cNvPr id="242" name="Google Shape;242;p11: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43" name="Google Shape;243;p11: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4" name="Google Shape;244;p11: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13</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3"/>
        <p:cNvGrpSpPr/>
        <p:nvPr/>
      </p:nvGrpSpPr>
      <p:grpSpPr>
        <a:xfrm>
          <a:off x="0" y="0"/>
          <a:ext cx="0" cy="0"/>
          <a:chOff x="0" y="0"/>
          <a:chExt cx="0" cy="0"/>
        </a:xfrm>
      </p:grpSpPr>
      <p:sp>
        <p:nvSpPr>
          <p:cNvPr id="254" name="Google Shape;254;p1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55" name="Google Shape;255;p12: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6" name="Google Shape;256;p12: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14</a:t>
            </a:fld>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2"/>
        <p:cNvGrpSpPr/>
        <p:nvPr/>
      </p:nvGrpSpPr>
      <p:grpSpPr>
        <a:xfrm>
          <a:off x="0" y="0"/>
          <a:ext cx="0" cy="0"/>
          <a:chOff x="0" y="0"/>
          <a:chExt cx="0" cy="0"/>
        </a:xfrm>
      </p:grpSpPr>
      <p:sp>
        <p:nvSpPr>
          <p:cNvPr id="263" name="Google Shape;263;p13: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64" name="Google Shape;264;p13: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5" name="Google Shape;265;p13: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15</a:t>
            </a:fld>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2"/>
        <p:cNvGrpSpPr/>
        <p:nvPr/>
      </p:nvGrpSpPr>
      <p:grpSpPr>
        <a:xfrm>
          <a:off x="0" y="0"/>
          <a:ext cx="0" cy="0"/>
          <a:chOff x="0" y="0"/>
          <a:chExt cx="0" cy="0"/>
        </a:xfrm>
      </p:grpSpPr>
      <p:sp>
        <p:nvSpPr>
          <p:cNvPr id="273" name="Google Shape;273;p1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74" name="Google Shape;274;p1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5" name="Google Shape;275;p1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16</a:t>
            </a:fld>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4"/>
        <p:cNvGrpSpPr/>
        <p:nvPr/>
      </p:nvGrpSpPr>
      <p:grpSpPr>
        <a:xfrm>
          <a:off x="0" y="0"/>
          <a:ext cx="0" cy="0"/>
          <a:chOff x="0" y="0"/>
          <a:chExt cx="0" cy="0"/>
        </a:xfrm>
      </p:grpSpPr>
      <p:sp>
        <p:nvSpPr>
          <p:cNvPr id="285" name="Google Shape;285;p15: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86" name="Google Shape;286;p15: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7" name="Google Shape;287;p15: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17</a:t>
            </a:fld>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3"/>
        <p:cNvGrpSpPr/>
        <p:nvPr/>
      </p:nvGrpSpPr>
      <p:grpSpPr>
        <a:xfrm>
          <a:off x="0" y="0"/>
          <a:ext cx="0" cy="0"/>
          <a:chOff x="0" y="0"/>
          <a:chExt cx="0" cy="0"/>
        </a:xfrm>
      </p:grpSpPr>
      <p:sp>
        <p:nvSpPr>
          <p:cNvPr id="294" name="Google Shape;294;p1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295" name="Google Shape;295;p1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6" name="Google Shape;296;p1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18</a:t>
            </a:fld>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1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05" name="Google Shape;305;p1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6" name="Google Shape;306;p1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19</a:t>
            </a:fld>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5"/>
        <p:cNvGrpSpPr/>
        <p:nvPr/>
      </p:nvGrpSpPr>
      <p:grpSpPr>
        <a:xfrm>
          <a:off x="0" y="0"/>
          <a:ext cx="0" cy="0"/>
          <a:chOff x="0" y="0"/>
          <a:chExt cx="0" cy="0"/>
        </a:xfrm>
      </p:grpSpPr>
      <p:sp>
        <p:nvSpPr>
          <p:cNvPr id="316" name="Google Shape;316;p18: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17" name="Google Shape;317;p18: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8" name="Google Shape;318;p18: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20</a:t>
            </a:fld>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p19: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26" name="Google Shape;326;p19: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7" name="Google Shape;327;p19: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21</a:t>
            </a:fld>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4"/>
        <p:cNvGrpSpPr/>
        <p:nvPr/>
      </p:nvGrpSpPr>
      <p:grpSpPr>
        <a:xfrm>
          <a:off x="0" y="0"/>
          <a:ext cx="0" cy="0"/>
          <a:chOff x="0" y="0"/>
          <a:chExt cx="0" cy="0"/>
        </a:xfrm>
      </p:grpSpPr>
      <p:sp>
        <p:nvSpPr>
          <p:cNvPr id="335" name="Google Shape;335;p20: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36" name="Google Shape;336;p20: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7" name="Google Shape;337;p20: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Clr>
                <a:srgbClr val="000000"/>
              </a:buClr>
              <a:buSzPts val="1400"/>
              <a:buFont typeface="Arial"/>
              <a:buNone/>
            </a:pPr>
            <a:fld id="{00000000-1234-1234-1234-123412341234}" type="slidenum">
              <a:rPr lang="en-US"/>
              <a:t>22</a:t>
            </a:fld>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jpe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jpe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
        <p:nvSpPr>
          <p:cNvPr id="16" name="Google Shape;16;p83"/>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7" name="Google Shape;17;p83"/>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8" name="Google Shape;18;p83"/>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1_Title Slide">
  <p:cSld name="1_Title Slide">
    <p:bg>
      <p:bgPr>
        <a:blipFill>
          <a:blip r:embed="rId2" cstate="screen">
            <a:alphaModFix/>
            <a:extLst>
              <a:ext uri="{28A0092B-C50C-407E-A947-70E740481C1C}">
                <a14:useLocalDpi xmlns:a14="http://schemas.microsoft.com/office/drawing/2010/main"/>
              </a:ext>
            </a:extLst>
          </a:blip>
          <a:stretch>
            <a:fillRect/>
          </a:stretch>
        </a:blipFill>
        <a:effectLst/>
      </p:bgPr>
    </p:bg>
    <p:spTree>
      <p:nvGrpSpPr>
        <p:cNvPr id="1" name="Shape 19"/>
        <p:cNvGrpSpPr/>
        <p:nvPr/>
      </p:nvGrpSpPr>
      <p:grpSpPr>
        <a:xfrm>
          <a:off x="0" y="0"/>
          <a:ext cx="0" cy="0"/>
          <a:chOff x="0" y="0"/>
          <a:chExt cx="0" cy="0"/>
        </a:xfrm>
      </p:grpSpPr>
      <p:sp>
        <p:nvSpPr>
          <p:cNvPr id="20" name="Google Shape;20;p56"/>
          <p:cNvSpPr txBox="1">
            <a:spLocks noGrp="1"/>
          </p:cNvSpPr>
          <p:nvPr>
            <p:ph type="ctrTitle"/>
          </p:nvPr>
        </p:nvSpPr>
        <p:spPr>
          <a:xfrm>
            <a:off x="5299677" y="1070919"/>
            <a:ext cx="6526000" cy="3618000"/>
          </a:xfrm>
          <a:prstGeom prst="rect">
            <a:avLst/>
          </a:prstGeom>
          <a:noFill/>
          <a:ln>
            <a:noFill/>
          </a:ln>
        </p:spPr>
        <p:txBody>
          <a:bodyPr spcFirstLastPara="1" wrap="square" lIns="91425" tIns="91425" rIns="91425" bIns="91425" anchor="b" anchorCtr="0">
            <a:normAutofit/>
          </a:bodyPr>
          <a:lstStyle>
            <a:lvl1pPr lvl="0" algn="l">
              <a:lnSpc>
                <a:spcPct val="90000"/>
              </a:lnSpc>
              <a:spcBef>
                <a:spcPts val="0"/>
              </a:spcBef>
              <a:spcAft>
                <a:spcPts val="0"/>
              </a:spcAft>
              <a:buClr>
                <a:srgbClr val="FFFFFF"/>
              </a:buClr>
              <a:buSzPts val="3000"/>
              <a:buFont typeface="Arial Black"/>
              <a:buNone/>
              <a:defRPr sz="3000">
                <a:solidFill>
                  <a:srgbClr val="FFFFFF"/>
                </a:solidFill>
                <a:latin typeface="Arial Black"/>
                <a:ea typeface="Arial Black"/>
                <a:cs typeface="Arial Black"/>
                <a:sym typeface="Arial Black"/>
              </a:defRPr>
            </a:lvl1pPr>
            <a:lvl2pPr lvl="1" algn="l">
              <a:lnSpc>
                <a:spcPct val="100000"/>
              </a:lnSpc>
              <a:spcBef>
                <a:spcPts val="0"/>
              </a:spcBef>
              <a:spcAft>
                <a:spcPts val="0"/>
              </a:spcAft>
              <a:buSzPts val="1400"/>
              <a:buNone/>
              <a:defRPr sz="7200"/>
            </a:lvl2pPr>
            <a:lvl3pPr lvl="2" algn="l">
              <a:lnSpc>
                <a:spcPct val="100000"/>
              </a:lnSpc>
              <a:spcBef>
                <a:spcPts val="0"/>
              </a:spcBef>
              <a:spcAft>
                <a:spcPts val="0"/>
              </a:spcAft>
              <a:buSzPts val="1400"/>
              <a:buNone/>
              <a:defRPr sz="7200"/>
            </a:lvl3pPr>
            <a:lvl4pPr lvl="3" algn="l">
              <a:lnSpc>
                <a:spcPct val="100000"/>
              </a:lnSpc>
              <a:spcBef>
                <a:spcPts val="0"/>
              </a:spcBef>
              <a:spcAft>
                <a:spcPts val="0"/>
              </a:spcAft>
              <a:buSzPts val="1400"/>
              <a:buNone/>
              <a:defRPr sz="7200"/>
            </a:lvl4pPr>
            <a:lvl5pPr lvl="4" algn="l">
              <a:lnSpc>
                <a:spcPct val="100000"/>
              </a:lnSpc>
              <a:spcBef>
                <a:spcPts val="0"/>
              </a:spcBef>
              <a:spcAft>
                <a:spcPts val="0"/>
              </a:spcAft>
              <a:buSzPts val="1400"/>
              <a:buNone/>
              <a:defRPr sz="7200"/>
            </a:lvl5pPr>
            <a:lvl6pPr lvl="5" algn="l">
              <a:lnSpc>
                <a:spcPct val="100000"/>
              </a:lnSpc>
              <a:spcBef>
                <a:spcPts val="0"/>
              </a:spcBef>
              <a:spcAft>
                <a:spcPts val="0"/>
              </a:spcAft>
              <a:buSzPts val="1400"/>
              <a:buNone/>
              <a:defRPr sz="7200"/>
            </a:lvl6pPr>
            <a:lvl7pPr lvl="6" algn="l">
              <a:lnSpc>
                <a:spcPct val="100000"/>
              </a:lnSpc>
              <a:spcBef>
                <a:spcPts val="0"/>
              </a:spcBef>
              <a:spcAft>
                <a:spcPts val="0"/>
              </a:spcAft>
              <a:buSzPts val="1400"/>
              <a:buNone/>
              <a:defRPr sz="7200"/>
            </a:lvl7pPr>
            <a:lvl8pPr lvl="7" algn="l">
              <a:lnSpc>
                <a:spcPct val="100000"/>
              </a:lnSpc>
              <a:spcBef>
                <a:spcPts val="0"/>
              </a:spcBef>
              <a:spcAft>
                <a:spcPts val="0"/>
              </a:spcAft>
              <a:buSzPts val="1400"/>
              <a:buNone/>
              <a:defRPr sz="7200"/>
            </a:lvl8pPr>
            <a:lvl9pPr lvl="8" algn="l">
              <a:lnSpc>
                <a:spcPct val="100000"/>
              </a:lnSpc>
              <a:spcBef>
                <a:spcPts val="0"/>
              </a:spcBef>
              <a:spcAft>
                <a:spcPts val="0"/>
              </a:spcAft>
              <a:buSzPts val="1400"/>
              <a:buNone/>
              <a:defRPr sz="7200"/>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1"/>
        <p:cNvGrpSpPr/>
        <p:nvPr/>
      </p:nvGrpSpPr>
      <p:grpSpPr>
        <a:xfrm>
          <a:off x="0" y="0"/>
          <a:ext cx="0" cy="0"/>
          <a:chOff x="0" y="0"/>
          <a:chExt cx="0" cy="0"/>
        </a:xfrm>
      </p:grpSpPr>
      <p:sp>
        <p:nvSpPr>
          <p:cNvPr id="22" name="Google Shape;22;p77"/>
          <p:cNvSpPr txBox="1">
            <a:spLocks noGrp="1"/>
          </p:cNvSpPr>
          <p:nvPr>
            <p:ph type="ctrTitle"/>
          </p:nvPr>
        </p:nvSpPr>
        <p:spPr>
          <a:xfrm>
            <a:off x="1524000" y="1122363"/>
            <a:ext cx="9144000" cy="2387700"/>
          </a:xfrm>
          <a:prstGeom prst="rect">
            <a:avLst/>
          </a:prstGeom>
          <a:noFill/>
          <a:ln>
            <a:noFill/>
          </a:ln>
        </p:spPr>
        <p:txBody>
          <a:bodyPr spcFirstLastPara="1" wrap="square" lIns="91425" tIns="45700" rIns="91425" bIns="45700" anchor="b" anchorCtr="0">
            <a:normAutofit/>
          </a:bodyPr>
          <a:lstStyle>
            <a:lvl1pPr lvl="0" algn="ctr">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3" name="Google Shape;23;p77"/>
          <p:cNvSpPr txBox="1">
            <a:spLocks noGrp="1"/>
          </p:cNvSpPr>
          <p:nvPr>
            <p:ph type="subTitle" idx="1"/>
          </p:nvPr>
        </p:nvSpPr>
        <p:spPr>
          <a:xfrm>
            <a:off x="1524000" y="3602038"/>
            <a:ext cx="9144000" cy="1655700"/>
          </a:xfrm>
          <a:prstGeom prst="rect">
            <a:avLst/>
          </a:prstGeom>
          <a:noFill/>
          <a:ln>
            <a:noFill/>
          </a:ln>
        </p:spPr>
        <p:txBody>
          <a:bodyPr spcFirstLastPara="1" wrap="square" lIns="91425" tIns="45700" rIns="91425" bIns="45700" anchor="t" anchorCtr="0">
            <a:normAutofit/>
          </a:bodyPr>
          <a:lstStyle>
            <a:lvl1pPr lvl="0" algn="ctr">
              <a:lnSpc>
                <a:spcPct val="90000"/>
              </a:lnSpc>
              <a:spcBef>
                <a:spcPts val="750"/>
              </a:spcBef>
              <a:spcAft>
                <a:spcPts val="0"/>
              </a:spcAft>
              <a:buClr>
                <a:schemeClr val="dk1"/>
              </a:buClr>
              <a:buSzPts val="1800"/>
              <a:buNone/>
              <a:defRPr sz="1800"/>
            </a:lvl1pPr>
            <a:lvl2pPr lvl="1" algn="ctr">
              <a:lnSpc>
                <a:spcPct val="90000"/>
              </a:lnSpc>
              <a:spcBef>
                <a:spcPts val="375"/>
              </a:spcBef>
              <a:spcAft>
                <a:spcPts val="0"/>
              </a:spcAft>
              <a:buClr>
                <a:schemeClr val="dk1"/>
              </a:buClr>
              <a:buSzPts val="1500"/>
              <a:buNone/>
              <a:defRPr sz="1500"/>
            </a:lvl2pPr>
            <a:lvl3pPr lvl="2" algn="ctr">
              <a:lnSpc>
                <a:spcPct val="90000"/>
              </a:lnSpc>
              <a:spcBef>
                <a:spcPts val="375"/>
              </a:spcBef>
              <a:spcAft>
                <a:spcPts val="0"/>
              </a:spcAft>
              <a:buClr>
                <a:schemeClr val="dk1"/>
              </a:buClr>
              <a:buSzPts val="1350"/>
              <a:buNone/>
              <a:defRPr sz="1350"/>
            </a:lvl3pPr>
            <a:lvl4pPr lvl="3" algn="ctr">
              <a:lnSpc>
                <a:spcPct val="90000"/>
              </a:lnSpc>
              <a:spcBef>
                <a:spcPts val="375"/>
              </a:spcBef>
              <a:spcAft>
                <a:spcPts val="0"/>
              </a:spcAft>
              <a:buClr>
                <a:schemeClr val="dk1"/>
              </a:buClr>
              <a:buSzPts val="1200"/>
              <a:buNone/>
              <a:defRPr sz="1200"/>
            </a:lvl4pPr>
            <a:lvl5pPr lvl="4" algn="ctr">
              <a:lnSpc>
                <a:spcPct val="90000"/>
              </a:lnSpc>
              <a:spcBef>
                <a:spcPts val="375"/>
              </a:spcBef>
              <a:spcAft>
                <a:spcPts val="0"/>
              </a:spcAft>
              <a:buClr>
                <a:schemeClr val="dk1"/>
              </a:buClr>
              <a:buSzPts val="1200"/>
              <a:buNone/>
              <a:defRPr sz="1200"/>
            </a:lvl5pPr>
            <a:lvl6pPr lvl="5" algn="ctr">
              <a:lnSpc>
                <a:spcPct val="90000"/>
              </a:lnSpc>
              <a:spcBef>
                <a:spcPts val="375"/>
              </a:spcBef>
              <a:spcAft>
                <a:spcPts val="0"/>
              </a:spcAft>
              <a:buClr>
                <a:schemeClr val="dk1"/>
              </a:buClr>
              <a:buSzPts val="1200"/>
              <a:buNone/>
              <a:defRPr sz="1200"/>
            </a:lvl6pPr>
            <a:lvl7pPr lvl="6" algn="ctr">
              <a:lnSpc>
                <a:spcPct val="90000"/>
              </a:lnSpc>
              <a:spcBef>
                <a:spcPts val="375"/>
              </a:spcBef>
              <a:spcAft>
                <a:spcPts val="0"/>
              </a:spcAft>
              <a:buClr>
                <a:schemeClr val="dk1"/>
              </a:buClr>
              <a:buSzPts val="1200"/>
              <a:buNone/>
              <a:defRPr sz="1200"/>
            </a:lvl7pPr>
            <a:lvl8pPr lvl="7" algn="ctr">
              <a:lnSpc>
                <a:spcPct val="90000"/>
              </a:lnSpc>
              <a:spcBef>
                <a:spcPts val="375"/>
              </a:spcBef>
              <a:spcAft>
                <a:spcPts val="0"/>
              </a:spcAft>
              <a:buClr>
                <a:schemeClr val="dk1"/>
              </a:buClr>
              <a:buSzPts val="1200"/>
              <a:buNone/>
              <a:defRPr sz="1200"/>
            </a:lvl8pPr>
            <a:lvl9pPr lvl="8" algn="ctr">
              <a:lnSpc>
                <a:spcPct val="90000"/>
              </a:lnSpc>
              <a:spcBef>
                <a:spcPts val="375"/>
              </a:spcBef>
              <a:spcAft>
                <a:spcPts val="0"/>
              </a:spcAft>
              <a:buClr>
                <a:schemeClr val="dk1"/>
              </a:buClr>
              <a:buSzPts val="1200"/>
              <a:buNone/>
              <a:defRPr sz="1200"/>
            </a:lvl9pPr>
          </a:lstStyle>
          <a:p>
            <a:endParaRPr/>
          </a:p>
        </p:txBody>
      </p:sp>
      <p:sp>
        <p:nvSpPr>
          <p:cNvPr id="24" name="Google Shape;24;p7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7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6" name="Google Shape;26;p7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7"/>
        <p:cNvGrpSpPr/>
        <p:nvPr/>
      </p:nvGrpSpPr>
      <p:grpSpPr>
        <a:xfrm>
          <a:off x="0" y="0"/>
          <a:ext cx="0" cy="0"/>
          <a:chOff x="0" y="0"/>
          <a:chExt cx="0" cy="0"/>
        </a:xfrm>
      </p:grpSpPr>
      <p:sp>
        <p:nvSpPr>
          <p:cNvPr id="28" name="Google Shape;28;p78"/>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9" name="Google Shape;29;p78"/>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30" name="Google Shape;30;p78"/>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78"/>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2" name="Google Shape;32;p78"/>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33"/>
        <p:cNvGrpSpPr/>
        <p:nvPr/>
      </p:nvGrpSpPr>
      <p:grpSpPr>
        <a:xfrm>
          <a:off x="0" y="0"/>
          <a:ext cx="0" cy="0"/>
          <a:chOff x="0" y="0"/>
          <a:chExt cx="0" cy="0"/>
        </a:xfrm>
      </p:grpSpPr>
      <p:sp>
        <p:nvSpPr>
          <p:cNvPr id="34" name="Google Shape;34;p79"/>
          <p:cNvSpPr txBox="1">
            <a:spLocks noGrp="1"/>
          </p:cNvSpPr>
          <p:nvPr>
            <p:ph type="title"/>
          </p:nvPr>
        </p:nvSpPr>
        <p:spPr>
          <a:xfrm>
            <a:off x="831851" y="1709739"/>
            <a:ext cx="10515600" cy="28527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4500"/>
              <a:buFont typeface="Calibri"/>
              <a:buNone/>
              <a:defRPr sz="45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79"/>
          <p:cNvSpPr txBox="1">
            <a:spLocks noGrp="1"/>
          </p:cNvSpPr>
          <p:nvPr>
            <p:ph type="body" idx="1"/>
          </p:nvPr>
        </p:nvSpPr>
        <p:spPr>
          <a:xfrm>
            <a:off x="831851" y="4589464"/>
            <a:ext cx="10515600" cy="15003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rgbClr val="888888"/>
              </a:buClr>
              <a:buSzPts val="1800"/>
              <a:buNone/>
              <a:defRPr sz="1800">
                <a:solidFill>
                  <a:srgbClr val="888888"/>
                </a:solidFill>
              </a:defRPr>
            </a:lvl1pPr>
            <a:lvl2pPr marL="914400" lvl="1" indent="-228600" algn="l">
              <a:lnSpc>
                <a:spcPct val="90000"/>
              </a:lnSpc>
              <a:spcBef>
                <a:spcPts val="375"/>
              </a:spcBef>
              <a:spcAft>
                <a:spcPts val="0"/>
              </a:spcAft>
              <a:buClr>
                <a:srgbClr val="888888"/>
              </a:buClr>
              <a:buSzPts val="1500"/>
              <a:buNone/>
              <a:defRPr sz="1500">
                <a:solidFill>
                  <a:srgbClr val="888888"/>
                </a:solidFill>
              </a:defRPr>
            </a:lvl2pPr>
            <a:lvl3pPr marL="1371600" lvl="2" indent="-228600" algn="l">
              <a:lnSpc>
                <a:spcPct val="90000"/>
              </a:lnSpc>
              <a:spcBef>
                <a:spcPts val="375"/>
              </a:spcBef>
              <a:spcAft>
                <a:spcPts val="0"/>
              </a:spcAft>
              <a:buClr>
                <a:srgbClr val="888888"/>
              </a:buClr>
              <a:buSzPts val="1350"/>
              <a:buNone/>
              <a:defRPr sz="1350">
                <a:solidFill>
                  <a:srgbClr val="888888"/>
                </a:solidFill>
              </a:defRPr>
            </a:lvl3pPr>
            <a:lvl4pPr marL="1828800" lvl="3" indent="-228600" algn="l">
              <a:lnSpc>
                <a:spcPct val="90000"/>
              </a:lnSpc>
              <a:spcBef>
                <a:spcPts val="375"/>
              </a:spcBef>
              <a:spcAft>
                <a:spcPts val="0"/>
              </a:spcAft>
              <a:buClr>
                <a:srgbClr val="888888"/>
              </a:buClr>
              <a:buSzPts val="1200"/>
              <a:buNone/>
              <a:defRPr sz="1200">
                <a:solidFill>
                  <a:srgbClr val="888888"/>
                </a:solidFill>
              </a:defRPr>
            </a:lvl4pPr>
            <a:lvl5pPr marL="2286000" lvl="4" indent="-228600" algn="l">
              <a:lnSpc>
                <a:spcPct val="90000"/>
              </a:lnSpc>
              <a:spcBef>
                <a:spcPts val="375"/>
              </a:spcBef>
              <a:spcAft>
                <a:spcPts val="0"/>
              </a:spcAft>
              <a:buClr>
                <a:srgbClr val="888888"/>
              </a:buClr>
              <a:buSzPts val="1200"/>
              <a:buNone/>
              <a:defRPr sz="1200">
                <a:solidFill>
                  <a:srgbClr val="888888"/>
                </a:solidFill>
              </a:defRPr>
            </a:lvl5pPr>
            <a:lvl6pPr marL="2743200" lvl="5" indent="-228600" algn="l">
              <a:lnSpc>
                <a:spcPct val="90000"/>
              </a:lnSpc>
              <a:spcBef>
                <a:spcPts val="375"/>
              </a:spcBef>
              <a:spcAft>
                <a:spcPts val="0"/>
              </a:spcAft>
              <a:buClr>
                <a:srgbClr val="888888"/>
              </a:buClr>
              <a:buSzPts val="1200"/>
              <a:buNone/>
              <a:defRPr sz="1200">
                <a:solidFill>
                  <a:srgbClr val="888888"/>
                </a:solidFill>
              </a:defRPr>
            </a:lvl6pPr>
            <a:lvl7pPr marL="3200400" lvl="6" indent="-228600" algn="l">
              <a:lnSpc>
                <a:spcPct val="90000"/>
              </a:lnSpc>
              <a:spcBef>
                <a:spcPts val="375"/>
              </a:spcBef>
              <a:spcAft>
                <a:spcPts val="0"/>
              </a:spcAft>
              <a:buClr>
                <a:srgbClr val="888888"/>
              </a:buClr>
              <a:buSzPts val="1200"/>
              <a:buNone/>
              <a:defRPr sz="1200">
                <a:solidFill>
                  <a:srgbClr val="888888"/>
                </a:solidFill>
              </a:defRPr>
            </a:lvl7pPr>
            <a:lvl8pPr marL="3657600" lvl="7" indent="-228600" algn="l">
              <a:lnSpc>
                <a:spcPct val="90000"/>
              </a:lnSpc>
              <a:spcBef>
                <a:spcPts val="375"/>
              </a:spcBef>
              <a:spcAft>
                <a:spcPts val="0"/>
              </a:spcAft>
              <a:buClr>
                <a:srgbClr val="888888"/>
              </a:buClr>
              <a:buSzPts val="1200"/>
              <a:buNone/>
              <a:defRPr sz="1200">
                <a:solidFill>
                  <a:srgbClr val="888888"/>
                </a:solidFill>
              </a:defRPr>
            </a:lvl8pPr>
            <a:lvl9pPr marL="4114800" lvl="8" indent="-228600" algn="l">
              <a:lnSpc>
                <a:spcPct val="90000"/>
              </a:lnSpc>
              <a:spcBef>
                <a:spcPts val="375"/>
              </a:spcBef>
              <a:spcAft>
                <a:spcPts val="0"/>
              </a:spcAft>
              <a:buClr>
                <a:srgbClr val="888888"/>
              </a:buClr>
              <a:buSzPts val="1200"/>
              <a:buNone/>
              <a:defRPr sz="1200">
                <a:solidFill>
                  <a:srgbClr val="888888"/>
                </a:solidFill>
              </a:defRPr>
            </a:lvl9pPr>
          </a:lstStyle>
          <a:p>
            <a:endParaRPr/>
          </a:p>
        </p:txBody>
      </p:sp>
      <p:sp>
        <p:nvSpPr>
          <p:cNvPr id="36" name="Google Shape;36;p79"/>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7" name="Google Shape;37;p79"/>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79"/>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9"/>
        <p:cNvGrpSpPr/>
        <p:nvPr/>
      </p:nvGrpSpPr>
      <p:grpSpPr>
        <a:xfrm>
          <a:off x="0" y="0"/>
          <a:ext cx="0" cy="0"/>
          <a:chOff x="0" y="0"/>
          <a:chExt cx="0" cy="0"/>
        </a:xfrm>
      </p:grpSpPr>
      <p:sp>
        <p:nvSpPr>
          <p:cNvPr id="40" name="Google Shape;40;p80"/>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1" name="Google Shape;41;p80"/>
          <p:cNvSpPr txBox="1">
            <a:spLocks noGrp="1"/>
          </p:cNvSpPr>
          <p:nvPr>
            <p:ph type="body" idx="1"/>
          </p:nvPr>
        </p:nvSpPr>
        <p:spPr>
          <a:xfrm>
            <a:off x="838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2" name="Google Shape;42;p80"/>
          <p:cNvSpPr txBox="1">
            <a:spLocks noGrp="1"/>
          </p:cNvSpPr>
          <p:nvPr>
            <p:ph type="body" idx="2"/>
          </p:nvPr>
        </p:nvSpPr>
        <p:spPr>
          <a:xfrm>
            <a:off x="6172200" y="1825625"/>
            <a:ext cx="5181600" cy="43512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43" name="Google Shape;43;p80"/>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4" name="Google Shape;44;p80"/>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5" name="Google Shape;45;p80"/>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6"/>
        <p:cNvGrpSpPr/>
        <p:nvPr/>
      </p:nvGrpSpPr>
      <p:grpSpPr>
        <a:xfrm>
          <a:off x="0" y="0"/>
          <a:ext cx="0" cy="0"/>
          <a:chOff x="0" y="0"/>
          <a:chExt cx="0" cy="0"/>
        </a:xfrm>
      </p:grpSpPr>
      <p:sp>
        <p:nvSpPr>
          <p:cNvPr id="47" name="Google Shape;47;p81"/>
          <p:cNvSpPr txBox="1">
            <a:spLocks noGrp="1"/>
          </p:cNvSpPr>
          <p:nvPr>
            <p:ph type="title"/>
          </p:nvPr>
        </p:nvSpPr>
        <p:spPr>
          <a:xfrm>
            <a:off x="839788"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8" name="Google Shape;48;p81"/>
          <p:cNvSpPr txBox="1">
            <a:spLocks noGrp="1"/>
          </p:cNvSpPr>
          <p:nvPr>
            <p:ph type="body" idx="1"/>
          </p:nvPr>
        </p:nvSpPr>
        <p:spPr>
          <a:xfrm>
            <a:off x="839789" y="1681163"/>
            <a:ext cx="51576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49" name="Google Shape;49;p81"/>
          <p:cNvSpPr txBox="1">
            <a:spLocks noGrp="1"/>
          </p:cNvSpPr>
          <p:nvPr>
            <p:ph type="body" idx="2"/>
          </p:nvPr>
        </p:nvSpPr>
        <p:spPr>
          <a:xfrm>
            <a:off x="839789" y="2505075"/>
            <a:ext cx="51576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0" name="Google Shape;50;p81"/>
          <p:cNvSpPr txBox="1">
            <a:spLocks noGrp="1"/>
          </p:cNvSpPr>
          <p:nvPr>
            <p:ph type="body" idx="3"/>
          </p:nvPr>
        </p:nvSpPr>
        <p:spPr>
          <a:xfrm>
            <a:off x="6172200" y="1681163"/>
            <a:ext cx="5183200" cy="823800"/>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750"/>
              </a:spcBef>
              <a:spcAft>
                <a:spcPts val="0"/>
              </a:spcAft>
              <a:buClr>
                <a:schemeClr val="dk1"/>
              </a:buClr>
              <a:buSzPts val="1800"/>
              <a:buNone/>
              <a:defRPr sz="1800" b="1"/>
            </a:lvl1pPr>
            <a:lvl2pPr marL="914400" lvl="1" indent="-228600" algn="l">
              <a:lnSpc>
                <a:spcPct val="90000"/>
              </a:lnSpc>
              <a:spcBef>
                <a:spcPts val="375"/>
              </a:spcBef>
              <a:spcAft>
                <a:spcPts val="0"/>
              </a:spcAft>
              <a:buClr>
                <a:schemeClr val="dk1"/>
              </a:buClr>
              <a:buSzPts val="1500"/>
              <a:buNone/>
              <a:defRPr sz="1500" b="1"/>
            </a:lvl2pPr>
            <a:lvl3pPr marL="1371600" lvl="2" indent="-228600" algn="l">
              <a:lnSpc>
                <a:spcPct val="90000"/>
              </a:lnSpc>
              <a:spcBef>
                <a:spcPts val="375"/>
              </a:spcBef>
              <a:spcAft>
                <a:spcPts val="0"/>
              </a:spcAft>
              <a:buClr>
                <a:schemeClr val="dk1"/>
              </a:buClr>
              <a:buSzPts val="1350"/>
              <a:buNone/>
              <a:defRPr sz="1350" b="1"/>
            </a:lvl3pPr>
            <a:lvl4pPr marL="1828800" lvl="3" indent="-228600" algn="l">
              <a:lnSpc>
                <a:spcPct val="90000"/>
              </a:lnSpc>
              <a:spcBef>
                <a:spcPts val="375"/>
              </a:spcBef>
              <a:spcAft>
                <a:spcPts val="0"/>
              </a:spcAft>
              <a:buClr>
                <a:schemeClr val="dk1"/>
              </a:buClr>
              <a:buSzPts val="1200"/>
              <a:buNone/>
              <a:defRPr sz="1200" b="1"/>
            </a:lvl4pPr>
            <a:lvl5pPr marL="2286000" lvl="4" indent="-228600" algn="l">
              <a:lnSpc>
                <a:spcPct val="90000"/>
              </a:lnSpc>
              <a:spcBef>
                <a:spcPts val="375"/>
              </a:spcBef>
              <a:spcAft>
                <a:spcPts val="0"/>
              </a:spcAft>
              <a:buClr>
                <a:schemeClr val="dk1"/>
              </a:buClr>
              <a:buSzPts val="1200"/>
              <a:buNone/>
              <a:defRPr sz="1200" b="1"/>
            </a:lvl5pPr>
            <a:lvl6pPr marL="2743200" lvl="5" indent="-228600" algn="l">
              <a:lnSpc>
                <a:spcPct val="90000"/>
              </a:lnSpc>
              <a:spcBef>
                <a:spcPts val="375"/>
              </a:spcBef>
              <a:spcAft>
                <a:spcPts val="0"/>
              </a:spcAft>
              <a:buClr>
                <a:schemeClr val="dk1"/>
              </a:buClr>
              <a:buSzPts val="1200"/>
              <a:buNone/>
              <a:defRPr sz="1200" b="1"/>
            </a:lvl6pPr>
            <a:lvl7pPr marL="3200400" lvl="6" indent="-228600" algn="l">
              <a:lnSpc>
                <a:spcPct val="90000"/>
              </a:lnSpc>
              <a:spcBef>
                <a:spcPts val="375"/>
              </a:spcBef>
              <a:spcAft>
                <a:spcPts val="0"/>
              </a:spcAft>
              <a:buClr>
                <a:schemeClr val="dk1"/>
              </a:buClr>
              <a:buSzPts val="1200"/>
              <a:buNone/>
              <a:defRPr sz="1200" b="1"/>
            </a:lvl7pPr>
            <a:lvl8pPr marL="3657600" lvl="7" indent="-228600" algn="l">
              <a:lnSpc>
                <a:spcPct val="90000"/>
              </a:lnSpc>
              <a:spcBef>
                <a:spcPts val="375"/>
              </a:spcBef>
              <a:spcAft>
                <a:spcPts val="0"/>
              </a:spcAft>
              <a:buClr>
                <a:schemeClr val="dk1"/>
              </a:buClr>
              <a:buSzPts val="1200"/>
              <a:buNone/>
              <a:defRPr sz="1200" b="1"/>
            </a:lvl8pPr>
            <a:lvl9pPr marL="4114800" lvl="8" indent="-228600" algn="l">
              <a:lnSpc>
                <a:spcPct val="90000"/>
              </a:lnSpc>
              <a:spcBef>
                <a:spcPts val="375"/>
              </a:spcBef>
              <a:spcAft>
                <a:spcPts val="0"/>
              </a:spcAft>
              <a:buClr>
                <a:schemeClr val="dk1"/>
              </a:buClr>
              <a:buSzPts val="1200"/>
              <a:buNone/>
              <a:defRPr sz="1200" b="1"/>
            </a:lvl9pPr>
          </a:lstStyle>
          <a:p>
            <a:endParaRPr/>
          </a:p>
        </p:txBody>
      </p:sp>
      <p:sp>
        <p:nvSpPr>
          <p:cNvPr id="51" name="Google Shape;51;p81"/>
          <p:cNvSpPr txBox="1">
            <a:spLocks noGrp="1"/>
          </p:cNvSpPr>
          <p:nvPr>
            <p:ph type="body" idx="4"/>
          </p:nvPr>
        </p:nvSpPr>
        <p:spPr>
          <a:xfrm>
            <a:off x="6172200" y="2505075"/>
            <a:ext cx="5183200" cy="3684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52" name="Google Shape;52;p81"/>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81"/>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4" name="Google Shape;54;p81"/>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55"/>
        <p:cNvGrpSpPr/>
        <p:nvPr/>
      </p:nvGrpSpPr>
      <p:grpSpPr>
        <a:xfrm>
          <a:off x="0" y="0"/>
          <a:ext cx="0" cy="0"/>
          <a:chOff x="0" y="0"/>
          <a:chExt cx="0" cy="0"/>
        </a:xfrm>
      </p:grpSpPr>
      <p:sp>
        <p:nvSpPr>
          <p:cNvPr id="56" name="Google Shape;56;p82"/>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7" name="Google Shape;57;p82"/>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8" name="Google Shape;58;p82"/>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82"/>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60"/>
        <p:cNvGrpSpPr/>
        <p:nvPr/>
      </p:nvGrpSpPr>
      <p:grpSpPr>
        <a:xfrm>
          <a:off x="0" y="0"/>
          <a:ext cx="0" cy="0"/>
          <a:chOff x="0" y="0"/>
          <a:chExt cx="0" cy="0"/>
        </a:xfrm>
      </p:grpSpPr>
      <p:sp>
        <p:nvSpPr>
          <p:cNvPr id="61" name="Google Shape;61;p84"/>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84"/>
          <p:cNvSpPr txBox="1">
            <a:spLocks noGrp="1"/>
          </p:cNvSpPr>
          <p:nvPr>
            <p:ph type="body" idx="1"/>
          </p:nvPr>
        </p:nvSpPr>
        <p:spPr>
          <a:xfrm>
            <a:off x="5183188" y="987426"/>
            <a:ext cx="6172400" cy="4873500"/>
          </a:xfrm>
          <a:prstGeom prst="rect">
            <a:avLst/>
          </a:prstGeom>
          <a:noFill/>
          <a:ln>
            <a:noFill/>
          </a:ln>
        </p:spPr>
        <p:txBody>
          <a:bodyPr spcFirstLastPara="1" wrap="square" lIns="91425" tIns="45700" rIns="91425" bIns="45700" anchor="t" anchorCtr="0">
            <a:normAutofit/>
          </a:bodyPr>
          <a:lstStyle>
            <a:lvl1pPr marL="457200" lvl="0" indent="-381000" algn="l">
              <a:lnSpc>
                <a:spcPct val="90000"/>
              </a:lnSpc>
              <a:spcBef>
                <a:spcPts val="750"/>
              </a:spcBef>
              <a:spcAft>
                <a:spcPts val="0"/>
              </a:spcAft>
              <a:buClr>
                <a:schemeClr val="dk1"/>
              </a:buClr>
              <a:buSzPts val="2400"/>
              <a:buChar char="•"/>
              <a:defRPr sz="2400"/>
            </a:lvl1pPr>
            <a:lvl2pPr marL="914400" lvl="1" indent="-361950" algn="l">
              <a:lnSpc>
                <a:spcPct val="90000"/>
              </a:lnSpc>
              <a:spcBef>
                <a:spcPts val="375"/>
              </a:spcBef>
              <a:spcAft>
                <a:spcPts val="0"/>
              </a:spcAft>
              <a:buClr>
                <a:schemeClr val="dk1"/>
              </a:buClr>
              <a:buSzPts val="2100"/>
              <a:buChar char="•"/>
              <a:defRPr sz="2100"/>
            </a:lvl2pPr>
            <a:lvl3pPr marL="1371600" lvl="2" indent="-342900" algn="l">
              <a:lnSpc>
                <a:spcPct val="90000"/>
              </a:lnSpc>
              <a:spcBef>
                <a:spcPts val="375"/>
              </a:spcBef>
              <a:spcAft>
                <a:spcPts val="0"/>
              </a:spcAft>
              <a:buClr>
                <a:schemeClr val="dk1"/>
              </a:buClr>
              <a:buSzPts val="1800"/>
              <a:buChar char="•"/>
              <a:defRPr sz="1800"/>
            </a:lvl3pPr>
            <a:lvl4pPr marL="1828800" lvl="3" indent="-323850" algn="l">
              <a:lnSpc>
                <a:spcPct val="90000"/>
              </a:lnSpc>
              <a:spcBef>
                <a:spcPts val="375"/>
              </a:spcBef>
              <a:spcAft>
                <a:spcPts val="0"/>
              </a:spcAft>
              <a:buClr>
                <a:schemeClr val="dk1"/>
              </a:buClr>
              <a:buSzPts val="1500"/>
              <a:buChar char="•"/>
              <a:defRPr sz="1500"/>
            </a:lvl4pPr>
            <a:lvl5pPr marL="2286000" lvl="4" indent="-323850" algn="l">
              <a:lnSpc>
                <a:spcPct val="90000"/>
              </a:lnSpc>
              <a:spcBef>
                <a:spcPts val="375"/>
              </a:spcBef>
              <a:spcAft>
                <a:spcPts val="0"/>
              </a:spcAft>
              <a:buClr>
                <a:schemeClr val="dk1"/>
              </a:buClr>
              <a:buSzPts val="1500"/>
              <a:buChar char="•"/>
              <a:defRPr sz="1500"/>
            </a:lvl5pPr>
            <a:lvl6pPr marL="2743200" lvl="5" indent="-323850" algn="l">
              <a:lnSpc>
                <a:spcPct val="90000"/>
              </a:lnSpc>
              <a:spcBef>
                <a:spcPts val="375"/>
              </a:spcBef>
              <a:spcAft>
                <a:spcPts val="0"/>
              </a:spcAft>
              <a:buClr>
                <a:schemeClr val="dk1"/>
              </a:buClr>
              <a:buSzPts val="1500"/>
              <a:buChar char="•"/>
              <a:defRPr sz="1500"/>
            </a:lvl6pPr>
            <a:lvl7pPr marL="3200400" lvl="6" indent="-323850" algn="l">
              <a:lnSpc>
                <a:spcPct val="90000"/>
              </a:lnSpc>
              <a:spcBef>
                <a:spcPts val="375"/>
              </a:spcBef>
              <a:spcAft>
                <a:spcPts val="0"/>
              </a:spcAft>
              <a:buClr>
                <a:schemeClr val="dk1"/>
              </a:buClr>
              <a:buSzPts val="1500"/>
              <a:buChar char="•"/>
              <a:defRPr sz="1500"/>
            </a:lvl7pPr>
            <a:lvl8pPr marL="3657600" lvl="7" indent="-323850" algn="l">
              <a:lnSpc>
                <a:spcPct val="90000"/>
              </a:lnSpc>
              <a:spcBef>
                <a:spcPts val="375"/>
              </a:spcBef>
              <a:spcAft>
                <a:spcPts val="0"/>
              </a:spcAft>
              <a:buClr>
                <a:schemeClr val="dk1"/>
              </a:buClr>
              <a:buSzPts val="1500"/>
              <a:buChar char="•"/>
              <a:defRPr sz="1500"/>
            </a:lvl8pPr>
            <a:lvl9pPr marL="4114800" lvl="8" indent="-323850" algn="l">
              <a:lnSpc>
                <a:spcPct val="90000"/>
              </a:lnSpc>
              <a:spcBef>
                <a:spcPts val="375"/>
              </a:spcBef>
              <a:spcAft>
                <a:spcPts val="0"/>
              </a:spcAft>
              <a:buClr>
                <a:schemeClr val="dk1"/>
              </a:buClr>
              <a:buSzPts val="1500"/>
              <a:buChar char="•"/>
              <a:defRPr sz="1500"/>
            </a:lvl9pPr>
          </a:lstStyle>
          <a:p>
            <a:endParaRPr/>
          </a:p>
        </p:txBody>
      </p:sp>
      <p:sp>
        <p:nvSpPr>
          <p:cNvPr id="63" name="Google Shape;63;p84"/>
          <p:cNvSpPr txBox="1">
            <a:spLocks noGrp="1"/>
          </p:cNvSpPr>
          <p:nvPr>
            <p:ph type="body" idx="2"/>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64" name="Google Shape;64;p84"/>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5" name="Google Shape;65;p84"/>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84"/>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7"/>
        <p:cNvGrpSpPr/>
        <p:nvPr/>
      </p:nvGrpSpPr>
      <p:grpSpPr>
        <a:xfrm>
          <a:off x="0" y="0"/>
          <a:ext cx="0" cy="0"/>
          <a:chOff x="0" y="0"/>
          <a:chExt cx="0" cy="0"/>
        </a:xfrm>
      </p:grpSpPr>
      <p:sp>
        <p:nvSpPr>
          <p:cNvPr id="68" name="Google Shape;68;p85"/>
          <p:cNvSpPr txBox="1">
            <a:spLocks noGrp="1"/>
          </p:cNvSpPr>
          <p:nvPr>
            <p:ph type="title"/>
          </p:nvPr>
        </p:nvSpPr>
        <p:spPr>
          <a:xfrm>
            <a:off x="839788" y="457200"/>
            <a:ext cx="3932400"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2400"/>
              <a:buFont typeface="Calibri"/>
              <a:buNone/>
              <a:defRPr sz="24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9" name="Google Shape;69;p85"/>
          <p:cNvSpPr>
            <a:spLocks noGrp="1"/>
          </p:cNvSpPr>
          <p:nvPr>
            <p:ph type="pic" idx="2"/>
          </p:nvPr>
        </p:nvSpPr>
        <p:spPr>
          <a:xfrm>
            <a:off x="5183188" y="987426"/>
            <a:ext cx="6172400" cy="4873500"/>
          </a:xfrm>
          <a:prstGeom prst="rect">
            <a:avLst/>
          </a:prstGeom>
          <a:noFill/>
          <a:ln>
            <a:noFill/>
          </a:ln>
        </p:spPr>
      </p:sp>
      <p:sp>
        <p:nvSpPr>
          <p:cNvPr id="70" name="Google Shape;70;p85"/>
          <p:cNvSpPr txBox="1">
            <a:spLocks noGrp="1"/>
          </p:cNvSpPr>
          <p:nvPr>
            <p:ph type="body" idx="1"/>
          </p:nvPr>
        </p:nvSpPr>
        <p:spPr>
          <a:xfrm>
            <a:off x="839788" y="2057400"/>
            <a:ext cx="3932400" cy="3811500"/>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750"/>
              </a:spcBef>
              <a:spcAft>
                <a:spcPts val="0"/>
              </a:spcAft>
              <a:buClr>
                <a:schemeClr val="dk1"/>
              </a:buClr>
              <a:buSzPts val="1200"/>
              <a:buNone/>
              <a:defRPr sz="1200"/>
            </a:lvl1pPr>
            <a:lvl2pPr marL="914400" lvl="1" indent="-228600" algn="l">
              <a:lnSpc>
                <a:spcPct val="90000"/>
              </a:lnSpc>
              <a:spcBef>
                <a:spcPts val="375"/>
              </a:spcBef>
              <a:spcAft>
                <a:spcPts val="0"/>
              </a:spcAft>
              <a:buClr>
                <a:schemeClr val="dk1"/>
              </a:buClr>
              <a:buSzPts val="1050"/>
              <a:buNone/>
              <a:defRPr sz="1050"/>
            </a:lvl2pPr>
            <a:lvl3pPr marL="1371600" lvl="2" indent="-228600" algn="l">
              <a:lnSpc>
                <a:spcPct val="90000"/>
              </a:lnSpc>
              <a:spcBef>
                <a:spcPts val="375"/>
              </a:spcBef>
              <a:spcAft>
                <a:spcPts val="0"/>
              </a:spcAft>
              <a:buClr>
                <a:schemeClr val="dk1"/>
              </a:buClr>
              <a:buSzPts val="900"/>
              <a:buNone/>
              <a:defRPr sz="900"/>
            </a:lvl3pPr>
            <a:lvl4pPr marL="1828800" lvl="3" indent="-228600" algn="l">
              <a:lnSpc>
                <a:spcPct val="90000"/>
              </a:lnSpc>
              <a:spcBef>
                <a:spcPts val="375"/>
              </a:spcBef>
              <a:spcAft>
                <a:spcPts val="0"/>
              </a:spcAft>
              <a:buClr>
                <a:schemeClr val="dk1"/>
              </a:buClr>
              <a:buSzPts val="750"/>
              <a:buNone/>
              <a:defRPr sz="750"/>
            </a:lvl4pPr>
            <a:lvl5pPr marL="2286000" lvl="4" indent="-228600" algn="l">
              <a:lnSpc>
                <a:spcPct val="90000"/>
              </a:lnSpc>
              <a:spcBef>
                <a:spcPts val="375"/>
              </a:spcBef>
              <a:spcAft>
                <a:spcPts val="0"/>
              </a:spcAft>
              <a:buClr>
                <a:schemeClr val="dk1"/>
              </a:buClr>
              <a:buSzPts val="750"/>
              <a:buNone/>
              <a:defRPr sz="750"/>
            </a:lvl5pPr>
            <a:lvl6pPr marL="2743200" lvl="5" indent="-228600" algn="l">
              <a:lnSpc>
                <a:spcPct val="90000"/>
              </a:lnSpc>
              <a:spcBef>
                <a:spcPts val="375"/>
              </a:spcBef>
              <a:spcAft>
                <a:spcPts val="0"/>
              </a:spcAft>
              <a:buClr>
                <a:schemeClr val="dk1"/>
              </a:buClr>
              <a:buSzPts val="750"/>
              <a:buNone/>
              <a:defRPr sz="750"/>
            </a:lvl6pPr>
            <a:lvl7pPr marL="3200400" lvl="6" indent="-228600" algn="l">
              <a:lnSpc>
                <a:spcPct val="90000"/>
              </a:lnSpc>
              <a:spcBef>
                <a:spcPts val="375"/>
              </a:spcBef>
              <a:spcAft>
                <a:spcPts val="0"/>
              </a:spcAft>
              <a:buClr>
                <a:schemeClr val="dk1"/>
              </a:buClr>
              <a:buSzPts val="750"/>
              <a:buNone/>
              <a:defRPr sz="750"/>
            </a:lvl7pPr>
            <a:lvl8pPr marL="3657600" lvl="7" indent="-228600" algn="l">
              <a:lnSpc>
                <a:spcPct val="90000"/>
              </a:lnSpc>
              <a:spcBef>
                <a:spcPts val="375"/>
              </a:spcBef>
              <a:spcAft>
                <a:spcPts val="0"/>
              </a:spcAft>
              <a:buClr>
                <a:schemeClr val="dk1"/>
              </a:buClr>
              <a:buSzPts val="750"/>
              <a:buNone/>
              <a:defRPr sz="750"/>
            </a:lvl8pPr>
            <a:lvl9pPr marL="4114800" lvl="8" indent="-228600" algn="l">
              <a:lnSpc>
                <a:spcPct val="90000"/>
              </a:lnSpc>
              <a:spcBef>
                <a:spcPts val="375"/>
              </a:spcBef>
              <a:spcAft>
                <a:spcPts val="0"/>
              </a:spcAft>
              <a:buClr>
                <a:schemeClr val="dk1"/>
              </a:buClr>
              <a:buSzPts val="750"/>
              <a:buNone/>
              <a:defRPr sz="750"/>
            </a:lvl9pPr>
          </a:lstStyle>
          <a:p>
            <a:endParaRPr/>
          </a:p>
        </p:txBody>
      </p:sp>
      <p:sp>
        <p:nvSpPr>
          <p:cNvPr id="71" name="Google Shape;71;p8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8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3" name="Google Shape;73;p8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74"/>
        <p:cNvGrpSpPr/>
        <p:nvPr/>
      </p:nvGrpSpPr>
      <p:grpSpPr>
        <a:xfrm>
          <a:off x="0" y="0"/>
          <a:ext cx="0" cy="0"/>
          <a:chOff x="0" y="0"/>
          <a:chExt cx="0" cy="0"/>
        </a:xfrm>
      </p:grpSpPr>
      <p:sp>
        <p:nvSpPr>
          <p:cNvPr id="75" name="Google Shape;75;p86"/>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86"/>
          <p:cNvSpPr txBox="1">
            <a:spLocks noGrp="1"/>
          </p:cNvSpPr>
          <p:nvPr>
            <p:ph type="body" idx="1"/>
          </p:nvPr>
        </p:nvSpPr>
        <p:spPr>
          <a:xfrm rot="5400000">
            <a:off x="3920400" y="-1256575"/>
            <a:ext cx="4351200"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77" name="Google Shape;77;p86"/>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8" name="Google Shape;78;p86"/>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9" name="Google Shape;79;p86"/>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80"/>
        <p:cNvGrpSpPr/>
        <p:nvPr/>
      </p:nvGrpSpPr>
      <p:grpSpPr>
        <a:xfrm>
          <a:off x="0" y="0"/>
          <a:ext cx="0" cy="0"/>
          <a:chOff x="0" y="0"/>
          <a:chExt cx="0" cy="0"/>
        </a:xfrm>
      </p:grpSpPr>
      <p:sp>
        <p:nvSpPr>
          <p:cNvPr id="81" name="Google Shape;81;p87"/>
          <p:cNvSpPr txBox="1">
            <a:spLocks noGrp="1"/>
          </p:cNvSpPr>
          <p:nvPr>
            <p:ph type="title"/>
          </p:nvPr>
        </p:nvSpPr>
        <p:spPr>
          <a:xfrm rot="5400000">
            <a:off x="7133450" y="1956675"/>
            <a:ext cx="5811900" cy="26288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2" name="Google Shape;82;p87"/>
          <p:cNvSpPr txBox="1">
            <a:spLocks noGrp="1"/>
          </p:cNvSpPr>
          <p:nvPr>
            <p:ph type="body" idx="1"/>
          </p:nvPr>
        </p:nvSpPr>
        <p:spPr>
          <a:xfrm rot="5400000">
            <a:off x="1799350" y="-596125"/>
            <a:ext cx="5811900" cy="77344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750"/>
              </a:spcBef>
              <a:spcAft>
                <a:spcPts val="0"/>
              </a:spcAft>
              <a:buClr>
                <a:schemeClr val="dk1"/>
              </a:buClr>
              <a:buSzPts val="1800"/>
              <a:buChar char="•"/>
              <a:defRPr/>
            </a:lvl1pPr>
            <a:lvl2pPr marL="914400" lvl="1" indent="-342900" algn="l">
              <a:lnSpc>
                <a:spcPct val="90000"/>
              </a:lnSpc>
              <a:spcBef>
                <a:spcPts val="375"/>
              </a:spcBef>
              <a:spcAft>
                <a:spcPts val="0"/>
              </a:spcAft>
              <a:buClr>
                <a:schemeClr val="dk1"/>
              </a:buClr>
              <a:buSzPts val="1800"/>
              <a:buChar char="•"/>
              <a:defRPr/>
            </a:lvl2pPr>
            <a:lvl3pPr marL="1371600" lvl="2" indent="-342900" algn="l">
              <a:lnSpc>
                <a:spcPct val="90000"/>
              </a:lnSpc>
              <a:spcBef>
                <a:spcPts val="375"/>
              </a:spcBef>
              <a:spcAft>
                <a:spcPts val="0"/>
              </a:spcAft>
              <a:buClr>
                <a:schemeClr val="dk1"/>
              </a:buClr>
              <a:buSzPts val="1800"/>
              <a:buChar char="•"/>
              <a:defRPr/>
            </a:lvl3pPr>
            <a:lvl4pPr marL="1828800" lvl="3" indent="-342900" algn="l">
              <a:lnSpc>
                <a:spcPct val="90000"/>
              </a:lnSpc>
              <a:spcBef>
                <a:spcPts val="375"/>
              </a:spcBef>
              <a:spcAft>
                <a:spcPts val="0"/>
              </a:spcAft>
              <a:buClr>
                <a:schemeClr val="dk1"/>
              </a:buClr>
              <a:buSzPts val="1800"/>
              <a:buChar char="•"/>
              <a:defRPr/>
            </a:lvl4pPr>
            <a:lvl5pPr marL="2286000" lvl="4" indent="-342900" algn="l">
              <a:lnSpc>
                <a:spcPct val="90000"/>
              </a:lnSpc>
              <a:spcBef>
                <a:spcPts val="375"/>
              </a:spcBef>
              <a:spcAft>
                <a:spcPts val="0"/>
              </a:spcAft>
              <a:buClr>
                <a:schemeClr val="dk1"/>
              </a:buClr>
              <a:buSzPts val="1800"/>
              <a:buChar char="•"/>
              <a:defRPr/>
            </a:lvl5pPr>
            <a:lvl6pPr marL="2743200" lvl="5" indent="-342900" algn="l">
              <a:lnSpc>
                <a:spcPct val="90000"/>
              </a:lnSpc>
              <a:spcBef>
                <a:spcPts val="375"/>
              </a:spcBef>
              <a:spcAft>
                <a:spcPts val="0"/>
              </a:spcAft>
              <a:buClr>
                <a:schemeClr val="dk1"/>
              </a:buClr>
              <a:buSzPts val="1800"/>
              <a:buChar char="•"/>
              <a:defRPr/>
            </a:lvl6pPr>
            <a:lvl7pPr marL="3200400" lvl="6" indent="-342900" algn="l">
              <a:lnSpc>
                <a:spcPct val="90000"/>
              </a:lnSpc>
              <a:spcBef>
                <a:spcPts val="375"/>
              </a:spcBef>
              <a:spcAft>
                <a:spcPts val="0"/>
              </a:spcAft>
              <a:buClr>
                <a:schemeClr val="dk1"/>
              </a:buClr>
              <a:buSzPts val="1800"/>
              <a:buChar char="•"/>
              <a:defRPr/>
            </a:lvl7pPr>
            <a:lvl8pPr marL="3657600" lvl="7" indent="-342900" algn="l">
              <a:lnSpc>
                <a:spcPct val="90000"/>
              </a:lnSpc>
              <a:spcBef>
                <a:spcPts val="375"/>
              </a:spcBef>
              <a:spcAft>
                <a:spcPts val="0"/>
              </a:spcAft>
              <a:buClr>
                <a:schemeClr val="dk1"/>
              </a:buClr>
              <a:buSzPts val="1800"/>
              <a:buChar char="•"/>
              <a:defRPr/>
            </a:lvl8pPr>
            <a:lvl9pPr marL="4114800" lvl="8" indent="-342900" algn="l">
              <a:lnSpc>
                <a:spcPct val="90000"/>
              </a:lnSpc>
              <a:spcBef>
                <a:spcPts val="375"/>
              </a:spcBef>
              <a:spcAft>
                <a:spcPts val="0"/>
              </a:spcAft>
              <a:buClr>
                <a:schemeClr val="dk1"/>
              </a:buClr>
              <a:buSzPts val="1800"/>
              <a:buChar char="•"/>
              <a:defRPr/>
            </a:lvl9pPr>
          </a:lstStyle>
          <a:p>
            <a:endParaRPr/>
          </a:p>
        </p:txBody>
      </p:sp>
      <p:sp>
        <p:nvSpPr>
          <p:cNvPr id="83" name="Google Shape;83;p87"/>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87"/>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5" name="Google Shape;85;p87"/>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lvl="0"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1pPr>
            <a:lvl2pPr marL="0" lvl="1"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2pPr>
            <a:lvl3pPr marL="0" lvl="2"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3pPr>
            <a:lvl4pPr marL="0" lvl="3"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4pPr>
            <a:lvl5pPr marL="0" lvl="4"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5pPr>
            <a:lvl6pPr marL="0" lvl="5"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6pPr>
            <a:lvl7pPr marL="0" lvl="6"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7pPr>
            <a:lvl8pPr marL="0" lvl="7"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8pPr>
            <a:lvl9pPr marL="0" lvl="8" indent="0" algn="r">
              <a:lnSpc>
                <a:spcPct val="100000"/>
              </a:lnSpc>
              <a:spcBef>
                <a:spcPts val="0"/>
              </a:spcBef>
              <a:spcAft>
                <a:spcPts val="0"/>
              </a:spcAft>
              <a:buSzPts val="900"/>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ext Slide">
  <p:cSld name="Text Slide">
    <p:bg>
      <p:bgPr>
        <a:solidFill>
          <a:schemeClr val="lt1"/>
        </a:solidFill>
        <a:effectLst/>
      </p:bgPr>
    </p:bg>
    <p:spTree>
      <p:nvGrpSpPr>
        <p:cNvPr id="1" name="Shape 86"/>
        <p:cNvGrpSpPr/>
        <p:nvPr/>
      </p:nvGrpSpPr>
      <p:grpSpPr>
        <a:xfrm>
          <a:off x="0" y="0"/>
          <a:ext cx="0" cy="0"/>
          <a:chOff x="0" y="0"/>
          <a:chExt cx="0" cy="0"/>
        </a:xfrm>
      </p:grpSpPr>
      <p:pic>
        <p:nvPicPr>
          <p:cNvPr id="87" name="Google Shape;87;p88" descr="A picture containing text, sign, seat&#10;&#10;Description automatically generated"/>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8576869" y="5603082"/>
            <a:ext cx="3413760" cy="1828800"/>
          </a:xfrm>
          <a:prstGeom prst="rect">
            <a:avLst/>
          </a:prstGeom>
          <a:noFill/>
          <a:ln>
            <a:noFill/>
          </a:ln>
        </p:spPr>
      </p:pic>
      <p:sp>
        <p:nvSpPr>
          <p:cNvPr id="88" name="Google Shape;88;p88"/>
          <p:cNvSpPr/>
          <p:nvPr/>
        </p:nvSpPr>
        <p:spPr>
          <a:xfrm>
            <a:off x="0" y="0"/>
            <a:ext cx="198000" cy="6858000"/>
          </a:xfrm>
          <a:prstGeom prst="rect">
            <a:avLst/>
          </a:prstGeom>
          <a:solidFill>
            <a:srgbClr val="2776B6"/>
          </a:solidFill>
          <a:ln w="12700" cap="flat" cmpd="sng">
            <a:solidFill>
              <a:srgbClr val="42719B"/>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chemeClr val="lt1"/>
              </a:solidFill>
              <a:latin typeface="Calibri"/>
              <a:ea typeface="Calibri"/>
              <a:cs typeface="Calibri"/>
              <a:sym typeface="Calibri"/>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Divider 2">
  <p:cSld name="Divider 2">
    <p:spTree>
      <p:nvGrpSpPr>
        <p:cNvPr id="1" name="Shape 89"/>
        <p:cNvGrpSpPr/>
        <p:nvPr/>
      </p:nvGrpSpPr>
      <p:grpSpPr>
        <a:xfrm>
          <a:off x="0" y="0"/>
          <a:ext cx="0" cy="0"/>
          <a:chOff x="0" y="0"/>
          <a:chExt cx="0" cy="0"/>
        </a:xfrm>
      </p:grpSpPr>
      <p:pic>
        <p:nvPicPr>
          <p:cNvPr id="90" name="Google Shape;90;p89" descr="ANation-PPT22_5.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1" name="Google Shape;91;p89"/>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2" name="Google Shape;92;p89"/>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3" name="Google Shape;93;p89"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Divider 3">
  <p:cSld name="Divider 3">
    <p:spTree>
      <p:nvGrpSpPr>
        <p:cNvPr id="1" name="Shape 94"/>
        <p:cNvGrpSpPr/>
        <p:nvPr/>
      </p:nvGrpSpPr>
      <p:grpSpPr>
        <a:xfrm>
          <a:off x="0" y="0"/>
          <a:ext cx="0" cy="0"/>
          <a:chOff x="0" y="0"/>
          <a:chExt cx="0" cy="0"/>
        </a:xfrm>
      </p:grpSpPr>
      <p:pic>
        <p:nvPicPr>
          <p:cNvPr id="95" name="Google Shape;95;p90" descr="ANation-PPT22_6.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96" name="Google Shape;96;p90"/>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97" name="Google Shape;97;p90"/>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98" name="Google Shape;98;p90"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Divider 1">
  <p:cSld name="Divider 1">
    <p:spTree>
      <p:nvGrpSpPr>
        <p:cNvPr id="1" name="Shape 99"/>
        <p:cNvGrpSpPr/>
        <p:nvPr/>
      </p:nvGrpSpPr>
      <p:grpSpPr>
        <a:xfrm>
          <a:off x="0" y="0"/>
          <a:ext cx="0" cy="0"/>
          <a:chOff x="0" y="0"/>
          <a:chExt cx="0" cy="0"/>
        </a:xfrm>
      </p:grpSpPr>
      <p:pic>
        <p:nvPicPr>
          <p:cNvPr id="100" name="Google Shape;100;p91" descr="ANation-PPT22_2.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1" name="Google Shape;101;p91"/>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2" name="Google Shape;102;p91"/>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3" name="Google Shape;103;p91"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Divider 4">
  <p:cSld name="Divider 4">
    <p:spTree>
      <p:nvGrpSpPr>
        <p:cNvPr id="1" name="Shape 104"/>
        <p:cNvGrpSpPr/>
        <p:nvPr/>
      </p:nvGrpSpPr>
      <p:grpSpPr>
        <a:xfrm>
          <a:off x="0" y="0"/>
          <a:ext cx="0" cy="0"/>
          <a:chOff x="0" y="0"/>
          <a:chExt cx="0" cy="0"/>
        </a:xfrm>
      </p:grpSpPr>
      <p:pic>
        <p:nvPicPr>
          <p:cNvPr id="105" name="Google Shape;105;p92" descr="ANation-PPT2_7.jpg"/>
          <p:cNvPicPr preferRelativeResize="0"/>
          <p:nvPr/>
        </p:nvPicPr>
        <p:blipFill rotWithShape="1">
          <a:blip r:embed="rId2" cstate="screen">
            <a:alphaModFix/>
            <a:extLst>
              <a:ext uri="{28A0092B-C50C-407E-A947-70E740481C1C}">
                <a14:useLocalDpi xmlns:a14="http://schemas.microsoft.com/office/drawing/2010/main"/>
              </a:ext>
            </a:extLst>
          </a:blip>
          <a:srcRect/>
          <a:stretch/>
        </p:blipFill>
        <p:spPr>
          <a:xfrm>
            <a:off x="1" y="1"/>
            <a:ext cx="12191999" cy="6858001"/>
          </a:xfrm>
          <a:prstGeom prst="rect">
            <a:avLst/>
          </a:prstGeom>
          <a:noFill/>
          <a:ln>
            <a:noFill/>
          </a:ln>
        </p:spPr>
      </p:pic>
      <p:sp>
        <p:nvSpPr>
          <p:cNvPr id="106" name="Google Shape;106;p92"/>
          <p:cNvSpPr/>
          <p:nvPr/>
        </p:nvSpPr>
        <p:spPr>
          <a:xfrm>
            <a:off x="1" y="0"/>
            <a:ext cx="2012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sp>
        <p:nvSpPr>
          <p:cNvPr id="107" name="Google Shape;107;p92"/>
          <p:cNvSpPr/>
          <p:nvPr/>
        </p:nvSpPr>
        <p:spPr>
          <a:xfrm>
            <a:off x="4851172" y="0"/>
            <a:ext cx="7340800" cy="6858000"/>
          </a:xfrm>
          <a:prstGeom prst="rect">
            <a:avLst/>
          </a:prstGeom>
          <a:solidFill>
            <a:srgbClr val="296CA4">
              <a:alpha val="86666"/>
            </a:srgbClr>
          </a:soli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endParaRPr sz="1800" b="0" i="0" u="none" strike="noStrike" cap="none">
              <a:solidFill>
                <a:srgbClr val="FFFFFF"/>
              </a:solidFill>
              <a:latin typeface="Calibri"/>
              <a:ea typeface="Calibri"/>
              <a:cs typeface="Calibri"/>
              <a:sym typeface="Calibri"/>
            </a:endParaRPr>
          </a:p>
        </p:txBody>
      </p:sp>
      <p:pic>
        <p:nvPicPr>
          <p:cNvPr id="108" name="Google Shape;108;p92" descr="Text&#10;&#10;Description automatically generated with low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8549640" y="5553348"/>
            <a:ext cx="3474723" cy="1861459"/>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sp>
        <p:nvSpPr>
          <p:cNvPr id="10" name="Google Shape;10;p55"/>
          <p:cNvSpPr txBox="1">
            <a:spLocks noGrp="1"/>
          </p:cNvSpPr>
          <p:nvPr>
            <p:ph type="title"/>
          </p:nvPr>
        </p:nvSpPr>
        <p:spPr>
          <a:xfrm>
            <a:off x="838200" y="365126"/>
            <a:ext cx="10515600" cy="1325700"/>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3300"/>
              <a:buFont typeface="Calibri"/>
              <a:buNone/>
              <a:defRPr sz="33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sp>
        <p:nvSpPr>
          <p:cNvPr id="11" name="Google Shape;11;p55"/>
          <p:cNvSpPr txBox="1">
            <a:spLocks noGrp="1"/>
          </p:cNvSpPr>
          <p:nvPr>
            <p:ph type="body" idx="1"/>
          </p:nvPr>
        </p:nvSpPr>
        <p:spPr>
          <a:xfrm>
            <a:off x="838200" y="1825625"/>
            <a:ext cx="10515600" cy="4351200"/>
          </a:xfrm>
          <a:prstGeom prst="rect">
            <a:avLst/>
          </a:prstGeom>
          <a:noFill/>
          <a:ln>
            <a:noFill/>
          </a:ln>
        </p:spPr>
        <p:txBody>
          <a:bodyPr spcFirstLastPara="1" wrap="square" lIns="91425" tIns="45700" rIns="91425" bIns="45700" anchor="t" anchorCtr="0">
            <a:normAutofit/>
          </a:bodyPr>
          <a:lstStyle>
            <a:lvl1pPr marL="457200" marR="0" lvl="0" indent="-361950" algn="l" rtl="0">
              <a:lnSpc>
                <a:spcPct val="90000"/>
              </a:lnSpc>
              <a:spcBef>
                <a:spcPts val="750"/>
              </a:spcBef>
              <a:spcAft>
                <a:spcPts val="0"/>
              </a:spcAft>
              <a:buClr>
                <a:schemeClr val="dk1"/>
              </a:buClr>
              <a:buSzPts val="2100"/>
              <a:buFont typeface="Arial"/>
              <a:buChar char="•"/>
              <a:defRPr sz="2100" b="0" i="0" u="none" strike="noStrike" cap="none">
                <a:solidFill>
                  <a:schemeClr val="dk1"/>
                </a:solidFill>
                <a:latin typeface="Calibri"/>
                <a:ea typeface="Calibri"/>
                <a:cs typeface="Calibri"/>
                <a:sym typeface="Calibri"/>
              </a:defRPr>
            </a:lvl1pPr>
            <a:lvl2pPr marL="914400" marR="0" lvl="1" indent="-342900" algn="l" rtl="0">
              <a:lnSpc>
                <a:spcPct val="90000"/>
              </a:lnSpc>
              <a:spcBef>
                <a:spcPts val="375"/>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2pPr>
            <a:lvl3pPr marL="1371600" marR="0" lvl="2" indent="-323850" algn="l" rtl="0">
              <a:lnSpc>
                <a:spcPct val="90000"/>
              </a:lnSpc>
              <a:spcBef>
                <a:spcPts val="375"/>
              </a:spcBef>
              <a:spcAft>
                <a:spcPts val="0"/>
              </a:spcAft>
              <a:buClr>
                <a:schemeClr val="dk1"/>
              </a:buClr>
              <a:buSzPts val="1500"/>
              <a:buFont typeface="Arial"/>
              <a:buChar char="•"/>
              <a:defRPr sz="1500" b="0" i="0" u="none" strike="noStrike" cap="none">
                <a:solidFill>
                  <a:schemeClr val="dk1"/>
                </a:solidFill>
                <a:latin typeface="Calibri"/>
                <a:ea typeface="Calibri"/>
                <a:cs typeface="Calibri"/>
                <a:sym typeface="Calibri"/>
              </a:defRPr>
            </a:lvl3pPr>
            <a:lvl4pPr marL="1828800" marR="0" lvl="3"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4pPr>
            <a:lvl5pPr marL="2286000" marR="0" lvl="4"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5pPr>
            <a:lvl6pPr marL="2743200" marR="0" lvl="5"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6pPr>
            <a:lvl7pPr marL="3200400" marR="0" lvl="6"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7pPr>
            <a:lvl8pPr marL="3657600" marR="0" lvl="7"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8pPr>
            <a:lvl9pPr marL="4114800" marR="0" lvl="8" indent="-314325" algn="l" rtl="0">
              <a:lnSpc>
                <a:spcPct val="90000"/>
              </a:lnSpc>
              <a:spcBef>
                <a:spcPts val="375"/>
              </a:spcBef>
              <a:spcAft>
                <a:spcPts val="0"/>
              </a:spcAft>
              <a:buClr>
                <a:schemeClr val="dk1"/>
              </a:buClr>
              <a:buSzPts val="1350"/>
              <a:buFont typeface="Arial"/>
              <a:buChar char="•"/>
              <a:defRPr sz="1350" b="0" i="0" u="none" strike="noStrike" cap="none">
                <a:solidFill>
                  <a:schemeClr val="dk1"/>
                </a:solidFill>
                <a:latin typeface="Calibri"/>
                <a:ea typeface="Calibri"/>
                <a:cs typeface="Calibri"/>
                <a:sym typeface="Calibri"/>
              </a:defRPr>
            </a:lvl9pPr>
          </a:lstStyle>
          <a:p>
            <a:endParaRPr/>
          </a:p>
        </p:txBody>
      </p:sp>
      <p:sp>
        <p:nvSpPr>
          <p:cNvPr id="12" name="Google Shape;12;p55"/>
          <p:cNvSpPr txBox="1">
            <a:spLocks noGrp="1"/>
          </p:cNvSpPr>
          <p:nvPr>
            <p:ph type="dt" idx="10"/>
          </p:nvPr>
        </p:nvSpPr>
        <p:spPr>
          <a:xfrm>
            <a:off x="838200" y="6356351"/>
            <a:ext cx="2743200" cy="365100"/>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3" name="Google Shape;13;p55"/>
          <p:cNvSpPr txBox="1">
            <a:spLocks noGrp="1"/>
          </p:cNvSpPr>
          <p:nvPr>
            <p:ph type="ftr" idx="11"/>
          </p:nvPr>
        </p:nvSpPr>
        <p:spPr>
          <a:xfrm>
            <a:off x="4038600" y="6356351"/>
            <a:ext cx="4114800" cy="3651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900" b="0" i="0" u="none" strike="noStrike" cap="none">
                <a:solidFill>
                  <a:srgbClr val="888888"/>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55"/>
          <p:cNvSpPr txBox="1">
            <a:spLocks noGrp="1"/>
          </p:cNvSpPr>
          <p:nvPr>
            <p:ph type="sldNum" idx="12"/>
          </p:nvPr>
        </p:nvSpPr>
        <p:spPr>
          <a:xfrm>
            <a:off x="8610600" y="6356351"/>
            <a:ext cx="2743200" cy="365100"/>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900"/>
              <a:buFont typeface="Arial"/>
              <a:buNone/>
              <a:defRPr sz="9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 id="2147483662" r:id="rId14"/>
    <p:sldLayoutId id="2147483663" r:id="rId15"/>
    <p:sldLayoutId id="2147483664" r:id="rId16"/>
    <p:sldLayoutId id="2147483665" r:id="rId17"/>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xml"/><Relationship Id="rId1" Type="http://schemas.openxmlformats.org/officeDocument/2006/relationships/slideLayout" Target="../slideLayouts/slideLayout1.xml"/><Relationship Id="rId4" Type="http://schemas.openxmlformats.org/officeDocument/2006/relationships/image" Target="../media/image10.png"/></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11.png"/></Relationships>
</file>

<file path=ppt/slides/_rels/slide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6.xml.rels><?xml version="1.0" encoding="UTF-8" standalone="yes"?>
<Relationships xmlns="http://schemas.openxmlformats.org/package/2006/relationships"><Relationship Id="rId3" Type="http://schemas.openxmlformats.org/officeDocument/2006/relationships/image" Target="../media/image10.png"/><Relationship Id="rId7" Type="http://schemas.openxmlformats.org/officeDocument/2006/relationships/image" Target="../media/image140.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1.xml"/><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8.xml"/><Relationship Id="rId1" Type="http://schemas.openxmlformats.org/officeDocument/2006/relationships/slideLayout" Target="../slideLayouts/slideLayout1.xml"/><Relationship Id="rId5" Type="http://schemas.openxmlformats.org/officeDocument/2006/relationships/image" Target="../media/image160.png"/><Relationship Id="rId4" Type="http://schemas.openxmlformats.org/officeDocument/2006/relationships/image" Target="../media/image16.png"/></Relationships>
</file>

<file path=ppt/slides/_rels/slide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9.xml"/><Relationship Id="rId1" Type="http://schemas.openxmlformats.org/officeDocument/2006/relationships/slideLayout" Target="../slideLayouts/slideLayout1.xml"/><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 Id="rId4" Type="http://schemas.openxmlformats.org/officeDocument/2006/relationships/image" Target="../media/image18.png"/></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20.png"/><Relationship Id="rId5" Type="http://schemas.openxmlformats.org/officeDocument/2006/relationships/image" Target="../media/image190.png"/><Relationship Id="rId4" Type="http://schemas.openxmlformats.org/officeDocument/2006/relationships/image" Target="../media/image19.png"/></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 Id="rId4" Type="http://schemas.openxmlformats.org/officeDocument/2006/relationships/image" Target="../media/image21.png"/></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1.xml"/><Relationship Id="rId5" Type="http://schemas.openxmlformats.org/officeDocument/2006/relationships/image" Target="../media/image23.png"/><Relationship Id="rId4" Type="http://schemas.openxmlformats.org/officeDocument/2006/relationships/image" Target="../media/image22.png"/></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1.xml"/><Relationship Id="rId4" Type="http://schemas.openxmlformats.org/officeDocument/2006/relationships/image" Target="../media/image24.png"/></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1.xml"/><Relationship Id="rId4" Type="http://schemas.openxmlformats.org/officeDocument/2006/relationships/image" Target="../media/image25.png"/></Relationships>
</file>

<file path=ppt/slides/_rels/slide16.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6.xml"/><Relationship Id="rId1" Type="http://schemas.openxmlformats.org/officeDocument/2006/relationships/slideLayout" Target="../slideLayouts/slideLayout1.xml"/><Relationship Id="rId5" Type="http://schemas.openxmlformats.org/officeDocument/2006/relationships/image" Target="../media/image260.png"/><Relationship Id="rId4" Type="http://schemas.openxmlformats.org/officeDocument/2006/relationships/image" Target="../media/image26.png"/></Relationships>
</file>

<file path=ppt/slides/_rels/slide1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27.png"/></Relationships>
</file>

<file path=ppt/slides/_rels/slide18.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8.xml"/><Relationship Id="rId1" Type="http://schemas.openxmlformats.org/officeDocument/2006/relationships/slideLayout" Target="../slideLayouts/slideLayout1.xml"/><Relationship Id="rId4" Type="http://schemas.openxmlformats.org/officeDocument/2006/relationships/image" Target="../media/image28.png"/></Relationships>
</file>

<file path=ppt/slides/_rels/slide19.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29.png"/><Relationship Id="rId4" Type="http://schemas.openxmlformats.org/officeDocument/2006/relationships/image" Target="../media/image28.png"/></Relationships>
</file>

<file path=ppt/slides/_rels/slide2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0.xml"/><Relationship Id="rId1" Type="http://schemas.openxmlformats.org/officeDocument/2006/relationships/slideLayout" Target="../slideLayouts/slideLayout1.xml"/><Relationship Id="rId4" Type="http://schemas.openxmlformats.org/officeDocument/2006/relationships/image" Target="../media/image30.png"/></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1.xml"/><Relationship Id="rId1" Type="http://schemas.openxmlformats.org/officeDocument/2006/relationships/slideLayout" Target="../slideLayouts/slideLayout1.xml"/><Relationship Id="rId4" Type="http://schemas.openxmlformats.org/officeDocument/2006/relationships/image" Target="../media/image31.png"/></Relationships>
</file>

<file path=ppt/slides/_rels/slide2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2.xml"/><Relationship Id="rId1" Type="http://schemas.openxmlformats.org/officeDocument/2006/relationships/slideLayout" Target="../slideLayouts/slideLayout1.xml"/><Relationship Id="rId5" Type="http://schemas.openxmlformats.org/officeDocument/2006/relationships/image" Target="../media/image32.png"/><Relationship Id="rId4" Type="http://schemas.openxmlformats.org/officeDocument/2006/relationships/image" Target="../media/image3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12"/>
        <p:cNvGrpSpPr/>
        <p:nvPr/>
      </p:nvGrpSpPr>
      <p:grpSpPr>
        <a:xfrm>
          <a:off x="0" y="0"/>
          <a:ext cx="0" cy="0"/>
          <a:chOff x="0" y="0"/>
          <a:chExt cx="0" cy="0"/>
        </a:xfrm>
      </p:grpSpPr>
      <p:sp>
        <p:nvSpPr>
          <p:cNvPr id="113" name="Google Shape;113;g104476d1465_0_0"/>
          <p:cNvSpPr txBox="1">
            <a:spLocks noGrp="1"/>
          </p:cNvSpPr>
          <p:nvPr>
            <p:ph type="ctrTitle" idx="4294967295"/>
          </p:nvPr>
        </p:nvSpPr>
        <p:spPr>
          <a:xfrm>
            <a:off x="5590352" y="2054277"/>
            <a:ext cx="5077649" cy="3194455"/>
          </a:xfrm>
          <a:prstGeom prst="rect">
            <a:avLst/>
          </a:prstGeom>
          <a:no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chemeClr val="dk1"/>
              </a:buClr>
              <a:buSzPts val="3300"/>
              <a:buFont typeface="Calibri"/>
              <a:buNone/>
            </a:pPr>
            <a:r>
              <a:rPr lang="en-US" sz="3600" b="1" i="0" u="none" strike="noStrike" cap="none">
                <a:solidFill>
                  <a:srgbClr val="417DBF"/>
                </a:solidFill>
                <a:latin typeface="Verdana"/>
                <a:ea typeface="Verdana"/>
                <a:cs typeface="Verdana"/>
                <a:sym typeface="Verdana"/>
              </a:rPr>
              <a:t>7</a:t>
            </a:r>
            <a:r>
              <a:rPr lang="en-US" sz="3600" b="1" i="0" u="none" strike="noStrike" cap="none" baseline="30000">
                <a:solidFill>
                  <a:srgbClr val="417DBF"/>
                </a:solidFill>
                <a:latin typeface="Verdana"/>
                <a:ea typeface="Verdana"/>
                <a:cs typeface="Verdana"/>
                <a:sym typeface="Verdana"/>
              </a:rPr>
              <a:t>th</a:t>
            </a:r>
            <a:r>
              <a:rPr lang="en-US" sz="3600" b="1" i="0" u="none" strike="noStrike" cap="none">
                <a:solidFill>
                  <a:srgbClr val="417DBF"/>
                </a:solidFill>
                <a:latin typeface="Verdana"/>
                <a:ea typeface="Verdana"/>
                <a:cs typeface="Verdana"/>
                <a:sym typeface="Verdana"/>
              </a:rPr>
              <a:t> Grade Math</a:t>
            </a:r>
            <a:br>
              <a:rPr lang="en-US" sz="3600" b="1" i="0" u="none" strike="noStrike" cap="none">
                <a:solidFill>
                  <a:srgbClr val="417DBF"/>
                </a:solidFill>
                <a:latin typeface="Verdana"/>
                <a:ea typeface="Verdana"/>
                <a:cs typeface="Verdana"/>
                <a:sym typeface="Verdana"/>
              </a:rPr>
            </a:br>
            <a:endParaRPr sz="3600" b="1" i="0" u="none" strike="noStrike" cap="none">
              <a:solidFill>
                <a:srgbClr val="417DBF"/>
              </a:solidFill>
              <a:latin typeface="Verdana"/>
              <a:ea typeface="Verdana"/>
              <a:cs typeface="Verdana"/>
              <a:sym typeface="Verdana"/>
            </a:endParaRPr>
          </a:p>
          <a:p>
            <a:pPr marL="0" marR="0" lvl="0" indent="0" algn="ctr" rtl="0">
              <a:lnSpc>
                <a:spcPct val="100000"/>
              </a:lnSpc>
              <a:spcBef>
                <a:spcPts val="0"/>
              </a:spcBef>
              <a:spcAft>
                <a:spcPts val="0"/>
              </a:spcAft>
              <a:buClr>
                <a:srgbClr val="000000"/>
              </a:buClr>
              <a:buSzPts val="3300"/>
              <a:buFont typeface="Calibri"/>
              <a:buNone/>
            </a:pPr>
            <a:r>
              <a:rPr lang="en-US" sz="3600" b="1" i="0" u="none" strike="noStrike" cap="none">
                <a:solidFill>
                  <a:srgbClr val="417DBF"/>
                </a:solidFill>
                <a:latin typeface="Verdana"/>
                <a:ea typeface="Verdana"/>
                <a:cs typeface="Verdana"/>
                <a:sym typeface="Verdana"/>
              </a:rPr>
              <a:t>Unit 8, Lesson 3</a:t>
            </a:r>
            <a:br>
              <a:rPr lang="en-US" sz="3600" b="1" i="0" u="none" strike="noStrike" cap="none">
                <a:solidFill>
                  <a:srgbClr val="417DBF"/>
                </a:solidFill>
                <a:latin typeface="Verdana"/>
                <a:ea typeface="Verdana"/>
                <a:cs typeface="Verdana"/>
                <a:sym typeface="Verdana"/>
              </a:rPr>
            </a:br>
            <a:br>
              <a:rPr lang="en-US" sz="3600" b="1" i="0" u="none" strike="noStrike" cap="none">
                <a:solidFill>
                  <a:srgbClr val="417DBF"/>
                </a:solidFill>
                <a:latin typeface="Verdana"/>
                <a:ea typeface="Verdana"/>
                <a:cs typeface="Verdana"/>
                <a:sym typeface="Verdana"/>
              </a:rPr>
            </a:br>
            <a:r>
              <a:rPr lang="en-US" sz="3600" b="1" i="0" u="none" strike="noStrike" cap="none">
                <a:solidFill>
                  <a:srgbClr val="417DBF"/>
                </a:solidFill>
                <a:latin typeface="Verdana"/>
                <a:ea typeface="Verdana"/>
                <a:cs typeface="Verdana"/>
                <a:sym typeface="Verdana"/>
              </a:rPr>
              <a:t>Exponential Expressions</a:t>
            </a:r>
            <a:br>
              <a:rPr lang="en-US" sz="3800" b="1" i="0" u="none" strike="noStrike" cap="none">
                <a:solidFill>
                  <a:srgbClr val="417DBF"/>
                </a:solidFill>
                <a:latin typeface="Verdana"/>
                <a:ea typeface="Verdana"/>
                <a:cs typeface="Verdana"/>
                <a:sym typeface="Verdana"/>
              </a:rPr>
            </a:br>
            <a:br>
              <a:rPr lang="en-US" sz="3800" b="1" i="0" u="none" strike="noStrike" cap="none">
                <a:solidFill>
                  <a:srgbClr val="417DBF"/>
                </a:solidFill>
                <a:latin typeface="Verdana"/>
                <a:ea typeface="Verdana"/>
                <a:cs typeface="Verdana"/>
                <a:sym typeface="Verdana"/>
              </a:rPr>
            </a:br>
            <a:r>
              <a:rPr lang="en-US" sz="2800" b="1" i="0" u="none" strike="noStrike" cap="none">
                <a:solidFill>
                  <a:srgbClr val="417DBF"/>
                </a:solidFill>
                <a:latin typeface="Verdana"/>
                <a:ea typeface="Verdana"/>
                <a:cs typeface="Verdana"/>
                <a:sym typeface="Verdana"/>
              </a:rPr>
              <a:t>Volume 2, pg. 16</a:t>
            </a:r>
            <a:endParaRPr/>
          </a:p>
          <a:p>
            <a:pPr marL="0" marR="0" lvl="0" indent="0" algn="ctr" rtl="0">
              <a:lnSpc>
                <a:spcPct val="100000"/>
              </a:lnSpc>
              <a:spcBef>
                <a:spcPts val="0"/>
              </a:spcBef>
              <a:spcAft>
                <a:spcPts val="0"/>
              </a:spcAft>
              <a:buClr>
                <a:srgbClr val="000000"/>
              </a:buClr>
              <a:buSzPts val="3300"/>
              <a:buFont typeface="Calibri"/>
              <a:buNone/>
            </a:pPr>
            <a:endParaRPr sz="3400" b="1" i="0" u="none" strike="noStrike" cap="none">
              <a:solidFill>
                <a:srgbClr val="417DBF"/>
              </a:solidFill>
              <a:latin typeface="Verdana"/>
              <a:ea typeface="Verdana"/>
              <a:cs typeface="Verdana"/>
              <a:sym typeface="Verdana"/>
            </a:endParaRPr>
          </a:p>
          <a:p>
            <a:pPr marL="0" marR="0" lvl="0" indent="0" algn="ctr" rtl="0">
              <a:lnSpc>
                <a:spcPct val="75000"/>
              </a:lnSpc>
              <a:spcBef>
                <a:spcPts val="0"/>
              </a:spcBef>
              <a:spcAft>
                <a:spcPts val="0"/>
              </a:spcAft>
              <a:buClr>
                <a:schemeClr val="dk1"/>
              </a:buClr>
              <a:buSzPts val="3300"/>
              <a:buFont typeface="Calibri"/>
              <a:buNone/>
            </a:pPr>
            <a:endParaRPr sz="3100" b="0" i="0" u="none" strike="noStrike" cap="none">
              <a:solidFill>
                <a:srgbClr val="417DBF"/>
              </a:solidFill>
              <a:latin typeface="Calibri"/>
              <a:ea typeface="Calibri"/>
              <a:cs typeface="Calibri"/>
              <a:sym typeface="Calibri"/>
            </a:endParaRPr>
          </a:p>
        </p:txBody>
      </p:sp>
      <p:sp>
        <p:nvSpPr>
          <p:cNvPr id="114" name="Google Shape;114;g104476d1465_0_0"/>
          <p:cNvSpPr/>
          <p:nvPr/>
        </p:nvSpPr>
        <p:spPr>
          <a:xfrm>
            <a:off x="0" y="0"/>
            <a:ext cx="4094106"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15" name="Google Shape;115;g104476d1465_0_0" descr="A blue sign with white text&#10;&#10;Description automatically generated with medium confidence"/>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414530" y="1522577"/>
            <a:ext cx="3270825" cy="3812847"/>
          </a:xfrm>
          <a:prstGeom prst="rect">
            <a:avLst/>
          </a:prstGeom>
          <a:noFill/>
          <a:ln>
            <a:noFill/>
          </a:ln>
          <a:effectLst>
            <a:outerShdw blurRad="50800" dist="38100" dir="2700000" algn="tl" rotWithShape="0">
              <a:srgbClr val="000000">
                <a:alpha val="40000"/>
              </a:srgbClr>
            </a:outerShdw>
          </a:effec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20"/>
        <p:cNvGrpSpPr/>
        <p:nvPr/>
      </p:nvGrpSpPr>
      <p:grpSpPr>
        <a:xfrm>
          <a:off x="0" y="0"/>
          <a:ext cx="0" cy="0"/>
          <a:chOff x="0" y="0"/>
          <a:chExt cx="0" cy="0"/>
        </a:xfrm>
      </p:grpSpPr>
      <p:sp>
        <p:nvSpPr>
          <p:cNvPr id="121" name="Google Shape;121;g104476d1465_1_17"/>
          <p:cNvSpPr/>
          <p:nvPr/>
        </p:nvSpPr>
        <p:spPr>
          <a:xfrm>
            <a:off x="0" y="365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
        <p:nvSpPr>
          <p:cNvPr id="122" name="Google Shape;122;g104476d1465_1_17"/>
          <p:cNvSpPr txBox="1">
            <a:spLocks noGrp="1"/>
          </p:cNvSpPr>
          <p:nvPr>
            <p:ph type="title" idx="4294967295"/>
          </p:nvPr>
        </p:nvSpPr>
        <p:spPr>
          <a:xfrm>
            <a:off x="1407225" y="136525"/>
            <a:ext cx="8541525" cy="1325700"/>
          </a:xfrm>
          <a:prstGeom prst="rect">
            <a:avLst/>
          </a:prstGeom>
          <a:noFill/>
          <a:ln>
            <a:noFill/>
          </a:ln>
        </p:spPr>
        <p:txBody>
          <a:bodyPr spcFirstLastPara="1" wrap="square" lIns="91425" tIns="45700" rIns="91425" bIns="45700" anchor="ctr" anchorCtr="0">
            <a:normAutofit/>
          </a:bodyPr>
          <a:lstStyle/>
          <a:p>
            <a:pPr marL="0" lvl="0" indent="0" algn="l" rtl="0">
              <a:lnSpc>
                <a:spcPct val="90000"/>
              </a:lnSpc>
              <a:spcBef>
                <a:spcPts val="0"/>
              </a:spcBef>
              <a:spcAft>
                <a:spcPts val="0"/>
              </a:spcAft>
              <a:buSzPts val="5400"/>
              <a:buNone/>
            </a:pPr>
            <a:r>
              <a:rPr lang="en-US" sz="4700" b="1" dirty="0">
                <a:solidFill>
                  <a:srgbClr val="54B5D1"/>
                </a:solidFill>
                <a:latin typeface="Verdana"/>
                <a:ea typeface="Verdana"/>
                <a:cs typeface="Verdana"/>
                <a:sym typeface="Verdana"/>
              </a:rPr>
              <a:t>Benchmark</a:t>
            </a:r>
            <a:endParaRPr sz="3700" b="1" dirty="0">
              <a:solidFill>
                <a:srgbClr val="54B5D1"/>
              </a:solidFill>
              <a:latin typeface="Verdana"/>
              <a:ea typeface="Verdana"/>
              <a:cs typeface="Verdana"/>
              <a:sym typeface="Verdana"/>
            </a:endParaRPr>
          </a:p>
        </p:txBody>
      </p:sp>
      <p:pic>
        <p:nvPicPr>
          <p:cNvPr id="123" name="Google Shape;123;g104476d1465_1_17"/>
          <p:cNvPicPr preferRelativeResize="0"/>
          <p:nvPr/>
        </p:nvPicPr>
        <p:blipFill rotWithShape="1">
          <a:blip r:embed="rId3">
            <a:alphaModFix/>
          </a:blip>
          <a:srcRect/>
          <a:stretch/>
        </p:blipFill>
        <p:spPr>
          <a:xfrm>
            <a:off x="659925" y="425725"/>
            <a:ext cx="747300" cy="747300"/>
          </a:xfrm>
          <a:prstGeom prst="rect">
            <a:avLst/>
          </a:prstGeom>
          <a:noFill/>
          <a:ln>
            <a:noFill/>
          </a:ln>
          <a:effectLst>
            <a:outerShdw blurRad="57150" dist="19050" dir="5400000" algn="bl" rotWithShape="0">
              <a:srgbClr val="000000">
                <a:alpha val="49803"/>
              </a:srgbClr>
            </a:outerShdw>
          </a:effectLst>
        </p:spPr>
      </p:pic>
      <p:sp>
        <p:nvSpPr>
          <p:cNvPr id="124" name="Google Shape;124;g104476d1465_1_17"/>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16</a:t>
            </a:r>
            <a:endParaRPr sz="1400" b="0" i="1" u="none" strike="noStrike" cap="none">
              <a:solidFill>
                <a:srgbClr val="000000"/>
              </a:solidFill>
              <a:latin typeface="Calibri"/>
              <a:ea typeface="Calibri"/>
              <a:cs typeface="Calibri"/>
              <a:sym typeface="Calibri"/>
            </a:endParaRPr>
          </a:p>
        </p:txBody>
      </p:sp>
      <p:pic>
        <p:nvPicPr>
          <p:cNvPr id="125" name="Google Shape;125;g104476d1465_1_17"/>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126" name="Google Shape;126;g104476d1465_1_17"/>
          <p:cNvSpPr txBox="1"/>
          <p:nvPr/>
        </p:nvSpPr>
        <p:spPr>
          <a:xfrm>
            <a:off x="1033575" y="1609531"/>
            <a:ext cx="9177225" cy="4205700"/>
          </a:xfrm>
          <a:prstGeom prst="rect">
            <a:avLst/>
          </a:prstGeom>
          <a:noFill/>
          <a:ln>
            <a:noFill/>
          </a:ln>
        </p:spPr>
        <p:txBody>
          <a:bodyPr spcFirstLastPara="1" wrap="square" lIns="91425" tIns="45700" rIns="91425" bIns="45700" anchor="t" anchorCtr="0">
            <a:normAutofit/>
          </a:bodyPr>
          <a:lstStyle/>
          <a:p>
            <a:pPr marL="0" marR="0" lvl="0" indent="0" algn="l" rtl="0">
              <a:lnSpc>
                <a:spcPct val="90000"/>
              </a:lnSpc>
              <a:spcBef>
                <a:spcPts val="750"/>
              </a:spcBef>
              <a:spcAft>
                <a:spcPts val="0"/>
              </a:spcAft>
              <a:buClr>
                <a:schemeClr val="dk1"/>
              </a:buClr>
              <a:buSzPts val="1100"/>
              <a:buFont typeface="Arial"/>
              <a:buNone/>
            </a:pPr>
            <a:r>
              <a:rPr lang="en-US" sz="3500" b="0" i="0" u="none" strike="noStrike" cap="none" dirty="0">
                <a:solidFill>
                  <a:schemeClr val="dk1"/>
                </a:solidFill>
                <a:latin typeface="Verdana"/>
                <a:ea typeface="Verdana"/>
                <a:cs typeface="Verdana"/>
                <a:sym typeface="Verdana"/>
              </a:rPr>
              <a:t>MA.7.NSO.1.1 </a:t>
            </a:r>
            <a:endParaRPr dirty="0"/>
          </a:p>
          <a:p>
            <a:pPr marL="457200" marR="0" lvl="0" indent="0" algn="l" rtl="0">
              <a:lnSpc>
                <a:spcPct val="90000"/>
              </a:lnSpc>
              <a:spcBef>
                <a:spcPts val="750"/>
              </a:spcBef>
              <a:spcAft>
                <a:spcPts val="0"/>
              </a:spcAft>
              <a:buClr>
                <a:schemeClr val="dk1"/>
              </a:buClr>
              <a:buSzPts val="2100"/>
              <a:buFont typeface="Arial"/>
              <a:buNone/>
            </a:pPr>
            <a:r>
              <a:rPr lang="en-US" sz="3500" b="0" i="0" u="none" strike="noStrike" cap="none" dirty="0">
                <a:solidFill>
                  <a:schemeClr val="dk1"/>
                </a:solidFill>
                <a:latin typeface="Verdana"/>
                <a:ea typeface="Verdana"/>
                <a:cs typeface="Verdana"/>
                <a:sym typeface="Verdana"/>
              </a:rPr>
              <a:t>Know and apply the Laws of Exponents to evaluate numerical expressions and generate equivalent numerical expressions, limited to whole-number exponents and rational number bases.</a:t>
            </a:r>
            <a:endParaRPr sz="2100" b="0" i="0" u="none" strike="noStrike" cap="none" dirty="0">
              <a:solidFill>
                <a:schemeClr val="dk1"/>
              </a:solidFill>
              <a:latin typeface="Century Gothic"/>
              <a:ea typeface="Century Gothic"/>
              <a:cs typeface="Century Gothic"/>
              <a:sym typeface="Century Gothic"/>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31"/>
        <p:cNvGrpSpPr/>
        <p:nvPr/>
      </p:nvGrpSpPr>
      <p:grpSpPr>
        <a:xfrm>
          <a:off x="0" y="0"/>
          <a:ext cx="0" cy="0"/>
          <a:chOff x="0" y="0"/>
          <a:chExt cx="0" cy="0"/>
        </a:xfrm>
      </p:grpSpPr>
      <p:sp>
        <p:nvSpPr>
          <p:cNvPr id="132" name="Google Shape;132;p1"/>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33" name="Google Shape;133;p1"/>
          <p:cNvPicPr preferRelativeResize="0"/>
          <p:nvPr/>
        </p:nvPicPr>
        <p:blipFill rotWithShape="1">
          <a:blip r:embed="rId3">
            <a:alphaModFix/>
          </a:blip>
          <a:srcRect/>
          <a:stretch/>
        </p:blipFill>
        <p:spPr>
          <a:xfrm>
            <a:off x="661086" y="418867"/>
            <a:ext cx="747300" cy="747300"/>
          </a:xfrm>
          <a:prstGeom prst="rect">
            <a:avLst/>
          </a:prstGeom>
          <a:noFill/>
          <a:ln>
            <a:noFill/>
          </a:ln>
          <a:effectLst>
            <a:outerShdw blurRad="57150" dist="19050" dir="5400000" algn="bl" rotWithShape="0">
              <a:srgbClr val="000000">
                <a:alpha val="49803"/>
              </a:srgbClr>
            </a:outerShdw>
          </a:effectLst>
        </p:spPr>
      </p:pic>
      <p:pic>
        <p:nvPicPr>
          <p:cNvPr id="134" name="Google Shape;134;p1"/>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35" name="Google Shape;135;p1"/>
          <p:cNvSpPr txBox="1"/>
          <p:nvPr/>
        </p:nvSpPr>
        <p:spPr>
          <a:xfrm>
            <a:off x="1408386" y="129667"/>
            <a:ext cx="10219764"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200" b="1" i="0" u="none" strike="noStrike" cap="none" dirty="0">
                <a:solidFill>
                  <a:srgbClr val="54B5D1"/>
                </a:solidFill>
                <a:latin typeface="Verdana"/>
                <a:ea typeface="Verdana"/>
                <a:cs typeface="Verdana"/>
                <a:sym typeface="Verdana"/>
              </a:rPr>
              <a:t>Integrated Mathematical Thinking and Reasoning Standards</a:t>
            </a:r>
            <a:endParaRPr sz="3200" dirty="0"/>
          </a:p>
        </p:txBody>
      </p:sp>
      <p:sp>
        <p:nvSpPr>
          <p:cNvPr id="136" name="Google Shape;136;p1"/>
          <p:cNvSpPr txBox="1"/>
          <p:nvPr/>
        </p:nvSpPr>
        <p:spPr>
          <a:xfrm>
            <a:off x="1066800" y="1596390"/>
            <a:ext cx="9144000" cy="42057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MA.K12.MTR.1.1 Actively participate in effortful learning both individually and collectively.</a:t>
            </a:r>
            <a:endParaRPr dirty="0"/>
          </a:p>
          <a:p>
            <a:pPr marL="457200" marR="0" lvl="0" indent="0" algn="l" rtl="0">
              <a:lnSpc>
                <a:spcPct val="100000"/>
              </a:lnSpc>
              <a:spcBef>
                <a:spcPts val="0"/>
              </a:spcBef>
              <a:spcAft>
                <a:spcPts val="0"/>
              </a:spcAft>
              <a:buNone/>
            </a:pPr>
            <a:endParaRPr sz="20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MA.K12.MTR.3.1 Complete tasks with mathematical fluency.</a:t>
            </a:r>
            <a:endParaRPr dirty="0"/>
          </a:p>
          <a:p>
            <a:pPr marL="457200" marR="0" lvl="0" indent="0" algn="l" rtl="0">
              <a:lnSpc>
                <a:spcPct val="100000"/>
              </a:lnSpc>
              <a:spcBef>
                <a:spcPts val="0"/>
              </a:spcBef>
              <a:spcAft>
                <a:spcPts val="0"/>
              </a:spcAft>
              <a:buNone/>
            </a:pPr>
            <a:endParaRPr sz="20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MA.K12.MTR.4.1 Engage in discussions that reflect on the mathematical thinking of self and others.</a:t>
            </a:r>
            <a:endParaRPr dirty="0"/>
          </a:p>
          <a:p>
            <a:pPr marL="457200" marR="0" lvl="0" indent="0" algn="l" rtl="0">
              <a:lnSpc>
                <a:spcPct val="100000"/>
              </a:lnSpc>
              <a:spcBef>
                <a:spcPts val="0"/>
              </a:spcBef>
              <a:spcAft>
                <a:spcPts val="0"/>
              </a:spcAft>
              <a:buNone/>
            </a:pPr>
            <a:endParaRPr sz="20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MA.K12.MTR.5.1 Use patterns and structure to help understand and connect mathematical concepts.</a:t>
            </a:r>
            <a:endParaRPr dirty="0"/>
          </a:p>
          <a:p>
            <a:pPr marL="0" marR="0" lvl="0" indent="0" algn="l" rtl="0">
              <a:lnSpc>
                <a:spcPct val="100000"/>
              </a:lnSpc>
              <a:spcBef>
                <a:spcPts val="0"/>
              </a:spcBef>
              <a:spcAft>
                <a:spcPts val="0"/>
              </a:spcAft>
              <a:buNone/>
            </a:pPr>
            <a:endParaRPr sz="2000" b="0" i="0" u="none" strike="noStrike" cap="none" dirty="0">
              <a:solidFill>
                <a:schemeClr val="dk1"/>
              </a:solidFill>
              <a:latin typeface="Verdana"/>
              <a:ea typeface="Verdana"/>
              <a:cs typeface="Verdana"/>
              <a:sym typeface="Verdana"/>
            </a:endParaRPr>
          </a:p>
          <a:p>
            <a:pPr marL="0" marR="0" lvl="0" indent="0" algn="l" rtl="0">
              <a:lnSpc>
                <a:spcPct val="100000"/>
              </a:lnSpc>
              <a:spcBef>
                <a:spcPts val="0"/>
              </a:spcBef>
              <a:spcAft>
                <a:spcPts val="0"/>
              </a:spcAft>
              <a:buNone/>
            </a:pPr>
            <a:r>
              <a:rPr lang="en-US" sz="2000" b="0" i="0" u="none" strike="noStrike" cap="none" dirty="0">
                <a:solidFill>
                  <a:schemeClr val="dk1"/>
                </a:solidFill>
                <a:latin typeface="Verdana"/>
                <a:ea typeface="Verdana"/>
                <a:cs typeface="Verdana"/>
                <a:sym typeface="Verdana"/>
              </a:rPr>
              <a:t>MA.K12.MTR.6.1 Assess the reasonableness of solutions.</a:t>
            </a:r>
            <a:endParaRPr dirty="0"/>
          </a:p>
        </p:txBody>
      </p:sp>
      <p:sp>
        <p:nvSpPr>
          <p:cNvPr id="137" name="Google Shape;137;p1"/>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16</a:t>
            </a:r>
            <a:endParaRPr sz="1400" b="0" i="1"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6">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6">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6">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6">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36">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2"/>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highlight>
                <a:srgbClr val="FFFF00"/>
              </a:highlight>
              <a:latin typeface="Arial"/>
              <a:ea typeface="Arial"/>
              <a:cs typeface="Arial"/>
              <a:sym typeface="Arial"/>
            </a:endParaRPr>
          </a:p>
        </p:txBody>
      </p:sp>
      <p:pic>
        <p:nvPicPr>
          <p:cNvPr id="144" name="Google Shape;144;p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600"/>
            <a:ext cx="563850" cy="657276"/>
          </a:xfrm>
          <a:prstGeom prst="rect">
            <a:avLst/>
          </a:prstGeom>
          <a:noFill/>
          <a:ln>
            <a:noFill/>
          </a:ln>
          <a:effectLst>
            <a:outerShdw blurRad="57150" dist="19050" dir="5400000" algn="bl" rotWithShape="0">
              <a:srgbClr val="000000">
                <a:alpha val="49803"/>
              </a:srgbClr>
            </a:outerShdw>
          </a:effectLst>
        </p:spPr>
      </p:pic>
      <p:sp>
        <p:nvSpPr>
          <p:cNvPr id="145" name="Google Shape;145;p2"/>
          <p:cNvSpPr txBox="1"/>
          <p:nvPr/>
        </p:nvSpPr>
        <p:spPr>
          <a:xfrm>
            <a:off x="1453151" y="169000"/>
            <a:ext cx="9075314"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4700" b="1" i="0" u="none" strike="noStrike" cap="none" dirty="0">
                <a:solidFill>
                  <a:srgbClr val="52BDA6"/>
                </a:solidFill>
                <a:latin typeface="Verdana"/>
                <a:ea typeface="Verdana"/>
                <a:cs typeface="Verdana"/>
                <a:sym typeface="Verdana"/>
              </a:rPr>
              <a:t>Learning Targets</a:t>
            </a:r>
            <a:endParaRPr dirty="0"/>
          </a:p>
        </p:txBody>
      </p:sp>
      <p:pic>
        <p:nvPicPr>
          <p:cNvPr id="146" name="Google Shape;146;p2"/>
          <p:cNvPicPr preferRelativeResize="0"/>
          <p:nvPr/>
        </p:nvPicPr>
        <p:blipFill rotWithShape="1">
          <a:blip r:embed="rId4">
            <a:alphaModFix/>
          </a:blip>
          <a:srcRect/>
          <a:stretch/>
        </p:blipFill>
        <p:spPr>
          <a:xfrm>
            <a:off x="705851" y="426500"/>
            <a:ext cx="747300" cy="747300"/>
          </a:xfrm>
          <a:prstGeom prst="rect">
            <a:avLst/>
          </a:prstGeom>
          <a:noFill/>
          <a:ln>
            <a:noFill/>
          </a:ln>
          <a:effectLst>
            <a:outerShdw blurRad="50800" dist="38100" dir="2700000" algn="tl" rotWithShape="0">
              <a:srgbClr val="000000">
                <a:alpha val="40000"/>
              </a:srgbClr>
            </a:outerShdw>
          </a:effectLst>
        </p:spPr>
      </p:pic>
      <p:sp>
        <p:nvSpPr>
          <p:cNvPr id="147" name="Google Shape;147;p2"/>
          <p:cNvSpPr txBox="1"/>
          <p:nvPr/>
        </p:nvSpPr>
        <p:spPr>
          <a:xfrm>
            <a:off x="1079501" y="1600200"/>
            <a:ext cx="9131300" cy="4205700"/>
          </a:xfrm>
          <a:prstGeom prst="rect">
            <a:avLst/>
          </a:prstGeom>
          <a:noFill/>
          <a:ln>
            <a:noFill/>
          </a:ln>
        </p:spPr>
        <p:txBody>
          <a:bodyPr spcFirstLastPara="1" wrap="square" lIns="91425" tIns="45700" rIns="91425" bIns="45700" anchor="t" anchorCtr="0">
            <a:noAutofit/>
          </a:bodyPr>
          <a:lstStyle/>
          <a:p>
            <a:pPr marL="463550" marR="0" lvl="0" indent="-457200" algn="l" rtl="0">
              <a:lnSpc>
                <a:spcPct val="100000"/>
              </a:lnSpc>
              <a:spcBef>
                <a:spcPts val="0"/>
              </a:spcBef>
              <a:spcAft>
                <a:spcPts val="0"/>
              </a:spcAft>
              <a:buClr>
                <a:srgbClr val="434343"/>
              </a:buClr>
              <a:buSzPts val="3500"/>
              <a:buFont typeface="Verdana"/>
              <a:buChar char="❏"/>
            </a:pPr>
            <a:r>
              <a:rPr lang="en-US" sz="3500" b="0" i="0" u="none" strike="noStrike" cap="none" dirty="0">
                <a:solidFill>
                  <a:schemeClr val="dk1"/>
                </a:solidFill>
                <a:latin typeface="Verdana"/>
                <a:ea typeface="Verdana"/>
                <a:cs typeface="Verdana"/>
                <a:sym typeface="Verdana"/>
              </a:rPr>
              <a:t>I can evaluate numeric expressions with the same base using the laws of exponents.</a:t>
            </a:r>
            <a:endParaRPr dirty="0"/>
          </a:p>
          <a:p>
            <a:pPr marL="628650" marR="0" lvl="0" indent="-400050" algn="l" rtl="0">
              <a:lnSpc>
                <a:spcPct val="100000"/>
              </a:lnSpc>
              <a:spcBef>
                <a:spcPts val="0"/>
              </a:spcBef>
              <a:spcAft>
                <a:spcPts val="0"/>
              </a:spcAft>
              <a:buClr>
                <a:srgbClr val="434343"/>
              </a:buClr>
              <a:buSzPts val="3500"/>
              <a:buFont typeface="Verdana"/>
              <a:buNone/>
            </a:pPr>
            <a:endParaRPr sz="3500" b="0" i="0" u="none" strike="noStrike" cap="none" dirty="0">
              <a:solidFill>
                <a:schemeClr val="dk1"/>
              </a:solidFill>
              <a:latin typeface="Verdana"/>
              <a:ea typeface="Verdana"/>
              <a:cs typeface="Verdana"/>
              <a:sym typeface="Verdana"/>
            </a:endParaRPr>
          </a:p>
          <a:p>
            <a:pPr marL="463550" marR="0" lvl="0" indent="-457200" algn="l" rtl="0">
              <a:lnSpc>
                <a:spcPct val="100000"/>
              </a:lnSpc>
              <a:spcBef>
                <a:spcPts val="0"/>
              </a:spcBef>
              <a:spcAft>
                <a:spcPts val="0"/>
              </a:spcAft>
              <a:buClr>
                <a:srgbClr val="434343"/>
              </a:buClr>
              <a:buSzPts val="3500"/>
              <a:buFont typeface="Verdana"/>
              <a:buChar char="❏"/>
            </a:pPr>
            <a:r>
              <a:rPr lang="en-US" sz="3500" b="0" i="0" u="none" strike="noStrike" cap="none" dirty="0">
                <a:solidFill>
                  <a:schemeClr val="dk1"/>
                </a:solidFill>
                <a:latin typeface="Verdana"/>
                <a:ea typeface="Verdana"/>
                <a:cs typeface="Verdana"/>
                <a:sym typeface="Verdana"/>
              </a:rPr>
              <a:t>I can generate equivalent numeric expressions by applying the laws of exponents. </a:t>
            </a:r>
            <a:endParaRPr dirty="0"/>
          </a:p>
        </p:txBody>
      </p:sp>
      <p:sp>
        <p:nvSpPr>
          <p:cNvPr id="148" name="Google Shape;148;p2"/>
          <p:cNvSpPr txBox="1"/>
          <p:nvPr/>
        </p:nvSpPr>
        <p:spPr>
          <a:xfrm>
            <a:off x="8889924" y="6457675"/>
            <a:ext cx="2634000" cy="400079"/>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16</a:t>
            </a:r>
            <a:endParaRPr sz="1400" b="0" i="1" u="none" strike="noStrike" cap="none">
              <a:solidFill>
                <a:srgbClr val="000000"/>
              </a:solidFill>
              <a:latin typeface="Calibri"/>
              <a:ea typeface="Calibri"/>
              <a:cs typeface="Calibri"/>
              <a:sym typeface="Calibri"/>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47">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7">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7">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53"/>
        <p:cNvGrpSpPr/>
        <p:nvPr/>
      </p:nvGrpSpPr>
      <p:grpSpPr>
        <a:xfrm>
          <a:off x="0" y="0"/>
          <a:ext cx="0" cy="0"/>
          <a:chOff x="0" y="0"/>
          <a:chExt cx="0" cy="0"/>
        </a:xfrm>
      </p:grpSpPr>
      <p:sp>
        <p:nvSpPr>
          <p:cNvPr id="154" name="Google Shape;154;g104476d1465_1_3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55" name="Google Shape;155;g104476d1465_1_3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pic>
        <p:nvPicPr>
          <p:cNvPr id="156" name="Google Shape;156;g104476d1465_1_39"/>
          <p:cNvPicPr preferRelativeResize="0"/>
          <p:nvPr/>
        </p:nvPicPr>
        <p:blipFill rotWithShape="1">
          <a:blip r:embed="rId4">
            <a:alphaModFix/>
          </a:blip>
          <a:srcRect/>
          <a:stretch/>
        </p:blipFill>
        <p:spPr>
          <a:xfrm>
            <a:off x="4635550" y="2879325"/>
            <a:ext cx="1031750" cy="1031750"/>
          </a:xfrm>
          <a:prstGeom prst="rect">
            <a:avLst/>
          </a:prstGeom>
          <a:noFill/>
          <a:ln>
            <a:noFill/>
          </a:ln>
          <a:effectLst>
            <a:outerShdw blurRad="50800" dist="38100" dir="2700000" algn="tl" rotWithShape="0">
              <a:srgbClr val="000000">
                <a:alpha val="40000"/>
              </a:srgbClr>
            </a:outerShdw>
          </a:effectLst>
        </p:spPr>
      </p:pic>
      <p:sp>
        <p:nvSpPr>
          <p:cNvPr id="157" name="Google Shape;157;g104476d1465_1_39"/>
          <p:cNvSpPr txBox="1">
            <a:spLocks noGrp="1"/>
          </p:cNvSpPr>
          <p:nvPr>
            <p:ph type="title" idx="4294967295"/>
          </p:nvPr>
        </p:nvSpPr>
        <p:spPr>
          <a:xfrm>
            <a:off x="5844350" y="2766145"/>
            <a:ext cx="404820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3F2A67"/>
                </a:solidFill>
                <a:latin typeface="Verdana"/>
                <a:ea typeface="Verdana"/>
                <a:cs typeface="Verdana"/>
                <a:sym typeface="Verdana"/>
              </a:rPr>
              <a:t>Warm-Up</a:t>
            </a:r>
            <a:endParaRPr sz="5100" b="1">
              <a:solidFill>
                <a:srgbClr val="3F2A67"/>
              </a:solidFill>
              <a:latin typeface="Verdana"/>
              <a:ea typeface="Verdana"/>
              <a:cs typeface="Verdana"/>
              <a:sym typeface="Verdana"/>
            </a:endParaRPr>
          </a:p>
        </p:txBody>
      </p:sp>
      <p:sp>
        <p:nvSpPr>
          <p:cNvPr id="158" name="Google Shape;158;g104476d1465_1_3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16</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63"/>
        <p:cNvGrpSpPr/>
        <p:nvPr/>
      </p:nvGrpSpPr>
      <p:grpSpPr>
        <a:xfrm>
          <a:off x="0" y="0"/>
          <a:ext cx="0" cy="0"/>
          <a:chOff x="0" y="0"/>
          <a:chExt cx="0" cy="0"/>
        </a:xfrm>
      </p:grpSpPr>
      <p:sp>
        <p:nvSpPr>
          <p:cNvPr id="164" name="Google Shape;164;p4"/>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65" name="Google Shape;165;p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66" name="Google Shape;166;p4"/>
          <p:cNvSpPr txBox="1"/>
          <p:nvPr/>
        </p:nvSpPr>
        <p:spPr>
          <a:xfrm>
            <a:off x="1426698" y="60325"/>
            <a:ext cx="10201452"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3F2A67"/>
                </a:solidFill>
                <a:latin typeface="Verdana"/>
                <a:ea typeface="Verdana"/>
                <a:cs typeface="Verdana"/>
                <a:sym typeface="Verdana"/>
              </a:rPr>
              <a:t>8.3.1 Warm-Up: Make an Expression</a:t>
            </a:r>
            <a:endParaRPr dirty="0"/>
          </a:p>
        </p:txBody>
      </p:sp>
      <p:pic>
        <p:nvPicPr>
          <p:cNvPr id="167" name="Google Shape;167;p4"/>
          <p:cNvPicPr preferRelativeResize="0"/>
          <p:nvPr/>
        </p:nvPicPr>
        <p:blipFill rotWithShape="1">
          <a:blip r:embed="rId4">
            <a:alphaModFix/>
          </a:blip>
          <a:srcRect/>
          <a:stretch/>
        </p:blipFill>
        <p:spPr>
          <a:xfrm>
            <a:off x="679398" y="349525"/>
            <a:ext cx="747300" cy="747300"/>
          </a:xfrm>
          <a:prstGeom prst="rect">
            <a:avLst/>
          </a:prstGeom>
          <a:noFill/>
          <a:ln>
            <a:noFill/>
          </a:ln>
          <a:effectLst>
            <a:outerShdw blurRad="50800" dist="38100" dir="2700000" algn="tl" rotWithShape="0">
              <a:srgbClr val="000000">
                <a:alpha val="40000"/>
              </a:srgbClr>
            </a:outerShdw>
          </a:effectLst>
        </p:spPr>
      </p:pic>
      <p:grpSp>
        <p:nvGrpSpPr>
          <p:cNvPr id="169" name="Google Shape;169;p4"/>
          <p:cNvGrpSpPr/>
          <p:nvPr/>
        </p:nvGrpSpPr>
        <p:grpSpPr>
          <a:xfrm>
            <a:off x="3413747" y="3429000"/>
            <a:ext cx="5552643" cy="1934845"/>
            <a:chOff x="0" y="0"/>
            <a:chExt cx="4479402" cy="1561457"/>
          </a:xfrm>
        </p:grpSpPr>
        <p:sp>
          <p:nvSpPr>
            <p:cNvPr id="170" name="Google Shape;170;p4"/>
            <p:cNvSpPr/>
            <p:nvPr/>
          </p:nvSpPr>
          <p:spPr>
            <a:xfrm>
              <a:off x="0" y="289367"/>
              <a:ext cx="914400" cy="895150"/>
            </a:xfrm>
            <a:prstGeom prst="rect">
              <a:avLst/>
            </a:prstGeom>
            <a:noFill/>
            <a:ln w="381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71" name="Google Shape;171;p4"/>
            <p:cNvSpPr/>
            <p:nvPr/>
          </p:nvSpPr>
          <p:spPr>
            <a:xfrm>
              <a:off x="1886673" y="300942"/>
              <a:ext cx="914400" cy="895150"/>
            </a:xfrm>
            <a:prstGeom prst="rect">
              <a:avLst/>
            </a:prstGeom>
            <a:noFill/>
            <a:ln w="381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72" name="Google Shape;172;p4"/>
            <p:cNvSpPr/>
            <p:nvPr/>
          </p:nvSpPr>
          <p:spPr>
            <a:xfrm>
              <a:off x="3565002" y="312516"/>
              <a:ext cx="914400" cy="895150"/>
            </a:xfrm>
            <a:prstGeom prst="rect">
              <a:avLst/>
            </a:prstGeom>
            <a:noFill/>
            <a:ln w="381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73" name="Google Shape;173;p4"/>
            <p:cNvSpPr/>
            <p:nvPr/>
          </p:nvSpPr>
          <p:spPr>
            <a:xfrm>
              <a:off x="1006997" y="0"/>
              <a:ext cx="401048" cy="392414"/>
            </a:xfrm>
            <a:prstGeom prst="rect">
              <a:avLst/>
            </a:prstGeom>
            <a:noFill/>
            <a:ln w="38100" cap="flat" cmpd="sng">
              <a:solidFill>
                <a:srgbClr val="4472C4"/>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None/>
              </a:pPr>
              <a:endParaRPr sz="1800" b="0" i="0" u="none" strike="noStrike" cap="none">
                <a:solidFill>
                  <a:srgbClr val="FFFFFF"/>
                </a:solidFill>
                <a:latin typeface="Calibri"/>
                <a:ea typeface="Calibri"/>
                <a:cs typeface="Calibri"/>
                <a:sym typeface="Calibri"/>
              </a:endParaRPr>
            </a:p>
          </p:txBody>
        </p:sp>
        <p:sp>
          <p:nvSpPr>
            <p:cNvPr id="174" name="Google Shape;174;p4"/>
            <p:cNvSpPr txBox="1"/>
            <p:nvPr/>
          </p:nvSpPr>
          <p:spPr>
            <a:xfrm>
              <a:off x="1005872" y="450287"/>
              <a:ext cx="821803" cy="1111170"/>
            </a:xfrm>
            <a:prstGeom prst="rect">
              <a:avLst/>
            </a:prstGeom>
            <a:blipFill rotWithShape="1">
              <a:blip r:embed="rId5">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sp>
          <p:nvSpPr>
            <p:cNvPr id="175" name="Google Shape;175;p4"/>
            <p:cNvSpPr txBox="1"/>
            <p:nvPr/>
          </p:nvSpPr>
          <p:spPr>
            <a:xfrm>
              <a:off x="2742074" y="450287"/>
              <a:ext cx="821803" cy="1111170"/>
            </a:xfrm>
            <a:prstGeom prst="rect">
              <a:avLst/>
            </a:prstGeom>
            <a:blipFill rotWithShape="1">
              <a:blip r:embed="rId6">
                <a:alphaModFix/>
              </a:blip>
              <a:stretch>
                <a:fillRect/>
              </a:stretch>
            </a:blip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r>
                <a:rPr lang="en-US" sz="1400" b="0" i="0" u="none" strike="noStrike" cap="none">
                  <a:latin typeface="Arial"/>
                  <a:ea typeface="Arial"/>
                  <a:cs typeface="Arial"/>
                  <a:sym typeface="Arial"/>
                </a:rPr>
                <a:t> </a:t>
              </a:r>
              <a:endParaRPr/>
            </a:p>
          </p:txBody>
        </p:sp>
      </p:grpSp>
      <p:sp>
        <p:nvSpPr>
          <p:cNvPr id="176" name="Google Shape;176;p4"/>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16</a:t>
            </a:r>
            <a:endParaRPr sz="1400" b="0" i="1" u="none" strike="noStrike" cap="none">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6" name="TextBox 15">
                <a:extLst>
                  <a:ext uri="{FF2B5EF4-FFF2-40B4-BE49-F238E27FC236}">
                    <a16:creationId xmlns:a16="http://schemas.microsoft.com/office/drawing/2014/main" id="{E6F0852C-EBCE-332D-8051-A8920DF6001D}"/>
                  </a:ext>
                </a:extLst>
              </p:cNvPr>
              <p:cNvSpPr txBox="1"/>
              <p:nvPr/>
            </p:nvSpPr>
            <p:spPr>
              <a:xfrm>
                <a:off x="679398" y="1733340"/>
                <a:ext cx="11082460" cy="1257267"/>
              </a:xfrm>
              <a:prstGeom prst="rect">
                <a:avLst/>
              </a:prstGeom>
              <a:noFill/>
            </p:spPr>
            <p:txBody>
              <a:bodyPr wrap="square">
                <a:spAutoFit/>
              </a:bodyPr>
              <a:lstStyle/>
              <a:p>
                <a:pPr marL="457200" lvl="0" indent="-457200">
                  <a:lnSpc>
                    <a:spcPct val="107000"/>
                  </a:lnSpc>
                  <a:buFont typeface="+mj-lt"/>
                  <a:buAutoNum type="arabicPeriod"/>
                </a:pPr>
                <a:r>
                  <a:rPr lang="en-US" sz="2400" dirty="0">
                    <a:latin typeface="Verdana"/>
                    <a:ea typeface="Verdana"/>
                    <a:cs typeface="Verdana"/>
                  </a:rPr>
                  <a:t>Create an expression with the largest possible value by filling in the blue boxes with the digits </a:t>
                </a:r>
                <a14:m>
                  <m:oMath xmlns:m="http://schemas.openxmlformats.org/officeDocument/2006/math">
                    <m:r>
                      <a:rPr lang="en-US" sz="2400" i="1">
                        <a:effectLst/>
                        <a:latin typeface="Cambria Math"/>
                        <a:ea typeface="Verdana"/>
                        <a:cs typeface="Verdana"/>
                      </a:rPr>
                      <m:t>1</m:t>
                    </m:r>
                  </m:oMath>
                </a14:m>
                <a:r>
                  <a:rPr lang="en-US" sz="2400" dirty="0">
                    <a:latin typeface="Verdana"/>
                    <a:ea typeface="Verdana"/>
                    <a:cs typeface="Verdana"/>
                  </a:rPr>
                  <a:t> through </a:t>
                </a:r>
                <a14:m>
                  <m:oMath xmlns:m="http://schemas.openxmlformats.org/officeDocument/2006/math">
                    <m:r>
                      <a:rPr lang="en-US" sz="2400" i="1">
                        <a:effectLst/>
                        <a:latin typeface="Cambria Math"/>
                        <a:ea typeface="Verdana"/>
                        <a:cs typeface="Verdana"/>
                      </a:rPr>
                      <m:t>5</m:t>
                    </m:r>
                  </m:oMath>
                </a14:m>
                <a:r>
                  <a:rPr lang="en-US" sz="2400" dirty="0">
                    <a:latin typeface="Verdana"/>
                    <a:ea typeface="Verdana"/>
                    <a:cs typeface="Verdana"/>
                  </a:rPr>
                  <a:t>. You can only use each digit one time.</a:t>
                </a:r>
                <a:endParaRPr lang="en-PH" sz="2400" i="1" dirty="0">
                  <a:effectLst/>
                  <a:latin typeface="Cambria Math"/>
                  <a:ea typeface="Cambria Math"/>
                  <a:cs typeface="Cambria Math"/>
                </a:endParaRPr>
              </a:p>
            </p:txBody>
          </p:sp>
        </mc:Choice>
        <mc:Fallback xmlns="">
          <p:sp>
            <p:nvSpPr>
              <p:cNvPr id="16" name="TextBox 15">
                <a:extLst>
                  <a:ext uri="{FF2B5EF4-FFF2-40B4-BE49-F238E27FC236}">
                    <a16:creationId xmlns:a16="http://schemas.microsoft.com/office/drawing/2014/main" id="{E6F0852C-EBCE-332D-8051-A8920DF6001D}"/>
                  </a:ext>
                </a:extLst>
              </p:cNvPr>
              <p:cNvSpPr txBox="1">
                <a:spLocks noRot="1" noChangeAspect="1" noMove="1" noResize="1" noEditPoints="1" noAdjustHandles="1" noChangeArrowheads="1" noChangeShapeType="1" noTextEdit="1"/>
              </p:cNvSpPr>
              <p:nvPr/>
            </p:nvSpPr>
            <p:spPr>
              <a:xfrm>
                <a:off x="679398" y="1733340"/>
                <a:ext cx="11082460" cy="1257267"/>
              </a:xfrm>
              <a:prstGeom prst="rect">
                <a:avLst/>
              </a:prstGeom>
              <a:blipFill>
                <a:blip r:embed="rId7"/>
                <a:stretch>
                  <a:fillRect l="-802" t="-5000" r="-1833" b="-9000"/>
                </a:stretch>
              </a:blipFill>
            </p:spPr>
            <p:txBody>
              <a:bodyPr/>
              <a:lstStyle/>
              <a:p>
                <a:r>
                  <a:rPr lang="en-US">
                    <a:noFill/>
                  </a:rPr>
                  <a:t> </a:t>
                </a:r>
              </a:p>
            </p:txBody>
          </p:sp>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81"/>
        <p:cNvGrpSpPr/>
        <p:nvPr/>
      </p:nvGrpSpPr>
      <p:grpSpPr>
        <a:xfrm>
          <a:off x="0" y="0"/>
          <a:ext cx="0" cy="0"/>
          <a:chOff x="0" y="0"/>
          <a:chExt cx="0" cy="0"/>
        </a:xfrm>
      </p:grpSpPr>
      <p:sp>
        <p:nvSpPr>
          <p:cNvPr id="182" name="Google Shape;182;p5"/>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83" name="Google Shape;183;p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3"/>
              </a:srgbClr>
            </a:outerShdw>
          </a:effectLst>
        </p:spPr>
      </p:pic>
      <p:sp>
        <p:nvSpPr>
          <p:cNvPr id="184" name="Google Shape;184;p5"/>
          <p:cNvSpPr txBox="1">
            <a:spLocks noGrp="1"/>
          </p:cNvSpPr>
          <p:nvPr>
            <p:ph type="title" idx="4294967295"/>
          </p:nvPr>
        </p:nvSpPr>
        <p:spPr>
          <a:xfrm>
            <a:off x="5665258" y="2766145"/>
            <a:ext cx="5002742" cy="1325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96969"/>
              <a:buNone/>
            </a:pPr>
            <a:r>
              <a:rPr lang="en-US" sz="5500" b="1">
                <a:solidFill>
                  <a:srgbClr val="33BEA6"/>
                </a:solidFill>
                <a:latin typeface="Verdana"/>
                <a:ea typeface="Verdana"/>
                <a:cs typeface="Verdana"/>
                <a:sym typeface="Verdana"/>
              </a:rPr>
              <a:t>Collaboration</a:t>
            </a:r>
            <a:endParaRPr sz="5100" b="1">
              <a:solidFill>
                <a:srgbClr val="33BEA6"/>
              </a:solidFill>
              <a:latin typeface="Verdana"/>
              <a:ea typeface="Verdana"/>
              <a:cs typeface="Verdana"/>
              <a:sym typeface="Verdana"/>
            </a:endParaRPr>
          </a:p>
        </p:txBody>
      </p:sp>
      <p:pic>
        <p:nvPicPr>
          <p:cNvPr id="185" name="Google Shape;185;p5"/>
          <p:cNvPicPr preferRelativeResize="0"/>
          <p:nvPr/>
        </p:nvPicPr>
        <p:blipFill rotWithShape="1">
          <a:blip r:embed="rId4">
            <a:alphaModFix/>
          </a:blip>
          <a:srcRect/>
          <a:stretch/>
        </p:blipFill>
        <p:spPr>
          <a:xfrm>
            <a:off x="4513114" y="2852923"/>
            <a:ext cx="1152144" cy="1152144"/>
          </a:xfrm>
          <a:prstGeom prst="rect">
            <a:avLst/>
          </a:prstGeom>
          <a:noFill/>
          <a:ln>
            <a:noFill/>
          </a:ln>
          <a:effectLst>
            <a:outerShdw blurRad="50800" dist="38100" dir="2700000" algn="tl" rotWithShape="0">
              <a:srgbClr val="000000">
                <a:alpha val="40000"/>
              </a:srgbClr>
            </a:outerShdw>
          </a:effectLst>
        </p:spPr>
      </p:pic>
      <p:sp>
        <p:nvSpPr>
          <p:cNvPr id="186" name="Google Shape;186;p5"/>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17</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sp>
        <p:nvSpPr>
          <p:cNvPr id="192" name="Google Shape;192;p6"/>
          <p:cNvSpPr/>
          <p:nvPr/>
        </p:nvSpPr>
        <p:spPr>
          <a:xfrm>
            <a:off x="0" y="-1187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193" name="Google Shape;193;p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194" name="Google Shape;194;p6"/>
          <p:cNvSpPr txBox="1"/>
          <p:nvPr/>
        </p:nvSpPr>
        <p:spPr>
          <a:xfrm>
            <a:off x="1411480" y="111536"/>
            <a:ext cx="10118848"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33BEA6"/>
                </a:solidFill>
                <a:latin typeface="Verdana"/>
                <a:ea typeface="Verdana"/>
                <a:cs typeface="Verdana"/>
                <a:sym typeface="Verdana"/>
              </a:rPr>
              <a:t>8.3.2 Collaboration: Applying More Than One Exponent Law</a:t>
            </a:r>
            <a:endParaRPr dirty="0"/>
          </a:p>
        </p:txBody>
      </p:sp>
      <p:pic>
        <p:nvPicPr>
          <p:cNvPr id="195" name="Google Shape;195;p6"/>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61672" y="399482"/>
            <a:ext cx="749808" cy="749808"/>
          </a:xfrm>
          <a:prstGeom prst="rect">
            <a:avLst/>
          </a:prstGeom>
          <a:noFill/>
          <a:ln>
            <a:noFill/>
          </a:ln>
          <a:effectLst>
            <a:outerShdw blurRad="50800" dist="38100" dir="2700000" algn="tl" rotWithShape="0">
              <a:srgbClr val="000000">
                <a:alpha val="40000"/>
              </a:srgbClr>
            </a:outerShdw>
          </a:effectLst>
        </p:spPr>
      </p:pic>
      <p:sp>
        <p:nvSpPr>
          <p:cNvPr id="197" name="Google Shape;197;p6"/>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17</a:t>
            </a:r>
            <a:endParaRPr sz="1400" b="0" i="1" u="none" strike="noStrike" cap="none">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A12D83E-330F-C0D7-5518-E1480F9D5F62}"/>
                  </a:ext>
                </a:extLst>
              </p:cNvPr>
              <p:cNvSpPr txBox="1"/>
              <p:nvPr/>
            </p:nvSpPr>
            <p:spPr>
              <a:xfrm>
                <a:off x="661672" y="1899282"/>
                <a:ext cx="10966478" cy="3147080"/>
              </a:xfrm>
              <a:prstGeom prst="rect">
                <a:avLst/>
              </a:prstGeom>
              <a:noFill/>
            </p:spPr>
            <p:txBody>
              <a:bodyPr wrap="square">
                <a:spAutoFit/>
              </a:bodyPr>
              <a:lstStyle/>
              <a:p>
                <a:pPr>
                  <a:lnSpc>
                    <a:spcPct val="107000"/>
                  </a:lnSpc>
                </a:pPr>
                <a:r>
                  <a:rPr lang="en-US" sz="2400" dirty="0">
                    <a:latin typeface="Verdana"/>
                    <a:ea typeface="Verdana"/>
                    <a:cs typeface="Verdana"/>
                  </a:rPr>
                  <a:t>An expression can be rewritten as an equivalent expression by applying one or more exponent laws.</a:t>
                </a:r>
              </a:p>
              <a:p>
                <a:pPr>
                  <a:lnSpc>
                    <a:spcPct val="107000"/>
                  </a:lnSpc>
                </a:pPr>
                <a:endParaRPr lang="en-PH" sz="2400" i="1" dirty="0">
                  <a:latin typeface="Cambria Math"/>
                  <a:ea typeface="Cambria Math"/>
                  <a:cs typeface="Verdana"/>
                </a:endParaRPr>
              </a:p>
              <a:p>
                <a:pPr>
                  <a:lnSpc>
                    <a:spcPct val="107000"/>
                  </a:lnSpc>
                </a:pPr>
                <a:r>
                  <a:rPr lang="en-US" sz="2400" dirty="0">
                    <a:latin typeface="Verdana"/>
                    <a:ea typeface="Verdana"/>
                    <a:cs typeface="Verdana"/>
                  </a:rPr>
                  <a:t>Winston and Yvette were assigned </a:t>
                </a:r>
                <a14:m>
                  <m:oMath xmlns:m="http://schemas.openxmlformats.org/officeDocument/2006/math">
                    <m:sSup>
                      <m:sSupPr>
                        <m:ctrlPr>
                          <a:rPr lang="en-PH" sz="2400" i="1">
                            <a:effectLst/>
                            <a:latin typeface="Cambria Math" panose="02040503050406030204" pitchFamily="18" charset="0"/>
                            <a:ea typeface="Verdana"/>
                            <a:cs typeface="Verdana"/>
                          </a:rPr>
                        </m:ctrlPr>
                      </m:sSupPr>
                      <m:e>
                        <m:d>
                          <m:dPr>
                            <m:ctrlPr>
                              <a:rPr lang="en-PH" sz="2400" i="1">
                                <a:effectLst/>
                                <a:latin typeface="Cambria Math" panose="02040503050406030204" pitchFamily="18" charset="0"/>
                                <a:ea typeface="Verdana"/>
                                <a:cs typeface="Verdana"/>
                              </a:rPr>
                            </m:ctrlPr>
                          </m:dPr>
                          <m:e>
                            <m:f>
                              <m:fPr>
                                <m:ctrlPr>
                                  <a:rPr lang="en-PH" sz="2400" i="1">
                                    <a:effectLst/>
                                    <a:latin typeface="Cambria Math" panose="02040503050406030204" pitchFamily="18" charset="0"/>
                                    <a:ea typeface="Verdana"/>
                                    <a:cs typeface="Verdana"/>
                                  </a:rPr>
                                </m:ctrlPr>
                              </m:fPr>
                              <m:num>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2</m:t>
                                    </m:r>
                                  </m:e>
                                  <m:sup>
                                    <m:r>
                                      <a:rPr lang="en-US" sz="2400" i="1">
                                        <a:effectLst/>
                                        <a:latin typeface="Cambria Math"/>
                                        <a:ea typeface="Verdana"/>
                                        <a:cs typeface="Verdana"/>
                                      </a:rPr>
                                      <m:t>6</m:t>
                                    </m:r>
                                  </m:sup>
                                </m:sSup>
                              </m:num>
                              <m:den>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2</m:t>
                                    </m:r>
                                  </m:e>
                                  <m:sup>
                                    <m:r>
                                      <a:rPr lang="en-US" sz="2400" i="1">
                                        <a:effectLst/>
                                        <a:latin typeface="Cambria Math"/>
                                        <a:ea typeface="Verdana"/>
                                        <a:cs typeface="Verdana"/>
                                      </a:rPr>
                                      <m:t>4</m:t>
                                    </m:r>
                                  </m:sup>
                                </m:sSup>
                              </m:den>
                            </m:f>
                          </m:e>
                        </m:d>
                      </m:e>
                      <m:sup>
                        <m:r>
                          <a:rPr lang="en-US" sz="2400" i="1">
                            <a:effectLst/>
                            <a:latin typeface="Cambria Math"/>
                            <a:ea typeface="Verdana"/>
                            <a:cs typeface="Verdana"/>
                          </a:rPr>
                          <m:t>3</m:t>
                        </m:r>
                      </m:sup>
                    </m:sSup>
                  </m:oMath>
                </a14:m>
                <a:r>
                  <a:rPr lang="en-US" sz="2400" dirty="0">
                    <a:latin typeface="Verdana"/>
                    <a:ea typeface="Verdana"/>
                    <a:cs typeface="Verdana"/>
                  </a:rPr>
                  <a:t>to rewrite as an equivalent expression using multiple exponent laws. Their teacher told them to first make a plan and then apply the laws to the expression. Complete Yvette’s work by following her plan.</a:t>
                </a:r>
                <a:endParaRPr lang="en-PH" sz="2400" i="1" dirty="0">
                  <a:effectLst/>
                  <a:latin typeface="Cambria Math"/>
                  <a:ea typeface="Cambria Math"/>
                  <a:cs typeface="Cambria Math"/>
                </a:endParaRPr>
              </a:p>
            </p:txBody>
          </p:sp>
        </mc:Choice>
        <mc:Fallback xmlns="">
          <p:sp>
            <p:nvSpPr>
              <p:cNvPr id="9" name="TextBox 8">
                <a:extLst>
                  <a:ext uri="{FF2B5EF4-FFF2-40B4-BE49-F238E27FC236}">
                    <a16:creationId xmlns:a16="http://schemas.microsoft.com/office/drawing/2014/main" id="{0A12D83E-330F-C0D7-5518-E1480F9D5F62}"/>
                  </a:ext>
                </a:extLst>
              </p:cNvPr>
              <p:cNvSpPr txBox="1">
                <a:spLocks noRot="1" noChangeAspect="1" noMove="1" noResize="1" noEditPoints="1" noAdjustHandles="1" noChangeArrowheads="1" noChangeShapeType="1" noTextEdit="1"/>
              </p:cNvSpPr>
              <p:nvPr/>
            </p:nvSpPr>
            <p:spPr>
              <a:xfrm>
                <a:off x="661672" y="1899282"/>
                <a:ext cx="10966478" cy="3147080"/>
              </a:xfrm>
              <a:prstGeom prst="rect">
                <a:avLst/>
              </a:prstGeom>
              <a:blipFill>
                <a:blip r:embed="rId5"/>
                <a:stretch>
                  <a:fillRect l="-926" t="-2008" b="-3213"/>
                </a:stretch>
              </a:blipFill>
            </p:spPr>
            <p:txBody>
              <a:bodyPr/>
              <a:lstStyle/>
              <a:p>
                <a:r>
                  <a:rPr lang="en-US">
                    <a:noFill/>
                  </a:rPr>
                  <a:t> </a:t>
                </a:r>
              </a:p>
            </p:txBody>
          </p:sp>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02"/>
        <p:cNvGrpSpPr/>
        <p:nvPr/>
      </p:nvGrpSpPr>
      <p:grpSpPr>
        <a:xfrm>
          <a:off x="0" y="0"/>
          <a:ext cx="0" cy="0"/>
          <a:chOff x="0" y="0"/>
          <a:chExt cx="0" cy="0"/>
        </a:xfrm>
      </p:grpSpPr>
      <p:sp>
        <p:nvSpPr>
          <p:cNvPr id="203" name="Google Shape;203;p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04" name="Google Shape;204;p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6644"/>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graphicFrame>
            <p:nvGraphicFramePr>
              <p:cNvPr id="205" name="Google Shape;205;p7"/>
              <p:cNvGraphicFramePr/>
              <p:nvPr>
                <p:extLst>
                  <p:ext uri="{D42A27DB-BD31-4B8C-83A1-F6EECF244321}">
                    <p14:modId xmlns:p14="http://schemas.microsoft.com/office/powerpoint/2010/main" val="101954355"/>
                  </p:ext>
                </p:extLst>
              </p:nvPr>
            </p:nvGraphicFramePr>
            <p:xfrm>
              <a:off x="2144946" y="520393"/>
              <a:ext cx="7920000" cy="3506802"/>
            </p:xfrm>
            <a:graphic>
              <a:graphicData uri="http://schemas.openxmlformats.org/drawingml/2006/table">
                <a:tbl>
                  <a:tblPr>
                    <a:noFill/>
                    <a:tableStyleId>{07A82D6B-0012-41CB-8D28-B149B940E5F0}</a:tableStyleId>
                  </a:tblPr>
                  <a:tblGrid>
                    <a:gridCol w="3240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tblGrid>
                  <a:tr h="468000">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Winston</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Yvette</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800000">
                    <a:tc>
                      <a:txBody>
                        <a:bodyPr/>
                        <a:lstStyle/>
                        <a:p>
                          <a:pPr marL="0" marR="0" lvl="0" indent="0" algn="l" rtl="0">
                            <a:lnSpc>
                              <a:spcPct val="107000"/>
                            </a:lnSpc>
                            <a:spcBef>
                              <a:spcPts val="0"/>
                            </a:spcBef>
                            <a:spcAft>
                              <a:spcPts val="0"/>
                            </a:spcAft>
                            <a:buNone/>
                          </a:pPr>
                          <a:r>
                            <a:rPr lang="en-US" sz="2000" i="0" u="none" strike="noStrike" cap="none" dirty="0">
                              <a:latin typeface="Verdana"/>
                              <a:ea typeface="Verdana"/>
                              <a:cs typeface="Verdana"/>
                              <a:sym typeface="Verdana"/>
                            </a:rPr>
                            <a:t>I will first apply the </a:t>
                          </a:r>
                          <a:r>
                            <a:rPr lang="en-US" sz="2000" b="1" i="0" u="none" strike="noStrike" cap="none" dirty="0">
                              <a:latin typeface="Verdana"/>
                              <a:ea typeface="Verdana"/>
                              <a:cs typeface="Verdana"/>
                              <a:sym typeface="Verdana"/>
                            </a:rPr>
                            <a:t>quotient of powers </a:t>
                          </a:r>
                          <a:r>
                            <a:rPr lang="en-US" sz="2000" i="0" u="none" strike="noStrike" cap="none" dirty="0">
                              <a:latin typeface="Verdana"/>
                              <a:ea typeface="Verdana"/>
                              <a:cs typeface="Verdana"/>
                              <a:sym typeface="Verdana"/>
                            </a:rPr>
                            <a:t>exponent law and then apply the </a:t>
                          </a:r>
                          <a:r>
                            <a:rPr lang="en-US" sz="2000" b="1" i="0" u="none" strike="noStrike" cap="none" dirty="0">
                              <a:latin typeface="Verdana"/>
                              <a:ea typeface="Verdana"/>
                              <a:cs typeface="Verdana"/>
                              <a:sym typeface="Verdana"/>
                            </a:rPr>
                            <a:t>power of a power</a:t>
                          </a:r>
                          <a:r>
                            <a:rPr lang="en-US" sz="2000" i="0" u="none" strike="noStrike" cap="none" dirty="0">
                              <a:latin typeface="Verdana"/>
                              <a:ea typeface="Verdana"/>
                              <a:cs typeface="Verdana"/>
                              <a:sym typeface="Verdana"/>
                            </a:rPr>
                            <a:t> exponent law. </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US" sz="2000" i="0" u="none" strike="noStrike" cap="none" dirty="0">
                              <a:latin typeface="Verdana"/>
                              <a:ea typeface="Verdana"/>
                              <a:cs typeface="Verdana"/>
                              <a:sym typeface="Verdana"/>
                            </a:rPr>
                            <a:t>I will first apply the </a:t>
                          </a:r>
                          <a:r>
                            <a:rPr lang="en-US" sz="2000" b="1" i="0" u="none" strike="noStrike" cap="none" dirty="0">
                              <a:latin typeface="Verdana"/>
                              <a:ea typeface="Verdana"/>
                              <a:cs typeface="Verdana"/>
                              <a:sym typeface="Verdana"/>
                            </a:rPr>
                            <a:t>power of a quotient </a:t>
                          </a:r>
                          <a:r>
                            <a:rPr lang="en-US" sz="2000" i="0" u="none" strike="noStrike" cap="none" dirty="0">
                              <a:latin typeface="Verdana"/>
                              <a:ea typeface="Verdana"/>
                              <a:cs typeface="Verdana"/>
                              <a:sym typeface="Verdana"/>
                            </a:rPr>
                            <a:t>exponent law, then the </a:t>
                          </a:r>
                          <a:r>
                            <a:rPr lang="en-US" sz="2000" b="1" i="0" u="none" strike="noStrike" cap="none" dirty="0">
                              <a:latin typeface="Verdana"/>
                              <a:ea typeface="Verdana"/>
                              <a:cs typeface="Verdana"/>
                              <a:sym typeface="Verdana"/>
                            </a:rPr>
                            <a:t>product of powers</a:t>
                          </a:r>
                          <a:r>
                            <a:rPr lang="en-US" sz="2000" i="0" u="none" strike="noStrike" cap="none" dirty="0">
                              <a:latin typeface="Verdana"/>
                              <a:ea typeface="Verdana"/>
                              <a:cs typeface="Verdana"/>
                              <a:sym typeface="Verdana"/>
                            </a:rPr>
                            <a:t> exponent law, and finally the </a:t>
                          </a:r>
                          <a:r>
                            <a:rPr lang="en-US" sz="2000" b="1" i="0" u="none" strike="noStrike" cap="none" dirty="0">
                              <a:latin typeface="Verdana"/>
                              <a:ea typeface="Verdana"/>
                              <a:cs typeface="Verdana"/>
                              <a:sym typeface="Verdana"/>
                            </a:rPr>
                            <a:t>quotient of powers</a:t>
                          </a:r>
                          <a:r>
                            <a:rPr lang="en-US" sz="2000" i="0" u="none" strike="noStrike" cap="none" dirty="0">
                              <a:latin typeface="Verdana"/>
                              <a:ea typeface="Verdana"/>
                              <a:cs typeface="Verdana"/>
                              <a:sym typeface="Verdana"/>
                            </a:rPr>
                            <a:t> exponent law.</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7805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n-PH" sz="2000" i="1" smtClean="0">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6</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4</m:t>
                                                </m:r>
                                              </m:sup>
                                            </m:sSup>
                                          </m:den>
                                        </m:f>
                                      </m:e>
                                    </m:d>
                                  </m:e>
                                  <m:sup>
                                    <m:r>
                                      <a:rPr lang="en-US" sz="2000" i="1">
                                        <a:effectLst/>
                                        <a:latin typeface="Cambria Math"/>
                                        <a:ea typeface="Verdana"/>
                                        <a:cs typeface="Verdana"/>
                                      </a:rPr>
                                      <m:t>3</m:t>
                                    </m:r>
                                  </m:sup>
                                </m:sSup>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2</m:t>
                                            </m:r>
                                          </m:sup>
                                        </m:sSup>
                                      </m:e>
                                    </m:d>
                                  </m:e>
                                  <m:sup>
                                    <m:r>
                                      <a:rPr lang="en-US" sz="2000" i="1">
                                        <a:effectLst/>
                                        <a:latin typeface="Cambria Math"/>
                                        <a:ea typeface="Verdana"/>
                                        <a:cs typeface="Verdana"/>
                                      </a:rPr>
                                      <m:t>3</m:t>
                                    </m:r>
                                  </m:sup>
                                </m:sSup>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6</m:t>
                                    </m:r>
                                  </m:sup>
                                </m:sSup>
                                <m:r>
                                  <a:rPr lang="en-US" sz="2000" i="1">
                                    <a:effectLst/>
                                    <a:latin typeface="Cambria Math"/>
                                    <a:ea typeface="Verdana"/>
                                    <a:cs typeface="Verdana"/>
                                  </a:rPr>
                                  <m:t>=64</m:t>
                                </m:r>
                              </m:oMath>
                            </m:oMathPara>
                          </a14:m>
                          <a:endParaRPr lang="en-PH" sz="2000" i="1" dirty="0">
                            <a:effectLst/>
                            <a:latin typeface="Verdana" pitchFamily="34" charset="0"/>
                            <a:ea typeface="Verdana" pitchFamily="34" charset="0"/>
                            <a:cs typeface="Cambria Math"/>
                          </a:endParaRPr>
                        </a:p>
                        <a:p>
                          <a:pPr marL="0" marR="0" lvl="0" indent="0" algn="l" rtl="0">
                            <a:lnSpc>
                              <a:spcPct val="100000"/>
                            </a:lnSpc>
                            <a:spcBef>
                              <a:spcPts val="0"/>
                            </a:spcBef>
                            <a:spcAft>
                              <a:spcPts val="0"/>
                            </a:spcAft>
                            <a:buNone/>
                          </a:pPr>
                          <a:endParaRPr sz="1400" u="none" strike="noStrike" cap="none" dirty="0"/>
                        </a:p>
                      </a:txBody>
                      <a:tcPr marL="137150" marR="137150" marT="137150" marB="1371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n-PH" sz="2000" i="1" smtClean="0">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6</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4</m:t>
                                                </m:r>
                                              </m:sup>
                                            </m:sSup>
                                          </m:den>
                                        </m:f>
                                      </m:e>
                                    </m:d>
                                  </m:e>
                                  <m:sup>
                                    <m:r>
                                      <a:rPr lang="en-US" sz="2000" i="1">
                                        <a:effectLst/>
                                        <a:latin typeface="Cambria Math"/>
                                        <a:ea typeface="Verdana"/>
                                        <a:cs typeface="Verdana"/>
                                      </a:rPr>
                                      <m:t>3</m:t>
                                    </m:r>
                                  </m:sup>
                                </m:sSup>
                                <m:r>
                                  <a:rPr lang="en-US" sz="2000" i="1">
                                    <a:effectLst/>
                                    <a:latin typeface="Cambria Math"/>
                                    <a:ea typeface="Verdana"/>
                                    <a:cs typeface="Verdana"/>
                                  </a:rPr>
                                  <m:t>=</m:t>
                                </m:r>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6</m:t>
                                                </m:r>
                                              </m:sup>
                                            </m:sSup>
                                          </m:e>
                                        </m:d>
                                      </m:e>
                                      <m:sup>
                                        <m:r>
                                          <a:rPr lang="en-US" sz="2000" i="1">
                                            <a:effectLst/>
                                            <a:latin typeface="Cambria Math"/>
                                            <a:ea typeface="Verdana"/>
                                            <a:cs typeface="Verdana"/>
                                          </a:rPr>
                                          <m:t>3</m:t>
                                        </m:r>
                                      </m:sup>
                                    </m:sSup>
                                  </m:num>
                                  <m:den>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m:t>
                                                </m:r>
                                              </m:e>
                                              <m:sup>
                                                <m:r>
                                                  <a:rPr lang="en-US" sz="2000" i="1">
                                                    <a:effectLst/>
                                                    <a:latin typeface="Cambria Math"/>
                                                    <a:ea typeface="Verdana"/>
                                                    <a:cs typeface="Verdana"/>
                                                  </a:rPr>
                                                  <m:t>4</m:t>
                                                </m:r>
                                              </m:sup>
                                            </m:sSup>
                                          </m:e>
                                        </m:d>
                                      </m:e>
                                      <m:sup>
                                        <m:r>
                                          <a:rPr lang="en-US" sz="2000" i="1">
                                            <a:effectLst/>
                                            <a:latin typeface="Cambria Math"/>
                                            <a:ea typeface="Verdana"/>
                                            <a:cs typeface="Verdana"/>
                                          </a:rPr>
                                          <m:t>3</m:t>
                                        </m:r>
                                      </m:sup>
                                    </m:sSup>
                                  </m:den>
                                </m:f>
                                <m:r>
                                  <a:rPr lang="en-US" sz="2000" i="1">
                                    <a:effectLst/>
                                    <a:latin typeface="Cambria Math"/>
                                    <a:ea typeface="Verdana"/>
                                    <a:cs typeface="Verdana"/>
                                  </a:rPr>
                                  <m:t> =                        </m:t>
                                </m:r>
                              </m:oMath>
                            </m:oMathPara>
                          </a14:m>
                          <a:endParaRPr lang="en-PH" sz="2000" i="1" dirty="0">
                            <a:effectLst/>
                            <a:latin typeface="Verdana" pitchFamily="34" charset="0"/>
                            <a:ea typeface="Verdana" pitchFamily="34" charset="0"/>
                            <a:cs typeface="Cambria Math"/>
                          </a:endParaRPr>
                        </a:p>
                        <a:p>
                          <a:pPr marL="0" marR="0" lvl="0" indent="0" algn="l" rtl="0">
                            <a:lnSpc>
                              <a:spcPct val="100000"/>
                            </a:lnSpc>
                            <a:spcBef>
                              <a:spcPts val="0"/>
                            </a:spcBef>
                            <a:spcAft>
                              <a:spcPts val="0"/>
                            </a:spcAft>
                            <a:buNone/>
                          </a:pPr>
                          <a:endParaRPr sz="1400" u="none" strike="noStrike" cap="none" dirty="0"/>
                        </a:p>
                      </a:txBody>
                      <a:tcPr marL="137150" marR="137150" marT="137150" marB="1371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mc:Choice>
        <mc:Fallback xmlns="">
          <p:graphicFrame>
            <p:nvGraphicFramePr>
              <p:cNvPr id="205" name="Google Shape;205;p7"/>
              <p:cNvGraphicFramePr/>
              <p:nvPr>
                <p:extLst>
                  <p:ext uri="{D42A27DB-BD31-4B8C-83A1-F6EECF244321}">
                    <p14:modId xmlns:p14="http://schemas.microsoft.com/office/powerpoint/2010/main" val="101954355"/>
                  </p:ext>
                </p:extLst>
              </p:nvPr>
            </p:nvGraphicFramePr>
            <p:xfrm>
              <a:off x="2144946" y="520393"/>
              <a:ext cx="7920000" cy="3506802"/>
            </p:xfrm>
            <a:graphic>
              <a:graphicData uri="http://schemas.openxmlformats.org/drawingml/2006/table">
                <a:tbl>
                  <a:tblPr>
                    <a:noFill/>
                    <a:tableStyleId>{07A82D6B-0012-41CB-8D28-B149B940E5F0}</a:tableStyleId>
                  </a:tblPr>
                  <a:tblGrid>
                    <a:gridCol w="3240000">
                      <a:extLst>
                        <a:ext uri="{9D8B030D-6E8A-4147-A177-3AD203B41FA5}">
                          <a16:colId xmlns:a16="http://schemas.microsoft.com/office/drawing/2014/main" val="20000"/>
                        </a:ext>
                      </a:extLst>
                    </a:gridCol>
                    <a:gridCol w="4680000">
                      <a:extLst>
                        <a:ext uri="{9D8B030D-6E8A-4147-A177-3AD203B41FA5}">
                          <a16:colId xmlns:a16="http://schemas.microsoft.com/office/drawing/2014/main" val="20001"/>
                        </a:ext>
                      </a:extLst>
                    </a:gridCol>
                  </a:tblGrid>
                  <a:tr h="468000">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Winston</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Yvette</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800000">
                    <a:tc>
                      <a:txBody>
                        <a:bodyPr/>
                        <a:lstStyle/>
                        <a:p>
                          <a:pPr marL="0" marR="0" lvl="0" indent="0" algn="l" rtl="0">
                            <a:lnSpc>
                              <a:spcPct val="107000"/>
                            </a:lnSpc>
                            <a:spcBef>
                              <a:spcPts val="0"/>
                            </a:spcBef>
                            <a:spcAft>
                              <a:spcPts val="0"/>
                            </a:spcAft>
                            <a:buNone/>
                          </a:pPr>
                          <a:r>
                            <a:rPr lang="en-US" sz="2000" i="0" u="none" strike="noStrike" cap="none" dirty="0">
                              <a:latin typeface="Verdana"/>
                              <a:ea typeface="Verdana"/>
                              <a:cs typeface="Verdana"/>
                              <a:sym typeface="Verdana"/>
                            </a:rPr>
                            <a:t>I will first apply the </a:t>
                          </a:r>
                          <a:r>
                            <a:rPr lang="en-US" sz="2000" b="1" i="0" u="none" strike="noStrike" cap="none" dirty="0">
                              <a:latin typeface="Verdana"/>
                              <a:ea typeface="Verdana"/>
                              <a:cs typeface="Verdana"/>
                              <a:sym typeface="Verdana"/>
                            </a:rPr>
                            <a:t>quotient of powers </a:t>
                          </a:r>
                          <a:r>
                            <a:rPr lang="en-US" sz="2000" i="0" u="none" strike="noStrike" cap="none" dirty="0">
                              <a:latin typeface="Verdana"/>
                              <a:ea typeface="Verdana"/>
                              <a:cs typeface="Verdana"/>
                              <a:sym typeface="Verdana"/>
                            </a:rPr>
                            <a:t>exponent law and then apply the </a:t>
                          </a:r>
                          <a:r>
                            <a:rPr lang="en-US" sz="2000" b="1" i="0" u="none" strike="noStrike" cap="none" dirty="0">
                              <a:latin typeface="Verdana"/>
                              <a:ea typeface="Verdana"/>
                              <a:cs typeface="Verdana"/>
                              <a:sym typeface="Verdana"/>
                            </a:rPr>
                            <a:t>power of a power</a:t>
                          </a:r>
                          <a:r>
                            <a:rPr lang="en-US" sz="2000" i="0" u="none" strike="noStrike" cap="none" dirty="0">
                              <a:latin typeface="Verdana"/>
                              <a:ea typeface="Verdana"/>
                              <a:cs typeface="Verdana"/>
                              <a:sym typeface="Verdana"/>
                            </a:rPr>
                            <a:t> exponent law. </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US" sz="2000" i="0" u="none" strike="noStrike" cap="none" dirty="0">
                              <a:latin typeface="Verdana"/>
                              <a:ea typeface="Verdana"/>
                              <a:cs typeface="Verdana"/>
                              <a:sym typeface="Verdana"/>
                            </a:rPr>
                            <a:t>I will first apply the </a:t>
                          </a:r>
                          <a:r>
                            <a:rPr lang="en-US" sz="2000" b="1" i="0" u="none" strike="noStrike" cap="none" dirty="0">
                              <a:latin typeface="Verdana"/>
                              <a:ea typeface="Verdana"/>
                              <a:cs typeface="Verdana"/>
                              <a:sym typeface="Verdana"/>
                            </a:rPr>
                            <a:t>power of a quotient </a:t>
                          </a:r>
                          <a:r>
                            <a:rPr lang="en-US" sz="2000" i="0" u="none" strike="noStrike" cap="none" dirty="0">
                              <a:latin typeface="Verdana"/>
                              <a:ea typeface="Verdana"/>
                              <a:cs typeface="Verdana"/>
                              <a:sym typeface="Verdana"/>
                            </a:rPr>
                            <a:t>exponent law, then the </a:t>
                          </a:r>
                          <a:r>
                            <a:rPr lang="en-US" sz="2000" b="1" i="0" u="none" strike="noStrike" cap="none" dirty="0">
                              <a:latin typeface="Verdana"/>
                              <a:ea typeface="Verdana"/>
                              <a:cs typeface="Verdana"/>
                              <a:sym typeface="Verdana"/>
                            </a:rPr>
                            <a:t>product of powers</a:t>
                          </a:r>
                          <a:r>
                            <a:rPr lang="en-US" sz="2000" i="0" u="none" strike="noStrike" cap="none" dirty="0">
                              <a:latin typeface="Verdana"/>
                              <a:ea typeface="Verdana"/>
                              <a:cs typeface="Verdana"/>
                              <a:sym typeface="Verdana"/>
                            </a:rPr>
                            <a:t> exponent law, and finally the </a:t>
                          </a:r>
                          <a:r>
                            <a:rPr lang="en-US" sz="2000" b="1" i="0" u="none" strike="noStrike" cap="none" dirty="0">
                              <a:latin typeface="Verdana"/>
                              <a:ea typeface="Verdana"/>
                              <a:cs typeface="Verdana"/>
                              <a:sym typeface="Verdana"/>
                            </a:rPr>
                            <a:t>quotient of powers</a:t>
                          </a:r>
                          <a:r>
                            <a:rPr lang="en-US" sz="2000" i="0" u="none" strike="noStrike" cap="none" dirty="0">
                              <a:latin typeface="Verdana"/>
                              <a:ea typeface="Verdana"/>
                              <a:cs typeface="Verdana"/>
                              <a:sym typeface="Verdana"/>
                            </a:rPr>
                            <a:t> exponent law.</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238802">
                    <a:tc>
                      <a:txBody>
                        <a:bodyPr/>
                        <a:lstStyle/>
                        <a:p>
                          <a:endParaRPr lang="en-US"/>
                        </a:p>
                      </a:txBody>
                      <a:tcPr marL="137150" marR="137150" marT="137150" marB="1371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4"/>
                          <a:stretch>
                            <a:fillRect t="-184694" r="-144922" b="-1020"/>
                          </a:stretch>
                        </a:blipFill>
                      </a:tcPr>
                    </a:tc>
                    <a:tc>
                      <a:txBody>
                        <a:bodyPr/>
                        <a:lstStyle/>
                        <a:p>
                          <a:endParaRPr lang="en-US"/>
                        </a:p>
                      </a:txBody>
                      <a:tcPr marL="137150" marR="137150" marT="137150" marB="137150"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4"/>
                          <a:stretch>
                            <a:fillRect l="-69377" t="-184694" r="-542" b="-1020"/>
                          </a:stretch>
                        </a:blipFill>
                      </a:tcPr>
                    </a:tc>
                    <a:extLst>
                      <a:ext uri="{0D108BD9-81ED-4DB2-BD59-A6C34878D82A}">
                        <a16:rowId xmlns:a16="http://schemas.microsoft.com/office/drawing/2014/main" val="10002"/>
                      </a:ext>
                    </a:extLst>
                  </a:tr>
                </a:tbl>
              </a:graphicData>
            </a:graphic>
          </p:graphicFrame>
        </mc:Fallback>
      </mc:AlternateContent>
      <p:sp>
        <p:nvSpPr>
          <p:cNvPr id="206" name="Google Shape;206;p7"/>
          <p:cNvSpPr txBox="1"/>
          <p:nvPr/>
        </p:nvSpPr>
        <p:spPr>
          <a:xfrm>
            <a:off x="560438" y="4138449"/>
            <a:ext cx="11067711" cy="2068195"/>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7000"/>
              </a:lnSpc>
              <a:spcBef>
                <a:spcPts val="0"/>
              </a:spcBef>
              <a:spcAft>
                <a:spcPts val="0"/>
              </a:spcAft>
              <a:buClr>
                <a:srgbClr val="000000"/>
              </a:buClr>
              <a:buSzPts val="2400"/>
              <a:buFont typeface="Arial"/>
              <a:buAutoNum type="arabicPeriod"/>
            </a:pPr>
            <a:r>
              <a:rPr lang="en-US" sz="2400" b="0" i="0" u="none" strike="noStrike" cap="none" dirty="0">
                <a:solidFill>
                  <a:srgbClr val="000000"/>
                </a:solidFill>
                <a:latin typeface="Verdana"/>
                <a:ea typeface="Verdana"/>
                <a:cs typeface="Verdana"/>
                <a:sym typeface="Verdana"/>
              </a:rPr>
              <a:t>Explain which method you prefer.</a:t>
            </a:r>
            <a:endParaRPr sz="2000" b="0" i="1" u="none" strike="noStrike" cap="none" dirty="0">
              <a:solidFill>
                <a:srgbClr val="000000"/>
              </a:solidFill>
              <a:latin typeface="Cambria Math"/>
              <a:ea typeface="Cambria Math"/>
              <a:cs typeface="Cambria Math"/>
              <a:sym typeface="Cambria Math"/>
            </a:endParaRPr>
          </a:p>
          <a:p>
            <a:pPr marL="457200" marR="0" lvl="0" indent="-304800" algn="l" rtl="0">
              <a:lnSpc>
                <a:spcPct val="107000"/>
              </a:lnSpc>
              <a:spcBef>
                <a:spcPts val="0"/>
              </a:spcBef>
              <a:spcAft>
                <a:spcPts val="0"/>
              </a:spcAft>
              <a:buClr>
                <a:srgbClr val="000000"/>
              </a:buClr>
              <a:buSzPts val="2400"/>
              <a:buFont typeface="Arial"/>
              <a:buNone/>
            </a:pPr>
            <a:endParaRPr sz="2400" b="0" i="0" u="none" strike="noStrike" cap="none" dirty="0">
              <a:solidFill>
                <a:srgbClr val="000000"/>
              </a:solidFill>
              <a:latin typeface="Verdana"/>
              <a:ea typeface="Verdana"/>
              <a:cs typeface="Verdana"/>
              <a:sym typeface="Verdana"/>
            </a:endParaRPr>
          </a:p>
          <a:p>
            <a:pPr marL="457200" marR="0" lvl="0" indent="-304800" algn="l" rtl="0">
              <a:lnSpc>
                <a:spcPct val="107000"/>
              </a:lnSpc>
              <a:spcBef>
                <a:spcPts val="0"/>
              </a:spcBef>
              <a:spcAft>
                <a:spcPts val="0"/>
              </a:spcAft>
              <a:buClr>
                <a:srgbClr val="000000"/>
              </a:buClr>
              <a:buSzPts val="2400"/>
              <a:buFont typeface="Arial"/>
              <a:buNone/>
            </a:pPr>
            <a:endParaRPr sz="2400" b="0" i="0" u="none" strike="noStrike" cap="none" dirty="0">
              <a:solidFill>
                <a:srgbClr val="000000"/>
              </a:solidFill>
              <a:latin typeface="Verdana"/>
              <a:ea typeface="Verdana"/>
              <a:cs typeface="Verdana"/>
              <a:sym typeface="Verdana"/>
            </a:endParaRPr>
          </a:p>
          <a:p>
            <a:pPr marL="457200" marR="0" lvl="0" indent="-457200" algn="l" rtl="0">
              <a:lnSpc>
                <a:spcPct val="107000"/>
              </a:lnSpc>
              <a:spcBef>
                <a:spcPts val="0"/>
              </a:spcBef>
              <a:spcAft>
                <a:spcPts val="0"/>
              </a:spcAft>
              <a:buClr>
                <a:srgbClr val="000000"/>
              </a:buClr>
              <a:buSzPts val="2400"/>
              <a:buFont typeface="+mj-lt"/>
              <a:buAutoNum type="arabicPeriod" startAt="2"/>
            </a:pPr>
            <a:r>
              <a:rPr lang="en-US" sz="2400" b="0" i="0" u="none" strike="noStrike" cap="none" dirty="0">
                <a:solidFill>
                  <a:srgbClr val="000000"/>
                </a:solidFill>
                <a:latin typeface="Verdana"/>
                <a:ea typeface="Verdana"/>
                <a:cs typeface="Verdana"/>
                <a:sym typeface="Verdana"/>
              </a:rPr>
              <a:t>Ask your partner which method they prefer. Write their explanation here.</a:t>
            </a:r>
            <a:endParaRPr sz="2000" b="0" i="1" u="none" strike="noStrike" cap="none" dirty="0">
              <a:solidFill>
                <a:srgbClr val="000000"/>
              </a:solidFill>
              <a:latin typeface="Cambria Math"/>
              <a:ea typeface="Cambria Math"/>
              <a:cs typeface="Cambria Math"/>
              <a:sym typeface="Cambria Math"/>
            </a:endParaRPr>
          </a:p>
        </p:txBody>
      </p:sp>
      <p:sp>
        <p:nvSpPr>
          <p:cNvPr id="207" name="Google Shape;207;p7"/>
          <p:cNvSpPr txBox="1"/>
          <p:nvPr/>
        </p:nvSpPr>
        <p:spPr>
          <a:xfrm>
            <a:off x="8889924" y="646371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17</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12"/>
        <p:cNvGrpSpPr/>
        <p:nvPr/>
      </p:nvGrpSpPr>
      <p:grpSpPr>
        <a:xfrm>
          <a:off x="0" y="0"/>
          <a:ext cx="0" cy="0"/>
          <a:chOff x="0" y="0"/>
          <a:chExt cx="0" cy="0"/>
        </a:xfrm>
      </p:grpSpPr>
      <p:sp>
        <p:nvSpPr>
          <p:cNvPr id="213" name="Google Shape;213;p8"/>
          <p:cNvSpPr/>
          <p:nvPr/>
        </p:nvSpPr>
        <p:spPr>
          <a:xfrm>
            <a:off x="0" y="-1187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14" name="Google Shape;214;p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15" name="Google Shape;215;p8"/>
          <p:cNvSpPr txBox="1">
            <a:spLocks noGrp="1"/>
          </p:cNvSpPr>
          <p:nvPr>
            <p:ph type="title" idx="4294967295"/>
          </p:nvPr>
        </p:nvSpPr>
        <p:spPr>
          <a:xfrm>
            <a:off x="5225955" y="2766145"/>
            <a:ext cx="4480750" cy="13257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90000"/>
              </a:lnSpc>
              <a:spcBef>
                <a:spcPts val="0"/>
              </a:spcBef>
              <a:spcAft>
                <a:spcPts val="0"/>
              </a:spcAft>
              <a:buClr>
                <a:schemeClr val="lt1"/>
              </a:buClr>
              <a:buSzPct val="96969"/>
              <a:buNone/>
            </a:pPr>
            <a:r>
              <a:rPr lang="en-US" sz="5500" b="1">
                <a:solidFill>
                  <a:srgbClr val="54B5D1"/>
                </a:solidFill>
                <a:latin typeface="Verdana"/>
                <a:ea typeface="Verdana"/>
                <a:cs typeface="Verdana"/>
                <a:sym typeface="Verdana"/>
              </a:rPr>
              <a:t>Guided Practice</a:t>
            </a:r>
            <a:endParaRPr sz="5100" b="1">
              <a:solidFill>
                <a:srgbClr val="54B5D1"/>
              </a:solidFill>
              <a:latin typeface="Verdana"/>
              <a:ea typeface="Verdana"/>
              <a:cs typeface="Verdana"/>
              <a:sym typeface="Verdana"/>
            </a:endParaRPr>
          </a:p>
        </p:txBody>
      </p:sp>
      <p:pic>
        <p:nvPicPr>
          <p:cNvPr id="216" name="Google Shape;216;p8" descr="Icon&#10;&#10;Description automatically generated"/>
          <p:cNvPicPr preferRelativeResize="0"/>
          <p:nvPr/>
        </p:nvPicPr>
        <p:blipFill rotWithShape="1">
          <a:blip r:embed="rId4">
            <a:alphaModFix/>
          </a:blip>
          <a:srcRect/>
          <a:stretch/>
        </p:blipFill>
        <p:spPr>
          <a:xfrm>
            <a:off x="4512723" y="2852923"/>
            <a:ext cx="1152144" cy="1152144"/>
          </a:xfrm>
          <a:prstGeom prst="rect">
            <a:avLst/>
          </a:prstGeom>
          <a:noFill/>
          <a:ln>
            <a:noFill/>
          </a:ln>
          <a:effectLst>
            <a:outerShdw blurRad="50800" dist="38100" dir="2700000" algn="tl" rotWithShape="0">
              <a:srgbClr val="000000">
                <a:alpha val="40000"/>
              </a:srgbClr>
            </a:outerShdw>
          </a:effectLst>
        </p:spPr>
      </p:pic>
      <p:sp>
        <p:nvSpPr>
          <p:cNvPr id="217" name="Google Shape;217;p8"/>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17</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9"/>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24" name="Google Shape;224;p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225" name="Google Shape;225;p9"/>
          <p:cNvSpPr txBox="1"/>
          <p:nvPr/>
        </p:nvSpPr>
        <p:spPr>
          <a:xfrm>
            <a:off x="1420335" y="181994"/>
            <a:ext cx="8967249" cy="978689"/>
          </a:xfrm>
          <a:prstGeom prst="rect">
            <a:avLst/>
          </a:prstGeom>
          <a:noFill/>
          <a:ln>
            <a:noFill/>
          </a:ln>
        </p:spPr>
        <p:txBody>
          <a:bodyPr spcFirstLastPara="1" wrap="square" lIns="91425" tIns="45700" rIns="91425" bIns="45700" anchor="ctr" anchorCtr="0">
            <a:spAutoFit/>
          </a:bodyPr>
          <a:lstStyle/>
          <a:p>
            <a:pPr marL="0" marR="0" lvl="0" indent="0" algn="l" rtl="0">
              <a:lnSpc>
                <a:spcPct val="90000"/>
              </a:lnSpc>
              <a:spcBef>
                <a:spcPts val="0"/>
              </a:spcBef>
              <a:spcAft>
                <a:spcPts val="0"/>
              </a:spcAft>
              <a:buNone/>
            </a:pPr>
            <a:r>
              <a:rPr lang="en-US" sz="3200" b="1" i="0" u="none" strike="noStrike" cap="none" dirty="0">
                <a:solidFill>
                  <a:srgbClr val="54B5D1"/>
                </a:solidFill>
                <a:latin typeface="Verdana"/>
                <a:ea typeface="Verdana"/>
                <a:cs typeface="Verdana"/>
                <a:sym typeface="Verdana"/>
              </a:rPr>
              <a:t>8.3.3 Guided Practice: Writing Equivalent Expressions to Evaluate</a:t>
            </a:r>
            <a:endParaRPr sz="3200" dirty="0"/>
          </a:p>
        </p:txBody>
      </p:sp>
      <p:pic>
        <p:nvPicPr>
          <p:cNvPr id="226" name="Google Shape;226;p9"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670527" y="282357"/>
            <a:ext cx="749808" cy="749808"/>
          </a:xfrm>
          <a:prstGeom prst="rect">
            <a:avLst/>
          </a:prstGeom>
          <a:noFill/>
          <a:ln>
            <a:noFill/>
          </a:ln>
          <a:effectLst>
            <a:outerShdw blurRad="50800" dist="38100" dir="2700000" algn="tl" rotWithShape="0">
              <a:srgbClr val="000000">
                <a:alpha val="40000"/>
              </a:srgbClr>
            </a:outerShdw>
          </a:effectLst>
        </p:spPr>
      </p:pic>
      <mc:AlternateContent xmlns:mc="http://schemas.openxmlformats.org/markup-compatibility/2006" xmlns:a14="http://schemas.microsoft.com/office/drawing/2010/main">
        <mc:Choice Requires="a14">
          <p:graphicFrame>
            <p:nvGraphicFramePr>
              <p:cNvPr id="228" name="Google Shape;228;p9"/>
              <p:cNvGraphicFramePr/>
              <p:nvPr>
                <p:extLst>
                  <p:ext uri="{D42A27DB-BD31-4B8C-83A1-F6EECF244321}">
                    <p14:modId xmlns:p14="http://schemas.microsoft.com/office/powerpoint/2010/main" val="3264363243"/>
                  </p:ext>
                </p:extLst>
              </p:nvPr>
            </p:nvGraphicFramePr>
            <p:xfrm>
              <a:off x="2617470" y="2414006"/>
              <a:ext cx="5760000" cy="4226828"/>
            </p:xfrm>
            <a:graphic>
              <a:graphicData uri="http://schemas.openxmlformats.org/drawingml/2006/table">
                <a:tbl>
                  <a:tblPr>
                    <a:noFill/>
                    <a:tableStyleId>{07A82D6B-0012-41CB-8D28-B149B940E5F0}</a:tableStyleId>
                  </a:tblPr>
                  <a:tblGrid>
                    <a:gridCol w="2880000">
                      <a:extLst>
                        <a:ext uri="{9D8B030D-6E8A-4147-A177-3AD203B41FA5}">
                          <a16:colId xmlns:a16="http://schemas.microsoft.com/office/drawing/2014/main" val="20000"/>
                        </a:ext>
                      </a:extLst>
                    </a:gridCol>
                    <a:gridCol w="2880000">
                      <a:extLst>
                        <a:ext uri="{9D8B030D-6E8A-4147-A177-3AD203B41FA5}">
                          <a16:colId xmlns:a16="http://schemas.microsoft.com/office/drawing/2014/main" val="20001"/>
                        </a:ext>
                      </a:extLst>
                    </a:gridCol>
                  </a:tblGrid>
                  <a:tr h="400625">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Caroline’s Work</a:t>
                          </a:r>
                          <a:endParaRPr sz="2000" i="1" u="none" strike="noStrike" cap="none">
                            <a:latin typeface="Cambria Math"/>
                            <a:ea typeface="Cambria Math"/>
                            <a:cs typeface="Cambria Math"/>
                            <a:sym typeface="Cambria Math"/>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Jamir’s Work</a:t>
                          </a:r>
                          <a:endParaRPr sz="2000" i="1" u="none" strike="noStrike" cap="none">
                            <a:latin typeface="Cambria Math"/>
                            <a:ea typeface="Cambria Math"/>
                            <a:cs typeface="Cambria Math"/>
                            <a:sym typeface="Cambria Math"/>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3826200">
                    <a:tc>
                      <a:txBody>
                        <a:bodyPr/>
                        <a:lstStyle/>
                        <a:p>
                          <a:pPr>
                            <a:lnSpc>
                              <a:spcPct val="107000"/>
                            </a:lnSpc>
                            <a:spcAft>
                              <a:spcPts val="1200"/>
                            </a:spcAft>
                          </a:pPr>
                          <a14:m>
                            <m:oMathPara xmlns:m="http://schemas.openxmlformats.org/officeDocument/2006/math">
                              <m:oMathParaPr>
                                <m:jc m:val="centerGroup"/>
                              </m:oMathParaPr>
                              <m:oMath xmlns:m="http://schemas.openxmlformats.org/officeDocument/2006/math">
                                <m:f>
                                  <m:fPr>
                                    <m:ctrlPr>
                                      <a:rPr lang="en-PH" sz="2000" i="1" smtClean="0">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m:t>
                                        </m:r>
                                      </m:sup>
                                    </m:sSup>
                                    <m:r>
                                      <a:rPr lang="en-US" sz="2000" i="1">
                                        <a:effectLst/>
                                        <a:latin typeface="Cambria Math"/>
                                        <a:ea typeface="Verdana"/>
                                        <a:cs typeface="Verdana"/>
                                      </a:rPr>
                                      <m:t> </m:t>
                                    </m:r>
                                    <m:r>
                                      <a:rPr lang="en-US" sz="2000" i="1">
                                        <a:effectLst/>
                                        <a:latin typeface="Cambria Math"/>
                                        <a:ea typeface="Cambria Math"/>
                                        <a:cs typeface="Cambria Math"/>
                                      </a:rPr>
                                      <m:t>∙ </m:t>
                                    </m:r>
                                    <m:sSup>
                                      <m:sSupPr>
                                        <m:ctrlPr>
                                          <a:rPr lang="en-PH" sz="2000" i="1">
                                            <a:effectLst/>
                                            <a:latin typeface="Cambria Math" panose="02040503050406030204" pitchFamily="18" charset="0"/>
                                            <a:ea typeface="Cambria Math"/>
                                            <a:cs typeface="Cambria Math"/>
                                          </a:rPr>
                                        </m:ctrlPr>
                                      </m:sSupPr>
                                      <m:e>
                                        <m:r>
                                          <a:rPr lang="en-US" sz="2000" i="1">
                                            <a:effectLst/>
                                            <a:latin typeface="Cambria Math"/>
                                            <a:ea typeface="Cambria Math"/>
                                            <a:cs typeface="Cambria Math"/>
                                          </a:rPr>
                                          <m:t>4</m:t>
                                        </m:r>
                                      </m:e>
                                      <m:sup>
                                        <m:r>
                                          <a:rPr lang="en-US" sz="2000" i="1">
                                            <a:effectLst/>
                                            <a:latin typeface="Cambria Math"/>
                                            <a:ea typeface="Cambria Math"/>
                                            <a:cs typeface="Cambria Math"/>
                                          </a:rPr>
                                          <m:t>0</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den>
                                </m:f>
                              </m:oMath>
                            </m:oMathPara>
                          </a14:m>
                          <a:endParaRPr lang="en-PH" sz="2000" i="1" dirty="0">
                            <a:effectLst/>
                            <a:latin typeface="Cambria Math"/>
                            <a:ea typeface="Cambria Math"/>
                            <a:cs typeface="Cambria Math"/>
                          </a:endParaRPr>
                        </a:p>
                        <a:p>
                          <a:pPr>
                            <a:lnSpc>
                              <a:spcPct val="107000"/>
                            </a:lnSpc>
                            <a:spcAft>
                              <a:spcPts val="12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(5+0)</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den>
                                </m:f>
                              </m:oMath>
                            </m:oMathPara>
                          </a14:m>
                          <a:endParaRPr lang="en-PH" sz="2000" i="1" dirty="0">
                            <a:effectLst/>
                            <a:latin typeface="Cambria Math"/>
                            <a:ea typeface="Cambria Math"/>
                            <a:cs typeface="Cambria Math"/>
                          </a:endParaRPr>
                        </a:p>
                        <a:p>
                          <a:pPr>
                            <a:lnSpc>
                              <a:spcPct val="107000"/>
                            </a:lnSpc>
                            <a:spcAft>
                              <a:spcPts val="12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den>
                                </m:f>
                              </m:oMath>
                            </m:oMathPara>
                          </a14:m>
                          <a:endParaRPr lang="en-PH" sz="2000" i="1" dirty="0">
                            <a:effectLst/>
                            <a:latin typeface="Cambria Math"/>
                            <a:ea typeface="Cambria Math"/>
                            <a:cs typeface="Cambria Math"/>
                          </a:endParaRPr>
                        </a:p>
                        <a:p>
                          <a:pPr>
                            <a:lnSpc>
                              <a:spcPct val="107000"/>
                            </a:lnSpc>
                            <a:spcAft>
                              <a:spcPts val="120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(5 −2)</m:t>
                                    </m:r>
                                  </m:sup>
                                </m:sSup>
                              </m:oMath>
                            </m:oMathPara>
                          </a14:m>
                          <a:endParaRPr lang="en-PH" sz="2000" i="1" dirty="0">
                            <a:effectLst/>
                            <a:latin typeface="Cambria Math"/>
                            <a:ea typeface="Cambria Math"/>
                            <a:cs typeface="Cambria Math"/>
                          </a:endParaRPr>
                        </a:p>
                        <a:p>
                          <a:pPr>
                            <a:lnSpc>
                              <a:spcPct val="107000"/>
                            </a:lnSpc>
                            <a:spcAft>
                              <a:spcPts val="120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3</m:t>
                                    </m:r>
                                  </m:sup>
                                </m:sSup>
                              </m:oMath>
                            </m:oMathPara>
                          </a14:m>
                          <a:endParaRPr lang="en-PH" sz="2000" i="1" dirty="0">
                            <a:effectLst/>
                            <a:latin typeface="Cambria Math"/>
                            <a:ea typeface="Cambria Math"/>
                            <a:cs typeface="Cambria Math"/>
                          </a:endParaRPr>
                        </a:p>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64</m:t>
                                </m:r>
                              </m:oMath>
                            </m:oMathPara>
                          </a14:m>
                          <a:endParaRPr sz="2000" u="none" strike="noStrike" cap="none" dirty="0"/>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a:lnSpc>
                              <a:spcPct val="107000"/>
                            </a:lnSpc>
                            <a:spcAft>
                              <a:spcPts val="1200"/>
                            </a:spcAft>
                          </a:pPr>
                          <a14:m>
                            <m:oMathPara xmlns:m="http://schemas.openxmlformats.org/officeDocument/2006/math">
                              <m:oMathParaPr>
                                <m:jc m:val="centerGroup"/>
                              </m:oMathParaPr>
                              <m:oMath xmlns:m="http://schemas.openxmlformats.org/officeDocument/2006/math">
                                <m:f>
                                  <m:fPr>
                                    <m:ctrlPr>
                                      <a:rPr lang="en-PH" sz="2000" i="1" smtClean="0">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m:t>
                                        </m:r>
                                      </m:sup>
                                    </m:sSup>
                                    <m:r>
                                      <a:rPr lang="en-US" sz="2000" i="1">
                                        <a:effectLst/>
                                        <a:latin typeface="Cambria Math"/>
                                        <a:ea typeface="Verdana"/>
                                        <a:cs typeface="Verdana"/>
                                      </a:rPr>
                                      <m:t> </m:t>
                                    </m:r>
                                    <m:r>
                                      <a:rPr lang="en-US" sz="2000" i="1">
                                        <a:effectLst/>
                                        <a:latin typeface="Cambria Math"/>
                                        <a:ea typeface="Cambria Math"/>
                                        <a:cs typeface="Cambria Math"/>
                                      </a:rPr>
                                      <m:t>∙ </m:t>
                                    </m:r>
                                    <m:sSup>
                                      <m:sSupPr>
                                        <m:ctrlPr>
                                          <a:rPr lang="en-PH" sz="2000" i="1">
                                            <a:effectLst/>
                                            <a:latin typeface="Cambria Math" panose="02040503050406030204" pitchFamily="18" charset="0"/>
                                            <a:ea typeface="Cambria Math"/>
                                            <a:cs typeface="Cambria Math"/>
                                          </a:rPr>
                                        </m:ctrlPr>
                                      </m:sSupPr>
                                      <m:e>
                                        <m:r>
                                          <a:rPr lang="en-US" sz="2000" i="1">
                                            <a:effectLst/>
                                            <a:latin typeface="Cambria Math"/>
                                            <a:ea typeface="Cambria Math"/>
                                            <a:cs typeface="Cambria Math"/>
                                          </a:rPr>
                                          <m:t>4</m:t>
                                        </m:r>
                                      </m:e>
                                      <m:sup>
                                        <m:r>
                                          <a:rPr lang="en-US" sz="2000" i="1">
                                            <a:effectLst/>
                                            <a:latin typeface="Cambria Math"/>
                                            <a:ea typeface="Cambria Math"/>
                                            <a:cs typeface="Cambria Math"/>
                                          </a:rPr>
                                          <m:t>0</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den>
                                </m:f>
                              </m:oMath>
                            </m:oMathPara>
                          </a14:m>
                          <a:endParaRPr lang="en-PH" sz="2000" i="1" dirty="0">
                            <a:effectLst/>
                            <a:latin typeface="Cambria Math"/>
                            <a:ea typeface="Cambria Math"/>
                            <a:cs typeface="Cambria Math"/>
                          </a:endParaRPr>
                        </a:p>
                        <a:p>
                          <a:pPr>
                            <a:lnSpc>
                              <a:spcPct val="107000"/>
                            </a:lnSpc>
                            <a:spcAft>
                              <a:spcPts val="12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m:t>
                                        </m:r>
                                      </m:sup>
                                    </m:sSup>
                                    <m:r>
                                      <a:rPr lang="en-US" sz="2000" i="1">
                                        <a:effectLst/>
                                        <a:latin typeface="Cambria Math"/>
                                        <a:ea typeface="Verdana"/>
                                        <a:cs typeface="Verdana"/>
                                      </a:rPr>
                                      <m:t> </m:t>
                                    </m:r>
                                    <m:r>
                                      <a:rPr lang="en-US" sz="2000" i="1">
                                        <a:effectLst/>
                                        <a:latin typeface="Cambria Math"/>
                                        <a:ea typeface="Cambria Math"/>
                                        <a:cs typeface="Cambria Math"/>
                                      </a:rPr>
                                      <m:t>∙ 1</m:t>
                                    </m:r>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den>
                                </m:f>
                              </m:oMath>
                            </m:oMathPara>
                          </a14:m>
                          <a:endParaRPr lang="en-PH" sz="2000" i="1" dirty="0">
                            <a:effectLst/>
                            <a:latin typeface="Cambria Math"/>
                            <a:ea typeface="Cambria Math"/>
                            <a:cs typeface="Cambria Math"/>
                          </a:endParaRPr>
                        </a:p>
                        <a:p>
                          <a:pPr>
                            <a:lnSpc>
                              <a:spcPct val="107000"/>
                            </a:lnSpc>
                            <a:spcAft>
                              <a:spcPts val="1200"/>
                            </a:spcAft>
                          </a:pPr>
                          <a14:m>
                            <m:oMathPara xmlns:m="http://schemas.openxmlformats.org/officeDocument/2006/math">
                              <m:oMathParaPr>
                                <m:jc m:val="centerGroup"/>
                              </m:oMathParaPr>
                              <m:oMath xmlns:m="http://schemas.openxmlformats.org/officeDocument/2006/math">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m:t>
                                        </m:r>
                                      </m:sup>
                                    </m:sSup>
                                    <m:r>
                                      <a:rPr lang="en-US" sz="2000" i="1">
                                        <a:effectLst/>
                                        <a:latin typeface="Cambria Math"/>
                                        <a:ea typeface="Verdana"/>
                                        <a:cs typeface="Verdana"/>
                                      </a:rPr>
                                      <m:t> </m:t>
                                    </m:r>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den>
                                </m:f>
                              </m:oMath>
                            </m:oMathPara>
                          </a14:m>
                          <a:endParaRPr lang="en-PH" sz="2000" i="1" dirty="0">
                            <a:effectLst/>
                            <a:latin typeface="Cambria Math"/>
                            <a:ea typeface="Cambria Math"/>
                            <a:cs typeface="Cambria Math"/>
                          </a:endParaRPr>
                        </a:p>
                        <a:p>
                          <a:pPr>
                            <a:lnSpc>
                              <a:spcPct val="107000"/>
                            </a:lnSpc>
                            <a:spcAft>
                              <a:spcPts val="120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(5 −2)</m:t>
                                    </m:r>
                                  </m:sup>
                                </m:sSup>
                              </m:oMath>
                            </m:oMathPara>
                          </a14:m>
                          <a:endParaRPr lang="en-PH" sz="2000" i="1" dirty="0">
                            <a:effectLst/>
                            <a:latin typeface="Cambria Math"/>
                            <a:ea typeface="Cambria Math"/>
                            <a:cs typeface="Cambria Math"/>
                          </a:endParaRPr>
                        </a:p>
                        <a:p>
                          <a:pPr>
                            <a:lnSpc>
                              <a:spcPct val="107000"/>
                            </a:lnSpc>
                            <a:spcAft>
                              <a:spcPts val="1200"/>
                            </a:spcAft>
                          </a:pPr>
                          <a14:m>
                            <m:oMathPara xmlns:m="http://schemas.openxmlformats.org/officeDocument/2006/math">
                              <m:oMathParaPr>
                                <m:jc m:val="centerGroup"/>
                              </m:oMathParaPr>
                              <m:oMath xmlns:m="http://schemas.openxmlformats.org/officeDocument/2006/math">
                                <m:sSup>
                                  <m:sSupPr>
                                    <m:ctrlPr>
                                      <a:rPr lang="en-PH" sz="2000" i="1">
                                        <a:effectLst/>
                                        <a:latin typeface="Cambria Math" panose="02040503050406030204" pitchFamily="18" charset="0"/>
                                        <a:ea typeface="Cambria Math"/>
                                        <a:cs typeface="Cambria Math"/>
                                      </a:rPr>
                                    </m:ctrlPr>
                                  </m:sSupPr>
                                  <m:e>
                                    <m:r>
                                      <a:rPr lang="en-US" sz="2000" i="1">
                                        <a:effectLst/>
                                        <a:latin typeface="Cambria Math"/>
                                        <a:ea typeface="Cambria Math"/>
                                        <a:cs typeface="Cambria Math"/>
                                      </a:rPr>
                                      <m:t>4</m:t>
                                    </m:r>
                                  </m:e>
                                  <m:sup>
                                    <m:r>
                                      <a:rPr lang="en-US" sz="2000" i="1">
                                        <a:effectLst/>
                                        <a:latin typeface="Cambria Math"/>
                                        <a:ea typeface="Cambria Math"/>
                                        <a:cs typeface="Cambria Math"/>
                                      </a:rPr>
                                      <m:t>3</m:t>
                                    </m:r>
                                  </m:sup>
                                </m:sSup>
                              </m:oMath>
                            </m:oMathPara>
                          </a14:m>
                          <a:endParaRPr lang="en-PH" sz="2000" i="1" dirty="0">
                            <a:effectLst/>
                            <a:latin typeface="Cambria Math"/>
                            <a:ea typeface="Cambria Math"/>
                            <a:cs typeface="Cambria Math"/>
                          </a:endParaRPr>
                        </a:p>
                        <a:p>
                          <a:pPr>
                            <a:lnSpc>
                              <a:spcPct val="107000"/>
                            </a:lnSpc>
                            <a:spcAft>
                              <a:spcPts val="0"/>
                            </a:spcAft>
                          </a:pPr>
                          <a14:m>
                            <m:oMathPara xmlns:m="http://schemas.openxmlformats.org/officeDocument/2006/math">
                              <m:oMathParaPr>
                                <m:jc m:val="centerGroup"/>
                              </m:oMathParaPr>
                              <m:oMath xmlns:m="http://schemas.openxmlformats.org/officeDocument/2006/math">
                                <m:r>
                                  <a:rPr lang="en-US" sz="2000" i="1">
                                    <a:effectLst/>
                                    <a:latin typeface="Cambria Math"/>
                                    <a:ea typeface="Verdana"/>
                                    <a:cs typeface="Verdana"/>
                                  </a:rPr>
                                  <m:t>64</m:t>
                                </m:r>
                              </m:oMath>
                            </m:oMathPara>
                          </a14:m>
                          <a:endParaRPr sz="2000" u="none" strike="noStrike" cap="none" dirty="0"/>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mc:Choice>
        <mc:Fallback xmlns="">
          <p:graphicFrame>
            <p:nvGraphicFramePr>
              <p:cNvPr id="228" name="Google Shape;228;p9"/>
              <p:cNvGraphicFramePr/>
              <p:nvPr>
                <p:extLst>
                  <p:ext uri="{D42A27DB-BD31-4B8C-83A1-F6EECF244321}">
                    <p14:modId xmlns:p14="http://schemas.microsoft.com/office/powerpoint/2010/main" val="3264363243"/>
                  </p:ext>
                </p:extLst>
              </p:nvPr>
            </p:nvGraphicFramePr>
            <p:xfrm>
              <a:off x="2617470" y="2414006"/>
              <a:ext cx="5760000" cy="4226835"/>
            </p:xfrm>
            <a:graphic>
              <a:graphicData uri="http://schemas.openxmlformats.org/drawingml/2006/table">
                <a:tbl>
                  <a:tblPr>
                    <a:noFill/>
                    <a:tableStyleId>{07A82D6B-0012-41CB-8D28-B149B940E5F0}</a:tableStyleId>
                  </a:tblPr>
                  <a:tblGrid>
                    <a:gridCol w="2880000">
                      <a:extLst>
                        <a:ext uri="{9D8B030D-6E8A-4147-A177-3AD203B41FA5}">
                          <a16:colId xmlns:a16="http://schemas.microsoft.com/office/drawing/2014/main" val="20000"/>
                        </a:ext>
                      </a:extLst>
                    </a:gridCol>
                    <a:gridCol w="2880000">
                      <a:extLst>
                        <a:ext uri="{9D8B030D-6E8A-4147-A177-3AD203B41FA5}">
                          <a16:colId xmlns:a16="http://schemas.microsoft.com/office/drawing/2014/main" val="20001"/>
                        </a:ext>
                      </a:extLst>
                    </a:gridCol>
                  </a:tblGrid>
                  <a:tr h="400632">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Caroline’s Work</a:t>
                          </a:r>
                          <a:endParaRPr sz="2000" i="1" u="none" strike="noStrike" cap="none">
                            <a:latin typeface="Cambria Math"/>
                            <a:ea typeface="Cambria Math"/>
                            <a:cs typeface="Cambria Math"/>
                            <a:sym typeface="Cambria Math"/>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Jamir’s Work</a:t>
                          </a:r>
                          <a:endParaRPr sz="2000" i="1" u="none" strike="noStrike" cap="none">
                            <a:latin typeface="Cambria Math"/>
                            <a:ea typeface="Cambria Math"/>
                            <a:cs typeface="Cambria Math"/>
                            <a:sym typeface="Cambria Math"/>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3826203">
                    <a:tc>
                      <a:txBody>
                        <a:bodyPr/>
                        <a:lstStyle/>
                        <a:p>
                          <a:endParaRPr lang="en-US"/>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5"/>
                          <a:stretch>
                            <a:fillRect l="-881" t="-11960" r="-100881" b="-664"/>
                          </a:stretch>
                        </a:blipFill>
                      </a:tcPr>
                    </a:tc>
                    <a:tc>
                      <a:txBody>
                        <a:bodyPr/>
                        <a:lstStyle/>
                        <a:p>
                          <a:endParaRPr lang="en-US"/>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5"/>
                          <a:stretch>
                            <a:fillRect l="-100881" t="-11960" r="-881" b="-664"/>
                          </a:stretch>
                        </a:blipFill>
                      </a:tcPr>
                    </a:tc>
                    <a:extLst>
                      <a:ext uri="{0D108BD9-81ED-4DB2-BD59-A6C34878D82A}">
                        <a16:rowId xmlns:a16="http://schemas.microsoft.com/office/drawing/2014/main" val="10001"/>
                      </a:ext>
                    </a:extLst>
                  </a:tr>
                </a:tbl>
              </a:graphicData>
            </a:graphic>
          </p:graphicFrame>
        </mc:Fallback>
      </mc:AlternateContent>
      <p:sp>
        <p:nvSpPr>
          <p:cNvPr id="229" name="Google Shape;229;p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17</a:t>
            </a:r>
            <a:endParaRPr sz="1400" b="0" i="1" u="none" strike="noStrike" cap="none">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773009F-B5BB-9800-500F-00E292ABBCDA}"/>
                  </a:ext>
                </a:extLst>
              </p:cNvPr>
              <p:cNvSpPr txBox="1"/>
              <p:nvPr/>
            </p:nvSpPr>
            <p:spPr>
              <a:xfrm>
                <a:off x="530942" y="1518850"/>
                <a:ext cx="11097208" cy="607923"/>
              </a:xfrm>
              <a:prstGeom prst="rect">
                <a:avLst/>
              </a:prstGeom>
              <a:noFill/>
            </p:spPr>
            <p:txBody>
              <a:bodyPr wrap="square">
                <a:spAutoFit/>
              </a:bodyPr>
              <a:lstStyle/>
              <a:p>
                <a:pPr marL="457200" lvl="0" indent="-457200">
                  <a:lnSpc>
                    <a:spcPct val="107000"/>
                  </a:lnSpc>
                  <a:buFont typeface="+mj-lt"/>
                  <a:buAutoNum type="arabicPeriod"/>
                </a:pPr>
                <a:r>
                  <a:rPr lang="en-US" sz="2000" dirty="0">
                    <a:latin typeface="Verdana"/>
                    <a:ea typeface="Verdana"/>
                    <a:cs typeface="Verdana"/>
                  </a:rPr>
                  <a:t>Two students evaluated the expression </a:t>
                </a:r>
                <a14:m>
                  <m:oMath xmlns:m="http://schemas.openxmlformats.org/officeDocument/2006/math">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5</m:t>
                            </m:r>
                          </m:sup>
                        </m:sSup>
                        <m:r>
                          <a:rPr lang="en-US" sz="2000" i="1">
                            <a:effectLst/>
                            <a:latin typeface="Cambria Math"/>
                            <a:ea typeface="Verdana"/>
                            <a:cs typeface="Verdana"/>
                          </a:rPr>
                          <m:t> </m:t>
                        </m:r>
                        <m:r>
                          <a:rPr lang="en-US" sz="2000" i="1">
                            <a:effectLst/>
                            <a:latin typeface="Cambria Math"/>
                            <a:ea typeface="Cambria Math"/>
                            <a:cs typeface="Cambria Math"/>
                          </a:rPr>
                          <m:t>∙ </m:t>
                        </m:r>
                        <m:sSup>
                          <m:sSupPr>
                            <m:ctrlPr>
                              <a:rPr lang="en-PH" sz="2000" i="1">
                                <a:effectLst/>
                                <a:latin typeface="Cambria Math" panose="02040503050406030204" pitchFamily="18" charset="0"/>
                                <a:ea typeface="Cambria Math"/>
                                <a:cs typeface="Cambria Math"/>
                              </a:rPr>
                            </m:ctrlPr>
                          </m:sSupPr>
                          <m:e>
                            <m:r>
                              <a:rPr lang="en-US" sz="2000" i="1">
                                <a:effectLst/>
                                <a:latin typeface="Cambria Math"/>
                                <a:ea typeface="Cambria Math"/>
                                <a:cs typeface="Cambria Math"/>
                              </a:rPr>
                              <m:t>4</m:t>
                            </m:r>
                          </m:e>
                          <m:sup>
                            <m:r>
                              <a:rPr lang="en-US" sz="2000" i="1">
                                <a:effectLst/>
                                <a:latin typeface="Cambria Math"/>
                                <a:ea typeface="Cambria Math"/>
                                <a:cs typeface="Cambria Math"/>
                              </a:rPr>
                              <m:t>0</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den>
                    </m:f>
                  </m:oMath>
                </a14:m>
                <a:r>
                  <a:rPr lang="en-US" sz="2000" dirty="0">
                    <a:latin typeface="Verdana"/>
                    <a:ea typeface="Verdana"/>
                    <a:cs typeface="Verdana"/>
                  </a:rPr>
                  <a:t>  and found its value. </a:t>
                </a:r>
                <a:endParaRPr lang="en-PH" sz="2000" i="1" dirty="0">
                  <a:effectLst/>
                  <a:latin typeface="Cambria Math"/>
                  <a:ea typeface="Cambria Math"/>
                  <a:cs typeface="Cambria Math"/>
                </a:endParaRPr>
              </a:p>
            </p:txBody>
          </p:sp>
        </mc:Choice>
        <mc:Fallback xmlns="">
          <p:sp>
            <p:nvSpPr>
              <p:cNvPr id="10" name="TextBox 9">
                <a:extLst>
                  <a:ext uri="{FF2B5EF4-FFF2-40B4-BE49-F238E27FC236}">
                    <a16:creationId xmlns:a16="http://schemas.microsoft.com/office/drawing/2014/main" id="{3773009F-B5BB-9800-500F-00E292ABBCDA}"/>
                  </a:ext>
                </a:extLst>
              </p:cNvPr>
              <p:cNvSpPr txBox="1">
                <a:spLocks noRot="1" noChangeAspect="1" noMove="1" noResize="1" noEditPoints="1" noAdjustHandles="1" noChangeArrowheads="1" noChangeShapeType="1" noTextEdit="1"/>
              </p:cNvSpPr>
              <p:nvPr/>
            </p:nvSpPr>
            <p:spPr>
              <a:xfrm>
                <a:off x="530942" y="1518850"/>
                <a:ext cx="11097208" cy="607923"/>
              </a:xfrm>
              <a:prstGeom prst="rect">
                <a:avLst/>
              </a:prstGeom>
              <a:blipFill>
                <a:blip r:embed="rId6"/>
                <a:stretch>
                  <a:fillRect l="-571" b="-4082"/>
                </a:stretch>
              </a:blipFill>
            </p:spPr>
            <p:txBody>
              <a:bodyPr/>
              <a:lstStyle/>
              <a:p>
                <a:r>
                  <a:rPr lang="en-US">
                    <a:noFill/>
                  </a:rPr>
                  <a:t> </a:t>
                </a:r>
              </a:p>
            </p:txBody>
          </p:sp>
        </mc:Fallback>
      </mc:AlternateContent>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Google Shape;235;p10"/>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36" name="Google Shape;236;p1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3"/>
              </a:srgbClr>
            </a:outerShdw>
          </a:effectLst>
        </p:spPr>
      </p:pic>
      <p:sp>
        <p:nvSpPr>
          <p:cNvPr id="237" name="Google Shape;237;p10"/>
          <p:cNvSpPr txBox="1"/>
          <p:nvPr/>
        </p:nvSpPr>
        <p:spPr>
          <a:xfrm>
            <a:off x="575187" y="825194"/>
            <a:ext cx="11082214" cy="750934"/>
          </a:xfrm>
          <a:prstGeom prst="rect">
            <a:avLst/>
          </a:prstGeom>
          <a:noFill/>
          <a:ln>
            <a:noFill/>
          </a:ln>
        </p:spPr>
        <p:txBody>
          <a:bodyPr spcFirstLastPara="1" wrap="square" lIns="91425" tIns="45700" rIns="91425" bIns="45700" anchor="t" anchorCtr="0">
            <a:spAutoFit/>
          </a:bodyPr>
          <a:lstStyle/>
          <a:p>
            <a:pPr marL="457200" marR="0" lvl="0" indent="0" algn="l" rtl="0">
              <a:lnSpc>
                <a:spcPct val="107000"/>
              </a:lnSpc>
              <a:spcBef>
                <a:spcPts val="0"/>
              </a:spcBef>
              <a:spcAft>
                <a:spcPts val="0"/>
              </a:spcAft>
              <a:buNone/>
            </a:pPr>
            <a:r>
              <a:rPr lang="en-US" sz="2000" b="0" i="0" u="none" strike="noStrike" cap="none" dirty="0">
                <a:solidFill>
                  <a:srgbClr val="000000"/>
                </a:solidFill>
                <a:latin typeface="Verdana"/>
                <a:ea typeface="Verdana"/>
                <a:cs typeface="Verdana"/>
                <a:sym typeface="Verdana"/>
              </a:rPr>
              <a:t>Complete the statements explaining each student’s work by using the phrases from the word bank. </a:t>
            </a:r>
            <a:endParaRPr sz="1800" b="0" i="1" u="none" strike="noStrike" cap="none" dirty="0">
              <a:solidFill>
                <a:srgbClr val="000000"/>
              </a:solidFill>
              <a:latin typeface="Cambria Math"/>
              <a:ea typeface="Cambria Math"/>
              <a:cs typeface="Cambria Math"/>
              <a:sym typeface="Cambria Math"/>
            </a:endParaRPr>
          </a:p>
        </p:txBody>
      </p:sp>
      <p:sp>
        <p:nvSpPr>
          <p:cNvPr id="239" name="Google Shape;239;p10"/>
          <p:cNvSpPr txBox="1"/>
          <p:nvPr/>
        </p:nvSpPr>
        <p:spPr>
          <a:xfrm>
            <a:off x="1559168" y="2110486"/>
            <a:ext cx="2800350" cy="331609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1" indent="0" algn="l" rtl="0">
              <a:lnSpc>
                <a:spcPct val="107000"/>
              </a:lnSpc>
              <a:spcBef>
                <a:spcPts val="0"/>
              </a:spcBef>
              <a:spcAft>
                <a:spcPts val="0"/>
              </a:spcAft>
              <a:buNone/>
            </a:pPr>
            <a:r>
              <a:rPr lang="en-US" sz="2000" b="0" i="0" u="none" strike="noStrike" cap="none">
                <a:solidFill>
                  <a:schemeClr val="dk1"/>
                </a:solidFill>
                <a:latin typeface="Verdana"/>
                <a:ea typeface="Verdana"/>
                <a:cs typeface="Verdana"/>
                <a:sym typeface="Verdana"/>
              </a:rPr>
              <a:t>zero</a:t>
            </a:r>
            <a:endParaRPr sz="2000" b="0" i="1" u="none" strike="noStrike" cap="none">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a:solidFill>
                  <a:schemeClr val="dk1"/>
                </a:solidFill>
                <a:latin typeface="Verdana"/>
                <a:ea typeface="Verdana"/>
                <a:cs typeface="Verdana"/>
                <a:sym typeface="Verdana"/>
              </a:rPr>
              <a:t>identity</a:t>
            </a:r>
            <a:endParaRPr sz="2000" b="0" i="1" u="none" strike="noStrike" cap="none">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a:solidFill>
                  <a:schemeClr val="dk1"/>
                </a:solidFill>
                <a:latin typeface="Verdana"/>
                <a:ea typeface="Verdana"/>
                <a:cs typeface="Verdana"/>
                <a:sym typeface="Verdana"/>
              </a:rPr>
              <a:t>power of a power</a:t>
            </a:r>
            <a:endParaRPr sz="2000" b="0" i="1" u="none" strike="noStrike" cap="none">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a:solidFill>
                  <a:schemeClr val="dk1"/>
                </a:solidFill>
                <a:latin typeface="Verdana"/>
                <a:ea typeface="Verdana"/>
                <a:cs typeface="Verdana"/>
                <a:sym typeface="Verdana"/>
              </a:rPr>
              <a:t>product of powers</a:t>
            </a:r>
            <a:endParaRPr sz="2000" b="0" i="1" u="none" strike="noStrike" cap="none">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a:solidFill>
                  <a:schemeClr val="dk1"/>
                </a:solidFill>
                <a:latin typeface="Verdana"/>
                <a:ea typeface="Verdana"/>
                <a:cs typeface="Verdana"/>
                <a:sym typeface="Verdana"/>
              </a:rPr>
              <a:t>power of a product</a:t>
            </a:r>
            <a:endParaRPr sz="2000" b="0" i="1" u="none" strike="noStrike" cap="none">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a:solidFill>
                  <a:schemeClr val="dk1"/>
                </a:solidFill>
                <a:latin typeface="Verdana"/>
                <a:ea typeface="Verdana"/>
                <a:cs typeface="Verdana"/>
                <a:sym typeface="Verdana"/>
              </a:rPr>
              <a:t>quotient of powers</a:t>
            </a:r>
            <a:endParaRPr sz="2000" b="0" i="1" u="none" strike="noStrike" cap="none">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a:solidFill>
                  <a:schemeClr val="dk1"/>
                </a:solidFill>
                <a:latin typeface="Verdana"/>
                <a:ea typeface="Verdana"/>
                <a:cs typeface="Verdana"/>
                <a:sym typeface="Verdana"/>
              </a:rPr>
              <a:t>power of a quotient</a:t>
            </a:r>
            <a:endParaRPr sz="2000" b="0" i="1" u="none" strike="noStrike" cap="none">
              <a:solidFill>
                <a:schemeClr val="dk1"/>
              </a:solidFill>
              <a:latin typeface="Verdana"/>
              <a:ea typeface="Verdana"/>
              <a:cs typeface="Verdana"/>
              <a:sym typeface="Verdana"/>
            </a:endParaRPr>
          </a:p>
        </p:txBody>
      </p:sp>
      <p:sp>
        <p:nvSpPr>
          <p:cNvPr id="240" name="Google Shape;240;p10"/>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17</a:t>
            </a:r>
            <a:endParaRPr sz="1400" b="0" i="1" u="none" strike="noStrike" cap="none">
              <a:solidFill>
                <a:srgbClr val="000000"/>
              </a:solidFill>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C81A98F2-5DB1-FE29-E507-B0F2DE9D39AB}"/>
                  </a:ext>
                </a:extLst>
              </p:cNvPr>
              <p:cNvSpPr txBox="1"/>
              <p:nvPr/>
            </p:nvSpPr>
            <p:spPr>
              <a:xfrm>
                <a:off x="4619501" y="2121875"/>
                <a:ext cx="7037900" cy="2805383"/>
              </a:xfrm>
              <a:prstGeom prst="rect">
                <a:avLst/>
              </a:prstGeom>
              <a:noFill/>
            </p:spPr>
            <p:txBody>
              <a:bodyPr wrap="square">
                <a:spAutoFit/>
              </a:bodyPr>
              <a:lstStyle/>
              <a:p>
                <a:pPr marL="457200" indent="-457200">
                  <a:lnSpc>
                    <a:spcPct val="150000"/>
                  </a:lnSpc>
                  <a:spcAft>
                    <a:spcPts val="1200"/>
                  </a:spcAft>
                  <a:buFont typeface="+mj-lt"/>
                  <a:buAutoNum type="alphaLcPeriod"/>
                </a:pPr>
                <a:r>
                  <a:rPr lang="en-US" sz="2000" dirty="0">
                    <a:latin typeface="Verdana" pitchFamily="34" charset="0"/>
                    <a:ea typeface="Verdana" pitchFamily="34" charset="0"/>
                    <a:cs typeface="Verdana"/>
                  </a:rPr>
                  <a:t>Caroline used the __________ exponent law first by rewriting </a:t>
                </a:r>
                <a14:m>
                  <m:oMath xmlns:m="http://schemas.openxmlformats.org/officeDocument/2006/math">
                    <m:sSup>
                      <m:sSupPr>
                        <m:ctrlPr>
                          <a:rPr lang="en-PH" sz="2000" i="1">
                            <a:effectLst/>
                            <a:latin typeface="Cambria Math" panose="02040503050406030204" pitchFamily="18" charset="0"/>
                            <a:ea typeface="Verdana"/>
                            <a:cs typeface="Verdana"/>
                          </a:rPr>
                        </m:ctrlPr>
                      </m:sSupPr>
                      <m:e>
                        <m:r>
                          <a:rPr lang="en-US" sz="2000">
                            <a:effectLst/>
                            <a:latin typeface="Cambria Math"/>
                            <a:ea typeface="Verdana"/>
                            <a:cs typeface="Verdana"/>
                          </a:rPr>
                          <m:t>4</m:t>
                        </m:r>
                      </m:e>
                      <m:sup>
                        <m:r>
                          <a:rPr lang="en-US" sz="2000">
                            <a:effectLst/>
                            <a:latin typeface="Cambria Math"/>
                            <a:ea typeface="Verdana"/>
                            <a:cs typeface="Verdana"/>
                          </a:rPr>
                          <m:t>5</m:t>
                        </m:r>
                      </m:sup>
                    </m:sSup>
                    <m:r>
                      <a:rPr lang="en-US" sz="2000">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r>
                          <a:rPr lang="en-US" sz="2000">
                            <a:effectLst/>
                            <a:latin typeface="Cambria Math"/>
                            <a:ea typeface="Verdana"/>
                            <a:cs typeface="Verdana"/>
                          </a:rPr>
                          <m:t>4</m:t>
                        </m:r>
                      </m:e>
                      <m:sup>
                        <m:r>
                          <a:rPr lang="en-US" sz="2000">
                            <a:effectLst/>
                            <a:latin typeface="Cambria Math"/>
                            <a:ea typeface="Verdana"/>
                            <a:cs typeface="Verdana"/>
                          </a:rPr>
                          <m:t>0</m:t>
                        </m:r>
                      </m:sup>
                    </m:sSup>
                  </m:oMath>
                </a14:m>
                <a:r>
                  <a:rPr lang="en-US" sz="2000" dirty="0">
                    <a:latin typeface="Verdana" pitchFamily="34" charset="0"/>
                    <a:ea typeface="Verdana" pitchFamily="34" charset="0"/>
                    <a:cs typeface="Verdana"/>
                  </a:rPr>
                  <a:t> as </a:t>
                </a:r>
                <a14:m>
                  <m:oMath xmlns:m="http://schemas.openxmlformats.org/officeDocument/2006/math">
                    <m:sSup>
                      <m:sSupPr>
                        <m:ctrlPr>
                          <a:rPr lang="en-PH" sz="2000" i="1">
                            <a:effectLst/>
                            <a:latin typeface="Cambria Math" panose="02040503050406030204" pitchFamily="18" charset="0"/>
                            <a:ea typeface="Verdana"/>
                            <a:cs typeface="Verdana"/>
                          </a:rPr>
                        </m:ctrlPr>
                      </m:sSupPr>
                      <m:e>
                        <m:r>
                          <a:rPr lang="en-US" sz="2000">
                            <a:effectLst/>
                            <a:latin typeface="Cambria Math"/>
                            <a:ea typeface="Verdana"/>
                            <a:cs typeface="Verdana"/>
                          </a:rPr>
                          <m:t>4</m:t>
                        </m:r>
                      </m:e>
                      <m:sup>
                        <m:r>
                          <a:rPr lang="en-US" sz="2000">
                            <a:effectLst/>
                            <a:latin typeface="Cambria Math"/>
                            <a:ea typeface="Verdana"/>
                            <a:cs typeface="Verdana"/>
                          </a:rPr>
                          <m:t>5</m:t>
                        </m:r>
                      </m:sup>
                    </m:sSup>
                  </m:oMath>
                </a14:m>
                <a:r>
                  <a:rPr lang="en-US" sz="2000" dirty="0">
                    <a:latin typeface="Verdana" pitchFamily="34" charset="0"/>
                    <a:ea typeface="Verdana" pitchFamily="34" charset="0"/>
                    <a:cs typeface="Verdana"/>
                  </a:rPr>
                  <a:t> by adding the exponents. Next, she used the _______________ exponent law by subtracting the exponents </a:t>
                </a:r>
                <a14:m>
                  <m:oMath xmlns:m="http://schemas.openxmlformats.org/officeDocument/2006/math">
                    <m:r>
                      <a:rPr lang="en-US" sz="2000">
                        <a:effectLst/>
                        <a:latin typeface="Cambria Math"/>
                        <a:ea typeface="Verdana"/>
                        <a:cs typeface="Verdana"/>
                      </a:rPr>
                      <m:t>5</m:t>
                    </m:r>
                  </m:oMath>
                </a14:m>
                <a:r>
                  <a:rPr lang="en-US" sz="2000" dirty="0">
                    <a:latin typeface="Verdana" pitchFamily="34" charset="0"/>
                    <a:ea typeface="Verdana" pitchFamily="34" charset="0"/>
                    <a:cs typeface="Verdana"/>
                  </a:rPr>
                  <a:t> and </a:t>
                </a:r>
                <a14:m>
                  <m:oMath xmlns:m="http://schemas.openxmlformats.org/officeDocument/2006/math">
                    <m:r>
                      <a:rPr lang="en-US" sz="2000">
                        <a:effectLst/>
                        <a:latin typeface="Cambria Math"/>
                        <a:ea typeface="Verdana"/>
                        <a:cs typeface="Verdana"/>
                      </a:rPr>
                      <m:t>2</m:t>
                    </m:r>
                  </m:oMath>
                </a14:m>
                <a:r>
                  <a:rPr lang="en-US" sz="2000" dirty="0">
                    <a:latin typeface="Verdana" pitchFamily="34" charset="0"/>
                    <a:ea typeface="Verdana" pitchFamily="34" charset="0"/>
                    <a:cs typeface="Verdana"/>
                  </a:rPr>
                  <a:t>. Then, Caroline found the value of the exponential expression.</a:t>
                </a:r>
                <a:endParaRPr lang="en-PH" sz="2000" dirty="0">
                  <a:latin typeface="Verdana" pitchFamily="34" charset="0"/>
                  <a:ea typeface="Verdana" pitchFamily="34" charset="0"/>
                </a:endParaRPr>
              </a:p>
            </p:txBody>
          </p:sp>
        </mc:Choice>
        <mc:Fallback>
          <p:sp>
            <p:nvSpPr>
              <p:cNvPr id="9" name="TextBox 8">
                <a:extLst>
                  <a:ext uri="{FF2B5EF4-FFF2-40B4-BE49-F238E27FC236}">
                    <a16:creationId xmlns:a16="http://schemas.microsoft.com/office/drawing/2014/main" id="{C81A98F2-5DB1-FE29-E507-B0F2DE9D39AB}"/>
                  </a:ext>
                </a:extLst>
              </p:cNvPr>
              <p:cNvSpPr txBox="1">
                <a:spLocks noRot="1" noChangeAspect="1" noMove="1" noResize="1" noEditPoints="1" noAdjustHandles="1" noChangeArrowheads="1" noChangeShapeType="1" noTextEdit="1"/>
              </p:cNvSpPr>
              <p:nvPr/>
            </p:nvSpPr>
            <p:spPr>
              <a:xfrm>
                <a:off x="4619501" y="2121875"/>
                <a:ext cx="7037900" cy="2805383"/>
              </a:xfrm>
              <a:prstGeom prst="rect">
                <a:avLst/>
              </a:prstGeom>
              <a:blipFill>
                <a:blip r:embed="rId4"/>
                <a:stretch>
                  <a:fillRect l="-953" r="-1906" b="-3043"/>
                </a:stretch>
              </a:blipFill>
            </p:spPr>
            <p:txBody>
              <a:bodyPr/>
              <a:lstStyle/>
              <a:p>
                <a:r>
                  <a:rPr lang="en-US">
                    <a:noFill/>
                  </a:rPr>
                  <a:t> </a:t>
                </a:r>
              </a:p>
            </p:txBody>
          </p:sp>
        </mc:Fallback>
      </mc:AlternateContent>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45"/>
        <p:cNvGrpSpPr/>
        <p:nvPr/>
      </p:nvGrpSpPr>
      <p:grpSpPr>
        <a:xfrm>
          <a:off x="0" y="0"/>
          <a:ext cx="0" cy="0"/>
          <a:chOff x="0" y="0"/>
          <a:chExt cx="0" cy="0"/>
        </a:xfrm>
      </p:grpSpPr>
      <p:sp>
        <p:nvSpPr>
          <p:cNvPr id="246" name="Google Shape;246;p11"/>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47" name="Google Shape;247;p11"/>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250" name="Google Shape;250;p11"/>
          <p:cNvSpPr txBox="1"/>
          <p:nvPr/>
        </p:nvSpPr>
        <p:spPr>
          <a:xfrm>
            <a:off x="1446774" y="887437"/>
            <a:ext cx="2800350" cy="3316092"/>
          </a:xfrm>
          <a:prstGeom prst="rect">
            <a:avLst/>
          </a:prstGeom>
          <a:solidFill>
            <a:schemeClr val="lt1"/>
          </a:solidFill>
          <a:ln w="25400" cap="flat" cmpd="sng">
            <a:solidFill>
              <a:schemeClr val="dk1"/>
            </a:solidFill>
            <a:prstDash val="solid"/>
            <a:round/>
            <a:headEnd type="none" w="sm" len="sm"/>
            <a:tailEnd type="none" w="sm" len="sm"/>
          </a:ln>
        </p:spPr>
        <p:txBody>
          <a:bodyPr spcFirstLastPara="1" wrap="square" lIns="91425" tIns="45700" rIns="91425" bIns="45700" anchor="t" anchorCtr="0">
            <a:noAutofit/>
          </a:bodyPr>
          <a:lstStyle/>
          <a:p>
            <a:pPr marL="0" marR="0" lvl="1" indent="0" algn="l" rtl="0">
              <a:lnSpc>
                <a:spcPct val="107000"/>
              </a:lnSpc>
              <a:spcBef>
                <a:spcPts val="0"/>
              </a:spcBef>
              <a:spcAft>
                <a:spcPts val="0"/>
              </a:spcAft>
              <a:buNone/>
            </a:pPr>
            <a:r>
              <a:rPr lang="en-US" sz="2000" b="0" i="0" u="none" strike="noStrike" cap="none" dirty="0">
                <a:solidFill>
                  <a:schemeClr val="dk1"/>
                </a:solidFill>
                <a:latin typeface="Verdana"/>
                <a:ea typeface="Verdana"/>
                <a:cs typeface="Verdana"/>
                <a:sym typeface="Verdana"/>
              </a:rPr>
              <a:t>zero</a:t>
            </a:r>
            <a:endParaRPr sz="2000" b="0" i="1" u="none" strike="noStrike" cap="none" dirty="0">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dirty="0">
                <a:solidFill>
                  <a:schemeClr val="dk1"/>
                </a:solidFill>
                <a:latin typeface="Verdana"/>
                <a:ea typeface="Verdana"/>
                <a:cs typeface="Verdana"/>
                <a:sym typeface="Verdana"/>
              </a:rPr>
              <a:t>identity</a:t>
            </a:r>
            <a:endParaRPr sz="2000" b="0" i="1" u="none" strike="noStrike" cap="none" dirty="0">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dirty="0">
                <a:solidFill>
                  <a:schemeClr val="dk1"/>
                </a:solidFill>
                <a:latin typeface="Verdana"/>
                <a:ea typeface="Verdana"/>
                <a:cs typeface="Verdana"/>
                <a:sym typeface="Verdana"/>
              </a:rPr>
              <a:t>power of a power</a:t>
            </a:r>
            <a:endParaRPr sz="2000" b="0" i="1" u="none" strike="noStrike" cap="none" dirty="0">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dirty="0">
                <a:solidFill>
                  <a:schemeClr val="dk1"/>
                </a:solidFill>
                <a:latin typeface="Verdana"/>
                <a:ea typeface="Verdana"/>
                <a:cs typeface="Verdana"/>
                <a:sym typeface="Verdana"/>
              </a:rPr>
              <a:t>product of powers</a:t>
            </a:r>
            <a:endParaRPr sz="2000" b="0" i="1" u="none" strike="noStrike" cap="none" dirty="0">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dirty="0">
                <a:solidFill>
                  <a:schemeClr val="dk1"/>
                </a:solidFill>
                <a:latin typeface="Verdana"/>
                <a:ea typeface="Verdana"/>
                <a:cs typeface="Verdana"/>
                <a:sym typeface="Verdana"/>
              </a:rPr>
              <a:t>power of a product</a:t>
            </a:r>
            <a:endParaRPr sz="2000" b="0" i="1" u="none" strike="noStrike" cap="none" dirty="0">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dirty="0">
                <a:solidFill>
                  <a:schemeClr val="dk1"/>
                </a:solidFill>
                <a:latin typeface="Verdana"/>
                <a:ea typeface="Verdana"/>
                <a:cs typeface="Verdana"/>
                <a:sym typeface="Verdana"/>
              </a:rPr>
              <a:t>quotient of powers</a:t>
            </a:r>
            <a:endParaRPr sz="2000" b="0" i="1" u="none" strike="noStrike" cap="none" dirty="0">
              <a:solidFill>
                <a:schemeClr val="dk1"/>
              </a:solidFill>
              <a:latin typeface="Verdana"/>
              <a:ea typeface="Verdana"/>
              <a:cs typeface="Verdana"/>
              <a:sym typeface="Verdana"/>
            </a:endParaRPr>
          </a:p>
          <a:p>
            <a:pPr marL="0" marR="0" lvl="1" indent="0" algn="l" rtl="0">
              <a:lnSpc>
                <a:spcPct val="107000"/>
              </a:lnSpc>
              <a:spcBef>
                <a:spcPts val="1200"/>
              </a:spcBef>
              <a:spcAft>
                <a:spcPts val="0"/>
              </a:spcAft>
              <a:buNone/>
            </a:pPr>
            <a:r>
              <a:rPr lang="en-US" sz="2000" b="0" i="0" u="none" strike="noStrike" cap="none" dirty="0">
                <a:solidFill>
                  <a:schemeClr val="dk1"/>
                </a:solidFill>
                <a:latin typeface="Verdana"/>
                <a:ea typeface="Verdana"/>
                <a:cs typeface="Verdana"/>
                <a:sym typeface="Verdana"/>
              </a:rPr>
              <a:t>power of a quotient</a:t>
            </a:r>
            <a:endParaRPr sz="2000" b="0" i="1" u="none" strike="noStrike" cap="none" dirty="0">
              <a:solidFill>
                <a:schemeClr val="dk1"/>
              </a:solidFill>
              <a:latin typeface="Verdana"/>
              <a:ea typeface="Verdana"/>
              <a:cs typeface="Verdana"/>
              <a:sym typeface="Verdana"/>
            </a:endParaRPr>
          </a:p>
        </p:txBody>
      </p:sp>
      <p:sp>
        <p:nvSpPr>
          <p:cNvPr id="251" name="Google Shape;251;p11"/>
          <p:cNvSpPr/>
          <p:nvPr/>
        </p:nvSpPr>
        <p:spPr>
          <a:xfrm>
            <a:off x="1686370" y="5328262"/>
            <a:ext cx="2321158" cy="1195221"/>
          </a:xfrm>
          <a:prstGeom prst="roundRect">
            <a:avLst>
              <a:gd name="adj" fmla="val 16667"/>
            </a:avLst>
          </a:prstGeom>
          <a:solidFill>
            <a:srgbClr val="FFFFFF"/>
          </a:solidFill>
          <a:ln w="12700" cap="flat" cmpd="sng">
            <a:solidFill>
              <a:srgbClr val="000000"/>
            </a:solidFill>
            <a:prstDash val="solid"/>
            <a:miter lim="800000"/>
            <a:headEnd type="none" w="sm" len="sm"/>
            <a:tailEnd type="none" w="sm" len="sm"/>
          </a:ln>
        </p:spPr>
        <p:txBody>
          <a:bodyPr spcFirstLastPara="1" wrap="square" lIns="91425" tIns="45700" rIns="91425" bIns="45700" anchor="ctr" anchorCtr="0">
            <a:spAutoFit/>
          </a:bodyPr>
          <a:lstStyle/>
          <a:p>
            <a:pPr marL="263525" marR="0" lvl="0" indent="-263525" algn="l" rtl="0">
              <a:lnSpc>
                <a:spcPct val="107000"/>
              </a:lnSpc>
              <a:spcBef>
                <a:spcPts val="0"/>
              </a:spcBef>
              <a:spcAft>
                <a:spcPts val="0"/>
              </a:spcAft>
              <a:buClr>
                <a:srgbClr val="000000"/>
              </a:buClr>
              <a:buSzPts val="2000"/>
              <a:buFont typeface="Courier New"/>
              <a:buChar char="o"/>
            </a:pPr>
            <a:r>
              <a:rPr lang="en-US" sz="2000" b="0" i="0" u="none" strike="noStrike" cap="none">
                <a:solidFill>
                  <a:srgbClr val="000000"/>
                </a:solidFill>
                <a:latin typeface="Verdana"/>
                <a:ea typeface="Verdana"/>
                <a:cs typeface="Verdana"/>
                <a:sym typeface="Verdana"/>
              </a:rPr>
              <a:t>less than</a:t>
            </a:r>
            <a:endParaRPr sz="2000" b="0" i="1" u="none" strike="noStrike" cap="none">
              <a:solidFill>
                <a:srgbClr val="000000"/>
              </a:solidFill>
              <a:latin typeface="Verdana"/>
              <a:ea typeface="Verdana"/>
              <a:cs typeface="Verdana"/>
              <a:sym typeface="Verdana"/>
            </a:endParaRPr>
          </a:p>
          <a:p>
            <a:pPr marL="263525" marR="0" lvl="0" indent="-263525" algn="l" rtl="0">
              <a:lnSpc>
                <a:spcPct val="107000"/>
              </a:lnSpc>
              <a:spcBef>
                <a:spcPts val="0"/>
              </a:spcBef>
              <a:spcAft>
                <a:spcPts val="0"/>
              </a:spcAft>
              <a:buClr>
                <a:srgbClr val="000000"/>
              </a:buClr>
              <a:buSzPts val="2000"/>
              <a:buFont typeface="Courier New"/>
              <a:buChar char="o"/>
            </a:pPr>
            <a:r>
              <a:rPr lang="en-US" sz="2000" b="0" i="0" u="none" strike="noStrike" cap="none">
                <a:solidFill>
                  <a:srgbClr val="000000"/>
                </a:solidFill>
                <a:latin typeface="Verdana"/>
                <a:ea typeface="Verdana"/>
                <a:cs typeface="Verdana"/>
                <a:sym typeface="Verdana"/>
              </a:rPr>
              <a:t>equivalent to</a:t>
            </a:r>
            <a:endParaRPr sz="2000" b="0" i="1" u="none" strike="noStrike" cap="none">
              <a:solidFill>
                <a:srgbClr val="000000"/>
              </a:solidFill>
              <a:latin typeface="Verdana"/>
              <a:ea typeface="Verdana"/>
              <a:cs typeface="Verdana"/>
              <a:sym typeface="Verdana"/>
            </a:endParaRPr>
          </a:p>
          <a:p>
            <a:pPr marL="263525" marR="0" lvl="0" indent="-263525" algn="l" rtl="0">
              <a:lnSpc>
                <a:spcPct val="107000"/>
              </a:lnSpc>
              <a:spcBef>
                <a:spcPts val="0"/>
              </a:spcBef>
              <a:spcAft>
                <a:spcPts val="0"/>
              </a:spcAft>
              <a:buClr>
                <a:srgbClr val="000000"/>
              </a:buClr>
              <a:buSzPts val="2000"/>
              <a:buFont typeface="Courier New"/>
              <a:buChar char="o"/>
            </a:pPr>
            <a:r>
              <a:rPr lang="en-US" sz="2000" b="0" i="0" u="none" strike="noStrike" cap="none">
                <a:solidFill>
                  <a:srgbClr val="000000"/>
                </a:solidFill>
                <a:latin typeface="Verdana"/>
                <a:ea typeface="Verdana"/>
                <a:cs typeface="Verdana"/>
                <a:sym typeface="Verdana"/>
              </a:rPr>
              <a:t>greater than</a:t>
            </a:r>
            <a:endParaRPr sz="2000" b="0" i="1" u="none" strike="noStrike" cap="none">
              <a:solidFill>
                <a:srgbClr val="000000"/>
              </a:solidFill>
              <a:latin typeface="Verdana"/>
              <a:ea typeface="Verdana"/>
              <a:cs typeface="Verdana"/>
              <a:sym typeface="Verdana"/>
            </a:endParaRPr>
          </a:p>
        </p:txBody>
      </p:sp>
      <p:sp>
        <p:nvSpPr>
          <p:cNvPr id="252" name="Google Shape;252;p11"/>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18</a:t>
            </a:r>
            <a:endParaRPr sz="1400" b="0" i="1" u="none" strike="noStrike" cap="none">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FAA6D7F-5C38-FD1C-ABC0-CF117774247D}"/>
                  </a:ext>
                </a:extLst>
              </p:cNvPr>
              <p:cNvSpPr txBox="1"/>
              <p:nvPr/>
            </p:nvSpPr>
            <p:spPr>
              <a:xfrm>
                <a:off x="4675238" y="1136764"/>
                <a:ext cx="6952911" cy="2817438"/>
              </a:xfrm>
              <a:prstGeom prst="rect">
                <a:avLst/>
              </a:prstGeom>
              <a:noFill/>
            </p:spPr>
            <p:txBody>
              <a:bodyPr wrap="square">
                <a:spAutoFit/>
              </a:bodyPr>
              <a:lstStyle/>
              <a:p>
                <a:pPr marL="446088" lvl="0" indent="-446088">
                  <a:lnSpc>
                    <a:spcPct val="150000"/>
                  </a:lnSpc>
                  <a:spcAft>
                    <a:spcPts val="800"/>
                  </a:spcAft>
                  <a:buFont typeface="+mj-lt"/>
                  <a:buAutoNum type="alphaLcPeriod" startAt="2"/>
                </a:pPr>
                <a:r>
                  <a:rPr lang="en-US" sz="2000" dirty="0">
                    <a:latin typeface="Verdana"/>
                    <a:ea typeface="Verdana"/>
                    <a:cs typeface="Verdana"/>
                  </a:rPr>
                  <a:t>Jamir used the ____________ exponent law first by writing </a:t>
                </a:r>
                <a14:m>
                  <m:oMath xmlns:m="http://schemas.openxmlformats.org/officeDocument/2006/math">
                    <m:sSup>
                      <m:sSupPr>
                        <m:ctrlPr>
                          <a:rPr lang="en-PH" sz="2000" i="1">
                            <a:latin typeface="Cambria Math" panose="02040503050406030204" pitchFamily="18" charset="0"/>
                            <a:ea typeface="Verdana"/>
                            <a:cs typeface="Verdana"/>
                          </a:rPr>
                        </m:ctrlPr>
                      </m:sSupPr>
                      <m:e>
                        <m:r>
                          <a:rPr lang="en-US" sz="2000" i="1">
                            <a:latin typeface="Cambria Math"/>
                            <a:ea typeface="Verdana"/>
                            <a:cs typeface="Verdana"/>
                          </a:rPr>
                          <m:t>4</m:t>
                        </m:r>
                      </m:e>
                      <m:sup>
                        <m:r>
                          <a:rPr lang="en-US" sz="2000" i="1">
                            <a:latin typeface="Cambria Math"/>
                            <a:ea typeface="Verdana"/>
                            <a:cs typeface="Verdana"/>
                          </a:rPr>
                          <m:t>0</m:t>
                        </m:r>
                      </m:sup>
                    </m:sSup>
                  </m:oMath>
                </a14:m>
                <a:r>
                  <a:rPr lang="en-US" sz="2000" dirty="0">
                    <a:latin typeface="Verdana"/>
                    <a:ea typeface="Verdana"/>
                    <a:cs typeface="Verdana"/>
                  </a:rPr>
                  <a:t> as </a:t>
                </a:r>
                <a14:m>
                  <m:oMath xmlns:m="http://schemas.openxmlformats.org/officeDocument/2006/math">
                    <m:r>
                      <a:rPr lang="en-US" sz="2000" i="1">
                        <a:latin typeface="Cambria Math"/>
                        <a:ea typeface="Verdana"/>
                        <a:cs typeface="Verdana"/>
                      </a:rPr>
                      <m:t>1</m:t>
                    </m:r>
                  </m:oMath>
                </a14:m>
                <a:r>
                  <a:rPr lang="en-US" sz="2000" dirty="0">
                    <a:latin typeface="Verdana"/>
                    <a:ea typeface="Verdana"/>
                    <a:cs typeface="Verdana"/>
                  </a:rPr>
                  <a:t>. Then, he multiplied </a:t>
                </a:r>
                <a:br>
                  <a:rPr lang="en-PH" sz="2000" i="1" dirty="0">
                    <a:latin typeface="Cambria Math"/>
                    <a:ea typeface="Verdana"/>
                    <a:cs typeface="Verdana"/>
                  </a:rPr>
                </a:br>
                <a14:m>
                  <m:oMath xmlns:m="http://schemas.openxmlformats.org/officeDocument/2006/math">
                    <m:sSup>
                      <m:sSupPr>
                        <m:ctrlPr>
                          <a:rPr lang="en-PH" sz="2000" i="1">
                            <a:latin typeface="Cambria Math" panose="02040503050406030204" pitchFamily="18" charset="0"/>
                            <a:ea typeface="Verdana"/>
                            <a:cs typeface="Verdana"/>
                          </a:rPr>
                        </m:ctrlPr>
                      </m:sSupPr>
                      <m:e>
                        <m:r>
                          <a:rPr lang="en-US" sz="2000" i="1">
                            <a:latin typeface="Cambria Math"/>
                            <a:ea typeface="Verdana"/>
                            <a:cs typeface="Verdana"/>
                          </a:rPr>
                          <m:t>4</m:t>
                        </m:r>
                      </m:e>
                      <m:sup>
                        <m:r>
                          <a:rPr lang="en-US" sz="2000" i="1">
                            <a:latin typeface="Cambria Math"/>
                            <a:ea typeface="Verdana"/>
                            <a:cs typeface="Verdana"/>
                          </a:rPr>
                          <m:t>5</m:t>
                        </m:r>
                      </m:sup>
                    </m:sSup>
                  </m:oMath>
                </a14:m>
                <a:r>
                  <a:rPr lang="en-US" sz="2000" dirty="0">
                    <a:latin typeface="Verdana"/>
                    <a:ea typeface="Verdana"/>
                    <a:cs typeface="Verdana"/>
                  </a:rPr>
                  <a:t> by </a:t>
                </a:r>
                <a14:m>
                  <m:oMath xmlns:m="http://schemas.openxmlformats.org/officeDocument/2006/math">
                    <m:r>
                      <a:rPr lang="en-US" sz="2000" i="1">
                        <a:latin typeface="Cambria Math"/>
                        <a:ea typeface="Verdana"/>
                        <a:cs typeface="Verdana"/>
                      </a:rPr>
                      <m:t>1</m:t>
                    </m:r>
                  </m:oMath>
                </a14:m>
                <a:r>
                  <a:rPr lang="en-US" sz="2000" dirty="0">
                    <a:latin typeface="Verdana"/>
                    <a:ea typeface="Verdana"/>
                    <a:cs typeface="Verdana"/>
                  </a:rPr>
                  <a:t>. Next, he used the ____________ exponent law by subtracting the exponents </a:t>
                </a:r>
                <a:br>
                  <a:rPr lang="en-US" sz="2000" dirty="0">
                    <a:latin typeface="Verdana"/>
                    <a:ea typeface="Verdana"/>
                    <a:cs typeface="Verdana"/>
                  </a:rPr>
                </a:br>
                <a14:m>
                  <m:oMath xmlns:m="http://schemas.openxmlformats.org/officeDocument/2006/math">
                    <m:r>
                      <a:rPr lang="en-US" sz="2000" i="1">
                        <a:latin typeface="Cambria Math"/>
                        <a:ea typeface="Verdana"/>
                        <a:cs typeface="Verdana"/>
                      </a:rPr>
                      <m:t>5</m:t>
                    </m:r>
                  </m:oMath>
                </a14:m>
                <a:r>
                  <a:rPr lang="en-US" sz="2000" dirty="0">
                    <a:latin typeface="Verdana"/>
                    <a:ea typeface="Verdana"/>
                    <a:cs typeface="Verdana"/>
                  </a:rPr>
                  <a:t> and </a:t>
                </a:r>
                <a14:m>
                  <m:oMath xmlns:m="http://schemas.openxmlformats.org/officeDocument/2006/math">
                    <m:r>
                      <a:rPr lang="en-US" sz="2000" i="1">
                        <a:latin typeface="Cambria Math"/>
                        <a:ea typeface="Verdana"/>
                        <a:cs typeface="Verdana"/>
                      </a:rPr>
                      <m:t>2.</m:t>
                    </m:r>
                  </m:oMath>
                </a14:m>
                <a:r>
                  <a:rPr lang="en-US" sz="2000" dirty="0">
                    <a:latin typeface="Verdana"/>
                    <a:ea typeface="Verdana"/>
                    <a:cs typeface="Verdana"/>
                  </a:rPr>
                  <a:t> Finally, he found the value of the exponential expression.</a:t>
                </a:r>
                <a:endParaRPr lang="en-PH" sz="2000" i="1" dirty="0">
                  <a:latin typeface="Cambria Math"/>
                  <a:ea typeface="Cambria Math"/>
                  <a:cs typeface="Cambria Math"/>
                </a:endParaRPr>
              </a:p>
            </p:txBody>
          </p:sp>
        </mc:Choice>
        <mc:Fallback xmlns="">
          <p:sp>
            <p:nvSpPr>
              <p:cNvPr id="10" name="TextBox 9">
                <a:extLst>
                  <a:ext uri="{FF2B5EF4-FFF2-40B4-BE49-F238E27FC236}">
                    <a16:creationId xmlns:a16="http://schemas.microsoft.com/office/drawing/2014/main" id="{AFAA6D7F-5C38-FD1C-ABC0-CF117774247D}"/>
                  </a:ext>
                </a:extLst>
              </p:cNvPr>
              <p:cNvSpPr txBox="1">
                <a:spLocks noRot="1" noChangeAspect="1" noMove="1" noResize="1" noEditPoints="1" noAdjustHandles="1" noChangeArrowheads="1" noChangeShapeType="1" noTextEdit="1"/>
              </p:cNvSpPr>
              <p:nvPr/>
            </p:nvSpPr>
            <p:spPr>
              <a:xfrm>
                <a:off x="4675238" y="1136764"/>
                <a:ext cx="6952911" cy="2817438"/>
              </a:xfrm>
              <a:prstGeom prst="rect">
                <a:avLst/>
              </a:prstGeom>
              <a:blipFill>
                <a:blip r:embed="rId4"/>
                <a:stretch>
                  <a:fillRect l="-1095" r="-1825" b="-2242"/>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2" name="TextBox 11">
                <a:extLst>
                  <a:ext uri="{FF2B5EF4-FFF2-40B4-BE49-F238E27FC236}">
                    <a16:creationId xmlns:a16="http://schemas.microsoft.com/office/drawing/2014/main" id="{7314ED0B-9493-443D-0D0E-3D6F7280297C}"/>
                  </a:ext>
                </a:extLst>
              </p:cNvPr>
              <p:cNvSpPr txBox="1"/>
              <p:nvPr/>
            </p:nvSpPr>
            <p:spPr>
              <a:xfrm>
                <a:off x="629392" y="4462753"/>
                <a:ext cx="10998757" cy="1885773"/>
              </a:xfrm>
              <a:prstGeom prst="rect">
                <a:avLst/>
              </a:prstGeom>
              <a:noFill/>
            </p:spPr>
            <p:txBody>
              <a:bodyPr wrap="square">
                <a:spAutoFit/>
              </a:bodyPr>
              <a:lstStyle/>
              <a:p>
                <a:pPr marL="914400" lvl="0" indent="-466725">
                  <a:lnSpc>
                    <a:spcPct val="250000"/>
                  </a:lnSpc>
                  <a:buFont typeface="+mj-lt"/>
                  <a:buAutoNum type="alphaLcPeriod" startAt="3"/>
                </a:pPr>
                <a:r>
                  <a:rPr lang="en-US" sz="2000" dirty="0">
                    <a:latin typeface="Verdana"/>
                    <a:ea typeface="Verdana"/>
                    <a:cs typeface="Verdana"/>
                  </a:rPr>
                  <a:t>The students used the laws differently, but each expression they wrote is                             		        </a:t>
                </a:r>
                <a14:m>
                  <m:oMath xmlns:m="http://schemas.openxmlformats.org/officeDocument/2006/math">
                    <m:f>
                      <m:fPr>
                        <m:ctrlPr>
                          <a:rPr lang="en-PH" sz="2000" i="1">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a:effectLst/>
                                <a:latin typeface="Cambria Math"/>
                                <a:ea typeface="Verdana"/>
                                <a:cs typeface="Verdana"/>
                              </a:rPr>
                              <m:t>4</m:t>
                            </m:r>
                          </m:e>
                          <m:sup>
                            <m:r>
                              <a:rPr lang="en-US" sz="2000">
                                <a:effectLst/>
                                <a:latin typeface="Cambria Math"/>
                                <a:ea typeface="Verdana"/>
                                <a:cs typeface="Verdana"/>
                              </a:rPr>
                              <m:t>5</m:t>
                            </m:r>
                          </m:sup>
                        </m:sSup>
                        <m:r>
                          <a:rPr lang="en-US" sz="2000">
                            <a:effectLst/>
                            <a:latin typeface="Cambria Math"/>
                            <a:ea typeface="Verdana"/>
                            <a:cs typeface="Verdana"/>
                          </a:rPr>
                          <m:t> </m:t>
                        </m:r>
                        <m:r>
                          <a:rPr lang="en-US" sz="2000">
                            <a:effectLst/>
                            <a:latin typeface="Cambria Math"/>
                            <a:ea typeface="Cambria Math"/>
                            <a:cs typeface="Cambria Math"/>
                          </a:rPr>
                          <m:t>∙ </m:t>
                        </m:r>
                        <m:sSup>
                          <m:sSupPr>
                            <m:ctrlPr>
                              <a:rPr lang="en-PH" sz="2000" i="1">
                                <a:effectLst/>
                                <a:latin typeface="Cambria Math" panose="02040503050406030204" pitchFamily="18" charset="0"/>
                              </a:rPr>
                            </m:ctrlPr>
                          </m:sSupPr>
                          <m:e>
                            <m:r>
                              <a:rPr lang="en-US" sz="2000">
                                <a:effectLst/>
                                <a:latin typeface="Cambria Math"/>
                                <a:ea typeface="Cambria Math"/>
                                <a:cs typeface="Cambria Math"/>
                              </a:rPr>
                              <m:t>4</m:t>
                            </m:r>
                          </m:e>
                          <m:sup>
                            <m:r>
                              <a:rPr lang="en-US" sz="2000">
                                <a:effectLst/>
                                <a:latin typeface="Cambria Math"/>
                                <a:ea typeface="Cambria Math"/>
                                <a:cs typeface="Cambria Math"/>
                              </a:rPr>
                              <m:t>0</m:t>
                            </m:r>
                          </m:sup>
                        </m:sSup>
                      </m:num>
                      <m:den>
                        <m:sSup>
                          <m:sSupPr>
                            <m:ctrlPr>
                              <a:rPr lang="en-PH" sz="2000" i="1">
                                <a:effectLst/>
                                <a:latin typeface="Cambria Math" panose="02040503050406030204" pitchFamily="18" charset="0"/>
                                <a:ea typeface="Verdana"/>
                                <a:cs typeface="Verdana"/>
                              </a:rPr>
                            </m:ctrlPr>
                          </m:sSupPr>
                          <m:e>
                            <m:r>
                              <a:rPr lang="en-US" sz="2000">
                                <a:effectLst/>
                                <a:latin typeface="Cambria Math"/>
                                <a:ea typeface="Verdana"/>
                                <a:cs typeface="Verdana"/>
                              </a:rPr>
                              <m:t>4</m:t>
                            </m:r>
                          </m:e>
                          <m:sup>
                            <m:r>
                              <a:rPr lang="en-US" sz="2000">
                                <a:effectLst/>
                                <a:latin typeface="Cambria Math"/>
                                <a:ea typeface="Verdana"/>
                                <a:cs typeface="Verdana"/>
                              </a:rPr>
                              <m:t>2</m:t>
                            </m:r>
                          </m:sup>
                        </m:sSup>
                      </m:den>
                    </m:f>
                  </m:oMath>
                </a14:m>
                <a:r>
                  <a:rPr lang="en-US" sz="2000" dirty="0">
                    <a:latin typeface="Cambria Math"/>
                    <a:ea typeface="Verdana"/>
                    <a:cs typeface="Verdana"/>
                  </a:rPr>
                  <a:t>.</a:t>
                </a:r>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12" name="TextBox 11">
                <a:extLst>
                  <a:ext uri="{FF2B5EF4-FFF2-40B4-BE49-F238E27FC236}">
                    <a16:creationId xmlns:a16="http://schemas.microsoft.com/office/drawing/2014/main" id="{7314ED0B-9493-443D-0D0E-3D6F7280297C}"/>
                  </a:ext>
                </a:extLst>
              </p:cNvPr>
              <p:cNvSpPr txBox="1">
                <a:spLocks noRot="1" noChangeAspect="1" noMove="1" noResize="1" noEditPoints="1" noAdjustHandles="1" noChangeArrowheads="1" noChangeShapeType="1" noTextEdit="1"/>
              </p:cNvSpPr>
              <p:nvPr/>
            </p:nvSpPr>
            <p:spPr>
              <a:xfrm>
                <a:off x="629392" y="4462753"/>
                <a:ext cx="10998757" cy="1885773"/>
              </a:xfrm>
              <a:prstGeom prst="rect">
                <a:avLst/>
              </a:prstGeom>
              <a:blipFill>
                <a:blip r:embed="rId5"/>
                <a:stretch>
                  <a:fillRect r="-19169" b="-971"/>
                </a:stretch>
              </a:blipFill>
            </p:spPr>
            <p:txBody>
              <a:bodyPr/>
              <a:lstStyle/>
              <a:p>
                <a:r>
                  <a:rPr lang="en-US">
                    <a:noFill/>
                  </a:rPr>
                  <a:t> </a:t>
                </a:r>
              </a:p>
            </p:txBody>
          </p:sp>
        </mc:Fallback>
      </mc:AlternateContent>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57"/>
        <p:cNvGrpSpPr/>
        <p:nvPr/>
      </p:nvGrpSpPr>
      <p:grpSpPr>
        <a:xfrm>
          <a:off x="0" y="0"/>
          <a:ext cx="0" cy="0"/>
          <a:chOff x="0" y="0"/>
          <a:chExt cx="0" cy="0"/>
        </a:xfrm>
      </p:grpSpPr>
      <p:sp>
        <p:nvSpPr>
          <p:cNvPr id="258" name="Google Shape;258;p12"/>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59" name="Google Shape;259;p12"/>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599"/>
            <a:ext cx="563850" cy="657276"/>
          </a:xfrm>
          <a:prstGeom prst="rect">
            <a:avLst/>
          </a:prstGeom>
          <a:noFill/>
          <a:ln>
            <a:noFill/>
          </a:ln>
          <a:effectLst>
            <a:outerShdw blurRad="57150" dist="19050" dir="5400000" algn="bl" rotWithShape="0">
              <a:srgbClr val="000000">
                <a:alpha val="49803"/>
              </a:srgbClr>
            </a:outerShdw>
          </a:effectLst>
        </p:spPr>
      </p:pic>
      <p:sp>
        <p:nvSpPr>
          <p:cNvPr id="261" name="Google Shape;261;p12"/>
          <p:cNvSpPr txBox="1"/>
          <p:nvPr/>
        </p:nvSpPr>
        <p:spPr>
          <a:xfrm>
            <a:off x="8889924" y="6457674"/>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18</a:t>
            </a:r>
            <a:endParaRPr sz="1400" b="0" i="1" u="none" strike="noStrike" cap="none">
              <a:solidFill>
                <a:srgbClr val="000000"/>
              </a:solidFill>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8C386134-B22D-6981-9033-4BF75533C3FA}"/>
                  </a:ext>
                </a:extLst>
              </p:cNvPr>
              <p:cNvSpPr txBox="1"/>
              <p:nvPr/>
            </p:nvSpPr>
            <p:spPr>
              <a:xfrm>
                <a:off x="545691" y="649545"/>
                <a:ext cx="11082459" cy="4557658"/>
              </a:xfrm>
              <a:prstGeom prst="rect">
                <a:avLst/>
              </a:prstGeom>
              <a:noFill/>
            </p:spPr>
            <p:txBody>
              <a:bodyPr wrap="square">
                <a:spAutoFit/>
              </a:bodyPr>
              <a:lstStyle/>
              <a:p>
                <a:pPr marL="457200" lvl="0" indent="-457200">
                  <a:lnSpc>
                    <a:spcPct val="107000"/>
                  </a:lnSpc>
                  <a:buFont typeface="+mj-lt"/>
                  <a:buAutoNum type="arabicPeriod" startAt="2"/>
                </a:pPr>
                <a:r>
                  <a:rPr lang="en-US" sz="2000" dirty="0">
                    <a:latin typeface="Verdana"/>
                    <a:ea typeface="Verdana"/>
                    <a:cs typeface="Verdana"/>
                  </a:rPr>
                  <a:t>Ruth was given the following problem to evaluate.</a:t>
                </a:r>
              </a:p>
              <a:p>
                <a:pPr marL="457200" lvl="0" indent="-457200">
                  <a:lnSpc>
                    <a:spcPct val="107000"/>
                  </a:lnSpc>
                  <a:buFont typeface="+mj-lt"/>
                  <a:buAutoNum type="arabicPeriod" startAt="2"/>
                </a:pPr>
                <a:endParaRPr lang="en-PH" sz="2000" i="1" dirty="0">
                  <a:latin typeface="Cambria Math"/>
                  <a:ea typeface="Cambria Math"/>
                  <a:cs typeface="Verdana"/>
                </a:endParaRPr>
              </a:p>
              <a:p>
                <a:pPr>
                  <a:lnSpc>
                    <a:spcPct val="107000"/>
                  </a:lnSpc>
                </a:pPr>
                <a14:m>
                  <m:oMathPara xmlns:m="http://schemas.openxmlformats.org/officeDocument/2006/math">
                    <m:oMathParaPr>
                      <m:jc m:val="centerGroup"/>
                    </m:oMathParaPr>
                    <m:oMath xmlns:m="http://schemas.openxmlformats.org/officeDocument/2006/math">
                      <m:sSup>
                        <m:sSupPr>
                          <m:ctrlPr>
                            <a:rPr lang="en-PH" sz="2000" i="1">
                              <a:latin typeface="Cambria Math" panose="02040503050406030204" pitchFamily="18" charset="0"/>
                              <a:ea typeface="Verdana"/>
                              <a:cs typeface="Verdana"/>
                            </a:rPr>
                          </m:ctrlPr>
                        </m:sSupPr>
                        <m:e>
                          <m:r>
                            <a:rPr lang="en-US" sz="2000" i="1">
                              <a:effectLst/>
                              <a:latin typeface="Cambria Math"/>
                              <a:ea typeface="Verdana"/>
                              <a:cs typeface="Verdana"/>
                            </a:rPr>
                            <m:t>11.6</m:t>
                          </m:r>
                        </m:e>
                        <m:sup>
                          <m:r>
                            <a:rPr lang="en-US" sz="2000" i="1">
                              <a:effectLst/>
                              <a:latin typeface="Cambria Math"/>
                              <a:ea typeface="Verdana"/>
                              <a:cs typeface="Verdana"/>
                            </a:rPr>
                            <m:t>0</m:t>
                          </m:r>
                        </m:sup>
                      </m:sSup>
                      <m:r>
                        <a:rPr lang="en-US" sz="2000" i="1">
                          <a:effectLst/>
                          <a:latin typeface="Cambria Math"/>
                          <a:ea typeface="Cambria Math"/>
                          <a:cs typeface="Cambria Math"/>
                        </a:rPr>
                        <m:t>∙ </m:t>
                      </m:r>
                      <m:f>
                        <m:fPr>
                          <m:ctrlPr>
                            <a:rPr lang="en-PH" sz="2000" i="1">
                              <a:effectLst/>
                              <a:latin typeface="Cambria Math" panose="02040503050406030204" pitchFamily="18" charset="0"/>
                              <a:ea typeface="Cambria Math"/>
                              <a:cs typeface="Cambria Math"/>
                            </a:rPr>
                          </m:ctrlPr>
                        </m:fPr>
                        <m:num>
                          <m:sSup>
                            <m:sSupPr>
                              <m:ctrlPr>
                                <a:rPr lang="en-PH" sz="2000" i="1">
                                  <a:effectLst/>
                                  <a:latin typeface="Cambria Math" panose="02040503050406030204" pitchFamily="18" charset="0"/>
                                  <a:ea typeface="Cambria Math"/>
                                  <a:cs typeface="Cambria Math"/>
                                </a:rPr>
                              </m:ctrlPr>
                            </m:sSupPr>
                            <m:e>
                              <m:d>
                                <m:dPr>
                                  <m:ctrlPr>
                                    <a:rPr lang="en-PH" sz="2000" i="1">
                                      <a:effectLst/>
                                      <a:latin typeface="Cambria Math" panose="02040503050406030204" pitchFamily="18" charset="0"/>
                                      <a:ea typeface="Cambria Math"/>
                                      <a:cs typeface="Cambria Math"/>
                                    </a:rPr>
                                  </m:ctrlPr>
                                </m:dPr>
                                <m:e>
                                  <m:r>
                                    <a:rPr lang="en-US" sz="2000" i="1">
                                      <a:effectLst/>
                                      <a:latin typeface="Cambria Math"/>
                                      <a:ea typeface="Cambria Math"/>
                                      <a:cs typeface="Cambria Math"/>
                                    </a:rPr>
                                    <m:t>−15</m:t>
                                  </m:r>
                                </m:e>
                              </m:d>
                            </m:e>
                            <m:sup>
                              <m:r>
                                <a:rPr lang="en-US" sz="2000" i="1">
                                  <a:effectLst/>
                                  <a:latin typeface="Cambria Math"/>
                                  <a:ea typeface="Cambria Math"/>
                                  <a:cs typeface="Cambria Math"/>
                                </a:rPr>
                                <m:t>4</m:t>
                              </m:r>
                            </m:sup>
                          </m:sSup>
                        </m:num>
                        <m:den>
                          <m:sSup>
                            <m:sSupPr>
                              <m:ctrlPr>
                                <a:rPr lang="en-PH" sz="2000" i="1">
                                  <a:effectLst/>
                                  <a:latin typeface="Cambria Math" panose="02040503050406030204" pitchFamily="18" charset="0"/>
                                  <a:ea typeface="Cambria Math"/>
                                  <a:cs typeface="Cambria Math"/>
                                </a:rPr>
                              </m:ctrlPr>
                            </m:sSupPr>
                            <m:e>
                              <m:r>
                                <a:rPr lang="en-US" sz="2000" i="1">
                                  <a:effectLst/>
                                  <a:latin typeface="Cambria Math"/>
                                  <a:ea typeface="Cambria Math"/>
                                  <a:cs typeface="Cambria Math"/>
                                </a:rPr>
                                <m:t>1.5</m:t>
                              </m:r>
                            </m:e>
                            <m:sup>
                              <m:r>
                                <a:rPr lang="en-US" sz="2000" i="1">
                                  <a:effectLst/>
                                  <a:latin typeface="Cambria Math"/>
                                  <a:ea typeface="Cambria Math"/>
                                  <a:cs typeface="Cambria Math"/>
                                </a:rPr>
                                <m:t>4</m:t>
                              </m:r>
                            </m:sup>
                          </m:sSup>
                        </m:den>
                      </m:f>
                    </m:oMath>
                  </m:oMathPara>
                </a14:m>
                <a:endParaRPr lang="en-PH" sz="2000" i="1" dirty="0">
                  <a:effectLst/>
                  <a:latin typeface="Cambria Math"/>
                  <a:ea typeface="Cambria Math"/>
                  <a:cs typeface="Cambria Math"/>
                </a:endParaRPr>
              </a:p>
              <a:p>
                <a:pPr marL="457200" lvl="0" indent="-457200">
                  <a:lnSpc>
                    <a:spcPct val="107000"/>
                  </a:lnSpc>
                  <a:buFont typeface="+mj-lt"/>
                  <a:buAutoNum type="alphaLcPeriod"/>
                </a:pPr>
                <a:endParaRPr lang="en-US" sz="2000" dirty="0">
                  <a:latin typeface="Verdana"/>
                  <a:ea typeface="Verdana"/>
                  <a:cs typeface="Verdana"/>
                </a:endParaRPr>
              </a:p>
              <a:p>
                <a:pPr marL="457200" lvl="0" indent="-457200">
                  <a:lnSpc>
                    <a:spcPct val="107000"/>
                  </a:lnSpc>
                  <a:buFont typeface="+mj-lt"/>
                  <a:buAutoNum type="alphaLcPeriod"/>
                </a:pPr>
                <a:endParaRPr lang="en-US" sz="2000" dirty="0">
                  <a:latin typeface="Verdana"/>
                  <a:ea typeface="Verdana"/>
                  <a:cs typeface="Verdana"/>
                </a:endParaRPr>
              </a:p>
              <a:p>
                <a:pPr marL="914400" lvl="0" indent="-450850">
                  <a:lnSpc>
                    <a:spcPct val="107000"/>
                  </a:lnSpc>
                  <a:buFont typeface="+mj-lt"/>
                  <a:buAutoNum type="alphaLcPeriod"/>
                </a:pPr>
                <a:r>
                  <a:rPr lang="en-US" sz="2000" dirty="0">
                    <a:latin typeface="Verdana"/>
                    <a:ea typeface="Verdana"/>
                    <a:cs typeface="Verdana"/>
                  </a:rPr>
                  <a:t>Why would rewriting the following expression using laws of exponents be useful to Ruth before evaluating the expression?</a:t>
                </a:r>
              </a:p>
              <a:p>
                <a:pPr marL="914400" lvl="0" indent="-450850">
                  <a:lnSpc>
                    <a:spcPct val="107000"/>
                  </a:lnSpc>
                  <a:buFont typeface="+mj-lt"/>
                  <a:buAutoNum type="alphaLcPeriod"/>
                </a:pPr>
                <a:endParaRPr lang="en-US" sz="2000" dirty="0">
                  <a:latin typeface="Verdana"/>
                  <a:ea typeface="Verdana"/>
                  <a:cs typeface="Verdana"/>
                </a:endParaRPr>
              </a:p>
              <a:p>
                <a:pPr marL="914400" lvl="0" indent="-450850">
                  <a:lnSpc>
                    <a:spcPct val="107000"/>
                  </a:lnSpc>
                  <a:buFont typeface="+mj-lt"/>
                  <a:buAutoNum type="alphaLcPeriod"/>
                </a:pPr>
                <a:endParaRPr lang="en-US" sz="2000" dirty="0">
                  <a:latin typeface="Verdana"/>
                  <a:ea typeface="Verdana"/>
                  <a:cs typeface="Verdana"/>
                </a:endParaRPr>
              </a:p>
              <a:p>
                <a:pPr marL="914400" lvl="0" indent="-450850">
                  <a:lnSpc>
                    <a:spcPct val="107000"/>
                  </a:lnSpc>
                  <a:buFont typeface="+mj-lt"/>
                  <a:buAutoNum type="alphaLcPeriod"/>
                </a:pPr>
                <a:endParaRPr lang="en-US" sz="2000" dirty="0">
                  <a:latin typeface="Verdana"/>
                  <a:ea typeface="Verdana"/>
                  <a:cs typeface="Verdana"/>
                </a:endParaRPr>
              </a:p>
              <a:p>
                <a:pPr marL="914400" lvl="0" indent="-450850">
                  <a:lnSpc>
                    <a:spcPct val="107000"/>
                  </a:lnSpc>
                  <a:buFont typeface="+mj-lt"/>
                  <a:buAutoNum type="alphaLcPeriod"/>
                </a:pPr>
                <a:r>
                  <a:rPr lang="en-US" sz="2000" dirty="0">
                    <a:latin typeface="Verdana"/>
                    <a:ea typeface="Verdana"/>
                    <a:cs typeface="Verdana"/>
                  </a:rPr>
                  <a:t>Rewrite the expression using as many laws of exponents as possible. Then, evaluate the expression.</a:t>
                </a:r>
                <a14:m>
                  <m:oMath xmlns:m="http://schemas.openxmlformats.org/officeDocument/2006/math">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11.6</m:t>
                        </m:r>
                      </m:e>
                      <m:sup>
                        <m:r>
                          <a:rPr lang="en-US" sz="2000" i="1">
                            <a:effectLst/>
                            <a:latin typeface="Cambria Math"/>
                            <a:ea typeface="Verdana"/>
                            <a:cs typeface="Verdana"/>
                          </a:rPr>
                          <m:t>0</m:t>
                        </m:r>
                      </m:sup>
                    </m:sSup>
                    <m:r>
                      <a:rPr lang="en-US" sz="2000" i="1">
                        <a:effectLst/>
                        <a:latin typeface="Cambria Math"/>
                        <a:ea typeface="Verdana"/>
                        <a:cs typeface="Verdana"/>
                      </a:rPr>
                      <m:t> </m:t>
                    </m:r>
                    <m:r>
                      <a:rPr lang="en-US" sz="2000" i="1">
                        <a:effectLst/>
                        <a:latin typeface="Cambria Math"/>
                        <a:ea typeface="Cambria Math"/>
                        <a:cs typeface="Cambria Math"/>
                      </a:rPr>
                      <m:t>∙ </m:t>
                    </m:r>
                    <m:f>
                      <m:fPr>
                        <m:ctrlPr>
                          <a:rPr lang="en-PH" sz="2000" i="1">
                            <a:effectLst/>
                            <a:latin typeface="Cambria Math" panose="02040503050406030204" pitchFamily="18" charset="0"/>
                            <a:ea typeface="Cambria Math"/>
                            <a:cs typeface="Cambria Math"/>
                          </a:rPr>
                        </m:ctrlPr>
                      </m:fPr>
                      <m:num>
                        <m:sSup>
                          <m:sSupPr>
                            <m:ctrlPr>
                              <a:rPr lang="en-PH" sz="2000" i="1">
                                <a:effectLst/>
                                <a:latin typeface="Cambria Math" panose="02040503050406030204" pitchFamily="18" charset="0"/>
                                <a:ea typeface="Cambria Math"/>
                                <a:cs typeface="Cambria Math"/>
                              </a:rPr>
                            </m:ctrlPr>
                          </m:sSupPr>
                          <m:e>
                            <m:d>
                              <m:dPr>
                                <m:ctrlPr>
                                  <a:rPr lang="en-PH" sz="2000" i="1">
                                    <a:effectLst/>
                                    <a:latin typeface="Cambria Math" panose="02040503050406030204" pitchFamily="18" charset="0"/>
                                    <a:ea typeface="Cambria Math"/>
                                    <a:cs typeface="Cambria Math"/>
                                  </a:rPr>
                                </m:ctrlPr>
                              </m:dPr>
                              <m:e>
                                <m:r>
                                  <a:rPr lang="en-US" sz="2000" i="1">
                                    <a:effectLst/>
                                    <a:latin typeface="Cambria Math"/>
                                    <a:ea typeface="Cambria Math"/>
                                    <a:cs typeface="Cambria Math"/>
                                  </a:rPr>
                                  <m:t>−15</m:t>
                                </m:r>
                              </m:e>
                            </m:d>
                          </m:e>
                          <m:sup>
                            <m:r>
                              <a:rPr lang="en-US" sz="2000" i="1">
                                <a:effectLst/>
                                <a:latin typeface="Cambria Math"/>
                                <a:ea typeface="Cambria Math"/>
                                <a:cs typeface="Cambria Math"/>
                              </a:rPr>
                              <m:t>4</m:t>
                            </m:r>
                          </m:sup>
                        </m:sSup>
                      </m:num>
                      <m:den>
                        <m:sSup>
                          <m:sSupPr>
                            <m:ctrlPr>
                              <a:rPr lang="en-PH" sz="2000" i="1">
                                <a:effectLst/>
                                <a:latin typeface="Cambria Math" panose="02040503050406030204" pitchFamily="18" charset="0"/>
                                <a:ea typeface="Cambria Math"/>
                                <a:cs typeface="Cambria Math"/>
                              </a:rPr>
                            </m:ctrlPr>
                          </m:sSupPr>
                          <m:e>
                            <m:r>
                              <a:rPr lang="en-US" sz="2000" i="1">
                                <a:effectLst/>
                                <a:latin typeface="Cambria Math"/>
                                <a:ea typeface="Cambria Math"/>
                                <a:cs typeface="Cambria Math"/>
                              </a:rPr>
                              <m:t>1.5</m:t>
                            </m:r>
                          </m:e>
                          <m:sup>
                            <m:r>
                              <a:rPr lang="en-US" sz="2000" i="1">
                                <a:effectLst/>
                                <a:latin typeface="Cambria Math"/>
                                <a:ea typeface="Cambria Math"/>
                                <a:cs typeface="Cambria Math"/>
                              </a:rPr>
                              <m:t>4</m:t>
                            </m:r>
                          </m:sup>
                        </m:sSup>
                      </m:den>
                    </m:f>
                  </m:oMath>
                </a14:m>
                <a:endParaRPr lang="en-PH" sz="2000" i="1" dirty="0">
                  <a:effectLst/>
                  <a:latin typeface="Cambria Math"/>
                  <a:ea typeface="Cambria Math"/>
                  <a:cs typeface="Cambria Math"/>
                </a:endParaRPr>
              </a:p>
            </p:txBody>
          </p:sp>
        </mc:Choice>
        <mc:Fallback>
          <p:sp>
            <p:nvSpPr>
              <p:cNvPr id="7" name="TextBox 6">
                <a:extLst>
                  <a:ext uri="{FF2B5EF4-FFF2-40B4-BE49-F238E27FC236}">
                    <a16:creationId xmlns:a16="http://schemas.microsoft.com/office/drawing/2014/main" id="{8C386134-B22D-6981-9033-4BF75533C3FA}"/>
                  </a:ext>
                </a:extLst>
              </p:cNvPr>
              <p:cNvSpPr txBox="1">
                <a:spLocks noRot="1" noChangeAspect="1" noMove="1" noResize="1" noEditPoints="1" noAdjustHandles="1" noChangeArrowheads="1" noChangeShapeType="1" noTextEdit="1"/>
              </p:cNvSpPr>
              <p:nvPr/>
            </p:nvSpPr>
            <p:spPr>
              <a:xfrm>
                <a:off x="545691" y="649545"/>
                <a:ext cx="11082459" cy="4557658"/>
              </a:xfrm>
              <a:prstGeom prst="rect">
                <a:avLst/>
              </a:prstGeom>
              <a:blipFill>
                <a:blip r:embed="rId4"/>
                <a:stretch>
                  <a:fillRect l="-605" t="-1071"/>
                </a:stretch>
              </a:blipFill>
            </p:spPr>
            <p:txBody>
              <a:bodyPr/>
              <a:lstStyle/>
              <a:p>
                <a:r>
                  <a:rPr lang="en-US">
                    <a:noFill/>
                  </a:rPr>
                  <a:t> </a:t>
                </a:r>
              </a:p>
            </p:txBody>
          </p:sp>
        </mc:Fallback>
      </mc:AlternateContent>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6"/>
        <p:cNvGrpSpPr/>
        <p:nvPr/>
      </p:nvGrpSpPr>
      <p:grpSpPr>
        <a:xfrm>
          <a:off x="0" y="0"/>
          <a:ext cx="0" cy="0"/>
          <a:chOff x="0" y="0"/>
          <a:chExt cx="0" cy="0"/>
        </a:xfrm>
      </p:grpSpPr>
      <p:sp>
        <p:nvSpPr>
          <p:cNvPr id="267" name="Google Shape;267;p13"/>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68" name="Google Shape;268;p13"/>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0052976" y="6200600"/>
            <a:ext cx="563850" cy="657276"/>
          </a:xfrm>
          <a:prstGeom prst="rect">
            <a:avLst/>
          </a:prstGeom>
          <a:noFill/>
          <a:ln>
            <a:noFill/>
          </a:ln>
          <a:effectLst>
            <a:outerShdw blurRad="57150" dist="19050" dir="5400000" algn="bl" rotWithShape="0">
              <a:srgbClr val="000000">
                <a:alpha val="49803"/>
              </a:srgbClr>
            </a:outerShdw>
          </a:effectLst>
        </p:spPr>
      </p:pic>
      <p:sp>
        <p:nvSpPr>
          <p:cNvPr id="269" name="Google Shape;269;p13"/>
          <p:cNvSpPr txBox="1">
            <a:spLocks noGrp="1"/>
          </p:cNvSpPr>
          <p:nvPr>
            <p:ph type="title" idx="4294967295"/>
          </p:nvPr>
        </p:nvSpPr>
        <p:spPr>
          <a:xfrm>
            <a:off x="5844350" y="2766145"/>
            <a:ext cx="439693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33BEA6"/>
                </a:solidFill>
                <a:latin typeface="Verdana"/>
                <a:ea typeface="Verdana"/>
                <a:cs typeface="Verdana"/>
                <a:sym typeface="Verdana"/>
              </a:rPr>
              <a:t>Activity</a:t>
            </a:r>
            <a:endParaRPr sz="5100" b="1">
              <a:solidFill>
                <a:srgbClr val="33BEA6"/>
              </a:solidFill>
              <a:latin typeface="Verdana"/>
              <a:ea typeface="Verdana"/>
              <a:cs typeface="Verdana"/>
              <a:sym typeface="Verdana"/>
            </a:endParaRPr>
          </a:p>
        </p:txBody>
      </p:sp>
      <p:pic>
        <p:nvPicPr>
          <p:cNvPr id="270" name="Google Shape;270;p13" descr="Icon&#10;&#10;Description automatically generated"/>
          <p:cNvPicPr preferRelativeResize="0"/>
          <p:nvPr/>
        </p:nvPicPr>
        <p:blipFill rotWithShape="1">
          <a:blip r:embed="rId4">
            <a:alphaModFix/>
          </a:blip>
          <a:srcRect/>
          <a:stretch/>
        </p:blipFill>
        <p:spPr>
          <a:xfrm>
            <a:off x="5208903" y="2852923"/>
            <a:ext cx="1152144" cy="1152144"/>
          </a:xfrm>
          <a:prstGeom prst="rect">
            <a:avLst/>
          </a:prstGeom>
          <a:noFill/>
          <a:ln>
            <a:noFill/>
          </a:ln>
          <a:effectLst>
            <a:outerShdw blurRad="50800" dist="38100" dir="2700000" algn="tl" rotWithShape="0">
              <a:srgbClr val="000000">
                <a:alpha val="40000"/>
              </a:srgbClr>
            </a:outerShdw>
          </a:effectLst>
        </p:spPr>
      </p:pic>
      <p:sp>
        <p:nvSpPr>
          <p:cNvPr id="271" name="Google Shape;271;p13"/>
          <p:cNvSpPr txBox="1"/>
          <p:nvPr/>
        </p:nvSpPr>
        <p:spPr>
          <a:xfrm>
            <a:off x="7314750" y="6457675"/>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19</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76"/>
        <p:cNvGrpSpPr/>
        <p:nvPr/>
      </p:nvGrpSpPr>
      <p:grpSpPr>
        <a:xfrm>
          <a:off x="0" y="0"/>
          <a:ext cx="0" cy="0"/>
          <a:chOff x="0" y="0"/>
          <a:chExt cx="0" cy="0"/>
        </a:xfrm>
      </p:grpSpPr>
      <p:sp>
        <p:nvSpPr>
          <p:cNvPr id="277" name="Google Shape;277;p14"/>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78" name="Google Shape;278;p14"/>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3"/>
              </a:srgbClr>
            </a:outerShdw>
          </a:effectLst>
        </p:spPr>
      </p:pic>
      <p:sp>
        <p:nvSpPr>
          <p:cNvPr id="279" name="Google Shape;279;p14"/>
          <p:cNvSpPr txBox="1"/>
          <p:nvPr/>
        </p:nvSpPr>
        <p:spPr>
          <a:xfrm>
            <a:off x="1570785" y="86350"/>
            <a:ext cx="8543811"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33BEA6"/>
                </a:solidFill>
                <a:latin typeface="Verdana"/>
                <a:ea typeface="Verdana"/>
                <a:cs typeface="Verdana"/>
                <a:sym typeface="Verdana"/>
              </a:rPr>
              <a:t>8.3.4 Activity: Roundtable</a:t>
            </a:r>
            <a:endParaRPr dirty="0"/>
          </a:p>
        </p:txBody>
      </p:sp>
      <p:pic>
        <p:nvPicPr>
          <p:cNvPr id="280" name="Google Shape;280;p14" descr="Icon&#10;&#10;Description automatically generated"/>
          <p:cNvPicPr preferRelativeResize="0"/>
          <p:nvPr/>
        </p:nvPicPr>
        <p:blipFill rotWithShape="1">
          <a:blip r:embed="rId4" cstate="screen">
            <a:alphaModFix/>
            <a:extLst>
              <a:ext uri="{28A0092B-C50C-407E-A947-70E740481C1C}">
                <a14:useLocalDpi xmlns:a14="http://schemas.microsoft.com/office/drawing/2010/main"/>
              </a:ext>
            </a:extLst>
          </a:blip>
          <a:srcRect/>
          <a:stretch/>
        </p:blipFill>
        <p:spPr>
          <a:xfrm>
            <a:off x="820977" y="348271"/>
            <a:ext cx="749808" cy="749808"/>
          </a:xfrm>
          <a:prstGeom prst="rect">
            <a:avLst/>
          </a:prstGeom>
          <a:noFill/>
          <a:ln>
            <a:noFill/>
          </a:ln>
          <a:effectLst>
            <a:outerShdw blurRad="50800" dist="38100" dir="2700000" algn="tl" rotWithShape="0">
              <a:srgbClr val="000000">
                <a:alpha val="40000"/>
              </a:srgbClr>
            </a:outerShdw>
          </a:effectLst>
        </p:spPr>
      </p:pic>
      <p:sp>
        <p:nvSpPr>
          <p:cNvPr id="281" name="Google Shape;281;p14"/>
          <p:cNvSpPr txBox="1"/>
          <p:nvPr/>
        </p:nvSpPr>
        <p:spPr>
          <a:xfrm>
            <a:off x="575187" y="1386026"/>
            <a:ext cx="11052963" cy="1738897"/>
          </a:xfrm>
          <a:prstGeom prst="rect">
            <a:avLst/>
          </a:prstGeom>
          <a:noFill/>
          <a:ln>
            <a:noFill/>
          </a:ln>
        </p:spPr>
        <p:txBody>
          <a:bodyPr spcFirstLastPara="1" wrap="square" lIns="91425" tIns="45700" rIns="91425" bIns="45700" anchor="t" anchorCtr="0">
            <a:spAutoFit/>
          </a:bodyPr>
          <a:lstStyle/>
          <a:p>
            <a:pPr marL="0" marR="0" lvl="0" indent="0" algn="l" rtl="0">
              <a:lnSpc>
                <a:spcPct val="107000"/>
              </a:lnSpc>
              <a:spcBef>
                <a:spcPts val="0"/>
              </a:spcBef>
              <a:spcAft>
                <a:spcPts val="0"/>
              </a:spcAft>
              <a:buNone/>
            </a:pPr>
            <a:r>
              <a:rPr lang="en-US" sz="2000" b="0" i="0" u="none" strike="noStrike" cap="none" dirty="0">
                <a:solidFill>
                  <a:srgbClr val="000000"/>
                </a:solidFill>
                <a:latin typeface="Verdana"/>
                <a:ea typeface="Verdana"/>
                <a:cs typeface="Verdana"/>
                <a:sym typeface="Verdana"/>
              </a:rPr>
              <a:t>In teams of three, assign a number to each team member. Each student completes the </a:t>
            </a:r>
            <a:r>
              <a:rPr lang="en-US" sz="2000" b="1" i="0" u="none" strike="noStrike" cap="none" dirty="0">
                <a:solidFill>
                  <a:srgbClr val="000000"/>
                </a:solidFill>
                <a:latin typeface="Verdana"/>
                <a:ea typeface="Verdana"/>
                <a:cs typeface="Verdana"/>
                <a:sym typeface="Verdana"/>
              </a:rPr>
              <a:t>first</a:t>
            </a:r>
            <a:r>
              <a:rPr lang="en-US" sz="2000" b="0" i="0" u="none" strike="noStrike" cap="none" dirty="0">
                <a:solidFill>
                  <a:srgbClr val="000000"/>
                </a:solidFill>
                <a:latin typeface="Verdana"/>
                <a:ea typeface="Verdana"/>
                <a:cs typeface="Verdana"/>
                <a:sym typeface="Verdana"/>
              </a:rPr>
              <a:t> step of their problem and writes the exponent law used. Then, pass your problem to the student on your right to check your work and write the next step to the problem. For each new step, continue passing the problems to the student on your right until all three problems are evaluated.</a:t>
            </a:r>
            <a:endParaRPr sz="1800" b="0" i="1" u="none" strike="noStrike" cap="none" dirty="0">
              <a:solidFill>
                <a:srgbClr val="000000"/>
              </a:solidFill>
              <a:latin typeface="Cambria Math"/>
              <a:ea typeface="Cambria Math"/>
              <a:cs typeface="Cambria Math"/>
              <a:sym typeface="Cambria Math"/>
            </a:endParaRPr>
          </a:p>
        </p:txBody>
      </p:sp>
      <mc:AlternateContent xmlns:mc="http://schemas.openxmlformats.org/markup-compatibility/2006" xmlns:a14="http://schemas.microsoft.com/office/drawing/2010/main">
        <mc:Choice Requires="a14">
          <p:graphicFrame>
            <p:nvGraphicFramePr>
              <p:cNvPr id="282" name="Google Shape;282;p14"/>
              <p:cNvGraphicFramePr/>
              <p:nvPr>
                <p:extLst>
                  <p:ext uri="{D42A27DB-BD31-4B8C-83A1-F6EECF244321}">
                    <p14:modId xmlns:p14="http://schemas.microsoft.com/office/powerpoint/2010/main" val="3959343139"/>
                  </p:ext>
                </p:extLst>
              </p:nvPr>
            </p:nvGraphicFramePr>
            <p:xfrm>
              <a:off x="2144946" y="3562123"/>
              <a:ext cx="7920000" cy="2268000"/>
            </p:xfrm>
            <a:graphic>
              <a:graphicData uri="http://schemas.openxmlformats.org/drawingml/2006/table">
                <a:tbl>
                  <a:tblPr>
                    <a:noFill/>
                    <a:tableStyleId>{07A82D6B-0012-41CB-8D28-B149B940E5F0}</a:tableStyleId>
                  </a:tblPr>
                  <a:tblGrid>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tblGrid>
                  <a:tr h="468000">
                    <a:tc gridSpan="2">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Team member 1: _________________</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1800000">
                    <a:tc>
                      <a:txBody>
                        <a:bodyPr/>
                        <a:lstStyle/>
                        <a:p>
                          <a:pPr marL="0" marR="0" lvl="0" indent="0" algn="l"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en-PH" sz="2400" i="1" smtClean="0">
                                        <a:effectLst/>
                                        <a:latin typeface="Cambria Math" panose="02040503050406030204" pitchFamily="18" charset="0"/>
                                        <a:ea typeface="Verdana"/>
                                        <a:cs typeface="Verdana"/>
                                      </a:rPr>
                                    </m:ctrlPr>
                                  </m:sSupPr>
                                  <m:e>
                                    <m:d>
                                      <m:dPr>
                                        <m:ctrlPr>
                                          <a:rPr lang="en-PH" sz="2400" i="1">
                                            <a:effectLst/>
                                            <a:latin typeface="Cambria Math" panose="02040503050406030204" pitchFamily="18" charset="0"/>
                                            <a:ea typeface="Verdana"/>
                                            <a:cs typeface="Verdana"/>
                                          </a:rPr>
                                        </m:ctrlPr>
                                      </m:dPr>
                                      <m:e>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3</m:t>
                                            </m:r>
                                          </m:e>
                                          <m:sup>
                                            <m:r>
                                              <a:rPr lang="en-US" sz="2400" i="1">
                                                <a:effectLst/>
                                                <a:latin typeface="Cambria Math"/>
                                                <a:ea typeface="Verdana"/>
                                                <a:cs typeface="Verdana"/>
                                              </a:rPr>
                                              <m:t>0</m:t>
                                            </m:r>
                                          </m:sup>
                                        </m:sSup>
                                        <m:r>
                                          <a:rPr lang="en-US" sz="2400" i="1">
                                            <a:effectLst/>
                                            <a:latin typeface="Cambria Math"/>
                                            <a:ea typeface="Verdana"/>
                                            <a:cs typeface="Verdana"/>
                                          </a:rPr>
                                          <m:t> </m:t>
                                        </m:r>
                                        <m:r>
                                          <a:rPr lang="en-US" sz="2400" i="1">
                                            <a:effectLst/>
                                            <a:latin typeface="Cambria Math"/>
                                            <a:ea typeface="Cambria Math"/>
                                            <a:cs typeface="Cambria Math"/>
                                          </a:rPr>
                                          <m:t>∙ </m:t>
                                        </m:r>
                                        <m:sSup>
                                          <m:sSupPr>
                                            <m:ctrlPr>
                                              <a:rPr lang="en-PH" sz="2400" i="1">
                                                <a:effectLst/>
                                                <a:latin typeface="Cambria Math" panose="02040503050406030204" pitchFamily="18" charset="0"/>
                                                <a:ea typeface="Cambria Math"/>
                                                <a:cs typeface="Cambria Math"/>
                                              </a:rPr>
                                            </m:ctrlPr>
                                          </m:sSupPr>
                                          <m:e>
                                            <m:r>
                                              <a:rPr lang="en-US" sz="2400" i="1">
                                                <a:effectLst/>
                                                <a:latin typeface="Cambria Math"/>
                                                <a:ea typeface="Cambria Math"/>
                                                <a:cs typeface="Cambria Math"/>
                                              </a:rPr>
                                              <m:t>3</m:t>
                                            </m:r>
                                          </m:e>
                                          <m:sup>
                                            <m:r>
                                              <a:rPr lang="en-US" sz="2400" i="1">
                                                <a:effectLst/>
                                                <a:latin typeface="Cambria Math"/>
                                                <a:ea typeface="Cambria Math"/>
                                                <a:cs typeface="Cambria Math"/>
                                              </a:rPr>
                                              <m:t>2</m:t>
                                            </m:r>
                                          </m:sup>
                                        </m:sSup>
                                      </m:e>
                                    </m:d>
                                  </m:e>
                                  <m:sup>
                                    <m:r>
                                      <a:rPr lang="en-US" sz="2400" i="1">
                                        <a:effectLst/>
                                        <a:latin typeface="Cambria Math"/>
                                        <a:ea typeface="Verdana"/>
                                        <a:cs typeface="Verdana"/>
                                      </a:rPr>
                                      <m:t>3</m:t>
                                    </m:r>
                                  </m:sup>
                                </m:sSup>
                              </m:oMath>
                            </m:oMathPara>
                          </a14:m>
                          <a:endParaRPr sz="2000" u="none" strike="noStrike" cap="none" dirty="0"/>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i="0" u="none" strike="noStrike" cap="none" dirty="0">
                              <a:latin typeface="Verdana"/>
                              <a:ea typeface="Verdana"/>
                              <a:cs typeface="Verdana"/>
                              <a:sym typeface="Verdana"/>
                            </a:rPr>
                            <a:t>Exponent law used</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mc:Choice>
        <mc:Fallback xmlns="">
          <p:graphicFrame>
            <p:nvGraphicFramePr>
              <p:cNvPr id="282" name="Google Shape;282;p14"/>
              <p:cNvGraphicFramePr/>
              <p:nvPr>
                <p:extLst>
                  <p:ext uri="{D42A27DB-BD31-4B8C-83A1-F6EECF244321}">
                    <p14:modId xmlns:p14="http://schemas.microsoft.com/office/powerpoint/2010/main" val="3959343139"/>
                  </p:ext>
                </p:extLst>
              </p:nvPr>
            </p:nvGraphicFramePr>
            <p:xfrm>
              <a:off x="2144946" y="3562123"/>
              <a:ext cx="7920000" cy="2268000"/>
            </p:xfrm>
            <a:graphic>
              <a:graphicData uri="http://schemas.openxmlformats.org/drawingml/2006/table">
                <a:tbl>
                  <a:tblPr>
                    <a:noFill/>
                    <a:tableStyleId>{07A82D6B-0012-41CB-8D28-B149B940E5F0}</a:tableStyleId>
                  </a:tblPr>
                  <a:tblGrid>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tblGrid>
                  <a:tr h="468000">
                    <a:tc gridSpan="2">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Team member 1: _________________</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1800000">
                    <a:tc>
                      <a:txBody>
                        <a:bodyPr/>
                        <a:lstStyle/>
                        <a:p>
                          <a:endParaRPr lang="en-US"/>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5"/>
                          <a:stretch>
                            <a:fillRect t="-26573" r="-100319" b="-699"/>
                          </a:stretch>
                        </a:blipFill>
                      </a:tcPr>
                    </a:tc>
                    <a:tc>
                      <a:txBody>
                        <a:bodyPr/>
                        <a:lstStyle/>
                        <a:p>
                          <a:pPr marL="0" marR="0" lvl="0" indent="0" algn="ctr" rtl="0">
                            <a:lnSpc>
                              <a:spcPct val="107000"/>
                            </a:lnSpc>
                            <a:spcBef>
                              <a:spcPts val="0"/>
                            </a:spcBef>
                            <a:spcAft>
                              <a:spcPts val="0"/>
                            </a:spcAft>
                            <a:buNone/>
                          </a:pPr>
                          <a:r>
                            <a:rPr lang="en-US" sz="2000" i="0" u="none" strike="noStrike" cap="none" dirty="0">
                              <a:latin typeface="Verdana"/>
                              <a:ea typeface="Verdana"/>
                              <a:cs typeface="Verdana"/>
                              <a:sym typeface="Verdana"/>
                            </a:rPr>
                            <a:t>Exponent law used</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bl>
              </a:graphicData>
            </a:graphic>
          </p:graphicFrame>
        </mc:Fallback>
      </mc:AlternateContent>
      <p:sp>
        <p:nvSpPr>
          <p:cNvPr id="283" name="Google Shape;283;p14"/>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19</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15"/>
          <p:cNvSpPr/>
          <p:nvPr/>
        </p:nvSpPr>
        <p:spPr>
          <a:xfrm>
            <a:off x="0" y="0"/>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90" name="Google Shape;290;p15"/>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mc:AlternateContent xmlns:mc="http://schemas.openxmlformats.org/markup-compatibility/2006" xmlns:a14="http://schemas.microsoft.com/office/drawing/2010/main">
        <mc:Choice Requires="a14">
          <p:graphicFrame>
            <p:nvGraphicFramePr>
              <p:cNvPr id="291" name="Google Shape;291;p15"/>
              <p:cNvGraphicFramePr/>
              <p:nvPr>
                <p:extLst>
                  <p:ext uri="{D42A27DB-BD31-4B8C-83A1-F6EECF244321}">
                    <p14:modId xmlns:p14="http://schemas.microsoft.com/office/powerpoint/2010/main" val="1028100937"/>
                  </p:ext>
                </p:extLst>
              </p:nvPr>
            </p:nvGraphicFramePr>
            <p:xfrm>
              <a:off x="2144946" y="520393"/>
              <a:ext cx="7920000" cy="5256000"/>
            </p:xfrm>
            <a:graphic>
              <a:graphicData uri="http://schemas.openxmlformats.org/drawingml/2006/table">
                <a:tbl>
                  <a:tblPr>
                    <a:noFill/>
                    <a:tableStyleId>{07A82D6B-0012-41CB-8D28-B149B940E5F0}</a:tableStyleId>
                  </a:tblPr>
                  <a:tblGrid>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tblGrid>
                  <a:tr h="468000">
                    <a:tc gridSpan="2">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Team member 2: _________________</a:t>
                          </a:r>
                          <a:endParaRPr sz="18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160000">
                    <a:tc>
                      <a:txBody>
                        <a:bodyPr/>
                        <a:lstStyle/>
                        <a:p>
                          <a:pPr marL="0" marR="0" lvl="0" indent="0" algn="l"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f>
                                  <m:fPr>
                                    <m:ctrlPr>
                                      <a:rPr lang="en-PH" sz="2000" i="1" smtClean="0">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0.5</m:t>
                                            </m:r>
                                          </m:e>
                                          <m:sup>
                                            <m:r>
                                              <a:rPr lang="en-US" sz="2000" i="1">
                                                <a:effectLst/>
                                                <a:latin typeface="Cambria Math"/>
                                                <a:ea typeface="Verdana"/>
                                                <a:cs typeface="Verdana"/>
                                              </a:rPr>
                                              <m:t>3</m:t>
                                            </m:r>
                                          </m:sup>
                                        </m:sSup>
                                        <m:r>
                                          <a:rPr lang="en-US" sz="2000" i="1">
                                            <a:effectLst/>
                                            <a:latin typeface="Cambria Math"/>
                                            <a:ea typeface="Verdana"/>
                                            <a:cs typeface="Verdana"/>
                                          </a:rPr>
                                          <m:t>)</m:t>
                                        </m:r>
                                      </m:e>
                                      <m:sup>
                                        <m:r>
                                          <a:rPr lang="en-US" sz="2000" i="1">
                                            <a:effectLst/>
                                            <a:latin typeface="Cambria Math"/>
                                            <a:ea typeface="Verdana"/>
                                            <a:cs typeface="Verdana"/>
                                          </a:rPr>
                                          <m:t>2</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0.5</m:t>
                                            </m:r>
                                          </m:e>
                                          <m:sup>
                                            <m:r>
                                              <a:rPr lang="en-US" sz="2000" i="1">
                                                <a:effectLst/>
                                                <a:latin typeface="Cambria Math"/>
                                                <a:ea typeface="Verdana"/>
                                                <a:cs typeface="Verdana"/>
                                              </a:rPr>
                                              <m:t>1</m:t>
                                            </m:r>
                                          </m:sup>
                                        </m:sSup>
                                        <m:r>
                                          <a:rPr lang="en-US" sz="2000" i="1">
                                            <a:effectLst/>
                                            <a:latin typeface="Cambria Math"/>
                                            <a:ea typeface="Verdana"/>
                                            <a:cs typeface="Verdana"/>
                                          </a:rPr>
                                          <m:t>)</m:t>
                                        </m:r>
                                      </m:e>
                                      <m:sup>
                                        <m:r>
                                          <a:rPr lang="en-US" sz="2000" i="1">
                                            <a:effectLst/>
                                            <a:latin typeface="Cambria Math"/>
                                            <a:ea typeface="Verdana"/>
                                            <a:cs typeface="Verdana"/>
                                          </a:rPr>
                                          <m:t>2</m:t>
                                        </m:r>
                                      </m:sup>
                                    </m:sSup>
                                  </m:den>
                                </m:f>
                              </m:oMath>
                            </m:oMathPara>
                          </a14:m>
                          <a:endParaRPr sz="2000" u="none" strike="noStrike" cap="none" dirty="0"/>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i="0" u="none" strike="noStrike" cap="none">
                              <a:latin typeface="Verdana"/>
                              <a:ea typeface="Verdana"/>
                              <a:cs typeface="Verdana"/>
                              <a:sym typeface="Verdana"/>
                            </a:rPr>
                            <a:t>Exponent law used</a:t>
                          </a:r>
                          <a:endParaRPr sz="2000" i="1" u="none" strike="noStrike" cap="none">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68000">
                    <a:tc gridSpan="2">
                      <a:txBody>
                        <a:bodyPr/>
                        <a:lstStyle/>
                        <a:p>
                          <a:pPr marL="0" marR="0" lvl="0" indent="0" algn="ctr" rtl="0">
                            <a:lnSpc>
                              <a:spcPct val="107000"/>
                            </a:lnSpc>
                            <a:spcBef>
                              <a:spcPts val="0"/>
                            </a:spcBef>
                            <a:spcAft>
                              <a:spcPts val="0"/>
                            </a:spcAft>
                            <a:buNone/>
                          </a:pPr>
                          <a:r>
                            <a:rPr lang="en-US" sz="2000" b="1" i="0" u="none" strike="noStrike" cap="none" dirty="0">
                              <a:latin typeface="Verdana"/>
                              <a:ea typeface="Verdana"/>
                              <a:cs typeface="Verdana"/>
                              <a:sym typeface="Verdana"/>
                            </a:rPr>
                            <a:t>Team member 3: _________________</a:t>
                          </a:r>
                          <a:endParaRPr sz="2000" i="1" u="none" strike="noStrike" cap="none" dirty="0">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2"/>
                      </a:ext>
                    </a:extLst>
                  </a:tr>
                  <a:tr h="2160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sSup>
                                  <m:sSupPr>
                                    <m:ctrlPr>
                                      <a:rPr lang="en-PH" sz="2000" i="1" smtClean="0">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0</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2</m:t>
                                                </m:r>
                                              </m:sup>
                                            </m:sSup>
                                          </m:den>
                                        </m:f>
                                        <m:r>
                                          <a:rPr lang="en-US" sz="2000" i="1">
                                            <a:effectLst/>
                                            <a:latin typeface="Cambria Math"/>
                                            <a:ea typeface="Verdana"/>
                                            <a:cs typeface="Verdana"/>
                                          </a:rPr>
                                          <m:t>∙</m:t>
                                        </m:r>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4</m:t>
                                            </m:r>
                                          </m:e>
                                          <m:sup>
                                            <m:r>
                                              <a:rPr lang="en-US" sz="2000" i="1">
                                                <a:effectLst/>
                                                <a:latin typeface="Cambria Math"/>
                                                <a:ea typeface="Verdana"/>
                                                <a:cs typeface="Verdana"/>
                                              </a:rPr>
                                              <m:t>4</m:t>
                                            </m:r>
                                          </m:sup>
                                        </m:sSup>
                                      </m:e>
                                    </m:d>
                                  </m:e>
                                  <m:sup>
                                    <m:r>
                                      <a:rPr lang="en-US" sz="2000" i="1">
                                        <a:effectLst/>
                                        <a:latin typeface="Cambria Math"/>
                                        <a:ea typeface="Verdana"/>
                                        <a:cs typeface="Verdana"/>
                                      </a:rPr>
                                      <m:t>3</m:t>
                                    </m:r>
                                  </m:sup>
                                </m:sSup>
                              </m:oMath>
                            </m:oMathPara>
                          </a14:m>
                          <a:endParaRPr lang="en-PH" sz="2000" i="1" dirty="0">
                            <a:effectLst/>
                            <a:latin typeface="Verdana" pitchFamily="34" charset="0"/>
                            <a:ea typeface="Verdana" pitchFamily="34" charset="0"/>
                            <a:cs typeface="Cambria Math"/>
                          </a:endParaRPr>
                        </a:p>
                        <a:p>
                          <a:pPr marL="0" marR="0" lvl="0" indent="0" algn="l" rtl="0">
                            <a:lnSpc>
                              <a:spcPct val="100000"/>
                            </a:lnSpc>
                            <a:spcBef>
                              <a:spcPts val="0"/>
                            </a:spcBef>
                            <a:spcAft>
                              <a:spcPts val="0"/>
                            </a:spcAft>
                            <a:buNone/>
                          </a:pPr>
                          <a:endParaRPr sz="2000" u="none" strike="noStrike" cap="none" dirty="0"/>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ctr" rtl="0">
                            <a:lnSpc>
                              <a:spcPct val="107000"/>
                            </a:lnSpc>
                            <a:spcBef>
                              <a:spcPts val="0"/>
                            </a:spcBef>
                            <a:spcAft>
                              <a:spcPts val="0"/>
                            </a:spcAft>
                            <a:buNone/>
                          </a:pPr>
                          <a:r>
                            <a:rPr lang="en-US" sz="2000" i="0" u="none" strike="noStrike" cap="none" dirty="0">
                              <a:latin typeface="Verdana"/>
                              <a:ea typeface="Verdana"/>
                              <a:cs typeface="Verdana"/>
                              <a:sym typeface="Verdana"/>
                            </a:rPr>
                            <a:t>Exponent law used</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mc:Choice>
        <mc:Fallback xmlns="">
          <p:graphicFrame>
            <p:nvGraphicFramePr>
              <p:cNvPr id="291" name="Google Shape;291;p15"/>
              <p:cNvGraphicFramePr/>
              <p:nvPr>
                <p:extLst>
                  <p:ext uri="{D42A27DB-BD31-4B8C-83A1-F6EECF244321}">
                    <p14:modId xmlns:p14="http://schemas.microsoft.com/office/powerpoint/2010/main" val="1028100937"/>
                  </p:ext>
                </p:extLst>
              </p:nvPr>
            </p:nvGraphicFramePr>
            <p:xfrm>
              <a:off x="2144946" y="520393"/>
              <a:ext cx="7920000" cy="5256000"/>
            </p:xfrm>
            <a:graphic>
              <a:graphicData uri="http://schemas.openxmlformats.org/drawingml/2006/table">
                <a:tbl>
                  <a:tblPr>
                    <a:noFill/>
                    <a:tableStyleId>{07A82D6B-0012-41CB-8D28-B149B940E5F0}</a:tableStyleId>
                  </a:tblPr>
                  <a:tblGrid>
                    <a:gridCol w="3960000">
                      <a:extLst>
                        <a:ext uri="{9D8B030D-6E8A-4147-A177-3AD203B41FA5}">
                          <a16:colId xmlns:a16="http://schemas.microsoft.com/office/drawing/2014/main" val="20000"/>
                        </a:ext>
                      </a:extLst>
                    </a:gridCol>
                    <a:gridCol w="3960000">
                      <a:extLst>
                        <a:ext uri="{9D8B030D-6E8A-4147-A177-3AD203B41FA5}">
                          <a16:colId xmlns:a16="http://schemas.microsoft.com/office/drawing/2014/main" val="20001"/>
                        </a:ext>
                      </a:extLst>
                    </a:gridCol>
                  </a:tblGrid>
                  <a:tr h="468000">
                    <a:tc gridSpan="2">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Team member 2: _________________</a:t>
                          </a:r>
                          <a:endParaRPr sz="18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0"/>
                      </a:ext>
                    </a:extLst>
                  </a:tr>
                  <a:tr h="2160000">
                    <a:tc>
                      <a:txBody>
                        <a:bodyPr/>
                        <a:lstStyle/>
                        <a:p>
                          <a:endParaRPr lang="en-US"/>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4"/>
                          <a:stretch>
                            <a:fillRect t="-22222" r="-100319" b="-122222"/>
                          </a:stretch>
                        </a:blipFill>
                      </a:tcPr>
                    </a:tc>
                    <a:tc>
                      <a:txBody>
                        <a:bodyPr/>
                        <a:lstStyle/>
                        <a:p>
                          <a:pPr marL="0" marR="0" lvl="0" indent="0" algn="ctr" rtl="0">
                            <a:lnSpc>
                              <a:spcPct val="107000"/>
                            </a:lnSpc>
                            <a:spcBef>
                              <a:spcPts val="0"/>
                            </a:spcBef>
                            <a:spcAft>
                              <a:spcPts val="0"/>
                            </a:spcAft>
                            <a:buNone/>
                          </a:pPr>
                          <a:r>
                            <a:rPr lang="en-US" sz="2000" i="0" u="none" strike="noStrike" cap="none">
                              <a:latin typeface="Verdana"/>
                              <a:ea typeface="Verdana"/>
                              <a:cs typeface="Verdana"/>
                              <a:sym typeface="Verdana"/>
                            </a:rPr>
                            <a:t>Exponent law used</a:t>
                          </a:r>
                          <a:endParaRPr sz="2000" i="1" u="none" strike="noStrike" cap="none">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468000">
                    <a:tc gridSpan="2">
                      <a:txBody>
                        <a:bodyPr/>
                        <a:lstStyle/>
                        <a:p>
                          <a:pPr marL="0" marR="0" lvl="0" indent="0" algn="ctr" rtl="0">
                            <a:lnSpc>
                              <a:spcPct val="107000"/>
                            </a:lnSpc>
                            <a:spcBef>
                              <a:spcPts val="0"/>
                            </a:spcBef>
                            <a:spcAft>
                              <a:spcPts val="0"/>
                            </a:spcAft>
                            <a:buNone/>
                          </a:pPr>
                          <a:r>
                            <a:rPr lang="en-US" sz="2000" b="1" i="0" u="none" strike="noStrike" cap="none" dirty="0">
                              <a:latin typeface="Verdana"/>
                              <a:ea typeface="Verdana"/>
                              <a:cs typeface="Verdana"/>
                              <a:sym typeface="Verdana"/>
                            </a:rPr>
                            <a:t>Team member 3: _________________</a:t>
                          </a:r>
                          <a:endParaRPr sz="2000" i="1" u="none" strike="noStrike" cap="none" dirty="0">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hMerge="1">
                      <a:txBody>
                        <a:bodyPr/>
                        <a:lstStyle/>
                        <a:p>
                          <a:endParaRPr lang="en-US"/>
                        </a:p>
                      </a:txBody>
                      <a:tcPr/>
                    </a:tc>
                    <a:extLst>
                      <a:ext uri="{0D108BD9-81ED-4DB2-BD59-A6C34878D82A}">
                        <a16:rowId xmlns:a16="http://schemas.microsoft.com/office/drawing/2014/main" val="10002"/>
                      </a:ext>
                    </a:extLst>
                  </a:tr>
                  <a:tr h="2160000">
                    <a:tc>
                      <a:txBody>
                        <a:bodyPr/>
                        <a:lstStyle/>
                        <a:p>
                          <a:endParaRPr lang="en-US"/>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4"/>
                          <a:stretch>
                            <a:fillRect t="-143275" r="-100319" b="-1170"/>
                          </a:stretch>
                        </a:blipFill>
                      </a:tcPr>
                    </a:tc>
                    <a:tc>
                      <a:txBody>
                        <a:bodyPr/>
                        <a:lstStyle/>
                        <a:p>
                          <a:pPr marL="0" marR="0" lvl="0" indent="0" algn="ctr" rtl="0">
                            <a:lnSpc>
                              <a:spcPct val="107000"/>
                            </a:lnSpc>
                            <a:spcBef>
                              <a:spcPts val="0"/>
                            </a:spcBef>
                            <a:spcAft>
                              <a:spcPts val="0"/>
                            </a:spcAft>
                            <a:buNone/>
                          </a:pPr>
                          <a:r>
                            <a:rPr lang="en-US" sz="2000" i="0" u="none" strike="noStrike" cap="none" dirty="0">
                              <a:latin typeface="Verdana"/>
                              <a:ea typeface="Verdana"/>
                              <a:cs typeface="Verdana"/>
                              <a:sym typeface="Verdana"/>
                            </a:rPr>
                            <a:t>Exponent law used</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mc:Fallback>
      </mc:AlternateContent>
      <p:sp>
        <p:nvSpPr>
          <p:cNvPr id="292" name="Google Shape;292;p15"/>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19</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97"/>
        <p:cNvGrpSpPr/>
        <p:nvPr/>
      </p:nvGrpSpPr>
      <p:grpSpPr>
        <a:xfrm>
          <a:off x="0" y="0"/>
          <a:ext cx="0" cy="0"/>
          <a:chOff x="0" y="0"/>
          <a:chExt cx="0" cy="0"/>
        </a:xfrm>
      </p:grpSpPr>
      <p:sp>
        <p:nvSpPr>
          <p:cNvPr id="298" name="Google Shape;298;p16"/>
          <p:cNvSpPr/>
          <p:nvPr/>
        </p:nvSpPr>
        <p:spPr>
          <a:xfrm>
            <a:off x="0" y="0"/>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299" name="Google Shape;299;p16"/>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00" name="Google Shape;300;p16"/>
          <p:cNvSpPr txBox="1">
            <a:spLocks noGrp="1"/>
          </p:cNvSpPr>
          <p:nvPr>
            <p:ph type="title" idx="4294967295"/>
          </p:nvPr>
        </p:nvSpPr>
        <p:spPr>
          <a:xfrm>
            <a:off x="5664867" y="2766145"/>
            <a:ext cx="448075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E24E5F"/>
                </a:solidFill>
                <a:latin typeface="Verdana"/>
                <a:ea typeface="Verdana"/>
                <a:cs typeface="Verdana"/>
                <a:sym typeface="Verdana"/>
              </a:rPr>
              <a:t>Your Turn</a:t>
            </a:r>
            <a:endParaRPr sz="5100" b="1">
              <a:solidFill>
                <a:srgbClr val="E24E5F"/>
              </a:solidFill>
              <a:latin typeface="Verdana"/>
              <a:ea typeface="Verdana"/>
              <a:cs typeface="Verdana"/>
              <a:sym typeface="Verdana"/>
            </a:endParaRPr>
          </a:p>
        </p:txBody>
      </p:sp>
      <p:pic>
        <p:nvPicPr>
          <p:cNvPr id="301" name="Google Shape;301;p16"/>
          <p:cNvPicPr preferRelativeResize="0"/>
          <p:nvPr/>
        </p:nvPicPr>
        <p:blipFill rotWithShape="1">
          <a:blip r:embed="rId4">
            <a:alphaModFix/>
          </a:blip>
          <a:srcRect/>
          <a:stretch/>
        </p:blipFill>
        <p:spPr>
          <a:xfrm>
            <a:off x="4412728" y="2897929"/>
            <a:ext cx="1122440" cy="1062143"/>
          </a:xfrm>
          <a:prstGeom prst="rect">
            <a:avLst/>
          </a:prstGeom>
          <a:noFill/>
          <a:ln>
            <a:noFill/>
          </a:ln>
          <a:effectLst>
            <a:outerShdw blurRad="50800" dist="38100" dir="2700000" algn="tl" rotWithShape="0">
              <a:srgbClr val="000000">
                <a:alpha val="40000"/>
              </a:srgbClr>
            </a:outerShdw>
          </a:effectLst>
        </p:spPr>
      </p:pic>
      <p:sp>
        <p:nvSpPr>
          <p:cNvPr id="302" name="Google Shape;302;p16"/>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20</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07"/>
        <p:cNvGrpSpPr/>
        <p:nvPr/>
      </p:nvGrpSpPr>
      <p:grpSpPr>
        <a:xfrm>
          <a:off x="0" y="0"/>
          <a:ext cx="0" cy="0"/>
          <a:chOff x="0" y="0"/>
          <a:chExt cx="0" cy="0"/>
        </a:xfrm>
      </p:grpSpPr>
      <p:sp>
        <p:nvSpPr>
          <p:cNvPr id="308" name="Google Shape;308;p17"/>
          <p:cNvSpPr/>
          <p:nvPr/>
        </p:nvSpPr>
        <p:spPr>
          <a:xfrm>
            <a:off x="0" y="-822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09" name="Google Shape;309;p17"/>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10" name="Google Shape;310;p17"/>
          <p:cNvSpPr txBox="1"/>
          <p:nvPr/>
        </p:nvSpPr>
        <p:spPr>
          <a:xfrm>
            <a:off x="1797258" y="433975"/>
            <a:ext cx="8731381" cy="7473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4300" b="1" i="0" u="none" strike="noStrike" cap="none" dirty="0">
                <a:solidFill>
                  <a:srgbClr val="E24E5F"/>
                </a:solidFill>
                <a:latin typeface="Verdana"/>
                <a:ea typeface="Verdana"/>
                <a:cs typeface="Verdana"/>
                <a:sym typeface="Verdana"/>
              </a:rPr>
              <a:t>8.3.5 Your Turn!</a:t>
            </a:r>
            <a:endParaRPr dirty="0"/>
          </a:p>
        </p:txBody>
      </p:sp>
      <p:pic>
        <p:nvPicPr>
          <p:cNvPr id="311" name="Google Shape;311;p17"/>
          <p:cNvPicPr preferRelativeResize="0"/>
          <p:nvPr/>
        </p:nvPicPr>
        <p:blipFill rotWithShape="1">
          <a:blip r:embed="rId4">
            <a:alphaModFix/>
          </a:blip>
          <a:srcRect/>
          <a:stretch/>
        </p:blipFill>
        <p:spPr>
          <a:xfrm>
            <a:off x="1049958" y="433975"/>
            <a:ext cx="747300" cy="747300"/>
          </a:xfrm>
          <a:prstGeom prst="rect">
            <a:avLst/>
          </a:prstGeom>
          <a:noFill/>
          <a:ln>
            <a:noFill/>
          </a:ln>
          <a:effectLst>
            <a:outerShdw blurRad="50800" dist="38100" dir="2700000" algn="tl" rotWithShape="0">
              <a:srgbClr val="000000">
                <a:alpha val="40000"/>
              </a:srgbClr>
            </a:outerShdw>
          </a:effectLst>
        </p:spPr>
      </p:pic>
      <p:sp>
        <p:nvSpPr>
          <p:cNvPr id="312" name="Google Shape;312;p17"/>
          <p:cNvSpPr txBox="1"/>
          <p:nvPr/>
        </p:nvSpPr>
        <p:spPr>
          <a:xfrm>
            <a:off x="604684" y="1419722"/>
            <a:ext cx="11023466" cy="750934"/>
          </a:xfrm>
          <a:prstGeom prst="rect">
            <a:avLst/>
          </a:prstGeom>
          <a:noFill/>
          <a:ln>
            <a:noFill/>
          </a:ln>
        </p:spPr>
        <p:txBody>
          <a:bodyPr spcFirstLastPara="1" wrap="square" lIns="91425" tIns="45700" rIns="91425" bIns="45700" anchor="t" anchorCtr="0">
            <a:spAutoFit/>
          </a:bodyPr>
          <a:lstStyle/>
          <a:p>
            <a:pPr marL="457200" marR="0" lvl="0" indent="-457200" algn="l" rtl="0">
              <a:lnSpc>
                <a:spcPct val="107000"/>
              </a:lnSpc>
              <a:spcBef>
                <a:spcPts val="0"/>
              </a:spcBef>
              <a:spcAft>
                <a:spcPts val="0"/>
              </a:spcAft>
              <a:buClr>
                <a:srgbClr val="000000"/>
              </a:buClr>
              <a:buSzPts val="2000"/>
              <a:buFont typeface="Arial"/>
              <a:buAutoNum type="arabicPeriod"/>
            </a:pPr>
            <a:r>
              <a:rPr lang="en-US" sz="2000" b="0" i="0" u="none" strike="noStrike" cap="none" dirty="0">
                <a:solidFill>
                  <a:srgbClr val="000000"/>
                </a:solidFill>
                <a:latin typeface="Verdana"/>
                <a:ea typeface="Verdana"/>
                <a:cs typeface="Verdana"/>
                <a:sym typeface="Verdana"/>
              </a:rPr>
              <a:t>Use the laws of exponents to evaluate the expressions. Record the law used at each step.</a:t>
            </a:r>
            <a:endParaRPr sz="1800" b="0" i="1" u="none" strike="noStrike" cap="none" dirty="0">
              <a:solidFill>
                <a:srgbClr val="000000"/>
              </a:solidFill>
              <a:latin typeface="Cambria Math"/>
              <a:ea typeface="Cambria Math"/>
              <a:cs typeface="Cambria Math"/>
              <a:sym typeface="Cambria Math"/>
            </a:endParaRPr>
          </a:p>
        </p:txBody>
      </p:sp>
      <mc:AlternateContent xmlns:mc="http://schemas.openxmlformats.org/markup-compatibility/2006" xmlns:a14="http://schemas.microsoft.com/office/drawing/2010/main">
        <mc:Choice Requires="a14">
          <p:graphicFrame>
            <p:nvGraphicFramePr>
              <p:cNvPr id="313" name="Google Shape;313;p17"/>
              <p:cNvGraphicFramePr/>
              <p:nvPr>
                <p:extLst>
                  <p:ext uri="{D42A27DB-BD31-4B8C-83A1-F6EECF244321}">
                    <p14:modId xmlns:p14="http://schemas.microsoft.com/office/powerpoint/2010/main" val="1602940466"/>
                  </p:ext>
                </p:extLst>
              </p:nvPr>
            </p:nvGraphicFramePr>
            <p:xfrm>
              <a:off x="2624016" y="2392025"/>
              <a:ext cx="7200000" cy="4032000"/>
            </p:xfrm>
            <a:graphic>
              <a:graphicData uri="http://schemas.openxmlformats.org/drawingml/2006/table">
                <a:tbl>
                  <a:tblPr>
                    <a:noFill/>
                    <a:tableStyleId>{07A82D6B-0012-41CB-8D28-B149B940E5F0}</a:tableStyleId>
                  </a:tblPr>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Equivalent Expressions</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Laws of Exponents</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188000">
                    <a:tc>
                      <a:txBody>
                        <a:bodyPr/>
                        <a:lstStyle/>
                        <a:p>
                          <a:pPr marL="0" marR="0" lvl="0" indent="0" algn="l"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en-PH" sz="2000" i="1" smtClean="0">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2.5</m:t>
                                                </m:r>
                                              </m:e>
                                              <m:sup>
                                                <m:r>
                                                  <a:rPr lang="en-US" sz="2000" i="1">
                                                    <a:effectLst/>
                                                    <a:latin typeface="Cambria Math"/>
                                                    <a:ea typeface="Verdana"/>
                                                    <a:cs typeface="Verdana"/>
                                                  </a:rPr>
                                                  <m:t>5</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2.5</m:t>
                                                </m:r>
                                              </m:e>
                                              <m:sup>
                                                <m:r>
                                                  <a:rPr lang="en-US" sz="2000" i="1">
                                                    <a:effectLst/>
                                                    <a:latin typeface="Cambria Math"/>
                                                    <a:ea typeface="Verdana"/>
                                                    <a:cs typeface="Verdana"/>
                                                  </a:rPr>
                                                  <m:t>3</m:t>
                                                </m:r>
                                              </m:sup>
                                            </m:sSup>
                                          </m:den>
                                        </m:f>
                                      </m:e>
                                    </m:d>
                                  </m:e>
                                  <m:sup>
                                    <m:r>
                                      <a:rPr lang="en-US" sz="2000" i="1">
                                        <a:effectLst/>
                                        <a:latin typeface="Cambria Math"/>
                                        <a:ea typeface="Verdana"/>
                                        <a:cs typeface="Verdana"/>
                                      </a:rPr>
                                      <m:t>1</m:t>
                                    </m:r>
                                  </m:sup>
                                </m:sSup>
                              </m:oMath>
                            </m:oMathPara>
                          </a14:m>
                          <a:endParaRPr sz="2000" u="none" strike="noStrike" cap="none" dirty="0"/>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US" sz="2000" i="0" u="none" strike="noStrike" cap="none">
                              <a:latin typeface="Verdana"/>
                              <a:ea typeface="Verdana"/>
                              <a:cs typeface="Verdana"/>
                              <a:sym typeface="Verdana"/>
                            </a:rPr>
                            <a:t> </a:t>
                          </a:r>
                          <a:endParaRPr sz="2000" i="1" u="none" strike="noStrike" cap="none">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88000">
                    <a:tc>
                      <a:txBody>
                        <a:bodyPr/>
                        <a:lstStyle/>
                        <a:p>
                          <a:pPr marL="0" marR="0" lvl="0" indent="0" algn="l" rtl="0">
                            <a:lnSpc>
                              <a:spcPct val="100000"/>
                            </a:lnSpc>
                            <a:spcBef>
                              <a:spcPts val="0"/>
                            </a:spcBef>
                            <a:spcAft>
                              <a:spcPts val="0"/>
                            </a:spcAft>
                            <a:buNone/>
                          </a:pPr>
                          <a14:m>
                            <m:oMathPara xmlns:m="http://schemas.openxmlformats.org/officeDocument/2006/math">
                              <m:oMathParaPr>
                                <m:jc m:val="centerGroup"/>
                              </m:oMathParaPr>
                              <m:oMath xmlns:m="http://schemas.openxmlformats.org/officeDocument/2006/math">
                                <m:sSup>
                                  <m:sSupPr>
                                    <m:ctrlPr>
                                      <a:rPr lang="en-PH" sz="2000" i="1" smtClean="0">
                                        <a:effectLst/>
                                        <a:latin typeface="Cambria Math" panose="02040503050406030204" pitchFamily="18" charset="0"/>
                                        <a:ea typeface="Verdana"/>
                                        <a:cs typeface="Verdana"/>
                                      </a:rPr>
                                    </m:ctrlPr>
                                  </m:sSupPr>
                                  <m:e>
                                    <m:d>
                                      <m:dPr>
                                        <m:begChr m:val="["/>
                                        <m:endChr m:val="]"/>
                                        <m:ctrlPr>
                                          <a:rPr lang="en-PH" sz="2000" i="1">
                                            <a:effectLst/>
                                            <a:latin typeface="Cambria Math" panose="02040503050406030204" pitchFamily="18" charset="0"/>
                                            <a:ea typeface="Verdana"/>
                                            <a:cs typeface="Verdana"/>
                                          </a:rPr>
                                        </m:ctrlPr>
                                      </m:dPr>
                                      <m:e>
                                        <m:sSup>
                                          <m:sSupPr>
                                            <m:ctrlPr>
                                              <a:rPr lang="en-PH" sz="2000" i="1">
                                                <a:effectLst/>
                                                <a:latin typeface="Cambria Math" panose="02040503050406030204" pitchFamily="18" charset="0"/>
                                                <a:ea typeface="Verdana"/>
                                                <a:cs typeface="Verdana"/>
                                              </a:rPr>
                                            </m:ctrlPr>
                                          </m:sSupPr>
                                          <m:e>
                                            <m:d>
                                              <m:dPr>
                                                <m:ctrlPr>
                                                  <a:rPr lang="en-PH" sz="2000" i="1">
                                                    <a:effectLst/>
                                                    <a:latin typeface="Cambria Math" panose="02040503050406030204" pitchFamily="18" charset="0"/>
                                                    <a:ea typeface="Verdana"/>
                                                    <a:cs typeface="Verdana"/>
                                                  </a:rPr>
                                                </m:ctrlPr>
                                              </m:dPr>
                                              <m:e>
                                                <m:f>
                                                  <m:fPr>
                                                    <m:ctrlPr>
                                                      <a:rPr lang="en-PH" sz="2000" i="1">
                                                        <a:effectLst/>
                                                        <a:latin typeface="Cambria Math" panose="02040503050406030204" pitchFamily="18" charset="0"/>
                                                        <a:ea typeface="Verdana"/>
                                                        <a:cs typeface="Verdana"/>
                                                      </a:rPr>
                                                    </m:ctrlPr>
                                                  </m:fPr>
                                                  <m:num>
                                                    <m:r>
                                                      <a:rPr lang="en-US" sz="2000" i="1">
                                                        <a:effectLst/>
                                                        <a:latin typeface="Cambria Math"/>
                                                        <a:ea typeface="Verdana"/>
                                                        <a:cs typeface="Verdana"/>
                                                      </a:rPr>
                                                      <m:t>2</m:t>
                                                    </m:r>
                                                  </m:num>
                                                  <m:den>
                                                    <m:r>
                                                      <a:rPr lang="en-US" sz="2000" i="1">
                                                        <a:effectLst/>
                                                        <a:latin typeface="Cambria Math"/>
                                                        <a:ea typeface="Verdana"/>
                                                        <a:cs typeface="Verdana"/>
                                                      </a:rPr>
                                                      <m:t>3</m:t>
                                                    </m:r>
                                                  </m:den>
                                                </m:f>
                                              </m:e>
                                            </m:d>
                                          </m:e>
                                          <m:sup>
                                            <m:r>
                                              <a:rPr lang="en-US" sz="2000" i="1">
                                                <a:effectLst/>
                                                <a:latin typeface="Cambria Math"/>
                                                <a:ea typeface="Verdana"/>
                                                <a:cs typeface="Verdana"/>
                                              </a:rPr>
                                              <m:t>0</m:t>
                                            </m:r>
                                          </m:sup>
                                        </m:sSup>
                                        <m:r>
                                          <a:rPr lang="en-US" sz="2000" i="1">
                                            <a:effectLst/>
                                            <a:latin typeface="Cambria Math"/>
                                            <a:ea typeface="Verdana"/>
                                            <a:cs typeface="Verdana"/>
                                          </a:rPr>
                                          <m:t> </m:t>
                                        </m:r>
                                        <m:r>
                                          <a:rPr lang="en-US" sz="2000" i="1">
                                            <a:effectLst/>
                                            <a:latin typeface="Cambria Math"/>
                                            <a:ea typeface="Cambria Math"/>
                                            <a:cs typeface="Cambria Math"/>
                                          </a:rPr>
                                          <m:t>∙ </m:t>
                                        </m:r>
                                        <m:sSup>
                                          <m:sSupPr>
                                            <m:ctrlPr>
                                              <a:rPr lang="en-PH" sz="2000" i="1">
                                                <a:effectLst/>
                                                <a:latin typeface="Cambria Math" panose="02040503050406030204" pitchFamily="18" charset="0"/>
                                                <a:ea typeface="Cambria Math"/>
                                                <a:cs typeface="Cambria Math"/>
                                              </a:rPr>
                                            </m:ctrlPr>
                                          </m:sSupPr>
                                          <m:e>
                                            <m:d>
                                              <m:dPr>
                                                <m:ctrlPr>
                                                  <a:rPr lang="en-PH" sz="2000" i="1">
                                                    <a:effectLst/>
                                                    <a:latin typeface="Cambria Math" panose="02040503050406030204" pitchFamily="18" charset="0"/>
                                                    <a:ea typeface="Cambria Math"/>
                                                    <a:cs typeface="Cambria Math"/>
                                                  </a:rPr>
                                                </m:ctrlPr>
                                              </m:dPr>
                                              <m:e>
                                                <m:f>
                                                  <m:fPr>
                                                    <m:ctrlPr>
                                                      <a:rPr lang="en-PH" sz="2000" i="1">
                                                        <a:effectLst/>
                                                        <a:latin typeface="Cambria Math" panose="02040503050406030204" pitchFamily="18" charset="0"/>
                                                        <a:ea typeface="Cambria Math"/>
                                                        <a:cs typeface="Cambria Math"/>
                                                      </a:rPr>
                                                    </m:ctrlPr>
                                                  </m:fPr>
                                                  <m:num>
                                                    <m:r>
                                                      <a:rPr lang="en-US" sz="2000" i="1">
                                                        <a:effectLst/>
                                                        <a:latin typeface="Cambria Math"/>
                                                        <a:ea typeface="Cambria Math"/>
                                                        <a:cs typeface="Cambria Math"/>
                                                      </a:rPr>
                                                      <m:t>2</m:t>
                                                    </m:r>
                                                  </m:num>
                                                  <m:den>
                                                    <m:r>
                                                      <a:rPr lang="en-US" sz="2000" i="1">
                                                        <a:effectLst/>
                                                        <a:latin typeface="Cambria Math"/>
                                                        <a:ea typeface="Cambria Math"/>
                                                        <a:cs typeface="Cambria Math"/>
                                                      </a:rPr>
                                                      <m:t>3</m:t>
                                                    </m:r>
                                                  </m:den>
                                                </m:f>
                                              </m:e>
                                            </m:d>
                                          </m:e>
                                          <m:sup>
                                            <m:r>
                                              <a:rPr lang="en-US" sz="2000" i="1">
                                                <a:effectLst/>
                                                <a:latin typeface="Cambria Math"/>
                                                <a:ea typeface="Cambria Math"/>
                                                <a:cs typeface="Cambria Math"/>
                                              </a:rPr>
                                              <m:t>2</m:t>
                                            </m:r>
                                          </m:sup>
                                        </m:sSup>
                                      </m:e>
                                    </m:d>
                                  </m:e>
                                  <m:sup>
                                    <m:r>
                                      <a:rPr lang="en-US" sz="2000" i="1">
                                        <a:effectLst/>
                                        <a:latin typeface="Cambria Math"/>
                                        <a:ea typeface="Verdana"/>
                                        <a:cs typeface="Verdana"/>
                                      </a:rPr>
                                      <m:t>3</m:t>
                                    </m:r>
                                  </m:sup>
                                </m:sSup>
                              </m:oMath>
                            </m:oMathPara>
                          </a14:m>
                          <a:endParaRPr sz="2000" u="none" strike="noStrike" cap="none" dirty="0"/>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US" sz="2000" i="0" u="none" strike="noStrike" cap="none">
                              <a:latin typeface="Verdana"/>
                              <a:ea typeface="Verdana"/>
                              <a:cs typeface="Verdana"/>
                              <a:sym typeface="Verdana"/>
                            </a:rPr>
                            <a:t> </a:t>
                          </a:r>
                          <a:endParaRPr sz="2000" i="1" u="none" strike="noStrike" cap="none">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18800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14:m>
                            <m:oMathPara xmlns:m="http://schemas.openxmlformats.org/officeDocument/2006/math">
                              <m:oMathParaPr>
                                <m:jc m:val="centerGroup"/>
                              </m:oMathParaPr>
                              <m:oMath xmlns:m="http://schemas.openxmlformats.org/officeDocument/2006/math">
                                <m:f>
                                  <m:fPr>
                                    <m:ctrlPr>
                                      <a:rPr lang="en-PH" sz="2000" i="1" smtClean="0">
                                        <a:effectLst/>
                                        <a:latin typeface="Cambria Math" panose="02040503050406030204" pitchFamily="18" charset="0"/>
                                        <a:ea typeface="Verdana"/>
                                        <a:cs typeface="Verdana"/>
                                      </a:rPr>
                                    </m:ctrlPr>
                                  </m:fPr>
                                  <m:num>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0.5</m:t>
                                        </m:r>
                                      </m:e>
                                      <m:sup>
                                        <m:r>
                                          <a:rPr lang="en-US" sz="2000" i="1">
                                            <a:effectLst/>
                                            <a:latin typeface="Cambria Math"/>
                                            <a:ea typeface="Verdana"/>
                                            <a:cs typeface="Verdana"/>
                                          </a:rPr>
                                          <m:t>3</m:t>
                                        </m:r>
                                      </m:sup>
                                    </m:sSup>
                                  </m:num>
                                  <m:den>
                                    <m:sSup>
                                      <m:sSupPr>
                                        <m:ctrlPr>
                                          <a:rPr lang="en-PH" sz="2000" i="1">
                                            <a:effectLst/>
                                            <a:latin typeface="Cambria Math" panose="02040503050406030204" pitchFamily="18" charset="0"/>
                                            <a:ea typeface="Verdana"/>
                                            <a:cs typeface="Verdana"/>
                                          </a:rPr>
                                        </m:ctrlPr>
                                      </m:sSupPr>
                                      <m:e>
                                        <m:r>
                                          <a:rPr lang="en-US" sz="2000" i="1">
                                            <a:effectLst/>
                                            <a:latin typeface="Cambria Math"/>
                                            <a:ea typeface="Verdana"/>
                                            <a:cs typeface="Verdana"/>
                                          </a:rPr>
                                          <m:t>2.5</m:t>
                                        </m:r>
                                      </m:e>
                                      <m:sup>
                                        <m:r>
                                          <a:rPr lang="en-US" sz="2000" i="1">
                                            <a:effectLst/>
                                            <a:latin typeface="Cambria Math"/>
                                            <a:ea typeface="Verdana"/>
                                            <a:cs typeface="Verdana"/>
                                          </a:rPr>
                                          <m:t>3</m:t>
                                        </m:r>
                                      </m:sup>
                                    </m:sSup>
                                  </m:den>
                                </m:f>
                                <m:r>
                                  <a:rPr lang="en-US" sz="2000" i="1">
                                    <a:effectLst/>
                                    <a:latin typeface="Cambria Math"/>
                                    <a:ea typeface="Verdana"/>
                                    <a:cs typeface="Verdana"/>
                                  </a:rPr>
                                  <m:t> </m:t>
                                </m:r>
                                <m:r>
                                  <a:rPr lang="en-US" sz="2000" i="1">
                                    <a:effectLst/>
                                    <a:latin typeface="Cambria Math"/>
                                    <a:ea typeface="Cambria Math"/>
                                    <a:cs typeface="Cambria Math"/>
                                  </a:rPr>
                                  <m:t>∙ </m:t>
                                </m:r>
                                <m:sSup>
                                  <m:sSupPr>
                                    <m:ctrlPr>
                                      <a:rPr lang="en-PH" sz="2000" i="1">
                                        <a:effectLst/>
                                        <a:latin typeface="Cambria Math" panose="02040503050406030204" pitchFamily="18" charset="0"/>
                                        <a:ea typeface="Cambria Math"/>
                                        <a:cs typeface="Cambria Math"/>
                                      </a:rPr>
                                    </m:ctrlPr>
                                  </m:sSupPr>
                                  <m:e>
                                    <m:d>
                                      <m:dPr>
                                        <m:ctrlPr>
                                          <a:rPr lang="en-PH" sz="2000" i="1">
                                            <a:effectLst/>
                                            <a:latin typeface="Cambria Math" panose="02040503050406030204" pitchFamily="18" charset="0"/>
                                            <a:ea typeface="Cambria Math"/>
                                            <a:cs typeface="Cambria Math"/>
                                          </a:rPr>
                                        </m:ctrlPr>
                                      </m:dPr>
                                      <m:e>
                                        <m:f>
                                          <m:fPr>
                                            <m:ctrlPr>
                                              <a:rPr lang="en-PH" sz="2000" i="1">
                                                <a:effectLst/>
                                                <a:latin typeface="Cambria Math" panose="02040503050406030204" pitchFamily="18" charset="0"/>
                                                <a:ea typeface="Cambria Math"/>
                                                <a:cs typeface="Cambria Math"/>
                                              </a:rPr>
                                            </m:ctrlPr>
                                          </m:fPr>
                                          <m:num>
                                            <m:r>
                                              <a:rPr lang="en-US" sz="2000" i="1">
                                                <a:effectLst/>
                                                <a:latin typeface="Cambria Math"/>
                                                <a:ea typeface="Cambria Math"/>
                                                <a:cs typeface="Cambria Math"/>
                                              </a:rPr>
                                              <m:t>0.5</m:t>
                                            </m:r>
                                          </m:num>
                                          <m:den>
                                            <m:r>
                                              <a:rPr lang="en-US" sz="2000" i="1">
                                                <a:effectLst/>
                                                <a:latin typeface="Cambria Math"/>
                                                <a:ea typeface="Cambria Math"/>
                                                <a:cs typeface="Cambria Math"/>
                                              </a:rPr>
                                              <m:t>2.5</m:t>
                                            </m:r>
                                          </m:den>
                                        </m:f>
                                      </m:e>
                                    </m:d>
                                  </m:e>
                                  <m:sup>
                                    <m:r>
                                      <a:rPr lang="en-US" sz="2000" i="1">
                                        <a:effectLst/>
                                        <a:latin typeface="Cambria Math"/>
                                        <a:ea typeface="Cambria Math"/>
                                        <a:cs typeface="Cambria Math"/>
                                      </a:rPr>
                                      <m:t>2</m:t>
                                    </m:r>
                                  </m:sup>
                                </m:sSup>
                              </m:oMath>
                            </m:oMathPara>
                          </a14:m>
                          <a:endParaRPr lang="en-PH" sz="2000" i="1" dirty="0">
                            <a:effectLst/>
                            <a:latin typeface="Verdana" pitchFamily="34" charset="0"/>
                            <a:ea typeface="Verdana" pitchFamily="34" charset="0"/>
                            <a:cs typeface="Cambria Math"/>
                          </a:endParaRPr>
                        </a:p>
                        <a:p>
                          <a:pPr marL="0" marR="0" lvl="0" indent="0" algn="l" rtl="0">
                            <a:lnSpc>
                              <a:spcPct val="100000"/>
                            </a:lnSpc>
                            <a:spcBef>
                              <a:spcPts val="0"/>
                            </a:spcBef>
                            <a:spcAft>
                              <a:spcPts val="0"/>
                            </a:spcAft>
                            <a:buNone/>
                          </a:pPr>
                          <a:endParaRPr sz="2000" u="none" strike="noStrike" cap="none" dirty="0"/>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tc>
                      <a:txBody>
                        <a:bodyPr/>
                        <a:lstStyle/>
                        <a:p>
                          <a:pPr marL="0" marR="0" lvl="0" indent="0" algn="l" rtl="0">
                            <a:lnSpc>
                              <a:spcPct val="107000"/>
                            </a:lnSpc>
                            <a:spcBef>
                              <a:spcPts val="0"/>
                            </a:spcBef>
                            <a:spcAft>
                              <a:spcPts val="0"/>
                            </a:spcAft>
                            <a:buNone/>
                          </a:pPr>
                          <a:r>
                            <a:rPr lang="en-US" sz="2000" i="0" u="none" strike="noStrike" cap="none" dirty="0">
                              <a:latin typeface="Verdana"/>
                              <a:ea typeface="Verdana"/>
                              <a:cs typeface="Verdana"/>
                              <a:sym typeface="Verdana"/>
                            </a:rPr>
                            <a:t> </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mc:Choice>
        <mc:Fallback xmlns="">
          <p:graphicFrame>
            <p:nvGraphicFramePr>
              <p:cNvPr id="313" name="Google Shape;313;p17"/>
              <p:cNvGraphicFramePr/>
              <p:nvPr>
                <p:extLst>
                  <p:ext uri="{D42A27DB-BD31-4B8C-83A1-F6EECF244321}">
                    <p14:modId xmlns:p14="http://schemas.microsoft.com/office/powerpoint/2010/main" val="1602940466"/>
                  </p:ext>
                </p:extLst>
              </p:nvPr>
            </p:nvGraphicFramePr>
            <p:xfrm>
              <a:off x="2624016" y="2392025"/>
              <a:ext cx="7200000" cy="4032000"/>
            </p:xfrm>
            <a:graphic>
              <a:graphicData uri="http://schemas.openxmlformats.org/drawingml/2006/table">
                <a:tbl>
                  <a:tblPr>
                    <a:noFill/>
                    <a:tableStyleId>{07A82D6B-0012-41CB-8D28-B149B940E5F0}</a:tableStyleId>
                  </a:tblPr>
                  <a:tblGrid>
                    <a:gridCol w="3600000">
                      <a:extLst>
                        <a:ext uri="{9D8B030D-6E8A-4147-A177-3AD203B41FA5}">
                          <a16:colId xmlns:a16="http://schemas.microsoft.com/office/drawing/2014/main" val="20000"/>
                        </a:ext>
                      </a:extLst>
                    </a:gridCol>
                    <a:gridCol w="3600000">
                      <a:extLst>
                        <a:ext uri="{9D8B030D-6E8A-4147-A177-3AD203B41FA5}">
                          <a16:colId xmlns:a16="http://schemas.microsoft.com/office/drawing/2014/main" val="20001"/>
                        </a:ext>
                      </a:extLst>
                    </a:gridCol>
                  </a:tblGrid>
                  <a:tr h="468000">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Equivalent Expressions</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tc>
                      <a:txBody>
                        <a:bodyPr/>
                        <a:lstStyle/>
                        <a:p>
                          <a:pPr marL="0" marR="0" lvl="0" indent="0" algn="ctr" rtl="0">
                            <a:lnSpc>
                              <a:spcPct val="107000"/>
                            </a:lnSpc>
                            <a:spcBef>
                              <a:spcPts val="0"/>
                            </a:spcBef>
                            <a:spcAft>
                              <a:spcPts val="0"/>
                            </a:spcAft>
                            <a:buNone/>
                          </a:pPr>
                          <a:r>
                            <a:rPr lang="en-US" sz="2000" b="1" i="0" u="none" strike="noStrike" cap="none">
                              <a:latin typeface="Verdana"/>
                              <a:ea typeface="Verdana"/>
                              <a:cs typeface="Verdana"/>
                              <a:sym typeface="Verdana"/>
                            </a:rPr>
                            <a:t>Laws of Exponents</a:t>
                          </a:r>
                          <a:endParaRPr sz="2000" i="1" u="none" strike="noStrike" cap="none">
                            <a:latin typeface="Verdana"/>
                            <a:ea typeface="Verdana"/>
                            <a:cs typeface="Verdana"/>
                            <a:sym typeface="Verdana"/>
                          </a:endParaRPr>
                        </a:p>
                      </a:txBody>
                      <a:tcPr marL="91450" marR="91450" marT="45725" marB="45725" anchor="ctr">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solidFill>
                          <a:srgbClr val="BFBFBF"/>
                        </a:solidFill>
                      </a:tcPr>
                    </a:tc>
                    <a:extLst>
                      <a:ext uri="{0D108BD9-81ED-4DB2-BD59-A6C34878D82A}">
                        <a16:rowId xmlns:a16="http://schemas.microsoft.com/office/drawing/2014/main" val="10000"/>
                      </a:ext>
                    </a:extLst>
                  </a:tr>
                  <a:tr h="1188000">
                    <a:tc>
                      <a:txBody>
                        <a:bodyPr/>
                        <a:lstStyle/>
                        <a:p>
                          <a:endParaRPr lang="en-US"/>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5"/>
                          <a:stretch>
                            <a:fillRect l="-352" t="-40426" r="-100704" b="-201064"/>
                          </a:stretch>
                        </a:blipFill>
                      </a:tcPr>
                    </a:tc>
                    <a:tc>
                      <a:txBody>
                        <a:bodyPr/>
                        <a:lstStyle/>
                        <a:p>
                          <a:pPr marL="0" marR="0" lvl="0" indent="0" algn="l" rtl="0">
                            <a:lnSpc>
                              <a:spcPct val="107000"/>
                            </a:lnSpc>
                            <a:spcBef>
                              <a:spcPts val="0"/>
                            </a:spcBef>
                            <a:spcAft>
                              <a:spcPts val="0"/>
                            </a:spcAft>
                            <a:buNone/>
                          </a:pPr>
                          <a:r>
                            <a:rPr lang="en-US" sz="2000" i="0" u="none" strike="noStrike" cap="none">
                              <a:latin typeface="Verdana"/>
                              <a:ea typeface="Verdana"/>
                              <a:cs typeface="Verdana"/>
                              <a:sym typeface="Verdana"/>
                            </a:rPr>
                            <a:t> </a:t>
                          </a:r>
                          <a:endParaRPr sz="2000" i="1" u="none" strike="noStrike" cap="none">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188000">
                    <a:tc>
                      <a:txBody>
                        <a:bodyPr/>
                        <a:lstStyle/>
                        <a:p>
                          <a:endParaRPr lang="en-US"/>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5"/>
                          <a:stretch>
                            <a:fillRect l="-352" t="-141935" r="-100704" b="-103226"/>
                          </a:stretch>
                        </a:blipFill>
                      </a:tcPr>
                    </a:tc>
                    <a:tc>
                      <a:txBody>
                        <a:bodyPr/>
                        <a:lstStyle/>
                        <a:p>
                          <a:pPr marL="0" marR="0" lvl="0" indent="0" algn="l" rtl="0">
                            <a:lnSpc>
                              <a:spcPct val="107000"/>
                            </a:lnSpc>
                            <a:spcBef>
                              <a:spcPts val="0"/>
                            </a:spcBef>
                            <a:spcAft>
                              <a:spcPts val="0"/>
                            </a:spcAft>
                            <a:buNone/>
                          </a:pPr>
                          <a:r>
                            <a:rPr lang="en-US" sz="2000" i="0" u="none" strike="noStrike" cap="none">
                              <a:latin typeface="Verdana"/>
                              <a:ea typeface="Verdana"/>
                              <a:cs typeface="Verdana"/>
                              <a:sym typeface="Verdana"/>
                            </a:rPr>
                            <a:t> </a:t>
                          </a:r>
                          <a:endParaRPr sz="2000" i="1" u="none" strike="noStrike" cap="none">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1188000">
                    <a:tc>
                      <a:txBody>
                        <a:bodyPr/>
                        <a:lstStyle/>
                        <a:p>
                          <a:endParaRPr lang="en-US"/>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blipFill>
                          <a:blip r:embed="rId5"/>
                          <a:stretch>
                            <a:fillRect l="-352" t="-239362" r="-100704" b="-2128"/>
                          </a:stretch>
                        </a:blipFill>
                      </a:tcPr>
                    </a:tc>
                    <a:tc>
                      <a:txBody>
                        <a:bodyPr/>
                        <a:lstStyle/>
                        <a:p>
                          <a:pPr marL="0" marR="0" lvl="0" indent="0" algn="l" rtl="0">
                            <a:lnSpc>
                              <a:spcPct val="107000"/>
                            </a:lnSpc>
                            <a:spcBef>
                              <a:spcPts val="0"/>
                            </a:spcBef>
                            <a:spcAft>
                              <a:spcPts val="0"/>
                            </a:spcAft>
                            <a:buNone/>
                          </a:pPr>
                          <a:r>
                            <a:rPr lang="en-US" sz="2000" i="0" u="none" strike="noStrike" cap="none" dirty="0">
                              <a:latin typeface="Verdana"/>
                              <a:ea typeface="Verdana"/>
                              <a:cs typeface="Verdana"/>
                              <a:sym typeface="Verdana"/>
                            </a:rPr>
                            <a:t> </a:t>
                          </a:r>
                          <a:endParaRPr sz="2000" i="1" u="none" strike="noStrike" cap="none" dirty="0">
                            <a:latin typeface="Verdana"/>
                            <a:ea typeface="Verdana"/>
                            <a:cs typeface="Verdana"/>
                            <a:sym typeface="Verdana"/>
                          </a:endParaRPr>
                        </a:p>
                      </a:txBody>
                      <a:tcPr marL="91450" marR="91450" marT="45725" marB="45725">
                        <a:lnL w="19050" cap="flat" cmpd="sng">
                          <a:solidFill>
                            <a:schemeClr val="dk1"/>
                          </a:solidFill>
                          <a:prstDash val="solid"/>
                          <a:round/>
                          <a:headEnd type="none" w="sm" len="sm"/>
                          <a:tailEnd type="none" w="sm" len="sm"/>
                        </a:lnL>
                        <a:lnR w="19050" cap="flat" cmpd="sng">
                          <a:solidFill>
                            <a:schemeClr val="dk1"/>
                          </a:solidFill>
                          <a:prstDash val="solid"/>
                          <a:round/>
                          <a:headEnd type="none" w="sm" len="sm"/>
                          <a:tailEnd type="none" w="sm" len="sm"/>
                        </a:lnR>
                        <a:lnT w="19050" cap="flat" cmpd="sng">
                          <a:solidFill>
                            <a:schemeClr val="dk1"/>
                          </a:solidFill>
                          <a:prstDash val="solid"/>
                          <a:round/>
                          <a:headEnd type="none" w="sm" len="sm"/>
                          <a:tailEnd type="none" w="sm" len="sm"/>
                        </a:lnT>
                        <a:lnB w="1905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mc:Fallback>
      </mc:AlternateContent>
      <p:sp>
        <p:nvSpPr>
          <p:cNvPr id="314" name="Google Shape;314;p17"/>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20</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19"/>
        <p:cNvGrpSpPr/>
        <p:nvPr/>
      </p:nvGrpSpPr>
      <p:grpSpPr>
        <a:xfrm>
          <a:off x="0" y="0"/>
          <a:ext cx="0" cy="0"/>
          <a:chOff x="0" y="0"/>
          <a:chExt cx="0" cy="0"/>
        </a:xfrm>
      </p:grpSpPr>
      <p:sp>
        <p:nvSpPr>
          <p:cNvPr id="320" name="Google Shape;320;p18"/>
          <p:cNvSpPr/>
          <p:nvPr/>
        </p:nvSpPr>
        <p:spPr>
          <a:xfrm>
            <a:off x="0" y="-1187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21" name="Google Shape;321;p18"/>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3"/>
              </a:srgbClr>
            </a:outerShdw>
          </a:effectLst>
        </p:spPr>
      </p:pic>
      <p:sp>
        <p:nvSpPr>
          <p:cNvPr id="323" name="Google Shape;323;p18"/>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20</a:t>
            </a:r>
            <a:endParaRPr sz="1400" b="0" i="1" u="none" strike="noStrike" cap="none">
              <a:solidFill>
                <a:srgbClr val="000000"/>
              </a:solidFill>
              <a:latin typeface="Calibri"/>
              <a:ea typeface="Calibri"/>
              <a:cs typeface="Calibri"/>
              <a:sym typeface="Calibri"/>
            </a:endParaRPr>
          </a:p>
        </p:txBody>
      </p:sp>
      <mc:AlternateContent xmlns:mc="http://schemas.openxmlformats.org/markup-compatibility/2006">
        <mc:Choice xmlns:a14="http://schemas.microsoft.com/office/drawing/2010/main" Requires="a14">
          <p:sp>
            <p:nvSpPr>
              <p:cNvPr id="7" name="TextBox 6">
                <a:extLst>
                  <a:ext uri="{FF2B5EF4-FFF2-40B4-BE49-F238E27FC236}">
                    <a16:creationId xmlns:a16="http://schemas.microsoft.com/office/drawing/2014/main" id="{2D272A00-BD36-6A8E-98B0-324CDB439198}"/>
                  </a:ext>
                </a:extLst>
              </p:cNvPr>
              <p:cNvSpPr txBox="1"/>
              <p:nvPr/>
            </p:nvSpPr>
            <p:spPr>
              <a:xfrm>
                <a:off x="512506" y="473938"/>
                <a:ext cx="11115644" cy="5662640"/>
              </a:xfrm>
              <a:prstGeom prst="rect">
                <a:avLst/>
              </a:prstGeom>
              <a:noFill/>
            </p:spPr>
            <p:txBody>
              <a:bodyPr wrap="square">
                <a:spAutoFit/>
              </a:bodyPr>
              <a:lstStyle/>
              <a:p>
                <a:pPr marL="457200" lvl="0" indent="-457200">
                  <a:lnSpc>
                    <a:spcPct val="107000"/>
                  </a:lnSpc>
                  <a:spcAft>
                    <a:spcPts val="800"/>
                  </a:spcAft>
                  <a:buFont typeface="+mj-lt"/>
                  <a:buAutoNum type="arabicPeriod" startAt="2"/>
                </a:pPr>
                <a:r>
                  <a:rPr lang="en-US" sz="2000" dirty="0">
                    <a:latin typeface="Verdana" panose="020B0604030504040204" pitchFamily="34" charset="0"/>
                    <a:ea typeface="Verdana" panose="020B0604030504040204" pitchFamily="34" charset="0"/>
                    <a:cs typeface="Verdana" panose="020B0604030504040204" pitchFamily="34" charset="0"/>
                  </a:rPr>
                  <a:t>Evaluate each expression showing each step of your work. Use a calculator to verify your solutions.</a:t>
                </a:r>
                <a:endParaRPr lang="en-PH" sz="2000" i="1"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r>
                  <a:rPr lang="en-PH"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PH" sz="2000" i="1">
                            <a:latin typeface="Cambria Math" panose="02040503050406030204" pitchFamily="18" charset="0"/>
                          </a:rPr>
                        </m:ctrlPr>
                      </m:sSupPr>
                      <m:e>
                        <m:d>
                          <m:dPr>
                            <m:ctrlPr>
                              <a:rPr lang="en-PH" sz="2000" i="1">
                                <a:latin typeface="Cambria Math" panose="02040503050406030204" pitchFamily="18" charset="0"/>
                              </a:rPr>
                            </m:ctrlPr>
                          </m:dPr>
                          <m:e>
                            <m:f>
                              <m:fPr>
                                <m:ctrlPr>
                                  <a:rPr lang="en-PH" sz="2000" i="1">
                                    <a:latin typeface="Cambria Math" panose="02040503050406030204" pitchFamily="18" charset="0"/>
                                  </a:rPr>
                                </m:ctrlPr>
                              </m:fPr>
                              <m:num>
                                <m:sSup>
                                  <m:sSupPr>
                                    <m:ctrlPr>
                                      <a:rPr lang="en-PH" sz="2000" i="1">
                                        <a:latin typeface="Cambria Math" panose="02040503050406030204" pitchFamily="18" charset="0"/>
                                      </a:rPr>
                                    </m:ctrlPr>
                                  </m:sSupPr>
                                  <m:e>
                                    <m:r>
                                      <a:rPr lang="en-US" sz="2000" i="1">
                                        <a:latin typeface="Cambria Math" panose="02040503050406030204" pitchFamily="18" charset="0"/>
                                      </a:rPr>
                                      <m:t>0.4</m:t>
                                    </m:r>
                                  </m:e>
                                  <m:sup>
                                    <m:r>
                                      <a:rPr lang="en-US" sz="2000" i="1">
                                        <a:latin typeface="Cambria Math" panose="02040503050406030204" pitchFamily="18" charset="0"/>
                                      </a:rPr>
                                      <m:t>2</m:t>
                                    </m:r>
                                  </m:sup>
                                </m:sSup>
                              </m:num>
                              <m:den>
                                <m:sSup>
                                  <m:sSupPr>
                                    <m:ctrlPr>
                                      <a:rPr lang="en-PH" sz="2000" i="1">
                                        <a:latin typeface="Cambria Math" panose="02040503050406030204" pitchFamily="18" charset="0"/>
                                      </a:rPr>
                                    </m:ctrlPr>
                                  </m:sSupPr>
                                  <m:e>
                                    <m:r>
                                      <a:rPr lang="en-US" sz="2000" i="1">
                                        <a:latin typeface="Cambria Math" panose="02040503050406030204" pitchFamily="18" charset="0"/>
                                      </a:rPr>
                                      <m:t>0.4</m:t>
                                    </m:r>
                                  </m:e>
                                  <m:sup>
                                    <m:r>
                                      <a:rPr lang="en-US" sz="2000" i="1">
                                        <a:latin typeface="Cambria Math" panose="02040503050406030204" pitchFamily="18" charset="0"/>
                                      </a:rPr>
                                      <m:t>1</m:t>
                                    </m:r>
                                  </m:sup>
                                </m:sSup>
                              </m:den>
                            </m:f>
                          </m:e>
                        </m:d>
                      </m:e>
                      <m:sup>
                        <m:r>
                          <a:rPr lang="en-US" sz="2000" i="1">
                            <a:latin typeface="Cambria Math" panose="02040503050406030204" pitchFamily="18" charset="0"/>
                          </a:rPr>
                          <m:t>2</m:t>
                        </m:r>
                      </m:sup>
                    </m:sSup>
                  </m:oMath>
                </a14:m>
                <a:endParaRPr lang="en-PH" sz="2000" i="1"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r>
                  <a:rPr lang="en-PH"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PH" sz="2000" i="1">
                            <a:latin typeface="Cambria Math" panose="02040503050406030204" pitchFamily="18" charset="0"/>
                          </a:rPr>
                        </m:ctrlPr>
                      </m:fPr>
                      <m:num>
                        <m:sSup>
                          <m:sSupPr>
                            <m:ctrlPr>
                              <a:rPr lang="en-PH" sz="2000" i="1">
                                <a:latin typeface="Cambria Math" panose="02040503050406030204" pitchFamily="18" charset="0"/>
                              </a:rPr>
                            </m:ctrlPr>
                          </m:sSupPr>
                          <m:e>
                            <m:d>
                              <m:dPr>
                                <m:ctrlPr>
                                  <a:rPr lang="en-PH" sz="2000" i="1">
                                    <a:latin typeface="Cambria Math" panose="02040503050406030204" pitchFamily="18" charset="0"/>
                                  </a:rPr>
                                </m:ctrlPr>
                              </m:dPr>
                              <m:e>
                                <m:sSup>
                                  <m:sSupPr>
                                    <m:ctrlPr>
                                      <a:rPr lang="en-PH"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2</m:t>
                                    </m:r>
                                  </m:sup>
                                </m:sSup>
                                <m:r>
                                  <a:rPr lang="en-US" sz="2000" i="1">
                                    <a:latin typeface="Cambria Math" panose="02040503050406030204" pitchFamily="18" charset="0"/>
                                  </a:rPr>
                                  <m:t> ∙ </m:t>
                                </m:r>
                                <m:sSup>
                                  <m:sSupPr>
                                    <m:ctrlPr>
                                      <a:rPr lang="en-PH" sz="2000" i="1">
                                        <a:latin typeface="Cambria Math" panose="02040503050406030204" pitchFamily="18" charset="0"/>
                                      </a:rPr>
                                    </m:ctrlPr>
                                  </m:sSupPr>
                                  <m:e>
                                    <m:r>
                                      <a:rPr lang="en-US" sz="2000" i="1">
                                        <a:latin typeface="Cambria Math" panose="02040503050406030204" pitchFamily="18" charset="0"/>
                                      </a:rPr>
                                      <m:t>3.2</m:t>
                                    </m:r>
                                  </m:e>
                                  <m:sup>
                                    <m:r>
                                      <a:rPr lang="en-US" sz="2000" i="1">
                                        <a:latin typeface="Cambria Math" panose="02040503050406030204" pitchFamily="18" charset="0"/>
                                      </a:rPr>
                                      <m:t>0</m:t>
                                    </m:r>
                                  </m:sup>
                                </m:sSup>
                              </m:e>
                            </m:d>
                          </m:e>
                          <m:sup>
                            <m:r>
                              <a:rPr lang="en-US" sz="2000" i="1">
                                <a:latin typeface="Cambria Math" panose="02040503050406030204" pitchFamily="18" charset="0"/>
                              </a:rPr>
                              <m:t>6</m:t>
                            </m:r>
                          </m:sup>
                        </m:sSup>
                      </m:num>
                      <m:den>
                        <m:sSup>
                          <m:sSupPr>
                            <m:ctrlPr>
                              <a:rPr lang="en-PH" sz="2000" i="1">
                                <a:latin typeface="Cambria Math" panose="02040503050406030204" pitchFamily="18" charset="0"/>
                              </a:rPr>
                            </m:ctrlPr>
                          </m:sSupPr>
                          <m:e>
                            <m:r>
                              <a:rPr lang="en-US" sz="2000" i="1">
                                <a:latin typeface="Cambria Math" panose="02040503050406030204" pitchFamily="18" charset="0"/>
                              </a:rPr>
                              <m:t>2</m:t>
                            </m:r>
                          </m:e>
                          <m:sup>
                            <m:r>
                              <a:rPr lang="en-US" sz="2000" i="1">
                                <a:latin typeface="Cambria Math" panose="02040503050406030204" pitchFamily="18" charset="0"/>
                              </a:rPr>
                              <m:t>10</m:t>
                            </m:r>
                          </m:sup>
                        </m:sSup>
                      </m:den>
                    </m:f>
                  </m:oMath>
                </a14:m>
                <a:endParaRPr lang="en-PH" sz="2000" i="1"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r>
                  <a:rPr lang="en-PH"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PH" sz="2000" i="1">
                            <a:latin typeface="Cambria Math" panose="02040503050406030204" pitchFamily="18" charset="0"/>
                          </a:rPr>
                        </m:ctrlPr>
                      </m:fPr>
                      <m:num>
                        <m:sSup>
                          <m:sSupPr>
                            <m:ctrlPr>
                              <a:rPr lang="en-PH" sz="2000" i="1">
                                <a:latin typeface="Cambria Math" panose="02040503050406030204" pitchFamily="18" charset="0"/>
                              </a:rPr>
                            </m:ctrlPr>
                          </m:sSupPr>
                          <m:e>
                            <m:d>
                              <m:dPr>
                                <m:ctrlPr>
                                  <a:rPr lang="en-PH" sz="2000" i="1">
                                    <a:latin typeface="Cambria Math" panose="02040503050406030204" pitchFamily="18" charset="0"/>
                                  </a:rPr>
                                </m:ctrlPr>
                              </m:dPr>
                              <m:e>
                                <m:r>
                                  <a:rPr lang="en-US" sz="2000" i="1">
                                    <a:latin typeface="Cambria Math" panose="02040503050406030204" pitchFamily="18" charset="0"/>
                                  </a:rPr>
                                  <m:t>−4</m:t>
                                </m:r>
                              </m:e>
                            </m:d>
                          </m:e>
                          <m:sup>
                            <m:r>
                              <a:rPr lang="en-US" sz="2000" i="1">
                                <a:latin typeface="Cambria Math" panose="02040503050406030204" pitchFamily="18" charset="0"/>
                              </a:rPr>
                              <m:t>2</m:t>
                            </m:r>
                          </m:sup>
                        </m:sSup>
                        <m:r>
                          <a:rPr lang="en-US" sz="2000" i="1">
                            <a:latin typeface="Cambria Math" panose="02040503050406030204" pitchFamily="18" charset="0"/>
                          </a:rPr>
                          <m:t> ∙ </m:t>
                        </m:r>
                        <m:sSup>
                          <m:sSupPr>
                            <m:ctrlPr>
                              <a:rPr lang="en-PH" sz="2000" i="1">
                                <a:latin typeface="Cambria Math" panose="02040503050406030204" pitchFamily="18" charset="0"/>
                              </a:rPr>
                            </m:ctrlPr>
                          </m:sSupPr>
                          <m:e>
                            <m:d>
                              <m:dPr>
                                <m:ctrlPr>
                                  <a:rPr lang="en-PH" sz="2000" i="1">
                                    <a:latin typeface="Cambria Math" panose="02040503050406030204" pitchFamily="18" charset="0"/>
                                  </a:rPr>
                                </m:ctrlPr>
                              </m:dPr>
                              <m:e>
                                <m:r>
                                  <a:rPr lang="en-US" sz="2000" i="1">
                                    <a:latin typeface="Cambria Math" panose="02040503050406030204" pitchFamily="18" charset="0"/>
                                  </a:rPr>
                                  <m:t>−4</m:t>
                                </m:r>
                              </m:e>
                            </m:d>
                          </m:e>
                          <m:sup>
                            <m:r>
                              <a:rPr lang="en-US" sz="2000" i="1">
                                <a:latin typeface="Cambria Math" panose="02040503050406030204" pitchFamily="18" charset="0"/>
                              </a:rPr>
                              <m:t>1</m:t>
                            </m:r>
                          </m:sup>
                        </m:sSup>
                      </m:num>
                      <m:den>
                        <m:sSup>
                          <m:sSupPr>
                            <m:ctrlPr>
                              <a:rPr lang="en-PH" sz="2000" i="1">
                                <a:latin typeface="Cambria Math" panose="02040503050406030204" pitchFamily="18" charset="0"/>
                              </a:rPr>
                            </m:ctrlPr>
                          </m:sSupPr>
                          <m:e>
                            <m:d>
                              <m:dPr>
                                <m:ctrlPr>
                                  <a:rPr lang="en-PH" sz="2000" i="1">
                                    <a:latin typeface="Cambria Math" panose="02040503050406030204" pitchFamily="18" charset="0"/>
                                  </a:rPr>
                                </m:ctrlPr>
                              </m:dPr>
                              <m:e>
                                <m:r>
                                  <a:rPr lang="en-US" sz="2000" i="1">
                                    <a:latin typeface="Cambria Math" panose="02040503050406030204" pitchFamily="18" charset="0"/>
                                  </a:rPr>
                                  <m:t>−4</m:t>
                                </m:r>
                              </m:e>
                            </m:d>
                          </m:e>
                          <m:sup>
                            <m:r>
                              <a:rPr lang="en-US" sz="2000" i="1">
                                <a:latin typeface="Cambria Math" panose="02040503050406030204" pitchFamily="18" charset="0"/>
                              </a:rPr>
                              <m:t>0</m:t>
                            </m:r>
                          </m:sup>
                        </m:sSup>
                      </m:den>
                    </m:f>
                  </m:oMath>
                </a14:m>
                <a:endParaRPr lang="en-PH" sz="2000" i="1"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r>
                  <a:rPr lang="en-PH"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sSup>
                      <m:sSupPr>
                        <m:ctrlPr>
                          <a:rPr lang="en-PH" sz="2000" i="1">
                            <a:latin typeface="Cambria Math" panose="02040503050406030204" pitchFamily="18" charset="0"/>
                          </a:rPr>
                        </m:ctrlPr>
                      </m:sSupPr>
                      <m:e>
                        <m:r>
                          <a:rPr lang="en-US" sz="2000" i="1">
                            <a:latin typeface="Cambria Math" panose="02040503050406030204" pitchFamily="18" charset="0"/>
                          </a:rPr>
                          <m:t>0.1</m:t>
                        </m:r>
                      </m:e>
                      <m:sup>
                        <m:r>
                          <a:rPr lang="en-US" sz="2000" i="1">
                            <a:latin typeface="Cambria Math" panose="02040503050406030204" pitchFamily="18" charset="0"/>
                          </a:rPr>
                          <m:t>2</m:t>
                        </m:r>
                      </m:sup>
                    </m:sSup>
                    <m:r>
                      <a:rPr lang="en-US" sz="2000" i="1">
                        <a:latin typeface="Cambria Math" panose="02040503050406030204" pitchFamily="18" charset="0"/>
                      </a:rPr>
                      <m:t> ∙ </m:t>
                    </m:r>
                    <m:sSup>
                      <m:sSupPr>
                        <m:ctrlPr>
                          <a:rPr lang="en-PH" sz="2000" i="1">
                            <a:latin typeface="Cambria Math" panose="02040503050406030204" pitchFamily="18" charset="0"/>
                          </a:rPr>
                        </m:ctrlPr>
                      </m:sSupPr>
                      <m:e>
                        <m:d>
                          <m:dPr>
                            <m:ctrlPr>
                              <a:rPr lang="en-PH" sz="2000" i="1">
                                <a:latin typeface="Cambria Math" panose="02040503050406030204" pitchFamily="18" charset="0"/>
                              </a:rPr>
                            </m:ctrlPr>
                          </m:dPr>
                          <m:e>
                            <m:sSup>
                              <m:sSupPr>
                                <m:ctrlPr>
                                  <a:rPr lang="en-PH" sz="2000" i="1">
                                    <a:latin typeface="Cambria Math" panose="02040503050406030204" pitchFamily="18" charset="0"/>
                                  </a:rPr>
                                </m:ctrlPr>
                              </m:sSupPr>
                              <m:e>
                                <m:r>
                                  <a:rPr lang="en-US" sz="2000" i="1">
                                    <a:latin typeface="Cambria Math" panose="02040503050406030204" pitchFamily="18" charset="0"/>
                                  </a:rPr>
                                  <m:t>0.1</m:t>
                                </m:r>
                              </m:e>
                              <m:sup>
                                <m:r>
                                  <a:rPr lang="en-US" sz="2000" i="1">
                                    <a:latin typeface="Cambria Math" panose="02040503050406030204" pitchFamily="18" charset="0"/>
                                  </a:rPr>
                                  <m:t>1</m:t>
                                </m:r>
                              </m:sup>
                            </m:sSup>
                          </m:e>
                        </m:d>
                      </m:e>
                      <m:sup>
                        <m:r>
                          <a:rPr lang="en-US" sz="2000" i="1">
                            <a:latin typeface="Cambria Math" panose="02040503050406030204" pitchFamily="18" charset="0"/>
                          </a:rPr>
                          <m:t>2</m:t>
                        </m:r>
                      </m:sup>
                    </m:sSup>
                  </m:oMath>
                </a14:m>
                <a:endParaRPr lang="en-PH" sz="2000" i="1"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endParaRPr lang="en-PH" sz="2000" dirty="0">
                  <a:latin typeface="Verdana" panose="020B0604030504040204" pitchFamily="34" charset="0"/>
                  <a:ea typeface="Verdana" panose="020B0604030504040204" pitchFamily="34" charset="0"/>
                  <a:cs typeface="Verdana" panose="020B0604030504040204" pitchFamily="34" charset="0"/>
                </a:endParaRPr>
              </a:p>
              <a:p>
                <a:pPr marL="914400" lvl="0" indent="-457200">
                  <a:buFont typeface="+mj-lt"/>
                  <a:buAutoNum type="alphaLcPeriod"/>
                </a:pPr>
                <a:r>
                  <a:rPr lang="en-PH" sz="2000" dirty="0">
                    <a:latin typeface="Verdana" panose="020B0604030504040204" pitchFamily="34" charset="0"/>
                    <a:ea typeface="Verdana" panose="020B0604030504040204" pitchFamily="34" charset="0"/>
                    <a:cs typeface="Verdana" panose="020B0604030504040204" pitchFamily="34" charset="0"/>
                  </a:rPr>
                  <a:t> </a:t>
                </a:r>
                <a14:m>
                  <m:oMath xmlns:m="http://schemas.openxmlformats.org/officeDocument/2006/math">
                    <m:f>
                      <m:fPr>
                        <m:ctrlPr>
                          <a:rPr lang="en-PH" sz="2000" i="1">
                            <a:latin typeface="Cambria Math" panose="02040503050406030204" pitchFamily="18" charset="0"/>
                          </a:rPr>
                        </m:ctrlPr>
                      </m:fPr>
                      <m:num>
                        <m:r>
                          <a:rPr lang="en-US" sz="2000">
                            <a:latin typeface="Cambria Math" panose="02040503050406030204" pitchFamily="18" charset="0"/>
                          </a:rPr>
                          <m:t>2.1</m:t>
                        </m:r>
                      </m:num>
                      <m:den>
                        <m:sSup>
                          <m:sSupPr>
                            <m:ctrlPr>
                              <a:rPr lang="en-PH" sz="2000" i="1">
                                <a:latin typeface="Cambria Math" panose="02040503050406030204" pitchFamily="18" charset="0"/>
                              </a:rPr>
                            </m:ctrlPr>
                          </m:sSupPr>
                          <m:e>
                            <m:r>
                              <a:rPr lang="en-US" sz="2000">
                                <a:latin typeface="Cambria Math" panose="02040503050406030204" pitchFamily="18" charset="0"/>
                              </a:rPr>
                              <m:t>3.2</m:t>
                            </m:r>
                          </m:e>
                          <m:sup>
                            <m:r>
                              <a:rPr lang="en-US" sz="2000">
                                <a:latin typeface="Cambria Math" panose="02040503050406030204" pitchFamily="18" charset="0"/>
                              </a:rPr>
                              <m:t>0</m:t>
                            </m:r>
                          </m:sup>
                        </m:sSup>
                      </m:den>
                    </m:f>
                    <m:r>
                      <a:rPr lang="en-US" sz="2000">
                        <a:latin typeface="Cambria Math" panose="02040503050406030204" pitchFamily="18" charset="0"/>
                      </a:rPr>
                      <m:t> ∙ </m:t>
                    </m:r>
                    <m:sSup>
                      <m:sSupPr>
                        <m:ctrlPr>
                          <a:rPr lang="en-PH" sz="2000" i="1">
                            <a:latin typeface="Cambria Math" panose="02040503050406030204" pitchFamily="18" charset="0"/>
                          </a:rPr>
                        </m:ctrlPr>
                      </m:sSupPr>
                      <m:e>
                        <m:r>
                          <a:rPr lang="en-US" sz="2000">
                            <a:latin typeface="Cambria Math" panose="02040503050406030204" pitchFamily="18" charset="0"/>
                          </a:rPr>
                          <m:t>2.1</m:t>
                        </m:r>
                      </m:e>
                      <m:sup>
                        <m:r>
                          <a:rPr lang="en-US" sz="2000">
                            <a:latin typeface="Cambria Math" panose="02040503050406030204" pitchFamily="18" charset="0"/>
                          </a:rPr>
                          <m:t>2</m:t>
                        </m:r>
                      </m:sup>
                    </m:sSup>
                  </m:oMath>
                </a14:m>
                <a:endParaRPr lang="en-US" sz="2000" dirty="0">
                  <a:latin typeface="Verdana" panose="020B0604030504040204" pitchFamily="34" charset="0"/>
                  <a:ea typeface="Verdana" panose="020B0604030504040204" pitchFamily="34" charset="0"/>
                  <a:cs typeface="Verdana" panose="020B0604030504040204" pitchFamily="34" charset="0"/>
                </a:endParaRPr>
              </a:p>
            </p:txBody>
          </p:sp>
        </mc:Choice>
        <mc:Fallback>
          <p:sp>
            <p:nvSpPr>
              <p:cNvPr id="7" name="TextBox 6">
                <a:extLst>
                  <a:ext uri="{FF2B5EF4-FFF2-40B4-BE49-F238E27FC236}">
                    <a16:creationId xmlns:a16="http://schemas.microsoft.com/office/drawing/2014/main" id="{2D272A00-BD36-6A8E-98B0-324CDB439198}"/>
                  </a:ext>
                </a:extLst>
              </p:cNvPr>
              <p:cNvSpPr txBox="1">
                <a:spLocks noRot="1" noChangeAspect="1" noMove="1" noResize="1" noEditPoints="1" noAdjustHandles="1" noChangeArrowheads="1" noChangeShapeType="1" noTextEdit="1"/>
              </p:cNvSpPr>
              <p:nvPr/>
            </p:nvSpPr>
            <p:spPr>
              <a:xfrm>
                <a:off x="512506" y="473938"/>
                <a:ext cx="11115644" cy="5662640"/>
              </a:xfrm>
              <a:prstGeom prst="rect">
                <a:avLst/>
              </a:prstGeom>
              <a:blipFill>
                <a:blip r:embed="rId4"/>
                <a:stretch>
                  <a:fillRect l="-603" t="-861"/>
                </a:stretch>
              </a:blipFill>
            </p:spPr>
            <p:txBody>
              <a:bodyPr/>
              <a:lstStyle/>
              <a:p>
                <a:r>
                  <a:rPr lang="en-US">
                    <a:noFill/>
                  </a:rPr>
                  <a:t> </a:t>
                </a:r>
              </a:p>
            </p:txBody>
          </p:sp>
        </mc:Fallback>
      </mc:AlternateContent>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328"/>
        <p:cNvGrpSpPr/>
        <p:nvPr/>
      </p:nvGrpSpPr>
      <p:grpSpPr>
        <a:xfrm>
          <a:off x="0" y="0"/>
          <a:ext cx="0" cy="0"/>
          <a:chOff x="0" y="0"/>
          <a:chExt cx="0" cy="0"/>
        </a:xfrm>
      </p:grpSpPr>
      <p:sp>
        <p:nvSpPr>
          <p:cNvPr id="329" name="Google Shape;329;p19"/>
          <p:cNvSpPr/>
          <p:nvPr/>
        </p:nvSpPr>
        <p:spPr>
          <a:xfrm>
            <a:off x="0" y="-8225"/>
            <a:ext cx="2731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0800" dist="38100" dir="2700000" algn="tl" rotWithShape="0">
              <a:srgbClr val="000000">
                <a:alpha val="40000"/>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30" name="Google Shape;330;p19"/>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0724"/>
            <a:ext cx="563850" cy="657276"/>
          </a:xfrm>
          <a:prstGeom prst="rect">
            <a:avLst/>
          </a:prstGeom>
          <a:noFill/>
          <a:ln>
            <a:noFill/>
          </a:ln>
          <a:effectLst>
            <a:outerShdw blurRad="57150" dist="19050" dir="5400000" algn="bl" rotWithShape="0">
              <a:srgbClr val="000000">
                <a:alpha val="49803"/>
              </a:srgbClr>
            </a:outerShdw>
          </a:effectLst>
        </p:spPr>
      </p:pic>
      <p:sp>
        <p:nvSpPr>
          <p:cNvPr id="331" name="Google Shape;331;p19"/>
          <p:cNvSpPr txBox="1">
            <a:spLocks noGrp="1"/>
          </p:cNvSpPr>
          <p:nvPr>
            <p:ph type="title" idx="4294967295"/>
          </p:nvPr>
        </p:nvSpPr>
        <p:spPr>
          <a:xfrm>
            <a:off x="5250339" y="2779100"/>
            <a:ext cx="4480750" cy="1325700"/>
          </a:xfrm>
          <a:prstGeom prst="rect">
            <a:avLst/>
          </a:prstGeom>
          <a:noFill/>
          <a:ln>
            <a:noFill/>
          </a:ln>
        </p:spPr>
        <p:txBody>
          <a:bodyPr spcFirstLastPara="1" wrap="square" lIns="91425" tIns="45700" rIns="91425" bIns="45700" anchor="ctr" anchorCtr="0">
            <a:normAutofit/>
          </a:bodyPr>
          <a:lstStyle/>
          <a:p>
            <a:pPr marL="0" lvl="0" indent="0" algn="ctr" rtl="0">
              <a:lnSpc>
                <a:spcPct val="90000"/>
              </a:lnSpc>
              <a:spcBef>
                <a:spcPts val="0"/>
              </a:spcBef>
              <a:spcAft>
                <a:spcPts val="0"/>
              </a:spcAft>
              <a:buClr>
                <a:schemeClr val="lt1"/>
              </a:buClr>
              <a:buSzPts val="4800"/>
              <a:buNone/>
            </a:pPr>
            <a:r>
              <a:rPr lang="en-US" sz="5500" b="1">
                <a:solidFill>
                  <a:srgbClr val="3F2A67"/>
                </a:solidFill>
                <a:latin typeface="Verdana"/>
                <a:ea typeface="Verdana"/>
                <a:cs typeface="Verdana"/>
                <a:sym typeface="Verdana"/>
              </a:rPr>
              <a:t>Wrap-Up</a:t>
            </a:r>
            <a:endParaRPr sz="5100" b="1">
              <a:solidFill>
                <a:srgbClr val="3F2A67"/>
              </a:solidFill>
              <a:latin typeface="Verdana"/>
              <a:ea typeface="Verdana"/>
              <a:cs typeface="Verdana"/>
              <a:sym typeface="Verdana"/>
            </a:endParaRPr>
          </a:p>
        </p:txBody>
      </p:sp>
      <p:pic>
        <p:nvPicPr>
          <p:cNvPr id="332" name="Google Shape;332;p19"/>
          <p:cNvPicPr preferRelativeResize="0"/>
          <p:nvPr/>
        </p:nvPicPr>
        <p:blipFill rotWithShape="1">
          <a:blip r:embed="rId4">
            <a:alphaModFix/>
          </a:blip>
          <a:srcRect/>
          <a:stretch/>
        </p:blipFill>
        <p:spPr>
          <a:xfrm>
            <a:off x="4429333" y="2933695"/>
            <a:ext cx="1008299" cy="1016513"/>
          </a:xfrm>
          <a:prstGeom prst="rect">
            <a:avLst/>
          </a:prstGeom>
          <a:noFill/>
          <a:ln>
            <a:noFill/>
          </a:ln>
          <a:effectLst>
            <a:outerShdw blurRad="50800" dist="38100" dir="2700000" algn="tl" rotWithShape="0">
              <a:srgbClr val="000000">
                <a:alpha val="40000"/>
              </a:srgbClr>
            </a:outerShdw>
          </a:effectLst>
        </p:spPr>
      </p:pic>
      <p:sp>
        <p:nvSpPr>
          <p:cNvPr id="333" name="Google Shape;333;p19"/>
          <p:cNvSpPr txBox="1"/>
          <p:nvPr/>
        </p:nvSpPr>
        <p:spPr>
          <a:xfrm>
            <a:off x="8889924" y="64577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21</a:t>
            </a:r>
            <a:endParaRPr sz="1400" b="0" i="1" u="none" strike="noStrike" cap="none">
              <a:solidFill>
                <a:srgbClr val="000000"/>
              </a:solidFill>
              <a:latin typeface="Calibri"/>
              <a:ea typeface="Calibri"/>
              <a:cs typeface="Calibri"/>
              <a:sym typeface="Calibri"/>
            </a:endParaRP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338"/>
        <p:cNvGrpSpPr/>
        <p:nvPr/>
      </p:nvGrpSpPr>
      <p:grpSpPr>
        <a:xfrm>
          <a:off x="0" y="0"/>
          <a:ext cx="0" cy="0"/>
          <a:chOff x="0" y="0"/>
          <a:chExt cx="0" cy="0"/>
        </a:xfrm>
      </p:grpSpPr>
      <p:sp>
        <p:nvSpPr>
          <p:cNvPr id="339" name="Google Shape;339;p20"/>
          <p:cNvSpPr/>
          <p:nvPr/>
        </p:nvSpPr>
        <p:spPr>
          <a:xfrm>
            <a:off x="-2036" y="-11875"/>
            <a:ext cx="223200" cy="6866100"/>
          </a:xfrm>
          <a:prstGeom prst="rect">
            <a:avLst/>
          </a:prstGeom>
          <a:solidFill>
            <a:srgbClr val="79B0DD"/>
          </a:solidFill>
          <a:ln w="9525" cap="flat" cmpd="sng">
            <a:solidFill>
              <a:srgbClr val="79B0DD"/>
            </a:solidFill>
            <a:prstDash val="solid"/>
            <a:round/>
            <a:headEnd type="none" w="sm" len="sm"/>
            <a:tailEnd type="none" w="sm" len="sm"/>
          </a:ln>
          <a:effectLst>
            <a:outerShdw blurRad="57150" dist="19050" dir="5400000" algn="bl" rotWithShape="0">
              <a:srgbClr val="000000">
                <a:alpha val="49803"/>
              </a:srgbClr>
            </a:outerShdw>
          </a:effectLst>
        </p:spPr>
        <p:txBody>
          <a:bodyPr spcFirstLastPara="1" wrap="square" lIns="91425" tIns="91425" rIns="91425" bIns="91425" anchor="ctr"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pic>
        <p:nvPicPr>
          <p:cNvPr id="340" name="Google Shape;340;p20"/>
          <p:cNvPicPr preferRelativeResize="0"/>
          <p:nvPr/>
        </p:nvPicPr>
        <p:blipFill rotWithShape="1">
          <a:blip r:embed="rId3" cstate="screen">
            <a:alphaModFix/>
            <a:extLst>
              <a:ext uri="{28A0092B-C50C-407E-A947-70E740481C1C}">
                <a14:useLocalDpi xmlns:a14="http://schemas.microsoft.com/office/drawing/2010/main"/>
              </a:ext>
            </a:extLst>
          </a:blip>
          <a:srcRect/>
          <a:stretch/>
        </p:blipFill>
        <p:spPr>
          <a:xfrm>
            <a:off x="11628150" y="6208824"/>
            <a:ext cx="563850" cy="657276"/>
          </a:xfrm>
          <a:prstGeom prst="rect">
            <a:avLst/>
          </a:prstGeom>
          <a:noFill/>
          <a:ln>
            <a:noFill/>
          </a:ln>
          <a:effectLst>
            <a:outerShdw blurRad="57150" dist="19050" dir="5400000" algn="bl" rotWithShape="0">
              <a:srgbClr val="000000">
                <a:alpha val="49803"/>
              </a:srgbClr>
            </a:outerShdw>
          </a:effectLst>
        </p:spPr>
      </p:pic>
      <p:sp>
        <p:nvSpPr>
          <p:cNvPr id="341" name="Google Shape;341;p20"/>
          <p:cNvSpPr txBox="1"/>
          <p:nvPr/>
        </p:nvSpPr>
        <p:spPr>
          <a:xfrm>
            <a:off x="1777689" y="162916"/>
            <a:ext cx="8636190" cy="1325700"/>
          </a:xfrm>
          <a:prstGeom prst="rect">
            <a:avLst/>
          </a:prstGeom>
          <a:noFill/>
          <a:ln>
            <a:noFill/>
          </a:ln>
        </p:spPr>
        <p:txBody>
          <a:bodyPr spcFirstLastPara="1" wrap="square" lIns="91425" tIns="45700" rIns="91425" bIns="45700" anchor="ctr" anchorCtr="0">
            <a:noAutofit/>
          </a:bodyPr>
          <a:lstStyle/>
          <a:p>
            <a:pPr marL="0" marR="0" lvl="0" indent="0" algn="l" rtl="0">
              <a:lnSpc>
                <a:spcPct val="90000"/>
              </a:lnSpc>
              <a:spcBef>
                <a:spcPts val="0"/>
              </a:spcBef>
              <a:spcAft>
                <a:spcPts val="0"/>
              </a:spcAft>
              <a:buClr>
                <a:schemeClr val="dk1"/>
              </a:buClr>
              <a:buSzPts val="5400"/>
              <a:buFont typeface="Century Gothic"/>
              <a:buNone/>
            </a:pPr>
            <a:r>
              <a:rPr lang="en-US" sz="3600" b="1" i="0" u="none" strike="noStrike" cap="none" dirty="0">
                <a:solidFill>
                  <a:srgbClr val="3F2A67"/>
                </a:solidFill>
                <a:latin typeface="Verdana"/>
                <a:ea typeface="Verdana"/>
                <a:cs typeface="Verdana"/>
                <a:sym typeface="Verdana"/>
              </a:rPr>
              <a:t>8.3.6 Wrap-Up: Ticket Out the Door</a:t>
            </a:r>
            <a:endParaRPr dirty="0"/>
          </a:p>
        </p:txBody>
      </p:sp>
      <p:pic>
        <p:nvPicPr>
          <p:cNvPr id="342" name="Google Shape;342;p20"/>
          <p:cNvPicPr preferRelativeResize="0"/>
          <p:nvPr/>
        </p:nvPicPr>
        <p:blipFill rotWithShape="1">
          <a:blip r:embed="rId4">
            <a:alphaModFix/>
          </a:blip>
          <a:srcRect/>
          <a:stretch/>
        </p:blipFill>
        <p:spPr>
          <a:xfrm>
            <a:off x="1030389" y="452116"/>
            <a:ext cx="747300" cy="747300"/>
          </a:xfrm>
          <a:prstGeom prst="rect">
            <a:avLst/>
          </a:prstGeom>
          <a:noFill/>
          <a:ln>
            <a:noFill/>
          </a:ln>
          <a:effectLst>
            <a:outerShdw blurRad="50800" dist="38100" dir="2700000" algn="tl" rotWithShape="0">
              <a:srgbClr val="000000">
                <a:alpha val="40000"/>
              </a:srgbClr>
            </a:outerShdw>
          </a:effectLst>
        </p:spPr>
      </p:pic>
      <p:sp>
        <p:nvSpPr>
          <p:cNvPr id="345" name="Google Shape;345;p20"/>
          <p:cNvSpPr txBox="1"/>
          <p:nvPr/>
        </p:nvSpPr>
        <p:spPr>
          <a:xfrm>
            <a:off x="8889924" y="6465899"/>
            <a:ext cx="2634000" cy="400200"/>
          </a:xfrm>
          <a:prstGeom prst="rect">
            <a:avLst/>
          </a:prstGeom>
          <a:noFill/>
          <a:ln>
            <a:noFill/>
          </a:ln>
        </p:spPr>
        <p:txBody>
          <a:bodyPr spcFirstLastPara="1" wrap="square" lIns="91425" tIns="91425" rIns="91425" bIns="91425" anchor="t" anchorCtr="0">
            <a:spAutoFit/>
          </a:bodyPr>
          <a:lstStyle/>
          <a:p>
            <a:pPr marL="0" marR="0" lvl="0" indent="0" algn="r" rtl="0">
              <a:lnSpc>
                <a:spcPct val="100000"/>
              </a:lnSpc>
              <a:spcBef>
                <a:spcPts val="0"/>
              </a:spcBef>
              <a:spcAft>
                <a:spcPts val="0"/>
              </a:spcAft>
              <a:buNone/>
            </a:pPr>
            <a:r>
              <a:rPr lang="en-US" sz="1400" b="0" i="1" u="none" strike="noStrike" cap="none">
                <a:solidFill>
                  <a:srgbClr val="000000"/>
                </a:solidFill>
                <a:latin typeface="Calibri"/>
                <a:ea typeface="Calibri"/>
                <a:cs typeface="Calibri"/>
                <a:sym typeface="Calibri"/>
              </a:rPr>
              <a:t>volume 2, pg. 21</a:t>
            </a:r>
            <a:endParaRPr sz="1400" b="0" i="1" u="none" strike="noStrike" cap="none">
              <a:solidFill>
                <a:srgbClr val="000000"/>
              </a:solidFill>
              <a:latin typeface="Calibri"/>
              <a:ea typeface="Calibri"/>
              <a:cs typeface="Calibri"/>
              <a:sym typeface="Calibri"/>
            </a:endParaRPr>
          </a:p>
        </p:txBody>
      </p:sp>
      <mc:AlternateContent xmlns:mc="http://schemas.openxmlformats.org/markup-compatibility/2006" xmlns:a14="http://schemas.microsoft.com/office/drawing/2010/main">
        <mc:Choice Requires="a14">
          <p:graphicFrame>
            <p:nvGraphicFramePr>
              <p:cNvPr id="2" name="Table 1">
                <a:extLst>
                  <a:ext uri="{FF2B5EF4-FFF2-40B4-BE49-F238E27FC236}">
                    <a16:creationId xmlns:a16="http://schemas.microsoft.com/office/drawing/2014/main" id="{2B3A73CB-2F26-B40B-083C-81B0C683A20F}"/>
                  </a:ext>
                </a:extLst>
              </p:cNvPr>
              <p:cNvGraphicFramePr>
                <a:graphicFrameLocks noGrp="1"/>
              </p:cNvGraphicFramePr>
              <p:nvPr>
                <p:extLst>
                  <p:ext uri="{D42A27DB-BD31-4B8C-83A1-F6EECF244321}">
                    <p14:modId xmlns:p14="http://schemas.microsoft.com/office/powerpoint/2010/main" val="403489172"/>
                  </p:ext>
                </p:extLst>
              </p:nvPr>
            </p:nvGraphicFramePr>
            <p:xfrm>
              <a:off x="1777689" y="3809016"/>
              <a:ext cx="6096000" cy="2497885"/>
            </p:xfrm>
            <a:graphic>
              <a:graphicData uri="http://schemas.openxmlformats.org/drawingml/2006/table">
                <a:tbl>
                  <a:tblPr firstRow="1" bandRow="1"/>
                  <a:tblGrid>
                    <a:gridCol w="3048000">
                      <a:extLst>
                        <a:ext uri="{9D8B030D-6E8A-4147-A177-3AD203B41FA5}">
                          <a16:colId xmlns:a16="http://schemas.microsoft.com/office/drawing/2014/main" val="3634524909"/>
                        </a:ext>
                      </a:extLst>
                    </a:gridCol>
                    <a:gridCol w="3048000">
                      <a:extLst>
                        <a:ext uri="{9D8B030D-6E8A-4147-A177-3AD203B41FA5}">
                          <a16:colId xmlns:a16="http://schemas.microsoft.com/office/drawing/2014/main" val="454461257"/>
                        </a:ext>
                      </a:extLst>
                    </a:gridCol>
                  </a:tblGrid>
                  <a:tr h="931975">
                    <a:tc>
                      <a:txBody>
                        <a:bodyPr/>
                        <a:lstStyle/>
                        <a:p>
                          <a:pPr marL="892175" lvl="0" indent="-423863" defTabSz="892175">
                            <a:lnSpc>
                              <a:spcPct val="150000"/>
                            </a:lnSpc>
                            <a:buFont typeface="Wingdings" pitchFamily="2" charset="2"/>
                            <a:buChar char=""/>
                          </a:pPr>
                          <a14:m>
                            <m:oMath xmlns:m="http://schemas.openxmlformats.org/officeDocument/2006/math">
                              <m:sSup>
                                <m:sSupPr>
                                  <m:ctrlPr>
                                    <a:rPr lang="en-PH" sz="2400" i="1" smtClean="0">
                                      <a:latin typeface="Cambria Math" panose="02040503050406030204" pitchFamily="18" charset="0"/>
                                      <a:ea typeface="Verdana"/>
                                      <a:cs typeface="Verdana"/>
                                    </a:rPr>
                                  </m:ctrlPr>
                                </m:sSupPr>
                                <m:e>
                                  <m:r>
                                    <a:rPr lang="en-US" sz="2400" i="1">
                                      <a:effectLst/>
                                      <a:latin typeface="Cambria Math"/>
                                      <a:ea typeface="Verdana"/>
                                      <a:cs typeface="Verdana"/>
                                    </a:rPr>
                                    <m:t>0.1</m:t>
                                  </m:r>
                                </m:e>
                                <m:sup>
                                  <m:r>
                                    <a:rPr lang="en-US" sz="2400" i="1">
                                      <a:effectLst/>
                                      <a:latin typeface="Cambria Math"/>
                                      <a:ea typeface="Verdana"/>
                                      <a:cs typeface="Verdana"/>
                                    </a:rPr>
                                    <m:t>5</m:t>
                                  </m:r>
                                </m:sup>
                              </m:sSup>
                            </m:oMath>
                          </a14:m>
                          <a:endParaRPr lang="en-PH" sz="2400" dirty="0">
                            <a:latin typeface="Verdana" pitchFamily="34" charset="0"/>
                            <a:ea typeface="Verdana"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892175" lvl="0" indent="-423863" defTabSz="892175">
                            <a:lnSpc>
                              <a:spcPct val="150000"/>
                            </a:lnSpc>
                            <a:buFont typeface="Wingdings" pitchFamily="2" charset="2"/>
                            <a:buChar char=""/>
                          </a:pPr>
                          <a14:m>
                            <m:oMath xmlns:m="http://schemas.openxmlformats.org/officeDocument/2006/math">
                              <m:f>
                                <m:fPr>
                                  <m:ctrlPr>
                                    <a:rPr lang="en-PH" sz="2400" i="1" smtClean="0">
                                      <a:effectLst/>
                                      <a:latin typeface="Cambria Math" panose="02040503050406030204" pitchFamily="18" charset="0"/>
                                      <a:ea typeface="Verdana"/>
                                      <a:cs typeface="Verdana"/>
                                    </a:rPr>
                                  </m:ctrlPr>
                                </m:fPr>
                                <m:num>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0.2</m:t>
                                      </m:r>
                                    </m:e>
                                    <m:sup>
                                      <m:r>
                                        <a:rPr lang="en-US" sz="2400" i="1">
                                          <a:effectLst/>
                                          <a:latin typeface="Cambria Math"/>
                                          <a:ea typeface="Verdana"/>
                                          <a:cs typeface="Verdana"/>
                                        </a:rPr>
                                        <m:t>5</m:t>
                                      </m:r>
                                    </m:sup>
                                  </m:sSup>
                                </m:num>
                                <m:den>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0.2</m:t>
                                      </m:r>
                                    </m:e>
                                    <m:sup>
                                      <m:r>
                                        <a:rPr lang="en-US" sz="2400" i="1">
                                          <a:effectLst/>
                                          <a:latin typeface="Cambria Math"/>
                                          <a:ea typeface="Verdana"/>
                                          <a:cs typeface="Verdana"/>
                                        </a:rPr>
                                        <m:t>3</m:t>
                                      </m:r>
                                    </m:sup>
                                  </m:sSup>
                                </m:den>
                              </m:f>
                            </m:oMath>
                          </a14:m>
                          <a:endParaRPr lang="en-PH" sz="2400" i="1" dirty="0">
                            <a:effectLst/>
                            <a:latin typeface="Verdana" pitchFamily="34" charset="0"/>
                            <a:ea typeface="Verdana" pitchFamily="34" charset="0"/>
                            <a:cs typeface="Cambria Math"/>
                          </a:endParaRPr>
                        </a:p>
                      </a:txBody>
                      <a:tcPr marL="0" marR="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977727982"/>
                      </a:ext>
                    </a:extLst>
                  </a:tr>
                  <a:tr h="754380">
                    <a:tc>
                      <a:txBody>
                        <a:bodyPr/>
                        <a:lstStyle/>
                        <a:p>
                          <a:pPr marL="892175" marR="0" lvl="0" indent="-423863" algn="l" defTabSz="892175" rtl="0" eaLnBrk="1" fontAlgn="auto" latinLnBrk="0" hangingPunct="1">
                            <a:lnSpc>
                              <a:spcPct val="150000"/>
                            </a:lnSpc>
                            <a:spcBef>
                              <a:spcPts val="0"/>
                            </a:spcBef>
                            <a:spcAft>
                              <a:spcPts val="0"/>
                            </a:spcAft>
                            <a:buClr>
                              <a:srgbClr val="000000"/>
                            </a:buClr>
                            <a:buSzTx/>
                            <a:buFont typeface="Wingdings" pitchFamily="2" charset="2"/>
                            <a:buChar char=""/>
                            <a:tabLst/>
                            <a:defRPr/>
                          </a:pPr>
                          <a14:m>
                            <m:oMath xmlns:m="http://schemas.openxmlformats.org/officeDocument/2006/math">
                              <m:sSup>
                                <m:sSupPr>
                                  <m:ctrlPr>
                                    <a:rPr kumimoji="0" lang="en-PH" sz="2400" b="0" i="1" u="none" strike="noStrike" kern="0" cap="none" spc="0" normalizeH="0" baseline="0" noProof="0" smtClean="0">
                                      <a:ln>
                                        <a:noFill/>
                                      </a:ln>
                                      <a:solidFill>
                                        <a:srgbClr val="000000"/>
                                      </a:solidFill>
                                      <a:effectLst/>
                                      <a:uLnTx/>
                                      <a:uFillTx/>
                                      <a:latin typeface="Cambria Math" panose="02040503050406030204" pitchFamily="18" charset="0"/>
                                      <a:ea typeface="Verdana"/>
                                      <a:cs typeface="Verdana"/>
                                      <a:sym typeface="Arial"/>
                                    </a:rPr>
                                  </m:ctrlPr>
                                </m:sSupPr>
                                <m:e>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0.2</m:t>
                                  </m:r>
                                </m:e>
                                <m: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m:t>
                                  </m:r>
                                </m:sup>
                              </m:s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 </m:t>
                              </m:r>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 </m:t>
                              </m:r>
                              <m:sSup>
                                <m:sSup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Cambria Math"/>
                                      <a:cs typeface="Cambria Math"/>
                                      <a:sym typeface="Arial"/>
                                    </a:rPr>
                                  </m:ctrlPr>
                                </m:sSupPr>
                                <m:e>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0.1</m:t>
                                  </m:r>
                                </m:e>
                                <m:sup>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2</m:t>
                                  </m:r>
                                </m:sup>
                              </m:sSup>
                            </m:oMath>
                          </a14:m>
                          <a:endParaRPr lang="en-PH" sz="2400" dirty="0">
                            <a:latin typeface="Verdana" pitchFamily="34" charset="0"/>
                            <a:ea typeface="Verdana"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892175" marR="0" lvl="0" indent="-423863" algn="l" defTabSz="892175" rtl="0" eaLnBrk="1" fontAlgn="auto" latinLnBrk="0" hangingPunct="1">
                            <a:lnSpc>
                              <a:spcPct val="150000"/>
                            </a:lnSpc>
                            <a:spcBef>
                              <a:spcPts val="0"/>
                            </a:spcBef>
                            <a:spcAft>
                              <a:spcPts val="0"/>
                            </a:spcAft>
                            <a:buClr>
                              <a:srgbClr val="000000"/>
                            </a:buClr>
                            <a:buSzTx/>
                            <a:buFont typeface="Wingdings" pitchFamily="2" charset="2"/>
                            <a:buChar char=""/>
                            <a:tabLst/>
                            <a:defRPr/>
                          </a:pPr>
                          <a14:m>
                            <m:oMath xmlns:m="http://schemas.openxmlformats.org/officeDocument/2006/math">
                              <m:sSup>
                                <m:sSupPr>
                                  <m:ctrlPr>
                                    <a:rPr kumimoji="0" lang="en-PH" sz="2400" b="0" i="1" u="none" strike="noStrike" kern="0" cap="none" spc="0" normalizeH="0" baseline="0" noProof="0" smtClean="0">
                                      <a:ln>
                                        <a:noFill/>
                                      </a:ln>
                                      <a:solidFill>
                                        <a:srgbClr val="000000"/>
                                      </a:solidFill>
                                      <a:effectLst/>
                                      <a:uLnTx/>
                                      <a:uFillTx/>
                                      <a:latin typeface="Cambria Math" panose="02040503050406030204" pitchFamily="18" charset="0"/>
                                      <a:ea typeface="Verdana"/>
                                      <a:cs typeface="Verdana"/>
                                      <a:sym typeface="Arial"/>
                                    </a:rPr>
                                  </m:ctrlPr>
                                </m:sSupPr>
                                <m:e>
                                  <m:d>
                                    <m:d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Verdana"/>
                                          <a:cs typeface="Verdana"/>
                                          <a:sym typeface="Arial"/>
                                        </a:rPr>
                                      </m:ctrlPr>
                                    </m:dPr>
                                    <m:e>
                                      <m:f>
                                        <m:f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Verdana"/>
                                              <a:cs typeface="Verdana"/>
                                              <a:sym typeface="Arial"/>
                                            </a:rPr>
                                          </m:ctrlPr>
                                        </m:fPr>
                                        <m:num>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0.2</m:t>
                                          </m:r>
                                        </m:num>
                                        <m:den>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2</m:t>
                                          </m:r>
                                        </m:den>
                                      </m:f>
                                    </m:e>
                                  </m:d>
                                </m:e>
                                <m: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3</m:t>
                                  </m:r>
                                </m:sup>
                              </m:sSup>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 </m:t>
                              </m:r>
                              <m:sSup>
                                <m:sSup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Cambria Math"/>
                                      <a:cs typeface="Cambria Math"/>
                                      <a:sym typeface="Arial"/>
                                    </a:rPr>
                                  </m:ctrlPr>
                                </m:sSupPr>
                                <m:e>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0.1</m:t>
                                  </m:r>
                                </m:e>
                                <m:sup>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2</m:t>
                                  </m:r>
                                </m:sup>
                              </m:sSup>
                            </m:oMath>
                          </a14:m>
                          <a:endParaRPr kumimoji="0" lang="en-PH" sz="2400" b="0" i="1" u="none" strike="noStrike" kern="0" cap="none" spc="0" normalizeH="0" baseline="0" noProof="0" dirty="0">
                            <a:ln>
                              <a:noFill/>
                            </a:ln>
                            <a:solidFill>
                              <a:srgbClr val="000000"/>
                            </a:solidFill>
                            <a:effectLst/>
                            <a:uLnTx/>
                            <a:uFillTx/>
                            <a:latin typeface="Verdana" pitchFamily="34" charset="0"/>
                            <a:ea typeface="Verdana" pitchFamily="34" charset="0"/>
                            <a:cs typeface="Cambria Math"/>
                            <a:sym typeface="Arial"/>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242326605"/>
                      </a:ext>
                    </a:extLst>
                  </a:tr>
                  <a:tr h="713867">
                    <a:tc>
                      <a:txBody>
                        <a:bodyPr/>
                        <a:lstStyle/>
                        <a:p>
                          <a:pPr marL="892175" marR="0" lvl="0" indent="-423863" algn="l" defTabSz="892175" rtl="0" eaLnBrk="1" fontAlgn="auto" latinLnBrk="0" hangingPunct="1">
                            <a:lnSpc>
                              <a:spcPct val="150000"/>
                            </a:lnSpc>
                            <a:spcBef>
                              <a:spcPts val="0"/>
                            </a:spcBef>
                            <a:spcAft>
                              <a:spcPts val="0"/>
                            </a:spcAft>
                            <a:buClr>
                              <a:srgbClr val="000000"/>
                            </a:buClr>
                            <a:buSzTx/>
                            <a:buFont typeface="Wingdings" pitchFamily="2" charset="2"/>
                            <a:buChar char=""/>
                            <a:tabLst>
                              <a:tab pos="892175" algn="l"/>
                            </a:tabLst>
                            <a:defRPr/>
                          </a:pPr>
                          <a14:m>
                            <m:oMath xmlns:m="http://schemas.openxmlformats.org/officeDocument/2006/math">
                              <m:sSup>
                                <m:sSupPr>
                                  <m:ctrlPr>
                                    <a:rPr kumimoji="0" lang="en-PH" sz="2400" b="0" i="1" u="none" strike="noStrike" kern="0" cap="none" spc="0" normalizeH="0" baseline="0" noProof="0" smtClean="0">
                                      <a:ln>
                                        <a:noFill/>
                                      </a:ln>
                                      <a:solidFill>
                                        <a:srgbClr val="000000"/>
                                      </a:solidFill>
                                      <a:effectLst/>
                                      <a:uLnTx/>
                                      <a:uFillTx/>
                                      <a:latin typeface="Cambria Math" panose="02040503050406030204" pitchFamily="18" charset="0"/>
                                      <a:ea typeface="Verdana"/>
                                      <a:cs typeface="Verdana"/>
                                      <a:sym typeface="Arial"/>
                                    </a:rPr>
                                  </m:ctrlPr>
                                </m:sSupPr>
                                <m:e>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0.1</m:t>
                                  </m:r>
                                </m:e>
                                <m: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3</m:t>
                                  </m:r>
                                </m:sup>
                              </m:s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 </m:t>
                              </m:r>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 </m:t>
                              </m:r>
                              <m:sSup>
                                <m:sSup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Cambria Math"/>
                                      <a:cs typeface="Cambria Math"/>
                                      <a:sym typeface="Arial"/>
                                    </a:rPr>
                                  </m:ctrlPr>
                                </m:sSupPr>
                                <m:e>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0.1</m:t>
                                  </m:r>
                                </m:e>
                                <m:sup>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2</m:t>
                                  </m:r>
                                </m:sup>
                              </m:sSup>
                            </m:oMath>
                          </a14:m>
                          <a:endParaRPr lang="en-PH" sz="2400" dirty="0">
                            <a:latin typeface="Verdana" pitchFamily="34" charset="0"/>
                            <a:ea typeface="Verdana" pitchFamily="34" charset="0"/>
                          </a:endParaRPr>
                        </a:p>
                      </a:txBody>
                      <a:tcPr marL="0" marR="0" marT="0" marB="0"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892175" marR="0" lvl="0" indent="-423863" algn="l" defTabSz="892175" rtl="0" eaLnBrk="1" fontAlgn="auto" latinLnBrk="0" hangingPunct="1">
                            <a:lnSpc>
                              <a:spcPct val="150000"/>
                            </a:lnSpc>
                            <a:spcBef>
                              <a:spcPts val="0"/>
                            </a:spcBef>
                            <a:spcAft>
                              <a:spcPts val="0"/>
                            </a:spcAft>
                            <a:buClr>
                              <a:srgbClr val="000000"/>
                            </a:buClr>
                            <a:buSzTx/>
                            <a:buFont typeface="Wingdings" pitchFamily="2" charset="2"/>
                            <a:buChar char=""/>
                            <a:tabLst/>
                            <a:defRPr/>
                          </a:pPr>
                          <a14:m>
                            <m:oMath xmlns:m="http://schemas.openxmlformats.org/officeDocument/2006/math">
                              <m:sSup>
                                <m:sSupPr>
                                  <m:ctrlPr>
                                    <a:rPr kumimoji="0" lang="en-PH" sz="2400" b="0" i="1" u="none" strike="noStrike" kern="0" cap="none" spc="0" normalizeH="0" baseline="0" noProof="0" smtClean="0">
                                      <a:ln>
                                        <a:noFill/>
                                      </a:ln>
                                      <a:solidFill>
                                        <a:srgbClr val="000000"/>
                                      </a:solidFill>
                                      <a:effectLst/>
                                      <a:uLnTx/>
                                      <a:uFillTx/>
                                      <a:latin typeface="Cambria Math" panose="02040503050406030204" pitchFamily="18" charset="0"/>
                                      <a:ea typeface="Verdana"/>
                                      <a:cs typeface="Verdana"/>
                                      <a:sym typeface="Arial"/>
                                    </a:rPr>
                                  </m:ctrlPr>
                                </m:sSupPr>
                                <m:e>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0.2</m:t>
                                  </m:r>
                                </m:e>
                                <m: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5</m:t>
                                  </m:r>
                                </m:sup>
                              </m:sSup>
                            </m:oMath>
                          </a14:m>
                          <a:endParaRPr kumimoji="0" lang="en-PH" sz="2400" b="0" i="0" u="none" strike="noStrike" kern="0" cap="none" spc="0" normalizeH="0" baseline="0" noProof="0" dirty="0">
                            <a:ln>
                              <a:noFill/>
                            </a:ln>
                            <a:solidFill>
                              <a:srgbClr val="000000"/>
                            </a:solidFill>
                            <a:effectLst/>
                            <a:uLnTx/>
                            <a:uFillTx/>
                            <a:latin typeface="Verdana" pitchFamily="34" charset="0"/>
                            <a:ea typeface="Verdana" pitchFamily="34" charset="0"/>
                            <a:cs typeface="Arial"/>
                            <a:sym typeface="Arial"/>
                          </a:endParaRPr>
                        </a:p>
                      </a:txBody>
                      <a:tcPr marL="0" marR="0" marT="0" marB="0"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35587563"/>
                      </a:ext>
                    </a:extLst>
                  </a:tr>
                </a:tbl>
              </a:graphicData>
            </a:graphic>
          </p:graphicFrame>
        </mc:Choice>
        <mc:Fallback xmlns="">
          <p:graphicFrame>
            <p:nvGraphicFramePr>
              <p:cNvPr id="2" name="Table 1">
                <a:extLst>
                  <a:ext uri="{FF2B5EF4-FFF2-40B4-BE49-F238E27FC236}">
                    <a16:creationId xmlns:a16="http://schemas.microsoft.com/office/drawing/2014/main" id="{2B3A73CB-2F26-B40B-083C-81B0C683A20F}"/>
                  </a:ext>
                </a:extLst>
              </p:cNvPr>
              <p:cNvGraphicFramePr>
                <a:graphicFrameLocks noGrp="1"/>
              </p:cNvGraphicFramePr>
              <p:nvPr>
                <p:extLst>
                  <p:ext uri="{D42A27DB-BD31-4B8C-83A1-F6EECF244321}">
                    <p14:modId xmlns:p14="http://schemas.microsoft.com/office/powerpoint/2010/main" val="403489172"/>
                  </p:ext>
                </p:extLst>
              </p:nvPr>
            </p:nvGraphicFramePr>
            <p:xfrm>
              <a:off x="1777689" y="3809016"/>
              <a:ext cx="6096000" cy="2497885"/>
            </p:xfrm>
            <a:graphic>
              <a:graphicData uri="http://schemas.openxmlformats.org/drawingml/2006/table">
                <a:tbl>
                  <a:tblPr firstRow="1" bandRow="1"/>
                  <a:tblGrid>
                    <a:gridCol w="3048000">
                      <a:extLst>
                        <a:ext uri="{9D8B030D-6E8A-4147-A177-3AD203B41FA5}">
                          <a16:colId xmlns:a16="http://schemas.microsoft.com/office/drawing/2014/main" val="3634524909"/>
                        </a:ext>
                      </a:extLst>
                    </a:gridCol>
                    <a:gridCol w="3048000">
                      <a:extLst>
                        <a:ext uri="{9D8B030D-6E8A-4147-A177-3AD203B41FA5}">
                          <a16:colId xmlns:a16="http://schemas.microsoft.com/office/drawing/2014/main" val="454461257"/>
                        </a:ext>
                      </a:extLst>
                    </a:gridCol>
                  </a:tblGrid>
                  <a:tr h="931975">
                    <a:tc>
                      <a:txBody>
                        <a:bodyPr/>
                        <a:lstStyle/>
                        <a:p>
                          <a:pPr marL="892175" lvl="0" indent="-423863" defTabSz="892175">
                            <a:lnSpc>
                              <a:spcPct val="150000"/>
                            </a:lnSpc>
                            <a:buFont typeface="Wingdings" pitchFamily="2" charset="2"/>
                            <a:buChar char=""/>
                          </a:pPr>
                          <a14:m xmlns:a14="http://schemas.microsoft.com/office/drawing/2010/main">
                            <m:oMath xmlns:m="http://schemas.openxmlformats.org/officeDocument/2006/math">
                              <m:sSup>
                                <m:sSupPr>
                                  <m:ctrlPr>
                                    <a:rPr lang="en-PH" sz="2400" i="1" smtClean="0">
                                      <a:latin typeface="Cambria Math" panose="02040503050406030204" pitchFamily="18" charset="0"/>
                                      <a:ea typeface="Verdana"/>
                                      <a:cs typeface="Verdana"/>
                                    </a:rPr>
                                  </m:ctrlPr>
                                </m:sSupPr>
                                <m:e>
                                  <m:r>
                                    <a:rPr lang="en-US" sz="2400" i="1">
                                      <a:effectLst/>
                                      <a:latin typeface="Cambria Math"/>
                                      <a:ea typeface="Verdana"/>
                                      <a:cs typeface="Verdana"/>
                                    </a:rPr>
                                    <m:t>0.1</m:t>
                                  </m:r>
                                </m:e>
                                <m:sup>
                                  <m:r>
                                    <a:rPr lang="en-US" sz="2400" i="1">
                                      <a:effectLst/>
                                      <a:latin typeface="Cambria Math"/>
                                      <a:ea typeface="Verdana"/>
                                      <a:cs typeface="Verdana"/>
                                    </a:rPr>
                                    <m:t>5</m:t>
                                  </m:r>
                                </m:sup>
                              </m:sSup>
                            </m:oMath>
                          </a14:m>
                          <a:endParaRPr lang="en-PH" sz="2400" dirty="0">
                            <a:latin typeface="Verdana" pitchFamily="34" charset="0"/>
                            <a:ea typeface="Verdana"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892175" lvl="0" indent="-423863" defTabSz="892175">
                            <a:lnSpc>
                              <a:spcPct val="150000"/>
                            </a:lnSpc>
                            <a:buFont typeface="Wingdings" pitchFamily="2" charset="2"/>
                            <a:buChar char=""/>
                          </a:pPr>
                          <a14:m xmlns:a14="http://schemas.microsoft.com/office/drawing/2010/main">
                            <m:oMath xmlns:m="http://schemas.openxmlformats.org/officeDocument/2006/math">
                              <m:f>
                                <m:fPr>
                                  <m:ctrlPr>
                                    <a:rPr lang="en-PH" sz="2400" i="1" smtClean="0">
                                      <a:effectLst/>
                                      <a:latin typeface="Cambria Math" panose="02040503050406030204" pitchFamily="18" charset="0"/>
                                      <a:ea typeface="Verdana"/>
                                      <a:cs typeface="Verdana"/>
                                    </a:rPr>
                                  </m:ctrlPr>
                                </m:fPr>
                                <m:num>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0.2</m:t>
                                      </m:r>
                                    </m:e>
                                    <m:sup>
                                      <m:r>
                                        <a:rPr lang="en-US" sz="2400" i="1">
                                          <a:effectLst/>
                                          <a:latin typeface="Cambria Math"/>
                                          <a:ea typeface="Verdana"/>
                                          <a:cs typeface="Verdana"/>
                                        </a:rPr>
                                        <m:t>5</m:t>
                                      </m:r>
                                    </m:sup>
                                  </m:sSup>
                                </m:num>
                                <m:den>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0.2</m:t>
                                      </m:r>
                                    </m:e>
                                    <m:sup>
                                      <m:r>
                                        <a:rPr lang="en-US" sz="2400" i="1">
                                          <a:effectLst/>
                                          <a:latin typeface="Cambria Math"/>
                                          <a:ea typeface="Verdana"/>
                                          <a:cs typeface="Verdana"/>
                                        </a:rPr>
                                        <m:t>3</m:t>
                                      </m:r>
                                    </m:sup>
                                  </m:sSup>
                                </m:den>
                              </m:f>
                            </m:oMath>
                          </a14:m>
                          <a:endParaRPr lang="en-PH" sz="2400" i="1" dirty="0">
                            <a:effectLst/>
                            <a:latin typeface="Verdana" pitchFamily="34" charset="0"/>
                            <a:ea typeface="Verdana" pitchFamily="34" charset="0"/>
                            <a:cs typeface="Cambria Math"/>
                          </a:endParaRPr>
                        </a:p>
                      </a:txBody>
                      <a:tcPr marL="0" marR="0" marT="0" marB="0">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1977727982"/>
                      </a:ext>
                    </a:extLst>
                  </a:tr>
                  <a:tr h="754380">
                    <a:tc>
                      <a:txBody>
                        <a:bodyPr/>
                        <a:lstStyle/>
                        <a:p>
                          <a:pPr marL="892175" marR="0" lvl="0" indent="-423863" algn="l" defTabSz="892175" rtl="0" eaLnBrk="1" fontAlgn="auto" latinLnBrk="0" hangingPunct="1">
                            <a:lnSpc>
                              <a:spcPct val="150000"/>
                            </a:lnSpc>
                            <a:spcBef>
                              <a:spcPts val="0"/>
                            </a:spcBef>
                            <a:spcAft>
                              <a:spcPts val="0"/>
                            </a:spcAft>
                            <a:buClr>
                              <a:srgbClr val="000000"/>
                            </a:buClr>
                            <a:buSzTx/>
                            <a:buFont typeface="Wingdings" pitchFamily="2" charset="2"/>
                            <a:buChar char=""/>
                            <a:tabLst/>
                            <a:defRPr/>
                          </a:pPr>
                          <a14:m xmlns:a14="http://schemas.microsoft.com/office/drawing/2010/main">
                            <m:oMath xmlns:m="http://schemas.openxmlformats.org/officeDocument/2006/math">
                              <m:sSup>
                                <m:sSupPr>
                                  <m:ctrlPr>
                                    <a:rPr kumimoji="0" lang="en-PH" sz="2400" b="0" i="1" u="none" strike="noStrike" kern="0" cap="none" spc="0" normalizeH="0" baseline="0" noProof="0" smtClean="0">
                                      <a:ln>
                                        <a:noFill/>
                                      </a:ln>
                                      <a:solidFill>
                                        <a:srgbClr val="000000"/>
                                      </a:solidFill>
                                      <a:effectLst/>
                                      <a:uLnTx/>
                                      <a:uFillTx/>
                                      <a:latin typeface="Cambria Math" panose="02040503050406030204" pitchFamily="18" charset="0"/>
                                      <a:ea typeface="Verdana"/>
                                      <a:cs typeface="Verdana"/>
                                      <a:sym typeface="Arial"/>
                                    </a:rPr>
                                  </m:ctrlPr>
                                </m:sSupPr>
                                <m:e>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0.2</m:t>
                                  </m:r>
                                </m:e>
                                <m: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m:t>
                                  </m:r>
                                </m:sup>
                              </m:s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 </m:t>
                              </m:r>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 </m:t>
                              </m:r>
                              <m:sSup>
                                <m:sSup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Cambria Math"/>
                                      <a:cs typeface="Cambria Math"/>
                                      <a:sym typeface="Arial"/>
                                    </a:rPr>
                                  </m:ctrlPr>
                                </m:sSupPr>
                                <m:e>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0.1</m:t>
                                  </m:r>
                                </m:e>
                                <m:sup>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2</m:t>
                                  </m:r>
                                </m:sup>
                              </m:sSup>
                            </m:oMath>
                          </a14:m>
                          <a:endParaRPr lang="en-PH" sz="2400" dirty="0">
                            <a:latin typeface="Verdana" pitchFamily="34" charset="0"/>
                            <a:ea typeface="Verdana" pitchFamily="34" charset="0"/>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892175" marR="0" lvl="0" indent="-423863" algn="l" defTabSz="892175" rtl="0" eaLnBrk="1" fontAlgn="auto" latinLnBrk="0" hangingPunct="1">
                            <a:lnSpc>
                              <a:spcPct val="150000"/>
                            </a:lnSpc>
                            <a:spcBef>
                              <a:spcPts val="0"/>
                            </a:spcBef>
                            <a:spcAft>
                              <a:spcPts val="0"/>
                            </a:spcAft>
                            <a:buClr>
                              <a:srgbClr val="000000"/>
                            </a:buClr>
                            <a:buSzTx/>
                            <a:buFont typeface="Wingdings" pitchFamily="2" charset="2"/>
                            <a:buChar char=""/>
                            <a:tabLst/>
                            <a:defRPr/>
                          </a:pPr>
                          <a14:m xmlns:a14="http://schemas.microsoft.com/office/drawing/2010/main">
                            <m:oMath xmlns:m="http://schemas.openxmlformats.org/officeDocument/2006/math">
                              <m:sSup>
                                <m:sSupPr>
                                  <m:ctrlPr>
                                    <a:rPr kumimoji="0" lang="en-PH" sz="2400" b="0" i="1" u="none" strike="noStrike" kern="0" cap="none" spc="0" normalizeH="0" baseline="0" noProof="0" smtClean="0">
                                      <a:ln>
                                        <a:noFill/>
                                      </a:ln>
                                      <a:solidFill>
                                        <a:srgbClr val="000000"/>
                                      </a:solidFill>
                                      <a:effectLst/>
                                      <a:uLnTx/>
                                      <a:uFillTx/>
                                      <a:latin typeface="Cambria Math" panose="02040503050406030204" pitchFamily="18" charset="0"/>
                                      <a:ea typeface="Verdana"/>
                                      <a:cs typeface="Verdana"/>
                                      <a:sym typeface="Arial"/>
                                    </a:rPr>
                                  </m:ctrlPr>
                                </m:sSupPr>
                                <m:e>
                                  <m:d>
                                    <m:d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Verdana"/>
                                          <a:cs typeface="Verdana"/>
                                          <a:sym typeface="Arial"/>
                                        </a:rPr>
                                      </m:ctrlPr>
                                    </m:dPr>
                                    <m:e>
                                      <m:f>
                                        <m:f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Verdana"/>
                                              <a:cs typeface="Verdana"/>
                                              <a:sym typeface="Arial"/>
                                            </a:rPr>
                                          </m:ctrlPr>
                                        </m:fPr>
                                        <m:num>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0.2</m:t>
                                          </m:r>
                                        </m:num>
                                        <m:den>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2</m:t>
                                          </m:r>
                                        </m:den>
                                      </m:f>
                                    </m:e>
                                  </m:d>
                                </m:e>
                                <m: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3</m:t>
                                  </m:r>
                                </m:sup>
                              </m:sSup>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 </m:t>
                              </m:r>
                              <m:sSup>
                                <m:sSup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Cambria Math"/>
                                      <a:cs typeface="Cambria Math"/>
                                      <a:sym typeface="Arial"/>
                                    </a:rPr>
                                  </m:ctrlPr>
                                </m:sSupPr>
                                <m:e>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0.1</m:t>
                                  </m:r>
                                </m:e>
                                <m:sup>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2</m:t>
                                  </m:r>
                                </m:sup>
                              </m:sSup>
                            </m:oMath>
                          </a14:m>
                          <a:endParaRPr kumimoji="0" lang="en-PH" sz="2400" b="0" i="1" u="none" strike="noStrike" kern="0" cap="none" spc="0" normalizeH="0" baseline="0" noProof="0" dirty="0">
                            <a:ln>
                              <a:noFill/>
                            </a:ln>
                            <a:solidFill>
                              <a:srgbClr val="000000"/>
                            </a:solidFill>
                            <a:effectLst/>
                            <a:uLnTx/>
                            <a:uFillTx/>
                            <a:latin typeface="Verdana" pitchFamily="34" charset="0"/>
                            <a:ea typeface="Verdana" pitchFamily="34" charset="0"/>
                            <a:cs typeface="Cambria Math"/>
                            <a:sym typeface="Arial"/>
                          </a:endParaRPr>
                        </a:p>
                      </a:txBody>
                      <a:tcPr marL="0" marR="0" marT="0" marB="0" anchor="ctr">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3242326605"/>
                      </a:ext>
                    </a:extLst>
                  </a:tr>
                  <a:tr h="713867">
                    <a:tc>
                      <a:txBody>
                        <a:bodyPr/>
                        <a:lstStyle/>
                        <a:p>
                          <a:pPr marL="892175" marR="0" lvl="0" indent="-423863" algn="l" defTabSz="892175" rtl="0" eaLnBrk="1" fontAlgn="auto" latinLnBrk="0" hangingPunct="1">
                            <a:lnSpc>
                              <a:spcPct val="150000"/>
                            </a:lnSpc>
                            <a:spcBef>
                              <a:spcPts val="0"/>
                            </a:spcBef>
                            <a:spcAft>
                              <a:spcPts val="0"/>
                            </a:spcAft>
                            <a:buClr>
                              <a:srgbClr val="000000"/>
                            </a:buClr>
                            <a:buSzTx/>
                            <a:buFont typeface="Wingdings" pitchFamily="2" charset="2"/>
                            <a:buChar char=""/>
                            <a:tabLst>
                              <a:tab pos="892175" algn="l"/>
                            </a:tabLst>
                            <a:defRPr/>
                          </a:pPr>
                          <a14:m xmlns:a14="http://schemas.microsoft.com/office/drawing/2010/main">
                            <m:oMath xmlns:m="http://schemas.openxmlformats.org/officeDocument/2006/math">
                              <m:sSup>
                                <m:sSupPr>
                                  <m:ctrlPr>
                                    <a:rPr kumimoji="0" lang="en-PH" sz="2400" b="0" i="1" u="none" strike="noStrike" kern="0" cap="none" spc="0" normalizeH="0" baseline="0" noProof="0" smtClean="0">
                                      <a:ln>
                                        <a:noFill/>
                                      </a:ln>
                                      <a:solidFill>
                                        <a:srgbClr val="000000"/>
                                      </a:solidFill>
                                      <a:effectLst/>
                                      <a:uLnTx/>
                                      <a:uFillTx/>
                                      <a:latin typeface="Cambria Math" panose="02040503050406030204" pitchFamily="18" charset="0"/>
                                      <a:ea typeface="Verdana"/>
                                      <a:cs typeface="Verdana"/>
                                      <a:sym typeface="Arial"/>
                                    </a:rPr>
                                  </m:ctrlPr>
                                </m:sSupPr>
                                <m:e>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0.1</m:t>
                                  </m:r>
                                </m:e>
                                <m: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3</m:t>
                                  </m:r>
                                </m:sup>
                              </m:s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 </m:t>
                              </m:r>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 </m:t>
                              </m:r>
                              <m:sSup>
                                <m:sSupPr>
                                  <m:ctrlPr>
                                    <a:rPr kumimoji="0" lang="en-PH" sz="2400" b="0" i="1" u="none" strike="noStrike" kern="0" cap="none" spc="0" normalizeH="0" baseline="0" noProof="0">
                                      <a:ln>
                                        <a:noFill/>
                                      </a:ln>
                                      <a:solidFill>
                                        <a:srgbClr val="000000"/>
                                      </a:solidFill>
                                      <a:effectLst/>
                                      <a:uLnTx/>
                                      <a:uFillTx/>
                                      <a:latin typeface="Cambria Math" panose="02040503050406030204" pitchFamily="18" charset="0"/>
                                      <a:ea typeface="Cambria Math"/>
                                      <a:cs typeface="Cambria Math"/>
                                      <a:sym typeface="Arial"/>
                                    </a:rPr>
                                  </m:ctrlPr>
                                </m:sSupPr>
                                <m:e>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0.1</m:t>
                                  </m:r>
                                </m:e>
                                <m:sup>
                                  <m:r>
                                    <a:rPr kumimoji="0" lang="en-US" sz="2400" b="0" i="1" u="none" strike="noStrike" kern="0" cap="none" spc="0" normalizeH="0" baseline="0" noProof="0">
                                      <a:ln>
                                        <a:noFill/>
                                      </a:ln>
                                      <a:solidFill>
                                        <a:srgbClr val="000000"/>
                                      </a:solidFill>
                                      <a:effectLst/>
                                      <a:uLnTx/>
                                      <a:uFillTx/>
                                      <a:latin typeface="Cambria Math"/>
                                      <a:ea typeface="Cambria Math"/>
                                      <a:cs typeface="Cambria Math"/>
                                      <a:sym typeface="Arial"/>
                                    </a:rPr>
                                    <m:t>2</m:t>
                                  </m:r>
                                </m:sup>
                              </m:sSup>
                            </m:oMath>
                          </a14:m>
                          <a:endParaRPr lang="en-PH" sz="2400" dirty="0">
                            <a:latin typeface="Verdana" pitchFamily="34" charset="0"/>
                            <a:ea typeface="Verdana" pitchFamily="34" charset="0"/>
                          </a:endParaRPr>
                        </a:p>
                      </a:txBody>
                      <a:tcPr marL="0" marR="0" marT="0" marB="0"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tc>
                      <a:txBody>
                        <a:bodyPr/>
                        <a:lstStyle/>
                        <a:p>
                          <a:pPr marL="892175" marR="0" lvl="0" indent="-423863" algn="l" defTabSz="892175" rtl="0" eaLnBrk="1" fontAlgn="auto" latinLnBrk="0" hangingPunct="1">
                            <a:lnSpc>
                              <a:spcPct val="150000"/>
                            </a:lnSpc>
                            <a:spcBef>
                              <a:spcPts val="0"/>
                            </a:spcBef>
                            <a:spcAft>
                              <a:spcPts val="0"/>
                            </a:spcAft>
                            <a:buClr>
                              <a:srgbClr val="000000"/>
                            </a:buClr>
                            <a:buSzTx/>
                            <a:buFont typeface="Wingdings" pitchFamily="2" charset="2"/>
                            <a:buChar char=""/>
                            <a:tabLst/>
                            <a:defRPr/>
                          </a:pPr>
                          <a14:m xmlns:a14="http://schemas.microsoft.com/office/drawing/2010/main">
                            <m:oMath xmlns:m="http://schemas.openxmlformats.org/officeDocument/2006/math">
                              <m:sSup>
                                <m:sSupPr>
                                  <m:ctrlPr>
                                    <a:rPr kumimoji="0" lang="en-PH" sz="2400" b="0" i="1" u="none" strike="noStrike" kern="0" cap="none" spc="0" normalizeH="0" baseline="0" noProof="0" smtClean="0">
                                      <a:ln>
                                        <a:noFill/>
                                      </a:ln>
                                      <a:solidFill>
                                        <a:srgbClr val="000000"/>
                                      </a:solidFill>
                                      <a:effectLst/>
                                      <a:uLnTx/>
                                      <a:uFillTx/>
                                      <a:latin typeface="Cambria Math" panose="02040503050406030204" pitchFamily="18" charset="0"/>
                                      <a:ea typeface="Verdana"/>
                                      <a:cs typeface="Verdana"/>
                                      <a:sym typeface="Arial"/>
                                    </a:rPr>
                                  </m:ctrlPr>
                                </m:sSupPr>
                                <m:e>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0.2</m:t>
                                  </m:r>
                                </m:e>
                                <m:sup>
                                  <m:r>
                                    <a:rPr kumimoji="0" lang="en-US" sz="2400" b="0" i="1" u="none" strike="noStrike" kern="0" cap="none" spc="0" normalizeH="0" baseline="0" noProof="0">
                                      <a:ln>
                                        <a:noFill/>
                                      </a:ln>
                                      <a:solidFill>
                                        <a:srgbClr val="000000"/>
                                      </a:solidFill>
                                      <a:effectLst/>
                                      <a:uLnTx/>
                                      <a:uFillTx/>
                                      <a:latin typeface="Cambria Math"/>
                                      <a:ea typeface="Verdana"/>
                                      <a:cs typeface="Verdana"/>
                                      <a:sym typeface="Arial"/>
                                    </a:rPr>
                                    <m:t>5</m:t>
                                  </m:r>
                                </m:sup>
                              </m:sSup>
                            </m:oMath>
                          </a14:m>
                          <a:endParaRPr kumimoji="0" lang="en-PH" sz="2400" b="0" i="0" u="none" strike="noStrike" kern="0" cap="none" spc="0" normalizeH="0" baseline="0" noProof="0" dirty="0">
                            <a:ln>
                              <a:noFill/>
                            </a:ln>
                            <a:solidFill>
                              <a:srgbClr val="000000"/>
                            </a:solidFill>
                            <a:effectLst/>
                            <a:uLnTx/>
                            <a:uFillTx/>
                            <a:latin typeface="Verdana" pitchFamily="34" charset="0"/>
                            <a:ea typeface="Verdana" pitchFamily="34" charset="0"/>
                            <a:cs typeface="Arial"/>
                            <a:sym typeface="Arial"/>
                          </a:endParaRPr>
                        </a:p>
                      </a:txBody>
                      <a:tcPr marL="0" marR="0" marT="0" marB="0" anchor="b">
                        <a:lnL w="9525" cap="flat" cmpd="sng">
                          <a:noFill/>
                          <a:prstDash val="solid"/>
                          <a:round/>
                          <a:headEnd type="none" w="sm" len="sm"/>
                          <a:tailEnd type="none" w="sm" len="sm"/>
                        </a:lnL>
                        <a:lnR w="9525" cap="flat" cmpd="sng">
                          <a:noFill/>
                          <a:prstDash val="solid"/>
                          <a:round/>
                          <a:headEnd type="none" w="sm" len="sm"/>
                          <a:tailEnd type="none" w="sm" len="sm"/>
                        </a:lnR>
                        <a:lnT w="9525" cap="flat" cmpd="sng">
                          <a:noFill/>
                          <a:prstDash val="solid"/>
                          <a:round/>
                          <a:headEnd type="none" w="sm" len="sm"/>
                          <a:tailEnd type="none" w="sm" len="sm"/>
                        </a:lnT>
                        <a:lnB w="9525" cap="flat" cmpd="sng">
                          <a:noFill/>
                          <a:prstDash val="solid"/>
                          <a:round/>
                          <a:headEnd type="none" w="sm" len="sm"/>
                          <a:tailEnd type="none" w="sm" len="sm"/>
                        </a:lnB>
                        <a:lnTlToBr w="12700" cmpd="sng">
                          <a:noFill/>
                          <a:prstDash val="solid"/>
                        </a:lnTlToBr>
                        <a:lnBlToTr w="12700" cmpd="sng">
                          <a:noFill/>
                          <a:prstDash val="solid"/>
                        </a:lnBlToTr>
                      </a:tcPr>
                    </a:tc>
                    <a:extLst>
                      <a:ext uri="{0D108BD9-81ED-4DB2-BD59-A6C34878D82A}">
                        <a16:rowId xmlns:a16="http://schemas.microsoft.com/office/drawing/2014/main" val="435587563"/>
                      </a:ext>
                    </a:extLst>
                  </a:tr>
                </a:tbl>
              </a:graphicData>
            </a:graphic>
          </p:graphicFrame>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B1DE0313-3954-4D21-A88C-67CC3CF2552C}"/>
                  </a:ext>
                </a:extLst>
              </p:cNvPr>
              <p:cNvSpPr txBox="1"/>
              <p:nvPr/>
            </p:nvSpPr>
            <p:spPr>
              <a:xfrm>
                <a:off x="514350" y="1488616"/>
                <a:ext cx="11113800" cy="2265107"/>
              </a:xfrm>
              <a:prstGeom prst="rect">
                <a:avLst/>
              </a:prstGeom>
              <a:noFill/>
            </p:spPr>
            <p:txBody>
              <a:bodyPr wrap="square">
                <a:spAutoFit/>
              </a:bodyPr>
              <a:lstStyle/>
              <a:p>
                <a:pPr marL="457200" lvl="0" indent="-457200">
                  <a:lnSpc>
                    <a:spcPct val="107000"/>
                  </a:lnSpc>
                  <a:spcAft>
                    <a:spcPts val="1200"/>
                  </a:spcAft>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Use the laws of exponents to evaluate </a:t>
                </a:r>
                <a14:m>
                  <m:oMath xmlns:m="http://schemas.openxmlformats.org/officeDocument/2006/math">
                    <m:f>
                      <m:fPr>
                        <m:ctrlPr>
                          <a:rPr lang="en-PH" sz="2400" i="1">
                            <a:effectLst/>
                            <a:latin typeface="Cambria Math" panose="02040503050406030204" pitchFamily="18" charset="0"/>
                            <a:ea typeface="Verdana"/>
                            <a:cs typeface="Verdana"/>
                          </a:rPr>
                        </m:ctrlPr>
                      </m:fPr>
                      <m:num>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0.2</m:t>
                            </m:r>
                          </m:e>
                          <m:sup>
                            <m:r>
                              <a:rPr lang="en-US" sz="2400" i="1">
                                <a:effectLst/>
                                <a:latin typeface="Cambria Math"/>
                                <a:ea typeface="Verdana"/>
                                <a:cs typeface="Verdana"/>
                              </a:rPr>
                              <m:t>3</m:t>
                            </m:r>
                          </m:sup>
                        </m:sSup>
                      </m:num>
                      <m:den>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2</m:t>
                            </m:r>
                          </m:e>
                          <m:sup>
                            <m:r>
                              <a:rPr lang="en-US" sz="2400" i="1">
                                <a:effectLst/>
                                <a:latin typeface="Cambria Math"/>
                                <a:ea typeface="Verdana"/>
                                <a:cs typeface="Verdana"/>
                              </a:rPr>
                              <m:t>3</m:t>
                            </m:r>
                          </m:sup>
                        </m:sSup>
                      </m:den>
                    </m:f>
                    <m:r>
                      <a:rPr lang="en-US" sz="2400" i="1">
                        <a:effectLst/>
                        <a:latin typeface="Cambria Math"/>
                        <a:ea typeface="Verdana"/>
                        <a:cs typeface="Verdana"/>
                      </a:rPr>
                      <m:t> </m:t>
                    </m:r>
                    <m:r>
                      <a:rPr lang="en-US" sz="2400" i="1">
                        <a:effectLst/>
                        <a:latin typeface="Cambria Math"/>
                        <a:ea typeface="Cambria Math"/>
                        <a:cs typeface="Cambria Math"/>
                      </a:rPr>
                      <m:t>∙ </m:t>
                    </m:r>
                    <m:sSup>
                      <m:sSupPr>
                        <m:ctrlPr>
                          <a:rPr lang="en-PH" sz="2400" i="1">
                            <a:effectLst/>
                            <a:latin typeface="Cambria Math" panose="02040503050406030204" pitchFamily="18" charset="0"/>
                            <a:ea typeface="Cambria Math"/>
                            <a:cs typeface="Cambria Math"/>
                          </a:rPr>
                        </m:ctrlPr>
                      </m:sSupPr>
                      <m:e>
                        <m:r>
                          <a:rPr lang="en-US" sz="2400" i="1">
                            <a:effectLst/>
                            <a:latin typeface="Cambria Math"/>
                            <a:ea typeface="Cambria Math"/>
                            <a:cs typeface="Cambria Math"/>
                          </a:rPr>
                          <m:t>0.1</m:t>
                        </m:r>
                      </m:e>
                      <m:sup>
                        <m:r>
                          <a:rPr lang="en-US" sz="2400" i="1">
                            <a:effectLst/>
                            <a:latin typeface="Cambria Math"/>
                            <a:ea typeface="Cambria Math"/>
                            <a:cs typeface="Cambria Math"/>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Show your work.</a:t>
                </a:r>
                <a:endParaRPr lang="en-PH" sz="2400" i="1" dirty="0">
                  <a:latin typeface="Verdana" panose="020B0604030504040204" pitchFamily="34" charset="0"/>
                  <a:ea typeface="Verdana" panose="020B0604030504040204" pitchFamily="34" charset="0"/>
                  <a:cs typeface="Verdana" panose="020B0604030504040204" pitchFamily="34" charset="0"/>
                </a:endParaRPr>
              </a:p>
              <a:p>
                <a:pPr marL="457200" lvl="0" indent="-457200">
                  <a:lnSpc>
                    <a:spcPct val="107000"/>
                  </a:lnSpc>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0" indent="-457200">
                  <a:lnSpc>
                    <a:spcPct val="107000"/>
                  </a:lnSpc>
                  <a:buFont typeface="+mj-lt"/>
                  <a:buAutoNum type="arabicPeriod"/>
                </a:pPr>
                <a:endParaRPr lang="en-US" sz="2400" dirty="0">
                  <a:latin typeface="Verdana" panose="020B0604030504040204" pitchFamily="34" charset="0"/>
                  <a:ea typeface="Verdana" panose="020B0604030504040204" pitchFamily="34" charset="0"/>
                  <a:cs typeface="Verdana" panose="020B0604030504040204" pitchFamily="34" charset="0"/>
                </a:endParaRPr>
              </a:p>
              <a:p>
                <a:pPr marL="457200" lvl="0" indent="-457200">
                  <a:lnSpc>
                    <a:spcPct val="107000"/>
                  </a:lnSpc>
                  <a:buFont typeface="+mj-lt"/>
                  <a:buAutoNum type="arabicPeriod"/>
                </a:pPr>
                <a:r>
                  <a:rPr lang="en-US" sz="2400" dirty="0">
                    <a:latin typeface="Verdana" panose="020B0604030504040204" pitchFamily="34" charset="0"/>
                    <a:ea typeface="Verdana" panose="020B0604030504040204" pitchFamily="34" charset="0"/>
                    <a:cs typeface="Verdana" panose="020B0604030504040204" pitchFamily="34" charset="0"/>
                  </a:rPr>
                  <a:t>Select all of the expressions equivalent to </a:t>
                </a:r>
                <a14:m>
                  <m:oMath xmlns:m="http://schemas.openxmlformats.org/officeDocument/2006/math">
                    <m:f>
                      <m:fPr>
                        <m:ctrlPr>
                          <a:rPr lang="en-PH" sz="2400" i="1">
                            <a:effectLst/>
                            <a:latin typeface="Cambria Math" panose="02040503050406030204" pitchFamily="18" charset="0"/>
                            <a:ea typeface="Verdana"/>
                            <a:cs typeface="Verdana"/>
                          </a:rPr>
                        </m:ctrlPr>
                      </m:fPr>
                      <m:num>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0.2</m:t>
                            </m:r>
                          </m:e>
                          <m:sup>
                            <m:r>
                              <a:rPr lang="en-US" sz="2400" i="1">
                                <a:effectLst/>
                                <a:latin typeface="Cambria Math"/>
                                <a:ea typeface="Verdana"/>
                                <a:cs typeface="Verdana"/>
                              </a:rPr>
                              <m:t>3</m:t>
                            </m:r>
                          </m:sup>
                        </m:sSup>
                      </m:num>
                      <m:den>
                        <m:sSup>
                          <m:sSupPr>
                            <m:ctrlPr>
                              <a:rPr lang="en-PH" sz="2400" i="1">
                                <a:effectLst/>
                                <a:latin typeface="Cambria Math" panose="02040503050406030204" pitchFamily="18" charset="0"/>
                                <a:ea typeface="Verdana"/>
                                <a:cs typeface="Verdana"/>
                              </a:rPr>
                            </m:ctrlPr>
                          </m:sSupPr>
                          <m:e>
                            <m:r>
                              <a:rPr lang="en-US" sz="2400" i="1">
                                <a:effectLst/>
                                <a:latin typeface="Cambria Math"/>
                                <a:ea typeface="Verdana"/>
                                <a:cs typeface="Verdana"/>
                              </a:rPr>
                              <m:t>2</m:t>
                            </m:r>
                          </m:e>
                          <m:sup>
                            <m:r>
                              <a:rPr lang="en-US" sz="2400" i="1">
                                <a:effectLst/>
                                <a:latin typeface="Cambria Math"/>
                                <a:ea typeface="Verdana"/>
                                <a:cs typeface="Verdana"/>
                              </a:rPr>
                              <m:t>3</m:t>
                            </m:r>
                          </m:sup>
                        </m:sSup>
                      </m:den>
                    </m:f>
                    <m:r>
                      <a:rPr lang="en-US" sz="2400" i="1">
                        <a:effectLst/>
                        <a:latin typeface="Cambria Math"/>
                        <a:ea typeface="Verdana"/>
                        <a:cs typeface="Verdana"/>
                      </a:rPr>
                      <m:t> </m:t>
                    </m:r>
                    <m:r>
                      <a:rPr lang="en-US" sz="2400" i="1">
                        <a:effectLst/>
                        <a:latin typeface="Cambria Math"/>
                        <a:ea typeface="Cambria Math"/>
                        <a:cs typeface="Cambria Math"/>
                      </a:rPr>
                      <m:t>∙ </m:t>
                    </m:r>
                    <m:sSup>
                      <m:sSupPr>
                        <m:ctrlPr>
                          <a:rPr lang="en-PH" sz="2400" i="1">
                            <a:effectLst/>
                            <a:latin typeface="Cambria Math" panose="02040503050406030204" pitchFamily="18" charset="0"/>
                            <a:ea typeface="Cambria Math"/>
                            <a:cs typeface="Cambria Math"/>
                          </a:rPr>
                        </m:ctrlPr>
                      </m:sSupPr>
                      <m:e>
                        <m:r>
                          <a:rPr lang="en-US" sz="2400" i="1">
                            <a:effectLst/>
                            <a:latin typeface="Cambria Math"/>
                            <a:ea typeface="Cambria Math"/>
                            <a:cs typeface="Cambria Math"/>
                          </a:rPr>
                          <m:t>0.1</m:t>
                        </m:r>
                      </m:e>
                      <m:sup>
                        <m:r>
                          <a:rPr lang="en-US" sz="2400" i="1">
                            <a:effectLst/>
                            <a:latin typeface="Cambria Math"/>
                            <a:ea typeface="Cambria Math"/>
                            <a:cs typeface="Cambria Math"/>
                          </a:rPr>
                          <m:t>2</m:t>
                        </m:r>
                      </m:sup>
                    </m:sSup>
                  </m:oMath>
                </a14:m>
                <a:r>
                  <a:rPr lang="en-US" sz="2400" dirty="0">
                    <a:latin typeface="Verdana" panose="020B0604030504040204" pitchFamily="34" charset="0"/>
                    <a:ea typeface="Verdana" panose="020B0604030504040204" pitchFamily="34" charset="0"/>
                    <a:cs typeface="Verdana" panose="020B0604030504040204" pitchFamily="34" charset="0"/>
                  </a:rPr>
                  <a:t>. </a:t>
                </a:r>
                <a:endParaRPr lang="en-PH" sz="2400" i="1" dirty="0">
                  <a:effectLst/>
                  <a:latin typeface="Verdana" panose="020B0604030504040204" pitchFamily="34" charset="0"/>
                  <a:ea typeface="Verdana" panose="020B0604030504040204" pitchFamily="34" charset="0"/>
                  <a:cs typeface="Verdana" panose="020B0604030504040204" pitchFamily="34" charset="0"/>
                </a:endParaRPr>
              </a:p>
            </p:txBody>
          </p:sp>
        </mc:Choice>
        <mc:Fallback xmlns="">
          <p:sp>
            <p:nvSpPr>
              <p:cNvPr id="11" name="TextBox 10">
                <a:extLst>
                  <a:ext uri="{FF2B5EF4-FFF2-40B4-BE49-F238E27FC236}">
                    <a16:creationId xmlns:a16="http://schemas.microsoft.com/office/drawing/2014/main" id="{B1DE0313-3954-4D21-A88C-67CC3CF2552C}"/>
                  </a:ext>
                </a:extLst>
              </p:cNvPr>
              <p:cNvSpPr txBox="1">
                <a:spLocks noRot="1" noChangeAspect="1" noMove="1" noResize="1" noEditPoints="1" noAdjustHandles="1" noChangeArrowheads="1" noChangeShapeType="1" noTextEdit="1"/>
              </p:cNvSpPr>
              <p:nvPr/>
            </p:nvSpPr>
            <p:spPr>
              <a:xfrm>
                <a:off x="514350" y="1488616"/>
                <a:ext cx="11113800" cy="2265107"/>
              </a:xfrm>
              <a:prstGeom prst="rect">
                <a:avLst/>
              </a:prstGeom>
              <a:blipFill>
                <a:blip r:embed="rId5"/>
                <a:stretch>
                  <a:fillRect l="-799" b="-1117"/>
                </a:stretch>
              </a:blipFill>
            </p:spPr>
            <p:txBody>
              <a:bodyPr/>
              <a:lstStyle/>
              <a:p>
                <a:r>
                  <a:rPr lang="en-US">
                    <a:noFill/>
                  </a:rPr>
                  <a:t> </a:t>
                </a:r>
              </a:p>
            </p:txBody>
          </p:sp>
        </mc:Fallback>
      </mc:AlternateContent>
    </p:spTree>
  </p:cSld>
  <p:clrMapOvr>
    <a:masterClrMapping/>
  </p:clrMapOvr>
</p:sld>
</file>

<file path=ppt/theme/theme1.xml><?xml version="1.0" encoding="utf-8"?>
<a:theme xmlns:a="http://schemas.openxmlformats.org/drawingml/2006/main" name="1_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47</TotalTime>
  <Words>1000</Words>
  <Application>Microsoft Office PowerPoint</Application>
  <PresentationFormat>Widescreen</PresentationFormat>
  <Paragraphs>178</Paragraphs>
  <Slides>22</Slides>
  <Notes>22</Notes>
  <HiddenSlides>0</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22</vt:i4>
      </vt:variant>
    </vt:vector>
  </HeadingPairs>
  <TitlesOfParts>
    <vt:vector size="31" baseType="lpstr">
      <vt:lpstr>Cambria Math</vt:lpstr>
      <vt:lpstr>Courier New</vt:lpstr>
      <vt:lpstr>Arial</vt:lpstr>
      <vt:lpstr>Verdana</vt:lpstr>
      <vt:lpstr>Wingdings</vt:lpstr>
      <vt:lpstr>Century Gothic</vt:lpstr>
      <vt:lpstr>Calibri</vt:lpstr>
      <vt:lpstr>Arial Black</vt:lpstr>
      <vt:lpstr>1_Office Theme</vt:lpstr>
      <vt:lpstr>7th Grade Math  Unit 8, Lesson 3  Exponential Expressions  Volume 2, pg. 16  </vt:lpstr>
      <vt:lpstr>Benchmark</vt:lpstr>
      <vt:lpstr>PowerPoint Presentation</vt:lpstr>
      <vt:lpstr>PowerPoint Presentation</vt:lpstr>
      <vt:lpstr>Warm-Up</vt:lpstr>
      <vt:lpstr>PowerPoint Presentation</vt:lpstr>
      <vt:lpstr>Collaboration</vt:lpstr>
      <vt:lpstr>PowerPoint Presentation</vt:lpstr>
      <vt:lpstr>PowerPoint Presentation</vt:lpstr>
      <vt:lpstr>Guided Practice</vt:lpstr>
      <vt:lpstr>PowerPoint Presentation</vt:lpstr>
      <vt:lpstr>PowerPoint Presentation</vt:lpstr>
      <vt:lpstr>PowerPoint Presentation</vt:lpstr>
      <vt:lpstr>PowerPoint Presentation</vt:lpstr>
      <vt:lpstr>Activity</vt:lpstr>
      <vt:lpstr>PowerPoint Presentation</vt:lpstr>
      <vt:lpstr>PowerPoint Presentation</vt:lpstr>
      <vt:lpstr>Your Turn</vt:lpstr>
      <vt:lpstr>PowerPoint Presentation</vt:lpstr>
      <vt:lpstr>PowerPoint Presentation</vt:lpstr>
      <vt:lpstr>Wrap-Up</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7th Grade Math  Unit 8, Lesson 3  Exponential Expressions  Volume 2, pg. 16</dc:title>
  <dc:creator>Karen McKenzie</dc:creator>
  <cp:lastModifiedBy>Natasha Dease</cp:lastModifiedBy>
  <cp:revision>7</cp:revision>
  <dcterms:created xsi:type="dcterms:W3CDTF">2015-03-17T18:51:18Z</dcterms:created>
  <dcterms:modified xsi:type="dcterms:W3CDTF">2022-06-10T15:53:14Z</dcterms:modified>
</cp:coreProperties>
</file>