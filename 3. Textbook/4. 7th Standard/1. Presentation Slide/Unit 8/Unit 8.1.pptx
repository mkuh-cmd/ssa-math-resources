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embeddedFontLst>
    <p:embeddedFont>
      <p:font typeface="Arial Black" panose="020B0604020202020204" pitchFamily="34" charset="0"/>
      <p:regular r:id="rId39"/>
      <p:bold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Cambria Math" panose="02040503050406030204" pitchFamily="18" charset="0"/>
      <p:regular r:id="rId45"/>
    </p:embeddedFont>
    <p:embeddedFont>
      <p:font typeface="Century Gothic" panose="020B0502020202020204" pitchFamily="34" charset="0"/>
      <p:regular r:id="rId46"/>
      <p:bold r:id="rId47"/>
      <p:italic r:id="rId48"/>
      <p:boldItalic r:id="rId49"/>
    </p:embeddedFont>
    <p:embeddedFont>
      <p:font typeface="Verdana" panose="020B0604030504040204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9" roundtripDataSignature="AMtx7mime9ntqEMHzpSN9QqdMW/o/SC6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3A1B50-ACC6-4689-A3D7-FD869BB5BCE0}">
  <a:tblStyle styleId="{4F3A1B50-ACC6-4689-A3D7-FD869BB5BC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" name="Google Shape;29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8" name="Google Shape;34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" name="Google Shape;389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8" name="Google Shape;39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1" name="Google Shape;411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" name="Google Shape;421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6" name="Google Shape;446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6" name="Google Shape;45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0" name="Google Shape;480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9" name="Google Shape;489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9" name="Google Shape;499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6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6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1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Product Laws of Exponents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</a:t>
            </a:r>
            <a:endParaRPr sz="2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4530" y="1522577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650670" y="136525"/>
            <a:ext cx="810363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954" y="4149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25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6" name="Google Shape;126;g104476d1465_1_17"/>
          <p:cNvSpPr txBox="1"/>
          <p:nvPr/>
        </p:nvSpPr>
        <p:spPr>
          <a:xfrm>
            <a:off x="1024226" y="1609531"/>
            <a:ext cx="918657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MA.7.NSO.1.1</a:t>
            </a:r>
            <a:endParaRPr sz="35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Know and apply the Laws of Exponents to evaluate numerical expressions and generate equivalent numerical expressions, limited to whole-number exponents and rational number bases.</a:t>
            </a:r>
            <a:endParaRPr sz="2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-313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609" y="3086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35" name="Google Shape;135;p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1940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757548" y="129667"/>
            <a:ext cx="84532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sz="3200" dirty="0"/>
          </a:p>
        </p:txBody>
      </p:sp>
      <p:sp>
        <p:nvSpPr>
          <p:cNvPr id="137" name="Google Shape;137;p1"/>
          <p:cNvSpPr txBox="1"/>
          <p:nvPr/>
        </p:nvSpPr>
        <p:spPr>
          <a:xfrm>
            <a:off x="1080655" y="1596390"/>
            <a:ext cx="913014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dirty="0"/>
          </a:p>
          <a:p>
            <a:pPr marL="457200"/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dirty="0"/>
          </a:p>
          <a:p>
            <a:pPr marL="457200"/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dirty="0"/>
          </a:p>
          <a:p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dirty="0"/>
          </a:p>
        </p:txBody>
      </p:sp>
      <p:sp>
        <p:nvSpPr>
          <p:cNvPr id="138" name="Google Shape;138;p1"/>
          <p:cNvSpPr txBox="1"/>
          <p:nvPr/>
        </p:nvSpPr>
        <p:spPr>
          <a:xfrm>
            <a:off x="888117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5" name="Google Shape;145;p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6" name="Google Shape;146;p2"/>
          <p:cNvSpPr txBox="1"/>
          <p:nvPr/>
        </p:nvSpPr>
        <p:spPr>
          <a:xfrm>
            <a:off x="1769423" y="77150"/>
            <a:ext cx="830577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8612" y="3641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1092530" y="1600200"/>
            <a:ext cx="911827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explain and use the power of a product, power of a power, product of powers, and identity laws of exponents.</a:t>
            </a:r>
            <a:endParaRPr sz="35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6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57" name="Google Shape;157;g104476d1465_1_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g104476d1465_1_39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66" name="Google Shape;166;p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19689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7" name="Google Shape;167;p4"/>
          <p:cNvSpPr txBox="1"/>
          <p:nvPr/>
        </p:nvSpPr>
        <p:spPr>
          <a:xfrm>
            <a:off x="1638795" y="321620"/>
            <a:ext cx="8931522" cy="73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8.1.1 Warm-Up: Math Fail</a:t>
            </a:r>
            <a:endParaRPr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8880" y="32349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4"/>
          <p:cNvSpPr txBox="1"/>
          <p:nvPr/>
        </p:nvSpPr>
        <p:spPr>
          <a:xfrm>
            <a:off x="1092530" y="1386026"/>
            <a:ext cx="929505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The picture is an example of a “math fail.”</a:t>
            </a:r>
            <a:endParaRPr/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000"/>
              <a:buFont typeface="Arial"/>
              <a:buAutoNum type="arabicPeriod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Explain the error shown in the image with your partner.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0" name="Google Shape;170;p4" descr="Chart, pie chart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740" b="7563"/>
          <a:stretch/>
        </p:blipFill>
        <p:spPr>
          <a:xfrm>
            <a:off x="2990533" y="2716922"/>
            <a:ext cx="636333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"/>
          <p:cNvSpPr txBox="1"/>
          <p:nvPr/>
        </p:nvSpPr>
        <p:spPr>
          <a:xfrm>
            <a:off x="8889924" y="645396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9" name="Google Shape;179;p5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0" name="Google Shape;180;p5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1" name="Google Shape;181;p5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19440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9" name="Google Shape;189;p6"/>
          <p:cNvSpPr txBox="1"/>
          <p:nvPr/>
        </p:nvSpPr>
        <p:spPr>
          <a:xfrm>
            <a:off x="1650670" y="108020"/>
            <a:ext cx="850830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8.1.2 Exploration: Product of Powers Exponent Law</a:t>
            </a:r>
            <a:endParaRPr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0" name="Google Shape;190;p6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5697" y="394743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1" name="Google Shape;191;p6"/>
          <p:cNvSpPr txBox="1"/>
          <p:nvPr/>
        </p:nvSpPr>
        <p:spPr>
          <a:xfrm>
            <a:off x="1080655" y="1386025"/>
            <a:ext cx="9306929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Recall that repeated multiplication is a way of writing a number with an exponent.</a:t>
            </a:r>
            <a:endParaRPr dirty="0"/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number </a:t>
            </a:r>
            <a:r>
              <a:rPr lang="en-US" sz="2400" dirty="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called the </a:t>
            </a:r>
            <a:r>
              <a:rPr lang="en-US" sz="2400" b="1" i="1" dirty="0">
                <a:latin typeface="Verdana"/>
                <a:ea typeface="Verdana"/>
                <a:cs typeface="Verdana"/>
                <a:sym typeface="Verdana"/>
              </a:rPr>
              <a:t>base</a:t>
            </a:r>
            <a:r>
              <a:rPr lang="en-US" sz="2400" b="1" dirty="0"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is being multiplied repeatedly.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2" name="Google Shape;192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95638" y="3462339"/>
            <a:ext cx="5800725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/>
          <p:nvPr/>
        </p:nvSpPr>
        <p:spPr>
          <a:xfrm>
            <a:off x="2139679" y="4692650"/>
            <a:ext cx="6629400" cy="1054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 </a:t>
            </a:r>
            <a:endParaRPr/>
          </a:p>
        </p:txBody>
      </p:sp>
      <p:grpSp>
        <p:nvGrpSpPr>
          <p:cNvPr id="194" name="Google Shape;194;p6"/>
          <p:cNvGrpSpPr/>
          <p:nvPr/>
        </p:nvGrpSpPr>
        <p:grpSpPr>
          <a:xfrm>
            <a:off x="2139679" y="5140326"/>
            <a:ext cx="8247905" cy="1054076"/>
            <a:chOff x="615678" y="4692651"/>
            <a:chExt cx="8247905" cy="1054076"/>
          </a:xfrm>
        </p:grpSpPr>
        <p:grpSp>
          <p:nvGrpSpPr>
            <p:cNvPr id="195" name="Google Shape;195;p6"/>
            <p:cNvGrpSpPr/>
            <p:nvPr/>
          </p:nvGrpSpPr>
          <p:grpSpPr>
            <a:xfrm>
              <a:off x="615678" y="4692651"/>
              <a:ext cx="8247905" cy="1054076"/>
              <a:chOff x="2031299" y="3373600"/>
              <a:chExt cx="8247905" cy="1035400"/>
            </a:xfrm>
          </p:grpSpPr>
          <p:sp>
            <p:nvSpPr>
              <p:cNvPr id="196" name="Google Shape;196;p6"/>
              <p:cNvSpPr/>
              <p:nvPr/>
            </p:nvSpPr>
            <p:spPr>
              <a:xfrm>
                <a:off x="2031300" y="3373600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>
                    <a:latin typeface="Cambria Math"/>
                    <a:ea typeface="Cambria Math"/>
                    <a:cs typeface="Cambria Math"/>
                    <a:sym typeface="Cambria Math"/>
                  </a:rPr>
                  <a:t> </a:t>
                </a:r>
                <a:endParaRPr/>
              </a:p>
            </p:txBody>
          </p:sp>
          <p:grpSp>
            <p:nvGrpSpPr>
              <p:cNvPr id="197" name="Google Shape;197;p6"/>
              <p:cNvGrpSpPr/>
              <p:nvPr/>
            </p:nvGrpSpPr>
            <p:grpSpPr>
              <a:xfrm>
                <a:off x="2031299" y="3373600"/>
                <a:ext cx="8247905" cy="981531"/>
                <a:chOff x="2031299" y="3373600"/>
                <a:chExt cx="8247905" cy="981531"/>
              </a:xfrm>
            </p:grpSpPr>
            <p:sp>
              <p:nvSpPr>
                <p:cNvPr id="198" name="Google Shape;198;p6"/>
                <p:cNvSpPr/>
                <p:nvPr/>
              </p:nvSpPr>
              <p:spPr>
                <a:xfrm>
                  <a:off x="2031300" y="337360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>
                      <a:latin typeface="Cambria Math"/>
                      <a:ea typeface="Cambria Math"/>
                      <a:cs typeface="Cambria Math"/>
                      <a:sym typeface="Cambria Math"/>
                    </a:rPr>
                    <a:t> </a:t>
                  </a:r>
                  <a:endParaRPr/>
                </a:p>
              </p:txBody>
            </p:sp>
            <p:grpSp>
              <p:nvGrpSpPr>
                <p:cNvPr id="199" name="Google Shape;199;p6"/>
                <p:cNvGrpSpPr/>
                <p:nvPr/>
              </p:nvGrpSpPr>
              <p:grpSpPr>
                <a:xfrm>
                  <a:off x="2031299" y="3373600"/>
                  <a:ext cx="8247905" cy="981531"/>
                  <a:chOff x="-1" y="0"/>
                  <a:chExt cx="8247905" cy="981531"/>
                </a:xfrm>
              </p:grpSpPr>
              <p:sp>
                <p:nvSpPr>
                  <p:cNvPr id="200" name="Google Shape;200;p6"/>
                  <p:cNvSpPr/>
                  <p:nvPr/>
                </p:nvSpPr>
                <p:spPr>
                  <a:xfrm>
                    <a:off x="0" y="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a:t> </a:t>
                    </a:r>
                    <a:endParaRPr/>
                  </a:p>
                </p:txBody>
              </p:sp>
              <p:sp>
                <p:nvSpPr>
                  <p:cNvPr id="201" name="Google Shape;201;p6"/>
                  <p:cNvSpPr/>
                  <p:nvPr/>
                </p:nvSpPr>
                <p:spPr>
                  <a:xfrm>
                    <a:off x="-1" y="53892"/>
                    <a:ext cx="8247905" cy="927639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91425" rIns="91425" bIns="0" anchor="ctr" anchorCtr="0">
                    <a:spAutoFit/>
                  </a:bodyPr>
                  <a:lstStyle/>
                  <a:p>
                    <a:pPr marL="685800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2000" dirty="0">
                        <a:solidFill>
                          <a:srgbClr val="6D983E"/>
                        </a:solidFill>
                        <a:latin typeface="Verdana"/>
                        <a:ea typeface="Verdana"/>
                        <a:cs typeface="Verdana"/>
                        <a:sym typeface="Verdana"/>
                      </a:rPr>
                      <a:t>A</a:t>
                    </a:r>
                    <a:r>
                      <a:rPr lang="en-US" sz="2000" b="1" i="1" dirty="0">
                        <a:solidFill>
                          <a:srgbClr val="6D983E"/>
                        </a:solidFill>
                        <a:latin typeface="Verdana"/>
                        <a:ea typeface="Verdana"/>
                        <a:cs typeface="Verdana"/>
                        <a:sym typeface="Verdana"/>
                      </a:rPr>
                      <a:t> base</a:t>
                    </a:r>
                    <a:r>
                      <a:rPr lang="en-US" sz="2000" b="1" dirty="0">
                        <a:solidFill>
                          <a:srgbClr val="6D983E"/>
                        </a:solidFill>
                        <a:latin typeface="Verdana"/>
                        <a:ea typeface="Verdana"/>
                        <a:cs typeface="Verdana"/>
                        <a:sym typeface="Verdana"/>
                      </a:rPr>
                      <a:t> </a:t>
                    </a:r>
                    <a:r>
                      <a:rPr lang="en-US" sz="2000" dirty="0">
                        <a:solidFill>
                          <a:srgbClr val="6D983E"/>
                        </a:solidFill>
                        <a:latin typeface="Verdana"/>
                        <a:ea typeface="Verdana"/>
                        <a:cs typeface="Verdana"/>
                        <a:sym typeface="Verdana"/>
                      </a:rPr>
                      <a:t>is the number used as a factor in exponential form.</a:t>
                    </a:r>
                    <a:endParaRPr sz="2000" dirty="0">
                      <a:latin typeface="Cambria Math"/>
                      <a:ea typeface="Cambria Math"/>
                      <a:cs typeface="Cambria Math"/>
                      <a:sym typeface="Cambria Math"/>
                    </a:endParaRPr>
                  </a:p>
                </p:txBody>
              </p:sp>
            </p:grpSp>
          </p:grpSp>
        </p:grpSp>
        <p:pic>
          <p:nvPicPr>
            <p:cNvPr id="202" name="Google Shape;202;p6" descr="Icon&#10;&#10;Description automatically generated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97387" y="4886793"/>
              <a:ext cx="539261" cy="55090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203" name="Google Shape;203;p6"/>
          <p:cNvSpPr txBox="1"/>
          <p:nvPr/>
        </p:nvSpPr>
        <p:spPr>
          <a:xfrm>
            <a:off x="8889924" y="645147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0" name="Google Shape;210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1" name="Google Shape;211;p7"/>
          <p:cNvSpPr txBox="1"/>
          <p:nvPr/>
        </p:nvSpPr>
        <p:spPr>
          <a:xfrm>
            <a:off x="1080655" y="520394"/>
            <a:ext cx="925424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Since the base, </a:t>
            </a:r>
            <a:r>
              <a:rPr lang="en-US" sz="2400" dirty="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is a factor </a:t>
            </a:r>
            <a:r>
              <a:rPr lang="en-US" sz="2400" dirty="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times, the </a:t>
            </a:r>
            <a:r>
              <a:rPr lang="en-US" sz="2400" b="1" i="1" dirty="0">
                <a:latin typeface="Verdana"/>
                <a:ea typeface="Verdana"/>
                <a:cs typeface="Verdana"/>
                <a:sym typeface="Verdana"/>
              </a:rPr>
              <a:t>exponent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is </a:t>
            </a:r>
            <a:r>
              <a:rPr lang="en-US" sz="2400" dirty="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2" name="Google Shape;21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92167" y="1384271"/>
            <a:ext cx="4924425" cy="1685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7"/>
          <p:cNvGrpSpPr/>
          <p:nvPr/>
        </p:nvGrpSpPr>
        <p:grpSpPr>
          <a:xfrm>
            <a:off x="1583825" y="4042466"/>
            <a:ext cx="8247905" cy="1054076"/>
            <a:chOff x="615678" y="4692651"/>
            <a:chExt cx="8247905" cy="1054076"/>
          </a:xfrm>
        </p:grpSpPr>
        <p:grpSp>
          <p:nvGrpSpPr>
            <p:cNvPr id="214" name="Google Shape;214;p7"/>
            <p:cNvGrpSpPr/>
            <p:nvPr/>
          </p:nvGrpSpPr>
          <p:grpSpPr>
            <a:xfrm>
              <a:off x="615678" y="4692651"/>
              <a:ext cx="8247905" cy="1054076"/>
              <a:chOff x="2031299" y="3373600"/>
              <a:chExt cx="8247905" cy="1035400"/>
            </a:xfrm>
          </p:grpSpPr>
          <p:sp>
            <p:nvSpPr>
              <p:cNvPr id="215" name="Google Shape;215;p7"/>
              <p:cNvSpPr/>
              <p:nvPr/>
            </p:nvSpPr>
            <p:spPr>
              <a:xfrm>
                <a:off x="2031300" y="3373600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>
                    <a:latin typeface="Cambria Math"/>
                    <a:ea typeface="Cambria Math"/>
                    <a:cs typeface="Cambria Math"/>
                    <a:sym typeface="Cambria Math"/>
                  </a:rPr>
                  <a:t> </a:t>
                </a:r>
                <a:endParaRPr/>
              </a:p>
            </p:txBody>
          </p:sp>
          <p:grpSp>
            <p:nvGrpSpPr>
              <p:cNvPr id="216" name="Google Shape;216;p7"/>
              <p:cNvGrpSpPr/>
              <p:nvPr/>
            </p:nvGrpSpPr>
            <p:grpSpPr>
              <a:xfrm>
                <a:off x="2031299" y="3373600"/>
                <a:ext cx="8247905" cy="981531"/>
                <a:chOff x="2031299" y="3373600"/>
                <a:chExt cx="8247905" cy="981531"/>
              </a:xfrm>
            </p:grpSpPr>
            <p:sp>
              <p:nvSpPr>
                <p:cNvPr id="217" name="Google Shape;217;p7"/>
                <p:cNvSpPr/>
                <p:nvPr/>
              </p:nvSpPr>
              <p:spPr>
                <a:xfrm>
                  <a:off x="2031300" y="337360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>
                      <a:latin typeface="Cambria Math"/>
                      <a:ea typeface="Cambria Math"/>
                      <a:cs typeface="Cambria Math"/>
                      <a:sym typeface="Cambria Math"/>
                    </a:rPr>
                    <a:t> </a:t>
                  </a:r>
                  <a:endParaRPr/>
                </a:p>
              </p:txBody>
            </p:sp>
            <p:grpSp>
              <p:nvGrpSpPr>
                <p:cNvPr id="218" name="Google Shape;218;p7"/>
                <p:cNvGrpSpPr/>
                <p:nvPr/>
              </p:nvGrpSpPr>
              <p:grpSpPr>
                <a:xfrm>
                  <a:off x="2031299" y="3373600"/>
                  <a:ext cx="8247905" cy="981531"/>
                  <a:chOff x="-1" y="0"/>
                  <a:chExt cx="8247905" cy="981531"/>
                </a:xfrm>
              </p:grpSpPr>
              <p:sp>
                <p:nvSpPr>
                  <p:cNvPr id="219" name="Google Shape;219;p7"/>
                  <p:cNvSpPr/>
                  <p:nvPr/>
                </p:nvSpPr>
                <p:spPr>
                  <a:xfrm>
                    <a:off x="0" y="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a:t> </a:t>
                    </a:r>
                    <a:endParaRPr/>
                  </a:p>
                </p:txBody>
              </p:sp>
              <p:sp>
                <p:nvSpPr>
                  <p:cNvPr id="220" name="Google Shape;220;p7"/>
                  <p:cNvSpPr/>
                  <p:nvPr/>
                </p:nvSpPr>
                <p:spPr>
                  <a:xfrm>
                    <a:off x="-1" y="53892"/>
                    <a:ext cx="8247905" cy="927639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91425" rIns="91425" bIns="0" anchor="ctr" anchorCtr="0">
                    <a:spAutoFit/>
                  </a:bodyPr>
                  <a:lstStyle/>
                  <a:p>
                    <a:pPr marL="685800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2000">
                        <a:solidFill>
                          <a:srgbClr val="6D983E"/>
                        </a:solidFill>
                        <a:latin typeface="Verdana"/>
                        <a:ea typeface="Verdana"/>
                        <a:cs typeface="Verdana"/>
                        <a:sym typeface="Verdana"/>
                      </a:rPr>
                      <a:t>An </a:t>
                    </a:r>
                    <a:r>
                      <a:rPr lang="en-US" sz="2000" b="1" i="1">
                        <a:solidFill>
                          <a:srgbClr val="6D983E"/>
                        </a:solidFill>
                        <a:latin typeface="Verdana"/>
                        <a:ea typeface="Verdana"/>
                        <a:cs typeface="Verdana"/>
                        <a:sym typeface="Verdana"/>
                      </a:rPr>
                      <a:t>exponent</a:t>
                    </a:r>
                    <a:r>
                      <a:rPr lang="en-US" sz="2000">
                        <a:solidFill>
                          <a:srgbClr val="6D983E"/>
                        </a:solidFill>
                        <a:latin typeface="Verdana"/>
                        <a:ea typeface="Verdana"/>
                        <a:cs typeface="Verdana"/>
                        <a:sym typeface="Verdana"/>
                      </a:rPr>
                      <a:t> is the number of times the base occurs as a factor.</a:t>
                    </a:r>
                    <a:endParaRPr sz="2000">
                      <a:latin typeface="Cambria Math"/>
                      <a:ea typeface="Cambria Math"/>
                      <a:cs typeface="Cambria Math"/>
                      <a:sym typeface="Cambria Math"/>
                    </a:endParaRPr>
                  </a:p>
                </p:txBody>
              </p:sp>
            </p:grpSp>
          </p:grpSp>
        </p:grpSp>
        <p:pic>
          <p:nvPicPr>
            <p:cNvPr id="221" name="Google Shape;221;p7" descr="Icon&#10;&#10;Description automatically generated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97387" y="4886793"/>
              <a:ext cx="539261" cy="55090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222" name="Google Shape;222;p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9" name="Google Shape;229;p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0" name="Google Shape;230;p8"/>
          <p:cNvSpPr txBox="1"/>
          <p:nvPr/>
        </p:nvSpPr>
        <p:spPr>
          <a:xfrm>
            <a:off x="1080655" y="520394"/>
            <a:ext cx="9254246" cy="216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With your partner, use the definition of an exponent to complete the table.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spcBef>
                <a:spcPts val="1800"/>
              </a:spcBef>
              <a:buSzPts val="2400"/>
              <a:buFont typeface="Arial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Write each product as a repeated multiplication expression. Then, write each expression with an exponent.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31" name="Google Shape;231;p8"/>
          <p:cNvGraphicFramePr/>
          <p:nvPr>
            <p:extLst>
              <p:ext uri="{D42A27DB-BD31-4B8C-83A1-F6EECF244321}">
                <p14:modId xmlns:p14="http://schemas.microsoft.com/office/powerpoint/2010/main" val="387331004"/>
              </p:ext>
            </p:extLst>
          </p:nvPr>
        </p:nvGraphicFramePr>
        <p:xfrm>
          <a:off x="2280745" y="2843294"/>
          <a:ext cx="8054154" cy="3099050"/>
        </p:xfrm>
        <a:graphic>
          <a:graphicData uri="http://schemas.openxmlformats.org/drawingml/2006/table">
            <a:tbl>
              <a:tblPr>
                <a:noFill/>
                <a:tableStyleId>{4F3A1B50-ACC6-4689-A3D7-FD869BB5BCE0}</a:tableStyleId>
              </a:tblPr>
              <a:tblGrid>
                <a:gridCol w="156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1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6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Product</a:t>
                      </a:r>
                      <a:endParaRPr sz="2000" i="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Repeated Multiplication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Power of the form </a:t>
                      </a:r>
                      <a:r>
                        <a:rPr lang="en-US" sz="20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r>
                        <a:rPr lang="en-US" sz="2000" b="1" i="1" baseline="300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</a:t>
                      </a:r>
                      <a:endParaRPr sz="2000" i="1" u="none" strike="noStrike" cap="none" baseline="300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sz="2000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⠂2</a:t>
                      </a:r>
                      <a:r>
                        <a:rPr lang="en-US" sz="2000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sz="2000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75" marR="6857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(2 ⠂2)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⠂(2 ⠂2 ⠂2) = 2 ⠂2 ⠂2 ⠂2 ⠂2</a:t>
                      </a:r>
                      <a:endParaRPr sz="200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75" marR="6857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sz="2000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sz="2000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75" marR="6857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n-US" sz="2000" baseline="30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⠂3</a:t>
                      </a:r>
                      <a:r>
                        <a:rPr lang="en-US" sz="2000" baseline="300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sz="2000" u="none" strike="noStrike" cap="none" baseline="30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75" marR="6857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1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1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1" u="none" strike="noStrike" cap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1" u="none" strike="noStrike" cap="none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r>
                        <a:rPr lang="en-US" sz="2000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⠂5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⠂5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sz="2000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75" marR="6857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1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1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1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1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2" name="Google Shape;232;p8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1751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39" name="Google Shape;239;p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40" name="Google Shape;240;p9"/>
          <p:cNvSpPr txBox="1"/>
          <p:nvPr/>
        </p:nvSpPr>
        <p:spPr>
          <a:xfrm>
            <a:off x="1080655" y="520394"/>
            <a:ext cx="9289872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7200">
              <a:buSzPts val="2000"/>
              <a:buFont typeface="Arial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How do the exponents in the first column relate to the exponents in the last column?</a:t>
            </a:r>
            <a:endParaRPr dirty="0"/>
          </a:p>
          <a:p>
            <a:pPr marL="9144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+mj-lt"/>
              <a:buAutoNum type="alphaLcPeriod" startAt="3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What do you notice about the bases in all three columns?</a:t>
            </a:r>
            <a:endParaRPr dirty="0"/>
          </a:p>
          <a:p>
            <a:pPr marL="9144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000"/>
              <a:buFont typeface="Arial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Write a rule for the product of two exponential expressions with the same base.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41" name="Google Shape;241;p9"/>
          <p:cNvGrpSpPr/>
          <p:nvPr/>
        </p:nvGrpSpPr>
        <p:grpSpPr>
          <a:xfrm>
            <a:off x="2437311" y="4784593"/>
            <a:ext cx="7468044" cy="1673082"/>
            <a:chOff x="1063391" y="4279868"/>
            <a:chExt cx="7468044" cy="1673082"/>
          </a:xfrm>
        </p:grpSpPr>
        <p:sp>
          <p:nvSpPr>
            <p:cNvPr id="242" name="Google Shape;242;p9"/>
            <p:cNvSpPr/>
            <p:nvPr/>
          </p:nvSpPr>
          <p:spPr>
            <a:xfrm>
              <a:off x="1063391" y="4279868"/>
              <a:ext cx="7468044" cy="1673082"/>
            </a:xfrm>
            <a:prstGeom prst="roundRect">
              <a:avLst>
                <a:gd name="adj" fmla="val 16667"/>
              </a:avLst>
            </a:prstGeom>
            <a:solidFill>
              <a:srgbClr val="B8E7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685800">
                <a:lnSpc>
                  <a:spcPct val="107000"/>
                </a:lnSpc>
                <a:buClr>
                  <a:srgbClr val="00619E"/>
                </a:buClr>
                <a:buSzPts val="2000"/>
              </a:pPr>
              <a:r>
                <a:rPr lang="en-US" sz="2000" b="1" dirty="0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Product of Powers Exponent Law</a:t>
              </a:r>
              <a:endParaRPr sz="2000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685800">
                <a:lnSpc>
                  <a:spcPct val="107000"/>
                </a:lnSpc>
                <a:spcBef>
                  <a:spcPts val="800"/>
                </a:spcBef>
                <a:buClr>
                  <a:srgbClr val="00619E"/>
                </a:buClr>
                <a:buSzPts val="2000"/>
              </a:pPr>
              <a:r>
                <a:rPr lang="en-US" sz="2000" dirty="0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When multiplying two powers that have the same nonzero base, </a:t>
              </a:r>
              <a:r>
                <a:rPr lang="en-US" sz="2000" b="1" dirty="0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______</a:t>
              </a:r>
              <a:r>
                <a:rPr lang="en-US" sz="2000" b="1" u="sng" dirty="0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	</a:t>
              </a:r>
              <a:r>
                <a:rPr lang="en-US" sz="2000" dirty="0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 the exponents and keep the same base.</a:t>
              </a:r>
              <a:endParaRPr sz="2000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pic>
          <p:nvPicPr>
            <p:cNvPr id="243" name="Google Shape;243;p9" descr="Icon&#10;&#10;Description automatically generated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54125" y="4457891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244" name="Google Shape;244;p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/>
          <p:nvPr/>
        </p:nvSpPr>
        <p:spPr>
          <a:xfrm>
            <a:off x="-2375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1" name="Google Shape;251;p1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2" name="Google Shape;252;p10"/>
          <p:cNvSpPr txBox="1"/>
          <p:nvPr/>
        </p:nvSpPr>
        <p:spPr>
          <a:xfrm>
            <a:off x="1080655" y="916793"/>
            <a:ext cx="9178913" cy="410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Arial"/>
              <a:buAutoNum type="arabi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With your partner, follow the steps.</a:t>
            </a:r>
            <a:endParaRPr dirty="0"/>
          </a:p>
          <a:p>
            <a:pPr marL="914400" indent="-457200">
              <a:spcBef>
                <a:spcPts val="1800"/>
              </a:spcBef>
              <a:buSzPts val="2400"/>
              <a:buFont typeface="Arial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Determine which column you will start in, and which column your partner will start in.</a:t>
            </a:r>
            <a:endParaRPr dirty="0"/>
          </a:p>
          <a:p>
            <a:pPr marL="914400" indent="-457200">
              <a:spcBef>
                <a:spcPts val="1200"/>
              </a:spcBef>
              <a:buSzPts val="2400"/>
              <a:buFont typeface="Arial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Using the directions for your column, evaluate the expression. Your partner should use the directions in their column to evaluate the same expression.</a:t>
            </a:r>
            <a:endParaRPr dirty="0"/>
          </a:p>
          <a:p>
            <a:pPr marL="914400" indent="-457200">
              <a:spcBef>
                <a:spcPts val="1200"/>
              </a:spcBef>
              <a:buSzPts val="2400"/>
              <a:buFont typeface="Arial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Verify if your answers are the same. If not, find the error(s).</a:t>
            </a:r>
            <a:endParaRPr dirty="0"/>
          </a:p>
          <a:p>
            <a:pPr marL="914400" indent="-457200">
              <a:spcBef>
                <a:spcPts val="1200"/>
              </a:spcBef>
              <a:buSzPts val="2400"/>
              <a:buFont typeface="Arial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After each problem, switch columns.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0" name="Google Shape;260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61" name="Google Shape;261;p11"/>
          <p:cNvSpPr txBox="1"/>
          <p:nvPr/>
        </p:nvSpPr>
        <p:spPr>
          <a:xfrm>
            <a:off x="1080655" y="520394"/>
            <a:ext cx="92542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first expression has been evaluated.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62" name="Google Shape;262;p11"/>
          <p:cNvGraphicFramePr/>
          <p:nvPr>
            <p:extLst>
              <p:ext uri="{D42A27DB-BD31-4B8C-83A1-F6EECF244321}">
                <p14:modId xmlns:p14="http://schemas.microsoft.com/office/powerpoint/2010/main" val="771398803"/>
              </p:ext>
            </p:extLst>
          </p:nvPr>
        </p:nvGraphicFramePr>
        <p:xfrm>
          <a:off x="1621794" y="1170198"/>
          <a:ext cx="7815900" cy="5359164"/>
        </p:xfrm>
        <a:graphic>
          <a:graphicData uri="http://schemas.openxmlformats.org/drawingml/2006/table">
            <a:tbl>
              <a:tblPr>
                <a:noFill/>
                <a:tableStyleId>{4F3A1B50-ACC6-4689-A3D7-FD869BB5BCE0}</a:tableStyleId>
              </a:tblPr>
              <a:tblGrid>
                <a:gridCol w="390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68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Evaluate each power, </a:t>
                      </a:r>
                      <a:b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then multiply.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Apply the product of powers exponent law, then evaluate the power.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0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  <a:r>
                        <a:rPr lang="en-US" sz="2000" b="1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⠂7</a:t>
                      </a:r>
                      <a:r>
                        <a:rPr lang="en-US" sz="2000" b="1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sz="2000" b="1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9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0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r>
                        <a:rPr lang="en-US" sz="2000" b="1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⠂6</a:t>
                      </a:r>
                      <a:r>
                        <a:rPr lang="en-US" sz="2000" b="1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sz="2000" b="1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3" name="Google Shape;263;p11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0" name="Google Shape;270;p1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graphicFrame>
        <p:nvGraphicFramePr>
          <p:cNvPr id="271" name="Google Shape;271;p12"/>
          <p:cNvGraphicFramePr/>
          <p:nvPr>
            <p:extLst>
              <p:ext uri="{D42A27DB-BD31-4B8C-83A1-F6EECF244321}">
                <p14:modId xmlns:p14="http://schemas.microsoft.com/office/powerpoint/2010/main" val="2568367062"/>
              </p:ext>
            </p:extLst>
          </p:nvPr>
        </p:nvGraphicFramePr>
        <p:xfrm>
          <a:off x="2188050" y="1842512"/>
          <a:ext cx="7815900" cy="3172975"/>
        </p:xfrm>
        <a:graphic>
          <a:graphicData uri="http://schemas.openxmlformats.org/drawingml/2006/table">
            <a:tbl>
              <a:tblPr>
                <a:noFill/>
                <a:tableStyleId>{4F3A1B50-ACC6-4689-A3D7-FD869BB5BCE0}</a:tableStyleId>
              </a:tblPr>
              <a:tblGrid>
                <a:gridCol w="390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Evaluate each power, </a:t>
                      </a:r>
                      <a:b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then multiply.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Apply the product of powers exponent law, then evaluate the power.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(-8)</a:t>
                      </a:r>
                      <a:r>
                        <a:rPr lang="en-US" sz="2000" b="1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⠂(-8)</a:t>
                      </a:r>
                      <a:r>
                        <a:rPr lang="en-US" sz="2000" b="1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sz="2000" b="1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2" name="Google Shape;272;p12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211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80" name="Google Shape;280;p13"/>
          <p:cNvSpPr txBox="1"/>
          <p:nvPr/>
        </p:nvSpPr>
        <p:spPr>
          <a:xfrm>
            <a:off x="2007765" y="520394"/>
            <a:ext cx="8327136" cy="532453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731" t="-684" b="-102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3385058" y="5025951"/>
            <a:ext cx="1191260" cy="1195221"/>
          </a:xfrm>
          <a:prstGeom prst="roundRect">
            <a:avLst>
              <a:gd name="adj" fmla="val 16667"/>
            </a:avLst>
          </a:prstGeom>
          <a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-2512"/>
            </a:stretch>
          </a:blip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8889924" y="647824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6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/>
          <p:nvPr/>
        </p:nvSpPr>
        <p:spPr>
          <a:xfrm>
            <a:off x="0" y="-16881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89" name="Google Shape;289;p1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0" name="Google Shape;290;p14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91" name="Google Shape;291;p14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92" name="Google Shape;292;p14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6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 dirty="0"/>
          </a:p>
        </p:txBody>
      </p:sp>
      <p:pic>
        <p:nvPicPr>
          <p:cNvPr id="299" name="Google Shape;299;p1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49332" y="6327054"/>
            <a:ext cx="342668" cy="54115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00" name="Google Shape;300;p15"/>
          <p:cNvSpPr txBox="1"/>
          <p:nvPr/>
        </p:nvSpPr>
        <p:spPr>
          <a:xfrm>
            <a:off x="1652850" y="123299"/>
            <a:ext cx="875297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8.1.3 Exploration: Power of a Product Exponent Law</a:t>
            </a:r>
            <a:endParaRPr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1" name="Google Shape;301;p15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1272" y="311422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02" name="Google Shape;302;p15"/>
          <p:cNvSpPr txBox="1"/>
          <p:nvPr/>
        </p:nvSpPr>
        <p:spPr>
          <a:xfrm>
            <a:off x="1935678" y="1448999"/>
            <a:ext cx="8603472" cy="224676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706" t="-1625" r="-1485" b="-379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3" name="Google Shape;303;p15"/>
              <p:cNvGraphicFramePr/>
              <p:nvPr>
                <p:extLst>
                  <p:ext uri="{D42A27DB-BD31-4B8C-83A1-F6EECF244321}">
                    <p14:modId xmlns:p14="http://schemas.microsoft.com/office/powerpoint/2010/main" val="1235461648"/>
                  </p:ext>
                </p:extLst>
              </p:nvPr>
            </p:nvGraphicFramePr>
            <p:xfrm>
              <a:off x="1792224" y="3858997"/>
              <a:ext cx="8607552" cy="2661593"/>
            </p:xfrm>
            <a:graphic>
              <a:graphicData uri="http://schemas.openxmlformats.org/drawingml/2006/table">
                <a:tbl>
                  <a:tblPr>
                    <a:noFill/>
                    <a:tableStyleId>{4F3A1B50-ACC6-4689-A3D7-FD869BB5BCE0}</a:tableStyleId>
                  </a:tblPr>
                  <a:tblGrid>
                    <a:gridCol w="14411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822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7637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78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784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i="0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Power</a:t>
                          </a:r>
                          <a:endParaRPr sz="2000" b="1" i="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i="0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of a Product</a:t>
                          </a:r>
                          <a:endParaRPr sz="2000" b="1" i="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i="0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Repeated Multiplication</a:t>
                          </a:r>
                          <a:endParaRPr sz="2000" b="1" i="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i="0" u="none" strike="noStrike" cap="none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Group Repeated Factors</a:t>
                          </a:r>
                          <a:endParaRPr sz="2000" b="1" i="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Power of the form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ea typeface="Verdana"/>
                                  <a:cs typeface="Verdana"/>
                                  <a:sym typeface="Verdana"/>
                                </a:rPr>
                                <m:t>𝒂</m:t>
                              </m:r>
                              <m:r>
                                <a:rPr lang="en-US" sz="2000" b="1" i="1" baseline="30000" dirty="0" err="1">
                                  <a:latin typeface="Cambria Math" panose="02040503050406030204" pitchFamily="18" charset="0"/>
                                  <a:ea typeface="Verdana"/>
                                  <a:cs typeface="Verdana"/>
                                  <a:sym typeface="Verdana"/>
                                </a:rPr>
                                <m:t>𝒎</m:t>
                              </m:r>
                              <m:r>
                                <a:rPr lang="en-US" sz="2000" b="1" i="1" dirty="0" err="1">
                                  <a:latin typeface="Cambria Math" panose="02040503050406030204" pitchFamily="18" charset="0"/>
                                  <a:ea typeface="Verdana"/>
                                  <a:cs typeface="Verdana"/>
                                  <a:sym typeface="Verdana"/>
                                </a:rPr>
                                <m:t>⠂</m:t>
                              </m:r>
                              <m:r>
                                <a:rPr lang="en-US" sz="2000" b="1" i="1" dirty="0" err="1">
                                  <a:latin typeface="Cambria Math" panose="02040503050406030204" pitchFamily="18" charset="0"/>
                                  <a:ea typeface="Verdana"/>
                                  <a:cs typeface="Verdana"/>
                                  <a:sym typeface="Verdana"/>
                                </a:rPr>
                                <m:t>𝒃𝒏</m:t>
                              </m:r>
                            </m:oMath>
                          </a14:m>
                          <a:endParaRPr sz="2000" b="1" i="1" u="none" strike="noStrike" cap="none" baseline="30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242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(2 ⠂3)</a:t>
                          </a:r>
                          <a:r>
                            <a:rPr lang="en-US" sz="2000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endParaRPr sz="2000" u="none" strike="noStrike" cap="none" baseline="30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(2</a:t>
                          </a:r>
                          <a:r>
                            <a:rPr lang="en-US" sz="2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⠂3) ⠂(2 ⠂3) ⠂(2 ⠂3)</a:t>
                          </a:r>
                          <a:endParaRPr sz="2000" u="none" strike="noStrike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(2</a:t>
                          </a:r>
                          <a:r>
                            <a:rPr lang="en-US" sz="2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⠂2 ⠂2) ⠂(3 ⠂3 ⠂3)</a:t>
                          </a:r>
                          <a:endParaRPr sz="2000" u="none" strike="noStrike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r>
                            <a:rPr lang="en-US" sz="2000" baseline="3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r>
                            <a:rPr lang="en-US" sz="2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⠂3</a:t>
                          </a:r>
                          <a:r>
                            <a:rPr lang="en-US" sz="2000" baseline="30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endParaRPr sz="2000" u="none" strike="noStrike" cap="none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22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(6</a:t>
                          </a:r>
                          <a:r>
                            <a:rPr lang="en-US" sz="2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⠂5)</a:t>
                          </a:r>
                          <a:r>
                            <a:rPr lang="en-US" sz="2000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  <a:endParaRPr sz="2000" u="none" strike="noStrike" cap="none" baseline="30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33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(10</a:t>
                          </a:r>
                          <a:r>
                            <a:rPr lang="en-US" sz="2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⠂4)</a:t>
                          </a:r>
                          <a:r>
                            <a:rPr lang="en-US" sz="2000" baseline="30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endParaRPr sz="2000" u="none" strike="noStrike" cap="none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3" name="Google Shape;303;p15"/>
              <p:cNvGraphicFramePr/>
              <p:nvPr>
                <p:extLst>
                  <p:ext uri="{D42A27DB-BD31-4B8C-83A1-F6EECF244321}">
                    <p14:modId xmlns:p14="http://schemas.microsoft.com/office/powerpoint/2010/main" val="1235461648"/>
                  </p:ext>
                </p:extLst>
              </p:nvPr>
            </p:nvGraphicFramePr>
            <p:xfrm>
              <a:off x="1792224" y="3858997"/>
              <a:ext cx="8607552" cy="2651623"/>
            </p:xfrm>
            <a:graphic>
              <a:graphicData uri="http://schemas.openxmlformats.org/drawingml/2006/table">
                <a:tbl>
                  <a:tblPr>
                    <a:noFill/>
                    <a:tableStyleId>{4F3A1B50-ACC6-4689-A3D7-FD869BB5BCE0}</a:tableStyleId>
                  </a:tblPr>
                  <a:tblGrid>
                    <a:gridCol w="14411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822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7637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78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784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i="0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Power</a:t>
                          </a:r>
                          <a:endParaRPr sz="2000" b="1" i="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i="0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of a Product</a:t>
                          </a:r>
                          <a:endParaRPr sz="2000" b="1" i="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i="0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Repeated Multiplication</a:t>
                          </a:r>
                          <a:endParaRPr sz="2000" b="1" i="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i="0" u="none" strike="noStrike" cap="none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Group Repeated Factors</a:t>
                          </a:r>
                          <a:endParaRPr sz="2000" b="1" i="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6"/>
                          <a:stretch>
                            <a:fillRect l="-435606" t="-7453" r="-1515" b="-1726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242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(2 ⠂3)</a:t>
                          </a:r>
                          <a:r>
                            <a:rPr lang="en-US" sz="2000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endParaRPr sz="2000" u="none" strike="noStrike" cap="none" baseline="30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(2</a:t>
                          </a:r>
                          <a:r>
                            <a:rPr lang="en-US" sz="2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⠂3) ⠂(2 ⠂3) ⠂(2 ⠂3)</a:t>
                          </a:r>
                          <a:endParaRPr sz="2000" u="none" strike="noStrike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(2</a:t>
                          </a:r>
                          <a:r>
                            <a:rPr lang="en-US" sz="2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⠂2 ⠂2) ⠂(3 ⠂3 ⠂3)</a:t>
                          </a:r>
                          <a:endParaRPr sz="2000" u="none" strike="noStrike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r>
                            <a:rPr lang="en-US" sz="2000" baseline="3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r>
                            <a:rPr lang="en-US" sz="2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⠂3</a:t>
                          </a:r>
                          <a:r>
                            <a:rPr lang="en-US" sz="2000" baseline="30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endParaRPr sz="2000" u="none" strike="noStrike" cap="none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22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(6</a:t>
                          </a:r>
                          <a:r>
                            <a:rPr lang="en-US" sz="2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⠂5)</a:t>
                          </a:r>
                          <a:r>
                            <a:rPr lang="en-US" sz="2000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  <a:endParaRPr sz="2000" u="none" strike="noStrike" cap="none" baseline="30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8523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(10</a:t>
                          </a:r>
                          <a:r>
                            <a:rPr lang="en-US" sz="2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⠂4)</a:t>
                          </a:r>
                          <a:r>
                            <a:rPr lang="en-US" sz="2000" baseline="300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endParaRPr sz="2000" u="none" strike="noStrike" cap="none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4" name="Google Shape;304;p15"/>
          <p:cNvSpPr txBox="1"/>
          <p:nvPr/>
        </p:nvSpPr>
        <p:spPr>
          <a:xfrm>
            <a:off x="8889924" y="646801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11" name="Google Shape;311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12" name="Google Shape;312;p16"/>
          <p:cNvSpPr txBox="1"/>
          <p:nvPr/>
        </p:nvSpPr>
        <p:spPr>
          <a:xfrm>
            <a:off x="1650669" y="520393"/>
            <a:ext cx="8684231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7200">
              <a:buSzPts val="2400"/>
              <a:buFont typeface="Arial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How does the base in the first column relate to the bases in the last column?</a:t>
            </a:r>
            <a:endParaRPr dirty="0"/>
          </a:p>
          <a:p>
            <a:pPr marL="9144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400"/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How does the exponent in the first column relate to the exponents in the last column?</a:t>
            </a:r>
            <a:endParaRPr dirty="0"/>
          </a:p>
          <a:p>
            <a:pPr marL="9144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400"/>
              <a:buFont typeface="Arial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Write a rule for the power of a product.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0" name="Google Shape;320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5751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1" name="Google Shape;321;p17"/>
          <p:cNvSpPr txBox="1"/>
          <p:nvPr/>
        </p:nvSpPr>
        <p:spPr>
          <a:xfrm>
            <a:off x="1757548" y="520393"/>
            <a:ext cx="8577353" cy="594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400"/>
              <a:buFont typeface="Arial"/>
              <a:buAutoNum type="arabi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With your partner, follow the steps.</a:t>
            </a:r>
            <a:endParaRPr dirty="0"/>
          </a:p>
          <a:p>
            <a:pPr marL="914400" indent="-457200">
              <a:spcBef>
                <a:spcPts val="1200"/>
              </a:spcBef>
              <a:buSzPts val="2400"/>
              <a:buFont typeface="Arial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Determine which column you will start in, and which column your partner will start in.</a:t>
            </a:r>
            <a:endParaRPr dirty="0"/>
          </a:p>
          <a:p>
            <a:pPr marL="914400" indent="-457200">
              <a:spcBef>
                <a:spcPts val="1200"/>
              </a:spcBef>
              <a:buSzPts val="2400"/>
              <a:buFont typeface="Arial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Using the directions for your column, evaluate the expression. Your partner should use the directions in their column to evaluate the same expression.</a:t>
            </a:r>
            <a:endParaRPr dirty="0"/>
          </a:p>
          <a:p>
            <a:pPr marL="914400" indent="-457200">
              <a:spcBef>
                <a:spcPts val="1200"/>
              </a:spcBef>
              <a:buSzPts val="2400"/>
              <a:buFont typeface="Arial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Verify if your answers are the same. If not, find the error(s).</a:t>
            </a:r>
            <a:endParaRPr dirty="0"/>
          </a:p>
          <a:p>
            <a:pPr marL="914400" indent="-457200">
              <a:spcBef>
                <a:spcPts val="1200"/>
              </a:spcBef>
              <a:buSzPts val="2400"/>
              <a:buFont typeface="Arial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After each problem, switch columns.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22" name="Google Shape;322;p17"/>
          <p:cNvGrpSpPr/>
          <p:nvPr/>
        </p:nvGrpSpPr>
        <p:grpSpPr>
          <a:xfrm>
            <a:off x="2007765" y="548016"/>
            <a:ext cx="8327136" cy="1308727"/>
            <a:chOff x="1226185" y="2818447"/>
            <a:chExt cx="8327136" cy="1308727"/>
          </a:xfrm>
        </p:grpSpPr>
        <p:sp>
          <p:nvSpPr>
            <p:cNvPr id="323" name="Google Shape;323;p17"/>
            <p:cNvSpPr/>
            <p:nvPr/>
          </p:nvSpPr>
          <p:spPr>
            <a:xfrm>
              <a:off x="1226185" y="2818447"/>
              <a:ext cx="8327136" cy="1308727"/>
            </a:xfrm>
            <a:prstGeom prst="roundRect">
              <a:avLst>
                <a:gd name="adj" fmla="val 16667"/>
              </a:avLst>
            </a:prstGeom>
            <a:solidFill>
              <a:srgbClr val="B8E6F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685800">
                <a:lnSpc>
                  <a:spcPct val="107000"/>
                </a:lnSpc>
                <a:buClr>
                  <a:srgbClr val="00619E"/>
                </a:buClr>
                <a:buSzPts val="2000"/>
              </a:pPr>
              <a:r>
                <a:rPr lang="en-US" sz="2000" b="1" dirty="0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Power of a Product Exponent Law</a:t>
              </a:r>
              <a:endParaRPr sz="2000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685800">
                <a:lnSpc>
                  <a:spcPct val="107000"/>
                </a:lnSpc>
                <a:spcBef>
                  <a:spcPts val="800"/>
                </a:spcBef>
                <a:buClr>
                  <a:srgbClr val="00619E"/>
                </a:buClr>
                <a:buSzPts val="2000"/>
              </a:pPr>
              <a:r>
                <a:rPr lang="en-US" sz="2000" dirty="0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When raising a product to a power, distribute the power to each factor.</a:t>
              </a:r>
              <a:endParaRPr sz="2000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pic>
          <p:nvPicPr>
            <p:cNvPr id="324" name="Google Shape;324;p17" descr="Icon&#10;&#10;Description automatically generated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97000" y="2952384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325" name="Google Shape;325;p17"/>
          <p:cNvSpPr txBox="1"/>
          <p:nvPr/>
        </p:nvSpPr>
        <p:spPr>
          <a:xfrm>
            <a:off x="891929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32" name="Google Shape;332;p1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19026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3" name="Google Shape;333;p18"/>
          <p:cNvSpPr txBox="1"/>
          <p:nvPr/>
        </p:nvSpPr>
        <p:spPr>
          <a:xfrm>
            <a:off x="1745673" y="520394"/>
            <a:ext cx="85892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first expression has been evaluated.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34" name="Google Shape;334;p18"/>
          <p:cNvGraphicFramePr/>
          <p:nvPr>
            <p:extLst>
              <p:ext uri="{D42A27DB-BD31-4B8C-83A1-F6EECF244321}">
                <p14:modId xmlns:p14="http://schemas.microsoft.com/office/powerpoint/2010/main" val="3407940325"/>
              </p:ext>
            </p:extLst>
          </p:nvPr>
        </p:nvGraphicFramePr>
        <p:xfrm>
          <a:off x="2120557" y="1090122"/>
          <a:ext cx="7815900" cy="5412366"/>
        </p:xfrm>
        <a:graphic>
          <a:graphicData uri="http://schemas.openxmlformats.org/drawingml/2006/table">
            <a:tbl>
              <a:tblPr>
                <a:noFill/>
                <a:tableStyleId>{4F3A1B50-ACC6-4689-A3D7-FD869BB5BCE0}</a:tableStyleId>
              </a:tblPr>
              <a:tblGrid>
                <a:gridCol w="390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Evaluate inside the parentheses, then apply the exponent.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Apply the power of a product exponent law, then evaluate the power.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(-5</a:t>
                      </a: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⠂6)</a:t>
                      </a:r>
                      <a:r>
                        <a:rPr lang="en-US" sz="2000" b="1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sz="2000" b="1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(-5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⠂6)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sz="2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(-30)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sz="2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(-30) ⠂(-30)</a:t>
                      </a:r>
                      <a:endParaRPr sz="2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900</a:t>
                      </a:r>
                      <a:endParaRPr sz="2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(-5 ⠂6)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sz="2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(-5)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⠂6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sz="2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25 ⠂36</a:t>
                      </a:r>
                      <a:endParaRPr sz="2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900</a:t>
                      </a:r>
                      <a:endParaRPr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(-6</a:t>
                      </a: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⠂4)</a:t>
                      </a:r>
                      <a:r>
                        <a:rPr lang="en-US" sz="2000" b="1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sz="2000" b="1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5" name="Google Shape;335;p18"/>
          <p:cNvSpPr txBox="1"/>
          <p:nvPr/>
        </p:nvSpPr>
        <p:spPr>
          <a:xfrm>
            <a:off x="8889924" y="644734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6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42" name="Google Shape;342;p1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graphicFrame>
        <p:nvGraphicFramePr>
          <p:cNvPr id="343" name="Google Shape;343;p19"/>
          <p:cNvGraphicFramePr/>
          <p:nvPr>
            <p:extLst>
              <p:ext uri="{D42A27DB-BD31-4B8C-83A1-F6EECF244321}">
                <p14:modId xmlns:p14="http://schemas.microsoft.com/office/powerpoint/2010/main" val="3888252847"/>
              </p:ext>
            </p:extLst>
          </p:nvPr>
        </p:nvGraphicFramePr>
        <p:xfrm>
          <a:off x="2188050" y="1884062"/>
          <a:ext cx="7815900" cy="3081525"/>
        </p:xfrm>
        <a:graphic>
          <a:graphicData uri="http://schemas.openxmlformats.org/drawingml/2006/table">
            <a:tbl>
              <a:tblPr>
                <a:noFill/>
                <a:tableStyleId>{4F3A1B50-ACC6-4689-A3D7-FD869BB5BCE0}</a:tableStyleId>
              </a:tblPr>
              <a:tblGrid>
                <a:gridCol w="390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Evaluate inside the parentheses, then apply the exponent.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Apply the power of a product exponent law, then evaluate the power.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(-3 ⠂-2)</a:t>
                      </a:r>
                      <a:r>
                        <a:rPr lang="en-US" sz="2000" b="1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  <a:endParaRPr sz="2000" b="1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4" name="Google Shape;344;p1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6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51" name="Google Shape;351;p2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52" name="Google Shape;352;p20"/>
          <p:cNvSpPr txBox="1"/>
          <p:nvPr/>
        </p:nvSpPr>
        <p:spPr>
          <a:xfrm>
            <a:off x="1932432" y="619248"/>
            <a:ext cx="8327136" cy="501675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731" t="-728" r="-144" b="-12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3029852" y="4815342"/>
            <a:ext cx="1628775" cy="1134110"/>
          </a:xfrm>
          <a:prstGeom prst="roundRect">
            <a:avLst>
              <a:gd name="adj" fmla="val 16667"/>
            </a:avLst>
          </a:prstGeom>
          <a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-36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354" name="Google Shape;354;p20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7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61" name="Google Shape;361;p2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62" name="Google Shape;362;p21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63" name="Google Shape;363;p21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64" name="Google Shape;364;p21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71" name="Google Shape;371;p2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72" name="Google Shape;372;p22"/>
          <p:cNvSpPr txBox="1"/>
          <p:nvPr/>
        </p:nvSpPr>
        <p:spPr>
          <a:xfrm>
            <a:off x="1757548" y="131096"/>
            <a:ext cx="859199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8.1.4 Exploration: Power of a Power Exponent Law</a:t>
            </a:r>
            <a:endParaRPr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73" name="Google Shape;373;p22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0596" y="347048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74" name="Google Shape;374;p22"/>
          <p:cNvSpPr txBox="1"/>
          <p:nvPr/>
        </p:nvSpPr>
        <p:spPr>
          <a:xfrm>
            <a:off x="2022410" y="1512480"/>
            <a:ext cx="8327136" cy="501675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731" t="-728" b="-12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5" name="Google Shape;375;p22"/>
              <p:cNvGraphicFramePr/>
              <p:nvPr>
                <p:extLst>
                  <p:ext uri="{D42A27DB-BD31-4B8C-83A1-F6EECF244321}">
                    <p14:modId xmlns:p14="http://schemas.microsoft.com/office/powerpoint/2010/main" val="3911253217"/>
                  </p:ext>
                </p:extLst>
              </p:nvPr>
            </p:nvGraphicFramePr>
            <p:xfrm>
              <a:off x="3139496" y="3459414"/>
              <a:ext cx="6400800" cy="2000175"/>
            </p:xfrm>
            <a:graphic>
              <a:graphicData uri="http://schemas.openxmlformats.org/drawingml/2006/table">
                <a:tbl>
                  <a:tblPr>
                    <a:noFill/>
                    <a:tableStyleId>{4F3A1B50-ACC6-4689-A3D7-FD869BB5BCE0}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437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i="0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Power of a Power</a:t>
                          </a:r>
                          <a:endParaRPr sz="2000" i="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i="0" u="none" strike="noStrike" cap="none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Repeated Multiplication</a:t>
                          </a:r>
                          <a:endParaRPr sz="2000" i="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Power of the Form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/>
                                  <a:sym typeface="Verdana"/>
                                </a:rPr>
                                <m:t>𝒂</m:t>
                              </m:r>
                              <m:r>
                                <a:rPr lang="en-US" sz="2000" b="1" i="1" baseline="300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/>
                                  <a:sym typeface="Verdana"/>
                                </a:rPr>
                                <m:t>𝒎</m:t>
                              </m:r>
                            </m:oMath>
                          </a14:m>
                          <a:endParaRPr sz="2000" b="1" i="1" u="none" strike="noStrike" cap="none" baseline="30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75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(4</a:t>
                          </a:r>
                          <a:r>
                            <a:rPr lang="en-US" sz="2000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  <a:r>
                            <a:rPr lang="en-US" sz="2000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endParaRPr sz="2000" u="none" strike="noStrike" cap="none" baseline="30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  <a:r>
                            <a:rPr lang="en-US" sz="2000" b="1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r>
                            <a:rPr lang="en-US" sz="2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⠂4</a:t>
                          </a:r>
                          <a:r>
                            <a:rPr lang="en-US" sz="2000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r>
                            <a:rPr lang="en-US" sz="2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⠂4</a:t>
                          </a:r>
                          <a:r>
                            <a:rPr lang="en-US" sz="2000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endParaRPr sz="2000" u="none" strike="noStrike" cap="none" baseline="30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  <a:r>
                            <a:rPr lang="en-US" sz="2000" baseline="3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6</a:t>
                          </a:r>
                          <a:endParaRPr sz="2000" u="none" strike="noStrike" cap="none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75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(10</m:t>
                                </m:r>
                                <m:r>
                                  <a:rPr lang="en-US" sz="2000" i="1" baseline="30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2000" i="1" baseline="30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sz="2000" u="none" strike="noStrike" cap="none" baseline="30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132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(3</a:t>
                          </a:r>
                          <a:r>
                            <a:rPr lang="en-US" sz="2000" baseline="3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  <a:r>
                            <a:rPr lang="en-US" sz="2000" baseline="3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  <a:endParaRPr sz="2000" u="none" strike="noStrike" cap="none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5" name="Google Shape;375;p22"/>
              <p:cNvGraphicFramePr/>
              <p:nvPr>
                <p:extLst>
                  <p:ext uri="{D42A27DB-BD31-4B8C-83A1-F6EECF244321}">
                    <p14:modId xmlns:p14="http://schemas.microsoft.com/office/powerpoint/2010/main" val="3911253217"/>
                  </p:ext>
                </p:extLst>
              </p:nvPr>
            </p:nvGraphicFramePr>
            <p:xfrm>
              <a:off x="3139496" y="3459414"/>
              <a:ext cx="6400800" cy="2000175"/>
            </p:xfrm>
            <a:graphic>
              <a:graphicData uri="http://schemas.openxmlformats.org/drawingml/2006/table">
                <a:tbl>
                  <a:tblPr>
                    <a:noFill/>
                    <a:tableStyleId>{4F3A1B50-ACC6-4689-A3D7-FD869BB5BCE0}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437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i="0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Power of a Power</a:t>
                          </a:r>
                          <a:endParaRPr sz="2000" i="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i="0" u="none" strike="noStrike" cap="none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Repeated Multiplication</a:t>
                          </a:r>
                          <a:endParaRPr sz="2000" i="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6"/>
                          <a:stretch>
                            <a:fillRect l="-180800" t="-3279" r="-800" b="-18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75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(4</a:t>
                          </a:r>
                          <a:r>
                            <a:rPr lang="en-US" sz="2000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  <a:r>
                            <a:rPr lang="en-US" sz="2000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endParaRPr sz="2000" u="none" strike="noStrike" cap="none" baseline="30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  <a:r>
                            <a:rPr lang="en-US" sz="2000" b="1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r>
                            <a:rPr lang="en-US" sz="2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⠂4</a:t>
                          </a:r>
                          <a:r>
                            <a:rPr lang="en-US" sz="2000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r>
                            <a:rPr lang="en-US" sz="2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⠂4</a:t>
                          </a:r>
                          <a:r>
                            <a:rPr lang="en-US" sz="2000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endParaRPr sz="2000" u="none" strike="noStrike" cap="none" baseline="30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  <a:r>
                            <a:rPr lang="en-US" sz="2000" baseline="3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6</a:t>
                          </a:r>
                          <a:endParaRPr sz="2000" u="none" strike="noStrike" cap="none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7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6"/>
                          <a:stretch>
                            <a:fillRect l="-667" t="-282609" r="-251333" b="-1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132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(3</a:t>
                          </a:r>
                          <a:r>
                            <a:rPr lang="en-US" sz="2000" baseline="3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  <a:r>
                            <a:rPr lang="en-US" sz="2000" baseline="3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  <a:endParaRPr sz="2000" u="none" strike="noStrike" cap="none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i="1" u="none" strike="noStrike" cap="none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i="1" u="none" strike="noStrike" cap="none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6" name="Google Shape;376;p22"/>
          <p:cNvSpPr txBox="1"/>
          <p:nvPr/>
        </p:nvSpPr>
        <p:spPr>
          <a:xfrm>
            <a:off x="88899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83" name="Google Shape;383;p2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84" name="Google Shape;384;p23"/>
          <p:cNvSpPr txBox="1"/>
          <p:nvPr/>
        </p:nvSpPr>
        <p:spPr>
          <a:xfrm>
            <a:off x="2007765" y="520393"/>
            <a:ext cx="8327136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Arial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Two different methods for evaluating expressions with exponents are illustrated in the table. With your partner, follow the steps.</a:t>
            </a:r>
            <a:endParaRPr dirty="0"/>
          </a:p>
          <a:p>
            <a:pPr marL="914400" indent="-457200">
              <a:spcBef>
                <a:spcPts val="1200"/>
              </a:spcBef>
              <a:buSzPts val="2400"/>
              <a:buFont typeface="Arial"/>
              <a:buChar char="•"/>
            </a:pPr>
            <a:r>
              <a:rPr lang="en-US" sz="2400" dirty="0">
                <a:solidFill>
                  <a:srgbClr val="32333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  <a:r>
              <a:rPr lang="en-US" sz="2400" b="0" i="0" dirty="0">
                <a:solidFill>
                  <a:srgbClr val="32333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etermine which column you will start in, and which column your partner will start in.</a:t>
            </a:r>
            <a:endParaRPr lang="en-US" sz="3200" b="0" i="0" dirty="0">
              <a:solidFill>
                <a:srgbClr val="323338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Bef>
                <a:spcPts val="1200"/>
              </a:spcBef>
              <a:buSzPts val="2400"/>
              <a:buFont typeface="Arial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After finding the value of each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expression, verify your answers are the same. If not, find the error(s).</a:t>
            </a:r>
            <a:endParaRPr dirty="0"/>
          </a:p>
          <a:p>
            <a:pPr marL="914400" indent="-457200">
              <a:spcBef>
                <a:spcPts val="1200"/>
              </a:spcBef>
              <a:buSzPts val="2400"/>
              <a:buFont typeface="Arial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After each problem, swap columns so that you and your partner are practicing both methods.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5" name="Google Shape;385;p23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4"/>
          <p:cNvSpPr/>
          <p:nvPr/>
        </p:nvSpPr>
        <p:spPr>
          <a:xfrm>
            <a:off x="-7005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92" name="Google Shape;392;p2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graphicFrame>
        <p:nvGraphicFramePr>
          <p:cNvPr id="393" name="Google Shape;393;p24"/>
          <p:cNvGraphicFramePr/>
          <p:nvPr>
            <p:extLst>
              <p:ext uri="{D42A27DB-BD31-4B8C-83A1-F6EECF244321}">
                <p14:modId xmlns:p14="http://schemas.microsoft.com/office/powerpoint/2010/main" val="791728454"/>
              </p:ext>
            </p:extLst>
          </p:nvPr>
        </p:nvGraphicFramePr>
        <p:xfrm>
          <a:off x="2582380" y="520393"/>
          <a:ext cx="7315200" cy="6190160"/>
        </p:xfrm>
        <a:graphic>
          <a:graphicData uri="http://schemas.openxmlformats.org/drawingml/2006/table">
            <a:tbl>
              <a:tblPr>
                <a:noFill/>
                <a:tableStyleId>{4F3A1B50-ACC6-4689-A3D7-FD869BB5BCE0}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Example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Method 1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Method 2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325"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AutoNum type="alphaLcPeriod"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[ (-2)</a:t>
                      </a:r>
                      <a:r>
                        <a:rPr lang="en-US" sz="2000" b="1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 </a:t>
                      </a: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] </a:t>
                      </a:r>
                      <a:r>
                        <a:rPr lang="en-US" sz="2000" b="1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sz="2000" b="1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6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[ (-2)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 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] 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sz="2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(16)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sz="2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16 ⠂16</a:t>
                      </a:r>
                      <a:endParaRPr sz="2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256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[ (-2)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 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] 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sz="2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(-2)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 ⠂2</a:t>
                      </a:r>
                      <a:endParaRPr sz="2000" baseline="30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(-2)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  <a:endParaRPr sz="2000" baseline="30000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256</a:t>
                      </a:r>
                      <a:endParaRPr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325">
                <a:tc>
                  <a:txBody>
                    <a:bodyPr/>
                    <a:lstStyle/>
                    <a:p>
                      <a:pPr marL="457200" marR="0" lvl="0" indent="-45720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AutoNum type="alphaLcPeriod" startAt="2"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[ (-6)</a:t>
                      </a:r>
                      <a:r>
                        <a:rPr lang="en-US" sz="2000" b="1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 </a:t>
                      </a: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] </a:t>
                      </a:r>
                      <a:r>
                        <a:rPr lang="en-US" sz="2000" b="1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  <a:endParaRPr sz="2000" b="1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a:t> </a:t>
                      </a:r>
                      <a:endParaRPr sz="2000" u="none" strike="noStrike" cap="none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a:t> </a:t>
                      </a:r>
                      <a:endParaRPr sz="200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325">
                <a:tc>
                  <a:txBody>
                    <a:bodyPr/>
                    <a:lstStyle/>
                    <a:p>
                      <a:pPr marL="457200" marR="0" lvl="0" indent="-45720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AutoNum type="alphaLcPeriod" startAt="3"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[ (-10)</a:t>
                      </a:r>
                      <a:r>
                        <a:rPr lang="en-US" sz="2000" b="1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 </a:t>
                      </a: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] </a:t>
                      </a:r>
                      <a:r>
                        <a:rPr lang="en-US" sz="2000" b="1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sz="2000" b="1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a:t> </a:t>
                      </a:r>
                      <a:endParaRPr sz="2000" u="none" strike="noStrike" cap="none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a:t> </a:t>
                      </a:r>
                      <a:endParaRPr sz="200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4" name="Google Shape;394;p24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5"/>
          <p:cNvSpPr/>
          <p:nvPr/>
        </p:nvSpPr>
        <p:spPr>
          <a:xfrm>
            <a:off x="-11875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01" name="Google Shape;401;p2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02" name="Google Shape;402;p25"/>
          <p:cNvSpPr txBox="1"/>
          <p:nvPr/>
        </p:nvSpPr>
        <p:spPr>
          <a:xfrm>
            <a:off x="2007765" y="520394"/>
            <a:ext cx="8327136" cy="346800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096" t="-1755" b="-298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403" name="Google Shape;403;p25"/>
          <p:cNvSpPr/>
          <p:nvPr/>
        </p:nvSpPr>
        <p:spPr>
          <a:xfrm>
            <a:off x="3958724" y="3099453"/>
            <a:ext cx="1778463" cy="1413792"/>
          </a:xfrm>
          <a:prstGeom prst="roundRect">
            <a:avLst>
              <a:gd name="adj" fmla="val 16667"/>
            </a:avLst>
          </a:prstGeom>
          <a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-296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grpSp>
        <p:nvGrpSpPr>
          <p:cNvPr id="404" name="Google Shape;404;p25"/>
          <p:cNvGrpSpPr/>
          <p:nvPr/>
        </p:nvGrpSpPr>
        <p:grpSpPr>
          <a:xfrm>
            <a:off x="2007765" y="5032064"/>
            <a:ext cx="7722686" cy="1308727"/>
            <a:chOff x="483765" y="4462928"/>
            <a:chExt cx="7722686" cy="1308727"/>
          </a:xfrm>
        </p:grpSpPr>
        <p:sp>
          <p:nvSpPr>
            <p:cNvPr id="405" name="Google Shape;405;p25"/>
            <p:cNvSpPr/>
            <p:nvPr/>
          </p:nvSpPr>
          <p:spPr>
            <a:xfrm>
              <a:off x="483765" y="4462928"/>
              <a:ext cx="7722686" cy="1308727"/>
            </a:xfrm>
            <a:prstGeom prst="roundRect">
              <a:avLst>
                <a:gd name="adj" fmla="val 16667"/>
              </a:avLst>
            </a:prstGeom>
            <a:solidFill>
              <a:srgbClr val="B6E6F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685800">
                <a:lnSpc>
                  <a:spcPct val="107000"/>
                </a:lnSpc>
              </a:pPr>
              <a:r>
                <a:rPr lang="en-US" sz="2000" b="1">
                  <a:solidFill>
                    <a:srgbClr val="00629D"/>
                  </a:solidFill>
                  <a:latin typeface="Verdana"/>
                  <a:ea typeface="Verdana"/>
                  <a:cs typeface="Verdana"/>
                  <a:sym typeface="Verdana"/>
                </a:rPr>
                <a:t>Power of a Power Exponent Law</a:t>
              </a:r>
              <a:endParaRPr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685800">
                <a:lnSpc>
                  <a:spcPct val="107000"/>
                </a:lnSpc>
                <a:spcBef>
                  <a:spcPts val="800"/>
                </a:spcBef>
              </a:pPr>
              <a:r>
                <a:rPr lang="en-US" sz="2000">
                  <a:solidFill>
                    <a:srgbClr val="00629D"/>
                  </a:solidFill>
                  <a:latin typeface="Verdana"/>
                  <a:ea typeface="Verdana"/>
                  <a:cs typeface="Verdana"/>
                  <a:sym typeface="Verdana"/>
                </a:rPr>
                <a:t>When raising a base with a power to another power, multiply the exponents and keep the same base.</a:t>
              </a:r>
              <a:endParaRPr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pic>
          <p:nvPicPr>
            <p:cNvPr id="406" name="Google Shape;406;p25" descr="Icon&#10;&#10;Description automatically generated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801" y="4578176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407" name="Google Shape;407;p25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6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14" name="Google Shape;414;p2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15" name="Google Shape;415;p26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16" name="Google Shape;416;p26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17" name="Google Shape;417;p26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24" name="Google Shape;424;p2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25" name="Google Shape;425;p27"/>
          <p:cNvSpPr txBox="1"/>
          <p:nvPr/>
        </p:nvSpPr>
        <p:spPr>
          <a:xfrm>
            <a:off x="1747652" y="143084"/>
            <a:ext cx="961703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8.1.5 Exploration: Identity Exponent Law</a:t>
            </a:r>
            <a:endParaRPr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6" name="Google Shape;426;p27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7314" y="263921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27" name="Google Shape;427;p27"/>
          <p:cNvSpPr txBox="1"/>
          <p:nvPr/>
        </p:nvSpPr>
        <p:spPr>
          <a:xfrm>
            <a:off x="2060448" y="1468784"/>
            <a:ext cx="8327136" cy="167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lnSpc>
                <a:spcPct val="107000"/>
              </a:lnSpc>
              <a:buSzPts val="24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With your partner, use the meaning of an exponent to complete the table. Write each product as a repeated multiplication expression, then write the value of each expression. </a:t>
            </a:r>
            <a:endParaRPr sz="2000" dirty="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aphicFrame>
        <p:nvGraphicFramePr>
          <p:cNvPr id="428" name="Google Shape;428;p27"/>
          <p:cNvGraphicFramePr/>
          <p:nvPr>
            <p:extLst>
              <p:ext uri="{D42A27DB-BD31-4B8C-83A1-F6EECF244321}">
                <p14:modId xmlns:p14="http://schemas.microsoft.com/office/powerpoint/2010/main" val="3115766616"/>
              </p:ext>
            </p:extLst>
          </p:nvPr>
        </p:nvGraphicFramePr>
        <p:xfrm>
          <a:off x="2615184" y="3443476"/>
          <a:ext cx="7772400" cy="2364971"/>
        </p:xfrm>
        <a:graphic>
          <a:graphicData uri="http://schemas.openxmlformats.org/drawingml/2006/table">
            <a:tbl>
              <a:tblPr>
                <a:noFill/>
                <a:tableStyleId>{4F3A1B50-ACC6-4689-A3D7-FD869BB5BCE0}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9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Exponential Expression</a:t>
                      </a:r>
                      <a:endParaRPr sz="1800" i="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Repeated Multiplication</a:t>
                      </a:r>
                      <a:endParaRPr sz="1800" i="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Value</a:t>
                      </a:r>
                      <a:endParaRPr sz="1800" i="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r>
                        <a:rPr lang="en-US" sz="2000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sz="2000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endParaRPr sz="200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endParaRPr sz="2000" u="none" strike="noStrike" cap="none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100</a:t>
                      </a:r>
                      <a:r>
                        <a:rPr lang="en-US" sz="2000" baseline="30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sz="2000" u="none" strike="noStrike" cap="none" baseline="30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1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mic Sans MS"/>
                          <a:sym typeface="Comic Sans MS"/>
                        </a:rPr>
                        <a:t> </a:t>
                      </a:r>
                      <a:endParaRPr sz="2000" i="1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1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mic Sans MS"/>
                          <a:sym typeface="Comic Sans MS"/>
                        </a:rPr>
                        <a:t> </a:t>
                      </a:r>
                      <a:endParaRPr sz="2000" i="1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</a:t>
                      </a:r>
                      <a:r>
                        <a:rPr lang="en-US" sz="2000" baseline="30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sz="2000" u="none" strike="noStrike" cap="none" baseline="30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1" u="none" strike="noStrike" cap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mic Sans MS"/>
                          <a:sym typeface="Comic Sans MS"/>
                        </a:rPr>
                        <a:t> </a:t>
                      </a:r>
                      <a:endParaRPr sz="2000" i="1" u="none" strike="noStrike" cap="none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1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mic Sans MS"/>
                          <a:sym typeface="Comic Sans MS"/>
                        </a:rPr>
                        <a:t> </a:t>
                      </a:r>
                      <a:endParaRPr sz="2000" i="1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  <a:sym typeface="Cambria Math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9" name="Google Shape;429;p2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8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36" name="Google Shape;436;p2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37" name="Google Shape;437;p28"/>
          <p:cNvSpPr txBox="1"/>
          <p:nvPr/>
        </p:nvSpPr>
        <p:spPr>
          <a:xfrm>
            <a:off x="2007765" y="520394"/>
            <a:ext cx="8327136" cy="272933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096" t="-2231" r="-219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438" name="Google Shape;438;p28"/>
          <p:cNvSpPr/>
          <p:nvPr/>
        </p:nvSpPr>
        <p:spPr>
          <a:xfrm>
            <a:off x="6473069" y="2238023"/>
            <a:ext cx="1398757" cy="1413792"/>
          </a:xfrm>
          <a:prstGeom prst="roundRect">
            <a:avLst>
              <a:gd name="adj" fmla="val 16667"/>
            </a:avLst>
          </a:prstGeom>
          <a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431" b="-2989"/>
            </a:stretch>
          </a:blip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grpSp>
        <p:nvGrpSpPr>
          <p:cNvPr id="439" name="Google Shape;439;p28"/>
          <p:cNvGrpSpPr/>
          <p:nvPr/>
        </p:nvGrpSpPr>
        <p:grpSpPr>
          <a:xfrm>
            <a:off x="2007765" y="4363533"/>
            <a:ext cx="8280000" cy="1673082"/>
            <a:chOff x="0" y="0"/>
            <a:chExt cx="8280000" cy="1673686"/>
          </a:xfrm>
        </p:grpSpPr>
        <p:sp>
          <p:nvSpPr>
            <p:cNvPr id="440" name="Google Shape;440;p28"/>
            <p:cNvSpPr/>
            <p:nvPr/>
          </p:nvSpPr>
          <p:spPr>
            <a:xfrm>
              <a:off x="0" y="0"/>
              <a:ext cx="8280000" cy="1673686"/>
            </a:xfrm>
            <a:prstGeom prst="roundRect">
              <a:avLst>
                <a:gd name="adj" fmla="val 16667"/>
              </a:avLst>
            </a:prstGeom>
            <a:blipFill rotWithShape="1">
              <a:blip r:embed="rId6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/>
                <a:t> </a:t>
              </a:r>
              <a:endParaRPr/>
            </a:p>
          </p:txBody>
        </p:sp>
        <p:pic>
          <p:nvPicPr>
            <p:cNvPr id="441" name="Google Shape;441;p28" descr="Icon&#10;&#10;Description automatically generated"/>
            <p:cNvPicPr preferRelativeResize="0"/>
            <p:nvPr/>
          </p:nvPicPr>
          <p:blipFill rotWithShape="1">
            <a:blip r:embed="rId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7444" y="115711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442" name="Google Shape;442;p28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49" name="Google Shape;449;p2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50" name="Google Shape;450;p2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1" name="Google Shape;45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52" name="Google Shape;452;p2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0"/>
          <p:cNvSpPr/>
          <p:nvPr/>
        </p:nvSpPr>
        <p:spPr>
          <a:xfrm>
            <a:off x="12186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59" name="Google Shape;459;p3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15964" y="61827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60" name="Google Shape;460;p30"/>
          <p:cNvSpPr txBox="1"/>
          <p:nvPr/>
        </p:nvSpPr>
        <p:spPr>
          <a:xfrm>
            <a:off x="1769423" y="437260"/>
            <a:ext cx="8536369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8.1.6 Your Turn!</a:t>
            </a:r>
            <a:endParaRPr sz="43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61" name="Google Shape;461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7289" y="4372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62" name="Google Shape;462;p30"/>
          <p:cNvSpPr txBox="1"/>
          <p:nvPr/>
        </p:nvSpPr>
        <p:spPr>
          <a:xfrm>
            <a:off x="1932432" y="1514563"/>
            <a:ext cx="8327136" cy="204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lnSpc>
                <a:spcPct val="107000"/>
              </a:lnSpc>
              <a:buSzPts val="2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Complete the following steps for each expression.</a:t>
            </a:r>
            <a:endParaRPr sz="2000" dirty="0">
              <a:latin typeface="Cambria Math"/>
              <a:ea typeface="Cambria Math"/>
              <a:cs typeface="Cambria Math"/>
              <a:sym typeface="Cambria Math"/>
            </a:endParaRPr>
          </a:p>
          <a:p>
            <a:pPr marL="914400" indent="-450850">
              <a:lnSpc>
                <a:spcPct val="107000"/>
              </a:lnSpc>
              <a:spcBef>
                <a:spcPts val="1200"/>
              </a:spcBef>
              <a:buSzPts val="2000"/>
              <a:buFont typeface="Arial"/>
              <a:buChar char="•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Rewrite each expression shown by using the laws of exponents. </a:t>
            </a:r>
            <a:endParaRPr sz="2000" dirty="0">
              <a:latin typeface="Cambria Math"/>
              <a:ea typeface="Cambria Math"/>
              <a:cs typeface="Cambria Math"/>
              <a:sym typeface="Cambria Math"/>
            </a:endParaRPr>
          </a:p>
          <a:p>
            <a:pPr marL="914400" indent="-450850">
              <a:lnSpc>
                <a:spcPct val="107000"/>
              </a:lnSpc>
              <a:spcBef>
                <a:spcPts val="600"/>
              </a:spcBef>
              <a:buSzPts val="2000"/>
              <a:buFont typeface="Arial"/>
              <a:buChar char="•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Choose the exponent law you used from the list. </a:t>
            </a:r>
            <a:endParaRPr sz="2000" dirty="0">
              <a:latin typeface="Cambria Math"/>
              <a:ea typeface="Cambria Math"/>
              <a:cs typeface="Cambria Math"/>
              <a:sym typeface="Cambria Math"/>
            </a:endParaRPr>
          </a:p>
          <a:p>
            <a:pPr marL="914400" indent="-450850">
              <a:lnSpc>
                <a:spcPct val="107000"/>
              </a:lnSpc>
              <a:spcBef>
                <a:spcPts val="600"/>
              </a:spcBef>
              <a:buSzPts val="2000"/>
              <a:buFont typeface="Arial"/>
              <a:buChar char="•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Evaluate the exponential expression.</a:t>
            </a:r>
            <a:endParaRPr sz="2000" dirty="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aphicFrame>
        <p:nvGraphicFramePr>
          <p:cNvPr id="463" name="Google Shape;463;p30"/>
          <p:cNvGraphicFramePr/>
          <p:nvPr>
            <p:extLst>
              <p:ext uri="{D42A27DB-BD31-4B8C-83A1-F6EECF244321}">
                <p14:modId xmlns:p14="http://schemas.microsoft.com/office/powerpoint/2010/main" val="2721954212"/>
              </p:ext>
            </p:extLst>
          </p:nvPr>
        </p:nvGraphicFramePr>
        <p:xfrm>
          <a:off x="3033793" y="3795511"/>
          <a:ext cx="7223775" cy="2281502"/>
        </p:xfrm>
        <a:graphic>
          <a:graphicData uri="http://schemas.openxmlformats.org/drawingml/2006/table">
            <a:tbl>
              <a:tblPr>
                <a:noFill/>
                <a:tableStyleId>{4F3A1B50-ACC6-4689-A3D7-FD869BB5BCE0}</a:tableStyleId>
              </a:tblPr>
              <a:tblGrid>
                <a:gridCol w="32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7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(2</a:t>
                      </a:r>
                      <a:r>
                        <a:rPr lang="en-US" sz="2000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)</a:t>
                      </a:r>
                      <a:r>
                        <a:rPr lang="en-US" sz="2000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sz="2000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37150" marR="137150" marT="137150" marB="13715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Product of powers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Power of product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Power of power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Identity exponent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 gridSpan="2">
                  <a:txBody>
                    <a:bodyPr/>
                    <a:lstStyle/>
                    <a:p>
                      <a:pPr marL="2743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(2</a:t>
                      </a:r>
                      <a:r>
                        <a:rPr lang="en-US" sz="2000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)</a:t>
                      </a:r>
                      <a:r>
                        <a:rPr lang="en-US" sz="2000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= </a:t>
                      </a:r>
                      <a:endParaRPr sz="200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37150" marR="137150" marT="137150" marB="1371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4" name="Google Shape;464;p30"/>
          <p:cNvSpPr txBox="1"/>
          <p:nvPr/>
        </p:nvSpPr>
        <p:spPr>
          <a:xfrm>
            <a:off x="8877738" y="643978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71" name="Google Shape;471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graphicFrame>
        <p:nvGraphicFramePr>
          <p:cNvPr id="472" name="Google Shape;472;p31"/>
          <p:cNvGraphicFramePr/>
          <p:nvPr>
            <p:extLst>
              <p:ext uri="{D42A27DB-BD31-4B8C-83A1-F6EECF244321}">
                <p14:modId xmlns:p14="http://schemas.microsoft.com/office/powerpoint/2010/main" val="474091129"/>
              </p:ext>
            </p:extLst>
          </p:nvPr>
        </p:nvGraphicFramePr>
        <p:xfrm>
          <a:off x="2484112" y="878739"/>
          <a:ext cx="7223775" cy="2286000"/>
        </p:xfrm>
        <a:graphic>
          <a:graphicData uri="http://schemas.openxmlformats.org/drawingml/2006/table">
            <a:tbl>
              <a:tblPr>
                <a:noFill/>
                <a:tableStyleId>{4F3A1B50-ACC6-4689-A3D7-FD869BB5BCE0}</a:tableStyleId>
              </a:tblPr>
              <a:tblGrid>
                <a:gridCol w="32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0.5</a:t>
                      </a:r>
                      <a:r>
                        <a:rPr lang="en-US" sz="2000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⠂0.5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sz="2000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37150" marR="137150" marT="137150" marB="13715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Product of powers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Power of product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Power of power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Identity exponent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 gridSpan="2">
                  <a:txBody>
                    <a:bodyPr/>
                    <a:lstStyle/>
                    <a:p>
                      <a:pPr marL="228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0.5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⠂0.5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= </a:t>
                      </a:r>
                      <a:endParaRPr sz="200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37150" marR="137150" marT="137150" marB="1371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3" name="Google Shape;473;p31"/>
          <p:cNvGraphicFramePr/>
          <p:nvPr>
            <p:extLst>
              <p:ext uri="{D42A27DB-BD31-4B8C-83A1-F6EECF244321}">
                <p14:modId xmlns:p14="http://schemas.microsoft.com/office/powerpoint/2010/main" val="2813791047"/>
              </p:ext>
            </p:extLst>
          </p:nvPr>
        </p:nvGraphicFramePr>
        <p:xfrm>
          <a:off x="2484112" y="3540916"/>
          <a:ext cx="7223775" cy="2286000"/>
        </p:xfrm>
        <a:graphic>
          <a:graphicData uri="http://schemas.openxmlformats.org/drawingml/2006/table">
            <a:tbl>
              <a:tblPr>
                <a:noFill/>
                <a:tableStyleId>{4F3A1B50-ACC6-4689-A3D7-FD869BB5BCE0}</a:tableStyleId>
              </a:tblPr>
              <a:tblGrid>
                <a:gridCol w="32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baseline="30000" dirty="0"/>
                    </a:p>
                  </a:txBody>
                  <a:tcPr marL="137150" marR="137150" marT="137150" marB="13715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Product of powers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Power of product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Power of power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Identity exponent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 gridSpan="2">
                  <a:txBody>
                    <a:bodyPr/>
                    <a:lstStyle/>
                    <a:p>
                      <a:pPr marL="2743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= </a:t>
                      </a:r>
                      <a:endParaRPr sz="1400" u="none" strike="noStrike" cap="none" dirty="0"/>
                    </a:p>
                  </a:txBody>
                  <a:tcPr marL="137150" marR="137150" marT="137150" marB="1371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4" name="Google Shape;474;p31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5" name="Google Shape;47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2274" y="3677167"/>
            <a:ext cx="701359" cy="612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5905" y="5123421"/>
            <a:ext cx="693866" cy="605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83" name="Google Shape;483;p3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graphicFrame>
        <p:nvGraphicFramePr>
          <p:cNvPr id="484" name="Google Shape;484;p32"/>
          <p:cNvGraphicFramePr/>
          <p:nvPr>
            <p:extLst>
              <p:ext uri="{D42A27DB-BD31-4B8C-83A1-F6EECF244321}">
                <p14:modId xmlns:p14="http://schemas.microsoft.com/office/powerpoint/2010/main" val="3776294659"/>
              </p:ext>
            </p:extLst>
          </p:nvPr>
        </p:nvGraphicFramePr>
        <p:xfrm>
          <a:off x="2484112" y="1348295"/>
          <a:ext cx="7223775" cy="2286000"/>
        </p:xfrm>
        <a:graphic>
          <a:graphicData uri="http://schemas.openxmlformats.org/drawingml/2006/table">
            <a:tbl>
              <a:tblPr>
                <a:noFill/>
                <a:tableStyleId>{4F3A1B50-ACC6-4689-A3D7-FD869BB5BCE0}</a:tableStyleId>
              </a:tblPr>
              <a:tblGrid>
                <a:gridCol w="32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(0.5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⠂-8)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sz="2000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37150" marR="137150" marT="137150" marB="13715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Product of powers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Power of product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Power of power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463550" marR="0" lvl="0" indent="-288925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Char char="o"/>
                      </a:pPr>
                      <a:r>
                        <a:rPr lang="en-US" sz="2000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Identity exponent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 gridSpan="2">
                  <a:txBody>
                    <a:bodyPr/>
                    <a:lstStyle/>
                    <a:p>
                      <a:pPr marL="228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(0.5 ⠂-8)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= </a:t>
                      </a:r>
                      <a:endParaRPr sz="200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37150" marR="137150" marT="137150" marB="1371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5" name="Google Shape;485;p32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3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92" name="Google Shape;492;p3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93" name="Google Shape;493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94" name="Google Shape;494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95" name="Google Shape;495;p33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4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502" name="Google Shape;502;p3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503" name="Google Shape;503;p34"/>
          <p:cNvSpPr txBox="1"/>
          <p:nvPr/>
        </p:nvSpPr>
        <p:spPr>
          <a:xfrm>
            <a:off x="1715084" y="104441"/>
            <a:ext cx="94616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8.1.7 Wrap-Up: Ticket Out the Door</a:t>
            </a:r>
            <a:endParaRPr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04" name="Google Shape;504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8174" y="39364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05" name="Google Shape;505;p34"/>
          <p:cNvSpPr txBox="1"/>
          <p:nvPr/>
        </p:nvSpPr>
        <p:spPr>
          <a:xfrm>
            <a:off x="2060448" y="1386025"/>
            <a:ext cx="8327136" cy="75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lnSpc>
                <a:spcPct val="107000"/>
              </a:lnSpc>
              <a:buSzPts val="2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Rewrite the expressions using laws of exponents. State the exponent law used. </a:t>
            </a:r>
            <a:endParaRPr sz="1800" dirty="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aphicFrame>
        <p:nvGraphicFramePr>
          <p:cNvPr id="506" name="Google Shape;506;p34"/>
          <p:cNvGraphicFramePr/>
          <p:nvPr>
            <p:extLst>
              <p:ext uri="{D42A27DB-BD31-4B8C-83A1-F6EECF244321}">
                <p14:modId xmlns:p14="http://schemas.microsoft.com/office/powerpoint/2010/main" val="123879126"/>
              </p:ext>
            </p:extLst>
          </p:nvPr>
        </p:nvGraphicFramePr>
        <p:xfrm>
          <a:off x="2636726" y="2161501"/>
          <a:ext cx="7040875" cy="4284605"/>
        </p:xfrm>
        <a:graphic>
          <a:graphicData uri="http://schemas.openxmlformats.org/drawingml/2006/table">
            <a:tbl>
              <a:tblPr>
                <a:noFill/>
                <a:tableStyleId>{4F3A1B50-ACC6-4689-A3D7-FD869BB5BCE0}</a:tableStyleId>
              </a:tblPr>
              <a:tblGrid>
                <a:gridCol w="246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Expression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Exponent Law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Equivalent Expression</a:t>
                      </a:r>
                      <a:endParaRPr sz="2000" i="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12.75</a:t>
                      </a:r>
                      <a:r>
                        <a:rPr lang="en-US" sz="2000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⠂12.75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sz="2000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0" u="none" strike="noStrike" cap="none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0" u="none" strike="noStrike" cap="none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7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200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0" u="none" strike="noStrike" cap="none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(12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⠂0.75)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sz="2000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0" u="none" strike="noStrike" cap="none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285.6</a:t>
                      </a:r>
                      <a:endParaRPr sz="200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0" u="none" strike="noStrike" cap="none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7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0" u="none" strike="noStrike" cap="none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r>
                        <a:rPr lang="en-US" sz="2000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⠂(-1.5)</a:t>
                      </a:r>
                      <a:r>
                        <a:rPr lang="en-US" sz="2000" baseline="300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sz="2000" u="none" strike="noStrike" cap="none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  <a:sym typeface="Verdana"/>
                        </a:rPr>
                        <a:t> </a:t>
                      </a:r>
                      <a:endParaRPr sz="2000" i="0" u="none" strike="noStrike" cap="none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7" name="Google Shape;507;p34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8" name="Google Shape;50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3001" y="3519183"/>
            <a:ext cx="723035" cy="671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4676" y="5298158"/>
            <a:ext cx="723035" cy="671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1568</Words>
  <Application>Microsoft Macintosh PowerPoint</Application>
  <PresentationFormat>Widescreen</PresentationFormat>
  <Paragraphs>330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Calibri</vt:lpstr>
      <vt:lpstr>Arial Black</vt:lpstr>
      <vt:lpstr>Cambria Math</vt:lpstr>
      <vt:lpstr>Verdana</vt:lpstr>
      <vt:lpstr>Courier New</vt:lpstr>
      <vt:lpstr>Arial</vt:lpstr>
      <vt:lpstr>Century Gothic</vt:lpstr>
      <vt:lpstr>1_Office Theme</vt:lpstr>
      <vt:lpstr>7th Grade Math  Unit 8, Lesson 1  Product Laws of Exponents  Volume 2, pg. 3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7th Grade Math  Unit 8, Lesson 1  Product Laws of Exponents  Volume 2, pg. 3</dc:title>
  <dc:creator>Karen McKenzie</dc:creator>
  <cp:lastModifiedBy>Diana Barnett</cp:lastModifiedBy>
  <cp:revision>5</cp:revision>
  <dcterms:created xsi:type="dcterms:W3CDTF">2015-03-17T18:51:18Z</dcterms:created>
  <dcterms:modified xsi:type="dcterms:W3CDTF">2023-01-30T18:37:40Z</dcterms:modified>
</cp:coreProperties>
</file>