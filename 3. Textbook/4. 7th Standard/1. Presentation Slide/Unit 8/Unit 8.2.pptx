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288" r:id="rId10"/>
    <p:sldId id="354" r:id="rId11"/>
    <p:sldId id="368" r:id="rId12"/>
    <p:sldId id="369" r:id="rId13"/>
    <p:sldId id="362" r:id="rId14"/>
    <p:sldId id="363" r:id="rId15"/>
    <p:sldId id="364" r:id="rId16"/>
    <p:sldId id="370" r:id="rId17"/>
    <p:sldId id="365" r:id="rId18"/>
    <p:sldId id="366" r:id="rId19"/>
    <p:sldId id="367" r:id="rId20"/>
    <p:sldId id="371" r:id="rId21"/>
    <p:sldId id="329" r:id="rId22"/>
    <p:sldId id="330" r:id="rId23"/>
    <p:sldId id="372" r:id="rId24"/>
    <p:sldId id="373" r:id="rId25"/>
    <p:sldId id="359" r:id="rId26"/>
    <p:sldId id="302" r:id="rId27"/>
    <p:sldId id="303" r:id="rId28"/>
    <p:sldId id="360" r:id="rId29"/>
    <p:sldId id="306" r:id="rId30"/>
    <p:sldId id="307" r:id="rId31"/>
  </p:sldIdLst>
  <p:sldSz cx="12192000" cy="6858000"/>
  <p:notesSz cx="6858000" cy="9144000"/>
  <p:embeddedFontLst>
    <p:embeddedFont>
      <p:font typeface="Arial Black" panose="020B0604020202020204" pitchFamily="34" charset="0"/>
      <p:bold r:id="rId33"/>
    </p:embeddedFont>
    <p:embeddedFont>
      <p:font typeface="Calibri" panose="020F0502020204030204" pitchFamily="34" charset="0"/>
      <p:regular r:id="rId34"/>
      <p:bold r:id="rId35"/>
      <p:italic r:id="rId36"/>
      <p:boldItalic r:id="rId37"/>
    </p:embeddedFont>
    <p:embeddedFont>
      <p:font typeface="Cambria Math" panose="02040503050406030204" pitchFamily="18" charset="0"/>
      <p:regular r:id="rId38"/>
    </p:embeddedFont>
    <p:embeddedFont>
      <p:font typeface="Century Gothic" panose="020B0502020202020204" pitchFamily="34" charset="0"/>
      <p:regular r:id="rId39"/>
      <p:bold r:id="rId40"/>
      <p:italic r:id="rId41"/>
      <p:boldItalic r:id="rId42"/>
    </p:embeddedFont>
    <p:embeddedFont>
      <p:font typeface="Comic Sans MS" panose="030F0902030302020204" pitchFamily="66" charset="0"/>
      <p:regular r:id="rId43"/>
      <p:bold r:id="rId44"/>
      <p:italic r:id="rId45"/>
      <p:boldItalic r:id="rId46"/>
    </p:embeddedFont>
    <p:embeddedFont>
      <p:font typeface="Verdana" panose="020B060403050404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4487"/>
    <a:srgbClr val="79B0DD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6" autoAdjust="0"/>
    <p:restoredTop sz="94694"/>
  </p:normalViewPr>
  <p:slideViewPr>
    <p:cSldViewPr snapToGrid="0">
      <p:cViewPr>
        <p:scale>
          <a:sx n="140" d="100"/>
          <a:sy n="140" d="100"/>
        </p:scale>
        <p:origin x="128" y="-2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50" Type="http://schemas.openxmlformats.org/officeDocument/2006/relationships/font" Target="fonts/font18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4500962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447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447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447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4478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447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4478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4478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4478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14478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81916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79314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3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0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2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Quotient Laws of Exponents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10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144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864426" y="136525"/>
            <a:ext cx="79865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3575" y="4257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408386" y="1609531"/>
            <a:ext cx="880241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MA.7.NSO.1.1 </a:t>
            </a:r>
          </a:p>
          <a:p>
            <a:pPr indent="0"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Know and apply the Laws of Exponents to evaluate numerical expressions and generate equivalent numerical expressions, limited to whole-number exponents and rational number bases.</a:t>
            </a: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4150" y="41886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544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814412" y="129667"/>
            <a:ext cx="934343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08386" y="1596390"/>
            <a:ext cx="880241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807219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876302" y="30660"/>
            <a:ext cx="86626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27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397876" y="1600200"/>
            <a:ext cx="8812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63550" indent="-4572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explain and use the quotient of powers, power of a quotient, and zero exponent laws.</a:t>
            </a: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428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082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876301" y="433152"/>
            <a:ext cx="8662849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8.2.1 Warm-Up: Use a Pattern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536" y="27569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543792" y="1386025"/>
            <a:ext cx="8843792" cy="5097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</a:pPr>
            <a:r>
              <a:rPr lang="en-US" sz="2400" dirty="0">
                <a:latin typeface="Verdana"/>
                <a:ea typeface="Verdana"/>
                <a:cs typeface="Verdana"/>
              </a:rPr>
              <a:t>Look at the pattern shown in the figures below. Work with your partner to answer the questions.</a:t>
            </a:r>
            <a:endParaRPr lang="en-PH" sz="2000" i="1" dirty="0">
              <a:latin typeface="Cambria Math"/>
              <a:ea typeface="Cambria Math"/>
              <a:cs typeface="Verdana"/>
            </a:endParaRPr>
          </a:p>
          <a:p>
            <a:pPr>
              <a:lnSpc>
                <a:spcPct val="107000"/>
              </a:lnSpc>
            </a:pPr>
            <a:endParaRPr lang="en-PH" sz="2000" i="1" dirty="0">
              <a:latin typeface="Cambria Math"/>
              <a:ea typeface="Cambria Math"/>
              <a:cs typeface="Verdana"/>
            </a:endParaRPr>
          </a:p>
          <a:p>
            <a:pPr>
              <a:lnSpc>
                <a:spcPct val="107000"/>
              </a:lnSpc>
            </a:pPr>
            <a:endParaRPr lang="en-PH" sz="2000" i="1" dirty="0">
              <a:latin typeface="Cambria Math"/>
              <a:ea typeface="Cambria Math"/>
              <a:cs typeface="Verdana"/>
            </a:endParaRPr>
          </a:p>
          <a:p>
            <a:pPr>
              <a:lnSpc>
                <a:spcPct val="107000"/>
              </a:lnSpc>
            </a:pPr>
            <a:endParaRPr lang="en-PH" sz="2000" i="1" dirty="0">
              <a:latin typeface="Cambria Math"/>
              <a:ea typeface="Cambria Math"/>
              <a:cs typeface="Verdana"/>
            </a:endParaRPr>
          </a:p>
          <a:p>
            <a:pPr>
              <a:lnSpc>
                <a:spcPct val="107000"/>
              </a:lnSpc>
            </a:pPr>
            <a:endParaRPr lang="en-PH" sz="2000" i="1" dirty="0">
              <a:latin typeface="Cambria Math"/>
              <a:ea typeface="Cambria Math"/>
              <a:cs typeface="Verdana"/>
            </a:endParaRPr>
          </a:p>
          <a:p>
            <a:pPr>
              <a:lnSpc>
                <a:spcPct val="107000"/>
              </a:lnSpc>
            </a:pPr>
            <a:endParaRPr lang="en-PH" sz="2000" i="1" dirty="0">
              <a:latin typeface="Cambria Math"/>
              <a:ea typeface="Cambria Math"/>
              <a:cs typeface="Verdana"/>
            </a:endParaRPr>
          </a:p>
          <a:p>
            <a:pPr>
              <a:lnSpc>
                <a:spcPct val="107000"/>
              </a:lnSpc>
            </a:pPr>
            <a:endParaRPr lang="en-PH" sz="2000" i="1" dirty="0">
              <a:latin typeface="Cambria Math"/>
              <a:ea typeface="Cambria Math"/>
              <a:cs typeface="Verdana"/>
            </a:endParaRPr>
          </a:p>
          <a:p>
            <a:pPr>
              <a:lnSpc>
                <a:spcPct val="107000"/>
              </a:lnSpc>
            </a:pPr>
            <a:endParaRPr lang="en-PH" sz="2000" i="1" dirty="0">
              <a:latin typeface="Cambria Math"/>
              <a:ea typeface="Cambria Math"/>
              <a:cs typeface="Verdana"/>
            </a:endParaRPr>
          </a:p>
          <a:p>
            <a:pPr>
              <a:lnSpc>
                <a:spcPct val="107000"/>
              </a:lnSpc>
            </a:pPr>
            <a:endParaRPr lang="en-PH" sz="2000" i="1" dirty="0">
              <a:latin typeface="Cambria Math"/>
              <a:ea typeface="Cambria Math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Describe the pattern in words.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If the pattern continued, how many squares would be in  Figure 10?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3124200" y="2192925"/>
            <a:ext cx="6514260" cy="2463800"/>
            <a:chOff x="1600200" y="2197100"/>
            <a:chExt cx="6514260" cy="2463800"/>
          </a:xfrm>
        </p:grpSpPr>
        <p:pic>
          <p:nvPicPr>
            <p:cNvPr id="10" name="Picture 9" descr="A picture containing logo&#10;&#10;Description automatically generated"/>
            <p:cNvPicPr/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600200" y="2197100"/>
              <a:ext cx="5943600" cy="2463800"/>
            </a:xfrm>
            <a:prstGeom prst="rect">
              <a:avLst/>
            </a:prstGeom>
          </p:spPr>
        </p:pic>
        <p:sp>
          <p:nvSpPr>
            <p:cNvPr id="12" name="Text Box 21"/>
            <p:cNvSpPr txBox="1"/>
            <p:nvPr/>
          </p:nvSpPr>
          <p:spPr>
            <a:xfrm>
              <a:off x="1896540" y="4150142"/>
              <a:ext cx="6217920" cy="404534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1795463" indent="-1619250">
                <a:lnSpc>
                  <a:spcPct val="107000"/>
                </a:lnSpc>
                <a:spcAft>
                  <a:spcPts val="800"/>
                </a:spcAft>
                <a:buClrTx/>
                <a:tabLst>
                  <a:tab pos="3492500" algn="l"/>
                </a:tabLst>
                <a:defRPr/>
              </a:pPr>
              <a:r>
                <a:rPr lang="en-US" sz="2000" dirty="0">
                  <a:solidFill>
                    <a:sysClr val="windowText" lastClr="000000"/>
                  </a:solidFill>
                  <a:latin typeface="Verdana"/>
                  <a:ea typeface="Cambria Math"/>
                  <a:cs typeface="Cambria Math"/>
                </a:rPr>
                <a:t>Figure 1	Figure 2	   Figure 3</a:t>
              </a:r>
              <a:endParaRPr lang="en-PH" sz="1800" i="1" dirty="0">
                <a:solidFill>
                  <a:sysClr val="windowText" lastClr="000000"/>
                </a:solidFill>
                <a:latin typeface="Cambria Math"/>
                <a:ea typeface="Cambria Math"/>
                <a:cs typeface="Cambria Math"/>
              </a:endParaRPr>
            </a:p>
          </p:txBody>
        </p:sp>
      </p:grpSp>
      <p:sp>
        <p:nvSpPr>
          <p:cNvPr id="14" name="Google Shape;282;g104476d1465_1_17"/>
          <p:cNvSpPr txBox="1"/>
          <p:nvPr/>
        </p:nvSpPr>
        <p:spPr>
          <a:xfrm>
            <a:off x="887260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1875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864426" y="60325"/>
            <a:ext cx="86747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8.2.2 Activity: Station 1: Quotient of Powers Exponent Law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2426" y="2613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1520042" y="1386026"/>
            <a:ext cx="8867542" cy="3207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400" dirty="0">
                <a:latin typeface="Verdana" pitchFamily="34" charset="0"/>
                <a:ea typeface="Verdana" pitchFamily="34" charset="0"/>
                <a:cs typeface="Cambria Math"/>
              </a:rPr>
              <a:t>Work with your partner or a small group to complete three stations involving the laws of exponents.</a:t>
            </a:r>
          </a:p>
          <a:p>
            <a:pPr>
              <a:lnSpc>
                <a:spcPct val="115000"/>
              </a:lnSpc>
            </a:pPr>
            <a:endParaRPr lang="en-US" sz="2400" b="1" dirty="0">
              <a:latin typeface="Verdana" pitchFamily="34" charset="0"/>
              <a:ea typeface="Verdana" pitchFamily="34" charset="0"/>
              <a:cs typeface="Cambria Math"/>
            </a:endParaRP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lang="en-US" sz="2400" b="1" dirty="0">
                <a:latin typeface="Verdana" pitchFamily="34" charset="0"/>
                <a:ea typeface="Verdana" pitchFamily="34" charset="0"/>
                <a:cs typeface="Cambria Math"/>
              </a:rPr>
              <a:t>Task 1:</a:t>
            </a:r>
          </a:p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400" dirty="0">
                <a:latin typeface="Verdana" pitchFamily="34" charset="0"/>
                <a:ea typeface="Verdana" pitchFamily="34" charset="0"/>
                <a:cs typeface="Verdana"/>
              </a:rPr>
              <a:t>Review the steps Rosa, Victor, and Emma each used to generate an equivalent expression. Then, answer the questions that follow.</a:t>
            </a:r>
            <a:endParaRPr lang="en-PH" sz="2400" i="1" dirty="0">
              <a:latin typeface="Verdana" pitchFamily="34" charset="0"/>
              <a:ea typeface="Verdana" pitchFamily="34" charset="0"/>
              <a:cs typeface="Cambria Math"/>
            </a:endParaRPr>
          </a:p>
        </p:txBody>
      </p:sp>
      <p:sp>
        <p:nvSpPr>
          <p:cNvPr id="25" name="Google Shape;282;g104476d1465_1_17"/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3394" y="-1187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8988164"/>
                  </p:ext>
                </p:extLst>
              </p:nvPr>
            </p:nvGraphicFramePr>
            <p:xfrm>
              <a:off x="2645449" y="520394"/>
              <a:ext cx="7560000" cy="575924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6180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Rosa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Victor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Emma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2000">
                    <a:tc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Given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vert="vert27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7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7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484000">
                    <a:tc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Student Work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vert="vert27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5 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∙5 ∙5 ∙5 ∙5 ∙5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5 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∙5 ∙5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2000" i="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5 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∙5 ∙5</m:t>
                              </m:r>
                            </m:oMath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10 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∙10 ∙10 ∙10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10 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∙10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2000" i="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 panose="02040503050406030204" pitchFamily="18" charset="0"/>
                                      <a:ea typeface="Verdana"/>
                                      <a:cs typeface="Verdana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Verdana"/>
                                      <a:cs typeface="Verdana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 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∙ </m:t>
                              </m:r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 ∙ </m:t>
                              </m:r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 ∙ </m:t>
                              </m:r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10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den>
                              </m:f>
                            </m:oMath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2000" i="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1 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∙1 ∙10 ∙10</m:t>
                              </m:r>
                            </m:oMath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2000" i="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10 ∙10</m:t>
                              </m:r>
                            </m:oMath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7 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×7 ×7 ×7 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2000" i="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7 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×7 × </m:t>
                              </m:r>
                              <m:f>
                                <m:fPr>
                                  <m:ctrlPr>
                                    <a:rPr lang="en-PH" sz="2000" i="1">
                                      <a:effectLst/>
                                      <a:latin typeface="Cambria Math" panose="02040503050406030204" pitchFamily="18" charset="0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effectLst/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7</m:t>
                                  </m:r>
                                </m:den>
                              </m:f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 ×7 </m:t>
                              </m:r>
                            </m:oMath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endParaRPr lang="en-US" sz="2000" i="0" dirty="0">
                            <a:effectLst/>
                            <a:latin typeface="Verdana" pitchFamily="34" charset="0"/>
                            <a:ea typeface="Verdana" pitchFamily="34" charset="0"/>
                            <a:cs typeface="Verdana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/>
                                  <a:ea typeface="Verdana"/>
                                  <a:cs typeface="Verdana"/>
                                </a:rPr>
                                <m:t>7 </m:t>
                              </m:r>
                              <m:r>
                                <a:rPr lang="en-US" sz="2000" i="1">
                                  <a:effectLst/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×7 ×7</m:t>
                              </m:r>
                            </m:oMath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656000">
                    <a:tc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Equivalent Expression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vert="vert27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7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8988164"/>
                  </p:ext>
                </p:extLst>
              </p:nvPr>
            </p:nvGraphicFramePr>
            <p:xfrm>
              <a:off x="2645449" y="520394"/>
              <a:ext cx="7560000" cy="575924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52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5896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Rosa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Victor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Emma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2000">
                    <a:tc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Given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vert="vert27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118" t="-40260" r="-218235" b="-45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4573" t="-40260" r="-86432" b="-45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1176" t="-40260" r="-1176" b="-45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72283">
                    <a:tc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Student Work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vert="vert27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118" t="-49315" r="-218235" b="-60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4573" t="-49315" r="-86432" b="-607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1176" t="-49315" r="-1176" b="-607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656000">
                    <a:tc>
                      <a:txBody>
                        <a:bodyPr/>
                        <a:lstStyle/>
                        <a:p>
                          <a:pPr marL="71755" marR="71755"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Equivalent Expression</a:t>
                          </a:r>
                          <a:endParaRPr lang="en-PH" sz="18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vert="vert27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4118" t="-249618" r="-218235" b="-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4573" t="-249618" r="-86432" b="-15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51176" t="-249618" r="-1176" b="-15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7" name="Group 6"/>
          <p:cNvGrpSpPr/>
          <p:nvPr/>
        </p:nvGrpSpPr>
        <p:grpSpPr>
          <a:xfrm>
            <a:off x="5859591" y="2667045"/>
            <a:ext cx="3742531" cy="946693"/>
            <a:chOff x="5063331" y="6846888"/>
            <a:chExt cx="3742531" cy="946693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5287043" y="7579269"/>
              <a:ext cx="0" cy="21431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: Rounded Corners 11"/>
            <p:cNvSpPr/>
            <p:nvPr/>
          </p:nvSpPr>
          <p:spPr>
            <a:xfrm>
              <a:off x="5063331" y="6950619"/>
              <a:ext cx="336550" cy="65405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H"/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>
              <a:off x="8431212" y="6846888"/>
              <a:ext cx="374650" cy="8509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: Rounded Corners 19"/>
            <p:cNvSpPr/>
            <p:nvPr/>
          </p:nvSpPr>
          <p:spPr>
            <a:xfrm>
              <a:off x="8472946" y="6942138"/>
              <a:ext cx="271670" cy="646112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H"/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658517" y="7579269"/>
              <a:ext cx="0" cy="214312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: Rounded Corners 11"/>
            <p:cNvSpPr/>
            <p:nvPr/>
          </p:nvSpPr>
          <p:spPr>
            <a:xfrm>
              <a:off x="5565775" y="6950619"/>
              <a:ext cx="336550" cy="654050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H"/>
            </a:p>
          </p:txBody>
        </p:sp>
      </p:grpSp>
      <p:sp>
        <p:nvSpPr>
          <p:cNvPr id="19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1875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508166" y="520394"/>
            <a:ext cx="8826735" cy="4439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0850">
              <a:lnSpc>
                <a:spcPct val="107000"/>
              </a:lnSpc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What do you notice about the bases of the numerator and denominator of each given exponential expression?</a:t>
            </a:r>
            <a:endParaRPr lang="en-PH" sz="2000" i="1" dirty="0">
              <a:latin typeface="Cambria Math"/>
              <a:ea typeface="Cambria Math"/>
              <a:cs typeface="Verdana"/>
            </a:endParaRPr>
          </a:p>
          <a:p>
            <a:pPr marL="914400" indent="-450850">
              <a:lnSpc>
                <a:spcPct val="107000"/>
              </a:lnSpc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indent="-450850">
              <a:lnSpc>
                <a:spcPct val="107000"/>
              </a:lnSpc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indent="-450850">
              <a:lnSpc>
                <a:spcPct val="107000"/>
              </a:lnSpc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indent="-450850">
              <a:lnSpc>
                <a:spcPct val="107000"/>
              </a:lnSpc>
              <a:buFont typeface="+mj-lt"/>
              <a:buAutoNum type="alphaLcPeriod"/>
            </a:pPr>
            <a:endParaRPr lang="en-US" sz="2400" dirty="0">
              <a:latin typeface="Verdana"/>
              <a:ea typeface="Verdana"/>
              <a:cs typeface="Verdana"/>
            </a:endParaRPr>
          </a:p>
          <a:p>
            <a:pPr marL="914400" indent="-450850">
              <a:lnSpc>
                <a:spcPct val="107000"/>
              </a:lnSpc>
              <a:buFont typeface="+mj-lt"/>
              <a:buAutoNum type="alphaLcPeriod"/>
            </a:pPr>
            <a:r>
              <a:rPr lang="en-US" sz="2400" dirty="0">
                <a:latin typeface="Verdana"/>
                <a:ea typeface="Verdana"/>
                <a:cs typeface="Verdana"/>
              </a:rPr>
              <a:t>Circle the exponents in the given exponential expression and circle the exponent in the equivalent expression each student created. How are they related?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6480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1875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520042" y="520393"/>
                <a:ext cx="8814859" cy="5561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1800"/>
                  </a:spcAft>
                </a:pPr>
                <a:r>
                  <a:rPr lang="en-US" sz="2400" b="1" dirty="0">
                    <a:latin typeface="Verdana"/>
                    <a:ea typeface="Verdana"/>
                    <a:cs typeface="Verdana"/>
                  </a:rPr>
                  <a:t>Task 2:</a:t>
                </a:r>
                <a:endParaRPr lang="en-PH" sz="2000" i="1" dirty="0">
                  <a:latin typeface="Cambria Math"/>
                  <a:ea typeface="Cambria Math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Fill in the blank to complete the rule for dividing exponential expressions with the same bases.</a:t>
                </a:r>
                <a:endParaRPr lang="en-PH" sz="2000" i="1" dirty="0">
                  <a:latin typeface="Cambria Math"/>
                  <a:ea typeface="Cambria Math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PH" sz="2000" i="1" dirty="0">
                  <a:latin typeface="Cambria Math"/>
                  <a:ea typeface="Cambria Math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PH" sz="2000" i="1" dirty="0">
                  <a:latin typeface="Cambria Math"/>
                  <a:ea typeface="Cambria Math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PH" sz="2000" i="1" dirty="0">
                  <a:latin typeface="Cambria Math"/>
                  <a:ea typeface="Cambria Math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PH" sz="2000" i="1" dirty="0">
                  <a:latin typeface="Cambria Math"/>
                  <a:ea typeface="Cambria Math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PH" sz="2000" i="1" dirty="0">
                  <a:latin typeface="Cambria Math"/>
                  <a:ea typeface="Cambria Math"/>
                  <a:cs typeface="Verdana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When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 </m:t>
                    </m:r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is a nonzero real number,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𝑚</m:t>
                    </m:r>
                  </m:oMath>
                </a14:m>
                <a:r>
                  <a:rPr lang="en-US" sz="2400" i="1" dirty="0">
                    <a:latin typeface="Verdana"/>
                    <a:ea typeface="Verdana"/>
                    <a:cs typeface="Verdana"/>
                  </a:rPr>
                  <a:t> 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 Math"/>
                        <a:cs typeface="Cambria Math"/>
                      </a:rPr>
                      <m:t>𝑛</m:t>
                    </m:r>
                  </m:oMath>
                </a14:m>
                <a:r>
                  <a:rPr lang="en-US" sz="2400" i="1" dirty="0">
                    <a:latin typeface="Verdana"/>
                    <a:ea typeface="Verdana"/>
                    <a:cs typeface="Verdana"/>
                  </a:rPr>
                  <a:t> </a:t>
                </a:r>
                <a:br>
                  <a:rPr lang="en-US" sz="2400" i="1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>are integers, the exponential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PH" sz="2400" i="1">
                                <a:latin typeface="Cambria Math" panose="02040503050406030204" pitchFamily="18" charset="0"/>
                                <a:ea typeface="Verdana"/>
                                <a:cs typeface="Verdana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  <a:ea typeface="Verdana"/>
                                <a:cs typeface="Verdana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Verdana"/>
                                <a:cs typeface="Verdana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PH" sz="2400" i="1">
                                <a:latin typeface="Cambria Math" panose="02040503050406030204" pitchFamily="18" charset="0"/>
                                <a:ea typeface="Verdana"/>
                                <a:cs typeface="Verdana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/>
                                <a:ea typeface="Verdana"/>
                                <a:cs typeface="Verdana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400" i="1">
                                <a:latin typeface="Cambria Math"/>
                                <a:ea typeface="Verdana"/>
                                <a:cs typeface="Verdana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 is </a:t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>equal to </a:t>
                </a:r>
                <a:endParaRPr lang="en-PH" sz="2000" i="1" dirty="0"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042" y="520393"/>
                <a:ext cx="8814859" cy="5561202"/>
              </a:xfrm>
              <a:prstGeom prst="rect">
                <a:avLst/>
              </a:prstGeom>
              <a:blipFill>
                <a:blip r:embed="rId4"/>
                <a:stretch>
                  <a:fillRect l="-1037" t="-1095" b="-13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2007765" y="2103618"/>
            <a:ext cx="8280000" cy="1195221"/>
            <a:chOff x="483765" y="2103617"/>
            <a:chExt cx="8280000" cy="1195221"/>
          </a:xfrm>
        </p:grpSpPr>
        <p:sp>
          <p:nvSpPr>
            <p:cNvPr id="7" name="Rectangle: Rounded Corners 69"/>
            <p:cNvSpPr/>
            <p:nvPr/>
          </p:nvSpPr>
          <p:spPr>
            <a:xfrm>
              <a:off x="483765" y="2103617"/>
              <a:ext cx="8280000" cy="1195221"/>
            </a:xfrm>
            <a:prstGeom prst="roundRect">
              <a:avLst/>
            </a:prstGeom>
            <a:solidFill>
              <a:srgbClr val="BAE6F4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631825">
                <a:lnSpc>
                  <a:spcPct val="107000"/>
                </a:lnSpc>
                <a:spcAft>
                  <a:spcPts val="800"/>
                </a:spcAft>
                <a:buClrTx/>
                <a:defRPr/>
              </a:pPr>
              <a:r>
                <a:rPr lang="en-US" sz="2000" dirty="0">
                  <a:solidFill>
                    <a:srgbClr val="00629D"/>
                  </a:solidFill>
                  <a:latin typeface="Verdana"/>
                  <a:ea typeface="Cambria Math"/>
                  <a:cs typeface="Cambria Math"/>
                </a:rPr>
                <a:t>When dividing two powers that have the same nonzero base, keep the base and </a:t>
              </a:r>
              <a:r>
                <a:rPr lang="en-US" sz="2000" b="1" u="sng" dirty="0">
                  <a:solidFill>
                    <a:srgbClr val="00629D"/>
                  </a:solidFill>
                  <a:latin typeface="Verdana"/>
                  <a:ea typeface="Cambria Math"/>
                  <a:cs typeface="Cambria Math"/>
                </a:rPr>
                <a:t>		</a:t>
              </a:r>
              <a:r>
                <a:rPr lang="en-US" sz="2000" b="1" dirty="0">
                  <a:solidFill>
                    <a:srgbClr val="00629D"/>
                  </a:solidFill>
                  <a:latin typeface="Verdana"/>
                  <a:ea typeface="Cambria Math"/>
                  <a:cs typeface="Cambria Math"/>
                </a:rPr>
                <a:t> </a:t>
              </a:r>
              <a:r>
                <a:rPr lang="en-US" sz="2000" dirty="0">
                  <a:solidFill>
                    <a:srgbClr val="00629D"/>
                  </a:solidFill>
                  <a:latin typeface="Verdana"/>
                  <a:ea typeface="Cambria Math"/>
                  <a:cs typeface="Cambria Math"/>
                </a:rPr>
                <a:t>the exponents. This is called the </a:t>
              </a:r>
              <a:r>
                <a:rPr lang="en-US" sz="2000" b="1" dirty="0">
                  <a:solidFill>
                    <a:srgbClr val="00629D"/>
                  </a:solidFill>
                  <a:latin typeface="Verdana"/>
                  <a:ea typeface="Cambria Math"/>
                  <a:cs typeface="Cambria Math"/>
                </a:rPr>
                <a:t>quotient of powers exponent law</a:t>
              </a:r>
              <a:r>
                <a:rPr lang="en-US" sz="2000" dirty="0">
                  <a:solidFill>
                    <a:srgbClr val="00629D"/>
                  </a:solidFill>
                  <a:latin typeface="Verdana"/>
                  <a:ea typeface="Cambria Math"/>
                  <a:cs typeface="Cambria Math"/>
                </a:rPr>
                <a:t>.</a:t>
              </a:r>
              <a:endParaRPr lang="en-PH" sz="2000" i="1" dirty="0">
                <a:solidFill>
                  <a:sysClr val="window" lastClr="FFFFFF"/>
                </a:solidFill>
                <a:latin typeface="Cambria Math"/>
                <a:ea typeface="Cambria Math"/>
                <a:cs typeface="Cambria Math"/>
              </a:endParaRPr>
            </a:p>
          </p:txBody>
        </p:sp>
        <p:pic>
          <p:nvPicPr>
            <p:cNvPr id="10" name="Shape 19" descr="Icon&#10;&#10;Description automatically generated"/>
            <p:cNvPicPr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22491" y="2248507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: Rounded Corners 20"/>
              <p:cNvSpPr/>
              <p:nvPr/>
            </p:nvSpPr>
            <p:spPr>
              <a:xfrm>
                <a:off x="3378137" y="5041717"/>
                <a:ext cx="1309707" cy="1401434"/>
              </a:xfrm>
              <a:prstGeom prst="roundRect">
                <a:avLst/>
              </a:prstGeom>
              <a:solidFill>
                <a:sysClr val="window" lastClr="FFFFFF"/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265113" indent="-265113">
                  <a:lnSpc>
                    <a:spcPct val="107000"/>
                  </a:lnSpc>
                  <a:buClrTx/>
                  <a:buFont typeface="Courier New"/>
                  <a:buChar char="o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ysClr val="windowText" lastClr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solidFill>
                              <a:sysClr val="windowText" lastClr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𝑚𝑛</m:t>
                        </m:r>
                      </m:sup>
                    </m:sSup>
                    <m:r>
                      <a:rPr lang="en-US" sz="2400" i="1">
                        <a:solidFill>
                          <a:sysClr val="windowText" lastClr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.</m:t>
                    </m:r>
                  </m:oMath>
                </a14:m>
                <a:endParaRPr lang="en-PH" sz="2400" i="1" dirty="0">
                  <a:solidFill>
                    <a:sysClr val="windowText" lastClr="000000"/>
                  </a:solidFill>
                  <a:latin typeface="Cambria Math"/>
                  <a:ea typeface="Cambria Math"/>
                  <a:cs typeface="Cambria Math"/>
                </a:endParaRPr>
              </a:p>
              <a:p>
                <a:pPr marL="265113" indent="-265113">
                  <a:lnSpc>
                    <a:spcPct val="107000"/>
                  </a:lnSpc>
                  <a:buClrTx/>
                  <a:buFont typeface="Courier New"/>
                  <a:buChar char="o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ysClr val="windowText" lastClr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solidFill>
                              <a:sysClr val="windowText" lastClr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𝑚</m:t>
                        </m:r>
                        <m:r>
                          <a:rPr lang="en-US" sz="2400" i="1">
                            <a:solidFill>
                              <a:sysClr val="windowText" lastClr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ysClr val="windowText" lastClr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solidFill>
                          <a:sysClr val="windowText" lastClr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.</m:t>
                    </m:r>
                  </m:oMath>
                </a14:m>
                <a:endParaRPr lang="en-PH" sz="2400" i="1" dirty="0">
                  <a:solidFill>
                    <a:sysClr val="windowText" lastClr="000000"/>
                  </a:solidFill>
                  <a:latin typeface="Cambria Math"/>
                  <a:ea typeface="Cambria Math"/>
                  <a:cs typeface="Cambria Math"/>
                </a:endParaRPr>
              </a:p>
              <a:p>
                <a:pPr marL="265113" indent="-265113">
                  <a:lnSpc>
                    <a:spcPct val="107000"/>
                  </a:lnSpc>
                  <a:spcAft>
                    <a:spcPts val="800"/>
                  </a:spcAft>
                  <a:buClrTx/>
                  <a:buFont typeface="Courier New"/>
                  <a:buChar char="o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ysClr val="windowText" lastClr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𝑎</m:t>
                        </m:r>
                      </m:e>
                      <m:sup>
                        <m:r>
                          <a:rPr lang="en-US" sz="2400" i="1">
                            <a:solidFill>
                              <a:sysClr val="windowText" lastClr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𝑚</m:t>
                        </m:r>
                        <m:r>
                          <a:rPr lang="en-US" sz="2400" i="1">
                            <a:solidFill>
                              <a:sysClr val="windowText" lastClr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r>
                          <a:rPr lang="en-US" sz="2400" i="1">
                            <a:solidFill>
                              <a:sysClr val="windowText" lastClr="000000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𝑛</m:t>
                        </m:r>
                      </m:sup>
                    </m:sSup>
                    <m:r>
                      <a:rPr lang="en-US" sz="2400" i="1">
                        <a:solidFill>
                          <a:sysClr val="windowText" lastClr="000000"/>
                        </a:solidFill>
                        <a:latin typeface="Cambria Math"/>
                        <a:ea typeface="Cambria Math"/>
                        <a:cs typeface="Cambria Math"/>
                      </a:rPr>
                      <m:t>.</m:t>
                    </m:r>
                  </m:oMath>
                </a14:m>
                <a:endParaRPr lang="en-PH" sz="2400" i="1" dirty="0">
                  <a:solidFill>
                    <a:sysClr val="windowText" lastClr="000000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3" name="Rectangle: Rounded Corners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8137" y="5041717"/>
                <a:ext cx="1309707" cy="1401434"/>
              </a:xfrm>
              <a:prstGeom prst="roundRect">
                <a:avLst/>
              </a:prstGeom>
              <a:blipFill>
                <a:blip r:embed="rId6"/>
                <a:stretch>
                  <a:fillRect l="-922" b="-4741"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4818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1875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543792" y="520393"/>
                <a:ext cx="8791109" cy="5604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1800"/>
                  </a:spcAft>
                </a:pPr>
                <a:r>
                  <a:rPr lang="en-US" sz="2400" b="1" dirty="0">
                    <a:latin typeface="Verdana" pitchFamily="34" charset="0"/>
                    <a:ea typeface="Verdana" pitchFamily="34" charset="0"/>
                    <a:cs typeface="Verdana"/>
                  </a:rPr>
                  <a:t>Task 3: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/>
                  </a:rPr>
                  <a:t>Show your steps of applying the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Cambria Math"/>
                  </a:rPr>
                  <a:t>quotient of powers exponent law to evaluate.</a:t>
                </a:r>
              </a:p>
              <a:p>
                <a:pPr marL="363538" indent="-363538">
                  <a:buAutoNum type="arabicPeriod"/>
                </a:pPr>
                <a:r>
                  <a:rPr lang="en-PH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PH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PH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PH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PH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endParaRPr lang="en-PH" sz="2400" i="1" dirty="0">
                  <a:latin typeface="Verdana" pitchFamily="34" charset="0"/>
                  <a:ea typeface="Verdana" pitchFamily="34" charset="0"/>
                </a:endParaRPr>
              </a:p>
              <a:p>
                <a:pPr marL="363538" indent="-363538"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363538" indent="-363538"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363538" indent="-363538"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363538" indent="-363538">
                  <a:buAutoNum type="arabicPeriod"/>
                </a:pPr>
                <a:r>
                  <a:rPr lang="en-PH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PH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PH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PH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PH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PH" sz="2400" i="1" dirty="0">
                  <a:latin typeface="Verdana" pitchFamily="34" charset="0"/>
                  <a:ea typeface="Verdana" pitchFamily="34" charset="0"/>
                </a:endParaRPr>
              </a:p>
              <a:p>
                <a:pPr marL="363538" indent="-363538"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363538" indent="-363538"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363538" indent="-363538"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</a:endParaRPr>
              </a:p>
              <a:p>
                <a:pPr marL="363538" indent="-363538">
                  <a:buAutoNum type="arabicPeriod"/>
                </a:pPr>
                <a:r>
                  <a:rPr lang="en-PH" sz="2400" dirty="0">
                    <a:latin typeface="Verdana" pitchFamily="34" charset="0"/>
                    <a:ea typeface="Verdana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PH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PH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PH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PH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−7</m:t>
                                </m:r>
                              </m:e>
                            </m:d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</m:oMath>
                </a14:m>
                <a:endParaRPr lang="en-PH" sz="2400" i="1" dirty="0">
                  <a:latin typeface="Verdana" pitchFamily="34" charset="0"/>
                  <a:ea typeface="Verdana" pitchFamily="34" charset="0"/>
                </a:endParaRPr>
              </a:p>
              <a:p>
                <a:pPr>
                  <a:lnSpc>
                    <a:spcPct val="107000"/>
                  </a:lnSpc>
                </a:pPr>
                <a:endParaRPr lang="en-PH" sz="24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792" y="520393"/>
                <a:ext cx="8791109" cy="5604548"/>
              </a:xfrm>
              <a:prstGeom prst="rect">
                <a:avLst/>
              </a:prstGeom>
              <a:blipFill>
                <a:blip r:embed="rId4"/>
                <a:stretch>
                  <a:fillRect l="-1040" t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500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8230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1875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900493" y="0"/>
            <a:ext cx="916731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8.2.3 Activity: Station 2: Power of a Quotient Exponent Law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7201" y="28794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1520042" y="1386026"/>
                <a:ext cx="8867542" cy="1627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</a:pPr>
                <a:r>
                  <a:rPr lang="en-US" sz="2000" b="1" dirty="0">
                    <a:latin typeface="Verdana"/>
                    <a:ea typeface="Verdana"/>
                    <a:cs typeface="Verdana"/>
                  </a:rPr>
                  <a:t>Task 1: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Luis and Maya have shown their steps for using the power of a quotient exponent law to create equivalent expressions. Amir is confused. Help Amir complete his task by showing similar steps to Luis and Maya for his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PH" sz="2000" i="1">
                                <a:latin typeface="Cambria Math" panose="02040503050406030204" pitchFamily="18" charset="0"/>
                                <a:ea typeface="Verdana"/>
                                <a:cs typeface="Verdana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PH" sz="2000" i="1">
                                    <a:latin typeface="Cambria Math" panose="02040503050406030204" pitchFamily="18" charset="0"/>
                                    <a:ea typeface="Verdana"/>
                                    <a:cs typeface="Verdana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  <a:endParaRPr lang="en-PH" sz="1800" i="1" dirty="0"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042" y="1386026"/>
                <a:ext cx="8867542" cy="1627753"/>
              </a:xfrm>
              <a:prstGeom prst="rect">
                <a:avLst/>
              </a:prstGeom>
              <a:blipFill>
                <a:blip r:embed="rId5"/>
                <a:stretch>
                  <a:fillRect l="-687" t="-2247" r="-412" b="-7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3486579"/>
                  </p:ext>
                </p:extLst>
              </p:nvPr>
            </p:nvGraphicFramePr>
            <p:xfrm>
              <a:off x="2144946" y="3013779"/>
              <a:ext cx="7380000" cy="34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Luis</a:t>
                          </a:r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Maya</a:t>
                          </a:r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Amir</a:t>
                          </a:r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24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PH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PH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/>
                                                <a:cs typeface="Verdana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8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10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US" sz="18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 </m:t>
                                </m:r>
                                <m:r>
                                  <a:rPr lang="en-US" sz="18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∙ </m:t>
                                </m:r>
                                <m:f>
                                  <m:f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  <m:r>
                                  <a:rPr lang="en-US" sz="18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8 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∙8 ∙8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10 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∙10 ∙10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PH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8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PH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10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PH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PH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/>
                                                <a:cs typeface="Verdana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11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11</m:t>
                                    </m:r>
                                  </m:den>
                                </m:f>
                                <m:r>
                                  <a:rPr lang="en-US" sz="18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 </m:t>
                                </m:r>
                                <m:r>
                                  <a:rPr lang="en-US" sz="18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∙ </m:t>
                                </m:r>
                                <m:f>
                                  <m:f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den>
                                </m:f>
                                <m:r>
                                  <a:rPr lang="en-US" sz="18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den>
                                </m:f>
                                <m:r>
                                  <a:rPr lang="en-US" sz="18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den>
                                </m:f>
                                <m:r>
                                  <a:rPr lang="en-US" sz="18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3 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∙3 ∙3 ∙3 ∙3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11 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∙11 ∙11 ∙11 ∙11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2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18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PH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PH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11</m:t>
                                        </m:r>
                                      </m:e>
                                      <m:sup>
                                        <m:r>
                                          <a:rPr lang="en-US" sz="18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1800" i="1" smtClean="0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PH" sz="18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PH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/>
                                                <a:cs typeface="Verdana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18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7</m:t>
                                            </m:r>
                                          </m:num>
                                          <m:den>
                                            <m:r>
                                              <a:rPr lang="en-US" sz="18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1800" i="1" dirty="0">
                            <a:effectLst/>
                            <a:latin typeface="Cambria Math"/>
                            <a:ea typeface="Verdana"/>
                            <a:cs typeface="Verdana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18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1800" i="1" smtClean="0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18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</m:t>
                                </m:r>
                                <m:f>
                                  <m:fPr>
                                    <m:ctrlPr>
                                      <a:rPr lang="en-PH" sz="1800" i="1" smtClean="0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18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</m:t>
                                </m:r>
                                <m:f>
                                  <m:fPr>
                                    <m:ctrlPr>
                                      <a:rPr lang="en-PH" sz="1800" i="1" smtClean="0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18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</m:t>
                                </m:r>
                                <m:f>
                                  <m:fPr>
                                    <m:ctrlPr>
                                      <a:rPr lang="en-PH" sz="1800" i="1" smtClean="0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18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</m:t>
                                </m:r>
                                <m:f>
                                  <m:fPr>
                                    <m:ctrlPr>
                                      <a:rPr lang="en-PH" sz="1800" i="1" smtClean="0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18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18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53486579"/>
                  </p:ext>
                </p:extLst>
              </p:nvPr>
            </p:nvGraphicFramePr>
            <p:xfrm>
              <a:off x="2144946" y="3013779"/>
              <a:ext cx="7380000" cy="342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4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Luis</a:t>
                          </a:r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Maya</a:t>
                          </a:r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1800" b="1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Amir</a:t>
                          </a:r>
                          <a:endParaRPr lang="en-PH" sz="18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2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13808" r="-215676" b="-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1498" t="-13808" r="-75771" b="-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42353" t="-13808" r="-1176" b="-8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3473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1875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531917" y="520394"/>
                <a:ext cx="8802984" cy="5702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1800"/>
                  </a:spcAft>
                </a:pPr>
                <a:r>
                  <a:rPr lang="en-US" sz="2400" b="1" dirty="0">
                    <a:latin typeface="Verdana"/>
                    <a:ea typeface="Verdana"/>
                    <a:cs typeface="Verdana"/>
                  </a:rPr>
                  <a:t>Task 2:</a:t>
                </a:r>
                <a:endParaRPr lang="en-PH" sz="2000" i="1" dirty="0">
                  <a:latin typeface="Cambria Math"/>
                  <a:ea typeface="Cambria Math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Fill in the blank to complete the rule for </a:t>
                </a:r>
                <a:r>
                  <a:rPr lang="en-US" sz="2400" dirty="0">
                    <a:latin typeface="Verdana"/>
                    <a:ea typeface="Cambria Math"/>
                    <a:cs typeface="Cambria Math"/>
                  </a:rPr>
                  <a:t>raising a fraction to a power</a:t>
                </a:r>
                <a:r>
                  <a:rPr lang="en-US" sz="2400" dirty="0">
                    <a:latin typeface="Verdana"/>
                    <a:ea typeface="Verdana"/>
                    <a:cs typeface="Verdana"/>
                  </a:rPr>
                  <a:t>.</a:t>
                </a: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4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Verdana"/>
                    <a:cs typeface="Verdana"/>
                  </a:rPr>
                  <a:t>When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𝑎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are nonzero real numbers,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Verdana"/>
                        <a:cs typeface="Verdana"/>
                      </a:rPr>
                      <m:t>𝑚</m:t>
                    </m:r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is an integer, the exponential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24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PH" sz="2400" i="1">
                                <a:latin typeface="Cambria Math" panose="02040503050406030204" pitchFamily="18" charset="0"/>
                                <a:ea typeface="Verdana"/>
                                <a:cs typeface="Verdana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PH" sz="2400" i="1">
                                    <a:latin typeface="Cambria Math" panose="02040503050406030204" pitchFamily="18" charset="0"/>
                                    <a:ea typeface="Verdana"/>
                                    <a:cs typeface="Verdana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/>
                    <a:ea typeface="Verdana"/>
                    <a:cs typeface="Verdana"/>
                  </a:rPr>
                  <a:t> is </a:t>
                </a: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br>
                  <a:rPr lang="en-US" sz="2400" dirty="0">
                    <a:latin typeface="Verdana"/>
                    <a:ea typeface="Verdana"/>
                    <a:cs typeface="Verdana"/>
                  </a:rPr>
                </a:br>
                <a:r>
                  <a:rPr lang="en-US" sz="2400" dirty="0">
                    <a:latin typeface="Verdana"/>
                    <a:ea typeface="Verdana"/>
                    <a:cs typeface="Verdana"/>
                  </a:rPr>
                  <a:t>equal to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917" y="520394"/>
                <a:ext cx="8802984" cy="5702523"/>
              </a:xfrm>
              <a:prstGeom prst="rect">
                <a:avLst/>
              </a:prstGeom>
              <a:blipFill>
                <a:blip r:embed="rId4"/>
                <a:stretch>
                  <a:fillRect l="-1039" t="-1068" b="-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2007765" y="2090729"/>
            <a:ext cx="8280000" cy="1531980"/>
            <a:chOff x="-742420" y="-453194"/>
            <a:chExt cx="8280000" cy="1532257"/>
          </a:xfrm>
        </p:grpSpPr>
        <p:sp>
          <p:nvSpPr>
            <p:cNvPr id="10" name="Rectangle: Rounded Corners 69"/>
            <p:cNvSpPr/>
            <p:nvPr/>
          </p:nvSpPr>
          <p:spPr>
            <a:xfrm>
              <a:off x="-742420" y="-453194"/>
              <a:ext cx="8280000" cy="1532257"/>
            </a:xfrm>
            <a:prstGeom prst="roundRect">
              <a:avLst/>
            </a:prstGeom>
            <a:solidFill>
              <a:srgbClr val="BBE5F4"/>
            </a:solidFill>
            <a:ln w="12700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631825">
                <a:lnSpc>
                  <a:spcPct val="107000"/>
                </a:lnSpc>
                <a:spcAft>
                  <a:spcPts val="800"/>
                </a:spcAft>
                <a:buClrTx/>
                <a:defRPr/>
              </a:pPr>
              <a:r>
                <a:rPr lang="en-US" sz="2000" dirty="0">
                  <a:solidFill>
                    <a:srgbClr val="00619E"/>
                  </a:solidFill>
                  <a:latin typeface="Verdana"/>
                  <a:ea typeface="Cambria Math"/>
                  <a:cs typeface="Cambria Math"/>
                </a:rPr>
                <a:t>When raising a fraction to a power, the result is equal to the quotient of the numerator and denominator raised separately to the </a:t>
              </a:r>
              <a:r>
                <a:rPr lang="en-US" sz="2000" b="1" u="sng" dirty="0">
                  <a:solidFill>
                    <a:srgbClr val="00619E"/>
                  </a:solidFill>
                  <a:latin typeface="Verdana"/>
                  <a:ea typeface="Cambria Math"/>
                  <a:cs typeface="Cambria Math"/>
                </a:rPr>
                <a:t>		</a:t>
              </a:r>
              <a:r>
                <a:rPr lang="en-US" sz="2000" dirty="0">
                  <a:solidFill>
                    <a:srgbClr val="00619E"/>
                  </a:solidFill>
                  <a:latin typeface="Verdana"/>
                  <a:ea typeface="Cambria Math"/>
                  <a:cs typeface="Cambria Math"/>
                </a:rPr>
                <a:t> power. This is called the </a:t>
              </a:r>
              <a:r>
                <a:rPr lang="en-US" sz="2000" b="1" dirty="0">
                  <a:solidFill>
                    <a:srgbClr val="00619E"/>
                  </a:solidFill>
                  <a:latin typeface="Verdana"/>
                  <a:ea typeface="Cambria Math"/>
                  <a:cs typeface="Cambria Math"/>
                </a:rPr>
                <a:t>power of a quotient exponent law</a:t>
              </a:r>
              <a:r>
                <a:rPr lang="en-US" sz="2000" dirty="0">
                  <a:solidFill>
                    <a:srgbClr val="00619E"/>
                  </a:solidFill>
                  <a:latin typeface="Verdana"/>
                  <a:ea typeface="Cambria Math"/>
                  <a:cs typeface="Cambria Math"/>
                </a:rPr>
                <a:t>.</a:t>
              </a:r>
              <a:endParaRPr lang="en-PH" sz="1800" i="1" dirty="0">
                <a:solidFill>
                  <a:sysClr val="window" lastClr="FFFFFF"/>
                </a:solidFill>
                <a:latin typeface="Cambria Math"/>
                <a:ea typeface="Cambria Math"/>
                <a:cs typeface="Cambria Math"/>
              </a:endParaRPr>
            </a:p>
          </p:txBody>
        </p:sp>
        <p:pic>
          <p:nvPicPr>
            <p:cNvPr id="11" name="Shape 19" descr="Icon&#10;&#10;Description automatically generated"/>
            <p:cNvPicPr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-602904" y="-285321"/>
              <a:ext cx="539750" cy="53911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: Rounded Corners 227"/>
              <p:cNvSpPr/>
              <p:nvPr/>
            </p:nvSpPr>
            <p:spPr>
              <a:xfrm>
                <a:off x="3435518" y="5344083"/>
                <a:ext cx="1656146" cy="1296035"/>
              </a:xfrm>
              <a:prstGeom prst="roundRect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65113" indent="-265113">
                  <a:lnSpc>
                    <a:spcPct val="107000"/>
                  </a:lnSpc>
                  <a:buClrTx/>
                  <a:buFont typeface="Courier New" pitchFamily="49" charset="0"/>
                  <a:buChar char="o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20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𝑎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𝑏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 − 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. </a:t>
                </a:r>
                <a:endParaRPr lang="en-PH" sz="2000" i="1" dirty="0">
                  <a:solidFill>
                    <a:sysClr val="window" lastClr="FFFFFF"/>
                  </a:solidFill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265113" indent="-265113">
                  <a:lnSpc>
                    <a:spcPct val="107000"/>
                  </a:lnSpc>
                  <a:buClrTx/>
                  <a:buFont typeface="Courier New" pitchFamily="49" charset="0"/>
                  <a:buChar char="o"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PH" sz="20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PH" sz="200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PH" sz="200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Cambria Math"/>
                              </a:rPr>
                              <m:t>𝑚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.</a:t>
                </a:r>
                <a:endParaRPr lang="en-PH" sz="2000" i="1" dirty="0">
                  <a:solidFill>
                    <a:sysClr val="window" lastClr="FFFFFF"/>
                  </a:solidFill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265113" indent="-265113">
                  <a:lnSpc>
                    <a:spcPct val="107000"/>
                  </a:lnSpc>
                  <a:spcAft>
                    <a:spcPts val="800"/>
                  </a:spcAft>
                  <a:buClrTx/>
                  <a:buFont typeface="Courier New" pitchFamily="49" charset="0"/>
                  <a:buChar char="o"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20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𝑎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en-PH" sz="20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 − </m:t>
                        </m:r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𝑏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.</a:t>
                </a:r>
                <a:endParaRPr lang="en-PH" sz="2000" i="1" dirty="0">
                  <a:solidFill>
                    <a:sysClr val="window" lastClr="FFFFFF"/>
                  </a:solidFill>
                  <a:latin typeface="Verdana" pitchFamily="34" charset="0"/>
                  <a:ea typeface="Verdana" pitchFamily="34" charset="0"/>
                  <a:cs typeface="Cambria Math"/>
                </a:endParaRPr>
              </a:p>
            </p:txBody>
          </p:sp>
        </mc:Choice>
        <mc:Fallback xmlns="">
          <p:sp>
            <p:nvSpPr>
              <p:cNvPr id="15" name="Rectangle: Rounded Corners 2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5518" y="5344083"/>
                <a:ext cx="1656146" cy="1296035"/>
              </a:xfrm>
              <a:prstGeom prst="roundRect">
                <a:avLst/>
              </a:prstGeom>
              <a:blipFill>
                <a:blip r:embed="rId6"/>
                <a:stretch>
                  <a:fillRect b="-6542"/>
                </a:stretch>
              </a:blip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490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1875" y="-1187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45445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520042" y="520394"/>
                <a:ext cx="8814859" cy="4708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1800"/>
                  </a:spcAft>
                </a:pPr>
                <a:r>
                  <a:rPr lang="en-US" sz="2400" b="1" dirty="0">
                    <a:latin typeface="Verdana" pitchFamily="34" charset="0"/>
                    <a:ea typeface="Verdana" pitchFamily="34" charset="0"/>
                    <a:cs typeface="Verdana"/>
                  </a:rPr>
                  <a:t>Task 3: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/>
                  </a:rPr>
                  <a:t>Apply the power of quotient exponent law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Cambria Math"/>
                  </a:rPr>
                  <a:t>. Do not simplify the fractions.</a:t>
                </a:r>
                <a:endParaRPr lang="en-PH" sz="24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PH" sz="2400" dirty="0">
                    <a:latin typeface="Verdana" pitchFamily="34" charset="0"/>
                    <a:ea typeface="Verdana" pitchFamily="34" charset="0"/>
                    <a:cs typeface="Verdan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24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PH" sz="2400" i="1">
                                <a:latin typeface="Cambria Math" panose="02040503050406030204" pitchFamily="18" charset="0"/>
                                <a:ea typeface="Verdana"/>
                                <a:cs typeface="Verdana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PH" sz="2400" i="1">
                                    <a:latin typeface="Cambria Math" panose="02040503050406030204" pitchFamily="18" charset="0"/>
                                    <a:ea typeface="Verdana"/>
                                    <a:cs typeface="Verdana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−4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2</m:t>
                        </m:r>
                      </m:sup>
                    </m:sSup>
                  </m:oMath>
                </a14:m>
                <a:endParaRPr lang="en-PH" sz="2400" i="1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PH" sz="2400" dirty="0">
                    <a:latin typeface="Verdana" pitchFamily="34" charset="0"/>
                    <a:ea typeface="Verdana" pitchFamily="34" charset="0"/>
                    <a:cs typeface="Verdan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24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PH" sz="2400" i="1">
                                <a:latin typeface="Cambria Math" panose="02040503050406030204" pitchFamily="18" charset="0"/>
                                <a:ea typeface="Verdana"/>
                                <a:cs typeface="Verdana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PH" sz="2400" i="1">
                                    <a:latin typeface="Cambria Math" panose="02040503050406030204" pitchFamily="18" charset="0"/>
                                    <a:ea typeface="Verdana"/>
                                    <a:cs typeface="Verdana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−4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−2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6</m:t>
                        </m:r>
                      </m:sup>
                    </m:sSup>
                  </m:oMath>
                </a14:m>
                <a:endParaRPr lang="en-PH" sz="2400" i="1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Verdana"/>
                </a:endParaRPr>
              </a:p>
              <a:p>
                <a:pPr marL="342900" indent="-3429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PH" sz="2400" dirty="0">
                    <a:latin typeface="Verdana" pitchFamily="34" charset="0"/>
                    <a:ea typeface="Verdana" pitchFamily="34" charset="0"/>
                    <a:cs typeface="Verdana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24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PH" sz="2400" i="1">
                                <a:latin typeface="Cambria Math" panose="02040503050406030204" pitchFamily="18" charset="0"/>
                                <a:ea typeface="Verdana"/>
                                <a:cs typeface="Verdana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PH" sz="2400" i="1">
                                    <a:latin typeface="Cambria Math" panose="02040503050406030204" pitchFamily="18" charset="0"/>
                                    <a:ea typeface="Verdana"/>
                                    <a:cs typeface="Verdana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−8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sz="2400" i="1">
                            <a:latin typeface="Cambria Math"/>
                            <a:ea typeface="Verdana"/>
                            <a:cs typeface="Verdana"/>
                          </a:rPr>
                          <m:t>5</m:t>
                        </m:r>
                      </m:sup>
                    </m:sSup>
                  </m:oMath>
                </a14:m>
                <a:endParaRPr lang="en-PH" sz="2400" i="1" dirty="0">
                  <a:latin typeface="Verdana" pitchFamily="34" charset="0"/>
                  <a:ea typeface="Verdana" pitchFamily="34" charset="0"/>
                  <a:cs typeface="Cambria Math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042" y="520394"/>
                <a:ext cx="8814859" cy="4708277"/>
              </a:xfrm>
              <a:prstGeom prst="rect">
                <a:avLst/>
              </a:prstGeom>
              <a:blipFill>
                <a:blip r:embed="rId4"/>
                <a:stretch>
                  <a:fillRect l="-1037" t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0721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9025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32942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804416" y="60325"/>
            <a:ext cx="873473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8.2.4 Activity: Station 3: Zero Exponent Law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5137" y="22951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1520042" y="1386025"/>
                <a:ext cx="8867542" cy="5116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1800"/>
                  </a:spcAft>
                </a:pPr>
                <a:r>
                  <a:rPr lang="en-US" sz="2000" b="1" dirty="0">
                    <a:latin typeface="Verdana"/>
                    <a:ea typeface="Verdana"/>
                    <a:cs typeface="Verdana"/>
                  </a:rPr>
                  <a:t>Task 1: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 Two students used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their understanding of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exponents to write an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equivalent expression for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the exponential expression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PH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PH" sz="2000" i="1">
                                <a:latin typeface="Cambria Math" panose="02040503050406030204" pitchFamily="18" charset="0"/>
                                <a:ea typeface="Verdana"/>
                                <a:cs typeface="Verdana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  <a:ea typeface="Verdana"/>
                                <a:cs typeface="Verdana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  <a:ea typeface="Verdana"/>
                                <a:cs typeface="Verdana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PH" sz="2000" i="1">
                                <a:latin typeface="Cambria Math" panose="02040503050406030204" pitchFamily="18" charset="0"/>
                                <a:ea typeface="Verdana"/>
                                <a:cs typeface="Verdana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  <a:ea typeface="Verdana"/>
                                <a:cs typeface="Verdana"/>
                              </a:rPr>
                              <m:t>2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  <a:ea typeface="Verdana"/>
                                <a:cs typeface="Verdana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  <a:endParaRPr lang="en-PH" sz="2000" i="1" dirty="0">
                  <a:latin typeface="Cambria Math"/>
                  <a:ea typeface="Cambria Math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Discuss each step that the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students completed.</a:t>
                </a:r>
                <a:endParaRPr lang="en-PH" sz="2000" i="1" dirty="0">
                  <a:latin typeface="Cambria Math"/>
                  <a:ea typeface="Cambria Math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Using Hannah’s and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Sebastian’s work, make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a prediction about the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value of any number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raised to the power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0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</a:t>
                </a:r>
                <a:endParaRPr lang="en-PH" sz="1800" i="1" dirty="0"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042" y="1386025"/>
                <a:ext cx="8867542" cy="5116272"/>
              </a:xfrm>
              <a:prstGeom prst="rect">
                <a:avLst/>
              </a:prstGeom>
              <a:blipFill>
                <a:blip r:embed="rId5"/>
                <a:stretch>
                  <a:fillRect l="-756" t="-714" b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8501386"/>
                  </p:ext>
                </p:extLst>
              </p:nvPr>
            </p:nvGraphicFramePr>
            <p:xfrm>
              <a:off x="5953813" y="1605468"/>
              <a:ext cx="3960000" cy="431031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Hannah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Sebastian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7406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 ×2 ×2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 ×2 ×2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 × </m:t>
                                </m:r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 × </m:t>
                                </m:r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1×1 ×1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2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3−3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8501386"/>
                  </p:ext>
                </p:extLst>
              </p:nvPr>
            </p:nvGraphicFramePr>
            <p:xfrm>
              <a:off x="5953813" y="1605468"/>
              <a:ext cx="3960000" cy="431044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8868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Hannah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Sebastian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21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82" t="-10870" r="-84225" b="-46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20270" t="-10870" r="-1014" b="-4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9861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1531917" y="520393"/>
                <a:ext cx="8802984" cy="5878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1800"/>
                  </a:spcAft>
                </a:pPr>
                <a:r>
                  <a:rPr lang="en-US" sz="2000" b="1" dirty="0">
                    <a:latin typeface="Verdana"/>
                    <a:ea typeface="Verdana"/>
                    <a:cs typeface="Verdana"/>
                  </a:rPr>
                  <a:t>Task 2: </a:t>
                </a:r>
                <a:r>
                  <a:rPr lang="en-US" sz="2000" dirty="0">
                    <a:latin typeface="Verdana"/>
                    <a:ea typeface="Verdana"/>
                    <a:cs typeface="Verdana"/>
                  </a:rPr>
                  <a:t>Use the tables to answer the questions.</a:t>
                </a:r>
                <a:endParaRPr lang="en-PH" sz="2000" i="1" dirty="0">
                  <a:latin typeface="Cambria Math"/>
                  <a:ea typeface="Cambria Math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pattern do you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see in the top row of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each table?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What pattern do you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see in the bottom </a:t>
                </a:r>
                <a:br>
                  <a:rPr lang="en-US" sz="2000" dirty="0">
                    <a:latin typeface="Verdana"/>
                    <a:ea typeface="Verdana"/>
                    <a:cs typeface="Verdana"/>
                  </a:rPr>
                </a:br>
                <a:r>
                  <a:rPr lang="en-US" sz="2000" dirty="0">
                    <a:latin typeface="Verdana"/>
                    <a:ea typeface="Verdana"/>
                    <a:cs typeface="Verdana"/>
                  </a:rPr>
                  <a:t>row of each table?</a:t>
                </a:r>
                <a:endParaRPr lang="en-PH" sz="2000" i="1" dirty="0">
                  <a:latin typeface="Cambria Math"/>
                  <a:ea typeface="Cambria Math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How is the pattern in the bottom row of each table related to the value of the base in the top row of the table?</a:t>
                </a:r>
                <a:endParaRPr lang="en-PH" sz="1800" i="1" dirty="0">
                  <a:latin typeface="Cambria Math"/>
                  <a:ea typeface="Cambria Math"/>
                  <a:cs typeface="Cambria Math"/>
                </a:endParaRPr>
              </a:p>
              <a:p>
                <a:pPr marL="457200" indent="-457200">
                  <a:lnSpc>
                    <a:spcPct val="107000"/>
                  </a:lnSpc>
                  <a:buFont typeface="+mj-lt"/>
                  <a:buAutoNum type="arabicPeriod"/>
                </a:pPr>
                <a:endParaRPr lang="en-US" sz="2000" dirty="0">
                  <a:latin typeface="Verdana"/>
                  <a:ea typeface="Verdana"/>
                  <a:cs typeface="Verdana"/>
                </a:endParaRPr>
              </a:p>
              <a:p>
                <a:pPr marL="457200" indent="-457200">
                  <a:lnSpc>
                    <a:spcPct val="107000"/>
                  </a:lnSpc>
                  <a:spcAft>
                    <a:spcPts val="12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Use the patterns in the tables to find the values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3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. Fill in the empty cell in each table. </a:t>
                </a:r>
                <a:endParaRPr lang="en-PH" sz="1800" i="1" dirty="0">
                  <a:latin typeface="Cambria Math"/>
                  <a:ea typeface="Cambria Math"/>
                  <a:cs typeface="Cambria Math"/>
                </a:endParaRPr>
              </a:p>
              <a:p>
                <a:pPr marL="3227388" indent="-3227388" algn="ctr">
                  <a:lnSpc>
                    <a:spcPct val="107000"/>
                  </a:lnSpc>
                  <a:spcAft>
                    <a:spcPts val="12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/>
                            <a:ea typeface="Verdana"/>
                            <a:cs typeface="Verdana"/>
                          </a:rPr>
                          <m:t>0</m:t>
                        </m:r>
                      </m:sup>
                    </m:sSup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= __________</m:t>
                    </m:r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2000" i="1"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sSupPr>
                      <m:e>
                        <m:r>
                          <a:rPr lang="en-US" sz="2000">
                            <a:latin typeface="Cambria Math"/>
                            <a:ea typeface="Verdana"/>
                            <a:cs typeface="Verdana"/>
                          </a:rPr>
                          <m:t>3</m:t>
                        </m:r>
                      </m:e>
                      <m:sup>
                        <m:r>
                          <a:rPr lang="en-US" sz="2000">
                            <a:latin typeface="Cambria Math"/>
                            <a:ea typeface="Verdana"/>
                            <a:cs typeface="Verdana"/>
                          </a:rPr>
                          <m:t>0</m:t>
                        </m:r>
                      </m:sup>
                    </m:sSup>
                    <m:r>
                      <a:rPr lang="en-US" sz="2000">
                        <a:latin typeface="Cambria Math"/>
                        <a:ea typeface="Verdana"/>
                        <a:cs typeface="Verdana"/>
                      </a:rPr>
                      <m:t>=</m:t>
                    </m:r>
                    <m:r>
                      <a:rPr lang="en-US" sz="2000" i="1">
                        <a:latin typeface="Cambria Math"/>
                        <a:ea typeface="Verdana"/>
                        <a:cs typeface="Verdana"/>
                      </a:rPr>
                      <m:t>__________</m:t>
                    </m:r>
                  </m:oMath>
                </a14:m>
                <a:endParaRPr lang="en-US" sz="2000" dirty="0">
                  <a:latin typeface="Verdana"/>
                  <a:ea typeface="Verdana"/>
                  <a:cs typeface="Verdana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917" y="520393"/>
                <a:ext cx="8802984" cy="5878532"/>
              </a:xfrm>
              <a:prstGeom prst="rect">
                <a:avLst/>
              </a:prstGeom>
              <a:blipFill>
                <a:blip r:embed="rId4"/>
                <a:stretch>
                  <a:fillRect l="-762" t="-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0225418"/>
                  </p:ext>
                </p:extLst>
              </p:nvPr>
            </p:nvGraphicFramePr>
            <p:xfrm>
              <a:off x="5451306" y="1139568"/>
              <a:ext cx="4968000" cy="113239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Exponent Form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 smtClean="0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Value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16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8</m:t>
                                </m:r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FF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0225418"/>
                  </p:ext>
                </p:extLst>
              </p:nvPr>
            </p:nvGraphicFramePr>
            <p:xfrm>
              <a:off x="5451306" y="1139568"/>
              <a:ext cx="4968000" cy="113239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71482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Exponent Form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7778" t="-7018" r="-403704" b="-70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7778" t="-7018" r="-303704" b="-70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7778" t="-7018" r="-203704" b="-70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27778" t="-7018" r="-103704" b="-701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27778" t="-7018" r="-3704" b="-701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757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Value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27778" t="-184848" r="-403704" b="-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7778" t="-184848" r="-303704" b="-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7778" t="-184848" r="-203704" b="-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27778" t="-184848" r="-103704" b="-212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FF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5219293"/>
                  </p:ext>
                </p:extLst>
              </p:nvPr>
            </p:nvGraphicFramePr>
            <p:xfrm>
              <a:off x="5451306" y="2476138"/>
              <a:ext cx="4968000" cy="10409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4176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Exponent Form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76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Value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81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27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9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FF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15219293"/>
                  </p:ext>
                </p:extLst>
              </p:nvPr>
            </p:nvGraphicFramePr>
            <p:xfrm>
              <a:off x="5451306" y="2476138"/>
              <a:ext cx="4968000" cy="10409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48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684000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62338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Exponent Form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27778" t="-14000" r="-403704" b="-8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27778" t="-14000" r="-303704" b="-8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27778" t="-14000" r="-203704" b="-8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27778" t="-14000" r="-103704" b="-8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27778" t="-14000" r="-3704" b="-8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176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Value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227778" t="-172727" r="-403704" b="-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27778" t="-172727" r="-303704" b="-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27778" t="-172727" r="-203704" b="-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27778" t="-172727" r="-103704" b="-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solidFill>
                                <a:srgbClr val="FF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8202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531917" y="520394"/>
            <a:ext cx="8802984" cy="862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b="1" dirty="0">
                <a:latin typeface="Verdana"/>
                <a:ea typeface="Verdana"/>
                <a:cs typeface="Verdana"/>
              </a:rPr>
              <a:t>Task 3: </a:t>
            </a:r>
            <a:r>
              <a:rPr lang="en-US" sz="2400" dirty="0">
                <a:latin typeface="Verdana"/>
                <a:ea typeface="Verdana"/>
                <a:cs typeface="Verdana"/>
              </a:rPr>
              <a:t>Fill in the blank to complete the rule for a </a:t>
            </a:r>
            <a:r>
              <a:rPr lang="en-US" sz="2400" dirty="0">
                <a:latin typeface="Verdana"/>
                <a:ea typeface="Cambria Math"/>
                <a:cs typeface="Cambria Math"/>
              </a:rPr>
              <a:t>base with a zero exponent</a:t>
            </a:r>
            <a:r>
              <a:rPr lang="en-US" sz="2400" dirty="0">
                <a:latin typeface="Verdana"/>
                <a:ea typeface="Verdana"/>
                <a:cs typeface="Verdana"/>
              </a:rPr>
              <a:t>.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: Rounded Corners 69"/>
              <p:cNvSpPr/>
              <p:nvPr/>
            </p:nvSpPr>
            <p:spPr>
              <a:xfrm>
                <a:off x="2007765" y="1520427"/>
                <a:ext cx="8280000" cy="1129030"/>
              </a:xfrm>
              <a:prstGeom prst="roundRect">
                <a:avLst/>
              </a:prstGeom>
              <a:solidFill>
                <a:srgbClr val="B9E4F7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631825">
                  <a:lnSpc>
                    <a:spcPct val="107000"/>
                  </a:lnSpc>
                  <a:spcAft>
                    <a:spcPts val="800"/>
                  </a:spcAft>
                  <a:buClrTx/>
                  <a:defRPr/>
                </a:pPr>
                <a:r>
                  <a:rPr lang="en-US" sz="2000" dirty="0">
                    <a:solidFill>
                      <a:srgbClr val="00629D"/>
                    </a:solidFill>
                    <a:latin typeface="Verdana"/>
                    <a:ea typeface="Cambria Math"/>
                    <a:cs typeface="Cambria Math"/>
                  </a:rPr>
                  <a:t>When a nonzero real number is raised to the zero power,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PH" sz="2000" i="1">
                            <a:solidFill>
                              <a:srgbClr val="00629D"/>
                            </a:solidFill>
                            <a:latin typeface="Cambria Math" panose="02040503050406030204" pitchFamily="18" charset="0"/>
                            <a:ea typeface="Verdana"/>
                            <a:cs typeface="Verdana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629D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𝑎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629D"/>
                            </a:solidFill>
                            <a:latin typeface="Cambria Math"/>
                            <a:ea typeface="Verdana"/>
                            <a:cs typeface="Verdana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00629D"/>
                    </a:solidFill>
                    <a:latin typeface="Verdana"/>
                    <a:ea typeface="Cambria Math"/>
                    <a:cs typeface="Cambria Math"/>
                  </a:rPr>
                  <a:t>, its value equals </a:t>
                </a:r>
                <a:r>
                  <a:rPr lang="en-US" sz="2000" b="1" u="sng" dirty="0">
                    <a:solidFill>
                      <a:srgbClr val="00629D"/>
                    </a:solidFill>
                    <a:latin typeface="Verdana"/>
                    <a:ea typeface="Cambria Math"/>
                    <a:cs typeface="Cambria Math"/>
                  </a:rPr>
                  <a:t>			</a:t>
                </a:r>
                <a:r>
                  <a:rPr lang="en-US" sz="2000" dirty="0">
                    <a:solidFill>
                      <a:srgbClr val="00629D"/>
                    </a:solidFill>
                    <a:latin typeface="Verdana"/>
                    <a:ea typeface="Cambria Math"/>
                    <a:cs typeface="Cambria Math"/>
                  </a:rPr>
                  <a:t>.  This is called the </a:t>
                </a:r>
                <a:r>
                  <a:rPr lang="en-US" sz="2000" b="1" dirty="0">
                    <a:solidFill>
                      <a:srgbClr val="00629D"/>
                    </a:solidFill>
                    <a:latin typeface="Verdana"/>
                    <a:ea typeface="Cambria Math"/>
                    <a:cs typeface="Cambria Math"/>
                  </a:rPr>
                  <a:t>zero exponent law</a:t>
                </a:r>
                <a:r>
                  <a:rPr lang="en-US" sz="2000" dirty="0">
                    <a:solidFill>
                      <a:srgbClr val="00629D"/>
                    </a:solidFill>
                    <a:latin typeface="Verdana"/>
                    <a:ea typeface="Cambria Math"/>
                    <a:cs typeface="Cambria Math"/>
                  </a:rPr>
                  <a:t>.</a:t>
                </a:r>
                <a:endParaRPr lang="en-PH" sz="1800" i="1" dirty="0">
                  <a:solidFill>
                    <a:sysClr val="window" lastClr="FFFFFF"/>
                  </a:solidFill>
                  <a:latin typeface="Cambria Math"/>
                  <a:ea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7" name="Rectangle: Rounded Corners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765" y="1520427"/>
                <a:ext cx="8280000" cy="112903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Shape 19" descr="Icon&#10;&#10;Description automatically generated"/>
          <p:cNvPicPr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80467" y="1650133"/>
            <a:ext cx="539750" cy="5391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584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87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876301" y="360541"/>
            <a:ext cx="8511283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8.2.5 Bring It Together: Exponential Expressions with Rational Bases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1531917" y="1651036"/>
            <a:ext cx="8855667" cy="73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US" sz="2000" dirty="0">
                <a:latin typeface="Verdana"/>
                <a:ea typeface="Verdana"/>
                <a:cs typeface="Verdana"/>
              </a:rPr>
              <a:t>Match each set of expressions with the Exponent Law that it demonstrates. Use arrows to indicate matches. </a:t>
            </a:r>
            <a:endParaRPr lang="en-PH" sz="1800" i="1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649008E9-40B8-C74A-99EE-3168B937C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0838" y="415940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9526181"/>
                  </p:ext>
                </p:extLst>
              </p:nvPr>
            </p:nvGraphicFramePr>
            <p:xfrm>
              <a:off x="2619234" y="2632289"/>
              <a:ext cx="4133215" cy="36603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1332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30454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PH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/>
                                                <a:cs typeface="Verdana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0.5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1.9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0.5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1.9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 </m:t>
                                </m:r>
                                <m:d>
                                  <m:d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0.5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1.9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 </m:t>
                                </m:r>
                                <m:d>
                                  <m:d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0.5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1.9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Comic Sans MS"/>
                              <a:ea typeface="Cambria Math"/>
                              <a:cs typeface="Cambria Math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0.5 ∙0.5 ∙0.5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1.9 ∙1.9 ∙1.9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0.5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1.9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39526181"/>
                  </p:ext>
                </p:extLst>
              </p:nvPr>
            </p:nvGraphicFramePr>
            <p:xfrm>
              <a:off x="2619234" y="2632289"/>
              <a:ext cx="4133215" cy="3660394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13321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36603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7" t="-346" r="-613" b="-10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Rectangle 13"/>
          <p:cNvSpPr/>
          <p:nvPr/>
        </p:nvSpPr>
        <p:spPr>
          <a:xfrm>
            <a:off x="6905498" y="2738224"/>
            <a:ext cx="3147478" cy="370345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Zero Exponent Law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 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 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Quotient of </a:t>
            </a:r>
            <a:b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</a:b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Powers Law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 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 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Power of a </a:t>
            </a:r>
            <a:b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</a:b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Quotient Law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15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8941984"/>
                  </p:ext>
                </p:extLst>
              </p:nvPr>
            </p:nvGraphicFramePr>
            <p:xfrm>
              <a:off x="2370089" y="730601"/>
              <a:ext cx="4680000" cy="535578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22351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PH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/>
                                                <a:cs typeface="Verdana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26356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10.1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10.1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10.1 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∙10.1 ∙10.1 ∙10.1 ∙10.1 ∙10.1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10.1 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∙10.1 ∙10.1 ∙10.1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10.1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10.1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10.1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10.1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 </m:t>
                                </m:r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10.1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1 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∙1 ∙1 ∙1 ∙ 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10.1</m:t>
                                </m:r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 ∙ 10.1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10.1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8941984"/>
                  </p:ext>
                </p:extLst>
              </p:nvPr>
            </p:nvGraphicFramePr>
            <p:xfrm>
              <a:off x="2370089" y="730601"/>
              <a:ext cx="4680000" cy="535578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6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</a:tblGrid>
                  <a:tr h="14276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0" t="-885" r="-270" b="-2752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92811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0" t="-36774" r="-270" b="-3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Rectangle 6"/>
          <p:cNvSpPr/>
          <p:nvPr/>
        </p:nvSpPr>
        <p:spPr>
          <a:xfrm>
            <a:off x="7207447" y="1783304"/>
            <a:ext cx="3147478" cy="3703457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Zero Exponent Law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 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 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Quotient of </a:t>
            </a:r>
            <a:b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</a:b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Powers Law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 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 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  <a:buClrTx/>
              <a:defRPr/>
            </a:pP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Power of a </a:t>
            </a:r>
            <a:b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</a:br>
            <a:r>
              <a:rPr lang="en-US" sz="2000" dirty="0">
                <a:solidFill>
                  <a:sysClr val="windowText" lastClr="000000"/>
                </a:solidFill>
                <a:latin typeface="Verdana"/>
                <a:ea typeface="Verdana"/>
                <a:cs typeface="Verdana"/>
              </a:rPr>
              <a:t>Quotient Law</a:t>
            </a:r>
            <a:endParaRPr lang="en-PH" sz="2000" i="1" dirty="0">
              <a:solidFill>
                <a:sysClr val="windowText" lastClr="000000"/>
              </a:solidFill>
              <a:latin typeface="Cambria Math"/>
              <a:ea typeface="Cambria Math"/>
              <a:cs typeface="Cambria Math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8751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1520042" y="520394"/>
            <a:ext cx="8814859" cy="2375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1200"/>
              </a:spcAft>
              <a:buFont typeface="+mj-lt"/>
              <a:buAutoNum type="arabicPeriod" startAt="2"/>
            </a:pPr>
            <a:r>
              <a:rPr lang="en-US" sz="2400" dirty="0">
                <a:latin typeface="Verdana"/>
                <a:ea typeface="Verdana"/>
                <a:cs typeface="Verdana"/>
              </a:rPr>
              <a:t>Complete the following steps for each expression.</a:t>
            </a:r>
            <a:endParaRPr lang="en-PH" sz="2000" i="1" dirty="0">
              <a:latin typeface="Cambria Math"/>
              <a:ea typeface="Cambria Math"/>
              <a:cs typeface="Verdana"/>
            </a:endParaRPr>
          </a:p>
          <a:p>
            <a:pPr marL="914400" indent="-463550">
              <a:lnSpc>
                <a:spcPct val="107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</a:rPr>
              <a:t>Rewrite each expression shown by using the laws of exponents. 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  <a:p>
            <a:pPr marL="914400" indent="-463550">
              <a:lnSpc>
                <a:spcPct val="107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</a:rPr>
              <a:t>Check off the exponent law used from the list. 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  <a:p>
            <a:pPr marL="914400" indent="-463550">
              <a:lnSpc>
                <a:spcPct val="107000"/>
              </a:lnSpc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dirty="0">
                <a:latin typeface="Verdana"/>
                <a:ea typeface="Verdana"/>
                <a:cs typeface="Verdana"/>
              </a:rPr>
              <a:t>Evaluate the exponential expression.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5824611"/>
                  </p:ext>
                </p:extLst>
              </p:nvPr>
            </p:nvGraphicFramePr>
            <p:xfrm>
              <a:off x="2852976" y="3082578"/>
              <a:ext cx="7200000" cy="270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26000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0.5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0.5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Quotient of powers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Power of quotient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Zero exponent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0000">
                    <a:tc gridSpan="2"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0.5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8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0.5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Verdana"/>
                                            <a:cs typeface="Verdana"/>
                                          </a:rPr>
                                          <m:t>5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= ________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137160" marR="137160" marT="137160" marB="13716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5824611"/>
                  </p:ext>
                </p:extLst>
              </p:nvPr>
            </p:nvGraphicFramePr>
            <p:xfrm>
              <a:off x="2852976" y="3082578"/>
              <a:ext cx="7200000" cy="270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23" t="-483" r="-150529" b="-1159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Quotient of powers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Power of quotient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Zero exponent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0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9" t="-87764" r="-254" b="-1266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5307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1662714"/>
                  </p:ext>
                </p:extLst>
              </p:nvPr>
            </p:nvGraphicFramePr>
            <p:xfrm>
              <a:off x="2852976" y="520393"/>
              <a:ext cx="7200000" cy="270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26000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PH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/>
                                                <a:cs typeface="Verdana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0.2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10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Quotient of powers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Power of quotient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Zero exponent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0000">
                    <a:tc gridSpan="2"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PH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/>
                                                <a:cs typeface="Verdana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0.2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10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= _____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137160" marR="137160" marT="137160" marB="13716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1662714"/>
                  </p:ext>
                </p:extLst>
              </p:nvPr>
            </p:nvGraphicFramePr>
            <p:xfrm>
              <a:off x="2852976" y="520393"/>
              <a:ext cx="7200000" cy="270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41" t="-1000" r="-151101" b="-1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Quotient of powers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Power of quotient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Zero exponent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0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6" t="-88596" r="-352" b="-175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8818143"/>
                  </p:ext>
                </p:extLst>
              </p:nvPr>
            </p:nvGraphicFramePr>
            <p:xfrm>
              <a:off x="2852976" y="3424825"/>
              <a:ext cx="7200000" cy="270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26000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PH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Quotient of powers law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Power of quotient law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Zero exponent law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0000">
                    <a:tc gridSpan="2"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PH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4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0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Verdana"/>
                                    <a:cs typeface="Verdana"/>
                                  </a:rPr>
                                  <m:t>= ________</m:t>
                                </m:r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137160" marR="137160" marT="137160" marB="13716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8818143"/>
                  </p:ext>
                </p:extLst>
              </p:nvPr>
            </p:nvGraphicFramePr>
            <p:xfrm>
              <a:off x="2852976" y="3424825"/>
              <a:ext cx="7200000" cy="270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41" t="-1000" r="-151101" b="-1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Quotient of powers law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Power of quotient law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  <a:p>
                          <a:pPr marL="452438" lvl="0" indent="-265113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  <a:buSzPts val="1800"/>
                            <a:buFont typeface="Courier New"/>
                            <a:buChar char="o"/>
                          </a:pPr>
                          <a:r>
                            <a:rPr lang="en-US" sz="2000" i="0" dirty="0">
                              <a:effectLst/>
                              <a:latin typeface="Verdana"/>
                              <a:ea typeface="Verdana"/>
                              <a:cs typeface="Verdana"/>
                            </a:rPr>
                            <a:t>Zero exponent law</a:t>
                          </a:r>
                          <a:endParaRPr lang="en-PH" sz="2000" i="1" dirty="0">
                            <a:effectLst/>
                            <a:latin typeface="Cambria Math"/>
                            <a:ea typeface="Cambria Math"/>
                            <a:cs typeface="Cambria Math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0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37160" marR="137160" marT="137160" marB="137160" anchor="b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6" t="-88596" r="-352" b="-87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29830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43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474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2086350" y="323911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8.2.6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888" y="28754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1520042" y="1386026"/>
            <a:ext cx="8867542" cy="862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US" sz="2400" dirty="0">
                <a:latin typeface="Verdana"/>
                <a:ea typeface="Cambria Math"/>
                <a:cs typeface="Cambria Math"/>
              </a:rPr>
              <a:t>Rewrite the expressions using laws of exponents. </a:t>
            </a:r>
            <a:br>
              <a:rPr lang="en-US" sz="2400" dirty="0">
                <a:latin typeface="Verdana"/>
                <a:ea typeface="Cambria Math"/>
                <a:cs typeface="Cambria Math"/>
              </a:rPr>
            </a:br>
            <a:r>
              <a:rPr lang="en-US" sz="2400" dirty="0">
                <a:latin typeface="Verdana"/>
                <a:ea typeface="Cambria Math"/>
                <a:cs typeface="Cambria Math"/>
              </a:rPr>
              <a:t>State the exponent law used. </a:t>
            </a:r>
            <a:endParaRPr lang="en-PH" sz="2000" i="1" dirty="0">
              <a:latin typeface="Cambria Math"/>
              <a:ea typeface="Cambria Math"/>
              <a:cs typeface="Cambria Math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0089710"/>
                  </p:ext>
                </p:extLst>
              </p:nvPr>
            </p:nvGraphicFramePr>
            <p:xfrm>
              <a:off x="2645803" y="2398496"/>
              <a:ext cx="6480000" cy="37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Expression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Equivalent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Exponent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8.6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0.2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6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15.7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15.7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6.75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6.75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Cambria Math"/>
                                            <a:cs typeface="Cambria Math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den>
                                </m:f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0089710"/>
                  </p:ext>
                </p:extLst>
              </p:nvPr>
            </p:nvGraphicFramePr>
            <p:xfrm>
              <a:off x="2645803" y="2398496"/>
              <a:ext cx="6480000" cy="37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Expression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Equivalent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Exponent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8" t="-44706" r="-201765" b="-2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8" t="-143023" r="-201765" b="-1011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88" t="-245882" r="-201765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6651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6890048"/>
                  </p:ext>
                </p:extLst>
              </p:nvPr>
            </p:nvGraphicFramePr>
            <p:xfrm>
              <a:off x="2856000" y="1575000"/>
              <a:ext cx="6480000" cy="37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Expression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Equivalent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Exponent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Verdana"/>
                                            <a:cs typeface="Verdana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PH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Verdana"/>
                                                <a:cs typeface="Verdana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Verdana"/>
                                                <a:cs typeface="Verdana"/>
                                              </a:rPr>
                                              <m:t>20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PH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/>
                                            <a:cs typeface="Cambria Math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PH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/>
                                                <a:cs typeface="Cambria Math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0.85</m:t>
                                            </m:r>
                                          </m:num>
                                          <m:den>
                                            <m:r>
                                              <a:rPr lang="en-US" sz="2000" i="1">
                                                <a:effectLst/>
                                                <a:latin typeface="Cambria Math"/>
                                                <a:ea typeface="Cambria Math"/>
                                                <a:cs typeface="Cambria Math"/>
                                              </a:rPr>
                                              <m:t>2.64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  <m:t>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PH" sz="2000" i="1">
                                        <a:effectLst/>
                                        <a:latin typeface="Cambria Math" panose="02040503050406030204" pitchFamily="18" charset="0"/>
                                        <a:ea typeface="Verdana"/>
                                        <a:cs typeface="Verdana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8.45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Verdana"/>
                                        <a:cs typeface="Verdana"/>
                                      </a:rPr>
                                      <m:t>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6890048"/>
                  </p:ext>
                </p:extLst>
              </p:nvPr>
            </p:nvGraphicFramePr>
            <p:xfrm>
              <a:off x="2856000" y="1575000"/>
              <a:ext cx="6480000" cy="370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6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6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Expression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Equivalent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b="1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Exponent Law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45882" r="-200000" b="-2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145882" r="-200000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08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5720" marR="4572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85" t="-245882" r="-200000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07000"/>
                            </a:lnSpc>
                            <a:spcAft>
                              <a:spcPts val="0"/>
                            </a:spcAft>
                          </a:pPr>
                          <a:r>
                            <a:rPr lang="en-US" sz="2000" i="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Verdana"/>
                            </a:rPr>
                            <a:t> </a:t>
                          </a:r>
                          <a:endParaRPr lang="en-PH" sz="2000" i="1" dirty="0">
                            <a:effectLst/>
                            <a:latin typeface="Verdana" pitchFamily="34" charset="0"/>
                            <a:ea typeface="Verdana" pitchFamily="34" charset="0"/>
                            <a:cs typeface="Cambria Math"/>
                          </a:endParaRPr>
                        </a:p>
                      </a:txBody>
                      <a:tcPr marL="45720" marR="4572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84355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876301" y="386248"/>
            <a:ext cx="8660916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8.2.7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8950" y="28960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570699" y="1386025"/>
            <a:ext cx="3749446" cy="2038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07000"/>
              </a:lnSpc>
              <a:buFont typeface="+mj-lt"/>
              <a:buAutoNum type="arabicPeriod"/>
            </a:pPr>
            <a:r>
              <a:rPr lang="en-GB" sz="2400" dirty="0">
                <a:latin typeface="Verdana"/>
                <a:ea typeface="Cambria Math"/>
                <a:cs typeface="Cambria Math"/>
              </a:rPr>
              <a:t>Shade the arrow up to the statement that best describes your current level of understanding. </a:t>
            </a:r>
            <a:endParaRPr lang="en-PH" sz="2400" i="1" dirty="0">
              <a:latin typeface="Cambria Math"/>
              <a:ea typeface="Cambria Math"/>
              <a:cs typeface="Cambria Math"/>
            </a:endParaRP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63514" y="1349794"/>
            <a:ext cx="5157787" cy="4743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15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</TotalTime>
  <Words>1419</Words>
  <Application>Microsoft Macintosh PowerPoint</Application>
  <PresentationFormat>Widescreen</PresentationFormat>
  <Paragraphs>344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Calibri</vt:lpstr>
      <vt:lpstr>Arial Black</vt:lpstr>
      <vt:lpstr>Cambria Math</vt:lpstr>
      <vt:lpstr>Verdana</vt:lpstr>
      <vt:lpstr>Courier New</vt:lpstr>
      <vt:lpstr>Arial</vt:lpstr>
      <vt:lpstr>Comic Sans MS</vt:lpstr>
      <vt:lpstr>Century Gothic</vt:lpstr>
      <vt:lpstr>1_Office Theme</vt:lpstr>
      <vt:lpstr>7th Grade Math  Unit 8, Lesson 2  Quotient Laws of Exponents  Volume 2, pg. 10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34</cp:revision>
  <dcterms:created xsi:type="dcterms:W3CDTF">2015-03-17T18:51:18Z</dcterms:created>
  <dcterms:modified xsi:type="dcterms:W3CDTF">2023-01-31T14:06:03Z</dcterms:modified>
</cp:coreProperties>
</file>