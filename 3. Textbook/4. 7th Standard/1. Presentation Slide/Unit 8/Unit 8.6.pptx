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28"/>
  </p:notesMasterIdLst>
  <p:sldIdLst>
    <p:sldId id="256" r:id="rId5"/>
    <p:sldId id="257" r:id="rId6"/>
    <p:sldId id="285" r:id="rId7"/>
    <p:sldId id="286" r:id="rId8"/>
    <p:sldId id="261" r:id="rId9"/>
    <p:sldId id="287" r:id="rId10"/>
    <p:sldId id="289" r:id="rId11"/>
    <p:sldId id="290" r:id="rId12"/>
    <p:sldId id="356" r:id="rId13"/>
    <p:sldId id="317" r:id="rId14"/>
    <p:sldId id="318" r:id="rId15"/>
    <p:sldId id="354" r:id="rId16"/>
    <p:sldId id="365" r:id="rId17"/>
    <p:sldId id="320" r:id="rId18"/>
    <p:sldId id="321" r:id="rId19"/>
    <p:sldId id="355" r:id="rId20"/>
    <p:sldId id="366" r:id="rId21"/>
    <p:sldId id="362" r:id="rId22"/>
    <p:sldId id="363" r:id="rId23"/>
    <p:sldId id="364" r:id="rId24"/>
    <p:sldId id="306" r:id="rId25"/>
    <p:sldId id="307" r:id="rId26"/>
    <p:sldId id="361" r:id="rId27"/>
  </p:sldIdLst>
  <p:sldSz cx="12192000" cy="6858000"/>
  <p:notesSz cx="6858000" cy="9144000"/>
  <p:embeddedFontLst>
    <p:embeddedFont>
      <p:font typeface="Arial Black" panose="020B0A04020102020204" pitchFamily="34" charset="0"/>
      <p:bold r:id="rId29"/>
    </p:embeddedFont>
    <p:embeddedFont>
      <p:font typeface="Calibri" panose="020F0502020204030204" pitchFamily="34" charset="0"/>
      <p:regular r:id="rId30"/>
      <p:bold r:id="rId31"/>
      <p:italic r:id="rId32"/>
      <p:boldItalic r:id="rId33"/>
    </p:embeddedFont>
    <p:embeddedFont>
      <p:font typeface="Cambria Math" panose="02040503050406030204" pitchFamily="18" charset="0"/>
      <p:regular r:id="rId34"/>
    </p:embeddedFont>
    <p:embeddedFont>
      <p:font typeface="Century Gothic" panose="020B0502020202020204" pitchFamily="34" charset="0"/>
      <p:regular r:id="rId35"/>
      <p:bold r:id="rId36"/>
      <p:italic r:id="rId37"/>
      <p:boldItalic r:id="rId38"/>
    </p:embeddedFont>
    <p:embeddedFont>
      <p:font typeface="Verdana" panose="020B0604030504040204" pitchFamily="3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9B0DD"/>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520" autoAdjust="0"/>
    <p:restoredTop sz="94694"/>
  </p:normalViewPr>
  <p:slideViewPr>
    <p:cSldViewPr snapToGrid="0">
      <p:cViewPr varScale="1">
        <p:scale>
          <a:sx n="61" d="100"/>
          <a:sy n="61" d="100"/>
        </p:scale>
        <p:origin x="84" y="30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font" Target="fonts/font11.fntdata"/><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font" Target="fonts/font6.fntdata"/><Relationship Id="rId42" Type="http://schemas.openxmlformats.org/officeDocument/2006/relationships/font" Target="fonts/font14.fntdata"/><Relationship Id="rId55" Type="http://customschemas.google.com/relationships/presentationmetadata" Target="metadata"/><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font" Target="fonts/font5.fntdata"/><Relationship Id="rId38" Type="http://schemas.openxmlformats.org/officeDocument/2006/relationships/font" Target="fonts/font10.fntdata"/><Relationship Id="rId59"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font" Target="fonts/font1.fntdata"/><Relationship Id="rId41" Type="http://schemas.openxmlformats.org/officeDocument/2006/relationships/font" Target="fonts/font13.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font" Target="fonts/font12.fntdata"/><Relationship Id="rId58" Type="http://schemas.openxmlformats.org/officeDocument/2006/relationships/theme" Target="theme/theme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notesMaster" Target="notesMasters/notesMaster1.xml"/><Relationship Id="rId36" Type="http://schemas.openxmlformats.org/officeDocument/2006/relationships/font" Target="fonts/font8.fntdata"/><Relationship Id="rId57"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font" Target="fonts/font3.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font" Target="fonts/font2.fntdata"/><Relationship Id="rId35" Type="http://schemas.openxmlformats.org/officeDocument/2006/relationships/font" Target="fonts/font7.fntdata"/><Relationship Id="rId56"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995661285"/>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39188651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35627792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5851739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28030581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36702437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218144780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21814478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14</a:t>
            </a:fld>
            <a:endParaRPr/>
          </a:p>
        </p:txBody>
      </p:sp>
    </p:spTree>
    <p:extLst>
      <p:ext uri="{BB962C8B-B14F-4D97-AF65-F5344CB8AC3E}">
        <p14:creationId xmlns:p14="http://schemas.microsoft.com/office/powerpoint/2010/main" val="14165849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30307359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373099656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37309965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18</a:t>
            </a:fld>
            <a:endParaRPr/>
          </a:p>
        </p:txBody>
      </p:sp>
    </p:spTree>
    <p:extLst>
      <p:ext uri="{BB962C8B-B14F-4D97-AF65-F5344CB8AC3E}">
        <p14:creationId xmlns:p14="http://schemas.microsoft.com/office/powerpoint/2010/main" val="280305810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19</a:t>
            </a:fld>
            <a:endParaRPr/>
          </a:p>
        </p:txBody>
      </p:sp>
    </p:spTree>
    <p:extLst>
      <p:ext uri="{BB962C8B-B14F-4D97-AF65-F5344CB8AC3E}">
        <p14:creationId xmlns:p14="http://schemas.microsoft.com/office/powerpoint/2010/main" val="367024375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2181447803"/>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21</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22</a:t>
            </a:fld>
            <a:endParaRPr/>
          </a:p>
        </p:txBody>
      </p:sp>
    </p:spTree>
    <p:extLst>
      <p:ext uri="{BB962C8B-B14F-4D97-AF65-F5344CB8AC3E}">
        <p14:creationId xmlns:p14="http://schemas.microsoft.com/office/powerpoint/2010/main" val="1937328106"/>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732966668"/>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5.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180.png"/><Relationship Id="rId5" Type="http://schemas.openxmlformats.org/officeDocument/2006/relationships/image" Target="../media/image18.png"/><Relationship Id="rId4" Type="http://schemas.openxmlformats.org/officeDocument/2006/relationships/image" Target="../media/image17.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4" Type="http://schemas.openxmlformats.org/officeDocument/2006/relationships/image" Target="../media/image19.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4" Type="http://schemas.openxmlformats.org/officeDocument/2006/relationships/image" Target="../media/image2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5" Type="http://schemas.openxmlformats.org/officeDocument/2006/relationships/image" Target="../media/image22.png"/><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4" Type="http://schemas.openxmlformats.org/officeDocument/2006/relationships/image" Target="../media/image220.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17.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26.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26.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7</a:t>
            </a:r>
            <a:r>
              <a:rPr lang="en-US" sz="3600" b="1" baseline="30000" dirty="0">
                <a:solidFill>
                  <a:srgbClr val="417DBF"/>
                </a:solidFill>
                <a:latin typeface="Verdana"/>
                <a:ea typeface="Verdana"/>
                <a:cs typeface="Verdana"/>
                <a:sym typeface="Verdana"/>
              </a:rPr>
              <a:t>th</a:t>
            </a:r>
            <a:r>
              <a:rPr lang="en-US" sz="3600" b="1" dirty="0">
                <a:solidFill>
                  <a:srgbClr val="417DBF"/>
                </a:solidFill>
                <a:latin typeface="Verdana"/>
                <a:ea typeface="Verdana"/>
                <a:cs typeface="Verdana"/>
                <a:sym typeface="Verdana"/>
              </a:rPr>
              <a:t> Grade Math</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lvl="0" algn="ctr">
              <a:lnSpc>
                <a:spcPct val="100000"/>
              </a:lnSpc>
              <a:buClr>
                <a:srgbClr val="000000"/>
              </a:buClr>
            </a:pPr>
            <a:r>
              <a:rPr lang="en-US" sz="3600" b="1" dirty="0">
                <a:solidFill>
                  <a:srgbClr val="417DBF"/>
                </a:solidFill>
                <a:latin typeface="Verdana"/>
                <a:ea typeface="Verdana"/>
                <a:cs typeface="Verdana"/>
                <a:sym typeface="Verdana"/>
              </a:rPr>
              <a:t>Unit 8, Lesson 6</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Evaluating Numeric Expressions – </a:t>
            </a: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Part 3</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32</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4530" y="1514477"/>
            <a:ext cx="3270825" cy="3812847"/>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780875" y="136525"/>
            <a:ext cx="8070075"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Benchmarks</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1033575" y="425725"/>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1401288" y="1609531"/>
            <a:ext cx="8809512" cy="4205700"/>
          </a:xfrm>
          <a:prstGeom prst="rect">
            <a:avLst/>
          </a:prstGeom>
          <a:noFill/>
          <a:ln>
            <a:noFill/>
          </a:ln>
        </p:spPr>
        <p:txBody>
          <a:bodyPr spcFirstLastPara="1" wrap="square" lIns="91425" tIns="45700" rIns="91425" bIns="45700" anchor="t" anchorCtr="0">
            <a:normAutofit fontScale="70000" lnSpcReduction="20000"/>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0" indent="0">
              <a:lnSpc>
                <a:spcPct val="120000"/>
              </a:lnSpc>
              <a:buSzPts val="1100"/>
              <a:buNone/>
            </a:pPr>
            <a:r>
              <a:rPr lang="en-US" sz="3500" dirty="0">
                <a:solidFill>
                  <a:schemeClr val="tx1"/>
                </a:solidFill>
                <a:latin typeface="Verdana"/>
                <a:ea typeface="Verdana"/>
                <a:cs typeface="Verdana"/>
                <a:sym typeface="Verdana"/>
              </a:rPr>
              <a:t>MA.7.NSO.2.1</a:t>
            </a:r>
          </a:p>
          <a:p>
            <a:pPr indent="0">
              <a:lnSpc>
                <a:spcPct val="120000"/>
              </a:lnSpc>
              <a:buNone/>
            </a:pPr>
            <a:r>
              <a:rPr lang="en-US" sz="3500" dirty="0">
                <a:solidFill>
                  <a:schemeClr val="tx1"/>
                </a:solidFill>
                <a:latin typeface="Verdana"/>
                <a:ea typeface="Verdana"/>
                <a:cs typeface="Verdana"/>
                <a:sym typeface="Verdana"/>
              </a:rPr>
              <a:t>Solve mathematical problems using multi-step order of operations with rational numbers including grouping symbols, whole-number exponents, and absolute value.</a:t>
            </a:r>
          </a:p>
          <a:p>
            <a:pPr indent="0">
              <a:lnSpc>
                <a:spcPct val="120000"/>
              </a:lnSpc>
              <a:buNone/>
            </a:pPr>
            <a:endParaRPr lang="en-US" sz="3500" dirty="0">
              <a:solidFill>
                <a:schemeClr val="tx1"/>
              </a:solidFill>
              <a:latin typeface="Verdana"/>
              <a:ea typeface="Verdana"/>
              <a:cs typeface="Verdana"/>
              <a:sym typeface="Verdana"/>
            </a:endParaRPr>
          </a:p>
          <a:p>
            <a:pPr marL="0" indent="0">
              <a:lnSpc>
                <a:spcPct val="120000"/>
              </a:lnSpc>
              <a:buSzPts val="1100"/>
              <a:buNone/>
            </a:pPr>
            <a:r>
              <a:rPr lang="en-US" sz="3500" dirty="0">
                <a:solidFill>
                  <a:schemeClr val="tx1"/>
                </a:solidFill>
                <a:latin typeface="Verdana"/>
                <a:ea typeface="Verdana"/>
                <a:cs typeface="Verdana"/>
                <a:sym typeface="Verdana"/>
              </a:rPr>
              <a:t>MA.7.NSO.2.2 </a:t>
            </a:r>
          </a:p>
          <a:p>
            <a:pPr indent="0">
              <a:lnSpc>
                <a:spcPct val="120000"/>
              </a:lnSpc>
              <a:buNone/>
            </a:pPr>
            <a:r>
              <a:rPr lang="en-US" sz="3500" dirty="0">
                <a:solidFill>
                  <a:schemeClr val="tx1"/>
                </a:solidFill>
                <a:latin typeface="Verdana"/>
                <a:ea typeface="Verdana"/>
                <a:cs typeface="Verdana"/>
                <a:sym typeface="Verdana"/>
              </a:rPr>
              <a:t>Add, subtract, multiply and divide rational numbers with procedural fluency.</a:t>
            </a:r>
            <a:endParaRPr lang="en-US" sz="3600" dirty="0">
              <a:solidFill>
                <a:schemeClr val="tx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998373" y="418867"/>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745673" y="129667"/>
            <a:ext cx="887115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425039" y="1596390"/>
            <a:ext cx="8785761"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0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
        <p:nvSpPr>
          <p:cNvPr id="9"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a:t>
            </a:r>
            <a:endParaRPr i="1" dirty="0">
              <a:latin typeface="Calibri"/>
              <a:ea typeface="Calibri"/>
              <a:cs typeface="Calibri"/>
              <a:sym typeface="Calibri"/>
            </a:endParaRP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1">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757548" y="-8225"/>
            <a:ext cx="8650798"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1010248" y="337888"/>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1425039" y="1600200"/>
            <a:ext cx="8785761"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57200">
              <a:buClr>
                <a:srgbClr val="434343"/>
              </a:buClr>
              <a:buSzPts val="3500"/>
              <a:buFont typeface="Verdana"/>
              <a:buChar char="❏"/>
            </a:pPr>
            <a:r>
              <a:rPr lang="en-US" sz="3500" dirty="0">
                <a:solidFill>
                  <a:schemeClr val="tx1"/>
                </a:solidFill>
                <a:latin typeface="Verdana"/>
                <a:ea typeface="Verdana"/>
                <a:cs typeface="Verdana"/>
                <a:sym typeface="Verdana"/>
              </a:rPr>
              <a:t>I can evaluate numeric expressions with up to six operations.</a:t>
            </a:r>
          </a:p>
        </p:txBody>
      </p:sp>
      <p:sp>
        <p:nvSpPr>
          <p:cNvPr id="8"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a:t>
            </a:r>
            <a:endParaRPr i="1" dirty="0">
              <a:latin typeface="Calibri"/>
              <a:ea typeface="Calibri"/>
              <a:cs typeface="Calibri"/>
              <a:sym typeface="Calibri"/>
            </a:endParaRP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8"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a:t>
            </a:r>
            <a:endParaRPr i="1" dirty="0">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2113808" y="353894"/>
            <a:ext cx="8425342" cy="590891"/>
          </a:xfrm>
          <a:prstGeom prst="rect">
            <a:avLst/>
          </a:prstGeom>
          <a:noFill/>
          <a:ln>
            <a:noFill/>
          </a:ln>
        </p:spPr>
        <p:txBody>
          <a:bodyPr spcFirstLastPara="1" wrap="square" lIns="91425" tIns="45700" rIns="91425" bIns="45700" anchor="ctr" anchorCtr="0">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8.6.1 Warm-Up: Bell Work</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1279200" y="275689"/>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1D7562E-134F-D14B-AF1A-DF40E11EF758}"/>
                  </a:ext>
                </a:extLst>
              </p:cNvPr>
              <p:cNvSpPr txBox="1"/>
              <p:nvPr/>
            </p:nvSpPr>
            <p:spPr>
              <a:xfrm>
                <a:off x="1650670" y="1386025"/>
                <a:ext cx="8736914" cy="3062633"/>
              </a:xfrm>
              <a:prstGeom prst="rect">
                <a:avLst/>
              </a:prstGeom>
              <a:noFill/>
            </p:spPr>
            <p:txBody>
              <a:bodyPr wrap="square" rtlCol="0">
                <a:spAutoFit/>
              </a:bodyPr>
              <a:lstStyle/>
              <a:p>
                <a:pPr lvl="1">
                  <a:lnSpc>
                    <a:spcPct val="107000"/>
                  </a:lnSpc>
                  <a:spcAft>
                    <a:spcPts val="1800"/>
                  </a:spcAft>
                </a:pPr>
                <a:r>
                  <a:rPr lang="en-US" sz="2400" dirty="0">
                    <a:latin typeface="Verdana" pitchFamily="34" charset="0"/>
                    <a:ea typeface="Verdana" pitchFamily="34" charset="0"/>
                    <a:cs typeface="Verdana"/>
                  </a:rPr>
                  <a:t>Explain the steps needed to evaluate the expressions.</a:t>
                </a:r>
                <a:endParaRPr lang="en-PH" sz="2400" i="1" dirty="0">
                  <a:latin typeface="Verdana" pitchFamily="34" charset="0"/>
                  <a:ea typeface="Verdana" pitchFamily="34" charset="0"/>
                  <a:cs typeface="Verdana"/>
                </a:endParaRPr>
              </a:p>
              <a:p>
                <a:pPr marL="342900" lvl="1" indent="-342900">
                  <a:lnSpc>
                    <a:spcPct val="107000"/>
                  </a:lnSpc>
                  <a:buFont typeface="+mj-lt"/>
                  <a:buAutoNum type="arabicPeriod"/>
                </a:pPr>
                <a:r>
                  <a:rPr lang="en-PH" sz="2400" dirty="0">
                    <a:latin typeface="Verdana" pitchFamily="34" charset="0"/>
                    <a:ea typeface="Verdana" pitchFamily="34" charset="0"/>
                    <a:cs typeface="Verdana"/>
                  </a:rPr>
                  <a:t> </a:t>
                </a:r>
                <a14:m>
                  <m:oMath xmlns:m="http://schemas.openxmlformats.org/officeDocument/2006/math">
                    <m:sSup>
                      <m:sSupPr>
                        <m:ctrlPr>
                          <a:rPr lang="en-PH" sz="2400" i="1">
                            <a:latin typeface="Cambria Math" panose="02040503050406030204" pitchFamily="18" charset="0"/>
                            <a:ea typeface="Verdana"/>
                            <a:cs typeface="Verdana"/>
                          </a:rPr>
                        </m:ctrlPr>
                      </m:sSupPr>
                      <m:e>
                        <m:d>
                          <m:dPr>
                            <m:ctrlPr>
                              <a:rPr lang="en-PH" sz="2400" i="1">
                                <a:latin typeface="Cambria Math" panose="02040503050406030204" pitchFamily="18" charset="0"/>
                                <a:ea typeface="Verdana"/>
                                <a:cs typeface="Verdana"/>
                              </a:rPr>
                            </m:ctrlPr>
                          </m:dPr>
                          <m:e>
                            <m:r>
                              <a:rPr lang="en-US" sz="2400" i="1">
                                <a:latin typeface="Cambria Math"/>
                                <a:ea typeface="Verdana"/>
                                <a:cs typeface="Verdana"/>
                              </a:rPr>
                              <m:t>10+18</m:t>
                            </m:r>
                            <m:r>
                              <a:rPr lang="en-US" sz="2400" i="1">
                                <a:latin typeface="Cambria Math"/>
                                <a:ea typeface="Cambria Math"/>
                                <a:cs typeface="Cambria Math"/>
                              </a:rPr>
                              <m:t>∙</m:t>
                            </m:r>
                            <m:r>
                              <a:rPr lang="en-US" sz="2400" i="1">
                                <a:latin typeface="Cambria Math"/>
                                <a:ea typeface="Verdana"/>
                                <a:cs typeface="Verdana"/>
                              </a:rPr>
                              <m:t>2</m:t>
                            </m:r>
                          </m:e>
                        </m:d>
                      </m:e>
                      <m:sup>
                        <m:r>
                          <a:rPr lang="en-US" sz="2400" i="1">
                            <a:latin typeface="Cambria Math"/>
                            <a:ea typeface="Verdana"/>
                            <a:cs typeface="Verdana"/>
                          </a:rPr>
                          <m:t>5</m:t>
                        </m:r>
                      </m:sup>
                    </m:sSup>
                    <m:r>
                      <a:rPr lang="en-US" sz="2400" i="1">
                        <a:latin typeface="Cambria Math"/>
                        <a:ea typeface="Verdana"/>
                        <a:cs typeface="Verdana"/>
                      </a:rPr>
                      <m:t>÷3</m:t>
                    </m:r>
                  </m:oMath>
                </a14:m>
                <a:endParaRPr lang="en-PH" sz="2400" i="1" dirty="0">
                  <a:latin typeface="Verdana" pitchFamily="34" charset="0"/>
                  <a:ea typeface="Verdana" pitchFamily="34" charset="0"/>
                  <a:cs typeface="Cambria Math"/>
                </a:endParaRPr>
              </a:p>
              <a:p>
                <a:pPr marL="342900" lvl="1" indent="-342900">
                  <a:lnSpc>
                    <a:spcPct val="107000"/>
                  </a:lnSpc>
                  <a:buFont typeface="+mj-lt"/>
                  <a:buAutoNum type="arabicPeriod"/>
                </a:pPr>
                <a:endParaRPr lang="en-PH" sz="2400" dirty="0">
                  <a:latin typeface="Verdana" pitchFamily="34" charset="0"/>
                  <a:ea typeface="Verdana" pitchFamily="34" charset="0"/>
                  <a:cs typeface="Verdana"/>
                </a:endParaRPr>
              </a:p>
              <a:p>
                <a:pPr marL="342900" lvl="1" indent="-342900">
                  <a:lnSpc>
                    <a:spcPct val="107000"/>
                  </a:lnSpc>
                  <a:buFont typeface="+mj-lt"/>
                  <a:buAutoNum type="arabicPeriod"/>
                </a:pPr>
                <a:endParaRPr lang="en-PH" sz="2400" dirty="0">
                  <a:latin typeface="Verdana" pitchFamily="34" charset="0"/>
                  <a:ea typeface="Verdana" pitchFamily="34" charset="0"/>
                  <a:cs typeface="Verdana"/>
                </a:endParaRPr>
              </a:p>
              <a:p>
                <a:pPr marL="342900" lvl="1" indent="-342900">
                  <a:lnSpc>
                    <a:spcPct val="107000"/>
                  </a:lnSpc>
                  <a:buFont typeface="+mj-lt"/>
                  <a:buAutoNum type="arabicPeriod"/>
                </a:pPr>
                <a:endParaRPr lang="en-PH" sz="2400" dirty="0">
                  <a:latin typeface="Verdana" pitchFamily="34" charset="0"/>
                  <a:ea typeface="Verdana" pitchFamily="34" charset="0"/>
                  <a:cs typeface="Verdana"/>
                </a:endParaRPr>
              </a:p>
              <a:p>
                <a:pPr marL="342900" lvl="1" indent="-342900">
                  <a:lnSpc>
                    <a:spcPct val="107000"/>
                  </a:lnSpc>
                  <a:buFont typeface="+mj-lt"/>
                  <a:buAutoNum type="arabicPeriod"/>
                </a:pPr>
                <a:endParaRPr lang="en-PH" sz="2400" dirty="0">
                  <a:latin typeface="Verdana" pitchFamily="34" charset="0"/>
                  <a:ea typeface="Verdana" pitchFamily="34" charset="0"/>
                  <a:cs typeface="Verdana"/>
                </a:endParaRPr>
              </a:p>
              <a:p>
                <a:pPr marL="342900" lvl="1" indent="-342900">
                  <a:lnSpc>
                    <a:spcPct val="107000"/>
                  </a:lnSpc>
                  <a:buFont typeface="+mj-lt"/>
                  <a:buAutoNum type="arabicPeriod"/>
                </a:pPr>
                <a:r>
                  <a:rPr lang="en-PH" sz="2400" dirty="0">
                    <a:latin typeface="Verdana" pitchFamily="34" charset="0"/>
                    <a:ea typeface="Verdana" pitchFamily="34" charset="0"/>
                    <a:cs typeface="Verdana"/>
                  </a:rPr>
                  <a:t> </a:t>
                </a:r>
                <a14:m>
                  <m:oMath xmlns:m="http://schemas.openxmlformats.org/officeDocument/2006/math">
                    <m:sSup>
                      <m:sSupPr>
                        <m:ctrlPr>
                          <a:rPr lang="en-PH" sz="2400" i="1">
                            <a:latin typeface="Cambria Math" panose="02040503050406030204" pitchFamily="18" charset="0"/>
                            <a:ea typeface="Verdana"/>
                            <a:cs typeface="Verdana"/>
                          </a:rPr>
                        </m:ctrlPr>
                      </m:sSupPr>
                      <m:e>
                        <m:d>
                          <m:dPr>
                            <m:begChr m:val="["/>
                            <m:endChr m:val="]"/>
                            <m:ctrlPr>
                              <a:rPr lang="en-PH" sz="2400" i="1">
                                <a:latin typeface="Cambria Math" panose="02040503050406030204" pitchFamily="18" charset="0"/>
                                <a:ea typeface="Verdana"/>
                                <a:cs typeface="Verdana"/>
                              </a:rPr>
                            </m:ctrlPr>
                          </m:dPr>
                          <m:e>
                            <m:sSup>
                              <m:sSupPr>
                                <m:ctrlPr>
                                  <a:rPr lang="en-PH" sz="2400" i="1">
                                    <a:latin typeface="Cambria Math" panose="02040503050406030204" pitchFamily="18" charset="0"/>
                                    <a:ea typeface="Verdana"/>
                                    <a:cs typeface="Verdana"/>
                                  </a:rPr>
                                </m:ctrlPr>
                              </m:sSupPr>
                              <m:e>
                                <m:d>
                                  <m:dPr>
                                    <m:ctrlPr>
                                      <a:rPr lang="en-PH" sz="2400" i="1">
                                        <a:latin typeface="Cambria Math" panose="02040503050406030204" pitchFamily="18" charset="0"/>
                                        <a:ea typeface="Verdana"/>
                                        <a:cs typeface="Verdana"/>
                                      </a:rPr>
                                    </m:ctrlPr>
                                  </m:dPr>
                                  <m:e>
                                    <m:r>
                                      <a:rPr lang="en-US" sz="2400" i="1">
                                        <a:latin typeface="Cambria Math"/>
                                        <a:ea typeface="Verdana"/>
                                        <a:cs typeface="Verdana"/>
                                      </a:rPr>
                                      <m:t>7−10</m:t>
                                    </m:r>
                                  </m:e>
                                </m:d>
                              </m:e>
                              <m:sup>
                                <m:r>
                                  <a:rPr lang="en-US" sz="2400" i="1">
                                    <a:latin typeface="Cambria Math"/>
                                    <a:ea typeface="Verdana"/>
                                    <a:cs typeface="Verdana"/>
                                  </a:rPr>
                                  <m:t>2</m:t>
                                </m:r>
                              </m:sup>
                            </m:sSup>
                          </m:e>
                        </m:d>
                      </m:e>
                      <m:sup>
                        <m:r>
                          <a:rPr lang="en-US" sz="2400" i="1">
                            <a:latin typeface="Cambria Math"/>
                            <a:ea typeface="Verdana"/>
                            <a:cs typeface="Verdana"/>
                          </a:rPr>
                          <m:t>4</m:t>
                        </m:r>
                      </m:sup>
                    </m:sSup>
                    <m:r>
                      <a:rPr lang="en-US" sz="2400" i="1">
                        <a:latin typeface="Cambria Math"/>
                        <a:ea typeface="Verdana"/>
                        <a:cs typeface="Verdana"/>
                      </a:rPr>
                      <m:t>×2</m:t>
                    </m:r>
                  </m:oMath>
                </a14:m>
                <a:endParaRPr lang="en-PH" sz="2400" i="1" dirty="0">
                  <a:latin typeface="Verdana" pitchFamily="34" charset="0"/>
                  <a:ea typeface="Verdana" pitchFamily="34" charset="0"/>
                  <a:cs typeface="Cambria Math"/>
                </a:endParaRPr>
              </a:p>
            </p:txBody>
          </p:sp>
        </mc:Choice>
        <mc:Fallback xmlns="">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1650670" y="1386025"/>
                <a:ext cx="8736914" cy="3062633"/>
              </a:xfrm>
              <a:prstGeom prst="rect">
                <a:avLst/>
              </a:prstGeom>
              <a:blipFill>
                <a:blip r:embed="rId5"/>
                <a:stretch>
                  <a:fillRect l="-1117" t="-1988" b="-3380"/>
                </a:stretch>
              </a:blipFill>
            </p:spPr>
            <p:txBody>
              <a:bodyPr/>
              <a:lstStyle/>
              <a:p>
                <a:r>
                  <a:rPr lang="en-US">
                    <a:noFill/>
                  </a:rPr>
                  <a:t> </a:t>
                </a:r>
              </a:p>
            </p:txBody>
          </p:sp>
        </mc:Fallback>
      </mc:AlternateContent>
      <p:sp>
        <p:nvSpPr>
          <p:cNvPr id="9"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32</a:t>
            </a:r>
            <a:endParaRPr i="1" dirty="0">
              <a:latin typeface="Calibri"/>
              <a:ea typeface="Calibri"/>
              <a:cs typeface="Calibri"/>
              <a:sym typeface="Calibri"/>
            </a:endParaRPr>
          </a:p>
        </p:txBody>
      </p:sp>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p:cNvSpPr txBox="1"/>
          <p:nvPr/>
        </p:nvSpPr>
        <p:spPr>
          <a:xfrm>
            <a:off x="8889924" y="6457674"/>
            <a:ext cx="2634000" cy="400079"/>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33</a:t>
            </a:r>
            <a:endParaRPr i="1" dirty="0">
              <a:latin typeface="Calibri"/>
              <a:ea typeface="Calibri"/>
              <a:cs typeface="Calibri"/>
              <a:sym typeface="Calibri"/>
            </a:endParaRPr>
          </a:p>
        </p:txBody>
      </p:sp>
    </p:spTree>
    <p:extLst>
      <p:ext uri="{BB962C8B-B14F-4D97-AF65-F5344CB8AC3E}">
        <p14:creationId xmlns:p14="http://schemas.microsoft.com/office/powerpoint/2010/main" val="37026124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2049937" y="197862"/>
            <a:ext cx="8703203"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8.6.2 Guided Instruction: Evaluating Expressions with Multiple Steps</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1302637" y="487062"/>
            <a:ext cx="747300" cy="747300"/>
          </a:xfrm>
          <a:prstGeom prst="rect">
            <a:avLst/>
          </a:prstGeom>
          <a:noFill/>
          <a:ln>
            <a:noFill/>
          </a:ln>
          <a:effectLst>
            <a:outerShdw blurRad="50800" dist="38100" dir="2700000" algn="tl" rotWithShape="0">
              <a:prstClr val="black">
                <a:alpha val="40000"/>
              </a:prstClr>
            </a:outerShdw>
          </a:effectLst>
        </p:spPr>
      </p:pic>
      <p:sp>
        <p:nvSpPr>
          <p:cNvPr id="13" name="TextBox 12">
            <a:extLst>
              <a:ext uri="{FF2B5EF4-FFF2-40B4-BE49-F238E27FC236}">
                <a16:creationId xmlns:a16="http://schemas.microsoft.com/office/drawing/2014/main" id="{C01B13E8-EC8D-E443-A329-C5E3593DD13A}"/>
              </a:ext>
            </a:extLst>
          </p:cNvPr>
          <p:cNvSpPr txBox="1"/>
          <p:nvPr/>
        </p:nvSpPr>
        <p:spPr>
          <a:xfrm>
            <a:off x="1673870" y="1446985"/>
            <a:ext cx="8703203" cy="1055354"/>
          </a:xfrm>
          <a:prstGeom prst="rect">
            <a:avLst/>
          </a:prstGeom>
          <a:noFill/>
        </p:spPr>
        <p:txBody>
          <a:bodyPr wrap="square" rtlCol="0">
            <a:spAutoFit/>
          </a:bodyPr>
          <a:lstStyle/>
          <a:p>
            <a:pPr>
              <a:lnSpc>
                <a:spcPct val="107000"/>
              </a:lnSpc>
            </a:pPr>
            <a:r>
              <a:rPr lang="en-US" sz="2000" dirty="0">
                <a:latin typeface="Verdana"/>
                <a:ea typeface="Verdana"/>
                <a:cs typeface="Verdana"/>
              </a:rPr>
              <a:t>Two students evaluated the expression below in two different ways. Review the work of each student. Then, answer the questions. </a:t>
            </a:r>
            <a:endParaRPr lang="en-PH" sz="1800" i="1" dirty="0">
              <a:latin typeface="Cambria Math"/>
              <a:ea typeface="Cambria Math"/>
              <a:cs typeface="Cambria Math"/>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493108145"/>
                  </p:ext>
                </p:extLst>
              </p:nvPr>
            </p:nvGraphicFramePr>
            <p:xfrm>
              <a:off x="2217876" y="2714962"/>
              <a:ext cx="7200000" cy="3904679"/>
            </p:xfrm>
            <a:graphic>
              <a:graphicData uri="http://schemas.openxmlformats.org/drawingml/2006/table">
                <a:tbl>
                  <a:tblPr firstRow="1" firstCol="1" bandRow="1"/>
                  <a:tblGrid>
                    <a:gridCol w="3600000">
                      <a:extLst>
                        <a:ext uri="{9D8B030D-6E8A-4147-A177-3AD203B41FA5}">
                          <a16:colId xmlns:a16="http://schemas.microsoft.com/office/drawing/2014/main" val="20000"/>
                        </a:ext>
                      </a:extLst>
                    </a:gridCol>
                    <a:gridCol w="3600000">
                      <a:extLst>
                        <a:ext uri="{9D8B030D-6E8A-4147-A177-3AD203B41FA5}">
                          <a16:colId xmlns:a16="http://schemas.microsoft.com/office/drawing/2014/main" val="20001"/>
                        </a:ext>
                      </a:extLst>
                    </a:gridCol>
                  </a:tblGrid>
                  <a:tr h="229018">
                    <a:tc>
                      <a:txBody>
                        <a:bodyPr/>
                        <a:lstStyle/>
                        <a:p>
                          <a:pPr algn="ctr">
                            <a:lnSpc>
                              <a:spcPct val="107000"/>
                            </a:lnSpc>
                            <a:spcAft>
                              <a:spcPts val="0"/>
                            </a:spcAft>
                          </a:pPr>
                          <a:r>
                            <a:rPr lang="en-US" sz="1800" b="1" i="0" dirty="0">
                              <a:effectLst/>
                              <a:latin typeface="Verdana" pitchFamily="34" charset="0"/>
                              <a:ea typeface="Verdana" pitchFamily="34" charset="0"/>
                              <a:cs typeface="Verdana"/>
                            </a:rPr>
                            <a:t>Diego</a:t>
                          </a:r>
                          <a:endParaRPr lang="en-PH" sz="1800" i="1" dirty="0">
                            <a:effectLst/>
                            <a:latin typeface="Verdana" pitchFamily="34" charset="0"/>
                            <a:ea typeface="Verdana" pitchFamily="34" charset="0"/>
                            <a:cs typeface="Cambria Math"/>
                          </a:endParaRPr>
                        </a:p>
                      </a:txBody>
                      <a:tcPr marL="45720" marR="4572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1800" b="1" i="0" dirty="0">
                              <a:effectLst/>
                              <a:latin typeface="Verdana" pitchFamily="34" charset="0"/>
                              <a:ea typeface="Verdana" pitchFamily="34" charset="0"/>
                              <a:cs typeface="Verdana"/>
                            </a:rPr>
                            <a:t>Valeria</a:t>
                          </a:r>
                          <a:endParaRPr lang="en-PH" sz="1800" i="1" dirty="0">
                            <a:effectLst/>
                            <a:latin typeface="Verdana" pitchFamily="34" charset="0"/>
                            <a:ea typeface="Verdana" pitchFamily="34" charset="0"/>
                            <a:cs typeface="Cambria Math"/>
                          </a:endParaRPr>
                        </a:p>
                      </a:txBody>
                      <a:tcPr marL="45720" marR="4572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3539517">
                    <a:tc>
                      <a: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p>
                                  <m:sSupPr>
                                    <m:ctrlPr>
                                      <a:rPr lang="en-PH" sz="1800" i="1">
                                        <a:effectLst/>
                                        <a:latin typeface="Cambria Math" panose="02040503050406030204" pitchFamily="18" charset="0"/>
                                        <a:ea typeface="Verdana"/>
                                        <a:cs typeface="Verdana"/>
                                      </a:rPr>
                                    </m:ctrlPr>
                                  </m:sSupPr>
                                  <m:e>
                                    <m:d>
                                      <m:dPr>
                                        <m:begChr m:val="["/>
                                        <m:endChr m:val="]"/>
                                        <m:ctrlPr>
                                          <a:rPr lang="en-PH" sz="1800" i="1">
                                            <a:effectLst/>
                                            <a:latin typeface="Cambria Math" panose="02040503050406030204" pitchFamily="18" charset="0"/>
                                            <a:ea typeface="Verdana"/>
                                            <a:cs typeface="Verdana"/>
                                          </a:rPr>
                                        </m:ctrlPr>
                                      </m:dPr>
                                      <m:e>
                                        <m:r>
                                          <a:rPr lang="en-US" sz="1800" i="1">
                                            <a:effectLst/>
                                            <a:latin typeface="Cambria Math"/>
                                            <a:ea typeface="Verdana"/>
                                            <a:cs typeface="Verdana"/>
                                          </a:rPr>
                                          <m:t>0.5×</m:t>
                                        </m:r>
                                        <m:sSup>
                                          <m:sSupPr>
                                            <m:ctrlPr>
                                              <a:rPr lang="en-PH" sz="1800" i="1">
                                                <a:effectLst/>
                                                <a:latin typeface="Cambria Math" panose="02040503050406030204" pitchFamily="18" charset="0"/>
                                                <a:ea typeface="Verdana"/>
                                                <a:cs typeface="Verdana"/>
                                              </a:rPr>
                                            </m:ctrlPr>
                                          </m:sSupPr>
                                          <m:e>
                                            <m:d>
                                              <m:dPr>
                                                <m:ctrlPr>
                                                  <a:rPr lang="en-PH" sz="1800" i="1">
                                                    <a:effectLst/>
                                                    <a:latin typeface="Cambria Math" panose="02040503050406030204" pitchFamily="18" charset="0"/>
                                                    <a:ea typeface="Verdana"/>
                                                    <a:cs typeface="Verdana"/>
                                                  </a:rPr>
                                                </m:ctrlPr>
                                              </m:dPr>
                                              <m:e>
                                                <m:r>
                                                  <a:rPr lang="en-US" sz="1800" i="1">
                                                    <a:effectLst/>
                                                    <a:latin typeface="Cambria Math"/>
                                                    <a:ea typeface="Verdana"/>
                                                    <a:cs typeface="Verdana"/>
                                                  </a:rPr>
                                                  <m:t>0.5+3.5</m:t>
                                                </m:r>
                                              </m:e>
                                            </m:d>
                                          </m:e>
                                          <m:sup>
                                            <m:r>
                                              <a:rPr lang="en-US" sz="1800" i="1">
                                                <a:effectLst/>
                                                <a:latin typeface="Cambria Math"/>
                                                <a:ea typeface="Verdana"/>
                                                <a:cs typeface="Verdana"/>
                                              </a:rPr>
                                              <m:t>2</m:t>
                                            </m:r>
                                          </m:sup>
                                        </m:sSup>
                                      </m:e>
                                    </m:d>
                                  </m:e>
                                  <m:sup>
                                    <m:r>
                                      <a:rPr lang="en-US" sz="1800" i="1">
                                        <a:effectLst/>
                                        <a:latin typeface="Cambria Math"/>
                                        <a:ea typeface="Verdana"/>
                                        <a:cs typeface="Verdana"/>
                                      </a:rPr>
                                      <m:t>3</m:t>
                                    </m:r>
                                  </m:sup>
                                </m:sSup>
                                <m:r>
                                  <a:rPr lang="en-US" sz="1800" i="1">
                                    <a:effectLst/>
                                    <a:latin typeface="Cambria Math"/>
                                    <a:ea typeface="Verdana"/>
                                    <a:cs typeface="Verdana"/>
                                  </a:rPr>
                                  <m:t>+26÷13</m:t>
                                </m:r>
                              </m:oMath>
                            </m:oMathPara>
                          </a14:m>
                          <a:endParaRPr lang="en-PH" sz="1800" i="1" dirty="0">
                            <a:effectLst/>
                            <a:latin typeface="Verdana" pitchFamily="34" charset="0"/>
                            <a:ea typeface="Verdana" pitchFamily="34" charset="0"/>
                            <a:cs typeface="Cambria Math"/>
                          </a:endParaRPr>
                        </a:p>
                        <a:p>
                          <a:pPr>
                            <a:lnSpc>
                              <a:spcPct val="107000"/>
                            </a:lnSpc>
                            <a:spcAft>
                              <a:spcPts val="800"/>
                            </a:spcAft>
                          </a:pPr>
                          <a14:m>
                            <m:oMathPara xmlns:m="http://schemas.openxmlformats.org/officeDocument/2006/math">
                              <m:oMathParaPr>
                                <m:jc m:val="centerGroup"/>
                              </m:oMathParaPr>
                              <m:oMath xmlns:m="http://schemas.openxmlformats.org/officeDocument/2006/math">
                                <m:sSup>
                                  <m:sSupPr>
                                    <m:ctrlPr>
                                      <a:rPr lang="en-PH" sz="1800" i="1">
                                        <a:effectLst/>
                                        <a:latin typeface="Cambria Math" panose="02040503050406030204" pitchFamily="18" charset="0"/>
                                        <a:ea typeface="Verdana"/>
                                        <a:cs typeface="Verdana"/>
                                      </a:rPr>
                                    </m:ctrlPr>
                                  </m:sSupPr>
                                  <m:e>
                                    <m:d>
                                      <m:dPr>
                                        <m:begChr m:val="["/>
                                        <m:endChr m:val="]"/>
                                        <m:ctrlPr>
                                          <a:rPr lang="en-PH" sz="1800" i="1">
                                            <a:effectLst/>
                                            <a:latin typeface="Cambria Math" panose="02040503050406030204" pitchFamily="18" charset="0"/>
                                            <a:ea typeface="Verdana"/>
                                            <a:cs typeface="Verdana"/>
                                          </a:rPr>
                                        </m:ctrlPr>
                                      </m:dPr>
                                      <m:e>
                                        <m:r>
                                          <a:rPr lang="en-US" sz="1800" i="1">
                                            <a:effectLst/>
                                            <a:latin typeface="Cambria Math"/>
                                            <a:ea typeface="Verdana"/>
                                            <a:cs typeface="Verdana"/>
                                          </a:rPr>
                                          <m:t>0.5×</m:t>
                                        </m:r>
                                        <m:sSup>
                                          <m:sSupPr>
                                            <m:ctrlPr>
                                              <a:rPr lang="en-PH" sz="1800" i="1">
                                                <a:effectLst/>
                                                <a:latin typeface="Cambria Math" panose="02040503050406030204" pitchFamily="18" charset="0"/>
                                                <a:ea typeface="Verdana"/>
                                                <a:cs typeface="Verdana"/>
                                              </a:rPr>
                                            </m:ctrlPr>
                                          </m:sSupPr>
                                          <m:e>
                                            <m:r>
                                              <a:rPr lang="en-US" sz="1800" i="1">
                                                <a:effectLst/>
                                                <a:latin typeface="Cambria Math"/>
                                                <a:ea typeface="Verdana"/>
                                                <a:cs typeface="Verdana"/>
                                              </a:rPr>
                                              <m:t>4</m:t>
                                            </m:r>
                                          </m:e>
                                          <m:sup>
                                            <m:r>
                                              <a:rPr lang="en-US" sz="1800" i="1">
                                                <a:effectLst/>
                                                <a:latin typeface="Cambria Math"/>
                                                <a:ea typeface="Verdana"/>
                                                <a:cs typeface="Verdana"/>
                                              </a:rPr>
                                              <m:t>2</m:t>
                                            </m:r>
                                          </m:sup>
                                        </m:sSup>
                                      </m:e>
                                    </m:d>
                                  </m:e>
                                  <m:sup>
                                    <m:r>
                                      <a:rPr lang="en-US" sz="1800" i="1">
                                        <a:effectLst/>
                                        <a:latin typeface="Cambria Math"/>
                                        <a:ea typeface="Verdana"/>
                                        <a:cs typeface="Verdana"/>
                                      </a:rPr>
                                      <m:t>3</m:t>
                                    </m:r>
                                  </m:sup>
                                </m:sSup>
                                <m:r>
                                  <a:rPr lang="en-US" sz="1800" i="1">
                                    <a:effectLst/>
                                    <a:latin typeface="Cambria Math"/>
                                    <a:ea typeface="Verdana"/>
                                    <a:cs typeface="Verdana"/>
                                  </a:rPr>
                                  <m:t>+26÷13</m:t>
                                </m:r>
                              </m:oMath>
                            </m:oMathPara>
                          </a14:m>
                          <a:endParaRPr lang="en-PH" sz="1800" i="1" dirty="0">
                            <a:effectLst/>
                            <a:latin typeface="Verdana" pitchFamily="34" charset="0"/>
                            <a:ea typeface="Verdana" pitchFamily="34" charset="0"/>
                            <a:cs typeface="Cambria Math"/>
                          </a:endParaRPr>
                        </a:p>
                        <a:p>
                          <a:pPr>
                            <a:lnSpc>
                              <a:spcPct val="107000"/>
                            </a:lnSpc>
                            <a:spcAft>
                              <a:spcPts val="800"/>
                            </a:spcAft>
                          </a:pPr>
                          <a14:m>
                            <m:oMathPara xmlns:m="http://schemas.openxmlformats.org/officeDocument/2006/math">
                              <m:oMathParaPr>
                                <m:jc m:val="centerGroup"/>
                              </m:oMathParaPr>
                              <m:oMath xmlns:m="http://schemas.openxmlformats.org/officeDocument/2006/math">
                                <m:sSup>
                                  <m:sSupPr>
                                    <m:ctrlPr>
                                      <a:rPr lang="en-PH" sz="1800" i="1">
                                        <a:effectLst/>
                                        <a:latin typeface="Cambria Math" panose="02040503050406030204" pitchFamily="18" charset="0"/>
                                        <a:ea typeface="Verdana"/>
                                        <a:cs typeface="Verdana"/>
                                      </a:rPr>
                                    </m:ctrlPr>
                                  </m:sSupPr>
                                  <m:e>
                                    <m:d>
                                      <m:dPr>
                                        <m:begChr m:val="["/>
                                        <m:endChr m:val="]"/>
                                        <m:ctrlPr>
                                          <a:rPr lang="en-PH" sz="1800" i="1">
                                            <a:effectLst/>
                                            <a:latin typeface="Cambria Math" panose="02040503050406030204" pitchFamily="18" charset="0"/>
                                            <a:ea typeface="Verdana"/>
                                            <a:cs typeface="Verdana"/>
                                          </a:rPr>
                                        </m:ctrlPr>
                                      </m:dPr>
                                      <m:e>
                                        <m:r>
                                          <a:rPr lang="en-US" sz="1800" i="1">
                                            <a:effectLst/>
                                            <a:latin typeface="Cambria Math"/>
                                            <a:ea typeface="Verdana"/>
                                            <a:cs typeface="Verdana"/>
                                          </a:rPr>
                                          <m:t>0.5×16</m:t>
                                        </m:r>
                                      </m:e>
                                    </m:d>
                                  </m:e>
                                  <m:sup>
                                    <m:r>
                                      <a:rPr lang="en-US" sz="1800" i="1">
                                        <a:effectLst/>
                                        <a:latin typeface="Cambria Math"/>
                                        <a:ea typeface="Verdana"/>
                                        <a:cs typeface="Verdana"/>
                                      </a:rPr>
                                      <m:t>3</m:t>
                                    </m:r>
                                  </m:sup>
                                </m:sSup>
                                <m:r>
                                  <a:rPr lang="en-US" sz="1800" i="1">
                                    <a:effectLst/>
                                    <a:latin typeface="Cambria Math"/>
                                    <a:ea typeface="Verdana"/>
                                    <a:cs typeface="Verdana"/>
                                  </a:rPr>
                                  <m:t>+26÷13</m:t>
                                </m:r>
                              </m:oMath>
                            </m:oMathPara>
                          </a14:m>
                          <a:endParaRPr lang="en-PH" sz="1800" i="1" dirty="0">
                            <a:effectLst/>
                            <a:latin typeface="Verdana" pitchFamily="34" charset="0"/>
                            <a:ea typeface="Verdana" pitchFamily="34" charset="0"/>
                            <a:cs typeface="Cambria Math"/>
                          </a:endParaRPr>
                        </a:p>
                        <a:p>
                          <a:pPr>
                            <a:lnSpc>
                              <a:spcPct val="107000"/>
                            </a:lnSpc>
                            <a:spcAft>
                              <a:spcPts val="800"/>
                            </a:spcAft>
                          </a:pPr>
                          <a14:m>
                            <m:oMathPara xmlns:m="http://schemas.openxmlformats.org/officeDocument/2006/math">
                              <m:oMathParaPr>
                                <m:jc m:val="centerGroup"/>
                              </m:oMathParaPr>
                              <m:oMath xmlns:m="http://schemas.openxmlformats.org/officeDocument/2006/math">
                                <m:sSup>
                                  <m:sSupPr>
                                    <m:ctrlPr>
                                      <a:rPr lang="en-PH" sz="1800" i="1">
                                        <a:effectLst/>
                                        <a:latin typeface="Cambria Math" panose="02040503050406030204" pitchFamily="18" charset="0"/>
                                        <a:ea typeface="Verdana"/>
                                        <a:cs typeface="Verdana"/>
                                      </a:rPr>
                                    </m:ctrlPr>
                                  </m:sSupPr>
                                  <m:e>
                                    <m:r>
                                      <a:rPr lang="en-US" sz="1800" i="1">
                                        <a:effectLst/>
                                        <a:latin typeface="Cambria Math"/>
                                        <a:ea typeface="Verdana"/>
                                        <a:cs typeface="Verdana"/>
                                      </a:rPr>
                                      <m:t>8</m:t>
                                    </m:r>
                                  </m:e>
                                  <m:sup>
                                    <m:r>
                                      <a:rPr lang="en-US" sz="1800" i="1">
                                        <a:effectLst/>
                                        <a:latin typeface="Cambria Math"/>
                                        <a:ea typeface="Verdana"/>
                                        <a:cs typeface="Verdana"/>
                                      </a:rPr>
                                      <m:t>3</m:t>
                                    </m:r>
                                  </m:sup>
                                </m:sSup>
                                <m:r>
                                  <a:rPr lang="en-US" sz="1800" i="1">
                                    <a:effectLst/>
                                    <a:latin typeface="Cambria Math"/>
                                    <a:ea typeface="Verdana"/>
                                    <a:cs typeface="Verdana"/>
                                  </a:rPr>
                                  <m:t>+26÷13</m:t>
                                </m:r>
                              </m:oMath>
                            </m:oMathPara>
                          </a14:m>
                          <a:endParaRPr lang="en-PH" sz="1800" i="1" dirty="0">
                            <a:effectLst/>
                            <a:latin typeface="Verdana" pitchFamily="34" charset="0"/>
                            <a:ea typeface="Verdana" pitchFamily="34" charset="0"/>
                            <a:cs typeface="Cambria Math"/>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800" i="1">
                                    <a:effectLst/>
                                    <a:latin typeface="Cambria Math"/>
                                    <a:ea typeface="Verdana"/>
                                    <a:cs typeface="Verdana"/>
                                  </a:rPr>
                                  <m:t>512+26÷13</m:t>
                                </m:r>
                              </m:oMath>
                            </m:oMathPara>
                          </a14:m>
                          <a:endParaRPr lang="en-PH" sz="1800" i="1" dirty="0">
                            <a:effectLst/>
                            <a:latin typeface="Verdana" pitchFamily="34" charset="0"/>
                            <a:ea typeface="Verdana" pitchFamily="34" charset="0"/>
                            <a:cs typeface="Cambria Math"/>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800" i="1">
                                    <a:effectLst/>
                                    <a:latin typeface="Cambria Math"/>
                                    <a:ea typeface="Verdana"/>
                                    <a:cs typeface="Verdana"/>
                                  </a:rPr>
                                  <m:t>512+2</m:t>
                                </m:r>
                              </m:oMath>
                            </m:oMathPara>
                          </a14:m>
                          <a:endParaRPr lang="en-PH" sz="1800" i="1" dirty="0">
                            <a:effectLst/>
                            <a:latin typeface="Verdana" pitchFamily="34" charset="0"/>
                            <a:ea typeface="Verdana" pitchFamily="34" charset="0"/>
                            <a:cs typeface="Cambria Math"/>
                          </a:endParaRPr>
                        </a:p>
                        <a:p>
                          <a:pPr>
                            <a:lnSpc>
                              <a:spcPct val="107000"/>
                            </a:lnSpc>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a:ea typeface="Verdana"/>
                                    <a:cs typeface="Verdana"/>
                                  </a:rPr>
                                  <m:t>514</m:t>
                                </m:r>
                              </m:oMath>
                            </m:oMathPara>
                          </a14:m>
                          <a:endParaRPr lang="en-PH" sz="1800" i="1" dirty="0">
                            <a:effectLst/>
                            <a:latin typeface="Verdana" pitchFamily="34" charset="0"/>
                            <a:ea typeface="Verdana" pitchFamily="34" charset="0"/>
                            <a:cs typeface="Cambria Math"/>
                          </a:endParaRPr>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nSpc>
                              <a:spcPct val="107000"/>
                            </a:lnSpc>
                            <a:spcAft>
                              <a:spcPts val="800"/>
                            </a:spcAft>
                          </a:pPr>
                          <a14:m>
                            <m:oMathPara xmlns:m="http://schemas.openxmlformats.org/officeDocument/2006/math">
                              <m:oMathParaPr>
                                <m:jc m:val="centerGroup"/>
                              </m:oMathParaPr>
                              <m:oMath xmlns:m="http://schemas.openxmlformats.org/officeDocument/2006/math">
                                <m:sSup>
                                  <m:sSupPr>
                                    <m:ctrlPr>
                                      <a:rPr lang="en-PH" sz="1800" i="1">
                                        <a:effectLst/>
                                        <a:latin typeface="Cambria Math" panose="02040503050406030204" pitchFamily="18" charset="0"/>
                                        <a:ea typeface="Verdana"/>
                                        <a:cs typeface="Verdana"/>
                                      </a:rPr>
                                    </m:ctrlPr>
                                  </m:sSupPr>
                                  <m:e>
                                    <m:d>
                                      <m:dPr>
                                        <m:begChr m:val="["/>
                                        <m:endChr m:val="]"/>
                                        <m:ctrlPr>
                                          <a:rPr lang="en-PH" sz="1800" i="1">
                                            <a:effectLst/>
                                            <a:latin typeface="Cambria Math" panose="02040503050406030204" pitchFamily="18" charset="0"/>
                                            <a:ea typeface="Verdana"/>
                                            <a:cs typeface="Verdana"/>
                                          </a:rPr>
                                        </m:ctrlPr>
                                      </m:dPr>
                                      <m:e>
                                        <m:r>
                                          <a:rPr lang="en-US" sz="1800" i="1">
                                            <a:effectLst/>
                                            <a:latin typeface="Cambria Math"/>
                                            <a:ea typeface="Verdana"/>
                                            <a:cs typeface="Verdana"/>
                                          </a:rPr>
                                          <m:t>0.5×</m:t>
                                        </m:r>
                                        <m:sSup>
                                          <m:sSupPr>
                                            <m:ctrlPr>
                                              <a:rPr lang="en-PH" sz="1800" i="1">
                                                <a:effectLst/>
                                                <a:latin typeface="Cambria Math" panose="02040503050406030204" pitchFamily="18" charset="0"/>
                                                <a:ea typeface="Verdana"/>
                                                <a:cs typeface="Verdana"/>
                                              </a:rPr>
                                            </m:ctrlPr>
                                          </m:sSupPr>
                                          <m:e>
                                            <m:d>
                                              <m:dPr>
                                                <m:ctrlPr>
                                                  <a:rPr lang="en-PH" sz="1800" i="1">
                                                    <a:effectLst/>
                                                    <a:latin typeface="Cambria Math" panose="02040503050406030204" pitchFamily="18" charset="0"/>
                                                    <a:ea typeface="Verdana"/>
                                                    <a:cs typeface="Verdana"/>
                                                  </a:rPr>
                                                </m:ctrlPr>
                                              </m:dPr>
                                              <m:e>
                                                <m:r>
                                                  <a:rPr lang="en-US" sz="1800" i="1">
                                                    <a:effectLst/>
                                                    <a:latin typeface="Cambria Math"/>
                                                    <a:ea typeface="Verdana"/>
                                                    <a:cs typeface="Verdana"/>
                                                  </a:rPr>
                                                  <m:t>0.5+3.5</m:t>
                                                </m:r>
                                              </m:e>
                                            </m:d>
                                          </m:e>
                                          <m:sup>
                                            <m:r>
                                              <a:rPr lang="en-US" sz="1800" i="1">
                                                <a:effectLst/>
                                                <a:latin typeface="Cambria Math"/>
                                                <a:ea typeface="Verdana"/>
                                                <a:cs typeface="Verdana"/>
                                              </a:rPr>
                                              <m:t>2</m:t>
                                            </m:r>
                                          </m:sup>
                                        </m:sSup>
                                      </m:e>
                                    </m:d>
                                  </m:e>
                                  <m:sup>
                                    <m:r>
                                      <a:rPr lang="en-US" sz="1800" i="1">
                                        <a:effectLst/>
                                        <a:latin typeface="Cambria Math"/>
                                        <a:ea typeface="Verdana"/>
                                        <a:cs typeface="Verdana"/>
                                      </a:rPr>
                                      <m:t>3</m:t>
                                    </m:r>
                                  </m:sup>
                                </m:sSup>
                                <m:r>
                                  <a:rPr lang="en-US" sz="1800" i="1">
                                    <a:effectLst/>
                                    <a:latin typeface="Cambria Math"/>
                                    <a:ea typeface="Verdana"/>
                                    <a:cs typeface="Verdana"/>
                                  </a:rPr>
                                  <m:t>+26÷13</m:t>
                                </m:r>
                              </m:oMath>
                            </m:oMathPara>
                          </a14:m>
                          <a:endParaRPr lang="en-PH" sz="1800" i="1" dirty="0">
                            <a:effectLst/>
                            <a:latin typeface="Verdana" pitchFamily="34" charset="0"/>
                            <a:ea typeface="Verdana" pitchFamily="34" charset="0"/>
                            <a:cs typeface="Cambria Math"/>
                          </a:endParaRPr>
                        </a:p>
                        <a:p>
                          <a:pPr>
                            <a:lnSpc>
                              <a:spcPct val="107000"/>
                            </a:lnSpc>
                            <a:spcAft>
                              <a:spcPts val="800"/>
                            </a:spcAft>
                          </a:pPr>
                          <a14:m>
                            <m:oMathPara xmlns:m="http://schemas.openxmlformats.org/officeDocument/2006/math">
                              <m:oMathParaPr>
                                <m:jc m:val="centerGroup"/>
                              </m:oMathParaPr>
                              <m:oMath xmlns:m="http://schemas.openxmlformats.org/officeDocument/2006/math">
                                <m:sSup>
                                  <m:sSupPr>
                                    <m:ctrlPr>
                                      <a:rPr lang="en-PH" sz="1800" i="1">
                                        <a:effectLst/>
                                        <a:latin typeface="Cambria Math" panose="02040503050406030204" pitchFamily="18" charset="0"/>
                                        <a:ea typeface="Verdana"/>
                                        <a:cs typeface="Verdana"/>
                                      </a:rPr>
                                    </m:ctrlPr>
                                  </m:sSupPr>
                                  <m:e>
                                    <m:r>
                                      <a:rPr lang="en-US" sz="1800" i="1">
                                        <a:effectLst/>
                                        <a:latin typeface="Cambria Math"/>
                                        <a:ea typeface="Verdana"/>
                                        <a:cs typeface="Verdana"/>
                                      </a:rPr>
                                      <m:t>0.5</m:t>
                                    </m:r>
                                  </m:e>
                                  <m:sup>
                                    <m:r>
                                      <a:rPr lang="en-US" sz="1800" i="1">
                                        <a:effectLst/>
                                        <a:latin typeface="Cambria Math"/>
                                        <a:ea typeface="Verdana"/>
                                        <a:cs typeface="Verdana"/>
                                      </a:rPr>
                                      <m:t>3</m:t>
                                    </m:r>
                                  </m:sup>
                                </m:sSup>
                                <m:r>
                                  <a:rPr lang="en-US" sz="1800" i="1">
                                    <a:effectLst/>
                                    <a:latin typeface="Cambria Math"/>
                                    <a:ea typeface="Verdana"/>
                                    <a:cs typeface="Verdana"/>
                                  </a:rPr>
                                  <m:t>×</m:t>
                                </m:r>
                                <m:sSup>
                                  <m:sSupPr>
                                    <m:ctrlPr>
                                      <a:rPr lang="en-PH" sz="1800" i="1">
                                        <a:effectLst/>
                                        <a:latin typeface="Cambria Math" panose="02040503050406030204" pitchFamily="18" charset="0"/>
                                        <a:ea typeface="Verdana"/>
                                        <a:cs typeface="Verdana"/>
                                      </a:rPr>
                                    </m:ctrlPr>
                                  </m:sSupPr>
                                  <m:e>
                                    <m:d>
                                      <m:dPr>
                                        <m:ctrlPr>
                                          <a:rPr lang="en-PH" sz="1800" i="1">
                                            <a:effectLst/>
                                            <a:latin typeface="Cambria Math" panose="02040503050406030204" pitchFamily="18" charset="0"/>
                                            <a:ea typeface="Verdana"/>
                                            <a:cs typeface="Verdana"/>
                                          </a:rPr>
                                        </m:ctrlPr>
                                      </m:dPr>
                                      <m:e>
                                        <m:r>
                                          <a:rPr lang="en-US" sz="1800" i="1">
                                            <a:effectLst/>
                                            <a:latin typeface="Cambria Math"/>
                                            <a:ea typeface="Verdana"/>
                                            <a:cs typeface="Verdana"/>
                                          </a:rPr>
                                          <m:t>0.5+3.5</m:t>
                                        </m:r>
                                      </m:e>
                                    </m:d>
                                  </m:e>
                                  <m:sup>
                                    <m:r>
                                      <a:rPr lang="en-US" sz="1800" i="1">
                                        <a:effectLst/>
                                        <a:latin typeface="Cambria Math"/>
                                        <a:ea typeface="Verdana"/>
                                        <a:cs typeface="Verdana"/>
                                      </a:rPr>
                                      <m:t>2×3</m:t>
                                    </m:r>
                                  </m:sup>
                                </m:sSup>
                                <m:r>
                                  <a:rPr lang="en-US" sz="1800" i="1">
                                    <a:effectLst/>
                                    <a:latin typeface="Cambria Math"/>
                                    <a:ea typeface="Verdana"/>
                                    <a:cs typeface="Verdana"/>
                                  </a:rPr>
                                  <m:t>+26÷13</m:t>
                                </m:r>
                              </m:oMath>
                            </m:oMathPara>
                          </a14:m>
                          <a:endParaRPr lang="en-PH" sz="1800" i="1" dirty="0">
                            <a:effectLst/>
                            <a:latin typeface="Verdana" pitchFamily="34" charset="0"/>
                            <a:ea typeface="Verdana" pitchFamily="34" charset="0"/>
                            <a:cs typeface="Cambria Math"/>
                          </a:endParaRPr>
                        </a:p>
                        <a:p>
                          <a:pPr>
                            <a:lnSpc>
                              <a:spcPct val="107000"/>
                            </a:lnSpc>
                            <a:spcAft>
                              <a:spcPts val="800"/>
                            </a:spcAft>
                          </a:pPr>
                          <a14:m>
                            <m:oMathPara xmlns:m="http://schemas.openxmlformats.org/officeDocument/2006/math">
                              <m:oMathParaPr>
                                <m:jc m:val="centerGroup"/>
                              </m:oMathParaPr>
                              <m:oMath xmlns:m="http://schemas.openxmlformats.org/officeDocument/2006/math">
                                <m:sSup>
                                  <m:sSupPr>
                                    <m:ctrlPr>
                                      <a:rPr lang="en-PH" sz="1800" i="1">
                                        <a:effectLst/>
                                        <a:latin typeface="Cambria Math" panose="02040503050406030204" pitchFamily="18" charset="0"/>
                                        <a:ea typeface="Verdana"/>
                                        <a:cs typeface="Verdana"/>
                                      </a:rPr>
                                    </m:ctrlPr>
                                  </m:sSupPr>
                                  <m:e>
                                    <m:r>
                                      <a:rPr lang="en-US" sz="1800" i="1">
                                        <a:effectLst/>
                                        <a:latin typeface="Cambria Math"/>
                                        <a:ea typeface="Verdana"/>
                                        <a:cs typeface="Verdana"/>
                                      </a:rPr>
                                      <m:t>0.5</m:t>
                                    </m:r>
                                  </m:e>
                                  <m:sup>
                                    <m:r>
                                      <a:rPr lang="en-US" sz="1800" i="1">
                                        <a:effectLst/>
                                        <a:latin typeface="Cambria Math"/>
                                        <a:ea typeface="Verdana"/>
                                        <a:cs typeface="Verdana"/>
                                      </a:rPr>
                                      <m:t>3</m:t>
                                    </m:r>
                                  </m:sup>
                                </m:sSup>
                                <m:r>
                                  <a:rPr lang="en-US" sz="1800" i="1">
                                    <a:effectLst/>
                                    <a:latin typeface="Cambria Math"/>
                                    <a:ea typeface="Verdana"/>
                                    <a:cs typeface="Verdana"/>
                                  </a:rPr>
                                  <m:t>×</m:t>
                                </m:r>
                                <m:sSup>
                                  <m:sSupPr>
                                    <m:ctrlPr>
                                      <a:rPr lang="en-PH" sz="1800" i="1">
                                        <a:effectLst/>
                                        <a:latin typeface="Cambria Math" panose="02040503050406030204" pitchFamily="18" charset="0"/>
                                        <a:ea typeface="Verdana"/>
                                        <a:cs typeface="Verdana"/>
                                      </a:rPr>
                                    </m:ctrlPr>
                                  </m:sSupPr>
                                  <m:e>
                                    <m:d>
                                      <m:dPr>
                                        <m:ctrlPr>
                                          <a:rPr lang="en-PH" sz="1800" i="1">
                                            <a:effectLst/>
                                            <a:latin typeface="Cambria Math" panose="02040503050406030204" pitchFamily="18" charset="0"/>
                                            <a:ea typeface="Verdana"/>
                                            <a:cs typeface="Verdana"/>
                                          </a:rPr>
                                        </m:ctrlPr>
                                      </m:dPr>
                                      <m:e>
                                        <m:r>
                                          <a:rPr lang="en-US" sz="1800" i="1">
                                            <a:effectLst/>
                                            <a:latin typeface="Cambria Math"/>
                                            <a:ea typeface="Verdana"/>
                                            <a:cs typeface="Verdana"/>
                                          </a:rPr>
                                          <m:t>0.5+3.5</m:t>
                                        </m:r>
                                      </m:e>
                                    </m:d>
                                  </m:e>
                                  <m:sup>
                                    <m:r>
                                      <a:rPr lang="en-US" sz="1800" i="1">
                                        <a:effectLst/>
                                        <a:latin typeface="Cambria Math"/>
                                        <a:ea typeface="Verdana"/>
                                        <a:cs typeface="Verdana"/>
                                      </a:rPr>
                                      <m:t>6</m:t>
                                    </m:r>
                                  </m:sup>
                                </m:sSup>
                                <m:r>
                                  <a:rPr lang="en-US" sz="1800" i="1">
                                    <a:effectLst/>
                                    <a:latin typeface="Cambria Math"/>
                                    <a:ea typeface="Verdana"/>
                                    <a:cs typeface="Verdana"/>
                                  </a:rPr>
                                  <m:t>+26÷13</m:t>
                                </m:r>
                              </m:oMath>
                            </m:oMathPara>
                          </a14:m>
                          <a:endParaRPr lang="en-PH" sz="1800" i="1" dirty="0">
                            <a:effectLst/>
                            <a:latin typeface="Verdana" pitchFamily="34" charset="0"/>
                            <a:ea typeface="Verdana" pitchFamily="34" charset="0"/>
                            <a:cs typeface="Cambria Math"/>
                          </a:endParaRPr>
                        </a:p>
                        <a:p>
                          <a:pPr>
                            <a:lnSpc>
                              <a:spcPct val="107000"/>
                            </a:lnSpc>
                            <a:spcAft>
                              <a:spcPts val="800"/>
                            </a:spcAft>
                          </a:pPr>
                          <a14:m>
                            <m:oMathPara xmlns:m="http://schemas.openxmlformats.org/officeDocument/2006/math">
                              <m:oMathParaPr>
                                <m:jc m:val="centerGroup"/>
                              </m:oMathParaPr>
                              <m:oMath xmlns:m="http://schemas.openxmlformats.org/officeDocument/2006/math">
                                <m:sSup>
                                  <m:sSupPr>
                                    <m:ctrlPr>
                                      <a:rPr lang="en-PH" sz="1800" i="1">
                                        <a:effectLst/>
                                        <a:latin typeface="Cambria Math" panose="02040503050406030204" pitchFamily="18" charset="0"/>
                                        <a:ea typeface="Verdana"/>
                                        <a:cs typeface="Verdana"/>
                                      </a:rPr>
                                    </m:ctrlPr>
                                  </m:sSupPr>
                                  <m:e>
                                    <m:r>
                                      <a:rPr lang="en-US" sz="1800" i="1">
                                        <a:effectLst/>
                                        <a:latin typeface="Cambria Math"/>
                                        <a:ea typeface="Verdana"/>
                                        <a:cs typeface="Verdana"/>
                                      </a:rPr>
                                      <m:t>0.5</m:t>
                                    </m:r>
                                  </m:e>
                                  <m:sup>
                                    <m:r>
                                      <a:rPr lang="en-US" sz="1800" i="1">
                                        <a:effectLst/>
                                        <a:latin typeface="Cambria Math"/>
                                        <a:ea typeface="Verdana"/>
                                        <a:cs typeface="Verdana"/>
                                      </a:rPr>
                                      <m:t>3</m:t>
                                    </m:r>
                                  </m:sup>
                                </m:sSup>
                                <m:r>
                                  <a:rPr lang="en-US" sz="1800" i="1">
                                    <a:effectLst/>
                                    <a:latin typeface="Cambria Math"/>
                                    <a:ea typeface="Verdana"/>
                                    <a:cs typeface="Verdana"/>
                                  </a:rPr>
                                  <m:t>×</m:t>
                                </m:r>
                                <m:sSup>
                                  <m:sSupPr>
                                    <m:ctrlPr>
                                      <a:rPr lang="en-PH" sz="1800" i="1">
                                        <a:effectLst/>
                                        <a:latin typeface="Cambria Math" panose="02040503050406030204" pitchFamily="18" charset="0"/>
                                        <a:ea typeface="Verdana"/>
                                        <a:cs typeface="Verdana"/>
                                      </a:rPr>
                                    </m:ctrlPr>
                                  </m:sSupPr>
                                  <m:e>
                                    <m:r>
                                      <a:rPr lang="en-US" sz="1800" i="1">
                                        <a:effectLst/>
                                        <a:latin typeface="Cambria Math"/>
                                        <a:ea typeface="Verdana"/>
                                        <a:cs typeface="Verdana"/>
                                      </a:rPr>
                                      <m:t>4</m:t>
                                    </m:r>
                                  </m:e>
                                  <m:sup>
                                    <m:r>
                                      <a:rPr lang="en-US" sz="1800" i="1">
                                        <a:effectLst/>
                                        <a:latin typeface="Cambria Math"/>
                                        <a:ea typeface="Verdana"/>
                                        <a:cs typeface="Verdana"/>
                                      </a:rPr>
                                      <m:t>6</m:t>
                                    </m:r>
                                  </m:sup>
                                </m:sSup>
                                <m:r>
                                  <a:rPr lang="en-US" sz="1800" i="1">
                                    <a:effectLst/>
                                    <a:latin typeface="Cambria Math"/>
                                    <a:ea typeface="Verdana"/>
                                    <a:cs typeface="Verdana"/>
                                  </a:rPr>
                                  <m:t>+26÷13</m:t>
                                </m:r>
                              </m:oMath>
                            </m:oMathPara>
                          </a14:m>
                          <a:endParaRPr lang="en-PH" sz="1800" i="1" dirty="0">
                            <a:effectLst/>
                            <a:latin typeface="Verdana" pitchFamily="34" charset="0"/>
                            <a:ea typeface="Verdana" pitchFamily="34" charset="0"/>
                            <a:cs typeface="Cambria Math"/>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800" i="1">
                                    <a:effectLst/>
                                    <a:latin typeface="Cambria Math"/>
                                    <a:ea typeface="Verdana"/>
                                    <a:cs typeface="Verdana"/>
                                  </a:rPr>
                                  <m:t>0.125×</m:t>
                                </m:r>
                                <m:sSup>
                                  <m:sSupPr>
                                    <m:ctrlPr>
                                      <a:rPr lang="en-PH" sz="1800" i="1">
                                        <a:effectLst/>
                                        <a:latin typeface="Cambria Math" panose="02040503050406030204" pitchFamily="18" charset="0"/>
                                        <a:ea typeface="Verdana"/>
                                        <a:cs typeface="Verdana"/>
                                      </a:rPr>
                                    </m:ctrlPr>
                                  </m:sSupPr>
                                  <m:e>
                                    <m:r>
                                      <a:rPr lang="en-US" sz="1800" i="1">
                                        <a:effectLst/>
                                        <a:latin typeface="Cambria Math"/>
                                        <a:ea typeface="Verdana"/>
                                        <a:cs typeface="Verdana"/>
                                      </a:rPr>
                                      <m:t>4</m:t>
                                    </m:r>
                                  </m:e>
                                  <m:sup>
                                    <m:r>
                                      <a:rPr lang="en-US" sz="1800" i="1">
                                        <a:effectLst/>
                                        <a:latin typeface="Cambria Math"/>
                                        <a:ea typeface="Verdana"/>
                                        <a:cs typeface="Verdana"/>
                                      </a:rPr>
                                      <m:t>6</m:t>
                                    </m:r>
                                  </m:sup>
                                </m:sSup>
                                <m:r>
                                  <a:rPr lang="en-US" sz="1800" i="1">
                                    <a:effectLst/>
                                    <a:latin typeface="Cambria Math"/>
                                    <a:ea typeface="Verdana"/>
                                    <a:cs typeface="Verdana"/>
                                  </a:rPr>
                                  <m:t>+26÷13</m:t>
                                </m:r>
                              </m:oMath>
                            </m:oMathPara>
                          </a14:m>
                          <a:endParaRPr lang="en-PH" sz="1800" i="1" dirty="0">
                            <a:effectLst/>
                            <a:latin typeface="Verdana" pitchFamily="34" charset="0"/>
                            <a:ea typeface="Verdana" pitchFamily="34" charset="0"/>
                            <a:cs typeface="Cambria Math"/>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800" i="1">
                                    <a:effectLst/>
                                    <a:latin typeface="Cambria Math"/>
                                    <a:ea typeface="Verdana"/>
                                    <a:cs typeface="Verdana"/>
                                  </a:rPr>
                                  <m:t>0.125×4,096+26÷13</m:t>
                                </m:r>
                              </m:oMath>
                            </m:oMathPara>
                          </a14:m>
                          <a:endParaRPr lang="en-PH" sz="1800" i="1" dirty="0">
                            <a:effectLst/>
                            <a:latin typeface="Verdana" pitchFamily="34" charset="0"/>
                            <a:ea typeface="Verdana" pitchFamily="34" charset="0"/>
                            <a:cs typeface="Cambria Math"/>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800" i="1">
                                    <a:effectLst/>
                                    <a:latin typeface="Cambria Math"/>
                                    <a:ea typeface="Verdana"/>
                                    <a:cs typeface="Verdana"/>
                                  </a:rPr>
                                  <m:t>512+26÷13</m:t>
                                </m:r>
                              </m:oMath>
                            </m:oMathPara>
                          </a14:m>
                          <a:endParaRPr lang="en-PH" sz="1800" i="1" dirty="0">
                            <a:effectLst/>
                            <a:latin typeface="Verdana" pitchFamily="34" charset="0"/>
                            <a:ea typeface="Verdana" pitchFamily="34" charset="0"/>
                            <a:cs typeface="Cambria Math"/>
                          </a:endParaRPr>
                        </a:p>
                        <a:p>
                          <a:pPr>
                            <a:lnSpc>
                              <a:spcPct val="107000"/>
                            </a:lnSpc>
                            <a:spcAft>
                              <a:spcPts val="800"/>
                            </a:spcAft>
                          </a:pPr>
                          <a14:m>
                            <m:oMathPara xmlns:m="http://schemas.openxmlformats.org/officeDocument/2006/math">
                              <m:oMathParaPr>
                                <m:jc m:val="centerGroup"/>
                              </m:oMathParaPr>
                              <m:oMath xmlns:m="http://schemas.openxmlformats.org/officeDocument/2006/math">
                                <m:r>
                                  <a:rPr lang="en-US" sz="1800" i="1">
                                    <a:effectLst/>
                                    <a:latin typeface="Cambria Math"/>
                                    <a:ea typeface="Verdana"/>
                                    <a:cs typeface="Verdana"/>
                                  </a:rPr>
                                  <m:t>512+2</m:t>
                                </m:r>
                              </m:oMath>
                            </m:oMathPara>
                          </a14:m>
                          <a:endParaRPr lang="en-PH" sz="1800" i="1" dirty="0">
                            <a:effectLst/>
                            <a:latin typeface="Verdana" pitchFamily="34" charset="0"/>
                            <a:ea typeface="Verdana" pitchFamily="34" charset="0"/>
                            <a:cs typeface="Cambria Math"/>
                          </a:endParaRPr>
                        </a:p>
                        <a:p>
                          <a:pPr>
                            <a:lnSpc>
                              <a:spcPct val="107000"/>
                            </a:lnSpc>
                            <a:spcAft>
                              <a:spcPts val="0"/>
                            </a:spcAft>
                          </a:pPr>
                          <a14:m>
                            <m:oMathPara xmlns:m="http://schemas.openxmlformats.org/officeDocument/2006/math">
                              <m:oMathParaPr>
                                <m:jc m:val="centerGroup"/>
                              </m:oMathParaPr>
                              <m:oMath xmlns:m="http://schemas.openxmlformats.org/officeDocument/2006/math">
                                <m:r>
                                  <a:rPr lang="en-US" sz="1800" i="1">
                                    <a:effectLst/>
                                    <a:latin typeface="Cambria Math"/>
                                    <a:ea typeface="Verdana"/>
                                    <a:cs typeface="Verdana"/>
                                  </a:rPr>
                                  <m:t>514</m:t>
                                </m:r>
                              </m:oMath>
                            </m:oMathPara>
                          </a14:m>
                          <a:endParaRPr lang="en-PH" sz="1800" i="1" dirty="0">
                            <a:effectLst/>
                            <a:latin typeface="Verdana" pitchFamily="34" charset="0"/>
                            <a:ea typeface="Verdana" pitchFamily="34" charset="0"/>
                            <a:cs typeface="Cambria Math"/>
                          </a:endParaRPr>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493108145"/>
                  </p:ext>
                </p:extLst>
              </p:nvPr>
            </p:nvGraphicFramePr>
            <p:xfrm>
              <a:off x="2217876" y="2714962"/>
              <a:ext cx="7200000" cy="3904679"/>
            </p:xfrm>
            <a:graphic>
              <a:graphicData uri="http://schemas.openxmlformats.org/drawingml/2006/table">
                <a:tbl>
                  <a:tblPr firstRow="1" firstCol="1" bandRow="1"/>
                  <a:tblGrid>
                    <a:gridCol w="3600000">
                      <a:extLst>
                        <a:ext uri="{9D8B030D-6E8A-4147-A177-3AD203B41FA5}">
                          <a16:colId xmlns:a16="http://schemas.microsoft.com/office/drawing/2014/main" val="20000"/>
                        </a:ext>
                      </a:extLst>
                    </a:gridCol>
                    <a:gridCol w="3600000">
                      <a:extLst>
                        <a:ext uri="{9D8B030D-6E8A-4147-A177-3AD203B41FA5}">
                          <a16:colId xmlns:a16="http://schemas.microsoft.com/office/drawing/2014/main" val="20001"/>
                        </a:ext>
                      </a:extLst>
                    </a:gridCol>
                  </a:tblGrid>
                  <a:tr h="358966">
                    <a:tc>
                      <a:txBody>
                        <a:bodyPr/>
                        <a:lstStyle/>
                        <a:p>
                          <a:pPr algn="ctr">
                            <a:lnSpc>
                              <a:spcPct val="107000"/>
                            </a:lnSpc>
                            <a:spcAft>
                              <a:spcPts val="0"/>
                            </a:spcAft>
                          </a:pPr>
                          <a:r>
                            <a:rPr lang="en-US" sz="1800" b="1" i="0" dirty="0">
                              <a:effectLst/>
                              <a:latin typeface="Verdana" pitchFamily="34" charset="0"/>
                              <a:ea typeface="Verdana" pitchFamily="34" charset="0"/>
                              <a:cs typeface="Verdana"/>
                            </a:rPr>
                            <a:t>Diego</a:t>
                          </a:r>
                          <a:endParaRPr lang="en-PH" sz="1800" i="1" dirty="0">
                            <a:effectLst/>
                            <a:latin typeface="Verdana" pitchFamily="34" charset="0"/>
                            <a:ea typeface="Verdana" pitchFamily="34" charset="0"/>
                            <a:cs typeface="Cambria Math"/>
                          </a:endParaRPr>
                        </a:p>
                      </a:txBody>
                      <a:tcPr marL="45720" marR="4572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1800" b="1" i="0" dirty="0">
                              <a:effectLst/>
                              <a:latin typeface="Verdana" pitchFamily="34" charset="0"/>
                              <a:ea typeface="Verdana" pitchFamily="34" charset="0"/>
                              <a:cs typeface="Verdana"/>
                            </a:rPr>
                            <a:t>Valeria</a:t>
                          </a:r>
                          <a:endParaRPr lang="en-PH" sz="1800" i="1" dirty="0">
                            <a:effectLst/>
                            <a:latin typeface="Verdana" pitchFamily="34" charset="0"/>
                            <a:ea typeface="Verdana" pitchFamily="34" charset="0"/>
                            <a:cs typeface="Cambria Math"/>
                          </a:endParaRPr>
                        </a:p>
                      </a:txBody>
                      <a:tcPr marL="45720" marR="4572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3545713">
                    <a:tc>
                      <a:txBody>
                        <a:bodyPr/>
                        <a:lstStyle/>
                        <a:p>
                          <a:endParaRPr lang="en-US"/>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352" t="-11032" r="-100704" b="-712"/>
                          </a:stretch>
                        </a:blipFill>
                      </a:tcPr>
                    </a:tc>
                    <a:tc>
                      <a:txBody>
                        <a:bodyPr/>
                        <a:lstStyle/>
                        <a:p>
                          <a:endParaRPr lang="en-US"/>
                        </a:p>
                      </a:txBody>
                      <a:tcPr marL="45720" marR="4572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100352" t="-11032" r="-704" b="-712"/>
                          </a:stretch>
                        </a:blipFill>
                      </a:tcPr>
                    </a:tc>
                    <a:extLst>
                      <a:ext uri="{0D108BD9-81ED-4DB2-BD59-A6C34878D82A}">
                        <a16:rowId xmlns:a16="http://schemas.microsoft.com/office/drawing/2014/main" val="10001"/>
                      </a:ext>
                    </a:extLst>
                  </a:tr>
                </a:tbl>
              </a:graphicData>
            </a:graphic>
          </p:graphicFrame>
        </mc:Fallback>
      </mc:AlternateContent>
      <p:sp>
        <p:nvSpPr>
          <p:cNvPr id="10"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33</a:t>
            </a:r>
            <a:endParaRPr i="1" dirty="0">
              <a:latin typeface="Calibri"/>
              <a:ea typeface="Calibri"/>
              <a:cs typeface="Calibri"/>
              <a:sym typeface="Calibri"/>
            </a:endParaRPr>
          </a:p>
        </p:txBody>
      </p:sp>
    </p:spTree>
    <p:extLst>
      <p:ext uri="{BB962C8B-B14F-4D97-AF65-F5344CB8AC3E}">
        <p14:creationId xmlns:p14="http://schemas.microsoft.com/office/powerpoint/2010/main" val="3902457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1650670" y="520393"/>
            <a:ext cx="8684231" cy="4044056"/>
          </a:xfrm>
          <a:prstGeom prst="rect">
            <a:avLst/>
          </a:prstGeom>
          <a:noFill/>
        </p:spPr>
        <p:txBody>
          <a:bodyPr wrap="square" rtlCol="0">
            <a:spAutoFit/>
          </a:bodyPr>
          <a:lstStyle/>
          <a:p>
            <a:pPr marL="457200" indent="-457200">
              <a:lnSpc>
                <a:spcPct val="107000"/>
              </a:lnSpc>
              <a:buFont typeface="+mj-lt"/>
              <a:buAutoNum type="arabicPeriod"/>
            </a:pPr>
            <a:r>
              <a:rPr lang="en-US" sz="2400" dirty="0">
                <a:latin typeface="Verdana"/>
                <a:ea typeface="Verdana"/>
                <a:cs typeface="Verdana"/>
              </a:rPr>
              <a:t>How were Diego’s steps and Valeria’s steps different from each other?</a:t>
            </a:r>
          </a:p>
          <a:p>
            <a:pPr marL="457200" indent="-457200">
              <a:lnSpc>
                <a:spcPct val="107000"/>
              </a:lnSpc>
              <a:buFont typeface="+mj-lt"/>
              <a:buAutoNum type="arabicPeriod"/>
            </a:pPr>
            <a:endParaRPr lang="en-US" sz="2400" dirty="0">
              <a:latin typeface="Verdana"/>
              <a:ea typeface="Verdana"/>
              <a:cs typeface="Verdana"/>
            </a:endParaRPr>
          </a:p>
          <a:p>
            <a:pPr marL="457200" indent="-457200">
              <a:lnSpc>
                <a:spcPct val="107000"/>
              </a:lnSpc>
              <a:buFont typeface="+mj-lt"/>
              <a:buAutoNum type="arabicPeriod"/>
            </a:pPr>
            <a:endParaRPr lang="en-US" sz="2400" dirty="0">
              <a:latin typeface="Verdana"/>
              <a:ea typeface="Verdana"/>
              <a:cs typeface="Verdana"/>
            </a:endParaRPr>
          </a:p>
          <a:p>
            <a:pPr marL="457200" indent="-457200">
              <a:lnSpc>
                <a:spcPct val="107000"/>
              </a:lnSpc>
              <a:buFont typeface="+mj-lt"/>
              <a:buAutoNum type="arabicPeriod"/>
            </a:pPr>
            <a:endParaRPr lang="en-US" sz="2400" dirty="0">
              <a:latin typeface="Verdana"/>
              <a:ea typeface="Verdana"/>
              <a:cs typeface="Verdana"/>
            </a:endParaRPr>
          </a:p>
          <a:p>
            <a:pPr marL="457200" indent="-457200">
              <a:lnSpc>
                <a:spcPct val="107000"/>
              </a:lnSpc>
              <a:buFont typeface="+mj-lt"/>
              <a:buAutoNum type="arabicPeriod"/>
            </a:pPr>
            <a:endParaRPr lang="en-US" sz="2400" dirty="0">
              <a:latin typeface="Verdana"/>
              <a:ea typeface="Verdana"/>
              <a:cs typeface="Verdana"/>
            </a:endParaRPr>
          </a:p>
          <a:p>
            <a:pPr marL="457200" indent="-457200">
              <a:lnSpc>
                <a:spcPct val="107000"/>
              </a:lnSpc>
              <a:buFont typeface="+mj-lt"/>
              <a:buAutoNum type="arabicPeriod"/>
            </a:pPr>
            <a:endParaRPr lang="en-US" sz="2400" dirty="0">
              <a:latin typeface="Verdana"/>
              <a:ea typeface="Verdana"/>
              <a:cs typeface="Verdana"/>
            </a:endParaRPr>
          </a:p>
          <a:p>
            <a:pPr marL="457200" indent="-457200">
              <a:lnSpc>
                <a:spcPct val="107000"/>
              </a:lnSpc>
              <a:buFont typeface="+mj-lt"/>
              <a:buAutoNum type="arabicPeriod"/>
            </a:pPr>
            <a:r>
              <a:rPr lang="en-US" sz="2400" dirty="0">
                <a:latin typeface="Verdana"/>
                <a:ea typeface="Verdana"/>
                <a:cs typeface="Verdana"/>
              </a:rPr>
              <a:t>Discuss with your partner whether you think one method was easier to use to evaluate the expression over the other.</a:t>
            </a:r>
            <a:endParaRPr lang="en-PH" sz="2000" i="1" dirty="0">
              <a:latin typeface="Cambria Math"/>
              <a:ea typeface="Cambria Math"/>
              <a:cs typeface="Cambria Math"/>
            </a:endParaRPr>
          </a:p>
        </p:txBody>
      </p:sp>
      <p:sp>
        <p:nvSpPr>
          <p:cNvPr id="7"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33</a:t>
            </a:r>
            <a:endParaRPr i="1" dirty="0">
              <a:latin typeface="Calibri"/>
              <a:ea typeface="Calibri"/>
              <a:cs typeface="Calibri"/>
              <a:sym typeface="Calibri"/>
            </a:endParaRPr>
          </a:p>
        </p:txBody>
      </p:sp>
    </p:spTree>
    <p:extLst>
      <p:ext uri="{BB962C8B-B14F-4D97-AF65-F5344CB8AC3E}">
        <p14:creationId xmlns:p14="http://schemas.microsoft.com/office/powerpoint/2010/main" val="164012053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pic>
        <p:nvPicPr>
          <p:cNvPr id="5122" name="Picture 2" descr="Icon&#10;&#10;Description automatically generated">
            <a:extLst>
              <a:ext uri="{FF2B5EF4-FFF2-40B4-BE49-F238E27FC236}">
                <a16:creationId xmlns:a16="http://schemas.microsoft.com/office/drawing/2014/main" id="{217F3A92-AA2C-4D41-A73D-4DC6608D6820}"/>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520890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33</a:t>
            </a:r>
            <a:endParaRPr i="1" dirty="0">
              <a:latin typeface="Calibri"/>
              <a:ea typeface="Calibri"/>
              <a:cs typeface="Calibri"/>
              <a:sym typeface="Calibri"/>
            </a:endParaRPr>
          </a:p>
        </p:txBody>
      </p:sp>
    </p:spTree>
    <p:extLst>
      <p:ext uri="{BB962C8B-B14F-4D97-AF65-F5344CB8AC3E}">
        <p14:creationId xmlns:p14="http://schemas.microsoft.com/office/powerpoint/2010/main" val="28161115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2060448" y="60325"/>
            <a:ext cx="847870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8.6.3 Activity: Expression Game</a:t>
            </a:r>
          </a:p>
        </p:txBody>
      </p:sp>
      <p:pic>
        <p:nvPicPr>
          <p:cNvPr id="9" name="Picture 2" descr="Icon&#10;&#10;Description automatically generated">
            <a:extLst>
              <a:ext uri="{FF2B5EF4-FFF2-40B4-BE49-F238E27FC236}">
                <a16:creationId xmlns:a16="http://schemas.microsoft.com/office/drawing/2014/main" id="{37999C4E-6AE0-FA43-BC73-665C08EC572F}"/>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310640"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3547ABD-563B-A148-B65C-C7679A7B43D4}"/>
                  </a:ext>
                </a:extLst>
              </p:cNvPr>
              <p:cNvSpPr txBox="1"/>
              <p:nvPr/>
            </p:nvSpPr>
            <p:spPr>
              <a:xfrm>
                <a:off x="1650670" y="1515043"/>
                <a:ext cx="8888480" cy="2726900"/>
              </a:xfrm>
              <a:prstGeom prst="rect">
                <a:avLst/>
              </a:prstGeom>
              <a:noFill/>
            </p:spPr>
            <p:txBody>
              <a:bodyPr wrap="square" rtlCol="0">
                <a:spAutoFit/>
              </a:bodyPr>
              <a:lstStyle/>
              <a:p>
                <a:pPr marL="457200" indent="-457200">
                  <a:lnSpc>
                    <a:spcPct val="107000"/>
                  </a:lnSpc>
                  <a:buFont typeface="+mj-lt"/>
                  <a:buAutoNum type="arabicPeriod"/>
                </a:pPr>
                <a:r>
                  <a:rPr lang="en-US" sz="2000" dirty="0">
                    <a:latin typeface="Verdana"/>
                    <a:ea typeface="Verdana"/>
                    <a:cs typeface="Verdana"/>
                  </a:rPr>
                  <a:t>Each group will use a standard number cube with sides numbered </a:t>
                </a:r>
                <a14:m>
                  <m:oMath xmlns:m="http://schemas.openxmlformats.org/officeDocument/2006/math">
                    <m:r>
                      <a:rPr lang="en-US" sz="2000" i="1">
                        <a:latin typeface="Cambria Math"/>
                        <a:ea typeface="Verdana"/>
                        <a:cs typeface="Verdana"/>
                      </a:rPr>
                      <m:t>1−6</m:t>
                    </m:r>
                  </m:oMath>
                </a14:m>
                <a:r>
                  <a:rPr lang="en-US" sz="2000" dirty="0">
                    <a:latin typeface="Verdana"/>
                    <a:ea typeface="Verdana"/>
                    <a:cs typeface="Verdana"/>
                  </a:rPr>
                  <a:t> to play a game. One player rolls the number cube. Each player decides which box to place that number in the expression. Continue rolling the cube until all blanks in the expression are filled. Evaluate your expression and record your score based on the point system in the table. </a:t>
                </a:r>
                <a:br>
                  <a:rPr lang="en-US" sz="2000" dirty="0">
                    <a:latin typeface="Verdana"/>
                    <a:ea typeface="Verdana"/>
                    <a:cs typeface="Verdana"/>
                  </a:rPr>
                </a:br>
                <a:r>
                  <a:rPr lang="en-US" sz="2000" dirty="0">
                    <a:latin typeface="Verdana"/>
                    <a:ea typeface="Verdana"/>
                    <a:cs typeface="Verdana"/>
                  </a:rPr>
                  <a:t>If on any round two players’ expressions have the same value, both players</a:t>
                </a:r>
                <a:r>
                  <a:rPr lang="en-US" sz="2000" b="1" dirty="0">
                    <a:latin typeface="Verdana"/>
                    <a:ea typeface="Verdana"/>
                    <a:cs typeface="Verdana"/>
                  </a:rPr>
                  <a:t> lose </a:t>
                </a:r>
                <a14:m>
                  <m:oMath xmlns:m="http://schemas.openxmlformats.org/officeDocument/2006/math">
                    <m:r>
                      <a:rPr lang="en-US" sz="2000" b="1" i="1">
                        <a:latin typeface="Cambria Math"/>
                        <a:ea typeface="Verdana"/>
                        <a:cs typeface="Verdana"/>
                      </a:rPr>
                      <m:t>𝟏𝟎</m:t>
                    </m:r>
                  </m:oMath>
                </a14:m>
                <a:r>
                  <a:rPr lang="en-US" sz="2000" b="1" dirty="0">
                    <a:latin typeface="Verdana"/>
                    <a:ea typeface="Verdana"/>
                    <a:cs typeface="Verdana"/>
                  </a:rPr>
                  <a:t> points.</a:t>
                </a:r>
                <a:endParaRPr lang="en-PH" sz="1800" i="1" dirty="0">
                  <a:latin typeface="Cambria Math"/>
                  <a:ea typeface="Cambria Math"/>
                  <a:cs typeface="Cambria Math"/>
                </a:endParaRPr>
              </a:p>
            </p:txBody>
          </p:sp>
        </mc:Choice>
        <mc:Fallback xmlns="">
          <p:sp>
            <p:nvSpPr>
              <p:cNvPr id="10" name="TextBox 9">
                <a:extLst>
                  <a:ext uri="{FF2B5EF4-FFF2-40B4-BE49-F238E27FC236}">
                    <a16:creationId xmlns:a16="http://schemas.microsoft.com/office/drawing/2014/main" id="{A3547ABD-563B-A148-B65C-C7679A7B43D4}"/>
                  </a:ext>
                </a:extLst>
              </p:cNvPr>
              <p:cNvSpPr txBox="1">
                <a:spLocks noRot="1" noChangeAspect="1" noMove="1" noResize="1" noEditPoints="1" noAdjustHandles="1" noChangeArrowheads="1" noChangeShapeType="1" noTextEdit="1"/>
              </p:cNvSpPr>
              <p:nvPr/>
            </p:nvSpPr>
            <p:spPr>
              <a:xfrm>
                <a:off x="1650670" y="1515043"/>
                <a:ext cx="8888480" cy="2726900"/>
              </a:xfrm>
              <a:prstGeom prst="rect">
                <a:avLst/>
              </a:prstGeom>
              <a:blipFill>
                <a:blip r:embed="rId5"/>
                <a:stretch>
                  <a:fillRect l="-754" t="-1790" b="-223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909120689"/>
                  </p:ext>
                </p:extLst>
              </p:nvPr>
            </p:nvGraphicFramePr>
            <p:xfrm>
              <a:off x="2619150" y="4370962"/>
              <a:ext cx="7920000" cy="1828800"/>
            </p:xfrm>
            <a:graphic>
              <a:graphicData uri="http://schemas.openxmlformats.org/drawingml/2006/table">
                <a:tbl>
                  <a:tblPr firstCol="1" bandRow="1"/>
                  <a:tblGrid>
                    <a:gridCol w="2520000">
                      <a:extLst>
                        <a:ext uri="{9D8B030D-6E8A-4147-A177-3AD203B41FA5}">
                          <a16:colId xmlns:a16="http://schemas.microsoft.com/office/drawing/2014/main" val="20000"/>
                        </a:ext>
                      </a:extLst>
                    </a:gridCol>
                    <a:gridCol w="3600000">
                      <a:extLst>
                        <a:ext uri="{9D8B030D-6E8A-4147-A177-3AD203B41FA5}">
                          <a16:colId xmlns:a16="http://schemas.microsoft.com/office/drawing/2014/main" val="20001"/>
                        </a:ext>
                      </a:extLst>
                    </a:gridCol>
                    <a:gridCol w="1800000">
                      <a:extLst>
                        <a:ext uri="{9D8B030D-6E8A-4147-A177-3AD203B41FA5}">
                          <a16:colId xmlns:a16="http://schemas.microsoft.com/office/drawing/2014/main" val="20002"/>
                        </a:ext>
                      </a:extLst>
                    </a:gridCol>
                  </a:tblGrid>
                  <a:tr h="1828800">
                    <a:tc>
                      <a:txBody>
                        <a:bodyPr/>
                        <a:lstStyle/>
                        <a:p>
                          <a:pPr algn="ctr">
                            <a:lnSpc>
                              <a:spcPct val="107000"/>
                            </a:lnSpc>
                            <a:spcAft>
                              <a:spcPts val="0"/>
                            </a:spcAft>
                          </a:pPr>
                          <a:r>
                            <a:rPr lang="en-US" sz="1800" b="1" i="0" dirty="0">
                              <a:effectLst/>
                              <a:latin typeface="Verdana" pitchFamily="34" charset="0"/>
                              <a:ea typeface="Verdana" pitchFamily="34" charset="0"/>
                              <a:cs typeface="Verdana"/>
                            </a:rPr>
                            <a:t>Round 1</a:t>
                          </a: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b="1" i="0" dirty="0">
                              <a:effectLst/>
                              <a:latin typeface="Verdana" pitchFamily="34" charset="0"/>
                              <a:ea typeface="Verdana" pitchFamily="34" charset="0"/>
                              <a:cs typeface="Verdana"/>
                            </a:rPr>
                            <a:t>Scoring </a:t>
                          </a:r>
                          <a:r>
                            <a:rPr lang="en-US" sz="1800" i="0" dirty="0">
                              <a:effectLst/>
                              <a:latin typeface="Verdana" pitchFamily="34" charset="0"/>
                              <a:ea typeface="Verdana" pitchFamily="34" charset="0"/>
                              <a:cs typeface="Verdana"/>
                            </a:rPr>
                            <a:t>– the player with the greatest value </a:t>
                          </a:r>
                          <a:r>
                            <a:rPr lang="en-US" sz="1800" b="1" i="0" dirty="0">
                              <a:effectLst/>
                              <a:latin typeface="Verdana" pitchFamily="34" charset="0"/>
                              <a:ea typeface="Verdana" pitchFamily="34" charset="0"/>
                              <a:cs typeface="Verdana"/>
                            </a:rPr>
                            <a:t>earns</a:t>
                          </a:r>
                          <a:r>
                            <a:rPr lang="en-US" sz="1800" i="0" dirty="0">
                              <a:effectLst/>
                              <a:latin typeface="Verdana" pitchFamily="34" charset="0"/>
                              <a:ea typeface="Verdana" pitchFamily="34" charset="0"/>
                              <a:cs typeface="Verdana"/>
                            </a:rPr>
                            <a:t> 8 points.</a:t>
                          </a:r>
                          <a:endParaRPr lang="en-PH" sz="1800" i="1"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nSpc>
                              <a:spcPct val="107000"/>
                            </a:lnSpc>
                            <a:spcAft>
                              <a:spcPts val="0"/>
                            </a:spcAft>
                          </a:pPr>
                          <a:endParaRPr lang="en-PH" sz="1800" i="1" dirty="0">
                            <a:effectLst/>
                            <a:latin typeface="Cambria Math"/>
                            <a:ea typeface="Verdana"/>
                            <a:cs typeface="Verdana"/>
                          </a:endParaRPr>
                        </a:p>
                        <a:p>
                          <a:pPr>
                            <a:lnSpc>
                              <a:spcPct val="107000"/>
                            </a:lnSpc>
                            <a:spcAft>
                              <a:spcPts val="0"/>
                            </a:spcAft>
                          </a:pPr>
                          <a14:m>
                            <m:oMathPara xmlns:m="http://schemas.openxmlformats.org/officeDocument/2006/math">
                              <m:oMathParaPr>
                                <m:jc m:val="centerGroup"/>
                              </m:oMathParaPr>
                              <m:oMath xmlns:m="http://schemas.openxmlformats.org/officeDocument/2006/math">
                                <m:d>
                                  <m:dPr>
                                    <m:begChr m:val="["/>
                                    <m:endChr m:val="]"/>
                                    <m:ctrlPr>
                                      <a:rPr lang="en-PH" sz="1800" i="1">
                                        <a:effectLst/>
                                        <a:latin typeface="Cambria Math" panose="02040503050406030204" pitchFamily="18" charset="0"/>
                                        <a:ea typeface="Verdana"/>
                                        <a:cs typeface="Verdana"/>
                                      </a:rPr>
                                    </m:ctrlPr>
                                  </m:dPr>
                                  <m:e>
                                    <m:d>
                                      <m:dPr>
                                        <m:ctrlPr>
                                          <a:rPr lang="en-PH" sz="1800" i="1">
                                            <a:effectLst/>
                                            <a:latin typeface="Cambria Math" panose="02040503050406030204" pitchFamily="18" charset="0"/>
                                            <a:ea typeface="Verdana"/>
                                            <a:cs typeface="Verdana"/>
                                          </a:rPr>
                                        </m:ctrlPr>
                                      </m:dPr>
                                      <m:e>
                                        <m:r>
                                          <a:rPr lang="en-US" sz="1800" i="1">
                                            <a:effectLst/>
                                            <a:latin typeface="Cambria Math"/>
                                            <a:ea typeface="Verdana"/>
                                            <a:cs typeface="Verdana"/>
                                          </a:rPr>
                                          <m:t>______ ×</m:t>
                                        </m:r>
                                        <m:sSup>
                                          <m:sSupPr>
                                            <m:ctrlPr>
                                              <a:rPr lang="en-PH" sz="1800" i="1">
                                                <a:effectLst/>
                                                <a:latin typeface="Cambria Math" panose="02040503050406030204" pitchFamily="18" charset="0"/>
                                                <a:ea typeface="Verdana"/>
                                                <a:cs typeface="Verdana"/>
                                              </a:rPr>
                                            </m:ctrlPr>
                                          </m:sSupPr>
                                          <m:e>
                                            <m:r>
                                              <a:rPr lang="en-US" sz="1800" i="1">
                                                <a:effectLst/>
                                                <a:latin typeface="Cambria Math"/>
                                                <a:ea typeface="Verdana"/>
                                                <a:cs typeface="Verdana"/>
                                              </a:rPr>
                                              <m:t>______</m:t>
                                            </m:r>
                                          </m:e>
                                          <m:sup>
                                            <m:r>
                                              <a:rPr lang="en-US" sz="1800" i="1">
                                                <a:effectLst/>
                                                <a:latin typeface="Cambria Math"/>
                                                <a:ea typeface="Verdana"/>
                                                <a:cs typeface="Verdana"/>
                                              </a:rPr>
                                              <m:t>2</m:t>
                                            </m:r>
                                          </m:sup>
                                        </m:sSup>
                                      </m:e>
                                    </m:d>
                                    <m:r>
                                      <a:rPr lang="en-US" sz="1800" i="1">
                                        <a:effectLst/>
                                        <a:latin typeface="Cambria Math"/>
                                        <a:ea typeface="Verdana"/>
                                        <a:cs typeface="Verdana"/>
                                      </a:rPr>
                                      <m:t>+______</m:t>
                                    </m:r>
                                  </m:e>
                                </m:d>
                                <m:r>
                                  <a:rPr lang="en-US" sz="1800" i="1">
                                    <a:effectLst/>
                                    <a:latin typeface="Cambria Math"/>
                                    <a:ea typeface="Verdana"/>
                                    <a:cs typeface="Verdana"/>
                                  </a:rPr>
                                  <m:t>÷______</m:t>
                                </m:r>
                              </m:oMath>
                            </m:oMathPara>
                          </a14:m>
                          <a:endParaRPr lang="en-PH" sz="1800" i="1" dirty="0">
                            <a:effectLst/>
                            <a:latin typeface="Verdana" pitchFamily="34" charset="0"/>
                            <a:ea typeface="Verdana" pitchFamily="34" charset="0"/>
                            <a:cs typeface="Cambria Math"/>
                          </a:endParaRPr>
                        </a:p>
                        <a:p>
                          <a:pPr>
                            <a:lnSpc>
                              <a:spcPct val="107000"/>
                            </a:lnSpc>
                            <a:spcAft>
                              <a:spcPts val="0"/>
                            </a:spcAft>
                          </a:pPr>
                          <a:r>
                            <a:rPr lang="en-US" sz="1800" i="0" dirty="0">
                              <a:effectLst/>
                              <a:latin typeface="Verdana" pitchFamily="34" charset="0"/>
                              <a:ea typeface="Verdana" pitchFamily="34" charset="0"/>
                              <a:cs typeface="Verdana"/>
                            </a:rPr>
                            <a:t> </a:t>
                          </a:r>
                          <a:endParaRPr lang="en-PH" sz="1800" i="1" dirty="0">
                            <a:effectLst/>
                            <a:latin typeface="Verdana" pitchFamily="34" charset="0"/>
                            <a:ea typeface="Verdana" pitchFamily="34" charset="0"/>
                            <a:cs typeface="Cambria Math"/>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1800" i="0" dirty="0">
                              <a:effectLst/>
                              <a:latin typeface="Verdana" pitchFamily="34" charset="0"/>
                              <a:ea typeface="Verdana" pitchFamily="34" charset="0"/>
                              <a:cs typeface="Verdana"/>
                            </a:rPr>
                            <a:t>My answer</a:t>
                          </a: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i="0" dirty="0">
                              <a:effectLst/>
                              <a:latin typeface="Verdana" pitchFamily="34" charset="0"/>
                              <a:ea typeface="Verdana" pitchFamily="34" charset="0"/>
                              <a:cs typeface="Verdana"/>
                            </a:rPr>
                            <a:t>______</a:t>
                          </a:r>
                          <a:endParaRPr lang="en-PH" sz="1800" i="1" dirty="0">
                            <a:effectLst/>
                            <a:latin typeface="Verdana" pitchFamily="34" charset="0"/>
                            <a:ea typeface="Verdana" pitchFamily="34" charset="0"/>
                            <a:cs typeface="Cambria Math"/>
                          </a:endParaRPr>
                        </a:p>
                        <a:p>
                          <a:pPr algn="ctr">
                            <a:lnSpc>
                              <a:spcPct val="107000"/>
                            </a:lnSpc>
                            <a:spcAft>
                              <a:spcPts val="0"/>
                            </a:spcAft>
                          </a:pPr>
                          <a:endParaRPr lang="en-US" sz="1800" i="0" dirty="0">
                            <a:effectLst/>
                            <a:latin typeface="Verdana" pitchFamily="34" charset="0"/>
                            <a:ea typeface="Verdana" pitchFamily="34" charset="0"/>
                            <a:cs typeface="Verdana"/>
                          </a:endParaRPr>
                        </a:p>
                        <a:p>
                          <a:pPr algn="ctr">
                            <a:lnSpc>
                              <a:spcPct val="107000"/>
                            </a:lnSpc>
                            <a:spcAft>
                              <a:spcPts val="0"/>
                            </a:spcAft>
                          </a:pPr>
                          <a:r>
                            <a:rPr lang="en-US" sz="1800" i="0" dirty="0">
                              <a:effectLst/>
                              <a:latin typeface="Verdana" pitchFamily="34" charset="0"/>
                              <a:ea typeface="Verdana" pitchFamily="34" charset="0"/>
                              <a:cs typeface="Verdana"/>
                            </a:rPr>
                            <a:t> </a:t>
                          </a: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i="0" dirty="0">
                              <a:effectLst/>
                              <a:latin typeface="Verdana" pitchFamily="34" charset="0"/>
                              <a:ea typeface="Verdana" pitchFamily="34" charset="0"/>
                              <a:cs typeface="Verdana"/>
                            </a:rPr>
                            <a:t>Points earned</a:t>
                          </a: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i="0" dirty="0">
                              <a:effectLst/>
                              <a:latin typeface="Verdana" pitchFamily="34" charset="0"/>
                              <a:ea typeface="Verdana" pitchFamily="34" charset="0"/>
                              <a:cs typeface="Verdana"/>
                            </a:rPr>
                            <a:t>______</a:t>
                          </a:r>
                          <a:endParaRPr lang="en-PH" sz="1800" i="1" dirty="0">
                            <a:effectLst/>
                            <a:latin typeface="Verdana" pitchFamily="34" charset="0"/>
                            <a:ea typeface="Verdana" pitchFamily="34" charset="0"/>
                            <a:cs typeface="Cambria Math"/>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909120689"/>
                  </p:ext>
                </p:extLst>
              </p:nvPr>
            </p:nvGraphicFramePr>
            <p:xfrm>
              <a:off x="2619150" y="4370962"/>
              <a:ext cx="7920000" cy="1828800"/>
            </p:xfrm>
            <a:graphic>
              <a:graphicData uri="http://schemas.openxmlformats.org/drawingml/2006/table">
                <a:tbl>
                  <a:tblPr firstCol="1" bandRow="1"/>
                  <a:tblGrid>
                    <a:gridCol w="2520000">
                      <a:extLst>
                        <a:ext uri="{9D8B030D-6E8A-4147-A177-3AD203B41FA5}">
                          <a16:colId xmlns:a16="http://schemas.microsoft.com/office/drawing/2014/main" val="20000"/>
                        </a:ext>
                      </a:extLst>
                    </a:gridCol>
                    <a:gridCol w="3600000">
                      <a:extLst>
                        <a:ext uri="{9D8B030D-6E8A-4147-A177-3AD203B41FA5}">
                          <a16:colId xmlns:a16="http://schemas.microsoft.com/office/drawing/2014/main" val="20001"/>
                        </a:ext>
                      </a:extLst>
                    </a:gridCol>
                    <a:gridCol w="1800000">
                      <a:extLst>
                        <a:ext uri="{9D8B030D-6E8A-4147-A177-3AD203B41FA5}">
                          <a16:colId xmlns:a16="http://schemas.microsoft.com/office/drawing/2014/main" val="20002"/>
                        </a:ext>
                      </a:extLst>
                    </a:gridCol>
                  </a:tblGrid>
                  <a:tr h="1828800">
                    <a:tc>
                      <a:txBody>
                        <a:bodyPr/>
                        <a:lstStyle/>
                        <a:p>
                          <a:pPr algn="ctr">
                            <a:lnSpc>
                              <a:spcPct val="107000"/>
                            </a:lnSpc>
                            <a:spcAft>
                              <a:spcPts val="0"/>
                            </a:spcAft>
                          </a:pPr>
                          <a:r>
                            <a:rPr lang="en-US" sz="1800" b="1" i="0" dirty="0">
                              <a:effectLst/>
                              <a:latin typeface="Verdana" pitchFamily="34" charset="0"/>
                              <a:ea typeface="Verdana" pitchFamily="34" charset="0"/>
                              <a:cs typeface="Verdana"/>
                            </a:rPr>
                            <a:t>Round 1</a:t>
                          </a: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b="1" i="0" dirty="0">
                              <a:effectLst/>
                              <a:latin typeface="Verdana" pitchFamily="34" charset="0"/>
                              <a:ea typeface="Verdana" pitchFamily="34" charset="0"/>
                              <a:cs typeface="Verdana"/>
                            </a:rPr>
                            <a:t>Scoring </a:t>
                          </a:r>
                          <a:r>
                            <a:rPr lang="en-US" sz="1800" i="0" dirty="0">
                              <a:effectLst/>
                              <a:latin typeface="Verdana" pitchFamily="34" charset="0"/>
                              <a:ea typeface="Verdana" pitchFamily="34" charset="0"/>
                              <a:cs typeface="Verdana"/>
                            </a:rPr>
                            <a:t>– the player with the greatest value </a:t>
                          </a:r>
                          <a:r>
                            <a:rPr lang="en-US" sz="1800" b="1" i="0" dirty="0">
                              <a:effectLst/>
                              <a:latin typeface="Verdana" pitchFamily="34" charset="0"/>
                              <a:ea typeface="Verdana" pitchFamily="34" charset="0"/>
                              <a:cs typeface="Verdana"/>
                            </a:rPr>
                            <a:t>earns</a:t>
                          </a:r>
                          <a:r>
                            <a:rPr lang="en-US" sz="1800" i="0" dirty="0">
                              <a:effectLst/>
                              <a:latin typeface="Verdana" pitchFamily="34" charset="0"/>
                              <a:ea typeface="Verdana" pitchFamily="34" charset="0"/>
                              <a:cs typeface="Verdana"/>
                            </a:rPr>
                            <a:t> 8 points.</a:t>
                          </a:r>
                          <a:endParaRPr lang="en-PH" sz="1800" i="1"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70671" t="-2759" r="-50883" b="-4828"/>
                          </a:stretch>
                        </a:blipFill>
                      </a:tcPr>
                    </a:tc>
                    <a:tc>
                      <a:txBody>
                        <a:bodyPr/>
                        <a:lstStyle/>
                        <a:p>
                          <a:pPr algn="ctr">
                            <a:lnSpc>
                              <a:spcPct val="107000"/>
                            </a:lnSpc>
                            <a:spcAft>
                              <a:spcPts val="0"/>
                            </a:spcAft>
                          </a:pPr>
                          <a:r>
                            <a:rPr lang="en-US" sz="1800" i="0" dirty="0">
                              <a:effectLst/>
                              <a:latin typeface="Verdana" pitchFamily="34" charset="0"/>
                              <a:ea typeface="Verdana" pitchFamily="34" charset="0"/>
                              <a:cs typeface="Verdana"/>
                            </a:rPr>
                            <a:t>My answer</a:t>
                          </a: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i="0" dirty="0">
                              <a:effectLst/>
                              <a:latin typeface="Verdana" pitchFamily="34" charset="0"/>
                              <a:ea typeface="Verdana" pitchFamily="34" charset="0"/>
                              <a:cs typeface="Verdana"/>
                            </a:rPr>
                            <a:t>______</a:t>
                          </a:r>
                          <a:endParaRPr lang="en-PH" sz="1800" i="1" dirty="0">
                            <a:effectLst/>
                            <a:latin typeface="Verdana" pitchFamily="34" charset="0"/>
                            <a:ea typeface="Verdana" pitchFamily="34" charset="0"/>
                            <a:cs typeface="Cambria Math"/>
                          </a:endParaRPr>
                        </a:p>
                        <a:p>
                          <a:pPr algn="ctr">
                            <a:lnSpc>
                              <a:spcPct val="107000"/>
                            </a:lnSpc>
                            <a:spcAft>
                              <a:spcPts val="0"/>
                            </a:spcAft>
                          </a:pPr>
                          <a:endParaRPr lang="en-US" sz="1800" i="0" dirty="0">
                            <a:effectLst/>
                            <a:latin typeface="Verdana" pitchFamily="34" charset="0"/>
                            <a:ea typeface="Verdana" pitchFamily="34" charset="0"/>
                            <a:cs typeface="Verdana"/>
                          </a:endParaRPr>
                        </a:p>
                        <a:p>
                          <a:pPr algn="ctr">
                            <a:lnSpc>
                              <a:spcPct val="107000"/>
                            </a:lnSpc>
                            <a:spcAft>
                              <a:spcPts val="0"/>
                            </a:spcAft>
                          </a:pPr>
                          <a:r>
                            <a:rPr lang="en-US" sz="1800" i="0" dirty="0">
                              <a:effectLst/>
                              <a:latin typeface="Verdana" pitchFamily="34" charset="0"/>
                              <a:ea typeface="Verdana" pitchFamily="34" charset="0"/>
                              <a:cs typeface="Verdana"/>
                            </a:rPr>
                            <a:t> </a:t>
                          </a: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i="0" dirty="0">
                              <a:effectLst/>
                              <a:latin typeface="Verdana" pitchFamily="34" charset="0"/>
                              <a:ea typeface="Verdana" pitchFamily="34" charset="0"/>
                              <a:cs typeface="Verdana"/>
                            </a:rPr>
                            <a:t>Points earned</a:t>
                          </a: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i="0" dirty="0">
                              <a:effectLst/>
                              <a:latin typeface="Verdana" pitchFamily="34" charset="0"/>
                              <a:ea typeface="Verdana" pitchFamily="34" charset="0"/>
                              <a:cs typeface="Verdana"/>
                            </a:rPr>
                            <a:t>______</a:t>
                          </a:r>
                          <a:endParaRPr lang="en-PH" sz="1800" i="1" dirty="0">
                            <a:effectLst/>
                            <a:latin typeface="Verdana" pitchFamily="34" charset="0"/>
                            <a:ea typeface="Verdana" pitchFamily="34" charset="0"/>
                            <a:cs typeface="Cambria Math"/>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mc:Fallback>
      </mc:AlternateContent>
      <p:sp>
        <p:nvSpPr>
          <p:cNvPr id="12"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33</a:t>
            </a:r>
            <a:endParaRPr i="1" dirty="0">
              <a:latin typeface="Calibri"/>
              <a:ea typeface="Calibri"/>
              <a:cs typeface="Calibri"/>
              <a:sym typeface="Calibri"/>
            </a:endParaRPr>
          </a:p>
        </p:txBody>
      </p:sp>
    </p:spTree>
    <p:extLst>
      <p:ext uri="{BB962C8B-B14F-4D97-AF65-F5344CB8AC3E}">
        <p14:creationId xmlns:p14="http://schemas.microsoft.com/office/powerpoint/2010/main" val="40699352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3995231520"/>
                  </p:ext>
                </p:extLst>
              </p:nvPr>
            </p:nvGraphicFramePr>
            <p:xfrm>
              <a:off x="2639623" y="520394"/>
              <a:ext cx="7920000" cy="5486845"/>
            </p:xfrm>
            <a:graphic>
              <a:graphicData uri="http://schemas.openxmlformats.org/drawingml/2006/table">
                <a:tbl>
                  <a:tblPr firstRow="1" firstCol="1" bandRow="1"/>
                  <a:tblGrid>
                    <a:gridCol w="2520000">
                      <a:extLst>
                        <a:ext uri="{9D8B030D-6E8A-4147-A177-3AD203B41FA5}">
                          <a16:colId xmlns:a16="http://schemas.microsoft.com/office/drawing/2014/main" val="20000"/>
                        </a:ext>
                      </a:extLst>
                    </a:gridCol>
                    <a:gridCol w="3600000">
                      <a:extLst>
                        <a:ext uri="{9D8B030D-6E8A-4147-A177-3AD203B41FA5}">
                          <a16:colId xmlns:a16="http://schemas.microsoft.com/office/drawing/2014/main" val="20001"/>
                        </a:ext>
                      </a:extLst>
                    </a:gridCol>
                    <a:gridCol w="1800000">
                      <a:extLst>
                        <a:ext uri="{9D8B030D-6E8A-4147-A177-3AD203B41FA5}">
                          <a16:colId xmlns:a16="http://schemas.microsoft.com/office/drawing/2014/main" val="20002"/>
                        </a:ext>
                      </a:extLst>
                    </a:gridCol>
                  </a:tblGrid>
                  <a:tr h="1828800">
                    <a:tc>
                      <a:txBody>
                        <a:bodyPr/>
                        <a:lstStyle/>
                        <a:p>
                          <a:pPr algn="ctr">
                            <a:lnSpc>
                              <a:spcPct val="107000"/>
                            </a:lnSpc>
                            <a:spcAft>
                              <a:spcPts val="0"/>
                            </a:spcAft>
                          </a:pPr>
                          <a:r>
                            <a:rPr lang="en-US" sz="1800" b="1" i="0" dirty="0">
                              <a:effectLst/>
                              <a:latin typeface="Verdana" pitchFamily="34" charset="0"/>
                              <a:ea typeface="Verdana" pitchFamily="34" charset="0"/>
                              <a:cs typeface="Verdana"/>
                            </a:rPr>
                            <a:t>Round 2</a:t>
                          </a: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b="1" i="0" dirty="0">
                              <a:effectLst/>
                              <a:latin typeface="Verdana" pitchFamily="34" charset="0"/>
                              <a:ea typeface="Verdana" pitchFamily="34" charset="0"/>
                              <a:cs typeface="Verdana"/>
                            </a:rPr>
                            <a:t>Scoring</a:t>
                          </a:r>
                          <a:r>
                            <a:rPr lang="en-US" sz="1800" i="0" dirty="0">
                              <a:effectLst/>
                              <a:latin typeface="Verdana" pitchFamily="34" charset="0"/>
                              <a:ea typeface="Verdana" pitchFamily="34" charset="0"/>
                              <a:cs typeface="Verdana"/>
                            </a:rPr>
                            <a:t> – the player with the least value </a:t>
                          </a:r>
                          <a:r>
                            <a:rPr lang="en-US" sz="1800" b="1" i="0" dirty="0">
                              <a:effectLst/>
                              <a:latin typeface="Verdana" pitchFamily="34" charset="0"/>
                              <a:ea typeface="Verdana" pitchFamily="34" charset="0"/>
                              <a:cs typeface="Verdana"/>
                            </a:rPr>
                            <a:t>earns</a:t>
                          </a:r>
                          <a:r>
                            <a:rPr lang="en-US" sz="1800" i="0" dirty="0">
                              <a:effectLst/>
                              <a:latin typeface="Verdana" pitchFamily="34" charset="0"/>
                              <a:ea typeface="Verdana" pitchFamily="34" charset="0"/>
                              <a:cs typeface="Verdana"/>
                            </a:rPr>
                            <a:t> </a:t>
                          </a:r>
                          <a14:m>
                            <m:oMath xmlns:m="http://schemas.openxmlformats.org/officeDocument/2006/math">
                              <m:r>
                                <a:rPr lang="en-US" sz="1800" i="1">
                                  <a:effectLst/>
                                  <a:latin typeface="Cambria Math"/>
                                  <a:ea typeface="Verdana"/>
                                  <a:cs typeface="Verdana"/>
                                </a:rPr>
                                <m:t>5.5</m:t>
                              </m:r>
                            </m:oMath>
                          </a14:m>
                          <a:r>
                            <a:rPr lang="en-US" sz="1800" i="0" dirty="0">
                              <a:effectLst/>
                              <a:latin typeface="Verdana" pitchFamily="34" charset="0"/>
                              <a:ea typeface="Verdana" pitchFamily="34" charset="0"/>
                              <a:cs typeface="Verdana"/>
                            </a:rPr>
                            <a:t> points.</a:t>
                          </a:r>
                          <a:endParaRPr lang="en-PH" sz="1800" i="1"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nSpc>
                              <a:spcPct val="107000"/>
                            </a:lnSpc>
                            <a:spcAft>
                              <a:spcPts val="0"/>
                            </a:spcAft>
                          </a:pPr>
                          <a:endParaRPr lang="en-PH" sz="1800" i="1" dirty="0">
                            <a:effectLst/>
                            <a:latin typeface="Cambria Math"/>
                            <a:ea typeface="Verdana"/>
                            <a:cs typeface="Verdana"/>
                          </a:endParaRPr>
                        </a:p>
                        <a:p>
                          <a:pPr>
                            <a:lnSpc>
                              <a:spcPct val="107000"/>
                            </a:lnSpc>
                            <a:spcAft>
                              <a:spcPts val="0"/>
                            </a:spcAft>
                          </a:pPr>
                          <a14:m>
                            <m:oMathPara xmlns:m="http://schemas.openxmlformats.org/officeDocument/2006/math">
                              <m:oMathParaPr>
                                <m:jc m:val="centerGroup"/>
                              </m:oMathParaPr>
                              <m:oMath xmlns:m="http://schemas.openxmlformats.org/officeDocument/2006/math">
                                <m:d>
                                  <m:dPr>
                                    <m:begChr m:val="["/>
                                    <m:endChr m:val="]"/>
                                    <m:ctrlPr>
                                      <a:rPr lang="en-PH" sz="1800" i="1">
                                        <a:effectLst/>
                                        <a:latin typeface="Cambria Math" panose="02040503050406030204" pitchFamily="18" charset="0"/>
                                        <a:ea typeface="Verdana"/>
                                        <a:cs typeface="Verdana"/>
                                      </a:rPr>
                                    </m:ctrlPr>
                                  </m:dPr>
                                  <m:e>
                                    <m:sSup>
                                      <m:sSupPr>
                                        <m:ctrlPr>
                                          <a:rPr lang="en-PH" sz="1800" i="1">
                                            <a:effectLst/>
                                            <a:latin typeface="Cambria Math" panose="02040503050406030204" pitchFamily="18" charset="0"/>
                                            <a:ea typeface="Verdana"/>
                                            <a:cs typeface="Verdana"/>
                                          </a:rPr>
                                        </m:ctrlPr>
                                      </m:sSupPr>
                                      <m:e>
                                        <m:d>
                                          <m:dPr>
                                            <m:ctrlPr>
                                              <a:rPr lang="en-PH" sz="1800" i="1">
                                                <a:effectLst/>
                                                <a:latin typeface="Cambria Math" panose="02040503050406030204" pitchFamily="18" charset="0"/>
                                                <a:ea typeface="Verdana"/>
                                                <a:cs typeface="Verdana"/>
                                              </a:rPr>
                                            </m:ctrlPr>
                                          </m:dPr>
                                          <m:e>
                                            <m:r>
                                              <a:rPr lang="en-US" sz="1800" i="1">
                                                <a:effectLst/>
                                                <a:latin typeface="Cambria Math"/>
                                                <a:ea typeface="Verdana"/>
                                                <a:cs typeface="Verdana"/>
                                              </a:rPr>
                                              <m:t>______×______</m:t>
                                            </m:r>
                                          </m:e>
                                        </m:d>
                                      </m:e>
                                      <m:sup>
                                        <m:r>
                                          <a:rPr lang="en-US" sz="1800" i="1">
                                            <a:effectLst/>
                                            <a:latin typeface="Cambria Math"/>
                                            <a:ea typeface="Verdana"/>
                                            <a:cs typeface="Verdana"/>
                                          </a:rPr>
                                          <m:t>2</m:t>
                                        </m:r>
                                      </m:sup>
                                    </m:sSup>
                                    <m:r>
                                      <a:rPr lang="en-US" sz="1800" i="1">
                                        <a:effectLst/>
                                        <a:latin typeface="Cambria Math"/>
                                        <a:ea typeface="Verdana"/>
                                        <a:cs typeface="Verdana"/>
                                      </a:rPr>
                                      <m:t>+______</m:t>
                                    </m:r>
                                  </m:e>
                                </m:d>
                                <m:r>
                                  <a:rPr lang="en-US" sz="1800" i="1">
                                    <a:effectLst/>
                                    <a:latin typeface="Cambria Math"/>
                                    <a:ea typeface="Verdana"/>
                                    <a:cs typeface="Verdana"/>
                                  </a:rPr>
                                  <m:t>÷______</m:t>
                                </m:r>
                              </m:oMath>
                            </m:oMathPara>
                          </a14:m>
                          <a:endParaRPr lang="en-PH" sz="1800" i="1" dirty="0">
                            <a:effectLst/>
                            <a:latin typeface="Verdana" pitchFamily="34" charset="0"/>
                            <a:ea typeface="Verdana" pitchFamily="34" charset="0"/>
                            <a:cs typeface="Cambria Math"/>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1800" i="0" dirty="0">
                              <a:effectLst/>
                              <a:latin typeface="Verdana" pitchFamily="34" charset="0"/>
                              <a:ea typeface="Verdana" pitchFamily="34" charset="0"/>
                              <a:cs typeface="Verdana"/>
                            </a:rPr>
                            <a:t>My answer</a:t>
                          </a: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i="0" dirty="0">
                              <a:effectLst/>
                              <a:latin typeface="Verdana" pitchFamily="34" charset="0"/>
                              <a:ea typeface="Verdana" pitchFamily="34" charset="0"/>
                              <a:cs typeface="Verdana"/>
                            </a:rPr>
                            <a:t>______</a:t>
                          </a: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i="0" dirty="0">
                              <a:effectLst/>
                              <a:latin typeface="Verdana" pitchFamily="34" charset="0"/>
                              <a:ea typeface="Verdana" pitchFamily="34" charset="0"/>
                              <a:cs typeface="Verdana"/>
                            </a:rPr>
                            <a:t> </a:t>
                          </a:r>
                        </a:p>
                        <a:p>
                          <a:pPr algn="ctr">
                            <a:lnSpc>
                              <a:spcPct val="107000"/>
                            </a:lnSpc>
                            <a:spcAft>
                              <a:spcPts val="0"/>
                            </a:spcAft>
                          </a:pP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i="0" dirty="0">
                              <a:effectLst/>
                              <a:latin typeface="Verdana" pitchFamily="34" charset="0"/>
                              <a:ea typeface="Verdana" pitchFamily="34" charset="0"/>
                              <a:cs typeface="Verdana"/>
                            </a:rPr>
                            <a:t>Points earned</a:t>
                          </a: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i="0" dirty="0">
                              <a:effectLst/>
                              <a:latin typeface="Verdana" pitchFamily="34" charset="0"/>
                              <a:ea typeface="Verdana" pitchFamily="34" charset="0"/>
                              <a:cs typeface="Verdana"/>
                            </a:rPr>
                            <a:t>______</a:t>
                          </a:r>
                          <a:endParaRPr lang="en-PH" sz="1800" i="1" dirty="0">
                            <a:effectLst/>
                            <a:latin typeface="Verdana" pitchFamily="34" charset="0"/>
                            <a:ea typeface="Verdana" pitchFamily="34" charset="0"/>
                            <a:cs typeface="Cambria Math"/>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828800">
                    <a:tc>
                      <a:txBody>
                        <a:bodyPr/>
                        <a:lstStyle/>
                        <a:p>
                          <a:pPr algn="ctr">
                            <a:lnSpc>
                              <a:spcPct val="107000"/>
                            </a:lnSpc>
                            <a:spcAft>
                              <a:spcPts val="0"/>
                            </a:spcAft>
                          </a:pPr>
                          <a:r>
                            <a:rPr lang="en-US" sz="1800" b="1" i="0">
                              <a:effectLst/>
                              <a:latin typeface="Verdana" pitchFamily="34" charset="0"/>
                              <a:ea typeface="Verdana" pitchFamily="34" charset="0"/>
                              <a:cs typeface="Verdana"/>
                            </a:rPr>
                            <a:t>Round 3</a:t>
                          </a:r>
                          <a:endParaRPr lang="en-PH" sz="1800" i="1">
                            <a:effectLst/>
                            <a:latin typeface="Verdana" pitchFamily="34" charset="0"/>
                            <a:ea typeface="Verdana" pitchFamily="34" charset="0"/>
                            <a:cs typeface="Cambria Math"/>
                          </a:endParaRPr>
                        </a:p>
                        <a:p>
                          <a:pPr algn="ctr">
                            <a:lnSpc>
                              <a:spcPct val="107000"/>
                            </a:lnSpc>
                            <a:spcAft>
                              <a:spcPts val="0"/>
                            </a:spcAft>
                          </a:pPr>
                          <a:r>
                            <a:rPr lang="en-US" sz="1800" b="1" i="0">
                              <a:effectLst/>
                              <a:latin typeface="Verdana" pitchFamily="34" charset="0"/>
                              <a:ea typeface="Verdana" pitchFamily="34" charset="0"/>
                              <a:cs typeface="Verdana"/>
                            </a:rPr>
                            <a:t>Scoring</a:t>
                          </a:r>
                          <a:r>
                            <a:rPr lang="en-US" sz="1800" i="0">
                              <a:effectLst/>
                              <a:latin typeface="Verdana" pitchFamily="34" charset="0"/>
                              <a:ea typeface="Verdana" pitchFamily="34" charset="0"/>
                              <a:cs typeface="Verdana"/>
                            </a:rPr>
                            <a:t> – the player with the greatest absolute value </a:t>
                          </a:r>
                          <a:r>
                            <a:rPr lang="en-US" sz="1800" b="1" i="0">
                              <a:effectLst/>
                              <a:latin typeface="Verdana" pitchFamily="34" charset="0"/>
                              <a:ea typeface="Verdana" pitchFamily="34" charset="0"/>
                              <a:cs typeface="Verdana"/>
                            </a:rPr>
                            <a:t>loses</a:t>
                          </a:r>
                          <a:r>
                            <a:rPr lang="en-US" sz="1800" i="0">
                              <a:effectLst/>
                              <a:latin typeface="Verdana" pitchFamily="34" charset="0"/>
                              <a:ea typeface="Verdana" pitchFamily="34" charset="0"/>
                              <a:cs typeface="Verdana"/>
                            </a:rPr>
                            <a:t> </a:t>
                          </a:r>
                          <a14:m>
                            <m:oMath xmlns:m="http://schemas.openxmlformats.org/officeDocument/2006/math">
                              <m:r>
                                <a:rPr lang="en-US" sz="1800" i="1">
                                  <a:effectLst/>
                                  <a:latin typeface="Cambria Math"/>
                                  <a:ea typeface="Verdana"/>
                                  <a:cs typeface="Verdana"/>
                                </a:rPr>
                                <m:t>3.7</m:t>
                              </m:r>
                            </m:oMath>
                          </a14:m>
                          <a:r>
                            <a:rPr lang="en-US" sz="1800" i="0">
                              <a:effectLst/>
                              <a:latin typeface="Verdana" pitchFamily="34" charset="0"/>
                              <a:ea typeface="Verdana" pitchFamily="34" charset="0"/>
                              <a:cs typeface="Verdana"/>
                            </a:rPr>
                            <a:t> points. </a:t>
                          </a:r>
                          <a:endParaRPr lang="en-PH" sz="1800" i="1">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nSpc>
                              <a:spcPct val="107000"/>
                            </a:lnSpc>
                            <a:spcAft>
                              <a:spcPts val="0"/>
                            </a:spcAft>
                          </a:pPr>
                          <a:endParaRPr lang="en-PH" sz="1800" i="1" dirty="0">
                            <a:effectLst/>
                            <a:latin typeface="Cambria Math"/>
                            <a:ea typeface="Verdana"/>
                            <a:cs typeface="Verdana"/>
                          </a:endParaRPr>
                        </a:p>
                        <a:p>
                          <a:pPr>
                            <a:lnSpc>
                              <a:spcPct val="107000"/>
                            </a:lnSpc>
                            <a:spcAft>
                              <a:spcPts val="0"/>
                            </a:spcAft>
                          </a:pPr>
                          <a14:m>
                            <m:oMathPara xmlns:m="http://schemas.openxmlformats.org/officeDocument/2006/math">
                              <m:oMathParaPr>
                                <m:jc m:val="centerGroup"/>
                              </m:oMathParaPr>
                              <m:oMath xmlns:m="http://schemas.openxmlformats.org/officeDocument/2006/math">
                                <m:d>
                                  <m:dPr>
                                    <m:ctrlPr>
                                      <a:rPr lang="en-PH" sz="1800" i="1">
                                        <a:effectLst/>
                                        <a:latin typeface="Cambria Math" panose="02040503050406030204" pitchFamily="18" charset="0"/>
                                        <a:ea typeface="Verdana"/>
                                        <a:cs typeface="Verdana"/>
                                      </a:rPr>
                                    </m:ctrlPr>
                                  </m:dPr>
                                  <m:e>
                                    <m:r>
                                      <a:rPr lang="en-US" sz="1800" i="1">
                                        <a:effectLst/>
                                        <a:latin typeface="Cambria Math"/>
                                        <a:ea typeface="Verdana"/>
                                        <a:cs typeface="Verdana"/>
                                      </a:rPr>
                                      <m:t>______×</m:t>
                                    </m:r>
                                    <m:sSup>
                                      <m:sSupPr>
                                        <m:ctrlPr>
                                          <a:rPr lang="en-PH" sz="1800" i="1">
                                            <a:effectLst/>
                                            <a:latin typeface="Cambria Math" panose="02040503050406030204" pitchFamily="18" charset="0"/>
                                            <a:ea typeface="Verdana"/>
                                            <a:cs typeface="Verdana"/>
                                          </a:rPr>
                                        </m:ctrlPr>
                                      </m:sSupPr>
                                      <m:e>
                                        <m:r>
                                          <a:rPr lang="en-US" sz="1800" i="1">
                                            <a:effectLst/>
                                            <a:latin typeface="Cambria Math"/>
                                            <a:ea typeface="Verdana"/>
                                            <a:cs typeface="Verdana"/>
                                          </a:rPr>
                                          <m:t>______</m:t>
                                        </m:r>
                                      </m:e>
                                      <m:sup>
                                        <m:r>
                                          <a:rPr lang="en-US" sz="1800" i="1">
                                            <a:effectLst/>
                                            <a:latin typeface="Cambria Math"/>
                                            <a:ea typeface="Verdana"/>
                                            <a:cs typeface="Verdana"/>
                                          </a:rPr>
                                          <m:t>2</m:t>
                                        </m:r>
                                      </m:sup>
                                    </m:sSup>
                                  </m:e>
                                </m:d>
                                <m:r>
                                  <a:rPr lang="en-PH" sz="1800" b="0" i="1" smtClean="0">
                                    <a:effectLst/>
                                    <a:latin typeface="Cambria Math" panose="02040503050406030204" pitchFamily="18" charset="0"/>
                                    <a:ea typeface="Verdana"/>
                                    <a:cs typeface="Verdana"/>
                                  </a:rPr>
                                  <m:t>−</m:t>
                                </m:r>
                                <m:d>
                                  <m:dPr>
                                    <m:ctrlPr>
                                      <a:rPr lang="en-PH" sz="1800" i="1">
                                        <a:effectLst/>
                                        <a:latin typeface="Cambria Math" panose="02040503050406030204" pitchFamily="18" charset="0"/>
                                        <a:ea typeface="Verdana"/>
                                        <a:cs typeface="Verdana"/>
                                      </a:rPr>
                                    </m:ctrlPr>
                                  </m:dPr>
                                  <m:e>
                                    <m:r>
                                      <a:rPr lang="en-US" sz="1800" i="1">
                                        <a:effectLst/>
                                        <a:latin typeface="Cambria Math"/>
                                        <a:ea typeface="Verdana"/>
                                        <a:cs typeface="Verdana"/>
                                      </a:rPr>
                                      <m:t>______÷______</m:t>
                                    </m:r>
                                  </m:e>
                                </m:d>
                              </m:oMath>
                            </m:oMathPara>
                          </a14:m>
                          <a:endParaRPr lang="en-PH" sz="1800" i="1" dirty="0">
                            <a:effectLst/>
                            <a:latin typeface="Verdana" pitchFamily="34" charset="0"/>
                            <a:ea typeface="Verdana" pitchFamily="34" charset="0"/>
                            <a:cs typeface="Cambria Math"/>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1800" i="0" dirty="0">
                              <a:effectLst/>
                              <a:latin typeface="Verdana" pitchFamily="34" charset="0"/>
                              <a:ea typeface="Verdana" pitchFamily="34" charset="0"/>
                              <a:cs typeface="Verdana"/>
                            </a:rPr>
                            <a:t>My answer</a:t>
                          </a: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i="0" dirty="0">
                              <a:effectLst/>
                              <a:latin typeface="Verdana" pitchFamily="34" charset="0"/>
                              <a:ea typeface="Verdana" pitchFamily="34" charset="0"/>
                              <a:cs typeface="Verdana"/>
                            </a:rPr>
                            <a:t>______</a:t>
                          </a: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i="0" dirty="0">
                              <a:effectLst/>
                              <a:latin typeface="Verdana" pitchFamily="34" charset="0"/>
                              <a:ea typeface="Verdana" pitchFamily="34" charset="0"/>
                              <a:cs typeface="Verdana"/>
                            </a:rPr>
                            <a:t> </a:t>
                          </a:r>
                        </a:p>
                        <a:p>
                          <a:pPr algn="ctr">
                            <a:lnSpc>
                              <a:spcPct val="107000"/>
                            </a:lnSpc>
                            <a:spcAft>
                              <a:spcPts val="0"/>
                            </a:spcAft>
                          </a:pP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i="0" dirty="0">
                              <a:effectLst/>
                              <a:latin typeface="Verdana" pitchFamily="34" charset="0"/>
                              <a:ea typeface="Verdana" pitchFamily="34" charset="0"/>
                              <a:cs typeface="Verdana"/>
                            </a:rPr>
                            <a:t>Points earned</a:t>
                          </a: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i="0" dirty="0">
                              <a:effectLst/>
                              <a:latin typeface="Verdana" pitchFamily="34" charset="0"/>
                              <a:ea typeface="Verdana" pitchFamily="34" charset="0"/>
                              <a:cs typeface="Verdana"/>
                            </a:rPr>
                            <a:t>______</a:t>
                          </a:r>
                          <a:endParaRPr lang="en-PH" sz="1800" i="1" dirty="0">
                            <a:effectLst/>
                            <a:latin typeface="Verdana" pitchFamily="34" charset="0"/>
                            <a:ea typeface="Verdana" pitchFamily="34" charset="0"/>
                            <a:cs typeface="Cambria Math"/>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450446">
                    <a:tc>
                      <a:txBody>
                        <a:bodyPr/>
                        <a:lstStyle/>
                        <a:p>
                          <a:pPr algn="ctr">
                            <a:lnSpc>
                              <a:spcPct val="107000"/>
                            </a:lnSpc>
                            <a:spcAft>
                              <a:spcPts val="0"/>
                            </a:spcAft>
                          </a:pPr>
                          <a:r>
                            <a:rPr lang="en-US" sz="1800" b="1" i="0" dirty="0">
                              <a:effectLst/>
                              <a:latin typeface="Verdana" pitchFamily="34" charset="0"/>
                              <a:ea typeface="Verdana" pitchFamily="34" charset="0"/>
                              <a:cs typeface="Verdana"/>
                            </a:rPr>
                            <a:t>Round 4</a:t>
                          </a: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b="1" i="0" dirty="0">
                              <a:effectLst/>
                              <a:latin typeface="Verdana" pitchFamily="34" charset="0"/>
                              <a:ea typeface="Verdana" pitchFamily="34" charset="0"/>
                              <a:cs typeface="Verdana"/>
                            </a:rPr>
                            <a:t>Scoring</a:t>
                          </a:r>
                          <a:r>
                            <a:rPr lang="en-US" sz="1800" i="0" dirty="0">
                              <a:effectLst/>
                              <a:latin typeface="Verdana" pitchFamily="34" charset="0"/>
                              <a:ea typeface="Verdana" pitchFamily="34" charset="0"/>
                              <a:cs typeface="Verdana"/>
                            </a:rPr>
                            <a:t> – the player with the absolute value closest to zero </a:t>
                          </a:r>
                          <a:r>
                            <a:rPr lang="en-US" sz="1800" b="1" i="0" dirty="0">
                              <a:effectLst/>
                              <a:latin typeface="Verdana" pitchFamily="34" charset="0"/>
                              <a:ea typeface="Verdana" pitchFamily="34" charset="0"/>
                              <a:cs typeface="Verdana"/>
                            </a:rPr>
                            <a:t>earns</a:t>
                          </a:r>
                          <a:r>
                            <a:rPr lang="en-US" sz="1800" i="0" dirty="0">
                              <a:effectLst/>
                              <a:latin typeface="Verdana" pitchFamily="34" charset="0"/>
                              <a:ea typeface="Verdana" pitchFamily="34" charset="0"/>
                              <a:cs typeface="Verdana"/>
                            </a:rPr>
                            <a:t> </a:t>
                          </a:r>
                          <a14:m>
                            <m:oMath xmlns:m="http://schemas.openxmlformats.org/officeDocument/2006/math">
                              <m:r>
                                <a:rPr lang="en-US" sz="1800" i="1">
                                  <a:effectLst/>
                                  <a:latin typeface="Cambria Math"/>
                                  <a:ea typeface="Verdana"/>
                                  <a:cs typeface="Verdana"/>
                                </a:rPr>
                                <m:t>11</m:t>
                              </m:r>
                            </m:oMath>
                          </a14:m>
                          <a:r>
                            <a:rPr lang="en-US" sz="1800" i="0" dirty="0">
                              <a:effectLst/>
                              <a:latin typeface="Verdana" pitchFamily="34" charset="0"/>
                              <a:ea typeface="Verdana" pitchFamily="34" charset="0"/>
                              <a:cs typeface="Verdana"/>
                            </a:rPr>
                            <a:t> points.</a:t>
                          </a:r>
                          <a:endParaRPr lang="en-PH" sz="1800" i="1" dirty="0">
                            <a:effectLst/>
                            <a:latin typeface="Verdana" pitchFamily="34" charset="0"/>
                            <a:ea typeface="Verdana" pitchFamily="34" charset="0"/>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nSpc>
                              <a:spcPct val="107000"/>
                            </a:lnSpc>
                            <a:spcAft>
                              <a:spcPts val="0"/>
                            </a:spcAft>
                          </a:pPr>
                          <a:endParaRPr lang="en-PH" sz="1800" i="1" dirty="0">
                            <a:effectLst/>
                            <a:latin typeface="Cambria Math"/>
                            <a:ea typeface="Verdana"/>
                            <a:cs typeface="Verdana"/>
                          </a:endParaRPr>
                        </a:p>
                        <a:p>
                          <a:pPr>
                            <a:lnSpc>
                              <a:spcPct val="107000"/>
                            </a:lnSpc>
                            <a:spcAft>
                              <a:spcPts val="0"/>
                            </a:spcAft>
                          </a:pPr>
                          <a14:m>
                            <m:oMathPara xmlns:m="http://schemas.openxmlformats.org/officeDocument/2006/math">
                              <m:oMathParaPr>
                                <m:jc m:val="centerGroup"/>
                              </m:oMathParaPr>
                              <m:oMath xmlns:m="http://schemas.openxmlformats.org/officeDocument/2006/math">
                                <m:sSup>
                                  <m:sSupPr>
                                    <m:ctrlPr>
                                      <a:rPr lang="en-PH" sz="1800" i="1">
                                        <a:effectLst/>
                                        <a:latin typeface="Cambria Math" panose="02040503050406030204" pitchFamily="18" charset="0"/>
                                        <a:ea typeface="Verdana"/>
                                        <a:cs typeface="Verdana"/>
                                      </a:rPr>
                                    </m:ctrlPr>
                                  </m:sSupPr>
                                  <m:e>
                                    <m:d>
                                      <m:dPr>
                                        <m:ctrlPr>
                                          <a:rPr lang="en-PH" sz="1800" i="1">
                                            <a:effectLst/>
                                            <a:latin typeface="Cambria Math" panose="02040503050406030204" pitchFamily="18" charset="0"/>
                                            <a:ea typeface="Verdana"/>
                                            <a:cs typeface="Verdana"/>
                                          </a:rPr>
                                        </m:ctrlPr>
                                      </m:dPr>
                                      <m:e>
                                        <m:r>
                                          <a:rPr lang="en-US" sz="1800" i="1">
                                            <a:effectLst/>
                                            <a:latin typeface="Cambria Math"/>
                                            <a:ea typeface="Verdana"/>
                                            <a:cs typeface="Verdana"/>
                                          </a:rPr>
                                          <m:t>______×______</m:t>
                                        </m:r>
                                      </m:e>
                                    </m:d>
                                  </m:e>
                                  <m:sup>
                                    <m:r>
                                      <a:rPr lang="en-US" sz="1800" i="1">
                                        <a:effectLst/>
                                        <a:latin typeface="Cambria Math"/>
                                        <a:ea typeface="Verdana"/>
                                        <a:cs typeface="Verdana"/>
                                      </a:rPr>
                                      <m:t>2</m:t>
                                    </m:r>
                                  </m:sup>
                                </m:sSup>
                                <m:r>
                                  <a:rPr lang="en-PH" sz="1800" b="0" i="1" smtClean="0">
                                    <a:effectLst/>
                                    <a:latin typeface="Cambria Math" panose="02040503050406030204" pitchFamily="18" charset="0"/>
                                    <a:ea typeface="Verdana"/>
                                    <a:cs typeface="Verdana"/>
                                  </a:rPr>
                                  <m:t>−</m:t>
                                </m:r>
                                <m:d>
                                  <m:dPr>
                                    <m:ctrlPr>
                                      <a:rPr lang="en-PH" sz="1800" i="1">
                                        <a:effectLst/>
                                        <a:latin typeface="Cambria Math" panose="02040503050406030204" pitchFamily="18" charset="0"/>
                                        <a:ea typeface="Verdana"/>
                                        <a:cs typeface="Verdana"/>
                                      </a:rPr>
                                    </m:ctrlPr>
                                  </m:dPr>
                                  <m:e>
                                    <m:r>
                                      <a:rPr lang="en-US" sz="1800" i="1">
                                        <a:effectLst/>
                                        <a:latin typeface="Cambria Math"/>
                                        <a:ea typeface="Verdana"/>
                                        <a:cs typeface="Verdana"/>
                                      </a:rPr>
                                      <m:t>______÷______</m:t>
                                    </m:r>
                                  </m:e>
                                </m:d>
                              </m:oMath>
                            </m:oMathPara>
                          </a14:m>
                          <a:endParaRPr lang="en-PH" sz="1800" i="1" dirty="0">
                            <a:effectLst/>
                            <a:latin typeface="Verdana" pitchFamily="34" charset="0"/>
                            <a:ea typeface="Verdana" pitchFamily="34" charset="0"/>
                            <a:cs typeface="Cambria Math"/>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1800" i="0" dirty="0">
                              <a:effectLst/>
                              <a:latin typeface="Verdana" pitchFamily="34" charset="0"/>
                              <a:ea typeface="Verdana" pitchFamily="34" charset="0"/>
                              <a:cs typeface="Verdana"/>
                            </a:rPr>
                            <a:t>My answer</a:t>
                          </a: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i="0" dirty="0">
                              <a:effectLst/>
                              <a:latin typeface="Verdana" pitchFamily="34" charset="0"/>
                              <a:ea typeface="Verdana" pitchFamily="34" charset="0"/>
                              <a:cs typeface="Verdana"/>
                            </a:rPr>
                            <a:t>______</a:t>
                          </a: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i="0" dirty="0">
                              <a:effectLst/>
                              <a:latin typeface="Verdana" pitchFamily="34" charset="0"/>
                              <a:ea typeface="Verdana" pitchFamily="34" charset="0"/>
                              <a:cs typeface="Verdana"/>
                            </a:rPr>
                            <a:t> </a:t>
                          </a:r>
                        </a:p>
                        <a:p>
                          <a:pPr algn="ctr">
                            <a:lnSpc>
                              <a:spcPct val="107000"/>
                            </a:lnSpc>
                            <a:spcAft>
                              <a:spcPts val="0"/>
                            </a:spcAft>
                          </a:pP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i="0" dirty="0">
                              <a:effectLst/>
                              <a:latin typeface="Verdana" pitchFamily="34" charset="0"/>
                              <a:ea typeface="Verdana" pitchFamily="34" charset="0"/>
                              <a:cs typeface="Verdana"/>
                            </a:rPr>
                            <a:t>Points earned</a:t>
                          </a: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i="0" dirty="0">
                              <a:effectLst/>
                              <a:latin typeface="Verdana" pitchFamily="34" charset="0"/>
                              <a:ea typeface="Verdana" pitchFamily="34" charset="0"/>
                              <a:cs typeface="Verdana"/>
                            </a:rPr>
                            <a:t>______</a:t>
                          </a:r>
                          <a:endParaRPr lang="en-PH" sz="1800" i="1" dirty="0">
                            <a:effectLst/>
                            <a:latin typeface="Verdana" pitchFamily="34" charset="0"/>
                            <a:ea typeface="Verdana" pitchFamily="34" charset="0"/>
                            <a:cs typeface="Cambria Math"/>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3995231520"/>
                  </p:ext>
                </p:extLst>
              </p:nvPr>
            </p:nvGraphicFramePr>
            <p:xfrm>
              <a:off x="2639623" y="520394"/>
              <a:ext cx="7920000" cy="5486845"/>
            </p:xfrm>
            <a:graphic>
              <a:graphicData uri="http://schemas.openxmlformats.org/drawingml/2006/table">
                <a:tbl>
                  <a:tblPr firstRow="1" firstCol="1" bandRow="1"/>
                  <a:tblGrid>
                    <a:gridCol w="2520000">
                      <a:extLst>
                        <a:ext uri="{9D8B030D-6E8A-4147-A177-3AD203B41FA5}">
                          <a16:colId xmlns:a16="http://schemas.microsoft.com/office/drawing/2014/main" val="20000"/>
                        </a:ext>
                      </a:extLst>
                    </a:gridCol>
                    <a:gridCol w="3600000">
                      <a:extLst>
                        <a:ext uri="{9D8B030D-6E8A-4147-A177-3AD203B41FA5}">
                          <a16:colId xmlns:a16="http://schemas.microsoft.com/office/drawing/2014/main" val="20001"/>
                        </a:ext>
                      </a:extLst>
                    </a:gridCol>
                    <a:gridCol w="1800000">
                      <a:extLst>
                        <a:ext uri="{9D8B030D-6E8A-4147-A177-3AD203B41FA5}">
                          <a16:colId xmlns:a16="http://schemas.microsoft.com/office/drawing/2014/main" val="20002"/>
                        </a:ext>
                      </a:extLst>
                    </a:gridCol>
                  </a:tblGrid>
                  <a:tr h="18288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483" t="-2000" r="-214734" b="-205333"/>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70389" t="-2000" r="-50423" b="-205333"/>
                          </a:stretch>
                        </a:blipFill>
                      </a:tcPr>
                    </a:tc>
                    <a:tc>
                      <a:txBody>
                        <a:bodyPr/>
                        <a:lstStyle/>
                        <a:p>
                          <a:pPr algn="ctr">
                            <a:lnSpc>
                              <a:spcPct val="107000"/>
                            </a:lnSpc>
                            <a:spcAft>
                              <a:spcPts val="0"/>
                            </a:spcAft>
                          </a:pPr>
                          <a:r>
                            <a:rPr lang="en-US" sz="1800" i="0" dirty="0">
                              <a:effectLst/>
                              <a:latin typeface="Verdana" pitchFamily="34" charset="0"/>
                              <a:ea typeface="Verdana" pitchFamily="34" charset="0"/>
                              <a:cs typeface="Verdana"/>
                            </a:rPr>
                            <a:t>My answer</a:t>
                          </a: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i="0" dirty="0">
                              <a:effectLst/>
                              <a:latin typeface="Verdana" pitchFamily="34" charset="0"/>
                              <a:ea typeface="Verdana" pitchFamily="34" charset="0"/>
                              <a:cs typeface="Verdana"/>
                            </a:rPr>
                            <a:t>______</a:t>
                          </a: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i="0" dirty="0">
                              <a:effectLst/>
                              <a:latin typeface="Verdana" pitchFamily="34" charset="0"/>
                              <a:ea typeface="Verdana" pitchFamily="34" charset="0"/>
                              <a:cs typeface="Verdana"/>
                            </a:rPr>
                            <a:t> </a:t>
                          </a:r>
                        </a:p>
                        <a:p>
                          <a:pPr algn="ctr">
                            <a:lnSpc>
                              <a:spcPct val="107000"/>
                            </a:lnSpc>
                            <a:spcAft>
                              <a:spcPts val="0"/>
                            </a:spcAft>
                          </a:pP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i="0" dirty="0">
                              <a:effectLst/>
                              <a:latin typeface="Verdana" pitchFamily="34" charset="0"/>
                              <a:ea typeface="Verdana" pitchFamily="34" charset="0"/>
                              <a:cs typeface="Verdana"/>
                            </a:rPr>
                            <a:t>Points earned</a:t>
                          </a: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i="0" dirty="0">
                              <a:effectLst/>
                              <a:latin typeface="Verdana" pitchFamily="34" charset="0"/>
                              <a:ea typeface="Verdana" pitchFamily="34" charset="0"/>
                              <a:cs typeface="Verdana"/>
                            </a:rPr>
                            <a:t>______</a:t>
                          </a:r>
                          <a:endParaRPr lang="en-PH" sz="1800" i="1" dirty="0">
                            <a:effectLst/>
                            <a:latin typeface="Verdana" pitchFamily="34" charset="0"/>
                            <a:ea typeface="Verdana" pitchFamily="34" charset="0"/>
                            <a:cs typeface="Cambria Math"/>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828800">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483" t="-101661" r="-214734" b="-104651"/>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70389" t="-101661" r="-50423" b="-104651"/>
                          </a:stretch>
                        </a:blipFill>
                      </a:tcPr>
                    </a:tc>
                    <a:tc>
                      <a:txBody>
                        <a:bodyPr/>
                        <a:lstStyle/>
                        <a:p>
                          <a:pPr algn="ctr">
                            <a:lnSpc>
                              <a:spcPct val="107000"/>
                            </a:lnSpc>
                            <a:spcAft>
                              <a:spcPts val="0"/>
                            </a:spcAft>
                          </a:pPr>
                          <a:r>
                            <a:rPr lang="en-US" sz="1800" i="0" dirty="0">
                              <a:effectLst/>
                              <a:latin typeface="Verdana" pitchFamily="34" charset="0"/>
                              <a:ea typeface="Verdana" pitchFamily="34" charset="0"/>
                              <a:cs typeface="Verdana"/>
                            </a:rPr>
                            <a:t>My answer</a:t>
                          </a: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i="0" dirty="0">
                              <a:effectLst/>
                              <a:latin typeface="Verdana" pitchFamily="34" charset="0"/>
                              <a:ea typeface="Verdana" pitchFamily="34" charset="0"/>
                              <a:cs typeface="Verdana"/>
                            </a:rPr>
                            <a:t>______</a:t>
                          </a: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i="0" dirty="0">
                              <a:effectLst/>
                              <a:latin typeface="Verdana" pitchFamily="34" charset="0"/>
                              <a:ea typeface="Verdana" pitchFamily="34" charset="0"/>
                              <a:cs typeface="Verdana"/>
                            </a:rPr>
                            <a:t> </a:t>
                          </a:r>
                        </a:p>
                        <a:p>
                          <a:pPr algn="ctr">
                            <a:lnSpc>
                              <a:spcPct val="107000"/>
                            </a:lnSpc>
                            <a:spcAft>
                              <a:spcPts val="0"/>
                            </a:spcAft>
                          </a:pP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i="0" dirty="0">
                              <a:effectLst/>
                              <a:latin typeface="Verdana" pitchFamily="34" charset="0"/>
                              <a:ea typeface="Verdana" pitchFamily="34" charset="0"/>
                              <a:cs typeface="Verdana"/>
                            </a:rPr>
                            <a:t>Points earned</a:t>
                          </a: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i="0" dirty="0">
                              <a:effectLst/>
                              <a:latin typeface="Verdana" pitchFamily="34" charset="0"/>
                              <a:ea typeface="Verdana" pitchFamily="34" charset="0"/>
                              <a:cs typeface="Verdana"/>
                            </a:rPr>
                            <a:t>______</a:t>
                          </a:r>
                          <a:endParaRPr lang="en-PH" sz="1800" i="1" dirty="0">
                            <a:effectLst/>
                            <a:latin typeface="Verdana" pitchFamily="34" charset="0"/>
                            <a:ea typeface="Verdana" pitchFamily="34" charset="0"/>
                            <a:cs typeface="Cambria Math"/>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829245">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483" t="-202333" r="-214734" b="-5000"/>
                          </a:stretch>
                        </a:blipFill>
                      </a:tcPr>
                    </a:tc>
                    <a:tc>
                      <a:txBody>
                        <a:bodyPr/>
                        <a:lstStyle/>
                        <a:p>
                          <a:endParaRPr lang="en-US"/>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70389" t="-202333" r="-50423" b="-5000"/>
                          </a:stretch>
                        </a:blipFill>
                      </a:tcPr>
                    </a:tc>
                    <a:tc>
                      <a:txBody>
                        <a:bodyPr/>
                        <a:lstStyle/>
                        <a:p>
                          <a:pPr algn="ctr">
                            <a:lnSpc>
                              <a:spcPct val="107000"/>
                            </a:lnSpc>
                            <a:spcAft>
                              <a:spcPts val="0"/>
                            </a:spcAft>
                          </a:pPr>
                          <a:r>
                            <a:rPr lang="en-US" sz="1800" i="0" dirty="0">
                              <a:effectLst/>
                              <a:latin typeface="Verdana" pitchFamily="34" charset="0"/>
                              <a:ea typeface="Verdana" pitchFamily="34" charset="0"/>
                              <a:cs typeface="Verdana"/>
                            </a:rPr>
                            <a:t>My answer</a:t>
                          </a: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i="0" dirty="0">
                              <a:effectLst/>
                              <a:latin typeface="Verdana" pitchFamily="34" charset="0"/>
                              <a:ea typeface="Verdana" pitchFamily="34" charset="0"/>
                              <a:cs typeface="Verdana"/>
                            </a:rPr>
                            <a:t>______</a:t>
                          </a: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i="0" dirty="0">
                              <a:effectLst/>
                              <a:latin typeface="Verdana" pitchFamily="34" charset="0"/>
                              <a:ea typeface="Verdana" pitchFamily="34" charset="0"/>
                              <a:cs typeface="Verdana"/>
                            </a:rPr>
                            <a:t> </a:t>
                          </a:r>
                        </a:p>
                        <a:p>
                          <a:pPr algn="ctr">
                            <a:lnSpc>
                              <a:spcPct val="107000"/>
                            </a:lnSpc>
                            <a:spcAft>
                              <a:spcPts val="0"/>
                            </a:spcAft>
                          </a:pP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i="0" dirty="0">
                              <a:effectLst/>
                              <a:latin typeface="Verdana" pitchFamily="34" charset="0"/>
                              <a:ea typeface="Verdana" pitchFamily="34" charset="0"/>
                              <a:cs typeface="Verdana"/>
                            </a:rPr>
                            <a:t>Points earned</a:t>
                          </a:r>
                          <a:endParaRPr lang="en-PH" sz="1800" i="1" dirty="0">
                            <a:effectLst/>
                            <a:latin typeface="Verdana" pitchFamily="34" charset="0"/>
                            <a:ea typeface="Verdana" pitchFamily="34" charset="0"/>
                            <a:cs typeface="Cambria Math"/>
                          </a:endParaRPr>
                        </a:p>
                        <a:p>
                          <a:pPr algn="ctr">
                            <a:lnSpc>
                              <a:spcPct val="107000"/>
                            </a:lnSpc>
                            <a:spcAft>
                              <a:spcPts val="0"/>
                            </a:spcAft>
                          </a:pPr>
                          <a:r>
                            <a:rPr lang="en-US" sz="1800" i="0" dirty="0">
                              <a:effectLst/>
                              <a:latin typeface="Verdana" pitchFamily="34" charset="0"/>
                              <a:ea typeface="Verdana" pitchFamily="34" charset="0"/>
                              <a:cs typeface="Verdana"/>
                            </a:rPr>
                            <a:t>______</a:t>
                          </a:r>
                          <a:endParaRPr lang="en-PH" sz="1800" i="1" dirty="0">
                            <a:effectLst/>
                            <a:latin typeface="Verdana" pitchFamily="34" charset="0"/>
                            <a:ea typeface="Verdana" pitchFamily="34" charset="0"/>
                            <a:cs typeface="Cambria Math"/>
                          </a:endParaRPr>
                        </a:p>
                      </a:txBody>
                      <a:tcP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mc:Fallback>
      </mc:AlternateContent>
      <p:sp>
        <p:nvSpPr>
          <p:cNvPr id="9"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33</a:t>
            </a:r>
            <a:endParaRPr i="1" dirty="0">
              <a:latin typeface="Calibri"/>
              <a:ea typeface="Calibri"/>
              <a:cs typeface="Calibri"/>
              <a:sym typeface="Calibri"/>
            </a:endParaRPr>
          </a:p>
        </p:txBody>
      </p:sp>
    </p:spTree>
    <p:extLst>
      <p:ext uri="{BB962C8B-B14F-4D97-AF65-F5344CB8AC3E}">
        <p14:creationId xmlns:p14="http://schemas.microsoft.com/office/powerpoint/2010/main" val="6864801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graphicFrame>
        <p:nvGraphicFramePr>
          <p:cNvPr id="4" name="Table 3"/>
          <p:cNvGraphicFramePr>
            <a:graphicFrameLocks noGrp="1"/>
          </p:cNvGraphicFramePr>
          <p:nvPr>
            <p:extLst>
              <p:ext uri="{D42A27DB-BD31-4B8C-83A1-F6EECF244321}">
                <p14:modId xmlns:p14="http://schemas.microsoft.com/office/powerpoint/2010/main" val="3439246119"/>
              </p:ext>
            </p:extLst>
          </p:nvPr>
        </p:nvGraphicFramePr>
        <p:xfrm>
          <a:off x="2199970" y="517390"/>
          <a:ext cx="7792060" cy="1620000"/>
        </p:xfrm>
        <a:graphic>
          <a:graphicData uri="http://schemas.openxmlformats.org/drawingml/2006/table">
            <a:tbl>
              <a:tblPr firstRow="1" firstCol="1" bandRow="1"/>
              <a:tblGrid>
                <a:gridCol w="1533477">
                  <a:extLst>
                    <a:ext uri="{9D8B030D-6E8A-4147-A177-3AD203B41FA5}">
                      <a16:colId xmlns:a16="http://schemas.microsoft.com/office/drawing/2014/main" val="20000"/>
                    </a:ext>
                  </a:extLst>
                </a:gridCol>
                <a:gridCol w="1533477">
                  <a:extLst>
                    <a:ext uri="{9D8B030D-6E8A-4147-A177-3AD203B41FA5}">
                      <a16:colId xmlns:a16="http://schemas.microsoft.com/office/drawing/2014/main" val="20001"/>
                    </a:ext>
                  </a:extLst>
                </a:gridCol>
                <a:gridCol w="1530361">
                  <a:extLst>
                    <a:ext uri="{9D8B030D-6E8A-4147-A177-3AD203B41FA5}">
                      <a16:colId xmlns:a16="http://schemas.microsoft.com/office/drawing/2014/main" val="20002"/>
                    </a:ext>
                  </a:extLst>
                </a:gridCol>
                <a:gridCol w="1530361">
                  <a:extLst>
                    <a:ext uri="{9D8B030D-6E8A-4147-A177-3AD203B41FA5}">
                      <a16:colId xmlns:a16="http://schemas.microsoft.com/office/drawing/2014/main" val="20003"/>
                    </a:ext>
                  </a:extLst>
                </a:gridCol>
                <a:gridCol w="1664384">
                  <a:extLst>
                    <a:ext uri="{9D8B030D-6E8A-4147-A177-3AD203B41FA5}">
                      <a16:colId xmlns:a16="http://schemas.microsoft.com/office/drawing/2014/main" val="20004"/>
                    </a:ext>
                  </a:extLst>
                </a:gridCol>
              </a:tblGrid>
              <a:tr h="432000">
                <a:tc gridSpan="5">
                  <a:txBody>
                    <a:bodyPr/>
                    <a:lstStyle/>
                    <a:p>
                      <a:pPr algn="ctr">
                        <a:lnSpc>
                          <a:spcPct val="107000"/>
                        </a:lnSpc>
                        <a:spcAft>
                          <a:spcPts val="0"/>
                        </a:spcAft>
                      </a:pPr>
                      <a:r>
                        <a:rPr lang="en-US" sz="2000" b="1" i="0" dirty="0">
                          <a:effectLst/>
                          <a:latin typeface="Verdana"/>
                          <a:ea typeface="Verdana"/>
                          <a:cs typeface="Verdana"/>
                        </a:rPr>
                        <a:t>My Game Score</a:t>
                      </a:r>
                      <a:endParaRPr lang="en-PH" sz="2000" i="1" dirty="0">
                        <a:effectLst/>
                        <a:latin typeface="Cambria Math"/>
                        <a:ea typeface="Cambria Math"/>
                        <a:cs typeface="Cambria Math"/>
                      </a:endParaRPr>
                    </a:p>
                  </a:txBody>
                  <a:tcPr marL="68580" marR="68580" marT="0" marB="0">
                    <a:lnL w="12700" cap="flat" cmpd="sng" algn="ctr">
                      <a:no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lnSpc>
                          <a:spcPct val="107000"/>
                        </a:lnSpc>
                        <a:spcAft>
                          <a:spcPts val="0"/>
                        </a:spcAft>
                      </a:pPr>
                      <a:endParaRPr lang="en-PH" sz="1600" i="1">
                        <a:effectLst/>
                        <a:latin typeface="Cambria Math"/>
                        <a:ea typeface="Cambria Math"/>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pPr algn="ctr">
                        <a:lnSpc>
                          <a:spcPct val="107000"/>
                        </a:lnSpc>
                        <a:spcAft>
                          <a:spcPts val="0"/>
                        </a:spcAft>
                      </a:pPr>
                      <a:endParaRPr lang="en-PH" sz="1600" i="1">
                        <a:effectLst/>
                        <a:latin typeface="Cambria Math"/>
                        <a:ea typeface="Cambria Math"/>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pPr algn="ctr">
                        <a:lnSpc>
                          <a:spcPct val="107000"/>
                        </a:lnSpc>
                        <a:spcAft>
                          <a:spcPts val="0"/>
                        </a:spcAft>
                      </a:pPr>
                      <a:endParaRPr lang="en-PH" sz="1600" i="1">
                        <a:effectLst/>
                        <a:latin typeface="Cambria Math"/>
                        <a:ea typeface="Cambria Math"/>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hMerge="1">
                  <a:txBody>
                    <a:bodyPr/>
                    <a:lstStyle/>
                    <a:p>
                      <a:pPr algn="ctr">
                        <a:lnSpc>
                          <a:spcPct val="107000"/>
                        </a:lnSpc>
                        <a:spcAft>
                          <a:spcPts val="0"/>
                        </a:spcAft>
                      </a:pPr>
                      <a:endParaRPr lang="en-PH" sz="1600" i="1" dirty="0">
                        <a:effectLst/>
                        <a:latin typeface="Cambria Math"/>
                        <a:ea typeface="Cambria Math"/>
                        <a:cs typeface="Cambria Math"/>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540000">
                <a:tc>
                  <a:txBody>
                    <a:bodyPr/>
                    <a:lstStyle/>
                    <a:p>
                      <a:pPr algn="ctr">
                        <a:lnSpc>
                          <a:spcPct val="107000"/>
                        </a:lnSpc>
                        <a:spcAft>
                          <a:spcPts val="0"/>
                        </a:spcAft>
                      </a:pPr>
                      <a:r>
                        <a:rPr lang="en-US" sz="2000" b="1" i="0" dirty="0">
                          <a:effectLst/>
                          <a:latin typeface="Verdana"/>
                          <a:ea typeface="Verdana"/>
                          <a:cs typeface="Verdana"/>
                        </a:rPr>
                        <a:t>Round 1</a:t>
                      </a:r>
                      <a:endParaRPr lang="en-PH" sz="2000" i="1" dirty="0">
                        <a:effectLst/>
                        <a:latin typeface="Cambria Math"/>
                        <a:ea typeface="Cambria Math"/>
                        <a:cs typeface="Cambria Math"/>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dirty="0">
                          <a:effectLst/>
                          <a:latin typeface="Verdana"/>
                          <a:ea typeface="Verdana"/>
                          <a:cs typeface="Verdana"/>
                        </a:rPr>
                        <a:t>Round 2</a:t>
                      </a:r>
                      <a:endParaRPr lang="en-PH" sz="2000" i="1" dirty="0">
                        <a:effectLst/>
                        <a:latin typeface="Cambria Math"/>
                        <a:ea typeface="Cambria Math"/>
                        <a:cs typeface="Cambria Math"/>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a:effectLst/>
                          <a:latin typeface="Verdana"/>
                          <a:ea typeface="Verdana"/>
                          <a:cs typeface="Verdana"/>
                        </a:rPr>
                        <a:t>Round 3</a:t>
                      </a:r>
                      <a:endParaRPr lang="en-PH" sz="2000" i="1">
                        <a:effectLst/>
                        <a:latin typeface="Cambria Math"/>
                        <a:ea typeface="Cambria Math"/>
                        <a:cs typeface="Cambria Math"/>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a:effectLst/>
                          <a:latin typeface="Verdana"/>
                          <a:ea typeface="Verdana"/>
                          <a:cs typeface="Verdana"/>
                        </a:rPr>
                        <a:t>Round 4</a:t>
                      </a:r>
                      <a:endParaRPr lang="en-PH" sz="2000" i="1">
                        <a:effectLst/>
                        <a:latin typeface="Cambria Math"/>
                        <a:ea typeface="Cambria Math"/>
                        <a:cs typeface="Cambria Math"/>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tc>
                  <a:txBody>
                    <a:bodyPr/>
                    <a:lstStyle/>
                    <a:p>
                      <a:pPr algn="ctr">
                        <a:lnSpc>
                          <a:spcPct val="107000"/>
                        </a:lnSpc>
                        <a:spcAft>
                          <a:spcPts val="0"/>
                        </a:spcAft>
                      </a:pPr>
                      <a:r>
                        <a:rPr lang="en-US" sz="2000" b="1" i="0">
                          <a:effectLst/>
                          <a:latin typeface="Verdana"/>
                          <a:ea typeface="Verdana"/>
                          <a:cs typeface="Verdana"/>
                        </a:rPr>
                        <a:t>My Score</a:t>
                      </a:r>
                      <a:endParaRPr lang="en-PH" sz="2000" i="1">
                        <a:effectLst/>
                        <a:latin typeface="Cambria Math"/>
                        <a:ea typeface="Cambria Math"/>
                        <a:cs typeface="Cambria Math"/>
                      </a:endParaRPr>
                    </a:p>
                  </a:txBody>
                  <a:tcPr marL="68580" marR="6858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rgbClr val="BFBFBF"/>
                    </a:solidFill>
                  </a:tcPr>
                </a:tc>
                <a:extLst>
                  <a:ext uri="{0D108BD9-81ED-4DB2-BD59-A6C34878D82A}">
                    <a16:rowId xmlns:a16="http://schemas.microsoft.com/office/drawing/2014/main" val="10001"/>
                  </a:ext>
                </a:extLst>
              </a:tr>
              <a:tr h="648000">
                <a:tc>
                  <a:txBody>
                    <a:bodyPr/>
                    <a:lstStyle/>
                    <a:p>
                      <a:pPr>
                        <a:lnSpc>
                          <a:spcPct val="107000"/>
                        </a:lnSpc>
                        <a:spcAft>
                          <a:spcPts val="0"/>
                        </a:spcAft>
                      </a:pPr>
                      <a:r>
                        <a:rPr lang="en-US" sz="2000" i="0" dirty="0">
                          <a:effectLst/>
                          <a:latin typeface="Verdana"/>
                          <a:ea typeface="Verdana"/>
                          <a:cs typeface="Verdana"/>
                        </a:rPr>
                        <a:t> </a:t>
                      </a:r>
                      <a:endParaRPr lang="en-PH" sz="2000" i="1" dirty="0">
                        <a:effectLst/>
                        <a:latin typeface="Cambria Math"/>
                        <a:ea typeface="Cambria Math"/>
                        <a:cs typeface="Cambria Math"/>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2000" i="0" dirty="0">
                          <a:effectLst/>
                          <a:latin typeface="Verdana"/>
                          <a:ea typeface="Verdana"/>
                          <a:cs typeface="Verdana"/>
                        </a:rPr>
                        <a:t> </a:t>
                      </a:r>
                      <a:endParaRPr lang="en-PH" sz="2000" i="1" dirty="0">
                        <a:effectLst/>
                        <a:latin typeface="Cambria Math"/>
                        <a:ea typeface="Cambria Math"/>
                        <a:cs typeface="Cambria Math"/>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2000" i="0" dirty="0">
                          <a:effectLst/>
                          <a:latin typeface="Verdana"/>
                          <a:ea typeface="Verdana"/>
                          <a:cs typeface="Verdana"/>
                        </a:rPr>
                        <a:t> </a:t>
                      </a:r>
                      <a:endParaRPr lang="en-PH" sz="2000" i="1" dirty="0">
                        <a:effectLst/>
                        <a:latin typeface="Cambria Math"/>
                        <a:ea typeface="Cambria Math"/>
                        <a:cs typeface="Cambria Math"/>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2000" i="0" dirty="0">
                          <a:effectLst/>
                          <a:latin typeface="Verdana"/>
                          <a:ea typeface="Verdana"/>
                          <a:cs typeface="Verdana"/>
                        </a:rPr>
                        <a:t> </a:t>
                      </a:r>
                      <a:endParaRPr lang="en-PH" sz="2000" i="1" dirty="0">
                        <a:effectLst/>
                        <a:latin typeface="Cambria Math"/>
                        <a:ea typeface="Cambria Math"/>
                        <a:cs typeface="Cambria Math"/>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nSpc>
                          <a:spcPct val="107000"/>
                        </a:lnSpc>
                        <a:spcAft>
                          <a:spcPts val="0"/>
                        </a:spcAft>
                      </a:pPr>
                      <a:r>
                        <a:rPr lang="en-US" sz="2000" i="0" dirty="0">
                          <a:effectLst/>
                          <a:latin typeface="Verdana"/>
                          <a:ea typeface="Verdana"/>
                          <a:cs typeface="Verdana"/>
                        </a:rPr>
                        <a:t> </a:t>
                      </a:r>
                      <a:endParaRPr lang="en-PH" sz="2000" i="1" dirty="0">
                        <a:effectLst/>
                        <a:latin typeface="Cambria Math"/>
                        <a:ea typeface="Cambria Math"/>
                        <a:cs typeface="Cambria Math"/>
                      </a:endParaRPr>
                    </a:p>
                  </a:txBody>
                  <a:tcPr marL="68580" marR="68580" marT="0" marB="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0" name="Rectangle 9"/>
          <p:cNvSpPr/>
          <p:nvPr/>
        </p:nvSpPr>
        <p:spPr>
          <a:xfrm>
            <a:off x="1650670" y="2533999"/>
            <a:ext cx="8684231" cy="1277850"/>
          </a:xfrm>
          <a:prstGeom prst="rect">
            <a:avLst/>
          </a:prstGeom>
        </p:spPr>
        <p:txBody>
          <a:bodyPr wrap="square">
            <a:spAutoFit/>
          </a:bodyPr>
          <a:lstStyle/>
          <a:p>
            <a:pPr marL="457200" indent="-457200">
              <a:lnSpc>
                <a:spcPct val="107000"/>
              </a:lnSpc>
              <a:buFont typeface="+mj-lt"/>
              <a:buAutoNum type="arabicPeriod" startAt="2"/>
            </a:pPr>
            <a:r>
              <a:rPr lang="en-US" sz="2400" dirty="0">
                <a:latin typeface="Verdana" pitchFamily="34" charset="0"/>
                <a:ea typeface="Verdana" pitchFamily="34" charset="0"/>
                <a:cs typeface="Verdana"/>
              </a:rPr>
              <a:t>Discuss with the other players what strategies they used to determine where to put the numbers. Summarize your discussion. </a:t>
            </a:r>
            <a:endParaRPr lang="en-PH" sz="2400" i="1" dirty="0">
              <a:latin typeface="Verdana" pitchFamily="34" charset="0"/>
              <a:ea typeface="Verdana" pitchFamily="34" charset="0"/>
              <a:cs typeface="Cambria Math"/>
            </a:endParaRPr>
          </a:p>
        </p:txBody>
      </p:sp>
      <p:sp>
        <p:nvSpPr>
          <p:cNvPr id="11"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33</a:t>
            </a:r>
            <a:endParaRPr i="1" dirty="0">
              <a:latin typeface="Calibri"/>
              <a:ea typeface="Calibri"/>
              <a:cs typeface="Calibri"/>
              <a:sym typeface="Calibri"/>
            </a:endParaRPr>
          </a:p>
        </p:txBody>
      </p:sp>
    </p:spTree>
    <p:extLst>
      <p:ext uri="{BB962C8B-B14F-4D97-AF65-F5344CB8AC3E}">
        <p14:creationId xmlns:p14="http://schemas.microsoft.com/office/powerpoint/2010/main" val="7419040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116285" y="2766150"/>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7170" name="Picture 2">
            <a:extLst>
              <a:ext uri="{FF2B5EF4-FFF2-40B4-BE49-F238E27FC236}">
                <a16:creationId xmlns:a16="http://schemas.microsoft.com/office/drawing/2014/main" id="{B098E9CE-9B4F-0D4F-9369-4E0B8D4E3D1A}"/>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813171" y="2852928"/>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a:t>
            </a:r>
            <a:endParaRPr i="1" dirty="0">
              <a:latin typeface="Calibri"/>
              <a:ea typeface="Calibri"/>
              <a:cs typeface="Calibri"/>
              <a:sym typeface="Calibri"/>
            </a:endParaRPr>
          </a:p>
        </p:txBody>
      </p:sp>
    </p:spTree>
    <p:extLst>
      <p:ext uri="{BB962C8B-B14F-4D97-AF65-F5344CB8AC3E}">
        <p14:creationId xmlns:p14="http://schemas.microsoft.com/office/powerpoint/2010/main" val="10068580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5613"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2049324" y="305186"/>
            <a:ext cx="8489826"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33BEA6"/>
                </a:solidFill>
                <a:latin typeface="Verdana"/>
                <a:ea typeface="Verdana"/>
                <a:cs typeface="Verdana"/>
                <a:sym typeface="Verdana"/>
              </a:rPr>
              <a:t>8.6.4 Try It: Evaluating Expressions with Multiple Steps</a:t>
            </a:r>
          </a:p>
        </p:txBody>
      </p:sp>
      <p:pic>
        <p:nvPicPr>
          <p:cNvPr id="9" name="Picture 2">
            <a:extLst>
              <a:ext uri="{FF2B5EF4-FFF2-40B4-BE49-F238E27FC236}">
                <a16:creationId xmlns:a16="http://schemas.microsoft.com/office/drawing/2014/main" id="{E0B7508E-1910-D441-91B6-6EA6022F20CC}"/>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275766" y="527717"/>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AB6A3A1-5A0D-C84F-AC89-57E6782F43E5}"/>
                  </a:ext>
                </a:extLst>
              </p:cNvPr>
              <p:cNvSpPr txBox="1"/>
              <p:nvPr/>
            </p:nvSpPr>
            <p:spPr>
              <a:xfrm>
                <a:off x="1650670" y="1673971"/>
                <a:ext cx="8888480" cy="1643079"/>
              </a:xfrm>
              <a:prstGeom prst="rect">
                <a:avLst/>
              </a:prstGeom>
              <a:noFill/>
            </p:spPr>
            <p:txBody>
              <a:bodyPr wrap="square" rtlCol="0">
                <a:spAutoFit/>
              </a:bodyPr>
              <a:lstStyle/>
              <a:p>
                <a:pPr marL="457200" indent="-457200">
                  <a:lnSpc>
                    <a:spcPct val="107000"/>
                  </a:lnSpc>
                  <a:buFont typeface="+mj-lt"/>
                  <a:buAutoNum type="arabicPeriod"/>
                </a:pPr>
                <a:r>
                  <a:rPr lang="en-US" sz="2400" dirty="0">
                    <a:latin typeface="Verdana"/>
                    <a:ea typeface="Verdana"/>
                    <a:cs typeface="Verdana"/>
                  </a:rPr>
                  <a:t>In the table an expression has been evaluated, but the steps are mixed up. Order the expressions using the numbers </a:t>
                </a:r>
                <a14:m>
                  <m:oMath xmlns:m="http://schemas.openxmlformats.org/officeDocument/2006/math">
                    <m:r>
                      <a:rPr lang="en-US" sz="2400" i="1">
                        <a:latin typeface="Cambria Math"/>
                        <a:ea typeface="Verdana"/>
                        <a:cs typeface="Verdana"/>
                      </a:rPr>
                      <m:t>1−7</m:t>
                    </m:r>
                  </m:oMath>
                </a14:m>
                <a:r>
                  <a:rPr lang="en-US" sz="2400" dirty="0">
                    <a:latin typeface="Verdana"/>
                    <a:ea typeface="Verdana"/>
                    <a:cs typeface="Verdana"/>
                  </a:rPr>
                  <a:t> on the left. Write an explanation for each step.</a:t>
                </a:r>
                <a:endParaRPr lang="en-PH" sz="2000" i="1" dirty="0">
                  <a:latin typeface="Cambria Math"/>
                  <a:ea typeface="Cambria Math"/>
                  <a:cs typeface="Cambria Math"/>
                </a:endParaRPr>
              </a:p>
            </p:txBody>
          </p:sp>
        </mc:Choice>
        <mc:Fallback xmlns="">
          <p:sp>
            <p:nvSpPr>
              <p:cNvPr id="10" name="TextBox 9">
                <a:extLst>
                  <a:ext uri="{FF2B5EF4-FFF2-40B4-BE49-F238E27FC236}">
                    <a16:creationId xmlns:a16="http://schemas.microsoft.com/office/drawing/2014/main" id="{0AB6A3A1-5A0D-C84F-AC89-57E6782F43E5}"/>
                  </a:ext>
                </a:extLst>
              </p:cNvPr>
              <p:cNvSpPr txBox="1">
                <a:spLocks noRot="1" noChangeAspect="1" noMove="1" noResize="1" noEditPoints="1" noAdjustHandles="1" noChangeArrowheads="1" noChangeShapeType="1" noTextEdit="1"/>
              </p:cNvSpPr>
              <p:nvPr/>
            </p:nvSpPr>
            <p:spPr>
              <a:xfrm>
                <a:off x="1650670" y="1673971"/>
                <a:ext cx="8888480" cy="1643079"/>
              </a:xfrm>
              <a:prstGeom prst="rect">
                <a:avLst/>
              </a:prstGeom>
              <a:blipFill>
                <a:blip r:embed="rId5"/>
                <a:stretch>
                  <a:fillRect l="-1097" t="-3717" r="-343" b="-7435"/>
                </a:stretch>
              </a:blipFill>
            </p:spPr>
            <p:txBody>
              <a:bodyPr/>
              <a:lstStyle/>
              <a:p>
                <a:r>
                  <a:rPr lang="en-US">
                    <a:noFill/>
                  </a:rPr>
                  <a:t> </a:t>
                </a:r>
              </a:p>
            </p:txBody>
          </p:sp>
        </mc:Fallback>
      </mc:AlternateContent>
      <p:sp>
        <p:nvSpPr>
          <p:cNvPr id="11"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a:t>
            </a:r>
            <a:endParaRPr i="1" dirty="0">
              <a:latin typeface="Calibri"/>
              <a:ea typeface="Calibri"/>
              <a:cs typeface="Calibri"/>
              <a:sym typeface="Calibri"/>
            </a:endParaRPr>
          </a:p>
        </p:txBody>
      </p:sp>
    </p:spTree>
    <p:extLst>
      <p:ext uri="{BB962C8B-B14F-4D97-AF65-F5344CB8AC3E}">
        <p14:creationId xmlns:p14="http://schemas.microsoft.com/office/powerpoint/2010/main" val="384035946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3448078818"/>
                  </p:ext>
                </p:extLst>
              </p:nvPr>
            </p:nvGraphicFramePr>
            <p:xfrm>
              <a:off x="2621001" y="520393"/>
              <a:ext cx="7848000" cy="5472000"/>
            </p:xfrm>
            <a:graphic>
              <a:graphicData uri="http://schemas.openxmlformats.org/drawingml/2006/table">
                <a:tbl>
                  <a:tblPr firstRow="1" firstCol="1" bandRow="1"/>
                  <a:tblGrid>
                    <a:gridCol w="1080000">
                      <a:extLst>
                        <a:ext uri="{9D8B030D-6E8A-4147-A177-3AD203B41FA5}">
                          <a16:colId xmlns:a16="http://schemas.microsoft.com/office/drawing/2014/main" val="20000"/>
                        </a:ext>
                      </a:extLst>
                    </a:gridCol>
                    <a:gridCol w="4248000">
                      <a:extLst>
                        <a:ext uri="{9D8B030D-6E8A-4147-A177-3AD203B41FA5}">
                          <a16:colId xmlns:a16="http://schemas.microsoft.com/office/drawing/2014/main" val="20001"/>
                        </a:ext>
                      </a:extLst>
                    </a:gridCol>
                    <a:gridCol w="2520000">
                      <a:extLst>
                        <a:ext uri="{9D8B030D-6E8A-4147-A177-3AD203B41FA5}">
                          <a16:colId xmlns:a16="http://schemas.microsoft.com/office/drawing/2014/main" val="20002"/>
                        </a:ext>
                      </a:extLst>
                    </a:gridCol>
                  </a:tblGrid>
                  <a:tr h="432000">
                    <a:tc>
                      <a:txBody>
                        <a:bodyPr/>
                        <a:lstStyle/>
                        <a:p>
                          <a:pPr algn="ctr">
                            <a:lnSpc>
                              <a:spcPct val="107000"/>
                            </a:lnSpc>
                            <a:spcAft>
                              <a:spcPts val="0"/>
                            </a:spcAft>
                          </a:pPr>
                          <a:r>
                            <a:rPr lang="en-US" sz="2000" b="1" i="0" dirty="0">
                              <a:effectLst/>
                              <a:latin typeface="Verdana"/>
                              <a:ea typeface="Verdana"/>
                              <a:cs typeface="Verdana"/>
                            </a:rPr>
                            <a:t>Step</a:t>
                          </a:r>
                          <a:endParaRPr lang="en-PH" sz="2000" i="1"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7000"/>
                            </a:lnSpc>
                            <a:spcAft>
                              <a:spcPts val="0"/>
                            </a:spcAft>
                          </a:pPr>
                          <a:r>
                            <a:rPr lang="en-US" sz="2000" b="1" i="0" dirty="0">
                              <a:effectLst/>
                              <a:latin typeface="Verdana"/>
                              <a:ea typeface="Verdana"/>
                              <a:cs typeface="Verdana"/>
                            </a:rPr>
                            <a:t>Expression</a:t>
                          </a:r>
                          <a:endParaRPr lang="en-PH" sz="2000" i="1"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7000"/>
                            </a:lnSpc>
                            <a:spcAft>
                              <a:spcPts val="0"/>
                            </a:spcAft>
                          </a:pPr>
                          <a:r>
                            <a:rPr lang="en-US" sz="2000" b="1" i="0" dirty="0">
                              <a:effectLst/>
                              <a:latin typeface="Verdana"/>
                              <a:ea typeface="Verdana"/>
                              <a:cs typeface="Verdana"/>
                            </a:rPr>
                            <a:t>Explain the Step</a:t>
                          </a:r>
                          <a:endParaRPr lang="en-PH" sz="2000" i="1"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720000">
                    <a:tc>
                      <a:txBody>
                        <a:bodyPr/>
                        <a:lstStyle/>
                        <a:p>
                          <a:pPr algn="ctr">
                            <a:lnSpc>
                              <a:spcPct val="107000"/>
                            </a:lnSpc>
                            <a:spcAft>
                              <a:spcPts val="0"/>
                            </a:spcAft>
                          </a:pPr>
                          <a:r>
                            <a:rPr lang="en-US" sz="2000" i="0" dirty="0">
                              <a:solidFill>
                                <a:srgbClr val="FF0000"/>
                              </a:solidFill>
                              <a:effectLst/>
                              <a:latin typeface="Verdana"/>
                              <a:ea typeface="Verdana"/>
                              <a:cs typeface="Verdana"/>
                            </a:rPr>
                            <a:t> </a:t>
                          </a:r>
                          <a:endParaRPr lang="en-PH" sz="2000" i="1"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d>
                                  <m:dPr>
                                    <m:begChr m:val="|"/>
                                    <m:endChr m:val="|"/>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−11.591</m:t>
                                    </m:r>
                                  </m:e>
                                </m:d>
                                <m:r>
                                  <a:rPr lang="en-US" sz="2000" i="1">
                                    <a:effectLst/>
                                    <a:latin typeface="Cambria Math"/>
                                    <a:ea typeface="Verdana"/>
                                    <a:cs typeface="Verdana"/>
                                  </a:rPr>
                                  <m:t>+15−</m:t>
                                </m:r>
                                <m:sSup>
                                  <m:sSupPr>
                                    <m:ctrlPr>
                                      <a:rPr lang="en-PH" sz="2000" i="1">
                                        <a:effectLst/>
                                        <a:latin typeface="Cambria Math" panose="02040503050406030204" pitchFamily="18" charset="0"/>
                                        <a:ea typeface="Verdana"/>
                                        <a:cs typeface="Verdana"/>
                                      </a:rPr>
                                    </m:ctrlPr>
                                  </m:sSupPr>
                                  <m:e>
                                    <m:d>
                                      <m:dPr>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−3.1</m:t>
                                        </m:r>
                                      </m:e>
                                    </m:d>
                                  </m:e>
                                  <m:sup>
                                    <m:r>
                                      <a:rPr lang="en-US" sz="2000" i="1">
                                        <a:effectLst/>
                                        <a:latin typeface="Cambria Math"/>
                                        <a:ea typeface="Verdana"/>
                                        <a:cs typeface="Verdana"/>
                                      </a:rPr>
                                      <m:t>2</m:t>
                                    </m:r>
                                  </m:sup>
                                </m:sSup>
                              </m:oMath>
                            </m:oMathPara>
                          </a14:m>
                          <a:endParaRPr lang="en-PH" sz="2000" i="1"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2000" i="0">
                              <a:solidFill>
                                <a:srgbClr val="FF0000"/>
                              </a:solidFill>
                              <a:effectLst/>
                              <a:latin typeface="Verdana"/>
                              <a:ea typeface="Verdana"/>
                              <a:cs typeface="Verdana"/>
                            </a:rPr>
                            <a:t> </a:t>
                          </a:r>
                          <a:endParaRPr lang="en-PH" sz="2000" i="1">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20000">
                    <a:tc>
                      <a:txBody>
                        <a:bodyPr/>
                        <a:lstStyle/>
                        <a:p>
                          <a:pPr algn="ctr">
                            <a:lnSpc>
                              <a:spcPct val="107000"/>
                            </a:lnSpc>
                            <a:spcAft>
                              <a:spcPts val="0"/>
                            </a:spcAft>
                          </a:pPr>
                          <a:r>
                            <a:rPr lang="en-US" sz="2000" i="0">
                              <a:solidFill>
                                <a:srgbClr val="FF0000"/>
                              </a:solidFill>
                              <a:effectLst/>
                              <a:latin typeface="Verdana"/>
                              <a:ea typeface="Verdana"/>
                              <a:cs typeface="Verdana"/>
                            </a:rPr>
                            <a:t> </a:t>
                          </a:r>
                          <a:endParaRPr lang="en-PH" sz="2000" i="1">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11.591+15−9.61</m:t>
                                </m:r>
                              </m:oMath>
                            </m:oMathPara>
                          </a14:m>
                          <a:endParaRPr lang="en-PH" sz="2000" i="1"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2000" i="0" dirty="0">
                              <a:solidFill>
                                <a:srgbClr val="FF0000"/>
                              </a:solidFill>
                              <a:effectLst/>
                              <a:latin typeface="Verdana"/>
                              <a:ea typeface="Verdana"/>
                              <a:cs typeface="Verdana"/>
                            </a:rPr>
                            <a:t> </a:t>
                          </a:r>
                          <a:endParaRPr lang="en-PH" sz="2000" i="1"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20000">
                    <a:tc>
                      <a:txBody>
                        <a:bodyPr/>
                        <a:lstStyle/>
                        <a:p>
                          <a:pPr algn="ctr">
                            <a:lnSpc>
                              <a:spcPct val="107000"/>
                            </a:lnSpc>
                            <a:spcAft>
                              <a:spcPts val="0"/>
                            </a:spcAft>
                          </a:pPr>
                          <a:r>
                            <a:rPr lang="en-US" sz="2000" i="0" dirty="0">
                              <a:solidFill>
                                <a:srgbClr val="FF0000"/>
                              </a:solidFill>
                              <a:effectLst/>
                              <a:latin typeface="Verdana"/>
                              <a:ea typeface="Verdana"/>
                              <a:cs typeface="Verdana"/>
                            </a:rPr>
                            <a:t> </a:t>
                          </a:r>
                          <a:endParaRPr lang="en-PH" sz="2000" i="1"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11.591+15−</m:t>
                                </m:r>
                                <m:sSup>
                                  <m:sSupPr>
                                    <m:ctrlPr>
                                      <a:rPr lang="en-PH" sz="2000" i="1">
                                        <a:effectLst/>
                                        <a:latin typeface="Cambria Math" panose="02040503050406030204" pitchFamily="18" charset="0"/>
                                        <a:ea typeface="Verdana"/>
                                        <a:cs typeface="Verdana"/>
                                      </a:rPr>
                                    </m:ctrlPr>
                                  </m:sSupPr>
                                  <m:e>
                                    <m:d>
                                      <m:dPr>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−3.1</m:t>
                                        </m:r>
                                      </m:e>
                                    </m:d>
                                  </m:e>
                                  <m:sup>
                                    <m:r>
                                      <a:rPr lang="en-US" sz="2000" i="1">
                                        <a:effectLst/>
                                        <a:latin typeface="Cambria Math"/>
                                        <a:ea typeface="Verdana"/>
                                        <a:cs typeface="Verdana"/>
                                      </a:rPr>
                                      <m:t>2</m:t>
                                    </m:r>
                                  </m:sup>
                                </m:sSup>
                              </m:oMath>
                            </m:oMathPara>
                          </a14:m>
                          <a:endParaRPr lang="en-PH" sz="2000" i="1"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2000" i="0" dirty="0">
                              <a:solidFill>
                                <a:srgbClr val="FF0000"/>
                              </a:solidFill>
                              <a:effectLst/>
                              <a:latin typeface="Verdana"/>
                              <a:ea typeface="Verdana"/>
                              <a:cs typeface="Verdana"/>
                            </a:rPr>
                            <a:t> </a:t>
                          </a:r>
                          <a:endParaRPr lang="en-PH" sz="2000" i="1"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720000">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1</m:t>
                                </m:r>
                              </m:oMath>
                            </m:oMathPara>
                          </a14:m>
                          <a:endParaRPr lang="en-PH" sz="2000" i="1"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d>
                                  <m:dPr>
                                    <m:begChr m:val="|"/>
                                    <m:endChr m:val="|"/>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18.2+</m:t>
                                    </m:r>
                                    <m:sSup>
                                      <m:sSupPr>
                                        <m:ctrlPr>
                                          <a:rPr lang="en-PH" sz="2000" i="1">
                                            <a:effectLst/>
                                            <a:latin typeface="Cambria Math" panose="02040503050406030204" pitchFamily="18" charset="0"/>
                                            <a:ea typeface="Verdana"/>
                                            <a:cs typeface="Verdana"/>
                                          </a:rPr>
                                        </m:ctrlPr>
                                      </m:sSupPr>
                                      <m:e>
                                        <m:d>
                                          <m:dPr>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−3.1</m:t>
                                            </m:r>
                                          </m:e>
                                        </m:d>
                                      </m:e>
                                      <m:sup>
                                        <m:r>
                                          <a:rPr lang="en-US" sz="2000" i="1">
                                            <a:effectLst/>
                                            <a:latin typeface="Cambria Math"/>
                                            <a:ea typeface="Verdana"/>
                                            <a:cs typeface="Verdana"/>
                                          </a:rPr>
                                          <m:t>3</m:t>
                                        </m:r>
                                      </m:sup>
                                    </m:sSup>
                                  </m:e>
                                </m:d>
                                <m:r>
                                  <a:rPr lang="en-US" sz="2000" i="1">
                                    <a:effectLst/>
                                    <a:latin typeface="Cambria Math"/>
                                    <a:ea typeface="Verdana"/>
                                    <a:cs typeface="Verdana"/>
                                  </a:rPr>
                                  <m:t>+15−</m:t>
                                </m:r>
                                <m:sSup>
                                  <m:sSupPr>
                                    <m:ctrlPr>
                                      <a:rPr lang="en-PH" sz="2000" i="1">
                                        <a:effectLst/>
                                        <a:latin typeface="Cambria Math" panose="02040503050406030204" pitchFamily="18" charset="0"/>
                                        <a:ea typeface="Verdana"/>
                                        <a:cs typeface="Verdana"/>
                                      </a:rPr>
                                    </m:ctrlPr>
                                  </m:sSupPr>
                                  <m:e>
                                    <m:d>
                                      <m:dPr>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−3.1</m:t>
                                        </m:r>
                                      </m:e>
                                    </m:d>
                                  </m:e>
                                  <m:sup>
                                    <m:r>
                                      <a:rPr lang="en-US" sz="2000" i="1">
                                        <a:effectLst/>
                                        <a:latin typeface="Cambria Math"/>
                                        <a:ea typeface="Verdana"/>
                                        <a:cs typeface="Verdana"/>
                                      </a:rPr>
                                      <m:t>2</m:t>
                                    </m:r>
                                  </m:sup>
                                </m:sSup>
                              </m:oMath>
                            </m:oMathPara>
                          </a14:m>
                          <a:endParaRPr lang="en-PH" sz="2000" i="1"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2000" i="0">
                              <a:effectLst/>
                              <a:latin typeface="Verdana"/>
                              <a:ea typeface="Verdana"/>
                              <a:cs typeface="Verdana"/>
                            </a:rPr>
                            <a:t>Original expression</a:t>
                          </a:r>
                          <a:endParaRPr lang="en-PH" sz="2000" i="1">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720000">
                    <a:tc>
                      <a:txBody>
                        <a:bodyPr/>
                        <a:lstStyle/>
                        <a:p>
                          <a:pPr algn="ctr">
                            <a:lnSpc>
                              <a:spcPct val="107000"/>
                            </a:lnSpc>
                            <a:spcAft>
                              <a:spcPts val="0"/>
                            </a:spcAft>
                          </a:pPr>
                          <a:r>
                            <a:rPr lang="en-US" sz="2000" i="0" dirty="0">
                              <a:solidFill>
                                <a:srgbClr val="FF0000"/>
                              </a:solidFill>
                              <a:effectLst/>
                              <a:latin typeface="Verdana"/>
                              <a:ea typeface="Verdana"/>
                              <a:cs typeface="Verdana"/>
                            </a:rPr>
                            <a:t> </a:t>
                          </a:r>
                          <a:endParaRPr lang="en-PH" sz="2000" i="1"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26.591−9.61</m:t>
                                </m:r>
                              </m:oMath>
                            </m:oMathPara>
                          </a14:m>
                          <a:endParaRPr lang="en-PH" sz="2000" i="1"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2000" i="0" dirty="0">
                              <a:solidFill>
                                <a:srgbClr val="FF0000"/>
                              </a:solidFill>
                              <a:effectLst/>
                              <a:latin typeface="Verdana"/>
                              <a:ea typeface="Verdana"/>
                              <a:cs typeface="Verdana"/>
                            </a:rPr>
                            <a:t> </a:t>
                          </a:r>
                          <a:endParaRPr lang="en-PH" sz="2000" i="1"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720000">
                    <a:tc>
                      <a:txBody>
                        <a:bodyPr/>
                        <a:lstStyle/>
                        <a:p>
                          <a:pPr algn="ctr">
                            <a:lnSpc>
                              <a:spcPct val="107000"/>
                            </a:lnSpc>
                            <a:spcAft>
                              <a:spcPts val="0"/>
                            </a:spcAft>
                          </a:pPr>
                          <a:r>
                            <a:rPr lang="en-US" sz="2000" i="0">
                              <a:solidFill>
                                <a:srgbClr val="FF0000"/>
                              </a:solidFill>
                              <a:effectLst/>
                              <a:latin typeface="Verdana"/>
                              <a:ea typeface="Verdana"/>
                              <a:cs typeface="Verdana"/>
                            </a:rPr>
                            <a:t> </a:t>
                          </a:r>
                          <a:endParaRPr lang="en-PH" sz="2000" i="1">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d>
                                  <m:dPr>
                                    <m:begChr m:val="|"/>
                                    <m:endChr m:val="|"/>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18.2+</m:t>
                                    </m:r>
                                    <m:d>
                                      <m:dPr>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−29.791</m:t>
                                        </m:r>
                                      </m:e>
                                    </m:d>
                                  </m:e>
                                </m:d>
                                <m:r>
                                  <a:rPr lang="en-US" sz="2000" i="1">
                                    <a:effectLst/>
                                    <a:latin typeface="Cambria Math"/>
                                    <a:ea typeface="Verdana"/>
                                    <a:cs typeface="Verdana"/>
                                  </a:rPr>
                                  <m:t>+15−</m:t>
                                </m:r>
                                <m:sSup>
                                  <m:sSupPr>
                                    <m:ctrlPr>
                                      <a:rPr lang="en-PH" sz="2000" i="1">
                                        <a:effectLst/>
                                        <a:latin typeface="Cambria Math" panose="02040503050406030204" pitchFamily="18" charset="0"/>
                                        <a:ea typeface="Verdana"/>
                                        <a:cs typeface="Verdana"/>
                                      </a:rPr>
                                    </m:ctrlPr>
                                  </m:sSupPr>
                                  <m:e>
                                    <m:d>
                                      <m:dPr>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−3.1</m:t>
                                        </m:r>
                                      </m:e>
                                    </m:d>
                                  </m:e>
                                  <m:sup>
                                    <m:r>
                                      <a:rPr lang="en-US" sz="2000" i="1">
                                        <a:effectLst/>
                                        <a:latin typeface="Cambria Math"/>
                                        <a:ea typeface="Verdana"/>
                                        <a:cs typeface="Verdana"/>
                                      </a:rPr>
                                      <m:t>2</m:t>
                                    </m:r>
                                  </m:sup>
                                </m:sSup>
                              </m:oMath>
                            </m:oMathPara>
                          </a14:m>
                          <a:endParaRPr lang="en-PH" sz="2000" i="1"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2000" i="0" dirty="0">
                              <a:solidFill>
                                <a:srgbClr val="FF0000"/>
                              </a:solidFill>
                              <a:effectLst/>
                              <a:latin typeface="Verdana"/>
                              <a:ea typeface="Verdana"/>
                              <a:cs typeface="Verdana"/>
                            </a:rPr>
                            <a:t> </a:t>
                          </a:r>
                          <a:endParaRPr lang="en-PH" sz="2000" i="1"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720000">
                    <a:tc>
                      <a:txBody>
                        <a:bodyPr/>
                        <a:lstStyle/>
                        <a:p>
                          <a:pPr algn="ctr">
                            <a:lnSpc>
                              <a:spcPct val="107000"/>
                            </a:lnSpc>
                            <a:spcAft>
                              <a:spcPts val="0"/>
                            </a:spcAft>
                          </a:pPr>
                          <a:r>
                            <a:rPr lang="en-US" sz="2000" i="0">
                              <a:solidFill>
                                <a:srgbClr val="FF0000"/>
                              </a:solidFill>
                              <a:effectLst/>
                              <a:latin typeface="Verdana"/>
                              <a:ea typeface="Verdana"/>
                              <a:cs typeface="Verdana"/>
                            </a:rPr>
                            <a:t> </a:t>
                          </a:r>
                          <a:endParaRPr lang="en-PH" sz="2000" i="1">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16.981</m:t>
                                </m:r>
                              </m:oMath>
                            </m:oMathPara>
                          </a14:m>
                          <a:endParaRPr lang="en-PH" sz="2000" i="1"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2000" i="0" dirty="0">
                              <a:solidFill>
                                <a:srgbClr val="FF0000"/>
                              </a:solidFill>
                              <a:effectLst/>
                              <a:latin typeface="Verdana"/>
                              <a:ea typeface="Verdana"/>
                              <a:cs typeface="Verdana"/>
                            </a:rPr>
                            <a:t> </a:t>
                          </a:r>
                          <a:endParaRPr lang="en-PH" sz="2000" i="1"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3448078818"/>
                  </p:ext>
                </p:extLst>
              </p:nvPr>
            </p:nvGraphicFramePr>
            <p:xfrm>
              <a:off x="2621001" y="520393"/>
              <a:ext cx="7848000" cy="5478758"/>
            </p:xfrm>
            <a:graphic>
              <a:graphicData uri="http://schemas.openxmlformats.org/drawingml/2006/table">
                <a:tbl>
                  <a:tblPr firstRow="1" firstCol="1" bandRow="1"/>
                  <a:tblGrid>
                    <a:gridCol w="1080000">
                      <a:extLst>
                        <a:ext uri="{9D8B030D-6E8A-4147-A177-3AD203B41FA5}">
                          <a16:colId xmlns:a16="http://schemas.microsoft.com/office/drawing/2014/main" val="20000"/>
                        </a:ext>
                      </a:extLst>
                    </a:gridCol>
                    <a:gridCol w="4248000">
                      <a:extLst>
                        <a:ext uri="{9D8B030D-6E8A-4147-A177-3AD203B41FA5}">
                          <a16:colId xmlns:a16="http://schemas.microsoft.com/office/drawing/2014/main" val="20001"/>
                        </a:ext>
                      </a:extLst>
                    </a:gridCol>
                    <a:gridCol w="2520000">
                      <a:extLst>
                        <a:ext uri="{9D8B030D-6E8A-4147-A177-3AD203B41FA5}">
                          <a16:colId xmlns:a16="http://schemas.microsoft.com/office/drawing/2014/main" val="20002"/>
                        </a:ext>
                      </a:extLst>
                    </a:gridCol>
                  </a:tblGrid>
                  <a:tr h="432000">
                    <a:tc>
                      <a:txBody>
                        <a:bodyPr/>
                        <a:lstStyle/>
                        <a:p>
                          <a:pPr algn="ctr">
                            <a:lnSpc>
                              <a:spcPct val="107000"/>
                            </a:lnSpc>
                            <a:spcAft>
                              <a:spcPts val="0"/>
                            </a:spcAft>
                          </a:pPr>
                          <a:r>
                            <a:rPr lang="en-US" sz="2000" b="1" i="0" dirty="0">
                              <a:effectLst/>
                              <a:latin typeface="Verdana"/>
                              <a:ea typeface="Verdana"/>
                              <a:cs typeface="Verdana"/>
                            </a:rPr>
                            <a:t>Step</a:t>
                          </a:r>
                          <a:endParaRPr lang="en-PH" sz="2000" i="1"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7000"/>
                            </a:lnSpc>
                            <a:spcAft>
                              <a:spcPts val="0"/>
                            </a:spcAft>
                          </a:pPr>
                          <a:r>
                            <a:rPr lang="en-US" sz="2000" b="1" i="0" dirty="0">
                              <a:effectLst/>
                              <a:latin typeface="Verdana"/>
                              <a:ea typeface="Verdana"/>
                              <a:cs typeface="Verdana"/>
                            </a:rPr>
                            <a:t>Expression</a:t>
                          </a:r>
                          <a:endParaRPr lang="en-PH" sz="2000" i="1"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tc>
                      <a:txBody>
                        <a:bodyPr/>
                        <a:lstStyle/>
                        <a:p>
                          <a:pPr algn="ctr">
                            <a:lnSpc>
                              <a:spcPct val="107000"/>
                            </a:lnSpc>
                            <a:spcAft>
                              <a:spcPts val="0"/>
                            </a:spcAft>
                          </a:pPr>
                          <a:r>
                            <a:rPr lang="en-US" sz="2000" b="1" i="0" dirty="0">
                              <a:effectLst/>
                              <a:latin typeface="Verdana"/>
                              <a:ea typeface="Verdana"/>
                              <a:cs typeface="Verdana"/>
                            </a:rPr>
                            <a:t>Explain the Step</a:t>
                          </a:r>
                          <a:endParaRPr lang="en-PH" sz="2000" i="1"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bg1">
                            <a:lumMod val="75000"/>
                          </a:schemeClr>
                        </a:solidFill>
                      </a:tcPr>
                    </a:tc>
                    <a:extLst>
                      <a:ext uri="{0D108BD9-81ED-4DB2-BD59-A6C34878D82A}">
                        <a16:rowId xmlns:a16="http://schemas.microsoft.com/office/drawing/2014/main" val="10000"/>
                      </a:ext>
                    </a:extLst>
                  </a:tr>
                  <a:tr h="720000">
                    <a:tc>
                      <a:txBody>
                        <a:bodyPr/>
                        <a:lstStyle/>
                        <a:p>
                          <a:pPr algn="ctr">
                            <a:lnSpc>
                              <a:spcPct val="107000"/>
                            </a:lnSpc>
                            <a:spcAft>
                              <a:spcPts val="0"/>
                            </a:spcAft>
                          </a:pPr>
                          <a:r>
                            <a:rPr lang="en-US" sz="2000" i="0" dirty="0">
                              <a:solidFill>
                                <a:srgbClr val="FF0000"/>
                              </a:solidFill>
                              <a:effectLst/>
                              <a:latin typeface="Verdana"/>
                              <a:ea typeface="Verdana"/>
                              <a:cs typeface="Verdana"/>
                            </a:rPr>
                            <a:t> </a:t>
                          </a:r>
                          <a:endParaRPr lang="en-PH" sz="2000" i="1"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25672" t="-63158" r="-60000" b="-603509"/>
                          </a:stretch>
                        </a:blipFill>
                      </a:tcPr>
                    </a:tc>
                    <a:tc>
                      <a:txBody>
                        <a:bodyPr/>
                        <a:lstStyle/>
                        <a:p>
                          <a:pPr algn="ctr">
                            <a:lnSpc>
                              <a:spcPct val="107000"/>
                            </a:lnSpc>
                            <a:spcAft>
                              <a:spcPts val="0"/>
                            </a:spcAft>
                          </a:pPr>
                          <a:r>
                            <a:rPr lang="en-US" sz="2000" i="0">
                              <a:solidFill>
                                <a:srgbClr val="FF0000"/>
                              </a:solidFill>
                              <a:effectLst/>
                              <a:latin typeface="Verdana"/>
                              <a:ea typeface="Verdana"/>
                              <a:cs typeface="Verdana"/>
                            </a:rPr>
                            <a:t> </a:t>
                          </a:r>
                          <a:endParaRPr lang="en-PH" sz="2000" i="1">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20000">
                    <a:tc>
                      <a:txBody>
                        <a:bodyPr/>
                        <a:lstStyle/>
                        <a:p>
                          <a:pPr algn="ctr">
                            <a:lnSpc>
                              <a:spcPct val="107000"/>
                            </a:lnSpc>
                            <a:spcAft>
                              <a:spcPts val="0"/>
                            </a:spcAft>
                          </a:pPr>
                          <a:r>
                            <a:rPr lang="en-US" sz="2000" i="0">
                              <a:solidFill>
                                <a:srgbClr val="FF0000"/>
                              </a:solidFill>
                              <a:effectLst/>
                              <a:latin typeface="Verdana"/>
                              <a:ea typeface="Verdana"/>
                              <a:cs typeface="Verdana"/>
                            </a:rPr>
                            <a:t> </a:t>
                          </a:r>
                          <a:endParaRPr lang="en-PH" sz="2000" i="1">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25672" t="-163158" r="-60000" b="-503509"/>
                          </a:stretch>
                        </a:blipFill>
                      </a:tcPr>
                    </a:tc>
                    <a:tc>
                      <a:txBody>
                        <a:bodyPr/>
                        <a:lstStyle/>
                        <a:p>
                          <a:pPr algn="ctr">
                            <a:lnSpc>
                              <a:spcPct val="107000"/>
                            </a:lnSpc>
                            <a:spcAft>
                              <a:spcPts val="0"/>
                            </a:spcAft>
                          </a:pPr>
                          <a:r>
                            <a:rPr lang="en-US" sz="2000" i="0" dirty="0">
                              <a:solidFill>
                                <a:srgbClr val="FF0000"/>
                              </a:solidFill>
                              <a:effectLst/>
                              <a:latin typeface="Verdana"/>
                              <a:ea typeface="Verdana"/>
                              <a:cs typeface="Verdana"/>
                            </a:rPr>
                            <a:t> </a:t>
                          </a:r>
                          <a:endParaRPr lang="en-PH" sz="2000" i="1"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20000">
                    <a:tc>
                      <a:txBody>
                        <a:bodyPr/>
                        <a:lstStyle/>
                        <a:p>
                          <a:pPr algn="ctr">
                            <a:lnSpc>
                              <a:spcPct val="107000"/>
                            </a:lnSpc>
                            <a:spcAft>
                              <a:spcPts val="0"/>
                            </a:spcAft>
                          </a:pPr>
                          <a:r>
                            <a:rPr lang="en-US" sz="2000" i="0" dirty="0">
                              <a:solidFill>
                                <a:srgbClr val="FF0000"/>
                              </a:solidFill>
                              <a:effectLst/>
                              <a:latin typeface="Verdana"/>
                              <a:ea typeface="Verdana"/>
                              <a:cs typeface="Verdana"/>
                            </a:rPr>
                            <a:t> </a:t>
                          </a:r>
                          <a:endParaRPr lang="en-PH" sz="2000" i="1"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25672" t="-263158" r="-60000" b="-403509"/>
                          </a:stretch>
                        </a:blipFill>
                      </a:tcPr>
                    </a:tc>
                    <a:tc>
                      <a:txBody>
                        <a:bodyPr/>
                        <a:lstStyle/>
                        <a:p>
                          <a:pPr algn="ctr">
                            <a:lnSpc>
                              <a:spcPct val="107000"/>
                            </a:lnSpc>
                            <a:spcAft>
                              <a:spcPts val="0"/>
                            </a:spcAft>
                          </a:pPr>
                          <a:r>
                            <a:rPr lang="en-US" sz="2000" i="0" dirty="0">
                              <a:solidFill>
                                <a:srgbClr val="FF0000"/>
                              </a:solidFill>
                              <a:effectLst/>
                              <a:latin typeface="Verdana"/>
                              <a:ea typeface="Verdana"/>
                              <a:cs typeface="Verdana"/>
                            </a:rPr>
                            <a:t> </a:t>
                          </a:r>
                          <a:endParaRPr lang="en-PH" sz="2000" i="1"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726758">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176" t="-363158" r="-630588" b="-303509"/>
                          </a:stretch>
                        </a:blipFill>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25672" t="-363158" r="-60000" b="-303509"/>
                          </a:stretch>
                        </a:blipFill>
                      </a:tcPr>
                    </a:tc>
                    <a:tc>
                      <a:txBody>
                        <a:bodyPr/>
                        <a:lstStyle/>
                        <a:p>
                          <a:pPr algn="ctr">
                            <a:lnSpc>
                              <a:spcPct val="107000"/>
                            </a:lnSpc>
                            <a:spcAft>
                              <a:spcPts val="0"/>
                            </a:spcAft>
                          </a:pPr>
                          <a:r>
                            <a:rPr lang="en-US" sz="2000" i="0">
                              <a:effectLst/>
                              <a:latin typeface="Verdana"/>
                              <a:ea typeface="Verdana"/>
                              <a:cs typeface="Verdana"/>
                            </a:rPr>
                            <a:t>Original expression</a:t>
                          </a:r>
                          <a:endParaRPr lang="en-PH" sz="2000" i="1">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720000">
                    <a:tc>
                      <a:txBody>
                        <a:bodyPr/>
                        <a:lstStyle/>
                        <a:p>
                          <a:pPr algn="ctr">
                            <a:lnSpc>
                              <a:spcPct val="107000"/>
                            </a:lnSpc>
                            <a:spcAft>
                              <a:spcPts val="0"/>
                            </a:spcAft>
                          </a:pPr>
                          <a:r>
                            <a:rPr lang="en-US" sz="2000" i="0" dirty="0">
                              <a:solidFill>
                                <a:srgbClr val="FF0000"/>
                              </a:solidFill>
                              <a:effectLst/>
                              <a:latin typeface="Verdana"/>
                              <a:ea typeface="Verdana"/>
                              <a:cs typeface="Verdana"/>
                            </a:rPr>
                            <a:t> </a:t>
                          </a:r>
                          <a:endParaRPr lang="en-PH" sz="2000" i="1"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25672" t="-463158" r="-60000" b="-203509"/>
                          </a:stretch>
                        </a:blipFill>
                      </a:tcPr>
                    </a:tc>
                    <a:tc>
                      <a:txBody>
                        <a:bodyPr/>
                        <a:lstStyle/>
                        <a:p>
                          <a:pPr algn="ctr">
                            <a:lnSpc>
                              <a:spcPct val="107000"/>
                            </a:lnSpc>
                            <a:spcAft>
                              <a:spcPts val="0"/>
                            </a:spcAft>
                          </a:pPr>
                          <a:r>
                            <a:rPr lang="en-US" sz="2000" i="0" dirty="0">
                              <a:solidFill>
                                <a:srgbClr val="FF0000"/>
                              </a:solidFill>
                              <a:effectLst/>
                              <a:latin typeface="Verdana"/>
                              <a:ea typeface="Verdana"/>
                              <a:cs typeface="Verdana"/>
                            </a:rPr>
                            <a:t> </a:t>
                          </a:r>
                          <a:endParaRPr lang="en-PH" sz="2000" i="1"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720000">
                    <a:tc>
                      <a:txBody>
                        <a:bodyPr/>
                        <a:lstStyle/>
                        <a:p>
                          <a:pPr algn="ctr">
                            <a:lnSpc>
                              <a:spcPct val="107000"/>
                            </a:lnSpc>
                            <a:spcAft>
                              <a:spcPts val="0"/>
                            </a:spcAft>
                          </a:pPr>
                          <a:r>
                            <a:rPr lang="en-US" sz="2000" i="0">
                              <a:solidFill>
                                <a:srgbClr val="FF0000"/>
                              </a:solidFill>
                              <a:effectLst/>
                              <a:latin typeface="Verdana"/>
                              <a:ea typeface="Verdana"/>
                              <a:cs typeface="Verdana"/>
                            </a:rPr>
                            <a:t> </a:t>
                          </a:r>
                          <a:endParaRPr lang="en-PH" sz="2000" i="1">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25672" t="-563158" r="-60000" b="-103509"/>
                          </a:stretch>
                        </a:blipFill>
                      </a:tcPr>
                    </a:tc>
                    <a:tc>
                      <a:txBody>
                        <a:bodyPr/>
                        <a:lstStyle/>
                        <a:p>
                          <a:pPr algn="ctr">
                            <a:lnSpc>
                              <a:spcPct val="107000"/>
                            </a:lnSpc>
                            <a:spcAft>
                              <a:spcPts val="0"/>
                            </a:spcAft>
                          </a:pPr>
                          <a:r>
                            <a:rPr lang="en-US" sz="2000" i="0" dirty="0">
                              <a:solidFill>
                                <a:srgbClr val="FF0000"/>
                              </a:solidFill>
                              <a:effectLst/>
                              <a:latin typeface="Verdana"/>
                              <a:ea typeface="Verdana"/>
                              <a:cs typeface="Verdana"/>
                            </a:rPr>
                            <a:t> </a:t>
                          </a:r>
                          <a:endParaRPr lang="en-PH" sz="2000" i="1"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720000">
                    <a:tc>
                      <a:txBody>
                        <a:bodyPr/>
                        <a:lstStyle/>
                        <a:p>
                          <a:pPr algn="ctr">
                            <a:lnSpc>
                              <a:spcPct val="107000"/>
                            </a:lnSpc>
                            <a:spcAft>
                              <a:spcPts val="0"/>
                            </a:spcAft>
                          </a:pPr>
                          <a:r>
                            <a:rPr lang="en-US" sz="2000" i="0">
                              <a:solidFill>
                                <a:srgbClr val="FF0000"/>
                              </a:solidFill>
                              <a:effectLst/>
                              <a:latin typeface="Verdana"/>
                              <a:ea typeface="Verdana"/>
                              <a:cs typeface="Verdana"/>
                            </a:rPr>
                            <a:t> </a:t>
                          </a:r>
                          <a:endParaRPr lang="en-PH" sz="2000" i="1">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endParaRPr lang="en-US"/>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25672" t="-663158" r="-60000" b="-3509"/>
                          </a:stretch>
                        </a:blipFill>
                      </a:tcPr>
                    </a:tc>
                    <a:tc>
                      <a:txBody>
                        <a:bodyPr/>
                        <a:lstStyle/>
                        <a:p>
                          <a:pPr algn="ctr">
                            <a:lnSpc>
                              <a:spcPct val="107000"/>
                            </a:lnSpc>
                            <a:spcAft>
                              <a:spcPts val="0"/>
                            </a:spcAft>
                          </a:pPr>
                          <a:r>
                            <a:rPr lang="en-US" sz="2000" i="0" dirty="0">
                              <a:solidFill>
                                <a:srgbClr val="FF0000"/>
                              </a:solidFill>
                              <a:effectLst/>
                              <a:latin typeface="Verdana"/>
                              <a:ea typeface="Verdana"/>
                              <a:cs typeface="Verdana"/>
                            </a:rPr>
                            <a:t> </a:t>
                          </a:r>
                          <a:endParaRPr lang="en-PH" sz="2000" i="1" dirty="0">
                            <a:effectLst/>
                            <a:latin typeface="Cambria Math"/>
                            <a:ea typeface="Cambria Math"/>
                            <a:cs typeface="Cambria Math"/>
                          </a:endParaRPr>
                        </a:p>
                      </a:txBody>
                      <a:tcPr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mc:Fallback>
      </mc:AlternateContent>
      <p:sp>
        <p:nvSpPr>
          <p:cNvPr id="8"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34</a:t>
            </a:r>
            <a:endParaRPr i="1" dirty="0">
              <a:latin typeface="Calibri"/>
              <a:ea typeface="Calibri"/>
              <a:cs typeface="Calibri"/>
              <a:sym typeface="Calibri"/>
            </a:endParaRPr>
          </a:p>
        </p:txBody>
      </p:sp>
    </p:spTree>
    <p:extLst>
      <p:ext uri="{BB962C8B-B14F-4D97-AF65-F5344CB8AC3E}">
        <p14:creationId xmlns:p14="http://schemas.microsoft.com/office/powerpoint/2010/main" val="32237562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1638795" y="520394"/>
                <a:ext cx="8696106" cy="4867423"/>
              </a:xfrm>
              <a:prstGeom prst="rect">
                <a:avLst/>
              </a:prstGeom>
              <a:noFill/>
            </p:spPr>
            <p:txBody>
              <a:bodyPr wrap="square" rtlCol="0">
                <a:spAutoFit/>
              </a:bodyPr>
              <a:lstStyle/>
              <a:p>
                <a:pPr marL="457200" indent="-457200">
                  <a:lnSpc>
                    <a:spcPct val="107000"/>
                  </a:lnSpc>
                  <a:spcAft>
                    <a:spcPts val="1200"/>
                  </a:spcAft>
                  <a:buFont typeface="+mj-lt"/>
                  <a:buAutoNum type="arabicPeriod" startAt="2"/>
                </a:pPr>
                <a:r>
                  <a:rPr lang="en-US" sz="2400" dirty="0">
                    <a:latin typeface="Verdana" pitchFamily="34" charset="0"/>
                    <a:ea typeface="Verdana" pitchFamily="34" charset="0"/>
                    <a:cs typeface="Verdana"/>
                  </a:rPr>
                  <a:t>Evaluate each expression without using a calculator.</a:t>
                </a:r>
                <a:endParaRPr lang="en-PH" sz="2400" i="1" dirty="0">
                  <a:latin typeface="Verdana" pitchFamily="34" charset="0"/>
                  <a:ea typeface="Verdana" pitchFamily="34" charset="0"/>
                  <a:cs typeface="Verdana"/>
                </a:endParaRPr>
              </a:p>
              <a:p>
                <a:pPr marL="889000" indent="-342900">
                  <a:lnSpc>
                    <a:spcPct val="107000"/>
                  </a:lnSpc>
                  <a:buFont typeface="+mj-lt"/>
                  <a:buAutoNum type="alphaLcPeriod"/>
                </a:pPr>
                <a:r>
                  <a:rPr lang="en-PH" sz="2400" dirty="0">
                    <a:latin typeface="Verdana" pitchFamily="34" charset="0"/>
                    <a:ea typeface="Verdana" pitchFamily="34" charset="0"/>
                    <a:cs typeface="Verdana"/>
                  </a:rPr>
                  <a:t> </a:t>
                </a:r>
                <a14:m>
                  <m:oMath xmlns:m="http://schemas.openxmlformats.org/officeDocument/2006/math">
                    <m:sSup>
                      <m:sSupPr>
                        <m:ctrlPr>
                          <a:rPr lang="en-PH" sz="2400" i="1">
                            <a:latin typeface="Cambria Math" panose="02040503050406030204" pitchFamily="18" charset="0"/>
                            <a:ea typeface="Verdana"/>
                            <a:cs typeface="Verdana"/>
                          </a:rPr>
                        </m:ctrlPr>
                      </m:sSupPr>
                      <m:e>
                        <m:d>
                          <m:dPr>
                            <m:ctrlPr>
                              <a:rPr lang="en-PH" sz="2400" i="1">
                                <a:latin typeface="Cambria Math" panose="02040503050406030204" pitchFamily="18" charset="0"/>
                                <a:ea typeface="Verdana"/>
                                <a:cs typeface="Verdana"/>
                              </a:rPr>
                            </m:ctrlPr>
                          </m:dPr>
                          <m:e>
                            <m:f>
                              <m:fPr>
                                <m:ctrlPr>
                                  <a:rPr lang="en-PH" sz="2400" i="1">
                                    <a:latin typeface="Cambria Math" panose="02040503050406030204" pitchFamily="18" charset="0"/>
                                    <a:ea typeface="Verdana"/>
                                    <a:cs typeface="Verdana"/>
                                  </a:rPr>
                                </m:ctrlPr>
                              </m:fPr>
                              <m:num>
                                <m:r>
                                  <a:rPr lang="en-US" sz="2400" i="1">
                                    <a:latin typeface="Cambria Math"/>
                                    <a:ea typeface="Verdana"/>
                                    <a:cs typeface="Verdana"/>
                                  </a:rPr>
                                  <m:t>3</m:t>
                                </m:r>
                              </m:num>
                              <m:den>
                                <m:r>
                                  <a:rPr lang="en-US" sz="2400" i="1">
                                    <a:latin typeface="Cambria Math"/>
                                    <a:ea typeface="Verdana"/>
                                    <a:cs typeface="Verdana"/>
                                  </a:rPr>
                                  <m:t>4</m:t>
                                </m:r>
                              </m:den>
                            </m:f>
                          </m:e>
                        </m:d>
                      </m:e>
                      <m:sup>
                        <m:r>
                          <a:rPr lang="en-US" sz="2400" i="1">
                            <a:latin typeface="Cambria Math"/>
                            <a:ea typeface="Verdana"/>
                            <a:cs typeface="Verdana"/>
                          </a:rPr>
                          <m:t>2</m:t>
                        </m:r>
                      </m:sup>
                    </m:sSup>
                    <m:r>
                      <a:rPr lang="en-US" sz="2400" i="1">
                        <a:latin typeface="Cambria Math"/>
                        <a:ea typeface="Verdana"/>
                        <a:cs typeface="Verdana"/>
                      </a:rPr>
                      <m:t>×32+</m:t>
                    </m:r>
                    <m:sSup>
                      <m:sSupPr>
                        <m:ctrlPr>
                          <a:rPr lang="en-PH" sz="2400" i="1">
                            <a:latin typeface="Cambria Math" panose="02040503050406030204" pitchFamily="18" charset="0"/>
                            <a:ea typeface="Verdana"/>
                            <a:cs typeface="Verdana"/>
                          </a:rPr>
                        </m:ctrlPr>
                      </m:sSupPr>
                      <m:e>
                        <m:r>
                          <a:rPr lang="en-US" sz="2400" i="1">
                            <a:latin typeface="Cambria Math"/>
                            <a:ea typeface="Verdana"/>
                            <a:cs typeface="Verdana"/>
                          </a:rPr>
                          <m:t>3</m:t>
                        </m:r>
                      </m:e>
                      <m:sup>
                        <m:r>
                          <a:rPr lang="en-US" sz="2400" i="1">
                            <a:latin typeface="Cambria Math"/>
                            <a:ea typeface="Verdana"/>
                            <a:cs typeface="Verdana"/>
                          </a:rPr>
                          <m:t>2</m:t>
                        </m:r>
                      </m:sup>
                    </m:sSup>
                  </m:oMath>
                </a14:m>
                <a:endParaRPr lang="en-PH" sz="2400" i="1" dirty="0">
                  <a:latin typeface="Verdana" pitchFamily="34" charset="0"/>
                  <a:ea typeface="Verdana" pitchFamily="34" charset="0"/>
                  <a:cs typeface="Cambria Math"/>
                </a:endParaRPr>
              </a:p>
              <a:p>
                <a:pPr marL="889000" indent="-342900">
                  <a:lnSpc>
                    <a:spcPct val="107000"/>
                  </a:lnSpc>
                  <a:buFont typeface="+mj-lt"/>
                  <a:buAutoNum type="alphaLcPeriod"/>
                </a:pPr>
                <a:endParaRPr lang="en-PH" sz="2400" dirty="0">
                  <a:latin typeface="Verdana" pitchFamily="34" charset="0"/>
                  <a:ea typeface="Verdana" pitchFamily="34" charset="0"/>
                  <a:cs typeface="Verdana"/>
                </a:endParaRPr>
              </a:p>
              <a:p>
                <a:pPr marL="889000" indent="-342900">
                  <a:lnSpc>
                    <a:spcPct val="107000"/>
                  </a:lnSpc>
                  <a:buFont typeface="+mj-lt"/>
                  <a:buAutoNum type="alphaLcPeriod"/>
                </a:pPr>
                <a:endParaRPr lang="en-PH" sz="2400" dirty="0">
                  <a:latin typeface="Verdana" pitchFamily="34" charset="0"/>
                  <a:ea typeface="Verdana" pitchFamily="34" charset="0"/>
                  <a:cs typeface="Verdana"/>
                </a:endParaRPr>
              </a:p>
              <a:p>
                <a:pPr marL="889000" indent="-342900">
                  <a:lnSpc>
                    <a:spcPct val="107000"/>
                  </a:lnSpc>
                  <a:buFont typeface="+mj-lt"/>
                  <a:buAutoNum type="alphaLcPeriod"/>
                </a:pPr>
                <a:endParaRPr lang="en-PH" sz="2400" dirty="0">
                  <a:latin typeface="Verdana" pitchFamily="34" charset="0"/>
                  <a:ea typeface="Verdana" pitchFamily="34" charset="0"/>
                  <a:cs typeface="Verdana"/>
                </a:endParaRPr>
              </a:p>
              <a:p>
                <a:pPr marL="889000" indent="-342900">
                  <a:lnSpc>
                    <a:spcPct val="107000"/>
                  </a:lnSpc>
                  <a:buFont typeface="+mj-lt"/>
                  <a:buAutoNum type="alphaLcPeriod"/>
                </a:pPr>
                <a:r>
                  <a:rPr lang="en-PH" sz="2400" dirty="0">
                    <a:latin typeface="Verdana" pitchFamily="34" charset="0"/>
                    <a:ea typeface="Verdana" pitchFamily="34" charset="0"/>
                    <a:cs typeface="Verdana"/>
                  </a:rPr>
                  <a:t> </a:t>
                </a:r>
                <a14:m>
                  <m:oMath xmlns:m="http://schemas.openxmlformats.org/officeDocument/2006/math">
                    <m:sSup>
                      <m:sSupPr>
                        <m:ctrlPr>
                          <a:rPr lang="en-PH" sz="2400" i="1">
                            <a:latin typeface="Cambria Math" panose="02040503050406030204" pitchFamily="18" charset="0"/>
                            <a:ea typeface="Verdana"/>
                            <a:cs typeface="Verdana"/>
                          </a:rPr>
                        </m:ctrlPr>
                      </m:sSupPr>
                      <m:e>
                        <m:d>
                          <m:dPr>
                            <m:begChr m:val="["/>
                            <m:endChr m:val="]"/>
                            <m:ctrlPr>
                              <a:rPr lang="en-PH" sz="2400" i="1">
                                <a:latin typeface="Cambria Math" panose="02040503050406030204" pitchFamily="18" charset="0"/>
                                <a:ea typeface="Verdana"/>
                                <a:cs typeface="Verdana"/>
                              </a:rPr>
                            </m:ctrlPr>
                          </m:dPr>
                          <m:e>
                            <m:sSup>
                              <m:sSupPr>
                                <m:ctrlPr>
                                  <a:rPr lang="en-PH" sz="2400" i="1">
                                    <a:latin typeface="Cambria Math" panose="02040503050406030204" pitchFamily="18" charset="0"/>
                                    <a:ea typeface="Verdana"/>
                                    <a:cs typeface="Verdana"/>
                                  </a:rPr>
                                </m:ctrlPr>
                              </m:sSupPr>
                              <m:e>
                                <m:d>
                                  <m:dPr>
                                    <m:ctrlPr>
                                      <a:rPr lang="en-PH" sz="2400" i="1">
                                        <a:latin typeface="Cambria Math" panose="02040503050406030204" pitchFamily="18" charset="0"/>
                                        <a:ea typeface="Verdana"/>
                                        <a:cs typeface="Verdana"/>
                                      </a:rPr>
                                    </m:ctrlPr>
                                  </m:dPr>
                                  <m:e>
                                    <m:r>
                                      <a:rPr lang="en-US" sz="2400" i="1">
                                        <a:latin typeface="Cambria Math"/>
                                        <a:ea typeface="Verdana"/>
                                        <a:cs typeface="Verdana"/>
                                      </a:rPr>
                                      <m:t>10+4.5</m:t>
                                    </m:r>
                                  </m:e>
                                </m:d>
                              </m:e>
                              <m:sup>
                                <m:r>
                                  <a:rPr lang="en-US" sz="2400" i="1">
                                    <a:latin typeface="Cambria Math"/>
                                    <a:ea typeface="Verdana"/>
                                    <a:cs typeface="Verdana"/>
                                  </a:rPr>
                                  <m:t>2</m:t>
                                </m:r>
                              </m:sup>
                            </m:sSup>
                            <m:r>
                              <a:rPr lang="en-US" sz="2400" i="1">
                                <a:latin typeface="Cambria Math"/>
                                <a:ea typeface="Verdana"/>
                                <a:cs typeface="Verdana"/>
                              </a:rPr>
                              <m:t>−10.25</m:t>
                            </m:r>
                          </m:e>
                        </m:d>
                      </m:e>
                      <m:sup>
                        <m:r>
                          <a:rPr lang="en-US" sz="2400" i="1">
                            <a:latin typeface="Cambria Math"/>
                            <a:ea typeface="Verdana"/>
                            <a:cs typeface="Verdana"/>
                          </a:rPr>
                          <m:t>2</m:t>
                        </m:r>
                      </m:sup>
                    </m:sSup>
                    <m:r>
                      <a:rPr lang="en-US" sz="2400" i="1">
                        <a:latin typeface="Cambria Math"/>
                        <a:ea typeface="Verdana"/>
                        <a:cs typeface="Verdana"/>
                      </a:rPr>
                      <m:t>÷40</m:t>
                    </m:r>
                  </m:oMath>
                </a14:m>
                <a:endParaRPr lang="en-PH" sz="2400" i="1" dirty="0">
                  <a:latin typeface="Verdana" pitchFamily="34" charset="0"/>
                  <a:ea typeface="Verdana" pitchFamily="34" charset="0"/>
                  <a:cs typeface="Cambria Math"/>
                </a:endParaRPr>
              </a:p>
              <a:p>
                <a:pPr marL="889000" indent="-342900">
                  <a:lnSpc>
                    <a:spcPct val="107000"/>
                  </a:lnSpc>
                  <a:buFont typeface="+mj-lt"/>
                  <a:buAutoNum type="alphaLcPeriod"/>
                </a:pPr>
                <a:endParaRPr lang="en-US" sz="2400" dirty="0">
                  <a:latin typeface="Verdana" pitchFamily="34" charset="0"/>
                  <a:ea typeface="Verdana" pitchFamily="34" charset="0"/>
                  <a:cs typeface="Verdana"/>
                </a:endParaRPr>
              </a:p>
              <a:p>
                <a:pPr marL="889000" indent="-342900">
                  <a:lnSpc>
                    <a:spcPct val="107000"/>
                  </a:lnSpc>
                  <a:buFont typeface="+mj-lt"/>
                  <a:buAutoNum type="alphaLcPeriod"/>
                </a:pPr>
                <a:endParaRPr lang="en-US" sz="2400" dirty="0">
                  <a:latin typeface="Verdana" pitchFamily="34" charset="0"/>
                  <a:ea typeface="Verdana" pitchFamily="34" charset="0"/>
                  <a:cs typeface="Verdana"/>
                </a:endParaRPr>
              </a:p>
              <a:p>
                <a:pPr marL="889000" indent="-342900">
                  <a:lnSpc>
                    <a:spcPct val="107000"/>
                  </a:lnSpc>
                  <a:buFont typeface="+mj-lt"/>
                  <a:buAutoNum type="alphaLcPeriod"/>
                </a:pPr>
                <a:endParaRPr lang="en-US" sz="2400" dirty="0">
                  <a:latin typeface="Verdana" pitchFamily="34" charset="0"/>
                  <a:ea typeface="Verdana" pitchFamily="34" charset="0"/>
                  <a:cs typeface="Verdana"/>
                </a:endParaRPr>
              </a:p>
              <a:p>
                <a:pPr marL="889000" indent="-342900">
                  <a:lnSpc>
                    <a:spcPct val="107000"/>
                  </a:lnSpc>
                  <a:buFont typeface="+mj-lt"/>
                  <a:buAutoNum type="alphaLcPeriod"/>
                </a:pPr>
                <a:r>
                  <a:rPr lang="en-US" sz="2400" dirty="0">
                    <a:latin typeface="Verdana" pitchFamily="34" charset="0"/>
                    <a:ea typeface="Verdana" pitchFamily="34" charset="0"/>
                    <a:cs typeface="Verdana"/>
                  </a:rPr>
                  <a:t> </a:t>
                </a:r>
                <a14:m>
                  <m:oMath xmlns:m="http://schemas.openxmlformats.org/officeDocument/2006/math">
                    <m:r>
                      <a:rPr lang="en-US" sz="2400" i="1">
                        <a:latin typeface="Cambria Math"/>
                        <a:ea typeface="Verdana"/>
                        <a:cs typeface="Verdana"/>
                      </a:rPr>
                      <m:t>6.7−</m:t>
                    </m:r>
                    <m:sSup>
                      <m:sSupPr>
                        <m:ctrlPr>
                          <a:rPr lang="en-PH" sz="2400" i="1">
                            <a:latin typeface="Cambria Math" panose="02040503050406030204" pitchFamily="18" charset="0"/>
                            <a:ea typeface="Verdana"/>
                            <a:cs typeface="Verdana"/>
                          </a:rPr>
                        </m:ctrlPr>
                      </m:sSupPr>
                      <m:e>
                        <m:d>
                          <m:dPr>
                            <m:ctrlPr>
                              <a:rPr lang="en-PH" sz="2400" i="1">
                                <a:latin typeface="Cambria Math" panose="02040503050406030204" pitchFamily="18" charset="0"/>
                                <a:ea typeface="Verdana"/>
                                <a:cs typeface="Verdana"/>
                              </a:rPr>
                            </m:ctrlPr>
                          </m:dPr>
                          <m:e>
                            <m:sSup>
                              <m:sSupPr>
                                <m:ctrlPr>
                                  <a:rPr lang="en-PH" sz="2400" i="1">
                                    <a:latin typeface="Cambria Math" panose="02040503050406030204" pitchFamily="18" charset="0"/>
                                    <a:ea typeface="Verdana"/>
                                    <a:cs typeface="Verdana"/>
                                  </a:rPr>
                                </m:ctrlPr>
                              </m:sSupPr>
                              <m:e>
                                <m:r>
                                  <a:rPr lang="en-US" sz="2400" i="1">
                                    <a:latin typeface="Cambria Math"/>
                                    <a:ea typeface="Verdana"/>
                                    <a:cs typeface="Verdana"/>
                                  </a:rPr>
                                  <m:t>2</m:t>
                                </m:r>
                              </m:e>
                              <m:sup>
                                <m:r>
                                  <a:rPr lang="en-US" sz="2400" i="1">
                                    <a:latin typeface="Cambria Math"/>
                                    <a:ea typeface="Verdana"/>
                                    <a:cs typeface="Verdana"/>
                                  </a:rPr>
                                  <m:t>3</m:t>
                                </m:r>
                              </m:sup>
                            </m:sSup>
                            <m:r>
                              <a:rPr lang="en-US" sz="2400" i="1">
                                <a:latin typeface="Cambria Math"/>
                                <a:ea typeface="Verdana"/>
                                <a:cs typeface="Verdana"/>
                              </a:rPr>
                              <m:t>−3</m:t>
                            </m:r>
                          </m:e>
                        </m:d>
                      </m:e>
                      <m:sup>
                        <m:r>
                          <a:rPr lang="en-US" sz="2400" i="1">
                            <a:latin typeface="Cambria Math"/>
                            <a:ea typeface="Verdana"/>
                            <a:cs typeface="Verdana"/>
                          </a:rPr>
                          <m:t>3</m:t>
                        </m:r>
                      </m:sup>
                    </m:sSup>
                    <m:r>
                      <a:rPr lang="en-US" sz="2400" i="1">
                        <a:latin typeface="Cambria Math"/>
                        <a:ea typeface="Verdana"/>
                        <a:cs typeface="Verdana"/>
                      </a:rPr>
                      <m:t>÷10+4</m:t>
                    </m:r>
                  </m:oMath>
                </a14:m>
                <a:endParaRPr lang="en-PH" sz="2400" i="1" dirty="0">
                  <a:latin typeface="Verdana" pitchFamily="34" charset="0"/>
                  <a:ea typeface="Verdana" pitchFamily="34" charset="0"/>
                  <a:cs typeface="Cambria Math"/>
                </a:endParaRP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1638795" y="520394"/>
                <a:ext cx="8696106" cy="4867423"/>
              </a:xfrm>
              <a:prstGeom prst="rect">
                <a:avLst/>
              </a:prstGeom>
              <a:blipFill>
                <a:blip r:embed="rId4"/>
                <a:stretch>
                  <a:fillRect l="-1122" t="-1252" b="-1126"/>
                </a:stretch>
              </a:blipFill>
            </p:spPr>
            <p:txBody>
              <a:bodyPr/>
              <a:lstStyle/>
              <a:p>
                <a:r>
                  <a:rPr lang="en-US">
                    <a:noFill/>
                  </a:rPr>
                  <a:t> </a:t>
                </a:r>
              </a:p>
            </p:txBody>
          </p:sp>
        </mc:Fallback>
      </mc:AlternateContent>
      <p:sp>
        <p:nvSpPr>
          <p:cNvPr id="6" name="Google Shape;282;g104476d1465_1_17"/>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35</a:t>
            </a:r>
            <a:endParaRPr i="1" dirty="0">
              <a:latin typeface="Calibri"/>
              <a:ea typeface="Calibri"/>
              <a:cs typeface="Calibri"/>
              <a:sym typeface="Calibri"/>
            </a:endParaRPr>
          </a:p>
        </p:txBody>
      </p:sp>
    </p:spTree>
    <p:extLst>
      <p:ext uri="{BB962C8B-B14F-4D97-AF65-F5344CB8AC3E}">
        <p14:creationId xmlns:p14="http://schemas.microsoft.com/office/powerpoint/2010/main" val="26664311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pic>
        <p:nvPicPr>
          <p:cNvPr id="5122" name="Picture 2" descr="Icon&#10;&#10;Description automatically generated">
            <a:extLst>
              <a:ext uri="{FF2B5EF4-FFF2-40B4-BE49-F238E27FC236}">
                <a16:creationId xmlns:a16="http://schemas.microsoft.com/office/drawing/2014/main" id="{217F3A92-AA2C-4D41-A73D-4DC6608D6820}"/>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520890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35</a:t>
            </a:r>
            <a:endParaRPr i="1" dirty="0">
              <a:latin typeface="Calibri"/>
              <a:ea typeface="Calibri"/>
              <a:cs typeface="Calibri"/>
              <a:sym typeface="Calibri"/>
            </a:endParaRPr>
          </a:p>
        </p:txBody>
      </p:sp>
    </p:spTree>
    <p:extLst>
      <p:ext uri="{BB962C8B-B14F-4D97-AF65-F5344CB8AC3E}">
        <p14:creationId xmlns:p14="http://schemas.microsoft.com/office/powerpoint/2010/main" val="6380985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2144946" y="264543"/>
            <a:ext cx="840471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8.6.5 Activity: Class Debate</a:t>
            </a:r>
          </a:p>
        </p:txBody>
      </p:sp>
      <p:pic>
        <p:nvPicPr>
          <p:cNvPr id="9" name="Picture 2" descr="Icon&#10;&#10;Description automatically generated">
            <a:extLst>
              <a:ext uri="{FF2B5EF4-FFF2-40B4-BE49-F238E27FC236}">
                <a16:creationId xmlns:a16="http://schemas.microsoft.com/office/drawing/2014/main" id="{37999C4E-6AE0-FA43-BC73-665C08EC572F}"/>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1359513" y="552489"/>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3547ABD-563B-A148-B65C-C7679A7B43D4}"/>
                  </a:ext>
                </a:extLst>
              </p:cNvPr>
              <p:cNvSpPr txBox="1"/>
              <p:nvPr/>
            </p:nvSpPr>
            <p:spPr>
              <a:xfrm>
                <a:off x="1650670" y="1663649"/>
                <a:ext cx="8821412" cy="1247906"/>
              </a:xfrm>
              <a:prstGeom prst="rect">
                <a:avLst/>
              </a:prstGeom>
              <a:noFill/>
            </p:spPr>
            <p:txBody>
              <a:bodyPr wrap="square" rtlCol="0">
                <a:spAutoFit/>
              </a:bodyPr>
              <a:lstStyle/>
              <a:p>
                <a:pPr>
                  <a:lnSpc>
                    <a:spcPct val="107000"/>
                  </a:lnSpc>
                </a:pPr>
                <a:r>
                  <a:rPr lang="en-US" sz="2400" dirty="0">
                    <a:latin typeface="Verdana"/>
                    <a:ea typeface="Verdana"/>
                    <a:cs typeface="Verdana"/>
                  </a:rPr>
                  <a:t>James wants to choose an expression that has a value of </a:t>
                </a:r>
                <a14:m>
                  <m:oMath xmlns:m="http://schemas.openxmlformats.org/officeDocument/2006/math">
                    <m:r>
                      <a:rPr lang="en-US" sz="2400" i="1">
                        <a:latin typeface="Cambria Math"/>
                        <a:ea typeface="Verdana"/>
                        <a:cs typeface="Verdana"/>
                      </a:rPr>
                      <m:t>−778</m:t>
                    </m:r>
                  </m:oMath>
                </a14:m>
                <a:r>
                  <a:rPr lang="en-US" sz="2400" dirty="0">
                    <a:latin typeface="Verdana"/>
                    <a:ea typeface="Verdana"/>
                    <a:cs typeface="Verdana"/>
                  </a:rPr>
                  <a:t>. He can choose between the expressions shown.</a:t>
                </a:r>
                <a:endParaRPr lang="en-PH" sz="2000" i="1" dirty="0">
                  <a:latin typeface="Cambria Math"/>
                  <a:ea typeface="Cambria Math"/>
                  <a:cs typeface="Cambria Math"/>
                </a:endParaRPr>
              </a:p>
            </p:txBody>
          </p:sp>
        </mc:Choice>
        <mc:Fallback xmlns="">
          <p:sp>
            <p:nvSpPr>
              <p:cNvPr id="10" name="TextBox 9">
                <a:extLst>
                  <a:ext uri="{FF2B5EF4-FFF2-40B4-BE49-F238E27FC236}">
                    <a16:creationId xmlns:a16="http://schemas.microsoft.com/office/drawing/2014/main" id="{A3547ABD-563B-A148-B65C-C7679A7B43D4}"/>
                  </a:ext>
                </a:extLst>
              </p:cNvPr>
              <p:cNvSpPr txBox="1">
                <a:spLocks noRot="1" noChangeAspect="1" noMove="1" noResize="1" noEditPoints="1" noAdjustHandles="1" noChangeArrowheads="1" noChangeShapeType="1" noTextEdit="1"/>
              </p:cNvSpPr>
              <p:nvPr/>
            </p:nvSpPr>
            <p:spPr>
              <a:xfrm>
                <a:off x="1650670" y="1663649"/>
                <a:ext cx="8821412" cy="1247906"/>
              </a:xfrm>
              <a:prstGeom prst="rect">
                <a:avLst/>
              </a:prstGeom>
              <a:blipFill>
                <a:blip r:embed="rId5"/>
                <a:stretch>
                  <a:fillRect l="-1106" t="-4878" b="-975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1443293182"/>
                  </p:ext>
                </p:extLst>
              </p:nvPr>
            </p:nvGraphicFramePr>
            <p:xfrm>
              <a:off x="2748750" y="3199501"/>
              <a:ext cx="7200000" cy="2692728"/>
            </p:xfrm>
            <a:graphic>
              <a:graphicData uri="http://schemas.openxmlformats.org/drawingml/2006/table">
                <a:tbl>
                  <a:tblPr firstRow="1" firstCol="1" bandRow="1"/>
                  <a:tblGrid>
                    <a:gridCol w="3600000">
                      <a:extLst>
                        <a:ext uri="{9D8B030D-6E8A-4147-A177-3AD203B41FA5}">
                          <a16:colId xmlns:a16="http://schemas.microsoft.com/office/drawing/2014/main" val="20000"/>
                        </a:ext>
                      </a:extLst>
                    </a:gridCol>
                    <a:gridCol w="3600000">
                      <a:extLst>
                        <a:ext uri="{9D8B030D-6E8A-4147-A177-3AD203B41FA5}">
                          <a16:colId xmlns:a16="http://schemas.microsoft.com/office/drawing/2014/main" val="20001"/>
                        </a:ext>
                      </a:extLst>
                    </a:gridCol>
                  </a:tblGrid>
                  <a:tr h="1440000">
                    <a:tc>
                      <a:txBody>
                        <a:bodyPr/>
                        <a:lstStyle/>
                        <a:p>
                          <a:pPr algn="ctr">
                            <a:lnSpc>
                              <a:spcPct val="107000"/>
                            </a:lnSpc>
                            <a:spcAft>
                              <a:spcPts val="0"/>
                            </a:spcAft>
                          </a:pPr>
                          <a:r>
                            <a:rPr lang="en-US" sz="2000" b="1" i="0" dirty="0">
                              <a:effectLst/>
                              <a:latin typeface="Verdana" pitchFamily="34" charset="0"/>
                              <a:ea typeface="Verdana" pitchFamily="34" charset="0"/>
                              <a:cs typeface="Verdana"/>
                            </a:rPr>
                            <a:t>Expression A</a:t>
                          </a:r>
                          <a:endParaRPr lang="en-PH" sz="2000" i="1" dirty="0">
                            <a:effectLst/>
                            <a:latin typeface="Verdana" pitchFamily="34" charset="0"/>
                            <a:ea typeface="Verdana" pitchFamily="34" charset="0"/>
                            <a:cs typeface="Cambria Math"/>
                          </a:endParaRPr>
                        </a:p>
                        <a:p>
                          <a:pPr algn="ctr">
                            <a:lnSpc>
                              <a:spcPct val="107000"/>
                            </a:lnSpc>
                            <a:spcAft>
                              <a:spcPts val="0"/>
                            </a:spcAft>
                          </a:pPr>
                          <a:r>
                            <a:rPr lang="en-US" sz="2000" i="0" dirty="0">
                              <a:effectLst/>
                              <a:latin typeface="Verdana" pitchFamily="34" charset="0"/>
                              <a:ea typeface="Verdana" pitchFamily="34" charset="0"/>
                              <a:cs typeface="Verdana"/>
                            </a:rPr>
                            <a:t> </a:t>
                          </a:r>
                          <a:endParaRPr lang="en-PH" sz="2000" i="1" dirty="0">
                            <a:effectLst/>
                            <a:latin typeface="Verdana" pitchFamily="34" charset="0"/>
                            <a:ea typeface="Verdana" pitchFamily="34" charset="0"/>
                            <a:cs typeface="Cambria Math"/>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14−</m:t>
                                </m:r>
                                <m:sSup>
                                  <m:sSupPr>
                                    <m:ctrlPr>
                                      <a:rPr lang="en-PH" sz="2000" i="1">
                                        <a:effectLst/>
                                        <a:latin typeface="Cambria Math" panose="02040503050406030204" pitchFamily="18" charset="0"/>
                                        <a:ea typeface="Verdana"/>
                                        <a:cs typeface="Verdana"/>
                                      </a:rPr>
                                    </m:ctrlPr>
                                  </m:sSupPr>
                                  <m:e>
                                    <m:d>
                                      <m:dPr>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10×</m:t>
                                        </m:r>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3</m:t>
                                            </m:r>
                                          </m:e>
                                          <m:sup>
                                            <m:r>
                                              <a:rPr lang="en-US" sz="2000" i="1">
                                                <a:effectLst/>
                                                <a:latin typeface="Cambria Math"/>
                                                <a:ea typeface="Verdana"/>
                                                <a:cs typeface="Verdana"/>
                                              </a:rPr>
                                              <m:t>2</m:t>
                                            </m:r>
                                          </m:sup>
                                        </m:sSup>
                                      </m:e>
                                    </m:d>
                                  </m:e>
                                  <m:sup>
                                    <m:r>
                                      <a:rPr lang="en-US" sz="2000" i="1">
                                        <a:effectLst/>
                                        <a:latin typeface="Cambria Math"/>
                                        <a:ea typeface="Verdana"/>
                                        <a:cs typeface="Verdana"/>
                                      </a:rPr>
                                      <m:t>2</m:t>
                                    </m:r>
                                  </m:sup>
                                </m:sSup>
                                <m:r>
                                  <a:rPr lang="en-US" sz="2000" i="1">
                                    <a:effectLst/>
                                    <a:latin typeface="Cambria Math"/>
                                    <a:ea typeface="Verdana"/>
                                    <a:cs typeface="Verdana"/>
                                  </a:rPr>
                                  <m:t>+6×3</m:t>
                                </m:r>
                              </m:oMath>
                            </m:oMathPara>
                          </a14:m>
                          <a:endParaRPr lang="en-PH" sz="2000" i="1" dirty="0">
                            <a:effectLst/>
                            <a:latin typeface="Verdana" pitchFamily="34" charset="0"/>
                            <a:ea typeface="Verdana" pitchFamily="34" charset="0"/>
                            <a:cs typeface="Cambria Math"/>
                          </a:endParaRPr>
                        </a:p>
                      </a:txBody>
                      <a:tcPr marL="137160" marR="137160" marT="137160" marB="13716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2000" b="1" i="0" dirty="0">
                              <a:effectLst/>
                              <a:latin typeface="Verdana" pitchFamily="34" charset="0"/>
                              <a:ea typeface="Verdana" pitchFamily="34" charset="0"/>
                              <a:cs typeface="Verdana"/>
                            </a:rPr>
                            <a:t>Expression B</a:t>
                          </a:r>
                          <a:endParaRPr lang="en-PH" sz="2000" i="1" dirty="0">
                            <a:effectLst/>
                            <a:latin typeface="Verdana" pitchFamily="34" charset="0"/>
                            <a:ea typeface="Verdana" pitchFamily="34" charset="0"/>
                            <a:cs typeface="Cambria Math"/>
                          </a:endParaRPr>
                        </a:p>
                        <a:p>
                          <a:pPr algn="ctr">
                            <a:lnSpc>
                              <a:spcPct val="107000"/>
                            </a:lnSpc>
                            <a:spcAft>
                              <a:spcPts val="0"/>
                            </a:spcAft>
                          </a:pPr>
                          <a:r>
                            <a:rPr lang="en-US" sz="2000" i="0" dirty="0">
                              <a:effectLst/>
                              <a:latin typeface="Verdana" pitchFamily="34" charset="0"/>
                              <a:ea typeface="Verdana" pitchFamily="34" charset="0"/>
                              <a:cs typeface="Verdana"/>
                            </a:rPr>
                            <a:t> </a:t>
                          </a:r>
                          <a:endParaRPr lang="en-PH" sz="2000" i="1" dirty="0">
                            <a:effectLst/>
                            <a:latin typeface="Verdana" pitchFamily="34" charset="0"/>
                            <a:ea typeface="Verdana" pitchFamily="34" charset="0"/>
                            <a:cs typeface="Cambria Math"/>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14−10×</m:t>
                                </m:r>
                                <m:sSup>
                                  <m:sSupPr>
                                    <m:ctrlPr>
                                      <a:rPr lang="en-PH" sz="2000" i="1">
                                        <a:effectLst/>
                                        <a:latin typeface="Cambria Math" panose="02040503050406030204" pitchFamily="18" charset="0"/>
                                        <a:ea typeface="Verdana"/>
                                        <a:cs typeface="Verdana"/>
                                      </a:rPr>
                                    </m:ctrlPr>
                                  </m:sSupPr>
                                  <m:e>
                                    <m:d>
                                      <m:dPr>
                                        <m:ctrlPr>
                                          <a:rPr lang="en-PH" sz="2000" i="1">
                                            <a:effectLst/>
                                            <a:latin typeface="Cambria Math" panose="02040503050406030204" pitchFamily="18" charset="0"/>
                                            <a:ea typeface="Verdana"/>
                                            <a:cs typeface="Verdana"/>
                                          </a:rPr>
                                        </m:ctrlPr>
                                      </m:dPr>
                                      <m:e>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3</m:t>
                                            </m:r>
                                          </m:e>
                                          <m:sup>
                                            <m:r>
                                              <a:rPr lang="en-US" sz="2000" i="1">
                                                <a:effectLst/>
                                                <a:latin typeface="Cambria Math"/>
                                                <a:ea typeface="Verdana"/>
                                                <a:cs typeface="Verdana"/>
                                              </a:rPr>
                                              <m:t>2</m:t>
                                            </m:r>
                                          </m:sup>
                                        </m:sSup>
                                      </m:e>
                                    </m:d>
                                  </m:e>
                                  <m:sup>
                                    <m:r>
                                      <a:rPr lang="en-US" sz="2000" i="1">
                                        <a:effectLst/>
                                        <a:latin typeface="Cambria Math"/>
                                        <a:ea typeface="Verdana"/>
                                        <a:cs typeface="Verdana"/>
                                      </a:rPr>
                                      <m:t>2</m:t>
                                    </m:r>
                                  </m:sup>
                                </m:sSup>
                                <m:r>
                                  <a:rPr lang="en-US" sz="2000" i="1">
                                    <a:effectLst/>
                                    <a:latin typeface="Cambria Math"/>
                                    <a:ea typeface="Verdana"/>
                                    <a:cs typeface="Verdana"/>
                                  </a:rPr>
                                  <m:t>+6×3</m:t>
                                </m:r>
                              </m:oMath>
                            </m:oMathPara>
                          </a14:m>
                          <a:endParaRPr lang="en-PH" sz="2000" i="1" dirty="0">
                            <a:effectLst/>
                            <a:latin typeface="Verdana" pitchFamily="34" charset="0"/>
                            <a:ea typeface="Verdana" pitchFamily="34" charset="0"/>
                            <a:cs typeface="Cambria Math"/>
                          </a:endParaRPr>
                        </a:p>
                      </a:txBody>
                      <a:tcPr marL="137160" marR="137160" marT="137160" marB="13716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1080000">
                    <a:tc>
                      <a:txBody>
                        <a:bodyPr/>
                        <a:lstStyle/>
                        <a:p>
                          <a:pPr algn="ctr">
                            <a:lnSpc>
                              <a:spcPct val="107000"/>
                            </a:lnSpc>
                            <a:spcAft>
                              <a:spcPts val="0"/>
                            </a:spcAft>
                          </a:pPr>
                          <a:r>
                            <a:rPr lang="en-US" sz="2000" b="1" i="0" dirty="0">
                              <a:effectLst/>
                              <a:latin typeface="Verdana" pitchFamily="34" charset="0"/>
                              <a:ea typeface="Verdana" pitchFamily="34" charset="0"/>
                              <a:cs typeface="Verdana"/>
                            </a:rPr>
                            <a:t>Expression C</a:t>
                          </a:r>
                          <a:endParaRPr lang="en-PH" sz="2000" i="1" dirty="0">
                            <a:effectLst/>
                            <a:latin typeface="Verdana" pitchFamily="34" charset="0"/>
                            <a:ea typeface="Verdana" pitchFamily="34" charset="0"/>
                            <a:cs typeface="Cambria Math"/>
                          </a:endParaRPr>
                        </a:p>
                        <a:p>
                          <a:pPr algn="ctr">
                            <a:lnSpc>
                              <a:spcPct val="107000"/>
                            </a:lnSpc>
                            <a:spcAft>
                              <a:spcPts val="0"/>
                            </a:spcAft>
                          </a:pPr>
                          <a:r>
                            <a:rPr lang="en-US" sz="2000" i="0" dirty="0">
                              <a:effectLst/>
                              <a:latin typeface="Verdana" pitchFamily="34" charset="0"/>
                              <a:ea typeface="Verdana" pitchFamily="34" charset="0"/>
                              <a:cs typeface="Verdana"/>
                            </a:rPr>
                            <a:t> </a:t>
                          </a:r>
                          <a:endParaRPr lang="en-PH" sz="2000" i="1" dirty="0">
                            <a:effectLst/>
                            <a:latin typeface="Verdana" pitchFamily="34" charset="0"/>
                            <a:ea typeface="Verdana" pitchFamily="34" charset="0"/>
                            <a:cs typeface="Cambria Math"/>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d>
                                  <m:dPr>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14−10</m:t>
                                    </m:r>
                                  </m:e>
                                </m:d>
                                <m:r>
                                  <a:rPr lang="en-US" sz="2000" i="1">
                                    <a:effectLst/>
                                    <a:latin typeface="Cambria Math"/>
                                    <a:ea typeface="Verdana"/>
                                    <a:cs typeface="Verdana"/>
                                  </a:rPr>
                                  <m:t>×</m:t>
                                </m:r>
                                <m:sSup>
                                  <m:sSupPr>
                                    <m:ctrlPr>
                                      <a:rPr lang="en-PH" sz="2000" i="1">
                                        <a:effectLst/>
                                        <a:latin typeface="Cambria Math" panose="02040503050406030204" pitchFamily="18" charset="0"/>
                                        <a:ea typeface="Verdana"/>
                                        <a:cs typeface="Verdana"/>
                                      </a:rPr>
                                    </m:ctrlPr>
                                  </m:sSupPr>
                                  <m:e>
                                    <m:d>
                                      <m:dPr>
                                        <m:ctrlPr>
                                          <a:rPr lang="en-PH" sz="2000" i="1">
                                            <a:effectLst/>
                                            <a:latin typeface="Cambria Math" panose="02040503050406030204" pitchFamily="18" charset="0"/>
                                            <a:ea typeface="Verdana"/>
                                            <a:cs typeface="Verdana"/>
                                          </a:rPr>
                                        </m:ctrlPr>
                                      </m:dPr>
                                      <m:e>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3</m:t>
                                            </m:r>
                                          </m:e>
                                          <m:sup>
                                            <m:r>
                                              <a:rPr lang="en-US" sz="2000" i="1">
                                                <a:effectLst/>
                                                <a:latin typeface="Cambria Math"/>
                                                <a:ea typeface="Verdana"/>
                                                <a:cs typeface="Verdana"/>
                                              </a:rPr>
                                              <m:t>2</m:t>
                                            </m:r>
                                          </m:sup>
                                        </m:sSup>
                                        <m:r>
                                          <a:rPr lang="en-US" sz="2000" i="1">
                                            <a:effectLst/>
                                            <a:latin typeface="Cambria Math"/>
                                            <a:ea typeface="Verdana"/>
                                            <a:cs typeface="Verdana"/>
                                          </a:rPr>
                                          <m:t>+6</m:t>
                                        </m:r>
                                      </m:e>
                                    </m:d>
                                  </m:e>
                                  <m:sup>
                                    <m:r>
                                      <a:rPr lang="en-US" sz="2000" i="1">
                                        <a:effectLst/>
                                        <a:latin typeface="Cambria Math"/>
                                        <a:ea typeface="Verdana"/>
                                        <a:cs typeface="Verdana"/>
                                      </a:rPr>
                                      <m:t>2</m:t>
                                    </m:r>
                                  </m:sup>
                                </m:sSup>
                                <m:r>
                                  <a:rPr lang="en-US" sz="2000" i="1">
                                    <a:effectLst/>
                                    <a:latin typeface="Cambria Math"/>
                                    <a:ea typeface="Verdana"/>
                                    <a:cs typeface="Verdana"/>
                                  </a:rPr>
                                  <m:t>×3</m:t>
                                </m:r>
                              </m:oMath>
                            </m:oMathPara>
                          </a14:m>
                          <a:endParaRPr lang="en-PH" sz="2000" i="1" dirty="0">
                            <a:effectLst/>
                            <a:latin typeface="Verdana" pitchFamily="34" charset="0"/>
                            <a:ea typeface="Verdana" pitchFamily="34" charset="0"/>
                            <a:cs typeface="Cambria Math"/>
                          </a:endParaRPr>
                        </a:p>
                      </a:txBody>
                      <a:tcPr marL="137160" marR="137160" marT="137160" marB="13716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ctr">
                            <a:lnSpc>
                              <a:spcPct val="107000"/>
                            </a:lnSpc>
                            <a:spcAft>
                              <a:spcPts val="0"/>
                            </a:spcAft>
                          </a:pPr>
                          <a:r>
                            <a:rPr lang="en-US" sz="2000" b="1" i="0" dirty="0">
                              <a:effectLst/>
                              <a:latin typeface="Verdana" pitchFamily="34" charset="0"/>
                              <a:ea typeface="Verdana" pitchFamily="34" charset="0"/>
                              <a:cs typeface="Verdana"/>
                            </a:rPr>
                            <a:t>Expression D</a:t>
                          </a:r>
                          <a:endParaRPr lang="en-PH" sz="2000" i="1" dirty="0">
                            <a:effectLst/>
                            <a:latin typeface="Verdana" pitchFamily="34" charset="0"/>
                            <a:ea typeface="Verdana" pitchFamily="34" charset="0"/>
                            <a:cs typeface="Cambria Math"/>
                          </a:endParaRPr>
                        </a:p>
                        <a:p>
                          <a:pPr algn="ctr">
                            <a:lnSpc>
                              <a:spcPct val="107000"/>
                            </a:lnSpc>
                            <a:spcAft>
                              <a:spcPts val="0"/>
                            </a:spcAft>
                          </a:pPr>
                          <a:r>
                            <a:rPr lang="en-US" sz="2000" i="0" dirty="0">
                              <a:effectLst/>
                              <a:latin typeface="Verdana" pitchFamily="34" charset="0"/>
                              <a:ea typeface="Verdana" pitchFamily="34" charset="0"/>
                              <a:cs typeface="Verdana"/>
                            </a:rPr>
                            <a:t> </a:t>
                          </a:r>
                          <a:endParaRPr lang="en-PH" sz="2000" i="1" dirty="0">
                            <a:effectLst/>
                            <a:latin typeface="Verdana" pitchFamily="34" charset="0"/>
                            <a:ea typeface="Verdana" pitchFamily="34" charset="0"/>
                            <a:cs typeface="Cambria Math"/>
                          </a:endParaRPr>
                        </a:p>
                        <a:p>
                          <a:pPr algn="ct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14−</m:t>
                                </m:r>
                                <m:d>
                                  <m:dPr>
                                    <m:begChr m:val="["/>
                                    <m:endChr m:val="]"/>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10×</m:t>
                                    </m:r>
                                    <m:sSup>
                                      <m:sSupPr>
                                        <m:ctrlPr>
                                          <a:rPr lang="en-PH" sz="2000" i="1">
                                            <a:effectLst/>
                                            <a:latin typeface="Cambria Math" panose="02040503050406030204" pitchFamily="18" charset="0"/>
                                            <a:ea typeface="Verdana"/>
                                            <a:cs typeface="Verdana"/>
                                          </a:rPr>
                                        </m:ctrlPr>
                                      </m:sSupPr>
                                      <m:e>
                                        <m:d>
                                          <m:dPr>
                                            <m:ctrlPr>
                                              <a:rPr lang="en-PH" sz="2000" i="1">
                                                <a:effectLst/>
                                                <a:latin typeface="Cambria Math" panose="02040503050406030204" pitchFamily="18" charset="0"/>
                                                <a:ea typeface="Verdana"/>
                                                <a:cs typeface="Verdana"/>
                                              </a:rPr>
                                            </m:ctrlPr>
                                          </m:dPr>
                                          <m:e>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3</m:t>
                                                </m:r>
                                              </m:e>
                                              <m:sup>
                                                <m:r>
                                                  <a:rPr lang="en-US" sz="2000" i="1">
                                                    <a:effectLst/>
                                                    <a:latin typeface="Cambria Math"/>
                                                    <a:ea typeface="Verdana"/>
                                                    <a:cs typeface="Verdana"/>
                                                  </a:rPr>
                                                  <m:t>2</m:t>
                                                </m:r>
                                              </m:sup>
                                            </m:sSup>
                                          </m:e>
                                        </m:d>
                                      </m:e>
                                      <m:sup>
                                        <m:r>
                                          <a:rPr lang="en-US" sz="2000" i="1">
                                            <a:effectLst/>
                                            <a:latin typeface="Cambria Math"/>
                                            <a:ea typeface="Verdana"/>
                                            <a:cs typeface="Verdana"/>
                                          </a:rPr>
                                          <m:t>2</m:t>
                                        </m:r>
                                      </m:sup>
                                    </m:sSup>
                                  </m:e>
                                </m:d>
                                <m:r>
                                  <a:rPr lang="en-US" sz="2000" i="1">
                                    <a:effectLst/>
                                    <a:latin typeface="Cambria Math"/>
                                    <a:ea typeface="Verdana"/>
                                    <a:cs typeface="Verdana"/>
                                  </a:rPr>
                                  <m:t>+6×3</m:t>
                                </m:r>
                              </m:oMath>
                            </m:oMathPara>
                          </a14:m>
                          <a:endParaRPr lang="en-PH" sz="2000" i="1" dirty="0">
                            <a:effectLst/>
                            <a:latin typeface="Verdana" pitchFamily="34" charset="0"/>
                            <a:ea typeface="Verdana" pitchFamily="34" charset="0"/>
                            <a:cs typeface="Cambria Math"/>
                          </a:endParaRPr>
                        </a:p>
                      </a:txBody>
                      <a:tcPr marL="137160" marR="137160" marT="137160" marB="13716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1443293182"/>
                  </p:ext>
                </p:extLst>
              </p:nvPr>
            </p:nvGraphicFramePr>
            <p:xfrm>
              <a:off x="2748750" y="3199501"/>
              <a:ext cx="7200000" cy="2692728"/>
            </p:xfrm>
            <a:graphic>
              <a:graphicData uri="http://schemas.openxmlformats.org/drawingml/2006/table">
                <a:tbl>
                  <a:tblPr firstRow="1" firstCol="1" bandRow="1"/>
                  <a:tblGrid>
                    <a:gridCol w="3600000">
                      <a:extLst>
                        <a:ext uri="{9D8B030D-6E8A-4147-A177-3AD203B41FA5}">
                          <a16:colId xmlns:a16="http://schemas.microsoft.com/office/drawing/2014/main" val="20000"/>
                        </a:ext>
                      </a:extLst>
                    </a:gridCol>
                    <a:gridCol w="3600000">
                      <a:extLst>
                        <a:ext uri="{9D8B030D-6E8A-4147-A177-3AD203B41FA5}">
                          <a16:colId xmlns:a16="http://schemas.microsoft.com/office/drawing/2014/main" val="20001"/>
                        </a:ext>
                      </a:extLst>
                    </a:gridCol>
                  </a:tblGrid>
                  <a:tr h="1440000">
                    <a:tc>
                      <a:txBody>
                        <a:bodyPr/>
                        <a:lstStyle/>
                        <a:p>
                          <a:endParaRPr lang="en-US"/>
                        </a:p>
                      </a:txBody>
                      <a:tcPr marL="137160" marR="137160" marT="137160" marB="13716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352" r="-100704" b="-88596"/>
                          </a:stretch>
                        </a:blipFill>
                      </a:tcPr>
                    </a:tc>
                    <a:tc>
                      <a:txBody>
                        <a:bodyPr/>
                        <a:lstStyle/>
                        <a:p>
                          <a:endParaRPr lang="en-US"/>
                        </a:p>
                      </a:txBody>
                      <a:tcPr marL="137160" marR="137160" marT="137160" marB="13716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100352" r="-704" b="-88596"/>
                          </a:stretch>
                        </a:blipFill>
                      </a:tcPr>
                    </a:tc>
                    <a:extLst>
                      <a:ext uri="{0D108BD9-81ED-4DB2-BD59-A6C34878D82A}">
                        <a16:rowId xmlns:a16="http://schemas.microsoft.com/office/drawing/2014/main" val="10000"/>
                      </a:ext>
                    </a:extLst>
                  </a:tr>
                  <a:tr h="1252728">
                    <a:tc>
                      <a:txBody>
                        <a:bodyPr/>
                        <a:lstStyle/>
                        <a:p>
                          <a:endParaRPr lang="en-US"/>
                        </a:p>
                      </a:txBody>
                      <a:tcPr marL="137160" marR="137160" marT="137160" marB="13716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352" t="-115152" r="-100704" b="-2020"/>
                          </a:stretch>
                        </a:blipFill>
                      </a:tcPr>
                    </a:tc>
                    <a:tc>
                      <a:txBody>
                        <a:bodyPr/>
                        <a:lstStyle/>
                        <a:p>
                          <a:endParaRPr lang="en-US"/>
                        </a:p>
                      </a:txBody>
                      <a:tcPr marL="137160" marR="137160" marT="137160" marB="13716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6"/>
                          <a:stretch>
                            <a:fillRect l="-100352" t="-115152" r="-704" b="-2020"/>
                          </a:stretch>
                        </a:blipFill>
                      </a:tcPr>
                    </a:tc>
                    <a:extLst>
                      <a:ext uri="{0D108BD9-81ED-4DB2-BD59-A6C34878D82A}">
                        <a16:rowId xmlns:a16="http://schemas.microsoft.com/office/drawing/2014/main" val="10001"/>
                      </a:ext>
                    </a:extLst>
                  </a:tr>
                </a:tbl>
              </a:graphicData>
            </a:graphic>
          </p:graphicFrame>
        </mc:Fallback>
      </mc:AlternateContent>
      <p:sp>
        <p:nvSpPr>
          <p:cNvPr id="11"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35</a:t>
            </a:r>
            <a:endParaRPr i="1" dirty="0">
              <a:latin typeface="Calibri"/>
              <a:ea typeface="Calibri"/>
              <a:cs typeface="Calibri"/>
              <a:sym typeface="Calibri"/>
            </a:endParaRPr>
          </a:p>
        </p:txBody>
      </p:sp>
    </p:spTree>
    <p:extLst>
      <p:ext uri="{BB962C8B-B14F-4D97-AF65-F5344CB8AC3E}">
        <p14:creationId xmlns:p14="http://schemas.microsoft.com/office/powerpoint/2010/main" val="389672028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14" name="TextBox 13">
            <a:extLst>
              <a:ext uri="{FF2B5EF4-FFF2-40B4-BE49-F238E27FC236}">
                <a16:creationId xmlns:a16="http://schemas.microsoft.com/office/drawing/2014/main" id="{2FA392D8-3ED3-7940-83A8-1451AA8A08D4}"/>
              </a:ext>
            </a:extLst>
          </p:cNvPr>
          <p:cNvSpPr txBox="1"/>
          <p:nvPr/>
        </p:nvSpPr>
        <p:spPr>
          <a:xfrm>
            <a:off x="1650670" y="520393"/>
            <a:ext cx="8684231" cy="5370381"/>
          </a:xfrm>
          <a:prstGeom prst="rect">
            <a:avLst/>
          </a:prstGeom>
          <a:noFill/>
        </p:spPr>
        <p:txBody>
          <a:bodyPr wrap="square" rtlCol="0">
            <a:spAutoFit/>
          </a:bodyPr>
          <a:lstStyle/>
          <a:p>
            <a:pPr>
              <a:lnSpc>
                <a:spcPct val="107000"/>
              </a:lnSpc>
              <a:spcAft>
                <a:spcPts val="1800"/>
              </a:spcAft>
            </a:pPr>
            <a:r>
              <a:rPr lang="en-US" sz="2000" dirty="0">
                <a:latin typeface="Verdana"/>
                <a:ea typeface="Verdana"/>
                <a:cs typeface="Verdana"/>
              </a:rPr>
              <a:t>Which expression should James choose? _________</a:t>
            </a:r>
            <a:endParaRPr lang="en-PH" sz="1800" i="1" dirty="0">
              <a:latin typeface="Cambria Math"/>
              <a:ea typeface="Cambria Math"/>
              <a:cs typeface="Verdana"/>
            </a:endParaRPr>
          </a:p>
          <a:p>
            <a:pPr marL="342900" indent="-342900">
              <a:lnSpc>
                <a:spcPct val="107000"/>
              </a:lnSpc>
              <a:spcAft>
                <a:spcPts val="1200"/>
              </a:spcAft>
              <a:buFont typeface="Arial" pitchFamily="34" charset="0"/>
              <a:buChar char="•"/>
            </a:pPr>
            <a:r>
              <a:rPr lang="en-US" sz="2000" dirty="0">
                <a:latin typeface="Verdana"/>
                <a:ea typeface="Verdana"/>
                <a:cs typeface="Verdana"/>
              </a:rPr>
              <a:t>Each corner of the room is labeled A, B, C, or D. After selecting the expression that you think James should choose, go to the corner of the room that matches the label for that expression. </a:t>
            </a:r>
          </a:p>
          <a:p>
            <a:pPr marL="342900" indent="-342900">
              <a:lnSpc>
                <a:spcPct val="107000"/>
              </a:lnSpc>
              <a:spcAft>
                <a:spcPts val="1200"/>
              </a:spcAft>
              <a:buFont typeface="Arial" pitchFamily="34" charset="0"/>
              <a:buChar char="•"/>
            </a:pPr>
            <a:r>
              <a:rPr lang="en-US" sz="2000" dirty="0">
                <a:latin typeface="Verdana"/>
                <a:ea typeface="Verdana"/>
                <a:cs typeface="Verdana"/>
              </a:rPr>
              <a:t>With your classmates who selected the same expression, discuss why your expression is the expression that James should choose. Discuss why James should not choose the other expressions. One member of your group will act as a representative during a class debate. </a:t>
            </a:r>
          </a:p>
          <a:p>
            <a:pPr marL="342900" indent="-342900">
              <a:lnSpc>
                <a:spcPct val="107000"/>
              </a:lnSpc>
              <a:spcAft>
                <a:spcPts val="1200"/>
              </a:spcAft>
              <a:buFont typeface="Arial" pitchFamily="34" charset="0"/>
              <a:buChar char="•"/>
            </a:pPr>
            <a:r>
              <a:rPr lang="en-US" sz="2000" dirty="0">
                <a:latin typeface="Verdana"/>
                <a:ea typeface="Verdana"/>
                <a:cs typeface="Verdana"/>
              </a:rPr>
              <a:t>For the debate, prepare an opening statement and potential rebuttals for arguments from other groups. Keep arguments and rebuttals centered on the mathematics. </a:t>
            </a:r>
          </a:p>
          <a:p>
            <a:pPr marL="342900" indent="-342900">
              <a:lnSpc>
                <a:spcPct val="107000"/>
              </a:lnSpc>
              <a:buFont typeface="Arial" pitchFamily="34" charset="0"/>
              <a:buChar char="•"/>
            </a:pPr>
            <a:r>
              <a:rPr lang="en-US" sz="2000" dirty="0">
                <a:latin typeface="Verdana"/>
                <a:ea typeface="Verdana"/>
                <a:cs typeface="Verdana"/>
              </a:rPr>
              <a:t>After the debate, explain whether you would select the same expression again. </a:t>
            </a:r>
            <a:endParaRPr lang="en-PH" sz="1800" i="1" dirty="0">
              <a:latin typeface="Cambria Math"/>
              <a:ea typeface="Cambria Math"/>
              <a:cs typeface="Cambria Math"/>
            </a:endParaRPr>
          </a:p>
        </p:txBody>
      </p:sp>
      <p:sp>
        <p:nvSpPr>
          <p:cNvPr id="6" name="Google Shape;282;g104476d1465_1_17"/>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35</a:t>
            </a:r>
            <a:endParaRPr i="1" dirty="0">
              <a:latin typeface="Calibri"/>
              <a:ea typeface="Calibri"/>
              <a:cs typeface="Calibri"/>
              <a:sym typeface="Calibri"/>
            </a:endParaRPr>
          </a:p>
        </p:txBody>
      </p:sp>
    </p:spTree>
    <p:extLst>
      <p:ext uri="{BB962C8B-B14F-4D97-AF65-F5344CB8AC3E}">
        <p14:creationId xmlns:p14="http://schemas.microsoft.com/office/powerpoint/2010/main" val="33976620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36</a:t>
            </a:r>
            <a:endParaRPr i="1" dirty="0">
              <a:latin typeface="Calibri"/>
              <a:ea typeface="Calibri"/>
              <a:cs typeface="Calibri"/>
              <a:sym typeface="Calibri"/>
            </a:endParaRPr>
          </a:p>
        </p:txBody>
      </p:sp>
    </p:spTree>
    <p:extLst>
      <p:ext uri="{BB962C8B-B14F-4D97-AF65-F5344CB8AC3E}">
        <p14:creationId xmlns:p14="http://schemas.microsoft.com/office/powerpoint/2010/main" val="67690871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2101932" y="179757"/>
            <a:ext cx="942199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8.6.6 Wrap-Up: Ticket Out the Door</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1338488" y="468957"/>
            <a:ext cx="747300" cy="747300"/>
          </a:xfrm>
          <a:prstGeom prst="rect">
            <a:avLst/>
          </a:prstGeom>
          <a:noFill/>
          <a:ln>
            <a:noFill/>
          </a:ln>
          <a:effectLst>
            <a:outerShdw blurRad="50800" dist="38100" dir="2700000" algn="tl" rotWithShape="0">
              <a:prstClr val="black">
                <a:alpha val="40000"/>
              </a:prstClr>
            </a:outerShdw>
          </a:effectLst>
        </p:spPr>
      </p:pic>
      <p:sp>
        <p:nvSpPr>
          <p:cNvPr id="12" name="TextBox 11">
            <a:extLst>
              <a:ext uri="{FF2B5EF4-FFF2-40B4-BE49-F238E27FC236}">
                <a16:creationId xmlns:a16="http://schemas.microsoft.com/office/drawing/2014/main" id="{0370EDB7-6994-3D43-ABF9-E04CBAFB9CD9}"/>
              </a:ext>
            </a:extLst>
          </p:cNvPr>
          <p:cNvSpPr txBox="1"/>
          <p:nvPr/>
        </p:nvSpPr>
        <p:spPr>
          <a:xfrm>
            <a:off x="1570700" y="1505457"/>
            <a:ext cx="8816884" cy="862095"/>
          </a:xfrm>
          <a:prstGeom prst="rect">
            <a:avLst/>
          </a:prstGeom>
          <a:noFill/>
        </p:spPr>
        <p:txBody>
          <a:bodyPr wrap="square" rtlCol="0">
            <a:spAutoFit/>
          </a:bodyPr>
          <a:lstStyle/>
          <a:p>
            <a:pPr marL="457200" indent="-457200">
              <a:lnSpc>
                <a:spcPct val="107000"/>
              </a:lnSpc>
              <a:buFont typeface="+mj-lt"/>
              <a:buAutoNum type="arabicPeriod"/>
            </a:pPr>
            <a:r>
              <a:rPr lang="en-US" sz="2400" dirty="0">
                <a:latin typeface="Verdana"/>
                <a:ea typeface="Verdana"/>
                <a:cs typeface="Verdana"/>
              </a:rPr>
              <a:t>Evaluate each expression without a calculator. Show each step you use. </a:t>
            </a:r>
            <a:endParaRPr lang="en-PH" sz="2000" i="1" dirty="0">
              <a:latin typeface="Cambria Math"/>
              <a:ea typeface="Cambria Math"/>
              <a:cs typeface="Cambria Math"/>
            </a:endParaRPr>
          </a:p>
        </p:txBody>
      </p:sp>
      <mc:AlternateContent xmlns:mc="http://schemas.openxmlformats.org/markup-compatibility/2006" xmlns:a14="http://schemas.microsoft.com/office/drawing/2010/main">
        <mc:Choice Requires="a14">
          <p:graphicFrame>
            <p:nvGraphicFramePr>
              <p:cNvPr id="3" name="Table 2"/>
              <p:cNvGraphicFramePr>
                <a:graphicFrameLocks noGrp="1"/>
              </p:cNvGraphicFramePr>
              <p:nvPr>
                <p:extLst>
                  <p:ext uri="{D42A27DB-BD31-4B8C-83A1-F6EECF244321}">
                    <p14:modId xmlns:p14="http://schemas.microsoft.com/office/powerpoint/2010/main" val="533777333"/>
                  </p:ext>
                </p:extLst>
              </p:nvPr>
            </p:nvGraphicFramePr>
            <p:xfrm>
              <a:off x="2602000" y="2629880"/>
              <a:ext cx="6480000" cy="4071533"/>
            </p:xfrm>
            <a:graphic>
              <a:graphicData uri="http://schemas.openxmlformats.org/drawingml/2006/table">
                <a:tbl>
                  <a:tblPr firstRow="1" firstCol="1" bandRow="1"/>
                  <a:tblGrid>
                    <a:gridCol w="6480000">
                      <a:extLst>
                        <a:ext uri="{9D8B030D-6E8A-4147-A177-3AD203B41FA5}">
                          <a16:colId xmlns:a16="http://schemas.microsoft.com/office/drawing/2014/main" val="20000"/>
                        </a:ext>
                      </a:extLst>
                    </a:gridCol>
                  </a:tblGrid>
                  <a:tr h="720000">
                    <a:tc>
                      <a:txBody>
                        <a:bodyPr/>
                        <a:lstStyle/>
                        <a:p>
                          <a:pPr>
                            <a:lnSpc>
                              <a:spcPct val="107000"/>
                            </a:lnSpc>
                            <a:spcAft>
                              <a:spcPts val="0"/>
                            </a:spcAft>
                          </a:pPr>
                          <a14:m>
                            <m:oMathPara xmlns:m="http://schemas.openxmlformats.org/officeDocument/2006/math">
                              <m:oMathParaPr>
                                <m:jc m:val="centerGroup"/>
                              </m:oMathParaPr>
                              <m:oMath xmlns:m="http://schemas.openxmlformats.org/officeDocument/2006/math">
                                <m:r>
                                  <a:rPr lang="en-US" sz="1800" i="1" smtClean="0">
                                    <a:effectLst/>
                                    <a:latin typeface="Cambria Math"/>
                                    <a:ea typeface="Verdana"/>
                                    <a:cs typeface="Verdana"/>
                                  </a:rPr>
                                  <m:t>−</m:t>
                                </m:r>
                                <m:d>
                                  <m:dPr>
                                    <m:begChr m:val="|"/>
                                    <m:endChr m:val="|"/>
                                    <m:ctrlPr>
                                      <a:rPr lang="en-PH" sz="1800" i="1">
                                        <a:effectLst/>
                                        <a:latin typeface="Cambria Math" panose="02040503050406030204" pitchFamily="18" charset="0"/>
                                        <a:ea typeface="Verdana"/>
                                        <a:cs typeface="Verdana"/>
                                      </a:rPr>
                                    </m:ctrlPr>
                                  </m:dPr>
                                  <m:e>
                                    <m:r>
                                      <a:rPr lang="en-US" sz="1800" i="1">
                                        <a:effectLst/>
                                        <a:latin typeface="Cambria Math"/>
                                        <a:ea typeface="Verdana"/>
                                        <a:cs typeface="Verdana"/>
                                      </a:rPr>
                                      <m:t>5−</m:t>
                                    </m:r>
                                    <m:f>
                                      <m:fPr>
                                        <m:ctrlPr>
                                          <a:rPr lang="en-PH" sz="1800" i="1">
                                            <a:effectLst/>
                                            <a:latin typeface="Cambria Math" panose="02040503050406030204" pitchFamily="18" charset="0"/>
                                            <a:ea typeface="Verdana"/>
                                            <a:cs typeface="Verdana"/>
                                          </a:rPr>
                                        </m:ctrlPr>
                                      </m:fPr>
                                      <m:num>
                                        <m:r>
                                          <a:rPr lang="en-US" sz="1800" i="1">
                                            <a:effectLst/>
                                            <a:latin typeface="Cambria Math"/>
                                            <a:ea typeface="Verdana"/>
                                            <a:cs typeface="Verdana"/>
                                          </a:rPr>
                                          <m:t>3</m:t>
                                        </m:r>
                                      </m:num>
                                      <m:den>
                                        <m:r>
                                          <a:rPr lang="en-US" sz="1800" i="1">
                                            <a:effectLst/>
                                            <a:latin typeface="Cambria Math"/>
                                            <a:ea typeface="Verdana"/>
                                            <a:cs typeface="Verdana"/>
                                          </a:rPr>
                                          <m:t>5</m:t>
                                        </m:r>
                                      </m:den>
                                    </m:f>
                                  </m:e>
                                </m:d>
                                <m:r>
                                  <a:rPr lang="en-US" sz="1800" i="1">
                                    <a:effectLst/>
                                    <a:latin typeface="Cambria Math"/>
                                    <a:ea typeface="Verdana"/>
                                    <a:cs typeface="Verdana"/>
                                  </a:rPr>
                                  <m:t>+</m:t>
                                </m:r>
                                <m:f>
                                  <m:fPr>
                                    <m:ctrlPr>
                                      <a:rPr lang="en-PH" sz="1800" i="1">
                                        <a:effectLst/>
                                        <a:latin typeface="Cambria Math" panose="02040503050406030204" pitchFamily="18" charset="0"/>
                                        <a:ea typeface="Verdana"/>
                                        <a:cs typeface="Verdana"/>
                                      </a:rPr>
                                    </m:ctrlPr>
                                  </m:fPr>
                                  <m:num>
                                    <m:r>
                                      <a:rPr lang="en-US" sz="1800" i="1">
                                        <a:effectLst/>
                                        <a:latin typeface="Cambria Math"/>
                                        <a:ea typeface="Verdana"/>
                                        <a:cs typeface="Verdana"/>
                                      </a:rPr>
                                      <m:t>4</m:t>
                                    </m:r>
                                  </m:num>
                                  <m:den>
                                    <m:r>
                                      <a:rPr lang="en-US" sz="1800" i="1">
                                        <a:effectLst/>
                                        <a:latin typeface="Cambria Math"/>
                                        <a:ea typeface="Verdana"/>
                                        <a:cs typeface="Verdana"/>
                                      </a:rPr>
                                      <m:t>15</m:t>
                                    </m:r>
                                  </m:den>
                                </m:f>
                                <m:d>
                                  <m:dPr>
                                    <m:ctrlPr>
                                      <a:rPr lang="en-PH" sz="1800" i="1">
                                        <a:effectLst/>
                                        <a:latin typeface="Cambria Math" panose="02040503050406030204" pitchFamily="18" charset="0"/>
                                        <a:ea typeface="Verdana"/>
                                        <a:cs typeface="Verdana"/>
                                      </a:rPr>
                                    </m:ctrlPr>
                                  </m:dPr>
                                  <m:e>
                                    <m:sSup>
                                      <m:sSupPr>
                                        <m:ctrlPr>
                                          <a:rPr lang="en-PH" sz="1800" i="1">
                                            <a:effectLst/>
                                            <a:latin typeface="Cambria Math" panose="02040503050406030204" pitchFamily="18" charset="0"/>
                                            <a:ea typeface="Verdana"/>
                                            <a:cs typeface="Verdana"/>
                                          </a:rPr>
                                        </m:ctrlPr>
                                      </m:sSupPr>
                                      <m:e>
                                        <m:r>
                                          <a:rPr lang="en-US" sz="1800" i="1">
                                            <a:effectLst/>
                                            <a:latin typeface="Cambria Math"/>
                                            <a:ea typeface="Verdana"/>
                                            <a:cs typeface="Verdana"/>
                                          </a:rPr>
                                          <m:t>4</m:t>
                                        </m:r>
                                      </m:e>
                                      <m:sup>
                                        <m:r>
                                          <a:rPr lang="en-US" sz="1800" i="1">
                                            <a:effectLst/>
                                            <a:latin typeface="Cambria Math"/>
                                            <a:ea typeface="Verdana"/>
                                            <a:cs typeface="Verdana"/>
                                          </a:rPr>
                                          <m:t>2</m:t>
                                        </m:r>
                                      </m:sup>
                                    </m:sSup>
                                    <m:r>
                                      <a:rPr lang="en-US" sz="1800" i="1">
                                        <a:effectLst/>
                                        <a:latin typeface="Cambria Math"/>
                                        <a:ea typeface="Verdana"/>
                                        <a:cs typeface="Verdana"/>
                                      </a:rPr>
                                      <m:t>−61</m:t>
                                    </m:r>
                                  </m:e>
                                </m:d>
                              </m:oMath>
                            </m:oMathPara>
                          </a14:m>
                          <a:endParaRPr lang="en-PH" sz="1800" i="1" dirty="0">
                            <a:effectLst/>
                            <a:latin typeface="Cambria Math"/>
                            <a:ea typeface="Cambria Math"/>
                            <a:cs typeface="Cambria Math"/>
                          </a:endParaRPr>
                        </a:p>
                        <a:p>
                          <a:pPr>
                            <a:lnSpc>
                              <a:spcPct val="107000"/>
                            </a:lnSpc>
                            <a:spcAft>
                              <a:spcPts val="0"/>
                            </a:spcAft>
                          </a:pPr>
                          <a:endParaRPr lang="en-PH" sz="1800" i="1" dirty="0">
                            <a:effectLst/>
                            <a:latin typeface="Cambria Math"/>
                            <a:ea typeface="Cambria Math"/>
                            <a:cs typeface="Cambria Math"/>
                          </a:endParaRPr>
                        </a:p>
                      </a:txBody>
                      <a:tcPr marL="0" marR="0" marT="0" marB="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240000">
                    <a:tc>
                      <a:txBody>
                        <a:bodyPr/>
                        <a:lstStyle/>
                        <a:p>
                          <a:pPr algn="ctr">
                            <a:lnSpc>
                              <a:spcPct val="107000"/>
                            </a:lnSpc>
                            <a:spcAft>
                              <a:spcPts val="0"/>
                            </a:spcAft>
                          </a:pPr>
                          <a:r>
                            <a:rPr lang="en-US" sz="2000" b="1" i="0" dirty="0">
                              <a:effectLst/>
                              <a:latin typeface="Verdana"/>
                              <a:ea typeface="Verdana"/>
                              <a:cs typeface="Verdana"/>
                            </a:rPr>
                            <a:t>Work</a:t>
                          </a:r>
                          <a:endParaRPr lang="en-PH" sz="1800" i="1" dirty="0">
                            <a:effectLst/>
                            <a:latin typeface="Cambria Math"/>
                            <a:ea typeface="Cambria Math"/>
                            <a:cs typeface="Cambria Math"/>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3" name="Table 2"/>
              <p:cNvGraphicFramePr>
                <a:graphicFrameLocks noGrp="1"/>
              </p:cNvGraphicFramePr>
              <p:nvPr>
                <p:extLst>
                  <p:ext uri="{D42A27DB-BD31-4B8C-83A1-F6EECF244321}">
                    <p14:modId xmlns:p14="http://schemas.microsoft.com/office/powerpoint/2010/main" val="533777333"/>
                  </p:ext>
                </p:extLst>
              </p:nvPr>
            </p:nvGraphicFramePr>
            <p:xfrm>
              <a:off x="2602000" y="2629880"/>
              <a:ext cx="6480000" cy="4071533"/>
            </p:xfrm>
            <a:graphic>
              <a:graphicData uri="http://schemas.openxmlformats.org/drawingml/2006/table">
                <a:tbl>
                  <a:tblPr firstRow="1" firstCol="1" bandRow="1"/>
                  <a:tblGrid>
                    <a:gridCol w="6480000">
                      <a:extLst>
                        <a:ext uri="{9D8B030D-6E8A-4147-A177-3AD203B41FA5}">
                          <a16:colId xmlns:a16="http://schemas.microsoft.com/office/drawing/2014/main" val="20000"/>
                        </a:ext>
                      </a:extLst>
                    </a:gridCol>
                  </a:tblGrid>
                  <a:tr h="831533">
                    <a:tc>
                      <a:txBody>
                        <a:bodyPr/>
                        <a:lstStyle/>
                        <a:p>
                          <a:endParaRPr lang="en-US"/>
                        </a:p>
                      </a:txBody>
                      <a:tcPr marL="0" marR="0" marT="0" marB="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5"/>
                          <a:stretch>
                            <a:fillRect l="-94" r="-282" b="-390511"/>
                          </a:stretch>
                        </a:blipFill>
                      </a:tcPr>
                    </a:tc>
                    <a:extLst>
                      <a:ext uri="{0D108BD9-81ED-4DB2-BD59-A6C34878D82A}">
                        <a16:rowId xmlns:a16="http://schemas.microsoft.com/office/drawing/2014/main" val="10000"/>
                      </a:ext>
                    </a:extLst>
                  </a:tr>
                  <a:tr h="3240000">
                    <a:tc>
                      <a:txBody>
                        <a:bodyPr/>
                        <a:lstStyle/>
                        <a:p>
                          <a:pPr algn="ctr">
                            <a:lnSpc>
                              <a:spcPct val="107000"/>
                            </a:lnSpc>
                            <a:spcAft>
                              <a:spcPts val="0"/>
                            </a:spcAft>
                          </a:pPr>
                          <a:r>
                            <a:rPr lang="en-US" sz="2000" b="1" i="0" dirty="0">
                              <a:effectLst/>
                              <a:latin typeface="Verdana"/>
                              <a:ea typeface="Verdana"/>
                              <a:cs typeface="Verdana"/>
                            </a:rPr>
                            <a:t>Work</a:t>
                          </a:r>
                          <a:endParaRPr lang="en-PH" sz="1800" i="1" dirty="0">
                            <a:effectLst/>
                            <a:latin typeface="Cambria Math"/>
                            <a:ea typeface="Cambria Math"/>
                            <a:cs typeface="Cambria Math"/>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Fallback>
      </mc:AlternateContent>
      <p:sp>
        <p:nvSpPr>
          <p:cNvPr id="10" name="Google Shape;282;g104476d1465_1_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36</a:t>
            </a:r>
            <a:endParaRPr i="1" dirty="0">
              <a:latin typeface="Calibri"/>
              <a:ea typeface="Calibri"/>
              <a:cs typeface="Calibri"/>
              <a:sym typeface="Calibri"/>
            </a:endParaRPr>
          </a:p>
        </p:txBody>
      </p:sp>
    </p:spTree>
    <p:extLst>
      <p:ext uri="{BB962C8B-B14F-4D97-AF65-F5344CB8AC3E}">
        <p14:creationId xmlns:p14="http://schemas.microsoft.com/office/powerpoint/2010/main" val="5539956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mc:AlternateContent xmlns:mc="http://schemas.openxmlformats.org/markup-compatibility/2006" xmlns:a14="http://schemas.microsoft.com/office/drawing/2010/main">
        <mc:Choice Requires="a14">
          <p:graphicFrame>
            <p:nvGraphicFramePr>
              <p:cNvPr id="6" name="Table 5"/>
              <p:cNvGraphicFramePr>
                <a:graphicFrameLocks noGrp="1"/>
              </p:cNvGraphicFramePr>
              <p:nvPr>
                <p:extLst>
                  <p:ext uri="{D42A27DB-BD31-4B8C-83A1-F6EECF244321}">
                    <p14:modId xmlns:p14="http://schemas.microsoft.com/office/powerpoint/2010/main" val="2461321825"/>
                  </p:ext>
                </p:extLst>
              </p:nvPr>
            </p:nvGraphicFramePr>
            <p:xfrm>
              <a:off x="2856000" y="825193"/>
              <a:ext cx="6480000" cy="4194659"/>
            </p:xfrm>
            <a:graphic>
              <a:graphicData uri="http://schemas.openxmlformats.org/drawingml/2006/table">
                <a:tbl>
                  <a:tblPr firstRow="1" firstCol="1" bandRow="1"/>
                  <a:tblGrid>
                    <a:gridCol w="6480000">
                      <a:extLst>
                        <a:ext uri="{9D8B030D-6E8A-4147-A177-3AD203B41FA5}">
                          <a16:colId xmlns:a16="http://schemas.microsoft.com/office/drawing/2014/main" val="20000"/>
                        </a:ext>
                      </a:extLst>
                    </a:gridCol>
                  </a:tblGrid>
                  <a:tr h="828000">
                    <a:tc>
                      <a:txBody>
                        <a:bodyPr/>
                        <a:lstStyle/>
                        <a:p>
                          <a:pPr>
                            <a:lnSpc>
                              <a:spcPct val="107000"/>
                            </a:lnSpc>
                            <a:spcAft>
                              <a:spcPts val="0"/>
                            </a:spcAft>
                          </a:pPr>
                          <a14:m>
                            <m:oMathPara xmlns:m="http://schemas.openxmlformats.org/officeDocument/2006/math">
                              <m:oMathParaPr>
                                <m:jc m:val="centerGroup"/>
                              </m:oMathParaPr>
                              <m:oMath xmlns:m="http://schemas.openxmlformats.org/officeDocument/2006/math">
                                <m:f>
                                  <m:fPr>
                                    <m:ctrlPr>
                                      <a:rPr lang="en-PH" sz="2000" i="1" smtClean="0">
                                        <a:effectLst/>
                                        <a:latin typeface="Cambria Math" panose="02040503050406030204" pitchFamily="18" charset="0"/>
                                        <a:ea typeface="Verdana"/>
                                        <a:cs typeface="Verdana"/>
                                      </a:rPr>
                                    </m:ctrlPr>
                                  </m:fPr>
                                  <m:num>
                                    <m:sSup>
                                      <m:sSupPr>
                                        <m:ctrlPr>
                                          <a:rPr lang="en-PH" sz="2000" i="1">
                                            <a:effectLst/>
                                            <a:latin typeface="Cambria Math" panose="02040503050406030204" pitchFamily="18" charset="0"/>
                                            <a:ea typeface="Verdana"/>
                                            <a:cs typeface="Verdana"/>
                                          </a:rPr>
                                        </m:ctrlPr>
                                      </m:sSupPr>
                                      <m:e>
                                        <m:d>
                                          <m:dPr>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1.5+</m:t>
                                            </m:r>
                                            <m:d>
                                              <m:dPr>
                                                <m:begChr m:val="|"/>
                                                <m:endChr m:val="|"/>
                                                <m:ctrlPr>
                                                  <a:rPr lang="en-PH" sz="2000" i="1">
                                                    <a:effectLst/>
                                                    <a:latin typeface="Cambria Math" panose="02040503050406030204" pitchFamily="18" charset="0"/>
                                                    <a:ea typeface="Verdana"/>
                                                    <a:cs typeface="Verdana"/>
                                                  </a:rPr>
                                                </m:ctrlPr>
                                              </m:dPr>
                                              <m:e>
                                                <m:r>
                                                  <a:rPr lang="en-US" sz="2000" i="1">
                                                    <a:effectLst/>
                                                    <a:latin typeface="Cambria Math"/>
                                                    <a:ea typeface="Verdana"/>
                                                    <a:cs typeface="Verdana"/>
                                                  </a:rPr>
                                                  <m:t>−3.25−4.25</m:t>
                                                </m:r>
                                              </m:e>
                                            </m:d>
                                          </m:e>
                                        </m:d>
                                      </m:e>
                                      <m:sup>
                                        <m:r>
                                          <a:rPr lang="en-US" sz="2000" i="1">
                                            <a:effectLst/>
                                            <a:latin typeface="Cambria Math"/>
                                            <a:ea typeface="Verdana"/>
                                            <a:cs typeface="Verdana"/>
                                          </a:rPr>
                                          <m:t>3</m:t>
                                        </m:r>
                                      </m:sup>
                                    </m:sSup>
                                  </m:num>
                                  <m:den>
                                    <m:r>
                                      <a:rPr lang="en-US" sz="2000" i="1">
                                        <a:effectLst/>
                                        <a:latin typeface="Cambria Math"/>
                                        <a:ea typeface="Verdana"/>
                                        <a:cs typeface="Verdana"/>
                                      </a:rPr>
                                      <m:t>12</m:t>
                                    </m:r>
                                  </m:den>
                                </m:f>
                              </m:oMath>
                            </m:oMathPara>
                          </a14:m>
                          <a:endParaRPr lang="en-PH" sz="2000" i="1" dirty="0">
                            <a:effectLst/>
                            <a:latin typeface="Cambria Math"/>
                            <a:ea typeface="Cambria Math"/>
                            <a:cs typeface="Cambria Math"/>
                          </a:endParaRPr>
                        </a:p>
                        <a:p>
                          <a:pPr>
                            <a:lnSpc>
                              <a:spcPct val="107000"/>
                            </a:lnSpc>
                            <a:spcAft>
                              <a:spcPts val="0"/>
                            </a:spcAft>
                          </a:pPr>
                          <a:endParaRPr lang="en-PH" sz="2000" i="1" dirty="0">
                            <a:effectLst/>
                            <a:latin typeface="Cambria Math"/>
                            <a:ea typeface="Cambria Math"/>
                            <a:cs typeface="Cambria Math"/>
                          </a:endParaRPr>
                        </a:p>
                      </a:txBody>
                      <a:tcPr marL="0" marR="0" marT="0" marB="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3240000">
                    <a:tc>
                      <a:txBody>
                        <a:bodyPr/>
                        <a:lstStyle/>
                        <a:p>
                          <a:pPr algn="ctr">
                            <a:lnSpc>
                              <a:spcPct val="107000"/>
                            </a:lnSpc>
                            <a:spcAft>
                              <a:spcPts val="0"/>
                            </a:spcAft>
                          </a:pPr>
                          <a:r>
                            <a:rPr lang="en-US" sz="2000" b="1" i="0" dirty="0">
                              <a:effectLst/>
                              <a:latin typeface="Verdana"/>
                              <a:ea typeface="Verdana"/>
                              <a:cs typeface="Verdana"/>
                            </a:rPr>
                            <a:t>Work</a:t>
                          </a:r>
                          <a:endParaRPr lang="en-PH" sz="2000" i="1" dirty="0">
                            <a:effectLst/>
                            <a:latin typeface="Cambria Math"/>
                            <a:ea typeface="Cambria Math"/>
                            <a:cs typeface="Cambria Math"/>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6" name="Table 5"/>
              <p:cNvGraphicFramePr>
                <a:graphicFrameLocks noGrp="1"/>
              </p:cNvGraphicFramePr>
              <p:nvPr>
                <p:extLst>
                  <p:ext uri="{D42A27DB-BD31-4B8C-83A1-F6EECF244321}">
                    <p14:modId xmlns:p14="http://schemas.microsoft.com/office/powerpoint/2010/main" val="2461321825"/>
                  </p:ext>
                </p:extLst>
              </p:nvPr>
            </p:nvGraphicFramePr>
            <p:xfrm>
              <a:off x="2856000" y="825193"/>
              <a:ext cx="6480000" cy="4194659"/>
            </p:xfrm>
            <a:graphic>
              <a:graphicData uri="http://schemas.openxmlformats.org/drawingml/2006/table">
                <a:tbl>
                  <a:tblPr firstRow="1" firstCol="1" bandRow="1"/>
                  <a:tblGrid>
                    <a:gridCol w="6480000">
                      <a:extLst>
                        <a:ext uri="{9D8B030D-6E8A-4147-A177-3AD203B41FA5}">
                          <a16:colId xmlns:a16="http://schemas.microsoft.com/office/drawing/2014/main" val="20000"/>
                        </a:ext>
                      </a:extLst>
                    </a:gridCol>
                  </a:tblGrid>
                  <a:tr h="954659">
                    <a:tc>
                      <a:txBody>
                        <a:bodyPr/>
                        <a:lstStyle/>
                        <a:p>
                          <a:endParaRPr lang="en-US"/>
                        </a:p>
                      </a:txBody>
                      <a:tcPr marL="0" marR="0" marT="0" marB="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blipFill>
                          <a:blip r:embed="rId4"/>
                          <a:stretch>
                            <a:fillRect l="-188" r="-282" b="-340764"/>
                          </a:stretch>
                        </a:blipFill>
                      </a:tcPr>
                    </a:tc>
                    <a:extLst>
                      <a:ext uri="{0D108BD9-81ED-4DB2-BD59-A6C34878D82A}">
                        <a16:rowId xmlns:a16="http://schemas.microsoft.com/office/drawing/2014/main" val="10000"/>
                      </a:ext>
                    </a:extLst>
                  </a:tr>
                  <a:tr h="3240000">
                    <a:tc>
                      <a:txBody>
                        <a:bodyPr/>
                        <a:lstStyle/>
                        <a:p>
                          <a:pPr algn="ctr">
                            <a:lnSpc>
                              <a:spcPct val="107000"/>
                            </a:lnSpc>
                            <a:spcAft>
                              <a:spcPts val="0"/>
                            </a:spcAft>
                          </a:pPr>
                          <a:r>
                            <a:rPr lang="en-US" sz="2000" b="1" i="0" dirty="0">
                              <a:effectLst/>
                              <a:latin typeface="Verdana"/>
                              <a:ea typeface="Verdana"/>
                              <a:cs typeface="Verdana"/>
                            </a:rPr>
                            <a:t>Work</a:t>
                          </a:r>
                          <a:endParaRPr lang="en-PH" sz="2000" i="1" dirty="0">
                            <a:effectLst/>
                            <a:latin typeface="Cambria Math"/>
                            <a:ea typeface="Cambria Math"/>
                            <a:cs typeface="Cambria Math"/>
                          </a:endParaRPr>
                        </a:p>
                      </a:txBody>
                      <a:tcPr marL="137160" marR="137160" marT="137160" marB="137160">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Fallback>
      </mc:AlternateContent>
      <p:sp>
        <p:nvSpPr>
          <p:cNvPr id="7"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36</a:t>
            </a:r>
            <a:endParaRPr i="1" dirty="0">
              <a:latin typeface="Calibri"/>
              <a:ea typeface="Calibri"/>
              <a:cs typeface="Calibri"/>
              <a:sym typeface="Calibri"/>
            </a:endParaRPr>
          </a:p>
        </p:txBody>
      </p:sp>
    </p:spTree>
    <p:extLst>
      <p:ext uri="{BB962C8B-B14F-4D97-AF65-F5344CB8AC3E}">
        <p14:creationId xmlns:p14="http://schemas.microsoft.com/office/powerpoint/2010/main" val="2895702388"/>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c8f36ed4-5234-49bf-a7f7-5f171c3a2f56">
      <Terms xmlns="http://schemas.microsoft.com/office/infopath/2007/PartnerControls"/>
    </lcf76f155ced4ddcb4097134ff3c332f>
    <TaxCatchAll xmlns="aecc3118-db6a-47b0-8115-3eb3ee12f279"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45BA71AFB6E4EB4AB3FD645FC79B11BE" ma:contentTypeVersion="14" ma:contentTypeDescription="Create a new document." ma:contentTypeScope="" ma:versionID="c6de188039f2115276cd22936a35b493">
  <xsd:schema xmlns:xsd="http://www.w3.org/2001/XMLSchema" xmlns:xs="http://www.w3.org/2001/XMLSchema" xmlns:p="http://schemas.microsoft.com/office/2006/metadata/properties" xmlns:ns2="c8f36ed4-5234-49bf-a7f7-5f171c3a2f56" xmlns:ns3="aecc3118-db6a-47b0-8115-3eb3ee12f279" targetNamespace="http://schemas.microsoft.com/office/2006/metadata/properties" ma:root="true" ma:fieldsID="3d1530f6c55cd2fbfcc1e1abc0d9cffe" ns2:_="" ns3:_="">
    <xsd:import namespace="c8f36ed4-5234-49bf-a7f7-5f171c3a2f56"/>
    <xsd:import namespace="aecc3118-db6a-47b0-8115-3eb3ee12f27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2:MediaServiceDateTaken" minOccurs="0"/>
                <xsd:element ref="ns2:MediaLengthInSeconds"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8f36ed4-5234-49bf-a7f7-5f171c3a2f5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e4125260-8dc9-4871-9a4d-e9e8d429e38e"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dexed="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MediaServiceSearchProperties" ma:index="20" nillable="true" ma:displayName="MediaServiceSearchProperties" ma:hidden="true" ma:internalName="MediaServiceSearchProperties" ma:readOnly="true">
      <xsd:simpleType>
        <xsd:restriction base="dms:Note"/>
      </xsd:simpleType>
    </xsd:element>
    <xsd:element name="MediaServiceObjectDetectorVersions" ma:index="21" nillable="true" ma:displayName="MediaServiceObjectDetectorVersions" ma:description=""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aecc3118-db6a-47b0-8115-3eb3ee12f27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TaxCatchAll" ma:index="14" nillable="true" ma:displayName="Taxonomy Catch All Column" ma:hidden="true" ma:list="{d1b4dde3-b3bf-4934-b5d8-236f7d7596ba}" ma:internalName="TaxCatchAll" ma:showField="CatchAllData" ma:web="aecc3118-db6a-47b0-8115-3eb3ee12f279">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F6B569F3-0CBC-4D7D-99E9-E4814F4FE649}">
  <ds:schemaRefs>
    <ds:schemaRef ds:uri="http://schemas.microsoft.com/sharepoint/v3/contenttype/forms"/>
  </ds:schemaRefs>
</ds:datastoreItem>
</file>

<file path=customXml/itemProps2.xml><?xml version="1.0" encoding="utf-8"?>
<ds:datastoreItem xmlns:ds="http://schemas.openxmlformats.org/officeDocument/2006/customXml" ds:itemID="{330F462A-6262-43EA-ADE0-FAAF555D9E88}">
  <ds:schemaRefs>
    <ds:schemaRef ds:uri="http://schemas.microsoft.com/office/2006/metadata/properties"/>
    <ds:schemaRef ds:uri="http://schemas.microsoft.com/office/infopath/2007/PartnerControls"/>
    <ds:schemaRef ds:uri="c8f36ed4-5234-49bf-a7f7-5f171c3a2f56"/>
    <ds:schemaRef ds:uri="aecc3118-db6a-47b0-8115-3eb3ee12f279"/>
  </ds:schemaRefs>
</ds:datastoreItem>
</file>

<file path=customXml/itemProps3.xml><?xml version="1.0" encoding="utf-8"?>
<ds:datastoreItem xmlns:ds="http://schemas.openxmlformats.org/officeDocument/2006/customXml" ds:itemID="{E9D63E45-8F0F-44C9-9F22-B78B15107EDB}">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8f36ed4-5234-49bf-a7f7-5f171c3a2f56"/>
    <ds:schemaRef ds:uri="aecc3118-db6a-47b0-8115-3eb3ee12f279"/>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1341</TotalTime>
  <Words>1044</Words>
  <Application>Microsoft Office PowerPoint</Application>
  <PresentationFormat>Widescreen</PresentationFormat>
  <Paragraphs>221</Paragraphs>
  <Slides>23</Slides>
  <Notes>23</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23</vt:i4>
      </vt:variant>
    </vt:vector>
  </HeadingPairs>
  <TitlesOfParts>
    <vt:vector size="30" baseType="lpstr">
      <vt:lpstr>Cambria Math</vt:lpstr>
      <vt:lpstr>Arial Black</vt:lpstr>
      <vt:lpstr>Verdana</vt:lpstr>
      <vt:lpstr>Calibri</vt:lpstr>
      <vt:lpstr>Arial</vt:lpstr>
      <vt:lpstr>Century Gothic</vt:lpstr>
      <vt:lpstr>1_Office Theme</vt:lpstr>
      <vt:lpstr>7th Grade Math  Unit 8, Lesson 6  Evaluating Numeric Expressions –  Part 3  Volume 2, pg. 32  </vt:lpstr>
      <vt:lpstr>Benchmarks</vt:lpstr>
      <vt:lpstr>PowerPoint Presentation</vt:lpstr>
      <vt:lpstr>PowerPoint Presentation</vt:lpstr>
      <vt:lpstr>Warm-Up</vt:lpstr>
      <vt:lpstr>PowerPoint Presentation</vt:lpstr>
      <vt:lpstr>Guided Instruction</vt:lpstr>
      <vt:lpstr>PowerPoint Presentation</vt:lpstr>
      <vt:lpstr>PowerPoint Presentation</vt:lpstr>
      <vt:lpstr>Activity</vt:lpstr>
      <vt:lpstr>PowerPoint Presentation</vt:lpstr>
      <vt:lpstr>PowerPoint Presentation</vt:lpstr>
      <vt:lpstr>PowerPoint Presentation</vt:lpstr>
      <vt:lpstr>Try It</vt:lpstr>
      <vt:lpstr>PowerPoint Presentation</vt:lpstr>
      <vt:lpstr>PowerPoint Presentation</vt:lpstr>
      <vt:lpstr>PowerPoint Presentation</vt:lpstr>
      <vt:lpstr>Activity</vt:lpstr>
      <vt:lpstr>PowerPoint Presentation</vt:lpstr>
      <vt:lpstr>PowerPoint Presentation</vt:lpstr>
      <vt:lpstr>Wrap-Up</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vaanmx</cp:lastModifiedBy>
  <cp:revision>28</cp:revision>
  <dcterms:created xsi:type="dcterms:W3CDTF">2015-03-17T18:51:18Z</dcterms:created>
  <dcterms:modified xsi:type="dcterms:W3CDTF">2023-06-30T10:39:48Z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0x01010045BA71AFB6E4EB4AB3FD645FC79B11BE</vt:lpwstr>
  </property>
  <property fmtid="{D5CDD505-2E9C-101B-9397-08002B2CF9AE}" pid="3" name="MediaServiceImageTags">
    <vt:lpwstr/>
  </property>
</Properties>
</file>