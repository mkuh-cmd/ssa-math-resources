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1" r:id="rId9"/>
    <p:sldId id="312" r:id="rId10"/>
    <p:sldId id="363" r:id="rId11"/>
    <p:sldId id="372" r:id="rId12"/>
    <p:sldId id="373" r:id="rId13"/>
    <p:sldId id="374" r:id="rId14"/>
    <p:sldId id="289" r:id="rId15"/>
    <p:sldId id="290" r:id="rId16"/>
    <p:sldId id="366" r:id="rId17"/>
    <p:sldId id="376" r:id="rId18"/>
    <p:sldId id="320" r:id="rId19"/>
    <p:sldId id="321" r:id="rId20"/>
    <p:sldId id="302" r:id="rId21"/>
    <p:sldId id="303" r:id="rId22"/>
    <p:sldId id="370" r:id="rId23"/>
    <p:sldId id="377" r:id="rId24"/>
    <p:sldId id="306" r:id="rId25"/>
    <p:sldId id="307" r:id="rId26"/>
    <p:sldId id="371" r:id="rId27"/>
  </p:sldIdLst>
  <p:sldSz cx="12192000" cy="6858000"/>
  <p:notesSz cx="6858000" cy="9144000"/>
  <p:embeddedFontLst>
    <p:embeddedFont>
      <p:font typeface="Verdana" pitchFamily="34" charset="0"/>
      <p:regular r:id="rId29"/>
      <p:bold r:id="rId30"/>
      <p:italic r:id="rId31"/>
      <p:boldItalic r:id="rId32"/>
    </p:embeddedFont>
    <p:embeddedFont>
      <p:font typeface="Calibri" pitchFamily="34" charset="0"/>
      <p:regular r:id="rId33"/>
      <p:bold r:id="rId34"/>
      <p:italic r:id="rId35"/>
      <p:boldItalic r:id="rId36"/>
    </p:embeddedFont>
    <p:embeddedFont>
      <p:font typeface="Century Gothic" pitchFamily="34" charset="0"/>
      <p:regular r:id="rId37"/>
      <p:bold r:id="rId38"/>
      <p:italic r:id="rId39"/>
      <p:boldItalic r:id="rId40"/>
    </p:embeddedFont>
    <p:embeddedFont>
      <p:font typeface="Cambria Math" pitchFamily="18" charset="0"/>
      <p:regular r:id="rId41"/>
    </p:embeddedFont>
    <p:embeddedFont>
      <p:font typeface="Arial Black" pitchFamily="34" charset="0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49" autoAdjust="0"/>
    <p:restoredTop sz="94694"/>
  </p:normalViewPr>
  <p:slideViewPr>
    <p:cSldViewPr snapToGrid="0">
      <p:cViewPr>
        <p:scale>
          <a:sx n="80" d="100"/>
          <a:sy n="80" d="100"/>
        </p:scale>
        <p:origin x="-648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742299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6012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095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6835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2406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9755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53596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12500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15624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35515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66757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36325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968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3.jpeg"/><Relationship Id="rId4" Type="http://schemas.openxmlformats.org/officeDocument/2006/relationships/image" Target="file:///C:/var/folders/c_/294qm04d1rv56j6hbdtvsw6r0000gn/T/com.microsoft.Word/WebArchiveCopyPasteTempFiles/dimensions.png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3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8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ww.flickr.com/photos/trevhunter/3980718705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xmlns="" id="{ADCE3FE7-B71C-E44E-AEBC-574B47F8940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005" y="1783180"/>
            <a:ext cx="3126752" cy="3644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695209" y="2054277"/>
            <a:ext cx="5220441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40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6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Problem-Solving with Volume of Cylinders</a:t>
            </a:r>
            <a: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223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51917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  <a:buFont typeface="Century Gothic"/>
              <a:buNone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41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=""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44683" y="1600200"/>
            <a:ext cx="1032675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6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MA.7.GR.2.3</a:t>
            </a:r>
          </a:p>
          <a:p>
            <a:pPr indent="0">
              <a:buNone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real-world problems involving volume of right circular cylinders.</a:t>
            </a:r>
          </a:p>
          <a:p>
            <a:pPr indent="0">
              <a:buNone/>
            </a:pPr>
            <a:endParaRPr lang="en-US" sz="36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223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223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3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56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5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223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1" name="Google Shape;302;g103996e1364_0_16">
            <a:extLst>
              <a:ext uri="{FF2B5EF4-FFF2-40B4-BE49-F238E27FC236}">
                <a16:creationId xmlns=""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44682" y="160020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794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real-world problems involving the volume of right circular cylinders</a:t>
            </a:r>
            <a:r>
              <a:rPr lang="en-US" sz="36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8371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209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224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9" name="Google Shape;170;p4"/>
              <p:cNvSpPr txBox="1"/>
              <p:nvPr/>
            </p:nvSpPr>
            <p:spPr>
              <a:xfrm>
                <a:off x="914400" y="1386026"/>
                <a:ext cx="10713750" cy="34778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Two cylindrical cans are shown.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close-up picture of each can shows that both cans contain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ounces of food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9" name="Google Shape;170;p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6"/>
                <a:ext cx="10713750" cy="3477835"/>
              </a:xfrm>
              <a:prstGeom prst="rect">
                <a:avLst/>
              </a:prstGeom>
              <a:blipFill rotWithShape="1">
                <a:blip r:embed="rId3"/>
                <a:stretch>
                  <a:fillRect l="-626" t="-1051" b="-21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3014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3" name="Group 2"/>
          <p:cNvGrpSpPr/>
          <p:nvPr/>
        </p:nvGrpSpPr>
        <p:grpSpPr>
          <a:xfrm>
            <a:off x="5892780" y="1386026"/>
            <a:ext cx="2438321" cy="2286000"/>
            <a:chOff x="7188461" y="1270136"/>
            <a:chExt cx="2438321" cy="2286000"/>
          </a:xfrm>
        </p:grpSpPr>
        <p:pic>
          <p:nvPicPr>
            <p:cNvPr id="9" name="Picture 8" descr="Green Giant Asparagus Spears Extra Long">
              <a:extLst>
                <a:ext uri="{FF2B5EF4-FFF2-40B4-BE49-F238E27FC236}">
                  <a16:creationId xmlns:a16="http://schemas.microsoft.com/office/drawing/2014/main" xmlns="" id="{C3FDCE83-8195-9747-82C6-8C3F211B1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089" r="24029"/>
            <a:stretch/>
          </p:blipFill>
          <p:spPr bwMode="auto">
            <a:xfrm>
              <a:off x="7188461" y="1270136"/>
              <a:ext cx="1016635" cy="228600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0" name="Picture 9" descr="La Preferida Chick Peas 15 oz - image 1 of 3">
              <a:extLst>
                <a:ext uri="{FF2B5EF4-FFF2-40B4-BE49-F238E27FC236}">
                  <a16:creationId xmlns:a16="http://schemas.microsoft.com/office/drawing/2014/main" xmlns="" id="{82A8B7DE-E3D5-3F47-B954-A84339BD16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8243" r="19258"/>
            <a:stretch/>
          </p:blipFill>
          <p:spPr bwMode="auto">
            <a:xfrm>
              <a:off x="8399962" y="2001656"/>
              <a:ext cx="1226820" cy="155448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grpSp>
        <p:nvGrpSpPr>
          <p:cNvPr id="4" name="Group 3"/>
          <p:cNvGrpSpPr/>
          <p:nvPr/>
        </p:nvGrpSpPr>
        <p:grpSpPr>
          <a:xfrm>
            <a:off x="3944600" y="5080117"/>
            <a:ext cx="4160196" cy="1463040"/>
            <a:chOff x="4401800" y="5080117"/>
            <a:chExt cx="4160196" cy="1463040"/>
          </a:xfrm>
        </p:grpSpPr>
        <p:pic>
          <p:nvPicPr>
            <p:cNvPr id="11" name="Picture 10" descr="Green Giant Asparagus Spears Extra Long">
              <a:extLst>
                <a:ext uri="{FF2B5EF4-FFF2-40B4-BE49-F238E27FC236}">
                  <a16:creationId xmlns:a16="http://schemas.microsoft.com/office/drawing/2014/main" xmlns="" id="{874A06E2-EC47-644D-9BAC-E3571D88B6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1886" t="81584" r="26614"/>
            <a:stretch/>
          </p:blipFill>
          <p:spPr bwMode="auto">
            <a:xfrm>
              <a:off x="4401800" y="5080117"/>
              <a:ext cx="1490980" cy="146304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2" name="Picture 11" descr="La Preferida Chick Peas 15 oz - image 1 of 3">
              <a:extLst>
                <a:ext uri="{FF2B5EF4-FFF2-40B4-BE49-F238E27FC236}">
                  <a16:creationId xmlns:a16="http://schemas.microsoft.com/office/drawing/2014/main" xmlns="" id="{D90EB479-97D8-504F-B567-D802227ADF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1611" t="83810" r="33068" b="3888"/>
            <a:stretch/>
          </p:blipFill>
          <p:spPr bwMode="auto">
            <a:xfrm>
              <a:off x="6180111" y="5080117"/>
              <a:ext cx="2381885" cy="91440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4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224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26;g104476d1465_1_17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7" name="Google Shape;167;p4"/>
          <p:cNvSpPr txBox="1"/>
          <p:nvPr/>
        </p:nvSpPr>
        <p:spPr>
          <a:xfrm>
            <a:off x="1143000" y="431412"/>
            <a:ext cx="105156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12.6.1 Warm-Up: </a:t>
            </a: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Notice </a:t>
            </a: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or Wonder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" name="Google Shape;168;p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56616" y="35320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7A1A5040-20C6-B84E-A1D3-EB58F7A40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404540"/>
              </p:ext>
            </p:extLst>
          </p:nvPr>
        </p:nvGraphicFramePr>
        <p:xfrm>
          <a:off x="1960671" y="3582546"/>
          <a:ext cx="7460085" cy="22860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528843">
                  <a:extLst>
                    <a:ext uri="{9D8B030D-6E8A-4147-A177-3AD203B41FA5}">
                      <a16:colId xmlns:a16="http://schemas.microsoft.com/office/drawing/2014/main" xmlns="" val="2504194145"/>
                    </a:ext>
                  </a:extLst>
                </a:gridCol>
                <a:gridCol w="4931242">
                  <a:extLst>
                    <a:ext uri="{9D8B030D-6E8A-4147-A177-3AD203B41FA5}">
                      <a16:colId xmlns:a16="http://schemas.microsoft.com/office/drawing/2014/main" xmlns="" val="163749387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Dimension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How do they compare?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1096537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radius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0781795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height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193466224"/>
                  </a:ext>
                </a:extLst>
              </a:tr>
            </a:tbl>
          </a:graphicData>
        </a:graphic>
      </p:graphicFrame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224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0" name="Google Shape;179;p5"/>
          <p:cNvSpPr txBox="1"/>
          <p:nvPr/>
        </p:nvSpPr>
        <p:spPr>
          <a:xfrm>
            <a:off x="914400" y="487736"/>
            <a:ext cx="10515600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49263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how it could be possible for two differently shaped cans to have the same volume.</a:t>
            </a:r>
          </a:p>
          <a:p>
            <a:pPr marL="914400" indent="-44926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how the dimensions of the two cans compare to each other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20321"/>
            <a:ext cx="2731200" cy="6898631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225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31E245CA-F6D4-5A4D-B877-ED0321CFC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62259"/>
              </p:ext>
            </p:extLst>
          </p:nvPr>
        </p:nvGraphicFramePr>
        <p:xfrm>
          <a:off x="2877757" y="2725120"/>
          <a:ext cx="6870247" cy="2594778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451435">
                  <a:extLst>
                    <a:ext uri="{9D8B030D-6E8A-4147-A177-3AD203B41FA5}">
                      <a16:colId xmlns:a16="http://schemas.microsoft.com/office/drawing/2014/main" xmlns="" val="3463295011"/>
                    </a:ext>
                  </a:extLst>
                </a:gridCol>
                <a:gridCol w="3418812">
                  <a:extLst>
                    <a:ext uri="{9D8B030D-6E8A-4147-A177-3AD203B41FA5}">
                      <a16:colId xmlns:a16="http://schemas.microsoft.com/office/drawing/2014/main" xmlns="" val="349727341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Container A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Container B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07379005"/>
                  </a:ext>
                </a:extLst>
              </a:tr>
              <a:tr h="213757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51098177"/>
                  </a:ext>
                </a:extLst>
              </a:tr>
            </a:tbl>
          </a:graphicData>
        </a:graphic>
      </p:graphicFrame>
      <p:pic>
        <p:nvPicPr>
          <p:cNvPr id="11" name="Picture 10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0EAE1C38-A0CD-EA40-BC7B-3B67C49529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755"/>
          <a:stretch/>
        </p:blipFill>
        <p:spPr bwMode="auto">
          <a:xfrm>
            <a:off x="3332522" y="3280500"/>
            <a:ext cx="2406831" cy="17297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xmlns="" id="{7423DE76-AE75-4A45-B859-84EE057633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8276" y="3428242"/>
            <a:ext cx="2835460" cy="1581991"/>
          </a:xfrm>
          <a:prstGeom prst="rect">
            <a:avLst/>
          </a:prstGeom>
        </p:spPr>
      </p:pic>
      <p:sp>
        <p:nvSpPr>
          <p:cNvPr id="13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225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6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28437" y="173504"/>
            <a:ext cx="8996637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12.6.2 Exploration: </a:t>
            </a:r>
            <a: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Popcorn </a:t>
            </a: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Containers</a:t>
            </a:r>
            <a:endParaRPr lang="en-US" sz="3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1337" y="286722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Google Shape;170;p4"/>
          <p:cNvSpPr txBox="1"/>
          <p:nvPr/>
        </p:nvSpPr>
        <p:spPr>
          <a:xfrm>
            <a:off x="914400" y="1386026"/>
            <a:ext cx="1071375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Dan is using paper to create a popcorn container. He can make two differently shaped cylindrical containers by rolling two identical pieces of paper. Container A is taller and narrower, while Container B is shorter and wider.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225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79;p5"/>
          <p:cNvSpPr txBox="1"/>
          <p:nvPr/>
        </p:nvSpPr>
        <p:spPr>
          <a:xfrm>
            <a:off x="914400" y="487736"/>
            <a:ext cx="105156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49263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container do you think will hold more popcorn? </a:t>
            </a:r>
          </a:p>
          <a:p>
            <a:pPr marL="914400" indent="-449263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Without having popcorn to test, what information would be helpful in determining which container holds more popcorn?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604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404F29CC-7C64-6645-8F27-B66B6E162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367455"/>
              </p:ext>
            </p:extLst>
          </p:nvPr>
        </p:nvGraphicFramePr>
        <p:xfrm>
          <a:off x="2310994" y="1691344"/>
          <a:ext cx="7433897" cy="4229915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766793">
                  <a:extLst>
                    <a:ext uri="{9D8B030D-6E8A-4147-A177-3AD203B41FA5}">
                      <a16:colId xmlns:a16="http://schemas.microsoft.com/office/drawing/2014/main" xmlns="" val="2859772930"/>
                    </a:ext>
                  </a:extLst>
                </a:gridCol>
                <a:gridCol w="3667104">
                  <a:extLst>
                    <a:ext uri="{9D8B030D-6E8A-4147-A177-3AD203B41FA5}">
                      <a16:colId xmlns:a16="http://schemas.microsoft.com/office/drawing/2014/main" xmlns="" val="396875026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Container A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Container B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72552512"/>
                  </a:ext>
                </a:extLst>
              </a:tr>
              <a:tr h="377271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54465733"/>
                  </a:ext>
                </a:extLst>
              </a:tr>
            </a:tbl>
          </a:graphicData>
        </a:graphic>
      </p:graphicFrame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82CAF74D-2C41-6F4C-9B79-5524A0756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53888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5" name="Picture 19" descr="A picture containing text, wall, indoor&#10;&#10;Description automatically generated">
            <a:extLst>
              <a:ext uri="{FF2B5EF4-FFF2-40B4-BE49-F238E27FC236}">
                <a16:creationId xmlns:a16="http://schemas.microsoft.com/office/drawing/2014/main" xmlns="" id="{980CC606-098F-554E-906A-032E765E0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442" b="-6"/>
          <a:stretch>
            <a:fillRect/>
          </a:stretch>
        </p:blipFill>
        <p:spPr bwMode="auto">
          <a:xfrm>
            <a:off x="2851148" y="2434718"/>
            <a:ext cx="2743200" cy="31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8878603E-8D41-4541-BAE7-D9C29DE16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3" y="2126941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7" name="Picture 20" descr="A picture containing text, wall, indoor&#10;&#10;Description automatically generated">
            <a:extLst>
              <a:ext uri="{FF2B5EF4-FFF2-40B4-BE49-F238E27FC236}">
                <a16:creationId xmlns:a16="http://schemas.microsoft.com/office/drawing/2014/main" xmlns="" id="{9F1D2B95-AEC5-4E49-B969-9CA195FB5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0157"/>
          <a:stretch>
            <a:fillRect/>
          </a:stretch>
        </p:blipFill>
        <p:spPr bwMode="auto">
          <a:xfrm>
            <a:off x="6508752" y="2434718"/>
            <a:ext cx="2832100" cy="31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225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6" name="Google Shape;179;p5"/>
          <p:cNvSpPr txBox="1"/>
          <p:nvPr/>
        </p:nvSpPr>
        <p:spPr>
          <a:xfrm>
            <a:off x="914400" y="487736"/>
            <a:ext cx="105156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49263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dimensions of each piece of paper prior to rolling it to          </a:t>
            </a:r>
          </a:p>
          <a:p>
            <a:pPr marL="457200" indent="-449263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form a cylinder are shown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541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10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82CAF74D-2C41-6F4C-9B79-5524A0756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53888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8878603E-8D41-4541-BAE7-D9C29DE16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3" y="2126941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xmlns="" id="{7CF9D266-0376-434E-8B97-8CABB20366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8638230"/>
                  </p:ext>
                </p:extLst>
              </p:nvPr>
            </p:nvGraphicFramePr>
            <p:xfrm>
              <a:off x="2243251" y="1366894"/>
              <a:ext cx="7680960" cy="5099667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840480">
                      <a:extLst>
                        <a:ext uri="{9D8B030D-6E8A-4147-A177-3AD203B41FA5}">
                          <a16:colId xmlns:a16="http://schemas.microsoft.com/office/drawing/2014/main" xmlns="" val="267903158"/>
                        </a:ext>
                      </a:extLst>
                    </a:gridCol>
                    <a:gridCol w="3840480">
                      <a:extLst>
                        <a:ext uri="{9D8B030D-6E8A-4147-A177-3AD203B41FA5}">
                          <a16:colId xmlns:a16="http://schemas.microsoft.com/office/drawing/2014/main" xmlns="" val="216170086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Container A</a:t>
                          </a:r>
                        </a:p>
                      </a:txBody>
                      <a:tcPr marL="58277" marR="58277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Container B</a:t>
                          </a:r>
                        </a:p>
                      </a:txBody>
                      <a:tcPr marL="58277" marR="58277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141319602"/>
                      </a:ext>
                    </a:extLst>
                  </a:tr>
                  <a:tr h="464246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231775" marR="0" lvl="0" indent="-2317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itchFamily="2" charset="2"/>
                            <a:buChar char=""/>
                            <a:tabLst/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height of the paper is </a:t>
                          </a:r>
                        </a:p>
                        <a:p>
                          <a:pPr marL="21145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21145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                             </a:t>
                          </a:r>
                          <a:r>
                            <a:rPr lang="en-US" sz="185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of </a:t>
                          </a:r>
                          <a:endParaRPr lang="en-US" sz="185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21145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21145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cylinder.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231775" marR="0" lvl="0" indent="-2317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itchFamily="2" charset="2"/>
                            <a:buChar char=""/>
                            <a:tabLst/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width of the paper is </a:t>
                          </a:r>
                        </a:p>
                        <a:p>
                          <a:pPr marL="21145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21145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                            </a:t>
                          </a:r>
                          <a:r>
                            <a:rPr lang="en-US" sz="1850" baseline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of </a:t>
                          </a:r>
                        </a:p>
                        <a:p>
                          <a:pPr marL="21145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21145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cylinder.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231775" marR="0" lvl="0" indent="-2317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itchFamily="2" charset="2"/>
                            <a:buChar char=""/>
                            <a:tabLst/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radius of the cylinder is </a:t>
                          </a:r>
                          <a14:m>
                            <m:oMath xmlns:m="http://schemas.openxmlformats.org/officeDocument/2006/math">
                              <m:r>
                                <a:rPr lang="en-US" sz="185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1.354</m:t>
                              </m:r>
                            </m:oMath>
                          </a14:m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inches (in.).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182880" marR="1828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231775" marR="0" lvl="0" indent="-2317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itchFamily="2" charset="2"/>
                            <a:buChar char=""/>
                            <a:tabLst/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height of the paper is </a:t>
                          </a:r>
                        </a:p>
                        <a:p>
                          <a:pPr marL="21145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21145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                               </a:t>
                          </a:r>
                        </a:p>
                        <a:p>
                          <a:pPr marL="21145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21145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of the cylinder.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231775" marR="0" lvl="0" indent="-2317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itchFamily="2" charset="2"/>
                            <a:buChar char=""/>
                            <a:tabLst/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width of the paper is </a:t>
                          </a:r>
                        </a:p>
                        <a:p>
                          <a:pPr marL="21145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21145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                               </a:t>
                          </a:r>
                        </a:p>
                        <a:p>
                          <a:pPr marL="21145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21145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of the cylinder.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231775" marR="0" lvl="0" indent="-2317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itchFamily="2" charset="2"/>
                            <a:buChar char=""/>
                            <a:tabLst/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radius of the cylinder is </a:t>
                          </a:r>
                          <a14:m>
                            <m:oMath xmlns:m="http://schemas.openxmlformats.org/officeDocument/2006/math">
                              <m:r>
                                <a:rPr lang="en-US" sz="1850">
                                  <a:effectLst/>
                                  <a:latin typeface="Cambria Math" panose="02040503050406030204" pitchFamily="18" charset="0"/>
                                </a:rPr>
                                <m:t>1.752</m:t>
                              </m:r>
                            </m:oMath>
                          </a14:m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in.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5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850" dirty="0"/>
                        </a:p>
                      </a:txBody>
                      <a:tcPr marL="182880" marR="1828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53296994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CF9D266-0376-434E-8B97-8CABB20366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8638230"/>
                  </p:ext>
                </p:extLst>
              </p:nvPr>
            </p:nvGraphicFramePr>
            <p:xfrm>
              <a:off x="2243251" y="1366894"/>
              <a:ext cx="7680960" cy="5099667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84048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67903158"/>
                        </a:ext>
                      </a:extLst>
                    </a:gridCol>
                    <a:gridCol w="384048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16170086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Container A</a:t>
                          </a:r>
                        </a:p>
                      </a:txBody>
                      <a:tcPr marL="58277" marR="58277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Container B</a:t>
                          </a:r>
                        </a:p>
                      </a:txBody>
                      <a:tcPr marL="58277" marR="58277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141319602"/>
                      </a:ext>
                    </a:extLst>
                  </a:tr>
                  <a:tr h="46424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82880" marR="1828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59" t="-9843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82880" marR="1828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159" t="-98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5329699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Rounded Rectangle 23">
            <a:extLst>
              <a:ext uri="{FF2B5EF4-FFF2-40B4-BE49-F238E27FC236}">
                <a16:creationId xmlns:a16="http://schemas.microsoft.com/office/drawing/2014/main" xmlns="" id="{15957422-7E38-4B42-A4A1-69CEA2F6EB09}"/>
              </a:ext>
            </a:extLst>
          </p:cNvPr>
          <p:cNvSpPr/>
          <p:nvPr/>
        </p:nvSpPr>
        <p:spPr>
          <a:xfrm>
            <a:off x="3105783" y="2504064"/>
            <a:ext cx="2243812" cy="62273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height</a:t>
            </a:r>
            <a:endParaRPr lang="en-US" sz="17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circumference</a:t>
            </a:r>
            <a:endParaRPr lang="en-US" sz="17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225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6" name="Google Shape;179;p5"/>
          <p:cNvSpPr txBox="1"/>
          <p:nvPr/>
        </p:nvSpPr>
        <p:spPr>
          <a:xfrm>
            <a:off x="914400" y="487736"/>
            <a:ext cx="1051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radius of each resulting cylinder is given in the table. Complete the statements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xmlns="" id="{15957422-7E38-4B42-A4A1-69CEA2F6EB09}"/>
              </a:ext>
            </a:extLst>
          </p:cNvPr>
          <p:cNvSpPr/>
          <p:nvPr/>
        </p:nvSpPr>
        <p:spPr>
          <a:xfrm>
            <a:off x="3115308" y="4199514"/>
            <a:ext cx="2243812" cy="62273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height</a:t>
            </a:r>
            <a:endParaRPr lang="en-US" sz="17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circumference</a:t>
            </a:r>
            <a:endParaRPr lang="en-US" sz="17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xmlns="" id="{15957422-7E38-4B42-A4A1-69CEA2F6EB09}"/>
              </a:ext>
            </a:extLst>
          </p:cNvPr>
          <p:cNvSpPr/>
          <p:nvPr/>
        </p:nvSpPr>
        <p:spPr>
          <a:xfrm>
            <a:off x="6963408" y="2504064"/>
            <a:ext cx="2243812" cy="62273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height</a:t>
            </a:r>
            <a:endParaRPr lang="en-US" sz="17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circumference</a:t>
            </a:r>
            <a:endParaRPr lang="en-US" sz="17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xmlns="" id="{15957422-7E38-4B42-A4A1-69CEA2F6EB09}"/>
              </a:ext>
            </a:extLst>
          </p:cNvPr>
          <p:cNvSpPr/>
          <p:nvPr/>
        </p:nvSpPr>
        <p:spPr>
          <a:xfrm>
            <a:off x="6963408" y="4199514"/>
            <a:ext cx="2243812" cy="62273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height</a:t>
            </a:r>
            <a:endParaRPr lang="en-US" sz="17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17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circumference</a:t>
            </a:r>
            <a:endParaRPr lang="en-US" sz="17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344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" name="Google Shape;179;p5"/>
              <p:cNvSpPr txBox="1"/>
              <p:nvPr/>
            </p:nvSpPr>
            <p:spPr>
              <a:xfrm>
                <a:off x="914400" y="487736"/>
                <a:ext cx="10515600" cy="5324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Calculate the volume of each container. 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3.14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round to the nearest thousandth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Container         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hold more popcorn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5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5324494"/>
              </a:xfrm>
              <a:prstGeom prst="rect">
                <a:avLst/>
              </a:prstGeom>
              <a:blipFill rotWithShape="1">
                <a:blip r:embed="rId3"/>
                <a:stretch>
                  <a:fillRect l="-638" t="-687" b="-11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82CAF74D-2C41-6F4C-9B79-5524A0756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53888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8878603E-8D41-4541-BAE7-D9C29DE16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3" y="2126941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60E989B7-4610-504F-9255-CBCB6A7C0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251071"/>
              </p:ext>
            </p:extLst>
          </p:nvPr>
        </p:nvGraphicFramePr>
        <p:xfrm>
          <a:off x="2482759" y="1524002"/>
          <a:ext cx="6974749" cy="2715851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503934">
                  <a:extLst>
                    <a:ext uri="{9D8B030D-6E8A-4147-A177-3AD203B41FA5}">
                      <a16:colId xmlns:a16="http://schemas.microsoft.com/office/drawing/2014/main" xmlns="" val="541595905"/>
                    </a:ext>
                  </a:extLst>
                </a:gridCol>
                <a:gridCol w="3470815">
                  <a:extLst>
                    <a:ext uri="{9D8B030D-6E8A-4147-A177-3AD203B41FA5}">
                      <a16:colId xmlns:a16="http://schemas.microsoft.com/office/drawing/2014/main" xmlns="" val="18016513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Volume of Container A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Volume of Container B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37906847"/>
                  </a:ext>
                </a:extLst>
              </a:tr>
              <a:tr h="225865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 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283552101"/>
                  </a:ext>
                </a:extLst>
              </a:tr>
            </a:tbl>
          </a:graphicData>
        </a:graphic>
      </p:graphicFrame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0E4B2531-BA9E-C74B-9071-905A8300CCD4}"/>
              </a:ext>
            </a:extLst>
          </p:cNvPr>
          <p:cNvSpPr/>
          <p:nvPr/>
        </p:nvSpPr>
        <p:spPr>
          <a:xfrm>
            <a:off x="2799744" y="5206859"/>
            <a:ext cx="771845" cy="76077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28600" indent="-2286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226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8963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226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E1D15FEF-590C-FD43-91C2-CAC08BD88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337" y="3054614"/>
            <a:ext cx="2466147" cy="22703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A9E57C81-DD6D-3B48-9F21-EC1E6A05E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608" y="2915438"/>
            <a:ext cx="2466148" cy="2491507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E1C3E5F9-1E1B-C04E-9913-D4D1EC546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467621"/>
              </p:ext>
            </p:extLst>
          </p:nvPr>
        </p:nvGraphicFramePr>
        <p:xfrm>
          <a:off x="2431869" y="2397381"/>
          <a:ext cx="7194913" cy="3071355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583907">
                  <a:extLst>
                    <a:ext uri="{9D8B030D-6E8A-4147-A177-3AD203B41FA5}">
                      <a16:colId xmlns:a16="http://schemas.microsoft.com/office/drawing/2014/main" xmlns="" val="698105866"/>
                    </a:ext>
                  </a:extLst>
                </a:gridCol>
                <a:gridCol w="3611006">
                  <a:extLst>
                    <a:ext uri="{9D8B030D-6E8A-4147-A177-3AD203B41FA5}">
                      <a16:colId xmlns:a16="http://schemas.microsoft.com/office/drawing/2014/main" xmlns="" val="10627095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Cylinder C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Cylinder D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849375"/>
                  </a:ext>
                </a:extLst>
              </a:tr>
              <a:tr h="26141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664630446"/>
                  </a:ext>
                </a:extLst>
              </a:tr>
            </a:tbl>
          </a:graphicData>
        </a:graphic>
      </p:graphicFrame>
      <p:sp>
        <p:nvSpPr>
          <p:cNvPr id="11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226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6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6616" y="2011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Google Shape;317;p19"/>
          <p:cNvSpPr txBox="1"/>
          <p:nvPr/>
        </p:nvSpPr>
        <p:spPr>
          <a:xfrm>
            <a:off x="1143000" y="140872"/>
            <a:ext cx="10515600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12.6.3 Guided Instruction: Using the Volume Formula to Problem-Solve</a:t>
            </a:r>
            <a:endParaRPr lang="en-US" sz="28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C01B13E8-EC8D-E443-A329-C5E3593DD13A}"/>
              </a:ext>
            </a:extLst>
          </p:cNvPr>
          <p:cNvSpPr txBox="1"/>
          <p:nvPr/>
        </p:nvSpPr>
        <p:spPr>
          <a:xfrm>
            <a:off x="914401" y="1366975"/>
            <a:ext cx="10229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Cylinder C and Cylinder D have the same volume in cubic centimeters (cm³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226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Google Shape;179;p5"/>
              <p:cNvSpPr txBox="1"/>
              <p:nvPr/>
            </p:nvSpPr>
            <p:spPr>
              <a:xfrm>
                <a:off x="914400" y="487736"/>
                <a:ext cx="10515600" cy="470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volume of Cylinder C. Leave it in terms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 expression for the volume of Cylinder D.</a:t>
                </a:r>
              </a:p>
              <a:p>
                <a:pPr marL="914400" indent="-457200"/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0" indent="-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_______________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___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 equation to show the volumes are equal to each other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  _______________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=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_______________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8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4708941"/>
              </a:xfrm>
              <a:prstGeom prst="rect">
                <a:avLst/>
              </a:prstGeom>
              <a:blipFill rotWithShape="1">
                <a:blip r:embed="rId4"/>
                <a:stretch>
                  <a:fillRect t="-777" b="-14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3172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227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79;p5"/>
          <p:cNvSpPr txBox="1"/>
          <p:nvPr/>
        </p:nvSpPr>
        <p:spPr>
          <a:xfrm>
            <a:off x="914400" y="487736"/>
            <a:ext cx="10515600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49263"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the equation.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>
              <a:buFont typeface="+mj-lt"/>
              <a:buAutoNum type="alphaLcPeriod" startAt="5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does the solution to the equation represent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109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227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227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455429"/>
            <a:ext cx="105156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12.6.4 Try It: Finding the Height</a:t>
            </a:r>
            <a:endParaRPr lang="en-US" sz="3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xmlns="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914400" y="1508760"/>
                <a:ext cx="105156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Julius wants to build an aquarium for his pet goldfish in the shape of a right circular cylinder. He read that his fish needs to live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1538.6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cubic inches (in.³) of water. If his aquarium has a diameter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in., what is the height of the aquarium? 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3.14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08760"/>
                <a:ext cx="10515600" cy="1323439"/>
              </a:xfrm>
              <a:prstGeom prst="rect">
                <a:avLst/>
              </a:prstGeom>
              <a:blipFill rotWithShape="1">
                <a:blip r:embed="rId5"/>
                <a:stretch>
                  <a:fillRect l="-580" t="-2765" b="-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227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picture containing chart&#10;&#10;Description automatically generated">
            <a:extLst>
              <a:ext uri="{FF2B5EF4-FFF2-40B4-BE49-F238E27FC236}">
                <a16:creationId xmlns:a16="http://schemas.microsoft.com/office/drawing/2014/main" xmlns="" id="{FB61AC27-AD36-224F-9038-CBF177940F1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00137" y="2013039"/>
            <a:ext cx="3944125" cy="3287486"/>
          </a:xfrm>
          <a:prstGeom prst="rect">
            <a:avLst/>
          </a:prstGeom>
        </p:spPr>
      </p:pic>
      <p:sp>
        <p:nvSpPr>
          <p:cNvPr id="10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228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4" name="Google Shape;428;g103996e1364_0_428">
            <a:extLst>
              <a:ext uri="{FF2B5EF4-FFF2-40B4-BE49-F238E27FC236}">
                <a16:creationId xmlns=""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12.6.5 Your Turn!</a:t>
            </a:r>
            <a:endParaRPr lang="en-US" sz="44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Google Shape;430;g103996e1364_0_428">
            <a:extLst>
              <a:ext uri="{FF2B5EF4-FFF2-40B4-BE49-F238E27FC236}">
                <a16:creationId xmlns=""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914400" y="1233626"/>
                <a:ext cx="105156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volume of the cylinder shown. Write your answer in terms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233626"/>
                <a:ext cx="10515600" cy="400110"/>
              </a:xfrm>
              <a:prstGeom prst="rect">
                <a:avLst/>
              </a:prstGeom>
              <a:blipFill rotWithShape="1">
                <a:blip r:embed="rId6"/>
                <a:stretch>
                  <a:fillRect l="-580"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picture containing diagram&#10;&#10;Description automatically generated">
            <a:extLst>
              <a:ext uri="{FF2B5EF4-FFF2-40B4-BE49-F238E27FC236}">
                <a16:creationId xmlns:a16="http://schemas.microsoft.com/office/drawing/2014/main" xmlns="" id="{7A05B363-B0DC-A647-A900-3E9C64A19C4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1990" y="1636708"/>
            <a:ext cx="3145260" cy="3474415"/>
          </a:xfrm>
          <a:prstGeom prst="rect">
            <a:avLst/>
          </a:prstGeom>
        </p:spPr>
      </p:pic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228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Google Shape;179;p5"/>
              <p:cNvSpPr txBox="1"/>
              <p:nvPr/>
            </p:nvSpPr>
            <p:spPr>
              <a:xfrm>
                <a:off x="914400" y="487736"/>
                <a:ext cx="10515600" cy="10156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ceramic cylinder shown is advertised as holding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71.5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cubic inches.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tall must the ceramic cylinder be?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3.14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round your answer to the nearest thousandth.</a:t>
                </a:r>
              </a:p>
            </p:txBody>
          </p:sp>
        </mc:Choice>
        <mc:Fallback>
          <p:sp>
            <p:nvSpPr>
              <p:cNvPr id="9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1015622"/>
              </a:xfrm>
              <a:prstGeom prst="rect">
                <a:avLst/>
              </a:prstGeom>
              <a:blipFill rotWithShape="1">
                <a:blip r:embed="rId5"/>
                <a:stretch>
                  <a:fillRect l="-638" t="-3593" r="-348" b="-95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7196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Swimming pool | Anybody want to buy a 15 foot above ground ...">
            <a:extLst>
              <a:ext uri="{FF2B5EF4-FFF2-40B4-BE49-F238E27FC236}">
                <a16:creationId xmlns:a16="http://schemas.microsoft.com/office/drawing/2014/main" xmlns="" id="{C6F57FC2-B77E-B44A-A6F6-D9C13D8E2AD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rcRect l="9902" t="27363" r="15912" b="2603"/>
          <a:stretch/>
        </p:blipFill>
        <p:spPr bwMode="auto">
          <a:xfrm>
            <a:off x="3981211" y="2212567"/>
            <a:ext cx="4381978" cy="2754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228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Google Shape;179;p5"/>
              <p:cNvSpPr txBox="1"/>
              <p:nvPr/>
            </p:nvSpPr>
            <p:spPr>
              <a:xfrm>
                <a:off x="914400" y="487736"/>
                <a:ext cx="10515600" cy="1451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Ruby is building a new above-ground pool for her backyard.  The manual says the volume of the pool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21.613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cubic meters (m³) and has a diameter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4.6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m. What is the height of the new pool? Use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round to the nearest tenth.</a:t>
                </a:r>
              </a:p>
            </p:txBody>
          </p:sp>
        </mc:Choice>
        <mc:Fallback>
          <p:sp>
            <p:nvSpPr>
              <p:cNvPr id="10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1451319"/>
              </a:xfrm>
              <a:prstGeom prst="rect">
                <a:avLst/>
              </a:prstGeom>
              <a:blipFill rotWithShape="1">
                <a:blip r:embed="rId8"/>
                <a:stretch>
                  <a:fillRect l="-638" t="-2521" b="-67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1280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229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023" y="2327510"/>
            <a:ext cx="6274676" cy="3587340"/>
          </a:xfrm>
          <a:prstGeom prst="rect">
            <a:avLst/>
          </a:prstGeom>
        </p:spPr>
      </p:pic>
      <p:sp>
        <p:nvSpPr>
          <p:cNvPr id="10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229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12.6.6 Wrap-Up: Reflection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" name="Google Shape;46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0370EDB7-6994-3D43-ABF9-E04CBAFB9CD9}"/>
              </a:ext>
            </a:extLst>
          </p:cNvPr>
          <p:cNvSpPr txBox="1"/>
          <p:nvPr/>
        </p:nvSpPr>
        <p:spPr>
          <a:xfrm>
            <a:off x="914399" y="1386026"/>
            <a:ext cx="108299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Place an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on the line to indicate your understanding of each learning target. Then, provide a brief explanation or evidence to support your self-assessment.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076" y="487736"/>
            <a:ext cx="7110248" cy="4309241"/>
          </a:xfrm>
          <a:prstGeom prst="rect">
            <a:avLst/>
          </a:prstGeom>
        </p:spPr>
      </p:pic>
      <p:sp>
        <p:nvSpPr>
          <p:cNvPr id="6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229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676406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1361</TotalTime>
  <Words>756</Words>
  <Application>Microsoft Office PowerPoint</Application>
  <PresentationFormat>Custom</PresentationFormat>
  <Paragraphs>222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</vt:lpstr>
      <vt:lpstr>Verdana</vt:lpstr>
      <vt:lpstr>Symbol</vt:lpstr>
      <vt:lpstr>Calibri</vt:lpstr>
      <vt:lpstr>Courier New</vt:lpstr>
      <vt:lpstr>Times New Roman</vt:lpstr>
      <vt:lpstr>Century Gothic</vt:lpstr>
      <vt:lpstr>Cambria Math</vt:lpstr>
      <vt:lpstr>Arial Black</vt:lpstr>
      <vt:lpstr>1_Office Theme</vt:lpstr>
      <vt:lpstr>PowerPoint Presentation</vt:lpstr>
      <vt:lpstr>PowerPoint Presentation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Try It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32</cp:revision>
  <dcterms:created xsi:type="dcterms:W3CDTF">2015-03-17T18:51:18Z</dcterms:created>
  <dcterms:modified xsi:type="dcterms:W3CDTF">2022-06-13T12:00:40Z</dcterms:modified>
</cp:coreProperties>
</file>