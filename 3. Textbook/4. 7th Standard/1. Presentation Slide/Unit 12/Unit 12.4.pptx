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64" r:id="rId10"/>
    <p:sldId id="372" r:id="rId11"/>
    <p:sldId id="311" r:id="rId12"/>
    <p:sldId id="312" r:id="rId13"/>
    <p:sldId id="363" r:id="rId14"/>
    <p:sldId id="373" r:id="rId15"/>
    <p:sldId id="374" r:id="rId16"/>
    <p:sldId id="375" r:id="rId17"/>
    <p:sldId id="323" r:id="rId18"/>
    <p:sldId id="324" r:id="rId19"/>
    <p:sldId id="367" r:id="rId20"/>
    <p:sldId id="302" r:id="rId21"/>
    <p:sldId id="303" r:id="rId22"/>
    <p:sldId id="370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6040202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86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24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46029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308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1739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1429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8827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2526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1593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7088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6776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675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of Right Circular Cylinders 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212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6061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52751" y="9047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74" y="378424"/>
            <a:ext cx="747300" cy="74980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29497" y="1577681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MA.7.GR.2.3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volume of right circular cylinders.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2750" y="90478"/>
            <a:ext cx="920602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2749" y="1596390"/>
            <a:ext cx="1008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74" y="378424"/>
            <a:ext cx="747300" cy="74980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60147" y="8922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74" y="378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4139" y="15836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349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volume of a right circular cylinder.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2690" y="95574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12.4.1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74" y="38477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36154" y="1465664"/>
                <a:ext cx="10800000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Gold is worth a significant amount of money. Its value changes with the market. For example, on January 28, 2021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ounce of gold was nearly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$2000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Would you rather have one cube made of solid gold measuring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meters (m) on each side, or two cubes made of solid gold, one measuring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 on each side and one measuring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 on each side?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your choice.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4" y="1465664"/>
                <a:ext cx="10800000" cy="5324535"/>
              </a:xfrm>
              <a:prstGeom prst="rect">
                <a:avLst/>
              </a:prstGeom>
              <a:blipFill rotWithShape="1">
                <a:blip r:embed="rId4"/>
                <a:stretch>
                  <a:fillRect l="-621" t="-57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68DA603D-CF13-D547-8C36-B99749BCE2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719"/>
          <a:stretch/>
        </p:blipFill>
        <p:spPr>
          <a:xfrm>
            <a:off x="3620855" y="3528489"/>
            <a:ext cx="5863670" cy="2030863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0647" y="96828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12.4.2 Activity: Penny Stacks –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Volume of a Right Circular Cylinder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674" y="38477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532799" y="1465346"/>
            <a:ext cx="10800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Stack the given pennies to form a right circular cylinder.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pennies high is the stack?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</a:t>
            </a:r>
          </a:p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stack of pennies with your partner’s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stack. Suppose both stacks are hollow such that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liquid could be poured into them. Discuss with your 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partner which stack would hold more liquid.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summary of your discussion. </a:t>
            </a:r>
          </a:p>
        </p:txBody>
      </p:sp>
      <p:pic>
        <p:nvPicPr>
          <p:cNvPr id="11" name="image20.png">
            <a:extLst>
              <a:ext uri="{FF2B5EF4-FFF2-40B4-BE49-F238E27FC236}">
                <a16:creationId xmlns:a16="http://schemas.microsoft.com/office/drawing/2014/main" id="{D804EDB7-D909-7F49-AAAF-69CC64724428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00923" y="2188671"/>
            <a:ext cx="1435735" cy="2339002"/>
          </a:xfrm>
          <a:prstGeom prst="rect">
            <a:avLst/>
          </a:prstGeom>
          <a:ln/>
        </p:spPr>
      </p:pic>
      <p:sp>
        <p:nvSpPr>
          <p:cNvPr id="12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28688" y="2890732"/>
            <a:ext cx="1080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Aft>
                <a:spcPts val="1200"/>
              </a:spcAft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capacity, or volume, of the empty cylinder depends 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C946FB-1793-3648-A7B8-B3719B1FACFB}"/>
              </a:ext>
            </a:extLst>
          </p:cNvPr>
          <p:cNvGrpSpPr/>
          <p:nvPr/>
        </p:nvGrpSpPr>
        <p:grpSpPr>
          <a:xfrm>
            <a:off x="2098186" y="394840"/>
            <a:ext cx="7271657" cy="2116184"/>
            <a:chOff x="-482237" y="-110562"/>
            <a:chExt cx="7271657" cy="1820671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9FF2065-2458-0B41-9A85-CE6F9B3124C5}"/>
                </a:ext>
              </a:extLst>
            </p:cNvPr>
            <p:cNvSpPr/>
            <p:nvPr/>
          </p:nvSpPr>
          <p:spPr>
            <a:xfrm>
              <a:off x="-482237" y="-110562"/>
              <a:ext cx="7271657" cy="1820671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685800">
                <a:spcAft>
                  <a:spcPts val="1000"/>
                </a:spcAft>
              </a:pPr>
              <a:endPara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685800">
                <a:spcAft>
                  <a:spcPts val="1000"/>
                </a:spcAft>
              </a:pP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Capacity</a:t>
              </a:r>
              <a:r>
                <a:rPr lang="en-US" sz="2000" b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is</a:t>
              </a:r>
              <a:r>
                <a:rPr lang="en-US" sz="2000" b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 amount of space that can be filled in a container. Both capacity and volume are used to measure three-dimensional spaces.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685800">
                <a:spcAft>
                  <a:spcPts val="10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Capacity usually refers to fluid measures, whereas volume is measured in cubic units.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685800">
                <a:spcAft>
                  <a:spcPts val="1000"/>
                </a:spcAft>
              </a:pPr>
              <a:r>
                <a:rPr lang="en-US" sz="1200" dirty="0">
                  <a:solidFill>
                    <a:srgbClr val="6C993D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rPr>
                <a:t> </a:t>
              </a:r>
              <a:endPara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Cambria" panose="02040503050406030204" pitchFamily="18" charset="0"/>
              </a:endParaRPr>
            </a:p>
          </p:txBody>
        </p:sp>
        <p:pic>
          <p:nvPicPr>
            <p:cNvPr id="8" name="Shape 7" descr="Icon&#10;&#10;Description automatically generated">
              <a:extLst>
                <a:ext uri="{FF2B5EF4-FFF2-40B4-BE49-F238E27FC236}">
                  <a16:creationId xmlns:a16="http://schemas.microsoft.com/office/drawing/2014/main" id="{C9522077-B2B7-B941-975E-B819E29EFA97}"/>
                </a:ext>
              </a:extLst>
            </p:cNvPr>
            <p:cNvPicPr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305913" y="74925"/>
              <a:ext cx="539750" cy="43415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1C3CAAC-8F32-554F-979E-C2C49B8A3B77}"/>
              </a:ext>
            </a:extLst>
          </p:cNvPr>
          <p:cNvSpPr/>
          <p:nvPr/>
        </p:nvSpPr>
        <p:spPr>
          <a:xfrm>
            <a:off x="1558296" y="3955692"/>
            <a:ext cx="6349710" cy="120125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radius of each coin.</a:t>
            </a:r>
            <a:endParaRPr lang="en-US" sz="2000" dirty="0">
              <a:ea typeface="Times New Roman" panose="02020603050405020304" pitchFamily="18" charset="0"/>
              <a:cs typeface="Cambria" panose="020405030504060302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height of the coin stack.</a:t>
            </a:r>
            <a:endParaRPr lang="en-US" sz="2000" dirty="0">
              <a:ea typeface="Times New Roman" panose="02020603050405020304" pitchFamily="18" charset="0"/>
              <a:cs typeface="Cambria" panose="020405030504060302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both the height and radius of the coin stack.</a:t>
            </a:r>
            <a:endParaRPr lang="en-US" sz="2000" dirty="0">
              <a:ea typeface="Times New Roman" panose="02020603050405020304" pitchFamily="18" charset="0"/>
              <a:cs typeface="Cambria" panose="02040503050406030204" pitchFamily="18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232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6154" y="3790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penny stack that has the greatest volume. </a:t>
            </a:r>
          </a:p>
        </p:txBody>
      </p:sp>
      <p:pic>
        <p:nvPicPr>
          <p:cNvPr id="3" name="Picture 2" descr="A stack of coins&#10;&#10;Description automatically generated with medium confidence">
            <a:extLst>
              <a:ext uri="{FF2B5EF4-FFF2-40B4-BE49-F238E27FC236}">
                <a16:creationId xmlns:a16="http://schemas.microsoft.com/office/drawing/2014/main" id="{3A3A8577-7E56-B54E-A399-7A47ACED8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248" y="951855"/>
            <a:ext cx="7715503" cy="2800781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754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2688" y="144262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12.4.3 Exploration: Discovering the Volume of a Right Circular Cylinder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8277" y="388596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45861" y="1469962"/>
                <a:ext cx="10800000" cy="2769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penny stack with radius,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height,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an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empty cylinder with the same dimensions are shown.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76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4476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476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volume of the penny stack is                           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volume of the empty cylinder.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61" y="1469962"/>
                <a:ext cx="10800000" cy="2769989"/>
              </a:xfrm>
              <a:prstGeom prst="rect">
                <a:avLst/>
              </a:prstGeom>
              <a:blipFill rotWithShape="1">
                <a:blip r:embed="rId4"/>
                <a:stretch>
                  <a:fillRect l="-621" t="-131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B1B9FE05-F9C4-C546-AC25-1683E66299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5527" y="1427572"/>
            <a:ext cx="3310333" cy="3153305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3FD158F-92E6-174D-84D3-0F498D85822B}"/>
              </a:ext>
            </a:extLst>
          </p:cNvPr>
          <p:cNvSpPr/>
          <p:nvPr/>
        </p:nvSpPr>
        <p:spPr>
          <a:xfrm>
            <a:off x="5480022" y="2782055"/>
            <a:ext cx="2199442" cy="85303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equal to</a:t>
            </a:r>
          </a:p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 equal to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287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6154" y="378350"/>
            <a:ext cx="1161145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cylinder can be sliced to create a cross section.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cross section of the cylinder shown is the same size as the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cylinder. 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expression 		represents the area of the cross section of the cylinder.</a:t>
            </a:r>
          </a:p>
        </p:txBody>
      </p:sp>
      <p:pic>
        <p:nvPicPr>
          <p:cNvPr id="3" name="Picture 2" descr="Diagram, box and whisker chart&#10;&#10;Description automatically generated">
            <a:extLst>
              <a:ext uri="{FF2B5EF4-FFF2-40B4-BE49-F238E27FC236}">
                <a16:creationId xmlns:a16="http://schemas.microsoft.com/office/drawing/2014/main" id="{06712D95-888C-8C4F-B6D0-2C8CFD6E5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231" y="918224"/>
            <a:ext cx="5753302" cy="2375392"/>
          </a:xfrm>
          <a:prstGeom prst="rect">
            <a:avLst/>
          </a:prstGeom>
        </p:spPr>
      </p:pic>
      <p:sp>
        <p:nvSpPr>
          <p:cNvPr id="8" name="Rectangle: Rounded Corners 32">
            <a:extLst>
              <a:ext uri="{FF2B5EF4-FFF2-40B4-BE49-F238E27FC236}">
                <a16:creationId xmlns:a16="http://schemas.microsoft.com/office/drawing/2014/main" id="{4A35595C-E5BD-964C-B508-DEC89DE7A4CD}"/>
              </a:ext>
            </a:extLst>
          </p:cNvPr>
          <p:cNvSpPr/>
          <p:nvPr/>
        </p:nvSpPr>
        <p:spPr>
          <a:xfrm>
            <a:off x="9250720" y="3670147"/>
            <a:ext cx="2446607" cy="112491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circular base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lateral area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66700" indent="-2667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height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32">
                <a:extLst>
                  <a:ext uri="{FF2B5EF4-FFF2-40B4-BE49-F238E27FC236}">
                    <a16:creationId xmlns:a16="http://schemas.microsoft.com/office/drawing/2014/main" id="{0E4DC62A-1951-F24A-949F-AA19BE7790C9}"/>
                  </a:ext>
                </a:extLst>
              </p:cNvPr>
              <p:cNvSpPr/>
              <p:nvPr/>
            </p:nvSpPr>
            <p:spPr>
              <a:xfrm>
                <a:off x="3110630" y="5043656"/>
                <a:ext cx="1071604" cy="782353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66700" indent="-2667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Cambria" panose="02040503050406030204" pitchFamily="18" charset="0"/>
                </a:endParaRPr>
              </a:p>
              <a:p>
                <a:pPr marL="266700" indent="-26670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: Rounded Corners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E4DC62A-1951-F24A-949F-AA19BE7790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630" y="5043656"/>
                <a:ext cx="1071604" cy="782353"/>
              </a:xfrm>
              <a:prstGeom prst="roundRect">
                <a:avLst/>
              </a:prstGeom>
              <a:blipFill rotWithShape="1">
                <a:blip r:embed="rId4"/>
                <a:stretch>
                  <a:fillRect l="-1117" b="-909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160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6154" y="378351"/>
            <a:ext cx="108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discuss the relationship between one of the cross sections of the cylinder and the capacity of the entire cylinder.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Summarize your discussion.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3642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8393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7566" y="378350"/>
            <a:ext cx="108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 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 measures the two-dimensional space an object takes up.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                 of the empty cylinder makes it a three-dimensional space,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multiple layers with the same area are stacked upon each other. 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find the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volume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a cylinder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multiply the _________ of the base by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___________ of the cylinder.</a:t>
            </a:r>
          </a:p>
        </p:txBody>
      </p:sp>
      <p:sp>
        <p:nvSpPr>
          <p:cNvPr id="6" name="Rectangle: Rounded Corners 32">
            <a:extLst>
              <a:ext uri="{FF2B5EF4-FFF2-40B4-BE49-F238E27FC236}">
                <a16:creationId xmlns:a16="http://schemas.microsoft.com/office/drawing/2014/main" id="{6CE54291-F053-EF4D-8083-8CAFB319C169}"/>
              </a:ext>
            </a:extLst>
          </p:cNvPr>
          <p:cNvSpPr/>
          <p:nvPr/>
        </p:nvSpPr>
        <p:spPr>
          <a:xfrm>
            <a:off x="2137883" y="1750271"/>
            <a:ext cx="1401630" cy="74756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radius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66700" indent="-2667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height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7423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8688" y="378351"/>
                <a:ext cx="10800000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formula represents the volume of a right cylinder?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the radius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height.</a:t>
                </a:r>
              </a:p>
              <a:p>
                <a:pPr marL="914400" indent="-457200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𝐶h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circumference of the base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the height.</a:t>
                </a:r>
              </a:p>
              <a:p>
                <a:pPr marL="914400" indent="-4572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𝐵h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area of the base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height.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88" y="378351"/>
                <a:ext cx="10800000" cy="2708434"/>
              </a:xfrm>
              <a:prstGeom prst="rect">
                <a:avLst/>
              </a:prstGeom>
              <a:blipFill rotWithShape="1">
                <a:blip r:embed="rId3"/>
                <a:stretch>
                  <a:fillRect l="-621" t="-135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8519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2688" y="103096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12.4.4 Guided Practice: Calculating the Volume of a Right Circular Cylinder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723" y="39104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36154" y="1453418"/>
                <a:ext cx="108000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diagram of a right circular cylinder is shown with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radius,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meters (m.) and height,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of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m. 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Shade in the base of the cylinder.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Calculate the area of the base. Leave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use the appropriate units. 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Calculate the volume of the cylinder. Leave in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use the appropriate units.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4" y="1453418"/>
                <a:ext cx="10800000" cy="4401205"/>
              </a:xfrm>
              <a:prstGeom prst="rect">
                <a:avLst/>
              </a:prstGeom>
              <a:blipFill rotWithShape="1">
                <a:blip r:embed="rId4"/>
                <a:stretch>
                  <a:fillRect l="-621" t="-83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6D98F8FC-D3EA-E548-8157-5082910CCB8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60"/>
          <a:stretch/>
        </p:blipFill>
        <p:spPr>
          <a:xfrm>
            <a:off x="8399587" y="1428796"/>
            <a:ext cx="2936567" cy="1802422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5032" y="383247"/>
                <a:ext cx="10800000" cy="391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a cylinder with a radius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(in.) and a height of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10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</a:t>
                </a:r>
              </a:p>
              <a:p>
                <a:pPr marL="914400" lvl="1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Sketch the cylinder and label its dimensions.  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Calculate the volume of the cylinder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approximate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Round to the nearest thousandth and use appropriate units. 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32" y="383247"/>
                <a:ext cx="10800000" cy="3913572"/>
              </a:xfrm>
              <a:prstGeom prst="rect">
                <a:avLst/>
              </a:prstGeom>
              <a:blipFill rotWithShape="1">
                <a:blip r:embed="rId3"/>
                <a:stretch>
                  <a:fillRect l="-564" t="-93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58405" y="3935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12.4.5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837" y="393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36154" y="1337034"/>
                <a:ext cx="108000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Suppose three cylinders each have the same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centimeters (cm.). Cylinder 1 has a radius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cm. Cylinder 2 has a radius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cm. Cylinder 3 has a radius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cm. Label the cylinders with their heights and radii, then find the volume of each cylinder.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approximate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Round your answers to the nearest tenth and include appropriate units.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4" y="1337034"/>
                <a:ext cx="10800000" cy="2246769"/>
              </a:xfrm>
              <a:prstGeom prst="rect">
                <a:avLst/>
              </a:prstGeom>
              <a:blipFill rotWithShape="1">
                <a:blip r:embed="rId4"/>
                <a:stretch>
                  <a:fillRect l="-621" t="-1626" r="-112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558690"/>
                  </p:ext>
                </p:extLst>
              </p:nvPr>
            </p:nvGraphicFramePr>
            <p:xfrm>
              <a:off x="2581706" y="3159087"/>
              <a:ext cx="7592182" cy="300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853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068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Cylinder Number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Label with Height and Radius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Volume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558690"/>
                  </p:ext>
                </p:extLst>
              </p:nvPr>
            </p:nvGraphicFramePr>
            <p:xfrm>
              <a:off x="2581706" y="3159087"/>
              <a:ext cx="7592182" cy="300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853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068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Cylinder Number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Label with Height and Radius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Volume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32597" r="-323239" b="-1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545" t="7164" r="64886" b="10047"/>
          <a:stretch/>
        </p:blipFill>
        <p:spPr bwMode="auto">
          <a:xfrm>
            <a:off x="5556367" y="3951040"/>
            <a:ext cx="883286" cy="20571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7812124"/>
                  </p:ext>
                </p:extLst>
              </p:nvPr>
            </p:nvGraphicFramePr>
            <p:xfrm>
              <a:off x="2579230" y="529225"/>
              <a:ext cx="7592182" cy="5292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853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068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Cylinder Number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Label with Height and Radius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Volume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7812124"/>
                  </p:ext>
                </p:extLst>
              </p:nvPr>
            </p:nvGraphicFramePr>
            <p:xfrm>
              <a:off x="2579230" y="529225"/>
              <a:ext cx="7592182" cy="5292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853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068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Cylinder Number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Label with Height and Radius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Volume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" t="-32778" r="-322535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" t="-132044" r="-322535" b="-1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 descr="Shap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7907" y="1677247"/>
            <a:ext cx="2002155" cy="123444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2705" y="3648181"/>
            <a:ext cx="1392555" cy="210820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7196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50463" y="1043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12.4.6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633" y="393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6154" y="1465562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371F58-62C3-A649-96E2-E1AF5D16A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60935"/>
              </p:ext>
            </p:extLst>
          </p:nvPr>
        </p:nvGraphicFramePr>
        <p:xfrm>
          <a:off x="1150463" y="1957591"/>
          <a:ext cx="10260000" cy="4054836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val="4014241200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2096782494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254647340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terms and information used in the Exploration and Guided Practice that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knew were …</a:t>
                      </a:r>
                    </a:p>
                  </a:txBody>
                  <a:tcPr marL="43513" marR="43513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Something I wondered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during the Exploration and Guided Practice was …</a:t>
                      </a:r>
                    </a:p>
                  </a:txBody>
                  <a:tcPr marL="43513" marR="43513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Something I learned during the Exploration and Guided Practice was …</a:t>
                      </a:r>
                    </a:p>
                  </a:txBody>
                  <a:tcPr marL="43513" marR="43513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601094"/>
                  </a:ext>
                </a:extLst>
              </a:tr>
              <a:tr h="225483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8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 </a:t>
                      </a:r>
                      <a:endParaRPr lang="en-US" sz="8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8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800" dirty="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L="43513" marR="43513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800" dirty="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L="43513" marR="43513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800" dirty="0">
                        <a:effectLst/>
                        <a:latin typeface="Verdana" pitchFamily="34" charset="0"/>
                        <a:ea typeface="Verdana" pitchFamily="34" charset="0"/>
                        <a:cs typeface="Cambria" panose="02040503050406030204" pitchFamily="18" charset="0"/>
                      </a:endParaRPr>
                    </a:p>
                  </a:txBody>
                  <a:tcPr marL="43513" marR="43513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792042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89924" y="65020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1157</Words>
  <Application>Microsoft Macintosh PowerPoint</Application>
  <PresentationFormat>Widescreen</PresentationFormat>
  <Paragraphs>190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Calibri</vt:lpstr>
      <vt:lpstr>Arial Black</vt:lpstr>
      <vt:lpstr>Cambria Math</vt:lpstr>
      <vt:lpstr>Verdana</vt:lpstr>
      <vt:lpstr>Courier New</vt:lpstr>
      <vt:lpstr>Arial</vt:lpstr>
      <vt:lpstr>Cambria</vt:lpstr>
      <vt:lpstr>Century Gothic</vt:lpstr>
      <vt:lpstr>1_Office Theme</vt:lpstr>
      <vt:lpstr>7th Grade Math  Unit 12, Lesson 4  Volume of Right Circular Cylinders – Part 1  Volume 2, pg. 212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33</cp:revision>
  <dcterms:created xsi:type="dcterms:W3CDTF">2015-03-17T18:51:18Z</dcterms:created>
  <dcterms:modified xsi:type="dcterms:W3CDTF">2023-02-01T19:09:02Z</dcterms:modified>
</cp:coreProperties>
</file>