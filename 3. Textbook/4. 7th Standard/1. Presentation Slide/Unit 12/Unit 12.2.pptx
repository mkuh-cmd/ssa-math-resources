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289" r:id="rId8"/>
    <p:sldId id="290" r:id="rId9"/>
    <p:sldId id="366" r:id="rId10"/>
    <p:sldId id="372" r:id="rId11"/>
    <p:sldId id="373" r:id="rId12"/>
    <p:sldId id="374" r:id="rId13"/>
    <p:sldId id="323" r:id="rId14"/>
    <p:sldId id="324" r:id="rId15"/>
    <p:sldId id="367" r:id="rId16"/>
    <p:sldId id="302" r:id="rId17"/>
    <p:sldId id="303" r:id="rId18"/>
    <p:sldId id="306" r:id="rId19"/>
    <p:sldId id="307" r:id="rId20"/>
  </p:sldIdLst>
  <p:sldSz cx="12192000" cy="6858000"/>
  <p:notesSz cx="6858000" cy="9144000"/>
  <p:embeddedFontLst>
    <p:embeddedFont>
      <p:font typeface="Arial Black" panose="020B0604020202020204" pitchFamily="34" charset="0"/>
      <p:bold r:id="rId22"/>
    </p:embeddedFont>
    <p:embeddedFont>
      <p:font typeface="Calibri" panose="020F0502020204030204" pitchFamily="34" charset="0"/>
      <p:regular r:id="rId23"/>
      <p:bold r:id="rId24"/>
      <p:italic r:id="rId25"/>
      <p:boldItalic r:id="rId26"/>
    </p:embeddedFont>
    <p:embeddedFont>
      <p:font typeface="Cambria Math" panose="02040503050406030204" pitchFamily="18" charset="0"/>
      <p:regular r:id="rId27"/>
    </p:embeddedFont>
    <p:embeddedFont>
      <p:font typeface="Century Gothic" panose="020B0502020202020204" pitchFamily="34"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38" autoAdjust="0"/>
    <p:restoredTop sz="94707" autoAdjust="0"/>
  </p:normalViewPr>
  <p:slideViewPr>
    <p:cSldViewPr snapToGrid="0">
      <p:cViewPr varScale="1">
        <p:scale>
          <a:sx n="128" d="100"/>
          <a:sy n="128" d="100"/>
        </p:scale>
        <p:origin x="440"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13949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181562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272966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40178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181522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59670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8.png"/><Relationship Id="rId7" Type="http://schemas.openxmlformats.org/officeDocument/2006/relationships/image" Target="../media/image19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0.png"/><Relationship Id="rId11" Type="http://schemas.openxmlformats.org/officeDocument/2006/relationships/image" Target="../media/image19.png"/><Relationship Id="rId10" Type="http://schemas.openxmlformats.org/officeDocument/2006/relationships/image" Target="../media/image10.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png"/><Relationship Id="rId10" Type="http://schemas.openxmlformats.org/officeDocument/2006/relationships/image" Target="../media/image10.png"/><Relationship Id="rId4" Type="http://schemas.openxmlformats.org/officeDocument/2006/relationships/hyperlink" Target="http://www.allwhitebackground.com/drum.html" TargetMode="External"/><Relationship Id="rId9" Type="http://schemas.openxmlformats.org/officeDocument/2006/relationships/image" Target="../media/image24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1005" y="1783180"/>
            <a:ext cx="3126752" cy="3644900"/>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695209" y="2054277"/>
            <a:ext cx="522044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12,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rPr>
              <a:t>Finding Surface Area of Right Circular Cylinders</a:t>
            </a:r>
            <a:br>
              <a:rPr lang="en-US" sz="3800" b="1" dirty="0">
                <a:solidFill>
                  <a:srgbClr val="417DBF"/>
                </a:solidFill>
                <a:latin typeface="Verdana"/>
                <a:ea typeface="Verdana"/>
                <a:sym typeface="Verdana"/>
              </a:rPr>
            </a:b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204</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3600" dirty="0">
                <a:solidFill>
                  <a:schemeClr val="tx1"/>
                </a:solidFill>
                <a:latin typeface="Verdana"/>
                <a:ea typeface="Verdana"/>
                <a:cs typeface="Verdana"/>
                <a:sym typeface="Verdana"/>
              </a:rPr>
              <a:t>MA.</a:t>
            </a:r>
            <a:r>
              <a:rPr lang="en-US" sz="3600" dirty="0">
                <a:solidFill>
                  <a:schemeClr val="tx1"/>
                </a:solidFill>
                <a:latin typeface="Verdana"/>
                <a:ea typeface="Verdana"/>
                <a:cs typeface="Verdana"/>
              </a:rPr>
              <a:t>7.GR.2.1 </a:t>
            </a:r>
            <a:endParaRPr lang="en-US" sz="3600" dirty="0">
              <a:solidFill>
                <a:schemeClr val="tx1"/>
              </a:solidFill>
              <a:latin typeface="Verdana"/>
              <a:ea typeface="Verdana"/>
              <a:cs typeface="Verdana"/>
              <a:sym typeface="Verdana"/>
            </a:endParaRPr>
          </a:p>
          <a:p>
            <a:pPr indent="0">
              <a:lnSpc>
                <a:spcPct val="100000"/>
              </a:lnSpc>
              <a:spcBef>
                <a:spcPts val="0"/>
              </a:spcBef>
              <a:buNone/>
            </a:pPr>
            <a:r>
              <a:rPr lang="en-US" sz="3600" dirty="0">
                <a:solidFill>
                  <a:schemeClr val="tx1"/>
                </a:solidFill>
                <a:latin typeface="Verdana"/>
                <a:ea typeface="Verdana"/>
                <a:cs typeface="Verdana"/>
              </a:rPr>
              <a:t>Given a mathematical or real-world context, find the surface area of a right circular cylinder using the figure’s net.</a:t>
            </a:r>
          </a:p>
          <a:p>
            <a:pPr indent="0">
              <a:lnSpc>
                <a:spcPct val="100000"/>
              </a:lnSpc>
              <a:spcBef>
                <a:spcPts val="0"/>
              </a:spcBef>
              <a:buNone/>
            </a:pPr>
            <a:endParaRPr lang="en-US" sz="3600" dirty="0">
              <a:solidFill>
                <a:schemeClr val="tx1"/>
              </a:solidFill>
              <a:latin typeface="Verdana"/>
              <a:ea typeface="Verdana"/>
              <a:cs typeface="Verdana"/>
            </a:endParaRPr>
          </a:p>
          <a:p>
            <a:pPr marL="9525" indent="0">
              <a:lnSpc>
                <a:spcPct val="100000"/>
              </a:lnSpc>
              <a:spcBef>
                <a:spcPts val="0"/>
              </a:spcBef>
              <a:buNone/>
            </a:pPr>
            <a:r>
              <a:rPr lang="en-US" sz="3600" dirty="0">
                <a:solidFill>
                  <a:schemeClr val="tx1"/>
                </a:solidFill>
                <a:latin typeface="Verdana"/>
                <a:ea typeface="Verdana"/>
                <a:cs typeface="Verdana"/>
              </a:rPr>
              <a:t>MA.7.GR.2.2 </a:t>
            </a:r>
            <a:endParaRPr lang="en-US" sz="3600" dirty="0">
              <a:solidFill>
                <a:schemeClr val="tx1"/>
              </a:solidFill>
              <a:latin typeface="Verdana"/>
              <a:ea typeface="Verdana"/>
              <a:cs typeface="Verdana"/>
              <a:sym typeface="Century Gothic"/>
            </a:endParaRPr>
          </a:p>
          <a:p>
            <a:pPr indent="0">
              <a:lnSpc>
                <a:spcPct val="100000"/>
              </a:lnSpc>
              <a:spcBef>
                <a:spcPts val="0"/>
              </a:spcBef>
              <a:buNone/>
            </a:pPr>
            <a:r>
              <a:rPr lang="en-US" sz="3600" dirty="0">
                <a:solidFill>
                  <a:schemeClr val="tx1"/>
                </a:solidFill>
                <a:latin typeface="Verdana"/>
                <a:ea typeface="Verdana"/>
                <a:cs typeface="Verdana"/>
              </a:rPr>
              <a:t>Solve real-world problems involving surface area of right circular cylinders.</a:t>
            </a:r>
            <a:endParaRPr lang="en-US" sz="3600" dirty="0">
              <a:solidFill>
                <a:schemeClr val="tx1"/>
              </a:solidFill>
              <a:latin typeface="Verdana"/>
              <a:ea typeface="Verdana"/>
              <a:cs typeface="Verdana"/>
              <a:sym typeface="Century Gothic"/>
            </a:endParaRPr>
          </a:p>
        </p:txBody>
      </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204</a:t>
            </a: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204</a:t>
            </a:r>
          </a:p>
        </p:txBody>
      </p:sp>
      <p:pic>
        <p:nvPicPr>
          <p:cNvPr id="12"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3"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5"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204</a:t>
            </a: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600" dirty="0">
                <a:solidFill>
                  <a:schemeClr val="tx1"/>
                </a:solidFill>
                <a:latin typeface="Verdana"/>
                <a:ea typeface="Verdana"/>
                <a:cs typeface="Verdana"/>
              </a:rPr>
              <a:t>I can draw the net of a right circular cylinder. </a:t>
            </a:r>
          </a:p>
          <a:p>
            <a:pPr marL="685800" indent="-685800">
              <a:buFont typeface="Wingdings" pitchFamily="2" charset="2"/>
              <a:buChar char="q"/>
            </a:pPr>
            <a:endParaRPr lang="en-US" sz="3600" dirty="0">
              <a:solidFill>
                <a:schemeClr val="tx1"/>
              </a:solidFill>
              <a:latin typeface="Verdana"/>
              <a:ea typeface="Verdana"/>
              <a:cs typeface="Verdana"/>
            </a:endParaRPr>
          </a:p>
          <a:p>
            <a:pPr marL="685800" indent="-685800">
              <a:buFont typeface="Wingdings" pitchFamily="2" charset="2"/>
              <a:buChar char="q"/>
            </a:pPr>
            <a:r>
              <a:rPr lang="en-US" sz="3600" dirty="0">
                <a:solidFill>
                  <a:schemeClr val="tx1"/>
                </a:solidFill>
                <a:latin typeface="Verdana"/>
                <a:ea typeface="Verdana"/>
                <a:cs typeface="Verdana"/>
              </a:rPr>
              <a:t>I can find the surface area of a right circular cylinder.</a:t>
            </a:r>
          </a:p>
        </p:txBody>
      </p:sp>
      <p:sp>
        <p:nvSpPr>
          <p:cNvPr id="15" name="Google Shape;301;g103996e1364_0_16">
            <a:extLst>
              <a:ext uri="{FF2B5EF4-FFF2-40B4-BE49-F238E27FC236}">
                <a16:creationId xmlns:a16="http://schemas.microsoft.com/office/drawing/2014/main"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6"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204</a:t>
            </a: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5" name="Google Shape;170;p4"/>
          <p:cNvSpPr txBox="1"/>
          <p:nvPr/>
        </p:nvSpPr>
        <p:spPr>
          <a:xfrm>
            <a:off x="914400" y="1386026"/>
            <a:ext cx="10713750" cy="3046948"/>
          </a:xfrm>
          <a:prstGeom prst="rect">
            <a:avLst/>
          </a:prstGeom>
          <a:noFill/>
          <a:ln>
            <a:noFill/>
          </a:ln>
        </p:spPr>
        <p:txBody>
          <a:bodyPr spcFirstLastPara="1" wrap="square" lIns="91425" tIns="45700" rIns="91425" bIns="45700" anchor="t" anchorCtr="0">
            <a:spAutoFit/>
          </a:bodyPr>
          <a:lstStyle/>
          <a:p>
            <a:r>
              <a:rPr lang="en-US" sz="2400" dirty="0" err="1">
                <a:latin typeface="Verdana" panose="020B0604030504040204" pitchFamily="34" charset="0"/>
                <a:ea typeface="Verdana" panose="020B0604030504040204" pitchFamily="34" charset="0"/>
                <a:cs typeface="Verdana" panose="020B0604030504040204" pitchFamily="34" charset="0"/>
              </a:rPr>
              <a:t>Joenel</a:t>
            </a:r>
            <a:r>
              <a:rPr lang="en-US" sz="2400" dirty="0">
                <a:latin typeface="Verdana" panose="020B0604030504040204" pitchFamily="34" charset="0"/>
                <a:ea typeface="Verdana" panose="020B0604030504040204" pitchFamily="34" charset="0"/>
                <a:cs typeface="Verdana" panose="020B0604030504040204" pitchFamily="34" charset="0"/>
              </a:rPr>
              <a:t> Johnson, a senior manufacturing engineer, mentions that one of his responsibilities is to interpret and explain, in layman’s terms (common language), the drawings of the design engineers to the technicians he works with.</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Describe a time when you had to interpret for yourself or explain a math problem to a partner. What did you do to ensure that you or your partner understood the problem?</a:t>
            </a:r>
          </a:p>
        </p:txBody>
      </p:sp>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204</a:t>
            </a: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2" name="Google Shape;167;p4"/>
          <p:cNvSpPr txBox="1"/>
          <p:nvPr/>
        </p:nvSpPr>
        <p:spPr>
          <a:xfrm>
            <a:off x="1143000" y="182113"/>
            <a:ext cx="10515600" cy="10894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12.2.1 Warm-Up: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rPr>
              <a:t>Manufacturing Engineer</a:t>
            </a:r>
            <a:endParaRPr lang="en-US" sz="3600" b="1" dirty="0">
              <a:solidFill>
                <a:srgbClr val="3F2A67"/>
              </a:solidFill>
              <a:latin typeface="Verdana"/>
              <a:ea typeface="Verdana"/>
              <a:cs typeface="Verdana"/>
              <a:sym typeface="Verdana"/>
            </a:endParaRPr>
          </a:p>
        </p:txBody>
      </p:sp>
      <p:pic>
        <p:nvPicPr>
          <p:cNvPr id="14" name="Google Shape;168;p4"/>
          <p:cNvPicPr preferRelativeResize="0"/>
          <p:nvPr/>
        </p:nvPicPr>
        <p:blipFill rotWithShape="1">
          <a:blip r:embed="rId4">
            <a:alphaModFix/>
          </a:blip>
          <a:srcRect/>
          <a:stretch/>
        </p:blipFill>
        <p:spPr>
          <a:xfrm>
            <a:off x="356616" y="353207"/>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01B13E8-EC8D-E443-A329-C5E3593DD13A}"/>
                  </a:ext>
                </a:extLst>
              </p:cNvPr>
              <p:cNvSpPr txBox="1"/>
              <p:nvPr/>
            </p:nvSpPr>
            <p:spPr>
              <a:xfrm>
                <a:off x="914400" y="1386025"/>
                <a:ext cx="10744200" cy="175913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Assume that a can of soda is in the shape of right circular cylinder.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find the surface area of a can of soda whose diameter is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8 </m:t>
                    </m:r>
                  </m:oMath>
                </a14:m>
                <a:r>
                  <a:rPr lang="en-US" sz="2000" dirty="0">
                    <a:latin typeface="Verdana" panose="020B0604030504040204" pitchFamily="34" charset="0"/>
                    <a:ea typeface="Verdana" panose="020B0604030504040204" pitchFamily="34" charset="0"/>
                    <a:cs typeface="Verdana" panose="020B0604030504040204" pitchFamily="34" charset="0"/>
                  </a:rPr>
                  <a:t>centimeters (cm.) with a height of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13 </m:t>
                    </m:r>
                  </m:oMath>
                </a14:m>
                <a:r>
                  <a:rPr lang="en-US" sz="2000" dirty="0">
                    <a:latin typeface="Verdana" panose="020B0604030504040204" pitchFamily="34" charset="0"/>
                    <a:ea typeface="Verdana" panose="020B0604030504040204" pitchFamily="34" charset="0"/>
                    <a:cs typeface="Verdana" panose="020B0604030504040204" pitchFamily="34" charset="0"/>
                  </a:rPr>
                  <a:t>cm. Use </a:t>
                </a:r>
                <a14:m>
                  <m:oMath xmlns:m="http://schemas.openxmlformats.org/officeDocument/2006/math">
                    <m:f>
                      <m:fPr>
                        <m:ctrlPr>
                          <a:rPr lang="en-US" sz="2000" i="1">
                            <a:latin typeface="Cambria Math" panose="02040503050406030204" pitchFamily="18" charset="0"/>
                          </a:rPr>
                        </m:ctrlPr>
                      </m:fPr>
                      <m:num>
                        <m:r>
                          <a:rPr lang="en-US" sz="2000">
                            <a:latin typeface="Cambria Math"/>
                          </a:rPr>
                          <m:t>22</m:t>
                        </m:r>
                      </m:num>
                      <m:den>
                        <m:r>
                          <a:rPr lang="en-US" sz="2000">
                            <a:latin typeface="Cambria Math"/>
                          </a:rPr>
                          <m:t>7</m:t>
                        </m:r>
                      </m:den>
                    </m:f>
                  </m:oMath>
                </a14:m>
                <a:r>
                  <a:rPr lang="en-US" sz="2000" dirty="0">
                    <a:latin typeface="Verdana" panose="020B0604030504040204" pitchFamily="34" charset="0"/>
                    <a:ea typeface="Verdana" panose="020B0604030504040204" pitchFamily="34" charset="0"/>
                    <a:cs typeface="Verdana" panose="020B0604030504040204" pitchFamily="34" charset="0"/>
                  </a:rPr>
                  <a:t> for </a:t>
                </a:r>
                <a14:m>
                  <m:oMath xmlns:m="http://schemas.openxmlformats.org/officeDocument/2006/math">
                    <m:r>
                      <a:rPr lang="en-US" sz="2000">
                        <a:latin typeface="Cambria Math"/>
                      </a:rPr>
                      <m:t>𝜋</m:t>
                    </m:r>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Round your answer to the nearest thousandth.</a:t>
                </a:r>
              </a:p>
            </p:txBody>
          </p:sp>
        </mc:Choice>
        <mc:Fallback xmlns="">
          <p:sp>
            <p:nvSpPr>
              <p:cNvPr id="15" name="TextBox 14">
                <a:extLst>
                  <a:ext uri="{FF2B5EF4-FFF2-40B4-BE49-F238E27FC236}">
                    <a16:creationId xmlns:a14="http://schemas.microsoft.com/office/drawing/2010/main" xmlns=""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914400" y="1386025"/>
                <a:ext cx="10744200" cy="1759136"/>
              </a:xfrm>
              <a:prstGeom prst="rect">
                <a:avLst/>
              </a:prstGeom>
              <a:blipFill rotWithShape="1">
                <a:blip r:embed="rId3"/>
                <a:stretch>
                  <a:fillRect l="-567" t="-2076" b="-5190"/>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p:cNvGraphicFramePr>
            <a:graphicFrameLocks noGrp="1"/>
          </p:cNvGraphicFramePr>
          <p:nvPr>
            <p:extLst>
              <p:ext uri="{D42A27DB-BD31-4B8C-83A1-F6EECF244321}">
                <p14:modId xmlns:p14="http://schemas.microsoft.com/office/powerpoint/2010/main" val="753964345"/>
              </p:ext>
            </p:extLst>
          </p:nvPr>
        </p:nvGraphicFramePr>
        <p:xfrm>
          <a:off x="2960413" y="3495214"/>
          <a:ext cx="6840000" cy="2520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1260000">
                <a:tc>
                  <a:txBody>
                    <a:bodyPr/>
                    <a:lstStyle/>
                    <a:p>
                      <a:pPr marL="0" marR="0" algn="ctr">
                        <a:spcBef>
                          <a:spcPts val="0"/>
                        </a:spcBef>
                        <a:spcAft>
                          <a:spcPts val="0"/>
                        </a:spcAft>
                      </a:pPr>
                      <a:r>
                        <a:rPr lang="en-US" sz="2000" b="1" dirty="0">
                          <a:effectLst/>
                          <a:latin typeface="Verdana" pitchFamily="34" charset="0"/>
                          <a:ea typeface="Verdana" pitchFamily="34" charset="0"/>
                        </a:rPr>
                        <a:t>Draw a net and </a:t>
                      </a:r>
                      <a:br>
                        <a:rPr lang="en-US" sz="2000" b="1" dirty="0">
                          <a:effectLst/>
                          <a:latin typeface="Verdana" pitchFamily="34" charset="0"/>
                          <a:ea typeface="Verdana" pitchFamily="34" charset="0"/>
                        </a:rPr>
                      </a:br>
                      <a:r>
                        <a:rPr lang="en-US" sz="2000" b="1" dirty="0">
                          <a:effectLst/>
                          <a:latin typeface="Verdana" pitchFamily="34" charset="0"/>
                          <a:ea typeface="Verdana" pitchFamily="34" charset="0"/>
                        </a:rPr>
                        <a:t>label its dimensions.</a:t>
                      </a:r>
                    </a:p>
                    <a:p>
                      <a:pPr marL="0" marR="0" algn="ctr">
                        <a:spcBef>
                          <a:spcPts val="0"/>
                        </a:spcBef>
                        <a:spcAft>
                          <a:spcPts val="0"/>
                        </a:spcAft>
                      </a:pPr>
                      <a:r>
                        <a:rPr lang="en-US" sz="2000" b="1" dirty="0">
                          <a:effectLst/>
                          <a:latin typeface="Verdana" pitchFamily="34" charset="0"/>
                          <a:ea typeface="Verdana" pitchFamily="34" charset="0"/>
                        </a:rPr>
                        <a:t>(Include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2">
                  <a:txBody>
                    <a:bodyPr/>
                    <a:lstStyle/>
                    <a:p>
                      <a:pPr marL="0" marR="0" algn="ctr">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0000"/>
                  </a:ext>
                </a:extLst>
              </a:tr>
              <a:tr h="1260000">
                <a:tc>
                  <a:txBody>
                    <a:bodyPr/>
                    <a:lstStyle/>
                    <a:p>
                      <a:pPr marL="0" marR="0" algn="ctr">
                        <a:spcBef>
                          <a:spcPts val="0"/>
                        </a:spcBef>
                        <a:spcAft>
                          <a:spcPts val="0"/>
                        </a:spcAft>
                      </a:pPr>
                      <a:r>
                        <a:rPr lang="en-US" sz="2000" b="1" dirty="0">
                          <a:effectLst/>
                          <a:latin typeface="Verdana" pitchFamily="34" charset="0"/>
                          <a:ea typeface="Verdana" pitchFamily="34" charset="0"/>
                        </a:rPr>
                        <a:t>Determine the area of one circular base.</a:t>
                      </a:r>
                    </a:p>
                    <a:p>
                      <a:pPr marL="0" marR="0" algn="ctr">
                        <a:spcBef>
                          <a:spcPts val="0"/>
                        </a:spcBef>
                        <a:spcAft>
                          <a:spcPts val="0"/>
                        </a:spcAft>
                      </a:pPr>
                      <a:r>
                        <a:rPr lang="en-US" sz="2000" b="1" dirty="0">
                          <a:effectLst/>
                          <a:latin typeface="Verdana" pitchFamily="34" charset="0"/>
                          <a:ea typeface="Verdana" pitchFamily="34" charset="0"/>
                        </a:rPr>
                        <a:t>(Include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2">
                  <a:txBody>
                    <a:bodyPr/>
                    <a:lstStyle/>
                    <a:p>
                      <a:pPr marL="0" marR="0" algn="ctr">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2"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5">
            <a:alphaModFix/>
          </a:blip>
          <a:srcRect/>
          <a:stretch/>
        </p:blipFill>
        <p:spPr>
          <a:xfrm>
            <a:off x="356616" y="201167"/>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17;p19"/>
          <p:cNvSpPr txBox="1"/>
          <p:nvPr/>
        </p:nvSpPr>
        <p:spPr>
          <a:xfrm>
            <a:off x="1143000" y="85473"/>
            <a:ext cx="10515600" cy="9786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12.2.2 Guided Instruction: </a:t>
            </a:r>
            <a:r>
              <a:rPr lang="en-US" sz="3200" b="1" dirty="0">
                <a:solidFill>
                  <a:srgbClr val="54B5D1"/>
                </a:solidFill>
                <a:latin typeface="Verdana"/>
                <a:ea typeface="Verdana"/>
                <a:cs typeface="Verdana"/>
              </a:rPr>
              <a:t>Finding the Surface Area of Right Circular Cylinder</a:t>
            </a:r>
            <a:endParaRPr lang="en-US" sz="3200" b="1" dirty="0">
              <a:solidFill>
                <a:srgbClr val="54B5D1"/>
              </a:solidFill>
              <a:latin typeface="Verdana"/>
              <a:ea typeface="Verdana"/>
              <a:cs typeface="Verdana"/>
              <a:sym typeface="Verdana"/>
            </a:endParaRPr>
          </a:p>
        </p:txBody>
      </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D94B6ED-12B1-BB46-993E-853781BA1888}"/>
                  </a:ext>
                </a:extLst>
              </p:cNvPr>
              <p:cNvGraphicFramePr>
                <a:graphicFrameLocks noGrp="1"/>
              </p:cNvGraphicFramePr>
              <p:nvPr>
                <p:extLst>
                  <p:ext uri="{D42A27DB-BD31-4B8C-83A1-F6EECF244321}">
                    <p14:modId xmlns:p14="http://schemas.microsoft.com/office/powerpoint/2010/main" val="2784295393"/>
                  </p:ext>
                </p:extLst>
              </p:nvPr>
            </p:nvGraphicFramePr>
            <p:xfrm>
              <a:off x="2136000" y="487736"/>
              <a:ext cx="7920000" cy="4680000"/>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2537092360"/>
                        </a:ext>
                      </a:extLst>
                    </a:gridCol>
                    <a:gridCol w="2520000">
                      <a:extLst>
                        <a:ext uri="{9D8B030D-6E8A-4147-A177-3AD203B41FA5}">
                          <a16:colId xmlns:a16="http://schemas.microsoft.com/office/drawing/2014/main" val="1650483042"/>
                        </a:ext>
                      </a:extLst>
                    </a:gridCol>
                    <a:gridCol w="1800000">
                      <a:extLst>
                        <a:ext uri="{9D8B030D-6E8A-4147-A177-3AD203B41FA5}">
                          <a16:colId xmlns:a16="http://schemas.microsoft.com/office/drawing/2014/main" val="2135583758"/>
                        </a:ext>
                      </a:extLst>
                    </a:gridCol>
                  </a:tblGrid>
                  <a:tr h="1440000">
                    <a:tc>
                      <a:txBody>
                        <a:bodyPr/>
                        <a:lstStyle/>
                        <a:p>
                          <a:pPr marL="0" marR="0" algn="ctr">
                            <a:spcBef>
                              <a:spcPts val="0"/>
                            </a:spcBef>
                            <a:spcAft>
                              <a:spcPts val="0"/>
                            </a:spcAft>
                          </a:pPr>
                          <a:r>
                            <a:rPr lang="en-US" sz="2000" b="1" dirty="0">
                              <a:effectLst/>
                              <a:latin typeface="Verdana" pitchFamily="34" charset="0"/>
                              <a:ea typeface="Verdana" pitchFamily="34" charset="0"/>
                            </a:rPr>
                            <a:t>Find the sum of the areas of both circular bases. (Include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2">
                      <a:txBody>
                        <a:bodyPr/>
                        <a:lstStyle/>
                        <a:p>
                          <a:pPr marL="0" marR="0" algn="ctr">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791881502"/>
                      </a:ext>
                    </a:extLst>
                  </a:tr>
                  <a:tr h="1080000">
                    <a:tc>
                      <a:txBody>
                        <a:bodyPr/>
                        <a:lstStyle/>
                        <a:p>
                          <a:pPr marL="0" marR="0" algn="ctr">
                            <a:spcBef>
                              <a:spcPts val="0"/>
                            </a:spcBef>
                            <a:spcAft>
                              <a:spcPts val="0"/>
                            </a:spcAft>
                          </a:pPr>
                          <a:r>
                            <a:rPr lang="en-US" sz="2000" b="1" dirty="0">
                              <a:effectLst/>
                              <a:latin typeface="Verdana" pitchFamily="34" charset="0"/>
                              <a:ea typeface="Verdana" pitchFamily="34" charset="0"/>
                            </a:rPr>
                            <a:t>Find the lateral area.</a:t>
                          </a:r>
                        </a:p>
                        <a:p>
                          <a:pPr marL="0" marR="0" algn="ctr">
                            <a:spcBef>
                              <a:spcPts val="0"/>
                            </a:spcBef>
                            <a:spcAft>
                              <a:spcPts val="0"/>
                            </a:spcAft>
                          </a:pPr>
                          <a:r>
                            <a:rPr lang="en-US" sz="2000" b="1" dirty="0">
                              <a:effectLst/>
                              <a:latin typeface="Verdana" pitchFamily="34" charset="0"/>
                              <a:ea typeface="Verdana" pitchFamily="34" charset="0"/>
                            </a:rPr>
                            <a:t>(Include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2">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467542372"/>
                      </a:ext>
                    </a:extLst>
                  </a:tr>
                  <a:tr h="1080000">
                    <a:tc rowSpan="2">
                      <a:txBody>
                        <a:bodyPr/>
                        <a:lstStyle/>
                        <a:p>
                          <a:pPr marL="0" marR="0" algn="ctr">
                            <a:spcBef>
                              <a:spcPts val="0"/>
                            </a:spcBef>
                            <a:spcAft>
                              <a:spcPts val="0"/>
                            </a:spcAft>
                          </a:pPr>
                          <a:r>
                            <a:rPr lang="en-US" sz="2000" b="1" dirty="0">
                              <a:effectLst/>
                              <a:latin typeface="Verdana" pitchFamily="34" charset="0"/>
                              <a:ea typeface="Verdana" pitchFamily="34" charset="0"/>
                            </a:rPr>
                            <a:t>Find the sum of the areas for all the parts.</a:t>
                          </a:r>
                        </a:p>
                        <a:p>
                          <a:pPr marL="0" marR="0" algn="ctr">
                            <a:spcBef>
                              <a:spcPts val="0"/>
                            </a:spcBef>
                            <a:spcAft>
                              <a:spcPts val="0"/>
                            </a:spcAft>
                          </a:pPr>
                          <a:r>
                            <a:rPr lang="en-US" sz="2000" b="1" dirty="0">
                              <a:effectLst/>
                              <a:latin typeface="Verdana" pitchFamily="34" charset="0"/>
                              <a:ea typeface="Verdana" pitchFamily="34" charset="0"/>
                            </a:rPr>
                            <a:t>(Include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Sum of the Areas of the Circular Bases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itchFamily="34" charset="0"/>
                              <a:ea typeface="Verdana" pitchFamily="34" charset="0"/>
                            </a:rPr>
                            <a:t>Lateral Area</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3762487"/>
                      </a:ext>
                    </a:extLst>
                  </a:tr>
                  <a:tr h="1080000">
                    <a:tc vMerge="1">
                      <a:txBody>
                        <a:bodyPr/>
                        <a:lstStyle/>
                        <a:p>
                          <a:endParaRPr lang="en-US"/>
                        </a:p>
                      </a:txBody>
                      <a:tcPr/>
                    </a:tc>
                    <a:tc gridSpan="2">
                      <a:txBody>
                        <a:bodyPr/>
                        <a:lstStyle/>
                        <a:p>
                          <a:pPr marL="0" marR="0" algn="ctr">
                            <a:spcBef>
                              <a:spcPts val="0"/>
                            </a:spcBef>
                            <a:spcAft>
                              <a:spcPts val="0"/>
                            </a:spcAft>
                          </a:pPr>
                          <a:r>
                            <a:rPr lang="en-US" sz="2000" dirty="0">
                              <a:effectLst/>
                              <a:latin typeface="Verdana" pitchFamily="34" charset="0"/>
                              <a:ea typeface="Verdana" pitchFamily="34" charset="0"/>
                            </a:rPr>
                            <a:t> </a:t>
                          </a:r>
                          <a14:m>
                            <m:oMath xmlns:m="http://schemas.openxmlformats.org/officeDocument/2006/math">
                              <m:r>
                                <a:rPr lang="en-US" sz="2000" b="1">
                                  <a:effectLst/>
                                  <a:latin typeface="Cambria Math"/>
                                </a:rPr>
                                <m:t>≈</m:t>
                              </m:r>
                            </m:oMath>
                          </a14:m>
                          <a:r>
                            <a:rPr lang="en-US" sz="2000" b="1" dirty="0">
                              <a:effectLst/>
                              <a:latin typeface="Verdana" pitchFamily="34" charset="0"/>
                              <a:ea typeface="Verdana" pitchFamily="34" charset="0"/>
                            </a:rPr>
                            <a:t>___________</a:t>
                          </a:r>
                          <a:endParaRPr lang="en-US" sz="2000" b="1" dirty="0">
                            <a:effectLst/>
                            <a:latin typeface="Verdana" pitchFamily="34" charset="0"/>
                            <a:ea typeface="Verdana" pitchFamily="34" charset="0"/>
                            <a:cs typeface="Times New Roman" panose="02020603050405020304" pitchFamily="18" charset="0"/>
                          </a:endParaRPr>
                        </a:p>
                      </a:txBody>
                      <a:tcPr marL="137160" marR="137160" marT="137160" marB="13716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49327957"/>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2D94B6ED-12B1-BB46-993E-853781BA1888}"/>
                  </a:ext>
                </a:extLst>
              </p:cNvPr>
              <p:cNvGraphicFramePr>
                <a:graphicFrameLocks noGrp="1"/>
              </p:cNvGraphicFramePr>
              <p:nvPr>
                <p:extLst>
                  <p:ext uri="{D42A27DB-BD31-4B8C-83A1-F6EECF244321}">
                    <p14:modId xmlns:p14="http://schemas.microsoft.com/office/powerpoint/2010/main" val="2784295393"/>
                  </p:ext>
                </p:extLst>
              </p:nvPr>
            </p:nvGraphicFramePr>
            <p:xfrm>
              <a:off x="2136000" y="487736"/>
              <a:ext cx="7920000" cy="4680000"/>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xmlns:a14="http://schemas.microsoft.com/office/drawing/2010/main" xmlns="" val="2537092360"/>
                        </a:ext>
                      </a:extLst>
                    </a:gridCol>
                    <a:gridCol w="2520000">
                      <a:extLst>
                        <a:ext uri="{9D8B030D-6E8A-4147-A177-3AD203B41FA5}">
                          <a16:colId xmlns:a16="http://schemas.microsoft.com/office/drawing/2014/main" xmlns:a14="http://schemas.microsoft.com/office/drawing/2010/main" xmlns="" val="1650483042"/>
                        </a:ext>
                      </a:extLst>
                    </a:gridCol>
                    <a:gridCol w="1800000">
                      <a:extLst>
                        <a:ext uri="{9D8B030D-6E8A-4147-A177-3AD203B41FA5}">
                          <a16:colId xmlns:a16="http://schemas.microsoft.com/office/drawing/2014/main" xmlns:a14="http://schemas.microsoft.com/office/drawing/2010/main" xmlns="" val="2135583758"/>
                        </a:ext>
                      </a:extLst>
                    </a:gridCol>
                  </a:tblGrid>
                  <a:tr h="1440000">
                    <a:tc>
                      <a:txBody>
                        <a:bodyPr/>
                        <a:lstStyle/>
                        <a:p>
                          <a:pPr marL="0" marR="0" algn="ctr">
                            <a:spcBef>
                              <a:spcPts val="0"/>
                            </a:spcBef>
                            <a:spcAft>
                              <a:spcPts val="0"/>
                            </a:spcAft>
                          </a:pPr>
                          <a:r>
                            <a:rPr lang="en-US" sz="2000" b="1" dirty="0">
                              <a:effectLst/>
                              <a:latin typeface="Verdana" pitchFamily="34" charset="0"/>
                              <a:ea typeface="Verdana" pitchFamily="34" charset="0"/>
                            </a:rPr>
                            <a:t>Find the sum of the areas of both circular bases. (Include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2">
                      <a:txBody>
                        <a:bodyPr/>
                        <a:lstStyle/>
                        <a:p>
                          <a:pPr marL="0" marR="0" algn="ctr">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xmlns:a14="http://schemas.microsoft.com/office/drawing/2010/main" xmlns="" val="1791881502"/>
                      </a:ext>
                    </a:extLst>
                  </a:tr>
                  <a:tr h="1080000">
                    <a:tc>
                      <a:txBody>
                        <a:bodyPr/>
                        <a:lstStyle/>
                        <a:p>
                          <a:pPr marL="0" marR="0" algn="ctr">
                            <a:spcBef>
                              <a:spcPts val="0"/>
                            </a:spcBef>
                            <a:spcAft>
                              <a:spcPts val="0"/>
                            </a:spcAft>
                          </a:pPr>
                          <a:r>
                            <a:rPr lang="en-US" sz="2000" b="1" dirty="0">
                              <a:effectLst/>
                              <a:latin typeface="Verdana" pitchFamily="34" charset="0"/>
                              <a:ea typeface="Verdana" pitchFamily="34" charset="0"/>
                            </a:rPr>
                            <a:t>Find the lateral area.</a:t>
                          </a:r>
                        </a:p>
                        <a:p>
                          <a:pPr marL="0" marR="0" algn="ctr">
                            <a:spcBef>
                              <a:spcPts val="0"/>
                            </a:spcBef>
                            <a:spcAft>
                              <a:spcPts val="0"/>
                            </a:spcAft>
                          </a:pPr>
                          <a:r>
                            <a:rPr lang="en-US" sz="2000" b="1" dirty="0">
                              <a:effectLst/>
                              <a:latin typeface="Verdana" pitchFamily="34" charset="0"/>
                              <a:ea typeface="Verdana" pitchFamily="34" charset="0"/>
                            </a:rPr>
                            <a:t>(Include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2">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xmlns:a14="http://schemas.microsoft.com/office/drawing/2010/main" xmlns="" val="467542372"/>
                      </a:ext>
                    </a:extLst>
                  </a:tr>
                  <a:tr h="1080000">
                    <a:tc rowSpan="2">
                      <a:txBody>
                        <a:bodyPr/>
                        <a:lstStyle/>
                        <a:p>
                          <a:pPr marL="0" marR="0" algn="ctr">
                            <a:spcBef>
                              <a:spcPts val="0"/>
                            </a:spcBef>
                            <a:spcAft>
                              <a:spcPts val="0"/>
                            </a:spcAft>
                          </a:pPr>
                          <a:r>
                            <a:rPr lang="en-US" sz="2000" b="1" dirty="0">
                              <a:effectLst/>
                              <a:latin typeface="Verdana" pitchFamily="34" charset="0"/>
                              <a:ea typeface="Verdana" pitchFamily="34" charset="0"/>
                            </a:rPr>
                            <a:t>Find the sum of the areas for all the parts.</a:t>
                          </a:r>
                        </a:p>
                        <a:p>
                          <a:pPr marL="0" marR="0" algn="ctr">
                            <a:spcBef>
                              <a:spcPts val="0"/>
                            </a:spcBef>
                            <a:spcAft>
                              <a:spcPts val="0"/>
                            </a:spcAft>
                          </a:pPr>
                          <a:r>
                            <a:rPr lang="en-US" sz="2000" b="1" dirty="0">
                              <a:effectLst/>
                              <a:latin typeface="Verdana" pitchFamily="34" charset="0"/>
                              <a:ea typeface="Verdana" pitchFamily="34" charset="0"/>
                            </a:rPr>
                            <a:t>(Include units.)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Sum of the Areas of the Circular Bases</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itchFamily="34" charset="0"/>
                              <a:ea typeface="Verdana" pitchFamily="34" charset="0"/>
                            </a:rPr>
                            <a:t>Lateral Area</a:t>
                          </a:r>
                          <a:endParaRPr lang="en-US" sz="2000" b="1" dirty="0">
                            <a:effectLst/>
                            <a:latin typeface="Verdana" pitchFamily="34" charset="0"/>
                            <a:ea typeface="Verdana" pitchFamily="34" charset="0"/>
                            <a:cs typeface="Times New Roman" panose="02020603050405020304" pitchFamily="18" charset="0"/>
                          </a:endParaRPr>
                        </a:p>
                      </a:txBody>
                      <a:tcPr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2143762487"/>
                      </a:ext>
                    </a:extLst>
                  </a:tr>
                  <a:tr h="1080000">
                    <a:tc vMerge="1">
                      <a:txBody>
                        <a:bodyPr/>
                        <a:lstStyle/>
                        <a:p>
                          <a:endParaRPr lang="en-US"/>
                        </a:p>
                      </a:txBody>
                      <a:tcPr/>
                    </a:tc>
                    <a:tc gridSpan="2">
                      <a:txBody>
                        <a:bodyPr/>
                        <a:lstStyle/>
                        <a:p>
                          <a:endParaRPr lang="en-US"/>
                        </a:p>
                      </a:txBody>
                      <a:tcPr marL="137160" marR="137160" marT="137160" marB="13716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83357" t="-333898" b="-1695"/>
                          </a:stretch>
                        </a:blipFill>
                      </a:tcPr>
                    </a:tc>
                    <a:tc hMerge="1">
                      <a:txBody>
                        <a:bodyPr/>
                        <a:lstStyle/>
                        <a:p>
                          <a:endParaRPr lang="en-US"/>
                        </a:p>
                      </a:txBody>
                      <a:tcPr/>
                    </a:tc>
                    <a:extLst>
                      <a:ext uri="{0D108BD9-81ED-4DB2-BD59-A6C34878D82A}">
                        <a16:rowId xmlns:a16="http://schemas.microsoft.com/office/drawing/2014/main" xmlns:a14="http://schemas.microsoft.com/office/drawing/2010/main" xmlns="" val="149327957"/>
                      </a:ext>
                    </a:extLst>
                  </a:tr>
                </a:tbl>
              </a:graphicData>
            </a:graphic>
          </p:graphicFrame>
        </mc:Fallback>
      </mc:AlternateContent>
      <p:sp>
        <p:nvSpPr>
          <p:cNvPr id="8" name="Plus 7">
            <a:extLst>
              <a:ext uri="{FF2B5EF4-FFF2-40B4-BE49-F238E27FC236}">
                <a16:creationId xmlns:a16="http://schemas.microsoft.com/office/drawing/2014/main" id="{8BFD9F29-6034-4B41-AF9E-93C327EE6952}"/>
              </a:ext>
            </a:extLst>
          </p:cNvPr>
          <p:cNvSpPr/>
          <p:nvPr/>
        </p:nvSpPr>
        <p:spPr>
          <a:xfrm>
            <a:off x="8123469" y="3445976"/>
            <a:ext cx="279247" cy="226559"/>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000" dirty="0">
              <a:latin typeface="Verdana" pitchFamily="34" charset="0"/>
              <a:ea typeface="Verdana" pitchFamily="34" charset="0"/>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913172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7" name="Google Shape;179;p5"/>
              <p:cNvSpPr txBox="1"/>
              <p:nvPr/>
            </p:nvSpPr>
            <p:spPr>
              <a:xfrm>
                <a:off x="914400" y="487736"/>
                <a:ext cx="10515600" cy="3477835"/>
              </a:xfrm>
              <a:prstGeom prst="rect">
                <a:avLst/>
              </a:prstGeom>
              <a:noFill/>
              <a:ln>
                <a:noFill/>
              </a:ln>
            </p:spPr>
            <p:txBody>
              <a:bodyPr spcFirstLastPara="1" wrap="square" lIns="91425" tIns="45700" rIns="91425" bIns="45700" anchor="t" anchorCtr="0">
                <a:spAutoFit/>
              </a:bodyPr>
              <a:lstStyle/>
              <a:p>
                <a:pPr marL="923925" lvl="2"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surface area of a can of soda whose diameter is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8 </m:t>
                    </m:r>
                  </m:oMath>
                </a14:m>
                <a:r>
                  <a:rPr lang="en-US" sz="2000" dirty="0">
                    <a:latin typeface="Verdana" panose="020B0604030504040204" pitchFamily="34" charset="0"/>
                    <a:ea typeface="Verdana" panose="020B0604030504040204" pitchFamily="34" charset="0"/>
                    <a:cs typeface="Verdana" panose="020B0604030504040204" pitchFamily="34" charset="0"/>
                  </a:rPr>
                  <a:t>centimeters (cm.) with a height of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13 </m:t>
                    </m:r>
                  </m:oMath>
                </a14:m>
                <a:r>
                  <a:rPr lang="en-US" sz="2000" dirty="0">
                    <a:latin typeface="Verdana" panose="020B0604030504040204" pitchFamily="34" charset="0"/>
                    <a:ea typeface="Verdana" panose="020B0604030504040204" pitchFamily="34" charset="0"/>
                    <a:cs typeface="Verdana" panose="020B0604030504040204" pitchFamily="34" charset="0"/>
                  </a:rPr>
                  <a:t>cm?</a:t>
                </a:r>
              </a:p>
              <a:p>
                <a:pPr marL="922338" lvl="2"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5561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556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Your partner is absent from class today. Write a summary describing to your partner how to find the surface area of a right circular cylinder when given the cylinder’s height and diameter.</a:t>
                </a: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10515600" cy="3477835"/>
              </a:xfrm>
              <a:prstGeom prst="rect">
                <a:avLst/>
              </a:prstGeom>
              <a:blipFill rotWithShape="1">
                <a:blip r:embed="rId3"/>
                <a:stretch>
                  <a:fillRect t="-1051" b="-2102"/>
                </a:stretch>
              </a:blipFill>
              <a:ln>
                <a:noFill/>
              </a:ln>
            </p:spPr>
            <p:txBody>
              <a:bodyPr/>
              <a:lstStyle/>
              <a:p>
                <a:r>
                  <a:rPr lang="en-US">
                    <a:noFill/>
                  </a:rPr>
                  <a:t> </a:t>
                </a:r>
              </a:p>
            </p:txBody>
          </p:sp>
        </mc:Fallback>
      </mc:AlternateContent>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02693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205</a:t>
            </a: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sp>
            <p:nvSpPr>
              <p:cNvPr id="10" name="Google Shape;179;p5"/>
              <p:cNvSpPr txBox="1"/>
              <p:nvPr/>
            </p:nvSpPr>
            <p:spPr>
              <a:xfrm>
                <a:off x="914400" y="487736"/>
                <a:ext cx="10515600" cy="1323399"/>
              </a:xfrm>
              <a:prstGeom prst="rect">
                <a:avLst/>
              </a:prstGeom>
              <a:noFill/>
              <a:ln>
                <a:noFill/>
              </a:ln>
            </p:spPr>
            <p:txBody>
              <a:bodyPr spcFirstLastPara="1" wrap="square" lIns="91425" tIns="45700" rIns="91425" bIns="45700" anchor="t" anchorCtr="0">
                <a:spAutoFit/>
              </a:bodyPr>
              <a:lstStyle/>
              <a:p>
                <a:pPr marL="466725" lvl="2"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Evelyn stores all her gift wrap paper in a plastic storage bag that is shaped like a right cylinder. The storage bag is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41 </m:t>
                    </m:r>
                  </m:oMath>
                </a14:m>
                <a:r>
                  <a:rPr lang="en-US" sz="2000" dirty="0">
                    <a:latin typeface="Verdana" panose="020B0604030504040204" pitchFamily="34" charset="0"/>
                    <a:ea typeface="Verdana" panose="020B0604030504040204" pitchFamily="34" charset="0"/>
                    <a:cs typeface="Verdana" panose="020B0604030504040204" pitchFamily="34" charset="0"/>
                  </a:rPr>
                  <a:t>inches (in.) tall, and its radius measures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5.6</m:t>
                    </m:r>
                  </m:oMath>
                </a14:m>
                <a:r>
                  <a:rPr lang="en-US" sz="2000" dirty="0">
                    <a:latin typeface="Verdana" panose="020B0604030504040204" pitchFamily="34" charset="0"/>
                    <a:ea typeface="Verdana" panose="020B0604030504040204" pitchFamily="34" charset="0"/>
                    <a:cs typeface="Verdana" panose="020B0604030504040204" pitchFamily="34" charset="0"/>
                  </a:rPr>
                  <a:t> in. What is the surface area of Evelyn’s storage bag? Leave your answer in terms of </a:t>
                </a:r>
                <a14:m>
                  <m:oMath xmlns:m="http://schemas.openxmlformats.org/officeDocument/2006/math">
                    <m:r>
                      <a:rPr lang="en-US" sz="2000">
                        <a:latin typeface="Cambria Math"/>
                        <a:ea typeface="Verdana" panose="020B0604030504040204" pitchFamily="34" charset="0"/>
                        <a:cs typeface="Verdana" panose="020B0604030504040204" pitchFamily="34" charset="0"/>
                      </a:rPr>
                      <m:t>𝜋</m:t>
                    </m:r>
                  </m:oMath>
                </a14:m>
                <a:r>
                  <a:rPr lang="en-US" sz="2000" dirty="0">
                    <a:latin typeface="Verdana" panose="020B0604030504040204" pitchFamily="34" charset="0"/>
                    <a:ea typeface="Verdana" panose="020B0604030504040204" pitchFamily="34" charset="0"/>
                    <a:cs typeface="Verdana" panose="020B0604030504040204" pitchFamily="34" charset="0"/>
                  </a:rPr>
                  <a:t> and include units.</a:t>
                </a:r>
              </a:p>
            </p:txBody>
          </p:sp>
        </mc:Choice>
        <mc:Fallback xmlns="">
          <p:sp>
            <p:nvSpPr>
              <p:cNvPr id="10" name="Google Shape;179;p5"/>
              <p:cNvSpPr txBox="1">
                <a:spLocks noRot="1" noChangeAspect="1" noMove="1" noResize="1" noEditPoints="1" noAdjustHandles="1" noChangeArrowheads="1" noChangeShapeType="1" noTextEdit="1"/>
              </p:cNvSpPr>
              <p:nvPr/>
            </p:nvSpPr>
            <p:spPr>
              <a:xfrm>
                <a:off x="914400" y="487736"/>
                <a:ext cx="10515600" cy="1323399"/>
              </a:xfrm>
              <a:prstGeom prst="rect">
                <a:avLst/>
              </a:prstGeom>
              <a:blipFill rotWithShape="1">
                <a:blip r:embed="rId4"/>
                <a:stretch>
                  <a:fillRect l="-522" t="-2765" b="-737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55003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714"/>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049" name="Picture 1">
            <a:extLst>
              <a:ext uri="{FF2B5EF4-FFF2-40B4-BE49-F238E27FC236}">
                <a16:creationId xmlns:a16="http://schemas.microsoft.com/office/drawing/2014/main" id="{DC4B123D-8C5C-7E46-A6E2-BFBBF540928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442462" y="560344"/>
            <a:ext cx="2171700" cy="203358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CDD8EA2A-2944-1041-A624-BC87E309F5E9}"/>
              </a:ext>
            </a:extLst>
          </p:cNvPr>
          <p:cNvGrpSpPr/>
          <p:nvPr/>
        </p:nvGrpSpPr>
        <p:grpSpPr>
          <a:xfrm>
            <a:off x="3172810" y="2393876"/>
            <a:ext cx="2667590" cy="1565097"/>
            <a:chOff x="861233" y="2891910"/>
            <a:chExt cx="2667590" cy="1565097"/>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E0ABC61-5C78-D04E-B21D-6D7D31422B22}"/>
                    </a:ext>
                  </a:extLst>
                </p:cNvPr>
                <p:cNvSpPr/>
                <p:nvPr/>
              </p:nvSpPr>
              <p:spPr>
                <a:xfrm>
                  <a:off x="861233" y="2891910"/>
                  <a:ext cx="266759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000" i="1">
                                <a:solidFill>
                                  <a:srgbClr val="836967"/>
                                </a:solidFill>
                                <a:latin typeface="Cambria Math" panose="02040503050406030204" pitchFamily="18" charset="0"/>
                              </a:rPr>
                            </m:ctrlPr>
                          </m:dPr>
                          <m:e>
                            <m:r>
                              <a:rPr lang="en-US" sz="2000" i="1">
                                <a:latin typeface="Cambria Math" panose="02040503050406030204" pitchFamily="18" charset="0"/>
                              </a:rPr>
                              <m:t>𝜋</m:t>
                            </m:r>
                            <m:r>
                              <a:rPr lang="en-US" sz="2000">
                                <a:latin typeface="Cambria Math" panose="02040503050406030204" pitchFamily="18" charset="0"/>
                              </a:rPr>
                              <m:t>∙</m:t>
                            </m:r>
                            <m:sSup>
                              <m:sSupPr>
                                <m:ctrlPr>
                                  <a:rPr lang="en-US" sz="2000" i="1">
                                    <a:solidFill>
                                      <a:srgbClr val="836967"/>
                                    </a:solidFill>
                                    <a:latin typeface="Cambria Math" panose="02040503050406030204" pitchFamily="18" charset="0"/>
                                  </a:rPr>
                                </m:ctrlPr>
                              </m:sSupPr>
                              <m:e>
                                <m:r>
                                  <a:rPr lang="en-US" sz="2000">
                                    <a:latin typeface="Cambria Math" panose="02040503050406030204" pitchFamily="18" charset="0"/>
                                  </a:rPr>
                                  <m:t>5</m:t>
                                </m:r>
                              </m:e>
                              <m:sup>
                                <m:r>
                                  <a:rPr lang="en-US" sz="2000">
                                    <a:latin typeface="Cambria Math" panose="02040503050406030204" pitchFamily="18" charset="0"/>
                                  </a:rPr>
                                  <m:t>2</m:t>
                                </m:r>
                              </m:sup>
                            </m:sSup>
                          </m:e>
                        </m:d>
                        <m:r>
                          <a:rPr lang="en-US" sz="2000">
                            <a:latin typeface="Cambria Math" panose="02040503050406030204" pitchFamily="18" charset="0"/>
                          </a:rPr>
                          <m:t>+2∙</m:t>
                        </m:r>
                        <m:r>
                          <a:rPr lang="en-US" sz="2000" i="1">
                            <a:latin typeface="Cambria Math" panose="02040503050406030204" pitchFamily="18" charset="0"/>
                          </a:rPr>
                          <m:t>𝜋</m:t>
                        </m:r>
                        <m:r>
                          <a:rPr lang="en-US" sz="2000">
                            <a:latin typeface="Cambria Math" panose="02040503050406030204" pitchFamily="18" charset="0"/>
                          </a:rPr>
                          <m:t>∙5∙26</m:t>
                        </m:r>
                      </m:oMath>
                    </m:oMathPara>
                  </a14:m>
                  <a:endParaRPr lang="en-US" sz="2000" dirty="0"/>
                </a:p>
              </p:txBody>
            </p:sp>
          </mc:Choice>
          <mc:Fallback xmlns="">
            <p:sp>
              <p:nvSpPr>
                <p:cNvPr id="4" name="Rectangle 3">
                  <a:extLst>
                    <a:ext uri="{FF2B5EF4-FFF2-40B4-BE49-F238E27FC236}">
                      <a16:creationId xmlns:a16="http://schemas.microsoft.com/office/drawing/2014/main" id="{EE0ABC61-5C78-D04E-B21D-6D7D31422B22}"/>
                    </a:ext>
                  </a:extLst>
                </p:cNvPr>
                <p:cNvSpPr>
                  <a:spLocks noRot="1" noChangeAspect="1" noMove="1" noResize="1" noEditPoints="1" noAdjustHandles="1" noChangeArrowheads="1" noChangeShapeType="1" noTextEdit="1"/>
                </p:cNvSpPr>
                <p:nvPr/>
              </p:nvSpPr>
              <p:spPr>
                <a:xfrm>
                  <a:off x="861233" y="2891910"/>
                  <a:ext cx="2667590"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784AFB0-8718-CE4A-81B0-2D036CC09962}"/>
                    </a:ext>
                  </a:extLst>
                </p:cNvPr>
                <p:cNvSpPr/>
                <p:nvPr/>
              </p:nvSpPr>
              <p:spPr>
                <a:xfrm>
                  <a:off x="1310393" y="3289858"/>
                  <a:ext cx="191129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25</m:t>
                        </m:r>
                        <m:r>
                          <a:rPr lang="en-US" sz="2000" i="1">
                            <a:latin typeface="Cambria Math" panose="02040503050406030204" pitchFamily="18" charset="0"/>
                          </a:rPr>
                          <m:t>𝜋</m:t>
                        </m:r>
                        <m:r>
                          <a:rPr lang="en-US" sz="2000">
                            <a:latin typeface="Cambria Math" panose="02040503050406030204" pitchFamily="18" charset="0"/>
                          </a:rPr>
                          <m:t>+10</m:t>
                        </m:r>
                        <m:r>
                          <a:rPr lang="en-US" sz="2000" i="1">
                            <a:latin typeface="Cambria Math" panose="02040503050406030204" pitchFamily="18" charset="0"/>
                          </a:rPr>
                          <m:t>𝜋</m:t>
                        </m:r>
                        <m:r>
                          <a:rPr lang="en-US" sz="2000">
                            <a:latin typeface="Cambria Math" panose="02040503050406030204" pitchFamily="18" charset="0"/>
                          </a:rPr>
                          <m:t>∙26</m:t>
                        </m:r>
                      </m:oMath>
                    </m:oMathPara>
                  </a14:m>
                  <a:endParaRPr lang="en-US" sz="2000" dirty="0"/>
                </a:p>
              </p:txBody>
            </p:sp>
          </mc:Choice>
          <mc:Fallback xmlns="">
            <p:sp>
              <p:nvSpPr>
                <p:cNvPr id="5" name="Rectangle 4">
                  <a:extLst>
                    <a:ext uri="{FF2B5EF4-FFF2-40B4-BE49-F238E27FC236}">
                      <a16:creationId xmlns:a16="http://schemas.microsoft.com/office/drawing/2014/main" id="{6784AFB0-8718-CE4A-81B0-2D036CC09962}"/>
                    </a:ext>
                  </a:extLst>
                </p:cNvPr>
                <p:cNvSpPr>
                  <a:spLocks noRot="1" noChangeAspect="1" noMove="1" noResize="1" noEditPoints="1" noAdjustHandles="1" noChangeArrowheads="1" noChangeShapeType="1" noTextEdit="1"/>
                </p:cNvSpPr>
                <p:nvPr/>
              </p:nvSpPr>
              <p:spPr>
                <a:xfrm>
                  <a:off x="1310393" y="3289858"/>
                  <a:ext cx="2257285"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96E52C6-59C4-2F44-9363-CAEC5A7BA284}"/>
                    </a:ext>
                  </a:extLst>
                </p:cNvPr>
                <p:cNvSpPr/>
                <p:nvPr/>
              </p:nvSpPr>
              <p:spPr>
                <a:xfrm>
                  <a:off x="1507049" y="3687806"/>
                  <a:ext cx="159050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25</m:t>
                        </m:r>
                        <m:r>
                          <a:rPr lang="en-US" sz="2000" i="1">
                            <a:latin typeface="Cambria Math" panose="02040503050406030204" pitchFamily="18" charset="0"/>
                          </a:rPr>
                          <m:t>𝜋</m:t>
                        </m:r>
                        <m:r>
                          <a:rPr lang="en-US" sz="2000">
                            <a:latin typeface="Cambria Math" panose="02040503050406030204" pitchFamily="18" charset="0"/>
                          </a:rPr>
                          <m:t>+260</m:t>
                        </m:r>
                        <m:r>
                          <a:rPr lang="en-US" sz="2000" i="1">
                            <a:latin typeface="Cambria Math" panose="02040503050406030204" pitchFamily="18" charset="0"/>
                          </a:rPr>
                          <m:t>𝜋</m:t>
                        </m:r>
                      </m:oMath>
                    </m:oMathPara>
                  </a14:m>
                  <a:endParaRPr lang="en-US" sz="2000" dirty="0"/>
                </a:p>
              </p:txBody>
            </p:sp>
          </mc:Choice>
          <mc:Fallback xmlns="">
            <p:sp>
              <p:nvSpPr>
                <p:cNvPr id="7" name="Rectangle 6">
                  <a:extLst>
                    <a:ext uri="{FF2B5EF4-FFF2-40B4-BE49-F238E27FC236}">
                      <a16:creationId xmlns:a16="http://schemas.microsoft.com/office/drawing/2014/main" id="{C96E52C6-59C4-2F44-9363-CAEC5A7BA284}"/>
                    </a:ext>
                  </a:extLst>
                </p:cNvPr>
                <p:cNvSpPr>
                  <a:spLocks noRot="1" noChangeAspect="1" noMove="1" noResize="1" noEditPoints="1" noAdjustHandles="1" noChangeArrowheads="1" noChangeShapeType="1" noTextEdit="1"/>
                </p:cNvSpPr>
                <p:nvPr/>
              </p:nvSpPr>
              <p:spPr>
                <a:xfrm>
                  <a:off x="1507049" y="3687806"/>
                  <a:ext cx="1863972"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DF66794-7FBE-BD4E-BF78-8CF7A3BADFF7}"/>
                    </a:ext>
                  </a:extLst>
                </p:cNvPr>
                <p:cNvSpPr/>
                <p:nvPr/>
              </p:nvSpPr>
              <p:spPr>
                <a:xfrm>
                  <a:off x="1954671" y="4056897"/>
                  <a:ext cx="84099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285</m:t>
                        </m:r>
                        <m:r>
                          <a:rPr lang="en-US" sz="2000" i="1">
                            <a:latin typeface="Cambria Math" panose="02040503050406030204" pitchFamily="18" charset="0"/>
                          </a:rPr>
                          <m:t>𝜋</m:t>
                        </m:r>
                      </m:oMath>
                    </m:oMathPara>
                  </a14:m>
                  <a:endParaRPr lang="en-US" sz="2000" dirty="0"/>
                </a:p>
              </p:txBody>
            </p:sp>
          </mc:Choice>
          <mc:Fallback xmlns="">
            <p:sp>
              <p:nvSpPr>
                <p:cNvPr id="8" name="Rectangle 7">
                  <a:extLst>
                    <a:ext uri="{FF2B5EF4-FFF2-40B4-BE49-F238E27FC236}">
                      <a16:creationId xmlns:a16="http://schemas.microsoft.com/office/drawing/2014/main" id="{6DF66794-7FBE-BD4E-BF78-8CF7A3BADFF7}"/>
                    </a:ext>
                  </a:extLst>
                </p:cNvPr>
                <p:cNvSpPr>
                  <a:spLocks noRot="1" noChangeAspect="1" noMove="1" noResize="1" noEditPoints="1" noAdjustHandles="1" noChangeArrowheads="1" noChangeShapeType="1" noTextEdit="1"/>
                </p:cNvSpPr>
                <p:nvPr/>
              </p:nvSpPr>
              <p:spPr>
                <a:xfrm>
                  <a:off x="1954671" y="4056897"/>
                  <a:ext cx="968727" cy="461665"/>
                </a:xfrm>
                <a:prstGeom prst="rect">
                  <a:avLst/>
                </a:prstGeom>
                <a:blipFill>
                  <a:blip r:embed="rId9"/>
                  <a:stretch>
                    <a:fillRect/>
                  </a:stretch>
                </a:blipFill>
              </p:spPr>
              <p:txBody>
                <a:bodyPr/>
                <a:lstStyle/>
                <a:p>
                  <a:r>
                    <a:rPr lang="en-US">
                      <a:noFill/>
                    </a:rPr>
                    <a:t> </a:t>
                  </a:r>
                </a:p>
              </p:txBody>
            </p:sp>
          </mc:Fallback>
        </mc:AlternateContent>
      </p:gr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206</a:t>
            </a:r>
          </a:p>
        </p:txBody>
      </p:sp>
      <p:pic>
        <p:nvPicPr>
          <p:cNvPr id="13" name="Google Shape;126;g104476d1465_1_17"/>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sp>
            <p:nvSpPr>
              <p:cNvPr id="16" name="Google Shape;179;p5"/>
              <p:cNvSpPr txBox="1"/>
              <p:nvPr/>
            </p:nvSpPr>
            <p:spPr>
              <a:xfrm>
                <a:off x="914400" y="487736"/>
                <a:ext cx="7600950" cy="1631175"/>
              </a:xfrm>
              <a:prstGeom prst="rect">
                <a:avLst/>
              </a:prstGeom>
              <a:noFill/>
              <a:ln>
                <a:noFill/>
              </a:ln>
            </p:spPr>
            <p:txBody>
              <a:bodyPr spcFirstLastPara="1" wrap="square" lIns="91425" tIns="45700" rIns="91425" bIns="45700" anchor="t" anchorCtr="0">
                <a:spAutoFit/>
              </a:bodyPr>
              <a:lstStyle/>
              <a:p>
                <a:pPr marL="466725" lvl="2" indent="-457200">
                  <a:buFont typeface="+mj-lt"/>
                  <a:buAutoNum type="arabicPeriod" startAt="3"/>
                </a:pPr>
                <a:r>
                  <a:rPr lang="en-US" altLang="en-US" sz="2000" dirty="0">
                    <a:solidFill>
                      <a:schemeClr val="tx1"/>
                    </a:solidFill>
                    <a:latin typeface="Verdana" panose="020B0604030504040204" pitchFamily="34" charset="0"/>
                    <a:ea typeface="Verdana" pitchFamily="34" charset="0"/>
                    <a:cs typeface="Times New Roman" panose="02020603050405020304" pitchFamily="18" charset="0"/>
                  </a:rPr>
                  <a:t>Charlie calculated the surface area of a mailing tube whose diameter is </a:t>
                </a:r>
                <a14:m>
                  <m:oMath xmlns:m="http://schemas.openxmlformats.org/officeDocument/2006/math">
                    <m:r>
                      <a:rPr lang="en-US" altLang="en-US" sz="2000" i="1" dirty="0">
                        <a:solidFill>
                          <a:schemeClr val="tx1"/>
                        </a:solidFill>
                        <a:latin typeface="Cambria Math"/>
                        <a:ea typeface="Verdana" pitchFamily="34" charset="0"/>
                        <a:cs typeface="Times New Roman" panose="02020603050405020304" pitchFamily="18" charset="0"/>
                      </a:rPr>
                      <m:t>5 </m:t>
                    </m:r>
                  </m:oMath>
                </a14:m>
                <a:r>
                  <a:rPr lang="en-US" altLang="en-US" sz="2000" dirty="0">
                    <a:solidFill>
                      <a:schemeClr val="tx1"/>
                    </a:solidFill>
                    <a:latin typeface="Verdana" panose="020B0604030504040204" pitchFamily="34" charset="0"/>
                    <a:ea typeface="Verdana" pitchFamily="34" charset="0"/>
                    <a:cs typeface="Times New Roman" panose="02020603050405020304" pitchFamily="18" charset="0"/>
                  </a:rPr>
                  <a:t>inches (in.) and height is </a:t>
                </a:r>
                <a14:m>
                  <m:oMath xmlns:m="http://schemas.openxmlformats.org/officeDocument/2006/math">
                    <m:r>
                      <a:rPr lang="en-US" altLang="en-US" sz="2000" i="1" dirty="0">
                        <a:solidFill>
                          <a:schemeClr val="tx1"/>
                        </a:solidFill>
                        <a:latin typeface="Cambria Math"/>
                        <a:ea typeface="Verdana" pitchFamily="34" charset="0"/>
                        <a:cs typeface="Times New Roman" panose="02020603050405020304" pitchFamily="18" charset="0"/>
                      </a:rPr>
                      <m:t>26 </m:t>
                    </m:r>
                  </m:oMath>
                </a14:m>
                <a:r>
                  <a:rPr lang="en-US" altLang="en-US" sz="2000" dirty="0">
                    <a:solidFill>
                      <a:schemeClr val="tx1"/>
                    </a:solidFill>
                    <a:latin typeface="Verdana" panose="020B0604030504040204" pitchFamily="34" charset="0"/>
                    <a:ea typeface="Verdana" pitchFamily="34" charset="0"/>
                    <a:cs typeface="Times New Roman" panose="02020603050405020304" pitchFamily="18" charset="0"/>
                  </a:rPr>
                  <a:t>in. His calculation is shown. Work with your partner to determine if Charlie is correct. If not, identify his error(s) and correct his work.</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6" name="Google Shape;179;p5"/>
              <p:cNvSpPr txBox="1">
                <a:spLocks noRot="1" noChangeAspect="1" noMove="1" noResize="1" noEditPoints="1" noAdjustHandles="1" noChangeArrowheads="1" noChangeShapeType="1" noTextEdit="1"/>
              </p:cNvSpPr>
              <p:nvPr/>
            </p:nvSpPr>
            <p:spPr>
              <a:xfrm>
                <a:off x="914400" y="487736"/>
                <a:ext cx="7600950" cy="1631175"/>
              </a:xfrm>
              <a:prstGeom prst="rect">
                <a:avLst/>
              </a:prstGeom>
              <a:blipFill rotWithShape="1">
                <a:blip r:embed="rId11"/>
                <a:stretch>
                  <a:fillRect l="-722" t="-2239" b="-559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405005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206</a:t>
            </a: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9301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3" name="Group 2"/>
          <p:cNvGrpSpPr/>
          <p:nvPr/>
        </p:nvGrpSpPr>
        <p:grpSpPr>
          <a:xfrm>
            <a:off x="8132445" y="1272308"/>
            <a:ext cx="3297555" cy="3535183"/>
            <a:chOff x="5878341" y="1684339"/>
            <a:chExt cx="3297555" cy="3535183"/>
          </a:xfrm>
        </p:grpSpPr>
        <p:pic>
          <p:nvPicPr>
            <p:cNvPr id="15" name="Picture 14" descr="Drum White Background Images | AWB">
              <a:extLst>
                <a:ext uri="{FF2B5EF4-FFF2-40B4-BE49-F238E27FC236}">
                  <a16:creationId xmlns:a16="http://schemas.microsoft.com/office/drawing/2014/main" id="{6EE689FF-1780-2143-BCD1-4822640ACF1E}"/>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6063761" y="1919427"/>
              <a:ext cx="2962275" cy="2962275"/>
            </a:xfrm>
            <a:prstGeom prst="rect">
              <a:avLst/>
            </a:prstGeom>
          </p:spPr>
        </p:pic>
        <p:sp>
          <p:nvSpPr>
            <p:cNvPr id="16" name="Text Box 17">
              <a:extLst>
                <a:ext uri="{FF2B5EF4-FFF2-40B4-BE49-F238E27FC236}">
                  <a16:creationId xmlns:a16="http://schemas.microsoft.com/office/drawing/2014/main" id="{49829DCA-3030-7743-8090-CF8AD76BFBFD}"/>
                </a:ext>
              </a:extLst>
            </p:cNvPr>
            <p:cNvSpPr txBox="1"/>
            <p:nvPr/>
          </p:nvSpPr>
          <p:spPr>
            <a:xfrm>
              <a:off x="7496956" y="4753432"/>
              <a:ext cx="1678940" cy="4660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Kick Drum</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7" name="Text Box 20">
              <a:extLst>
                <a:ext uri="{FF2B5EF4-FFF2-40B4-BE49-F238E27FC236}">
                  <a16:creationId xmlns:a16="http://schemas.microsoft.com/office/drawing/2014/main" id="{8EB4C4A8-1174-D449-AA3A-76A55A180A58}"/>
                </a:ext>
              </a:extLst>
            </p:cNvPr>
            <p:cNvSpPr txBox="1"/>
            <p:nvPr/>
          </p:nvSpPr>
          <p:spPr>
            <a:xfrm>
              <a:off x="5878341" y="4663897"/>
              <a:ext cx="1678940" cy="4660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Floor Tom</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8" name="Text Box 21">
              <a:extLst>
                <a:ext uri="{FF2B5EF4-FFF2-40B4-BE49-F238E27FC236}">
                  <a16:creationId xmlns:a16="http://schemas.microsoft.com/office/drawing/2014/main" id="{47B07AC1-4648-304F-873B-928C22954B7D}"/>
                </a:ext>
              </a:extLst>
            </p:cNvPr>
            <p:cNvSpPr txBox="1"/>
            <p:nvPr/>
          </p:nvSpPr>
          <p:spPr>
            <a:xfrm>
              <a:off x="7344556" y="1684339"/>
              <a:ext cx="1678940" cy="4660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latin typeface="Verdana" panose="020B0604030504040204" pitchFamily="34" charset="0"/>
                  <a:ea typeface="Times New Roman" panose="02020603050405020304" pitchFamily="18" charset="0"/>
                  <a:cs typeface="Times New Roman" panose="02020603050405020304" pitchFamily="18" charset="0"/>
                </a:rPr>
                <a:t>Tom-Tom</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F691DA05-B98E-EA48-B9F6-2122103DD0BC}"/>
                </a:ext>
              </a:extLst>
            </p:cNvPr>
            <p:cNvCxnSpPr/>
            <p:nvPr/>
          </p:nvCxnSpPr>
          <p:spPr>
            <a:xfrm flipV="1">
              <a:off x="6277756" y="3656787"/>
              <a:ext cx="466090" cy="1091565"/>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D8DDA392-C066-A346-B0B7-6225DE4BF584}"/>
                </a:ext>
              </a:extLst>
            </p:cNvPr>
            <p:cNvCxnSpPr/>
            <p:nvPr/>
          </p:nvCxnSpPr>
          <p:spPr>
            <a:xfrm flipH="1" flipV="1">
              <a:off x="8041786" y="4254957"/>
              <a:ext cx="320040" cy="562610"/>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363B53BA-1F8C-3749-99DD-5D40AFEC3AFB}"/>
                </a:ext>
              </a:extLst>
            </p:cNvPr>
            <p:cNvCxnSpPr/>
            <p:nvPr/>
          </p:nvCxnSpPr>
          <p:spPr>
            <a:xfrm flipV="1">
              <a:off x="7957331" y="2487117"/>
              <a:ext cx="86360" cy="266700"/>
            </a:xfrm>
            <a:prstGeom prst="line">
              <a:avLst/>
            </a:prstGeom>
            <a:ln w="28575"/>
          </p:spPr>
          <p:style>
            <a:lnRef idx="1">
              <a:schemeClr val="dk1"/>
            </a:lnRef>
            <a:fillRef idx="0">
              <a:schemeClr val="dk1"/>
            </a:fillRef>
            <a:effectRef idx="0">
              <a:schemeClr val="dk1"/>
            </a:effectRef>
            <a:fontRef idx="minor">
              <a:schemeClr val="tx1"/>
            </a:fontRef>
          </p:style>
        </p:cxnSp>
      </p:grpSp>
      <p:sp>
        <p:nvSpPr>
          <p:cNvPr id="23"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69773"/>
            <a:ext cx="10515600"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12.2.3 Guided Practice: </a:t>
            </a:r>
            <a:r>
              <a:rPr lang="en-US" sz="2800" b="1" dirty="0">
                <a:solidFill>
                  <a:srgbClr val="54B5D1"/>
                </a:solidFill>
                <a:latin typeface="Verdana"/>
                <a:ea typeface="Verdana"/>
                <a:cs typeface="Verdana"/>
              </a:rPr>
              <a:t>Finding Surface Areas of Right Circular Cylinders</a:t>
            </a:r>
            <a:endParaRPr lang="en-US" sz="2800" b="1" dirty="0">
              <a:solidFill>
                <a:srgbClr val="54B5D1"/>
              </a:solidFill>
              <a:latin typeface="Verdana"/>
              <a:ea typeface="Verdana"/>
              <a:cs typeface="Verdana"/>
              <a:sym typeface="Verdana"/>
            </a:endParaRPr>
          </a:p>
        </p:txBody>
      </p:sp>
      <p:pic>
        <p:nvPicPr>
          <p:cNvPr id="24"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56616"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D40250-DEDD-2C41-8538-3D4DD18CCC4A}"/>
                  </a:ext>
                </a:extLst>
              </p:cNvPr>
              <p:cNvSpPr txBox="1"/>
              <p:nvPr/>
            </p:nvSpPr>
            <p:spPr>
              <a:xfrm>
                <a:off x="914400" y="1389888"/>
                <a:ext cx="6972300" cy="286232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There are three different types of bass drums: tom-toms, floor toms, and kick drum. Each drum is the shape of a right circular cylinder.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2438"/>
                <a:r>
                  <a:rPr lang="en-US" sz="2000" dirty="0">
                    <a:latin typeface="Verdana" panose="020B0604030504040204" pitchFamily="34" charset="0"/>
                    <a:ea typeface="Verdana" panose="020B0604030504040204" pitchFamily="34" charset="0"/>
                    <a:cs typeface="Verdana" panose="020B0604030504040204" pitchFamily="34" charset="0"/>
                  </a:rPr>
                  <a:t>Suppose you intend to place each drum individually in a heavy-duty nylon bag when traveling locally. Find the amount of nylon needed for each drum bag. Use </a:t>
                </a:r>
                <a14:m>
                  <m:oMath xmlns:m="http://schemas.openxmlformats.org/officeDocument/2006/math">
                    <m:r>
                      <a:rPr lang="en-US" sz="2000">
                        <a:latin typeface="Cambria Math"/>
                      </a:rPr>
                      <m:t>3.14</m:t>
                    </m:r>
                  </m:oMath>
                </a14:m>
                <a:r>
                  <a:rPr lang="en-US" sz="2000" dirty="0">
                    <a:latin typeface="Verdana" panose="020B0604030504040204" pitchFamily="34" charset="0"/>
                    <a:ea typeface="Verdana" panose="020B0604030504040204" pitchFamily="34" charset="0"/>
                    <a:cs typeface="Verdana" panose="020B0604030504040204" pitchFamily="34" charset="0"/>
                  </a:rPr>
                  <a:t> for </a:t>
                </a:r>
                <a14:m>
                  <m:oMath xmlns:m="http://schemas.openxmlformats.org/officeDocument/2006/math">
                    <m:r>
                      <a:rPr lang="en-US" sz="2000">
                        <a:latin typeface="Cambria Math"/>
                      </a:rPr>
                      <m:t>𝜋</m:t>
                    </m:r>
                  </m:oMath>
                </a14:m>
                <a:r>
                  <a:rPr lang="en-US" sz="2000" dirty="0">
                    <a:latin typeface="Verdana" panose="020B0604030504040204" pitchFamily="34" charset="0"/>
                    <a:ea typeface="Verdana" panose="020B0604030504040204" pitchFamily="34" charset="0"/>
                    <a:cs typeface="Verdana" panose="020B0604030504040204" pitchFamily="34" charset="0"/>
                  </a:rPr>
                  <a:t> and include units in your answer.   </a:t>
                </a:r>
              </a:p>
            </p:txBody>
          </p:sp>
        </mc:Choice>
        <mc:Fallback xmlns="">
          <p:sp>
            <p:nvSpPr>
              <p:cNvPr id="25" name="TextBox 24">
                <a:extLst>
                  <a:ext uri="{FF2B5EF4-FFF2-40B4-BE49-F238E27FC236}">
                    <a16:creationId xmlns="" xmlns:a16="http://schemas.microsoft.com/office/drawing/2014/main"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914400" y="1389888"/>
                <a:ext cx="6972300" cy="2862322"/>
              </a:xfrm>
              <a:prstGeom prst="rect">
                <a:avLst/>
              </a:prstGeom>
              <a:blipFill rotWithShape="1">
                <a:blip r:embed="rId9"/>
                <a:stretch>
                  <a:fillRect l="-874" t="-1277" r="-1486" b="-2766"/>
                </a:stretch>
              </a:blipFill>
            </p:spPr>
            <p:txBody>
              <a:bodyPr/>
              <a:lstStyle/>
              <a:p>
                <a:r>
                  <a:rPr lang="en-US">
                    <a:noFill/>
                  </a:rPr>
                  <a:t> </a:t>
                </a:r>
              </a:p>
            </p:txBody>
          </p:sp>
        </mc:Fallback>
      </mc:AlternateContent>
      <p:sp>
        <p:nvSpPr>
          <p:cNvPr id="2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206</a:t>
            </a:r>
          </a:p>
        </p:txBody>
      </p:sp>
      <p:pic>
        <p:nvPicPr>
          <p:cNvPr id="27" name="Google Shape;126;g104476d1465_1_17"/>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4552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15201379-AE8E-0C4E-8F4F-26E73EBF48BC}"/>
                  </a:ext>
                </a:extLst>
              </p:cNvPr>
              <p:cNvGraphicFramePr>
                <a:graphicFrameLocks noGrp="1"/>
              </p:cNvGraphicFramePr>
              <p:nvPr>
                <p:extLst>
                  <p:ext uri="{D42A27DB-BD31-4B8C-83A1-F6EECF244321}">
                    <p14:modId xmlns:p14="http://schemas.microsoft.com/office/powerpoint/2010/main" val="3211853803"/>
                  </p:ext>
                </p:extLst>
              </p:nvPr>
            </p:nvGraphicFramePr>
            <p:xfrm>
              <a:off x="2646408" y="487736"/>
              <a:ext cx="7560000" cy="5580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3747677469"/>
                        </a:ext>
                      </a:extLst>
                    </a:gridCol>
                    <a:gridCol w="3240000">
                      <a:extLst>
                        <a:ext uri="{9D8B030D-6E8A-4147-A177-3AD203B41FA5}">
                          <a16:colId xmlns:a16="http://schemas.microsoft.com/office/drawing/2014/main" val="2672741603"/>
                        </a:ext>
                      </a:extLst>
                    </a:gridCol>
                    <a:gridCol w="2520000">
                      <a:extLst>
                        <a:ext uri="{9D8B030D-6E8A-4147-A177-3AD203B41FA5}">
                          <a16:colId xmlns:a16="http://schemas.microsoft.com/office/drawing/2014/main" val="2395493327"/>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Bass Drum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Amount of Nylon Needed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69155652"/>
                      </a:ext>
                    </a:extLst>
                  </a:tr>
                  <a:tr h="162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Tom-Tom</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a:rPr>
                                <m:t>𝑑</m:t>
                              </m:r>
                              <m:r>
                                <a:rPr lang="en-US" sz="2000">
                                  <a:effectLst/>
                                  <a:latin typeface="Cambria Math"/>
                                </a:rPr>
                                <m:t>=7</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p>
                          <a:pPr marL="0" marR="0" algn="ctr">
                            <a:spcBef>
                              <a:spcPts val="0"/>
                            </a:spcBef>
                            <a:spcAft>
                              <a:spcPts val="0"/>
                            </a:spcAft>
                          </a:pPr>
                          <a14:m>
                            <m:oMath xmlns:m="http://schemas.openxmlformats.org/officeDocument/2006/math">
                              <m:r>
                                <a:rPr lang="en-US" sz="2000">
                                  <a:effectLst/>
                                  <a:latin typeface="Cambria Math"/>
                                </a:rPr>
                                <m:t>h</m:t>
                              </m:r>
                              <m:r>
                                <a:rPr lang="en-US" sz="2000">
                                  <a:effectLst/>
                                  <a:latin typeface="Cambria Math"/>
                                </a:rPr>
                                <m:t>=10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6973242"/>
                      </a:ext>
                    </a:extLst>
                  </a:tr>
                  <a:tr h="162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Floor Tom</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a:rPr>
                                <m:t>𝑑</m:t>
                              </m:r>
                              <m:r>
                                <a:rPr lang="en-US" sz="2000">
                                  <a:effectLst/>
                                  <a:latin typeface="Cambria Math"/>
                                </a:rPr>
                                <m:t>=15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p>
                          <a:pPr marL="0" marR="0" algn="ctr">
                            <a:spcBef>
                              <a:spcPts val="0"/>
                            </a:spcBef>
                            <a:spcAft>
                              <a:spcPts val="0"/>
                            </a:spcAft>
                          </a:pPr>
                          <a14:m>
                            <m:oMath xmlns:m="http://schemas.openxmlformats.org/officeDocument/2006/math">
                              <m:r>
                                <a:rPr lang="en-US" sz="2000">
                                  <a:effectLst/>
                                  <a:latin typeface="Cambria Math"/>
                                </a:rPr>
                                <m:t>h</m:t>
                              </m:r>
                              <m:r>
                                <a:rPr lang="en-US" sz="2000">
                                  <a:effectLst/>
                                  <a:latin typeface="Cambria Math"/>
                                </a:rPr>
                                <m:t>=16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7957949"/>
                      </a:ext>
                    </a:extLst>
                  </a:tr>
                  <a:tr h="162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Kick Drum</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a:rPr>
                                <m:t>𝑟</m:t>
                              </m:r>
                              <m:r>
                                <a:rPr lang="en-US" sz="2000">
                                  <a:effectLst/>
                                  <a:latin typeface="Cambria Math"/>
                                </a:rPr>
                                <m:t>=8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p>
                          <a:pPr marL="0" marR="0" algn="ctr">
                            <a:spcBef>
                              <a:spcPts val="0"/>
                            </a:spcBef>
                            <a:spcAft>
                              <a:spcPts val="0"/>
                            </a:spcAft>
                          </a:pPr>
                          <a14:m>
                            <m:oMath xmlns:m="http://schemas.openxmlformats.org/officeDocument/2006/math">
                              <m:r>
                                <a:rPr lang="en-US" sz="2000">
                                  <a:effectLst/>
                                  <a:latin typeface="Cambria Math"/>
                                </a:rPr>
                                <m:t>h</m:t>
                              </m:r>
                              <m:r>
                                <a:rPr lang="en-US" sz="2000">
                                  <a:effectLst/>
                                  <a:latin typeface="Cambria Math"/>
                                </a:rPr>
                                <m:t>=22</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4376135"/>
                      </a:ext>
                    </a:extLst>
                  </a:tr>
                </a:tbl>
              </a:graphicData>
            </a:graphic>
          </p:graphicFrame>
        </mc:Choice>
        <mc:Fallback>
          <p:graphicFrame>
            <p:nvGraphicFramePr>
              <p:cNvPr id="2" name="Table 1">
                <a:extLst>
                  <a:ext uri="{FF2B5EF4-FFF2-40B4-BE49-F238E27FC236}">
                    <a16:creationId xmlns:a16="http://schemas.microsoft.com/office/drawing/2014/main" id="{15201379-AE8E-0C4E-8F4F-26E73EBF48BC}"/>
                  </a:ext>
                </a:extLst>
              </p:cNvPr>
              <p:cNvGraphicFramePr>
                <a:graphicFrameLocks noGrp="1"/>
              </p:cNvGraphicFramePr>
              <p:nvPr>
                <p:extLst>
                  <p:ext uri="{D42A27DB-BD31-4B8C-83A1-F6EECF244321}">
                    <p14:modId xmlns:p14="http://schemas.microsoft.com/office/powerpoint/2010/main" val="3211853803"/>
                  </p:ext>
                </p:extLst>
              </p:nvPr>
            </p:nvGraphicFramePr>
            <p:xfrm>
              <a:off x="2646408" y="487736"/>
              <a:ext cx="7560000" cy="5580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3747677469"/>
                        </a:ext>
                      </a:extLst>
                    </a:gridCol>
                    <a:gridCol w="3240000">
                      <a:extLst>
                        <a:ext uri="{9D8B030D-6E8A-4147-A177-3AD203B41FA5}">
                          <a16:colId xmlns:a16="http://schemas.microsoft.com/office/drawing/2014/main" val="2672741603"/>
                        </a:ext>
                      </a:extLst>
                    </a:gridCol>
                    <a:gridCol w="2520000">
                      <a:extLst>
                        <a:ext uri="{9D8B030D-6E8A-4147-A177-3AD203B41FA5}">
                          <a16:colId xmlns:a16="http://schemas.microsoft.com/office/drawing/2014/main" val="2395493327"/>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Bass Drum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Amount of Nylon Needed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69155652"/>
                      </a:ext>
                    </a:extLst>
                  </a:tr>
                  <a:tr h="16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704" t="-46094" r="-321127" b="-200781"/>
                          </a:stretch>
                        </a:blipFill>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6973242"/>
                      </a:ext>
                    </a:extLst>
                  </a:tr>
                  <a:tr h="16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704" t="-147244" r="-321127" b="-102362"/>
                          </a:stretch>
                        </a:blipFill>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7957949"/>
                      </a:ext>
                    </a:extLst>
                  </a:tr>
                  <a:tr h="16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704" t="-245313" r="-321127" b="-1563"/>
                          </a:stretch>
                        </a:blipFill>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4376135"/>
                      </a:ext>
                    </a:extLst>
                  </a:tr>
                </a:tbl>
              </a:graphicData>
            </a:graphic>
          </p:graphicFrame>
        </mc:Fallback>
      </mc:AlternateContent>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206</a:t>
            </a: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22223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90839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428;g103996e1364_0_428">
            <a:extLst>
              <a:ext uri="{FF2B5EF4-FFF2-40B4-BE49-F238E27FC236}">
                <a16:creationId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12.2.4 Your Turn!</a:t>
            </a:r>
          </a:p>
        </p:txBody>
      </p:sp>
      <p:pic>
        <p:nvPicPr>
          <p:cNvPr id="14"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59C3E41-93EC-B84D-963F-86A3B15AC1C6}"/>
                  </a:ext>
                </a:extLst>
              </p:cNvPr>
              <p:cNvSpPr txBox="1"/>
              <p:nvPr/>
            </p:nvSpPr>
            <p:spPr>
              <a:xfrm>
                <a:off x="914400" y="1233626"/>
                <a:ext cx="10515600"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small business on Etsy sells confetti cannons for buyers to celebrate special occasions. The confetti cannons come in an enclosed tube in the shape of a right circular cylinder. Each cannon is </a:t>
                </a:r>
                <a14:m>
                  <m:oMath xmlns:m="http://schemas.openxmlformats.org/officeDocument/2006/math">
                    <m:r>
                      <a:rPr lang="en-US" sz="2000">
                        <a:latin typeface="Cambria Math"/>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inches (in.) tall and </a:t>
                </a:r>
                <a14:m>
                  <m:oMath xmlns:m="http://schemas.openxmlformats.org/officeDocument/2006/math">
                    <m:r>
                      <a:rPr lang="en-US" sz="2000">
                        <a:latin typeface="Cambria Math"/>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in. wide. How much material is used to make the enclosed tube of each cannon? Leave your answer in terms of </a:t>
                </a:r>
                <a14:m>
                  <m:oMath xmlns:m="http://schemas.openxmlformats.org/officeDocument/2006/math">
                    <m:r>
                      <a:rPr lang="en-US" sz="2000">
                        <a:latin typeface="Cambria Math"/>
                        <a:ea typeface="Verdana" panose="020B0604030504040204" pitchFamily="34" charset="0"/>
                        <a:cs typeface="Verdana" panose="020B0604030504040204" pitchFamily="34" charset="0"/>
                      </a:rPr>
                      <m:t>𝜋</m:t>
                    </m:r>
                  </m:oMath>
                </a14:m>
                <a:r>
                  <a:rPr lang="en-US" sz="2000" dirty="0">
                    <a:latin typeface="Verdana" panose="020B0604030504040204" pitchFamily="34" charset="0"/>
                    <a:ea typeface="Verdana" panose="020B0604030504040204" pitchFamily="34" charset="0"/>
                    <a:cs typeface="Verdana" panose="020B0604030504040204" pitchFamily="34" charset="0"/>
                  </a:rPr>
                  <a:t> and include units.</a:t>
                </a:r>
              </a:p>
            </p:txBody>
          </p:sp>
        </mc:Choice>
        <mc:Fallback xmlns="">
          <p:sp>
            <p:nvSpPr>
              <p:cNvPr id="15" name="TextBox 14">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914400" y="1233626"/>
                <a:ext cx="10515600" cy="1631216"/>
              </a:xfrm>
              <a:prstGeom prst="rect">
                <a:avLst/>
              </a:prstGeom>
              <a:blipFill rotWithShape="1">
                <a:blip r:embed="rId5"/>
                <a:stretch>
                  <a:fillRect l="-580" t="-2239" r="-1159" b="-5597"/>
                </a:stretch>
              </a:blipFill>
            </p:spPr>
            <p:txBody>
              <a:bodyPr/>
              <a:lstStyle/>
              <a:p>
                <a:r>
                  <a:rPr lang="en-US">
                    <a:noFill/>
                  </a:rPr>
                  <a:t> </a:t>
                </a:r>
              </a:p>
            </p:txBody>
          </p:sp>
        </mc:Fallback>
      </mc:AlternateContent>
    </p:spTree>
    <p:extLst>
      <p:ext uri="{BB962C8B-B14F-4D97-AF65-F5344CB8AC3E}">
        <p14:creationId xmlns:p14="http://schemas.microsoft.com/office/powerpoint/2010/main" val="310129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1"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52" name="Table 51"/>
          <p:cNvGraphicFramePr>
            <a:graphicFrameLocks noGrp="1"/>
          </p:cNvGraphicFramePr>
          <p:nvPr>
            <p:extLst>
              <p:ext uri="{D42A27DB-BD31-4B8C-83A1-F6EECF244321}">
                <p14:modId xmlns:p14="http://schemas.microsoft.com/office/powerpoint/2010/main" val="2773152408"/>
              </p:ext>
            </p:extLst>
          </p:nvPr>
        </p:nvGraphicFramePr>
        <p:xfrm>
          <a:off x="2650195" y="1977265"/>
          <a:ext cx="6300000" cy="4320000"/>
        </p:xfrm>
        <a:graphic>
          <a:graphicData uri="http://schemas.openxmlformats.org/drawingml/2006/table">
            <a:tbl>
              <a:tblPr firstRow="1" bandRow="1">
                <a:tableStyleId>{A91F0D33-8C57-4600-99A7-42BC86742BE1}</a:tableStyleId>
              </a:tblPr>
              <a:tblGrid>
                <a:gridCol w="432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tblGrid>
              <a:tr h="720000">
                <a:tc>
                  <a:txBody>
                    <a:bodyPr/>
                    <a:lstStyle/>
                    <a:p>
                      <a:r>
                        <a:rPr lang="en-PH" sz="2000" b="1" i="0" dirty="0">
                          <a:solidFill>
                            <a:srgbClr val="2A2B2D"/>
                          </a:solidFill>
                          <a:effectLst/>
                          <a:latin typeface="Verdana" pitchFamily="34" charset="0"/>
                          <a:ea typeface="Verdana" pitchFamily="34" charset="0"/>
                        </a:rPr>
                        <a:t>S</a:t>
                      </a:r>
                      <a:r>
                        <a:rPr lang="en-PH" sz="2000" b="0" i="0" dirty="0">
                          <a:solidFill>
                            <a:srgbClr val="2A2B2D"/>
                          </a:solidFill>
                          <a:effectLst/>
                          <a:latin typeface="Verdana" pitchFamily="34" charset="0"/>
                          <a:ea typeface="Verdana" pitchFamily="34" charset="0"/>
                        </a:rPr>
                        <a:t>howed my work</a:t>
                      </a:r>
                      <a:endParaRPr lang="en-PH" sz="2000" dirty="0">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20000">
                <a:tc>
                  <a:txBody>
                    <a:bodyPr/>
                    <a:lstStyle/>
                    <a:p>
                      <a:r>
                        <a:rPr lang="en-PH" sz="2000" b="1" i="0" dirty="0">
                          <a:solidFill>
                            <a:srgbClr val="2A2B2D"/>
                          </a:solidFill>
                          <a:effectLst/>
                          <a:latin typeface="Open Sans"/>
                        </a:rPr>
                        <a:t>E</a:t>
                      </a:r>
                      <a:r>
                        <a:rPr lang="en-PH" sz="2000" b="0" i="0" dirty="0">
                          <a:solidFill>
                            <a:srgbClr val="2A2B2D"/>
                          </a:solidFill>
                          <a:effectLst/>
                          <a:latin typeface="Open Sans"/>
                        </a:rPr>
                        <a:t>xplained my answers</a:t>
                      </a:r>
                      <a:endParaRPr lang="en-PH" sz="2000" dirty="0">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r>
                        <a:rPr lang="en-US" sz="2000" b="1" i="0" dirty="0">
                          <a:solidFill>
                            <a:srgbClr val="2A2B2D"/>
                          </a:solidFill>
                          <a:effectLst/>
                          <a:latin typeface="Open Sans"/>
                        </a:rPr>
                        <a:t>L</a:t>
                      </a:r>
                      <a:r>
                        <a:rPr lang="en-US" sz="2000" b="0" i="0" dirty="0">
                          <a:solidFill>
                            <a:srgbClr val="2A2B2D"/>
                          </a:solidFill>
                          <a:effectLst/>
                          <a:latin typeface="Open Sans"/>
                        </a:rPr>
                        <a:t>ots of math vocabulary used</a:t>
                      </a:r>
                      <a:endParaRPr lang="en-PH" sz="2000" dirty="0">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r>
                        <a:rPr lang="en-PH" sz="2000" b="1" i="0" dirty="0">
                          <a:solidFill>
                            <a:srgbClr val="2A2B2D"/>
                          </a:solidFill>
                          <a:effectLst/>
                          <a:latin typeface="Open Sans"/>
                        </a:rPr>
                        <a:t>F</a:t>
                      </a:r>
                      <a:r>
                        <a:rPr lang="en-PH" sz="2000" b="0" i="0" dirty="0">
                          <a:solidFill>
                            <a:srgbClr val="2A2B2D"/>
                          </a:solidFill>
                          <a:effectLst/>
                          <a:latin typeface="Open Sans"/>
                        </a:rPr>
                        <a:t>ound multiples solutions</a:t>
                      </a:r>
                      <a:endParaRPr lang="en-PH" sz="2000" dirty="0">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0000">
                <a:tc>
                  <a:txBody>
                    <a:bodyPr/>
                    <a:lstStyle/>
                    <a:p>
                      <a:r>
                        <a:rPr lang="en-US" sz="2000" b="1" i="0" dirty="0">
                          <a:solidFill>
                            <a:srgbClr val="2A2B2D"/>
                          </a:solidFill>
                          <a:effectLst/>
                          <a:latin typeface="Open Sans"/>
                        </a:rPr>
                        <a:t>I </a:t>
                      </a:r>
                      <a:r>
                        <a:rPr lang="en-US" sz="2000" b="0" i="0" dirty="0">
                          <a:solidFill>
                            <a:srgbClr val="2A2B2D"/>
                          </a:solidFill>
                          <a:effectLst/>
                          <a:latin typeface="Open Sans"/>
                        </a:rPr>
                        <a:t>persevered through the problem</a:t>
                      </a:r>
                      <a:endParaRPr lang="en-PH" sz="2000" dirty="0">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0000">
                <a:tc>
                  <a:txBody>
                    <a:bodyPr/>
                    <a:lstStyle/>
                    <a:p>
                      <a:r>
                        <a:rPr lang="en-PH" sz="2000" b="1" i="0" dirty="0">
                          <a:solidFill>
                            <a:srgbClr val="2A2B2D"/>
                          </a:solidFill>
                          <a:effectLst/>
                          <a:latin typeface="Open Sans"/>
                        </a:rPr>
                        <a:t>E</a:t>
                      </a:r>
                      <a:r>
                        <a:rPr lang="en-PH" sz="2000" b="0" i="0" dirty="0">
                          <a:solidFill>
                            <a:srgbClr val="2A2B2D"/>
                          </a:solidFill>
                          <a:effectLst/>
                          <a:latin typeface="Open Sans"/>
                        </a:rPr>
                        <a:t>liminated careless errors</a:t>
                      </a:r>
                      <a:endParaRPr lang="en-PH" sz="2000" dirty="0">
                        <a:latin typeface="Verdana" pitchFamily="34" charset="0"/>
                        <a:ea typeface="Verdana" pitchFamily="34" charset="0"/>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SzPct val="150000"/>
                        <a:buFont typeface="Wingdings" pitchFamily="2" charset="2"/>
                        <a:buChar char="o"/>
                      </a:pPr>
                      <a:r>
                        <a:rPr lang="en-PH" sz="2000" dirty="0">
                          <a:latin typeface="Verdana" pitchFamily="34" charset="0"/>
                          <a:ea typeface="Verdana" pitchFamily="34" charset="0"/>
                        </a:rPr>
                        <a:t> </a:t>
                      </a:r>
                    </a:p>
                  </a:txBody>
                  <a:tcPr marL="137160" marR="137160" marT="137160" marB="137160" anchor="b">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4"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207</a:t>
            </a:r>
          </a:p>
        </p:txBody>
      </p:sp>
      <p:pic>
        <p:nvPicPr>
          <p:cNvPr id="55"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6"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12.2.5 Wrap-Up: Reflection</a:t>
            </a:r>
          </a:p>
        </p:txBody>
      </p:sp>
      <p:pic>
        <p:nvPicPr>
          <p:cNvPr id="57"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58" name="TextBox 57">
            <a:extLst>
              <a:ext uri="{FF2B5EF4-FFF2-40B4-BE49-F238E27FC236}">
                <a16:creationId xmlns:a16="http://schemas.microsoft.com/office/drawing/2014/main" id="{0370EDB7-6994-3D43-ABF9-E04CBAFB9CD9}"/>
              </a:ext>
            </a:extLst>
          </p:cNvPr>
          <p:cNvSpPr txBox="1"/>
          <p:nvPr/>
        </p:nvSpPr>
        <p:spPr>
          <a:xfrm>
            <a:off x="914399" y="1386026"/>
            <a:ext cx="10616713"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Take a </a:t>
            </a:r>
            <a:r>
              <a:rPr lang="en-US" sz="2000" b="1" dirty="0">
                <a:latin typeface="Verdana" panose="020B0604030504040204" pitchFamily="34" charset="0"/>
                <a:ea typeface="Verdana" panose="020B0604030504040204" pitchFamily="34" charset="0"/>
                <a:cs typeface="Verdana" panose="020B0604030504040204" pitchFamily="34" charset="0"/>
              </a:rPr>
              <a:t>SELFIE</a:t>
            </a:r>
            <a:r>
              <a:rPr lang="en-US" sz="2000" dirty="0">
                <a:latin typeface="Verdana" panose="020B0604030504040204" pitchFamily="34" charset="0"/>
                <a:ea typeface="Verdana" panose="020B0604030504040204" pitchFamily="34" charset="0"/>
                <a:cs typeface="Verdana" panose="020B0604030504040204" pitchFamily="34" charset="0"/>
              </a:rPr>
              <a:t> by checking the box that best matches what you did today.</a:t>
            </a:r>
          </a:p>
        </p:txBody>
      </p:sp>
      <p:grpSp>
        <p:nvGrpSpPr>
          <p:cNvPr id="59" name="Group 58"/>
          <p:cNvGrpSpPr/>
          <p:nvPr/>
        </p:nvGrpSpPr>
        <p:grpSpPr>
          <a:xfrm>
            <a:off x="7448439" y="2170686"/>
            <a:ext cx="1267855" cy="381001"/>
            <a:chOff x="5928795" y="2024395"/>
            <a:chExt cx="1267855" cy="381001"/>
          </a:xfrm>
        </p:grpSpPr>
        <p:pic>
          <p:nvPicPr>
            <p:cNvPr id="61" name="Picture 28" descr="https://s3.amazonaws.com/algebranation/digitaltextbook_uploads/E7CE243BC86C12B21BD5A6F8FA112EF9.pn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15650" y="2024395"/>
              <a:ext cx="381000" cy="38100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6" descr="https://s3.amazonaws.com/algebranation/digitaltextbook_uploads/A8F5297A0D8E3E795CBF2222C6DEA5EF.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928795" y="2024395"/>
              <a:ext cx="381000" cy="3810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Group 62"/>
          <p:cNvGrpSpPr/>
          <p:nvPr/>
        </p:nvGrpSpPr>
        <p:grpSpPr>
          <a:xfrm>
            <a:off x="7448439" y="2886966"/>
            <a:ext cx="1267855" cy="381001"/>
            <a:chOff x="5928795" y="2024395"/>
            <a:chExt cx="1267855" cy="381001"/>
          </a:xfrm>
        </p:grpSpPr>
        <p:pic>
          <p:nvPicPr>
            <p:cNvPr id="64" name="Picture 28" descr="https://s3.amazonaws.com/algebranation/digitaltextbook_uploads/E7CE243BC86C12B21BD5A6F8FA112EF9.pn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15650" y="2024395"/>
              <a:ext cx="381000" cy="38100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6" descr="https://s3.amazonaws.com/algebranation/digitaltextbook_uploads/A8F5297A0D8E3E795CBF2222C6DEA5EF.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928795" y="2024395"/>
              <a:ext cx="381000" cy="3810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6" name="Group 65"/>
          <p:cNvGrpSpPr/>
          <p:nvPr/>
        </p:nvGrpSpPr>
        <p:grpSpPr>
          <a:xfrm>
            <a:off x="7448439" y="3621931"/>
            <a:ext cx="1267855" cy="381001"/>
            <a:chOff x="5928795" y="2024395"/>
            <a:chExt cx="1267855" cy="381001"/>
          </a:xfrm>
        </p:grpSpPr>
        <p:pic>
          <p:nvPicPr>
            <p:cNvPr id="67" name="Picture 28" descr="https://s3.amazonaws.com/algebranation/digitaltextbook_uploads/E7CE243BC86C12B21BD5A6F8FA112EF9.pn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15650" y="2024395"/>
              <a:ext cx="381000" cy="381001"/>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6" descr="https://s3.amazonaws.com/algebranation/digitaltextbook_uploads/A8F5297A0D8E3E795CBF2222C6DEA5EF.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928795" y="2024395"/>
              <a:ext cx="381000" cy="3810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9" name="Group 68"/>
          <p:cNvGrpSpPr/>
          <p:nvPr/>
        </p:nvGrpSpPr>
        <p:grpSpPr>
          <a:xfrm>
            <a:off x="7448439" y="4353451"/>
            <a:ext cx="1267855" cy="381001"/>
            <a:chOff x="5928795" y="2024395"/>
            <a:chExt cx="1267855" cy="381001"/>
          </a:xfrm>
        </p:grpSpPr>
        <p:pic>
          <p:nvPicPr>
            <p:cNvPr id="70" name="Picture 28" descr="https://s3.amazonaws.com/algebranation/digitaltextbook_uploads/E7CE243BC86C12B21BD5A6F8FA112EF9.pn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15650" y="2024395"/>
              <a:ext cx="381000" cy="38100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6" descr="https://s3.amazonaws.com/algebranation/digitaltextbook_uploads/A8F5297A0D8E3E795CBF2222C6DEA5EF.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928795" y="2024395"/>
              <a:ext cx="381000" cy="3810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2" name="Group 71"/>
          <p:cNvGrpSpPr/>
          <p:nvPr/>
        </p:nvGrpSpPr>
        <p:grpSpPr>
          <a:xfrm>
            <a:off x="7448439" y="5069731"/>
            <a:ext cx="1267855" cy="381001"/>
            <a:chOff x="5928795" y="2024395"/>
            <a:chExt cx="1267855" cy="381001"/>
          </a:xfrm>
        </p:grpSpPr>
        <p:pic>
          <p:nvPicPr>
            <p:cNvPr id="73" name="Picture 28" descr="https://s3.amazonaws.com/algebranation/digitaltextbook_uploads/E7CE243BC86C12B21BD5A6F8FA112EF9.pn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15650" y="2024395"/>
              <a:ext cx="381000" cy="38100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6" descr="https://s3.amazonaws.com/algebranation/digitaltextbook_uploads/A8F5297A0D8E3E795CBF2222C6DEA5EF.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928795" y="2024395"/>
              <a:ext cx="381000" cy="3810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5" name="Group 74"/>
          <p:cNvGrpSpPr/>
          <p:nvPr/>
        </p:nvGrpSpPr>
        <p:grpSpPr>
          <a:xfrm>
            <a:off x="7448439" y="5778391"/>
            <a:ext cx="1267855" cy="381001"/>
            <a:chOff x="5928795" y="2024395"/>
            <a:chExt cx="1267855" cy="381001"/>
          </a:xfrm>
        </p:grpSpPr>
        <p:pic>
          <p:nvPicPr>
            <p:cNvPr id="76" name="Picture 28" descr="https://s3.amazonaws.com/algebranation/digitaltextbook_uploads/E7CE243BC86C12B21BD5A6F8FA112EF9.pn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15650" y="2024395"/>
              <a:ext cx="381000" cy="38100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6" descr="https://s3.amazonaws.com/algebranation/digitaltextbook_uploads/A8F5297A0D8E3E795CBF2222C6DEA5EF.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928795" y="2024395"/>
              <a:ext cx="381000" cy="3810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1435</TotalTime>
  <Words>1003</Words>
  <Application>Microsoft Macintosh PowerPoint</Application>
  <PresentationFormat>Widescreen</PresentationFormat>
  <Paragraphs>141</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Calibri</vt:lpstr>
      <vt:lpstr>Arial Black</vt:lpstr>
      <vt:lpstr>Cambria Math</vt:lpstr>
      <vt:lpstr>Wingdings</vt:lpstr>
      <vt:lpstr>Verdana</vt:lpstr>
      <vt:lpstr>Arial</vt:lpstr>
      <vt:lpstr>Open Sans</vt:lpstr>
      <vt:lpstr>Century Gothic</vt:lpstr>
      <vt:lpstr>1_Office Theme</vt:lpstr>
      <vt:lpstr>PowerPoint Presentation</vt:lpstr>
      <vt:lpstr>PowerPoint Presentation</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36</cp:revision>
  <dcterms:created xsi:type="dcterms:W3CDTF">2015-03-17T18:51:18Z</dcterms:created>
  <dcterms:modified xsi:type="dcterms:W3CDTF">2023-02-01T17:37:49Z</dcterms:modified>
</cp:coreProperties>
</file>