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72" r:id="rId11"/>
    <p:sldId id="374" r:id="rId12"/>
    <p:sldId id="373" r:id="rId13"/>
    <p:sldId id="375" r:id="rId14"/>
    <p:sldId id="379" r:id="rId15"/>
    <p:sldId id="376" r:id="rId16"/>
    <p:sldId id="377" r:id="rId17"/>
    <p:sldId id="323" r:id="rId18"/>
    <p:sldId id="324" r:id="rId19"/>
    <p:sldId id="367" r:id="rId20"/>
    <p:sldId id="314" r:id="rId21"/>
    <p:sldId id="315" r:id="rId22"/>
    <p:sldId id="302" r:id="rId23"/>
    <p:sldId id="303" r:id="rId24"/>
    <p:sldId id="370" r:id="rId25"/>
    <p:sldId id="378" r:id="rId26"/>
    <p:sldId id="306" r:id="rId27"/>
    <p:sldId id="307" r:id="rId28"/>
  </p:sldIdLst>
  <p:sldSz cx="12192000" cy="6858000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Century Gothic" pitchFamily="34" charset="0"/>
      <p:regular r:id="rId34"/>
      <p:bold r:id="rId35"/>
      <p:italic r:id="rId36"/>
      <p:boldItalic r:id="rId37"/>
    </p:embeddedFont>
    <p:embeddedFont>
      <p:font typeface="Cambria Math" pitchFamily="18" charset="0"/>
      <p:regular r:id="rId38"/>
    </p:embeddedFont>
    <p:embeddedFont>
      <p:font typeface="Cambria" pitchFamily="18" charset="0"/>
      <p:regular r:id="rId39"/>
      <p:bold r:id="rId40"/>
      <p:italic r:id="rId41"/>
      <p:boldItalic r:id="rId42"/>
    </p:embeddedFont>
    <p:embeddedFont>
      <p:font typeface="Arial Black" pitchFamily="34" charset="0"/>
      <p:bold r:id="rId43"/>
    </p:embeddedFont>
    <p:embeddedFont>
      <p:font typeface="Verdana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4694"/>
  </p:normalViewPr>
  <p:slideViewPr>
    <p:cSldViewPr snapToGrid="0">
      <p:cViewPr>
        <p:scale>
          <a:sx n="80" d="100"/>
          <a:sy n="80" d="100"/>
        </p:scale>
        <p:origin x="-648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2484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205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5166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39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5843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0015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00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3339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375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619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1379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1701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0.png"/><Relationship Id="rId5" Type="http://schemas.openxmlformats.org/officeDocument/2006/relationships/image" Target="../media/image27.png"/><Relationship Id="rId10" Type="http://schemas.openxmlformats.org/officeDocument/2006/relationships/image" Target="../media/image10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10" Type="http://schemas.openxmlformats.org/officeDocument/2006/relationships/image" Target="../media/image10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3.jpg"/><Relationship Id="rId7" Type="http://schemas.openxmlformats.org/officeDocument/2006/relationships/hyperlink" Target="http://farmhack.org/archive/self-watering-containers-made-out-5-gallon-bucket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10" Type="http://schemas.openxmlformats.org/officeDocument/2006/relationships/image" Target="../media/image54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=""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005" y="1783180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695209" y="2054277"/>
            <a:ext cx="522044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5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of </a:t>
            </a:r>
            <a: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Right 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Circular Cylinders – </a:t>
            </a:r>
            <a: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Part 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217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MA.7.GR.2.3</a:t>
            </a:r>
          </a:p>
          <a:p>
            <a:pPr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volume of right circular cylinders.</a:t>
            </a:r>
          </a:p>
          <a:p>
            <a:pPr indent="0">
              <a:buNone/>
            </a:pPr>
            <a:endParaRPr lang="en-US" sz="36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217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5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200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volume of a right circular cylinder</a:t>
            </a:r>
            <a:r>
              <a:rPr lang="en-US" sz="36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2701900-8A78-3648-A684-515A1442F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82" y="2963268"/>
            <a:ext cx="6763385" cy="3167380"/>
          </a:xfrm>
          <a:prstGeom prst="rect">
            <a:avLst/>
          </a:prstGeom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" name="Google Shape;167;p4"/>
          <p:cNvSpPr txBox="1"/>
          <p:nvPr/>
        </p:nvSpPr>
        <p:spPr>
          <a:xfrm>
            <a:off x="1143000" y="182113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12.5.1 Warm-Up: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What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Do You Wonder?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168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170;p4"/>
              <p:cNvSpPr txBox="1"/>
              <p:nvPr/>
            </p:nvSpPr>
            <p:spPr>
              <a:xfrm>
                <a:off x="914400" y="1386026"/>
                <a:ext cx="10713750" cy="1323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silo is a cylindrical container that is used on farms to hold large amounts of goods, such as grain. The artist Cam Scale painted a mural across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adjacent silos. The painting is of a young girl standing in an open meadow looking up into the open sky. The mural took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weeks to paint.</a:t>
                </a:r>
              </a:p>
            </p:txBody>
          </p:sp>
        </mc:Choice>
        <mc:Fallback>
          <p:sp>
            <p:nvSpPr>
              <p:cNvPr id="17" name="Google Shape;170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10713750" cy="1323399"/>
              </a:xfrm>
              <a:prstGeom prst="rect">
                <a:avLst/>
              </a:prstGeom>
              <a:blipFill rotWithShape="1">
                <a:blip r:embed="rId6"/>
                <a:stretch>
                  <a:fillRect l="-626" t="-2765" b="-73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79;p5"/>
          <p:cNvSpPr txBox="1"/>
          <p:nvPr/>
        </p:nvSpPr>
        <p:spPr>
          <a:xfrm>
            <a:off x="914400" y="487736"/>
            <a:ext cx="105156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at least two steps you think the artist needed to take before painting this mural. 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something you wonder about this artist’s project? 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744200" cy="4413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57200">
                  <a:lnSpc>
                    <a:spcPct val="250000"/>
                  </a:lnSpc>
                  <a:tabLst>
                    <a:tab pos="30861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volume of a cylinder,                  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    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of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base of the cylinder</a:t>
                </a:r>
              </a:p>
              <a:p>
                <a:pPr marL="457200">
                  <a:lnSpc>
                    <a:spcPct val="2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height of the cylinder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Landon says he can use the formula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find the volume of a cylinder. Shayna disagrees and says the formula for finding the volume of a cylinder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Discuss with your partner who you think is correct.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744200" cy="4413901"/>
              </a:xfrm>
              <a:prstGeom prst="rect">
                <a:avLst/>
              </a:prstGeom>
              <a:blipFill rotWithShape="1">
                <a:blip r:embed="rId3"/>
                <a:stretch>
                  <a:fillRect l="-567" t="-829" b="-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xmlns="" id="{E8A7A6FF-DA22-B246-BB86-3B4853B17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782" y="1809681"/>
            <a:ext cx="1794168" cy="77597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multiply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xmlns="" id="{8199CA97-942E-174F-8A2B-3A12E9551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9440" y="2582191"/>
            <a:ext cx="2477409" cy="84607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circumference	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xmlns="" id="{6AA0E14B-B1B1-CA42-A5CD-84FA9E8AD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5712" y="2634192"/>
            <a:ext cx="944335" cy="7685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218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Google Shape;317;p19"/>
          <p:cNvSpPr txBox="1"/>
          <p:nvPr/>
        </p:nvSpPr>
        <p:spPr>
          <a:xfrm>
            <a:off x="1143000" y="85473"/>
            <a:ext cx="105156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12.5.2 Guided Instruction: Finding the Volume of a Right Circular Cylinder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9EEE5C2-4E8D-394B-8C45-7C5F9486F09D}"/>
              </a:ext>
            </a:extLst>
          </p:cNvPr>
          <p:cNvGrpSpPr/>
          <p:nvPr/>
        </p:nvGrpSpPr>
        <p:grpSpPr>
          <a:xfrm>
            <a:off x="3635373" y="1668683"/>
            <a:ext cx="3885564" cy="3100113"/>
            <a:chOff x="149254" y="149319"/>
            <a:chExt cx="2870090" cy="22641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 Box 51">
                  <a:extLst>
                    <a:ext uri="{FF2B5EF4-FFF2-40B4-BE49-F238E27FC236}">
                      <a16:creationId xmlns:a16="http://schemas.microsoft.com/office/drawing/2014/main" xmlns="" id="{C40FAEFF-4A03-2246-A2BA-6421EF282A23}"/>
                    </a:ext>
                  </a:extLst>
                </p:cNvPr>
                <p:cNvSpPr txBox="1"/>
                <p:nvPr/>
              </p:nvSpPr>
              <p:spPr>
                <a:xfrm>
                  <a:off x="149254" y="1311935"/>
                  <a:ext cx="1328671" cy="499730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=4.8</m:t>
                      </m:r>
                    </m:oMath>
                  </a14:m>
                  <a:r>
                    <a:rPr lang="en-US" sz="20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m.</a:t>
                  </a:r>
                  <a:endParaRPr lang="en-US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" name="Text Box 5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C40FAEFF-4A03-2246-A2BA-6421EF282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254" y="1311935"/>
                  <a:ext cx="1328671" cy="49973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4464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 Box 57">
                  <a:extLst>
                    <a:ext uri="{FF2B5EF4-FFF2-40B4-BE49-F238E27FC236}">
                      <a16:creationId xmlns:a16="http://schemas.microsoft.com/office/drawing/2014/main" xmlns="" id="{A43D8DB2-AE5B-E548-AC3E-050E32579527}"/>
                    </a:ext>
                  </a:extLst>
                </p:cNvPr>
                <p:cNvSpPr txBox="1"/>
                <p:nvPr/>
              </p:nvSpPr>
              <p:spPr>
                <a:xfrm>
                  <a:off x="1652786" y="149319"/>
                  <a:ext cx="1232535" cy="372139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=6</m:t>
                      </m:r>
                    </m:oMath>
                  </a14:m>
                  <a:r>
                    <a:rPr lang="en-US" sz="20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0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m.</a:t>
                  </a:r>
                  <a:endParaRPr lang="en-US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9" name="Text Box 57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A43D8DB2-AE5B-E548-AC3E-050E32579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2786" y="149319"/>
                  <a:ext cx="1232535" cy="372139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6024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 descr="A picture containing text, glass, tableware&#10;&#10;Description automatically generated">
              <a:extLst>
                <a:ext uri="{FF2B5EF4-FFF2-40B4-BE49-F238E27FC236}">
                  <a16:creationId xmlns:a16="http://schemas.microsoft.com/office/drawing/2014/main" xmlns="" id="{FB86BA22-B7D4-FA45-99F9-DB26B9639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1334" y="467833"/>
              <a:ext cx="1858010" cy="1945640"/>
            </a:xfrm>
            <a:prstGeom prst="rect">
              <a:avLst/>
            </a:prstGeom>
          </p:spPr>
        </p:pic>
      </p:grpSp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Google Shape;179;p5"/>
              <p:cNvSpPr txBox="1"/>
              <p:nvPr/>
            </p:nvSpPr>
            <p:spPr>
              <a:xfrm>
                <a:off x="914400" y="487736"/>
                <a:ext cx="10515600" cy="8309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cylinder shown has a diameter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(m.) and a height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m. </a:t>
                </a:r>
              </a:p>
            </p:txBody>
          </p:sp>
        </mc:Choice>
        <mc:Fallback>
          <p:sp>
            <p:nvSpPr>
              <p:cNvPr id="15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830956"/>
              </a:xfrm>
              <a:prstGeom prst="rect">
                <a:avLst/>
              </a:prstGeom>
              <a:blipFill rotWithShape="1">
                <a:blip r:embed="rId7"/>
                <a:stretch>
                  <a:fillRect l="-928" t="-6618" b="-154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75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D2D76D6A-8AD3-C94A-AA22-451D1C9A66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146376"/>
                  </p:ext>
                </p:extLst>
              </p:nvPr>
            </p:nvGraphicFramePr>
            <p:xfrm>
              <a:off x="1940030" y="1768647"/>
              <a:ext cx="8215630" cy="350025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27321">
                      <a:extLst>
                        <a:ext uri="{9D8B030D-6E8A-4147-A177-3AD203B41FA5}">
                          <a16:colId xmlns:a16="http://schemas.microsoft.com/office/drawing/2014/main" xmlns="" val="2923916268"/>
                        </a:ext>
                      </a:extLst>
                    </a:gridCol>
                    <a:gridCol w="4088309">
                      <a:extLst>
                        <a:ext uri="{9D8B030D-6E8A-4147-A177-3AD203B41FA5}">
                          <a16:colId xmlns:a16="http://schemas.microsoft.com/office/drawing/2014/main" xmlns="" val="3356917802"/>
                        </a:ext>
                      </a:extLst>
                    </a:gridCol>
                  </a:tblGrid>
                  <a:tr h="13195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Use Landon’s formula,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b="1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b="1" i="1">
                                              <a:effectLst/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b="1" i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𝐝</m:t>
                                          </m:r>
                                        </m:num>
                                        <m:den>
                                          <m:r>
                                            <a:rPr lang="en-US" sz="2000" b="1" smtClean="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Use Shayna’s formula,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  <m:r>
                                <a:rPr lang="en-US" sz="2000" b="1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𝛑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effectLst/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  <m:sup>
                                  <m:r>
                                    <a:rPr lang="en-US" sz="2000" b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80199101"/>
                      </a:ext>
                    </a:extLst>
                  </a:tr>
                  <a:tr h="21807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8484251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2D76D6A-8AD3-C94A-AA22-451D1C9A66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146376"/>
                  </p:ext>
                </p:extLst>
              </p:nvPr>
            </p:nvGraphicFramePr>
            <p:xfrm>
              <a:off x="1940030" y="1768647"/>
              <a:ext cx="8215630" cy="350025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12732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23916268"/>
                        </a:ext>
                      </a:extLst>
                    </a:gridCol>
                    <a:gridCol w="408830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356917802"/>
                        </a:ext>
                      </a:extLst>
                    </a:gridCol>
                  </a:tblGrid>
                  <a:tr h="13195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r="-99114" b="-166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894" b="-166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80199101"/>
                      </a:ext>
                    </a:extLst>
                  </a:tr>
                  <a:tr h="218074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</a:rPr>
                            <a:t> </a:t>
                          </a:r>
                          <a:endParaRPr lang="en-US" sz="12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484251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79;p5"/>
              <p:cNvSpPr txBox="1"/>
              <p:nvPr/>
            </p:nvSpPr>
            <p:spPr>
              <a:xfrm>
                <a:off x="914400" y="487736"/>
                <a:ext cx="10515600" cy="10156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decide who is partner A and who is partner B.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Then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volume of the cylinder using the formula indicated.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Leave your answer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1015622"/>
              </a:xfrm>
              <a:prstGeom prst="rect">
                <a:avLst/>
              </a:prstGeom>
              <a:blipFill rotWithShape="1">
                <a:blip r:embed="rId5"/>
                <a:stretch>
                  <a:fillRect t="-3593" b="-95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350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xmlns="" id="{7D700663-052D-8A43-921B-53D7EE800105}"/>
              </a:ext>
            </a:extLst>
          </p:cNvPr>
          <p:cNvSpPr/>
          <p:nvPr/>
        </p:nvSpPr>
        <p:spPr>
          <a:xfrm>
            <a:off x="6875845" y="2912106"/>
            <a:ext cx="1158875" cy="106299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2000" baseline="30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79;p5"/>
              <p:cNvSpPr txBox="1"/>
              <p:nvPr/>
            </p:nvSpPr>
            <p:spPr>
              <a:xfrm>
                <a:off x="914400" y="487736"/>
                <a:ext cx="10515600" cy="34778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 formulas should result in the same answer. Check your answer with your partner. Then, discuss the similarities and differences in your calculations. Write a summary of your discussion. 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volume of the cylinder is _____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0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3477835"/>
              </a:xfrm>
              <a:prstGeom prst="rect">
                <a:avLst/>
              </a:prstGeom>
              <a:blipFill rotWithShape="1">
                <a:blip r:embed="rId4"/>
                <a:stretch>
                  <a:fillRect t="-1051" r="-8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866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79;p5"/>
              <p:cNvSpPr txBox="1"/>
              <p:nvPr/>
            </p:nvSpPr>
            <p:spPr>
              <a:xfrm>
                <a:off x="914400" y="487736"/>
                <a:ext cx="10515600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Four cylinders are shown and specific measurements are given.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measurements include the radius,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diameter,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height,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circumference,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cylinder, select which formula you would use to find the volume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2308284"/>
              </a:xfrm>
              <a:prstGeom prst="rect">
                <a:avLst/>
              </a:prstGeom>
              <a:blipFill rotWithShape="1">
                <a:blip r:embed="rId4"/>
                <a:stretch>
                  <a:fillRect l="-928" t="-2111" r="-1565" b="-50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075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8274871"/>
                  </p:ext>
                </p:extLst>
              </p:nvPr>
            </p:nvGraphicFramePr>
            <p:xfrm>
              <a:off x="2434174" y="456475"/>
              <a:ext cx="7201362" cy="52792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3378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16757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0619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7600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8274871"/>
                  </p:ext>
                </p:extLst>
              </p:nvPr>
            </p:nvGraphicFramePr>
            <p:xfrm>
              <a:off x="2434174" y="456475"/>
              <a:ext cx="7201362" cy="52792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337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16757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0619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7308" t="-22485" b="-1340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27600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7308" t="-91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2007765" y="520392"/>
            <a:ext cx="7310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pic>
        <p:nvPicPr>
          <p:cNvPr id="18" name="Picture 17"/>
          <p:cNvPicPr/>
          <p:nvPr/>
        </p:nvPicPr>
        <p:blipFill>
          <a:blip r:embed="rId4"/>
          <a:stretch>
            <a:fillRect/>
          </a:stretch>
        </p:blipFill>
        <p:spPr>
          <a:xfrm>
            <a:off x="3657202" y="3206590"/>
            <a:ext cx="1612900" cy="2425700"/>
          </a:xfrm>
          <a:prstGeom prst="rect">
            <a:avLst/>
          </a:prstGeom>
        </p:spPr>
      </p:pic>
      <p:pic>
        <p:nvPicPr>
          <p:cNvPr id="19" name="Picture 18" descr="A picture containing appliance&#10;&#10;Description automatically generated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220" t="44713" r="51564" b="13534"/>
          <a:stretch/>
        </p:blipFill>
        <p:spPr bwMode="auto">
          <a:xfrm>
            <a:off x="3399617" y="1097426"/>
            <a:ext cx="1898015" cy="17964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0" name="Group 19"/>
          <p:cNvGrpSpPr/>
          <p:nvPr/>
        </p:nvGrpSpPr>
        <p:grpSpPr>
          <a:xfrm>
            <a:off x="4759999" y="1130454"/>
            <a:ext cx="1477010" cy="1169037"/>
            <a:chOff x="582417" y="0"/>
            <a:chExt cx="1478195" cy="1169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8"/>
                <p:cNvSpPr txBox="1"/>
                <p:nvPr/>
              </p:nvSpPr>
              <p:spPr>
                <a:xfrm>
                  <a:off x="582417" y="0"/>
                  <a:ext cx="1212112" cy="36150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a14:m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in.</a:t>
                  </a:r>
                </a:p>
              </p:txBody>
            </p:sp>
          </mc:Choice>
          <mc:Fallback xmlns="">
            <p:sp>
              <p:nvSpPr>
                <p:cNvPr id="21" name="Text 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417" y="0"/>
                  <a:ext cx="1212112" cy="36150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t="-8333" b="-38333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32"/>
                <p:cNvSpPr txBox="1"/>
                <p:nvPr/>
              </p:nvSpPr>
              <p:spPr>
                <a:xfrm>
                  <a:off x="848321" y="807976"/>
                  <a:ext cx="1212291" cy="36150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=5</m:t>
                      </m:r>
                    </m:oMath>
                  </a14:m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in.</a:t>
                  </a:r>
                </a:p>
              </p:txBody>
            </p:sp>
          </mc:Choice>
          <mc:Fallback xmlns="">
            <p:sp>
              <p:nvSpPr>
                <p:cNvPr id="22" name="Text 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321" y="807976"/>
                  <a:ext cx="1212291" cy="36150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10169" b="-40678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3818717" y="2996873"/>
            <a:ext cx="2300604" cy="1656087"/>
            <a:chOff x="419144" y="47635"/>
            <a:chExt cx="2300816" cy="165647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 Box 34"/>
                <p:cNvSpPr txBox="1"/>
                <p:nvPr/>
              </p:nvSpPr>
              <p:spPr>
                <a:xfrm>
                  <a:off x="419144" y="47635"/>
                  <a:ext cx="1382232" cy="36150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a14:m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cm.</a:t>
                  </a:r>
                </a:p>
              </p:txBody>
            </p:sp>
          </mc:Choice>
          <mc:Fallback>
            <p:sp>
              <p:nvSpPr>
                <p:cNvPr id="24" name="Text 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144" y="47635"/>
                  <a:ext cx="1382232" cy="36150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475" b="-40678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 Box 36"/>
                <p:cNvSpPr txBox="1"/>
                <p:nvPr/>
              </p:nvSpPr>
              <p:spPr>
                <a:xfrm>
                  <a:off x="1284511" y="1342599"/>
                  <a:ext cx="1435449" cy="36150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=11</m:t>
                      </m:r>
                    </m:oMath>
                  </a14:m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cm.</a:t>
                  </a:r>
                </a:p>
              </p:txBody>
            </p:sp>
          </mc:Choice>
          <mc:Fallback>
            <p:sp>
              <p:nvSpPr>
                <p:cNvPr id="25" name="Text 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511" y="1342599"/>
                  <a:ext cx="1435449" cy="36150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8475" r="-847" b="-40678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352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3063653" y="1086841"/>
            <a:ext cx="3068340" cy="1837820"/>
            <a:chOff x="0" y="175831"/>
            <a:chExt cx="3134612" cy="1995574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93405"/>
              <a:ext cx="2051685" cy="1778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 Box 38"/>
                <p:cNvSpPr txBox="1"/>
                <p:nvPr/>
              </p:nvSpPr>
              <p:spPr>
                <a:xfrm>
                  <a:off x="1964861" y="754794"/>
                  <a:ext cx="1169751" cy="36150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a14:m>
                  <a:r>
                    <a:rPr lang="en-US" sz="18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8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m.</a:t>
                  </a:r>
                  <a:endParaRPr lang="en-US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" name="Text 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861" y="754794"/>
                  <a:ext cx="1169751" cy="361507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9259" b="-40741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 Box 40"/>
                <p:cNvSpPr txBox="1"/>
                <p:nvPr/>
              </p:nvSpPr>
              <p:spPr>
                <a:xfrm>
                  <a:off x="659059" y="175831"/>
                  <a:ext cx="1307963" cy="36150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=4.1</m:t>
                      </m:r>
                    </m:oMath>
                  </a14:m>
                  <a:r>
                    <a:rPr lang="en-US" sz="18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8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m</a:t>
                  </a:r>
                  <a:r>
                    <a:rPr lang="en-US" sz="1800" dirty="0" smtClean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endParaRPr lang="en-US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5" name="Text 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059" y="175831"/>
                  <a:ext cx="1307963" cy="361506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9091" r="-3810" b="-38182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785334"/>
                  </p:ext>
                </p:extLst>
              </p:nvPr>
            </p:nvGraphicFramePr>
            <p:xfrm>
              <a:off x="2434174" y="456475"/>
              <a:ext cx="7201362" cy="52792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3378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16757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0619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7600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>
                                              <a:effectLst/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785334"/>
                  </p:ext>
                </p:extLst>
              </p:nvPr>
            </p:nvGraphicFramePr>
            <p:xfrm>
              <a:off x="2434174" y="456475"/>
              <a:ext cx="7201362" cy="527921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0337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16757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Cylinder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Formula</a:t>
                          </a: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0619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27308" t="-22485" b="-1340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27600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700" dirty="0">
                              <a:effectLst/>
                            </a:rPr>
                            <a:t> </a:t>
                          </a:r>
                          <a:endParaRPr lang="en-US" sz="11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4288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0" marR="64288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27308" t="-91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Group 2"/>
          <p:cNvGrpSpPr/>
          <p:nvPr/>
        </p:nvGrpSpPr>
        <p:grpSpPr>
          <a:xfrm>
            <a:off x="2185096" y="3177908"/>
            <a:ext cx="4572000" cy="2418391"/>
            <a:chOff x="1918396" y="3625583"/>
            <a:chExt cx="4572000" cy="2418391"/>
          </a:xfrm>
        </p:grpSpPr>
        <p:pic>
          <p:nvPicPr>
            <p:cNvPr id="16" name="Picture 15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80205" y="3625583"/>
              <a:ext cx="1048385" cy="15297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1918396" y="5207848"/>
                  <a:ext cx="4572000" cy="836126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ctr">
                    <a:spcAft>
                      <a:spcPts val="1000"/>
                    </a:spcAft>
                  </a:pP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=6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a14:m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units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=10</m:t>
                      </m:r>
                    </m:oMath>
                  </a14:m>
                  <a:r>
                    <a:rPr lang="en-US" sz="2000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units</a:t>
                  </a:r>
                  <a:endPara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396" y="5207848"/>
                  <a:ext cx="4572000" cy="836126"/>
                </a:xfrm>
                <a:prstGeom prst="rect">
                  <a:avLst/>
                </a:prstGeom>
                <a:blipFill>
                  <a:blip r:embed="rId9"/>
                  <a:stretch>
                    <a:fillRect t="-2985" b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2007765" y="520392"/>
            <a:ext cx="7310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1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26;g104476d1465_1_17"/>
          <p:cNvPicPr preferRelativeResize="0"/>
          <p:nvPr/>
        </p:nvPicPr>
        <p:blipFill rotWithShape="1"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604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220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79;p5"/>
          <p:cNvSpPr txBox="1"/>
          <p:nvPr/>
        </p:nvSpPr>
        <p:spPr>
          <a:xfrm>
            <a:off x="914400" y="487736"/>
            <a:ext cx="10515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49263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Either formula can be used to calculate the volume of a cylinder. Compare your selections above with your partner. Discuss your reasoning for each selection. </a:t>
            </a:r>
          </a:p>
        </p:txBody>
      </p:sp>
    </p:spTree>
    <p:extLst>
      <p:ext uri="{BB962C8B-B14F-4D97-AF65-F5344CB8AC3E}">
        <p14:creationId xmlns:p14="http://schemas.microsoft.com/office/powerpoint/2010/main" val="1444288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220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xmlns="" id="{50B87182-5A16-B149-B5F9-FFAA1C5D4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499" y="2209721"/>
            <a:ext cx="3392473" cy="2023808"/>
          </a:xfrm>
          <a:prstGeom prst="rect">
            <a:avLst/>
          </a:prstGeom>
        </p:spPr>
      </p:pic>
      <p:pic>
        <p:nvPicPr>
          <p:cNvPr id="13" name="Picture 12" descr="A picture containing rectangle&#10;&#10;Description automatically generated">
            <a:extLst>
              <a:ext uri="{FF2B5EF4-FFF2-40B4-BE49-F238E27FC236}">
                <a16:creationId xmlns:a16="http://schemas.microsoft.com/office/drawing/2014/main" xmlns="" id="{88AB1629-D96F-DE49-B3DC-F06269AFBC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6833" y="4117095"/>
            <a:ext cx="2789954" cy="2540680"/>
          </a:xfrm>
          <a:prstGeom prst="rect">
            <a:avLst/>
          </a:prstGeom>
        </p:spPr>
      </p:pic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220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69773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12.5.3 Guided Practice: Using Diameter or Radius to Find the Volume of a Right Circular Cylinder</a:t>
            </a:r>
            <a:endParaRPr lang="en-US" sz="28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14400" y="1389888"/>
                <a:ext cx="106161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volume of each right circular cylinder. Leave your answers in terms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9888"/>
                <a:ext cx="10616184" cy="707886"/>
              </a:xfrm>
              <a:prstGeom prst="rect">
                <a:avLst/>
              </a:prstGeom>
              <a:blipFill rotWithShape="1">
                <a:blip r:embed="rId7"/>
                <a:stretch>
                  <a:fillRect l="-574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221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Google Shape;179;p5"/>
              <p:cNvSpPr txBox="1"/>
              <p:nvPr/>
            </p:nvSpPr>
            <p:spPr>
              <a:xfrm>
                <a:off x="914400" y="487736"/>
                <a:ext cx="10515600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Mrs.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Scarham’s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farm, there is a silo with a height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(ft.) and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sketch of the silo and label the dimensions.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cubic feet of grain can this silo hold?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9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3785611"/>
              </a:xfrm>
              <a:prstGeom prst="rect">
                <a:avLst/>
              </a:prstGeom>
              <a:blipFill rotWithShape="1">
                <a:blip r:embed="rId4"/>
                <a:stretch>
                  <a:fillRect l="-638" t="-966" b="-19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221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240188"/>
                <a:ext cx="105156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5138" indent="-465138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Simone calculated the volume of a cylinder with a diameter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(in.) and height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Her calculations are shown. </a:t>
                </a:r>
              </a:p>
              <a:p>
                <a:pPr algn="ctr"/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>
                  <a:tabLst>
                    <a:tab pos="2971800" algn="l"/>
                  </a:tabLst>
                </a:pPr>
                <a:r>
                  <a:rPr lang="en-US" sz="2000" dirty="0" smtClean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(16)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200400" algn="l"/>
                  </a:tabLst>
                </a:pPr>
                <a:r>
                  <a:rPr lang="en-US" sz="2000" dirty="0" smtClean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∙16</m:t>
                    </m:r>
                  </m:oMath>
                </a14:m>
                <a:endParaRPr lang="en-US" sz="2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200400" algn="l"/>
                  </a:tabLst>
                </a:pPr>
                <a:r>
                  <a:rPr lang="en-US" sz="2000" dirty="0" smtClean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576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in²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Simone made errors in her work. Work with your partner to determine what errors were made. Write a note to Simone identifying her errors and explaining how she can correct them.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40188"/>
                <a:ext cx="10515600" cy="4708981"/>
              </a:xfrm>
              <a:prstGeom prst="rect">
                <a:avLst/>
              </a:prstGeom>
              <a:blipFill rotWithShape="1">
                <a:blip r:embed="rId3"/>
                <a:stretch>
                  <a:fillRect l="-580" t="-776" r="-174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xmlns="" id="{FDA4A697-94FC-1A4B-B7FD-C5CBC6C42F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0063" y="2001596"/>
            <a:ext cx="1783888" cy="2862907"/>
          </a:xfrm>
          <a:prstGeom prst="rect">
            <a:avLst/>
          </a:prstGeom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221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9117" y="293504"/>
            <a:ext cx="10650702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12.5.4 Collaboration: Error Analysis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309" y="18634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9DB0C80B-17D3-4342-AC9A-C72A5568E3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188104"/>
                  </p:ext>
                </p:extLst>
              </p:nvPr>
            </p:nvGraphicFramePr>
            <p:xfrm>
              <a:off x="1541450" y="2310493"/>
              <a:ext cx="9896859" cy="360168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5577840">
                      <a:extLst>
                        <a:ext uri="{9D8B030D-6E8A-4147-A177-3AD203B41FA5}">
                          <a16:colId xmlns:a16="http://schemas.microsoft.com/office/drawing/2014/main" xmlns="" val="4155585621"/>
                        </a:ext>
                      </a:extLst>
                    </a:gridCol>
                    <a:gridCol w="4319019">
                      <a:extLst>
                        <a:ext uri="{9D8B030D-6E8A-4147-A177-3AD203B41FA5}">
                          <a16:colId xmlns:a16="http://schemas.microsoft.com/office/drawing/2014/main" xmlns="" val="1200756018"/>
                        </a:ext>
                      </a:extLst>
                    </a:gridCol>
                  </a:tblGrid>
                  <a:tr h="900422">
                    <a:tc>
                      <a:txBody>
                        <a:bodyPr/>
                        <a:lstStyle/>
                        <a:p>
                          <a:pPr marL="344488" marR="0" lvl="0" indent="-344488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_____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=2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units;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=5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4488" marR="0" lvl="0" indent="-344488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UcPeriod"/>
                            <a:tabLst/>
                          </a:pPr>
                          <a:r>
                            <a:rPr lang="en-US" sz="2000" b="0" i="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36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units³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539913546"/>
                      </a:ext>
                    </a:extLst>
                  </a:tr>
                  <a:tr h="900422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=9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units;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=3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UcPeriod" startAt="2"/>
                          </a:pPr>
                          <a:r>
                            <a:rPr lang="en-US" sz="2000" b="0" i="0" baseline="0" dirty="0">
                              <a:effectLst/>
                              <a:latin typeface="Arial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98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units³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37890235"/>
                      </a:ext>
                    </a:extLst>
                  </a:tr>
                  <a:tr h="900422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3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=6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units;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=4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 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UcPeriod" startAt="3"/>
                          </a:pPr>
                          <a:r>
                            <a:rPr lang="en-US" sz="2000" dirty="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units³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06975493"/>
                      </a:ext>
                    </a:extLst>
                  </a:tr>
                  <a:tr h="900422"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_____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=7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units;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=8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0" indent="-45720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lphaUcPeriod" startAt="4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approximately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763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units³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989290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DB0C80B-17D3-4342-AC9A-C72A5568E3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188104"/>
                  </p:ext>
                </p:extLst>
              </p:nvPr>
            </p:nvGraphicFramePr>
            <p:xfrm>
              <a:off x="1541450" y="2310493"/>
              <a:ext cx="9896859" cy="360168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5577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55585621"/>
                        </a:ext>
                      </a:extLst>
                    </a:gridCol>
                    <a:gridCol w="431901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00756018"/>
                        </a:ext>
                      </a:extLst>
                    </a:gridCol>
                  </a:tblGrid>
                  <a:tr h="900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9" r="-77486" b="-299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379" r="-141" b="-2993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539913546"/>
                      </a:ext>
                    </a:extLst>
                  </a:tr>
                  <a:tr h="900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9" t="-100000" r="-77486" b="-199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379" t="-100000" r="-141" b="-1993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37890235"/>
                      </a:ext>
                    </a:extLst>
                  </a:tr>
                  <a:tr h="900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9" t="-201361" r="-77486" b="-1006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379" t="-201361" r="-141" b="-1006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06975493"/>
                      </a:ext>
                    </a:extLst>
                  </a:tr>
                  <a:tr h="900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9" t="-299324" r="-774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29379" t="-299324" r="-1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3989290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12.5.5 Your Turn!</a:t>
            </a:r>
            <a:endParaRPr lang="en-US" sz="44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759C3E41-93EC-B84D-963F-86A3B15AC1C6}"/>
              </a:ext>
            </a:extLst>
          </p:cNvPr>
          <p:cNvSpPr txBox="1"/>
          <p:nvPr/>
        </p:nvSpPr>
        <p:spPr>
          <a:xfrm>
            <a:off x="914400" y="1233626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dimensions of four cylinders are given in the column on the left. Match each set of dimensions with the corresponding volume of the cylinder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venn diagram&#10;&#10;Description automatically generated">
            <a:extLst>
              <a:ext uri="{FF2B5EF4-FFF2-40B4-BE49-F238E27FC236}">
                <a16:creationId xmlns:a16="http://schemas.microsoft.com/office/drawing/2014/main" xmlns="" id="{F6819082-9B3E-6040-94AE-5BD7C9F9F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997" y="1578110"/>
            <a:ext cx="5254406" cy="2055179"/>
          </a:xfrm>
          <a:prstGeom prst="rect">
            <a:avLst/>
          </a:prstGeom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Google Shape;179;p5"/>
              <p:cNvSpPr txBox="1"/>
              <p:nvPr/>
            </p:nvSpPr>
            <p:spPr>
              <a:xfrm>
                <a:off x="914400" y="487736"/>
                <a:ext cx="10515600" cy="8357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volume of the cylinder shown.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Round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your answer to the nearest thousandth.</a:t>
                </a:r>
              </a:p>
            </p:txBody>
          </p:sp>
        </mc:Choice>
        <mc:Fallback>
          <p:sp>
            <p:nvSpPr>
              <p:cNvPr id="11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835766"/>
              </a:xfrm>
              <a:prstGeom prst="rect">
                <a:avLst/>
              </a:prstGeom>
              <a:blipFill rotWithShape="1">
                <a:blip r:embed="rId5"/>
                <a:stretch>
                  <a:fillRect l="-638" b="-124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9085" y="487736"/>
            <a:ext cx="2901315" cy="2440305"/>
          </a:xfrm>
          <a:prstGeom prst="rect">
            <a:avLst/>
          </a:prstGeom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222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Google Shape;179;p5"/>
              <p:cNvSpPr txBox="1"/>
              <p:nvPr/>
            </p:nvSpPr>
            <p:spPr>
              <a:xfrm>
                <a:off x="914401" y="487736"/>
                <a:ext cx="6724650" cy="1631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figure shows two grain storage silos.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diameter of each measures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(ft.) and the height of each cylinder measures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ft. Find the volume of the cylindrical portion of one of the silos.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11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487736"/>
                <a:ext cx="6724650" cy="1631175"/>
              </a:xfrm>
              <a:prstGeom prst="rect">
                <a:avLst/>
              </a:prstGeom>
              <a:blipFill rotWithShape="1">
                <a:blip r:embed="rId5"/>
                <a:stretch>
                  <a:fillRect l="-997" t="-2239" r="-1360" b="-55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725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4659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Self-watering containers made out of 5-gallon buckets ...">
            <a:extLst>
              <a:ext uri="{FF2B5EF4-FFF2-40B4-BE49-F238E27FC236}">
                <a16:creationId xmlns:a16="http://schemas.microsoft.com/office/drawing/2014/main" xmlns="" id="{E567CE09-F900-E047-B64B-BA89BCD300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rcRect l="21344" t="13463" r="16569" b="7156"/>
          <a:stretch/>
        </p:blipFill>
        <p:spPr>
          <a:xfrm>
            <a:off x="7553325" y="1386026"/>
            <a:ext cx="2085976" cy="2667001"/>
          </a:xfrm>
          <a:prstGeom prst="rect">
            <a:avLst/>
          </a:prstGeom>
        </p:spPr>
      </p:pic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223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12.5.6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914400" y="1386026"/>
                <a:ext cx="6572250" cy="1759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a farm, animals are fed from buckets of grain. Each bucket of grain is a cylinder with a diameter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inches. The height of the bucket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inches. What is the volume of grain the bucket can hold?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6"/>
                <a:ext cx="6572250" cy="1759136"/>
              </a:xfrm>
              <a:prstGeom prst="rect">
                <a:avLst/>
              </a:prstGeom>
              <a:blipFill rotWithShape="1">
                <a:blip r:embed="rId10"/>
                <a:stretch>
                  <a:fillRect l="-928" t="-2076" b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920</Words>
  <Application>Microsoft Office PowerPoint</Application>
  <PresentationFormat>Custom</PresentationFormat>
  <Paragraphs>196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Courier New</vt:lpstr>
      <vt:lpstr>Times New Roman</vt:lpstr>
      <vt:lpstr>Century Gothic</vt:lpstr>
      <vt:lpstr>Cambria Math</vt:lpstr>
      <vt:lpstr>Cambria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31</cp:revision>
  <dcterms:created xsi:type="dcterms:W3CDTF">2015-03-17T18:51:18Z</dcterms:created>
  <dcterms:modified xsi:type="dcterms:W3CDTF">2022-06-13T11:32:04Z</dcterms:modified>
</cp:coreProperties>
</file>