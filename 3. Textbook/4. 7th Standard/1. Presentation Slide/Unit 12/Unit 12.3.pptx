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66" r:id="rId10"/>
    <p:sldId id="372" r:id="rId11"/>
    <p:sldId id="373" r:id="rId12"/>
    <p:sldId id="374" r:id="rId13"/>
    <p:sldId id="323" r:id="rId14"/>
    <p:sldId id="324" r:id="rId15"/>
    <p:sldId id="367" r:id="rId16"/>
    <p:sldId id="376" r:id="rId17"/>
    <p:sldId id="378" r:id="rId18"/>
    <p:sldId id="306" r:id="rId19"/>
    <p:sldId id="307" r:id="rId20"/>
  </p:sldIdLst>
  <p:sldSz cx="12192000" cy="6858000"/>
  <p:notesSz cx="6858000" cy="9144000"/>
  <p:embeddedFontLst>
    <p:embeddedFont>
      <p:font typeface="Century Gothic" pitchFamily="34" charset="0"/>
      <p:regular r:id="rId22"/>
      <p:bold r:id="rId23"/>
      <p:italic r:id="rId24"/>
      <p:boldItalic r:id="rId25"/>
    </p:embeddedFont>
    <p:embeddedFont>
      <p:font typeface="Cambria Math" pitchFamily="18" charset="0"/>
      <p:regular r:id="rId26"/>
    </p:embeddedFont>
    <p:embeddedFont>
      <p:font typeface="Cambria" pitchFamily="18" charset="0"/>
      <p:regular r:id="rId27"/>
      <p:bold r:id="rId28"/>
      <p:italic r:id="rId29"/>
      <p:boldItalic r:id="rId30"/>
    </p:embeddedFont>
    <p:embeddedFont>
      <p:font typeface="Arial Black" pitchFamily="34" charset="0"/>
      <p:bold r:id="rId31"/>
    </p:embeddedFont>
    <p:embeddedFont>
      <p:font typeface="Verdana" pitchFamily="34" charset="0"/>
      <p:regular r:id="rId32"/>
      <p:bold r:id="rId33"/>
      <p:italic r:id="rId34"/>
      <p:boldItalic r:id="rId35"/>
    </p:embeddedFont>
    <p:embeddedFont>
      <p:font typeface="Calibri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4"/>
    <p:restoredTop sz="96339" autoAdjust="0"/>
  </p:normalViewPr>
  <p:slideViewPr>
    <p:cSldViewPr snapToGrid="0">
      <p:cViewPr varScale="1">
        <p:scale>
          <a:sx n="106" d="100"/>
          <a:sy n="106" d="100"/>
        </p:scale>
        <p:origin x="-69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19134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8012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4583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1718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562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0503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7040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2528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6581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5046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ommons.wikimedia.org/wiki/File:A_new_and_correct_map_of_the_world,_laid_down_according_to_the_newest_discoveries,_and_from_the_most_exact_observations_(NYPL_b15369994-1630429).jpg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ush_Pop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openphoto.net/gallery/image/view/21499" TargetMode="Externa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greek-islands.us/traditional-greek-products/greek-cheeses/" TargetMode="Externa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Surface Area of Right Circular Cylinders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208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xmlns="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6061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67398" y="9298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64" y="3821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8854" y="1600201"/>
            <a:ext cx="10800000" cy="448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MA.7.GR.2.1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find the surface area of a right circular cylinder using the figure’s net.</a:t>
            </a:r>
          </a:p>
          <a:p>
            <a:pPr indent="0">
              <a:buNone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MA.7.GR.2.2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real-world problems involving surface area of right circular cylinders</a:t>
            </a: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5487" y="157478"/>
            <a:ext cx="89725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5487" y="1596390"/>
            <a:ext cx="1008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2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2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2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2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564" y="3821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950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66476" y="9298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564" y="3821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89924" y="646657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44285" y="164556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7063" indent="-620713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draw the net of a right circular cylinder. </a:t>
            </a:r>
            <a:endParaRPr lang="en-US" sz="35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7063" indent="-620713">
              <a:buClr>
                <a:srgbClr val="434343"/>
              </a:buClr>
              <a:buSzPts val="3500"/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7063" indent="-620713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involving the surface area of a right circular cylinder.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7002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12.3.1 Warm-Up: Photographs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564" y="3821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32726" y="1464406"/>
            <a:ext cx="1080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photographer wants to print a photograph and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smaller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copies on the same rectangular sheet of paper. The smaller picture is proportional to the larger picture. Dimensions are given in inches (in.). The diagram is not drawn to scale.</a:t>
            </a:r>
          </a:p>
        </p:txBody>
      </p:sp>
      <p:pic>
        <p:nvPicPr>
          <p:cNvPr id="6" name="Picture 5" descr="A collage of a cat&#10;&#10;Description automatically generated">
            <a:extLst>
              <a:ext uri="{FF2B5EF4-FFF2-40B4-BE49-F238E27FC236}">
                <a16:creationId xmlns:a16="http://schemas.microsoft.com/office/drawing/2014/main" xmlns="" id="{32E73241-1C54-884F-BC38-71B0CF16A2C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083"/>
          <a:stretch/>
        </p:blipFill>
        <p:spPr>
          <a:xfrm>
            <a:off x="1079864" y="2951663"/>
            <a:ext cx="5136630" cy="35878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6494" y="4391636"/>
            <a:ext cx="49043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dimensions of the small photographs?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209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90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87438" y="126547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12.3.2 Guided Instruction: Finding the Surface Area of Right Circular Cylinders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564" y="3821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808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532784" y="1464466"/>
            <a:ext cx="10800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her final art project,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Courtney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uses an old-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world map to decorate a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right-cylindrical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pedestal. 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She wraps the map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around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lateral area 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pedestal. 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 net of the pedestal and label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net where the map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will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 located.</a:t>
            </a:r>
          </a:p>
        </p:txBody>
      </p:sp>
      <p:pic>
        <p:nvPicPr>
          <p:cNvPr id="8" name="Picture 7" descr="File:A new and correct map of the world, laid down ...">
            <a:extLst>
              <a:ext uri="{FF2B5EF4-FFF2-40B4-BE49-F238E27FC236}">
                <a16:creationId xmlns:a16="http://schemas.microsoft.com/office/drawing/2014/main" xmlns="" id="{44D197CB-A46D-D541-B08F-213FCBCCA6F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7699931" y="1568969"/>
            <a:ext cx="3632853" cy="2216082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EB80955F-5601-224F-9907-67A395BCC5C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5149" y="3876978"/>
            <a:ext cx="1542415" cy="2467610"/>
          </a:xfrm>
          <a:prstGeom prst="rect">
            <a:avLst/>
          </a:prstGeom>
        </p:spPr>
      </p:pic>
      <p:sp>
        <p:nvSpPr>
          <p:cNvPr id="14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7952" y="387177"/>
                <a:ext cx="10800000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length of the map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(ft), and its height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ft. The radius of the pedestal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2.55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ft. Find the surface area of the pedestal.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round your answer to the nearest hundredth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dirty="0"/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52" y="387177"/>
                <a:ext cx="10800000" cy="1538883"/>
              </a:xfrm>
              <a:prstGeom prst="rect">
                <a:avLst/>
              </a:prstGeom>
              <a:blipFill rotWithShape="1">
                <a:blip r:embed="rId4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17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7952" y="381057"/>
            <a:ext cx="108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write a formula that could be used to find the surface area of a right circular cylinder.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classmates to share and explain the formula they wrote. Record their formula in the table.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column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verify that you correctly recorded their formula by writing their initials.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C49DEFB7-829A-5D48-BD98-046FB8D59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32842"/>
              </p:ext>
            </p:extLst>
          </p:nvPr>
        </p:nvGraphicFramePr>
        <p:xfrm>
          <a:off x="2131015" y="3824988"/>
          <a:ext cx="7593873" cy="2060448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6279548">
                  <a:extLst>
                    <a:ext uri="{9D8B030D-6E8A-4147-A177-3AD203B41FA5}">
                      <a16:colId xmlns:a16="http://schemas.microsoft.com/office/drawing/2014/main" xmlns="" val="3372781301"/>
                    </a:ext>
                  </a:extLst>
                </a:gridCol>
                <a:gridCol w="1314325">
                  <a:extLst>
                    <a:ext uri="{9D8B030D-6E8A-4147-A177-3AD203B41FA5}">
                      <a16:colId xmlns:a16="http://schemas.microsoft.com/office/drawing/2014/main" xmlns="" val="158678420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Formula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72997652"/>
                  </a:ext>
                </a:extLst>
              </a:tr>
              <a:tr h="7962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78472937"/>
                  </a:ext>
                </a:extLst>
              </a:tr>
              <a:tr h="7962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55788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564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2746" y="381056"/>
                <a:ext cx="108000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Review the formulas from your classmates with your partner. Determine if there is more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formula that can be used to find the surface area of a right circular cylinder. If necessary, revise the formula you and your partner wrote.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46" y="381056"/>
                <a:ext cx="10800000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564" t="-188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10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2007765" y="577360"/>
            <a:ext cx="83271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902378" y="370490"/>
            <a:ext cx="8673332" cy="2485918"/>
            <a:chOff x="1902378" y="135362"/>
            <a:chExt cx="8673332" cy="24859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xmlns="" id="{5F45F3CC-0C10-B34A-9F6C-4933DC1FAB14}"/>
                    </a:ext>
                  </a:extLst>
                </p:cNvPr>
                <p:cNvSpPr/>
                <p:nvPr/>
              </p:nvSpPr>
              <p:spPr>
                <a:xfrm>
                  <a:off x="1902378" y="135362"/>
                  <a:ext cx="8673332" cy="248591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714375" algn="ctr">
                    <a:lnSpc>
                      <a:spcPct val="115000"/>
                    </a:lnSpc>
                    <a:spcAft>
                      <a:spcPts val="600"/>
                    </a:spcAft>
                    <a:tabLst>
                      <a:tab pos="87313" algn="l"/>
                    </a:tabLst>
                  </a:pPr>
                  <a:r>
                    <a:rPr lang="tr-TR" sz="2000" b="1" i="1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Surface</a:t>
                  </a:r>
                  <a:r>
                    <a:rPr lang="tr-TR" sz="2000" b="1" i="1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 </a:t>
                  </a:r>
                  <a:r>
                    <a:rPr lang="tr-TR" sz="2000" b="1" i="1" dirty="0" err="1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Area</a:t>
                  </a:r>
                  <a:r>
                    <a:rPr lang="tr-TR" sz="2000" b="1" i="1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 of a </a:t>
                  </a:r>
                  <a:r>
                    <a:rPr lang="tr-TR" sz="2000" b="1" i="1" dirty="0" err="1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Cylinder</a:t>
                  </a:r>
                  <a:endParaRPr lang="en-US" sz="2000" b="1" i="1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endParaRPr>
                </a:p>
                <a:p>
                  <a:pPr marL="714375">
                    <a:lnSpc>
                      <a:spcPct val="115000"/>
                    </a:lnSpc>
                    <a:tabLst>
                      <a:tab pos="87313" algn="l"/>
                    </a:tabLst>
                  </a:pP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𝑆𝐴</m:t>
                      </m:r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𝑃h</m:t>
                      </m:r>
                    </m:oMath>
                  </a14:m>
                  <a:r>
                    <a:rPr lang="en-US" sz="2000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, where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</m:oMath>
                  </a14:m>
                  <a:r>
                    <a:rPr lang="en-US" sz="2000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 is the area of the base,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</m:oMath>
                  </a14:m>
                  <a:r>
                    <a:rPr lang="en-US" sz="2000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 is the perimeter of the base and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</m:oMath>
                  </a14:m>
                  <a:r>
                    <a:rPr lang="en-US" sz="2000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 is the height</a:t>
                  </a:r>
                  <a:endParaRPr lang="en-US" sz="20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endParaRPr>
                </a:p>
                <a:p>
                  <a:pPr marL="714375" algn="ctr">
                    <a:lnSpc>
                      <a:spcPct val="115000"/>
                    </a:lnSpc>
                    <a:tabLst>
                      <a:tab pos="87313" algn="l"/>
                    </a:tabLst>
                  </a:pPr>
                  <a:r>
                    <a:rPr lang="en-US" sz="2000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Or</a:t>
                  </a:r>
                  <a:endParaRPr lang="en-US" sz="20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endParaRPr>
                </a:p>
                <a:p>
                  <a:pPr marL="714375">
                    <a:lnSpc>
                      <a:spcPct val="115000"/>
                    </a:lnSpc>
                    <a:tabLst>
                      <a:tab pos="87313" algn="l"/>
                    </a:tabLst>
                  </a:pP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𝑆𝐴</m:t>
                      </m:r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𝑟h</m:t>
                      </m:r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6D983E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D983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D983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2000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, where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𝑟</m:t>
                      </m:r>
                    </m:oMath>
                  </a14:m>
                  <a:r>
                    <a:rPr lang="en-US" sz="2000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 is the radius of the circular base and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D983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</m:oMath>
                  </a14:m>
                  <a:r>
                    <a:rPr lang="en-US" sz="2000" dirty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 is the </a:t>
                  </a:r>
                  <a:r>
                    <a:rPr lang="en-US" sz="2000" dirty="0" smtClean="0">
                      <a:solidFill>
                        <a:srgbClr val="6D983E"/>
                      </a:solidFill>
                      <a:latin typeface="Verdana" pitchFamily="34" charset="0"/>
                      <a:ea typeface="Verdana" pitchFamily="34" charset="0"/>
                      <a:cs typeface="Verdana" panose="020B0604030504040204" pitchFamily="34" charset="0"/>
                    </a:rPr>
                    <a:t>height</a:t>
                  </a:r>
                  <a:endParaRPr lang="en-US" sz="20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xmlns="" id="{5F45F3CC-0C10-B34A-9F6C-4933DC1FAB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2378" y="135362"/>
                  <a:ext cx="8673332" cy="2485918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Shape 5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EE3B4AE9-4A8B-5840-A71F-D0EB5F83140B}"/>
                </a:ext>
              </a:extLst>
            </p:cNvPr>
            <p:cNvPicPr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66182" y="253350"/>
              <a:ext cx="671195" cy="71247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7952" y="3126277"/>
                <a:ext cx="10800000" cy="2374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Push Pop candy,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creative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spin on the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lollipop, was very popular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1990s. It is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cylindrical in shape, with a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diameter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centimeters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cm) and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surface area of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Push Pop candy.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round to the nearest hundredth.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52" y="3126277"/>
                <a:ext cx="10800000" cy="2374689"/>
              </a:xfrm>
              <a:prstGeom prst="rect">
                <a:avLst/>
              </a:prstGeom>
              <a:blipFill rotWithShape="1">
                <a:blip r:embed="rId6"/>
                <a:stretch>
                  <a:fillRect l="-621" t="-1542" b="-77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Push Pop - Wikipedia">
            <a:extLst>
              <a:ext uri="{FF2B5EF4-FFF2-40B4-BE49-F238E27FC236}">
                <a16:creationId xmlns:a16="http://schemas.microsoft.com/office/drawing/2014/main" xmlns="" id="{45FCA58F-2301-7F48-B833-7F171D03B3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8"/>
              </a:ext>
            </a:extLst>
          </a:blip>
          <a:stretch>
            <a:fillRect/>
          </a:stretch>
        </p:blipFill>
        <p:spPr>
          <a:xfrm>
            <a:off x="7746017" y="3126277"/>
            <a:ext cx="3581935" cy="292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09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452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0610" y="94234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12.3.3 Guided Practice: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Solving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Problems Involving Surface Area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of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Right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Circular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Cylinders 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89924" y="645160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056" y="38218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527952" y="1642936"/>
            <a:ext cx="10800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Cheese is often made into a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cylindrical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shape.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cheeses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encased in paraffin wax after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being </a:t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formed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into a cylindrical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shape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The wax specially for 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coating cheeses aides in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preventing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unwanted mold 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growth and retains moisture. An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example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what the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wax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coating looks like when removed from around the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cheese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shown in the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picture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</p:txBody>
      </p:sp>
      <p:pic>
        <p:nvPicPr>
          <p:cNvPr id="9" name="Picture 8" descr="image #21499 by Adrian van Leen | cheese wax coating rind ...">
            <a:extLst>
              <a:ext uri="{FF2B5EF4-FFF2-40B4-BE49-F238E27FC236}">
                <a16:creationId xmlns:a16="http://schemas.microsoft.com/office/drawing/2014/main" xmlns="" id="{62D38B45-19AC-2346-9DC9-2FB3E6AD117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8885107" y="1642936"/>
            <a:ext cx="2442845" cy="220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7952" y="389766"/>
                <a:ext cx="10800000" cy="5368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circumference of a type of Gouda cheese shown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and it has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much wax coating will be needed to encase the cheese?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round your answer to the nearest hundredth.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52" y="389766"/>
                <a:ext cx="10800000" cy="5368201"/>
              </a:xfrm>
              <a:prstGeom prst="rect">
                <a:avLst/>
              </a:prstGeom>
              <a:blipFill rotWithShape="1">
                <a:blip r:embed="rId4"/>
                <a:stretch>
                  <a:fillRect t="-56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The Greek cheese">
            <a:extLst>
              <a:ext uri="{FF2B5EF4-FFF2-40B4-BE49-F238E27FC236}">
                <a16:creationId xmlns:a16="http://schemas.microsoft.com/office/drawing/2014/main" xmlns="" id="{0CE0AF94-EA2D-114E-8281-91B83C6528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5040102" y="1384664"/>
            <a:ext cx="2344962" cy="23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7952" y="386953"/>
                <a:ext cx="10800000" cy="4836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49263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checker piece is in the shape of a right circular cylinder and has a diameter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1.75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Each checker piece that is sold in a vintage game set is individually wrapped snug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6.9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material. What is the height, in inches, of each individual checker piece?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round your answer to the nearest hundredth. </a:t>
                </a: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49263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49263">
                  <a:buFont typeface="+mj-lt"/>
                  <a:buAutoNum type="arabicPeriod" startAt="2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49263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Tim plans to give his wife a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roll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toilet paper as a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gag gift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their first wedding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anniversary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since paper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the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traditional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wedding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anniversary gift.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roll of toilet paper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cm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tall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 wide,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much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wrapping paper, in cm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will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he need to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cover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gift?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round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your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answer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the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nearest hundredth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52" y="386953"/>
                <a:ext cx="10800000" cy="4836902"/>
              </a:xfrm>
              <a:prstGeom prst="rect">
                <a:avLst/>
              </a:prstGeom>
              <a:blipFill rotWithShape="1">
                <a:blip r:embed="rId4"/>
                <a:stretch>
                  <a:fillRect l="-621" t="-756" b="-125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picture containing text, sitting, indoor, cloth&#10;&#10;Description automatically generated">
            <a:extLst>
              <a:ext uri="{FF2B5EF4-FFF2-40B4-BE49-F238E27FC236}">
                <a16:creationId xmlns:a16="http://schemas.microsoft.com/office/drawing/2014/main" xmlns="" id="{DE32DBB0-1105-264F-B2A4-A0D43CF76B2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796" b="9339"/>
          <a:stretch/>
        </p:blipFill>
        <p:spPr bwMode="auto">
          <a:xfrm>
            <a:off x="8308341" y="2901417"/>
            <a:ext cx="3019611" cy="24985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6166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7307" y="381058"/>
                <a:ext cx="108000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Amoré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gave her homeroom teacher a cylindrical jar with a hot chocolate mix inside. The jar she used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4.2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wide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tall. The gift was such a hit that she wants to give her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other teachers the same hot chocolate mix and tightly wrap each jar in plastic to preserve the ingredients. How much plastic will she need in total to wrap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jars? Leave your answer in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include units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07" y="381058"/>
                <a:ext cx="10800000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621" t="-1887" b="-471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574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60610" y="92980"/>
            <a:ext cx="1002990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12.3.4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564" y="3821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27952" y="1459917"/>
                <a:ext cx="10800000" cy="3177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formula,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𝑟h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to complete the following.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hydration lotion is sold in a cylindrical container. The lotion ships in a box, but for quality control purposes the jar is wrapped in vacuum sealed plastic before being placed into a shipping box. The dimensions of the jar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tall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3.39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wide. How much plastic material is used to wrap around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individual jars of lotion?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round your answer to the nearest whole number.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52" y="1459917"/>
                <a:ext cx="10800000" cy="3177088"/>
              </a:xfrm>
              <a:prstGeom prst="rect">
                <a:avLst/>
              </a:prstGeom>
              <a:blipFill rotWithShape="1">
                <a:blip r:embed="rId5"/>
                <a:stretch>
                  <a:fillRect l="-621" t="-95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831</Words>
  <Application>Microsoft Office PowerPoint</Application>
  <PresentationFormat>Custom</PresentationFormat>
  <Paragraphs>134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Century Gothic</vt:lpstr>
      <vt:lpstr>Wingdings</vt:lpstr>
      <vt:lpstr>Cambria Math</vt:lpstr>
      <vt:lpstr>Cambria</vt:lpstr>
      <vt:lpstr>Arial Black</vt:lpstr>
      <vt:lpstr>Verdana</vt:lpstr>
      <vt:lpstr>Calibri</vt:lpstr>
      <vt:lpstr>Times New Roman</vt:lpstr>
      <vt:lpstr>1_Office Theme</vt:lpstr>
      <vt:lpstr>7th Grade Math   Unit 12, Lesson 3  Solving Problems Involving Surface Area of Right Circular Cylinders  Volume 2, pg. 208  </vt:lpstr>
      <vt:lpstr>Benchmarks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30</cp:revision>
  <dcterms:created xsi:type="dcterms:W3CDTF">2015-03-17T18:51:18Z</dcterms:created>
  <dcterms:modified xsi:type="dcterms:W3CDTF">2022-06-13T00:19:44Z</dcterms:modified>
</cp:coreProperties>
</file>