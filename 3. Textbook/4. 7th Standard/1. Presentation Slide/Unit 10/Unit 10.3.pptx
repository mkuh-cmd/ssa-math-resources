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288" r:id="rId8"/>
    <p:sldId id="311" r:id="rId9"/>
    <p:sldId id="312" r:id="rId10"/>
    <p:sldId id="313" r:id="rId11"/>
    <p:sldId id="335" r:id="rId12"/>
    <p:sldId id="336" r:id="rId13"/>
    <p:sldId id="337" r:id="rId14"/>
    <p:sldId id="338" r:id="rId15"/>
    <p:sldId id="329" r:id="rId16"/>
    <p:sldId id="330" r:id="rId17"/>
    <p:sldId id="332" r:id="rId18"/>
    <p:sldId id="333" r:id="rId19"/>
    <p:sldId id="331" r:id="rId20"/>
    <p:sldId id="334" r:id="rId21"/>
    <p:sldId id="339" r:id="rId22"/>
    <p:sldId id="340" r:id="rId23"/>
    <p:sldId id="341" r:id="rId24"/>
    <p:sldId id="343" r:id="rId25"/>
    <p:sldId id="342" r:id="rId26"/>
    <p:sldId id="344" r:id="rId27"/>
    <p:sldId id="306" r:id="rId28"/>
    <p:sldId id="307" r:id="rId29"/>
  </p:sldIdLst>
  <p:sldSz cx="12192000" cy="6858000"/>
  <p:notesSz cx="6858000" cy="9144000"/>
  <p:embeddedFontLst>
    <p:embeddedFont>
      <p:font typeface="Arial Black" panose="020B0604020202020204" pitchFamily="34" charset="0"/>
      <p:bold r:id="rId31"/>
    </p:embeddedFont>
    <p:embeddedFont>
      <p:font typeface="Calibri" panose="020F0502020204030204" pitchFamily="34" charset="0"/>
      <p:regular r:id="rId32"/>
      <p:bold r:id="rId33"/>
      <p:italic r:id="rId34"/>
      <p:boldItalic r:id="rId35"/>
    </p:embeddedFont>
    <p:embeddedFont>
      <p:font typeface="Cambria" panose="02040503050406030204" pitchFamily="18" charset="0"/>
      <p:regular r:id="rId36"/>
      <p:bold r:id="rId37"/>
      <p:italic r:id="rId38"/>
      <p:boldItalic r:id="rId39"/>
    </p:embeddedFont>
    <p:embeddedFont>
      <p:font typeface="Cambria Math" panose="02040503050406030204" pitchFamily="18" charset="0"/>
      <p:regular r:id="rId40"/>
    </p:embeddedFont>
    <p:embeddedFont>
      <p:font typeface="Century Gothic" panose="020B0502020202020204" pitchFamily="34" charset="0"/>
      <p:regular r:id="rId41"/>
      <p:bold r:id="rId42"/>
      <p:italic r:id="rId43"/>
      <p:boldItalic r:id="rId44"/>
    </p:embeddedFont>
    <p:embeddedFont>
      <p:font typeface="Verdana" panose="020B060403050404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64" autoAdjust="0"/>
    <p:restoredTop sz="94694"/>
  </p:normalViewPr>
  <p:slideViewPr>
    <p:cSldViewPr snapToGrid="0">
      <p:cViewPr varScale="1">
        <p:scale>
          <a:sx n="128" d="100"/>
          <a:sy n="128" d="100"/>
        </p:scale>
        <p:origin x="432"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811341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62372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2072259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909555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08838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3639977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764395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5037709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2520154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4583857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8406461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4863469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766083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8501909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869277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2843539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1921534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9387273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0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8.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40.png"/><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1005" y="1783180"/>
            <a:ext cx="3126752" cy="3644900"/>
          </a:xfrm>
          <a:prstGeom prst="rect">
            <a:avLst/>
          </a:prstGeom>
          <a:effectLst>
            <a:outerShdw blurRad="50800" dist="38100" dir="2700000" algn="tl" rotWithShape="0">
              <a:prstClr val="black">
                <a:alpha val="40000"/>
              </a:prstClr>
            </a:outerShdw>
          </a:effectLst>
        </p:spPr>
      </p:pic>
      <p:sp>
        <p:nvSpPr>
          <p:cNvPr id="8" name="Google Shape;261;g104476d1465_0_0"/>
          <p:cNvSpPr txBox="1">
            <a:spLocks/>
          </p:cNvSpPr>
          <p:nvPr/>
        </p:nvSpPr>
        <p:spPr>
          <a:xfrm>
            <a:off x="5714258" y="2070202"/>
            <a:ext cx="5212080"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7</a:t>
            </a:r>
            <a:r>
              <a:rPr lang="en-US" sz="4000" b="1" baseline="30000" dirty="0">
                <a:solidFill>
                  <a:srgbClr val="417DBF"/>
                </a:solidFill>
                <a:latin typeface="Verdana"/>
                <a:ea typeface="Verdana"/>
                <a:cs typeface="Verdana"/>
                <a:sym typeface="Verdana"/>
              </a:rPr>
              <a:t>th</a:t>
            </a:r>
            <a:r>
              <a:rPr lang="en-US" sz="4000" b="1" dirty="0">
                <a:solidFill>
                  <a:srgbClr val="417DBF"/>
                </a:solidFill>
                <a:latin typeface="Verdana"/>
                <a:ea typeface="Verdana"/>
                <a:cs typeface="Verdana"/>
                <a:sym typeface="Verdana"/>
              </a:rPr>
              <a:t> Grade Math</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lvl="0" algn="ctr">
              <a:lnSpc>
                <a:spcPct val="100000"/>
              </a:lnSpc>
              <a:buClr>
                <a:srgbClr val="000000"/>
              </a:buClr>
            </a:pPr>
            <a:r>
              <a:rPr lang="en-US" sz="4000" b="1" dirty="0">
                <a:solidFill>
                  <a:srgbClr val="417DBF"/>
                </a:solidFill>
                <a:latin typeface="Verdana"/>
                <a:ea typeface="Verdana"/>
                <a:cs typeface="Verdana"/>
                <a:sym typeface="Verdana"/>
              </a:rPr>
              <a:t>Unit 10, Lesson 3</a:t>
            </a:r>
            <a:br>
              <a:rPr lang="en-US" sz="4000" b="1" dirty="0">
                <a:solidFill>
                  <a:srgbClr val="417DBF"/>
                </a:solidFill>
                <a:latin typeface="Verdana"/>
                <a:ea typeface="Verdana"/>
                <a:cs typeface="Verdana"/>
                <a:sym typeface="Verdana"/>
              </a:rPr>
            </a:b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Exploring Inequalities – Part 2</a:t>
            </a:r>
            <a:br>
              <a:rPr lang="en-US" sz="4000" b="1" dirty="0">
                <a:solidFill>
                  <a:srgbClr val="417DBF"/>
                </a:solidFill>
                <a:latin typeface="Verdana"/>
                <a:ea typeface="Verdana"/>
                <a:cs typeface="Verdana"/>
                <a:sym typeface="Verdana"/>
              </a:rPr>
            </a:br>
            <a:br>
              <a:rPr lang="en-US" sz="40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2, pg. 98</a:t>
            </a:r>
          </a:p>
          <a:p>
            <a:pPr algn="ctr">
              <a:lnSpc>
                <a:spcPct val="100000"/>
              </a:lnSpc>
              <a:buClr>
                <a:srgbClr val="000000"/>
              </a:buClr>
            </a:pPr>
            <a:endParaRPr lang="en-US" sz="36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98</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0;g104476d1465_1_17">
            <a:extLst>
              <a:ext uri="{FF2B5EF4-FFF2-40B4-BE49-F238E27FC236}">
                <a16:creationId xmlns:a16="http://schemas.microsoft.com/office/drawing/2014/main" id="{527A9F9F-07B8-ED47-B967-E5507C67DBC5}"/>
              </a:ext>
            </a:extLst>
          </p:cNvPr>
          <p:cNvSpPr txBox="1">
            <a:spLocks/>
          </p:cNvSpPr>
          <p:nvPr/>
        </p:nvSpPr>
        <p:spPr>
          <a:xfrm>
            <a:off x="444683" y="1600200"/>
            <a:ext cx="1032675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MA.7.AR.2.1</a:t>
            </a:r>
          </a:p>
          <a:p>
            <a:pPr indent="0">
              <a:buNone/>
            </a:pPr>
            <a:r>
              <a:rPr lang="en-US" sz="3600" dirty="0">
                <a:latin typeface="Verdana" panose="020B0604030504040204" pitchFamily="34" charset="0"/>
                <a:ea typeface="Verdana" panose="020B0604030504040204" pitchFamily="34" charset="0"/>
                <a:cs typeface="Verdana" panose="020B0604030504040204" pitchFamily="34" charset="0"/>
              </a:rPr>
              <a:t>Write and solve one-step inequalities in one variable within a mathematical context and represent solutions algebraically or graphically.</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374904"/>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8016"/>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98</a:t>
            </a:r>
            <a:endParaRPr i="1" dirty="0">
              <a:latin typeface="Calibri"/>
              <a:ea typeface="Calibri"/>
              <a:cs typeface="Calibri"/>
              <a:sym typeface="Calibri"/>
            </a:endParaRPr>
          </a:p>
        </p:txBody>
      </p:sp>
      <p:sp>
        <p:nvSpPr>
          <p:cNvPr id="10" name="Google Shape;296;g103996e1364_0_10">
            <a:extLst>
              <a:ext uri="{FF2B5EF4-FFF2-40B4-BE49-F238E27FC236}">
                <a16:creationId xmlns:a16="http://schemas.microsoft.com/office/drawing/2014/main" id="{A6E18E39-B007-D647-9935-55A748533A45}"/>
              </a:ext>
            </a:extLst>
          </p:cNvPr>
          <p:cNvSpPr txBox="1">
            <a:spLocks/>
          </p:cNvSpPr>
          <p:nvPr/>
        </p:nvSpPr>
        <p:spPr>
          <a:xfrm>
            <a:off x="1154216" y="1596390"/>
            <a:ext cx="1037636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319860"/>
            <a:ext cx="747300" cy="74730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98</a:t>
            </a:r>
            <a:endParaRPr i="1" dirty="0">
              <a:latin typeface="Calibri"/>
              <a:ea typeface="Calibri"/>
              <a:cs typeface="Calibri"/>
              <a:sym typeface="Calibri"/>
            </a:endParaRPr>
          </a:p>
        </p:txBody>
      </p:sp>
      <p:sp>
        <p:nvSpPr>
          <p:cNvPr id="9" name="Google Shape;302;g103996e1364_0_16">
            <a:extLst>
              <a:ext uri="{FF2B5EF4-FFF2-40B4-BE49-F238E27FC236}">
                <a16:creationId xmlns:a16="http://schemas.microsoft.com/office/drawing/2014/main" id="{9B7C98EC-F13C-9146-B728-D7044DB4247D}"/>
              </a:ext>
            </a:extLst>
          </p:cNvPr>
          <p:cNvSpPr txBox="1">
            <a:spLocks/>
          </p:cNvSpPr>
          <p:nvPr/>
        </p:nvSpPr>
        <p:spPr>
          <a:xfrm>
            <a:off x="444682" y="1600200"/>
            <a:ext cx="1108643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71500">
              <a:buFont typeface="Wingdings" panose="05000000000000000000"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determine the minimum or maximum value that makes an inequality true.</a:t>
            </a:r>
          </a:p>
          <a:p>
            <a:pPr marL="571500" indent="-571500">
              <a:buFont typeface="Wingdings" panose="05000000000000000000" pitchFamily="2" charset="2"/>
              <a:buChar char="q"/>
            </a:pPr>
            <a:endParaRPr lang="en-US" sz="3200" dirty="0">
              <a:latin typeface="Verdana" panose="020B0604030504040204" pitchFamily="34" charset="0"/>
              <a:ea typeface="Verdana" panose="020B0604030504040204" pitchFamily="34" charset="0"/>
              <a:cs typeface="Verdana" panose="020B0604030504040204" pitchFamily="34" charset="0"/>
            </a:endParaRPr>
          </a:p>
          <a:p>
            <a:pPr marL="571500" indent="-571500">
              <a:buFont typeface="Wingdings" panose="05000000000000000000"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relate the solution set of an inequality to the context it represents.</a:t>
            </a:r>
          </a:p>
          <a:p>
            <a:pPr marL="571500" indent="-571500">
              <a:buFont typeface="Wingdings" panose="05000000000000000000" pitchFamily="2" charset="2"/>
              <a:buChar char="q"/>
            </a:pPr>
            <a:endParaRPr lang="en-US" sz="3200" dirty="0">
              <a:latin typeface="Verdana" panose="020B0604030504040204" pitchFamily="34" charset="0"/>
              <a:ea typeface="Verdana" panose="020B0604030504040204" pitchFamily="34" charset="0"/>
              <a:cs typeface="Verdana" panose="020B0604030504040204" pitchFamily="34" charset="0"/>
            </a:endParaRPr>
          </a:p>
          <a:p>
            <a:pPr marL="571500" indent="-571500">
              <a:buFont typeface="Wingdings" panose="05000000000000000000"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explore the relationship between the coefficients of the terms in an inequality and solution set.</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98</a:t>
            </a:r>
            <a:endParaRPr i="1" dirty="0">
              <a:latin typeface="Calibri"/>
              <a:ea typeface="Calibri"/>
              <a:cs typeface="Calibri"/>
              <a:sym typeface="Calibri"/>
            </a:endParaRPr>
          </a:p>
        </p:txBody>
      </p:sp>
      <p:pic>
        <p:nvPicPr>
          <p:cNvPr id="7"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9"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965664367"/>
                  </p:ext>
                </p:extLst>
              </p:nvPr>
            </p:nvGraphicFramePr>
            <p:xfrm>
              <a:off x="2060448" y="3060327"/>
              <a:ext cx="6986590" cy="3422361"/>
            </p:xfrm>
            <a:graphic>
              <a:graphicData uri="http://schemas.openxmlformats.org/drawingml/2006/table">
                <a:tbl>
                  <a:tblPr firstRow="1" firstCol="1" bandRow="1">
                    <a:tableStyleId>{5940675A-B579-460E-94D1-54222C63F5DA}</a:tableStyleId>
                  </a:tblPr>
                  <a:tblGrid>
                    <a:gridCol w="2520000">
                      <a:extLst>
                        <a:ext uri="{9D8B030D-6E8A-4147-A177-3AD203B41FA5}">
                          <a16:colId xmlns:a16="http://schemas.microsoft.com/office/drawing/2014/main" val="20000"/>
                        </a:ext>
                      </a:extLst>
                    </a:gridCol>
                    <a:gridCol w="2334895">
                      <a:extLst>
                        <a:ext uri="{9D8B030D-6E8A-4147-A177-3AD203B41FA5}">
                          <a16:colId xmlns:a16="http://schemas.microsoft.com/office/drawing/2014/main" val="20001"/>
                        </a:ext>
                      </a:extLst>
                    </a:gridCol>
                    <a:gridCol w="2131695">
                      <a:extLst>
                        <a:ext uri="{9D8B030D-6E8A-4147-A177-3AD203B41FA5}">
                          <a16:colId xmlns:a16="http://schemas.microsoft.com/office/drawing/2014/main" val="20002"/>
                        </a:ext>
                      </a:extLst>
                    </a:gridCol>
                  </a:tblGrid>
                  <a:tr h="119602">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Hanger Diagram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601321">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weight of one circle, </a:t>
                          </a:r>
                          <a14:m>
                            <m:oMath xmlns:m="http://schemas.openxmlformats.org/officeDocument/2006/math">
                              <m:r>
                                <a:rPr lang="en-US" sz="2000">
                                  <a:effectLst/>
                                  <a:latin typeface="Cambria Math" panose="02040503050406030204" pitchFamily="18" charset="0"/>
                                  <a:ea typeface="Cambria Math" panose="02040503050406030204" pitchFamily="18" charset="0"/>
                                </a:rPr>
                                <m:t>𝑐</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is greater than the weight of one pentagon, </a:t>
                          </a:r>
                          <a14:m>
                            <m:oMath xmlns:m="http://schemas.openxmlformats.org/officeDocument/2006/math">
                              <m:r>
                                <a:rPr lang="en-US" sz="2000">
                                  <a:effectLst/>
                                  <a:latin typeface="Cambria Math" panose="02040503050406030204" pitchFamily="18" charset="0"/>
                                  <a:ea typeface="Cambria Math" panose="02040503050406030204" pitchFamily="18" charset="0"/>
                                </a:rPr>
                                <m:t>𝑝</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410681">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rPr>
                            <a:t> </a:t>
                          </a:r>
                          <a:endParaRPr lang="en-US" sz="2000" dirty="0">
                            <a:effectLst/>
                            <a:latin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𝑠</m:t>
                                </m:r>
                                <m:r>
                                  <a:rPr lang="en-US" sz="2000">
                                    <a:effectLst/>
                                    <a:latin typeface="Cambria Math" panose="02040503050406030204" pitchFamily="18" charset="0"/>
                                    <a:ea typeface="Cambria Math" panose="02040503050406030204" pitchFamily="18" charset="0"/>
                                  </a:rPr>
                                  <m:t>&lt;</m:t>
                                </m:r>
                                <m:r>
                                  <a:rPr lang="en-US" sz="2000">
                                    <a:effectLst/>
                                    <a:latin typeface="Cambria Math" panose="02040503050406030204" pitchFamily="18" charset="0"/>
                                    <a:ea typeface="Cambria Math" panose="02040503050406030204" pitchFamily="18" charset="0"/>
                                  </a:rPr>
                                  <m:t>𝑝</m:t>
                                </m:r>
                              </m:oMath>
                            </m:oMathPara>
                          </a14:m>
                          <a:endParaRPr lang="en-US" sz="2000" dirty="0">
                            <a:effectLst/>
                            <a:latin typeface="Cambria Math" panose="02040503050406030204" pitchFamily="18" charset="0"/>
                            <a:ea typeface="Cambria Math"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965664367"/>
                  </p:ext>
                </p:extLst>
              </p:nvPr>
            </p:nvGraphicFramePr>
            <p:xfrm>
              <a:off x="2060448" y="3060327"/>
              <a:ext cx="6986590" cy="3422361"/>
            </p:xfrm>
            <a:graphic>
              <a:graphicData uri="http://schemas.openxmlformats.org/drawingml/2006/table">
                <a:tbl>
                  <a:tblPr firstRow="1" firstCol="1" bandRow="1">
                    <a:tableStyleId>{5940675A-B579-460E-94D1-54222C63F5DA}</a:tableStyleId>
                  </a:tblPr>
                  <a:tblGrid>
                    <a:gridCol w="2520000">
                      <a:extLst>
                        <a:ext uri="{9D8B030D-6E8A-4147-A177-3AD203B41FA5}">
                          <a16:colId xmlns:a16="http://schemas.microsoft.com/office/drawing/2014/main" val="20000"/>
                        </a:ext>
                      </a:extLst>
                    </a:gridCol>
                    <a:gridCol w="2334895">
                      <a:extLst>
                        <a:ext uri="{9D8B030D-6E8A-4147-A177-3AD203B41FA5}">
                          <a16:colId xmlns:a16="http://schemas.microsoft.com/office/drawing/2014/main" val="20001"/>
                        </a:ext>
                      </a:extLst>
                    </a:gridCol>
                    <a:gridCol w="2131695">
                      <a:extLst>
                        <a:ext uri="{9D8B030D-6E8A-4147-A177-3AD203B41FA5}">
                          <a16:colId xmlns:a16="http://schemas.microsoft.com/office/drawing/2014/main" val="20002"/>
                        </a:ext>
                      </a:extLst>
                    </a:gridCol>
                  </a:tblGrid>
                  <a:tr h="39624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Hanger Diagram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61544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108696" t="-25781" r="-92391" b="-8906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410681">
                    <a:tc>
                      <a:txBody>
                        <a:bodyPr/>
                        <a:lstStyle/>
                        <a:p>
                          <a:pPr marL="0" marR="0" algn="ctr">
                            <a:spcBef>
                              <a:spcPts val="0"/>
                            </a:spcBef>
                            <a:spcAft>
                              <a:spcPts val="0"/>
                            </a:spcAft>
                          </a:pPr>
                          <a:r>
                            <a:rPr lang="en-US" sz="2000" dirty="0">
                              <a:effectLst/>
                            </a:rPr>
                            <a:t> </a:t>
                          </a:r>
                          <a:endParaRPr lang="en-US" sz="2000" dirty="0">
                            <a:effectLst/>
                            <a:latin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rPr>
                            <a:t> </a:t>
                          </a:r>
                          <a:endParaRPr lang="en-US" sz="2000" dirty="0">
                            <a:effectLst/>
                            <a:latin typeface="Cambria" panose="020405030504060302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228571" t="-143750" r="-1190" b="-1786"/>
                          </a:stretch>
                        </a:blipFill>
                      </a:tcPr>
                    </a:tc>
                    <a:extLst>
                      <a:ext uri="{0D108BD9-81ED-4DB2-BD59-A6C34878D82A}">
                        <a16:rowId xmlns:a16="http://schemas.microsoft.com/office/drawing/2014/main" val="10002"/>
                      </a:ext>
                    </a:extLst>
                  </a:tr>
                </a:tbl>
              </a:graphicData>
            </a:graphic>
          </p:graphicFrame>
        </mc:Fallback>
      </mc:AlternateContent>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303390"/>
            <a:ext cx="8019300"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10.3.1 Warm-Up: Visual Models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5">
            <a:alphaModFix/>
          </a:blip>
          <a:stretch>
            <a:fillRect/>
          </a:stretch>
        </p:blipFill>
        <p:spPr>
          <a:xfrm>
            <a:off x="356616" y="197485"/>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914400" y="1386026"/>
            <a:ext cx="7127631" cy="1015663"/>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An unbalanced hanger diagram is shown.</a:t>
            </a:r>
          </a:p>
          <a:p>
            <a:r>
              <a:rPr lang="en-US" sz="2000" dirty="0">
                <a:latin typeface="Verdana" panose="020B0604030504040204" pitchFamily="34" charset="0"/>
                <a:ea typeface="Verdana" panose="020B0604030504040204" pitchFamily="34" charset="0"/>
                <a:cs typeface="Verdana" panose="020B0604030504040204" pitchFamily="34" charset="0"/>
              </a:rPr>
              <a:t>It shows that the weight of one circle is greater than the weight of one pentagon.</a:t>
            </a:r>
          </a:p>
        </p:txBody>
      </p:sp>
      <p:pic>
        <p:nvPicPr>
          <p:cNvPr id="9" name="Picture" descr="An unbalanced hanger with the left side higher than the right side. On the left side, a pentagon. On the right side, a circle."/>
          <p:cNvPicPr/>
          <p:nvPr/>
        </p:nvPicPr>
        <p:blipFill>
          <a:blip r:embed="rId6" cstate="screen">
            <a:extLst>
              <a:ext uri="{28A0092B-C50C-407E-A947-70E740481C1C}">
                <a14:useLocalDpi xmlns:a14="http://schemas.microsoft.com/office/drawing/2010/main"/>
              </a:ext>
            </a:extLst>
          </a:blip>
          <a:stretch>
            <a:fillRect/>
          </a:stretch>
        </p:blipFill>
        <p:spPr bwMode="auto">
          <a:xfrm>
            <a:off x="8150501" y="1126337"/>
            <a:ext cx="2184400" cy="1586865"/>
          </a:xfrm>
          <a:prstGeom prst="rect">
            <a:avLst/>
          </a:prstGeom>
          <a:noFill/>
          <a:ln w="9525">
            <a:noFill/>
            <a:headEnd/>
            <a:tailEnd/>
          </a:ln>
        </p:spPr>
      </p:pic>
      <p:sp>
        <p:nvSpPr>
          <p:cNvPr id="3" name="TextBox 2"/>
          <p:cNvSpPr txBox="1"/>
          <p:nvPr/>
        </p:nvSpPr>
        <p:spPr>
          <a:xfrm>
            <a:off x="914400" y="2524798"/>
            <a:ext cx="8055635"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a:t>
            </a:r>
          </a:p>
        </p:txBody>
      </p:sp>
      <p:pic>
        <p:nvPicPr>
          <p:cNvPr id="14" name="Picture" descr="An unbalanced hanger with the left side higher than the right side. On the left side, a square. On the right side, a pentagon."/>
          <p:cNvPicPr/>
          <p:nvPr/>
        </p:nvPicPr>
        <p:blipFill>
          <a:blip r:embed="rId7" cstate="screen">
            <a:extLst>
              <a:ext uri="{28A0092B-C50C-407E-A947-70E740481C1C}">
                <a14:useLocalDpi xmlns:a14="http://schemas.microsoft.com/office/drawing/2010/main"/>
              </a:ext>
            </a:extLst>
          </a:blip>
          <a:stretch>
            <a:fillRect/>
          </a:stretch>
        </p:blipFill>
        <p:spPr bwMode="auto">
          <a:xfrm>
            <a:off x="2373857" y="5138163"/>
            <a:ext cx="1723390" cy="1264920"/>
          </a:xfrm>
          <a:prstGeom prst="rect">
            <a:avLst/>
          </a:prstGeom>
          <a:noFill/>
          <a:ln w="9525">
            <a:noFill/>
            <a:headEnd/>
            <a:tailEnd/>
          </a:ln>
        </p:spPr>
      </p:pic>
      <p:pic>
        <p:nvPicPr>
          <p:cNvPr id="16" name="Picture" descr="An unbalanced hanger with the left side higher than the right side. On the left side, a pentagon. On the right side, a circle."/>
          <p:cNvPicPr/>
          <p:nvPr/>
        </p:nvPicPr>
        <p:blipFill>
          <a:blip r:embed="rId6" cstate="screen">
            <a:extLst>
              <a:ext uri="{28A0092B-C50C-407E-A947-70E740481C1C}">
                <a14:useLocalDpi xmlns:a14="http://schemas.microsoft.com/office/drawing/2010/main"/>
              </a:ext>
            </a:extLst>
          </a:blip>
          <a:stretch>
            <a:fillRect/>
          </a:stretch>
        </p:blipFill>
        <p:spPr bwMode="auto">
          <a:xfrm>
            <a:off x="2356077" y="3692957"/>
            <a:ext cx="1741170" cy="1264920"/>
          </a:xfrm>
          <a:prstGeom prst="rect">
            <a:avLst/>
          </a:prstGeom>
          <a:noFill/>
          <a:ln w="9525">
            <a:noFill/>
            <a:headEnd/>
            <a:tailEnd/>
          </a:ln>
        </p:spPr>
      </p:pic>
      <p:sp>
        <p:nvSpPr>
          <p:cNvPr id="1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98</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4215226206"/>
                  </p:ext>
                </p:extLst>
              </p:nvPr>
            </p:nvGraphicFramePr>
            <p:xfrm>
              <a:off x="2066996" y="675531"/>
              <a:ext cx="6986590" cy="3796030"/>
            </p:xfrm>
            <a:graphic>
              <a:graphicData uri="http://schemas.openxmlformats.org/drawingml/2006/table">
                <a:tbl>
                  <a:tblPr firstRow="1" firstCol="1" bandRow="1">
                    <a:tableStyleId>{5940675A-B579-460E-94D1-54222C63F5DA}</a:tableStyleId>
                  </a:tblPr>
                  <a:tblGrid>
                    <a:gridCol w="2520000">
                      <a:extLst>
                        <a:ext uri="{9D8B030D-6E8A-4147-A177-3AD203B41FA5}">
                          <a16:colId xmlns:a16="http://schemas.microsoft.com/office/drawing/2014/main" val="20000"/>
                        </a:ext>
                      </a:extLst>
                    </a:gridCol>
                    <a:gridCol w="2334895">
                      <a:extLst>
                        <a:ext uri="{9D8B030D-6E8A-4147-A177-3AD203B41FA5}">
                          <a16:colId xmlns:a16="http://schemas.microsoft.com/office/drawing/2014/main" val="20001"/>
                        </a:ext>
                      </a:extLst>
                    </a:gridCol>
                    <a:gridCol w="2131695">
                      <a:extLst>
                        <a:ext uri="{9D8B030D-6E8A-4147-A177-3AD203B41FA5}">
                          <a16:colId xmlns:a16="http://schemas.microsoft.com/office/drawing/2014/main" val="20002"/>
                        </a:ext>
                      </a:extLst>
                    </a:gridCol>
                  </a:tblGrid>
                  <a:tr h="2971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Hanger Diagram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47955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weight of one square, </a:t>
                          </a:r>
                          <a14:m>
                            <m:oMath xmlns:m="http://schemas.openxmlformats.org/officeDocument/2006/math">
                              <m:r>
                                <a:rPr lang="en-US" sz="2000">
                                  <a:effectLst/>
                                  <a:latin typeface="Cambria Math" panose="02040503050406030204" pitchFamily="18" charset="0"/>
                                  <a:ea typeface="Cambria Math" panose="02040503050406030204" pitchFamily="18" charset="0"/>
                                </a:rPr>
                                <m:t>𝑠</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is __________ than the weight of a circle and a pentagon.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𝑐</m:t>
                                </m:r>
                                <m:r>
                                  <a:rPr lang="en-US" sz="2000">
                                    <a:effectLst/>
                                    <a:latin typeface="Cambria Math" panose="02040503050406030204" pitchFamily="18" charset="0"/>
                                    <a:ea typeface="Cambria Math" panose="02040503050406030204" pitchFamily="18" charset="0"/>
                                  </a:rPr>
                                  <m:t>+</m:t>
                                </m:r>
                                <m:r>
                                  <a:rPr lang="en-US" sz="2000">
                                    <a:effectLst/>
                                    <a:latin typeface="Cambria Math" panose="02040503050406030204" pitchFamily="18" charset="0"/>
                                    <a:ea typeface="Cambria Math" panose="02040503050406030204" pitchFamily="18" charset="0"/>
                                  </a:rPr>
                                  <m:t>𝑝</m:t>
                                </m:r>
                                <m:r>
                                  <a:rPr lang="en-US" sz="2000">
                                    <a:effectLst/>
                                    <a:latin typeface="Cambria Math" panose="02040503050406030204" pitchFamily="18" charset="0"/>
                                    <a:ea typeface="Cambria Math" panose="02040503050406030204" pitchFamily="18" charset="0"/>
                                  </a:rPr>
                                  <m:t>&gt;____</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47955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𝑠</m:t>
                                </m:r>
                                <m:r>
                                  <a:rPr lang="en-US" sz="2000">
                                    <a:effectLst/>
                                    <a:latin typeface="Cambria Math" panose="02040503050406030204" pitchFamily="18" charset="0"/>
                                    <a:ea typeface="Cambria Math" panose="02040503050406030204" pitchFamily="18" charset="0"/>
                                  </a:rPr>
                                  <m:t>+</m:t>
                                </m:r>
                                <m:r>
                                  <a:rPr lang="en-US" sz="2000">
                                    <a:effectLst/>
                                    <a:latin typeface="Cambria Math" panose="02040503050406030204" pitchFamily="18" charset="0"/>
                                    <a:ea typeface="Cambria Math" panose="02040503050406030204" pitchFamily="18" charset="0"/>
                                  </a:rPr>
                                  <m:t>𝑐</m:t>
                                </m:r>
                                <m:r>
                                  <a:rPr lang="en-US" sz="2000">
                                    <a:effectLst/>
                                    <a:latin typeface="Cambria Math" panose="02040503050406030204" pitchFamily="18" charset="0"/>
                                    <a:ea typeface="Cambria Math" panose="02040503050406030204" pitchFamily="18" charset="0"/>
                                  </a:rPr>
                                  <m:t>&gt;2</m:t>
                                </m:r>
                                <m:r>
                                  <a:rPr lang="en-US" sz="2000">
                                    <a:effectLst/>
                                    <a:latin typeface="Cambria Math" panose="02040503050406030204" pitchFamily="18" charset="0"/>
                                    <a:ea typeface="Cambria Math" panose="02040503050406030204" pitchFamily="18" charset="0"/>
                                  </a:rPr>
                                  <m:t>𝑡</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4215226206"/>
                  </p:ext>
                </p:extLst>
              </p:nvPr>
            </p:nvGraphicFramePr>
            <p:xfrm>
              <a:off x="2066996" y="675531"/>
              <a:ext cx="6986590" cy="3796030"/>
            </p:xfrm>
            <a:graphic>
              <a:graphicData uri="http://schemas.openxmlformats.org/drawingml/2006/table">
                <a:tbl>
                  <a:tblPr firstRow="1" firstCol="1" bandRow="1">
                    <a:tableStyleId>{5940675A-B579-460E-94D1-54222C63F5DA}</a:tableStyleId>
                  </a:tblPr>
                  <a:tblGrid>
                    <a:gridCol w="2520000">
                      <a:extLst>
                        <a:ext uri="{9D8B030D-6E8A-4147-A177-3AD203B41FA5}">
                          <a16:colId xmlns:a16="http://schemas.microsoft.com/office/drawing/2014/main" val="20000"/>
                        </a:ext>
                      </a:extLst>
                    </a:gridCol>
                    <a:gridCol w="2334895">
                      <a:extLst>
                        <a:ext uri="{9D8B030D-6E8A-4147-A177-3AD203B41FA5}">
                          <a16:colId xmlns:a16="http://schemas.microsoft.com/office/drawing/2014/main" val="20001"/>
                        </a:ext>
                      </a:extLst>
                    </a:gridCol>
                    <a:gridCol w="2131695">
                      <a:extLst>
                        <a:ext uri="{9D8B030D-6E8A-4147-A177-3AD203B41FA5}">
                          <a16:colId xmlns:a16="http://schemas.microsoft.com/office/drawing/2014/main" val="20002"/>
                        </a:ext>
                      </a:extLst>
                    </a:gridCol>
                  </a:tblGrid>
                  <a:tr h="39624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Hanger Diagram</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Description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Inequality</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920240">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108696" t="-22368" r="-92391" b="-77632"/>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228571" t="-22368" r="-1190" b="-77632"/>
                          </a:stretch>
                        </a:blipFill>
                      </a:tcPr>
                    </a:tc>
                    <a:extLst>
                      <a:ext uri="{0D108BD9-81ED-4DB2-BD59-A6C34878D82A}">
                        <a16:rowId xmlns:a16="http://schemas.microsoft.com/office/drawing/2014/main" val="10001"/>
                      </a:ext>
                    </a:extLst>
                  </a:tr>
                  <a:tr h="147955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228571" t="-158974" r="-1190" b="-855"/>
                          </a:stretch>
                        </a:blipFill>
                      </a:tcPr>
                    </a:tc>
                    <a:extLst>
                      <a:ext uri="{0D108BD9-81ED-4DB2-BD59-A6C34878D82A}">
                        <a16:rowId xmlns:a16="http://schemas.microsoft.com/office/drawing/2014/main" val="10002"/>
                      </a:ext>
                    </a:extLst>
                  </a:tr>
                </a:tbl>
              </a:graphicData>
            </a:graphic>
          </p:graphicFrame>
        </mc:Fallback>
      </mc:AlternateContent>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8" name="Picture" descr="An unbalanced hanger with the left side lower than the right side. On the left side, a circle and a pentagon arranged vertically. On the right side, a square."/>
          <p:cNvPicPr/>
          <p:nvPr/>
        </p:nvPicPr>
        <p:blipFill>
          <a:blip r:embed="rId5" cstate="screen">
            <a:extLst>
              <a:ext uri="{28A0092B-C50C-407E-A947-70E740481C1C}">
                <a14:useLocalDpi xmlns:a14="http://schemas.microsoft.com/office/drawing/2010/main"/>
              </a:ext>
            </a:extLst>
          </a:blip>
          <a:stretch>
            <a:fillRect/>
          </a:stretch>
        </p:blipFill>
        <p:spPr bwMode="auto">
          <a:xfrm>
            <a:off x="2580385" y="1339352"/>
            <a:ext cx="1491615" cy="1553210"/>
          </a:xfrm>
          <a:prstGeom prst="rect">
            <a:avLst/>
          </a:prstGeom>
          <a:noFill/>
          <a:ln w="9525">
            <a:noFill/>
            <a:headEnd/>
            <a:tailEnd/>
          </a:ln>
        </p:spPr>
      </p:pic>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98</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99</a:t>
            </a:r>
            <a:endParaRPr i="1" dirty="0">
              <a:latin typeface="Calibri"/>
              <a:ea typeface="Calibri"/>
              <a:cs typeface="Calibri"/>
              <a:sym typeface="Calibri"/>
            </a:endParaRPr>
          </a:p>
        </p:txBody>
      </p:sp>
      <p:sp>
        <p:nvSpPr>
          <p:cNvPr id="7" name="Google Shape;313;g104476d1465_1_39"/>
          <p:cNvSpPr txBox="1">
            <a:spLocks/>
          </p:cNvSpPr>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3BEA6"/>
                </a:solidFill>
                <a:latin typeface="Verdana"/>
                <a:ea typeface="Verdana"/>
                <a:cs typeface="Verdana"/>
                <a:sym typeface="Verdana"/>
              </a:rPr>
              <a:t>Exploration</a:t>
            </a:r>
            <a:endParaRPr lang="en-US" sz="5100" b="1" dirty="0">
              <a:solidFill>
                <a:srgbClr val="33BEA6"/>
              </a:solidFill>
              <a:latin typeface="Verdana"/>
              <a:ea typeface="Verdana"/>
              <a:cs typeface="Verdana"/>
              <a:sym typeface="Verdana"/>
            </a:endParaRPr>
          </a:p>
        </p:txBody>
      </p:sp>
      <p:pic>
        <p:nvPicPr>
          <p:cNvPr id="9"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444861" y="2850881"/>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250632"/>
            <a:ext cx="10515600" cy="86789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3BEA6"/>
                </a:solidFill>
                <a:latin typeface="Verdana"/>
                <a:ea typeface="Verdana"/>
                <a:cs typeface="Verdana"/>
                <a:sym typeface="Verdana"/>
              </a:rPr>
              <a:t>10.3.2 Exploration: Determining the Minimum or Maximum Value that Makes an Inequality True</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52D1D4D-DCB8-A246-B186-D40316579D77}"/>
                  </a:ext>
                </a:extLst>
              </p:cNvPr>
              <p:cNvSpPr txBox="1"/>
              <p:nvPr/>
            </p:nvSpPr>
            <p:spPr>
              <a:xfrm>
                <a:off x="914400" y="1386025"/>
                <a:ext cx="10515600" cy="341632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err="1">
                    <a:latin typeface="Verdana" panose="020B0604030504040204" pitchFamily="34" charset="0"/>
                    <a:ea typeface="Verdana" panose="020B0604030504040204" pitchFamily="34" charset="0"/>
                    <a:cs typeface="Verdana" panose="020B0604030504040204" pitchFamily="34" charset="0"/>
                  </a:rPr>
                  <a:t>Bak</a:t>
                </a:r>
                <a:r>
                  <a:rPr lang="en-US" sz="2400" dirty="0">
                    <a:latin typeface="Verdana" panose="020B0604030504040204" pitchFamily="34" charset="0"/>
                    <a:ea typeface="Verdana" panose="020B0604030504040204" pitchFamily="34" charset="0"/>
                    <a:cs typeface="Verdana" panose="020B0604030504040204" pitchFamily="34" charset="0"/>
                  </a:rPr>
                  <a:t> Middle School of the Arts in West Palm Beach</a:t>
                </a:r>
                <a:r>
                  <a:rPr lang="en-US" sz="2400">
                    <a:latin typeface="Verdana" panose="020B0604030504040204" pitchFamily="34" charset="0"/>
                    <a:ea typeface="Verdana" panose="020B0604030504040204" pitchFamily="34" charset="0"/>
                    <a:cs typeface="Verdana" panose="020B0604030504040204" pitchFamily="34" charset="0"/>
                  </a:rPr>
                  <a:t>, Florida </a:t>
                </a:r>
                <a:r>
                  <a:rPr lang="en-US" sz="2400" dirty="0">
                    <a:latin typeface="Verdana" panose="020B0604030504040204" pitchFamily="34" charset="0"/>
                    <a:ea typeface="Verdana" panose="020B0604030504040204" pitchFamily="34" charset="0"/>
                    <a:cs typeface="Verdana" panose="020B0604030504040204" pitchFamily="34" charset="0"/>
                  </a:rPr>
                  <a:t>is hosting a rehearsal for its upcoming musical. The stage manager has </a:t>
                </a:r>
                <a14:m>
                  <m:oMath xmlns:m="http://schemas.openxmlformats.org/officeDocument/2006/math">
                    <m:r>
                      <a:rPr lang="en-US" sz="2400" i="1">
                        <a:latin typeface="Cambria Math" panose="02040503050406030204" pitchFamily="18" charset="0"/>
                        <a:ea typeface="Cambria Math" panose="02040503050406030204" pitchFamily="18" charset="0"/>
                      </a:rPr>
                      <m:t>$83</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from a recent fundraiser that can be used to order lunch for the cast and crew. The school’s cafeteria can make boxed lunches for a cost of </a:t>
                </a:r>
                <a14:m>
                  <m:oMath xmlns:m="http://schemas.openxmlformats.org/officeDocument/2006/math">
                    <m:r>
                      <a:rPr lang="en-US" sz="2400" i="1">
                        <a:latin typeface="Cambria Math" panose="02040503050406030204" pitchFamily="18" charset="0"/>
                        <a:ea typeface="Cambria Math" panose="02040503050406030204" pitchFamily="18" charset="0"/>
                      </a:rPr>
                      <m:t>$6</m:t>
                    </m:r>
                  </m:oMath>
                </a14:m>
                <a:r>
                  <a:rPr lang="en-US" sz="2400" dirty="0">
                    <a:latin typeface="Verdana" panose="020B0604030504040204" pitchFamily="34" charset="0"/>
                    <a:ea typeface="Verdana" panose="020B0604030504040204" pitchFamily="34" charset="0"/>
                    <a:cs typeface="Verdana" panose="020B0604030504040204" pitchFamily="34" charset="0"/>
                  </a:rPr>
                  <a:t> each. The inequality </a:t>
                </a:r>
                <a14:m>
                  <m:oMath xmlns:m="http://schemas.openxmlformats.org/officeDocument/2006/math">
                    <m:r>
                      <a:rPr lang="en-US" sz="2400" i="1">
                        <a:latin typeface="Cambria Math" panose="02040503050406030204" pitchFamily="18" charset="0"/>
                        <a:ea typeface="Cambria Math" panose="02040503050406030204" pitchFamily="18" charset="0"/>
                      </a:rPr>
                      <m:t>6</m:t>
                    </m:r>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≤83</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represents the situation, where </a:t>
                </a:r>
                <a14:m>
                  <m:oMath xmlns:m="http://schemas.openxmlformats.org/officeDocument/2006/math">
                    <m:r>
                      <a:rPr lang="en-US" sz="2400" i="1">
                        <a:latin typeface="Cambria Math" panose="02040503050406030204" pitchFamily="18" charset="0"/>
                        <a:ea typeface="Cambria Math" panose="02040503050406030204" pitchFamily="18" charset="0"/>
                      </a:rPr>
                      <m:t>𝑛</m:t>
                    </m:r>
                  </m:oMath>
                </a14:m>
                <a:r>
                  <a:rPr lang="en-US" sz="2400" dirty="0">
                    <a:latin typeface="Verdana" panose="020B0604030504040204" pitchFamily="34" charset="0"/>
                    <a:ea typeface="Verdana" panose="020B0604030504040204" pitchFamily="34" charset="0"/>
                    <a:cs typeface="Verdana" panose="020B0604030504040204" pitchFamily="34" charset="0"/>
                  </a:rPr>
                  <a:t> represents the number of boxed lunches that can be ordered from the cafeteria.</a:t>
                </a:r>
              </a:p>
            </p:txBody>
          </p:sp>
        </mc:Choice>
        <mc:Fallback>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914400" y="1386025"/>
                <a:ext cx="10515600" cy="3416320"/>
              </a:xfrm>
              <a:prstGeom prst="rect">
                <a:avLst/>
              </a:prstGeom>
              <a:blipFill>
                <a:blip r:embed="rId5"/>
                <a:stretch>
                  <a:fillRect l="-965" t="-1107" b="-2952"/>
                </a:stretch>
              </a:blipFill>
            </p:spPr>
            <p:txBody>
              <a:bodyPr/>
              <a:lstStyle/>
              <a:p>
                <a:r>
                  <a:rPr lang="en-US">
                    <a:noFill/>
                  </a:rPr>
                  <a:t> </a:t>
                </a:r>
              </a:p>
            </p:txBody>
          </p:sp>
        </mc:Fallback>
      </mc:AlternateContent>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99</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914400" y="374089"/>
                <a:ext cx="10515600" cy="5423536"/>
              </a:xfrm>
              <a:prstGeom prst="rect">
                <a:avLst/>
              </a:prstGeom>
              <a:noFill/>
            </p:spPr>
            <p:txBody>
              <a:bodyPr wrap="square" rtlCol="0">
                <a:spAutoFit/>
              </a:bodyPr>
              <a:lstStyle/>
              <a:p>
                <a:pPr marL="914400" indent="-457200">
                  <a:buFont typeface="+mj-lt"/>
                  <a:buAutoNum type="alphaLcPeriod"/>
                  <a:tabLst>
                    <a:tab pos="2155825" algn="l"/>
                  </a:tabLst>
                </a:pPr>
                <a:r>
                  <a:rPr lang="en-US" sz="2400" dirty="0">
                    <a:latin typeface="Verdana" panose="020B0604030504040204" pitchFamily="34" charset="0"/>
                    <a:ea typeface="Verdana" panose="020B0604030504040204" pitchFamily="34" charset="0"/>
                    <a:cs typeface="Verdana" panose="020B0604030504040204" pitchFamily="34" charset="0"/>
                  </a:rPr>
                  <a:t>Select the values that represent a valid number of boxed lunches the stage manager can order from the cafeteria.</a:t>
                </a:r>
              </a:p>
              <a:p>
                <a:pPr marL="1201738" lvl="1" indent="-342900">
                  <a:buFont typeface="Wingdings" panose="05000000000000000000" pitchFamily="2" charset="2"/>
                  <a:buChar char="q"/>
                  <a:tabLst>
                    <a:tab pos="2155825" algn="l"/>
                  </a:tabLst>
                </a:pPr>
                <a:endParaRPr lang="en-US" sz="2400" i="1" dirty="0">
                  <a:latin typeface="Cambria Math" panose="02040503050406030204" pitchFamily="18" charset="0"/>
                  <a:ea typeface="Cambria Math" panose="02040503050406030204" pitchFamily="18" charset="0"/>
                </a:endParaRPr>
              </a:p>
              <a:p>
                <a:pPr marL="1201738" lvl="1" indent="-342900">
                  <a:buFont typeface="Wingdings" panose="05000000000000000000" pitchFamily="2" charset="2"/>
                  <a:buChar char="q"/>
                  <a:tabLst>
                    <a:tab pos="2155825" algn="l"/>
                  </a:tabLst>
                </a:pPr>
                <a14:m>
                  <m:oMath xmlns:m="http://schemas.openxmlformats.org/officeDocument/2006/math">
                    <m:r>
                      <a:rPr lang="en-US" sz="2400" i="1">
                        <a:latin typeface="Cambria Math" panose="02040503050406030204" pitchFamily="18" charset="0"/>
                        <a:ea typeface="Cambria Math" panose="02040503050406030204" pitchFamily="18" charset="0"/>
                      </a:rPr>
                      <m:t>14</m:t>
                    </m:r>
                  </m:oMath>
                </a14:m>
                <a:endParaRPr lang="en-US" sz="2400" dirty="0">
                  <a:latin typeface="Cambria Math" panose="02040503050406030204" pitchFamily="18" charset="0"/>
                  <a:ea typeface="Cambria Math" panose="02040503050406030204" pitchFamily="18" charset="0"/>
                </a:endParaRPr>
              </a:p>
              <a:p>
                <a:pPr marL="1201738" lvl="1" indent="-342900">
                  <a:buFont typeface="Wingdings" panose="05000000000000000000" pitchFamily="2" charset="2"/>
                  <a:buChar char="q"/>
                  <a:tabLst>
                    <a:tab pos="2155825" algn="l"/>
                  </a:tabLst>
                </a:pPr>
                <a14:m>
                  <m:oMath xmlns:m="http://schemas.openxmlformats.org/officeDocument/2006/math">
                    <m:r>
                      <a:rPr lang="en-US" sz="2400" i="1">
                        <a:latin typeface="Cambria Math" panose="02040503050406030204" pitchFamily="18" charset="0"/>
                        <a:ea typeface="Cambria Math" panose="02040503050406030204" pitchFamily="18" charset="0"/>
                      </a:rPr>
                      <m:t>13</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5</m:t>
                        </m:r>
                      </m:num>
                      <m:den>
                        <m:r>
                          <a:rPr lang="en-US" sz="2400" i="1">
                            <a:latin typeface="Cambria Math" panose="02040503050406030204" pitchFamily="18" charset="0"/>
                            <a:ea typeface="Cambria Math" panose="02040503050406030204" pitchFamily="18" charset="0"/>
                          </a:rPr>
                          <m:t>6</m:t>
                        </m:r>
                      </m:den>
                    </m:f>
                  </m:oMath>
                </a14:m>
                <a:endParaRPr lang="en-US" sz="2400" dirty="0">
                  <a:latin typeface="Cambria Math" panose="02040503050406030204" pitchFamily="18" charset="0"/>
                  <a:ea typeface="Cambria Math" panose="02040503050406030204" pitchFamily="18" charset="0"/>
                </a:endParaRPr>
              </a:p>
              <a:p>
                <a:pPr marL="1201738" lvl="1" indent="-342900">
                  <a:buFont typeface="Wingdings" panose="05000000000000000000" pitchFamily="2" charset="2"/>
                  <a:buChar char="q"/>
                  <a:tabLst>
                    <a:tab pos="2155825" algn="l"/>
                  </a:tabLst>
                </a:pPr>
                <a14:m>
                  <m:oMath xmlns:m="http://schemas.openxmlformats.org/officeDocument/2006/math">
                    <m:r>
                      <a:rPr lang="en-US" sz="2400" i="1">
                        <a:latin typeface="Cambria Math" panose="02040503050406030204" pitchFamily="18" charset="0"/>
                        <a:ea typeface="Cambria Math" panose="02040503050406030204" pitchFamily="18" charset="0"/>
                      </a:rPr>
                      <m:t>12</m:t>
                    </m:r>
                  </m:oMath>
                </a14:m>
                <a:endParaRPr lang="en-US" sz="2400" dirty="0">
                  <a:latin typeface="Cambria Math" panose="02040503050406030204" pitchFamily="18" charset="0"/>
                  <a:ea typeface="Cambria Math" panose="02040503050406030204" pitchFamily="18" charset="0"/>
                </a:endParaRPr>
              </a:p>
              <a:p>
                <a:pPr marL="1201738" lvl="1" indent="-342900">
                  <a:buFont typeface="Wingdings" panose="05000000000000000000" pitchFamily="2" charset="2"/>
                  <a:buChar char="q"/>
                  <a:tabLst>
                    <a:tab pos="2155825" algn="l"/>
                  </a:tabLst>
                </a:pPr>
                <a14:m>
                  <m:oMath xmlns:m="http://schemas.openxmlformats.org/officeDocument/2006/math">
                    <m:r>
                      <a:rPr lang="en-US" sz="2400" i="1">
                        <a:latin typeface="Cambria Math" panose="02040503050406030204" pitchFamily="18" charset="0"/>
                        <a:ea typeface="Cambria Math" panose="02040503050406030204" pitchFamily="18" charset="0"/>
                      </a:rPr>
                      <m:t>9.5</m:t>
                    </m:r>
                  </m:oMath>
                </a14:m>
                <a:endParaRPr lang="en-US" sz="2400" dirty="0">
                  <a:latin typeface="Cambria Math" panose="02040503050406030204" pitchFamily="18" charset="0"/>
                  <a:ea typeface="Cambria Math" panose="02040503050406030204" pitchFamily="18" charset="0"/>
                </a:endParaRPr>
              </a:p>
              <a:p>
                <a:pPr marL="1201738" lvl="1" indent="-342900">
                  <a:buFont typeface="Wingdings" panose="05000000000000000000" pitchFamily="2" charset="2"/>
                  <a:buChar char="q"/>
                  <a:tabLst>
                    <a:tab pos="2155825" algn="l"/>
                  </a:tabLst>
                </a:pPr>
                <a14:m>
                  <m:oMath xmlns:m="http://schemas.openxmlformats.org/officeDocument/2006/math">
                    <m:r>
                      <a:rPr lang="en-US" sz="2400" i="1">
                        <a:latin typeface="Cambria Math" panose="02040503050406030204" pitchFamily="18" charset="0"/>
                        <a:ea typeface="Cambria Math" panose="02040503050406030204" pitchFamily="18" charset="0"/>
                      </a:rPr>
                      <m:t>2</m:t>
                    </m:r>
                  </m:oMath>
                </a14:m>
                <a:endParaRPr lang="en-US" sz="2400" dirty="0">
                  <a:latin typeface="Cambria Math" panose="02040503050406030204" pitchFamily="18" charset="0"/>
                  <a:ea typeface="Cambria Math" panose="02040503050406030204" pitchFamily="18" charset="0"/>
                </a:endParaRPr>
              </a:p>
              <a:p>
                <a:pPr marL="1201738" lvl="1" indent="-342900">
                  <a:buFont typeface="Wingdings" panose="05000000000000000000" pitchFamily="2" charset="2"/>
                  <a:buChar char="q"/>
                  <a:tabLst>
                    <a:tab pos="2155825" algn="l"/>
                  </a:tabLst>
                </a:pPr>
                <a14:m>
                  <m:oMath xmlns:m="http://schemas.openxmlformats.org/officeDocument/2006/math">
                    <m:sPre>
                      <m:sPrePr>
                        <m:ctrlPr>
                          <a:rPr lang="en-US" sz="2400" i="1">
                            <a:latin typeface="Cambria Math" panose="02040503050406030204" pitchFamily="18" charset="0"/>
                            <a:ea typeface="Cambria Math" panose="02040503050406030204" pitchFamily="18" charset="0"/>
                          </a:rPr>
                        </m:ctrlPr>
                      </m:sPrePr>
                      <m:sub/>
                      <m:sup>
                        <m:r>
                          <a:rPr lang="en-US" sz="2400" i="1">
                            <a:latin typeface="Cambria Math" panose="02040503050406030204" pitchFamily="18" charset="0"/>
                            <a:ea typeface="Cambria Math" panose="02040503050406030204" pitchFamily="18" charset="0"/>
                          </a:rPr>
                          <m:t>−</m:t>
                        </m:r>
                      </m:sup>
                      <m:e>
                        <m:r>
                          <a:rPr lang="en-US" sz="2400">
                            <a:latin typeface="Cambria Math" panose="02040503050406030204" pitchFamily="18" charset="0"/>
                            <a:ea typeface="Cambria Math" panose="02040503050406030204" pitchFamily="18" charset="0"/>
                          </a:rPr>
                          <m:t>4</m:t>
                        </m:r>
                      </m:e>
                    </m:sPre>
                  </m:oMath>
                </a14:m>
                <a:endParaRPr lang="en-US" sz="2400" dirty="0">
                  <a:latin typeface="Cambria Math" panose="02040503050406030204" pitchFamily="18" charset="0"/>
                  <a:ea typeface="Cambria Math" panose="02040503050406030204" pitchFamily="18" charset="0"/>
                </a:endParaRPr>
              </a:p>
              <a:p>
                <a:pPr marL="466725" lvl="1">
                  <a:tabLst>
                    <a:tab pos="2155825" algn="l"/>
                  </a:tabLst>
                </a:pPr>
                <a:endParaRPr lang="en-US" sz="2400" dirty="0"/>
              </a:p>
              <a:p>
                <a:pPr marL="923925" lvl="1" indent="-457200">
                  <a:buFont typeface="+mj-lt"/>
                  <a:buAutoNum type="alphaLcPeriod" startAt="2"/>
                  <a:tabLst>
                    <a:tab pos="2155825" algn="l"/>
                  </a:tabLst>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3925" lvl="1" indent="-457200">
                  <a:buFont typeface="+mj-lt"/>
                  <a:buAutoNum type="alphaLcPeriod" startAt="2"/>
                  <a:tabLst>
                    <a:tab pos="2155825" algn="l"/>
                  </a:tabLst>
                </a:pPr>
                <a:r>
                  <a:rPr lang="en-US" sz="2400" dirty="0">
                    <a:latin typeface="Verdana" panose="020B0604030504040204" pitchFamily="34" charset="0"/>
                    <a:ea typeface="Verdana" panose="020B0604030504040204" pitchFamily="34" charset="0"/>
                    <a:cs typeface="Verdana" panose="020B0604030504040204" pitchFamily="34" charset="0"/>
                  </a:rPr>
                  <a:t>Explain why some values in the previous question are not valid in this context.</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914400" y="374089"/>
                <a:ext cx="10515600" cy="5423536"/>
              </a:xfrm>
              <a:prstGeom prst="rect">
                <a:avLst/>
              </a:prstGeom>
              <a:blipFill>
                <a:blip r:embed="rId4"/>
                <a:stretch>
                  <a:fillRect t="-935"/>
                </a:stretch>
              </a:blipFill>
            </p:spPr>
            <p:txBody>
              <a:bodyPr/>
              <a:lstStyle/>
              <a:p>
                <a:r>
                  <a:rPr lang="en-US">
                    <a:noFill/>
                  </a:rPr>
                  <a:t> </a:t>
                </a:r>
              </a:p>
            </p:txBody>
          </p:sp>
        </mc:Fallback>
      </mc:AlternateContent>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99</a:t>
            </a:r>
            <a:endParaRPr i="1" dirty="0">
              <a:latin typeface="Calibri"/>
              <a:ea typeface="Calibri"/>
              <a:cs typeface="Calibri"/>
              <a:sym typeface="Calibri"/>
            </a:endParaRPr>
          </a:p>
        </p:txBody>
      </p:sp>
    </p:spTree>
    <p:extLst>
      <p:ext uri="{BB962C8B-B14F-4D97-AF65-F5344CB8AC3E}">
        <p14:creationId xmlns:p14="http://schemas.microsoft.com/office/powerpoint/2010/main" val="687834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914400" y="374089"/>
                <a:ext cx="10515600" cy="5423536"/>
              </a:xfrm>
              <a:prstGeom prst="rect">
                <a:avLst/>
              </a:prstGeom>
              <a:noFill/>
            </p:spPr>
            <p:txBody>
              <a:bodyPr wrap="square" rtlCol="0">
                <a:spAutoFit/>
              </a:bodyPr>
              <a:lstStyle/>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The mathematical solution to the inequality </a:t>
                </a:r>
                <a14:m>
                  <m:oMath xmlns:m="http://schemas.openxmlformats.org/officeDocument/2006/math">
                    <m:r>
                      <a:rPr lang="en-US" sz="2400" i="1">
                        <a:latin typeface="Cambria Math" panose="02040503050406030204" pitchFamily="18" charset="0"/>
                        <a:ea typeface="Cambria Math" panose="02040503050406030204" pitchFamily="18" charset="0"/>
                      </a:rPr>
                      <m:t>6</m:t>
                    </m:r>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≤83</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is </a:t>
                </a:r>
                <a14:m>
                  <m:oMath xmlns:m="http://schemas.openxmlformats.org/officeDocument/2006/math">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≤13</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5</m:t>
                        </m:r>
                      </m:num>
                      <m:den>
                        <m:r>
                          <a:rPr lang="en-US" sz="2400" i="1">
                            <a:latin typeface="Cambria Math" panose="02040503050406030204" pitchFamily="18" charset="0"/>
                            <a:ea typeface="Cambria Math" panose="02040503050406030204" pitchFamily="18" charset="0"/>
                          </a:rPr>
                          <m:t>6</m:t>
                        </m:r>
                      </m:den>
                    </m:f>
                  </m:oMath>
                </a14:m>
                <a:r>
                  <a:rPr lang="en-US" sz="2400" dirty="0">
                    <a:latin typeface="Verdana" panose="020B0604030504040204" pitchFamily="34" charset="0"/>
                    <a:ea typeface="Verdana" panose="020B0604030504040204" pitchFamily="34" charset="0"/>
                    <a:cs typeface="Verdana" panose="020B0604030504040204" pitchFamily="34" charset="0"/>
                  </a:rPr>
                  <a:t>. What is the maximum number of boxed lunches the stage manager can order from the cafeteria?</a:t>
                </a: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What is the minimum number of boxed lunches the stage manager can order from the cafeteria?</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914400" y="374089"/>
                <a:ext cx="10515600" cy="5423536"/>
              </a:xfrm>
              <a:prstGeom prst="rect">
                <a:avLst/>
              </a:prstGeom>
              <a:blipFill>
                <a:blip r:embed="rId4"/>
                <a:stretch>
                  <a:fillRect t="-1168"/>
                </a:stretch>
              </a:blipFill>
            </p:spPr>
            <p:txBody>
              <a:bodyPr/>
              <a:lstStyle/>
              <a:p>
                <a:r>
                  <a:rPr lang="en-US">
                    <a:noFill/>
                  </a:rPr>
                  <a:t> </a:t>
                </a:r>
              </a:p>
            </p:txBody>
          </p:sp>
        </mc:Fallback>
      </mc:AlternateContent>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99</a:t>
            </a:r>
            <a:endParaRPr i="1" dirty="0">
              <a:latin typeface="Calibri"/>
              <a:ea typeface="Calibri"/>
              <a:cs typeface="Calibri"/>
              <a:sym typeface="Calibri"/>
            </a:endParaRPr>
          </a:p>
        </p:txBody>
      </p:sp>
    </p:spTree>
    <p:extLst>
      <p:ext uri="{BB962C8B-B14F-4D97-AF65-F5344CB8AC3E}">
        <p14:creationId xmlns:p14="http://schemas.microsoft.com/office/powerpoint/2010/main" val="2200886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914400" y="374089"/>
                <a:ext cx="10515600" cy="4154984"/>
              </a:xfrm>
              <a:prstGeom prst="rect">
                <a:avLst/>
              </a:prstGeom>
              <a:noFill/>
            </p:spPr>
            <p:txBody>
              <a:bodyPr wrap="square" rtlCol="0">
                <a:spAutoFit/>
              </a:bodyPr>
              <a:lstStyle/>
              <a:p>
                <a:pPr marL="914400" indent="-457200">
                  <a:buFont typeface="+mj-lt"/>
                  <a:buAutoNum type="alphaLcPeriod" startAt="5"/>
                </a:pPr>
                <a:r>
                  <a:rPr lang="en-US" sz="2400" dirty="0">
                    <a:latin typeface="Verdana" panose="020B0604030504040204" pitchFamily="34" charset="0"/>
                    <a:ea typeface="Verdana" panose="020B0604030504040204" pitchFamily="34" charset="0"/>
                    <a:cs typeface="Verdana" panose="020B0604030504040204" pitchFamily="34" charset="0"/>
                  </a:rPr>
                  <a:t>The graph of the solution set for </a:t>
                </a:r>
                <a14:m>
                  <m:oMath xmlns:m="http://schemas.openxmlformats.org/officeDocument/2006/math">
                    <m:r>
                      <a:rPr lang="en-US" sz="2400" i="1">
                        <a:latin typeface="Cambria Math" panose="02040503050406030204" pitchFamily="18" charset="0"/>
                        <a:ea typeface="Cambria Math" panose="02040503050406030204" pitchFamily="18" charset="0"/>
                      </a:rPr>
                      <m:t>6</m:t>
                    </m:r>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≤83</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is shown.</a:t>
                </a:r>
              </a:p>
              <a:p>
                <a:pPr marL="914400" indent="-457200">
                  <a:buFont typeface="+mj-lt"/>
                  <a:buAutoNum type="alphaL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a:r>
                  <a:rPr lang="en-US" sz="2400" dirty="0">
                    <a:latin typeface="Verdana" panose="020B0604030504040204" pitchFamily="34" charset="0"/>
                    <a:ea typeface="Verdana" panose="020B0604030504040204" pitchFamily="34" charset="0"/>
                    <a:cs typeface="Verdana" panose="020B0604030504040204" pitchFamily="34" charset="0"/>
                  </a:rPr>
                  <a:t>Discuss with your partner how the graph that mathematically represents the solution set is not the best representation of the real-world context. Then, represent the solutions in the real-world context on the number line shown.</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914400" y="374089"/>
                <a:ext cx="10515600" cy="4154984"/>
              </a:xfrm>
              <a:prstGeom prst="rect">
                <a:avLst/>
              </a:prstGeom>
              <a:blipFill>
                <a:blip r:embed="rId4"/>
                <a:stretch>
                  <a:fillRect t="-1524" r="-1809"/>
                </a:stretch>
              </a:blipFill>
            </p:spPr>
            <p:txBody>
              <a:bodyPr/>
              <a:lstStyle/>
              <a:p>
                <a:r>
                  <a:rPr lang="en-US">
                    <a:noFill/>
                  </a:rPr>
                  <a:t> </a:t>
                </a:r>
              </a:p>
            </p:txBody>
          </p:sp>
        </mc:Fallback>
      </mc:AlternateContent>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100</a:t>
            </a:r>
            <a:endParaRPr i="1" dirty="0">
              <a:latin typeface="Calibri"/>
              <a:ea typeface="Calibri"/>
              <a:cs typeface="Calibri"/>
              <a:sym typeface="Calibri"/>
            </a:endParaRPr>
          </a:p>
        </p:txBody>
      </p:sp>
      <p:grpSp>
        <p:nvGrpSpPr>
          <p:cNvPr id="28" name="Group 27"/>
          <p:cNvGrpSpPr/>
          <p:nvPr/>
        </p:nvGrpSpPr>
        <p:grpSpPr>
          <a:xfrm>
            <a:off x="2546133" y="1489974"/>
            <a:ext cx="7252133" cy="544825"/>
            <a:chOff x="0" y="0"/>
            <a:chExt cx="5790491" cy="434975"/>
          </a:xfrm>
        </p:grpSpPr>
        <p:pic>
          <p:nvPicPr>
            <p:cNvPr id="29" name="Picture 28"/>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12651" y="0"/>
              <a:ext cx="5577840" cy="434975"/>
            </a:xfrm>
            <a:prstGeom prst="rect">
              <a:avLst/>
            </a:prstGeom>
          </p:spPr>
        </p:pic>
        <p:sp>
          <p:nvSpPr>
            <p:cNvPr id="30" name="Oval 29"/>
            <p:cNvSpPr/>
            <p:nvPr/>
          </p:nvSpPr>
          <p:spPr>
            <a:xfrm>
              <a:off x="4540102" y="63795"/>
              <a:ext cx="118745" cy="118745"/>
            </a:xfrm>
            <a:prstGeom prst="ellipse">
              <a:avLst/>
            </a:prstGeom>
            <a:solidFill>
              <a:srgbClr val="9BBB59"/>
            </a:solidFill>
            <a:ln w="25400" cap="flat" cmpd="sng" algn="ctr">
              <a:solidFill>
                <a:srgbClr val="9BBB59"/>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buClrTx/>
                <a:defRPr/>
              </a:pPr>
              <a:endParaRPr lang="en-PH" sz="1800">
                <a:solidFill>
                  <a:sysClr val="window" lastClr="FFFFFF"/>
                </a:solidFill>
                <a:latin typeface="Cambria"/>
                <a:ea typeface="+mn-ea"/>
                <a:cs typeface="+mn-cs"/>
              </a:endParaRPr>
            </a:p>
          </p:txBody>
        </p:sp>
        <p:cxnSp>
          <p:nvCxnSpPr>
            <p:cNvPr id="31" name="Straight Arrow Connector 30"/>
            <p:cNvCxnSpPr/>
            <p:nvPr/>
          </p:nvCxnSpPr>
          <p:spPr>
            <a:xfrm flipH="1">
              <a:off x="0" y="129362"/>
              <a:ext cx="4572000" cy="0"/>
            </a:xfrm>
            <a:prstGeom prst="straightConnector1">
              <a:avLst/>
            </a:prstGeom>
            <a:solidFill>
              <a:srgbClr val="9BBB59"/>
            </a:solidFill>
            <a:ln w="38100" cap="flat" cmpd="sng" algn="ctr">
              <a:solidFill>
                <a:srgbClr val="9BBB59"/>
              </a:solidFill>
              <a:prstDash val="solid"/>
              <a:tailEnd type="triangle"/>
            </a:ln>
            <a:effectLst/>
          </p:spPr>
        </p:cxnSp>
      </p:grpSp>
      <p:pic>
        <p:nvPicPr>
          <p:cNvPr id="33" name="Picture 32"/>
          <p:cNvPicPr/>
          <p:nvPr/>
        </p:nvPicPr>
        <p:blipFill>
          <a:blip r:embed="rId5">
            <a:extLst>
              <a:ext uri="{28A0092B-C50C-407E-A947-70E740481C1C}">
                <a14:useLocalDpi xmlns:a14="http://schemas.microsoft.com/office/drawing/2010/main"/>
              </a:ext>
            </a:extLst>
          </a:blip>
          <a:stretch>
            <a:fillRect/>
          </a:stretch>
        </p:blipFill>
        <p:spPr>
          <a:xfrm>
            <a:off x="2667760" y="4691104"/>
            <a:ext cx="7280990" cy="567791"/>
          </a:xfrm>
          <a:prstGeom prst="rect">
            <a:avLst/>
          </a:prstGeom>
        </p:spPr>
      </p:pic>
    </p:spTree>
    <p:extLst>
      <p:ext uri="{BB962C8B-B14F-4D97-AF65-F5344CB8AC3E}">
        <p14:creationId xmlns:p14="http://schemas.microsoft.com/office/powerpoint/2010/main" val="2146748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914400" y="374090"/>
                <a:ext cx="10515600" cy="4979953"/>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Hiromi walks around his neighborhood each afternoon, tracking his pace each day. The fastest rate Hiromi can walk for an extended period of time is </a:t>
                </a:r>
                <a14:m>
                  <m:oMath xmlns:m="http://schemas.openxmlformats.org/officeDocument/2006/math">
                    <m:r>
                      <a:rPr lang="en-US" sz="2000" i="1">
                        <a:latin typeface="Cambria Math" panose="02040503050406030204" pitchFamily="18" charset="0"/>
                        <a:ea typeface="Cambria Math" panose="02040503050406030204" pitchFamily="18" charset="0"/>
                      </a:rPr>
                      <m:t>3.7</m:t>
                    </m:r>
                  </m:oMath>
                </a14:m>
                <a:r>
                  <a:rPr lang="en-US" sz="2000" dirty="0">
                    <a:latin typeface="Verdana" panose="020B0604030504040204" pitchFamily="34" charset="0"/>
                    <a:ea typeface="Verdana" panose="020B0604030504040204" pitchFamily="34" charset="0"/>
                    <a:cs typeface="Verdana" panose="020B0604030504040204" pitchFamily="34" charset="0"/>
                  </a:rPr>
                  <a:t> miles per hour.</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maximum distance Hiromi can walk in </a:t>
                </a:r>
                <a14:m>
                  <m:oMath xmlns:m="http://schemas.openxmlformats.org/officeDocument/2006/math">
                    <m:r>
                      <a:rPr lang="en-US" sz="2000" i="1">
                        <a:latin typeface="Cambria Math" panose="02040503050406030204" pitchFamily="18" charset="0"/>
                        <a:ea typeface="Cambria Math" panose="02040503050406030204" pitchFamily="18" charset="0"/>
                      </a:rPr>
                      <m:t>0.75</m:t>
                    </m:r>
                  </m:oMath>
                </a14:m>
                <a:r>
                  <a:rPr lang="en-US" sz="2000" dirty="0">
                    <a:latin typeface="Verdana" panose="020B0604030504040204" pitchFamily="34" charset="0"/>
                    <a:ea typeface="Verdana" panose="020B0604030504040204" pitchFamily="34" charset="0"/>
                    <a:cs typeface="Verdana" panose="020B0604030504040204" pitchFamily="34" charset="0"/>
                  </a:rPr>
                  <a:t> hours?</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inequality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𝑑</m:t>
                        </m:r>
                      </m:num>
                      <m:den>
                        <m:r>
                          <a:rPr lang="en-US" sz="2000" i="1">
                            <a:latin typeface="Cambria Math" panose="02040503050406030204" pitchFamily="18" charset="0"/>
                            <a:ea typeface="Cambria Math" panose="02040503050406030204" pitchFamily="18" charset="0"/>
                          </a:rPr>
                          <m:t>3.7</m:t>
                        </m:r>
                      </m:den>
                    </m:f>
                    <m:r>
                      <a:rPr lang="en-US" sz="2000" i="1">
                        <a:latin typeface="Cambria Math" panose="02040503050406030204" pitchFamily="18" charset="0"/>
                        <a:ea typeface="Cambria Math" panose="02040503050406030204" pitchFamily="18" charset="0"/>
                      </a:rPr>
                      <m:t>≤0.75</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can be used to represent the distance Hiromi walks, </a:t>
                </a:r>
                <a14:m>
                  <m:oMath xmlns:m="http://schemas.openxmlformats.org/officeDocument/2006/math">
                    <m:r>
                      <a:rPr lang="en-US" sz="2000" i="1">
                        <a:latin typeface="Cambria Math" panose="02040503050406030204" pitchFamily="18" charset="0"/>
                        <a:ea typeface="Cambria Math" panose="02040503050406030204" pitchFamily="18" charset="0"/>
                      </a:rPr>
                      <m:t>𝑑</m:t>
                    </m:r>
                  </m:oMath>
                </a14:m>
                <a:r>
                  <a:rPr lang="en-US" sz="2000" dirty="0">
                    <a:latin typeface="Verdana" panose="020B0604030504040204" pitchFamily="34" charset="0"/>
                    <a:ea typeface="Verdana" panose="020B0604030504040204" pitchFamily="34" charset="0"/>
                    <a:cs typeface="Verdana" panose="020B0604030504040204" pitchFamily="34" charset="0"/>
                  </a:rPr>
                  <a:t>, in </a:t>
                </a:r>
                <a14:m>
                  <m:oMath xmlns:m="http://schemas.openxmlformats.org/officeDocument/2006/math">
                    <m:r>
                      <a:rPr lang="en-US" sz="2000" i="1">
                        <a:latin typeface="Cambria Math" panose="02040503050406030204" pitchFamily="18" charset="0"/>
                        <a:ea typeface="Cambria Math" panose="02040503050406030204" pitchFamily="18" charset="0"/>
                      </a:rPr>
                      <m:t>0.75</m:t>
                    </m:r>
                  </m:oMath>
                </a14:m>
                <a:r>
                  <a:rPr lang="en-US" sz="2000" dirty="0">
                    <a:latin typeface="Verdana" panose="020B0604030504040204" pitchFamily="34" charset="0"/>
                    <a:ea typeface="Verdana" panose="020B0604030504040204" pitchFamily="34" charset="0"/>
                    <a:cs typeface="Verdana" panose="020B0604030504040204" pitchFamily="34" charset="0"/>
                  </a:rPr>
                  <a:t> hours given his fastest walking rate of </a:t>
                </a:r>
                <a14:m>
                  <m:oMath xmlns:m="http://schemas.openxmlformats.org/officeDocument/2006/math">
                    <m:r>
                      <a:rPr lang="en-US" sz="2000" i="1">
                        <a:latin typeface="Cambria Math" panose="02040503050406030204" pitchFamily="18" charset="0"/>
                        <a:ea typeface="Cambria Math" panose="02040503050406030204" pitchFamily="18" charset="0"/>
                      </a:rPr>
                      <m:t>3.7</m:t>
                    </m:r>
                  </m:oMath>
                </a14:m>
                <a:r>
                  <a:rPr lang="en-US" sz="2000" dirty="0">
                    <a:latin typeface="Verdana" panose="020B0604030504040204" pitchFamily="34" charset="0"/>
                    <a:ea typeface="Verdana" panose="020B0604030504040204" pitchFamily="34" charset="0"/>
                    <a:cs typeface="Verdana" panose="020B0604030504040204" pitchFamily="34" charset="0"/>
                  </a:rPr>
                  <a:t> miles per hour.</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Use your answer to Part A to determine the solution set for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𝑑</m:t>
                        </m:r>
                      </m:num>
                      <m:den>
                        <m:r>
                          <a:rPr lang="en-US" sz="2000" i="1">
                            <a:latin typeface="Cambria Math" panose="02040503050406030204" pitchFamily="18" charset="0"/>
                            <a:ea typeface="Cambria Math" panose="02040503050406030204" pitchFamily="18" charset="0"/>
                          </a:rPr>
                          <m:t>3.7</m:t>
                        </m:r>
                      </m:den>
                    </m:f>
                    <m:r>
                      <a:rPr lang="en-US" sz="2000" i="1">
                        <a:latin typeface="Cambria Math" panose="02040503050406030204" pitchFamily="18" charset="0"/>
                        <a:ea typeface="Cambria Math" panose="02040503050406030204" pitchFamily="18" charset="0"/>
                      </a:rPr>
                      <m:t>≤0.75</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914400" y="374090"/>
                <a:ext cx="10515600" cy="4979953"/>
              </a:xfrm>
              <a:prstGeom prst="rect">
                <a:avLst/>
              </a:prstGeom>
              <a:blipFill>
                <a:blip r:embed="rId4"/>
                <a:stretch>
                  <a:fillRect l="-603" t="-763" r="-241"/>
                </a:stretch>
              </a:blipFill>
            </p:spPr>
            <p:txBody>
              <a:bodyPr/>
              <a:lstStyle/>
              <a:p>
                <a:r>
                  <a:rPr lang="en-US">
                    <a:noFill/>
                  </a:rPr>
                  <a:t> </a:t>
                </a:r>
              </a:p>
            </p:txBody>
          </p:sp>
        </mc:Fallback>
      </mc:AlternateContent>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100</a:t>
            </a:r>
            <a:endParaRPr i="1" dirty="0">
              <a:latin typeface="Calibri"/>
              <a:ea typeface="Calibri"/>
              <a:cs typeface="Calibri"/>
              <a:sym typeface="Calibri"/>
            </a:endParaRPr>
          </a:p>
        </p:txBody>
      </p:sp>
    </p:spTree>
    <p:extLst>
      <p:ext uri="{BB962C8B-B14F-4D97-AF65-F5344CB8AC3E}">
        <p14:creationId xmlns:p14="http://schemas.microsoft.com/office/powerpoint/2010/main" val="1273125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914400" y="374089"/>
                <a:ext cx="10515600" cy="3921138"/>
              </a:xfrm>
              <a:prstGeom prst="rect">
                <a:avLst/>
              </a:prstGeom>
              <a:noFill/>
            </p:spPr>
            <p:txBody>
              <a:bodyPr wrap="square" rtlCol="0">
                <a:spAutoFit/>
              </a:bodyPr>
              <a:lstStyle/>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The graph of the solution set for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𝑑</m:t>
                        </m:r>
                      </m:num>
                      <m:den>
                        <m:r>
                          <a:rPr lang="en-US" sz="2000" i="1">
                            <a:latin typeface="Cambria Math" panose="02040503050406030204" pitchFamily="18" charset="0"/>
                            <a:ea typeface="Cambria Math" panose="02040503050406030204" pitchFamily="18" charset="0"/>
                          </a:rPr>
                          <m:t>3.7</m:t>
                        </m:r>
                      </m:den>
                    </m:f>
                    <m:r>
                      <a:rPr lang="en-US" sz="2000" i="1">
                        <a:latin typeface="Cambria Math" panose="02040503050406030204" pitchFamily="18" charset="0"/>
                        <a:ea typeface="Cambria Math" panose="02040503050406030204" pitchFamily="18" charset="0"/>
                      </a:rPr>
                      <m:t>≤0.75</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is shown.</a:t>
                </a: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r>
                  <a:rPr lang="en-US" sz="2000" dirty="0">
                    <a:latin typeface="Verdana" panose="020B0604030504040204" pitchFamily="34" charset="0"/>
                    <a:ea typeface="Verdana" panose="020B0604030504040204" pitchFamily="34" charset="0"/>
                    <a:cs typeface="Verdana" panose="020B0604030504040204" pitchFamily="34" charset="0"/>
                  </a:rPr>
                  <a:t>Discuss with your partner how the graph that mathematically represents the solution set is not the best representation of the real-world context. Then, represent the solutions in the real-world context on the number line.</a:t>
                </a: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914400" y="374089"/>
                <a:ext cx="10515600" cy="3921138"/>
              </a:xfrm>
              <a:prstGeom prst="rect">
                <a:avLst/>
              </a:prstGeom>
              <a:blipFill>
                <a:blip r:embed="rId4"/>
                <a:stretch>
                  <a:fillRect r="-241"/>
                </a:stretch>
              </a:blipFill>
            </p:spPr>
            <p:txBody>
              <a:bodyPr/>
              <a:lstStyle/>
              <a:p>
                <a:r>
                  <a:rPr lang="en-US">
                    <a:noFill/>
                  </a:rPr>
                  <a:t> </a:t>
                </a:r>
              </a:p>
            </p:txBody>
          </p:sp>
        </mc:Fallback>
      </mc:AlternateContent>
      <p:sp>
        <p:nvSpPr>
          <p:cNvPr id="11"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100</a:t>
            </a:r>
            <a:endParaRPr i="1" dirty="0">
              <a:latin typeface="Calibri"/>
              <a:ea typeface="Calibri"/>
              <a:cs typeface="Calibri"/>
              <a:sym typeface="Calibri"/>
            </a:endParaRPr>
          </a:p>
        </p:txBody>
      </p:sp>
      <p:grpSp>
        <p:nvGrpSpPr>
          <p:cNvPr id="16" name="Group 15"/>
          <p:cNvGrpSpPr/>
          <p:nvPr/>
        </p:nvGrpSpPr>
        <p:grpSpPr>
          <a:xfrm>
            <a:off x="3063775" y="1238259"/>
            <a:ext cx="5952846" cy="656938"/>
            <a:chOff x="0" y="0"/>
            <a:chExt cx="4678326" cy="516255"/>
          </a:xfrm>
        </p:grpSpPr>
        <p:pic>
          <p:nvPicPr>
            <p:cNvPr id="17" name="Picture 16"/>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06326" y="0"/>
              <a:ext cx="4572000" cy="516255"/>
            </a:xfrm>
            <a:prstGeom prst="rect">
              <a:avLst/>
            </a:prstGeom>
          </p:spPr>
        </p:pic>
        <p:sp>
          <p:nvSpPr>
            <p:cNvPr id="18" name="Oval 17"/>
            <p:cNvSpPr/>
            <p:nvPr/>
          </p:nvSpPr>
          <p:spPr>
            <a:xfrm>
              <a:off x="3274828" y="53162"/>
              <a:ext cx="118745" cy="118745"/>
            </a:xfrm>
            <a:prstGeom prst="ellipse">
              <a:avLst/>
            </a:prstGeom>
            <a:solidFill>
              <a:srgbClr val="7030A0"/>
            </a:solidFill>
            <a:ln w="25400" cap="flat" cmpd="sng" algn="ctr">
              <a:solidFill>
                <a:srgbClr val="7030A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buClrTx/>
                <a:defRPr/>
              </a:pPr>
              <a:endParaRPr lang="en-PH" sz="1800">
                <a:solidFill>
                  <a:sysClr val="window" lastClr="FFFFFF"/>
                </a:solidFill>
                <a:latin typeface="Cambria"/>
                <a:ea typeface="+mn-ea"/>
                <a:cs typeface="+mn-cs"/>
              </a:endParaRPr>
            </a:p>
          </p:txBody>
        </p:sp>
        <p:cxnSp>
          <p:nvCxnSpPr>
            <p:cNvPr id="19" name="Straight Arrow Connector 18"/>
            <p:cNvCxnSpPr/>
            <p:nvPr/>
          </p:nvCxnSpPr>
          <p:spPr>
            <a:xfrm flipH="1">
              <a:off x="0" y="118730"/>
              <a:ext cx="3291840" cy="0"/>
            </a:xfrm>
            <a:prstGeom prst="straightConnector1">
              <a:avLst/>
            </a:prstGeom>
            <a:noFill/>
            <a:ln w="38100" cap="flat" cmpd="sng" algn="ctr">
              <a:solidFill>
                <a:srgbClr val="7030A0"/>
              </a:solidFill>
              <a:prstDash val="solid"/>
              <a:tailEnd type="triangle"/>
            </a:ln>
            <a:effectLst/>
          </p:spPr>
        </p:cxnSp>
      </p:grpSp>
      <p:pic>
        <p:nvPicPr>
          <p:cNvPr id="21" name="Picture 20"/>
          <p:cNvPicPr/>
          <p:nvPr/>
        </p:nvPicPr>
        <p:blipFill>
          <a:blip r:embed="rId5"/>
          <a:stretch>
            <a:fillRect/>
          </a:stretch>
        </p:blipFill>
        <p:spPr>
          <a:xfrm>
            <a:off x="3063775" y="3993187"/>
            <a:ext cx="5949056" cy="671748"/>
          </a:xfrm>
          <a:prstGeom prst="rect">
            <a:avLst/>
          </a:prstGeom>
        </p:spPr>
      </p:pic>
    </p:spTree>
    <p:extLst>
      <p:ext uri="{BB962C8B-B14F-4D97-AF65-F5344CB8AC3E}">
        <p14:creationId xmlns:p14="http://schemas.microsoft.com/office/powerpoint/2010/main" val="3779620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101</a:t>
            </a:r>
            <a:endParaRPr i="1" dirty="0">
              <a:latin typeface="Calibri"/>
              <a:ea typeface="Calibri"/>
              <a:cs typeface="Calibri"/>
              <a:sym typeface="Calibri"/>
            </a:endParaRPr>
          </a:p>
        </p:txBody>
      </p:sp>
      <p:pic>
        <p:nvPicPr>
          <p:cNvPr id="8"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907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lang="en-US" sz="5100" b="1" dirty="0">
              <a:solidFill>
                <a:srgbClr val="54B5D1"/>
              </a:solidFill>
              <a:latin typeface="Verdana"/>
              <a:ea typeface="Verdana"/>
              <a:cs typeface="Verdana"/>
              <a:sym typeface="Verdana"/>
            </a:endParaRPr>
          </a:p>
        </p:txBody>
      </p:sp>
    </p:spTree>
    <p:extLst>
      <p:ext uri="{BB962C8B-B14F-4D97-AF65-F5344CB8AC3E}">
        <p14:creationId xmlns:p14="http://schemas.microsoft.com/office/powerpoint/2010/main" val="2456065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41036"/>
            <a:ext cx="10515600" cy="8678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10.3.3 Bring It Together: Solutions and Mathematical Models in Context</a:t>
            </a:r>
          </a:p>
        </p:txBody>
      </p:sp>
      <p:sp>
        <p:nvSpPr>
          <p:cNvPr id="8" name="TextBox 7">
            <a:extLst>
              <a:ext uri="{FF2B5EF4-FFF2-40B4-BE49-F238E27FC236}">
                <a16:creationId xmlns:a16="http://schemas.microsoft.com/office/drawing/2014/main" id="{669E00F9-F39F-5043-888E-B0A2D8C9AE0F}"/>
              </a:ext>
            </a:extLst>
          </p:cNvPr>
          <p:cNvSpPr txBox="1"/>
          <p:nvPr/>
        </p:nvSpPr>
        <p:spPr>
          <a:xfrm>
            <a:off x="914400" y="1386025"/>
            <a:ext cx="10515600" cy="156966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Each of the inequalities in the Exploration has a mathematical solution set that can be represented on a number line. These graphs are examples of mathematical models. </a:t>
            </a:r>
          </a:p>
        </p:txBody>
      </p:sp>
      <p:pic>
        <p:nvPicPr>
          <p:cNvPr id="10" name="Picture 2" descr="Icon&#10;&#10;Description automatically generated">
            <a:extLst>
              <a:ext uri="{FF2B5EF4-FFF2-40B4-BE49-F238E27FC236}">
                <a16:creationId xmlns:a16="http://schemas.microsoft.com/office/drawing/2014/main" id="{2375E889-EE73-6348-B442-A413C5A27F4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10007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27" name="Group 26"/>
          <p:cNvGrpSpPr/>
          <p:nvPr/>
        </p:nvGrpSpPr>
        <p:grpSpPr>
          <a:xfrm>
            <a:off x="2032200" y="1548890"/>
            <a:ext cx="8280000" cy="4149535"/>
            <a:chOff x="1310448" y="3275735"/>
            <a:chExt cx="8280000" cy="1378170"/>
          </a:xfrm>
          <a:effectLst>
            <a:outerShdw blurRad="50800" dist="38100" dir="2700000" algn="tl" rotWithShape="0">
              <a:prstClr val="black">
                <a:alpha val="40000"/>
              </a:prstClr>
            </a:outerShdw>
          </a:effectLst>
        </p:grpSpPr>
        <p:sp>
          <p:nvSpPr>
            <p:cNvPr id="28" name="Rectangle 27"/>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29" name="Group 28"/>
            <p:cNvGrpSpPr/>
            <p:nvPr/>
          </p:nvGrpSpPr>
          <p:grpSpPr>
            <a:xfrm>
              <a:off x="1310448" y="3275735"/>
              <a:ext cx="8280000" cy="1378170"/>
              <a:chOff x="1310448" y="3275735"/>
              <a:chExt cx="8280000" cy="1378170"/>
            </a:xfrm>
          </p:grpSpPr>
          <p:sp>
            <p:nvSpPr>
              <p:cNvPr id="30" name="Rectangle 29"/>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31" name="Group 30"/>
              <p:cNvGrpSpPr/>
              <p:nvPr/>
            </p:nvGrpSpPr>
            <p:grpSpPr>
              <a:xfrm>
                <a:off x="1310448" y="3275735"/>
                <a:ext cx="8280000" cy="1378170"/>
                <a:chOff x="1310448" y="3275735"/>
                <a:chExt cx="8280000" cy="1378170"/>
              </a:xfrm>
            </p:grpSpPr>
            <p:sp>
              <p:nvSpPr>
                <p:cNvPr id="32" name="Rectangle 31"/>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33" name="Group 32"/>
                <p:cNvGrpSpPr/>
                <p:nvPr/>
              </p:nvGrpSpPr>
              <p:grpSpPr>
                <a:xfrm>
                  <a:off x="1310448" y="3275735"/>
                  <a:ext cx="8280000" cy="1378170"/>
                  <a:chOff x="1310448" y="3275735"/>
                  <a:chExt cx="8280000" cy="1378170"/>
                </a:xfrm>
              </p:grpSpPr>
              <p:sp>
                <p:nvSpPr>
                  <p:cNvPr id="34" name="Rectangle 33"/>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35" name="Group 34"/>
                  <p:cNvGrpSpPr/>
                  <p:nvPr/>
                </p:nvGrpSpPr>
                <p:grpSpPr>
                  <a:xfrm>
                    <a:off x="1310448" y="3275735"/>
                    <a:ext cx="8280000" cy="1378170"/>
                    <a:chOff x="1310448" y="3275735"/>
                    <a:chExt cx="8280000" cy="1378170"/>
                  </a:xfrm>
                </p:grpSpPr>
                <p:sp>
                  <p:nvSpPr>
                    <p:cNvPr id="36" name="Rectangle 35"/>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37" name="Group 36"/>
                    <p:cNvGrpSpPr/>
                    <p:nvPr/>
                  </p:nvGrpSpPr>
                  <p:grpSpPr>
                    <a:xfrm>
                      <a:off x="1310448" y="3275735"/>
                      <a:ext cx="8280000" cy="1378170"/>
                      <a:chOff x="-720852" y="0"/>
                      <a:chExt cx="8280000" cy="1378170"/>
                    </a:xfrm>
                  </p:grpSpPr>
                  <p:sp>
                    <p:nvSpPr>
                      <p:cNvPr id="38" name="Rectangle 37"/>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39" name="Group 38"/>
                      <p:cNvGrpSpPr/>
                      <p:nvPr/>
                    </p:nvGrpSpPr>
                    <p:grpSpPr>
                      <a:xfrm>
                        <a:off x="-720852" y="0"/>
                        <a:ext cx="8280000" cy="1378170"/>
                        <a:chOff x="-720852" y="0"/>
                        <a:chExt cx="8280000" cy="1378170"/>
                      </a:xfrm>
                    </p:grpSpPr>
                    <p:sp>
                      <p:nvSpPr>
                        <p:cNvPr id="40" name="Rectangle 39"/>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41" name="Rectangle 40"/>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solidFill>
                                <a:srgbClr val="00619E"/>
                              </a:solidFill>
                              <a:latin typeface="Cambria" panose="02040503050406030204" pitchFamily="18" charset="0"/>
                              <a:ea typeface="Times New Roman" panose="02020603050405020304" pitchFamily="18" charset="0"/>
                              <a:cs typeface="Times New Roman" panose="02020603050405020304" pitchFamily="18" charset="0"/>
                            </a:rPr>
                            <a:t> </a:t>
                          </a:r>
                          <a:endParaRPr lang="en-US"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42" name="Rounded Rectangle 41"/>
                        <p:cNvSpPr/>
                        <p:nvPr/>
                      </p:nvSpPr>
                      <p:spPr>
                        <a:xfrm>
                          <a:off x="-720852" y="495708"/>
                          <a:ext cx="8280000" cy="882462"/>
                        </a:xfrm>
                        <a:prstGeom prst="roundRect">
                          <a:avLst>
                            <a:gd name="adj" fmla="val 16667"/>
                          </a:avLst>
                        </a:prstGeom>
                        <a:solidFill>
                          <a:srgbClr val="B8E6F5"/>
                        </a:solidFill>
                        <a:ln>
                          <a:noFill/>
                        </a:ln>
                      </p:spPr>
                      <p:txBody>
                        <a:bodyPr spcFirstLastPara="1" wrap="square" lIns="91425" tIns="72000" rIns="91425" bIns="0" anchor="ctr" anchorCtr="0">
                          <a:spAutoFit/>
                        </a:bodyPr>
                        <a:lstStyle/>
                        <a:p>
                          <a:pPr marL="571500">
                            <a:spcAft>
                              <a:spcPts val="1000"/>
                            </a:spcAft>
                          </a:pPr>
                          <a:r>
                            <a:rPr lang="en-US" sz="2000" b="1" dirty="0">
                              <a:solidFill>
                                <a:srgbClr val="00619E"/>
                              </a:solidFill>
                              <a:latin typeface="Verdana" panose="020B0604030504040204" pitchFamily="34" charset="0"/>
                              <a:ea typeface="Verdana" panose="020B0604030504040204" pitchFamily="34" charset="0"/>
                              <a:cs typeface="Verdana" panose="020B0604030504040204" pitchFamily="34" charset="0"/>
                            </a:rPr>
                            <a:t>Mathematical models</a:t>
                          </a: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 are helpful tools used to understand a situation and make predictions. However, sometimes the mathematical model can include parts that do not make sense in a real-world context. When interpreting models to solve problems, it is important to analyze whether aspects of the model make sense in a given context.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grpSp>
                </p:grpSp>
              </p:grpSp>
            </p:grpSp>
          </p:grpSp>
        </p:grpSp>
      </p:grpSp>
      <p:pic>
        <p:nvPicPr>
          <p:cNvPr id="43" name="Shape 37" descr="Icon&#10;&#10;Description automatically generated"/>
          <p:cNvPicPr/>
          <p:nvPr/>
        </p:nvPicPr>
        <p:blipFill rotWithShape="1">
          <a:blip r:embed="rId5" cstate="screen">
            <a:alphaModFix/>
            <a:extLst>
              <a:ext uri="{28A0092B-C50C-407E-A947-70E740481C1C}">
                <a14:useLocalDpi xmlns:a14="http://schemas.microsoft.com/office/drawing/2010/main"/>
              </a:ext>
            </a:extLst>
          </a:blip>
          <a:srcRect/>
          <a:stretch/>
        </p:blipFill>
        <p:spPr>
          <a:xfrm>
            <a:off x="2194252" y="3292792"/>
            <a:ext cx="539750" cy="539115"/>
          </a:xfrm>
          <a:prstGeom prst="rect">
            <a:avLst/>
          </a:prstGeom>
          <a:noFill/>
          <a:ln>
            <a:noFill/>
          </a:ln>
          <a:effectLst>
            <a:outerShdw blurRad="50800" dist="38100" dir="2700000" algn="tl" rotWithShape="0">
              <a:prstClr val="black">
                <a:alpha val="40000"/>
              </a:prstClr>
            </a:outerShdw>
          </a:effectLst>
        </p:spPr>
      </p:pic>
      <p:sp>
        <p:nvSpPr>
          <p:cNvPr id="44"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101</a:t>
            </a:r>
            <a:endParaRPr i="1" dirty="0">
              <a:latin typeface="Calibri"/>
              <a:ea typeface="Calibri"/>
              <a:cs typeface="Calibri"/>
              <a:sym typeface="Calibri"/>
            </a:endParaRPr>
          </a:p>
        </p:txBody>
      </p:sp>
    </p:spTree>
    <p:extLst>
      <p:ext uri="{BB962C8B-B14F-4D97-AF65-F5344CB8AC3E}">
        <p14:creationId xmlns:p14="http://schemas.microsoft.com/office/powerpoint/2010/main" val="3399856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101</a:t>
            </a:r>
            <a:endParaRPr i="1" dirty="0">
              <a:latin typeface="Calibri"/>
              <a:ea typeface="Calibri"/>
              <a:cs typeface="Calibri"/>
              <a:sym typeface="Calibri"/>
            </a:endParaRPr>
          </a:p>
        </p:txBody>
      </p:sp>
      <p:sp>
        <p:nvSpPr>
          <p:cNvPr id="7" name="Google Shape;313;g104476d1465_1_39"/>
          <p:cNvSpPr txBox="1">
            <a:spLocks/>
          </p:cNvSpPr>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a:solidFill>
                  <a:srgbClr val="33BEA6"/>
                </a:solidFill>
                <a:latin typeface="Verdana"/>
                <a:ea typeface="Verdana"/>
                <a:cs typeface="Verdana"/>
                <a:sym typeface="Verdana"/>
              </a:rPr>
              <a:t>Exploration</a:t>
            </a:r>
            <a:endParaRPr lang="en-US" sz="5100" b="1" dirty="0">
              <a:solidFill>
                <a:srgbClr val="33BEA6"/>
              </a:solidFill>
              <a:latin typeface="Verdana"/>
              <a:ea typeface="Verdana"/>
              <a:cs typeface="Verdana"/>
              <a:sym typeface="Verdana"/>
            </a:endParaRPr>
          </a:p>
        </p:txBody>
      </p:sp>
      <p:pic>
        <p:nvPicPr>
          <p:cNvPr id="9"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444861" y="2850881"/>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1117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10.3.4 Exploration: Matching Inequalities to Solutions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914400" y="1386026"/>
                <a:ext cx="10515600"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tables by substituting each value of </a:t>
                </a:r>
                <a14:m>
                  <m:oMath xmlns:m="http://schemas.openxmlformats.org/officeDocument/2006/math">
                    <m:r>
                      <a:rPr lang="en-US" sz="2400" i="1">
                        <a:latin typeface="Cambria Math" panose="02040503050406030204" pitchFamily="18" charset="0"/>
                        <a:ea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to determine if it is a solution to each inequality.</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914400" y="1386026"/>
                <a:ext cx="10515600" cy="1200329"/>
              </a:xfrm>
              <a:prstGeom prst="rect">
                <a:avLst/>
              </a:prstGeom>
              <a:blipFill>
                <a:blip r:embed="rId5"/>
                <a:stretch>
                  <a:fillRect l="-965" t="-3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097087787"/>
                  </p:ext>
                </p:extLst>
              </p:nvPr>
            </p:nvGraphicFramePr>
            <p:xfrm>
              <a:off x="2568342" y="2758751"/>
              <a:ext cx="7380408" cy="3576095"/>
            </p:xfrm>
            <a:graphic>
              <a:graphicData uri="http://schemas.openxmlformats.org/drawingml/2006/table">
                <a:tbl>
                  <a:tblPr firstRow="1" firstCol="1" bandRow="1">
                    <a:tableStyleId>{5940675A-B579-460E-94D1-54222C63F5DA}</a:tableStyleId>
                  </a:tblPr>
                  <a:tblGrid>
                    <a:gridCol w="1377132">
                      <a:extLst>
                        <a:ext uri="{9D8B030D-6E8A-4147-A177-3AD203B41FA5}">
                          <a16:colId xmlns:a16="http://schemas.microsoft.com/office/drawing/2014/main" val="20000"/>
                        </a:ext>
                      </a:extLst>
                    </a:gridCol>
                    <a:gridCol w="2231828">
                      <a:extLst>
                        <a:ext uri="{9D8B030D-6E8A-4147-A177-3AD203B41FA5}">
                          <a16:colId xmlns:a16="http://schemas.microsoft.com/office/drawing/2014/main" val="20001"/>
                        </a:ext>
                      </a:extLst>
                    </a:gridCol>
                    <a:gridCol w="2232557">
                      <a:extLst>
                        <a:ext uri="{9D8B030D-6E8A-4147-A177-3AD203B41FA5}">
                          <a16:colId xmlns:a16="http://schemas.microsoft.com/office/drawing/2014/main" val="20002"/>
                        </a:ext>
                      </a:extLst>
                    </a:gridCol>
                    <a:gridCol w="1538891">
                      <a:extLst>
                        <a:ext uri="{9D8B030D-6E8A-4147-A177-3AD203B41FA5}">
                          <a16:colId xmlns:a16="http://schemas.microsoft.com/office/drawing/2014/main" val="20003"/>
                        </a:ext>
                      </a:extLst>
                    </a:gridCol>
                  </a:tblGrid>
                  <a:tr h="71521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 of </a:t>
                          </a:r>
                          <a14:m>
                            <m:oMath xmlns:m="http://schemas.openxmlformats.org/officeDocument/2006/math">
                              <m:r>
                                <a:rPr lang="en-US" sz="2000" b="1" i="1">
                                  <a:effectLst/>
                                  <a:latin typeface="Cambria Math" panose="02040503050406030204" pitchFamily="18" charset="0"/>
                                  <a:ea typeface="Cambria Math" panose="02040503050406030204" pitchFamily="18" charset="0"/>
                                </a:rPr>
                                <m:t>𝒙</m:t>
                              </m:r>
                            </m:oMath>
                          </a14:m>
                          <a:endParaRPr lang="en-US" sz="2000" b="1" i="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What is the value of </a:t>
                          </a:r>
                          <a14:m>
                            <m:oMath xmlns:m="http://schemas.openxmlformats.org/officeDocument/2006/math">
                              <m:r>
                                <a:rPr lang="en-US" sz="2000" b="1">
                                  <a:effectLst/>
                                  <a:latin typeface="Cambria Math" panose="02040503050406030204" pitchFamily="18" charset="0"/>
                                  <a:ea typeface="Cambria Math" panose="02040503050406030204" pitchFamily="18" charset="0"/>
                                </a:rPr>
                                <m:t>𝟑</m:t>
                              </m:r>
                              <m:r>
                                <a:rPr lang="en-US" sz="2000" b="1" i="1">
                                  <a:effectLst/>
                                  <a:latin typeface="Cambria Math" panose="02040503050406030204" pitchFamily="18" charset="0"/>
                                  <a:ea typeface="Cambria Math" panose="02040503050406030204" pitchFamily="18" charset="0"/>
                                </a:rPr>
                                <m:t>𝒙</m:t>
                              </m:r>
                            </m:oMath>
                          </a14:m>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Is </a:t>
                          </a:r>
                          <a14:m>
                            <m:oMath xmlns:m="http://schemas.openxmlformats.org/officeDocument/2006/math">
                              <m:r>
                                <a:rPr lang="en-US" sz="2000" b="1">
                                  <a:effectLst/>
                                  <a:latin typeface="Cambria Math" panose="02040503050406030204" pitchFamily="18" charset="0"/>
                                  <a:ea typeface="Cambria Math" panose="02040503050406030204" pitchFamily="18" charset="0"/>
                                </a:rPr>
                                <m:t>𝟑</m:t>
                              </m:r>
                              <m:r>
                                <a:rPr lang="en-US" sz="2000" b="1" i="1">
                                  <a:effectLst/>
                                  <a:latin typeface="Cambria Math" panose="02040503050406030204" pitchFamily="18" charset="0"/>
                                  <a:ea typeface="Cambria Math" panose="02040503050406030204" pitchFamily="18" charset="0"/>
                                </a:rPr>
                                <m:t>𝒙</m:t>
                              </m:r>
                              <m:r>
                                <a:rPr lang="en-US" sz="2000" b="1">
                                  <a:effectLst/>
                                  <a:latin typeface="Cambria Math" panose="02040503050406030204" pitchFamily="18" charset="0"/>
                                  <a:ea typeface="Cambria Math" panose="02040503050406030204" pitchFamily="18" charset="0"/>
                                </a:rPr>
                                <m:t>≥−</m:t>
                              </m:r>
                              <m:r>
                                <a:rPr lang="en-US" sz="2000" b="1">
                                  <a:effectLst/>
                                  <a:latin typeface="Cambria Math" panose="02040503050406030204" pitchFamily="18" charset="0"/>
                                  <a:ea typeface="Cambria Math" panose="02040503050406030204" pitchFamily="18" charset="0"/>
                                </a:rPr>
                                <m:t>𝟏𝟓</m:t>
                              </m:r>
                            </m:oMath>
                          </a14:m>
                          <a:r>
                            <a:rPr lang="en-US" sz="2000" b="1" dirty="0">
                              <a:effectLst/>
                              <a:latin typeface="Cambria Math" panose="02040503050406030204" pitchFamily="18" charset="0"/>
                              <a:ea typeface="Cambria Math" panose="02040503050406030204" pitchFamily="18" charset="0"/>
                              <a:cs typeface="Verdana" panose="020B0604030504040204" pitchFamily="34" charset="0"/>
                            </a:rPr>
                            <a:t> </a:t>
                          </a:r>
                          <a:r>
                            <a:rPr lang="en-US" sz="2000" b="1" dirty="0">
                              <a:effectLst/>
                              <a:latin typeface="Verdana" panose="020B0604030504040204" pitchFamily="34" charset="0"/>
                              <a:ea typeface="Verdana" panose="020B0604030504040204" pitchFamily="34" charset="0"/>
                              <a:cs typeface="Verdana" panose="020B0604030504040204" pitchFamily="34" charset="0"/>
                            </a:rPr>
                            <a:t>true or false?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Solution?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1521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1521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−7.4</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15219">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2</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8</m:t>
                                  </m:r>
                                </m:den>
                              </m:f>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1521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097087787"/>
                  </p:ext>
                </p:extLst>
              </p:nvPr>
            </p:nvGraphicFramePr>
            <p:xfrm>
              <a:off x="2568342" y="2758751"/>
              <a:ext cx="7380408" cy="3576095"/>
            </p:xfrm>
            <a:graphic>
              <a:graphicData uri="http://schemas.openxmlformats.org/drawingml/2006/table">
                <a:tbl>
                  <a:tblPr firstRow="1" firstCol="1" bandRow="1">
                    <a:tableStyleId>{5940675A-B579-460E-94D1-54222C63F5DA}</a:tableStyleId>
                  </a:tblPr>
                  <a:tblGrid>
                    <a:gridCol w="1377132">
                      <a:extLst>
                        <a:ext uri="{9D8B030D-6E8A-4147-A177-3AD203B41FA5}">
                          <a16:colId xmlns:a16="http://schemas.microsoft.com/office/drawing/2014/main" val="20000"/>
                        </a:ext>
                      </a:extLst>
                    </a:gridCol>
                    <a:gridCol w="2231828">
                      <a:extLst>
                        <a:ext uri="{9D8B030D-6E8A-4147-A177-3AD203B41FA5}">
                          <a16:colId xmlns:a16="http://schemas.microsoft.com/office/drawing/2014/main" val="20001"/>
                        </a:ext>
                      </a:extLst>
                    </a:gridCol>
                    <a:gridCol w="2232557">
                      <a:extLst>
                        <a:ext uri="{9D8B030D-6E8A-4147-A177-3AD203B41FA5}">
                          <a16:colId xmlns:a16="http://schemas.microsoft.com/office/drawing/2014/main" val="20002"/>
                        </a:ext>
                      </a:extLst>
                    </a:gridCol>
                    <a:gridCol w="1538891">
                      <a:extLst>
                        <a:ext uri="{9D8B030D-6E8A-4147-A177-3AD203B41FA5}">
                          <a16:colId xmlns:a16="http://schemas.microsoft.com/office/drawing/2014/main" val="20003"/>
                        </a:ext>
                      </a:extLst>
                    </a:gridCol>
                  </a:tblGrid>
                  <a:tr h="71521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917" t="-5357" r="-435780" b="-42142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62500" t="-5357" r="-169886" b="-421429"/>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162500" t="-5357" r="-69886" b="-421429"/>
                          </a:stretch>
                        </a:blip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Solution?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1521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917" t="-103509" r="-435780" b="-314035"/>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1521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917" t="-207143" r="-435780" b="-21964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1521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917" t="-301754" r="-435780" b="-115789"/>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1521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917" t="-408929" r="-435780" b="-17857"/>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101</a:t>
            </a:r>
            <a:endParaRPr i="1" dirty="0">
              <a:latin typeface="Calibri"/>
              <a:ea typeface="Calibri"/>
              <a:cs typeface="Calibri"/>
              <a:sym typeface="Calibri"/>
            </a:endParaRPr>
          </a:p>
        </p:txBody>
      </p:sp>
    </p:spTree>
    <p:extLst>
      <p:ext uri="{BB962C8B-B14F-4D97-AF65-F5344CB8AC3E}">
        <p14:creationId xmlns:p14="http://schemas.microsoft.com/office/powerpoint/2010/main" val="1508286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2080351218"/>
                  </p:ext>
                </p:extLst>
              </p:nvPr>
            </p:nvGraphicFramePr>
            <p:xfrm>
              <a:off x="2568342" y="1013835"/>
              <a:ext cx="7380408" cy="3576095"/>
            </p:xfrm>
            <a:graphic>
              <a:graphicData uri="http://schemas.openxmlformats.org/drawingml/2006/table">
                <a:tbl>
                  <a:tblPr firstRow="1" firstCol="1" bandRow="1">
                    <a:tableStyleId>{5940675A-B579-460E-94D1-54222C63F5DA}</a:tableStyleId>
                  </a:tblPr>
                  <a:tblGrid>
                    <a:gridCol w="1377132">
                      <a:extLst>
                        <a:ext uri="{9D8B030D-6E8A-4147-A177-3AD203B41FA5}">
                          <a16:colId xmlns:a16="http://schemas.microsoft.com/office/drawing/2014/main" val="20000"/>
                        </a:ext>
                      </a:extLst>
                    </a:gridCol>
                    <a:gridCol w="2231828">
                      <a:extLst>
                        <a:ext uri="{9D8B030D-6E8A-4147-A177-3AD203B41FA5}">
                          <a16:colId xmlns:a16="http://schemas.microsoft.com/office/drawing/2014/main" val="20001"/>
                        </a:ext>
                      </a:extLst>
                    </a:gridCol>
                    <a:gridCol w="2232557">
                      <a:extLst>
                        <a:ext uri="{9D8B030D-6E8A-4147-A177-3AD203B41FA5}">
                          <a16:colId xmlns:a16="http://schemas.microsoft.com/office/drawing/2014/main" val="20002"/>
                        </a:ext>
                      </a:extLst>
                    </a:gridCol>
                    <a:gridCol w="1538891">
                      <a:extLst>
                        <a:ext uri="{9D8B030D-6E8A-4147-A177-3AD203B41FA5}">
                          <a16:colId xmlns:a16="http://schemas.microsoft.com/office/drawing/2014/main" val="20003"/>
                        </a:ext>
                      </a:extLst>
                    </a:gridCol>
                  </a:tblGrid>
                  <a:tr h="71521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 of </a:t>
                          </a:r>
                          <a14:m>
                            <m:oMath xmlns:m="http://schemas.openxmlformats.org/officeDocument/2006/math">
                              <m:r>
                                <a:rPr lang="en-US" sz="2000" b="1" i="1" smtClean="0">
                                  <a:effectLst/>
                                  <a:latin typeface="Cambria Math" panose="02040503050406030204" pitchFamily="18" charset="0"/>
                                  <a:ea typeface="Cambria Math" panose="02040503050406030204" pitchFamily="18" charset="0"/>
                                </a:rPr>
                                <m:t>𝒙</m:t>
                              </m:r>
                            </m:oMath>
                          </a14:m>
                          <a:endParaRPr lang="en-US" sz="2000" b="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i="0" u="none" strike="noStrike" cap="none" dirty="0">
                              <a:solidFill>
                                <a:schemeClr val="tx1"/>
                              </a:solidFill>
                              <a:effectLst/>
                              <a:latin typeface="Verdana" panose="020B0604030504040204" pitchFamily="34" charset="0"/>
                              <a:ea typeface="Verdana" panose="020B0604030504040204" pitchFamily="34" charset="0"/>
                              <a:cs typeface="Verdana" panose="020B0604030504040204" pitchFamily="34" charset="0"/>
                              <a:sym typeface="Arial"/>
                            </a:rPr>
                            <a:t>What is the value of </a:t>
                          </a:r>
                          <a14:m>
                            <m:oMath xmlns:m="http://schemas.openxmlformats.org/officeDocument/2006/math">
                              <m:sPre>
                                <m:sPrePr>
                                  <m:ctrlP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ctrlPr>
                                </m:sPrePr>
                                <m:sub/>
                                <m:sup>
                                  <m: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t>−</m:t>
                                  </m:r>
                                </m:sup>
                                <m:e>
                                  <m: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t>𝟑</m:t>
                                  </m:r>
                                  <m:r>
                                    <a:rPr lang="en-US" sz="2000" b="1" i="1" smtClean="0">
                                      <a:effectLst/>
                                      <a:latin typeface="Cambria Math" panose="02040503050406030204" pitchFamily="18" charset="0"/>
                                      <a:ea typeface="Cambria Math" panose="02040503050406030204" pitchFamily="18" charset="0"/>
                                    </a:rPr>
                                    <m:t>𝒙</m:t>
                                  </m:r>
                                </m:e>
                              </m:sPre>
                            </m:oMath>
                          </a14:m>
                          <a:r>
                            <a:rPr lang="en-US" sz="2000" b="1" i="0" u="none" strike="noStrike" cap="none" dirty="0">
                              <a:solidFill>
                                <a:schemeClr val="tx1"/>
                              </a:solidFill>
                              <a:effectLst/>
                              <a:latin typeface="Verdana" panose="020B0604030504040204" pitchFamily="34" charset="0"/>
                              <a:ea typeface="Verdana" panose="020B0604030504040204" pitchFamily="34" charset="0"/>
                              <a:cs typeface="Verdana" panose="020B0604030504040204" pitchFamily="34" charset="0"/>
                              <a:sym typeface="Arial"/>
                            </a:rPr>
                            <a:t>?</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i="0" u="none" strike="noStrike" cap="none" dirty="0">
                              <a:solidFill>
                                <a:schemeClr val="tx1"/>
                              </a:solidFill>
                              <a:effectLst/>
                              <a:latin typeface="Verdana" panose="020B0604030504040204" pitchFamily="34" charset="0"/>
                              <a:ea typeface="Verdana" panose="020B0604030504040204" pitchFamily="34" charset="0"/>
                              <a:cs typeface="Verdana" panose="020B0604030504040204" pitchFamily="34" charset="0"/>
                              <a:sym typeface="Arial"/>
                            </a:rPr>
                            <a:t>Is </a:t>
                          </a:r>
                          <a14:m>
                            <m:oMath xmlns:m="http://schemas.openxmlformats.org/officeDocument/2006/math">
                              <m:sPre>
                                <m:sPrePr>
                                  <m:ctrlP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ctrlPr>
                                </m:sPrePr>
                                <m:sub/>
                                <m:sup>
                                  <m: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t>−</m:t>
                                  </m:r>
                                </m:sup>
                                <m:e>
                                  <m: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t>𝟑</m:t>
                                  </m:r>
                                  <m: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t>𝒙</m:t>
                                  </m:r>
                                </m:e>
                              </m:sPre>
                              <m: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t>≥</m:t>
                              </m:r>
                              <m: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t>𝟏𝟓</m:t>
                              </m:r>
                            </m:oMath>
                          </a14:m>
                          <a:r>
                            <a:rPr lang="en-US" sz="2000" b="1" i="0" u="none" strike="noStrike" cap="none" dirty="0">
                              <a:solidFill>
                                <a:schemeClr val="tx1"/>
                              </a:solidFill>
                              <a:effectLst/>
                              <a:latin typeface="Cambria Math" panose="02040503050406030204" pitchFamily="18" charset="0"/>
                              <a:ea typeface="Cambria Math" panose="02040503050406030204" pitchFamily="18" charset="0"/>
                              <a:cs typeface="Verdana" panose="020B0604030504040204" pitchFamily="34" charset="0"/>
                              <a:sym typeface="Arial"/>
                            </a:rPr>
                            <a:t> </a:t>
                          </a:r>
                          <a:r>
                            <a:rPr lang="en-US" sz="2000" b="1" i="0" u="none" strike="noStrike" cap="none" dirty="0">
                              <a:solidFill>
                                <a:schemeClr val="tx1"/>
                              </a:solidFill>
                              <a:effectLst/>
                              <a:latin typeface="Verdana" panose="020B0604030504040204" pitchFamily="34" charset="0"/>
                              <a:ea typeface="Verdana" panose="020B0604030504040204" pitchFamily="34" charset="0"/>
                              <a:cs typeface="Verdana" panose="020B0604030504040204" pitchFamily="34" charset="0"/>
                              <a:sym typeface="Arial"/>
                            </a:rPr>
                            <a:t>true or false?</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Solution?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1521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−10</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1521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−7.4</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15219">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2</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8</m:t>
                                  </m:r>
                                </m:den>
                              </m:f>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1521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oMath>
                            </m:oMathPara>
                          </a14:m>
                          <a:endParaRPr lang="en-US" sz="20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2080351218"/>
                  </p:ext>
                </p:extLst>
              </p:nvPr>
            </p:nvGraphicFramePr>
            <p:xfrm>
              <a:off x="2568342" y="1013835"/>
              <a:ext cx="7380408" cy="3576095"/>
            </p:xfrm>
            <a:graphic>
              <a:graphicData uri="http://schemas.openxmlformats.org/drawingml/2006/table">
                <a:tbl>
                  <a:tblPr firstRow="1" firstCol="1" bandRow="1">
                    <a:tableStyleId>{5940675A-B579-460E-94D1-54222C63F5DA}</a:tableStyleId>
                  </a:tblPr>
                  <a:tblGrid>
                    <a:gridCol w="1377132">
                      <a:extLst>
                        <a:ext uri="{9D8B030D-6E8A-4147-A177-3AD203B41FA5}">
                          <a16:colId xmlns:a16="http://schemas.microsoft.com/office/drawing/2014/main" val="20000"/>
                        </a:ext>
                      </a:extLst>
                    </a:gridCol>
                    <a:gridCol w="2231828">
                      <a:extLst>
                        <a:ext uri="{9D8B030D-6E8A-4147-A177-3AD203B41FA5}">
                          <a16:colId xmlns:a16="http://schemas.microsoft.com/office/drawing/2014/main" val="20001"/>
                        </a:ext>
                      </a:extLst>
                    </a:gridCol>
                    <a:gridCol w="2232557">
                      <a:extLst>
                        <a:ext uri="{9D8B030D-6E8A-4147-A177-3AD203B41FA5}">
                          <a16:colId xmlns:a16="http://schemas.microsoft.com/office/drawing/2014/main" val="20002"/>
                        </a:ext>
                      </a:extLst>
                    </a:gridCol>
                    <a:gridCol w="1538891">
                      <a:extLst>
                        <a:ext uri="{9D8B030D-6E8A-4147-A177-3AD203B41FA5}">
                          <a16:colId xmlns:a16="http://schemas.microsoft.com/office/drawing/2014/main" val="20003"/>
                        </a:ext>
                      </a:extLst>
                    </a:gridCol>
                  </a:tblGrid>
                  <a:tr h="71521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917" t="-5263" r="-435780" b="-41403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62500" t="-5263" r="-169886" b="-414035"/>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62500" t="-5263" r="-69886" b="-414035"/>
                          </a:stretch>
                        </a:blip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Solution?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1521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917" t="-107143" r="-435780" b="-321429"/>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1521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917" t="-203509" r="-435780" b="-215789"/>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1521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917" t="-308929" r="-435780" b="-119643"/>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1521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917" t="-401754" r="-435780" b="-17544"/>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101</a:t>
            </a:r>
            <a:endParaRPr i="1" dirty="0">
              <a:latin typeface="Calibri"/>
              <a:ea typeface="Calibri"/>
              <a:cs typeface="Calibri"/>
              <a:sym typeface="Calibri"/>
            </a:endParaRPr>
          </a:p>
        </p:txBody>
      </p:sp>
    </p:spTree>
    <p:extLst>
      <p:ext uri="{BB962C8B-B14F-4D97-AF65-F5344CB8AC3E}">
        <p14:creationId xmlns:p14="http://schemas.microsoft.com/office/powerpoint/2010/main" val="772273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914400" y="374089"/>
                <a:ext cx="10515600" cy="1569660"/>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solution sets for the inequalities </a:t>
                </a:r>
                <a14:m>
                  <m:oMath xmlns:m="http://schemas.openxmlformats.org/officeDocument/2006/math">
                    <m:r>
                      <a:rPr lang="en-US" sz="2400" i="1">
                        <a:latin typeface="Cambria Math" panose="02040503050406030204" pitchFamily="18" charset="0"/>
                        <a:ea typeface="Cambria Math" panose="02040503050406030204" pitchFamily="18" charset="0"/>
                      </a:rPr>
                      <m:t>3</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≥−15</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sPre>
                      <m:sPrePr>
                        <m:ctrlPr>
                          <a:rPr lang="en-US" sz="2400" i="1">
                            <a:latin typeface="Cambria Math" panose="02040503050406030204" pitchFamily="18" charset="0"/>
                            <a:ea typeface="Cambria Math" panose="02040503050406030204" pitchFamily="18" charset="0"/>
                          </a:rPr>
                        </m:ctrlPr>
                      </m:sPrePr>
                      <m:sub/>
                      <m:sup>
                        <m:r>
                          <a:rPr lang="en-US" sz="2400" i="1">
                            <a:latin typeface="Cambria Math" panose="02040503050406030204" pitchFamily="18" charset="0"/>
                            <a:ea typeface="Cambria Math" panose="02040503050406030204" pitchFamily="18" charset="0"/>
                          </a:rPr>
                          <m:t>−</m:t>
                        </m:r>
                      </m:sup>
                      <m:e>
                        <m:r>
                          <a:rPr lang="en-US" sz="2400" i="1">
                            <a:latin typeface="Cambria Math" panose="02040503050406030204" pitchFamily="18" charset="0"/>
                            <a:ea typeface="Cambria Math" panose="02040503050406030204" pitchFamily="18" charset="0"/>
                          </a:rPr>
                          <m:t>3</m:t>
                        </m:r>
                        <m:r>
                          <a:rPr lang="en-US" sz="2400" i="1">
                            <a:latin typeface="Cambria Math" panose="02040503050406030204" pitchFamily="18" charset="0"/>
                            <a:ea typeface="Cambria Math" panose="02040503050406030204" pitchFamily="18" charset="0"/>
                          </a:rPr>
                          <m:t>𝑥</m:t>
                        </m:r>
                      </m:e>
                    </m:sPre>
                    <m:r>
                      <a:rPr lang="en-US" sz="2400" i="1">
                        <a:latin typeface="Cambria Math" panose="02040503050406030204" pitchFamily="18" charset="0"/>
                        <a:ea typeface="Cambria Math" panose="02040503050406030204" pitchFamily="18" charset="0"/>
                      </a:rPr>
                      <m:t>≥15</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are given in the table. Write the inequality that matches each graph of the solution set.</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914400" y="374089"/>
                <a:ext cx="10515600" cy="1569660"/>
              </a:xfrm>
              <a:prstGeom prst="rect">
                <a:avLst/>
              </a:prstGeom>
              <a:blipFill>
                <a:blip r:embed="rId4"/>
                <a:stretch>
                  <a:fillRect l="-965" t="-4000" r="-1809"/>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338383" y="2120625"/>
            <a:ext cx="7996518" cy="1982743"/>
          </a:xfrm>
          <a:prstGeom prst="rect">
            <a:avLst/>
          </a:prstGeom>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102</a:t>
            </a:r>
            <a:endParaRPr i="1" dirty="0">
              <a:latin typeface="Calibri"/>
              <a:ea typeface="Calibri"/>
              <a:cs typeface="Calibri"/>
              <a:sym typeface="Calibri"/>
            </a:endParaRPr>
          </a:p>
        </p:txBody>
      </p:sp>
    </p:spTree>
    <p:extLst>
      <p:ext uri="{BB962C8B-B14F-4D97-AF65-F5344CB8AC3E}">
        <p14:creationId xmlns:p14="http://schemas.microsoft.com/office/powerpoint/2010/main" val="1627922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914400" y="374090"/>
                <a:ext cx="10515600" cy="1200329"/>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Complete the tables by substituting each value of </a:t>
                </a:r>
                <a14:m>
                  <m:oMath xmlns:m="http://schemas.openxmlformats.org/officeDocument/2006/math">
                    <m:r>
                      <a:rPr lang="en-US" sz="2400" i="1">
                        <a:latin typeface="Cambria Math" panose="02040503050406030204" pitchFamily="18" charset="0"/>
                        <a:ea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to determine if it is a solution to each inequality.</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914400" y="374090"/>
                <a:ext cx="10515600" cy="1200329"/>
              </a:xfrm>
              <a:prstGeom prst="rect">
                <a:avLst/>
              </a:prstGeom>
              <a:blipFill>
                <a:blip r:embed="rId4"/>
                <a:stretch>
                  <a:fillRect l="-965" t="-4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076370134"/>
                  </p:ext>
                </p:extLst>
              </p:nvPr>
            </p:nvGraphicFramePr>
            <p:xfrm>
              <a:off x="2573843" y="1777192"/>
              <a:ext cx="7293019" cy="3681645"/>
            </p:xfrm>
            <a:graphic>
              <a:graphicData uri="http://schemas.openxmlformats.org/drawingml/2006/table">
                <a:tbl>
                  <a:tblPr firstRow="1" firstCol="1" bandRow="1">
                    <a:tableStyleId>{5940675A-B579-460E-94D1-54222C63F5DA}</a:tableStyleId>
                  </a:tblPr>
                  <a:tblGrid>
                    <a:gridCol w="1360826">
                      <a:extLst>
                        <a:ext uri="{9D8B030D-6E8A-4147-A177-3AD203B41FA5}">
                          <a16:colId xmlns:a16="http://schemas.microsoft.com/office/drawing/2014/main" val="20000"/>
                        </a:ext>
                      </a:extLst>
                    </a:gridCol>
                    <a:gridCol w="2205402">
                      <a:extLst>
                        <a:ext uri="{9D8B030D-6E8A-4147-A177-3AD203B41FA5}">
                          <a16:colId xmlns:a16="http://schemas.microsoft.com/office/drawing/2014/main" val="20001"/>
                        </a:ext>
                      </a:extLst>
                    </a:gridCol>
                    <a:gridCol w="2206122">
                      <a:extLst>
                        <a:ext uri="{9D8B030D-6E8A-4147-A177-3AD203B41FA5}">
                          <a16:colId xmlns:a16="http://schemas.microsoft.com/office/drawing/2014/main" val="20002"/>
                        </a:ext>
                      </a:extLst>
                    </a:gridCol>
                    <a:gridCol w="1520669">
                      <a:extLst>
                        <a:ext uri="{9D8B030D-6E8A-4147-A177-3AD203B41FA5}">
                          <a16:colId xmlns:a16="http://schemas.microsoft.com/office/drawing/2014/main" val="20003"/>
                        </a:ext>
                      </a:extLst>
                    </a:gridCol>
                  </a:tblGrid>
                  <a:tr h="82880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 of </a:t>
                          </a:r>
                          <a14:m>
                            <m:oMath xmlns:m="http://schemas.openxmlformats.org/officeDocument/2006/math">
                              <m:r>
                                <a:rPr lang="en-US" sz="2000" b="1" i="1" smtClean="0">
                                  <a:effectLst/>
                                  <a:latin typeface="Cambria Math" panose="02040503050406030204" pitchFamily="18" charset="0"/>
                                  <a:ea typeface="Cambria Math" panose="02040503050406030204" pitchFamily="18" charset="0"/>
                                </a:rPr>
                                <m:t>𝒙</m:t>
                              </m:r>
                            </m:oMath>
                          </a14:m>
                          <a:endParaRPr lang="en-US" sz="2000" b="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What is the value of </a:t>
                          </a:r>
                          <a14:m>
                            <m:oMath xmlns:m="http://schemas.openxmlformats.org/officeDocument/2006/math">
                              <m:f>
                                <m:fPr>
                                  <m:ctrlPr>
                                    <a:rPr lang="en-US" sz="2000" b="1" i="1">
                                      <a:effectLst/>
                                      <a:latin typeface="Cambria Math" panose="02040503050406030204" pitchFamily="18" charset="0"/>
                                      <a:ea typeface="Cambria Math" panose="02040503050406030204" pitchFamily="18" charset="0"/>
                                    </a:rPr>
                                  </m:ctrlPr>
                                </m:fPr>
                                <m:num>
                                  <m:r>
                                    <a:rPr lang="en-US" sz="2000" b="1" i="1">
                                      <a:effectLst/>
                                      <a:latin typeface="Cambria Math" panose="02040503050406030204" pitchFamily="18" charset="0"/>
                                      <a:ea typeface="Cambria Math" panose="02040503050406030204" pitchFamily="18" charset="0"/>
                                    </a:rPr>
                                    <m:t>𝒙</m:t>
                                  </m:r>
                                </m:num>
                                <m:den>
                                  <m:r>
                                    <a:rPr lang="en-US" sz="2000" b="1">
                                      <a:effectLst/>
                                      <a:latin typeface="Cambria Math" panose="02040503050406030204" pitchFamily="18" charset="0"/>
                                      <a:ea typeface="Cambria Math" panose="02040503050406030204" pitchFamily="18" charset="0"/>
                                    </a:rPr>
                                    <m:t>−</m:t>
                                  </m:r>
                                  <m:r>
                                    <a:rPr lang="en-US" sz="2000" b="1">
                                      <a:effectLst/>
                                      <a:latin typeface="Cambria Math" panose="02040503050406030204" pitchFamily="18" charset="0"/>
                                      <a:ea typeface="Cambria Math" panose="02040503050406030204" pitchFamily="18" charset="0"/>
                                    </a:rPr>
                                    <m:t>𝟏</m:t>
                                  </m:r>
                                </m:den>
                              </m:f>
                            </m:oMath>
                          </a14:m>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Is </a:t>
                          </a:r>
                          <a14:m>
                            <m:oMath xmlns:m="http://schemas.openxmlformats.org/officeDocument/2006/math">
                              <m:f>
                                <m:fPr>
                                  <m:ctrlPr>
                                    <a:rPr lang="en-US" sz="2000" b="1" i="1">
                                      <a:effectLst/>
                                      <a:latin typeface="Cambria Math" panose="02040503050406030204" pitchFamily="18" charset="0"/>
                                      <a:ea typeface="Cambria Math" panose="02040503050406030204" pitchFamily="18" charset="0"/>
                                    </a:rPr>
                                  </m:ctrlPr>
                                </m:fPr>
                                <m:num>
                                  <m:r>
                                    <a:rPr lang="en-US" sz="2000" b="1" i="1">
                                      <a:effectLst/>
                                      <a:latin typeface="Cambria Math" panose="02040503050406030204" pitchFamily="18" charset="0"/>
                                      <a:ea typeface="Cambria Math" panose="02040503050406030204" pitchFamily="18" charset="0"/>
                                    </a:rPr>
                                    <m:t>𝒙</m:t>
                                  </m:r>
                                </m:num>
                                <m:den>
                                  <m:r>
                                    <a:rPr lang="en-US" sz="2000" b="1">
                                      <a:effectLst/>
                                      <a:latin typeface="Cambria Math" panose="02040503050406030204" pitchFamily="18" charset="0"/>
                                      <a:ea typeface="Cambria Math" panose="02040503050406030204" pitchFamily="18" charset="0"/>
                                    </a:rPr>
                                    <m:t>−</m:t>
                                  </m:r>
                                  <m:r>
                                    <a:rPr lang="en-US" sz="2000" b="1">
                                      <a:effectLst/>
                                      <a:latin typeface="Cambria Math" panose="02040503050406030204" pitchFamily="18" charset="0"/>
                                      <a:ea typeface="Cambria Math" panose="02040503050406030204" pitchFamily="18" charset="0"/>
                                    </a:rPr>
                                    <m:t>𝟏</m:t>
                                  </m:r>
                                </m:den>
                              </m:f>
                              <m:r>
                                <a:rPr lang="en-US" sz="2000" b="1">
                                  <a:effectLst/>
                                  <a:latin typeface="Cambria Math" panose="02040503050406030204" pitchFamily="18" charset="0"/>
                                  <a:ea typeface="Cambria Math" panose="02040503050406030204" pitchFamily="18" charset="0"/>
                                </a:rPr>
                                <m:t>≤</m:t>
                              </m:r>
                              <m:r>
                                <a:rPr lang="en-US" sz="2000" b="1">
                                  <a:effectLst/>
                                  <a:latin typeface="Cambria Math" panose="02040503050406030204" pitchFamily="18" charset="0"/>
                                  <a:ea typeface="Cambria Math" panose="02040503050406030204" pitchFamily="18" charset="0"/>
                                </a:rPr>
                                <m:t>𝟓</m:t>
                              </m:r>
                            </m:oMath>
                          </a14:m>
                          <a:r>
                            <a:rPr lang="en-US" sz="2000" b="1" dirty="0">
                              <a:effectLst/>
                              <a:latin typeface="Cambria Math" panose="02040503050406030204" pitchFamily="18" charset="0"/>
                              <a:ea typeface="Cambria Math" panose="02040503050406030204" pitchFamily="18" charset="0"/>
                              <a:cs typeface="Verdana" panose="020B0604030504040204" pitchFamily="34" charset="0"/>
                            </a:rPr>
                            <a:t> </a:t>
                          </a:r>
                          <a:r>
                            <a:rPr lang="en-US" sz="2000" b="1" dirty="0">
                              <a:effectLst/>
                              <a:latin typeface="Verdana" panose="020B0604030504040204" pitchFamily="34" charset="0"/>
                              <a:ea typeface="Verdana" panose="020B0604030504040204" pitchFamily="34" charset="0"/>
                              <a:cs typeface="Verdana" panose="020B0604030504040204" pitchFamily="34" charset="0"/>
                            </a:rPr>
                            <a:t>true or false?</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Solution?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0"/>
                      </a:ext>
                    </a:extLst>
                  </a:tr>
                  <a:tr h="7132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trike="noStrike">
                                    <a:effectLst/>
                                    <a:latin typeface="Cambria Math" panose="02040503050406030204" pitchFamily="18" charset="0"/>
                                    <a:ea typeface="Cambria Math" panose="02040503050406030204" pitchFamily="18" charset="0"/>
                                  </a:rPr>
                                  <m:t>−8.2</m:t>
                                </m:r>
                              </m:oMath>
                            </m:oMathPara>
                          </a14:m>
                          <a:endParaRPr lang="en-US" sz="2000" strike="noStrike"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7132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strike="noStrike">
                                    <a:effectLst/>
                                    <a:latin typeface="Cambria Math" panose="02040503050406030204" pitchFamily="18" charset="0"/>
                                    <a:ea typeface="Cambria Math" panose="02040503050406030204" pitchFamily="18" charset="0"/>
                                  </a:rPr>
                                  <m:t>−6</m:t>
                                </m:r>
                              </m:oMath>
                            </m:oMathPara>
                          </a14:m>
                          <a:endParaRPr lang="en-US" sz="2000" strike="noStrike"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713209">
                    <a:tc>
                      <a:txBody>
                        <a:bodyPr/>
                        <a:lstStyle/>
                        <a:p>
                          <a:pPr marL="0" marR="0" algn="ctr">
                            <a:spcBef>
                              <a:spcPts val="0"/>
                            </a:spcBef>
                            <a:spcAft>
                              <a:spcPts val="0"/>
                            </a:spcAft>
                          </a:pPr>
                          <a14:m>
                            <m:oMath xmlns:m="http://schemas.openxmlformats.org/officeDocument/2006/math">
                              <m:r>
                                <a:rPr lang="en-US" sz="2000" strike="noStrike">
                                  <a:effectLst/>
                                  <a:latin typeface="Cambria Math" panose="02040503050406030204" pitchFamily="18" charset="0"/>
                                  <a:ea typeface="Cambria Math" panose="02040503050406030204" pitchFamily="18" charset="0"/>
                                </a:rPr>
                                <m:t>0</m:t>
                              </m:r>
                            </m:oMath>
                          </a14:m>
                          <a:r>
                            <a:rPr lang="en-US" sz="2000" strike="noStrike"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713209">
                    <a:tc>
                      <a:txBody>
                        <a:bodyPr/>
                        <a:lstStyle/>
                        <a:p>
                          <a:pPr marL="0" marR="0" algn="ctr">
                            <a:spcBef>
                              <a:spcPts val="0"/>
                            </a:spcBef>
                            <a:spcAft>
                              <a:spcPts val="0"/>
                            </a:spcAft>
                          </a:pPr>
                          <a14:m>
                            <m:oMath xmlns:m="http://schemas.openxmlformats.org/officeDocument/2006/math">
                              <m:f>
                                <m:fPr>
                                  <m:ctrlPr>
                                    <a:rPr lang="en-US" sz="2000" i="1" strike="noStrike">
                                      <a:effectLst/>
                                      <a:latin typeface="Cambria Math" panose="02040503050406030204" pitchFamily="18" charset="0"/>
                                      <a:ea typeface="Cambria Math" panose="02040503050406030204" pitchFamily="18" charset="0"/>
                                    </a:rPr>
                                  </m:ctrlPr>
                                </m:fPr>
                                <m:num>
                                  <m:r>
                                    <a:rPr lang="en-US" sz="2000" strike="noStrike">
                                      <a:effectLst/>
                                      <a:latin typeface="Cambria Math" panose="02040503050406030204" pitchFamily="18" charset="0"/>
                                      <a:ea typeface="Cambria Math" panose="02040503050406030204" pitchFamily="18" charset="0"/>
                                    </a:rPr>
                                    <m:t>14</m:t>
                                  </m:r>
                                </m:num>
                                <m:den>
                                  <m:r>
                                    <a:rPr lang="en-US" sz="2000" strike="noStrike">
                                      <a:effectLst/>
                                      <a:latin typeface="Cambria Math" panose="02040503050406030204" pitchFamily="18" charset="0"/>
                                      <a:ea typeface="Cambria Math" panose="02040503050406030204" pitchFamily="18" charset="0"/>
                                    </a:rPr>
                                    <m:t>3</m:t>
                                  </m:r>
                                </m:den>
                              </m:f>
                            </m:oMath>
                          </a14:m>
                          <a:r>
                            <a:rPr lang="en-US" sz="2000" strike="noStrike" dirty="0">
                              <a:effectLst/>
                              <a:latin typeface="Cambria Math" panose="02040503050406030204" pitchFamily="18" charset="0"/>
                              <a:ea typeface="Cambria Math" panose="02040503050406030204" pitchFamily="18"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076370134"/>
                  </p:ext>
                </p:extLst>
              </p:nvPr>
            </p:nvGraphicFramePr>
            <p:xfrm>
              <a:off x="2573843" y="1777192"/>
              <a:ext cx="7293019" cy="3681645"/>
            </p:xfrm>
            <a:graphic>
              <a:graphicData uri="http://schemas.openxmlformats.org/drawingml/2006/table">
                <a:tbl>
                  <a:tblPr firstRow="1" firstCol="1" bandRow="1">
                    <a:tableStyleId>{5940675A-B579-460E-94D1-54222C63F5DA}</a:tableStyleId>
                  </a:tblPr>
                  <a:tblGrid>
                    <a:gridCol w="1360826">
                      <a:extLst>
                        <a:ext uri="{9D8B030D-6E8A-4147-A177-3AD203B41FA5}">
                          <a16:colId xmlns:a16="http://schemas.microsoft.com/office/drawing/2014/main" xmlns:a14="http://schemas.microsoft.com/office/drawing/2010/main" xmlns="" val="20000"/>
                        </a:ext>
                      </a:extLst>
                    </a:gridCol>
                    <a:gridCol w="2205402">
                      <a:extLst>
                        <a:ext uri="{9D8B030D-6E8A-4147-A177-3AD203B41FA5}">
                          <a16:colId xmlns:a16="http://schemas.microsoft.com/office/drawing/2014/main" xmlns:a14="http://schemas.microsoft.com/office/drawing/2010/main" xmlns="" val="20001"/>
                        </a:ext>
                      </a:extLst>
                    </a:gridCol>
                    <a:gridCol w="2206122">
                      <a:extLst>
                        <a:ext uri="{9D8B030D-6E8A-4147-A177-3AD203B41FA5}">
                          <a16:colId xmlns:a16="http://schemas.microsoft.com/office/drawing/2014/main" xmlns:a14="http://schemas.microsoft.com/office/drawing/2010/main" xmlns="" val="20002"/>
                        </a:ext>
                      </a:extLst>
                    </a:gridCol>
                    <a:gridCol w="1520669">
                      <a:extLst>
                        <a:ext uri="{9D8B030D-6E8A-4147-A177-3AD203B41FA5}">
                          <a16:colId xmlns:a16="http://schemas.microsoft.com/office/drawing/2014/main" xmlns:a14="http://schemas.microsoft.com/office/drawing/2010/main" xmlns="" val="20003"/>
                        </a:ext>
                      </a:extLst>
                    </a:gridCol>
                  </a:tblGrid>
                  <a:tr h="82880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5"/>
                          <a:stretch>
                            <a:fillRect t="-2206" r="-436771" b="-358088"/>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5"/>
                          <a:stretch>
                            <a:fillRect l="-61602" t="-2206" r="-169061" b="-358088"/>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5"/>
                          <a:stretch>
                            <a:fillRect l="-161602" t="-2206" r="-69061" b="-358088"/>
                          </a:stretch>
                        </a:blip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Solution?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71320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5"/>
                          <a:stretch>
                            <a:fillRect t="-118803" r="-436771" b="-316239"/>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a14="http://schemas.microsoft.com/office/drawing/2010/main" xmlns="" val="10001"/>
                      </a:ext>
                    </a:extLst>
                  </a:tr>
                  <a:tr h="71320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5"/>
                          <a:stretch>
                            <a:fillRect t="-220690" r="-436771" b="-218966"/>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a14="http://schemas.microsoft.com/office/drawing/2010/main" xmlns="" val="10002"/>
                      </a:ext>
                    </a:extLst>
                  </a:tr>
                  <a:tr h="71320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5"/>
                          <a:stretch>
                            <a:fillRect t="-317949" r="-436771" b="-117094"/>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a14="http://schemas.microsoft.com/office/drawing/2010/main" xmlns="" val="10003"/>
                      </a:ext>
                    </a:extLst>
                  </a:tr>
                  <a:tr h="71320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1">
                          <a:blip r:embed="rId5"/>
                          <a:stretch>
                            <a:fillRect t="-417949" r="-436771" b="-17094"/>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a14="http://schemas.microsoft.com/office/drawing/2010/main" xmlns="" val="10004"/>
                      </a:ext>
                    </a:extLst>
                  </a:tr>
                </a:tbl>
              </a:graphicData>
            </a:graphic>
          </p:graphicFrame>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102</a:t>
            </a:r>
            <a:endParaRPr i="1" dirty="0">
              <a:latin typeface="Calibri"/>
              <a:ea typeface="Calibri"/>
              <a:cs typeface="Calibri"/>
              <a:sym typeface="Calibri"/>
            </a:endParaRPr>
          </a:p>
        </p:txBody>
      </p:sp>
    </p:spTree>
    <p:extLst>
      <p:ext uri="{BB962C8B-B14F-4D97-AF65-F5344CB8AC3E}">
        <p14:creationId xmlns:p14="http://schemas.microsoft.com/office/powerpoint/2010/main" val="2487546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88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1717138715"/>
                  </p:ext>
                </p:extLst>
              </p:nvPr>
            </p:nvGraphicFramePr>
            <p:xfrm>
              <a:off x="2571169" y="836567"/>
              <a:ext cx="7293019" cy="3681645"/>
            </p:xfrm>
            <a:graphic>
              <a:graphicData uri="http://schemas.openxmlformats.org/drawingml/2006/table">
                <a:tbl>
                  <a:tblPr firstRow="1" firstCol="1" bandRow="1">
                    <a:tableStyleId>{5940675A-B579-460E-94D1-54222C63F5DA}</a:tableStyleId>
                  </a:tblPr>
                  <a:tblGrid>
                    <a:gridCol w="1360826">
                      <a:extLst>
                        <a:ext uri="{9D8B030D-6E8A-4147-A177-3AD203B41FA5}">
                          <a16:colId xmlns:a16="http://schemas.microsoft.com/office/drawing/2014/main" val="20000"/>
                        </a:ext>
                      </a:extLst>
                    </a:gridCol>
                    <a:gridCol w="2205402">
                      <a:extLst>
                        <a:ext uri="{9D8B030D-6E8A-4147-A177-3AD203B41FA5}">
                          <a16:colId xmlns:a16="http://schemas.microsoft.com/office/drawing/2014/main" val="20001"/>
                        </a:ext>
                      </a:extLst>
                    </a:gridCol>
                    <a:gridCol w="2206122">
                      <a:extLst>
                        <a:ext uri="{9D8B030D-6E8A-4147-A177-3AD203B41FA5}">
                          <a16:colId xmlns:a16="http://schemas.microsoft.com/office/drawing/2014/main" val="20002"/>
                        </a:ext>
                      </a:extLst>
                    </a:gridCol>
                    <a:gridCol w="1520669">
                      <a:extLst>
                        <a:ext uri="{9D8B030D-6E8A-4147-A177-3AD203B41FA5}">
                          <a16:colId xmlns:a16="http://schemas.microsoft.com/office/drawing/2014/main" val="20003"/>
                        </a:ext>
                      </a:extLst>
                    </a:gridCol>
                  </a:tblGrid>
                  <a:tr h="82880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 of </a:t>
                          </a:r>
                          <a14:m>
                            <m:oMath xmlns:m="http://schemas.openxmlformats.org/officeDocument/2006/math">
                              <m:r>
                                <a:rPr lang="en-US" sz="2000" b="1" i="1" smtClean="0">
                                  <a:effectLst/>
                                  <a:latin typeface="Cambria Math" panose="02040503050406030204" pitchFamily="18" charset="0"/>
                                  <a:ea typeface="Cambria Math" panose="02040503050406030204" pitchFamily="18" charset="0"/>
                                </a:rPr>
                                <m:t>𝒙</m:t>
                              </m:r>
                            </m:oMath>
                          </a14:m>
                          <a:endParaRPr lang="en-US" sz="2000" b="1"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What is the value of </a:t>
                          </a:r>
                          <a14:m>
                            <m:oMath xmlns:m="http://schemas.openxmlformats.org/officeDocument/2006/math">
                              <m:f>
                                <m:fPr>
                                  <m:ctrlPr>
                                    <a:rPr lang="en-US" sz="2000" b="1" i="1">
                                      <a:effectLst/>
                                      <a:latin typeface="Cambria Math" panose="02040503050406030204" pitchFamily="18" charset="0"/>
                                      <a:ea typeface="Cambria Math" panose="02040503050406030204" pitchFamily="18" charset="0"/>
                                    </a:rPr>
                                  </m:ctrlPr>
                                </m:fPr>
                                <m:num>
                                  <m:r>
                                    <a:rPr lang="en-US" sz="2000" b="1" i="1">
                                      <a:effectLst/>
                                      <a:latin typeface="Cambria Math" panose="02040503050406030204" pitchFamily="18" charset="0"/>
                                      <a:ea typeface="Cambria Math" panose="02040503050406030204" pitchFamily="18" charset="0"/>
                                    </a:rPr>
                                    <m:t>𝒙</m:t>
                                  </m:r>
                                </m:num>
                                <m:den>
                                  <m:r>
                                    <a:rPr lang="en-US" sz="2000" b="1" i="0" smtClean="0">
                                      <a:effectLst/>
                                      <a:latin typeface="Cambria Math" panose="02040503050406030204" pitchFamily="18" charset="0"/>
                                      <a:ea typeface="Cambria Math" panose="02040503050406030204" pitchFamily="18" charset="0"/>
                                    </a:rPr>
                                    <m:t>𝟐</m:t>
                                  </m:r>
                                </m:den>
                              </m:f>
                            </m:oMath>
                          </a14:m>
                          <a:r>
                            <a:rPr lang="en-US" sz="2000" b="1" dirty="0">
                              <a:effectLst/>
                              <a:latin typeface="Verdana" panose="020B0604030504040204" pitchFamily="34" charset="0"/>
                              <a:ea typeface="Verdana" panose="020B0604030504040204" pitchFamily="34" charset="0"/>
                              <a:cs typeface="Verdana" panose="020B0604030504040204" pitchFamily="34" charset="0"/>
                            </a:rPr>
                            <a:t>?</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i="0" u="none" strike="noStrike" cap="none" dirty="0">
                              <a:solidFill>
                                <a:schemeClr val="tx1"/>
                              </a:solidFill>
                              <a:effectLst/>
                              <a:latin typeface="Verdana" panose="020B0604030504040204" pitchFamily="34" charset="0"/>
                              <a:ea typeface="Verdana" panose="020B0604030504040204" pitchFamily="34" charset="0"/>
                              <a:cs typeface="Verdana" panose="020B0604030504040204" pitchFamily="34" charset="0"/>
                              <a:sym typeface="Arial"/>
                            </a:rPr>
                            <a:t>Is </a:t>
                          </a:r>
                          <a14:m>
                            <m:oMath xmlns:m="http://schemas.openxmlformats.org/officeDocument/2006/math">
                              <m:f>
                                <m:fPr>
                                  <m:ctrlP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ctrlPr>
                                </m:fPr>
                                <m:num>
                                  <m: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t>𝒙</m:t>
                                  </m:r>
                                </m:num>
                                <m:den>
                                  <m: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t>𝟐</m:t>
                                  </m:r>
                                </m:den>
                              </m:f>
                              <m: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t>≤</m:t>
                              </m:r>
                              <m:sPre>
                                <m:sPrePr>
                                  <m:ctrlP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ctrlPr>
                                </m:sPrePr>
                                <m:sub/>
                                <m:sup>
                                  <m: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t>−</m:t>
                                  </m:r>
                                </m:sup>
                                <m:e>
                                  <m: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t>𝟐</m:t>
                                  </m:r>
                                  <m: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t>.</m:t>
                                  </m:r>
                                  <m:r>
                                    <a:rPr lang="en-US" sz="2000" b="1" i="1" u="none" strike="noStrike" cap="none">
                                      <a:solidFill>
                                        <a:schemeClr val="tx1"/>
                                      </a:solidFill>
                                      <a:effectLst/>
                                      <a:latin typeface="Cambria Math" panose="02040503050406030204" pitchFamily="18" charset="0"/>
                                      <a:ea typeface="Cambria Math" panose="02040503050406030204" pitchFamily="18" charset="0"/>
                                      <a:cs typeface="+mn-cs"/>
                                      <a:sym typeface="Arial"/>
                                    </a:rPr>
                                    <m:t>𝟓</m:t>
                                  </m:r>
                                </m:e>
                              </m:sPre>
                            </m:oMath>
                          </a14:m>
                          <a:r>
                            <a:rPr lang="en-US" sz="2000" b="1" i="1" u="none" strike="noStrike" cap="none" dirty="0">
                              <a:solidFill>
                                <a:schemeClr val="tx1"/>
                              </a:solidFill>
                              <a:effectLst/>
                              <a:latin typeface="Verdana" panose="020B0604030504040204" pitchFamily="34" charset="0"/>
                              <a:ea typeface="Verdana" panose="020B0604030504040204" pitchFamily="34" charset="0"/>
                              <a:cs typeface="Verdana" panose="020B0604030504040204" pitchFamily="34" charset="0"/>
                              <a:sym typeface="Arial"/>
                            </a:rPr>
                            <a:t> </a:t>
                          </a:r>
                          <a:r>
                            <a:rPr lang="en-US" sz="2000" b="1" i="0" u="none" strike="noStrike" cap="none" dirty="0">
                              <a:solidFill>
                                <a:schemeClr val="tx1"/>
                              </a:solidFill>
                              <a:effectLst/>
                              <a:latin typeface="Verdana" panose="020B0604030504040204" pitchFamily="34" charset="0"/>
                              <a:ea typeface="Verdana" panose="020B0604030504040204" pitchFamily="34" charset="0"/>
                              <a:cs typeface="Verdana" panose="020B0604030504040204" pitchFamily="34" charset="0"/>
                              <a:sym typeface="Arial"/>
                            </a:rPr>
                            <a:t>true or false?</a:t>
                          </a:r>
                          <a:endParaRPr lang="en-US"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Solution?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132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Times New Roman" panose="02020603050405020304" pitchFamily="18" charset="0"/>
                                  </a:rPr>
                                  <m:t>−10</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132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Times New Roman" panose="02020603050405020304" pitchFamily="18" charset="0"/>
                                  </a:rPr>
                                  <m:t>−7.4</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13209">
                    <a:tc>
                      <a:txBody>
                        <a:bodyPr/>
                        <a:lstStyle/>
                        <a:p>
                          <a:pPr marL="0" marR="0" algn="ctr">
                            <a:spcBef>
                              <a:spcPts val="0"/>
                            </a:spcBef>
                            <a:spcAft>
                              <a:spcPts val="0"/>
                            </a:spcAft>
                          </a:pPr>
                          <a14:m>
                            <m:oMath xmlns:m="http://schemas.openxmlformats.org/officeDocument/2006/math">
                              <m:r>
                                <a:rPr lang="en-US" sz="2000" i="1">
                                  <a:effectLst/>
                                  <a:latin typeface="Cambria Math" panose="02040503050406030204" pitchFamily="18" charset="0"/>
                                  <a:ea typeface="Cambria Math" panose="02040503050406030204" pitchFamily="18" charset="0"/>
                                  <a:cs typeface="Times New Roman" panose="02020603050405020304" pitchFamily="18" charset="0"/>
                                </a:rPr>
                                <m:t>2</m:t>
                              </m:r>
                              <m:f>
                                <m:fPr>
                                  <m:ctrlPr>
                                    <a:rPr lang="en-US" sz="20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sz="2000" i="1">
                                      <a:effectLst/>
                                      <a:latin typeface="Cambria Math" panose="02040503050406030204" pitchFamily="18" charset="0"/>
                                      <a:ea typeface="Cambria Math" panose="02040503050406030204" pitchFamily="18" charset="0"/>
                                      <a:cs typeface="Times New Roman" panose="02020603050405020304" pitchFamily="18" charset="0"/>
                                    </a:rPr>
                                    <m:t>1</m:t>
                                  </m:r>
                                </m:num>
                                <m:den>
                                  <m:r>
                                    <a:rPr lang="en-US" sz="2000" i="1">
                                      <a:effectLst/>
                                      <a:latin typeface="Cambria Math" panose="02040503050406030204" pitchFamily="18" charset="0"/>
                                      <a:ea typeface="Cambria Math" panose="02040503050406030204" pitchFamily="18" charset="0"/>
                                      <a:cs typeface="Times New Roman" panose="02020603050405020304" pitchFamily="18" charset="0"/>
                                    </a:rPr>
                                    <m:t>8</m:t>
                                  </m:r>
                                </m:den>
                              </m:f>
                            </m:oMath>
                          </a14:m>
                          <a:r>
                            <a:rPr lang="en-US" sz="2000">
                              <a:effectLst/>
                              <a:latin typeface="Cambria Math" panose="02040503050406030204" pitchFamily="18" charset="0"/>
                              <a:ea typeface="Cambria Math" panose="02040503050406030204" pitchFamily="18" charset="0"/>
                              <a:cs typeface="Times New Roman" panose="02020603050405020304" pitchFamily="18"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1320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Times New Roman" panose="02020603050405020304" pitchFamily="18" charset="0"/>
                                  </a:rPr>
                                  <m:t>6</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1717138715"/>
                  </p:ext>
                </p:extLst>
              </p:nvPr>
            </p:nvGraphicFramePr>
            <p:xfrm>
              <a:off x="2571169" y="836567"/>
              <a:ext cx="7293019" cy="3681645"/>
            </p:xfrm>
            <a:graphic>
              <a:graphicData uri="http://schemas.openxmlformats.org/drawingml/2006/table">
                <a:tbl>
                  <a:tblPr firstRow="1" firstCol="1" bandRow="1">
                    <a:tableStyleId>{5940675A-B579-460E-94D1-54222C63F5DA}</a:tableStyleId>
                  </a:tblPr>
                  <a:tblGrid>
                    <a:gridCol w="1360826">
                      <a:extLst>
                        <a:ext uri="{9D8B030D-6E8A-4147-A177-3AD203B41FA5}">
                          <a16:colId xmlns:a16="http://schemas.microsoft.com/office/drawing/2014/main" xmlns:a14="http://schemas.microsoft.com/office/drawing/2010/main" xmlns="" val="20000"/>
                        </a:ext>
                      </a:extLst>
                    </a:gridCol>
                    <a:gridCol w="2205402">
                      <a:extLst>
                        <a:ext uri="{9D8B030D-6E8A-4147-A177-3AD203B41FA5}">
                          <a16:colId xmlns:a16="http://schemas.microsoft.com/office/drawing/2014/main" xmlns:a14="http://schemas.microsoft.com/office/drawing/2010/main" xmlns="" val="20001"/>
                        </a:ext>
                      </a:extLst>
                    </a:gridCol>
                    <a:gridCol w="2206122">
                      <a:extLst>
                        <a:ext uri="{9D8B030D-6E8A-4147-A177-3AD203B41FA5}">
                          <a16:colId xmlns:a16="http://schemas.microsoft.com/office/drawing/2014/main" xmlns:a14="http://schemas.microsoft.com/office/drawing/2010/main" xmlns="" val="20002"/>
                        </a:ext>
                      </a:extLst>
                    </a:gridCol>
                    <a:gridCol w="1520669">
                      <a:extLst>
                        <a:ext uri="{9D8B030D-6E8A-4147-A177-3AD203B41FA5}">
                          <a16:colId xmlns:a16="http://schemas.microsoft.com/office/drawing/2014/main" xmlns:a14="http://schemas.microsoft.com/office/drawing/2010/main" xmlns="" val="20003"/>
                        </a:ext>
                      </a:extLst>
                    </a:gridCol>
                  </a:tblGrid>
                  <a:tr h="82880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48" t="-2206" r="-436771" b="-358824"/>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61878" t="-2206" r="-169061" b="-358824"/>
                          </a:stretch>
                        </a:blipFill>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61878" t="-2206" r="-69061" b="-358824"/>
                          </a:stretch>
                        </a:blip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Solution?</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71320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48" t="-118803" r="-436771" b="-317094"/>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71320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48" t="-218803" r="-436771" b="-217094"/>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71320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48" t="-318803" r="-436771" b="-117094"/>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713209">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48" t="-418803" r="-436771" b="-17094"/>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Yes</a:t>
                          </a:r>
                        </a:p>
                        <a:p>
                          <a:pPr marL="342900" marR="0" lvl="0" indent="-342900">
                            <a:spcBef>
                              <a:spcPts val="0"/>
                            </a:spcBef>
                            <a:spcAft>
                              <a:spcPts val="0"/>
                            </a:spcAft>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No</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4"/>
                      </a:ext>
                    </a:extLst>
                  </a:tr>
                </a:tbl>
              </a:graphicData>
            </a:graphic>
          </p:graphicFrame>
        </mc:Fallback>
      </mc:AlternateContent>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102</a:t>
            </a:r>
            <a:endParaRPr i="1" dirty="0">
              <a:latin typeface="Calibri"/>
              <a:ea typeface="Calibri"/>
              <a:cs typeface="Calibri"/>
              <a:sym typeface="Calibri"/>
            </a:endParaRPr>
          </a:p>
        </p:txBody>
      </p:sp>
    </p:spTree>
    <p:extLst>
      <p:ext uri="{BB962C8B-B14F-4D97-AF65-F5344CB8AC3E}">
        <p14:creationId xmlns:p14="http://schemas.microsoft.com/office/powerpoint/2010/main" val="3437083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914400" y="374090"/>
                <a:ext cx="10515600" cy="1815497"/>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The solution sets for the inequalities </a:t>
                </a:r>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𝑥</m:t>
                        </m:r>
                      </m:num>
                      <m:den>
                        <m:r>
                          <a:rPr lang="en-US" sz="2400" i="1">
                            <a:latin typeface="Cambria Math" panose="02040503050406030204" pitchFamily="18" charset="0"/>
                            <a:ea typeface="Cambria Math" panose="02040503050406030204" pitchFamily="18" charset="0"/>
                          </a:rPr>
                          <m:t>−1</m:t>
                        </m:r>
                      </m:den>
                    </m:f>
                    <m:r>
                      <a:rPr lang="en-US" sz="2400" i="1">
                        <a:latin typeface="Cambria Math" panose="02040503050406030204" pitchFamily="18" charset="0"/>
                        <a:ea typeface="Cambria Math" panose="02040503050406030204" pitchFamily="18" charset="0"/>
                      </a:rPr>
                      <m:t>≤5</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𝑥</m:t>
                        </m:r>
                      </m:num>
                      <m:den>
                        <m:r>
                          <a:rPr lang="en-US" sz="2400" i="1">
                            <a:latin typeface="Cambria Math" panose="02040503050406030204" pitchFamily="18" charset="0"/>
                            <a:ea typeface="Cambria Math" panose="02040503050406030204" pitchFamily="18" charset="0"/>
                          </a:rPr>
                          <m:t>2</m:t>
                        </m:r>
                      </m:den>
                    </m:f>
                    <m:r>
                      <a:rPr lang="en-US" sz="2400" i="1">
                        <a:latin typeface="Cambria Math" panose="02040503050406030204" pitchFamily="18" charset="0"/>
                        <a:ea typeface="Cambria Math" panose="02040503050406030204" pitchFamily="18" charset="0"/>
                      </a:rPr>
                      <m:t>≤</m:t>
                    </m:r>
                    <m:sPre>
                      <m:sPrePr>
                        <m:ctrlPr>
                          <a:rPr lang="en-US" sz="2400" i="1">
                            <a:latin typeface="Cambria Math" panose="02040503050406030204" pitchFamily="18" charset="0"/>
                            <a:ea typeface="Cambria Math" panose="02040503050406030204" pitchFamily="18" charset="0"/>
                          </a:rPr>
                        </m:ctrlPr>
                      </m:sPrePr>
                      <m:sub/>
                      <m:sup>
                        <m:r>
                          <a:rPr lang="en-US" sz="2400" i="1">
                            <a:latin typeface="Cambria Math" panose="02040503050406030204" pitchFamily="18" charset="0"/>
                            <a:ea typeface="Cambria Math" panose="02040503050406030204" pitchFamily="18" charset="0"/>
                          </a:rPr>
                          <m:t>−</m:t>
                        </m:r>
                      </m:sup>
                      <m:e>
                        <m:r>
                          <a:rPr lang="en-US" sz="2400" i="1">
                            <a:latin typeface="Cambria Math" panose="02040503050406030204" pitchFamily="18" charset="0"/>
                            <a:ea typeface="Cambria Math" panose="02040503050406030204" pitchFamily="18" charset="0"/>
                          </a:rPr>
                          <m:t>2.5</m:t>
                        </m:r>
                      </m:e>
                    </m:sPre>
                  </m:oMath>
                </a14:m>
                <a:r>
                  <a:rPr lang="en-US" sz="2400" dirty="0">
                    <a:latin typeface="Verdana" panose="020B0604030504040204" pitchFamily="34" charset="0"/>
                    <a:ea typeface="Verdana" panose="020B0604030504040204" pitchFamily="34" charset="0"/>
                    <a:cs typeface="Verdana" panose="020B0604030504040204" pitchFamily="34" charset="0"/>
                  </a:rPr>
                  <a:t> are given in the table. Write the inequality that matches each graph of the solution set.</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914400" y="374090"/>
                <a:ext cx="10515600" cy="1815497"/>
              </a:xfrm>
              <a:prstGeom prst="rect">
                <a:avLst/>
              </a:prstGeom>
              <a:blipFill>
                <a:blip r:embed="rId4"/>
                <a:stretch>
                  <a:fillRect l="-965" t="-1389" r="-1809"/>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192077" y="2423523"/>
            <a:ext cx="8142825" cy="2002605"/>
          </a:xfrm>
          <a:prstGeom prst="rect">
            <a:avLst/>
          </a:prstGeom>
        </p:spPr>
      </p:pic>
      <p:sp>
        <p:nvSpPr>
          <p:cNvPr id="7"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102</a:t>
            </a:r>
            <a:endParaRPr i="1" dirty="0">
              <a:latin typeface="Calibri"/>
              <a:ea typeface="Calibri"/>
              <a:cs typeface="Calibri"/>
              <a:sym typeface="Calibri"/>
            </a:endParaRPr>
          </a:p>
        </p:txBody>
      </p:sp>
    </p:spTree>
    <p:extLst>
      <p:ext uri="{BB962C8B-B14F-4D97-AF65-F5344CB8AC3E}">
        <p14:creationId xmlns:p14="http://schemas.microsoft.com/office/powerpoint/2010/main" val="2317892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914400" y="374090"/>
            <a:ext cx="10515600" cy="4524315"/>
          </a:xfrm>
          <a:prstGeom prst="rect">
            <a:avLst/>
          </a:prstGeom>
          <a:noFill/>
        </p:spPr>
        <p:txBody>
          <a:bodyPr wrap="square" rtlCol="0">
            <a:spAutoFit/>
          </a:bodyPr>
          <a:lstStyle/>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Look back at your answers to questions 2 and 4. What do you notice about the original inequality symbol and the direction of the arrows on the graphs of the solution sets?</a:t>
            </a: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Compare your work on questions 1-5 with your partner. Discuss any differences and revise your work if necessary.</a:t>
            </a:r>
          </a:p>
        </p:txBody>
      </p:sp>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102</a:t>
            </a:r>
            <a:endParaRPr i="1" dirty="0">
              <a:latin typeface="Calibri"/>
              <a:ea typeface="Calibri"/>
              <a:cs typeface="Calibri"/>
              <a:sym typeface="Calibri"/>
            </a:endParaRPr>
          </a:p>
        </p:txBody>
      </p:sp>
    </p:spTree>
    <p:extLst>
      <p:ext uri="{BB962C8B-B14F-4D97-AF65-F5344CB8AC3E}">
        <p14:creationId xmlns:p14="http://schemas.microsoft.com/office/powerpoint/2010/main" val="7126049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914400" y="374090"/>
            <a:ext cx="10515600" cy="3477875"/>
          </a:xfrm>
          <a:prstGeom prst="rect">
            <a:avLst/>
          </a:prstGeom>
          <a:noFill/>
        </p:spPr>
        <p:txBody>
          <a:bodyPr wrap="square" rtlCol="0">
            <a:spAutoFit/>
          </a:bodyPr>
          <a:lstStyle/>
          <a:p>
            <a:pPr marL="457200" indent="-457200">
              <a:buFont typeface="+mj-lt"/>
              <a:buAutoNum type="arabicPeriod" startAt="7"/>
            </a:pPr>
            <a:r>
              <a:rPr lang="en-US" sz="2000" dirty="0">
                <a:latin typeface="Verdana" panose="020B0604030504040204" pitchFamily="34" charset="0"/>
                <a:ea typeface="Verdana" panose="020B0604030504040204" pitchFamily="34" charset="0"/>
                <a:cs typeface="Verdana" panose="020B0604030504040204" pitchFamily="34" charset="0"/>
              </a:rPr>
              <a:t>The graphs of two solution sets are shown.</a:t>
            </a:r>
          </a:p>
          <a:p>
            <a:pPr marL="457200" indent="-4572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a:r>
              <a:rPr lang="en-US" sz="2000" dirty="0">
                <a:latin typeface="Verdana" panose="020B0604030504040204" pitchFamily="34" charset="0"/>
                <a:ea typeface="Verdana" panose="020B0604030504040204" pitchFamily="34" charset="0"/>
                <a:cs typeface="Verdana" panose="020B0604030504040204" pitchFamily="34" charset="0"/>
              </a:rPr>
              <a:t>The solution set for each inequality in the table matches one of the graphs. Based on your work and observations thus far, work with your partner to determine which graph matches each inequality.</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297695610"/>
                  </p:ext>
                </p:extLst>
              </p:nvPr>
            </p:nvGraphicFramePr>
            <p:xfrm>
              <a:off x="2607506" y="3938438"/>
              <a:ext cx="6024245" cy="2590800"/>
            </p:xfrm>
            <a:graphic>
              <a:graphicData uri="http://schemas.openxmlformats.org/drawingml/2006/table">
                <a:tbl>
                  <a:tblPr firstRow="1" firstCol="1" bandRow="1">
                    <a:tableStyleId>{5940675A-B579-460E-94D1-54222C63F5DA}</a:tableStyleId>
                  </a:tblPr>
                  <a:tblGrid>
                    <a:gridCol w="3011805">
                      <a:extLst>
                        <a:ext uri="{9D8B030D-6E8A-4147-A177-3AD203B41FA5}">
                          <a16:colId xmlns:a16="http://schemas.microsoft.com/office/drawing/2014/main" val="20000"/>
                        </a:ext>
                      </a:extLst>
                    </a:gridCol>
                    <a:gridCol w="3012440">
                      <a:extLst>
                        <a:ext uri="{9D8B030D-6E8A-4147-A177-3AD203B41FA5}">
                          <a16:colId xmlns:a16="http://schemas.microsoft.com/office/drawing/2014/main" val="20001"/>
                        </a:ext>
                      </a:extLst>
                    </a:gridCol>
                  </a:tblGrid>
                  <a:tr h="431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Inequality</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Which Graph?</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539750">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−2</m:t>
                              </m:r>
                              <m:r>
                                <a:rPr lang="en-US" sz="2000">
                                  <a:effectLst/>
                                  <a:latin typeface="Cambria Math" panose="02040503050406030204" pitchFamily="18" charset="0"/>
                                  <a:ea typeface="Cambria Math" panose="02040503050406030204" pitchFamily="18" charset="0"/>
                                </a:rPr>
                                <m:t>𝑝</m:t>
                              </m:r>
                              <m:r>
                                <a:rPr lang="en-US" sz="2000">
                                  <a:effectLst/>
                                  <a:latin typeface="Cambria Math" panose="02040503050406030204" pitchFamily="18" charset="0"/>
                                  <a:ea typeface="Cambria Math" panose="02040503050406030204" pitchFamily="18" charset="0"/>
                                </a:rPr>
                                <m:t>&gt;4</m:t>
                              </m:r>
                            </m:oMath>
                          </a14:m>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397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3.8</m:t>
                                </m:r>
                                <m:r>
                                  <a:rPr lang="en-US" sz="2000">
                                    <a:effectLst/>
                                    <a:latin typeface="Cambria Math" panose="02040503050406030204" pitchFamily="18" charset="0"/>
                                    <a:ea typeface="Cambria Math" panose="02040503050406030204" pitchFamily="18" charset="0"/>
                                  </a:rPr>
                                  <m:t>𝑝</m:t>
                                </m:r>
                                <m:r>
                                  <a:rPr lang="en-US" sz="2000">
                                    <a:effectLst/>
                                    <a:latin typeface="Cambria Math" panose="02040503050406030204" pitchFamily="18" charset="0"/>
                                    <a:ea typeface="Cambria Math" panose="02040503050406030204" pitchFamily="18" charset="0"/>
                                  </a:rPr>
                                  <m:t>&gt;−7.6</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39750">
                    <a:tc>
                      <a:txBody>
                        <a:bodyPr/>
                        <a:lstStyle/>
                        <a:p>
                          <a:pPr marL="0" marR="0" algn="ctr">
                            <a:spcBef>
                              <a:spcPts val="0"/>
                            </a:spcBef>
                            <a:spcAft>
                              <a:spcPts val="0"/>
                            </a:spcAft>
                          </a:pPr>
                          <a14:m>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𝑝</m:t>
                                  </m:r>
                                </m:num>
                                <m:den>
                                  <m:r>
                                    <a:rPr lang="en-US" sz="2000">
                                      <a:effectLst/>
                                      <a:latin typeface="Cambria Math" panose="02040503050406030204" pitchFamily="18" charset="0"/>
                                      <a:ea typeface="Cambria Math" panose="02040503050406030204" pitchFamily="18" charset="0"/>
                                    </a:rPr>
                                    <m:t>3</m:t>
                                  </m:r>
                                </m:den>
                              </m:f>
                              <m:r>
                                <a:rPr lang="en-US" sz="2000">
                                  <a:effectLst/>
                                  <a:latin typeface="Cambria Math" panose="02040503050406030204" pitchFamily="18" charset="0"/>
                                  <a:ea typeface="Cambria Math" panose="02040503050406030204" pitchFamily="18" charset="0"/>
                                </a:rPr>
                                <m:t>&gt;−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3</m:t>
                                  </m:r>
                                </m:den>
                              </m:f>
                            </m:oMath>
                          </a14:m>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39750">
                    <a:tc>
                      <a:txBody>
                        <a:bodyPr/>
                        <a:lstStyle/>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𝑝</m:t>
                                  </m:r>
                                </m:num>
                                <m:den>
                                  <m:r>
                                    <a:rPr lang="en-US" sz="2000">
                                      <a:effectLst/>
                                      <a:latin typeface="Cambria Math" panose="02040503050406030204" pitchFamily="18" charset="0"/>
                                      <a:ea typeface="Cambria Math" panose="02040503050406030204" pitchFamily="18" charset="0"/>
                                    </a:rPr>
                                    <m:t>5</m:t>
                                  </m:r>
                                </m:den>
                              </m:f>
                              <m:r>
                                <a:rPr lang="en-US" sz="2000">
                                  <a:effectLst/>
                                  <a:latin typeface="Cambria Math" panose="02040503050406030204" pitchFamily="18" charset="0"/>
                                  <a:ea typeface="Cambria Math" panose="02040503050406030204" pitchFamily="18" charset="0"/>
                                </a:rPr>
                                <m:t>&gt;0.4</m:t>
                              </m:r>
                            </m:oMath>
                          </a14:m>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297695610"/>
                  </p:ext>
                </p:extLst>
              </p:nvPr>
            </p:nvGraphicFramePr>
            <p:xfrm>
              <a:off x="2607506" y="3938438"/>
              <a:ext cx="6024245" cy="2590800"/>
            </p:xfrm>
            <a:graphic>
              <a:graphicData uri="http://schemas.openxmlformats.org/drawingml/2006/table">
                <a:tbl>
                  <a:tblPr firstRow="1" firstCol="1" bandRow="1">
                    <a:tableStyleId>{5940675A-B579-460E-94D1-54222C63F5DA}</a:tableStyleId>
                  </a:tblPr>
                  <a:tblGrid>
                    <a:gridCol w="3011805">
                      <a:extLst>
                        <a:ext uri="{9D8B030D-6E8A-4147-A177-3AD203B41FA5}">
                          <a16:colId xmlns:a16="http://schemas.microsoft.com/office/drawing/2014/main" val="20000"/>
                        </a:ext>
                      </a:extLst>
                    </a:gridCol>
                    <a:gridCol w="3012440">
                      <a:extLst>
                        <a:ext uri="{9D8B030D-6E8A-4147-A177-3AD203B41FA5}">
                          <a16:colId xmlns:a16="http://schemas.microsoft.com/office/drawing/2014/main" val="20001"/>
                        </a:ext>
                      </a:extLst>
                    </a:gridCol>
                  </a:tblGrid>
                  <a:tr h="431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Inequality</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Which Graph?</a:t>
                          </a: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53975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22" t="-83721" r="-101266" b="-300000"/>
                          </a:stretch>
                        </a:blipFill>
                      </a:tcPr>
                    </a:tc>
                    <a:tc>
                      <a:txBody>
                        <a:bodyPr/>
                        <a:lstStyle/>
                        <a:p>
                          <a:pPr marL="0" marR="0" algn="ctr">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3975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22" t="-183721" r="-101266" b="-200000"/>
                          </a:stretch>
                        </a:blipFill>
                      </a:tcPr>
                    </a:tc>
                    <a:tc>
                      <a:txBody>
                        <a:bodyPr/>
                        <a:lstStyle/>
                        <a:p>
                          <a:pPr marL="0" marR="0" algn="ctr">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3975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22" t="-290476" r="-101266" b="-104762"/>
                          </a:stretch>
                        </a:blipFill>
                      </a:tcPr>
                    </a:tc>
                    <a:tc>
                      <a:txBody>
                        <a:bodyPr/>
                        <a:lstStyle/>
                        <a:p>
                          <a:pPr marL="0" marR="0" algn="ctr">
                            <a:spcBef>
                              <a:spcPts val="0"/>
                            </a:spcBef>
                            <a:spcAft>
                              <a:spcPts val="0"/>
                            </a:spcAft>
                          </a:pPr>
                          <a:r>
                            <a:rPr lang="en-US" sz="1800">
                              <a:effectLst/>
                            </a:rPr>
                            <a:t> </a:t>
                          </a:r>
                          <a:endParaRPr lang="en-US" sz="1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3975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22" t="-381395" r="-101266" b="-2326"/>
                          </a:stretch>
                        </a:blipFill>
                      </a:tcPr>
                    </a:tc>
                    <a:tc>
                      <a:txBody>
                        <a:bodyPr/>
                        <a:lstStyle/>
                        <a:p>
                          <a:pPr marL="0" marR="0" algn="ctr">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pic>
        <p:nvPicPr>
          <p:cNvPr id="3" name="Picture 2"/>
          <p:cNvPicPr>
            <a:picLocks noChangeAspect="1"/>
          </p:cNvPicPr>
          <p:nvPr/>
        </p:nvPicPr>
        <p:blipFill>
          <a:blip r:embed="rId5"/>
          <a:stretch>
            <a:fillRect/>
          </a:stretch>
        </p:blipFill>
        <p:spPr>
          <a:xfrm>
            <a:off x="2397192" y="953576"/>
            <a:ext cx="7548282" cy="1284957"/>
          </a:xfrm>
          <a:prstGeom prst="rect">
            <a:avLst/>
          </a:prstGeom>
        </p:spPr>
      </p:pic>
      <p:sp>
        <p:nvSpPr>
          <p:cNvPr id="9"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103</a:t>
            </a:r>
            <a:endParaRPr i="1" dirty="0">
              <a:latin typeface="Calibri"/>
              <a:ea typeface="Calibri"/>
              <a:cs typeface="Calibri"/>
              <a:sym typeface="Calibri"/>
            </a:endParaRPr>
          </a:p>
        </p:txBody>
      </p:sp>
    </p:spTree>
    <p:extLst>
      <p:ext uri="{BB962C8B-B14F-4D97-AF65-F5344CB8AC3E}">
        <p14:creationId xmlns:p14="http://schemas.microsoft.com/office/powerpoint/2010/main" val="1172411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a16="http://schemas.microsoft.com/office/drawing/2014/main" id="{B74EB5C6-2FDE-474B-866F-02AD6706D73C}"/>
              </a:ext>
            </a:extLst>
          </p:cNvPr>
          <p:cNvSpPr txBox="1"/>
          <p:nvPr/>
        </p:nvSpPr>
        <p:spPr>
          <a:xfrm>
            <a:off x="914400" y="374090"/>
            <a:ext cx="10515600" cy="830997"/>
          </a:xfrm>
          <a:prstGeom prst="rect">
            <a:avLst/>
          </a:prstGeom>
          <a:noFill/>
        </p:spPr>
        <p:txBody>
          <a:bodyPr wrap="square" rtlCol="0">
            <a:spAutoFit/>
          </a:bodyPr>
          <a:lstStyle/>
          <a:p>
            <a:pPr marL="457200" indent="-457200">
              <a:buFont typeface="+mj-lt"/>
              <a:buAutoNum type="arabicPeriod" startAt="8"/>
            </a:pPr>
            <a:r>
              <a:rPr lang="en-US" sz="2400" dirty="0">
                <a:latin typeface="Verdana" panose="020B0604030504040204" pitchFamily="34" charset="0"/>
                <a:ea typeface="Verdana" panose="020B0604030504040204" pitchFamily="34" charset="0"/>
                <a:cs typeface="Verdana" panose="020B0604030504040204" pitchFamily="34" charset="0"/>
              </a:rPr>
              <a:t>Explain how you and your partner determined which graphs match each inequality.</a:t>
            </a:r>
          </a:p>
        </p:txBody>
      </p:sp>
      <p:sp>
        <p:nvSpPr>
          <p:cNvPr id="6"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103</a:t>
            </a:r>
            <a:endParaRPr i="1" dirty="0">
              <a:latin typeface="Calibri"/>
              <a:ea typeface="Calibri"/>
              <a:cs typeface="Calibri"/>
              <a:sym typeface="Calibri"/>
            </a:endParaRPr>
          </a:p>
        </p:txBody>
      </p:sp>
    </p:spTree>
    <p:extLst>
      <p:ext uri="{BB962C8B-B14F-4D97-AF65-F5344CB8AC3E}">
        <p14:creationId xmlns:p14="http://schemas.microsoft.com/office/powerpoint/2010/main" val="8413555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103</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914400" y="1386025"/>
            <a:ext cx="10515600" cy="193899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Make a conjecture about the relationship between the inequality symbol and the sign of the coefficient of the variable term when determining the solution set for an inequality. Use examples from the lesson if they’re helpful.</a:t>
            </a:r>
          </a:p>
        </p:txBody>
      </p:sp>
      <p:sp>
        <p:nvSpPr>
          <p:cNvPr id="8"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103</a:t>
            </a:r>
            <a:endParaRPr i="1" dirty="0">
              <a:latin typeface="Calibri"/>
              <a:ea typeface="Calibri"/>
              <a:cs typeface="Calibri"/>
              <a:sym typeface="Calibri"/>
            </a:endParaRPr>
          </a:p>
        </p:txBody>
      </p:sp>
      <p:sp>
        <p:nvSpPr>
          <p:cNvPr id="10"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10.3.5 Wrap-Up: Cool Down</a:t>
            </a:r>
          </a:p>
        </p:txBody>
      </p:sp>
      <p:pic>
        <p:nvPicPr>
          <p:cNvPr id="11" name="Google Shape;469;p34"/>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1629</TotalTime>
  <Words>1445</Words>
  <Application>Microsoft Macintosh PowerPoint</Application>
  <PresentationFormat>Widescreen</PresentationFormat>
  <Paragraphs>288</Paragraphs>
  <Slides>28</Slides>
  <Notes>28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Calibri</vt:lpstr>
      <vt:lpstr>Arial Black</vt:lpstr>
      <vt:lpstr>Cambria Math</vt:lpstr>
      <vt:lpstr>Wingdings</vt:lpstr>
      <vt:lpstr>Verdana</vt:lpstr>
      <vt:lpstr>Courier New</vt:lpstr>
      <vt:lpstr>Arial</vt:lpstr>
      <vt:lpstr>Cambria</vt:lpstr>
      <vt:lpstr>Century Gothic</vt:lpstr>
      <vt:lpstr>1_Office Theme</vt:lpstr>
      <vt:lpstr>PowerPoint Presentation</vt:lpstr>
      <vt:lpstr>Benchmark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29</cp:revision>
  <dcterms:created xsi:type="dcterms:W3CDTF">2015-03-17T18:51:18Z</dcterms:created>
  <dcterms:modified xsi:type="dcterms:W3CDTF">2023-01-31T15:08:05Z</dcterms:modified>
</cp:coreProperties>
</file>