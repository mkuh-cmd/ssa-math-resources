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5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embeddedFontLst>
    <p:embeddedFont>
      <p:font typeface="Calibri" pitchFamily="34" charset="0"/>
      <p:regular r:id="rId30"/>
      <p:bold r:id="rId31"/>
      <p:italic r:id="rId32"/>
      <p:boldItalic r:id="rId33"/>
    </p:embeddedFont>
    <p:embeddedFont>
      <p:font typeface="Cambria Math" pitchFamily="18" charset="0"/>
      <p:regular r:id="rId34"/>
    </p:embeddedFont>
    <p:embeddedFont>
      <p:font typeface="Cambria" pitchFamily="18" charset="0"/>
      <p:regular r:id="rId35"/>
      <p:bold r:id="rId36"/>
      <p:italic r:id="rId37"/>
      <p:boldItalic r:id="rId38"/>
    </p:embeddedFont>
    <p:embeddedFont>
      <p:font typeface="Arial Black" pitchFamily="34" charset="0"/>
      <p:bold r:id="rId39"/>
    </p:embeddedFont>
    <p:embeddedFont>
      <p:font typeface="Verdana" pitchFamily="34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378138D9-8BE6-4A8F-B37F-E07A4A816217}">
  <a:tblStyle styleId="{378138D9-8BE6-4A8F-B37F-E07A4A81621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5" d="100"/>
          <a:sy n="105" d="100"/>
        </p:scale>
        <p:origin x="-672" y="-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41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292510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7" name="Google Shape;17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6" name="Google Shape;18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6" name="Google Shape;19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" name="Google Shape;20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7" name="Google Shape;207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7" name="Google Shape;217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3" name="Google Shape;243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2" name="Google Shape;25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0" name="Google Shape;26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1" name="Google Shape;261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0" name="Google Shape;27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1" name="Google Shape;271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9" name="Google Shape;279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0" name="Google Shape;280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8" name="Google Shape;288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9" name="Google Shape;289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8" name="Google Shape;298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9" name="Google Shape;299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0" name="Google Shape;310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" name="Google Shape;318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9" name="Google Shape;319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8" name="Google Shape;328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9" name="Google Shape;329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4" name="Google Shape;354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5" name="Google Shape;355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3" name="Google Shape;363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4" name="Google Shape;364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2" name="Google Shape;372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3" name="Google Shape;373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2" name="Google Shape;382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1" name="Google Shape;391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2" name="Google Shape;392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2" name="Google Shape;402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3" name="Google Shape;403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4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4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5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5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5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15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6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16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7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17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8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8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8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18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>
            <a:spLocks noGrp="1"/>
          </p:cNvSpPr>
          <p:nvPr>
            <p:ph type="ctrTitle" idx="4294967295"/>
          </p:nvPr>
        </p:nvSpPr>
        <p:spPr>
          <a:xfrm>
            <a:off x="5549901" y="2054277"/>
            <a:ext cx="5168900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endParaRPr dirty="0"/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10, Lesson 9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Writing Two-Step Equations from Real-World Contexts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134</a:t>
            </a:r>
            <a:endParaRPr dirty="0"/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114" name="Google Shape;114;p19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5" name="Google Shape;115;p19"/>
          <p:cNvSpPr/>
          <p:nvPr/>
        </p:nvSpPr>
        <p:spPr>
          <a:xfrm>
            <a:off x="0" y="0"/>
            <a:ext cx="4094106" cy="6870701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16" name="Google Shape;116;p19" descr="Logo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1480" y="1603831"/>
            <a:ext cx="3126752" cy="36449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23" name="Google Shape;123;p20"/>
          <p:cNvSpPr txBox="1">
            <a:spLocks noGrp="1"/>
          </p:cNvSpPr>
          <p:nvPr>
            <p:ph type="title" idx="4294967295"/>
          </p:nvPr>
        </p:nvSpPr>
        <p:spPr>
          <a:xfrm>
            <a:off x="114300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4" name="Google Shape;124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6616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25" name="Google Shape;125;p20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134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20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27" name="Google Shape;127;p20"/>
          <p:cNvSpPr txBox="1"/>
          <p:nvPr/>
        </p:nvSpPr>
        <p:spPr>
          <a:xfrm>
            <a:off x="914400" y="160020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1100"/>
            </a:pPr>
            <a:r>
              <a:rPr lang="en-US" sz="35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MA.7.AR.2.2</a:t>
            </a:r>
            <a:endParaRPr dirty="0"/>
          </a:p>
          <a:p>
            <a:pPr marL="45720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2100"/>
            </a:pPr>
            <a:r>
              <a:rPr lang="en-US" sz="35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Write and solve two-step equations in one variable within a mathematical context or real-world context, where all terms are rational numbers.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34" name="Google Shape;134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6616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pic>
        <p:nvPicPr>
          <p:cNvPr id="135" name="Google Shape;135;p21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36" name="Google Shape;136;p21"/>
          <p:cNvSpPr txBox="1"/>
          <p:nvPr/>
        </p:nvSpPr>
        <p:spPr>
          <a:xfrm>
            <a:off x="1143000" y="12966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0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  <a:endParaRPr/>
          </a:p>
        </p:txBody>
      </p:sp>
      <p:sp>
        <p:nvSpPr>
          <p:cNvPr id="137" name="Google Shape;137;p21"/>
          <p:cNvSpPr txBox="1"/>
          <p:nvPr/>
        </p:nvSpPr>
        <p:spPr>
          <a:xfrm>
            <a:off x="914400" y="159639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MA.K12.MTR.1.1 Actively participate in effortful learning both individually and collectively.</a:t>
            </a:r>
            <a:endParaRPr dirty="0"/>
          </a:p>
          <a:p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MA.K12.MTR.3.1 Complete tasks with mathematical fluency.</a:t>
            </a:r>
            <a:endParaRPr dirty="0"/>
          </a:p>
          <a:p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MA.K12.MTR.4.1 Engage in discussions that reflect on the mathematical thinking of self and others.</a:t>
            </a:r>
            <a:endParaRPr dirty="0"/>
          </a:p>
          <a:p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MA.K12.MTR.5.1 Use patterns and structure to help understand and connect mathematical concepts.</a:t>
            </a:r>
            <a:endParaRPr dirty="0"/>
          </a:p>
          <a:p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MA.K12.MTR.6.1 Assess the reasonableness of solutions.</a:t>
            </a:r>
            <a:endParaRPr dirty="0"/>
          </a:p>
          <a:p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MA.K12.MTR.7.1 Apply mathematics to real-world contexts.</a:t>
            </a:r>
            <a:endParaRPr dirty="0"/>
          </a:p>
        </p:txBody>
      </p:sp>
      <p:sp>
        <p:nvSpPr>
          <p:cNvPr id="138" name="Google Shape;138;p21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134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>
              <a:highlight>
                <a:srgbClr val="FFFF00"/>
              </a:highlight>
            </a:endParaRPr>
          </a:p>
        </p:txBody>
      </p:sp>
      <p:pic>
        <p:nvPicPr>
          <p:cNvPr id="145" name="Google Shape;145;p22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46" name="Google Shape;146;p22"/>
          <p:cNvSpPr txBox="1"/>
          <p:nvPr/>
        </p:nvSpPr>
        <p:spPr>
          <a:xfrm>
            <a:off x="1143000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  <a:endParaRPr dirty="0"/>
          </a:p>
        </p:txBody>
      </p:sp>
      <p:pic>
        <p:nvPicPr>
          <p:cNvPr id="147" name="Google Shape;147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48" name="Google Shape;148;p22"/>
          <p:cNvSpPr txBox="1"/>
          <p:nvPr/>
        </p:nvSpPr>
        <p:spPr>
          <a:xfrm>
            <a:off x="914400" y="160020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36575" indent="-536575">
              <a:buSzPts val="3500"/>
              <a:buFont typeface="Noto Sans Symbols"/>
              <a:buChar char="❑"/>
            </a:pPr>
            <a:r>
              <a:rPr lang="en-US" sz="3500" dirty="0">
                <a:latin typeface="Verdana"/>
                <a:ea typeface="Verdana"/>
                <a:cs typeface="Verdana"/>
                <a:sym typeface="Verdana"/>
              </a:rPr>
              <a:t>I can write two-step equations to represent real-world contexts.</a:t>
            </a:r>
            <a:endParaRPr dirty="0"/>
          </a:p>
          <a:p>
            <a:pPr marL="536575" indent="-314325">
              <a:buSzPts val="3500"/>
            </a:pPr>
            <a:endParaRPr sz="3500" dirty="0">
              <a:latin typeface="Verdana"/>
              <a:ea typeface="Verdana"/>
              <a:cs typeface="Verdana"/>
              <a:sym typeface="Verdana"/>
            </a:endParaRPr>
          </a:p>
          <a:p>
            <a:pPr marL="536575" indent="-536575">
              <a:buSzPts val="3500"/>
              <a:buFont typeface="Noto Sans Symbols"/>
              <a:buChar char="❑"/>
            </a:pPr>
            <a:r>
              <a:rPr lang="en-US" sz="3500" dirty="0">
                <a:latin typeface="Verdana"/>
                <a:ea typeface="Verdana"/>
                <a:cs typeface="Verdana"/>
                <a:sym typeface="Verdana"/>
              </a:rPr>
              <a:t>I can solve two-step equations within a real-world context.</a:t>
            </a:r>
            <a:endParaRPr dirty="0"/>
          </a:p>
        </p:txBody>
      </p:sp>
      <p:sp>
        <p:nvSpPr>
          <p:cNvPr id="149" name="Google Shape;149;p22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134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56" name="Google Shape;156;p23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pic>
        <p:nvPicPr>
          <p:cNvPr id="157" name="Google Shape;157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8" name="Google Shape;158;p23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9" name="Google Shape;159;p23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135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66" name="Google Shape;166;p24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67" name="Google Shape;167;p24"/>
          <p:cNvSpPr txBox="1"/>
          <p:nvPr/>
        </p:nvSpPr>
        <p:spPr>
          <a:xfrm>
            <a:off x="1151878" y="470998"/>
            <a:ext cx="80193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10.9.1 Warm-Up: Bell Work</a:t>
            </a:r>
            <a:endParaRPr sz="1600" dirty="0"/>
          </a:p>
        </p:txBody>
      </p:sp>
      <p:pic>
        <p:nvPicPr>
          <p:cNvPr id="168" name="Google Shape;168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1104" y="39279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70" name="Google Shape;170;p24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135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1" name="Google Shape;171;p24"/>
          <p:cNvGraphicFramePr/>
          <p:nvPr>
            <p:extLst>
              <p:ext uri="{D42A27DB-BD31-4B8C-83A1-F6EECF244321}">
                <p14:modId xmlns:p14="http://schemas.microsoft.com/office/powerpoint/2010/main" val="1893705167"/>
              </p:ext>
            </p:extLst>
          </p:nvPr>
        </p:nvGraphicFramePr>
        <p:xfrm>
          <a:off x="2463407" y="2445394"/>
          <a:ext cx="6943100" cy="2931450"/>
        </p:xfrm>
        <a:graphic>
          <a:graphicData uri="http://schemas.openxmlformats.org/drawingml/2006/table">
            <a:tbl>
              <a:tblPr>
                <a:noFill/>
                <a:tableStyleId>{378138D9-8BE6-4A8F-B37F-E07A4A816217}</a:tableStyleId>
              </a:tblPr>
              <a:tblGrid>
                <a:gridCol w="34715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47155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465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Work</a:t>
                      </a:r>
                      <a:endParaRPr sz="1400" u="none" strike="noStrike" cap="none" dirty="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Check</a:t>
                      </a:r>
                      <a:endParaRPr sz="1400" u="none" strike="noStrike" cap="none" dirty="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65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1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1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pic>
        <p:nvPicPr>
          <p:cNvPr id="172" name="Google Shape;172;p24" descr="A picture containing application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95607" y="2961563"/>
            <a:ext cx="3291840" cy="281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4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68452" y="2961564"/>
            <a:ext cx="3200400" cy="179387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/>
              <p:cNvSpPr/>
              <p:nvPr/>
            </p:nvSpPr>
            <p:spPr>
              <a:xfrm>
                <a:off x="534957" y="1460499"/>
                <a:ext cx="10800000" cy="830997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US" sz="2400" dirty="0" err="1">
                    <a:latin typeface="Verdana" pitchFamily="34" charset="0"/>
                    <a:ea typeface="Verdana" pitchFamily="34" charset="0"/>
                  </a:rPr>
                  <a:t>Tremaine</a:t>
                </a: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solved the equation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−10=−8.5+2</m:t>
                    </m:r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𝑥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 and checked his solution. His work and check are shown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>.</a:t>
                </a: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</p:txBody>
          </p:sp>
        </mc:Choice>
        <mc:Fallback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957" y="1460499"/>
                <a:ext cx="10800000" cy="830997"/>
              </a:xfrm>
              <a:prstGeom prst="rect">
                <a:avLst/>
              </a:prstGeom>
              <a:blipFill rotWithShape="1">
                <a:blip r:embed="rId7"/>
                <a:stretch>
                  <a:fillRect l="-903" t="-6618" b="-16176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5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80" name="Google Shape;180;p25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82" name="Google Shape;182;p25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135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/>
              <p:cNvSpPr/>
              <p:nvPr/>
            </p:nvSpPr>
            <p:spPr>
              <a:xfrm>
                <a:off x="529557" y="378746"/>
                <a:ext cx="10800000" cy="4893647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US" sz="2400" dirty="0" err="1">
                    <a:latin typeface="Verdana" pitchFamily="34" charset="0"/>
                    <a:ea typeface="Verdana" pitchFamily="34" charset="0"/>
                  </a:rPr>
                  <a:t>Tremaine</a:t>
                </a: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knows his solution is incorrect, but he is not sure where he went wrong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>.</a:t>
                </a:r>
              </a:p>
              <a:p>
                <a:endParaRPr lang="en-US" sz="24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Explain how </a:t>
                </a:r>
                <a:r>
                  <a:rPr lang="en-US" sz="2400" dirty="0" err="1">
                    <a:latin typeface="Verdana" pitchFamily="34" charset="0"/>
                    <a:ea typeface="Verdana" pitchFamily="34" charset="0"/>
                  </a:rPr>
                  <a:t>Tremaine</a:t>
                </a: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knows his solution is incorrect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Describe the error he made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Find the correct solution to the equation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−10=−8.5+2</m:t>
                    </m:r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𝑥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. 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/>
                </a:r>
                <a:br>
                  <a:rPr lang="en-US" sz="2400" dirty="0" smtClean="0">
                    <a:latin typeface="Verdana" pitchFamily="34" charset="0"/>
                    <a:ea typeface="Verdana" pitchFamily="34" charset="0"/>
                  </a:rPr>
                </a:br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>Show </a:t>
                </a: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your work.</a:t>
                </a:r>
                <a:endParaRPr lang="en-PH" sz="2400" dirty="0">
                  <a:latin typeface="Verdana" pitchFamily="34" charset="0"/>
                  <a:ea typeface="Verdana" pitchFamily="34" charset="0"/>
                </a:endParaRPr>
              </a:p>
            </p:txBody>
          </p:sp>
        </mc:Choice>
        <mc:Fallback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557" y="378746"/>
                <a:ext cx="10800000" cy="4893647"/>
              </a:xfrm>
              <a:prstGeom prst="rect">
                <a:avLst/>
              </a:prstGeom>
              <a:blipFill rotWithShape="1">
                <a:blip r:embed="rId4"/>
                <a:stretch>
                  <a:fillRect l="-903" t="-996" b="-186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6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89" name="Google Shape;189;p26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90" name="Google Shape;190;p26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1" name="Google Shape;191;p26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135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550"/>
            <a:ext cx="1152891" cy="115289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99" name="Google Shape;199;p2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00" name="Google Shape;200;p27"/>
          <p:cNvSpPr txBox="1"/>
          <p:nvPr/>
        </p:nvSpPr>
        <p:spPr>
          <a:xfrm>
            <a:off x="1151878" y="10234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10.9.2 Guided Instruction: Writing Two-Step Equations </a:t>
            </a:r>
            <a:r>
              <a:rPr lang="en-US" sz="32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from </a:t>
            </a: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Real-World Contexts</a:t>
            </a:r>
            <a:endParaRPr dirty="0"/>
          </a:p>
        </p:txBody>
      </p:sp>
      <p:sp>
        <p:nvSpPr>
          <p:cNvPr id="202" name="Google Shape;202;p2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135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3" name="Google Shape;203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5311" y="390286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534957" y="1460499"/>
                <a:ext cx="10800000" cy="3046988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When writing equations to represent a real-world context, it is helpful to start by considering the known and unknown quantities involved in the situation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>.</a:t>
                </a:r>
              </a:p>
              <a:p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Amanda is draining her pool for resurfacing. The pool began with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12,340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 gallons of water and it is draining at a rate 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>of</a:t>
                </a: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780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 gallons per hour. How long has the pool been draining if currently there are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5,125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 gallons in the pool?</a:t>
                </a:r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957" y="1460499"/>
                <a:ext cx="10800000" cy="3046988"/>
              </a:xfrm>
              <a:prstGeom prst="rect">
                <a:avLst/>
              </a:prstGeom>
              <a:blipFill rotWithShape="1">
                <a:blip r:embed="rId5"/>
                <a:stretch>
                  <a:fillRect l="-903" t="-1603" b="-360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8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10" name="Google Shape;210;p28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11" name="Google Shape;211;p28"/>
          <p:cNvSpPr txBox="1"/>
          <p:nvPr/>
        </p:nvSpPr>
        <p:spPr>
          <a:xfrm>
            <a:off x="532661" y="38296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06463" indent="-457200">
              <a:buSzPts val="2400"/>
              <a:buFont typeface="Arial"/>
              <a:buAutoNum type="alphaLcPeriod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Complete the table to describe the known and unknown quantities in this situation.</a:t>
            </a:r>
            <a:endParaRPr dirty="0"/>
          </a:p>
        </p:txBody>
      </p:sp>
      <p:sp>
        <p:nvSpPr>
          <p:cNvPr id="212" name="Google Shape;212;p28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135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3" name="Google Shape;213;p28"/>
          <p:cNvGraphicFramePr/>
          <p:nvPr>
            <p:extLst>
              <p:ext uri="{D42A27DB-BD31-4B8C-83A1-F6EECF244321}">
                <p14:modId xmlns:p14="http://schemas.microsoft.com/office/powerpoint/2010/main" val="2809526443"/>
              </p:ext>
            </p:extLst>
          </p:nvPr>
        </p:nvGraphicFramePr>
        <p:xfrm>
          <a:off x="2884658" y="1358969"/>
          <a:ext cx="6859900" cy="2866900"/>
        </p:xfrm>
        <a:graphic>
          <a:graphicData uri="http://schemas.openxmlformats.org/drawingml/2006/table">
            <a:tbl>
              <a:tblPr>
                <a:noFill/>
                <a:tableStyleId>{378138D9-8BE6-4A8F-B37F-E07A4A816217}</a:tableStyleId>
              </a:tblPr>
              <a:tblGrid>
                <a:gridCol w="34715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38835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Known Quantities</a:t>
                      </a:r>
                      <a:endParaRPr sz="1400" u="none" strike="noStrike" cap="none" dirty="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Unknown Quantities</a:t>
                      </a:r>
                      <a:endParaRPr sz="1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398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1400" u="none" strike="noStrike" cap="none" dirty="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1400" u="none" strike="noStrike" cap="none" dirty="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9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20" name="Google Shape;220;p29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21" name="Google Shape;221;p29"/>
          <p:cNvSpPr txBox="1"/>
          <p:nvPr/>
        </p:nvSpPr>
        <p:spPr>
          <a:xfrm>
            <a:off x="532661" y="38296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06463" indent="-457200">
              <a:buSzPts val="2400"/>
              <a:buFont typeface="Arial"/>
              <a:buAutoNum type="alphaLcPeriod" startAt="2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With your partner, discuss how the quantities are related in this situation.</a:t>
            </a:r>
            <a:endParaRPr dirty="0"/>
          </a:p>
        </p:txBody>
      </p:sp>
      <p:sp>
        <p:nvSpPr>
          <p:cNvPr id="222" name="Google Shape;222;p2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135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3" name="Google Shape;223;p29"/>
          <p:cNvGrpSpPr/>
          <p:nvPr/>
        </p:nvGrpSpPr>
        <p:grpSpPr>
          <a:xfrm>
            <a:off x="2316515" y="3909656"/>
            <a:ext cx="8018386" cy="1663257"/>
            <a:chOff x="2031300" y="3275735"/>
            <a:chExt cx="6629400" cy="1375712"/>
          </a:xfrm>
        </p:grpSpPr>
        <p:sp>
          <p:nvSpPr>
            <p:cNvPr id="224" name="Google Shape;224;p29"/>
            <p:cNvSpPr/>
            <p:nvPr/>
          </p:nvSpPr>
          <p:spPr>
            <a:xfrm>
              <a:off x="2031300" y="3275735"/>
              <a:ext cx="6629400" cy="10085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sz="1200">
                  <a:latin typeface="Cambria"/>
                  <a:ea typeface="Cambria"/>
                  <a:cs typeface="Cambria"/>
                  <a:sym typeface="Cambria"/>
                </a:rPr>
                <a:t> </a:t>
              </a:r>
              <a:endParaRPr sz="1200">
                <a:latin typeface="Cambria"/>
                <a:ea typeface="Cambria"/>
                <a:cs typeface="Cambria"/>
                <a:sym typeface="Cambria"/>
              </a:endParaRPr>
            </a:p>
          </p:txBody>
        </p:sp>
        <p:grpSp>
          <p:nvGrpSpPr>
            <p:cNvPr id="225" name="Google Shape;225;p29"/>
            <p:cNvGrpSpPr/>
            <p:nvPr/>
          </p:nvGrpSpPr>
          <p:grpSpPr>
            <a:xfrm>
              <a:off x="2031300" y="3275735"/>
              <a:ext cx="6629400" cy="1375712"/>
              <a:chOff x="2031300" y="3275735"/>
              <a:chExt cx="6629400" cy="1375712"/>
            </a:xfrm>
          </p:grpSpPr>
          <p:sp>
            <p:nvSpPr>
              <p:cNvPr id="226" name="Google Shape;226;p29"/>
              <p:cNvSpPr/>
              <p:nvPr/>
            </p:nvSpPr>
            <p:spPr>
              <a:xfrm>
                <a:off x="2031300" y="3275735"/>
                <a:ext cx="6629400" cy="1008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/>
                    <a:ea typeface="Cambria"/>
                    <a:cs typeface="Cambria"/>
                    <a:sym typeface="Cambria"/>
                  </a:rPr>
                  <a:t> </a:t>
                </a:r>
                <a:endParaRPr sz="1200">
                  <a:latin typeface="Cambria"/>
                  <a:ea typeface="Cambria"/>
                  <a:cs typeface="Cambria"/>
                  <a:sym typeface="Cambria"/>
                </a:endParaRPr>
              </a:p>
            </p:txBody>
          </p:sp>
          <p:grpSp>
            <p:nvGrpSpPr>
              <p:cNvPr id="227" name="Google Shape;227;p29"/>
              <p:cNvGrpSpPr/>
              <p:nvPr/>
            </p:nvGrpSpPr>
            <p:grpSpPr>
              <a:xfrm>
                <a:off x="2031300" y="3275735"/>
                <a:ext cx="6629400" cy="1375712"/>
                <a:chOff x="2031300" y="3275735"/>
                <a:chExt cx="6629400" cy="1375712"/>
              </a:xfrm>
            </p:grpSpPr>
            <p:sp>
              <p:nvSpPr>
                <p:cNvPr id="228" name="Google Shape;228;p29"/>
                <p:cNvSpPr/>
                <p:nvPr/>
              </p:nvSpPr>
              <p:spPr>
                <a:xfrm>
                  <a:off x="2031300" y="3275735"/>
                  <a:ext cx="6629400" cy="10085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/>
                      <a:ea typeface="Cambria"/>
                      <a:cs typeface="Cambria"/>
                      <a:sym typeface="Cambria"/>
                    </a:rPr>
                    <a:t> </a:t>
                  </a:r>
                  <a:endParaRPr sz="1200">
                    <a:latin typeface="Cambria"/>
                    <a:ea typeface="Cambria"/>
                    <a:cs typeface="Cambria"/>
                    <a:sym typeface="Cambria"/>
                  </a:endParaRPr>
                </a:p>
              </p:txBody>
            </p:sp>
            <p:grpSp>
              <p:nvGrpSpPr>
                <p:cNvPr id="229" name="Google Shape;229;p29"/>
                <p:cNvGrpSpPr/>
                <p:nvPr/>
              </p:nvGrpSpPr>
              <p:grpSpPr>
                <a:xfrm>
                  <a:off x="2031300" y="3275735"/>
                  <a:ext cx="6629400" cy="1375712"/>
                  <a:chOff x="2031300" y="3275735"/>
                  <a:chExt cx="6629400" cy="1375712"/>
                </a:xfrm>
              </p:grpSpPr>
              <p:sp>
                <p:nvSpPr>
                  <p:cNvPr id="230" name="Google Shape;230;p29"/>
                  <p:cNvSpPr/>
                  <p:nvPr/>
                </p:nvSpPr>
                <p:spPr>
                  <a:xfrm>
                    <a:off x="2031300" y="3275735"/>
                    <a:ext cx="6629400" cy="10085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>
                      <a:spcAft>
                        <a:spcPts val="1000"/>
                      </a:spcAft>
                    </a:pPr>
                    <a:r>
                      <a:rPr lang="en-US" sz="1200">
                        <a:latin typeface="Cambria"/>
                        <a:ea typeface="Cambria"/>
                        <a:cs typeface="Cambria"/>
                        <a:sym typeface="Cambria"/>
                      </a:rPr>
                      <a:t> </a:t>
                    </a:r>
                    <a:endParaRPr sz="1200">
                      <a:latin typeface="Cambria"/>
                      <a:ea typeface="Cambria"/>
                      <a:cs typeface="Cambria"/>
                      <a:sym typeface="Cambria"/>
                    </a:endParaRPr>
                  </a:p>
                </p:txBody>
              </p:sp>
              <p:grpSp>
                <p:nvGrpSpPr>
                  <p:cNvPr id="231" name="Google Shape;231;p29"/>
                  <p:cNvGrpSpPr/>
                  <p:nvPr/>
                </p:nvGrpSpPr>
                <p:grpSpPr>
                  <a:xfrm>
                    <a:off x="2031300" y="3275735"/>
                    <a:ext cx="6629400" cy="1375712"/>
                    <a:chOff x="2031300" y="3275735"/>
                    <a:chExt cx="6629400" cy="1375712"/>
                  </a:xfrm>
                </p:grpSpPr>
                <p:sp>
                  <p:nvSpPr>
                    <p:cNvPr id="232" name="Google Shape;232;p29"/>
                    <p:cNvSpPr/>
                    <p:nvPr/>
                  </p:nvSpPr>
                  <p:spPr>
                    <a:xfrm>
                      <a:off x="2031300" y="3275735"/>
                      <a:ext cx="6629400" cy="100852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>
                        <a:spcAft>
                          <a:spcPts val="1000"/>
                        </a:spcAft>
                      </a:pPr>
                      <a:r>
                        <a:rPr lang="en-US" sz="12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 </a:t>
                      </a:r>
                      <a:endParaRPr sz="12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p:txBody>
                </p:sp>
                <p:grpSp>
                  <p:nvGrpSpPr>
                    <p:cNvPr id="233" name="Google Shape;233;p29"/>
                    <p:cNvGrpSpPr/>
                    <p:nvPr/>
                  </p:nvGrpSpPr>
                  <p:grpSpPr>
                    <a:xfrm>
                      <a:off x="2031300" y="3275735"/>
                      <a:ext cx="6629400" cy="1375712"/>
                      <a:chOff x="0" y="0"/>
                      <a:chExt cx="6629400" cy="1375712"/>
                    </a:xfrm>
                  </p:grpSpPr>
                  <p:sp>
                    <p:nvSpPr>
                      <p:cNvPr id="234" name="Google Shape;234;p29"/>
                      <p:cNvSpPr/>
                      <p:nvPr/>
                    </p:nvSpPr>
                    <p:spPr>
                      <a:xfrm>
                        <a:off x="0" y="0"/>
                        <a:ext cx="6629400" cy="100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>
                          <a:spcAft>
                            <a:spcPts val="1000"/>
                          </a:spcAft>
                        </a:pPr>
                        <a:r>
                          <a:rPr lang="en-US" sz="1200">
                            <a:latin typeface="Cambria"/>
                            <a:ea typeface="Cambria"/>
                            <a:cs typeface="Cambria"/>
                            <a:sym typeface="Cambria"/>
                          </a:rPr>
                          <a:t> </a:t>
                        </a:r>
                        <a:endParaRPr sz="1200">
                          <a:latin typeface="Cambria"/>
                          <a:ea typeface="Cambria"/>
                          <a:cs typeface="Cambria"/>
                          <a:sym typeface="Cambria"/>
                        </a:endParaRPr>
                      </a:p>
                    </p:txBody>
                  </p:sp>
                  <p:grpSp>
                    <p:nvGrpSpPr>
                      <p:cNvPr id="235" name="Google Shape;235;p29"/>
                      <p:cNvGrpSpPr/>
                      <p:nvPr/>
                    </p:nvGrpSpPr>
                    <p:grpSpPr>
                      <a:xfrm>
                        <a:off x="0" y="0"/>
                        <a:ext cx="6629400" cy="1375712"/>
                        <a:chOff x="0" y="0"/>
                        <a:chExt cx="6629400" cy="1375712"/>
                      </a:xfrm>
                    </p:grpSpPr>
                    <p:sp>
                      <p:nvSpPr>
                        <p:cNvPr id="236" name="Google Shape;236;p29"/>
                        <p:cNvSpPr/>
                        <p:nvPr/>
                      </p:nvSpPr>
                      <p:spPr>
                        <a:xfrm>
                          <a:off x="0" y="0"/>
                          <a:ext cx="6629400" cy="7863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>
                            <a:spcAft>
                              <a:spcPts val="1000"/>
                            </a:spcAft>
                          </a:pPr>
                          <a:r>
                            <a:rPr lang="en-US" sz="1200"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 </a:t>
                          </a:r>
                          <a:endParaRPr sz="1200">
                            <a:latin typeface="Cambria"/>
                            <a:ea typeface="Cambria"/>
                            <a:cs typeface="Cambria"/>
                            <a:sym typeface="Cambria"/>
                          </a:endParaRPr>
                        </a:p>
                      </p:txBody>
                    </p:sp>
                    <p:sp>
                      <p:nvSpPr>
                        <p:cNvPr id="237" name="Google Shape;237;p29"/>
                        <p:cNvSpPr/>
                        <p:nvPr/>
                      </p:nvSpPr>
                      <p:spPr>
                        <a:xfrm>
                          <a:off x="0" y="0"/>
                          <a:ext cx="6629400" cy="7863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>
                            <a:spcAft>
                              <a:spcPts val="1000"/>
                            </a:spcAft>
                          </a:pPr>
                          <a:r>
                            <a:rPr lang="en-US" sz="1200"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 </a:t>
                          </a:r>
                          <a:endParaRPr sz="1200">
                            <a:latin typeface="Cambria"/>
                            <a:ea typeface="Cambria"/>
                            <a:cs typeface="Cambria"/>
                            <a:sym typeface="Cambria"/>
                          </a:endParaRPr>
                        </a:p>
                      </p:txBody>
                    </p:sp>
                    <p:sp>
                      <p:nvSpPr>
                        <p:cNvPr id="238" name="Google Shape;238;p29"/>
                        <p:cNvSpPr/>
                        <p:nvPr/>
                      </p:nvSpPr>
                      <p:spPr>
                        <a:xfrm>
                          <a:off x="189917" y="22999"/>
                          <a:ext cx="6250418" cy="1352713"/>
                        </a:xfrm>
                        <a:prstGeom prst="roundRect">
                          <a:avLst>
                            <a:gd name="adj" fmla="val 16667"/>
                          </a:avLst>
                        </a:prstGeom>
                        <a:solidFill>
                          <a:srgbClr val="B8E6F5"/>
                        </a:solidFill>
                        <a:ln>
                          <a:noFill/>
                        </a:ln>
                        <a:effectLst>
                          <a:outerShdw blurRad="50800" dist="38100" dir="2700000" algn="tl" rotWithShape="0">
                            <a:srgbClr val="000000">
                              <a:alpha val="40000"/>
                            </a:srgbClr>
                          </a:outerShdw>
                        </a:effectLst>
                      </p:spPr>
                      <p:txBody>
                        <a:bodyPr spcFirstLastPara="1" wrap="square" lIns="91425" tIns="72000" rIns="91425" bIns="0" anchor="ctr" anchorCtr="0">
                          <a:noAutofit/>
                        </a:bodyPr>
                        <a:lstStyle/>
                        <a:p>
                          <a:pPr marL="742950"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solidFill>
                                <a:srgbClr val="00619E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When writing equations to represent real-world contexts, </a:t>
                          </a:r>
                          <a:r>
                            <a:rPr lang="en-US" sz="2000" b="1" dirty="0">
                              <a:solidFill>
                                <a:srgbClr val="00619E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any variables used must be defined</a:t>
                          </a:r>
                          <a:r>
                            <a:rPr lang="en-US" sz="2000" dirty="0">
                              <a:solidFill>
                                <a:srgbClr val="00619E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 to identify which quantity each variable in the equation represents.</a:t>
                          </a:r>
                          <a:endParaRPr dirty="0">
                            <a:latin typeface="Cambria"/>
                            <a:ea typeface="Cambria"/>
                            <a:cs typeface="Cambria"/>
                            <a:sym typeface="Cambria"/>
                          </a:endParaRPr>
                        </a:p>
                      </p:txBody>
                    </p:sp>
                  </p:grpSp>
                  <p:pic>
                    <p:nvPicPr>
                      <p:cNvPr id="239" name="Google Shape;239;p29" descr="Icon&#10;&#10;Description automatically generated"/>
                      <p:cNvPicPr preferRelativeResize="0"/>
                      <p:nvPr/>
                    </p:nvPicPr>
                    <p:blipFill rotWithShape="1">
                      <a:blip r:embed="rId4" cstate="screen">
                        <a:alphaModFix/>
                        <a:extLst>
                          <a:ext uri="{28A0092B-C50C-407E-A947-70E740481C1C}">
                            <a14:useLocalDpi xmlns:a14="http://schemas.microsoft.com/office/drawing/2010/main"/>
                          </a:ext>
                        </a:extLst>
                      </a:blip>
                      <a:srcRect/>
                      <a:stretch/>
                    </p:blipFill>
                    <p:spPr>
                      <a:xfrm>
                        <a:off x="311115" y="179039"/>
                        <a:ext cx="539750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blurRad="50800" dist="38100" dir="2700000" algn="tl" rotWithShape="0">
                          <a:srgbClr val="000000">
                            <a:alpha val="40000"/>
                          </a:srgbClr>
                        </a:outerShdw>
                      </a:effectLst>
                    </p:spPr>
                  </p:pic>
                </p:grpSp>
              </p:grpSp>
            </p:grpSp>
          </p:grp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0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46" name="Google Shape;246;p30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47" name="Google Shape;247;p30"/>
          <p:cNvSpPr txBox="1"/>
          <p:nvPr/>
        </p:nvSpPr>
        <p:spPr>
          <a:xfrm>
            <a:off x="532661" y="382967"/>
            <a:ext cx="10515600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06463" indent="-457200">
              <a:buSzPts val="2400"/>
              <a:buFont typeface="Arial"/>
              <a:buAutoNum type="alphaLcPeriod" startAt="3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Define the unknown quantity using a variable.</a:t>
            </a:r>
            <a:endParaRPr dirty="0"/>
          </a:p>
          <a:p>
            <a:pPr marL="906463" indent="-304800"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906463" indent="-304800"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906463" indent="-304800"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906463" indent="-304800"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906463" indent="-304800"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906463" indent="-304800"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906463" indent="-304800"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906463" indent="-457200">
              <a:buSzPts val="2400"/>
              <a:buFont typeface="+mj-lt"/>
              <a:buAutoNum type="alphaLcPeriod" startAt="4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Write an equation that could be used to find the unknown quantity using the variable you defined.</a:t>
            </a:r>
            <a:endParaRPr dirty="0"/>
          </a:p>
        </p:txBody>
      </p:sp>
      <p:sp>
        <p:nvSpPr>
          <p:cNvPr id="248" name="Google Shape;248;p30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136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55" name="Google Shape;255;p31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56" name="Google Shape;256;p31"/>
          <p:cNvSpPr txBox="1"/>
          <p:nvPr/>
        </p:nvSpPr>
        <p:spPr>
          <a:xfrm>
            <a:off x="532660" y="382967"/>
            <a:ext cx="10515600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06463" indent="-457200">
              <a:buSzPts val="2400"/>
              <a:buFont typeface="Arial"/>
              <a:buAutoNum type="alphaLcPeriod" startAt="5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Solve the equation.</a:t>
            </a:r>
            <a:endParaRPr dirty="0"/>
          </a:p>
          <a:p>
            <a:pPr marL="906463" indent="-304800"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906463" indent="-304800"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906463" indent="-304800"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906463" indent="-304800"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906463" indent="-304800"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906463" indent="-304800"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906463" indent="-304800"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906463" indent="-457200">
              <a:buSzPts val="2400"/>
              <a:buFont typeface="+mj-lt"/>
              <a:buAutoNum type="alphaLcPeriod" startAt="6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Explain what the solution means in this context.</a:t>
            </a:r>
            <a:endParaRPr dirty="0"/>
          </a:p>
        </p:txBody>
      </p:sp>
      <p:sp>
        <p:nvSpPr>
          <p:cNvPr id="257" name="Google Shape;257;p31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136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2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64" name="Google Shape;264;p32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66" name="Google Shape;266;p32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136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7" name="Google Shape;267;p32"/>
          <p:cNvGraphicFramePr/>
          <p:nvPr>
            <p:extLst>
              <p:ext uri="{D42A27DB-BD31-4B8C-83A1-F6EECF244321}">
                <p14:modId xmlns:p14="http://schemas.microsoft.com/office/powerpoint/2010/main" val="2105718015"/>
              </p:ext>
            </p:extLst>
          </p:nvPr>
        </p:nvGraphicFramePr>
        <p:xfrm>
          <a:off x="3101612" y="3227384"/>
          <a:ext cx="6714500" cy="1877700"/>
        </p:xfrm>
        <a:graphic>
          <a:graphicData uri="http://schemas.openxmlformats.org/drawingml/2006/table">
            <a:tbl>
              <a:tblPr>
                <a:noFill/>
                <a:tableStyleId>{378138D9-8BE6-4A8F-B37F-E07A4A816217}</a:tableStyleId>
              </a:tblPr>
              <a:tblGrid>
                <a:gridCol w="33572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35725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Known Quantities</a:t>
                      </a:r>
                      <a:endParaRPr sz="1400" u="none" strike="noStrike" cap="none" dirty="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Unknown Quantities</a:t>
                      </a:r>
                      <a:endParaRPr sz="1400" u="none" strike="noStrike" cap="none" dirty="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09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1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68575" marR="68575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1400" u="none" strike="noStrike" cap="none" dirty="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68575" marR="68575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7" name="Google Shape;256;p31"/>
              <p:cNvSpPr txBox="1"/>
              <p:nvPr/>
            </p:nvSpPr>
            <p:spPr>
              <a:xfrm>
                <a:off x="532660" y="382967"/>
                <a:ext cx="10800000" cy="26776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Six friends met for a book club at a local coffee shop. Each person ordered a small cup of coffee and a muffin. The total for the order, including taxes, was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$37.56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. If the cost of a small coffee is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$3.79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 after taxes, find the cost of one muffin after taxes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900113" lvl="1" indent="-457200">
                  <a:buFont typeface="+mj-lt"/>
                  <a:buAutoNum type="alphaLcPeriod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Complete the table to describe the known and unknown quantities in this situation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>.</a:t>
                </a:r>
                <a:endParaRPr sz="2400" dirty="0">
                  <a:latin typeface="Verdana" pitchFamily="34" charset="0"/>
                  <a:ea typeface="Verdana" pitchFamily="34" charset="0"/>
                </a:endParaRPr>
              </a:p>
            </p:txBody>
          </p:sp>
        </mc:Choice>
        <mc:Fallback>
          <p:sp>
            <p:nvSpPr>
              <p:cNvPr id="7" name="Google Shape;256;p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660" y="382967"/>
                <a:ext cx="10800000" cy="2677616"/>
              </a:xfrm>
              <a:prstGeom prst="rect">
                <a:avLst/>
              </a:prstGeom>
              <a:blipFill rotWithShape="1">
                <a:blip r:embed="rId4"/>
                <a:stretch>
                  <a:fillRect l="-847" t="-1822" b="-432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3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74" name="Google Shape;274;p33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75" name="Google Shape;275;p33"/>
          <p:cNvSpPr txBox="1"/>
          <p:nvPr/>
        </p:nvSpPr>
        <p:spPr>
          <a:xfrm>
            <a:off x="532660" y="382967"/>
            <a:ext cx="10515600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06463" indent="-457200">
              <a:buSzPts val="2400"/>
              <a:buFont typeface="Arial"/>
              <a:buAutoNum type="alphaLcPeriod" startAt="2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Define the unknown quantity using a variable.</a:t>
            </a:r>
            <a:endParaRPr dirty="0"/>
          </a:p>
          <a:p>
            <a:pPr marL="906463" indent="-304800"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906463" indent="-304800"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906463" indent="-304800"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906463" indent="-304800"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906463" indent="-304800"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906463" indent="-304800"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906463" indent="-304800"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906463" indent="-457200">
              <a:buSzPts val="2400"/>
              <a:buFont typeface="+mj-lt"/>
              <a:buAutoNum type="alphaLcPeriod" startAt="3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Write an equation that could be used to find the unknown quantity using the variable defined.</a:t>
            </a:r>
            <a:endParaRPr dirty="0"/>
          </a:p>
        </p:txBody>
      </p:sp>
      <p:sp>
        <p:nvSpPr>
          <p:cNvPr id="276" name="Google Shape;276;p33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136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4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83" name="Google Shape;283;p34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84" name="Google Shape;284;p34"/>
          <p:cNvSpPr txBox="1"/>
          <p:nvPr/>
        </p:nvSpPr>
        <p:spPr>
          <a:xfrm>
            <a:off x="532661" y="378349"/>
            <a:ext cx="10515600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06463" indent="-457200">
              <a:buSzPts val="2400"/>
              <a:buFont typeface="Arial"/>
              <a:buAutoNum type="alphaLcPeriod" startAt="4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Solve the equation.</a:t>
            </a:r>
            <a:endParaRPr dirty="0"/>
          </a:p>
          <a:p>
            <a:pPr marL="906463" indent="-304800"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906463" indent="-304800"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906463" indent="-304800"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906463" indent="-304800"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906463" indent="-304800"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906463" indent="-304800"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906463" indent="-304800"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906463" indent="-457200">
              <a:buSzPts val="2400"/>
              <a:buFont typeface="+mj-lt"/>
              <a:buAutoNum type="alphaLcPeriod" startAt="5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Explain what the solution means in this context.</a:t>
            </a:r>
            <a:endParaRPr dirty="0"/>
          </a:p>
        </p:txBody>
      </p:sp>
      <p:sp>
        <p:nvSpPr>
          <p:cNvPr id="285" name="Google Shape;285;p34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137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5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92" name="Google Shape;292;p35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93" name="Google Shape;293;p35"/>
          <p:cNvSpPr txBox="1">
            <a:spLocks noGrp="1"/>
          </p:cNvSpPr>
          <p:nvPr>
            <p:ph type="title" idx="4294967295"/>
          </p:nvPr>
        </p:nvSpPr>
        <p:spPr>
          <a:xfrm>
            <a:off x="3584748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4" name="Google Shape;294;p35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137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5" name="Google Shape;295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37439"/>
            <a:ext cx="1156228" cy="115622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6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02" name="Google Shape;302;p36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03" name="Google Shape;303;p36"/>
          <p:cNvSpPr txBox="1"/>
          <p:nvPr/>
        </p:nvSpPr>
        <p:spPr>
          <a:xfrm>
            <a:off x="1151878" y="10356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10.9.3 Try It: Writing Two-Step Equations from Real-World Contexts</a:t>
            </a:r>
            <a:endParaRPr sz="3600" dirty="0"/>
          </a:p>
        </p:txBody>
      </p:sp>
      <p:sp>
        <p:nvSpPr>
          <p:cNvPr id="305" name="Google Shape;305;p36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137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6" name="Google Shape;306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2865" y="390286"/>
            <a:ext cx="752254" cy="7522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/>
              <p:cNvSpPr/>
              <p:nvPr/>
            </p:nvSpPr>
            <p:spPr>
              <a:xfrm>
                <a:off x="534957" y="1460499"/>
                <a:ext cx="10800000" cy="2308324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The average toddler's height increases by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0.2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 inches per month. Maurice's youngest brother James, who is a toddler, 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>is</a:t>
                </a: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35.45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 inches tall. If he grows at the average rate, how long will it take James to reach a height of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37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 inches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>?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>
                  <a:buFont typeface="+mj-lt"/>
                  <a:buAutoNum type="alphaLcPeriod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Define the unknown quantity using a variable.</a:t>
                </a:r>
              </a:p>
            </p:txBody>
          </p:sp>
        </mc:Choice>
        <mc:Fallback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957" y="1460499"/>
                <a:ext cx="10800000" cy="2308324"/>
              </a:xfrm>
              <a:prstGeom prst="rect">
                <a:avLst/>
              </a:prstGeom>
              <a:blipFill rotWithShape="1">
                <a:blip r:embed="rId5"/>
                <a:stretch>
                  <a:fillRect l="-903" t="-2381" r="-395" b="-5291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13" name="Google Shape;313;p3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14" name="Google Shape;314;p37"/>
          <p:cNvSpPr txBox="1"/>
          <p:nvPr/>
        </p:nvSpPr>
        <p:spPr>
          <a:xfrm>
            <a:off x="532661" y="382968"/>
            <a:ext cx="10515600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06463" indent="-457200">
              <a:buSzPts val="2400"/>
              <a:buFont typeface="Arial"/>
              <a:buAutoNum type="alphaLcPeriod" startAt="2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Write an equation that could be used to find the unknown quantity using the variable </a:t>
            </a:r>
            <a:r>
              <a:rPr lang="en-US" sz="2400" dirty="0" smtClean="0">
                <a:latin typeface="Verdana"/>
                <a:ea typeface="Verdana"/>
                <a:cs typeface="Verdana"/>
                <a:sym typeface="Verdana"/>
              </a:rPr>
              <a:t>defined.</a:t>
            </a:r>
          </a:p>
          <a:p>
            <a:pPr marL="906463" indent="-457200">
              <a:buSzPts val="2400"/>
              <a:buFont typeface="Arial"/>
              <a:buAutoNum type="alphaLcPeriod" startAt="2"/>
            </a:pPr>
            <a:endParaRPr lang="en-US" sz="2400" dirty="0">
              <a:latin typeface="Verdana"/>
              <a:ea typeface="Verdana"/>
              <a:cs typeface="Verdana"/>
              <a:sym typeface="Verdana"/>
            </a:endParaRPr>
          </a:p>
          <a:p>
            <a:pPr marL="906463" indent="-457200">
              <a:buSzPts val="2400"/>
              <a:buFont typeface="Arial"/>
              <a:buAutoNum type="alphaLcPeriod" startAt="2"/>
            </a:pPr>
            <a:endParaRPr lang="en-US" sz="2400" dirty="0" smtClean="0">
              <a:latin typeface="Verdana"/>
              <a:ea typeface="Verdana"/>
              <a:cs typeface="Verdana"/>
              <a:sym typeface="Verdana"/>
            </a:endParaRPr>
          </a:p>
          <a:p>
            <a:pPr marL="906463" indent="-457200">
              <a:buSzPts val="2400"/>
              <a:buFont typeface="Arial"/>
              <a:buAutoNum type="alphaLcPeriod" startAt="2"/>
            </a:pPr>
            <a:endParaRPr lang="en-US" sz="2400" dirty="0">
              <a:latin typeface="Verdana"/>
              <a:ea typeface="Verdana"/>
              <a:cs typeface="Verdana"/>
              <a:sym typeface="Verdana"/>
            </a:endParaRPr>
          </a:p>
          <a:p>
            <a:pPr marL="906463" indent="-457200">
              <a:buSzPts val="2400"/>
              <a:buFont typeface="Arial"/>
              <a:buAutoNum type="alphaLcPeriod" startAt="2"/>
            </a:pPr>
            <a:endParaRPr lang="en-US" sz="2400" dirty="0" smtClean="0">
              <a:latin typeface="Verdana"/>
              <a:ea typeface="Verdana"/>
              <a:cs typeface="Verdana"/>
              <a:sym typeface="Verdana"/>
            </a:endParaRPr>
          </a:p>
          <a:p>
            <a:pPr marL="906463" indent="-457200">
              <a:buSzPts val="2400"/>
              <a:buFont typeface="Arial"/>
              <a:buAutoNum type="alphaLcPeriod" startAt="2"/>
            </a:pPr>
            <a:r>
              <a:rPr lang="en-US" sz="2400" dirty="0" smtClean="0">
                <a:latin typeface="Verdana"/>
                <a:ea typeface="Verdana"/>
                <a:cs typeface="Verdana"/>
                <a:sym typeface="Verdana"/>
              </a:rPr>
              <a:t>Solve </a:t>
            </a: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-US" sz="2400" dirty="0" smtClean="0">
                <a:latin typeface="Verdana"/>
                <a:ea typeface="Verdana"/>
                <a:cs typeface="Verdana"/>
                <a:sym typeface="Verdana"/>
              </a:rPr>
              <a:t>equation.</a:t>
            </a:r>
          </a:p>
          <a:p>
            <a:pPr marL="906463" indent="-457200">
              <a:buSzPts val="2400"/>
              <a:buFont typeface="Arial"/>
              <a:buAutoNum type="alphaLcPeriod" startAt="2"/>
            </a:pPr>
            <a:endParaRPr lang="en-US" sz="2400" dirty="0">
              <a:latin typeface="Verdana"/>
              <a:ea typeface="Verdana"/>
              <a:cs typeface="Verdana"/>
              <a:sym typeface="Verdana"/>
            </a:endParaRPr>
          </a:p>
          <a:p>
            <a:pPr marL="906463" indent="-457200">
              <a:buSzPts val="2400"/>
              <a:buFont typeface="Arial"/>
              <a:buAutoNum type="alphaLcPeriod" startAt="2"/>
            </a:pPr>
            <a:endParaRPr lang="en-US" sz="2400" dirty="0" smtClean="0">
              <a:latin typeface="Verdana"/>
              <a:ea typeface="Verdana"/>
              <a:cs typeface="Verdana"/>
              <a:sym typeface="Verdana"/>
            </a:endParaRPr>
          </a:p>
          <a:p>
            <a:pPr marL="906463" indent="-457200">
              <a:buSzPts val="2400"/>
              <a:buFont typeface="Arial"/>
              <a:buAutoNum type="alphaLcPeriod" startAt="2"/>
            </a:pPr>
            <a:endParaRPr lang="en-US" sz="2400" dirty="0">
              <a:latin typeface="Verdana"/>
              <a:ea typeface="Verdana"/>
              <a:cs typeface="Verdana"/>
              <a:sym typeface="Verdana"/>
            </a:endParaRPr>
          </a:p>
          <a:p>
            <a:pPr marL="906463" indent="-457200">
              <a:buSzPts val="2400"/>
              <a:buFont typeface="Arial"/>
              <a:buAutoNum type="alphaLcPeriod" startAt="2"/>
            </a:pPr>
            <a:endParaRPr lang="en-US" sz="2400" dirty="0" smtClean="0">
              <a:latin typeface="Verdana"/>
              <a:ea typeface="Verdana"/>
              <a:cs typeface="Verdana"/>
              <a:sym typeface="Verdana"/>
            </a:endParaRPr>
          </a:p>
          <a:p>
            <a:pPr marL="906463" indent="-457200">
              <a:buSzPts val="2400"/>
              <a:buFont typeface="Arial"/>
              <a:buAutoNum type="alphaLcPeriod" startAt="2"/>
            </a:pPr>
            <a:r>
              <a:rPr lang="en-US" sz="2400" dirty="0" smtClean="0">
                <a:latin typeface="Verdana"/>
                <a:ea typeface="Verdana"/>
                <a:cs typeface="Verdana"/>
                <a:sym typeface="Verdana"/>
              </a:rPr>
              <a:t>Explain </a:t>
            </a: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what the solution means in this context.</a:t>
            </a:r>
            <a:endParaRPr dirty="0"/>
          </a:p>
        </p:txBody>
      </p:sp>
      <p:sp>
        <p:nvSpPr>
          <p:cNvPr id="6" name="Google Shape;305;p36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137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8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22" name="Google Shape;322;p38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23" name="Google Shape;323;p38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24" name="Google Shape;324;p38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138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5" name="Google Shape;325;p3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63532"/>
            <a:ext cx="1154982" cy="115498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9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32" name="Google Shape;332;p39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33" name="Google Shape;333;p39"/>
          <p:cNvSpPr txBox="1"/>
          <p:nvPr/>
        </p:nvSpPr>
        <p:spPr>
          <a:xfrm>
            <a:off x="1152977" y="10382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10.9.4 Guided Practice: Writing Two-Step Equations from Real-World Contexts Involving Percentages</a:t>
            </a:r>
            <a:endParaRPr sz="1600" dirty="0"/>
          </a:p>
        </p:txBody>
      </p:sp>
      <p:grpSp>
        <p:nvGrpSpPr>
          <p:cNvPr id="335" name="Google Shape;335;p39"/>
          <p:cNvGrpSpPr/>
          <p:nvPr/>
        </p:nvGrpSpPr>
        <p:grpSpPr>
          <a:xfrm>
            <a:off x="2781300" y="2796395"/>
            <a:ext cx="6629400" cy="1054079"/>
            <a:chOff x="2031300" y="3252877"/>
            <a:chExt cx="6629400" cy="1054225"/>
          </a:xfrm>
        </p:grpSpPr>
        <p:sp>
          <p:nvSpPr>
            <p:cNvPr id="336" name="Google Shape;336;p39"/>
            <p:cNvSpPr/>
            <p:nvPr/>
          </p:nvSpPr>
          <p:spPr>
            <a:xfrm>
              <a:off x="2031300" y="3252877"/>
              <a:ext cx="6629400" cy="1054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sz="1200">
                  <a:latin typeface="Cambria"/>
                  <a:ea typeface="Cambria"/>
                  <a:cs typeface="Cambria"/>
                  <a:sym typeface="Cambria"/>
                </a:rPr>
                <a:t> </a:t>
              </a:r>
              <a:endParaRPr/>
            </a:p>
          </p:txBody>
        </p:sp>
        <p:grpSp>
          <p:nvGrpSpPr>
            <p:cNvPr id="337" name="Google Shape;337;p39"/>
            <p:cNvGrpSpPr/>
            <p:nvPr/>
          </p:nvGrpSpPr>
          <p:grpSpPr>
            <a:xfrm>
              <a:off x="2031300" y="3252877"/>
              <a:ext cx="6629400" cy="1054225"/>
              <a:chOff x="2031300" y="3252877"/>
              <a:chExt cx="6629400" cy="1054225"/>
            </a:xfrm>
          </p:grpSpPr>
          <p:sp>
            <p:nvSpPr>
              <p:cNvPr id="338" name="Google Shape;338;p39"/>
              <p:cNvSpPr/>
              <p:nvPr/>
            </p:nvSpPr>
            <p:spPr>
              <a:xfrm>
                <a:off x="2031300" y="3252877"/>
                <a:ext cx="6629400" cy="1054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/>
                    <a:ea typeface="Cambria"/>
                    <a:cs typeface="Cambria"/>
                    <a:sym typeface="Cambria"/>
                  </a:rPr>
                  <a:t> </a:t>
                </a:r>
                <a:endParaRPr/>
              </a:p>
            </p:txBody>
          </p:sp>
          <p:grpSp>
            <p:nvGrpSpPr>
              <p:cNvPr id="339" name="Google Shape;339;p39"/>
              <p:cNvGrpSpPr/>
              <p:nvPr/>
            </p:nvGrpSpPr>
            <p:grpSpPr>
              <a:xfrm>
                <a:off x="2031300" y="3252877"/>
                <a:ext cx="6629400" cy="1054225"/>
                <a:chOff x="2031300" y="3252877"/>
                <a:chExt cx="6629400" cy="1054225"/>
              </a:xfrm>
            </p:grpSpPr>
            <p:sp>
              <p:nvSpPr>
                <p:cNvPr id="340" name="Google Shape;340;p39"/>
                <p:cNvSpPr/>
                <p:nvPr/>
              </p:nvSpPr>
              <p:spPr>
                <a:xfrm>
                  <a:off x="2031300" y="3252877"/>
                  <a:ext cx="6629400" cy="10542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/>
                      <a:ea typeface="Cambria"/>
                      <a:cs typeface="Cambria"/>
                      <a:sym typeface="Cambria"/>
                    </a:rPr>
                    <a:t> </a:t>
                  </a:r>
                  <a:endParaRPr/>
                </a:p>
              </p:txBody>
            </p:sp>
            <p:grpSp>
              <p:nvGrpSpPr>
                <p:cNvPr id="341" name="Google Shape;341;p39"/>
                <p:cNvGrpSpPr/>
                <p:nvPr/>
              </p:nvGrpSpPr>
              <p:grpSpPr>
                <a:xfrm>
                  <a:off x="2031300" y="3252877"/>
                  <a:ext cx="6629400" cy="1054225"/>
                  <a:chOff x="2031300" y="3252877"/>
                  <a:chExt cx="6629400" cy="1054225"/>
                </a:xfrm>
              </p:grpSpPr>
              <p:sp>
                <p:nvSpPr>
                  <p:cNvPr id="342" name="Google Shape;342;p39"/>
                  <p:cNvSpPr/>
                  <p:nvPr/>
                </p:nvSpPr>
                <p:spPr>
                  <a:xfrm>
                    <a:off x="2031300" y="3252877"/>
                    <a:ext cx="6629400" cy="10542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>
                      <a:spcAft>
                        <a:spcPts val="1000"/>
                      </a:spcAft>
                    </a:pPr>
                    <a:r>
                      <a:rPr lang="en-US" sz="1200">
                        <a:latin typeface="Cambria"/>
                        <a:ea typeface="Cambria"/>
                        <a:cs typeface="Cambria"/>
                        <a:sym typeface="Cambria"/>
                      </a:rPr>
                      <a:t> </a:t>
                    </a:r>
                    <a:endParaRPr/>
                  </a:p>
                </p:txBody>
              </p:sp>
              <p:grpSp>
                <p:nvGrpSpPr>
                  <p:cNvPr id="343" name="Google Shape;343;p39"/>
                  <p:cNvGrpSpPr/>
                  <p:nvPr/>
                </p:nvGrpSpPr>
                <p:grpSpPr>
                  <a:xfrm>
                    <a:off x="2031300" y="3252878"/>
                    <a:ext cx="6629400" cy="1054222"/>
                    <a:chOff x="2031300" y="3262288"/>
                    <a:chExt cx="6629400" cy="1035400"/>
                  </a:xfrm>
                </p:grpSpPr>
                <p:sp>
                  <p:nvSpPr>
                    <p:cNvPr id="344" name="Google Shape;344;p39"/>
                    <p:cNvSpPr/>
                    <p:nvPr/>
                  </p:nvSpPr>
                  <p:spPr>
                    <a:xfrm>
                      <a:off x="2031300" y="3262288"/>
                      <a:ext cx="6629400" cy="10354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>
                        <a:spcAft>
                          <a:spcPts val="1000"/>
                        </a:spcAft>
                      </a:pPr>
                      <a:r>
                        <a:rPr lang="en-US" sz="12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 </a:t>
                      </a:r>
                      <a:endParaRPr/>
                    </a:p>
                  </p:txBody>
                </p:sp>
                <p:grpSp>
                  <p:nvGrpSpPr>
                    <p:cNvPr id="345" name="Google Shape;345;p39"/>
                    <p:cNvGrpSpPr/>
                    <p:nvPr/>
                  </p:nvGrpSpPr>
                  <p:grpSpPr>
                    <a:xfrm>
                      <a:off x="2031300" y="3262288"/>
                      <a:ext cx="6629400" cy="1035400"/>
                      <a:chOff x="2031300" y="3373600"/>
                      <a:chExt cx="6629400" cy="1035400"/>
                    </a:xfrm>
                  </p:grpSpPr>
                  <p:sp>
                    <p:nvSpPr>
                      <p:cNvPr id="346" name="Google Shape;346;p39"/>
                      <p:cNvSpPr/>
                      <p:nvPr/>
                    </p:nvSpPr>
                    <p:spPr>
                      <a:xfrm>
                        <a:off x="2031300" y="3373600"/>
                        <a:ext cx="6629400" cy="103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>
                          <a:spcAft>
                            <a:spcPts val="1000"/>
                          </a:spcAft>
                        </a:pPr>
                        <a:r>
                          <a:rPr lang="en-US" sz="1200">
                            <a:latin typeface="Cambria"/>
                            <a:ea typeface="Cambria"/>
                            <a:cs typeface="Cambria"/>
                            <a:sym typeface="Cambria"/>
                          </a:rPr>
                          <a:t> </a:t>
                        </a:r>
                        <a:endParaRPr/>
                      </a:p>
                    </p:txBody>
                  </p:sp>
                  <p:grpSp>
                    <p:nvGrpSpPr>
                      <p:cNvPr id="347" name="Google Shape;347;p39"/>
                      <p:cNvGrpSpPr/>
                      <p:nvPr/>
                    </p:nvGrpSpPr>
                    <p:grpSpPr>
                      <a:xfrm>
                        <a:off x="2031300" y="3373600"/>
                        <a:ext cx="6629400" cy="812800"/>
                        <a:chOff x="2031300" y="3373600"/>
                        <a:chExt cx="6629400" cy="812800"/>
                      </a:xfrm>
                    </p:grpSpPr>
                    <p:sp>
                      <p:nvSpPr>
                        <p:cNvPr id="348" name="Google Shape;348;p39"/>
                        <p:cNvSpPr/>
                        <p:nvPr/>
                      </p:nvSpPr>
                      <p:spPr>
                        <a:xfrm>
                          <a:off x="2031300" y="3373600"/>
                          <a:ext cx="6629400" cy="812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>
                            <a:spcAft>
                              <a:spcPts val="1000"/>
                            </a:spcAft>
                          </a:pPr>
                          <a:r>
                            <a:rPr lang="en-US" sz="1200"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 </a:t>
                          </a:r>
                          <a:endParaRPr/>
                        </a:p>
                      </p:txBody>
                    </p:sp>
                    <p:sp>
                      <p:nvSpPr>
                        <p:cNvPr id="349" name="Google Shape;349;p39"/>
                        <p:cNvSpPr/>
                        <p:nvPr/>
                      </p:nvSpPr>
                      <p:spPr>
                        <a:xfrm>
                          <a:off x="2031300" y="3373600"/>
                          <a:ext cx="6629400" cy="812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>
                            <a:spcAft>
                              <a:spcPts val="1000"/>
                            </a:spcAft>
                          </a:pPr>
                          <a:r>
                            <a:rPr lang="en-US" sz="1200"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 </a:t>
                          </a:r>
                          <a:endParaRPr/>
                        </a:p>
                      </p:txBody>
                    </p:sp>
                  </p:grpSp>
                </p:grpSp>
              </p:grpSp>
            </p:grpSp>
          </p:grpSp>
        </p:grpSp>
      </p:grpSp>
      <p:sp>
        <p:nvSpPr>
          <p:cNvPr id="350" name="Google Shape;350;p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138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1" name="Google Shape;351;p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2865" y="390818"/>
            <a:ext cx="751722" cy="75172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4" name="Rectangle 23"/>
              <p:cNvSpPr/>
              <p:nvPr/>
            </p:nvSpPr>
            <p:spPr>
              <a:xfrm>
                <a:off x="534957" y="1460499"/>
                <a:ext cx="10800000" cy="2308324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Victoria works as a salesperson. She earns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$350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 per week, plus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10%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 commission on her weekly sales. If Victoria needs to earn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$800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 this week, determine how much she needs to sell this week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900113" lvl="1" indent="-457200">
                  <a:buFont typeface="+mj-lt"/>
                  <a:buAutoNum type="alphaLcPeriod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Define the unknown quantity using a variable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957" y="1460499"/>
                <a:ext cx="10800000" cy="2308324"/>
              </a:xfrm>
              <a:prstGeom prst="rect">
                <a:avLst/>
              </a:prstGeom>
              <a:blipFill rotWithShape="1">
                <a:blip r:embed="rId5"/>
                <a:stretch>
                  <a:fillRect l="-903" t="-2381" b="-5291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0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58" name="Google Shape;358;p40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59" name="Google Shape;359;p40"/>
          <p:cNvSpPr txBox="1"/>
          <p:nvPr/>
        </p:nvSpPr>
        <p:spPr>
          <a:xfrm>
            <a:off x="541538" y="382968"/>
            <a:ext cx="10515600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06463" lvl="2" indent="-457200">
              <a:buSzPts val="2400"/>
              <a:buFont typeface="Arial"/>
              <a:buAutoNum type="alphaLcPeriod" startAt="2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Write an equation that could be used to find the unknown quantity using the variable </a:t>
            </a:r>
            <a:r>
              <a:rPr lang="en-US" sz="2400" dirty="0" smtClean="0">
                <a:latin typeface="Verdana"/>
                <a:ea typeface="Verdana"/>
                <a:cs typeface="Verdana"/>
                <a:sym typeface="Verdana"/>
              </a:rPr>
              <a:t>defined.</a:t>
            </a:r>
          </a:p>
          <a:p>
            <a:pPr marL="906463" lvl="2" indent="-457200">
              <a:buSzPts val="2400"/>
              <a:buFont typeface="Arial"/>
              <a:buAutoNum type="alphaLcPeriod" startAt="2"/>
            </a:pPr>
            <a:endParaRPr lang="en-US" sz="2400" dirty="0">
              <a:latin typeface="Verdana"/>
              <a:ea typeface="Verdana"/>
              <a:cs typeface="Verdana"/>
              <a:sym typeface="Verdana"/>
            </a:endParaRPr>
          </a:p>
          <a:p>
            <a:pPr marL="906463" lvl="2" indent="-457200">
              <a:buSzPts val="2400"/>
              <a:buFont typeface="Arial"/>
              <a:buAutoNum type="alphaLcPeriod" startAt="2"/>
            </a:pPr>
            <a:endParaRPr lang="en-US" sz="2400" dirty="0" smtClean="0">
              <a:latin typeface="Verdana"/>
              <a:ea typeface="Verdana"/>
              <a:cs typeface="Verdana"/>
              <a:sym typeface="Verdana"/>
            </a:endParaRPr>
          </a:p>
          <a:p>
            <a:pPr marL="906463" lvl="2" indent="-457200">
              <a:buSzPts val="2400"/>
              <a:buFont typeface="Arial"/>
              <a:buAutoNum type="alphaLcPeriod" startAt="2"/>
            </a:pPr>
            <a:endParaRPr lang="en-US" sz="2400" dirty="0">
              <a:latin typeface="Verdana"/>
              <a:ea typeface="Verdana"/>
              <a:cs typeface="Verdana"/>
              <a:sym typeface="Verdana"/>
            </a:endParaRPr>
          </a:p>
          <a:p>
            <a:pPr marL="906463" lvl="2" indent="-457200">
              <a:buSzPts val="2400"/>
              <a:buFont typeface="Arial"/>
              <a:buAutoNum type="alphaLcPeriod" startAt="2"/>
            </a:pPr>
            <a:endParaRPr lang="en-US" sz="2400" dirty="0">
              <a:latin typeface="Verdana"/>
              <a:ea typeface="Verdana"/>
              <a:cs typeface="Verdana"/>
              <a:sym typeface="Verdana"/>
            </a:endParaRPr>
          </a:p>
          <a:p>
            <a:pPr marL="906463" lvl="2" indent="-457200">
              <a:buSzPts val="2400"/>
              <a:buFont typeface="Arial"/>
              <a:buAutoNum type="alphaLcPeriod" startAt="2"/>
            </a:pPr>
            <a:r>
              <a:rPr lang="en-US" sz="2400" dirty="0" smtClean="0">
                <a:latin typeface="Verdana"/>
                <a:ea typeface="Verdana"/>
                <a:cs typeface="Verdana"/>
                <a:sym typeface="Verdana"/>
              </a:rPr>
              <a:t>Solve </a:t>
            </a: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-US" sz="2400" dirty="0" smtClean="0">
                <a:latin typeface="Verdana"/>
                <a:ea typeface="Verdana"/>
                <a:cs typeface="Verdana"/>
                <a:sym typeface="Verdana"/>
              </a:rPr>
              <a:t>equation.</a:t>
            </a:r>
          </a:p>
          <a:p>
            <a:pPr marL="906463" lvl="2" indent="-457200">
              <a:buSzPts val="2400"/>
              <a:buFont typeface="Arial"/>
              <a:buAutoNum type="alphaLcPeriod" startAt="2"/>
            </a:pPr>
            <a:endParaRPr lang="en-US" sz="2400" dirty="0">
              <a:latin typeface="Verdana"/>
              <a:ea typeface="Verdana"/>
              <a:cs typeface="Verdana"/>
              <a:sym typeface="Verdana"/>
            </a:endParaRPr>
          </a:p>
          <a:p>
            <a:pPr marL="906463" lvl="2" indent="-457200">
              <a:buSzPts val="2400"/>
              <a:buFont typeface="Arial"/>
              <a:buAutoNum type="alphaLcPeriod" startAt="2"/>
            </a:pPr>
            <a:endParaRPr lang="en-US" sz="2400" dirty="0" smtClean="0">
              <a:latin typeface="Verdana"/>
              <a:ea typeface="Verdana"/>
              <a:cs typeface="Verdana"/>
              <a:sym typeface="Verdana"/>
            </a:endParaRPr>
          </a:p>
          <a:p>
            <a:pPr marL="906463" lvl="2" indent="-457200">
              <a:buSzPts val="2400"/>
              <a:buFont typeface="Arial"/>
              <a:buAutoNum type="alphaLcPeriod" startAt="2"/>
            </a:pPr>
            <a:endParaRPr lang="en-US" sz="2400" dirty="0" smtClean="0">
              <a:latin typeface="Verdana"/>
              <a:ea typeface="Verdana"/>
              <a:cs typeface="Verdana"/>
              <a:sym typeface="Verdana"/>
            </a:endParaRPr>
          </a:p>
          <a:p>
            <a:pPr marL="906463" lvl="2" indent="-457200">
              <a:buSzPts val="2400"/>
              <a:buFont typeface="Arial"/>
              <a:buAutoNum type="alphaLcPeriod" startAt="2"/>
            </a:pPr>
            <a:endParaRPr lang="en-US" sz="2400" dirty="0">
              <a:latin typeface="Verdana"/>
              <a:ea typeface="Verdana"/>
              <a:cs typeface="Verdana"/>
              <a:sym typeface="Verdana"/>
            </a:endParaRPr>
          </a:p>
          <a:p>
            <a:pPr marL="906463" lvl="2" indent="-457200">
              <a:buSzPts val="2400"/>
              <a:buFont typeface="Arial"/>
              <a:buAutoNum type="alphaLcPeriod" startAt="2"/>
            </a:pPr>
            <a:r>
              <a:rPr lang="en-US" sz="2400" dirty="0" smtClean="0">
                <a:latin typeface="Verdana"/>
                <a:ea typeface="Verdana"/>
                <a:cs typeface="Verdana"/>
                <a:sym typeface="Verdana"/>
              </a:rPr>
              <a:t>Explain </a:t>
            </a: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what the solution means in this context.</a:t>
            </a:r>
            <a:endParaRPr dirty="0"/>
          </a:p>
        </p:txBody>
      </p:sp>
      <p:sp>
        <p:nvSpPr>
          <p:cNvPr id="360" name="Google Shape;360;p40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138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67" name="Google Shape;367;p41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69" name="Google Shape;369;p41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138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Google Shape;359;p40"/>
              <p:cNvSpPr txBox="1"/>
              <p:nvPr/>
            </p:nvSpPr>
            <p:spPr>
              <a:xfrm>
                <a:off x="541538" y="382968"/>
                <a:ext cx="10800000" cy="41549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Maddox has a coupon for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$10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 off his purchase at Foot Zone. He found a pair of shoes he wants that is marked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20%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 off. If Maddox paid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$36.20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 before taxes were applied, what was the original price of the shoes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>?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900113" lvl="1" indent="-457200">
                  <a:buFont typeface="+mj-lt"/>
                  <a:buAutoNum type="alphaLcPeriod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Define the unknown quantity using a variable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>.</a:t>
                </a:r>
              </a:p>
              <a:p>
                <a:pPr marL="900113" lvl="1" indent="-457200">
                  <a:buFont typeface="+mj-lt"/>
                  <a:buAutoNum type="alphaLcPeriod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900113" lvl="1" indent="-457200">
                  <a:buFont typeface="+mj-lt"/>
                  <a:buAutoNum type="alphaLcPeriod"/>
                </a:pPr>
                <a:endParaRPr lang="en-US" sz="24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900113" lvl="1" indent="-457200">
                  <a:buFont typeface="+mj-lt"/>
                  <a:buAutoNum type="alphaLcPeriod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900113" lvl="1" indent="-457200">
                  <a:buFont typeface="+mj-lt"/>
                  <a:buAutoNum type="alphaLcPeriod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What percentage of the original price of the shoes did Maddox pay?</a:t>
                </a:r>
              </a:p>
            </p:txBody>
          </p:sp>
        </mc:Choice>
        <mc:Fallback>
          <p:sp>
            <p:nvSpPr>
              <p:cNvPr id="6" name="Google Shape;359;p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538" y="382968"/>
                <a:ext cx="10800000" cy="4154943"/>
              </a:xfrm>
              <a:prstGeom prst="rect">
                <a:avLst/>
              </a:prstGeom>
              <a:blipFill rotWithShape="1">
                <a:blip r:embed="rId4"/>
                <a:stretch>
                  <a:fillRect l="-903" t="-1322" r="-1186" b="-249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2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76" name="Google Shape;376;p42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77" name="Google Shape;377;p42"/>
          <p:cNvSpPr txBox="1"/>
          <p:nvPr/>
        </p:nvSpPr>
        <p:spPr>
          <a:xfrm>
            <a:off x="532660" y="382968"/>
            <a:ext cx="10515600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06463" indent="-457200">
              <a:buSzPts val="2400"/>
              <a:buFont typeface="Arial"/>
              <a:buAutoNum type="alphaLcPeriod" startAt="3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Write an equation that can be used to find the unknown quantity using the variable </a:t>
            </a:r>
            <a:r>
              <a:rPr lang="en-US" sz="2400" dirty="0" smtClean="0">
                <a:latin typeface="Verdana"/>
                <a:ea typeface="Verdana"/>
                <a:cs typeface="Verdana"/>
                <a:sym typeface="Verdana"/>
              </a:rPr>
              <a:t>defined.</a:t>
            </a:r>
          </a:p>
          <a:p>
            <a:pPr marL="906463" indent="-457200">
              <a:buSzPts val="2400"/>
              <a:buFont typeface="Arial"/>
              <a:buAutoNum type="alphaLcPeriod" startAt="3"/>
            </a:pPr>
            <a:endParaRPr lang="en-US" sz="2400" dirty="0">
              <a:latin typeface="Verdana"/>
              <a:ea typeface="Verdana"/>
              <a:cs typeface="Verdana"/>
              <a:sym typeface="Verdana"/>
            </a:endParaRPr>
          </a:p>
          <a:p>
            <a:pPr marL="906463" indent="-457200">
              <a:buSzPts val="2400"/>
              <a:buFont typeface="Arial"/>
              <a:buAutoNum type="alphaLcPeriod" startAt="3"/>
            </a:pPr>
            <a:endParaRPr lang="en-US" sz="2400" dirty="0" smtClean="0">
              <a:latin typeface="Verdana"/>
              <a:ea typeface="Verdana"/>
              <a:cs typeface="Verdana"/>
              <a:sym typeface="Verdana"/>
            </a:endParaRPr>
          </a:p>
          <a:p>
            <a:pPr marL="906463" indent="-457200">
              <a:buSzPts val="2400"/>
              <a:buFont typeface="Arial"/>
              <a:buAutoNum type="alphaLcPeriod" startAt="3"/>
            </a:pPr>
            <a:endParaRPr lang="en-US" sz="2400" dirty="0">
              <a:latin typeface="Verdana"/>
              <a:ea typeface="Verdana"/>
              <a:cs typeface="Verdana"/>
              <a:sym typeface="Verdana"/>
            </a:endParaRPr>
          </a:p>
          <a:p>
            <a:pPr marL="906463" indent="-457200">
              <a:buSzPts val="2400"/>
              <a:buFont typeface="Arial"/>
              <a:buAutoNum type="alphaLcPeriod" startAt="3"/>
            </a:pPr>
            <a:endParaRPr lang="en-US" sz="2400" dirty="0" smtClean="0">
              <a:latin typeface="Verdana"/>
              <a:ea typeface="Verdana"/>
              <a:cs typeface="Verdana"/>
              <a:sym typeface="Verdana"/>
            </a:endParaRPr>
          </a:p>
          <a:p>
            <a:pPr marL="906463" indent="-457200">
              <a:buSzPts val="2400"/>
              <a:buFont typeface="Arial"/>
              <a:buAutoNum type="alphaLcPeriod" startAt="3"/>
            </a:pPr>
            <a:r>
              <a:rPr lang="en-US" sz="2400" dirty="0" smtClean="0">
                <a:latin typeface="Verdana"/>
                <a:ea typeface="Verdana"/>
                <a:cs typeface="Verdana"/>
                <a:sym typeface="Verdana"/>
              </a:rPr>
              <a:t>Solve </a:t>
            </a: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-US" sz="2400" dirty="0" smtClean="0">
                <a:latin typeface="Verdana"/>
                <a:ea typeface="Verdana"/>
                <a:cs typeface="Verdana"/>
                <a:sym typeface="Verdana"/>
              </a:rPr>
              <a:t>equation.</a:t>
            </a:r>
          </a:p>
          <a:p>
            <a:pPr marL="906463" indent="-457200">
              <a:buSzPts val="2400"/>
              <a:buFont typeface="Arial"/>
              <a:buAutoNum type="alphaLcPeriod" startAt="3"/>
            </a:pPr>
            <a:endParaRPr lang="en-US" sz="2400" dirty="0">
              <a:latin typeface="Verdana"/>
              <a:ea typeface="Verdana"/>
              <a:cs typeface="Verdana"/>
              <a:sym typeface="Verdana"/>
            </a:endParaRPr>
          </a:p>
          <a:p>
            <a:pPr marL="906463" indent="-457200">
              <a:buSzPts val="2400"/>
              <a:buFont typeface="Arial"/>
              <a:buAutoNum type="alphaLcPeriod" startAt="3"/>
            </a:pPr>
            <a:endParaRPr lang="en-US" sz="2400" dirty="0" smtClean="0">
              <a:latin typeface="Verdana"/>
              <a:ea typeface="Verdana"/>
              <a:cs typeface="Verdana"/>
              <a:sym typeface="Verdana"/>
            </a:endParaRPr>
          </a:p>
          <a:p>
            <a:pPr marL="906463" indent="-457200">
              <a:buSzPts val="2400"/>
              <a:buFont typeface="Arial"/>
              <a:buAutoNum type="alphaLcPeriod" startAt="3"/>
            </a:pPr>
            <a:endParaRPr lang="en-US" sz="2400" dirty="0" smtClean="0">
              <a:latin typeface="Verdana"/>
              <a:ea typeface="Verdana"/>
              <a:cs typeface="Verdana"/>
              <a:sym typeface="Verdana"/>
            </a:endParaRPr>
          </a:p>
          <a:p>
            <a:pPr marL="906463" indent="-457200">
              <a:buSzPts val="2400"/>
              <a:buFont typeface="Arial"/>
              <a:buAutoNum type="alphaLcPeriod" startAt="3"/>
            </a:pPr>
            <a:endParaRPr lang="en-US" sz="2400" dirty="0">
              <a:latin typeface="Verdana"/>
              <a:ea typeface="Verdana"/>
              <a:cs typeface="Verdana"/>
              <a:sym typeface="Verdana"/>
            </a:endParaRPr>
          </a:p>
          <a:p>
            <a:pPr marL="906463" indent="-457200">
              <a:buSzPts val="2400"/>
              <a:buFont typeface="Arial"/>
              <a:buAutoNum type="alphaLcPeriod" startAt="3"/>
            </a:pPr>
            <a:r>
              <a:rPr lang="en-US" sz="2400" dirty="0" smtClean="0">
                <a:latin typeface="Verdana"/>
                <a:ea typeface="Verdana"/>
                <a:cs typeface="Verdana"/>
                <a:sym typeface="Verdana"/>
              </a:rPr>
              <a:t>Explain </a:t>
            </a: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what the solution means in this context.</a:t>
            </a:r>
            <a:endParaRPr dirty="0"/>
          </a:p>
        </p:txBody>
      </p:sp>
      <p:sp>
        <p:nvSpPr>
          <p:cNvPr id="378" name="Google Shape;378;p42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138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3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85" name="Google Shape;385;p43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86" name="Google Shape;386;p43"/>
          <p:cNvSpPr txBox="1">
            <a:spLocks noGrp="1"/>
          </p:cNvSpPr>
          <p:nvPr>
            <p:ph type="title" idx="4294967295"/>
          </p:nvPr>
        </p:nvSpPr>
        <p:spPr>
          <a:xfrm>
            <a:off x="4087368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87" name="Google Shape;387;p4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88" name="Google Shape;388;p43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4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95" name="Google Shape;395;p44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96" name="Google Shape;396;p44"/>
          <p:cNvSpPr txBox="1"/>
          <p:nvPr/>
        </p:nvSpPr>
        <p:spPr>
          <a:xfrm>
            <a:off x="1151878" y="469022"/>
            <a:ext cx="10388112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10.9.5 Wrap-Up: Error Analysis</a:t>
            </a:r>
            <a:endParaRPr sz="1600" dirty="0"/>
          </a:p>
        </p:txBody>
      </p:sp>
      <p:pic>
        <p:nvPicPr>
          <p:cNvPr id="397" name="Google Shape;397;p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7287" y="39081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99" name="Google Shape;399;p44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/>
              <p:cNvSpPr/>
              <p:nvPr/>
            </p:nvSpPr>
            <p:spPr>
              <a:xfrm>
                <a:off x="534957" y="1460499"/>
                <a:ext cx="10800000" cy="3046988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Mr. Humphries told his class he has some quarters and four dimes in his pocket, worth a total of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$2.40</m:t>
                    </m:r>
                  </m:oMath>
                </a14:m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>.</a:t>
                </a:r>
              </a:p>
              <a:p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Devin wrote the equation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25</m:t>
                    </m:r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𝑥</m:t>
                    </m:r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+40=2.40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 to represent the situation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>.</a:t>
                </a:r>
              </a:p>
              <a:p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Mr. </a:t>
                </a:r>
                <a:r>
                  <a:rPr lang="en-US" sz="2400" dirty="0" err="1">
                    <a:latin typeface="Verdana" pitchFamily="34" charset="0"/>
                    <a:ea typeface="Verdana" pitchFamily="34" charset="0"/>
                  </a:rPr>
                  <a:t>Humpries</a:t>
                </a: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told Devin his equation did not correctly represent the situation. Write an equation that correctly represents the situation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>.</a:t>
                </a: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</p:txBody>
          </p:sp>
        </mc:Choice>
        <mc:Fallback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957" y="1460499"/>
                <a:ext cx="10800000" cy="3046988"/>
              </a:xfrm>
              <a:prstGeom prst="rect">
                <a:avLst/>
              </a:prstGeom>
              <a:blipFill rotWithShape="1">
                <a:blip r:embed="rId5"/>
                <a:stretch>
                  <a:fillRect l="-903" t="-1603" r="-1750" b="-380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5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406" name="Google Shape;406;p45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408" name="Google Shape;408;p45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Google Shape;359;p40"/>
              <p:cNvSpPr txBox="1"/>
              <p:nvPr/>
            </p:nvSpPr>
            <p:spPr>
              <a:xfrm>
                <a:off x="541538" y="382968"/>
                <a:ext cx="10800000" cy="1200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If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𝑥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 represents the number of quarters, solve the equation you created in Question 1 to determine how many quarters 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/>
                </a:r>
                <a:br>
                  <a:rPr lang="en-US" sz="2400" dirty="0" smtClean="0">
                    <a:latin typeface="Verdana" pitchFamily="34" charset="0"/>
                    <a:ea typeface="Verdana" pitchFamily="34" charset="0"/>
                  </a:rPr>
                </a:br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>Mr</a:t>
                </a: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. </a:t>
                </a:r>
                <a:r>
                  <a:rPr lang="en-US" sz="2400" dirty="0" err="1">
                    <a:latin typeface="Verdana" pitchFamily="34" charset="0"/>
                    <a:ea typeface="Verdana" pitchFamily="34" charset="0"/>
                  </a:rPr>
                  <a:t>Humpries</a:t>
                </a: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has.</a:t>
                </a:r>
              </a:p>
            </p:txBody>
          </p:sp>
        </mc:Choice>
        <mc:Fallback>
          <p:sp>
            <p:nvSpPr>
              <p:cNvPr id="6" name="Google Shape;359;p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538" y="382968"/>
                <a:ext cx="10800000" cy="1200288"/>
              </a:xfrm>
              <a:prstGeom prst="rect">
                <a:avLst/>
              </a:prstGeom>
              <a:blipFill rotWithShape="1">
                <a:blip r:embed="rId4"/>
                <a:stretch>
                  <a:fillRect l="-903" t="-4569" b="-1066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735</Words>
  <Application>Microsoft Office PowerPoint</Application>
  <PresentationFormat>Custom</PresentationFormat>
  <Paragraphs>220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Arial</vt:lpstr>
      <vt:lpstr>Calibri</vt:lpstr>
      <vt:lpstr>Noto Sans Symbols</vt:lpstr>
      <vt:lpstr>Cambria Math</vt:lpstr>
      <vt:lpstr>Cambria</vt:lpstr>
      <vt:lpstr>Arial Black</vt:lpstr>
      <vt:lpstr>Verdana</vt:lpstr>
      <vt:lpstr>1_Office Theme</vt:lpstr>
      <vt:lpstr>7th Grade Math  Unit 10, Lesson 9  Writing Two-Step Equations from Real-World Contexts  Volume 2, pg. 134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Try It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7th Grade Math  Unit 10, Lesson 9  Writing Two-Step Equations from Real-World Contexts  Volume 2, pg. 134</dc:title>
  <dc:creator>Sensei</dc:creator>
  <cp:lastModifiedBy>Sensei</cp:lastModifiedBy>
  <cp:revision>6</cp:revision>
  <dcterms:modified xsi:type="dcterms:W3CDTF">2022-06-11T08:12:08Z</dcterms:modified>
</cp:coreProperties>
</file>