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Arial Black" panose="020B06040202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864A2D-E42E-4A30-B5D5-BD40BF8B4065}">
  <a:tblStyle styleId="{69864A2D-E42E-4A30-B5D5-BD40BF8B40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94C0612-B4B8-4180-A8EF-07A197E5C3A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/>
    <p:restoredTop sz="94694"/>
  </p:normalViewPr>
  <p:slideViewPr>
    <p:cSldViewPr snapToGrid="0">
      <p:cViewPr varScale="1">
        <p:scale>
          <a:sx n="121" d="100"/>
          <a:sy n="121" d="100"/>
        </p:scale>
        <p:origin x="47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954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2" name="Google Shape;31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5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ctrTitle" idx="4294967295"/>
          </p:nvPr>
        </p:nvSpPr>
        <p:spPr>
          <a:xfrm>
            <a:off x="5404919" y="2054277"/>
            <a:ext cx="541347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endParaRPr sz="3800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Equations in Real-World Context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139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9"/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p19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603831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p20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MA.7.AR.2.2</a:t>
            </a:r>
            <a:endParaRPr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two-step equations in one variable within a mathematical context or real-world context, where all terms are rational numbers.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21"/>
          <p:cNvSpPr txBox="1"/>
          <p:nvPr/>
        </p:nvSpPr>
        <p:spPr>
          <a:xfrm>
            <a:off x="1143000" y="-880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21"/>
          <p:cNvSpPr txBox="1"/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dirty="0"/>
          </a:p>
        </p:txBody>
      </p:sp>
      <p:sp>
        <p:nvSpPr>
          <p:cNvPr id="138" name="Google Shape;138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2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6575" indent="-536575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write two-step equations to represent real-world contexts.</a:t>
            </a:r>
            <a:endParaRPr dirty="0"/>
          </a:p>
          <a:p>
            <a:pPr marL="536575" indent="-314325">
              <a:buSzPts val="3500"/>
            </a:pPr>
            <a:endParaRPr sz="3500" dirty="0">
              <a:latin typeface="Verdana"/>
              <a:ea typeface="Verdana"/>
              <a:cs typeface="Verdana"/>
              <a:sym typeface="Verdana"/>
            </a:endParaRPr>
          </a:p>
          <a:p>
            <a:pPr marL="536575" indent="-536575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solve two-step equations within a real-world context.</a:t>
            </a:r>
            <a:endParaRPr dirty="0"/>
          </a:p>
        </p:txBody>
      </p:sp>
      <p:sp>
        <p:nvSpPr>
          <p:cNvPr id="149" name="Google Shape;149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1143000" y="462121"/>
            <a:ext cx="8019288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10.10.1 Warm-Up: Bell Work</a:t>
            </a:r>
            <a:endParaRPr sz="1600" dirty="0"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839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4"/>
          <p:cNvSpPr txBox="1"/>
          <p:nvPr/>
        </p:nvSpPr>
        <p:spPr>
          <a:xfrm>
            <a:off x="532661" y="1478098"/>
            <a:ext cx="10800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Mary McLeod Bethune was an educator, civil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rights activist, and advisor to five U.S. presidents.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She turned her passion for the U.S. making racial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progress into founding the Daytona Literacy and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Industrial Training School for Negro Girls in 1904.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Twenty years later, the school would merge with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 err="1">
                <a:latin typeface="Verdana"/>
                <a:ea typeface="Verdana"/>
                <a:cs typeface="Verdana"/>
                <a:sym typeface="Verdana"/>
              </a:rPr>
              <a:t>Cookman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Institute of Jacksonville to create what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is known today as Bethune-Cookman University,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 Historically Black College University (HBCU). </a:t>
            </a:r>
            <a:br>
              <a:rPr lang="en-US" sz="2400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Mary McLeod Bethune was president of the university until 1942. </a:t>
            </a:r>
            <a:endParaRPr dirty="0"/>
          </a:p>
        </p:txBody>
      </p:sp>
      <p:sp>
        <p:nvSpPr>
          <p:cNvPr id="170" name="Google Shape;170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8661" y="1478098"/>
            <a:ext cx="2634000" cy="3161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78;p25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0" name="Google Shape;180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35620" y="385110"/>
                <a:ext cx="11134800" cy="378565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2021, there were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3,773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students enrolled at Bethune-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Cookman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University, which is  more than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times the number of students enrolled in 1904.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Write an equation that could be used to find the number of students enrolled in 1904,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</a:rPr>
                  <a:t>Solve your equation.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5110"/>
                <a:ext cx="111348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76" t="-1449" b="-27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8" name="Google Shape;188;p26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0" name="Google Shape;190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2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8" name="Google Shape;198;p27"/>
          <p:cNvSpPr txBox="1"/>
          <p:nvPr/>
        </p:nvSpPr>
        <p:spPr>
          <a:xfrm>
            <a:off x="1143000" y="959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10.10.2 Collaboration: Writing and Solving Equations in Real-World Contexts</a:t>
            </a:r>
            <a:endParaRPr dirty="0"/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108" y="38391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1" name="Google Shape;201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69;p24"/>
              <p:cNvSpPr txBox="1"/>
              <p:nvPr/>
            </p:nvSpPr>
            <p:spPr>
              <a:xfrm>
                <a:off x="532661" y="1478098"/>
                <a:ext cx="10800000" cy="2677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Work with your partner or small group to complete the table for each real-world context.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Peyton was given a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$40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gift card to her local coffee shop. She went to the coffee shop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times and purchased the same thing each time. If she has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$7.08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left on her gift card, what was the cost of her purchase each time she went to the coffee shop?</a:t>
                </a:r>
              </a:p>
            </p:txBody>
          </p:sp>
        </mc:Choice>
        <mc:Fallback>
          <p:sp>
            <p:nvSpPr>
              <p:cNvPr id="10" name="Google Shape;169;p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1478098"/>
                <a:ext cx="10800000" cy="2677616"/>
              </a:xfrm>
              <a:prstGeom prst="rect">
                <a:avLst/>
              </a:prstGeom>
              <a:blipFill>
                <a:blip r:embed="rId5"/>
                <a:stretch>
                  <a:fillRect l="-822" t="-1887" r="-1878" b="-42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9" name="Google Shape;209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28"/>
          <p:cNvGraphicFramePr/>
          <p:nvPr>
            <p:extLst>
              <p:ext uri="{D42A27DB-BD31-4B8C-83A1-F6EECF244321}">
                <p14:modId xmlns:p14="http://schemas.microsoft.com/office/powerpoint/2010/main" val="890063290"/>
              </p:ext>
            </p:extLst>
          </p:nvPr>
        </p:nvGraphicFramePr>
        <p:xfrm>
          <a:off x="2627840" y="369576"/>
          <a:ext cx="7200000" cy="576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7" name="Google Shape;217;p2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9" name="Google Shape;219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9"/>
          <p:cNvGraphicFramePr/>
          <p:nvPr>
            <p:extLst>
              <p:ext uri="{D42A27DB-BD31-4B8C-83A1-F6EECF244321}">
                <p14:modId xmlns:p14="http://schemas.microsoft.com/office/powerpoint/2010/main" val="893987723"/>
              </p:ext>
            </p:extLst>
          </p:nvPr>
        </p:nvGraphicFramePr>
        <p:xfrm>
          <a:off x="2571333" y="2554955"/>
          <a:ext cx="7200000" cy="288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35620" y="385111"/>
                <a:ext cx="10994964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Florida Power and Light (FPL) charges customers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22.358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cents per kilowatt-hour of electricity used each month. Monthly charges to customers also include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$18.75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per month for service. If a customer receives a bill for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$237.86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how many kilowatt-hours were used during the month? Round your answer to nearest tenth.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5111"/>
                <a:ext cx="10994964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887" t="-2830" r="-388" b="-62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7" name="Google Shape;227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8" name="Google Shape;228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30"/>
          <p:cNvGraphicFramePr/>
          <p:nvPr>
            <p:extLst>
              <p:ext uri="{D42A27DB-BD31-4B8C-83A1-F6EECF244321}">
                <p14:modId xmlns:p14="http://schemas.microsoft.com/office/powerpoint/2010/main" val="3754088092"/>
              </p:ext>
            </p:extLst>
          </p:nvPr>
        </p:nvGraphicFramePr>
        <p:xfrm>
          <a:off x="2569783" y="377056"/>
          <a:ext cx="7200000" cy="540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8" name="Google Shape;238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5620" y="385111"/>
                <a:ext cx="10994964" cy="2124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Kai is making ham and cheese sandwiches for an upcoming camping trip with his family. He uses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/>
                            <a:ea typeface="Verdana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pound of cheese for each sandwich. He has a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-pound block of cheese and needs to use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0.75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pounds of it for a different recipe. How many ham and cheese sandwiches will he be able to make?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5111"/>
                <a:ext cx="10994964" cy="2124684"/>
              </a:xfrm>
              <a:prstGeom prst="rect">
                <a:avLst/>
              </a:prstGeom>
              <a:blipFill rotWithShape="1">
                <a:blip r:embed="rId4"/>
                <a:stretch>
                  <a:fillRect l="-887" t="-2292" b="-401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Google Shape;220;p29"/>
          <p:cNvGraphicFramePr/>
          <p:nvPr>
            <p:extLst>
              <p:ext uri="{D42A27DB-BD31-4B8C-83A1-F6EECF244321}">
                <p14:modId xmlns:p14="http://schemas.microsoft.com/office/powerpoint/2010/main" val="2470205063"/>
              </p:ext>
            </p:extLst>
          </p:nvPr>
        </p:nvGraphicFramePr>
        <p:xfrm>
          <a:off x="2571333" y="2554955"/>
          <a:ext cx="7200000" cy="288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6" name="Google Shape;246;p3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7" name="Google Shape;247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229;p30"/>
          <p:cNvGraphicFramePr/>
          <p:nvPr>
            <p:extLst>
              <p:ext uri="{D42A27DB-BD31-4B8C-83A1-F6EECF244321}">
                <p14:modId xmlns:p14="http://schemas.microsoft.com/office/powerpoint/2010/main" val="2666102616"/>
              </p:ext>
            </p:extLst>
          </p:nvPr>
        </p:nvGraphicFramePr>
        <p:xfrm>
          <a:off x="2569783" y="377056"/>
          <a:ext cx="7200000" cy="540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5620" y="385111"/>
                <a:ext cx="1099496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Fatima and Luna are members of the running club at school. Fatima ran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fewer miles this week than she did last week. She ran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times as far as Luna ran this week. Luna only had time to run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miles this week. How many miles did Fatima run last week?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5111"/>
                <a:ext cx="10994964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887" t="-3101" b="-736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Google Shape;220;p29"/>
          <p:cNvGraphicFramePr/>
          <p:nvPr>
            <p:extLst>
              <p:ext uri="{D42A27DB-BD31-4B8C-83A1-F6EECF244321}">
                <p14:modId xmlns:p14="http://schemas.microsoft.com/office/powerpoint/2010/main" val="1234380487"/>
              </p:ext>
            </p:extLst>
          </p:nvPr>
        </p:nvGraphicFramePr>
        <p:xfrm>
          <a:off x="2571333" y="2093316"/>
          <a:ext cx="7200000" cy="288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47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6" name="Google Shape;266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229;p30"/>
          <p:cNvGraphicFramePr/>
          <p:nvPr>
            <p:extLst>
              <p:ext uri="{D42A27DB-BD31-4B8C-83A1-F6EECF244321}">
                <p14:modId xmlns:p14="http://schemas.microsoft.com/office/powerpoint/2010/main" val="544142928"/>
              </p:ext>
            </p:extLst>
          </p:nvPr>
        </p:nvGraphicFramePr>
        <p:xfrm>
          <a:off x="2569783" y="377056"/>
          <a:ext cx="7200000" cy="540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4" name="Google Shape;274;p3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6" name="Google Shape;276;p3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35620" y="385111"/>
                <a:ext cx="10994964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Shirley gives each of her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grandchildren a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$15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gift card to their favorite restaurant and some cash for their birthday. She spends the same amount of money on each grandchild. If she spends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$280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each year on her grandchildren's birthday gifts, how much cash does she give each grandchild on their birthday?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5111"/>
                <a:ext cx="10994964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887" t="-2830" b="-62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Google Shape;220;p29"/>
          <p:cNvGraphicFramePr/>
          <p:nvPr>
            <p:extLst>
              <p:ext uri="{D42A27DB-BD31-4B8C-83A1-F6EECF244321}">
                <p14:modId xmlns:p14="http://schemas.microsoft.com/office/powerpoint/2010/main" val="3982253981"/>
              </p:ext>
            </p:extLst>
          </p:nvPr>
        </p:nvGraphicFramePr>
        <p:xfrm>
          <a:off x="2571333" y="2554955"/>
          <a:ext cx="7200000" cy="288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5" name="Google Shape;285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229;p30"/>
          <p:cNvGraphicFramePr/>
          <p:nvPr>
            <p:extLst>
              <p:ext uri="{D42A27DB-BD31-4B8C-83A1-F6EECF244321}">
                <p14:modId xmlns:p14="http://schemas.microsoft.com/office/powerpoint/2010/main" val="2724838022"/>
              </p:ext>
            </p:extLst>
          </p:nvPr>
        </p:nvGraphicFramePr>
        <p:xfrm>
          <a:off x="2569783" y="377056"/>
          <a:ext cx="7200000" cy="540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3" name="Google Shape;293;p3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4" name="Google Shape;294;p37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37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550"/>
            <a:ext cx="1152891" cy="115289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3" name="Google Shape;303;p3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4" name="Google Shape;304;p38"/>
          <p:cNvSpPr txBox="1"/>
          <p:nvPr/>
        </p:nvSpPr>
        <p:spPr>
          <a:xfrm>
            <a:off x="1143000" y="959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10.10.3 Bring It Together: Writing and Solving Equations in Real-World Contexts</a:t>
            </a:r>
            <a:endParaRPr dirty="0"/>
          </a:p>
        </p:txBody>
      </p:sp>
      <p:sp>
        <p:nvSpPr>
          <p:cNvPr id="305" name="Google Shape;305;p38"/>
          <p:cNvSpPr txBox="1"/>
          <p:nvPr/>
        </p:nvSpPr>
        <p:spPr>
          <a:xfrm>
            <a:off x="532661" y="1465244"/>
            <a:ext cx="10515600" cy="22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Consider some of the problems you’ve solved and errors you’ve made over the last few lessons.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In the first column of the table, write yourself a note or reminder that you can use when writing an equation for a real-world context so you can avoid similar errors in the future.</a:t>
            </a:r>
            <a:endParaRPr dirty="0"/>
          </a:p>
        </p:txBody>
      </p:sp>
      <p:sp>
        <p:nvSpPr>
          <p:cNvPr id="306" name="Google Shape;306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38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108" y="38391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08" name="Google Shape;308;p38"/>
          <p:cNvGraphicFramePr/>
          <p:nvPr>
            <p:extLst>
              <p:ext uri="{D42A27DB-BD31-4B8C-83A1-F6EECF244321}">
                <p14:modId xmlns:p14="http://schemas.microsoft.com/office/powerpoint/2010/main" val="1707840394"/>
              </p:ext>
            </p:extLst>
          </p:nvPr>
        </p:nvGraphicFramePr>
        <p:xfrm>
          <a:off x="2547070" y="3537280"/>
          <a:ext cx="7560000" cy="2418525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My Note or Reminders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My Partner’s Reminders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5" name="Google Shape;315;p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6" name="Google Shape;316;p39"/>
          <p:cNvSpPr txBox="1"/>
          <p:nvPr/>
        </p:nvSpPr>
        <p:spPr>
          <a:xfrm>
            <a:off x="532661" y="387346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Share your list with your partner. Add any helpful reminders your partner shares in the second column.</a:t>
            </a:r>
            <a:endParaRPr dirty="0"/>
          </a:p>
        </p:txBody>
      </p:sp>
      <p:sp>
        <p:nvSpPr>
          <p:cNvPr id="317" name="Google Shape;317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5" name="Google Shape;325;p40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40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54982" cy="11549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/>
          <p:nvPr/>
        </p:nvSpPr>
        <p:spPr>
          <a:xfrm>
            <a:off x="0" y="0"/>
            <a:ext cx="223200" cy="6867144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5" name="Google Shape;335;p41"/>
          <p:cNvSpPr txBox="1"/>
          <p:nvPr/>
        </p:nvSpPr>
        <p:spPr>
          <a:xfrm>
            <a:off x="1143000" y="46664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10.10.4 Your Turn!</a:t>
            </a:r>
            <a:endParaRPr dirty="0"/>
          </a:p>
        </p:txBody>
      </p:sp>
      <p:grpSp>
        <p:nvGrpSpPr>
          <p:cNvPr id="337" name="Google Shape;337;p41"/>
          <p:cNvGrpSpPr/>
          <p:nvPr/>
        </p:nvGrpSpPr>
        <p:grpSpPr>
          <a:xfrm>
            <a:off x="2781300" y="2796395"/>
            <a:ext cx="6629400" cy="1054079"/>
            <a:chOff x="2031300" y="3252877"/>
            <a:chExt cx="6629400" cy="1054225"/>
          </a:xfrm>
        </p:grpSpPr>
        <p:sp>
          <p:nvSpPr>
            <p:cNvPr id="338" name="Google Shape;338;p41"/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grpSp>
          <p:nvGrpSpPr>
            <p:cNvPr id="339" name="Google Shape;339;p41"/>
            <p:cNvGrpSpPr/>
            <p:nvPr/>
          </p:nvGrpSpPr>
          <p:grpSpPr>
            <a:xfrm>
              <a:off x="2031300" y="3252877"/>
              <a:ext cx="6629400" cy="1054225"/>
              <a:chOff x="2031300" y="3252877"/>
              <a:chExt cx="6629400" cy="1054225"/>
            </a:xfrm>
          </p:grpSpPr>
          <p:sp>
            <p:nvSpPr>
              <p:cNvPr id="340" name="Google Shape;340;p41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  <a:sym typeface="Cambria"/>
                  </a:rPr>
                  <a:t> </a:t>
                </a:r>
                <a:endParaRPr/>
              </a:p>
            </p:txBody>
          </p:sp>
          <p:grpSp>
            <p:nvGrpSpPr>
              <p:cNvPr id="341" name="Google Shape;341;p41"/>
              <p:cNvGrpSpPr/>
              <p:nvPr/>
            </p:nvGrpSpPr>
            <p:grpSpPr>
              <a:xfrm>
                <a:off x="2031300" y="3252877"/>
                <a:ext cx="6629400" cy="1054225"/>
                <a:chOff x="2031300" y="3252877"/>
                <a:chExt cx="6629400" cy="1054225"/>
              </a:xfrm>
            </p:grpSpPr>
            <p:sp>
              <p:nvSpPr>
                <p:cNvPr id="342" name="Google Shape;342;p41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  <a:sym typeface="Cambria"/>
                    </a:rPr>
                    <a:t> </a:t>
                  </a:r>
                  <a:endParaRPr/>
                </a:p>
              </p:txBody>
            </p:sp>
            <p:grpSp>
              <p:nvGrpSpPr>
                <p:cNvPr id="343" name="Google Shape;343;p41"/>
                <p:cNvGrpSpPr/>
                <p:nvPr/>
              </p:nvGrpSpPr>
              <p:grpSpPr>
                <a:xfrm>
                  <a:off x="2031300" y="3252877"/>
                  <a:ext cx="6629400" cy="1054225"/>
                  <a:chOff x="2031300" y="3252877"/>
                  <a:chExt cx="6629400" cy="1054225"/>
                </a:xfrm>
              </p:grpSpPr>
              <p:sp>
                <p:nvSpPr>
                  <p:cNvPr id="344" name="Google Shape;344;p41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/>
                  </a:p>
                </p:txBody>
              </p:sp>
              <p:grpSp>
                <p:nvGrpSpPr>
                  <p:cNvPr id="345" name="Google Shape;345;p41"/>
                  <p:cNvGrpSpPr/>
                  <p:nvPr/>
                </p:nvGrpSpPr>
                <p:grpSpPr>
                  <a:xfrm>
                    <a:off x="2031300" y="3252878"/>
                    <a:ext cx="6629400" cy="1054222"/>
                    <a:chOff x="2031300" y="3262288"/>
                    <a:chExt cx="6629400" cy="1035400"/>
                  </a:xfrm>
                </p:grpSpPr>
                <p:sp>
                  <p:nvSpPr>
                    <p:cNvPr id="346" name="Google Shape;346;p41"/>
                    <p:cNvSpPr/>
                    <p:nvPr/>
                  </p:nvSpPr>
                  <p:spPr>
                    <a:xfrm>
                      <a:off x="2031300" y="3262288"/>
                      <a:ext cx="6629400" cy="1035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/>
                    </a:p>
                  </p:txBody>
                </p:sp>
                <p:grpSp>
                  <p:nvGrpSpPr>
                    <p:cNvPr id="347" name="Google Shape;347;p41"/>
                    <p:cNvGrpSpPr/>
                    <p:nvPr/>
                  </p:nvGrpSpPr>
                  <p:grpSpPr>
                    <a:xfrm>
                      <a:off x="2031300" y="3262288"/>
                      <a:ext cx="6629400" cy="1035400"/>
                      <a:chOff x="2031300" y="3373600"/>
                      <a:chExt cx="6629400" cy="1035400"/>
                    </a:xfrm>
                  </p:grpSpPr>
                  <p:sp>
                    <p:nvSpPr>
                      <p:cNvPr id="348" name="Google Shape;348;p41"/>
                      <p:cNvSpPr/>
                      <p:nvPr/>
                    </p:nvSpPr>
                    <p:spPr>
                      <a:xfrm>
                        <a:off x="2031300" y="3373600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349" name="Google Shape;349;p41"/>
                      <p:cNvGrpSpPr/>
                      <p:nvPr/>
                    </p:nvGrpSpPr>
                    <p:grpSpPr>
                      <a:xfrm>
                        <a:off x="2031300" y="3373600"/>
                        <a:ext cx="6629400" cy="812800"/>
                        <a:chOff x="2031300" y="3373600"/>
                        <a:chExt cx="6629400" cy="812800"/>
                      </a:xfrm>
                    </p:grpSpPr>
                    <p:sp>
                      <p:nvSpPr>
                        <p:cNvPr id="350" name="Google Shape;350;p41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  <p:sp>
                      <p:nvSpPr>
                        <p:cNvPr id="351" name="Google Shape;351;p41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352" name="Google Shape;352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41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567" y="383917"/>
            <a:ext cx="756349" cy="7563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Google Shape;305;p38"/>
              <p:cNvSpPr txBox="1"/>
              <p:nvPr/>
            </p:nvSpPr>
            <p:spPr>
              <a:xfrm>
                <a:off x="532661" y="1465244"/>
                <a:ext cx="10515600" cy="2986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table for the real-world situation.</a:t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</a:rPr>
                </a:br>
                <a:br>
                  <a:rPr lang="en-US" sz="2400" dirty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Kiara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baking cookies for an upcoming bake sale. Each batch of cookies requires 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/>
                        <a:ea typeface="Verdana" pitchFamily="34" charset="0"/>
                      </a:rPr>
                      <m:t>1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cups of sugar. She has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cups of sugar, but her mom asked her to save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cup for her to use in her coffee until she can go to the grocery store in a few days. </a:t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How many batches of cookies can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Kiara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make?</a:t>
                </a:r>
              </a:p>
            </p:txBody>
          </p:sp>
        </mc:Choice>
        <mc:Fallback xmlns="">
          <p:sp>
            <p:nvSpPr>
              <p:cNvPr id="23" name="Google Shape;305;p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1465244"/>
                <a:ext cx="10515600" cy="2986546"/>
              </a:xfrm>
              <a:prstGeom prst="rect">
                <a:avLst/>
              </a:prstGeom>
              <a:blipFill rotWithShape="1">
                <a:blip r:embed="rId5"/>
                <a:stretch>
                  <a:fillRect l="-870" t="-1633" r="-290" b="-36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0" name="Google Shape;360;p4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1" name="Google Shape;361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2" name="Google Shape;362;p42"/>
          <p:cNvGraphicFramePr/>
          <p:nvPr/>
        </p:nvGraphicFramePr>
        <p:xfrm>
          <a:off x="2627840" y="501348"/>
          <a:ext cx="7200000" cy="5760000"/>
        </p:xfrm>
        <a:graphic>
          <a:graphicData uri="http://schemas.openxmlformats.org/drawingml/2006/table">
            <a:tbl>
              <a:tblPr>
                <a:noFill/>
                <a:tableStyleId>{69864A2D-E42E-4A30-B5D5-BD40BF8B4065}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Define the variable.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Write an equation that can be used to answer the question.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Solve the equation.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 the meaning of the solution.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3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9" name="Google Shape;369;p4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0" name="Google Shape;370;p43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1" name="Google Shape;371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2" name="Google Shape;372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9" name="Google Shape;379;p4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0" name="Google Shape;380;p44"/>
          <p:cNvSpPr txBox="1"/>
          <p:nvPr/>
        </p:nvSpPr>
        <p:spPr>
          <a:xfrm>
            <a:off x="1143000" y="462121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10.10.5 Wrap-Up: Reflection</a:t>
            </a:r>
            <a:endParaRPr dirty="0"/>
          </a:p>
        </p:txBody>
      </p:sp>
      <p:pic>
        <p:nvPicPr>
          <p:cNvPr id="381" name="Google Shape;38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567" y="3839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2" name="Google Shape;382;p44"/>
          <p:cNvSpPr txBox="1"/>
          <p:nvPr/>
        </p:nvSpPr>
        <p:spPr>
          <a:xfrm>
            <a:off x="531283" y="1465145"/>
            <a:ext cx="1110734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Circle the icon that best describes your understanding of each item. </a:t>
            </a:r>
            <a:endParaRPr dirty="0"/>
          </a:p>
        </p:txBody>
      </p:sp>
      <p:sp>
        <p:nvSpPr>
          <p:cNvPr id="383" name="Google Shape;383;p4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44"/>
          <p:cNvGraphicFramePr/>
          <p:nvPr>
            <p:extLst>
              <p:ext uri="{D42A27DB-BD31-4B8C-83A1-F6EECF244321}">
                <p14:modId xmlns:p14="http://schemas.microsoft.com/office/powerpoint/2010/main" val="505579184"/>
              </p:ext>
            </p:extLst>
          </p:nvPr>
        </p:nvGraphicFramePr>
        <p:xfrm>
          <a:off x="2667000" y="2870540"/>
          <a:ext cx="7200000" cy="3240000"/>
        </p:xfrm>
        <a:graphic>
          <a:graphicData uri="http://schemas.openxmlformats.org/drawingml/2006/table">
            <a:tbl>
              <a:tblPr bandRow="1">
                <a:noFill/>
                <a:tableStyleId>{B94C0612-B4B8-4180-A8EF-07A197E5C3A9}</a:tableStyleId>
              </a:tblPr>
              <a:tblGrid>
                <a:gridCol w="46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Solving two-step equations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 </a:t>
                      </a:r>
                      <a:endParaRPr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Writing two-step equations to represent real-world contexts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 </a:t>
                      </a:r>
                      <a:endParaRPr sz="200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Explaining the meaning of solutions to equations in context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 </a:t>
                      </a:r>
                      <a:endParaRPr sz="200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85" name="Google Shape;385;p44" descr="Marketi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7246" y="2108530"/>
            <a:ext cx="520065" cy="520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4" descr="Thumbs up sign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3449" y="2141866"/>
            <a:ext cx="453390" cy="453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4" descr="Shooting star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82014" y="2141866"/>
            <a:ext cx="447040" cy="447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 txBox="1"/>
          <p:nvPr/>
        </p:nvSpPr>
        <p:spPr>
          <a:xfrm>
            <a:off x="3147310" y="2283674"/>
            <a:ext cx="184560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 need help.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389" name="Google Shape;389;p44"/>
          <p:cNvSpPr txBox="1"/>
          <p:nvPr/>
        </p:nvSpPr>
        <p:spPr>
          <a:xfrm>
            <a:off x="5943519" y="2283674"/>
            <a:ext cx="16102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 got it.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390" name="Google Shape;390;p44"/>
          <p:cNvSpPr txBox="1"/>
          <p:nvPr/>
        </p:nvSpPr>
        <p:spPr>
          <a:xfrm>
            <a:off x="8116878" y="2074319"/>
            <a:ext cx="221802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 could help someone.</a:t>
            </a:r>
            <a:r>
              <a:rPr lang="en-US" sz="2000"/>
              <a:t> </a:t>
            </a:r>
            <a:endParaRPr sz="2000"/>
          </a:p>
        </p:txBody>
      </p:sp>
      <p:grpSp>
        <p:nvGrpSpPr>
          <p:cNvPr id="391" name="Google Shape;391;p44"/>
          <p:cNvGrpSpPr/>
          <p:nvPr/>
        </p:nvGrpSpPr>
        <p:grpSpPr>
          <a:xfrm>
            <a:off x="7627328" y="3141221"/>
            <a:ext cx="1969495" cy="520065"/>
            <a:chOff x="6123002" y="3205938"/>
            <a:chExt cx="1969495" cy="520065"/>
          </a:xfrm>
        </p:grpSpPr>
        <p:pic>
          <p:nvPicPr>
            <p:cNvPr id="392" name="Google Shape;392;p44" descr="Marketing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3002" y="3205938"/>
              <a:ext cx="520065" cy="520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44" descr="Thumbs up sign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61380" y="3239276"/>
              <a:ext cx="453390" cy="453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44" descr="Shooting star"/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45457" y="3239277"/>
              <a:ext cx="447040" cy="447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44"/>
          <p:cNvGrpSpPr/>
          <p:nvPr/>
        </p:nvGrpSpPr>
        <p:grpSpPr>
          <a:xfrm>
            <a:off x="7647003" y="4269092"/>
            <a:ext cx="1969495" cy="520065"/>
            <a:chOff x="6123002" y="3855295"/>
            <a:chExt cx="1969495" cy="520065"/>
          </a:xfrm>
        </p:grpSpPr>
        <p:pic>
          <p:nvPicPr>
            <p:cNvPr id="396" name="Google Shape;396;p44" descr="Marketing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3002" y="3855295"/>
              <a:ext cx="520065" cy="520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44" descr="Thumbs up sign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61380" y="3888633"/>
              <a:ext cx="453390" cy="453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44" descr="Shooting star"/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45457" y="3888634"/>
              <a:ext cx="447040" cy="447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" name="Google Shape;399;p44"/>
          <p:cNvGrpSpPr/>
          <p:nvPr/>
        </p:nvGrpSpPr>
        <p:grpSpPr>
          <a:xfrm>
            <a:off x="7647003" y="5276656"/>
            <a:ext cx="1969495" cy="520065"/>
            <a:chOff x="6123002" y="4464895"/>
            <a:chExt cx="1969495" cy="520065"/>
          </a:xfrm>
        </p:grpSpPr>
        <p:pic>
          <p:nvPicPr>
            <p:cNvPr id="400" name="Google Shape;400;p44" descr="Marketing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3002" y="4464895"/>
              <a:ext cx="520065" cy="520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44" descr="Thumbs up sign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61380" y="4498233"/>
              <a:ext cx="453390" cy="453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44" descr="Shooting star"/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45457" y="4498234"/>
              <a:ext cx="447040" cy="4470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1254</Words>
  <Application>Microsoft Macintosh PowerPoint</Application>
  <PresentationFormat>Widescreen</PresentationFormat>
  <Paragraphs>171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Times New Roman</vt:lpstr>
      <vt:lpstr>Calibri</vt:lpstr>
      <vt:lpstr>Arial Black</vt:lpstr>
      <vt:lpstr>Cambria Math</vt:lpstr>
      <vt:lpstr>Noto Sans Symbols</vt:lpstr>
      <vt:lpstr>Verdana</vt:lpstr>
      <vt:lpstr>Arial</vt:lpstr>
      <vt:lpstr>Cambria</vt:lpstr>
      <vt:lpstr>1_Office Theme</vt:lpstr>
      <vt:lpstr>7th Grade Math  Unit 10, Lesson 10  Writing and Solving Equations in Real-World Context  Volume 2, pg. 139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10, Lesson 10  Writing and Solving Equations in Real-World Context  Volume 2, pg. 139</dc:title>
  <dc:creator>Sensei</dc:creator>
  <cp:lastModifiedBy>Diana Barnett</cp:lastModifiedBy>
  <cp:revision>7</cp:revision>
  <dcterms:modified xsi:type="dcterms:W3CDTF">2023-01-30T15:46:19Z</dcterms:modified>
</cp:coreProperties>
</file>