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26" r:id="rId8"/>
    <p:sldId id="327" r:id="rId9"/>
    <p:sldId id="328" r:id="rId10"/>
    <p:sldId id="314" r:id="rId11"/>
    <p:sldId id="315" r:id="rId12"/>
    <p:sldId id="316" r:id="rId13"/>
    <p:sldId id="289" r:id="rId14"/>
    <p:sldId id="290" r:id="rId15"/>
    <p:sldId id="335" r:id="rId16"/>
    <p:sldId id="336" r:id="rId17"/>
    <p:sldId id="337" r:id="rId18"/>
    <p:sldId id="338" r:id="rId19"/>
    <p:sldId id="323" r:id="rId20"/>
    <p:sldId id="324" r:id="rId21"/>
    <p:sldId id="332" r:id="rId22"/>
    <p:sldId id="333" r:id="rId23"/>
    <p:sldId id="334" r:id="rId24"/>
    <p:sldId id="306" r:id="rId25"/>
    <p:sldId id="307" r:id="rId26"/>
  </p:sldIdLst>
  <p:sldSz cx="12192000" cy="6858000"/>
  <p:notesSz cx="6858000" cy="9144000"/>
  <p:embeddedFontLst>
    <p:embeddedFont>
      <p:font typeface="Arial Black" panose="020B0A04020102020204" pitchFamily="34" charset="0"/>
      <p:bold r:id="rId28"/>
    </p:embeddedFont>
    <p:embeddedFont>
      <p:font typeface="Calibri" panose="020F0502020204030204" pitchFamily="34" charset="0"/>
      <p:regular r:id="rId29"/>
      <p:bold r:id="rId30"/>
      <p:italic r:id="rId31"/>
      <p:boldItalic r:id="rId32"/>
    </p:embeddedFont>
    <p:embeddedFont>
      <p:font typeface="Cambria" panose="02040503050406030204" pitchFamily="18" charset="0"/>
      <p:regular r:id="rId33"/>
      <p:bold r:id="rId34"/>
      <p:italic r:id="rId35"/>
      <p:boldItalic r:id="rId36"/>
    </p:embeddedFont>
    <p:embeddedFont>
      <p:font typeface="Cambria Math" panose="02040503050406030204" pitchFamily="18" charset="0"/>
      <p:regular r:id="rId37"/>
    </p:embeddedFont>
    <p:embeddedFont>
      <p:font typeface="Century Gothic" panose="020B0502020202020204" pitchFamily="34" charset="0"/>
      <p:regular r:id="rId38"/>
      <p:bold r:id="rId39"/>
      <p:italic r:id="rId40"/>
      <p:boldItalic r:id="rId41"/>
    </p:embeddedFont>
    <p:embeddedFont>
      <p:font typeface="Verdana" panose="020B060403050404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88"/>
    <p:restoredTop sz="94694"/>
  </p:normalViewPr>
  <p:slideViewPr>
    <p:cSldViewPr snapToGrid="0">
      <p:cViewPr varScale="1">
        <p:scale>
          <a:sx n="106" d="100"/>
          <a:sy n="106" d="100"/>
        </p:scale>
        <p:origin x="120"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5790697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270617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112626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226616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18013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0177769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8919839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2320240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605926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7</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Equations Involving the Distributive Property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122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41539" y="1591322"/>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MA.7.AR.2.2</a:t>
            </a:r>
          </a:p>
          <a:p>
            <a:pPr indent="0">
              <a:buNone/>
            </a:pPr>
            <a:r>
              <a:rPr lang="en-US" sz="3500" dirty="0">
                <a:solidFill>
                  <a:srgbClr val="000000"/>
                </a:solidFill>
                <a:latin typeface="Verdana" panose="020B0604030504040204" pitchFamily="34" charset="0"/>
                <a:ea typeface="Calibri" panose="020F0502020204030204" pitchFamily="34" charset="0"/>
                <a:cs typeface="Calibri" panose="020F0502020204030204" pitchFamily="34" charset="0"/>
              </a:rPr>
              <a:t>Write and solve two-step equations in one variable within a mathematical context or </a:t>
            </a:r>
            <a:br>
              <a:rPr lang="en-US" sz="3500" dirty="0">
                <a:solidFill>
                  <a:srgbClr val="000000"/>
                </a:solidFill>
                <a:latin typeface="Verdana" panose="020B0604030504040204" pitchFamily="34" charset="0"/>
                <a:ea typeface="Calibri" panose="020F0502020204030204" pitchFamily="34" charset="0"/>
                <a:cs typeface="Calibri" panose="020F0502020204030204" pitchFamily="34" charset="0"/>
              </a:rPr>
            </a:br>
            <a:r>
              <a:rPr lang="en-US" sz="3500" dirty="0">
                <a:solidFill>
                  <a:srgbClr val="000000"/>
                </a:solidFill>
                <a:latin typeface="Verdana" panose="020B0604030504040204" pitchFamily="34" charset="0"/>
                <a:ea typeface="Calibri" panose="020F0502020204030204" pitchFamily="34" charset="0"/>
                <a:cs typeface="Calibri" panose="020F0502020204030204" pitchFamily="34" charset="0"/>
              </a:rPr>
              <a:t>real-world context, where all terms are rational numbers.</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122</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33634"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122</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32661"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28650" indent="-622300">
              <a:buClr>
                <a:srgbClr val="434343"/>
              </a:buClr>
              <a:buSzPts val="3500"/>
              <a:buFont typeface="Verdana"/>
              <a:buChar char="❏"/>
            </a:pPr>
            <a:r>
              <a:rPr lang="en-US" sz="3500" dirty="0">
                <a:latin typeface="Verdana" panose="020B0604030504040204" pitchFamily="34" charset="0"/>
                <a:ea typeface="Verdana" panose="020B0604030504040204" pitchFamily="34" charset="0"/>
              </a:rPr>
              <a:t>I can solve two-step equations involving the distributive property.</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9131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51878" y="83010"/>
            <a:ext cx="10515600" cy="132588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10.7.1 Warm-Up: Two-Step Equations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1312" y="37230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532660" y="1463266"/>
                <a:ext cx="10515600"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Create an equation with the largest possible value for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Verdana" panose="020B0604030504040204" pitchFamily="34" charset="0"/>
                    <a:cs typeface="Times New Roman" panose="02020603050405020304" pitchFamily="18" charset="0"/>
                  </a:rPr>
                  <a:t> by filling in the blue boxes using the digits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1 </m:t>
                    </m:r>
                  </m:oMath>
                </a14:m>
                <a:r>
                  <a:rPr lang="en-US" sz="2000" dirty="0">
                    <a:latin typeface="Verdana" panose="020B0604030504040204" pitchFamily="34" charset="0"/>
                    <a:ea typeface="Verdana" panose="020B0604030504040204" pitchFamily="34" charset="0"/>
                    <a:cs typeface="Times New Roman" panose="02020603050405020304" pitchFamily="18" charset="0"/>
                  </a:rPr>
                  <a:t>through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Verdana" panose="020B0604030504040204" pitchFamily="34" charset="0"/>
                    <a:cs typeface="Times New Roman" panose="02020603050405020304" pitchFamily="18" charset="0"/>
                  </a:rPr>
                  <a:t>. Each digit can only be </a:t>
                </a:r>
                <a:r>
                  <a:rPr lang="en-US" sz="2000">
                    <a:latin typeface="Verdana" panose="020B0604030504040204" pitchFamily="34" charset="0"/>
                    <a:ea typeface="Verdana" panose="020B0604030504040204" pitchFamily="34" charset="0"/>
                    <a:cs typeface="Times New Roman" panose="02020603050405020304" pitchFamily="18" charset="0"/>
                  </a:rPr>
                  <a:t>used one </a:t>
                </a:r>
                <a:r>
                  <a:rPr lang="en-US" sz="2000" dirty="0">
                    <a:latin typeface="Verdana" panose="020B0604030504040204" pitchFamily="34" charset="0"/>
                    <a:ea typeface="Verdana" panose="020B0604030504040204" pitchFamily="34" charset="0"/>
                    <a:cs typeface="Times New Roman" panose="02020603050405020304" pitchFamily="18" charset="0"/>
                  </a:rPr>
                  <a:t>time, at most. This may take several attempts. Show your work for each attempt you make.</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32660" y="1463266"/>
                <a:ext cx="10515600" cy="1323439"/>
              </a:xfrm>
              <a:prstGeom prst="rect">
                <a:avLst/>
              </a:prstGeom>
              <a:blipFill>
                <a:blip r:embed="rId5"/>
                <a:stretch>
                  <a:fillRect l="-638" t="-3226" r="-1449" b="-737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E44FE24-EC82-4053-B6C0-5CCE75110A47}"/>
              </a:ext>
            </a:extLst>
          </p:cNvPr>
          <p:cNvPicPr>
            <a:picLocks noChangeAspect="1"/>
          </p:cNvPicPr>
          <p:nvPr/>
        </p:nvPicPr>
        <p:blipFill>
          <a:blip r:embed="rId6"/>
          <a:stretch>
            <a:fillRect/>
          </a:stretch>
        </p:blipFill>
        <p:spPr>
          <a:xfrm>
            <a:off x="2487000" y="3171825"/>
            <a:ext cx="7704470" cy="1559154"/>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58536" y="8435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10.7.2 Refresher: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The Distributive Property</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7230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DC51FF2-AD43-3B4B-B9DE-330920D33388}"/>
                  </a:ext>
                </a:extLst>
              </p:cNvPr>
              <p:cNvSpPr txBox="1"/>
              <p:nvPr/>
            </p:nvSpPr>
            <p:spPr>
              <a:xfrm>
                <a:off x="541538" y="1464430"/>
                <a:ext cx="10515600" cy="3754874"/>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Several expressions are shown.</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Circle the expressions that are equivalent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+ 3)</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Use substitution to show that each of the expressions chosen is equivalent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+ 3)</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342900" indent="-342900">
                  <a:buFont typeface="+mj-lt"/>
                  <a:buAutoNum type="arabicPeriod"/>
                </a:pPr>
                <a:endParaRPr lang="en-US" sz="18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2DC51FF2-AD43-3B4B-B9DE-330920D33388}"/>
                  </a:ext>
                </a:extLst>
              </p:cNvPr>
              <p:cNvSpPr txBox="1">
                <a:spLocks noRot="1" noChangeAspect="1" noMove="1" noResize="1" noEditPoints="1" noAdjustHandles="1" noChangeArrowheads="1" noChangeShapeType="1" noTextEdit="1"/>
              </p:cNvSpPr>
              <p:nvPr/>
            </p:nvSpPr>
            <p:spPr>
              <a:xfrm>
                <a:off x="541538" y="1464430"/>
                <a:ext cx="10515600" cy="3754874"/>
              </a:xfrm>
              <a:prstGeom prst="rect">
                <a:avLst/>
              </a:prstGeom>
              <a:blipFill rotWithShape="1">
                <a:blip r:embed="rId5"/>
                <a:stretch>
                  <a:fillRect l="-638" t="-974"/>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1B139C1-236C-41BA-8D45-B5DEDBE1F876}"/>
                  </a:ext>
                </a:extLst>
              </p:cNvPr>
              <p:cNvGraphicFramePr>
                <a:graphicFrameLocks noGrp="1"/>
              </p:cNvGraphicFramePr>
              <p:nvPr>
                <p:extLst>
                  <p:ext uri="{D42A27DB-BD31-4B8C-83A1-F6EECF244321}">
                    <p14:modId xmlns:p14="http://schemas.microsoft.com/office/powerpoint/2010/main" val="3230608796"/>
                  </p:ext>
                </p:extLst>
              </p:nvPr>
            </p:nvGraphicFramePr>
            <p:xfrm>
              <a:off x="2853055" y="1990566"/>
              <a:ext cx="6485890" cy="457200"/>
            </p:xfrm>
            <a:graphic>
              <a:graphicData uri="http://schemas.openxmlformats.org/drawingml/2006/table">
                <a:tbl>
                  <a:tblPr firstRow="1" firstCol="1" bandRow="1"/>
                  <a:tblGrid>
                    <a:gridCol w="2159000">
                      <a:extLst>
                        <a:ext uri="{9D8B030D-6E8A-4147-A177-3AD203B41FA5}">
                          <a16:colId xmlns:a16="http://schemas.microsoft.com/office/drawing/2014/main" val="3980775893"/>
                        </a:ext>
                      </a:extLst>
                    </a:gridCol>
                    <a:gridCol w="2182495">
                      <a:extLst>
                        <a:ext uri="{9D8B030D-6E8A-4147-A177-3AD203B41FA5}">
                          <a16:colId xmlns:a16="http://schemas.microsoft.com/office/drawing/2014/main" val="1041681116"/>
                        </a:ext>
                      </a:extLst>
                    </a:gridCol>
                    <a:gridCol w="2144395">
                      <a:extLst>
                        <a:ext uri="{9D8B030D-6E8A-4147-A177-3AD203B41FA5}">
                          <a16:colId xmlns:a16="http://schemas.microsoft.com/office/drawing/2014/main" val="2368091174"/>
                        </a:ext>
                      </a:extLst>
                    </a:gridCol>
                  </a:tblGrid>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smtClean="0">
                                    <a:effectLst/>
                                    <a:latin typeface="Cambria Math"/>
                                    <a:ea typeface="Cambria Math"/>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1875570952"/>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C1B139C1-236C-41BA-8D45-B5DEDBE1F876}"/>
                  </a:ext>
                </a:extLst>
              </p:cNvPr>
              <p:cNvGraphicFramePr>
                <a:graphicFrameLocks noGrp="1"/>
              </p:cNvGraphicFramePr>
              <p:nvPr>
                <p:extLst>
                  <p:ext uri="{D42A27DB-BD31-4B8C-83A1-F6EECF244321}">
                    <p14:modId xmlns:p14="http://schemas.microsoft.com/office/powerpoint/2010/main" val="3230608796"/>
                  </p:ext>
                </p:extLst>
              </p:nvPr>
            </p:nvGraphicFramePr>
            <p:xfrm>
              <a:off x="2853055" y="1990566"/>
              <a:ext cx="6485890" cy="457200"/>
            </p:xfrm>
            <a:graphic>
              <a:graphicData uri="http://schemas.openxmlformats.org/drawingml/2006/table">
                <a:tbl>
                  <a:tblPr firstRow="1" firstCol="1" bandRow="1"/>
                  <a:tblGrid>
                    <a:gridCol w="2159000">
                      <a:extLst>
                        <a:ext uri="{9D8B030D-6E8A-4147-A177-3AD203B41FA5}">
                          <a16:colId xmlns:a16="http://schemas.microsoft.com/office/drawing/2014/main" xmlns:a14="http://schemas.microsoft.com/office/drawing/2010/main" xmlns="" val="3980775893"/>
                        </a:ext>
                      </a:extLst>
                    </a:gridCol>
                    <a:gridCol w="2182495">
                      <a:extLst>
                        <a:ext uri="{9D8B030D-6E8A-4147-A177-3AD203B41FA5}">
                          <a16:colId xmlns:a16="http://schemas.microsoft.com/office/drawing/2014/main" xmlns:a14="http://schemas.microsoft.com/office/drawing/2010/main" xmlns="" val="1041681116"/>
                        </a:ext>
                      </a:extLst>
                    </a:gridCol>
                    <a:gridCol w="2144395">
                      <a:extLst>
                        <a:ext uri="{9D8B030D-6E8A-4147-A177-3AD203B41FA5}">
                          <a16:colId xmlns:a16="http://schemas.microsoft.com/office/drawing/2014/main" xmlns:a14="http://schemas.microsoft.com/office/drawing/2010/main" xmlns="" val="2368091174"/>
                        </a:ext>
                      </a:extLst>
                    </a:gridCol>
                  </a:tblGrid>
                  <a:tr h="457200">
                    <a:tc>
                      <a:txBody>
                        <a:bodyPr/>
                        <a:lstStyle/>
                        <a:p>
                          <a:endParaRPr lang="en-US"/>
                        </a:p>
                      </a:txBody>
                      <a:tcPr marL="68580" marR="68580" marT="0" marB="0" anchor="ctr">
                        <a:lnL>
                          <a:noFill/>
                        </a:lnL>
                        <a:lnR>
                          <a:noFill/>
                        </a:lnR>
                        <a:lnT>
                          <a:noFill/>
                        </a:lnT>
                        <a:lnB>
                          <a:noFill/>
                        </a:lnB>
                        <a:blipFill rotWithShape="1">
                          <a:blip r:embed="rId6"/>
                          <a:stretch>
                            <a:fillRect t="-1333" r="-200565" b="-9333"/>
                          </a:stretch>
                        </a:blipFill>
                      </a:tcPr>
                    </a:tc>
                    <a:tc>
                      <a:txBody>
                        <a:bodyPr/>
                        <a:lstStyle/>
                        <a:p>
                          <a:endParaRPr lang="en-US"/>
                        </a:p>
                      </a:txBody>
                      <a:tcPr marL="68580" marR="68580" marT="0" marB="0" anchor="ctr">
                        <a:lnL>
                          <a:noFill/>
                        </a:lnL>
                        <a:lnR>
                          <a:noFill/>
                        </a:lnR>
                        <a:lnT>
                          <a:noFill/>
                        </a:lnT>
                        <a:lnB>
                          <a:noFill/>
                        </a:lnB>
                        <a:blipFill rotWithShape="1">
                          <a:blip r:embed="rId6"/>
                          <a:stretch>
                            <a:fillRect l="-98883" t="-1333" r="-98324" b="-9333"/>
                          </a:stretch>
                        </a:blipFill>
                      </a:tcPr>
                    </a:tc>
                    <a:tc>
                      <a:txBody>
                        <a:bodyPr/>
                        <a:lstStyle/>
                        <a:p>
                          <a:endParaRPr lang="en-US"/>
                        </a:p>
                      </a:txBody>
                      <a:tcPr marL="68580" marR="68580" marT="0" marB="0" anchor="ctr">
                        <a:lnL>
                          <a:noFill/>
                        </a:lnL>
                        <a:lnR>
                          <a:noFill/>
                        </a:lnR>
                        <a:lnT>
                          <a:noFill/>
                        </a:lnT>
                        <a:lnB>
                          <a:noFill/>
                        </a:lnB>
                        <a:blipFill rotWithShape="1">
                          <a:blip r:embed="rId6"/>
                          <a:stretch>
                            <a:fillRect l="-202273" t="-1333" b="-9333"/>
                          </a:stretch>
                        </a:blipFill>
                      </a:tcPr>
                    </a:tc>
                    <a:extLst>
                      <a:ext uri="{0D108BD9-81ED-4DB2-BD59-A6C34878D82A}">
                        <a16:rowId xmlns:a16="http://schemas.microsoft.com/office/drawing/2014/main" xmlns:a14="http://schemas.microsoft.com/office/drawing/2010/main" xmlns="" val="187557095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A4F47A1-BDD2-4846-8ABC-B2A0A39D38BA}"/>
                  </a:ext>
                </a:extLst>
              </p:cNvPr>
              <p:cNvGraphicFramePr>
                <a:graphicFrameLocks noGrp="1"/>
              </p:cNvGraphicFramePr>
              <p:nvPr>
                <p:extLst>
                  <p:ext uri="{D42A27DB-BD31-4B8C-83A1-F6EECF244321}">
                    <p14:modId xmlns:p14="http://schemas.microsoft.com/office/powerpoint/2010/main" val="4215992359"/>
                  </p:ext>
                </p:extLst>
              </p:nvPr>
            </p:nvGraphicFramePr>
            <p:xfrm>
              <a:off x="2853055" y="2787475"/>
              <a:ext cx="6485890" cy="457200"/>
            </p:xfrm>
            <a:graphic>
              <a:graphicData uri="http://schemas.openxmlformats.org/drawingml/2006/table">
                <a:tbl>
                  <a:tblPr firstRow="1" firstCol="1" bandRow="1"/>
                  <a:tblGrid>
                    <a:gridCol w="3242945">
                      <a:extLst>
                        <a:ext uri="{9D8B030D-6E8A-4147-A177-3AD203B41FA5}">
                          <a16:colId xmlns:a16="http://schemas.microsoft.com/office/drawing/2014/main" val="2281943212"/>
                        </a:ext>
                      </a:extLst>
                    </a:gridCol>
                    <a:gridCol w="3242945">
                      <a:extLst>
                        <a:ext uri="{9D8B030D-6E8A-4147-A177-3AD203B41FA5}">
                          <a16:colId xmlns:a16="http://schemas.microsoft.com/office/drawing/2014/main" val="2889373356"/>
                        </a:ext>
                      </a:extLst>
                    </a:gridCol>
                  </a:tblGrid>
                  <a:tr h="457200">
                    <a:tc>
                      <a:txBody>
                        <a:bodyPr/>
                        <a:lstStyle/>
                        <a:p>
                          <a:pPr marL="91440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smtClean="0">
                                    <a:effectLst/>
                                    <a:latin typeface="Cambria Math"/>
                                    <a:ea typeface="Cambria Math"/>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+(−2)⋅3</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3</m:t>
                                </m:r>
                              </m:oMath>
                            </m:oMathPara>
                          </a14:m>
                          <a:endParaRPr lang="en-US"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598175652"/>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8A4F47A1-BDD2-4846-8ABC-B2A0A39D38BA}"/>
                  </a:ext>
                </a:extLst>
              </p:cNvPr>
              <p:cNvGraphicFramePr>
                <a:graphicFrameLocks noGrp="1"/>
              </p:cNvGraphicFramePr>
              <p:nvPr>
                <p:extLst>
                  <p:ext uri="{D42A27DB-BD31-4B8C-83A1-F6EECF244321}">
                    <p14:modId xmlns:p14="http://schemas.microsoft.com/office/powerpoint/2010/main" val="4215992359"/>
                  </p:ext>
                </p:extLst>
              </p:nvPr>
            </p:nvGraphicFramePr>
            <p:xfrm>
              <a:off x="2853055" y="2787475"/>
              <a:ext cx="6485890" cy="457200"/>
            </p:xfrm>
            <a:graphic>
              <a:graphicData uri="http://schemas.openxmlformats.org/drawingml/2006/table">
                <a:tbl>
                  <a:tblPr firstRow="1" firstCol="1" bandRow="1"/>
                  <a:tblGrid>
                    <a:gridCol w="3242945">
                      <a:extLst>
                        <a:ext uri="{9D8B030D-6E8A-4147-A177-3AD203B41FA5}">
                          <a16:colId xmlns:a16="http://schemas.microsoft.com/office/drawing/2014/main" xmlns:a14="http://schemas.microsoft.com/office/drawing/2010/main" xmlns="" val="2281943212"/>
                        </a:ext>
                      </a:extLst>
                    </a:gridCol>
                    <a:gridCol w="3242945">
                      <a:extLst>
                        <a:ext uri="{9D8B030D-6E8A-4147-A177-3AD203B41FA5}">
                          <a16:colId xmlns:a16="http://schemas.microsoft.com/office/drawing/2014/main" xmlns:a14="http://schemas.microsoft.com/office/drawing/2010/main" xmlns="" val="2889373356"/>
                        </a:ext>
                      </a:extLst>
                    </a:gridCol>
                  </a:tblGrid>
                  <a:tr h="457200">
                    <a:tc>
                      <a:txBody>
                        <a:bodyPr/>
                        <a:lstStyle/>
                        <a:p>
                          <a:endParaRPr lang="en-US"/>
                        </a:p>
                      </a:txBody>
                      <a:tcPr marL="68580" marR="68580" marT="0" marB="0" anchor="ctr">
                        <a:lnL>
                          <a:noFill/>
                        </a:lnL>
                        <a:lnR>
                          <a:noFill/>
                        </a:lnR>
                        <a:lnT>
                          <a:noFill/>
                        </a:lnT>
                        <a:lnB>
                          <a:noFill/>
                        </a:lnB>
                        <a:blipFill rotWithShape="1">
                          <a:blip r:embed="rId7"/>
                          <a:stretch>
                            <a:fillRect r="-100000" b="-9333"/>
                          </a:stretch>
                        </a:blipFill>
                      </a:tcPr>
                    </a:tc>
                    <a:tc>
                      <a:txBody>
                        <a:bodyPr/>
                        <a:lstStyle/>
                        <a:p>
                          <a:endParaRPr lang="en-US"/>
                        </a:p>
                      </a:txBody>
                      <a:tcPr marL="68580" marR="68580" marT="0" marB="0" anchor="ctr">
                        <a:lnL>
                          <a:noFill/>
                        </a:lnL>
                        <a:lnR>
                          <a:noFill/>
                        </a:lnR>
                        <a:lnT>
                          <a:noFill/>
                        </a:lnT>
                        <a:lnB>
                          <a:noFill/>
                        </a:lnB>
                        <a:blipFill rotWithShape="1">
                          <a:blip r:embed="rId7"/>
                          <a:stretch>
                            <a:fillRect l="-100000" b="-9333"/>
                          </a:stretch>
                        </a:blipFill>
                      </a:tcPr>
                    </a:tc>
                    <a:extLst>
                      <a:ext uri="{0D108BD9-81ED-4DB2-BD59-A6C34878D82A}">
                        <a16:rowId xmlns:a16="http://schemas.microsoft.com/office/drawing/2014/main" xmlns:a14="http://schemas.microsoft.com/office/drawing/2010/main" xmlns="" val="3598175652"/>
                      </a:ext>
                    </a:extLst>
                  </a:tr>
                </a:tbl>
              </a:graphicData>
            </a:graphic>
          </p:graphicFrame>
        </mc:Fallback>
      </mc:AlternateContent>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123</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16EAAB6-B932-C047-9261-EF734547974E}"/>
                  </a:ext>
                </a:extLst>
              </p:cNvPr>
              <p:cNvSpPr txBox="1"/>
              <p:nvPr/>
            </p:nvSpPr>
            <p:spPr>
              <a:xfrm>
                <a:off x="532661" y="378468"/>
                <a:ext cx="10515600" cy="4554067"/>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Rewrite each expression by applying the distributive property.</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r>
                  <a:rPr lang="en-PH" sz="2000" dirty="0">
                    <a:latin typeface="Verdana" panose="020B0604030504040204" pitchFamily="34" charset="0"/>
                    <a:ea typeface="Verdana" panose="020B0604030504040204" pitchFamily="34" charset="0"/>
                    <a:cs typeface="Times New Roman" panose="02020603050405020304" pitchFamily="18" charset="0"/>
                  </a:rPr>
                  <a:t>a.	</a:t>
                </a:r>
                <a14:m>
                  <m:oMath xmlns:m="http://schemas.openxmlformats.org/officeDocument/2006/math">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 + 6</m:t>
                        </m:r>
                      </m:e>
                    </m:d>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r>
                  <a:rPr lang="en-PH" sz="2000" dirty="0">
                    <a:latin typeface="Verdana" panose="020B0604030504040204" pitchFamily="34" charset="0"/>
                    <a:ea typeface="Verdana" panose="020B0604030504040204" pitchFamily="34" charset="0"/>
                    <a:cs typeface="Times New Roman" panose="02020603050405020304" pitchFamily="18" charset="0"/>
                  </a:rPr>
                  <a:t>b.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−3.5</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−7 + 2</m:t>
                        </m:r>
                        <m:r>
                          <a:rPr lang="en-US" sz="2000" i="1">
                            <a:latin typeface="Cambria Math" panose="02040503050406030204" pitchFamily="18" charset="0"/>
                            <a:ea typeface="Times New Roman" panose="02020603050405020304" pitchFamily="18" charset="0"/>
                            <a:cs typeface="Times New Roman" panose="02020603050405020304" pitchFamily="18" charset="0"/>
                          </a:rPr>
                          <m:t>𝑦</m:t>
                        </m:r>
                      </m:e>
                    </m:d>
                  </m:oMath>
                </a14:m>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r>
                  <a:rPr lang="en-PH" sz="2000" dirty="0">
                    <a:latin typeface="Verdana" panose="020B0604030504040204" pitchFamily="34" charset="0"/>
                    <a:ea typeface="Verdana" panose="020B0604030504040204" pitchFamily="34" charset="0"/>
                    <a:cs typeface="Times New Roman" panose="02020603050405020304" pitchFamily="18" charset="0"/>
                  </a:rPr>
                  <a:t>c.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8</m:t>
                        </m:r>
                      </m:den>
                    </m:f>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16</m:t>
                        </m:r>
                        <m:r>
                          <a:rPr lang="en-US" sz="2000" i="1">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4</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5</m:t>
                            </m:r>
                          </m:den>
                        </m:f>
                      </m:e>
                    </m:d>
                  </m:oMath>
                </a14:m>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F16EAAB6-B932-C047-9261-EF734547974E}"/>
                  </a:ext>
                </a:extLst>
              </p:cNvPr>
              <p:cNvSpPr txBox="1">
                <a:spLocks noRot="1" noChangeAspect="1" noMove="1" noResize="1" noEditPoints="1" noAdjustHandles="1" noChangeArrowheads="1" noChangeShapeType="1" noTextEdit="1"/>
              </p:cNvSpPr>
              <p:nvPr/>
            </p:nvSpPr>
            <p:spPr>
              <a:xfrm>
                <a:off x="532661" y="378468"/>
                <a:ext cx="10515600" cy="4554067"/>
              </a:xfrm>
              <a:prstGeom prst="rect">
                <a:avLst/>
              </a:prstGeom>
              <a:blipFill rotWithShape="1">
                <a:blip r:embed="rId4"/>
                <a:stretch>
                  <a:fillRect l="-580" t="-803"/>
                </a:stretch>
              </a:blipFill>
            </p:spPr>
            <p:txBody>
              <a:bodyPr/>
              <a:lstStyle/>
              <a:p>
                <a:r>
                  <a:rPr lang="en-PH">
                    <a:noFill/>
                  </a:rPr>
                  <a:t> </a:t>
                </a:r>
              </a:p>
            </p:txBody>
          </p:sp>
        </mc:Fallback>
      </mc:AlternateContent>
    </p:spTree>
    <p:extLst>
      <p:ext uri="{BB962C8B-B14F-4D97-AF65-F5344CB8AC3E}">
        <p14:creationId xmlns:p14="http://schemas.microsoft.com/office/powerpoint/2010/main" val="852717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60756" y="84354"/>
            <a:ext cx="110312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10.7.3 Collaboration: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Equivalent Equations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6"/>
            <a:ext cx="2634000" cy="615523"/>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p>
          <a:p>
            <a:pPr algn="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8804" y="37230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532660" y="1464431"/>
            <a:ext cx="10515600"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Arial" panose="020B0604020202020204" pitchFamily="34" charset="0"/>
              </a:rPr>
              <a:t>All of the equations in the table below are equivalent. Work with your partner to explain how each equation is equivalent to the previous equation.</a:t>
            </a:r>
            <a:endParaRPr lang="en-US" sz="2000" dirty="0">
              <a:latin typeface="Cambria" panose="02040503050406030204" pitchFamily="18" charset="0"/>
              <a:ea typeface="Times New Roman" panose="02020603050405020304" pitchFamily="18"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BA9D601-70F0-49D5-8F0E-E2AB0C58E4F9}"/>
                  </a:ext>
                </a:extLst>
              </p:cNvPr>
              <p:cNvGraphicFramePr>
                <a:graphicFrameLocks noGrp="1"/>
              </p:cNvGraphicFramePr>
              <p:nvPr>
                <p:extLst>
                  <p:ext uri="{D42A27DB-BD31-4B8C-83A1-F6EECF244321}">
                    <p14:modId xmlns:p14="http://schemas.microsoft.com/office/powerpoint/2010/main" val="1526425658"/>
                  </p:ext>
                </p:extLst>
              </p:nvPr>
            </p:nvGraphicFramePr>
            <p:xfrm>
              <a:off x="1098612" y="2334321"/>
              <a:ext cx="7915547" cy="3706481"/>
            </p:xfrm>
            <a:graphic>
              <a:graphicData uri="http://schemas.openxmlformats.org/drawingml/2006/table">
                <a:tbl>
                  <a:tblPr firstRow="1" firstCol="1" bandRow="1">
                    <a:tableStyleId>{A91F0D33-8C57-4600-99A7-42BC86742BE1}</a:tableStyleId>
                  </a:tblPr>
                  <a:tblGrid>
                    <a:gridCol w="2515547">
                      <a:extLst>
                        <a:ext uri="{9D8B030D-6E8A-4147-A177-3AD203B41FA5}">
                          <a16:colId xmlns:a16="http://schemas.microsoft.com/office/drawing/2014/main" val="4069950888"/>
                        </a:ext>
                      </a:extLst>
                    </a:gridCol>
                    <a:gridCol w="5400000">
                      <a:extLst>
                        <a:ext uri="{9D8B030D-6E8A-4147-A177-3AD203B41FA5}">
                          <a16:colId xmlns:a16="http://schemas.microsoft.com/office/drawing/2014/main" val="312205200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How is this equation equivalent to the equation above it?</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751991866"/>
                      </a:ext>
                    </a:extLst>
                  </a:tr>
                  <a:tr h="5240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 = −6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This is the given equation.</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9932211"/>
                      </a:ext>
                    </a:extLst>
                  </a:tr>
                  <a:tr h="5240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−3=−9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0688766"/>
                      </a:ext>
                    </a:extLst>
                  </a:tr>
                  <a:tr h="5240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424027"/>
                      </a:ext>
                    </a:extLst>
                  </a:tr>
                  <a:tr h="67098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900=−100(</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913623"/>
                      </a:ext>
                    </a:extLst>
                  </a:tr>
                  <a:tr h="67098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900=−100</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+300</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21539"/>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3BA9D601-70F0-49D5-8F0E-E2AB0C58E4F9}"/>
                  </a:ext>
                </a:extLst>
              </p:cNvPr>
              <p:cNvGraphicFramePr>
                <a:graphicFrameLocks noGrp="1"/>
              </p:cNvGraphicFramePr>
              <p:nvPr>
                <p:extLst>
                  <p:ext uri="{D42A27DB-BD31-4B8C-83A1-F6EECF244321}">
                    <p14:modId xmlns:p14="http://schemas.microsoft.com/office/powerpoint/2010/main" val="1526425658"/>
                  </p:ext>
                </p:extLst>
              </p:nvPr>
            </p:nvGraphicFramePr>
            <p:xfrm>
              <a:off x="1098612" y="2334321"/>
              <a:ext cx="7915547" cy="3706481"/>
            </p:xfrm>
            <a:graphic>
              <a:graphicData uri="http://schemas.openxmlformats.org/drawingml/2006/table">
                <a:tbl>
                  <a:tblPr firstRow="1" firstCol="1" bandRow="1">
                    <a:tableStyleId>{A91F0D33-8C57-4600-99A7-42BC86742BE1}</a:tableStyleId>
                  </a:tblPr>
                  <a:tblGrid>
                    <a:gridCol w="2515547">
                      <a:extLst>
                        <a:ext uri="{9D8B030D-6E8A-4147-A177-3AD203B41FA5}">
                          <a16:colId xmlns:a16="http://schemas.microsoft.com/office/drawing/2014/main" xmlns:a14="http://schemas.microsoft.com/office/drawing/2010/main" xmlns="" val="4069950888"/>
                        </a:ext>
                      </a:extLst>
                    </a:gridCol>
                    <a:gridCol w="5400000">
                      <a:extLst>
                        <a:ext uri="{9D8B030D-6E8A-4147-A177-3AD203B41FA5}">
                          <a16:colId xmlns:a16="http://schemas.microsoft.com/office/drawing/2014/main" xmlns:a14="http://schemas.microsoft.com/office/drawing/2010/main" xmlns="" val="3122052008"/>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How is this equation equivalent to the equation above it?</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3751991866"/>
                      </a:ext>
                    </a:extLst>
                  </a:tr>
                  <a:tr h="524011">
                    <a:tc>
                      <a:txBody>
                        <a:bodyPr/>
                        <a:lstStyle/>
                        <a:p>
                          <a:endParaRPr lang="en-US"/>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152326" r="-214528" b="-45581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This is the given equation.</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169932211"/>
                      </a:ext>
                    </a:extLst>
                  </a:tr>
                  <a:tr h="524011">
                    <a:tc>
                      <a:txBody>
                        <a:bodyPr/>
                        <a:lstStyle/>
                        <a:p>
                          <a:endParaRPr lang="en-US"/>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252326" r="-214528" b="-35581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840688766"/>
                      </a:ext>
                    </a:extLst>
                  </a:tr>
                  <a:tr h="524011">
                    <a:tc>
                      <a:txBody>
                        <a:bodyPr/>
                        <a:lstStyle/>
                        <a:p>
                          <a:endParaRPr lang="en-US"/>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52326" r="-214528" b="-25581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636424027"/>
                      </a:ext>
                    </a:extLst>
                  </a:tr>
                  <a:tr h="670984">
                    <a:tc>
                      <a:txBody>
                        <a:bodyPr/>
                        <a:lstStyle/>
                        <a:p>
                          <a:endParaRPr lang="en-US"/>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353636" r="-214528" b="-1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69913623"/>
                      </a:ext>
                    </a:extLst>
                  </a:tr>
                  <a:tr h="670984">
                    <a:tc>
                      <a:txBody>
                        <a:bodyPr/>
                        <a:lstStyle/>
                        <a:p>
                          <a:endParaRPr lang="en-US"/>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t="-453636" r="-214528"/>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rPr>
                            <a:t> </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41205" marR="41205"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90821539"/>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32662" y="375154"/>
                <a:ext cx="10515600" cy="544661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Arial" panose="020B0604020202020204" pitchFamily="34" charset="0"/>
                  </a:rPr>
                  <a:t>Two students wrote equations equivalent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𝑚</m:t>
                        </m:r>
                        <m:r>
                          <a:rPr lang="en-US" sz="2000" i="1">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4</m:t>
                            </m:r>
                          </m:den>
                        </m:f>
                      </m:e>
                    </m:d>
                    <m:r>
                      <a:rPr lang="en-US" sz="2000" i="1">
                        <a:latin typeface="Cambria Math" panose="02040503050406030204" pitchFamily="18" charset="0"/>
                        <a:ea typeface="Times New Roman" panose="02020603050405020304" pitchFamily="18" charset="0"/>
                        <a:cs typeface="Times New Roman" panose="02020603050405020304" pitchFamily="18" charset="0"/>
                      </a:rPr>
                      <m:t>=3.5</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457200"/>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Describe what Simon did to generate his equivalent equation.</a:t>
                </a:r>
              </a:p>
              <a:p>
                <a:pPr marL="914400" indent="-573088">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573088">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573088">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573088">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Describe what Daphne did to generate her equivalent equation.</a:t>
                </a:r>
              </a:p>
              <a:p>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a:endParaRPr lang="en-US" sz="18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532662" y="375154"/>
                <a:ext cx="10515600" cy="5446619"/>
              </a:xfrm>
              <a:prstGeom prst="rect">
                <a:avLst/>
              </a:prstGeom>
              <a:blipFill rotWithShape="1">
                <a:blip r:embed="rId4"/>
                <a:stretch>
                  <a:fillRect l="-580"/>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F48059D-8DB1-432E-A004-E0BB8518F8F1}"/>
                  </a:ext>
                </a:extLst>
              </p:cNvPr>
              <p:cNvGraphicFramePr>
                <a:graphicFrameLocks noGrp="1"/>
              </p:cNvGraphicFramePr>
              <p:nvPr>
                <p:extLst>
                  <p:ext uri="{D42A27DB-BD31-4B8C-83A1-F6EECF244321}">
                    <p14:modId xmlns:p14="http://schemas.microsoft.com/office/powerpoint/2010/main" val="4282990997"/>
                  </p:ext>
                </p:extLst>
              </p:nvPr>
            </p:nvGraphicFramePr>
            <p:xfrm>
              <a:off x="2466533" y="1079395"/>
              <a:ext cx="7331180" cy="1100963"/>
            </p:xfrm>
            <a:graphic>
              <a:graphicData uri="http://schemas.openxmlformats.org/drawingml/2006/table">
                <a:tbl>
                  <a:tblPr firstRow="1" firstCol="1" bandRow="1">
                    <a:tableStyleId>{A91F0D33-8C57-4600-99A7-42BC86742BE1}</a:tableStyleId>
                  </a:tblPr>
                  <a:tblGrid>
                    <a:gridCol w="3662001">
                      <a:extLst>
                        <a:ext uri="{9D8B030D-6E8A-4147-A177-3AD203B41FA5}">
                          <a16:colId xmlns:a16="http://schemas.microsoft.com/office/drawing/2014/main" val="3112505449"/>
                        </a:ext>
                      </a:extLst>
                    </a:gridCol>
                    <a:gridCol w="3669179">
                      <a:extLst>
                        <a:ext uri="{9D8B030D-6E8A-4147-A177-3AD203B41FA5}">
                          <a16:colId xmlns:a16="http://schemas.microsoft.com/office/drawing/2014/main" val="3667461887"/>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Simon’s 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Daphne’s 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55533434"/>
                      </a:ext>
                    </a:extLst>
                  </a:tr>
                  <a:tr h="457200">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=3.5</m:t>
                              </m:r>
                            </m:oMath>
                          </a14:m>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+1</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=1.75</m:t>
                              </m:r>
                            </m:oMath>
                          </a14:m>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8374734"/>
                      </a:ext>
                    </a:extLst>
                  </a:tr>
                </a:tbl>
              </a:graphicData>
            </a:graphic>
          </p:graphicFrame>
        </mc:Choice>
        <mc:Fallback xmlns="">
          <p:graphicFrame>
            <p:nvGraphicFramePr>
              <p:cNvPr id="2" name="Table 1">
                <a:extLst>
                  <a:ext uri="{FF2B5EF4-FFF2-40B4-BE49-F238E27FC236}">
                    <a16:creationId xmlns:a16="http://schemas.microsoft.com/office/drawing/2014/main" xmlns:a14="http://schemas.microsoft.com/office/drawing/2010/main" xmlns="" id="{8F48059D-8DB1-432E-A004-E0BB8518F8F1}"/>
                  </a:ext>
                </a:extLst>
              </p:cNvPr>
              <p:cNvGraphicFramePr>
                <a:graphicFrameLocks noGrp="1"/>
              </p:cNvGraphicFramePr>
              <p:nvPr>
                <p:extLst>
                  <p:ext uri="{D42A27DB-BD31-4B8C-83A1-F6EECF244321}">
                    <p14:modId xmlns:p14="http://schemas.microsoft.com/office/powerpoint/2010/main" val="4282990997"/>
                  </p:ext>
                </p:extLst>
              </p:nvPr>
            </p:nvGraphicFramePr>
            <p:xfrm>
              <a:off x="2466533" y="1079395"/>
              <a:ext cx="7331180" cy="1100963"/>
            </p:xfrm>
            <a:graphic>
              <a:graphicData uri="http://schemas.openxmlformats.org/drawingml/2006/table">
                <a:tbl>
                  <a:tblPr firstRow="1" firstCol="1" bandRow="1">
                    <a:tableStyleId>{A91F0D33-8C57-4600-99A7-42BC86742BE1}</a:tableStyleId>
                  </a:tblPr>
                  <a:tblGrid>
                    <a:gridCol w="3662001">
                      <a:extLst>
                        <a:ext uri="{9D8B030D-6E8A-4147-A177-3AD203B41FA5}">
                          <a16:colId xmlns:a16="http://schemas.microsoft.com/office/drawing/2014/main" xmlns:a14="http://schemas.microsoft.com/office/drawing/2010/main" xmlns="" val="3112505449"/>
                        </a:ext>
                      </a:extLst>
                    </a:gridCol>
                    <a:gridCol w="3669179">
                      <a:extLst>
                        <a:ext uri="{9D8B030D-6E8A-4147-A177-3AD203B41FA5}">
                          <a16:colId xmlns:a16="http://schemas.microsoft.com/office/drawing/2014/main" xmlns:a14="http://schemas.microsoft.com/office/drawing/2010/main" xmlns="" val="3667461887"/>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Simon’s 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Daphne’s 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3855533434"/>
                      </a:ext>
                    </a:extLst>
                  </a:tr>
                  <a:tr h="613283">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67" t="-79208" r="-100500"/>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99834" t="-79208" r="-166"/>
                          </a:stretch>
                        </a:blipFill>
                      </a:tcPr>
                    </a:tc>
                    <a:extLst>
                      <a:ext uri="{0D108BD9-81ED-4DB2-BD59-A6C34878D82A}">
                        <a16:rowId xmlns:a16="http://schemas.microsoft.com/office/drawing/2014/main" xmlns:a14="http://schemas.microsoft.com/office/drawing/2010/main" xmlns="" val="578374734"/>
                      </a:ext>
                    </a:extLst>
                  </a:tr>
                </a:tbl>
              </a:graphicData>
            </a:graphic>
          </p:graphicFrame>
        </mc:Fallback>
      </mc:AlternateContent>
    </p:spTree>
    <p:extLst>
      <p:ext uri="{BB962C8B-B14F-4D97-AF65-F5344CB8AC3E}">
        <p14:creationId xmlns:p14="http://schemas.microsoft.com/office/powerpoint/2010/main" val="1251846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51878" y="8310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10.7.4 Guided Instruction: Solving Equations Involving the Distributive Property</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372300"/>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32660" y="1463177"/>
                <a:ext cx="10515600" cy="2554545"/>
              </a:xfrm>
              <a:prstGeom prst="rect">
                <a:avLst/>
              </a:prstGeom>
              <a:noFill/>
            </p:spPr>
            <p:txBody>
              <a:bodyPr wrap="square" rtlCol="0">
                <a:spAutoFit/>
              </a:bodyPr>
              <a:lstStyle/>
              <a:p>
                <a:pPr>
                  <a:spcAft>
                    <a:spcPts val="1200"/>
                  </a:spcAft>
                </a:pPr>
                <a:r>
                  <a:rPr lang="en-US" sz="2000" dirty="0">
                    <a:latin typeface="Verdana" panose="020B0604030504040204" pitchFamily="34" charset="0"/>
                    <a:ea typeface="Verdana" panose="020B0604030504040204" pitchFamily="34" charset="0"/>
                    <a:cs typeface="Times New Roman" panose="02020603050405020304" pitchFamily="18" charset="0"/>
                  </a:rPr>
                  <a:t>Equations can be solved in more than one way. When an equation is written in the form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𝑎</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𝑏</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𝑐</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𝑑</m:t>
                    </m:r>
                  </m:oMath>
                </a14:m>
                <a:r>
                  <a:rPr lang="en-US" sz="2000" dirty="0">
                    <a:latin typeface="Verdana" panose="020B0604030504040204" pitchFamily="34" charset="0"/>
                    <a:ea typeface="Verdana" panose="020B0604030504040204" pitchFamily="34" charset="0"/>
                    <a:cs typeface="Times New Roman" panose="02020603050405020304" pitchFamily="18" charset="0"/>
                  </a:rPr>
                  <a:t>, it can be solved by either distributing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𝑎</m:t>
                    </m:r>
                  </m:oMath>
                </a14:m>
                <a:r>
                  <a:rPr lang="en-US" sz="2000" dirty="0">
                    <a:latin typeface="Verdana" panose="020B0604030504040204" pitchFamily="34" charset="0"/>
                    <a:ea typeface="Verdana" panose="020B0604030504040204" pitchFamily="34" charset="0"/>
                    <a:cs typeface="Times New Roman" panose="02020603050405020304" pitchFamily="18" charset="0"/>
                  </a:rPr>
                  <a:t> first or by dividing both sides the equation by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𝑎</m:t>
                    </m:r>
                  </m:oMath>
                </a14:m>
                <a:r>
                  <a:rPr lang="en-US" sz="2000" dirty="0">
                    <a:latin typeface="Verdana" panose="020B0604030504040204" pitchFamily="34" charset="0"/>
                    <a:ea typeface="Verdana" panose="020B0604030504040204" pitchFamily="34" charset="0"/>
                    <a:cs typeface="Times New Roman" panose="02020603050405020304" pitchFamily="18" charset="0"/>
                  </a:rPr>
                  <a:t> first. </a:t>
                </a:r>
              </a:p>
              <a:p>
                <a:pPr marL="457200" indent="-457200">
                  <a:spcAft>
                    <a:spcPts val="1200"/>
                  </a:spcAft>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65=8(9−</m:t>
                    </m:r>
                    <m:r>
                      <a:rPr lang="en-US" sz="2000" i="1">
                        <a:latin typeface="Cambria Math" panose="02040503050406030204" pitchFamily="18" charset="0"/>
                        <a:ea typeface="Times New Roman" panose="02020603050405020304" pitchFamily="18" charset="0"/>
                        <a:cs typeface="Times New Roman" panose="02020603050405020304" pitchFamily="18" charset="0"/>
                      </a:rPr>
                      <m:t>𝑝</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Verdana" panose="020B0604030504040204" pitchFamily="34" charset="0"/>
                    <a:cs typeface="Times New Roman" panose="02020603050405020304" pitchFamily="18" charset="0"/>
                  </a:rPr>
                  <a:t> can be solved using either method.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Solve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65=8(9−</m:t>
                    </m:r>
                    <m:r>
                      <a:rPr lang="en-US" sz="2000" i="1">
                        <a:latin typeface="Cambria Math" panose="02040503050406030204" pitchFamily="18" charset="0"/>
                        <a:ea typeface="Times New Roman" panose="02020603050405020304" pitchFamily="18" charset="0"/>
                        <a:cs typeface="Times New Roman" panose="02020603050405020304" pitchFamily="18" charset="0"/>
                      </a:rPr>
                      <m:t>𝑝</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each method.</a:t>
                </a: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532660" y="1463177"/>
                <a:ext cx="10515600" cy="2554545"/>
              </a:xfrm>
              <a:prstGeom prst="rect">
                <a:avLst/>
              </a:prstGeom>
              <a:blipFill rotWithShape="1">
                <a:blip r:embed="rId5"/>
                <a:stretch>
                  <a:fillRect l="-580" t="-1193" r="-290"/>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643371C0-8AC5-4217-9AC3-223F90668C4F}"/>
                  </a:ext>
                </a:extLst>
              </p:cNvPr>
              <p:cNvGraphicFramePr>
                <a:graphicFrameLocks noGrp="1"/>
              </p:cNvGraphicFramePr>
              <p:nvPr>
                <p:extLst>
                  <p:ext uri="{D42A27DB-BD31-4B8C-83A1-F6EECF244321}">
                    <p14:modId xmlns:p14="http://schemas.microsoft.com/office/powerpoint/2010/main" val="2133692808"/>
                  </p:ext>
                </p:extLst>
              </p:nvPr>
            </p:nvGraphicFramePr>
            <p:xfrm>
              <a:off x="1623725" y="3569453"/>
              <a:ext cx="7560000" cy="246888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242861310"/>
                        </a:ext>
                      </a:extLst>
                    </a:gridCol>
                    <a:gridCol w="4320000">
                      <a:extLst>
                        <a:ext uri="{9D8B030D-6E8A-4147-A177-3AD203B41FA5}">
                          <a16:colId xmlns:a16="http://schemas.microsoft.com/office/drawing/2014/main" val="3665025508"/>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Method 1</a:t>
                          </a: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Apply the distributive property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Method 2</a:t>
                          </a: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Divide both sides by the factor being distributed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61780207"/>
                      </a:ext>
                    </a:extLst>
                  </a:tr>
                  <a:tr h="13716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65=8(9−</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65=8(9−</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71254"/>
                      </a:ext>
                    </a:extLst>
                  </a:tr>
                </a:tbl>
              </a:graphicData>
            </a:graphic>
          </p:graphicFrame>
        </mc:Choice>
        <mc:Fallback xmlns="">
          <p:graphicFrame>
            <p:nvGraphicFramePr>
              <p:cNvPr id="8" name="Table 7">
                <a:extLst>
                  <a:ext uri="{FF2B5EF4-FFF2-40B4-BE49-F238E27FC236}">
                    <a16:creationId xmlns:a16="http://schemas.microsoft.com/office/drawing/2014/main" xmlns:a14="http://schemas.microsoft.com/office/drawing/2010/main" xmlns="" id="{643371C0-8AC5-4217-9AC3-223F90668C4F}"/>
                  </a:ext>
                </a:extLst>
              </p:cNvPr>
              <p:cNvGraphicFramePr>
                <a:graphicFrameLocks noGrp="1"/>
              </p:cNvGraphicFramePr>
              <p:nvPr>
                <p:extLst>
                  <p:ext uri="{D42A27DB-BD31-4B8C-83A1-F6EECF244321}">
                    <p14:modId xmlns:p14="http://schemas.microsoft.com/office/powerpoint/2010/main" val="2133692808"/>
                  </p:ext>
                </p:extLst>
              </p:nvPr>
            </p:nvGraphicFramePr>
            <p:xfrm>
              <a:off x="1623725" y="3569453"/>
              <a:ext cx="7560000" cy="246888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xmlns:a14="http://schemas.microsoft.com/office/drawing/2010/main" xmlns="" val="2242861310"/>
                        </a:ext>
                      </a:extLst>
                    </a:gridCol>
                    <a:gridCol w="4320000">
                      <a:extLst>
                        <a:ext uri="{9D8B030D-6E8A-4147-A177-3AD203B41FA5}">
                          <a16:colId xmlns:a16="http://schemas.microsoft.com/office/drawing/2014/main" xmlns:a14="http://schemas.microsoft.com/office/drawing/2010/main" xmlns="" val="3665025508"/>
                        </a:ext>
                      </a:extLst>
                    </a:gridCol>
                  </a:tblGrid>
                  <a:tr h="10972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Method 1</a:t>
                          </a: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Apply the distributive property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rPr>
                            <a:t>Method 2</a:t>
                          </a: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Divide both sides by the factor being distributed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4061780207"/>
                      </a:ext>
                    </a:extLst>
                  </a:tr>
                  <a:tr h="1371600">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t="-80444" r="-133271"/>
                          </a:stretch>
                        </a:blipFill>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6"/>
                          <a:stretch>
                            <a:fillRect l="-75035" t="-80444"/>
                          </a:stretch>
                        </a:blipFill>
                      </a:tcPr>
                    </a:tc>
                    <a:extLst>
                      <a:ext uri="{0D108BD9-81ED-4DB2-BD59-A6C34878D82A}">
                        <a16:rowId xmlns:a16="http://schemas.microsoft.com/office/drawing/2014/main" xmlns:a14="http://schemas.microsoft.com/office/drawing/2010/main" xmlns="" val="354871254"/>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125</a:t>
            </a:r>
          </a:p>
        </p:txBody>
      </p:sp>
      <p:sp>
        <p:nvSpPr>
          <p:cNvPr id="5" name="TextBox 4">
            <a:extLst>
              <a:ext uri="{FF2B5EF4-FFF2-40B4-BE49-F238E27FC236}">
                <a16:creationId xmlns:a16="http://schemas.microsoft.com/office/drawing/2014/main" id="{8AE5E1E0-A54D-BE42-84B5-F917038ADE99}"/>
              </a:ext>
            </a:extLst>
          </p:cNvPr>
          <p:cNvSpPr txBox="1"/>
          <p:nvPr/>
        </p:nvSpPr>
        <p:spPr>
          <a:xfrm>
            <a:off x="532660" y="377522"/>
            <a:ext cx="10800000" cy="3416320"/>
          </a:xfrm>
          <a:prstGeom prst="rect">
            <a:avLst/>
          </a:prstGeom>
          <a:noFill/>
        </p:spPr>
        <p:txBody>
          <a:bodyPr wrap="square" rtlCol="0">
            <a:spAutoFit/>
          </a:bodyPr>
          <a:lstStyle/>
          <a:p>
            <a:pPr marL="914400" lvl="1" indent="-457200">
              <a:buFont typeface="+mj-lt"/>
              <a:buAutoNum type="alphaLcPeriod" startAt="2"/>
            </a:pPr>
            <a:r>
              <a:rPr lang="en-US" sz="2400" dirty="0">
                <a:latin typeface="Verdana" panose="020B0604030504040204" pitchFamily="34" charset="0"/>
                <a:ea typeface="Verdana" panose="020B0604030504040204" pitchFamily="34" charset="0"/>
              </a:rPr>
              <a:t>Verify the solution is correct using substitution.</a:t>
            </a:r>
          </a:p>
          <a:p>
            <a:pPr marL="914400" lvl="1" indent="-457200">
              <a:buFont typeface="+mj-lt"/>
              <a:buAutoNum type="alphaLcPeriod" startAt="2"/>
            </a:pPr>
            <a:endParaRPr lang="en-PH" sz="2400" dirty="0">
              <a:latin typeface="Verdana" panose="020B0604030504040204" pitchFamily="34" charset="0"/>
              <a:ea typeface="Verdana" panose="020B0604030504040204" pitchFamily="34" charset="0"/>
            </a:endParaRPr>
          </a:p>
          <a:p>
            <a:pPr marL="914400" lvl="1" indent="-457200">
              <a:buFont typeface="+mj-lt"/>
              <a:buAutoNum type="alphaLcPeriod" startAt="2"/>
            </a:pPr>
            <a:endParaRPr lang="en-PH" sz="2400" dirty="0">
              <a:latin typeface="Verdana" panose="020B0604030504040204" pitchFamily="34" charset="0"/>
              <a:ea typeface="Verdana" panose="020B0604030504040204" pitchFamily="34" charset="0"/>
            </a:endParaRPr>
          </a:p>
          <a:p>
            <a:pPr marL="914400" lvl="1" indent="-457200">
              <a:buFont typeface="+mj-lt"/>
              <a:buAutoNum type="alphaLcPeriod" startAt="2"/>
            </a:pPr>
            <a:endParaRPr lang="en-PH" sz="2400" dirty="0">
              <a:latin typeface="Verdana" panose="020B0604030504040204" pitchFamily="34" charset="0"/>
              <a:ea typeface="Verdana" panose="020B0604030504040204" pitchFamily="34" charset="0"/>
            </a:endParaRPr>
          </a:p>
          <a:p>
            <a:pPr marL="914400" lvl="1" indent="-457200">
              <a:buFont typeface="+mj-lt"/>
              <a:buAutoNum type="alphaLcPeriod" startAt="2"/>
            </a:pPr>
            <a:endParaRPr lang="en-PH" sz="2400" dirty="0">
              <a:latin typeface="Verdana" panose="020B0604030504040204" pitchFamily="34" charset="0"/>
              <a:ea typeface="Verdana" panose="020B0604030504040204" pitchFamily="34" charset="0"/>
            </a:endParaRPr>
          </a:p>
          <a:p>
            <a:pPr marL="914400" lvl="1" indent="-457200">
              <a:buFont typeface="+mj-lt"/>
              <a:buAutoNum type="alphaLcPeriod" startAt="2"/>
            </a:pPr>
            <a:endParaRPr lang="en-PH" sz="2400" dirty="0">
              <a:latin typeface="Verdana" panose="020B0604030504040204" pitchFamily="34" charset="0"/>
              <a:ea typeface="Verdana" panose="020B0604030504040204" pitchFamily="34" charset="0"/>
            </a:endParaRPr>
          </a:p>
          <a:p>
            <a:pPr marL="914400" lvl="1" indent="-457200">
              <a:buFont typeface="+mj-lt"/>
              <a:buAutoNum type="alphaLcPeriod" startAt="2"/>
            </a:pPr>
            <a:r>
              <a:rPr lang="en-US" sz="2400" dirty="0">
                <a:latin typeface="Verdana" panose="020B0604030504040204" pitchFamily="34" charset="0"/>
                <a:ea typeface="Verdana" panose="020B0604030504040204" pitchFamily="34" charset="0"/>
              </a:rPr>
              <a:t>Discuss each method of solving the equation with your partner. Then, explain which method you preferred for solving this equation.</a:t>
            </a:r>
          </a:p>
        </p:txBody>
      </p:sp>
    </p:spTree>
    <p:extLst>
      <p:ext uri="{BB962C8B-B14F-4D97-AF65-F5344CB8AC3E}">
        <p14:creationId xmlns:p14="http://schemas.microsoft.com/office/powerpoint/2010/main" val="42156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32661" y="377522"/>
                <a:ext cx="10515600" cy="1606402"/>
              </a:xfrm>
              <a:prstGeom prst="rect">
                <a:avLst/>
              </a:prstGeom>
              <a:noFill/>
            </p:spPr>
            <p:txBody>
              <a:bodyPr wrap="square" rtlCol="0">
                <a:spAutoFit/>
              </a:bodyPr>
              <a:lstStyle/>
              <a:p>
                <a:pPr marL="457200" indent="-457200">
                  <a:spcAft>
                    <a:spcPts val="1200"/>
                  </a:spcAft>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With your partner, decide who is Partner A and who is Partner B.</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Solve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8</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method indicated.</a:t>
                </a: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2661" y="377522"/>
                <a:ext cx="10515600" cy="1606402"/>
              </a:xfrm>
              <a:prstGeom prst="rect">
                <a:avLst/>
              </a:prstGeom>
              <a:blipFill rotWithShape="1">
                <a:blip r:embed="rId4"/>
                <a:stretch>
                  <a:fillRect l="-580" t="-2281"/>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643371C0-8AC5-4217-9AC3-223F90668C4F}"/>
                  </a:ext>
                </a:extLst>
              </p:cNvPr>
              <p:cNvGraphicFramePr>
                <a:graphicFrameLocks noGrp="1"/>
              </p:cNvGraphicFramePr>
              <p:nvPr>
                <p:extLst>
                  <p:ext uri="{D42A27DB-BD31-4B8C-83A1-F6EECF244321}">
                    <p14:modId xmlns:p14="http://schemas.microsoft.com/office/powerpoint/2010/main" val="198271208"/>
                  </p:ext>
                </p:extLst>
              </p:nvPr>
            </p:nvGraphicFramePr>
            <p:xfrm>
              <a:off x="1596428" y="1534306"/>
              <a:ext cx="7560000" cy="429768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val="2242861310"/>
                        </a:ext>
                      </a:extLst>
                    </a:gridCol>
                    <a:gridCol w="4320000">
                      <a:extLst>
                        <a:ext uri="{9D8B030D-6E8A-4147-A177-3AD203B41FA5}">
                          <a16:colId xmlns:a16="http://schemas.microsoft.com/office/drawing/2014/main" val="3665025508"/>
                        </a:ext>
                      </a:extLst>
                    </a:gridCol>
                  </a:tblGrid>
                  <a:tr h="4572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a:sym typeface="Arial"/>
                            </a:rPr>
                            <a:t>Partner A</a:t>
                          </a:r>
                          <a:endParaRPr lang="en-US" sz="2000" b="1" dirty="0">
                            <a:effectLst/>
                            <a:latin typeface="Verdana" panose="020B0604030504040204" pitchFamily="34" charset="0"/>
                            <a:ea typeface="Verdana" panose="020B0604030504040204" pitchFamily="34" charset="0"/>
                          </a:endParaRP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Apply the distributive property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effectLst/>
                              <a:latin typeface="Verdana" panose="020B0604030504040204" pitchFamily="34" charset="0"/>
                              <a:ea typeface="Verdana" panose="020B0604030504040204" pitchFamily="34" charset="0"/>
                            </a:rPr>
                            <a:t>Partner B</a:t>
                          </a: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Divide both sides by the factor being distributed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061780207"/>
                      </a:ext>
                    </a:extLst>
                  </a:tr>
                  <a:tr h="3200400">
                    <a:tc>
                      <a:txBody>
                        <a:bodyPr/>
                        <a:lstStyle/>
                        <a:p>
                          <a:pPr marL="0" marR="0" algn="ctr">
                            <a:spcBef>
                              <a:spcPts val="0"/>
                            </a:spcBef>
                            <a:spcAft>
                              <a:spcPts val="0"/>
                            </a:spcAft>
                          </a:pPr>
                          <a14:m>
                            <m:oMath xmlns:m="http://schemas.openxmlformats.org/officeDocument/2006/math">
                              <m:r>
                                <a:rPr kumimoji="0" lang="en-US" sz="2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sym typeface="Arial"/>
                                </a:rPr>
                                <m:t>8</m:t>
                              </m:r>
                              <m:f>
                                <m:fPr>
                                  <m:ctrlP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ctrlPr>
                                </m:fPr>
                                <m:num>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1</m:t>
                                  </m:r>
                                </m:num>
                                <m:den>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2</m:t>
                                  </m:r>
                                </m:den>
                              </m:f>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m:t>
                              </m:r>
                              <m:f>
                                <m:fPr>
                                  <m:ctrlP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ctrlPr>
                                </m:fPr>
                                <m:num>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2</m:t>
                                  </m:r>
                                </m:num>
                                <m:den>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3</m:t>
                                  </m:r>
                                </m:den>
                              </m:f>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𝑥</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+6)</m:t>
                              </m:r>
                            </m:oMath>
                          </a14:m>
                          <a:r>
                            <a:rPr lang="en-US" sz="2000" dirty="0">
                              <a:effectLst/>
                              <a:latin typeface="Cambria Math" panose="02040503050406030204" pitchFamily="18" charset="0"/>
                              <a:ea typeface="Cambria Math" panose="02040503050406030204" pitchFamily="18" charset="0"/>
                              <a:cs typeface="Times New Roman" panose="02020603050405020304" pitchFamily="18" charset="0"/>
                            </a:rPr>
                            <a:t> </a:t>
                          </a: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kumimoji="0" lang="en-US" sz="2000" b="0" i="0"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sym typeface="Arial"/>
                                </a:rPr>
                                <m:t>8</m:t>
                              </m:r>
                              <m:f>
                                <m:fPr>
                                  <m:ctrlP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ctrlPr>
                                </m:fPr>
                                <m:num>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1</m:t>
                                  </m:r>
                                </m:num>
                                <m:den>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2</m:t>
                                  </m:r>
                                </m:den>
                              </m:f>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m:t>
                              </m:r>
                              <m:f>
                                <m:fPr>
                                  <m:ctrlP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ctrlPr>
                                </m:fPr>
                                <m:num>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2</m:t>
                                  </m:r>
                                </m:num>
                                <m:den>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3</m:t>
                                  </m:r>
                                </m:den>
                              </m:f>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𝑥</m:t>
                              </m:r>
                              <m:r>
                                <a:rPr kumimoji="0" lang="en-US" sz="2000" b="0" i="0"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sym typeface="Arial"/>
                                </a:rPr>
                                <m:t>+6)</m:t>
                              </m:r>
                            </m:oMath>
                          </a14:m>
                          <a:r>
                            <a:rPr lang="en-US" sz="2000" dirty="0">
                              <a:effectLst/>
                              <a:latin typeface="Cambria Math" panose="02040503050406030204" pitchFamily="18" charset="0"/>
                              <a:ea typeface="Cambria Math" panose="02040503050406030204" pitchFamily="18" charset="0"/>
                              <a:cs typeface="Times New Roman" panose="02020603050405020304" pitchFamily="18" charset="0"/>
                            </a:rPr>
                            <a:t> </a:t>
                          </a:r>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71254"/>
                      </a:ext>
                    </a:extLst>
                  </a:tr>
                </a:tbl>
              </a:graphicData>
            </a:graphic>
          </p:graphicFrame>
        </mc:Choice>
        <mc:Fallback xmlns="">
          <p:graphicFrame>
            <p:nvGraphicFramePr>
              <p:cNvPr id="7" name="Table 6">
                <a:extLst>
                  <a:ext uri="{FF2B5EF4-FFF2-40B4-BE49-F238E27FC236}">
                    <a16:creationId xmlns:a16="http://schemas.microsoft.com/office/drawing/2014/main" xmlns:a14="http://schemas.microsoft.com/office/drawing/2010/main" xmlns="" id="{643371C0-8AC5-4217-9AC3-223F90668C4F}"/>
                  </a:ext>
                </a:extLst>
              </p:cNvPr>
              <p:cNvGraphicFramePr>
                <a:graphicFrameLocks noGrp="1"/>
              </p:cNvGraphicFramePr>
              <p:nvPr>
                <p:extLst>
                  <p:ext uri="{D42A27DB-BD31-4B8C-83A1-F6EECF244321}">
                    <p14:modId xmlns:p14="http://schemas.microsoft.com/office/powerpoint/2010/main" val="198271208"/>
                  </p:ext>
                </p:extLst>
              </p:nvPr>
            </p:nvGraphicFramePr>
            <p:xfrm>
              <a:off x="1596428" y="1534306"/>
              <a:ext cx="7560000" cy="4297680"/>
            </p:xfrm>
            <a:graphic>
              <a:graphicData uri="http://schemas.openxmlformats.org/drawingml/2006/table">
                <a:tbl>
                  <a:tblPr firstRow="1" firstCol="1" bandRow="1">
                    <a:tableStyleId>{A91F0D33-8C57-4600-99A7-42BC86742BE1}</a:tableStyleId>
                  </a:tblPr>
                  <a:tblGrid>
                    <a:gridCol w="3240000">
                      <a:extLst>
                        <a:ext uri="{9D8B030D-6E8A-4147-A177-3AD203B41FA5}">
                          <a16:colId xmlns:a16="http://schemas.microsoft.com/office/drawing/2014/main" xmlns:a14="http://schemas.microsoft.com/office/drawing/2010/main" xmlns="" val="2242861310"/>
                        </a:ext>
                      </a:extLst>
                    </a:gridCol>
                    <a:gridCol w="4320000">
                      <a:extLst>
                        <a:ext uri="{9D8B030D-6E8A-4147-A177-3AD203B41FA5}">
                          <a16:colId xmlns:a16="http://schemas.microsoft.com/office/drawing/2014/main" xmlns:a14="http://schemas.microsoft.com/office/drawing/2010/main" xmlns="" val="3665025508"/>
                        </a:ext>
                      </a:extLst>
                    </a:gridCol>
                  </a:tblGrid>
                  <a:tr h="109728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a:sym typeface="Arial"/>
                            </a:rPr>
                            <a:t>Partner A</a:t>
                          </a:r>
                          <a:endParaRPr lang="en-US" sz="2000" b="1" dirty="0">
                            <a:effectLst/>
                            <a:latin typeface="Verdana" panose="020B0604030504040204" pitchFamily="34" charset="0"/>
                            <a:ea typeface="Verdana" panose="020B0604030504040204" pitchFamily="34" charset="0"/>
                          </a:endParaRP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Apply the distributive property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effectLst/>
                              <a:latin typeface="Verdana" panose="020B0604030504040204" pitchFamily="34" charset="0"/>
                              <a:ea typeface="Verdana" panose="020B0604030504040204" pitchFamily="34" charset="0"/>
                            </a:rPr>
                            <a:t>Partner B</a:t>
                          </a:r>
                        </a:p>
                        <a:p>
                          <a:pPr marL="0" marR="0" algn="ctr">
                            <a:spcBef>
                              <a:spcPts val="0"/>
                            </a:spcBef>
                            <a:spcAft>
                              <a:spcPts val="0"/>
                            </a:spcAft>
                          </a:pPr>
                          <a:r>
                            <a:rPr lang="en-US" sz="2000" b="0" dirty="0">
                              <a:effectLst/>
                              <a:latin typeface="Verdana" panose="020B0604030504040204" pitchFamily="34" charset="0"/>
                              <a:ea typeface="Verdana" panose="020B0604030504040204" pitchFamily="34" charset="0"/>
                            </a:rPr>
                            <a:t>Divide both sides by the factor being distributed first</a:t>
                          </a:r>
                          <a:endParaRPr lang="en-US" sz="2000" b="0" dirty="0">
                            <a:effectLst/>
                            <a:latin typeface="Verdana" panose="020B0604030504040204" pitchFamily="34" charset="0"/>
                            <a:ea typeface="Verdana" panose="020B0604030504040204" pitchFamily="34" charset="0"/>
                            <a:cs typeface="Times New Roman" panose="02020603050405020304" pitchFamily="18"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4061780207"/>
                      </a:ext>
                    </a:extLst>
                  </a:tr>
                  <a:tr h="3200400">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188" t="-34476" r="-133710"/>
                          </a:stretch>
                        </a:blipFill>
                      </a:tcPr>
                    </a:tc>
                    <a:tc>
                      <a:txBody>
                        <a:bodyPr/>
                        <a:lstStyle/>
                        <a:p>
                          <a:endParaRPr lang="en-US"/>
                        </a:p>
                      </a:txBody>
                      <a:tcPr marT="91440" marB="9144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5"/>
                          <a:stretch>
                            <a:fillRect l="-75035" t="-34476" r="-141"/>
                          </a:stretch>
                        </a:blipFill>
                      </a:tcPr>
                    </a:tc>
                    <a:extLst>
                      <a:ext uri="{0D108BD9-81ED-4DB2-BD59-A6C34878D82A}">
                        <a16:rowId xmlns:a16="http://schemas.microsoft.com/office/drawing/2014/main" xmlns:a14="http://schemas.microsoft.com/office/drawing/2010/main" xmlns="" val="354871254"/>
                      </a:ext>
                    </a:extLst>
                  </a:tr>
                </a:tbl>
              </a:graphicData>
            </a:graphic>
          </p:graphicFrame>
        </mc:Fallback>
      </mc:AlternateContent>
    </p:spTree>
    <p:extLst>
      <p:ext uri="{BB962C8B-B14F-4D97-AF65-F5344CB8AC3E}">
        <p14:creationId xmlns:p14="http://schemas.microsoft.com/office/powerpoint/2010/main" val="90645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p>
        </p:txBody>
      </p:sp>
      <p:sp>
        <p:nvSpPr>
          <p:cNvPr id="5" name="TextBox 4">
            <a:extLst>
              <a:ext uri="{FF2B5EF4-FFF2-40B4-BE49-F238E27FC236}">
                <a16:creationId xmlns:a16="http://schemas.microsoft.com/office/drawing/2014/main" id="{8AE5E1E0-A54D-BE42-84B5-F917038ADE99}"/>
              </a:ext>
            </a:extLst>
          </p:cNvPr>
          <p:cNvSpPr txBox="1"/>
          <p:nvPr/>
        </p:nvSpPr>
        <p:spPr>
          <a:xfrm>
            <a:off x="532660" y="368644"/>
            <a:ext cx="10515600" cy="4093428"/>
          </a:xfrm>
          <a:prstGeom prst="rect">
            <a:avLst/>
          </a:prstGeom>
          <a:noFill/>
        </p:spPr>
        <p:txBody>
          <a:bodyPr wrap="square" rtlCol="0">
            <a:spAutoFit/>
          </a:bodyPr>
          <a:lstStyle/>
          <a:p>
            <a:pPr marL="914400" lvl="1" indent="-457200">
              <a:buFont typeface="+mj-lt"/>
              <a:buAutoNum type="alphaL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Share your solution and your work with your partner. Correct any errors, if necessary. Then, write your partner’s method in the space provided once both partners agree the work is correct.</a:t>
            </a:r>
          </a:p>
          <a:p>
            <a:pPr marL="914400" lvl="1" indent="-457200">
              <a:buFont typeface="+mj-lt"/>
              <a:buAutoNum type="alphaLcPeriod" startAt="2"/>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lvl="1" indent="-457200">
              <a:buFont typeface="+mj-lt"/>
              <a:buAutoNum type="alphaL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Explain which method you preferred for solving this equation.</a:t>
            </a:r>
          </a:p>
        </p:txBody>
      </p:sp>
    </p:spTree>
    <p:extLst>
      <p:ext uri="{BB962C8B-B14F-4D97-AF65-F5344CB8AC3E}">
        <p14:creationId xmlns:p14="http://schemas.microsoft.com/office/powerpoint/2010/main" val="2645302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32661" y="368644"/>
                <a:ext cx="10515600" cy="5078313"/>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Times New Roman" panose="02020603050405020304" pitchFamily="18" charset="0"/>
                  </a:rPr>
                  <a:t>The perimeter of an equilateral triangle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41.46</m:t>
                    </m:r>
                  </m:oMath>
                </a14:m>
                <a:r>
                  <a:rPr lang="en-US" sz="2000" dirty="0">
                    <a:latin typeface="Verdana" panose="020B0604030504040204" pitchFamily="34" charset="0"/>
                    <a:ea typeface="Verdana" panose="020B0604030504040204" pitchFamily="34" charset="0"/>
                    <a:cs typeface="Times New Roman" panose="02020603050405020304" pitchFamily="18" charset="0"/>
                  </a:rPr>
                  <a:t> inches. If the length of each side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r>
                      <a:rPr lang="en-US" sz="2000" i="1">
                        <a:latin typeface="Cambria Math" panose="02040503050406030204" pitchFamily="18" charset="0"/>
                        <a:ea typeface="Times New Roman" panose="02020603050405020304" pitchFamily="18" charset="0"/>
                        <a:cs typeface="Times New Roman" panose="02020603050405020304" pitchFamily="18" charset="0"/>
                      </a:rPr>
                      <m:t>−5.7)</m:t>
                    </m:r>
                  </m:oMath>
                </a14:m>
                <a:r>
                  <a:rPr lang="en-US" sz="2000" dirty="0">
                    <a:latin typeface="Verdana" panose="020B0604030504040204" pitchFamily="34" charset="0"/>
                    <a:ea typeface="Verdana" panose="020B0604030504040204" pitchFamily="34" charset="0"/>
                    <a:cs typeface="Times New Roman" panose="02020603050405020304" pitchFamily="18" charset="0"/>
                  </a:rPr>
                  <a:t>,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r>
                      <a:rPr lang="en-US" sz="2000" i="1">
                        <a:latin typeface="Cambria Math" panose="02040503050406030204" pitchFamily="18" charset="0"/>
                        <a:ea typeface="Times New Roman" panose="02020603050405020304" pitchFamily="18" charset="0"/>
                        <a:cs typeface="Times New Roman" panose="02020603050405020304" pitchFamily="18" charset="0"/>
                      </a:rPr>
                      <m:t>−5.7)=41.46</m:t>
                    </m:r>
                  </m:oMath>
                </a14:m>
                <a:r>
                  <a:rPr lang="en-US" sz="2000" dirty="0">
                    <a:latin typeface="Verdana" panose="020B0604030504040204" pitchFamily="34" charset="0"/>
                    <a:ea typeface="Verdana" panose="020B0604030504040204" pitchFamily="34" charset="0"/>
                    <a:cs typeface="Times New Roman" panose="02020603050405020304" pitchFamily="18" charset="0"/>
                  </a:rPr>
                  <a:t> can be used to find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What is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Times New Roman" panose="02020603050405020304" pitchFamily="18" charset="0"/>
                  </a:rPr>
                  <a:t>The length of each side of the triangle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13.82</m:t>
                    </m:r>
                  </m:oMath>
                </a14:m>
                <a:r>
                  <a:rPr lang="en-US" sz="2000" dirty="0">
                    <a:latin typeface="Verdana" panose="020B0604030504040204" pitchFamily="34" charset="0"/>
                    <a:ea typeface="Verdana" panose="020B0604030504040204" pitchFamily="34" charset="0"/>
                    <a:cs typeface="Times New Roman" panose="02020603050405020304" pitchFamily="18" charset="0"/>
                  </a:rPr>
                  <a:t> inches because </a:t>
                </a:r>
                <a:br>
                  <a:rPr lang="en-US" sz="2000" dirty="0">
                    <a:latin typeface="Verdana" panose="020B0604030504040204" pitchFamily="34" charset="0"/>
                    <a:ea typeface="Verdana" panose="020B0604030504040204" pitchFamily="34" charset="0"/>
                    <a:cs typeface="Times New Roman" panose="02020603050405020304" pitchFamily="18" charset="0"/>
                  </a:rPr>
                </a:b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41.46÷3=13.82</m:t>
                    </m:r>
                  </m:oMath>
                </a14:m>
                <a:r>
                  <a:rPr lang="en-US" sz="2000" dirty="0">
                    <a:latin typeface="Verdana" panose="020B0604030504040204" pitchFamily="34" charset="0"/>
                    <a:ea typeface="Verdana" panose="020B0604030504040204" pitchFamily="34" charset="0"/>
                    <a:cs typeface="Times New Roman" panose="02020603050405020304" pitchFamily="18" charset="0"/>
                  </a:rPr>
                  <a:t>. Explain how the solution to the equation </a:t>
                </a:r>
                <a:br>
                  <a:rPr lang="en-US" sz="2000" dirty="0">
                    <a:latin typeface="Verdana" panose="020B0604030504040204" pitchFamily="34" charset="0"/>
                    <a:ea typeface="Verdana" panose="020B0604030504040204" pitchFamily="34" charset="0"/>
                    <a:cs typeface="Times New Roman" panose="02020603050405020304" pitchFamily="18" charset="0"/>
                  </a:rPr>
                </a:b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r>
                      <a:rPr lang="en-US" sz="2000" i="1">
                        <a:latin typeface="Cambria Math" panose="02040503050406030204" pitchFamily="18" charset="0"/>
                        <a:ea typeface="Times New Roman" panose="02020603050405020304" pitchFamily="18" charset="0"/>
                        <a:cs typeface="Times New Roman" panose="02020603050405020304" pitchFamily="18" charset="0"/>
                      </a:rPr>
                      <m:t>𝑞</m:t>
                    </m:r>
                    <m:r>
                      <a:rPr lang="en-US" sz="2000" i="1">
                        <a:latin typeface="Cambria Math" panose="02040503050406030204" pitchFamily="18" charset="0"/>
                        <a:ea typeface="Times New Roman" panose="02020603050405020304" pitchFamily="18" charset="0"/>
                        <a:cs typeface="Times New Roman" panose="02020603050405020304" pitchFamily="18" charset="0"/>
                      </a:rPr>
                      <m:t>−5.7)=41.46</m:t>
                    </m:r>
                  </m:oMath>
                </a14:m>
                <a:r>
                  <a:rPr lang="en-US" sz="2000" dirty="0">
                    <a:latin typeface="Verdana" panose="020B0604030504040204" pitchFamily="34" charset="0"/>
                    <a:ea typeface="Verdana" panose="020B0604030504040204" pitchFamily="34" charset="0"/>
                    <a:cs typeface="Times New Roman" panose="02020603050405020304" pitchFamily="18" charset="0"/>
                  </a:rPr>
                  <a:t> can be used to show this as well.</a:t>
                </a:r>
              </a:p>
              <a:p>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914400"/>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r>
                  <a:rPr lang="en-US" dirty="0"/>
                  <a:t> </a:t>
                </a:r>
                <a:endParaRPr lang="en-US" sz="1050" dirty="0"/>
              </a:p>
              <a:p>
                <a:r>
                  <a:rPr lang="en-US" dirty="0"/>
                  <a:t> </a:t>
                </a:r>
                <a:endParaRPr lang="en-US" sz="1050" dirty="0"/>
              </a:p>
              <a:p>
                <a:pPr marL="457200" lvl="1"/>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8AE5E1E0-A54D-BE42-84B5-F917038ADE99}"/>
                  </a:ext>
                </a:extLst>
              </p:cNvPr>
              <p:cNvSpPr txBox="1">
                <a:spLocks noRot="1" noChangeAspect="1" noMove="1" noResize="1" noEditPoints="1" noAdjustHandles="1" noChangeArrowheads="1" noChangeShapeType="1" noTextEdit="1"/>
              </p:cNvSpPr>
              <p:nvPr/>
            </p:nvSpPr>
            <p:spPr>
              <a:xfrm>
                <a:off x="532661" y="368644"/>
                <a:ext cx="10515600" cy="5078313"/>
              </a:xfrm>
              <a:prstGeom prst="rect">
                <a:avLst/>
              </a:prstGeom>
              <a:blipFill rotWithShape="1">
                <a:blip r:embed="rId4"/>
                <a:stretch>
                  <a:fillRect l="-580" t="-719"/>
                </a:stretch>
              </a:blipFill>
            </p:spPr>
            <p:txBody>
              <a:bodyPr/>
              <a:lstStyle/>
              <a:p>
                <a:r>
                  <a:rPr lang="en-PH">
                    <a:noFill/>
                  </a:rPr>
                  <a:t> </a:t>
                </a:r>
              </a:p>
            </p:txBody>
          </p:sp>
        </mc:Fallback>
      </mc:AlternateContent>
    </p:spTree>
    <p:extLst>
      <p:ext uri="{BB962C8B-B14F-4D97-AF65-F5344CB8AC3E}">
        <p14:creationId xmlns:p14="http://schemas.microsoft.com/office/powerpoint/2010/main" val="683604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707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01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51878" y="8435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10.7.5 Guided Practice: Solving Equations Involving the Distributive Property</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7230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32661" y="1455552"/>
                <a:ext cx="10800000" cy="3630738"/>
              </a:xfrm>
              <a:prstGeom prst="rect">
                <a:avLst/>
              </a:prstGeom>
              <a:noFill/>
            </p:spPr>
            <p:txBody>
              <a:bodyPr wrap="square" rtlCol="0">
                <a:spAutoFit/>
              </a:bodyPr>
              <a:lstStyle/>
              <a:p>
                <a:r>
                  <a:rPr lang="en-US" sz="2000" dirty="0">
                    <a:latin typeface="Verdana" pitchFamily="34" charset="0"/>
                    <a:ea typeface="Verdana" pitchFamily="34" charset="0"/>
                    <a:cs typeface="Times New Roman" panose="02020603050405020304" pitchFamily="18" charset="0"/>
                  </a:rPr>
                  <a:t>Solve each equation using your preferred method. Then, verify that your solution is correct using substitution.</a:t>
                </a:r>
              </a:p>
              <a:p>
                <a:pPr marL="457200" indent="-457200"/>
                <a:endParaRPr lang="en-US" sz="2000" dirty="0">
                  <a:latin typeface="Verdana" pitchFamily="34" charset="0"/>
                  <a:ea typeface="Verdana" pitchFamily="34" charset="0"/>
                  <a:cs typeface="Times New Roman" panose="02020603050405020304" pitchFamily="18" charset="0"/>
                </a:endParaRPr>
              </a:p>
              <a:p>
                <a:pPr marL="457200" indent="-457200"/>
                <a:r>
                  <a:rPr lang="en-US" sz="2000" dirty="0">
                    <a:latin typeface="Verdana" pitchFamily="34" charset="0"/>
                    <a:ea typeface="Verdana" pitchFamily="34" charset="0"/>
                    <a:cs typeface="Times New Roman" panose="02020603050405020304" pitchFamily="18" charset="0"/>
                  </a:rPr>
                  <a:t>1.	</a:t>
                </a: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4</m:t>
                        </m:r>
                      </m:den>
                    </m:f>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𝑘</m:t>
                        </m:r>
                        <m:r>
                          <a:rPr lang="en-US" sz="2000" i="1">
                            <a:latin typeface="Cambria Math" panose="02040503050406030204" pitchFamily="18" charset="0"/>
                            <a:ea typeface="Times New Roman" panose="02020603050405020304" pitchFamily="18" charset="0"/>
                            <a:cs typeface="Times New Roman" panose="02020603050405020304" pitchFamily="18" charset="0"/>
                          </a:rPr>
                          <m:t>−5</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e>
                    </m:d>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5</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8</m:t>
                        </m:r>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r>
                  <a:rPr lang="en-US" sz="2000" dirty="0">
                    <a:latin typeface="Verdana" panose="020B0604030504040204" pitchFamily="34" charset="0"/>
                    <a:ea typeface="Verdana" panose="020B0604030504040204" pitchFamily="34" charset="0"/>
                    <a:cs typeface="Times New Roman" panose="02020603050405020304" pitchFamily="18" charset="0"/>
                  </a:rPr>
                  <a:t>2.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−3=(</m:t>
                    </m:r>
                    <m:r>
                      <a:rPr lang="en-US" sz="2000" i="1">
                        <a:latin typeface="Cambria Math" panose="02040503050406030204" pitchFamily="18" charset="0"/>
                        <a:ea typeface="Times New Roman" panose="02020603050405020304" pitchFamily="18" charset="0"/>
                        <a:cs typeface="Times New Roman" panose="02020603050405020304" pitchFamily="18" charset="0"/>
                      </a:rPr>
                      <m:t>𝑤</m:t>
                    </m:r>
                    <m:r>
                      <a:rPr lang="en-US" sz="2000" i="1">
                        <a:latin typeface="Cambria Math" panose="02040503050406030204" pitchFamily="18" charset="0"/>
                        <a:ea typeface="Times New Roman" panose="02020603050405020304" pitchFamily="18" charset="0"/>
                        <a:cs typeface="Times New Roman" panose="02020603050405020304" pitchFamily="18" charset="0"/>
                      </a:rPr>
                      <m:t>−1.7)(−10)</m:t>
                    </m:r>
                  </m:oMath>
                </a14:m>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31D40250-DEDD-2C41-8538-3D4DD18CCC4A}"/>
                  </a:ext>
                </a:extLst>
              </p:cNvPr>
              <p:cNvSpPr txBox="1">
                <a:spLocks noRot="1" noChangeAspect="1" noMove="1" noResize="1" noEditPoints="1" noAdjustHandles="1" noChangeArrowheads="1" noChangeShapeType="1" noTextEdit="1"/>
              </p:cNvSpPr>
              <p:nvPr/>
            </p:nvSpPr>
            <p:spPr>
              <a:xfrm>
                <a:off x="532661" y="1455552"/>
                <a:ext cx="10800000" cy="3630738"/>
              </a:xfrm>
              <a:prstGeom prst="rect">
                <a:avLst/>
              </a:prstGeom>
              <a:blipFill rotWithShape="1">
                <a:blip r:embed="rId5"/>
                <a:stretch>
                  <a:fillRect l="-564" t="-840" b="-2185"/>
                </a:stretch>
              </a:blipFill>
            </p:spPr>
            <p:txBody>
              <a:bodyPr/>
              <a:lstStyle/>
              <a:p>
                <a:r>
                  <a:rPr lang="en-PH">
                    <a:noFill/>
                  </a:rPr>
                  <a:t> </a:t>
                </a:r>
              </a:p>
            </p:txBody>
          </p:sp>
        </mc:Fallback>
      </mc:AlternateContent>
    </p:spTree>
    <p:extLst>
      <p:ext uri="{BB962C8B-B14F-4D97-AF65-F5344CB8AC3E}">
        <p14:creationId xmlns:p14="http://schemas.microsoft.com/office/powerpoint/2010/main" val="745523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093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51878" y="8435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10.7.6 Collaboration: Error Analysis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6"/>
            <a:ext cx="2634000" cy="615523"/>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p>
          <a:p>
            <a:pPr algn="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32661" y="1464431"/>
                <a:ext cx="10515600" cy="457189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Times New Roman" panose="02020603050405020304" pitchFamily="18" charset="0"/>
                  </a:rPr>
                  <a:t>Work with your partner to complete the following.</a:t>
                </a:r>
              </a:p>
              <a:p>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Francesca was asked to solve the equation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a:latin typeface="Cambria Math" panose="02040503050406030204" pitchFamily="18" charset="0"/>
                        <a:ea typeface="Times New Roman" panose="02020603050405020304" pitchFamily="18" charset="0"/>
                        <a:cs typeface="Times New Roman" panose="02020603050405020304" pitchFamily="18" charset="0"/>
                      </a:rPr>
                      <m:t>4</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−1.5</m:t>
                        </m:r>
                      </m:e>
                    </m:d>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br>
                  <a:rPr lang="en-US" sz="2000" dirty="0">
                    <a:latin typeface="Verdana" panose="020B0604030504040204" pitchFamily="34" charset="0"/>
                    <a:ea typeface="Verdana" panose="020B0604030504040204" pitchFamily="34" charset="0"/>
                    <a:cs typeface="Times New Roman" panose="02020603050405020304" pitchFamily="18" charset="0"/>
                  </a:rPr>
                </a:br>
                <a:r>
                  <a:rPr lang="en-US" sz="2000" dirty="0">
                    <a:latin typeface="Verdana" panose="020B0604030504040204" pitchFamily="34" charset="0"/>
                    <a:ea typeface="Verdana" panose="020B0604030504040204" pitchFamily="34" charset="0"/>
                    <a:cs typeface="Times New Roman" panose="02020603050405020304" pitchFamily="18" charset="0"/>
                  </a:rPr>
                  <a:t>Her work is shown.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1371600">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a:latin typeface="Cambria Math" panose="02040503050406030204" pitchFamily="18" charset="0"/>
                        <a:ea typeface="Times New Roman" panose="02020603050405020304" pitchFamily="18" charset="0"/>
                        <a:cs typeface="Times New Roman" panose="02020603050405020304" pitchFamily="18" charset="0"/>
                      </a:rPr>
                      <m:t>4</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−1.5</m:t>
                        </m:r>
                      </m:e>
                    </m:d>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1371600">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−4.5+1.5=</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−1.5</m:t>
                        </m:r>
                      </m:e>
                    </m:d>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1371600">
                  <a:spcAft>
                    <a:spcPts val="1000"/>
                  </a:spcAft>
                </a:pP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1371600">
                  <a:spcAft>
                    <a:spcPts val="1000"/>
                  </a:spcAft>
                </a:pPr>
                <a14:m>
                  <m:oMath xmlns:m="http://schemas.openxmlformats.org/officeDocument/2006/math">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den>
                    </m:f>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num>
                      <m:den>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3</m:t>
                            </m:r>
                          </m:den>
                        </m:f>
                      </m:den>
                    </m:f>
                  </m:oMath>
                </a14:m>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1371600" indent="-1371600"/>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=−6</m:t>
                      </m:r>
                    </m:oMath>
                  </m:oMathPara>
                </a14:m>
                <a:endParaRPr lang="en-US" sz="2000" dirty="0">
                  <a:latin typeface="Verdana" panose="020B0604030504040204" pitchFamily="34" charset="0"/>
                  <a:ea typeface="Verdana" panose="020B0604030504040204" pitchFamily="34"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32661" y="1464431"/>
                <a:ext cx="10515600" cy="4571893"/>
              </a:xfrm>
              <a:prstGeom prst="rect">
                <a:avLst/>
              </a:prstGeom>
              <a:blipFill rotWithShape="1">
                <a:blip r:embed="rId4"/>
                <a:stretch>
                  <a:fillRect l="-580" t="-667"/>
                </a:stretch>
              </a:blipFill>
            </p:spPr>
            <p:txBody>
              <a:bodyPr/>
              <a:lstStyle/>
              <a:p>
                <a:r>
                  <a:rPr lang="en-PH">
                    <a:noFill/>
                  </a:rPr>
                  <a:t> </a:t>
                </a:r>
              </a:p>
            </p:txBody>
          </p:sp>
        </mc:Fallback>
      </mc:AlternateContent>
      <p:pic>
        <p:nvPicPr>
          <p:cNvPr id="13"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48804" y="372300"/>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930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127</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532661" y="392910"/>
                <a:ext cx="10515600" cy="4678397"/>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Times New Roman" panose="02020603050405020304" pitchFamily="18" charset="0"/>
                  </a:rPr>
                  <a:t>Draw an arrow next to the step(s) where Francesca made a mistake.</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Times New Roman" panose="02020603050405020304" pitchFamily="18" charset="0"/>
                  </a:rPr>
                  <a:t>Describe the mistake(s) Francesca made.</a:t>
                </a:r>
              </a:p>
              <a:p>
                <a:pPr marL="914400" indent="-457200">
                  <a:buFont typeface="+mj-lt"/>
                  <a:buAutoNum type="alphaLcPeriod"/>
                </a:pPr>
                <a:endParaRPr lang="en-PH"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PH"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PH"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PH"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Times New Roman" panose="02020603050405020304" pitchFamily="18" charset="0"/>
                  </a:rPr>
                  <a:t>Find the solution to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a:latin typeface="Cambria Math" panose="02040503050406030204" pitchFamily="18" charset="0"/>
                        <a:ea typeface="Times New Roman" panose="02020603050405020304" pitchFamily="18" charset="0"/>
                        <a:cs typeface="Times New Roman" panose="02020603050405020304" pitchFamily="18" charset="0"/>
                      </a:rPr>
                      <m:t>4</m:t>
                    </m:r>
                    <m:f>
                      <m:f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2</m:t>
                        </m:r>
                      </m:den>
                    </m:f>
                    <m:r>
                      <a:rPr lang="en-US" sz="24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3</m:t>
                        </m:r>
                      </m:den>
                    </m:f>
                    <m:d>
                      <m:d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r>
                          <a:rPr lang="en-US" sz="2400" i="1">
                            <a:latin typeface="Cambria Math" panose="02040503050406030204" pitchFamily="18" charset="0"/>
                            <a:ea typeface="Times New Roman" panose="02020603050405020304" pitchFamily="18" charset="0"/>
                            <a:cs typeface="Times New Roman" panose="02020603050405020304" pitchFamily="18" charset="0"/>
                          </a:rPr>
                          <m:t>−1.5</m:t>
                        </m:r>
                      </m:e>
                    </m:d>
                  </m:oMath>
                </a14:m>
                <a:r>
                  <a:rPr lang="en-US" sz="2400" dirty="0">
                    <a:latin typeface="Verdana" panose="020B0604030504040204" pitchFamily="34" charset="0"/>
                    <a:ea typeface="Verdana" panose="020B0604030504040204" pitchFamily="34" charset="0"/>
                    <a:cs typeface="Times New Roman" panose="02020603050405020304" pitchFamily="18" charset="0"/>
                  </a:rPr>
                  <a:t>.</a:t>
                </a: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532661" y="392910"/>
                <a:ext cx="10515600" cy="4678397"/>
              </a:xfrm>
              <a:prstGeom prst="rect">
                <a:avLst/>
              </a:prstGeom>
              <a:blipFill rotWithShape="1">
                <a:blip r:embed="rId4"/>
                <a:stretch>
                  <a:fillRect t="-1042"/>
                </a:stretch>
              </a:blipFill>
            </p:spPr>
            <p:txBody>
              <a:bodyPr/>
              <a:lstStyle/>
              <a:p>
                <a:r>
                  <a:rPr lang="en-PH">
                    <a:noFill/>
                  </a:rPr>
                  <a:t> </a:t>
                </a:r>
              </a:p>
            </p:txBody>
          </p:sp>
        </mc:Fallback>
      </mc:AlternateContent>
    </p:spTree>
    <p:extLst>
      <p:ext uri="{BB962C8B-B14F-4D97-AF65-F5344CB8AC3E}">
        <p14:creationId xmlns:p14="http://schemas.microsoft.com/office/powerpoint/2010/main" val="3250412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128</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128</a:t>
            </a:r>
            <a:endParaRPr lang="en-US"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51878" y="83100"/>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10.7.7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372300"/>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34464" y="1463176"/>
                <a:ext cx="8327136" cy="55297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Solve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latin typeface="Cambria Math" panose="02040503050406030204" pitchFamily="18" charset="0"/>
                                <a:ea typeface="Times New Roman" panose="02020603050405020304" pitchFamily="18" charset="0"/>
                                <a:cs typeface="Times New Roman" panose="02020603050405020304" pitchFamily="18" charset="0"/>
                              </a:rPr>
                              <m:t>2</m:t>
                            </m:r>
                          </m:num>
                          <m:den>
                            <m:r>
                              <a:rPr lang="en-US" sz="2000" i="1">
                                <a:latin typeface="Cambria Math" panose="02040503050406030204" pitchFamily="18" charset="0"/>
                                <a:ea typeface="Times New Roman" panose="02020603050405020304" pitchFamily="18" charset="0"/>
                                <a:cs typeface="Times New Roman" panose="02020603050405020304" pitchFamily="18" charset="0"/>
                              </a:rPr>
                              <m:t>5</m:t>
                            </m:r>
                          </m:den>
                        </m:f>
                      </m:e>
                    </m:d>
                    <m:r>
                      <a:rPr lang="en-US" sz="2000" i="1">
                        <a:latin typeface="Cambria Math" panose="02040503050406030204" pitchFamily="18" charset="0"/>
                        <a:ea typeface="Times New Roman" panose="02020603050405020304" pitchFamily="18" charset="0"/>
                        <a:cs typeface="Times New Roman" panose="02020603050405020304" pitchFamily="18" charset="0"/>
                      </a:rPr>
                      <m:t> = </m:t>
                    </m:r>
                    <m:sPre>
                      <m:sPre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PrePr>
                      <m:sub/>
                      <m:sup>
                        <m:r>
                          <a:rPr lang="en-US" sz="2000" i="1">
                            <a:latin typeface="Cambria Math" panose="02040503050406030204" pitchFamily="18" charset="0"/>
                            <a:ea typeface="Times New Roman" panose="02020603050405020304" pitchFamily="18" charset="0"/>
                            <a:cs typeface="Times New Roman" panose="02020603050405020304" pitchFamily="18" charset="0"/>
                          </a:rPr>
                          <m:t>−</m:t>
                        </m:r>
                      </m:sup>
                      <m:e>
                        <m:r>
                          <a:rPr lang="en-US" sz="2000" i="1">
                            <a:latin typeface="Cambria Math" panose="02040503050406030204" pitchFamily="18" charset="0"/>
                            <a:ea typeface="Times New Roman" panose="02020603050405020304" pitchFamily="18" charset="0"/>
                            <a:cs typeface="Times New Roman" panose="02020603050405020304" pitchFamily="18" charset="0"/>
                          </a:rPr>
                          <m:t>13</m:t>
                        </m:r>
                      </m:e>
                    </m:sPre>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p:txBody>
          </p:sp>
        </mc:Choice>
        <mc:Fallback xmlns="">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34464" y="1463176"/>
                <a:ext cx="8327136" cy="552972"/>
              </a:xfrm>
              <a:prstGeom prst="rect">
                <a:avLst/>
              </a:prstGeom>
              <a:blipFill rotWithShape="1">
                <a:blip r:embed="rId5"/>
                <a:stretch>
                  <a:fillRect l="-805" b="-3297"/>
                </a:stretch>
              </a:blipFill>
            </p:spPr>
            <p:txBody>
              <a:bodyPr/>
              <a:lstStyle/>
              <a:p>
                <a:r>
                  <a:rPr lang="en-PH">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1355</TotalTime>
  <Words>1132</Words>
  <Application>Microsoft Office PowerPoint</Application>
  <PresentationFormat>Widescreen</PresentationFormat>
  <Paragraphs>215</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Cambria Math</vt:lpstr>
      <vt:lpstr>Cambria</vt:lpstr>
      <vt:lpstr>Calibri</vt:lpstr>
      <vt:lpstr>Century Gothic</vt:lpstr>
      <vt:lpstr>Verdana</vt:lpstr>
      <vt:lpstr>Arial</vt:lpstr>
      <vt:lpstr>Arial Black</vt:lpstr>
      <vt:lpstr>1_Office Theme</vt:lpstr>
      <vt:lpstr>7th Grade Math  Unit 10, Lesson 7  Solving Equations Involving the Distributive Property  Volume 2, pg. 122  </vt:lpstr>
      <vt:lpstr>Benchmark</vt:lpstr>
      <vt:lpstr>PowerPoint Presentation</vt:lpstr>
      <vt:lpstr>PowerPoint Presentation</vt:lpstr>
      <vt:lpstr>Warm-Up</vt:lpstr>
      <vt:lpstr>PowerPoint Presentation</vt:lpstr>
      <vt:lpstr>Refresher</vt:lpstr>
      <vt:lpstr>PowerPoint Presentation</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Collaboration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Heather  Rideout</cp:lastModifiedBy>
  <cp:revision>31</cp:revision>
  <dcterms:created xsi:type="dcterms:W3CDTF">2015-03-17T18:51:18Z</dcterms:created>
  <dcterms:modified xsi:type="dcterms:W3CDTF">2023-01-23T22:27:49Z</dcterms:modified>
</cp:coreProperties>
</file>