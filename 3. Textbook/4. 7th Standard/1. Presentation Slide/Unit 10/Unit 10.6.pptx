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16" r:id="rId11"/>
    <p:sldId id="332" r:id="rId12"/>
    <p:sldId id="333" r:id="rId13"/>
    <p:sldId id="289" r:id="rId14"/>
    <p:sldId id="290" r:id="rId15"/>
    <p:sldId id="308" r:id="rId16"/>
    <p:sldId id="334" r:id="rId17"/>
    <p:sldId id="335" r:id="rId18"/>
    <p:sldId id="338" r:id="rId19"/>
    <p:sldId id="302" r:id="rId20"/>
    <p:sldId id="303" r:id="rId21"/>
    <p:sldId id="339" r:id="rId22"/>
    <p:sldId id="337" r:id="rId23"/>
    <p:sldId id="306" r:id="rId24"/>
    <p:sldId id="307" r:id="rId25"/>
  </p:sldIdLst>
  <p:sldSz cx="12192000" cy="6858000"/>
  <p:notesSz cx="6858000" cy="9144000"/>
  <p:embeddedFontLst>
    <p:embeddedFont>
      <p:font typeface="Calibri" pitchFamily="34" charset="0"/>
      <p:regular r:id="rId27"/>
      <p:bold r:id="rId28"/>
      <p:italic r:id="rId29"/>
      <p:boldItalic r:id="rId30"/>
    </p:embeddedFont>
    <p:embeddedFont>
      <p:font typeface="Century Gothic" pitchFamily="34" charset="0"/>
      <p:regular r:id="rId31"/>
      <p:bold r:id="rId32"/>
      <p:italic r:id="rId33"/>
      <p:boldItalic r:id="rId34"/>
    </p:embeddedFont>
    <p:embeddedFont>
      <p:font typeface="Cambria Math" pitchFamily="18" charset="0"/>
      <p:regular r:id="rId35"/>
    </p:embeddedFont>
    <p:embeddedFont>
      <p:font typeface="Cambria" pitchFamily="18" charset="0"/>
      <p:regular r:id="rId36"/>
      <p:bold r:id="rId37"/>
      <p:italic r:id="rId38"/>
      <p:boldItalic r:id="rId39"/>
    </p:embeddedFont>
    <p:embeddedFont>
      <p:font typeface="Arial Black" pitchFamily="34" charset="0"/>
      <p:bold r:id="rId40"/>
    </p:embeddedFont>
    <p:embeddedFont>
      <p:font typeface="Verdana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165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9C346B-E598-4DBD-8D13-0B139CBC9C1A}" v="116" dt="2021-12-29T21:27:37.548"/>
  </p1510:revLst>
</p1510:revInfo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 autoAdjust="0"/>
    <p:restoredTop sz="94694"/>
  </p:normalViewPr>
  <p:slideViewPr>
    <p:cSldViewPr snapToGrid="0">
      <p:cViewPr>
        <p:scale>
          <a:sx n="80" d="100"/>
          <a:sy n="80" d="100"/>
        </p:scale>
        <p:origin x="-653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05285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2534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43614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3920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11961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39201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39201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9233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="" xmlns:a16="http://schemas.microsoft.com/office/drawing/2014/main" id="{ADCE3FE7-B71C-E44E-AEBC-574B47F894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005" y="1783180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685683" y="2070202"/>
            <a:ext cx="5394960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6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Two-Step Equations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117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44683" y="1600200"/>
            <a:ext cx="103267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MA.7.AR.2.2</a:t>
            </a:r>
          </a:p>
          <a:p>
            <a:pPr indent="0">
              <a:buNone/>
            </a:pPr>
            <a:r>
              <a:rPr lang="en-US" sz="36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and solve two-step equations in one variable within a mathematical context or real-world context, where all terms are rational numbers.</a:t>
            </a:r>
            <a:endParaRPr lang="en-US" sz="3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117</a:t>
            </a:r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1037636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4682" y="1600200"/>
            <a:ext cx="1108643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I can solve two-step equations in one variable.</a:t>
            </a:r>
          </a:p>
          <a:p>
            <a:pPr marL="685800" indent="-6794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685800" indent="-6794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I</a:t>
            </a: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 can relate the solution of </a:t>
            </a:r>
            <a:r>
              <a:rPr lang="en-US" sz="3600" dirty="0" smtClean="0">
                <a:latin typeface="Verdana" panose="020B0604030504040204" pitchFamily="34" charset="0"/>
                <a:ea typeface="Verdana" panose="020B0604030504040204" pitchFamily="34" charset="0"/>
              </a:rPr>
              <a:t>an </a:t>
            </a: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equation representing a </a:t>
            </a:r>
            <a:r>
              <a:rPr lang="en-US" sz="3600" dirty="0" smtClean="0">
                <a:latin typeface="Verdana" panose="020B0604030504040204" pitchFamily="34" charset="0"/>
                <a:ea typeface="Verdana" panose="020B0604030504040204" pitchFamily="34" charset="0"/>
              </a:rPr>
              <a:t>real-world </a:t>
            </a: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context to the context</a:t>
            </a:r>
            <a:r>
              <a:rPr lang="en-US" sz="36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36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117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118</a:t>
            </a:r>
          </a:p>
        </p:txBody>
      </p:sp>
      <p:pic>
        <p:nvPicPr>
          <p:cNvPr id="8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136525"/>
            <a:ext cx="8019300" cy="884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10.6.1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914400" y="1386025"/>
                <a:ext cx="10515600" cy="4462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Michaela solved the equation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2.9−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=−5.11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.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Her work is shown.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Use substitution to verify if Michaela’s solution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is correct.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5"/>
                <a:ext cx="10515600" cy="4462760"/>
              </a:xfrm>
              <a:prstGeom prst="rect">
                <a:avLst/>
              </a:prstGeom>
              <a:blipFill>
                <a:blip r:embed="rId5"/>
                <a:stretch>
                  <a:fillRect l="-965" t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xmlns="" id="{15249F83-C59A-4FF0-8F9D-B914C42052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371" y="2341896"/>
            <a:ext cx="4593258" cy="216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14400" y="520393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Michaela found the correct solution, describe the properties of equality applied. If Michaela did not find the correct solution, describe the error(s) she made.</a:t>
            </a:r>
            <a:endParaRPr lang="en-US" sz="24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118</a:t>
            </a:r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10.6.2 Collaboration: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Examining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Student Work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118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914400" y="1386025"/>
                <a:ext cx="10515600" cy="1299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Wilma and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Maurio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solved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42=</m:t>
                    </m:r>
                    <m:sPre>
                      <m:sPrePr>
                        <m:ctrlPr>
                          <a:rPr lang="en-US" sz="20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sPre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+15.6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by applying the </a:t>
                </a:r>
                <a:r>
                  <a:rPr lang="en-US" sz="2000" dirty="0">
                    <a:solidFill>
                      <a:srgbClr val="F79646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subtraction property of equality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and the </a:t>
                </a:r>
                <a:r>
                  <a:rPr lang="en-US" sz="2000" dirty="0">
                    <a:solidFill>
                      <a:srgbClr val="00B0F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division property of equality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. Their work is shown.</a:t>
                </a:r>
              </a:p>
              <a:p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8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5"/>
                <a:ext cx="10515600" cy="1299330"/>
              </a:xfrm>
              <a:prstGeom prst="rect">
                <a:avLst/>
              </a:prstGeom>
              <a:blipFill>
                <a:blip r:embed="rId5"/>
                <a:stretch>
                  <a:fillRect l="-603" t="-2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9105588"/>
                  </p:ext>
                </p:extLst>
              </p:nvPr>
            </p:nvGraphicFramePr>
            <p:xfrm>
              <a:off x="2638425" y="2568576"/>
              <a:ext cx="7524750" cy="2834767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7623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76237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Wilma’s Work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err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Maurio’s</a:t>
                          </a: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Work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42=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3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𝑥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+15.6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l">
                            <a:lnSpc>
                              <a:spcPct val="10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42</m:t>
                                </m:r>
                                <m:r>
                                  <a:rPr lang="en-US" sz="2000" i="1">
                                    <a:solidFill>
                                      <a:srgbClr val="F79646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−15.6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=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3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𝑥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+15.6</m:t>
                                </m:r>
                                <m:r>
                                  <a:rPr lang="en-US" sz="2000" i="1">
                                    <a:solidFill>
                                      <a:srgbClr val="F79646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−15.6</m:t>
                                </m:r>
                              </m:oMath>
                            </m:oMathPara>
                          </a14:m>
                          <a:endParaRPr lang="en-PH" sz="2000" dirty="0">
                            <a:solidFill>
                              <a:srgbClr val="F79646"/>
                            </a:solidFill>
                            <a:effectLst/>
                            <a:latin typeface="Verdana" pitchFamily="34" charset="0"/>
                            <a:ea typeface="Times New Roman"/>
                            <a:cs typeface="Times New Roman"/>
                          </a:endParaRPr>
                        </a:p>
                        <a:p>
                          <a:pPr algn="l">
                            <a:lnSpc>
                              <a:spcPct val="10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26.4=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3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𝑥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l">
                            <a:lnSpc>
                              <a:spcPct val="10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26.4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B0F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−3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Pre>
                                    <m:sPrePr>
                                      <m:ctrlPr>
                                        <a:rPr lang="en-US" sz="20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sPrePr>
                                    <m:sub/>
                                    <m:sup>
                                      <m:r>
                                        <a:rPr lang="en-US" sz="2000" i="1">
                                          <a:effectLst/>
                                          <a:latin typeface="Cambria Math"/>
                                          <a:ea typeface="Times New Roman"/>
                                          <a:cs typeface="Times New Roman"/>
                                        </a:rPr>
                                        <m:t>−</m:t>
                                      </m:r>
                                    </m:sup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/>
                                          <a:ea typeface="Times New Roman"/>
                                          <a:cs typeface="Times New Roman"/>
                                        </a:rPr>
                                        <m:t>3</m:t>
                                      </m:r>
                                      <m:r>
                                        <a:rPr lang="en-US" sz="2000" i="1">
                                          <a:effectLst/>
                                          <a:latin typeface="Cambria Math"/>
                                          <a:ea typeface="Times New Roman"/>
                                          <a:cs typeface="Times New Roman"/>
                                        </a:rPr>
                                        <m:t>𝑥</m:t>
                                      </m:r>
                                    </m:e>
                                  </m:sPre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B0F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−3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  <a:p>
                          <a:pPr algn="l">
                            <a:lnSpc>
                              <a:spcPct val="10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_____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= </m:t>
                              </m:r>
                              <m:r>
                                <a:rPr lang="en-US" sz="2000" i="1" smtClean="0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82880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42=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3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𝑥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+15.6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42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B0F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−3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Pre>
                                    <m:sPrePr>
                                      <m:ctrlPr>
                                        <a:rPr lang="en-US" sz="20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sPrePr>
                                    <m:sub/>
                                    <m:sup>
                                      <m:r>
                                        <a:rPr lang="en-US" sz="2000" i="1">
                                          <a:effectLst/>
                                          <a:latin typeface="Cambria Math"/>
                                          <a:ea typeface="Times New Roman"/>
                                          <a:cs typeface="Times New Roman"/>
                                        </a:rPr>
                                        <m:t>−</m:t>
                                      </m:r>
                                    </m:sup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/>
                                          <a:ea typeface="Times New Roman"/>
                                          <a:cs typeface="Times New Roman"/>
                                        </a:rPr>
                                        <m:t>3</m:t>
                                      </m:r>
                                      <m:r>
                                        <a:rPr lang="en-US" sz="2000" i="1">
                                          <a:effectLst/>
                                          <a:latin typeface="Cambria Math"/>
                                          <a:ea typeface="Times New Roman"/>
                                          <a:cs typeface="Times New Roman"/>
                                        </a:rPr>
                                        <m:t>𝑥</m:t>
                                      </m:r>
                                    </m:e>
                                  </m:sPre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B0F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−3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15.6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B0F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−3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14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=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−5.2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Times New Roman"/>
                                      </a:rPr>
                                      <m:t>14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solidFill>
                                      <a:srgbClr val="F79646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+5.2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=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−5.2+5.2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>
                            <a:lnSpc>
                              <a:spcPct val="100000"/>
                            </a:lnSpc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____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= 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82880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9105588"/>
                  </p:ext>
                </p:extLst>
              </p:nvPr>
            </p:nvGraphicFramePr>
            <p:xfrm>
              <a:off x="2638425" y="2568576"/>
              <a:ext cx="7524750" cy="2834767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7623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7623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Wilma’s Work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err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Maurio’s</a:t>
                          </a: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Work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23470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62" t="-20779" r="-100162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162" t="-20779" r="-162" b="-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6"/>
            <a:ext cx="263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118</a:t>
            </a:r>
          </a:p>
          <a:p>
            <a:pPr algn="r"/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914400" y="410665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last step in each student’s work. Then, check your work with your partner.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the similarities and differences between each students’ work with your partner. Summarize your discussion in the table.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84B3D79A-DE40-40EA-974B-404C8906A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369492"/>
              </p:ext>
            </p:extLst>
          </p:nvPr>
        </p:nvGraphicFramePr>
        <p:xfrm>
          <a:off x="3031184" y="3430737"/>
          <a:ext cx="6917567" cy="25298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471585">
                  <a:extLst>
                    <a:ext uri="{9D8B030D-6E8A-4147-A177-3AD203B41FA5}">
                      <a16:colId xmlns:a16="http://schemas.microsoft.com/office/drawing/2014/main" xmlns="" val="2198582662"/>
                    </a:ext>
                  </a:extLst>
                </a:gridCol>
                <a:gridCol w="3445982">
                  <a:extLst>
                    <a:ext uri="{9D8B030D-6E8A-4147-A177-3AD203B41FA5}">
                      <a16:colId xmlns:a16="http://schemas.microsoft.com/office/drawing/2014/main" xmlns="" val="279538775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How are the students’ work similar?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How are the students’ work different?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74655737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2423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AA35BC6-D428-FC41-BDE5-6438AB8840FC}"/>
              </a:ext>
            </a:extLst>
          </p:cNvPr>
          <p:cNvSpPr txBox="1"/>
          <p:nvPr/>
        </p:nvSpPr>
        <p:spPr>
          <a:xfrm>
            <a:off x="914400" y="410665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Notice that when division property of equality is applied first, each term in the equation must be divided by the same value to maintain equivalence.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Several students made errors when solving equations. Their work is shown in the table.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Work with your partner to find the error in each student’s work. Circle the step where the student made the error. Then, work together to complete the table.</a:t>
            </a:r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831095"/>
              </p:ext>
            </p:extLst>
          </p:nvPr>
        </p:nvGraphicFramePr>
        <p:xfrm>
          <a:off x="2573850" y="3416300"/>
          <a:ext cx="7313100" cy="29870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437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37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37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Times New Roman"/>
                        </a:rPr>
                        <a:t>Student Work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Describe the Error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Correct Solution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9456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7" name="Picture 6" descr="A close up of a clock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3225" y="4305125"/>
            <a:ext cx="164592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10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119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955144"/>
              </p:ext>
            </p:extLst>
          </p:nvPr>
        </p:nvGraphicFramePr>
        <p:xfrm>
          <a:off x="2552700" y="410665"/>
          <a:ext cx="7313100" cy="51816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437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37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37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Times New Roman"/>
                        </a:rPr>
                        <a:t>Student Work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Describe the Error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Correct Solution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9456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9456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8" name="Picture 7" descr="A picture containing clock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3225" y="1299845"/>
            <a:ext cx="1645920" cy="2011680"/>
          </a:xfrm>
          <a:prstGeom prst="rect">
            <a:avLst/>
          </a:prstGeom>
        </p:spPr>
      </p:pic>
      <p:pic>
        <p:nvPicPr>
          <p:cNvPr id="9" name="Picture 8" descr="A screenshot of a cell phone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8900" y="3571875"/>
            <a:ext cx="2286000" cy="186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4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119</a:t>
            </a: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338;g103996e1364_0_315">
            <a:extLst>
              <a:ext uri="{FF2B5EF4-FFF2-40B4-BE49-F238E27FC236}">
                <a16:creationId xmlns=""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220680"/>
            <a:ext cx="10515600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10.6.3 Guided Instruction: Relating Equations and Their Solutions to Real-World Contexts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914400" y="1556691"/>
                <a:ext cx="105156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Two-step equations can be used to represent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real-world situations when solving problems.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Dan’s family recently adopted a dog, so they are putting in a new fence in their backyard. Dan found fencing on sale at a local hardware store, but the store only had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linear feet (ft) of the fencing left in stock. Dan knows the backyard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48.6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ft long and wants to determine how wide the fenced-in portion of the yard would be if he used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linear ft of fencing. The dotted line in the figure shows how the fence will be constructed to enclose the backyard.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56691"/>
                <a:ext cx="10515600" cy="4524315"/>
              </a:xfrm>
              <a:prstGeom prst="rect">
                <a:avLst/>
              </a:prstGeom>
              <a:blipFill>
                <a:blip r:embed="rId5"/>
                <a:stretch>
                  <a:fillRect l="-965" t="-1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oogle Shape;345;g103996e1364_0_321">
            <a:extLst>
              <a:ext uri="{FF2B5EF4-FFF2-40B4-BE49-F238E27FC236}">
                <a16:creationId xmlns=""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6616" y="267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914400" y="288745"/>
                <a:ext cx="10515600" cy="4862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48.6+2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=80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can be used to determine how wide the fenced-in portion of the yard will be.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48.6+2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=80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. Show your work.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88745"/>
                <a:ext cx="10515600" cy="4862870"/>
              </a:xfrm>
              <a:prstGeom prst="rect">
                <a:avLst/>
              </a:prstGeom>
              <a:blipFill>
                <a:blip r:embed="rId4"/>
                <a:stretch>
                  <a:fillRect l="-603" b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34686D0-C32E-4A6B-A3AD-1CFD391BB27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05" t="4586"/>
          <a:stretch/>
        </p:blipFill>
        <p:spPr>
          <a:xfrm>
            <a:off x="3004256" y="288745"/>
            <a:ext cx="6183488" cy="348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914400" y="288745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 your solution is correct.</a:t>
            </a: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what the solution means in this context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432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914400" y="288746"/>
                <a:ext cx="10515600" cy="4466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In most countries, temperatures are measured in degrees Celsius, while in the United States, the Fahrenheit scale is used. The equation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−32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1.8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can be used to convert between these scales,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is the temperature in degrees Celsius (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°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is the temperature in degrees Fahrenheit (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°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F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).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25=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−32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1.8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can be used to find the temperature in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°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F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when it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25</m:t>
                    </m:r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°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Solve the equation to find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88746"/>
                <a:ext cx="10515600" cy="4466351"/>
              </a:xfrm>
              <a:prstGeom prst="rect">
                <a:avLst/>
              </a:prstGeom>
              <a:blipFill>
                <a:blip r:embed="rId4"/>
                <a:stretch>
                  <a:fillRect l="-965" t="-1133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8835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914400" y="288745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 your solution is correct.</a:t>
            </a: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what the solution means in this context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374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121</a:t>
            </a:r>
          </a:p>
        </p:txBody>
      </p:sp>
      <p:sp>
        <p:nvSpPr>
          <p:cNvPr id="7" name="Google Shape;362;p42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363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914400" y="1386026"/>
                <a:ext cx="10515600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The basketball team at C.H. Price Middle School in Putnam County, Florida sold candy bars to raise money for new Razorbacks uniforms. The coach spent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$78.95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on supplies for the fundraiser and team members sold each candy bar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$1.50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. When the fundraiser ended, the team had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$285.55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to spend on new uniforms after paying the coach back for the supplies she bought.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1.5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−78.95=285.55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can be used to represent this situation.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1225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Solve the equation to 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6"/>
                <a:ext cx="10515600" cy="3170099"/>
              </a:xfrm>
              <a:prstGeom prst="rect">
                <a:avLst/>
              </a:prstGeom>
              <a:blipFill>
                <a:blip r:embed="rId5"/>
                <a:stretch>
                  <a:fillRect l="-603" t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121</a:t>
            </a:r>
          </a:p>
        </p:txBody>
      </p:sp>
      <p:sp>
        <p:nvSpPr>
          <p:cNvPr id="10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37332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10.6.4 Your Turn!</a:t>
            </a:r>
            <a:endParaRPr lang="en-US" sz="43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914400" y="288745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 your solution is correct.</a:t>
            </a: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what the solution means in this context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121</a:t>
            </a:r>
          </a:p>
        </p:txBody>
      </p:sp>
    </p:spTree>
    <p:extLst>
      <p:ext uri="{BB962C8B-B14F-4D97-AF65-F5344CB8AC3E}">
        <p14:creationId xmlns:p14="http://schemas.microsoft.com/office/powerpoint/2010/main" val="2976129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914400" y="398474"/>
                <a:ext cx="10515600" cy="4093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−10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−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using the properties of equality. Then, verify your solution is correct.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−9.2=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+7.22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using the properties of equality. Then, verify your solution is correct.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98474"/>
                <a:ext cx="10515600" cy="4093941"/>
              </a:xfrm>
              <a:prstGeom prst="rect">
                <a:avLst/>
              </a:prstGeom>
              <a:blipFill>
                <a:blip r:embed="rId4"/>
                <a:stretch>
                  <a:fillRect l="-965" r="-724" b="-2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121</a:t>
            </a:r>
          </a:p>
        </p:txBody>
      </p:sp>
    </p:spTree>
    <p:extLst>
      <p:ext uri="{BB962C8B-B14F-4D97-AF65-F5344CB8AC3E}">
        <p14:creationId xmlns:p14="http://schemas.microsoft.com/office/powerpoint/2010/main" val="3201204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122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93;p45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94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122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914400" y="1386026"/>
            <a:ext cx="1051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Mistakes are an opportunity to learn. Describe your favorite mistake from today’s lesson which could be a mistake you made or observed that helped you learn.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ounded Rectangle 350">
            <a:extLst>
              <a:ext uri="{FF2B5EF4-FFF2-40B4-BE49-F238E27FC236}">
                <a16:creationId xmlns:a16="http://schemas.microsoft.com/office/drawing/2014/main" xmlns="" id="{FB244A7E-437C-4DEB-82DC-B456EDA57241}"/>
              </a:ext>
            </a:extLst>
          </p:cNvPr>
          <p:cNvSpPr/>
          <p:nvPr/>
        </p:nvSpPr>
        <p:spPr>
          <a:xfrm>
            <a:off x="2602000" y="2616144"/>
            <a:ext cx="2110154" cy="3770810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Aft>
                <a:spcPts val="1000"/>
              </a:spcAft>
            </a:pPr>
            <a:endParaRPr lang="en-US" sz="2000" b="1" dirty="0">
              <a:solidFill>
                <a:srgbClr val="DB2B2A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2000" b="1" dirty="0">
                <a:solidFill>
                  <a:srgbClr val="DB2B2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eans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000" b="1" dirty="0">
                <a:solidFill>
                  <a:srgbClr val="F2575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000" b="1" dirty="0">
                <a:solidFill>
                  <a:srgbClr val="E9923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tart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000" b="1" dirty="0">
                <a:solidFill>
                  <a:srgbClr val="FACD1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000" b="1" dirty="0">
                <a:solidFill>
                  <a:srgbClr val="7BA43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cquire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000" b="1" dirty="0">
                <a:solidFill>
                  <a:srgbClr val="24B7D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nowledge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000" b="1" dirty="0">
                <a:solidFill>
                  <a:srgbClr val="1B74B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xperience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000" b="1" dirty="0">
                <a:solidFill>
                  <a:srgbClr val="4A2B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kills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1000"/>
              </a:spcAft>
            </a:pPr>
            <a:r>
              <a:rPr lang="en-US" sz="12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Rounded Rectangle 349">
            <a:extLst>
              <a:ext uri="{FF2B5EF4-FFF2-40B4-BE49-F238E27FC236}">
                <a16:creationId xmlns:a16="http://schemas.microsoft.com/office/drawing/2014/main" xmlns="" id="{F0E095FD-E0CE-41FE-9963-A442A3F4AF0E}"/>
              </a:ext>
            </a:extLst>
          </p:cNvPr>
          <p:cNvSpPr/>
          <p:nvPr/>
        </p:nvSpPr>
        <p:spPr>
          <a:xfrm>
            <a:off x="5032600" y="2616144"/>
            <a:ext cx="3657600" cy="3767328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 i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en-US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468;p34"/>
          <p:cNvSpPr txBox="1"/>
          <p:nvPr/>
        </p:nvSpPr>
        <p:spPr>
          <a:xfrm>
            <a:off x="1142999" y="284833"/>
            <a:ext cx="9401175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10.6.5 Wrap-Up: Growth Mindset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</TotalTime>
  <Words>969</Words>
  <Application>Microsoft Office PowerPoint</Application>
  <PresentationFormat>Custom</PresentationFormat>
  <Paragraphs>190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Times New Roman</vt:lpstr>
      <vt:lpstr>Century Gothic</vt:lpstr>
      <vt:lpstr>Cambria Math</vt:lpstr>
      <vt:lpstr>Cambria</vt:lpstr>
      <vt:lpstr>Arial Black</vt:lpstr>
      <vt:lpstr>Verdana</vt:lpstr>
      <vt:lpstr>1_Office Theme</vt:lpstr>
      <vt:lpstr>PowerPoint Presentation</vt:lpstr>
      <vt:lpstr>Benchmark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29</cp:revision>
  <dcterms:created xsi:type="dcterms:W3CDTF">2015-03-17T18:51:18Z</dcterms:created>
  <dcterms:modified xsi:type="dcterms:W3CDTF">2022-06-11T03:53:41Z</dcterms:modified>
</cp:coreProperties>
</file>