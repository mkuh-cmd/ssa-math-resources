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85" r:id="rId4"/>
    <p:sldId id="286" r:id="rId5"/>
    <p:sldId id="261" r:id="rId6"/>
    <p:sldId id="287" r:id="rId7"/>
    <p:sldId id="314" r:id="rId8"/>
    <p:sldId id="315" r:id="rId9"/>
    <p:sldId id="316" r:id="rId10"/>
    <p:sldId id="288" r:id="rId11"/>
    <p:sldId id="332" r:id="rId12"/>
    <p:sldId id="329" r:id="rId13"/>
    <p:sldId id="330" r:id="rId14"/>
    <p:sldId id="331" r:id="rId15"/>
    <p:sldId id="289" r:id="rId16"/>
    <p:sldId id="290" r:id="rId17"/>
    <p:sldId id="308" r:id="rId18"/>
    <p:sldId id="333" r:id="rId19"/>
    <p:sldId id="334" r:id="rId20"/>
    <p:sldId id="323" r:id="rId21"/>
    <p:sldId id="324" r:id="rId22"/>
    <p:sldId id="325" r:id="rId23"/>
    <p:sldId id="335" r:id="rId24"/>
    <p:sldId id="336" r:id="rId25"/>
    <p:sldId id="302" r:id="rId26"/>
    <p:sldId id="303" r:id="rId27"/>
    <p:sldId id="309" r:id="rId28"/>
    <p:sldId id="306" r:id="rId29"/>
    <p:sldId id="307" r:id="rId30"/>
  </p:sldIdLst>
  <p:sldSz cx="12192000" cy="6858000"/>
  <p:notesSz cx="6858000" cy="9144000"/>
  <p:embeddedFontLst>
    <p:embeddedFont>
      <p:font typeface="Cambria Math" pitchFamily="18" charset="0"/>
      <p:regular r:id="rId32"/>
    </p:embeddedFont>
    <p:embeddedFont>
      <p:font typeface="Cambria" pitchFamily="18" charset="0"/>
      <p:regular r:id="rId33"/>
      <p:bold r:id="rId34"/>
      <p:italic r:id="rId35"/>
      <p:boldItalic r:id="rId36"/>
    </p:embeddedFont>
    <p:embeddedFont>
      <p:font typeface="Arial Black" pitchFamily="34" charset="0"/>
      <p:bold r:id="rId37"/>
    </p:embeddedFont>
    <p:embeddedFont>
      <p:font typeface="Verdana" pitchFamily="34" charset="0"/>
      <p:regular r:id="rId38"/>
      <p:bold r:id="rId39"/>
      <p:italic r:id="rId40"/>
      <p:boldItalic r:id="rId41"/>
    </p:embeddedFont>
    <p:embeddedFont>
      <p:font typeface="Calibri" pitchFamily="34" charset="0"/>
      <p:regular r:id="rId42"/>
      <p:bold r:id="rId43"/>
      <p:italic r:id="rId44"/>
      <p:boldItalic r:id="rId45"/>
    </p:embeddedFont>
    <p:embeddedFont>
      <p:font typeface="Century Gothic"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49" autoAdjust="0"/>
    <p:restoredTop sz="94694"/>
  </p:normalViewPr>
  <p:slideViewPr>
    <p:cSldViewPr snapToGrid="0">
      <p:cViewPr>
        <p:scale>
          <a:sx n="80" d="100"/>
          <a:sy n="80" d="100"/>
        </p:scale>
        <p:origin x="-648"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2123541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25236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841663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511792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6471400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840646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993064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419575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4938690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532705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540458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0.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40.png"/><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42.png"/><Relationship Id="rId5"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6" name="Google Shape;261;g104476d1465_0_0"/>
          <p:cNvSpPr txBox="1">
            <a:spLocks/>
          </p:cNvSpPr>
          <p:nvPr/>
        </p:nvSpPr>
        <p:spPr>
          <a:xfrm>
            <a:off x="5685683" y="2070202"/>
            <a:ext cx="5394960"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7</a:t>
            </a:r>
            <a:r>
              <a:rPr lang="en-US" sz="4000" b="1" baseline="30000" dirty="0">
                <a:solidFill>
                  <a:srgbClr val="417DBF"/>
                </a:solidFill>
                <a:latin typeface="Verdana"/>
                <a:ea typeface="Verdana"/>
                <a:cs typeface="Verdana"/>
                <a:sym typeface="Verdana"/>
              </a:rPr>
              <a:t>th</a:t>
            </a:r>
            <a:r>
              <a:rPr lang="en-US" sz="4000" b="1" dirty="0">
                <a:solidFill>
                  <a:srgbClr val="417DBF"/>
                </a:solidFill>
                <a:latin typeface="Verdana"/>
                <a:ea typeface="Verdana"/>
                <a:cs typeface="Verdana"/>
                <a:sym typeface="Verdana"/>
              </a:rPr>
              <a:t> Grade Math</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10, Lesson </a:t>
            </a:r>
            <a:r>
              <a:rPr lang="en-US" sz="4000" b="1" dirty="0" smtClean="0">
                <a:solidFill>
                  <a:srgbClr val="417DBF"/>
                </a:solidFill>
                <a:latin typeface="Verdana"/>
                <a:ea typeface="Verdana"/>
                <a:cs typeface="Verdana"/>
                <a:sym typeface="Verdana"/>
              </a:rPr>
              <a:t>4</a:t>
            </a: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Solving One-Step Inequalities Using </a:t>
            </a:r>
            <a:r>
              <a:rPr lang="en-US" sz="4000" b="1" dirty="0">
                <a:solidFill>
                  <a:srgbClr val="417DBF"/>
                </a:solidFill>
                <a:latin typeface="Verdana"/>
                <a:ea typeface="Verdana"/>
                <a:cs typeface="Verdana"/>
                <a:sym typeface="Verdana"/>
              </a:rPr>
              <a:t>Multiplication and Division</a:t>
            </a: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a:t>
            </a:r>
            <a:r>
              <a:rPr lang="en-US" sz="3200" b="1" dirty="0" smtClean="0">
                <a:solidFill>
                  <a:srgbClr val="417DBF"/>
                </a:solidFill>
                <a:latin typeface="Verdana"/>
                <a:ea typeface="Verdana"/>
                <a:cs typeface="Verdana"/>
                <a:sym typeface="Verdana"/>
              </a:rPr>
              <a:t>104</a:t>
            </a:r>
            <a:endParaRPr lang="en-US" sz="3200" b="1" dirty="0">
              <a:solidFill>
                <a:srgbClr val="417DBF"/>
              </a:solidFill>
              <a:latin typeface="Verdana"/>
              <a:ea typeface="Verdana"/>
              <a:cs typeface="Verdana"/>
              <a:sym typeface="Verdana"/>
            </a:endParaRPr>
          </a:p>
          <a:p>
            <a:pPr algn="ctr">
              <a:lnSpc>
                <a:spcPct val="100000"/>
              </a:lnSpc>
              <a:buClr>
                <a:srgbClr val="000000"/>
              </a:buClr>
            </a:pPr>
            <a:endParaRPr lang="en-US" sz="4000" b="1" dirty="0">
              <a:solidFill>
                <a:srgbClr val="417DBF"/>
              </a:solidFill>
              <a:latin typeface="Verdana"/>
              <a:ea typeface="Verdana"/>
              <a:cs typeface="Verdana"/>
              <a:sym typeface="Verdana"/>
            </a:endParaRPr>
          </a:p>
        </p:txBody>
      </p:sp>
      <p:pic>
        <p:nvPicPr>
          <p:cNvPr id="7" name="Picture 6" descr="Logo&#10;&#10;Description automatically generated">
            <a:extLst>
              <a:ext uri="{FF2B5EF4-FFF2-40B4-BE49-F238E27FC236}">
                <a16:creationId xmlns:a16="http://schemas.microsoft.com/office/drawing/2014/main" xmlns=""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1005" y="1783180"/>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MA.7.AR.2.1</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Write and solve one-step inequalities in one variable within a mathematical context and represent solutions algebraically or graphically.</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104</a:t>
            </a:r>
            <a:endParaRPr i="1" dirty="0">
              <a:latin typeface="Calibri"/>
              <a:ea typeface="Calibri"/>
              <a:cs typeface="Calibri"/>
              <a:sym typeface="Calibri"/>
            </a:endParaRPr>
          </a:p>
        </p:txBody>
      </p:sp>
      <p:sp>
        <p:nvSpPr>
          <p:cNvPr id="10"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54216" y="1596390"/>
            <a:ext cx="103763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2"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319860"/>
            <a:ext cx="747300" cy="74730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104</a:t>
            </a:r>
            <a:endParaRPr i="1" dirty="0">
              <a:latin typeface="Calibri"/>
              <a:ea typeface="Calibri"/>
              <a:cs typeface="Calibri"/>
              <a:sym typeface="Calibri"/>
            </a:endParaRPr>
          </a:p>
        </p:txBody>
      </p:sp>
      <p:sp>
        <p:nvSpPr>
          <p:cNvPr id="9"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444682" y="1600200"/>
            <a:ext cx="1108643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solve one-step inequalities in one variable using multiplication or division.</a:t>
            </a:r>
          </a:p>
          <a:p>
            <a:pPr marL="685800" indent="-685800">
              <a:buFont typeface="Wingdings" panose="05000000000000000000" pitchFamily="2" charset="2"/>
              <a:buChar char="q"/>
            </a:pPr>
            <a:endParaRPr lang="en-US" sz="3600" dirty="0">
              <a:latin typeface="Verdana" panose="020B0604030504040204" pitchFamily="34" charset="0"/>
              <a:ea typeface="Verdana" panose="020B0604030504040204" pitchFamily="34" charset="0"/>
              <a:cs typeface="Verdana" panose="020B0604030504040204" pitchFamily="34" charset="0"/>
            </a:endParaRPr>
          </a:p>
          <a:p>
            <a:pPr marL="685800" indent="-685800">
              <a:buFont typeface="Wingdings" panose="05000000000000000000"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relate properties of inequality to solving one-step inequalities algebraically.</a:t>
            </a:r>
            <a:endParaRPr lang="en-US" sz="36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104</a:t>
            </a:r>
            <a:endParaRPr i="1" dirty="0">
              <a:latin typeface="Calibri"/>
              <a:ea typeface="Calibri"/>
              <a:cs typeface="Calibri"/>
              <a:sym typeface="Calibri"/>
            </a:endParaRPr>
          </a:p>
        </p:txBody>
      </p:sp>
      <p:pic>
        <p:nvPicPr>
          <p:cNvPr id="7"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43000" y="275690"/>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10.4.1 Warm-Up: Bell Work</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xmlns="" id="{E1D7562E-134F-D14B-AF1A-DF40E11EF758}"/>
                  </a:ext>
                </a:extLst>
              </p:cNvPr>
              <p:cNvSpPr txBox="1"/>
              <p:nvPr/>
            </p:nvSpPr>
            <p:spPr>
              <a:xfrm>
                <a:off x="914400" y="1386026"/>
                <a:ext cx="10616184" cy="452867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Using substitution, determine whether the given numerical value is part of the solution set of the inequality. Show your work.</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Is </a:t>
                </a:r>
                <a14:m>
                  <m:oMath xmlns:m="http://schemas.openxmlformats.org/officeDocument/2006/math">
                    <m:r>
                      <a:rPr lang="en-US" sz="2000" i="1">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=−5.5</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part of the solution set for </a:t>
                </a:r>
                <a14:m>
                  <m:oMath xmlns:m="http://schemas.openxmlformats.org/officeDocument/2006/math">
                    <m:r>
                      <a:rPr lang="en-US" sz="2000" i="1">
                        <a:latin typeface="Cambria Math" panose="02040503050406030204" pitchFamily="18" charset="0"/>
                        <a:ea typeface="Cambria Math" panose="02040503050406030204" pitchFamily="18" charset="0"/>
                      </a:rPr>
                      <m:t>−4</m:t>
                    </m:r>
                    <m:r>
                      <a:rPr lang="en-US" sz="2000" i="1">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&gt;20</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Is </a:t>
                </a:r>
                <a14:m>
                  <m:oMath xmlns:m="http://schemas.openxmlformats.org/officeDocument/2006/math">
                    <m:r>
                      <a:rPr lang="en-US" sz="2000" i="1">
                        <a:latin typeface="Cambria Math" panose="02040503050406030204" pitchFamily="18" charset="0"/>
                        <a:ea typeface="Cambria Math" panose="02040503050406030204" pitchFamily="18" charset="0"/>
                      </a:rPr>
                      <m:t>𝑦</m:t>
                    </m:r>
                    <m:r>
                      <a:rPr lang="en-US" sz="2000" i="1">
                        <a:latin typeface="Cambria Math" panose="02040503050406030204" pitchFamily="18" charset="0"/>
                        <a:ea typeface="Cambria Math" panose="02040503050406030204" pitchFamily="18"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part of the solution set for </a:t>
                </a:r>
                <a14:m>
                  <m:oMath xmlns:m="http://schemas.openxmlformats.org/officeDocument/2006/math">
                    <m:r>
                      <a:rPr lang="en-US" sz="2000" i="1">
                        <a:latin typeface="Cambria Math" panose="02040503050406030204" pitchFamily="18" charset="0"/>
                        <a:ea typeface="Cambria Math" panose="02040503050406030204" pitchFamily="18" charset="0"/>
                      </a:rPr>
                      <m:t>−6 ≤−</m:t>
                    </m:r>
                    <m:f>
                      <m:fPr>
                        <m:ctrlPr>
                          <a:rPr lang="en-US" sz="2000" i="1">
                            <a:latin typeface="Cambria Math"/>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3</m:t>
                        </m:r>
                      </m:num>
                      <m:den>
                        <m:r>
                          <a:rPr lang="en-US" sz="2000" i="1">
                            <a:latin typeface="Cambria Math" panose="02040503050406030204" pitchFamily="18" charset="0"/>
                            <a:ea typeface="Cambria Math" panose="02040503050406030204" pitchFamily="18" charset="0"/>
                          </a:rPr>
                          <m:t>4</m:t>
                        </m:r>
                      </m:den>
                    </m:f>
                    <m:r>
                      <a:rPr lang="en-US" sz="2000" i="1">
                        <a:latin typeface="Cambria Math" panose="02040503050406030204" pitchFamily="18" charset="0"/>
                        <a:ea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Is </a:t>
                </a:r>
                <a14:m>
                  <m:oMath xmlns:m="http://schemas.openxmlformats.org/officeDocument/2006/math">
                    <m:r>
                      <a:rPr lang="en-US" sz="2000" i="1">
                        <a:latin typeface="Cambria Math" panose="02040503050406030204" pitchFamily="18" charset="0"/>
                        <a:ea typeface="Cambria Math" panose="02040503050406030204" pitchFamily="18" charset="0"/>
                      </a:rPr>
                      <m:t>𝑏</m:t>
                    </m:r>
                    <m:r>
                      <a:rPr lang="en-US" sz="2000" i="1">
                        <a:latin typeface="Cambria Math" panose="02040503050406030204" pitchFamily="18" charset="0"/>
                        <a:ea typeface="Cambria Math" panose="02040503050406030204" pitchFamily="18" charset="0"/>
                      </a:rPr>
                      <m:t>=2.7</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part of the solution set for </a:t>
                </a:r>
                <a14:m>
                  <m:oMath xmlns:m="http://schemas.openxmlformats.org/officeDocument/2006/math">
                    <m:r>
                      <a:rPr lang="en-US" sz="2000" i="1">
                        <a:latin typeface="Cambria Math" panose="02040503050406030204" pitchFamily="18" charset="0"/>
                        <a:ea typeface="Cambria Math" panose="02040503050406030204" pitchFamily="18" charset="0"/>
                      </a:rPr>
                      <m:t>−9.6&gt;−12.3+</m:t>
                    </m:r>
                    <m:r>
                      <a:rPr lang="en-US" sz="2000" i="1">
                        <a:latin typeface="Cambria Math" panose="02040503050406030204" pitchFamily="18" charset="0"/>
                        <a:ea typeface="Cambria Math" panose="02040503050406030204" pitchFamily="18" charset="0"/>
                      </a:rPr>
                      <m:t>𝑏</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how to determine whether a value is part of the solution set for an inequality</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914400" y="1386026"/>
                <a:ext cx="10616184" cy="4528676"/>
              </a:xfrm>
              <a:prstGeom prst="rect">
                <a:avLst/>
              </a:prstGeom>
              <a:blipFill rotWithShape="1">
                <a:blip r:embed="rId5"/>
                <a:stretch>
                  <a:fillRect l="-574" t="-808" b="-1480"/>
                </a:stretch>
              </a:blipFill>
            </p:spPr>
            <p:txBody>
              <a:bodyPr/>
              <a:lstStyle/>
              <a:p>
                <a:r>
                  <a:rPr lang="en-US">
                    <a:noFill/>
                  </a:rPr>
                  <a:t> </a:t>
                </a:r>
              </a:p>
            </p:txBody>
          </p:sp>
        </mc:Fallback>
      </mc:AlternateContent>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104</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sp>
        <p:nvSpPr>
          <p:cNvPr id="7" name="Google Shape;313;g104476d1465_1_39"/>
          <p:cNvSpPr txBox="1">
            <a:spLocks/>
          </p:cNvSpPr>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3BEA6"/>
                </a:solidFill>
                <a:latin typeface="Verdana"/>
                <a:ea typeface="Verdana"/>
                <a:cs typeface="Verdana"/>
                <a:sym typeface="Verdana"/>
              </a:rPr>
              <a:t>Collaboration</a:t>
            </a:r>
            <a:endParaRPr lang="en-US" sz="5100" b="1" dirty="0">
              <a:solidFill>
                <a:srgbClr val="33BEA6"/>
              </a:solidFill>
              <a:latin typeface="Verdana"/>
              <a:ea typeface="Verdana"/>
              <a:cs typeface="Verdana"/>
              <a:sym typeface="Verdana"/>
            </a:endParaRPr>
          </a:p>
        </p:txBody>
      </p:sp>
      <p:pic>
        <p:nvPicPr>
          <p:cNvPr id="9"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10.4.2 Collaboration: The Effect </a:t>
            </a:r>
            <a:br>
              <a:rPr lang="en-US" sz="3200" b="1" dirty="0">
                <a:solidFill>
                  <a:srgbClr val="33BEA6"/>
                </a:solidFill>
                <a:latin typeface="Verdana"/>
                <a:ea typeface="Verdana"/>
                <a:cs typeface="Verdana"/>
                <a:sym typeface="Verdana"/>
              </a:rPr>
            </a:br>
            <a:r>
              <a:rPr lang="en-US" sz="3200" b="1" dirty="0">
                <a:solidFill>
                  <a:srgbClr val="33BEA6"/>
                </a:solidFill>
                <a:latin typeface="Verdana"/>
                <a:ea typeface="Verdana"/>
                <a:cs typeface="Verdana"/>
                <a:sym typeface="Verdana"/>
              </a:rPr>
              <a:t>of a Negative Coefficient</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5031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914400" y="1386026"/>
                <a:ext cx="10515600" cy="489364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Two simple inequalities are shown.</a:t>
                </a:r>
              </a:p>
              <a:p>
                <a:r>
                  <a:rPr lang="en-US" sz="2400" dirty="0"/>
                  <a:t> </a:t>
                </a:r>
              </a:p>
              <a:p>
                <a:pPr algn="ctr"/>
                <a14:m>
                  <m:oMath xmlns:m="http://schemas.openxmlformats.org/officeDocument/2006/math">
                    <m:r>
                      <a:rPr lang="en-US" sz="2400" i="1">
                        <a:latin typeface="Cambria Math" panose="02040503050406030204" pitchFamily="18" charset="0"/>
                        <a:ea typeface="Cambria Math" panose="02040503050406030204" pitchFamily="18" charset="0"/>
                      </a:rPr>
                      <m:t>1&gt;0</m:t>
                    </m:r>
                  </m:oMath>
                </a14:m>
                <a:r>
                  <a:rPr lang="en-US" sz="2400" dirty="0">
                    <a:latin typeface="Cambria Math" panose="02040503050406030204" pitchFamily="18" charset="0"/>
                    <a:ea typeface="Cambria Math" panose="02040503050406030204" pitchFamily="18" charset="0"/>
                  </a:rPr>
                  <a:t>       </a:t>
                </a:r>
                <a:r>
                  <a:rPr lang="en-US" sz="2400" dirty="0">
                    <a:latin typeface="Verdana" panose="020B0604030504040204" pitchFamily="34" charset="0"/>
                    <a:ea typeface="Verdana" panose="020B0604030504040204" pitchFamily="34" charset="0"/>
                    <a:cs typeface="Verdana" panose="020B0604030504040204" pitchFamily="34" charset="0"/>
                  </a:rPr>
                  <a:t>and</a:t>
                </a:r>
                <a:r>
                  <a:rPr lang="en-US" sz="2400" dirty="0">
                    <a:latin typeface="Cambria Math" panose="02040503050406030204" pitchFamily="18" charset="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−1&gt;0</m:t>
                    </m:r>
                  </m:oMath>
                </a14:m>
                <a:endParaRPr lang="en-US" sz="2400" dirty="0">
                  <a:latin typeface="Cambria Math" panose="02040503050406030204" pitchFamily="18" charset="0"/>
                  <a:ea typeface="Cambria Math" panose="02040503050406030204" pitchFamily="18" charset="0"/>
                </a:endParaRPr>
              </a:p>
              <a:p>
                <a:pPr marL="914400" indent="-4667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667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Circle the inequality that is true and cross out the inequality that is false.</a:t>
                </a:r>
              </a:p>
              <a:p>
                <a:pPr marL="914400" indent="-4667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667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667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a:r>
                  <a:rPr lang="en-US" sz="2400" dirty="0">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400" i="1">
                        <a:latin typeface="Cambria Math" panose="02040503050406030204" pitchFamily="18" charset="0"/>
                        <a:ea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is greater than </a:t>
                </a:r>
                <a14:m>
                  <m:oMath xmlns:m="http://schemas.openxmlformats.org/officeDocument/2006/math">
                    <m:r>
                      <a:rPr lang="en-US" sz="2400" i="1">
                        <a:latin typeface="Cambria Math" panose="02040503050406030204" pitchFamily="18" charset="0"/>
                        <a:ea typeface="Cambria Math" panose="02040503050406030204" pitchFamily="18"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then the opposite of </a:t>
                </a:r>
                <a14:m>
                  <m:oMath xmlns:m="http://schemas.openxmlformats.org/officeDocument/2006/math">
                    <m:r>
                      <a:rPr lang="en-US" sz="2400" i="1">
                        <a:latin typeface="Cambria Math" panose="02040503050406030204" pitchFamily="18" charset="0"/>
                        <a:ea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is _____________ than </a:t>
                </a:r>
                <a14:m>
                  <m:oMath xmlns:m="http://schemas.openxmlformats.org/officeDocument/2006/math">
                    <m:r>
                      <a:rPr lang="en-US" sz="2400" i="1">
                        <a:latin typeface="Cambria Math" panose="02040503050406030204" pitchFamily="18" charset="0"/>
                        <a:ea typeface="Cambria Math" panose="02040503050406030204" pitchFamily="18"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endParaRPr lang="en-US" sz="2400" dirty="0">
                  <a:latin typeface="Cambria Math" panose="02040503050406030204" pitchFamily="18" charset="0"/>
                  <a:ea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1386026"/>
                <a:ext cx="10515600" cy="4893647"/>
              </a:xfrm>
              <a:prstGeom prst="rect">
                <a:avLst/>
              </a:prstGeom>
              <a:blipFill>
                <a:blip r:embed="rId5"/>
                <a:stretch>
                  <a:fillRect l="-965" t="-775" r="-362"/>
                </a:stretch>
              </a:blipFill>
            </p:spPr>
            <p:txBody>
              <a:bodyPr/>
              <a:lstStyle/>
              <a:p>
                <a:r>
                  <a:rPr lang="en-US">
                    <a:noFill/>
                  </a:rPr>
                  <a:t> </a:t>
                </a:r>
              </a:p>
            </p:txBody>
          </p:sp>
        </mc:Fallback>
      </mc:AlternateContent>
      <p:sp>
        <p:nvSpPr>
          <p:cNvPr id="11" name="Oval 10"/>
          <p:cNvSpPr/>
          <p:nvPr/>
        </p:nvSpPr>
        <p:spPr>
          <a:xfrm>
            <a:off x="1872436" y="2798510"/>
            <a:ext cx="951735" cy="515569"/>
          </a:xfrm>
          <a:prstGeom prst="ellipse">
            <a:avLst/>
          </a:prstGeom>
          <a:noFill/>
          <a:ln w="2857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p>
        </p:txBody>
      </p:sp>
      <p:cxnSp>
        <p:nvCxnSpPr>
          <p:cNvPr id="12" name="Straight Arrow Connector 11"/>
          <p:cNvCxnSpPr/>
          <p:nvPr/>
        </p:nvCxnSpPr>
        <p:spPr>
          <a:xfrm>
            <a:off x="7715001" y="2931174"/>
            <a:ext cx="1112520" cy="382905"/>
          </a:xfrm>
          <a:prstGeom prst="straightConnector1">
            <a:avLst/>
          </a:prstGeom>
          <a:noFill/>
          <a:ln w="28575" cap="flat" cmpd="sng">
            <a:solidFill>
              <a:srgbClr val="00B050"/>
            </a:solidFill>
            <a:prstDash val="solid"/>
            <a:round/>
            <a:headEnd type="none" w="sm" len="sm"/>
            <a:tailEnd type="none" w="sm" len="sm"/>
          </a:ln>
        </p:spPr>
      </p:cxnSp>
      <p:sp>
        <p:nvSpPr>
          <p:cNvPr id="13"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2AA35BC6-D428-FC41-BDE5-6438AB8840FC}"/>
                  </a:ext>
                </a:extLst>
              </p:cNvPr>
              <p:cNvSpPr txBox="1"/>
              <p:nvPr/>
            </p:nvSpPr>
            <p:spPr>
              <a:xfrm>
                <a:off x="914400" y="526575"/>
                <a:ext cx="10515600" cy="4893647"/>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Write the correct inequalities by filling in a comparison symbol on each line.</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algn="ctr"/>
                <a14:m>
                  <m:oMath xmlns:m="http://schemas.openxmlformats.org/officeDocument/2006/math">
                    <m:r>
                      <a:rPr lang="en-US" sz="2400" i="1">
                        <a:latin typeface="Cambria Math" panose="02040503050406030204" pitchFamily="18" charset="0"/>
                        <a:ea typeface="Cambria Math" panose="02040503050406030204" pitchFamily="18" charset="0"/>
                      </a:rPr>
                      <m:t>0 _______ 1</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ea typeface="Cambria Math" panose="02040503050406030204" pitchFamily="18" charset="0"/>
                      </a:rPr>
                      <m:t>0 ______−1</m:t>
                    </m:r>
                  </m:oMath>
                </a14:m>
                <a:endParaRPr lang="en-US" sz="2400" dirty="0">
                  <a:latin typeface="Cambria Math" panose="02040503050406030204" pitchFamily="18" charset="0"/>
                  <a:ea typeface="Cambria Math" panose="02040503050406030204" pitchFamily="18"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Verify your answers with your partner on parts A-C and, if necessary, resolve any differences.</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914400" y="526575"/>
                <a:ext cx="10515600" cy="4893647"/>
              </a:xfrm>
              <a:prstGeom prst="rect">
                <a:avLst/>
              </a:prstGeom>
              <a:blipFill>
                <a:blip r:embed="rId4"/>
                <a:stretch>
                  <a:fillRect t="-1036"/>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914400" y="520394"/>
                <a:ext cx="10515600" cy="6001643"/>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inequalities in the table based on your understanding of opposites.</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a:r>
                  <a:rPr lang="en-US" sz="2400" dirty="0">
                    <a:latin typeface="Verdana" panose="020B0604030504040204" pitchFamily="34" charset="0"/>
                    <a:ea typeface="Verdana" panose="020B0604030504040204" pitchFamily="34" charset="0"/>
                    <a:cs typeface="Verdana" panose="020B0604030504040204" pitchFamily="34" charset="0"/>
                  </a:rPr>
                  <a:t>In each equivalent inequality, the sign of the variable changed to its opposite and the value </a:t>
                </a:r>
                <a14:m>
                  <m:oMath xmlns:m="http://schemas.openxmlformats.org/officeDocument/2006/math">
                    <m:r>
                      <a:rPr lang="en-US" sz="2400" i="1">
                        <a:latin typeface="Cambria Math" panose="02040503050406030204" pitchFamily="18" charset="0"/>
                        <a:ea typeface="Cambria Math" panose="02040503050406030204" pitchFamily="18"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remained the same.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6001643"/>
              </a:xfrm>
              <a:prstGeom prst="rect">
                <a:avLst/>
              </a:prstGeom>
              <a:blipFill>
                <a:blip r:embed="rId4"/>
                <a:stretch>
                  <a:fillRect l="-965" t="-8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757875979"/>
                  </p:ext>
                </p:extLst>
              </p:nvPr>
            </p:nvGraphicFramePr>
            <p:xfrm>
              <a:off x="2879413" y="2349000"/>
              <a:ext cx="6585574" cy="2160000"/>
            </p:xfrm>
            <a:graphic>
              <a:graphicData uri="http://schemas.openxmlformats.org/drawingml/2006/table">
                <a:tbl>
                  <a:tblPr bandRow="1">
                    <a:tableStyleId>{5940675A-B579-460E-94D1-54222C63F5DA}</a:tableStyleId>
                  </a:tblPr>
                  <a:tblGrid>
                    <a:gridCol w="3292437">
                      <a:extLst>
                        <a:ext uri="{9D8B030D-6E8A-4147-A177-3AD203B41FA5}">
                          <a16:colId xmlns:a16="http://schemas.microsoft.com/office/drawing/2014/main" xmlns="" val="20000"/>
                        </a:ext>
                      </a:extLst>
                    </a:gridCol>
                    <a:gridCol w="3293137">
                      <a:extLst>
                        <a:ext uri="{9D8B030D-6E8A-4147-A177-3AD203B41FA5}">
                          <a16:colId xmlns:a16="http://schemas.microsoft.com/office/drawing/2014/main" xmlns="" val="20001"/>
                        </a:ext>
                      </a:extLst>
                    </a:gridCol>
                  </a:tblGrid>
                  <a:tr h="540000">
                    <a:tc>
                      <a:txBody>
                        <a:bodyPr/>
                        <a:lstStyle/>
                        <a:p>
                          <a:pPr marL="0" marR="3429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Given Inequality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Inequality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540000">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0&lt;−</m:t>
                                </m:r>
                                <m:r>
                                  <a:rPr lang="en-US" sz="2000">
                                    <a:effectLst/>
                                    <a:latin typeface="Cambria Math" panose="02040503050406030204" pitchFamily="18" charset="0"/>
                                    <a:ea typeface="Cambria Math" panose="02040503050406030204" pitchFamily="18" charset="0"/>
                                  </a:rPr>
                                  <m:t>𝑞</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 ____ </m:t>
                                </m:r>
                                <m:r>
                                  <a:rPr lang="en-US" sz="2000">
                                    <a:effectLst/>
                                    <a:latin typeface="Cambria Math" panose="02040503050406030204" pitchFamily="18" charset="0"/>
                                    <a:ea typeface="Cambria Math" panose="02040503050406030204" pitchFamily="18" charset="0"/>
                                  </a:rPr>
                                  <m:t>𝑞</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540000">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0&gt;−</m:t>
                                </m:r>
                                <m:r>
                                  <a:rPr lang="en-US" sz="2000">
                                    <a:effectLst/>
                                    <a:latin typeface="Cambria Math" panose="02040503050406030204" pitchFamily="18" charset="0"/>
                                    <a:ea typeface="Cambria Math" panose="02040503050406030204" pitchFamily="18" charset="0"/>
                                  </a:rPr>
                                  <m:t>𝑚</m:t>
                                </m:r>
                              </m:oMath>
                            </m:oMathPara>
                          </a14:m>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 ____ </m:t>
                                </m:r>
                                <m:r>
                                  <a:rPr lang="en-US" sz="2000">
                                    <a:effectLst/>
                                    <a:latin typeface="Cambria Math" panose="02040503050406030204" pitchFamily="18" charset="0"/>
                                    <a:ea typeface="Cambria Math" panose="02040503050406030204" pitchFamily="18" charset="0"/>
                                  </a:rPr>
                                  <m:t>𝑚</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540000">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m:t>
                                </m:r>
                                <m:r>
                                  <a:rPr lang="en-US" sz="2000">
                                    <a:effectLst/>
                                    <a:latin typeface="Cambria Math" panose="02040503050406030204" pitchFamily="18" charset="0"/>
                                    <a:ea typeface="Cambria Math" panose="02040503050406030204" pitchFamily="18" charset="0"/>
                                  </a:rPr>
                                  <m:t>𝑤</m:t>
                                </m:r>
                                <m:r>
                                  <a:rPr lang="en-US" sz="2000">
                                    <a:effectLst/>
                                    <a:latin typeface="Cambria Math" panose="02040503050406030204" pitchFamily="18" charset="0"/>
                                    <a:ea typeface="Cambria Math" panose="02040503050406030204" pitchFamily="18" charset="0"/>
                                  </a:rPr>
                                  <m:t>≤0</m:t>
                                </m:r>
                              </m:oMath>
                            </m:oMathPara>
                          </a14:m>
                          <a:endParaRPr lang="en-US" sz="2000">
                            <a:effectLst/>
                            <a:latin typeface="Cambria Math" panose="02040503050406030204" pitchFamily="18" charset="0"/>
                            <a:ea typeface="Cambria Math" panose="020405030504060302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𝑤</m:t>
                                </m:r>
                                <m:r>
                                  <a:rPr lang="en-US" sz="2000">
                                    <a:effectLst/>
                                    <a:latin typeface="Cambria Math" panose="02040503050406030204" pitchFamily="18" charset="0"/>
                                    <a:ea typeface="Cambria Math" panose="02040503050406030204" pitchFamily="18" charset="0"/>
                                  </a:rPr>
                                  <m:t> ____ 0</m:t>
                                </m:r>
                              </m:oMath>
                            </m:oMathPara>
                          </a14:m>
                          <a:endParaRPr lang="en-US" sz="2000" dirty="0">
                            <a:effectLst/>
                            <a:latin typeface="Cambria Math" panose="02040503050406030204" pitchFamily="18" charset="0"/>
                            <a:ea typeface="Cambria Math" panose="020405030504060302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757875979"/>
                  </p:ext>
                </p:extLst>
              </p:nvPr>
            </p:nvGraphicFramePr>
            <p:xfrm>
              <a:off x="2879413" y="2349000"/>
              <a:ext cx="6585574" cy="2160000"/>
            </p:xfrm>
            <a:graphic>
              <a:graphicData uri="http://schemas.openxmlformats.org/drawingml/2006/table">
                <a:tbl>
                  <a:tblPr bandRow="1">
                    <a:tableStyleId>{5940675A-B579-460E-94D1-54222C63F5DA}</a:tableStyleId>
                  </a:tblPr>
                  <a:tblGrid>
                    <a:gridCol w="3292437">
                      <a:extLst>
                        <a:ext uri="{9D8B030D-6E8A-4147-A177-3AD203B41FA5}">
                          <a16:colId xmlns:a16="http://schemas.microsoft.com/office/drawing/2014/main" val="20000"/>
                        </a:ext>
                      </a:extLst>
                    </a:gridCol>
                    <a:gridCol w="3293137">
                      <a:extLst>
                        <a:ext uri="{9D8B030D-6E8A-4147-A177-3AD203B41FA5}">
                          <a16:colId xmlns:a16="http://schemas.microsoft.com/office/drawing/2014/main" val="20001"/>
                        </a:ext>
                      </a:extLst>
                    </a:gridCol>
                  </a:tblGrid>
                  <a:tr h="540000">
                    <a:tc>
                      <a:txBody>
                        <a:bodyPr/>
                        <a:lstStyle/>
                        <a:p>
                          <a:pPr marL="0" marR="3429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Given Inequality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Inequality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85" t="-102326" r="-100385" b="-20232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385" t="-102326" r="-385" b="-202326"/>
                          </a:stretch>
                        </a:blipFill>
                      </a:tcPr>
                    </a:tc>
                    <a:extLst>
                      <a:ext uri="{0D108BD9-81ED-4DB2-BD59-A6C34878D82A}">
                        <a16:rowId xmlns:a16="http://schemas.microsoft.com/office/drawing/2014/main" val="10001"/>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85" t="-202326" r="-100385" b="-10232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385" t="-202326" r="-385" b="-102326"/>
                          </a:stretch>
                        </a:blipFill>
                      </a:tcPr>
                    </a:tc>
                    <a:extLst>
                      <a:ext uri="{0D108BD9-81ED-4DB2-BD59-A6C34878D82A}">
                        <a16:rowId xmlns:a16="http://schemas.microsoft.com/office/drawing/2014/main" val="10002"/>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85" t="-302326" r="-100385" b="-232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385" t="-302326" r="-385" b="-2326"/>
                          </a:stretch>
                        </a:blipFill>
                      </a:tcPr>
                    </a:tc>
                    <a:extLst>
                      <a:ext uri="{0D108BD9-81ED-4DB2-BD59-A6C34878D82A}">
                        <a16:rowId xmlns:a16="http://schemas.microsoft.com/office/drawing/2014/main" val="10003"/>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914400" y="520394"/>
                <a:ext cx="10515600" cy="4524315"/>
              </a:xfrm>
              <a:prstGeom prst="rect">
                <a:avLst/>
              </a:prstGeom>
              <a:noFill/>
            </p:spPr>
            <p:txBody>
              <a:bodyPr wrap="square" rtlCol="0">
                <a:spAutoFit/>
              </a:bodyPr>
              <a:lstStyle/>
              <a:p>
                <a:pPr marL="457200" lvl="1"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Describe which operation(s) could be applied to both sides of the given inequalities above to result in the signs of the variables changing and the value </a:t>
                </a:r>
                <a14:m>
                  <m:oMath xmlns:m="http://schemas.openxmlformats.org/officeDocument/2006/math">
                    <m:r>
                      <a:rPr lang="en-US" sz="2400" i="1">
                        <a:latin typeface="Cambria Math" panose="02040503050406030204" pitchFamily="18" charset="0"/>
                        <a:ea typeface="Cambria Math" panose="02040503050406030204" pitchFamily="18"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remaining the same.</a:t>
                </a:r>
              </a:p>
              <a:p>
                <a:pPr marL="4572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Describe what happens to the comparison symbol in the inequality when either of these operations are applied.</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4524315"/>
              </a:xfrm>
              <a:prstGeom prst="rect">
                <a:avLst/>
              </a:prstGeom>
              <a:blipFill>
                <a:blip r:embed="rId4"/>
                <a:stretch>
                  <a:fillRect l="-965" t="-1117"/>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spTree>
    <p:extLst>
      <p:ext uri="{BB962C8B-B14F-4D97-AF65-F5344CB8AC3E}">
        <p14:creationId xmlns:p14="http://schemas.microsoft.com/office/powerpoint/2010/main" val="2872442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pic>
        <p:nvPicPr>
          <p:cNvPr id="8" name="Picture 2" descr="Icon&#10;&#10;Description automatically generated">
            <a:extLst>
              <a:ext uri="{FF2B5EF4-FFF2-40B4-BE49-F238E27FC236}">
                <a16:creationId xmlns=""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907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lang="en-US" sz="5100" b="1" dirty="0">
              <a:solidFill>
                <a:srgbClr val="54B5D1"/>
              </a:solidFill>
              <a:latin typeface="Verdana"/>
              <a:ea typeface="Verdana"/>
              <a:cs typeface="Verdana"/>
              <a:sym typeface="Verdana"/>
            </a:endParaRPr>
          </a:p>
        </p:txBody>
      </p:sp>
    </p:spTree>
    <p:extLst>
      <p:ext uri="{BB962C8B-B14F-4D97-AF65-F5344CB8AC3E}">
        <p14:creationId xmlns:p14="http://schemas.microsoft.com/office/powerpoint/2010/main" val="2456065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43000" y="14211"/>
            <a:ext cx="10515600" cy="97868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10.4.3 Bring It Together: The Effect of a Negative Coefficient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69E00F9-F39F-5043-888E-B0A2D8C9AE0F}"/>
                  </a:ext>
                </a:extLst>
              </p:cNvPr>
              <p:cNvSpPr txBox="1"/>
              <p:nvPr/>
            </p:nvSpPr>
            <p:spPr>
              <a:xfrm>
                <a:off x="914400" y="1386026"/>
                <a:ext cx="10515600" cy="526297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 using words from the bank shown. Some words may not be used.</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p>
              <a:p>
                <a:pPr marL="466725"/>
                <a:r>
                  <a:rPr lang="en-US" sz="2400" dirty="0">
                    <a:latin typeface="Verdana" panose="020B0604030504040204" pitchFamily="34" charset="0"/>
                    <a:ea typeface="Verdana" panose="020B0604030504040204" pitchFamily="34" charset="0"/>
                    <a:cs typeface="Verdana" panose="020B0604030504040204" pitchFamily="34" charset="0"/>
                  </a:rPr>
                  <a:t>When the variable term in an inequality is negative, the inequality can be rewritten by _________________ or _________________ the inequality by </a:t>
                </a:r>
                <a14:m>
                  <m:oMath xmlns:m="http://schemas.openxmlformats.org/officeDocument/2006/math">
                    <m:r>
                      <a:rPr lang="en-US" sz="2400" i="1">
                        <a:latin typeface="Cambria Math" panose="02040503050406030204" pitchFamily="18" charset="0"/>
                        <a:ea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In the resulting inequality, each term and the comparison symbol will change to its _________________.</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914400" y="1386026"/>
                <a:ext cx="10515600" cy="5262979"/>
              </a:xfrm>
              <a:prstGeom prst="rect">
                <a:avLst/>
              </a:prstGeom>
              <a:blipFill>
                <a:blip r:embed="rId4"/>
                <a:stretch>
                  <a:fillRect l="-965" t="-721" r="-1809"/>
                </a:stretch>
              </a:blipFill>
            </p:spPr>
            <p:txBody>
              <a:bodyPr/>
              <a:lstStyle/>
              <a:p>
                <a:r>
                  <a:rPr lang="en-US">
                    <a:noFill/>
                  </a:rPr>
                  <a:t> </a:t>
                </a:r>
              </a:p>
            </p:txBody>
          </p:sp>
        </mc:Fallback>
      </mc:AlternateContent>
      <p:pic>
        <p:nvPicPr>
          <p:cNvPr id="10" name="Picture 2" descr="Icon&#10;&#10;Description automatically generated">
            <a:extLst>
              <a:ext uri="{FF2B5EF4-FFF2-40B4-BE49-F238E27FC236}">
                <a16:creationId xmlns:a16="http://schemas.microsoft.com/office/drawing/2014/main" xmlns="" id="{2375E889-EE73-6348-B442-A413C5A27F4C}"/>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56616" y="12865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691051" y="2547196"/>
            <a:ext cx="7065930" cy="1123873"/>
          </a:xfrm>
          <a:prstGeom prst="rect">
            <a:avLst/>
          </a:prstGeom>
        </p:spPr>
      </p:pic>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spTree>
    <p:extLst>
      <p:ext uri="{BB962C8B-B14F-4D97-AF65-F5344CB8AC3E}">
        <p14:creationId xmlns:p14="http://schemas.microsoft.com/office/powerpoint/2010/main" val="3399856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88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A08C1C0E-C7C0-F14B-88E2-57B6133AD69D}"/>
                  </a:ext>
                </a:extLst>
              </p:cNvPr>
              <p:cNvSpPr txBox="1"/>
              <p:nvPr/>
            </p:nvSpPr>
            <p:spPr>
              <a:xfrm>
                <a:off x="914400" y="435050"/>
                <a:ext cx="10515600" cy="452431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Use the inequality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≥2</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to complete the following.</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inequality to create an equivalent inequality.</a:t>
                </a:r>
              </a:p>
              <a:p>
                <a:pPr marL="457200" algn="ctr"/>
                <a:endParaRPr lang="en-US" sz="2400" i="1" dirty="0">
                  <a:latin typeface="Cambria Math"/>
                </a:endParaRPr>
              </a:p>
              <a:p>
                <a:pPr marL="457200" algn="ctr"/>
                <a14:m>
                  <m:oMath xmlns:m="http://schemas.openxmlformats.org/officeDocument/2006/math">
                    <m:r>
                      <a:rPr lang="en-US" sz="2400" i="1">
                        <a:latin typeface="Cambria Math"/>
                      </a:rPr>
                      <m:t>𝑛</m:t>
                    </m:r>
                  </m:oMath>
                </a14:m>
                <a:r>
                  <a:rPr lang="en-US" sz="2400" i="1" dirty="0"/>
                  <a:t>  </a:t>
                </a:r>
                <a:r>
                  <a:rPr lang="en-US" sz="2400" dirty="0"/>
                  <a:t>     ____</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Graph the solution set for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A08C1C0E-C7C0-F14B-88E2-57B6133AD69D}"/>
                  </a:ext>
                </a:extLst>
              </p:cNvPr>
              <p:cNvSpPr txBox="1">
                <a:spLocks noRot="1" noChangeAspect="1" noMove="1" noResize="1" noEditPoints="1" noAdjustHandles="1" noChangeArrowheads="1" noChangeShapeType="1" noTextEdit="1"/>
              </p:cNvSpPr>
              <p:nvPr/>
            </p:nvSpPr>
            <p:spPr>
              <a:xfrm>
                <a:off x="914400" y="435050"/>
                <a:ext cx="10515600" cy="4524315"/>
              </a:xfrm>
              <a:prstGeom prst="rect">
                <a:avLst/>
              </a:prstGeom>
              <a:blipFill>
                <a:blip r:embed="rId4"/>
                <a:stretch>
                  <a:fillRect l="-965" t="-1401"/>
                </a:stretch>
              </a:blipFill>
            </p:spPr>
            <p:txBody>
              <a:bodyPr/>
              <a:lstStyle/>
              <a:p>
                <a:r>
                  <a:rPr lang="en-US">
                    <a:noFill/>
                  </a:rPr>
                  <a:t> </a:t>
                </a:r>
              </a:p>
            </p:txBody>
          </p:sp>
        </mc:Fallback>
      </mc:AlternateContent>
      <p:sp>
        <p:nvSpPr>
          <p:cNvPr id="6" name="Rectangle 5"/>
          <p:cNvSpPr/>
          <p:nvPr/>
        </p:nvSpPr>
        <p:spPr>
          <a:xfrm>
            <a:off x="5961178" y="1995665"/>
            <a:ext cx="363220" cy="320675"/>
          </a:xfrm>
          <a:prstGeom prst="rect">
            <a:avLst/>
          </a:pr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p>
        </p:txBody>
      </p:sp>
      <p:pic>
        <p:nvPicPr>
          <p:cNvPr id="7" name="image6.png"/>
          <p:cNvPicPr/>
          <p:nvPr/>
        </p:nvPicPr>
        <p:blipFill>
          <a:blip r:embed="rId5"/>
          <a:srcRect/>
          <a:stretch>
            <a:fillRect/>
          </a:stretch>
        </p:blipFill>
        <p:spPr>
          <a:xfrm>
            <a:off x="2883237" y="4701997"/>
            <a:ext cx="6947637" cy="836683"/>
          </a:xfrm>
          <a:prstGeom prst="rect">
            <a:avLst/>
          </a:prstGeom>
          <a:ln/>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spTree>
    <p:extLst>
      <p:ext uri="{BB962C8B-B14F-4D97-AF65-F5344CB8AC3E}">
        <p14:creationId xmlns:p14="http://schemas.microsoft.com/office/powerpoint/2010/main" val="772273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sp>
        <p:nvSpPr>
          <p:cNvPr id="8"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0"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10.4.4 Guided Instruction: Solving One-Step Inequalities with Multiplication and Division</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56616" y="267629"/>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xmlns="" id="{C01B13E8-EC8D-E443-A329-C5E3593DD13A}"/>
              </a:ext>
            </a:extLst>
          </p:cNvPr>
          <p:cNvSpPr txBox="1"/>
          <p:nvPr/>
        </p:nvSpPr>
        <p:spPr>
          <a:xfrm>
            <a:off x="914399" y="1386026"/>
            <a:ext cx="10515600" cy="317009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As with solving one-step inequalities with addition and subtraction, properties of inequality can be used to solve inequalities with multiplication and division. As discovered in the Collaboration, though, when the value that is being multiplied or divided is negative, this changes both the values in the inequality </a:t>
            </a:r>
            <a:r>
              <a:rPr lang="en-US" sz="2000" i="1" dirty="0">
                <a:latin typeface="Verdana" panose="020B0604030504040204" pitchFamily="34" charset="0"/>
                <a:ea typeface="Verdana" panose="020B0604030504040204" pitchFamily="34" charset="0"/>
                <a:cs typeface="Verdana" panose="020B0604030504040204" pitchFamily="34" charset="0"/>
              </a:rPr>
              <a:t>and</a:t>
            </a:r>
            <a:r>
              <a:rPr lang="en-US" sz="2000" dirty="0">
                <a:latin typeface="Verdana" panose="020B0604030504040204" pitchFamily="34" charset="0"/>
                <a:ea typeface="Verdana" panose="020B0604030504040204" pitchFamily="34" charset="0"/>
                <a:cs typeface="Verdana" panose="020B0604030504040204" pitchFamily="34" charset="0"/>
              </a:rPr>
              <a:t> the comparison symbol to their opposites.</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Multiplying both sides of an inequality by the same value can be used to solve an inequality by the </a:t>
            </a:r>
            <a:r>
              <a:rPr lang="en-US" sz="2000" b="1" i="1" dirty="0">
                <a:latin typeface="Verdana" panose="020B0604030504040204" pitchFamily="34" charset="0"/>
                <a:ea typeface="Verdana" panose="020B0604030504040204" pitchFamily="34" charset="0"/>
                <a:cs typeface="Verdana" panose="020B0604030504040204" pitchFamily="34" charset="0"/>
              </a:rPr>
              <a:t>multiplication property of inequality</a:t>
            </a:r>
            <a:r>
              <a:rPr lang="en-US" sz="2000" i="1" dirty="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nvGrpSpPr>
          <p:cNvPr id="8" name="Group 7"/>
          <p:cNvGrpSpPr/>
          <p:nvPr/>
        </p:nvGrpSpPr>
        <p:grpSpPr>
          <a:xfrm>
            <a:off x="2814450" y="4696603"/>
            <a:ext cx="6819132" cy="1742918"/>
            <a:chOff x="1841568" y="2896482"/>
            <a:chExt cx="6819132" cy="1743045"/>
          </a:xfrm>
        </p:grpSpPr>
        <p:grpSp>
          <p:nvGrpSpPr>
            <p:cNvPr id="10" name="Group 9"/>
            <p:cNvGrpSpPr/>
            <p:nvPr/>
          </p:nvGrpSpPr>
          <p:grpSpPr>
            <a:xfrm>
              <a:off x="1841568" y="2896482"/>
              <a:ext cx="6819132" cy="1743045"/>
              <a:chOff x="1841568" y="3228891"/>
              <a:chExt cx="6819132" cy="1743286"/>
            </a:xfrm>
          </p:grpSpPr>
          <p:sp>
            <p:nvSpPr>
              <p:cNvPr id="11" name="Rectangle 10"/>
              <p:cNvSpPr/>
              <p:nvPr/>
            </p:nvSpPr>
            <p:spPr>
              <a:xfrm>
                <a:off x="2031300" y="3252877"/>
                <a:ext cx="6629400" cy="171930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14" name="Group 13"/>
              <p:cNvGrpSpPr/>
              <p:nvPr/>
            </p:nvGrpSpPr>
            <p:grpSpPr>
              <a:xfrm>
                <a:off x="1841568" y="3228891"/>
                <a:ext cx="6819132" cy="1693566"/>
                <a:chOff x="1841568" y="3228891"/>
                <a:chExt cx="6819132" cy="1693566"/>
              </a:xfrm>
            </p:grpSpPr>
            <p:sp>
              <p:nvSpPr>
                <p:cNvPr id="15" name="Rectangle 14"/>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16" name="Group 15"/>
                <p:cNvGrpSpPr/>
                <p:nvPr/>
              </p:nvGrpSpPr>
              <p:grpSpPr>
                <a:xfrm>
                  <a:off x="1841568" y="3228891"/>
                  <a:ext cx="6819132" cy="1693566"/>
                  <a:chOff x="1841568" y="3228891"/>
                  <a:chExt cx="6819132" cy="1693566"/>
                </a:xfrm>
              </p:grpSpPr>
              <p:sp>
                <p:nvSpPr>
                  <p:cNvPr id="17" name="Rectangle 16"/>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18" name="Group 17"/>
                  <p:cNvGrpSpPr/>
                  <p:nvPr/>
                </p:nvGrpSpPr>
                <p:grpSpPr>
                  <a:xfrm>
                    <a:off x="1841568" y="3228891"/>
                    <a:ext cx="6819132" cy="1693566"/>
                    <a:chOff x="1841568" y="3228891"/>
                    <a:chExt cx="6819132" cy="1693566"/>
                  </a:xfrm>
                </p:grpSpPr>
                <p:sp>
                  <p:nvSpPr>
                    <p:cNvPr id="19" name="Rectangle 18"/>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20" name="Group 19"/>
                    <p:cNvGrpSpPr/>
                    <p:nvPr/>
                  </p:nvGrpSpPr>
                  <p:grpSpPr>
                    <a:xfrm>
                      <a:off x="1841568" y="3228891"/>
                      <a:ext cx="6819132" cy="1693566"/>
                      <a:chOff x="1841568" y="3228891"/>
                      <a:chExt cx="6819132" cy="1693566"/>
                    </a:xfrm>
                  </p:grpSpPr>
                  <p:sp>
                    <p:nvSpPr>
                      <p:cNvPr id="21" name="Rectangle 20"/>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22" name="Group 21"/>
                      <p:cNvGrpSpPr/>
                      <p:nvPr/>
                    </p:nvGrpSpPr>
                    <p:grpSpPr>
                      <a:xfrm>
                        <a:off x="1841568" y="3228891"/>
                        <a:ext cx="6819132" cy="1693566"/>
                        <a:chOff x="1841568" y="3238731"/>
                        <a:chExt cx="6819132" cy="1663330"/>
                      </a:xfrm>
                    </p:grpSpPr>
                    <p:sp>
                      <p:nvSpPr>
                        <p:cNvPr id="23" name="Rectangle 22"/>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24" name="Group 23"/>
                        <p:cNvGrpSpPr/>
                        <p:nvPr/>
                      </p:nvGrpSpPr>
                      <p:grpSpPr>
                        <a:xfrm>
                          <a:off x="1841568" y="3238731"/>
                          <a:ext cx="6819132" cy="1663330"/>
                          <a:chOff x="1841568" y="3350043"/>
                          <a:chExt cx="6819132" cy="1663330"/>
                        </a:xfrm>
                      </p:grpSpPr>
                      <p:sp>
                        <p:nvSpPr>
                          <p:cNvPr id="25" name="Rectangle 24"/>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26" name="Group 25"/>
                          <p:cNvGrpSpPr/>
                          <p:nvPr/>
                        </p:nvGrpSpPr>
                        <p:grpSpPr>
                          <a:xfrm>
                            <a:off x="1841568" y="3350043"/>
                            <a:ext cx="6819132" cy="1663330"/>
                            <a:chOff x="1841568" y="3350043"/>
                            <a:chExt cx="6819132" cy="1663330"/>
                          </a:xfrm>
                        </p:grpSpPr>
                        <p:sp>
                          <p:nvSpPr>
                            <p:cNvPr id="27" name="Rectangle 26"/>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28" name="Group 27"/>
                            <p:cNvGrpSpPr/>
                            <p:nvPr/>
                          </p:nvGrpSpPr>
                          <p:grpSpPr>
                            <a:xfrm>
                              <a:off x="1841568" y="3350043"/>
                              <a:ext cx="6819132" cy="1663330"/>
                              <a:chOff x="-189732" y="-23557"/>
                              <a:chExt cx="6819132" cy="1663330"/>
                            </a:xfrm>
                          </p:grpSpPr>
                          <p:sp>
                            <p:nvSpPr>
                              <p:cNvPr id="29" name="Rectangle 28"/>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mc:AlternateContent xmlns:mc="http://schemas.openxmlformats.org/markup-compatibility/2006" xmlns:a14="http://schemas.microsoft.com/office/drawing/2010/main">
                            <mc:Choice Requires="a14">
                              <p:sp>
                                <p:nvSpPr>
                                  <p:cNvPr id="30" name="Rounded Rectangle 29"/>
                                  <p:cNvSpPr/>
                                  <p:nvPr/>
                                </p:nvSpPr>
                                <p:spPr>
                                  <a:xfrm>
                                    <a:off x="-189732" y="-23557"/>
                                    <a:ext cx="6480000" cy="166333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72000" anchor="ctr" anchorCtr="0">
                                    <a:spAutoFit/>
                                  </a:bodyPr>
                                  <a:lstStyle/>
                                  <a:p>
                                    <a:pPr marL="723900" indent="-3175"/>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Multiplication Property of Inequality</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23900" indent="-3175"/>
                                    <a:r>
                                      <a:rPr lang="en-US" sz="2000" dirty="0">
                                        <a:latin typeface="Verdana" panose="020B0604030504040204" pitchFamily="34" charset="0"/>
                                        <a:ea typeface="Verdana" panose="020B0604030504040204" pitchFamily="34" charset="0"/>
                                        <a:cs typeface="Verdana" panose="020B0604030504040204" pitchFamily="34" charset="0"/>
                                      </a:rPr>
                                      <a:t> </a:t>
                                    </a:r>
                                  </a:p>
                                  <a:p>
                                    <a:pPr marL="723900" indent="-3175">
                                      <a:spcAft>
                                        <a:spcPts val="12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&gt;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𝑏</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𝑐</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&gt;0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𝑐</m:t>
                                        </m:r>
                                        <m:r>
                                          <a:rPr lang="en-PH" sz="2000" i="1">
                                            <a:solidFill>
                                              <a:srgbClr val="6C993D"/>
                                            </a:solidFill>
                                            <a:latin typeface="Cambria Math"/>
                                            <a:ea typeface="Cambria Math" panose="02040503050406030204" pitchFamily="18" charset="0"/>
                                            <a:cs typeface="Verdana" panose="020B0604030504040204" pitchFamily="34" charset="0"/>
                                          </a:rPr>
                                          <m:t>____</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𝑏</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𝑐</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23900" indent="-3175"/>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&gt;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𝑏</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𝑐</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&lt;0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𝑐</m:t>
                                        </m:r>
                                        <m:r>
                                          <a:rPr lang="en-PH" sz="2000" i="1">
                                            <a:solidFill>
                                              <a:srgbClr val="6C993D"/>
                                            </a:solidFill>
                                            <a:latin typeface="Cambria Math"/>
                                            <a:ea typeface="Cambria Math" panose="02040503050406030204" pitchFamily="18" charset="0"/>
                                            <a:cs typeface="Verdana" panose="020B0604030504040204" pitchFamily="34" charset="0"/>
                                          </a:rPr>
                                          <m:t>____</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𝑏</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𝑐</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1200"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30" name="Rounded Rectangle 29"/>
                                  <p:cNvSpPr>
                                    <a:spLocks noRot="1" noChangeAspect="1" noMove="1" noResize="1" noEditPoints="1" noAdjustHandles="1" noChangeArrowheads="1" noChangeShapeType="1" noTextEdit="1"/>
                                  </p:cNvSpPr>
                                  <p:nvPr/>
                                </p:nvSpPr>
                                <p:spPr>
                                  <a:xfrm>
                                    <a:off x="-189732" y="-23557"/>
                                    <a:ext cx="6480000" cy="1663330"/>
                                  </a:xfrm>
                                  <a:prstGeom prst="roundRect">
                                    <a:avLst>
                                      <a:gd name="adj" fmla="val 16667"/>
                                    </a:avLst>
                                  </a:prstGeom>
                                  <a:blipFill rotWithShape="1">
                                    <a:blip r:embed="rId5"/>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pic>
                            <p:nvPicPr>
                              <p:cNvPr id="31" name="Shape 45" descr="Icon&#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54137" y="136524"/>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grpSp>
          </p:grpSp>
        </p:grpSp>
      </p:grpSp>
      <p:sp>
        <p:nvSpPr>
          <p:cNvPr id="3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8AE5E1E0-A54D-BE42-84B5-F917038ADE99}"/>
              </a:ext>
            </a:extLst>
          </p:cNvPr>
          <p:cNvSpPr txBox="1"/>
          <p:nvPr/>
        </p:nvSpPr>
        <p:spPr>
          <a:xfrm>
            <a:off x="914400" y="288746"/>
            <a:ext cx="10515600"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Find the solution to both inequalities using the multiplication property of inequality.</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973942685"/>
                  </p:ext>
                </p:extLst>
              </p:nvPr>
            </p:nvGraphicFramePr>
            <p:xfrm>
              <a:off x="2533176" y="1329849"/>
              <a:ext cx="6677025" cy="3514090"/>
            </p:xfrm>
            <a:graphic>
              <a:graphicData uri="http://schemas.openxmlformats.org/drawingml/2006/table">
                <a:tbl>
                  <a:tblPr bandRow="1">
                    <a:tableStyleId>{5940675A-B579-460E-94D1-54222C63F5DA}</a:tableStyleId>
                  </a:tblPr>
                  <a:tblGrid>
                    <a:gridCol w="3352800">
                      <a:extLst>
                        <a:ext uri="{9D8B030D-6E8A-4147-A177-3AD203B41FA5}">
                          <a16:colId xmlns:a16="http://schemas.microsoft.com/office/drawing/2014/main" xmlns="" val="20000"/>
                        </a:ext>
                      </a:extLst>
                    </a:gridCol>
                    <a:gridCol w="3324225">
                      <a:extLst>
                        <a:ext uri="{9D8B030D-6E8A-4147-A177-3AD203B41FA5}">
                          <a16:colId xmlns:a16="http://schemas.microsoft.com/office/drawing/2014/main" xmlns="" val="20001"/>
                        </a:ext>
                      </a:extLst>
                    </a:gridCol>
                  </a:tblGrid>
                  <a:tr h="3514090">
                    <a:tc>
                      <a:txBody>
                        <a:bodyPr/>
                        <a:lstStyle/>
                        <a:p>
                          <a:pPr marL="0" marR="0" algn="ctr">
                            <a:spcBef>
                              <a:spcPts val="0"/>
                            </a:spcBef>
                            <a:spcAft>
                              <a:spcPts val="1000"/>
                            </a:spcAft>
                          </a:pPr>
                          <a14:m>
                            <m:oMath xmlns:m="http://schemas.openxmlformats.org/officeDocument/2006/math">
                              <m:f>
                                <m:fPr>
                                  <m:ctrlPr>
                                    <a:rPr lang="en-US" sz="2400" i="1">
                                      <a:effectLst/>
                                      <a:latin typeface="Cambria Math"/>
                                      <a:ea typeface="Cambria Math" panose="02040503050406030204" pitchFamily="18" charset="0"/>
                                    </a:rPr>
                                  </m:ctrlPr>
                                </m:fPr>
                                <m:num>
                                  <m:r>
                                    <a:rPr lang="en-US" sz="2400">
                                      <a:effectLst/>
                                      <a:latin typeface="Cambria Math" panose="02040503050406030204" pitchFamily="18" charset="0"/>
                                      <a:ea typeface="Cambria Math" panose="02040503050406030204" pitchFamily="18" charset="0"/>
                                    </a:rPr>
                                    <m:t>𝑦</m:t>
                                  </m:r>
                                </m:num>
                                <m:den>
                                  <m:r>
                                    <a:rPr lang="en-US" sz="2400">
                                      <a:effectLst/>
                                      <a:latin typeface="Cambria Math" panose="02040503050406030204" pitchFamily="18" charset="0"/>
                                      <a:ea typeface="Cambria Math" panose="02040503050406030204" pitchFamily="18" charset="0"/>
                                    </a:rPr>
                                    <m:t>4</m:t>
                                  </m:r>
                                </m:den>
                              </m:f>
                              <m:r>
                                <a:rPr lang="en-US" sz="2400">
                                  <a:effectLst/>
                                  <a:latin typeface="Cambria Math" panose="02040503050406030204" pitchFamily="18" charset="0"/>
                                  <a:ea typeface="Cambria Math" panose="02040503050406030204" pitchFamily="18" charset="0"/>
                                </a:rPr>
                                <m:t> ≤ 2.1</m:t>
                              </m:r>
                            </m:oMath>
                          </a14:m>
                          <a:r>
                            <a:rPr lang="en-US" sz="2400" dirty="0">
                              <a:effectLst/>
                              <a:latin typeface="Cambria Math" panose="02040503050406030204" pitchFamily="18" charset="0"/>
                              <a:ea typeface="Cambria Math" panose="02040503050406030204" pitchFamily="18" charset="0"/>
                            </a:rPr>
                            <a:t> </a:t>
                          </a:r>
                        </a:p>
                        <a:p>
                          <a:pPr marL="0" marR="0" algn="ctr">
                            <a:spcBef>
                              <a:spcPts val="0"/>
                            </a:spcBef>
                            <a:spcAft>
                              <a:spcPts val="1000"/>
                            </a:spcAft>
                          </a:pPr>
                          <a:r>
                            <a:rPr lang="en-US" sz="2400" dirty="0">
                              <a:effectLst/>
                              <a:latin typeface="Cambria Math" panose="02040503050406030204" pitchFamily="18" charset="0"/>
                              <a:ea typeface="Cambria Math" panose="02040503050406030204" pitchFamily="18" charset="0"/>
                            </a:rPr>
                            <a:t> </a:t>
                          </a:r>
                        </a:p>
                        <a:p>
                          <a:pPr marL="0" marR="0" algn="ctr">
                            <a:spcBef>
                              <a:spcPts val="0"/>
                            </a:spcBef>
                            <a:spcAft>
                              <a:spcPts val="1000"/>
                            </a:spcAft>
                          </a:pPr>
                          <a:r>
                            <a:rPr lang="en-US" sz="2400" dirty="0">
                              <a:effectLst/>
                              <a:latin typeface="Cambria Math" panose="02040503050406030204" pitchFamily="18" charset="0"/>
                              <a:ea typeface="Cambria Math" panose="02040503050406030204" pitchFamily="18" charset="0"/>
                            </a:rPr>
                            <a:t> </a:t>
                          </a:r>
                        </a:p>
                        <a:p>
                          <a:pPr marL="0" marR="0" algn="ctr">
                            <a:spcBef>
                              <a:spcPts val="0"/>
                            </a:spcBef>
                            <a:spcAft>
                              <a:spcPts val="1000"/>
                            </a:spcAft>
                          </a:pPr>
                          <a:r>
                            <a:rPr lang="en-US" sz="2400" dirty="0">
                              <a:effectLst/>
                              <a:latin typeface="Cambria Math" panose="02040503050406030204" pitchFamily="18" charset="0"/>
                              <a:ea typeface="Cambria Math" panose="02040503050406030204" pitchFamily="18" charset="0"/>
                            </a:rPr>
                            <a:t> </a:t>
                          </a:r>
                          <a:endParaRPr lang="en-US" sz="2400" dirty="0">
                            <a:effectLst/>
                            <a:latin typeface="Cambria Math" panose="02040503050406030204" pitchFamily="18" charset="0"/>
                            <a:ea typeface="Cambria Math" panose="02040503050406030204" pitchFamily="18"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 xmlns:m="http://schemas.openxmlformats.org/officeDocument/2006/math">
                              <m:f>
                                <m:fPr>
                                  <m:ctrlPr>
                                    <a:rPr lang="en-US" sz="2400" i="1">
                                      <a:effectLst/>
                                      <a:latin typeface="Cambria Math"/>
                                      <a:ea typeface="Cambria Math" panose="02040503050406030204" pitchFamily="18" charset="0"/>
                                    </a:rPr>
                                  </m:ctrlPr>
                                </m:fPr>
                                <m:num>
                                  <m:r>
                                    <a:rPr lang="en-US" sz="2400">
                                      <a:effectLst/>
                                      <a:latin typeface="Cambria Math" panose="02040503050406030204" pitchFamily="18" charset="0"/>
                                      <a:ea typeface="Cambria Math" panose="02040503050406030204" pitchFamily="18" charset="0"/>
                                    </a:rPr>
                                    <m:t>𝑦</m:t>
                                  </m:r>
                                </m:num>
                                <m:den>
                                  <m:r>
                                    <a:rPr lang="en-US" sz="2400">
                                      <a:effectLst/>
                                      <a:latin typeface="Cambria Math" panose="02040503050406030204" pitchFamily="18" charset="0"/>
                                      <a:ea typeface="Cambria Math" panose="02040503050406030204" pitchFamily="18" charset="0"/>
                                    </a:rPr>
                                    <m:t>−4</m:t>
                                  </m:r>
                                </m:den>
                              </m:f>
                              <m:r>
                                <a:rPr lang="en-US" sz="2400">
                                  <a:effectLst/>
                                  <a:latin typeface="Cambria Math" panose="02040503050406030204" pitchFamily="18" charset="0"/>
                                  <a:ea typeface="Cambria Math" panose="02040503050406030204" pitchFamily="18" charset="0"/>
                                </a:rPr>
                                <m:t> ≤ 2.1</m:t>
                              </m:r>
                            </m:oMath>
                          </a14:m>
                          <a:r>
                            <a:rPr lang="en-US" sz="2400" dirty="0">
                              <a:effectLst/>
                              <a:latin typeface="Cambria Math" panose="02040503050406030204" pitchFamily="18" charset="0"/>
                              <a:ea typeface="Cambria Math" panose="02040503050406030204" pitchFamily="18" charset="0"/>
                            </a:rPr>
                            <a:t> </a:t>
                          </a:r>
                        </a:p>
                        <a:p>
                          <a:pPr marL="0" marR="0" algn="ctr">
                            <a:spcBef>
                              <a:spcPts val="0"/>
                            </a:spcBef>
                            <a:spcAft>
                              <a:spcPts val="1000"/>
                            </a:spcAft>
                          </a:pPr>
                          <a:r>
                            <a:rPr lang="en-US" sz="2400" dirty="0">
                              <a:effectLst/>
                              <a:latin typeface="Cambria Math" panose="02040503050406030204" pitchFamily="18" charset="0"/>
                              <a:ea typeface="Cambria Math" panose="02040503050406030204" pitchFamily="18" charset="0"/>
                            </a:rPr>
                            <a:t> </a:t>
                          </a:r>
                          <a:endParaRPr lang="en-US" sz="2400" dirty="0">
                            <a:effectLst/>
                            <a:latin typeface="Cambria Math" panose="02040503050406030204" pitchFamily="18" charset="0"/>
                            <a:ea typeface="Cambria Math" panose="02040503050406030204" pitchFamily="18"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973942685"/>
                  </p:ext>
                </p:extLst>
              </p:nvPr>
            </p:nvGraphicFramePr>
            <p:xfrm>
              <a:off x="2533176" y="1329849"/>
              <a:ext cx="6677025" cy="3514090"/>
            </p:xfrm>
            <a:graphic>
              <a:graphicData uri="http://schemas.openxmlformats.org/drawingml/2006/table">
                <a:tbl>
                  <a:tblPr bandRow="1">
                    <a:tableStyleId>{5940675A-B579-460E-94D1-54222C63F5DA}</a:tableStyleId>
                  </a:tblPr>
                  <a:tblGrid>
                    <a:gridCol w="3352800">
                      <a:extLst>
                        <a:ext uri="{9D8B030D-6E8A-4147-A177-3AD203B41FA5}">
                          <a16:colId xmlns:a16="http://schemas.microsoft.com/office/drawing/2014/main" val="20000"/>
                        </a:ext>
                      </a:extLst>
                    </a:gridCol>
                    <a:gridCol w="3324225">
                      <a:extLst>
                        <a:ext uri="{9D8B030D-6E8A-4147-A177-3AD203B41FA5}">
                          <a16:colId xmlns:a16="http://schemas.microsoft.com/office/drawing/2014/main" val="20001"/>
                        </a:ext>
                      </a:extLst>
                    </a:gridCol>
                  </a:tblGrid>
                  <a:tr h="351409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377" t="-360" r="-99245" b="-719"/>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1527" t="-360" r="-382" b="-719"/>
                          </a:stretch>
                        </a:blipFill>
                      </a:tcPr>
                    </a:tc>
                    <a:extLst>
                      <a:ext uri="{0D108BD9-81ED-4DB2-BD59-A6C34878D82A}">
                        <a16:rowId xmlns:a16="http://schemas.microsoft.com/office/drawing/2014/main" val="10000"/>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spTree>
    <p:extLst>
      <p:ext uri="{BB962C8B-B14F-4D97-AF65-F5344CB8AC3E}">
        <p14:creationId xmlns:p14="http://schemas.microsoft.com/office/powerpoint/2010/main" val="3393813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8AE5E1E0-A54D-BE42-84B5-F917038ADE99}"/>
              </a:ext>
            </a:extLst>
          </p:cNvPr>
          <p:cNvSpPr txBox="1"/>
          <p:nvPr/>
        </p:nvSpPr>
        <p:spPr>
          <a:xfrm>
            <a:off x="914400" y="288746"/>
            <a:ext cx="10515600" cy="120032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Dividing both sides of an inequality by the same value can be used to solve an inequality by the </a:t>
            </a:r>
            <a:r>
              <a:rPr lang="en-US" sz="2400" b="1" i="1" dirty="0">
                <a:latin typeface="Verdana" panose="020B0604030504040204" pitchFamily="34" charset="0"/>
                <a:ea typeface="Verdana" panose="020B0604030504040204" pitchFamily="34" charset="0"/>
                <a:cs typeface="Verdana" panose="020B0604030504040204" pitchFamily="34" charset="0"/>
              </a:rPr>
              <a:t>division property of inequality</a:t>
            </a:r>
            <a:r>
              <a:rPr lang="en-US" sz="2400" dirty="0">
                <a:latin typeface="Verdana" panose="020B0604030504040204" pitchFamily="34" charset="0"/>
                <a:ea typeface="Verdana" panose="020B0604030504040204" pitchFamily="34" charset="0"/>
                <a:cs typeface="Verdana" panose="020B0604030504040204" pitchFamily="34" charset="0"/>
              </a:rPr>
              <a:t>.</a:t>
            </a:r>
          </a:p>
        </p:txBody>
      </p:sp>
      <p:grpSp>
        <p:nvGrpSpPr>
          <p:cNvPr id="6" name="Group 5"/>
          <p:cNvGrpSpPr/>
          <p:nvPr/>
        </p:nvGrpSpPr>
        <p:grpSpPr>
          <a:xfrm>
            <a:off x="2781300" y="1898438"/>
            <a:ext cx="6629400" cy="2138043"/>
            <a:chOff x="2031300" y="2710957"/>
            <a:chExt cx="6629400" cy="2138081"/>
          </a:xfrm>
        </p:grpSpPr>
        <p:grpSp>
          <p:nvGrpSpPr>
            <p:cNvPr id="7" name="Group 6"/>
            <p:cNvGrpSpPr/>
            <p:nvPr/>
          </p:nvGrpSpPr>
          <p:grpSpPr>
            <a:xfrm>
              <a:off x="2031300" y="2710957"/>
              <a:ext cx="6629400" cy="2138081"/>
              <a:chOff x="2031300" y="3252875"/>
              <a:chExt cx="6629400" cy="2138377"/>
            </a:xfrm>
          </p:grpSpPr>
          <p:sp>
            <p:nvSpPr>
              <p:cNvPr id="8" name="Rectangle 7"/>
              <p:cNvSpPr/>
              <p:nvPr/>
            </p:nvSpPr>
            <p:spPr>
              <a:xfrm>
                <a:off x="2031300" y="3252877"/>
                <a:ext cx="6629400" cy="2138375"/>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9" name="Group 8"/>
              <p:cNvGrpSpPr/>
              <p:nvPr/>
            </p:nvGrpSpPr>
            <p:grpSpPr>
              <a:xfrm>
                <a:off x="2031300" y="3252875"/>
                <a:ext cx="6629400" cy="1915926"/>
                <a:chOff x="2031300" y="3252875"/>
                <a:chExt cx="6629400" cy="1915926"/>
              </a:xfrm>
            </p:grpSpPr>
            <p:sp>
              <p:nvSpPr>
                <p:cNvPr id="10" name="Rectangle 9"/>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11" name="Group 10"/>
                <p:cNvGrpSpPr/>
                <p:nvPr/>
              </p:nvGrpSpPr>
              <p:grpSpPr>
                <a:xfrm>
                  <a:off x="2031300" y="3252875"/>
                  <a:ext cx="6629400" cy="1915926"/>
                  <a:chOff x="2031300" y="3252875"/>
                  <a:chExt cx="6629400" cy="1915926"/>
                </a:xfrm>
              </p:grpSpPr>
              <p:sp>
                <p:nvSpPr>
                  <p:cNvPr id="13" name="Rectangle 12"/>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14" name="Group 13"/>
                  <p:cNvGrpSpPr/>
                  <p:nvPr/>
                </p:nvGrpSpPr>
                <p:grpSpPr>
                  <a:xfrm>
                    <a:off x="2031300" y="3252875"/>
                    <a:ext cx="6629400" cy="1915926"/>
                    <a:chOff x="2031300" y="3252875"/>
                    <a:chExt cx="6629400" cy="1915926"/>
                  </a:xfrm>
                </p:grpSpPr>
                <p:sp>
                  <p:nvSpPr>
                    <p:cNvPr id="15" name="Rectangle 14"/>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16" name="Group 15"/>
                    <p:cNvGrpSpPr/>
                    <p:nvPr/>
                  </p:nvGrpSpPr>
                  <p:grpSpPr>
                    <a:xfrm>
                      <a:off x="2031300" y="3252875"/>
                      <a:ext cx="6629400" cy="1915926"/>
                      <a:chOff x="2031300" y="3252875"/>
                      <a:chExt cx="6629400" cy="1915926"/>
                    </a:xfrm>
                  </p:grpSpPr>
                  <p:sp>
                    <p:nvSpPr>
                      <p:cNvPr id="17" name="Rectangle 16"/>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18" name="Group 17"/>
                      <p:cNvGrpSpPr/>
                      <p:nvPr/>
                    </p:nvGrpSpPr>
                    <p:grpSpPr>
                      <a:xfrm>
                        <a:off x="2031300" y="3252875"/>
                        <a:ext cx="6629400" cy="1915926"/>
                        <a:chOff x="2031300" y="3262288"/>
                        <a:chExt cx="6629400" cy="1881720"/>
                      </a:xfrm>
                    </p:grpSpPr>
                    <p:sp>
                      <p:nvSpPr>
                        <p:cNvPr id="19" name="Rectangle 18"/>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20" name="Group 19"/>
                        <p:cNvGrpSpPr/>
                        <p:nvPr/>
                      </p:nvGrpSpPr>
                      <p:grpSpPr>
                        <a:xfrm>
                          <a:off x="2031300" y="3262288"/>
                          <a:ext cx="6629400" cy="1881720"/>
                          <a:chOff x="2031300" y="3373600"/>
                          <a:chExt cx="6629400" cy="1881720"/>
                        </a:xfrm>
                      </p:grpSpPr>
                      <p:sp>
                        <p:nvSpPr>
                          <p:cNvPr id="21" name="Rectangle 20"/>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22" name="Group 21"/>
                          <p:cNvGrpSpPr/>
                          <p:nvPr/>
                        </p:nvGrpSpPr>
                        <p:grpSpPr>
                          <a:xfrm>
                            <a:off x="2031300" y="3373600"/>
                            <a:ext cx="6629400" cy="1881720"/>
                            <a:chOff x="2031300" y="3373600"/>
                            <a:chExt cx="6629400" cy="1881720"/>
                          </a:xfrm>
                        </p:grpSpPr>
                        <p:sp>
                          <p:nvSpPr>
                            <p:cNvPr id="23" name="Rectangle 22"/>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24" name="Group 23"/>
                            <p:cNvGrpSpPr/>
                            <p:nvPr/>
                          </p:nvGrpSpPr>
                          <p:grpSpPr>
                            <a:xfrm>
                              <a:off x="2031300" y="3373600"/>
                              <a:ext cx="6629400" cy="1881720"/>
                              <a:chOff x="0" y="0"/>
                              <a:chExt cx="6629400" cy="1881720"/>
                            </a:xfrm>
                          </p:grpSpPr>
                          <p:sp>
                            <p:nvSpPr>
                              <p:cNvPr id="25" name="Rectangle 24"/>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mc:AlternateContent xmlns:mc="http://schemas.openxmlformats.org/markup-compatibility/2006" xmlns:a14="http://schemas.microsoft.com/office/drawing/2010/main">
                            <mc:Choice Requires="a14">
                              <p:sp>
                                <p:nvSpPr>
                                  <p:cNvPr id="26" name="Rounded Rectangle 25"/>
                                  <p:cNvSpPr/>
                                  <p:nvPr/>
                                </p:nvSpPr>
                                <p:spPr>
                                  <a:xfrm>
                                    <a:off x="0" y="218481"/>
                                    <a:ext cx="6480000" cy="166323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72000" anchor="ctr" anchorCtr="0">
                                    <a:spAutoFit/>
                                  </a:bodyPr>
                                  <a:lstStyle/>
                                  <a:p>
                                    <a:pPr marL="635000" indent="-3175"/>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Division Property of Inequality</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Cambria" panose="02040503050406030204" pitchFamily="18" charset="0"/>
                                      <a:ea typeface="Times New Roman" panose="02020603050405020304" pitchFamily="18" charset="0"/>
                                      <a:cs typeface="Cambria" panose="02040503050406030204" pitchFamily="18" charset="0"/>
                                    </a:endParaRPr>
                                  </a:p>
                                  <a:p>
                                    <a:pPr marL="635000" indent="-3175"/>
                                    <a:r>
                                      <a:rPr lang="en-US" sz="2000" dirty="0">
                                        <a:latin typeface="Cambria" panose="02040503050406030204" pitchFamily="18" charset="0"/>
                                        <a:ea typeface="Times New Roman" panose="02020603050405020304" pitchFamily="18" charset="0"/>
                                        <a:cs typeface="Cambria" panose="02040503050406030204" pitchFamily="18" charset="0"/>
                                      </a:rPr>
                                      <a:t> </a:t>
                                    </a:r>
                                  </a:p>
                                  <a:p>
                                    <a:pPr marL="635000" indent="-3175">
                                      <a:spcAft>
                                        <a:spcPts val="12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&gt;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𝑏</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𝑐</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&gt;0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𝑐</m:t>
                                        </m:r>
                                        <m:r>
                                          <a:rPr lang="en-PH" sz="2000" i="1">
                                            <a:solidFill>
                                              <a:srgbClr val="6C993D"/>
                                            </a:solidFill>
                                            <a:latin typeface="Cambria Math"/>
                                            <a:ea typeface="Cambria Math" panose="02040503050406030204" pitchFamily="18" charset="0"/>
                                            <a:cs typeface="Verdana" panose="020B0604030504040204" pitchFamily="34" charset="0"/>
                                          </a:rPr>
                                          <m:t>____</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𝑏</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𝑐</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35000" indent="-3175"/>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&gt;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𝑏</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𝑐</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&lt;0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𝑎</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𝑐</m:t>
                                        </m:r>
                                        <m:r>
                                          <a:rPr lang="en-PH" sz="2000" i="1">
                                            <a:solidFill>
                                              <a:srgbClr val="6C993D"/>
                                            </a:solidFill>
                                            <a:latin typeface="Cambria Math"/>
                                            <a:ea typeface="Cambria Math" panose="02040503050406030204" pitchFamily="18" charset="0"/>
                                            <a:cs typeface="Verdana" panose="020B0604030504040204" pitchFamily="34" charset="0"/>
                                          </a:rPr>
                                          <m:t>____</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𝑏</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m:t>
                                        </m:r>
                                        <m:r>
                                          <a:rPr lang="en-US" sz="2000" i="1">
                                            <a:solidFill>
                                              <a:srgbClr val="6C993D"/>
                                            </a:solidFill>
                                            <a:latin typeface="Cambria Math" panose="02040503050406030204" pitchFamily="18" charset="0"/>
                                            <a:ea typeface="Cambria Math" panose="02040503050406030204" pitchFamily="18" charset="0"/>
                                            <a:cs typeface="Verdana" panose="020B0604030504040204" pitchFamily="34" charset="0"/>
                                          </a:rPr>
                                          <m:t>𝑐</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6" name="Rounded Rectangle 25"/>
                                  <p:cNvSpPr>
                                    <a:spLocks noRot="1" noChangeAspect="1" noMove="1" noResize="1" noEditPoints="1" noAdjustHandles="1" noChangeArrowheads="1" noChangeShapeType="1" noTextEdit="1"/>
                                  </p:cNvSpPr>
                                  <p:nvPr/>
                                </p:nvSpPr>
                                <p:spPr>
                                  <a:xfrm>
                                    <a:off x="0" y="218481"/>
                                    <a:ext cx="6480000" cy="1663239"/>
                                  </a:xfrm>
                                  <a:prstGeom prst="roundRect">
                                    <a:avLst>
                                      <a:gd name="adj" fmla="val 16667"/>
                                    </a:avLst>
                                  </a:prstGeom>
                                  <a:blipFill rotWithShape="1">
                                    <a:blip r:embed="rId4"/>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pic>
                            <p:nvPicPr>
                              <p:cNvPr id="27" name="Shape 23" descr="Icon&#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8545" y="325713"/>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grpSp>
          </p:grpSp>
        </p:grpSp>
      </p:grpSp>
      <p:sp>
        <p:nvSpPr>
          <p:cNvPr id="2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spTree>
    <p:extLst>
      <p:ext uri="{BB962C8B-B14F-4D97-AF65-F5344CB8AC3E}">
        <p14:creationId xmlns:p14="http://schemas.microsoft.com/office/powerpoint/2010/main" val="74647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8AE5E1E0-A54D-BE42-84B5-F917038ADE99}"/>
              </a:ext>
            </a:extLst>
          </p:cNvPr>
          <p:cNvSpPr txBox="1"/>
          <p:nvPr/>
        </p:nvSpPr>
        <p:spPr>
          <a:xfrm>
            <a:off x="914400" y="288746"/>
            <a:ext cx="10515600"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solution to both inequalities using the division property of inequality.</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260870575"/>
                  </p:ext>
                </p:extLst>
              </p:nvPr>
            </p:nvGraphicFramePr>
            <p:xfrm>
              <a:off x="2792994" y="1453724"/>
              <a:ext cx="6157389" cy="4351338"/>
            </p:xfrm>
            <a:graphic>
              <a:graphicData uri="http://schemas.openxmlformats.org/drawingml/2006/table">
                <a:tbl>
                  <a:tblPr bandRow="1">
                    <a:tableStyleId>{5940675A-B579-460E-94D1-54222C63F5DA}</a:tableStyleId>
                  </a:tblPr>
                  <a:tblGrid>
                    <a:gridCol w="3069998">
                      <a:extLst>
                        <a:ext uri="{9D8B030D-6E8A-4147-A177-3AD203B41FA5}">
                          <a16:colId xmlns:a16="http://schemas.microsoft.com/office/drawing/2014/main" xmlns="" val="20000"/>
                        </a:ext>
                      </a:extLst>
                    </a:gridCol>
                    <a:gridCol w="3087391">
                      <a:extLst>
                        <a:ext uri="{9D8B030D-6E8A-4147-A177-3AD203B41FA5}">
                          <a16:colId xmlns:a16="http://schemas.microsoft.com/office/drawing/2014/main" xmlns="" val="20001"/>
                        </a:ext>
                      </a:extLst>
                    </a:gridCol>
                  </a:tblGrid>
                  <a:tr h="4351338">
                    <a:tc>
                      <a:txBody>
                        <a:bodyPr/>
                        <a:lstStyle/>
                        <a:p>
                          <a:pPr marL="0" marR="0" algn="ctr">
                            <a:spcBef>
                              <a:spcPts val="0"/>
                            </a:spcBef>
                            <a:spcAft>
                              <a:spcPts val="1000"/>
                            </a:spcAft>
                          </a:pPr>
                          <a14:m>
                            <m:oMath xmlns:m="http://schemas.openxmlformats.org/officeDocument/2006/math">
                              <m:r>
                                <a:rPr lang="en-US" sz="2400">
                                  <a:effectLst/>
                                  <a:latin typeface="Cambria Math" panose="02040503050406030204" pitchFamily="18" charset="0"/>
                                  <a:ea typeface="Cambria Math" panose="02040503050406030204" pitchFamily="18" charset="0"/>
                                </a:rPr>
                                <m:t>−25&gt;5</m:t>
                              </m:r>
                              <m:r>
                                <a:rPr lang="en-US" sz="2400">
                                  <a:effectLst/>
                                  <a:latin typeface="Cambria Math" panose="02040503050406030204" pitchFamily="18" charset="0"/>
                                  <a:ea typeface="Cambria Math" panose="02040503050406030204" pitchFamily="18" charset="0"/>
                                </a:rPr>
                                <m:t>𝑐</m:t>
                              </m:r>
                            </m:oMath>
                          </a14:m>
                          <a:r>
                            <a:rPr lang="en-US" sz="2400" dirty="0">
                              <a:effectLst/>
                              <a:latin typeface="Cambria Math" panose="02040503050406030204" pitchFamily="18" charset="0"/>
                              <a:ea typeface="Cambria Math" panose="02040503050406030204" pitchFamily="18" charset="0"/>
                            </a:rPr>
                            <a:t> </a:t>
                          </a:r>
                        </a:p>
                        <a:p>
                          <a:pPr marL="0" marR="0" algn="ctr">
                            <a:spcBef>
                              <a:spcPts val="0"/>
                            </a:spcBef>
                            <a:spcAft>
                              <a:spcPts val="1000"/>
                            </a:spcAft>
                          </a:pPr>
                          <a:r>
                            <a:rPr lang="en-US" sz="2400" dirty="0">
                              <a:effectLst/>
                              <a:latin typeface="Cambria Math" panose="02040503050406030204" pitchFamily="18" charset="0"/>
                              <a:ea typeface="Cambria Math" panose="02040503050406030204" pitchFamily="18" charset="0"/>
                            </a:rPr>
                            <a:t> </a:t>
                          </a:r>
                        </a:p>
                        <a:p>
                          <a:pPr marL="0" marR="0" algn="ctr">
                            <a:spcBef>
                              <a:spcPts val="0"/>
                            </a:spcBef>
                            <a:spcAft>
                              <a:spcPts val="1000"/>
                            </a:spcAft>
                          </a:pPr>
                          <a:r>
                            <a:rPr lang="en-US" sz="2400" dirty="0">
                              <a:effectLst/>
                              <a:latin typeface="Cambria Math" panose="02040503050406030204" pitchFamily="18" charset="0"/>
                              <a:ea typeface="Cambria Math" panose="02040503050406030204" pitchFamily="18" charset="0"/>
                            </a:rPr>
                            <a:t> </a:t>
                          </a:r>
                        </a:p>
                        <a:p>
                          <a:pPr marL="0" marR="0" algn="ctr">
                            <a:spcBef>
                              <a:spcPts val="0"/>
                            </a:spcBef>
                            <a:spcAft>
                              <a:spcPts val="1000"/>
                            </a:spcAft>
                          </a:pPr>
                          <a:r>
                            <a:rPr lang="en-US" sz="2400" dirty="0">
                              <a:effectLst/>
                              <a:latin typeface="Cambria Math" panose="02040503050406030204" pitchFamily="18" charset="0"/>
                              <a:ea typeface="Cambria Math" panose="02040503050406030204" pitchFamily="18" charset="0"/>
                            </a:rPr>
                            <a:t> </a:t>
                          </a:r>
                          <a:endParaRPr lang="en-US" sz="2400" dirty="0">
                            <a:effectLst/>
                            <a:latin typeface="Cambria Math" panose="02040503050406030204" pitchFamily="18" charset="0"/>
                            <a:ea typeface="Cambria Math" panose="02040503050406030204" pitchFamily="18"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 xmlns:m="http://schemas.openxmlformats.org/officeDocument/2006/math">
                              <m:r>
                                <a:rPr lang="en-US" sz="2400">
                                  <a:effectLst/>
                                  <a:latin typeface="Cambria Math" panose="02040503050406030204" pitchFamily="18" charset="0"/>
                                  <a:ea typeface="Cambria Math" panose="02040503050406030204" pitchFamily="18" charset="0"/>
                                </a:rPr>
                                <m:t>−25&gt;−5</m:t>
                              </m:r>
                              <m:r>
                                <a:rPr lang="en-US" sz="2400">
                                  <a:effectLst/>
                                  <a:latin typeface="Cambria Math" panose="02040503050406030204" pitchFamily="18" charset="0"/>
                                  <a:ea typeface="Cambria Math" panose="02040503050406030204" pitchFamily="18" charset="0"/>
                                </a:rPr>
                                <m:t>𝑐</m:t>
                              </m:r>
                            </m:oMath>
                          </a14:m>
                          <a:r>
                            <a:rPr lang="en-US" sz="2400" dirty="0">
                              <a:effectLst/>
                              <a:latin typeface="Cambria Math" panose="02040503050406030204" pitchFamily="18" charset="0"/>
                              <a:ea typeface="Cambria Math" panose="02040503050406030204" pitchFamily="18" charset="0"/>
                            </a:rPr>
                            <a:t> </a:t>
                          </a:r>
                        </a:p>
                        <a:p>
                          <a:pPr marL="0" marR="0" algn="ctr">
                            <a:spcBef>
                              <a:spcPts val="0"/>
                            </a:spcBef>
                            <a:spcAft>
                              <a:spcPts val="1000"/>
                            </a:spcAft>
                          </a:pPr>
                          <a:r>
                            <a:rPr lang="en-US" sz="2400" dirty="0">
                              <a:effectLst/>
                              <a:latin typeface="Cambria Math" panose="02040503050406030204" pitchFamily="18" charset="0"/>
                              <a:ea typeface="Cambria Math" panose="02040503050406030204" pitchFamily="18" charset="0"/>
                            </a:rPr>
                            <a:t> </a:t>
                          </a:r>
                          <a:endParaRPr lang="en-US" sz="2400" dirty="0">
                            <a:effectLst/>
                            <a:latin typeface="Cambria Math" panose="02040503050406030204" pitchFamily="18" charset="0"/>
                            <a:ea typeface="Cambria Math" panose="02040503050406030204" pitchFamily="18"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260870575"/>
                  </p:ext>
                </p:extLst>
              </p:nvPr>
            </p:nvGraphicFramePr>
            <p:xfrm>
              <a:off x="2792994" y="1453724"/>
              <a:ext cx="6157389" cy="4351338"/>
            </p:xfrm>
            <a:graphic>
              <a:graphicData uri="http://schemas.openxmlformats.org/drawingml/2006/table">
                <a:tbl>
                  <a:tblPr bandRow="1">
                    <a:tableStyleId>{5940675A-B579-460E-94D1-54222C63F5DA}</a:tableStyleId>
                  </a:tblPr>
                  <a:tblGrid>
                    <a:gridCol w="3069998">
                      <a:extLst>
                        <a:ext uri="{9D8B030D-6E8A-4147-A177-3AD203B41FA5}">
                          <a16:colId xmlns:a16="http://schemas.microsoft.com/office/drawing/2014/main" val="20000"/>
                        </a:ext>
                      </a:extLst>
                    </a:gridCol>
                    <a:gridCol w="3087391">
                      <a:extLst>
                        <a:ext uri="{9D8B030D-6E8A-4147-A177-3AD203B41FA5}">
                          <a16:colId xmlns:a16="http://schemas.microsoft.com/office/drawing/2014/main" val="20001"/>
                        </a:ext>
                      </a:extLst>
                    </a:gridCol>
                  </a:tblGrid>
                  <a:tr h="4351338">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13" t="-291" r="-101653" b="-291"/>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99590" t="-291" r="-820" b="-291"/>
                          </a:stretch>
                        </a:blipFill>
                      </a:tcPr>
                    </a:tc>
                    <a:extLst>
                      <a:ext uri="{0D108BD9-81ED-4DB2-BD59-A6C34878D82A}">
                        <a16:rowId xmlns:a16="http://schemas.microsoft.com/office/drawing/2014/main" val="10000"/>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spTree>
    <p:extLst>
      <p:ext uri="{BB962C8B-B14F-4D97-AF65-F5344CB8AC3E}">
        <p14:creationId xmlns:p14="http://schemas.microsoft.com/office/powerpoint/2010/main" val="3402276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707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sp>
        <p:nvSpPr>
          <p:cNvPr id="8" name="Google Shape;313;g104476d1465_1_39"/>
          <p:cNvSpPr txBox="1">
            <a:spLocks/>
          </p:cNvSpPr>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Practice</a:t>
            </a:r>
            <a:endParaRPr lang="en-US" sz="5100" b="1" dirty="0">
              <a:solidFill>
                <a:srgbClr val="54B5D1"/>
              </a:solidFill>
              <a:latin typeface="Verdana"/>
              <a:ea typeface="Verdana"/>
              <a:cs typeface="Verdana"/>
              <a:sym typeface="Verdana"/>
            </a:endParaRPr>
          </a:p>
        </p:txBody>
      </p:sp>
      <p:pic>
        <p:nvPicPr>
          <p:cNvPr id="9" name="Picture 2" descr="Icon&#10;&#10;Description automatically generated">
            <a:extLst>
              <a:ext uri="{FF2B5EF4-FFF2-40B4-BE49-F238E27FC236}">
                <a16:creationId xmlns=""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43000" y="4747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10.4.5 Guided Practice: Solving One-Step Inequalities with Multiplication and Division</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3542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31D40250-DEDD-2C41-8538-3D4DD18CCC4A}"/>
                  </a:ext>
                </a:extLst>
              </p:cNvPr>
              <p:cNvSpPr txBox="1"/>
              <p:nvPr/>
            </p:nvSpPr>
            <p:spPr>
              <a:xfrm>
                <a:off x="914400" y="1386025"/>
                <a:ext cx="10515600" cy="541597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the inequality </a:t>
                </a:r>
                <a14:m>
                  <m:oMath xmlns:m="http://schemas.openxmlformats.org/officeDocument/2006/math">
                    <m:r>
                      <a:rPr lang="en-US" sz="2400" i="1">
                        <a:latin typeface="Cambria Math" panose="02040503050406030204" pitchFamily="18" charset="0"/>
                        <a:ea typeface="Cambria Math" panose="02040503050406030204" pitchFamily="18" charset="0"/>
                      </a:rPr>
                      <m:t>7≥−</m:t>
                    </m:r>
                    <m:f>
                      <m:fPr>
                        <m:ctrlPr>
                          <a:rPr lang="en-US" sz="2400" i="1">
                            <a:latin typeface="Cambria Math"/>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3</m:t>
                        </m:r>
                      </m:num>
                      <m:den>
                        <m:r>
                          <a:rPr lang="en-US" sz="2400" i="1">
                            <a:latin typeface="Cambria Math" panose="02040503050406030204" pitchFamily="18" charset="0"/>
                            <a:ea typeface="Cambria Math" panose="02040503050406030204" pitchFamily="18" charset="0"/>
                          </a:rPr>
                          <m:t>2</m:t>
                        </m:r>
                      </m:den>
                    </m:f>
                    <m:r>
                      <a:rPr lang="en-US" sz="2400" i="1">
                        <a:latin typeface="Cambria Math" panose="02040503050406030204" pitchFamily="18" charset="0"/>
                        <a:ea typeface="Cambria Math" panose="02040503050406030204" pitchFamily="18" charset="0"/>
                      </a:rPr>
                      <m:t>𝑦</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to complete the following.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Solve the inequality. Show your work.</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Graph the solution set on the number line.</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Use substitution to test a value or values to verify that the solution and the graph are correct.</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914400" y="1386025"/>
                <a:ext cx="10515600" cy="5415970"/>
              </a:xfrm>
              <a:prstGeom prst="rect">
                <a:avLst/>
              </a:prstGeom>
              <a:blipFill>
                <a:blip r:embed="rId5"/>
                <a:stretch>
                  <a:fillRect l="-965"/>
                </a:stretch>
              </a:blipFill>
            </p:spPr>
            <p:txBody>
              <a:bodyPr/>
              <a:lstStyle/>
              <a:p>
                <a:r>
                  <a:rPr lang="en-US">
                    <a:noFill/>
                  </a:rPr>
                  <a:t> </a:t>
                </a:r>
              </a:p>
            </p:txBody>
          </p:sp>
        </mc:Fallback>
      </mc:AlternateContent>
      <p:pic>
        <p:nvPicPr>
          <p:cNvPr id="9" name="image3.png"/>
          <p:cNvPicPr/>
          <p:nvPr/>
        </p:nvPicPr>
        <p:blipFill>
          <a:blip r:embed="rId6"/>
          <a:srcRect/>
          <a:stretch>
            <a:fillRect/>
          </a:stretch>
        </p:blipFill>
        <p:spPr>
          <a:xfrm>
            <a:off x="2496312" y="4402951"/>
            <a:ext cx="6400800" cy="467995"/>
          </a:xfrm>
          <a:prstGeom prst="rect">
            <a:avLst/>
          </a:prstGeom>
          <a:ln/>
        </p:spPr>
      </p:pic>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31D40250-DEDD-2C41-8538-3D4DD18CCC4A}"/>
                  </a:ext>
                </a:extLst>
              </p:cNvPr>
              <p:cNvSpPr txBox="1"/>
              <p:nvPr/>
            </p:nvSpPr>
            <p:spPr>
              <a:xfrm>
                <a:off x="914400" y="597130"/>
                <a:ext cx="10515600" cy="5425460"/>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Use the inequality </a:t>
                </a:r>
                <a14:m>
                  <m:oMath xmlns:m="http://schemas.openxmlformats.org/officeDocument/2006/math">
                    <m:f>
                      <m:fPr>
                        <m:ctrlPr>
                          <a:rPr lang="en-US" sz="2400" i="1">
                            <a:latin typeface="Cambria Math"/>
                            <a:ea typeface="Verdana" panose="020B0604030504040204" pitchFamily="34" charset="0"/>
                            <a:cs typeface="Verdana" panose="020B0604030504040204" pitchFamily="34" charset="0"/>
                          </a:rPr>
                        </m:ctrlPr>
                      </m:fPr>
                      <m:num>
                        <m:r>
                          <a:rPr lang="en-US" sz="2400" i="1">
                            <a:latin typeface="Cambria Math" panose="02040503050406030204" pitchFamily="18" charset="0"/>
                            <a:ea typeface="Verdana" panose="020B0604030504040204" pitchFamily="34" charset="0"/>
                            <a:cs typeface="Verdana" panose="020B0604030504040204" pitchFamily="34" charset="0"/>
                          </a:rPr>
                          <m:t>𝑘</m:t>
                        </m:r>
                      </m:num>
                      <m:den>
                        <m:r>
                          <a:rPr lang="en-US" sz="2400" i="1">
                            <a:latin typeface="Cambria Math" panose="02040503050406030204" pitchFamily="18" charset="0"/>
                            <a:ea typeface="Verdana" panose="020B0604030504040204" pitchFamily="34" charset="0"/>
                            <a:cs typeface="Verdana" panose="020B0604030504040204" pitchFamily="34" charset="0"/>
                          </a:rPr>
                          <m:t>3</m:t>
                        </m:r>
                      </m:den>
                    </m:f>
                    <m:r>
                      <a:rPr lang="en-US" sz="2400" i="1">
                        <a:latin typeface="Cambria Math" panose="02040503050406030204" pitchFamily="18" charset="0"/>
                        <a:ea typeface="Cambria Math" panose="02040503050406030204" pitchFamily="18" charset="0"/>
                        <a:cs typeface="Verdana" panose="020B0604030504040204" pitchFamily="34" charset="0"/>
                      </a:rPr>
                      <m:t>&lt;−5</m:t>
                    </m:r>
                  </m:oMath>
                </a14:m>
                <a:r>
                  <a:rPr lang="en-US" sz="2400" dirty="0">
                    <a:latin typeface="Verdana" panose="020B0604030504040204" pitchFamily="34" charset="0"/>
                    <a:ea typeface="Verdana" panose="020B0604030504040204" pitchFamily="34" charset="0"/>
                    <a:cs typeface="Verdana" panose="020B0604030504040204" pitchFamily="34" charset="0"/>
                  </a:rPr>
                  <a:t> to complete the following.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Solve the inequality. Show your work.</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Graph the solution set on the number line.</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Use substitution to test a value or values to verify that the solution and the graph are correct.</a:t>
                </a:r>
              </a:p>
            </p:txBody>
          </p:sp>
        </mc:Choice>
        <mc:Fallback xmlns="">
          <p:sp>
            <p:nvSpPr>
              <p:cNvPr id="6" name="TextBox 5">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914400" y="597130"/>
                <a:ext cx="10515600" cy="5425460"/>
              </a:xfrm>
              <a:prstGeom prst="rect">
                <a:avLst/>
              </a:prstGeom>
              <a:blipFill>
                <a:blip r:embed="rId4"/>
                <a:stretch>
                  <a:fillRect l="-965"/>
                </a:stretch>
              </a:blipFill>
            </p:spPr>
            <p:txBody>
              <a:bodyPr/>
              <a:lstStyle/>
              <a:p>
                <a:r>
                  <a:rPr lang="en-US">
                    <a:noFill/>
                  </a:rPr>
                  <a:t> </a:t>
                </a:r>
              </a:p>
            </p:txBody>
          </p:sp>
        </mc:Fallback>
      </mc:AlternateContent>
      <p:pic>
        <p:nvPicPr>
          <p:cNvPr id="7" name="image3.png"/>
          <p:cNvPicPr/>
          <p:nvPr/>
        </p:nvPicPr>
        <p:blipFill>
          <a:blip r:embed="rId5"/>
          <a:srcRect/>
          <a:stretch>
            <a:fillRect/>
          </a:stretch>
        </p:blipFill>
        <p:spPr>
          <a:xfrm>
            <a:off x="2895600" y="3593120"/>
            <a:ext cx="6400800" cy="467995"/>
          </a:xfrm>
          <a:prstGeom prst="rect">
            <a:avLst/>
          </a:prstGeom>
          <a:ln/>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p:spTree>
    <p:extLst>
      <p:ext uri="{BB962C8B-B14F-4D97-AF65-F5344CB8AC3E}">
        <p14:creationId xmlns:p14="http://schemas.microsoft.com/office/powerpoint/2010/main" val="1918385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A3BC97A7-8575-5A46-8E72-A886A83AEC7E}"/>
                  </a:ext>
                </a:extLst>
              </p:cNvPr>
              <p:cNvSpPr txBox="1"/>
              <p:nvPr/>
            </p:nvSpPr>
            <p:spPr>
              <a:xfrm>
                <a:off x="914400" y="386282"/>
                <a:ext cx="10515600" cy="830997"/>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Gabriel and Lauren made errors when solving the inequality </a:t>
                </a:r>
                <a14:m>
                  <m:oMath xmlns:m="http://schemas.openxmlformats.org/officeDocument/2006/math">
                    <m:r>
                      <a:rPr lang="en-US" sz="2400" i="1">
                        <a:latin typeface="Cambria Math" panose="02040503050406030204" pitchFamily="18" charset="0"/>
                        <a:ea typeface="Cambria Math" panose="02040503050406030204" pitchFamily="18" charset="0"/>
                      </a:rPr>
                      <m:t>−4</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 Their work is shown.</a:t>
                </a: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914400" y="386282"/>
                <a:ext cx="10515600" cy="830997"/>
              </a:xfrm>
              <a:prstGeom prst="rect">
                <a:avLst/>
              </a:prstGeom>
              <a:blipFill>
                <a:blip r:embed="rId4"/>
                <a:stretch>
                  <a:fillRect l="-965" t="-6061" b="-15152"/>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90800" y="1462063"/>
            <a:ext cx="7760176" cy="2453114"/>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p:spTree>
    <p:extLst>
      <p:ext uri="{BB962C8B-B14F-4D97-AF65-F5344CB8AC3E}">
        <p14:creationId xmlns:p14="http://schemas.microsoft.com/office/powerpoint/2010/main" val="4192419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A3BC97A7-8575-5A46-8E72-A886A83AEC7E}"/>
                  </a:ext>
                </a:extLst>
              </p:cNvPr>
              <p:cNvSpPr txBox="1"/>
              <p:nvPr/>
            </p:nvSpPr>
            <p:spPr>
              <a:xfrm>
                <a:off x="914400" y="386282"/>
                <a:ext cx="10515600" cy="5632311"/>
              </a:xfrm>
              <a:prstGeom prst="rect">
                <a:avLst/>
              </a:prstGeom>
              <a:noFill/>
            </p:spPr>
            <p:txBody>
              <a:bodyPr wrap="square" rtlCol="0">
                <a:spAutoFit/>
              </a:bodyPr>
              <a:lstStyle/>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which mistake(s) each student made.</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Find the correct solution to </a:t>
                </a:r>
                <a14:m>
                  <m:oMath xmlns:m="http://schemas.openxmlformats.org/officeDocument/2006/math">
                    <m:r>
                      <a:rPr lang="en-US" sz="2400" i="1">
                        <a:latin typeface="Cambria Math" panose="02040503050406030204" pitchFamily="18" charset="0"/>
                        <a:ea typeface="Cambria Math" panose="02040503050406030204" pitchFamily="18" charset="0"/>
                      </a:rPr>
                      <m:t>−4</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914400" y="386282"/>
                <a:ext cx="10515600" cy="5632311"/>
              </a:xfrm>
              <a:prstGeom prst="rect">
                <a:avLst/>
              </a:prstGeom>
              <a:blipFill>
                <a:blip r:embed="rId4"/>
                <a:stretch>
                  <a:fillRect t="-901" b="-1577"/>
                </a:stretch>
              </a:blipFill>
            </p:spPr>
            <p:txBody>
              <a:bodyPr/>
              <a:lstStyle/>
              <a:p>
                <a:r>
                  <a:rPr lang="en-US">
                    <a:noFill/>
                  </a:rPr>
                  <a:t> </a:t>
                </a:r>
              </a:p>
            </p:txBody>
          </p:sp>
        </mc:Fallback>
      </mc:AlternateContent>
      <p:graphicFrame>
        <p:nvGraphicFramePr>
          <p:cNvPr id="2" name="Table 1"/>
          <p:cNvGraphicFramePr>
            <a:graphicFrameLocks noGrp="1"/>
          </p:cNvGraphicFramePr>
          <p:nvPr>
            <p:extLst>
              <p:ext uri="{D42A27DB-BD31-4B8C-83A1-F6EECF244321}">
                <p14:modId xmlns:p14="http://schemas.microsoft.com/office/powerpoint/2010/main" val="3466902287"/>
              </p:ext>
            </p:extLst>
          </p:nvPr>
        </p:nvGraphicFramePr>
        <p:xfrm>
          <a:off x="2988328" y="1075079"/>
          <a:ext cx="6035040" cy="3870325"/>
        </p:xfrm>
        <a:graphic>
          <a:graphicData uri="http://schemas.openxmlformats.org/drawingml/2006/table">
            <a:tbl>
              <a:tblPr bandRow="1">
                <a:tableStyleId>{5940675A-B579-460E-94D1-54222C63F5DA}</a:tableStyleId>
              </a:tblPr>
              <a:tblGrid>
                <a:gridCol w="3017520">
                  <a:extLst>
                    <a:ext uri="{9D8B030D-6E8A-4147-A177-3AD203B41FA5}">
                      <a16:colId xmlns:a16="http://schemas.microsoft.com/office/drawing/2014/main" xmlns="" val="20000"/>
                    </a:ext>
                  </a:extLst>
                </a:gridCol>
                <a:gridCol w="3017520">
                  <a:extLst>
                    <a:ext uri="{9D8B030D-6E8A-4147-A177-3AD203B41FA5}">
                      <a16:colId xmlns:a16="http://schemas.microsoft.com/office/drawing/2014/main" xmlns="" val="20001"/>
                    </a:ext>
                  </a:extLst>
                </a:gridCol>
              </a:tblGrid>
              <a:tr h="0">
                <a:tc>
                  <a:txBody>
                    <a:bodyPr/>
                    <a:lstStyle/>
                    <a:p>
                      <a:pPr marL="0" marR="3429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Gabriel’s Error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3429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Lauren’s Error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3474085">
                <a:tc>
                  <a:txBody>
                    <a:bodyPr/>
                    <a:lstStyle/>
                    <a:p>
                      <a:pPr marL="0" marR="34290">
                        <a:spcBef>
                          <a:spcPts val="0"/>
                        </a:spcBef>
                        <a:spcAft>
                          <a:spcPts val="1000"/>
                        </a:spcAft>
                      </a:pPr>
                      <a:r>
                        <a:rPr lang="en-US" sz="1800">
                          <a:effectLst/>
                        </a:rPr>
                        <a:t> </a:t>
                      </a:r>
                      <a:endParaRPr lang="en-US" sz="1200">
                        <a:effectLst/>
                        <a:latin typeface="Cambria" panose="02040503050406030204" pitchFamily="18" charset="0"/>
                        <a:ea typeface="Times New Roman" panose="02020603050405020304" pitchFamily="18"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34290">
                        <a:spcBef>
                          <a:spcPts val="0"/>
                        </a:spcBef>
                        <a:spcAft>
                          <a:spcPts val="100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p:spTree>
    <p:extLst>
      <p:ext uri="{BB962C8B-B14F-4D97-AF65-F5344CB8AC3E}">
        <p14:creationId xmlns:p14="http://schemas.microsoft.com/office/powerpoint/2010/main" val="388558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sp>
        <p:nvSpPr>
          <p:cNvPr id="9" name="Google Shape;362;p42"/>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E24E5F"/>
                </a:solidFill>
                <a:latin typeface="Verdana"/>
                <a:ea typeface="Verdana"/>
                <a:cs typeface="Verdana"/>
                <a:sym typeface="Verdana"/>
              </a:rPr>
              <a:t>Your Turn</a:t>
            </a:r>
            <a:endParaRPr lang="en-US" sz="5100" b="1">
              <a:solidFill>
                <a:srgbClr val="E24E5F"/>
              </a:solidFill>
              <a:latin typeface="Verdana"/>
              <a:ea typeface="Verdana"/>
              <a:cs typeface="Verdana"/>
              <a:sym typeface="Verdana"/>
            </a:endParaRPr>
          </a:p>
        </p:txBody>
      </p:sp>
      <p:pic>
        <p:nvPicPr>
          <p:cNvPr id="10" name="Google Shape;363;p42"/>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759C3E41-93EC-B84D-963F-86A3B15AC1C6}"/>
                  </a:ext>
                </a:extLst>
              </p:cNvPr>
              <p:cNvSpPr txBox="1"/>
              <p:nvPr/>
            </p:nvSpPr>
            <p:spPr>
              <a:xfrm>
                <a:off x="914400" y="1009507"/>
                <a:ext cx="10515600" cy="483645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Frankie got a summer job as a lifeguard at the local pool, where he will earn </a:t>
                </a:r>
                <a14:m>
                  <m:oMath xmlns:m="http://schemas.openxmlformats.org/officeDocument/2006/math">
                    <m:r>
                      <a:rPr lang="en-US" sz="2000" i="1">
                        <a:latin typeface="Cambria Math" panose="02040503050406030204" pitchFamily="18" charset="0"/>
                        <a:ea typeface="Cambria Math" panose="02040503050406030204" pitchFamily="18" charset="0"/>
                      </a:rPr>
                      <m:t>$9.50</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per hour. He wants to make at least </a:t>
                </a:r>
                <a14:m>
                  <m:oMath xmlns:m="http://schemas.openxmlformats.org/officeDocument/2006/math">
                    <m:r>
                      <a:rPr lang="en-US" sz="2000" i="1">
                        <a:latin typeface="Cambria Math" panose="02040503050406030204" pitchFamily="18" charset="0"/>
                        <a:ea typeface="Cambria Math" panose="02040503050406030204" pitchFamily="18" charset="0"/>
                      </a:rPr>
                      <m:t>$299</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to buy the newest gaming system. The inequality </a:t>
                </a:r>
                <a14:m>
                  <m:oMath xmlns:m="http://schemas.openxmlformats.org/officeDocument/2006/math">
                    <m:r>
                      <a:rPr lang="en-US" sz="2000" i="1">
                        <a:latin typeface="Cambria Math" panose="02040503050406030204" pitchFamily="18" charset="0"/>
                        <a:ea typeface="Cambria Math" panose="02040503050406030204" pitchFamily="18" charset="0"/>
                      </a:rPr>
                      <m:t>299≤9.50</m:t>
                    </m:r>
                    <m:r>
                      <a:rPr lang="en-US" sz="2000" i="1">
                        <a:latin typeface="Cambria Math" panose="02040503050406030204" pitchFamily="18" charset="0"/>
                        <a:ea typeface="Cambria Math" panose="02040503050406030204" pitchFamily="18" charset="0"/>
                      </a:rPr>
                      <m:t>𝑥</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mathematically represents this situation where </a:t>
                </a:r>
                <a14:m>
                  <m:oMath xmlns:m="http://schemas.openxmlformats.org/officeDocument/2006/math">
                    <m:r>
                      <a:rPr lang="en-US" sz="2000" i="1">
                        <a:latin typeface="Cambria Math"/>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is the number of hours Frankie works. Find the solution to the inequality to determine the minimum number of hours Frankie must work to save enough money for the gaming system. Round your answer to the nearest hundredth.</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Solve each inequality. Then, graph its solution set. </a:t>
                </a:r>
                <a:endParaRPr lang="en-US" sz="2000" dirty="0"/>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9</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&gt;−</m:t>
                    </m:r>
                    <m:f>
                      <m:fPr>
                        <m:ctrlPr>
                          <a:rPr lang="en-US" sz="2000" i="1">
                            <a:latin typeface="Cambria Math"/>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3</m:t>
                        </m:r>
                      </m:num>
                      <m:den>
                        <m:r>
                          <a:rPr lang="en-US" sz="2000" i="1">
                            <a:latin typeface="Cambria Math" panose="02040503050406030204" pitchFamily="18" charset="0"/>
                            <a:ea typeface="Cambria Math" panose="02040503050406030204" pitchFamily="18" charset="0"/>
                          </a:rPr>
                          <m:t>4</m:t>
                        </m:r>
                      </m:den>
                    </m:f>
                  </m:oMath>
                </a14:m>
                <a:endParaRPr lang="en-US" sz="2000" dirty="0">
                  <a:latin typeface="Cambria Math" panose="02040503050406030204" pitchFamily="18" charset="0"/>
                  <a:ea typeface="Cambria Math" panose="02040503050406030204" pitchFamily="18"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914400" y="1009507"/>
                <a:ext cx="10515600" cy="4836452"/>
              </a:xfrm>
              <a:prstGeom prst="rect">
                <a:avLst/>
              </a:prstGeom>
              <a:blipFill>
                <a:blip r:embed="rId5"/>
                <a:stretch>
                  <a:fillRect l="-603" t="-785" r="-483"/>
                </a:stretch>
              </a:blipFill>
            </p:spPr>
            <p:txBody>
              <a:bodyPr/>
              <a:lstStyle/>
              <a:p>
                <a:r>
                  <a:rPr lang="en-US">
                    <a:noFill/>
                  </a:rPr>
                  <a:t> </a:t>
                </a:r>
              </a:p>
            </p:txBody>
          </p:sp>
        </mc:Fallback>
      </mc:AlternateContent>
      <p:pic>
        <p:nvPicPr>
          <p:cNvPr id="8" name="image17.png"/>
          <p:cNvPicPr/>
          <p:nvPr/>
        </p:nvPicPr>
        <p:blipFill>
          <a:blip r:embed="rId6"/>
          <a:srcRect/>
          <a:stretch>
            <a:fillRect/>
          </a:stretch>
        </p:blipFill>
        <p:spPr>
          <a:xfrm>
            <a:off x="2775369" y="5524832"/>
            <a:ext cx="6793662" cy="498448"/>
          </a:xfrm>
          <a:prstGeom prst="rect">
            <a:avLst/>
          </a:prstGeom>
          <a:ln/>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sp>
        <p:nvSpPr>
          <p:cNvPr id="11"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237332"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10.4.6 Your Turn!</a:t>
            </a:r>
            <a:endParaRPr lang="en-US" sz="4300" b="1" dirty="0">
              <a:solidFill>
                <a:srgbClr val="E24E5F"/>
              </a:solidFill>
              <a:latin typeface="Verdana"/>
              <a:ea typeface="Verdana"/>
              <a:cs typeface="Verdana"/>
              <a:sym typeface="Verdana"/>
            </a:endParaRPr>
          </a:p>
        </p:txBody>
      </p:sp>
      <p:pic>
        <p:nvPicPr>
          <p:cNvPr id="13" name="Google Shape;430;g103996e1364_0_428">
            <a:extLst>
              <a:ext uri="{FF2B5EF4-FFF2-40B4-BE49-F238E27FC236}">
                <a16:creationId xmlns="" xmlns:a16="http://schemas.microsoft.com/office/drawing/2014/main" id="{032D5487-B5A9-DE4B-AE87-33198BE16145}"/>
              </a:ext>
            </a:extLst>
          </p:cNvPr>
          <p:cNvPicPr preferRelativeResize="0"/>
          <p:nvPr/>
        </p:nvPicPr>
        <p:blipFill rotWithShape="1">
          <a:blip r:embed="rId7">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101299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08C67FCF-92C3-654A-BF40-5BDF7A4F9271}"/>
                  </a:ext>
                </a:extLst>
              </p:cNvPr>
              <p:cNvSpPr txBox="1"/>
              <p:nvPr/>
            </p:nvSpPr>
            <p:spPr>
              <a:xfrm>
                <a:off x="914400" y="398474"/>
                <a:ext cx="8327136" cy="3911071"/>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5.5≤−</m:t>
                    </m:r>
                    <m:f>
                      <m:fPr>
                        <m:ctrlPr>
                          <a:rPr lang="en-US" sz="2400" i="1">
                            <a:latin typeface="Cambria Math"/>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𝑛</m:t>
                        </m:r>
                      </m:num>
                      <m:den>
                        <m:r>
                          <a:rPr lang="en-US" sz="2400" i="1">
                            <a:latin typeface="Cambria Math" panose="02040503050406030204" pitchFamily="18" charset="0"/>
                            <a:ea typeface="Cambria Math" panose="02040503050406030204" pitchFamily="18" charset="0"/>
                          </a:rPr>
                          <m:t>8</m:t>
                        </m:r>
                      </m:den>
                    </m:f>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−3.6</m:t>
                    </m:r>
                    <m:r>
                      <a:rPr lang="en-US" sz="2400" i="1">
                        <a:latin typeface="Cambria Math" panose="02040503050406030204" pitchFamily="18" charset="0"/>
                        <a:ea typeface="Cambria Math" panose="02040503050406030204" pitchFamily="18" charset="0"/>
                      </a:rPr>
                      <m:t>𝑦</m:t>
                    </m:r>
                    <m:r>
                      <a:rPr lang="en-US" sz="2400" i="1">
                        <a:latin typeface="Cambria Math" panose="02040503050406030204" pitchFamily="18" charset="0"/>
                        <a:ea typeface="Cambria Math" panose="02040503050406030204" pitchFamily="18" charset="0"/>
                      </a:rPr>
                      <m:t>≤−17.1</m:t>
                    </m:r>
                  </m:oMath>
                </a14:m>
                <a:endParaRPr lang="en-US" sz="2400" dirty="0">
                  <a:latin typeface="Cambria Math" panose="02040503050406030204" pitchFamily="18" charset="0"/>
                  <a:ea typeface="Cambria Math" panose="02040503050406030204" pitchFamily="18" charset="0"/>
                </a:endParaRP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914400" y="398474"/>
                <a:ext cx="8327136" cy="3911071"/>
              </a:xfrm>
              <a:prstGeom prst="rect">
                <a:avLst/>
              </a:prstGeom>
              <a:blipFill>
                <a:blip r:embed="rId4"/>
                <a:stretch>
                  <a:fillRect t="-647"/>
                </a:stretch>
              </a:blipFill>
            </p:spPr>
            <p:txBody>
              <a:bodyPr/>
              <a:lstStyle/>
              <a:p>
                <a:r>
                  <a:rPr lang="en-US">
                    <a:noFill/>
                  </a:rPr>
                  <a:t> </a:t>
                </a:r>
              </a:p>
            </p:txBody>
          </p:sp>
        </mc:Fallback>
      </mc:AlternateContent>
      <p:pic>
        <p:nvPicPr>
          <p:cNvPr id="6" name="image17.png"/>
          <p:cNvPicPr/>
          <p:nvPr/>
        </p:nvPicPr>
        <p:blipFill>
          <a:blip r:embed="rId5"/>
          <a:srcRect/>
          <a:stretch>
            <a:fillRect/>
          </a:stretch>
        </p:blipFill>
        <p:spPr>
          <a:xfrm>
            <a:off x="3064738" y="5732393"/>
            <a:ext cx="6988238" cy="512724"/>
          </a:xfrm>
          <a:prstGeom prst="rect">
            <a:avLst/>
          </a:prstGeom>
          <a:ln/>
        </p:spPr>
      </p:pic>
      <p:pic>
        <p:nvPicPr>
          <p:cNvPr id="7" name="image17.png"/>
          <p:cNvPicPr/>
          <p:nvPr/>
        </p:nvPicPr>
        <p:blipFill>
          <a:blip r:embed="rId5"/>
          <a:srcRect/>
          <a:stretch>
            <a:fillRect/>
          </a:stretch>
        </p:blipFill>
        <p:spPr>
          <a:xfrm>
            <a:off x="3064738" y="2672120"/>
            <a:ext cx="6988238" cy="512724"/>
          </a:xfrm>
          <a:prstGeom prst="rect">
            <a:avLst/>
          </a:prstGeom>
          <a:ln/>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spTree>
    <p:extLst>
      <p:ext uri="{BB962C8B-B14F-4D97-AF65-F5344CB8AC3E}">
        <p14:creationId xmlns:p14="http://schemas.microsoft.com/office/powerpoint/2010/main" val="8436146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sp>
        <p:nvSpPr>
          <p:cNvPr id="9" name="Google Shape;393;p45"/>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a:solidFill>
                <a:srgbClr val="3F2A67"/>
              </a:solidFill>
              <a:latin typeface="Verdana"/>
              <a:ea typeface="Verdana"/>
              <a:cs typeface="Verdana"/>
              <a:sym typeface="Verdana"/>
            </a:endParaRPr>
          </a:p>
        </p:txBody>
      </p:sp>
      <p:pic>
        <p:nvPicPr>
          <p:cNvPr id="10" name="Google Shape;394;p45"/>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0370EDB7-6994-3D43-ABF9-E04CBAFB9CD9}"/>
                  </a:ext>
                </a:extLst>
              </p:cNvPr>
              <p:cNvSpPr txBox="1"/>
              <p:nvPr/>
            </p:nvSpPr>
            <p:spPr>
              <a:xfrm>
                <a:off x="914400" y="1054938"/>
                <a:ext cx="10515600" cy="230832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Two inequalities are shown.</a:t>
                </a:r>
              </a:p>
              <a:p>
                <a:r>
                  <a:rPr lang="en-US" sz="2400" dirty="0"/>
                  <a:t> </a:t>
                </a:r>
              </a:p>
              <a:p>
                <a:pPr algn="ctr"/>
                <a14:m>
                  <m:oMath xmlns:m="http://schemas.openxmlformats.org/officeDocument/2006/math">
                    <m:r>
                      <a:rPr lang="en-US" sz="2400" i="1">
                        <a:latin typeface="Cambria Math" panose="02040503050406030204" pitchFamily="18" charset="0"/>
                        <a:ea typeface="Cambria Math" panose="02040503050406030204" pitchFamily="18" charset="0"/>
                      </a:rPr>
                      <m:t>2.5</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≥−10</m:t>
                    </m:r>
                  </m:oMath>
                </a14:m>
                <a:r>
                  <a:rPr lang="en-US" sz="2400" dirty="0">
                    <a:latin typeface="Cambria Math" panose="02040503050406030204" pitchFamily="18" charset="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−2.5</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≥−10</m:t>
                    </m:r>
                  </m:oMath>
                </a14:m>
                <a:endParaRPr lang="en-US" sz="2400" dirty="0">
                  <a:latin typeface="Cambria Math" panose="02040503050406030204" pitchFamily="18" charset="0"/>
                  <a:ea typeface="Cambria Math" panose="02040503050406030204" pitchFamily="18" charset="0"/>
                </a:endParaRPr>
              </a:p>
              <a:p>
                <a:endParaRPr lang="en-US" sz="2400" dirty="0">
                  <a:latin typeface="Cambria Math" panose="02040503050406030204" pitchFamily="18" charset="0"/>
                  <a:ea typeface="Cambria Math" panose="02040503050406030204" pitchFamily="18"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 to describe how the process of solving each inequality is similar and different.</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914400" y="1054938"/>
                <a:ext cx="10515600" cy="2308324"/>
              </a:xfrm>
              <a:prstGeom prst="rect">
                <a:avLst/>
              </a:prstGeom>
              <a:blipFill>
                <a:blip r:embed="rId5"/>
                <a:stretch>
                  <a:fillRect l="-965" t="-2198" r="-603" b="-5495"/>
                </a:stretch>
              </a:blipFill>
            </p:spPr>
            <p:txBody>
              <a:bodyPr/>
              <a:lstStyle/>
              <a:p>
                <a:r>
                  <a:rPr lang="en-US">
                    <a:noFill/>
                  </a:rPr>
                  <a:t> </a:t>
                </a:r>
              </a:p>
            </p:txBody>
          </p:sp>
        </mc:Fallback>
      </mc:AlternateContent>
      <p:graphicFrame>
        <p:nvGraphicFramePr>
          <p:cNvPr id="2" name="Table 1"/>
          <p:cNvGraphicFramePr>
            <a:graphicFrameLocks noGrp="1"/>
          </p:cNvGraphicFramePr>
          <p:nvPr>
            <p:extLst>
              <p:ext uri="{D42A27DB-BD31-4B8C-83A1-F6EECF244321}">
                <p14:modId xmlns:p14="http://schemas.microsoft.com/office/powerpoint/2010/main" val="2208295006"/>
              </p:ext>
            </p:extLst>
          </p:nvPr>
        </p:nvGraphicFramePr>
        <p:xfrm>
          <a:off x="2801760" y="3557394"/>
          <a:ext cx="7056000" cy="2805840"/>
        </p:xfrm>
        <a:graphic>
          <a:graphicData uri="http://schemas.openxmlformats.org/drawingml/2006/table">
            <a:tbl>
              <a:tblPr bandRow="1">
                <a:tableStyleId>{5940675A-B579-460E-94D1-54222C63F5DA}</a:tableStyleId>
              </a:tblPr>
              <a:tblGrid>
                <a:gridCol w="3528000">
                  <a:extLst>
                    <a:ext uri="{9D8B030D-6E8A-4147-A177-3AD203B41FA5}">
                      <a16:colId xmlns:a16="http://schemas.microsoft.com/office/drawing/2014/main" xmlns="" val="20000"/>
                    </a:ext>
                  </a:extLst>
                </a:gridCol>
                <a:gridCol w="3528000">
                  <a:extLst>
                    <a:ext uri="{9D8B030D-6E8A-4147-A177-3AD203B41FA5}">
                      <a16:colId xmlns:a16="http://schemas.microsoft.com/office/drawing/2014/main" xmlns="" val="20001"/>
                    </a:ext>
                  </a:extLst>
                </a:gridCol>
              </a:tblGrid>
              <a:tr h="826047">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How is the process of solving each inequality similar?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How is the process of solving each inequality different?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1800000">
                <a:tc>
                  <a:txBody>
                    <a:bodyPr/>
                    <a:lstStyle/>
                    <a:p>
                      <a:pPr marL="0" marR="0" algn="ctr">
                        <a:spcBef>
                          <a:spcPts val="0"/>
                        </a:spcBef>
                        <a:spcAft>
                          <a:spcPts val="1000"/>
                        </a:spcAft>
                      </a:pPr>
                      <a:r>
                        <a:rPr lang="en-US" sz="1300" dirty="0">
                          <a:effectLst/>
                        </a:rPr>
                        <a:t> </a:t>
                      </a:r>
                      <a:endParaRPr lang="en-US" sz="900" dirty="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300" dirty="0">
                          <a:effectLst/>
                        </a:rPr>
                        <a:t> </a:t>
                      </a:r>
                      <a:endParaRPr lang="en-US" sz="900" dirty="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sp>
        <p:nvSpPr>
          <p:cNvPr id="11" name="Google Shape;468;p34"/>
          <p:cNvSpPr txBox="1"/>
          <p:nvPr/>
        </p:nvSpPr>
        <p:spPr>
          <a:xfrm>
            <a:off x="1142999" y="284833"/>
            <a:ext cx="9401175"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10.4.7 Wrap-Up: Cool Down</a:t>
            </a:r>
            <a:endParaRPr lang="en-US" sz="3600" b="1" dirty="0">
              <a:solidFill>
                <a:srgbClr val="3F2A67"/>
              </a:solidFill>
              <a:latin typeface="Verdana"/>
              <a:ea typeface="Verdana"/>
              <a:cs typeface="Verdana"/>
              <a:sym typeface="Verdana"/>
            </a:endParaRPr>
          </a:p>
        </p:txBody>
      </p:sp>
      <p:pic>
        <p:nvPicPr>
          <p:cNvPr id="13" name="Google Shape;469;p34"/>
          <p:cNvPicPr preferRelativeResize="0"/>
          <p:nvPr/>
        </p:nvPicPr>
        <p:blipFill rotWithShape="1">
          <a:blip r:embed="rId6">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1387</TotalTime>
  <Words>929</Words>
  <Application>Microsoft Office PowerPoint</Application>
  <PresentationFormat>Custom</PresentationFormat>
  <Paragraphs>274</Paragraphs>
  <Slides>29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Wingdings</vt:lpstr>
      <vt:lpstr>Cambria Math</vt:lpstr>
      <vt:lpstr>Cambria</vt:lpstr>
      <vt:lpstr>Arial Black</vt:lpstr>
      <vt:lpstr>Verdana</vt:lpstr>
      <vt:lpstr>Calibri</vt:lpstr>
      <vt:lpstr>Times New Roman</vt:lpstr>
      <vt:lpstr>Century Gothic</vt:lpstr>
      <vt:lpstr>1_Office Theme</vt:lpstr>
      <vt:lpstr>PowerPoint Presentation</vt:lpstr>
      <vt:lpstr>Benchmark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33</cp:revision>
  <dcterms:created xsi:type="dcterms:W3CDTF">2015-03-17T18:51:18Z</dcterms:created>
  <dcterms:modified xsi:type="dcterms:W3CDTF">2022-06-11T03:16:47Z</dcterms:modified>
</cp:coreProperties>
</file>