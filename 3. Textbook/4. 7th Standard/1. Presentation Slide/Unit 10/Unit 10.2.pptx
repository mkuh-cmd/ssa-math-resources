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13" r:id="rId11"/>
    <p:sldId id="326" r:id="rId12"/>
    <p:sldId id="289" r:id="rId13"/>
    <p:sldId id="290" r:id="rId14"/>
    <p:sldId id="308" r:id="rId15"/>
    <p:sldId id="327" r:id="rId16"/>
    <p:sldId id="328" r:id="rId17"/>
    <p:sldId id="329" r:id="rId18"/>
    <p:sldId id="330" r:id="rId19"/>
    <p:sldId id="323" r:id="rId20"/>
    <p:sldId id="324" r:id="rId21"/>
    <p:sldId id="325" r:id="rId22"/>
    <p:sldId id="331" r:id="rId23"/>
    <p:sldId id="302" r:id="rId24"/>
    <p:sldId id="303" r:id="rId25"/>
    <p:sldId id="309" r:id="rId26"/>
    <p:sldId id="306" r:id="rId27"/>
    <p:sldId id="307" r:id="rId28"/>
    <p:sldId id="310" r:id="rId29"/>
  </p:sldIdLst>
  <p:sldSz cx="12192000" cy="6858000"/>
  <p:notesSz cx="6858000" cy="9144000"/>
  <p:embeddedFontLst>
    <p:embeddedFont>
      <p:font typeface="Arial Black" panose="020B0A04020102020204" pitchFamily="34" charset="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mbria" panose="02040503050406030204" pitchFamily="18" charset="0"/>
      <p:regular r:id="rId36"/>
      <p:bold r:id="rId37"/>
      <p:italic r:id="rId38"/>
      <p:boldItalic r:id="rId39"/>
    </p:embeddedFont>
    <p:embeddedFont>
      <p:font typeface="Cambria Math" panose="02040503050406030204" pitchFamily="18" charset="0"/>
      <p:regular r:id="rId40"/>
    </p:embeddedFont>
    <p:embeddedFont>
      <p:font typeface="Century Gothic" panose="020B0502020202020204" pitchFamily="34" charset="0"/>
      <p:regular r:id="rId41"/>
      <p:bold r:id="rId42"/>
      <p:italic r:id="rId43"/>
      <p:boldItalic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65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86390" autoAdjust="0"/>
  </p:normalViewPr>
  <p:slideViewPr>
    <p:cSldViewPr snapToGrid="0">
      <p:cViewPr varScale="1">
        <p:scale>
          <a:sx n="64" d="100"/>
          <a:sy n="64" d="100"/>
        </p:scale>
        <p:origin x="96" y="12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23834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0742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2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202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148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5219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9284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2131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7257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8090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310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005" y="1783180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14258" y="2070202"/>
            <a:ext cx="521208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2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One-Step Inequalities Using Addition and Subtraction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91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MA.7.AR.2.1</a:t>
            </a:r>
          </a:p>
          <a:p>
            <a:pPr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and solve one-step inequalities in one variable within a mathematical context and represent solutions algebraically or graphically.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103763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108643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one-step inequalities in one variable using addition or subtraction.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properties of inequality to solving one-step inequalities algebraically.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3916" y="249299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10.2.1 Warm-Up: Cost Estimators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1386025"/>
            <a:ext cx="10515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Cost estimators use data analytics to estimate the cost of manufacturing a product, constructing a building, or providing a service. They predict the amount of time, money, materials, and labor that will be needed to complete a project. This includes factoring in variables that may arise during the course of a project such as bad weather or shipping delays. 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think cost estimators use the minimum and maximum values of inequalities in their work?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Cost estimators usually specialize in a particular product or industry. Why do you think this is helpful?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4861" y="2850881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10.2.2 Exploration: Properties of Inequality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Three inequalities are shown.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inequalities that represent the same solution set.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6725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both inequalities, all the values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are ____________ than _____ make both inequalities true.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These two inequalities are equivalent by the </a:t>
                </a:r>
                <a:r>
                  <a:rPr lang="en-US" sz="22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asymmetric property of inequality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4493538"/>
              </a:xfrm>
              <a:prstGeom prst="rect">
                <a:avLst/>
              </a:prstGeom>
              <a:blipFill rotWithShape="1">
                <a:blip r:embed="rId5"/>
                <a:stretch>
                  <a:fillRect l="-754" t="-678" r="-464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7630915"/>
                  </p:ext>
                </p:extLst>
              </p:nvPr>
            </p:nvGraphicFramePr>
            <p:xfrm>
              <a:off x="3080124" y="1907127"/>
              <a:ext cx="5207000" cy="54864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7354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60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sPre>
                                  <m:sPre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2.3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2.3</m:t>
                                    </m:r>
                                  </m:e>
                                </m:sPre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2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2.3</m:t>
                                    </m:r>
                                  </m:e>
                                </m:sPre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7630915"/>
                  </p:ext>
                </p:extLst>
              </p:nvPr>
            </p:nvGraphicFramePr>
            <p:xfrm>
              <a:off x="3080124" y="1907127"/>
              <a:ext cx="5207000" cy="54864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7354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54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60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t="-2273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100000" t="-227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200000" t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2636063"/>
                <a:ext cx="10515600" cy="919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asymmetric property of inequality to write an inequality equivalent to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 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636063"/>
                <a:ext cx="10515600" cy="919932"/>
              </a:xfrm>
              <a:prstGeom prst="rect">
                <a:avLst/>
              </a:prstGeom>
              <a:blipFill>
                <a:blip r:embed="rId4"/>
                <a:stretch>
                  <a:fillRect l="-844" t="-4110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2422713" y="684475"/>
            <a:ext cx="6629400" cy="1012233"/>
            <a:chOff x="2031300" y="3252876"/>
            <a:chExt cx="6629400" cy="1289746"/>
          </a:xfrm>
        </p:grpSpPr>
        <p:grpSp>
          <p:nvGrpSpPr>
            <p:cNvPr id="7" name="Group 6"/>
            <p:cNvGrpSpPr/>
            <p:nvPr/>
          </p:nvGrpSpPr>
          <p:grpSpPr>
            <a:xfrm>
              <a:off x="2031300" y="3252876"/>
              <a:ext cx="6629400" cy="1289746"/>
              <a:chOff x="2031300" y="3252876"/>
              <a:chExt cx="6629400" cy="1289746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031300" y="3252876"/>
                <a:ext cx="6629400" cy="1289746"/>
                <a:chOff x="2031300" y="3252876"/>
                <a:chExt cx="6629400" cy="1289746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1" name="Group 10"/>
                <p:cNvGrpSpPr/>
                <p:nvPr/>
              </p:nvGrpSpPr>
              <p:grpSpPr>
                <a:xfrm>
                  <a:off x="2031300" y="3252876"/>
                  <a:ext cx="6629400" cy="1289746"/>
                  <a:chOff x="2031300" y="3252876"/>
                  <a:chExt cx="6629400" cy="1289746"/>
                </a:xfrm>
              </p:grpSpPr>
              <p:sp>
                <p:nvSpPr>
                  <p:cNvPr id="13" name="Rectangle 12"/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2031300" y="3252876"/>
                    <a:ext cx="6629400" cy="1289746"/>
                    <a:chOff x="2031300" y="3252876"/>
                    <a:chExt cx="6629400" cy="1289746"/>
                  </a:xfrm>
                </p:grpSpPr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7" name="Group 16"/>
                    <p:cNvGrpSpPr/>
                    <p:nvPr/>
                  </p:nvGrpSpPr>
                  <p:grpSpPr>
                    <a:xfrm>
                      <a:off x="2031300" y="3252876"/>
                      <a:ext cx="6629400" cy="1289746"/>
                      <a:chOff x="2031300" y="3262288"/>
                      <a:chExt cx="6629400" cy="1266720"/>
                    </a:xfrm>
                  </p:grpSpPr>
                  <p:sp>
                    <p:nvSpPr>
                      <p:cNvPr id="18" name="Rectangle 17"/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19" name="Group 18"/>
                      <p:cNvGrpSpPr/>
                      <p:nvPr/>
                    </p:nvGrpSpPr>
                    <p:grpSpPr>
                      <a:xfrm>
                        <a:off x="2031300" y="3262288"/>
                        <a:ext cx="6629400" cy="1266720"/>
                        <a:chOff x="2031300" y="3373600"/>
                        <a:chExt cx="6629400" cy="1266720"/>
                      </a:xfrm>
                    </p:grpSpPr>
                    <p:sp>
                      <p:nvSpPr>
                        <p:cNvPr id="20" name="Rectangle 19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1" name="Group 20"/>
                        <p:cNvGrpSpPr/>
                        <p:nvPr/>
                      </p:nvGrpSpPr>
                      <p:grpSpPr>
                        <a:xfrm>
                          <a:off x="2031300" y="3373600"/>
                          <a:ext cx="6629400" cy="1266720"/>
                          <a:chOff x="2031300" y="3373600"/>
                          <a:chExt cx="6629400" cy="1266720"/>
                        </a:xfrm>
                      </p:grpSpPr>
                      <p:sp>
                        <p:nvSpPr>
                          <p:cNvPr id="22" name="Rectangle 21"/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3" name="Group 22"/>
                          <p:cNvGrpSpPr/>
                          <p:nvPr/>
                        </p:nvGrpSpPr>
                        <p:grpSpPr>
                          <a:xfrm>
                            <a:off x="2031300" y="3373600"/>
                            <a:ext cx="6629400" cy="1266720"/>
                            <a:chOff x="0" y="0"/>
                            <a:chExt cx="6629400" cy="1266720"/>
                          </a:xfrm>
                        </p:grpSpPr>
                        <p:sp>
                          <p:nvSpPr>
                            <p:cNvPr id="24" name="Rectangle 23"/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25" name="Rounded Rectangle 24"/>
                                <p:cNvSpPr/>
                                <p:nvPr/>
                              </p:nvSpPr>
                              <p:spPr>
                                <a:xfrm>
                                  <a:off x="0" y="0"/>
                                  <a:ext cx="6629400" cy="1266720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 spcFirstLastPara="1" wrap="square" lIns="91425" tIns="45700" rIns="91425" bIns="45700" anchor="ctr" anchorCtr="0">
                                  <a:noAutofit/>
                                </a:bodyPr>
                                <a:lstStyle/>
                                <a:p>
                                  <a:pPr marL="625475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The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asymmetric property of inequality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states that 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𝑎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&gt;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𝑏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𝑏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&lt;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𝑎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. 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25" name="Rounded Rectangle 24"/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0" y="0"/>
                                  <a:ext cx="6629400" cy="1266720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blipFill rotWithShape="1">
                                  <a:blip r:embed="rId5"/>
                                  <a:stretch>
                                    <a:fillRect/>
                                  </a:stretch>
                                </a:blip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PH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  <p:pic>
                          <p:nvPicPr>
                            <p:cNvPr id="26" name="Shape 19" descr="Icon&#10;&#10;Description automatically generated"/>
                            <p:cNvPicPr preferRelativeResize="0"/>
                            <p:nvPr/>
                          </p:nvPicPr>
                          <p:blipFill rotWithShape="1">
                            <a:blip r:embed="rId6" cstate="screen">
                              <a:alphaModFix/>
                              <a:extLst>
                                <a:ext uri="{28A0092B-C50C-407E-A947-70E740481C1C}">
                                  <a14:useLocalDpi xmlns:a14="http://schemas.microsoft.com/office/drawing/2010/main"/>
                                </a:ext>
                              </a:extLst>
                            </a:blip>
                            <a:srcRect/>
                            <a:stretch/>
                          </p:blipFill>
                          <p:spPr>
                            <a:xfrm>
                              <a:off x="101903" y="273844"/>
                              <a:ext cx="539750" cy="7190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</p:spPr>
                        </p:pic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2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914400" y="374089"/>
            <a:ext cx="10515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true inequalities are given in the table. Work with your partner to complete the table by following the steps indicated for each inequality and then answering the questions.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4004481"/>
                  </p:ext>
                </p:extLst>
              </p:nvPr>
            </p:nvGraphicFramePr>
            <p:xfrm>
              <a:off x="2184986" y="1954741"/>
              <a:ext cx="7763764" cy="435133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38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163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147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946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701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Given Inequality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new inequality?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the new inequality true?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39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−6&lt;−2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Add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8.1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both sides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988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−5&lt;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3546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7.45&gt;7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Add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both sides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918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0&gt;−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4004481"/>
                  </p:ext>
                </p:extLst>
              </p:nvPr>
            </p:nvGraphicFramePr>
            <p:xfrm>
              <a:off x="2184986" y="1954741"/>
              <a:ext cx="7763764" cy="435133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380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163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1471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946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7018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Given Inequality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new inequality?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the new inequality true?</a:t>
                          </a: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3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0" t="-149123" r="-375969" b="-3649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8586" t="-149123" r="-153927" b="-3649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298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0" t="-218462" r="-375969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8586" t="-218462" r="-15392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354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0" t="-313636" r="-375969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8586" t="-313636" r="-153927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918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0" t="-384507" r="-375969" b="-8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8586" t="-384507" r="-153927" b="-8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6886" marR="6688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914400" y="374090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your work on the previous problem to complete the description of each property.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780055"/>
              </p:ext>
            </p:extLst>
          </p:nvPr>
        </p:nvGraphicFramePr>
        <p:xfrm>
          <a:off x="2928388" y="1733185"/>
          <a:ext cx="6485890" cy="381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4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5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92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Property of Inequality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Description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Addition property of inequality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When the same value is added to both sides of a true inequality, …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Subtraction property of inequality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When the same value is subtracted from both sides of a true inequality, …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2839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74420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determine the value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each value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which value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the equation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−3=−2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true?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 the solution to the equation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𝑥</m:t>
                    </m:r>
                    <m:r>
                      <a:rPr lang="en-US" sz="2200" i="1">
                        <a:latin typeface="Cambria Math"/>
                      </a:rPr>
                      <m:t>−3=−2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which values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the table is the inequality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−3&gt;−2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true?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744200" cy="4493538"/>
              </a:xfrm>
              <a:prstGeom prst="rect">
                <a:avLst/>
              </a:prstGeom>
              <a:blipFill rotWithShape="1">
                <a:blip r:embed="rId5"/>
                <a:stretch>
                  <a:fillRect l="-737" t="-1085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655140"/>
                  </p:ext>
                </p:extLst>
              </p:nvPr>
            </p:nvGraphicFramePr>
            <p:xfrm>
              <a:off x="2319206" y="1997144"/>
              <a:ext cx="7629544" cy="118872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929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4906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749064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−3.2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655140"/>
                  </p:ext>
                </p:extLst>
              </p:nvPr>
            </p:nvGraphicFramePr>
            <p:xfrm>
              <a:off x="2319206" y="1997144"/>
              <a:ext cx="7629544" cy="118872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9292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74906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6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7"/>
                        </a:ext>
                      </a:extLst>
                    </a:gridCol>
                    <a:gridCol w="74835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8"/>
                        </a:ext>
                      </a:extLst>
                    </a:gridCol>
                    <a:gridCol w="74906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9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20" r="-752381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20492" t="-1020" r="-806557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18699" t="-1020" r="-700000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318699" t="-1020" r="-600000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18699" t="-1020" r="-500000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518699" t="-1020" r="-400000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23770" t="-1020" r="-303279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717886" t="-1020" r="-200813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817886" t="-1020" r="-100813" b="-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17886" t="-1020" r="-813" b="-989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2062" r="-75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20492" t="-102062" r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318699" t="-102062" r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717886" t="-102062" r="-2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17886" t="-102062" r="-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2745" y="4783439"/>
            <a:ext cx="6518910" cy="450850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17;p19"/>
          <p:cNvSpPr txBox="1"/>
          <p:nvPr/>
        </p:nvSpPr>
        <p:spPr>
          <a:xfrm>
            <a:off x="1143000" y="140872"/>
            <a:ext cx="1051560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10.2.3 Guided Instruction: Solving One-Step Inequalities with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6"/>
                <a:ext cx="10515600" cy="557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 the values from the table that are part of the solution set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−3&gt;−2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 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solution set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−3&gt;−2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includes more values than shown on the previous number line.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</a:rPr>
                  <a:t>Graph the solution set for the inequality.</a:t>
                </a: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value on the line to show an equivalent inequality represented by the graph above.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 ______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6"/>
                <a:ext cx="10515600" cy="5570756"/>
              </a:xfrm>
              <a:prstGeom prst="rect">
                <a:avLst/>
              </a:prstGeom>
              <a:blipFill>
                <a:blip r:embed="rId4"/>
                <a:stretch>
                  <a:fillRect l="-870" t="-7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4616" y="4023882"/>
            <a:ext cx="6882765" cy="47561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4617" y="1261988"/>
            <a:ext cx="6882765" cy="475615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5"/>
                <a:ext cx="10515600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solution set of the inequality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−3&gt;−2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all the values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are greater than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This solution set can be determined algebraically by adding the same value to both sides of the inequality.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value can be added to both sides of the inequality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−3&gt;−2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isolate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5"/>
                <a:ext cx="10515600" cy="5170646"/>
              </a:xfrm>
              <a:prstGeom prst="rect">
                <a:avLst/>
              </a:prstGeom>
              <a:blipFill>
                <a:blip r:embed="rId4"/>
                <a:stretch>
                  <a:fillRect l="-844" t="-733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3830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914400" y="288745"/>
            <a:ext cx="10515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Adding the same value to both sides of an inequality can be used to solve an inequality by the </a:t>
            </a:r>
            <a:r>
              <a:rPr 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addition property of inequality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932432" y="2080028"/>
            <a:ext cx="8280000" cy="2474665"/>
            <a:chOff x="1927074" y="3252876"/>
            <a:chExt cx="8280000" cy="2475875"/>
          </a:xfrm>
        </p:grpSpPr>
        <p:grpSp>
          <p:nvGrpSpPr>
            <p:cNvPr id="7" name="Group 6"/>
            <p:cNvGrpSpPr/>
            <p:nvPr/>
          </p:nvGrpSpPr>
          <p:grpSpPr>
            <a:xfrm>
              <a:off x="1927074" y="3252876"/>
              <a:ext cx="8280000" cy="2475875"/>
              <a:chOff x="1927074" y="3252876"/>
              <a:chExt cx="8280000" cy="2475875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1927074" y="3252876"/>
                <a:ext cx="8280000" cy="2475875"/>
                <a:chOff x="1927074" y="3252876"/>
                <a:chExt cx="8280000" cy="2475875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1" name="Group 10"/>
                <p:cNvGrpSpPr/>
                <p:nvPr/>
              </p:nvGrpSpPr>
              <p:grpSpPr>
                <a:xfrm>
                  <a:off x="1927074" y="3252876"/>
                  <a:ext cx="8280000" cy="2475875"/>
                  <a:chOff x="1927074" y="3252876"/>
                  <a:chExt cx="8280000" cy="2475875"/>
                </a:xfrm>
              </p:grpSpPr>
              <p:sp>
                <p:nvSpPr>
                  <p:cNvPr id="13" name="Rectangle 12"/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4" name="Group 13"/>
                  <p:cNvGrpSpPr/>
                  <p:nvPr/>
                </p:nvGrpSpPr>
                <p:grpSpPr>
                  <a:xfrm>
                    <a:off x="1927074" y="3252876"/>
                    <a:ext cx="8280000" cy="2475875"/>
                    <a:chOff x="1927074" y="3252876"/>
                    <a:chExt cx="8280000" cy="2475875"/>
                  </a:xfrm>
                </p:grpSpPr>
                <p:sp>
                  <p:nvSpPr>
                    <p:cNvPr id="15" name="Rectangle 14"/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6" name="Group 15"/>
                    <p:cNvGrpSpPr/>
                    <p:nvPr/>
                  </p:nvGrpSpPr>
                  <p:grpSpPr>
                    <a:xfrm>
                      <a:off x="1927074" y="3252876"/>
                      <a:ext cx="8280000" cy="2475875"/>
                      <a:chOff x="1927074" y="3262288"/>
                      <a:chExt cx="8280000" cy="2431673"/>
                    </a:xfrm>
                  </p:grpSpPr>
                  <p:sp>
                    <p:nvSpPr>
                      <p:cNvPr id="17" name="Rectangle 16"/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18" name="Group 17"/>
                      <p:cNvGrpSpPr/>
                      <p:nvPr/>
                    </p:nvGrpSpPr>
                    <p:grpSpPr>
                      <a:xfrm>
                        <a:off x="1927074" y="3262288"/>
                        <a:ext cx="8280000" cy="2431673"/>
                        <a:chOff x="1927074" y="3373600"/>
                        <a:chExt cx="8280000" cy="2431673"/>
                      </a:xfrm>
                    </p:grpSpPr>
                    <p:sp>
                      <p:nvSpPr>
                        <p:cNvPr id="19" name="Rectangle 18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0" name="Group 19"/>
                        <p:cNvGrpSpPr/>
                        <p:nvPr/>
                      </p:nvGrpSpPr>
                      <p:grpSpPr>
                        <a:xfrm>
                          <a:off x="1927074" y="3373600"/>
                          <a:ext cx="8280000" cy="2431673"/>
                          <a:chOff x="1927074" y="3373600"/>
                          <a:chExt cx="8280000" cy="2431673"/>
                        </a:xfrm>
                      </p:grpSpPr>
                      <p:sp>
                        <p:nvSpPr>
                          <p:cNvPr id="21" name="Rectangle 20"/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2" name="Group 21"/>
                          <p:cNvGrpSpPr/>
                          <p:nvPr/>
                        </p:nvGrpSpPr>
                        <p:grpSpPr>
                          <a:xfrm>
                            <a:off x="1927074" y="3373600"/>
                            <a:ext cx="8280000" cy="2431673"/>
                            <a:chOff x="-104226" y="0"/>
                            <a:chExt cx="8280000" cy="2431673"/>
                          </a:xfrm>
                        </p:grpSpPr>
                        <p:sp>
                          <p:nvSpPr>
                            <p:cNvPr id="23" name="Rectangle 22"/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24" name="Rounded Rectangle 23"/>
                                <p:cNvSpPr/>
                                <p:nvPr/>
                              </p:nvSpPr>
                              <p:spPr>
                                <a:xfrm>
                                  <a:off x="-104226" y="211196"/>
                                  <a:ext cx="8280000" cy="2220477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 spcFirstLastPara="1" wrap="square" lIns="91425" tIns="72000" rIns="91425" bIns="0" anchor="ctr" anchorCtr="0">
                                  <a:spAutoFit/>
                                </a:bodyPr>
                                <a:lstStyle/>
                                <a:p>
                                  <a:pPr marL="625475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Addition Property of Inequality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  <a:p>
                                  <a:pPr marL="625475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.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  <a:p>
                                  <a:pPr marL="625475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The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addition property of inequality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states that if the same value is added to both sides of an inequality, the result will be an equivalent inequality that is also true. </a:t>
                                  </a:r>
                                  <a:endParaRPr lang="en-US" sz="2000" dirty="0"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endParaRPr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24" name="Rounded Rectangle 23"/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-104226" y="211196"/>
                                  <a:ext cx="8280000" cy="2220477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blipFill rotWithShape="1">
                                  <a:blip r:embed="rId4"/>
                                  <a:stretch>
                                    <a:fillRect/>
                                  </a:stretch>
                                </a:blip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PH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  <p:pic>
                          <p:nvPicPr>
                            <p:cNvPr id="25" name="Shape 19" descr="Icon&#10;&#10;Description automatically generated"/>
                            <p:cNvPicPr preferRelativeResize="0"/>
                            <p:nvPr/>
                          </p:nvPicPr>
                          <p:blipFill rotWithShape="1">
                            <a:blip r:embed="rId5" cstate="screen">
                              <a:alphaModFix/>
                              <a:extLst>
                                <a:ext uri="{28A0092B-C50C-407E-A947-70E740481C1C}">
                                  <a14:useLocalDpi xmlns:a14="http://schemas.microsoft.com/office/drawing/2010/main"/>
                                </a:ext>
                              </a:extLst>
                            </a:blip>
                            <a:srcRect/>
                            <a:stretch/>
                          </p:blipFill>
                          <p:spPr>
                            <a:xfrm>
                              <a:off x="22513" y="410856"/>
                              <a:ext cx="539750" cy="5397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</p:spPr>
                        </p:pic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26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3866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914400" y="288746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subtraction property of inequality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 also be used to solve an inequality.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956000" y="1500791"/>
            <a:ext cx="8280000" cy="2619515"/>
            <a:chOff x="2031300" y="3252875"/>
            <a:chExt cx="8280000" cy="2620551"/>
          </a:xfrm>
        </p:grpSpPr>
        <p:grpSp>
          <p:nvGrpSpPr>
            <p:cNvPr id="7" name="Group 6"/>
            <p:cNvGrpSpPr/>
            <p:nvPr/>
          </p:nvGrpSpPr>
          <p:grpSpPr>
            <a:xfrm>
              <a:off x="2031300" y="3252875"/>
              <a:ext cx="8280000" cy="2620551"/>
              <a:chOff x="2031300" y="3252875"/>
              <a:chExt cx="8280000" cy="2620551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031300" y="3252875"/>
                <a:ext cx="8280000" cy="2620551"/>
                <a:chOff x="2031300" y="3252875"/>
                <a:chExt cx="8280000" cy="2620551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1" name="Group 10"/>
                <p:cNvGrpSpPr/>
                <p:nvPr/>
              </p:nvGrpSpPr>
              <p:grpSpPr>
                <a:xfrm>
                  <a:off x="2031300" y="3252875"/>
                  <a:ext cx="8280000" cy="2620551"/>
                  <a:chOff x="2031300" y="3252875"/>
                  <a:chExt cx="8280000" cy="2620551"/>
                </a:xfrm>
              </p:grpSpPr>
              <p:sp>
                <p:nvSpPr>
                  <p:cNvPr id="13" name="Rectangle 12"/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4" name="Group 13"/>
                  <p:cNvGrpSpPr/>
                  <p:nvPr/>
                </p:nvGrpSpPr>
                <p:grpSpPr>
                  <a:xfrm>
                    <a:off x="2031300" y="3252875"/>
                    <a:ext cx="8280000" cy="2620551"/>
                    <a:chOff x="2031300" y="3252875"/>
                    <a:chExt cx="8280000" cy="2620551"/>
                  </a:xfrm>
                </p:grpSpPr>
                <p:sp>
                  <p:nvSpPr>
                    <p:cNvPr id="15" name="Rectangle 14"/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6" name="Group 15"/>
                    <p:cNvGrpSpPr/>
                    <p:nvPr/>
                  </p:nvGrpSpPr>
                  <p:grpSpPr>
                    <a:xfrm>
                      <a:off x="2031300" y="3252875"/>
                      <a:ext cx="8280000" cy="2620551"/>
                      <a:chOff x="2031300" y="3262288"/>
                      <a:chExt cx="8280000" cy="2573767"/>
                    </a:xfrm>
                  </p:grpSpPr>
                  <p:sp>
                    <p:nvSpPr>
                      <p:cNvPr id="17" name="Rectangle 16"/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18" name="Group 17"/>
                      <p:cNvGrpSpPr/>
                      <p:nvPr/>
                    </p:nvGrpSpPr>
                    <p:grpSpPr>
                      <a:xfrm>
                        <a:off x="2031300" y="3262288"/>
                        <a:ext cx="8280000" cy="2573767"/>
                        <a:chOff x="2031300" y="3373600"/>
                        <a:chExt cx="8280000" cy="2573767"/>
                      </a:xfrm>
                    </p:grpSpPr>
                    <p:sp>
                      <p:nvSpPr>
                        <p:cNvPr id="19" name="Rectangle 18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0" name="Group 19"/>
                        <p:cNvGrpSpPr/>
                        <p:nvPr/>
                      </p:nvGrpSpPr>
                      <p:grpSpPr>
                        <a:xfrm>
                          <a:off x="2031300" y="3373600"/>
                          <a:ext cx="8280000" cy="2573767"/>
                          <a:chOff x="2031300" y="3373600"/>
                          <a:chExt cx="8280000" cy="2573767"/>
                        </a:xfrm>
                      </p:grpSpPr>
                      <p:sp>
                        <p:nvSpPr>
                          <p:cNvPr id="21" name="Rectangle 20"/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2" name="Group 21"/>
                          <p:cNvGrpSpPr/>
                          <p:nvPr/>
                        </p:nvGrpSpPr>
                        <p:grpSpPr>
                          <a:xfrm>
                            <a:off x="2031300" y="3373600"/>
                            <a:ext cx="8280000" cy="2573767"/>
                            <a:chOff x="0" y="0"/>
                            <a:chExt cx="8280000" cy="2573767"/>
                          </a:xfrm>
                        </p:grpSpPr>
                        <p:sp>
                          <p:nvSpPr>
                            <p:cNvPr id="23" name="Rectangle 22"/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mc:AlternateContent xmlns:mc="http://schemas.openxmlformats.org/markup-compatibility/2006" xmlns:a14="http://schemas.microsoft.com/office/drawing/2010/main">
                          <mc:Choice Requires="a14">
                            <p:sp>
                              <p:nvSpPr>
                                <p:cNvPr id="24" name="Rounded Rectangle 23"/>
                                <p:cNvSpPr/>
                                <p:nvPr/>
                              </p:nvSpPr>
                              <p:spPr>
                                <a:xfrm>
                                  <a:off x="0" y="158330"/>
                                  <a:ext cx="8280000" cy="2415437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 spcFirstLastPara="1" wrap="square" lIns="91425" tIns="72000" rIns="91425" bIns="0" anchor="ctr" anchorCtr="0">
                                  <a:spAutoFit/>
                                </a:bodyPr>
                                <a:lstStyle/>
                                <a:p>
                                  <a:pPr marL="625475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Subtraction Property of Inequality</a:t>
                                  </a:r>
                                  <a:endParaRPr lang="en-US" sz="2000" dirty="0">
                                    <a:latin typeface="Cambria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endParaRPr>
                                </a:p>
                                <a:p>
                                  <a:pPr marL="625475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If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, then </a:t>
                                  </a:r>
                                  <a14:m>
                                    <m:oMath xmlns:m="http://schemas.openxmlformats.org/officeDocument/2006/math"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6C993D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oMath>
                                  </a14:m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.</a:t>
                                  </a:r>
                                  <a:endParaRPr lang="en-US" sz="2000" dirty="0">
                                    <a:latin typeface="Cambria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endParaRPr>
                                </a:p>
                                <a:p>
                                  <a:pPr marL="625475"/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The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subtraction property of inequality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 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a:t>states 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that if the same value is subtracted from both sides of an inequality, the result will be an ______________ inequality that is also _________.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Cambria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 </a:t>
                                  </a:r>
                                  <a:endParaRPr lang="en-US" sz="2000" dirty="0">
                                    <a:latin typeface="Cambria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endParaRPr>
                                </a:p>
                              </p:txBody>
                            </p:sp>
                          </mc:Choice>
                          <mc:Fallback xmlns="">
                            <p:sp>
                              <p:nvSpPr>
                                <p:cNvPr id="24" name="Rounded Rectangle 23"/>
                                <p:cNvSpPr>
                                  <a:spLocks noRot="1" noChangeAspect="1" noMove="1" noResize="1" noEditPoints="1" noAdjustHandles="1" noChangeArrowheads="1" noChangeShapeType="1" noTextEdit="1"/>
                                </p:cNvSpPr>
                                <p:nvPr/>
                              </p:nvSpPr>
                              <p:spPr>
                                <a:xfrm>
                                  <a:off x="0" y="158330"/>
                                  <a:ext cx="8280000" cy="2415437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blipFill rotWithShape="1">
                                  <a:blip r:embed="rId4"/>
                                  <a:stretch>
                                    <a:fillRect/>
                                  </a:stretch>
                                </a:blip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/>
                                <a:lstStyle/>
                                <a:p>
                                  <a:r>
                                    <a:rPr lang="en-PH">
                                      <a:noFill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</mc:Fallback>
                        </mc:AlternateContent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26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Shape 19" descr="Icon&#10;&#10;Description automatically generated">
            <a:extLst>
              <a:ext uri="{FF2B5EF4-FFF2-40B4-BE49-F238E27FC236}">
                <a16:creationId xmlns:a16="http://schemas.microsoft.com/office/drawing/2014/main" id="{D63EC0E9-BB13-3610-2A3A-985B2FD30E60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4122" y="1914414"/>
            <a:ext cx="539750" cy="54929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1082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6"/>
                <a:ext cx="10515600" cy="6186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These properties can be used to solve one-step inequalities algebraically.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9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inequality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−12.25&gt;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−2.4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complete the following.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 set by isolating the variable. Show your work.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solution set on the number line.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substitution to test a value or values in order to verify that the solution and the graph are correct.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6"/>
                <a:ext cx="10515600" cy="6186309"/>
              </a:xfrm>
              <a:prstGeom prst="rect">
                <a:avLst/>
              </a:prstGeom>
              <a:blipFill>
                <a:blip r:embed="rId4"/>
                <a:stretch>
                  <a:fillRect l="-844" t="-615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1445" y="3381900"/>
            <a:ext cx="6849110" cy="501015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4120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121533"/>
            <a:ext cx="10515600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10.2.4 Guided Practice: Solving One-Step Inequalities with Addition and Subtraction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14400" y="1389888"/>
                <a:ext cx="10515600" cy="503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inequality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≤−7.4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complete the following.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inequality. Show your work.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solution set on the number line.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substitution to test a value or values to verify that the solution and the graph are correct.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9888"/>
                <a:ext cx="10515600" cy="5033879"/>
              </a:xfrm>
              <a:prstGeom prst="rect">
                <a:avLst/>
              </a:prstGeom>
              <a:blipFill>
                <a:blip r:embed="rId5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1800" y="4207641"/>
            <a:ext cx="6858000" cy="501015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14400" y="386281"/>
                <a:ext cx="1051560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Greg and Bianca both solved the inequality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−5.2+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&gt;−8.4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Their solutions are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6725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who is correct. Show your work.</a:t>
                </a: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6281"/>
                <a:ext cx="10515600" cy="4154984"/>
              </a:xfrm>
              <a:prstGeom prst="rect">
                <a:avLst/>
              </a:prstGeom>
              <a:blipFill>
                <a:blip r:embed="rId4"/>
                <a:stretch>
                  <a:fillRect l="-844" t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165631"/>
                  </p:ext>
                </p:extLst>
              </p:nvPr>
            </p:nvGraphicFramePr>
            <p:xfrm>
              <a:off x="2806067" y="1613647"/>
              <a:ext cx="5360670" cy="123713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803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803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372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Greg’s Solution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Bianca’s Solution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987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−3.2&lt;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&lt;−3.2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165631"/>
                  </p:ext>
                </p:extLst>
              </p:nvPr>
            </p:nvGraphicFramePr>
            <p:xfrm>
              <a:off x="2806067" y="1613647"/>
              <a:ext cx="5360670" cy="123713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803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803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372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Greg’s Solution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Bianca’s Solution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98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72" t="-106250" r="-100472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72" t="-106250" r="-472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914400" y="398474"/>
                <a:ext cx="10515600" cy="5847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Michael got an estimate on the cost to repair his mountain bike. The parts will cost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$16.38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he was told that the repair will be no more than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$40.50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including labor.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6725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inequality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16.38+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≤40.50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represents the situation where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cost of labor.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inequality to determine the maximum amount the labor will cost.   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solution set on the number line below.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solutions on the number line do not make sense for the context?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98474"/>
                <a:ext cx="10515600" cy="5847755"/>
              </a:xfrm>
              <a:prstGeom prst="rect">
                <a:avLst/>
              </a:prstGeom>
              <a:blipFill>
                <a:blip r:embed="rId4"/>
                <a:stretch>
                  <a:fillRect l="-844" t="-866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0" y="4365420"/>
            <a:ext cx="6858000" cy="501015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1824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62;p42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6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914400" y="1386026"/>
                <a:ext cx="105156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each inequality. Then, graph its solution set.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−11&gt;−5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inequality and show your work.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solution set.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10515600" cy="3477875"/>
              </a:xfrm>
              <a:prstGeom prst="rect">
                <a:avLst/>
              </a:prstGeom>
              <a:blipFill>
                <a:blip r:embed="rId5"/>
                <a:stretch>
                  <a:fillRect l="-844" t="-725" b="-2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200" y="5120976"/>
            <a:ext cx="6858000" cy="501015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7332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10.2.5 Your Turn!</a:t>
            </a:r>
          </a:p>
        </p:txBody>
      </p:sp>
      <p:pic>
        <p:nvPicPr>
          <p:cNvPr id="13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914400" y="398474"/>
                <a:ext cx="10515600" cy="3753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+7.25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inequality and show your work.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solution set.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98474"/>
                <a:ext cx="10515600" cy="3753207"/>
              </a:xfrm>
              <a:prstGeom prst="rect">
                <a:avLst/>
              </a:prstGeom>
              <a:blipFill>
                <a:blip r:embed="rId4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0" y="3901173"/>
            <a:ext cx="6858000" cy="501015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93;p45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94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2831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equation and an inequality are shown.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endParaRPr lang="en-US" sz="22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−2.25=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−2.25≤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the processes of solving the equation and the inequality are similar.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2831544"/>
              </a:xfrm>
              <a:prstGeom prst="rect">
                <a:avLst/>
              </a:prstGeom>
              <a:blipFill>
                <a:blip r:embed="rId5"/>
                <a:stretch>
                  <a:fillRect l="-844" t="-889" r="-1448" b="-3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68;p34"/>
          <p:cNvSpPr txBox="1"/>
          <p:nvPr/>
        </p:nvSpPr>
        <p:spPr>
          <a:xfrm>
            <a:off x="1142999" y="284833"/>
            <a:ext cx="9401175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10.2.6 Wrap-Up: Cool Down</a:t>
            </a:r>
          </a:p>
        </p:txBody>
      </p:sp>
      <p:pic>
        <p:nvPicPr>
          <p:cNvPr id="11" name="Google Shape;469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914400" y="422858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describe how the solutions to the equation and inequality are similar and different.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94131"/>
              </p:ext>
            </p:extLst>
          </p:nvPr>
        </p:nvGraphicFramePr>
        <p:xfrm>
          <a:off x="2708593" y="1635789"/>
          <a:ext cx="6774815" cy="276857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5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How are the solutions similar?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How are the solutions different?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5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1532</Words>
  <Application>Microsoft Office PowerPoint</Application>
  <PresentationFormat>Widescreen</PresentationFormat>
  <Paragraphs>302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Cambria Math</vt:lpstr>
      <vt:lpstr>Arial Black</vt:lpstr>
      <vt:lpstr>Verdana</vt:lpstr>
      <vt:lpstr>Arial</vt:lpstr>
      <vt:lpstr>Calibri</vt:lpstr>
      <vt:lpstr>Century Gothic</vt:lpstr>
      <vt:lpstr>Cambria</vt:lpstr>
      <vt:lpstr>Wingdings</vt:lpstr>
      <vt:lpstr>1_Office Theme</vt:lpstr>
      <vt:lpstr>PowerPoint Presentation</vt:lpstr>
      <vt:lpstr>Benchmark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28</cp:revision>
  <dcterms:created xsi:type="dcterms:W3CDTF">2015-03-17T18:51:18Z</dcterms:created>
  <dcterms:modified xsi:type="dcterms:W3CDTF">2022-07-12T04:50:16Z</dcterms:modified>
</cp:coreProperties>
</file>