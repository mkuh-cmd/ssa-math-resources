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326" r:id="rId8"/>
    <p:sldId id="327" r:id="rId9"/>
    <p:sldId id="328" r:id="rId10"/>
    <p:sldId id="288" r:id="rId11"/>
    <p:sldId id="311" r:id="rId12"/>
    <p:sldId id="312" r:id="rId13"/>
    <p:sldId id="313" r:id="rId14"/>
    <p:sldId id="332" r:id="rId15"/>
    <p:sldId id="333" r:id="rId16"/>
    <p:sldId id="334" r:id="rId17"/>
    <p:sldId id="335" r:id="rId18"/>
    <p:sldId id="329" r:id="rId19"/>
    <p:sldId id="330" r:id="rId20"/>
    <p:sldId id="331" r:id="rId21"/>
    <p:sldId id="337" r:id="rId22"/>
    <p:sldId id="338" r:id="rId23"/>
    <p:sldId id="314" r:id="rId24"/>
    <p:sldId id="315" r:id="rId25"/>
    <p:sldId id="316" r:id="rId26"/>
    <p:sldId id="339" r:id="rId27"/>
    <p:sldId id="306" r:id="rId28"/>
    <p:sldId id="307" r:id="rId29"/>
  </p:sldIdLst>
  <p:sldSz cx="12192000" cy="6858000"/>
  <p:notesSz cx="6858000" cy="9144000"/>
  <p:embeddedFontLst>
    <p:embeddedFont>
      <p:font typeface="Century Gothic" pitchFamily="34" charset="0"/>
      <p:regular r:id="rId31"/>
      <p:bold r:id="rId32"/>
      <p:italic r:id="rId33"/>
      <p:boldItalic r:id="rId34"/>
    </p:embeddedFont>
    <p:embeddedFont>
      <p:font typeface="Cambria Math" pitchFamily="18" charset="0"/>
      <p:regular r:id="rId35"/>
    </p:embeddedFont>
    <p:embeddedFont>
      <p:font typeface="Cambria" pitchFamily="18" charset="0"/>
      <p:regular r:id="rId36"/>
      <p:bold r:id="rId37"/>
      <p:italic r:id="rId38"/>
      <p:boldItalic r:id="rId39"/>
    </p:embeddedFont>
    <p:embeddedFont>
      <p:font typeface="Arial Black" pitchFamily="34" charset="0"/>
      <p:bold r:id="rId40"/>
    </p:embeddedFont>
    <p:embeddedFont>
      <p:font typeface="Verdana" pitchFamily="34" charset="0"/>
      <p:regular r:id="rId41"/>
      <p:bold r:id="rId42"/>
      <p:italic r:id="rId43"/>
      <p:boldItalic r:id="rId44"/>
    </p:embeddedFont>
    <p:embeddedFont>
      <p:font typeface="Calibri"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01" autoAdjust="0"/>
    <p:restoredTop sz="94731" autoAdjust="0"/>
  </p:normalViewPr>
  <p:slideViewPr>
    <p:cSldViewPr snapToGrid="0">
      <p:cViewPr>
        <p:scale>
          <a:sx n="80" d="100"/>
          <a:sy n="80" d="100"/>
        </p:scale>
        <p:origin x="-648"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4522423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87838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1847571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535226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8403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270617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268266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559424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907857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127991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840646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7942529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3484341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9869424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00.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36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400.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1005" y="1783180"/>
            <a:ext cx="3126752" cy="3644900"/>
          </a:xfrm>
          <a:prstGeom prst="rect">
            <a:avLst/>
          </a:prstGeom>
          <a:effectLst>
            <a:outerShdw blurRad="50800" dist="38100" dir="2700000" algn="tl" rotWithShape="0">
              <a:prstClr val="black">
                <a:alpha val="40000"/>
              </a:prstClr>
            </a:outerShdw>
          </a:effectLst>
        </p:spPr>
      </p:pic>
      <p:sp>
        <p:nvSpPr>
          <p:cNvPr id="7" name="Google Shape;261;g104476d1465_0_0"/>
          <p:cNvSpPr txBox="1">
            <a:spLocks/>
          </p:cNvSpPr>
          <p:nvPr/>
        </p:nvSpPr>
        <p:spPr>
          <a:xfrm>
            <a:off x="5714258" y="2070202"/>
            <a:ext cx="5212080"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7</a:t>
            </a:r>
            <a:r>
              <a:rPr lang="en-US" sz="4000" b="1" baseline="30000" dirty="0">
                <a:solidFill>
                  <a:srgbClr val="417DBF"/>
                </a:solidFill>
                <a:latin typeface="Verdana"/>
                <a:ea typeface="Verdana"/>
                <a:cs typeface="Verdana"/>
                <a:sym typeface="Verdana"/>
              </a:rPr>
              <a:t>th</a:t>
            </a:r>
            <a:r>
              <a:rPr lang="en-US" sz="4000" b="1" dirty="0">
                <a:solidFill>
                  <a:srgbClr val="417DBF"/>
                </a:solidFill>
                <a:latin typeface="Verdana"/>
                <a:ea typeface="Verdana"/>
                <a:cs typeface="Verdana"/>
                <a:sym typeface="Verdana"/>
              </a:rPr>
              <a:t> Grade Math</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lvl="0" algn="ctr">
              <a:lnSpc>
                <a:spcPct val="100000"/>
              </a:lnSpc>
              <a:buClr>
                <a:srgbClr val="000000"/>
              </a:buClr>
            </a:pPr>
            <a:r>
              <a:rPr lang="en-US" sz="4000" b="1" dirty="0">
                <a:solidFill>
                  <a:srgbClr val="417DBF"/>
                </a:solidFill>
                <a:latin typeface="Verdana"/>
                <a:ea typeface="Verdana"/>
                <a:cs typeface="Verdana"/>
                <a:sym typeface="Verdana"/>
              </a:rPr>
              <a:t>Unit </a:t>
            </a:r>
            <a:r>
              <a:rPr lang="en-US" sz="4000" b="1" dirty="0" smtClean="0">
                <a:solidFill>
                  <a:srgbClr val="417DBF"/>
                </a:solidFill>
                <a:latin typeface="Verdana"/>
                <a:ea typeface="Verdana"/>
                <a:cs typeface="Verdana"/>
                <a:sym typeface="Verdana"/>
              </a:rPr>
              <a:t>10, </a:t>
            </a:r>
            <a:r>
              <a:rPr lang="en-US" sz="4000" b="1" dirty="0">
                <a:solidFill>
                  <a:srgbClr val="417DBF"/>
                </a:solidFill>
                <a:latin typeface="Verdana"/>
                <a:ea typeface="Verdana"/>
                <a:cs typeface="Verdana"/>
                <a:sym typeface="Verdana"/>
              </a:rPr>
              <a:t>Lesson 1</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Exploring Inequalities – Part 1</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a:t>
            </a:r>
            <a:r>
              <a:rPr lang="en-US" sz="3200" b="1" dirty="0" smtClean="0">
                <a:solidFill>
                  <a:srgbClr val="417DBF"/>
                </a:solidFill>
                <a:latin typeface="Verdana"/>
                <a:ea typeface="Verdana"/>
                <a:cs typeface="Verdana"/>
                <a:sym typeface="Verdana"/>
              </a:rPr>
              <a:t>2, </a:t>
            </a:r>
            <a:r>
              <a:rPr lang="en-US" sz="3200" b="1" dirty="0">
                <a:solidFill>
                  <a:srgbClr val="417DBF"/>
                </a:solidFill>
                <a:latin typeface="Verdana"/>
                <a:ea typeface="Verdana"/>
                <a:cs typeface="Verdana"/>
                <a:sym typeface="Verdana"/>
              </a:rPr>
              <a:t>pg. </a:t>
            </a:r>
            <a:r>
              <a:rPr lang="en-US" sz="3200" b="1" dirty="0" smtClean="0">
                <a:solidFill>
                  <a:srgbClr val="417DBF"/>
                </a:solidFill>
                <a:latin typeface="Verdana"/>
                <a:ea typeface="Verdana"/>
                <a:cs typeface="Verdana"/>
                <a:sym typeface="Verdana"/>
              </a:rPr>
              <a:t>85</a:t>
            </a:r>
            <a:endParaRPr lang="en-US" sz="3200" b="1" dirty="0">
              <a:solidFill>
                <a:srgbClr val="417DBF"/>
              </a:solidFill>
              <a:latin typeface="Verdana"/>
              <a:ea typeface="Verdana"/>
              <a:cs typeface="Verdana"/>
              <a:sym typeface="Verdana"/>
            </a:endParaRP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716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MA.7.AR.2.1</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Write and solve one-step inequalities in one variable within a mathematical context and represent solutions algebraically or graphically.</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85</a:t>
            </a:r>
            <a:endParaRPr i="1" dirty="0">
              <a:latin typeface="Calibri"/>
              <a:ea typeface="Calibri"/>
              <a:cs typeface="Calibri"/>
              <a:sym typeface="Calibri"/>
            </a:endParaRPr>
          </a:p>
        </p:txBody>
      </p:sp>
      <p:pic>
        <p:nvPicPr>
          <p:cNvPr id="10" name="Google Shape;281;g104476d1465_1_17"/>
          <p:cNvPicPr preferRelativeResize="0"/>
          <p:nvPr/>
        </p:nvPicPr>
        <p:blipFill>
          <a:blip r:embed="rId4">
            <a:alphaModFix/>
          </a:blip>
          <a:stretch>
            <a:fillRect/>
          </a:stretch>
        </p:blipFill>
        <p:spPr>
          <a:xfrm>
            <a:off x="329567" y="372300"/>
            <a:ext cx="747300" cy="747300"/>
          </a:xfrm>
          <a:prstGeom prst="rect">
            <a:avLst/>
          </a:prstGeom>
          <a:noFill/>
          <a:ln>
            <a:noFill/>
          </a:ln>
          <a:effectLst>
            <a:outerShdw blurRad="57150" dist="19050" dir="5400000" algn="bl" rotWithShape="0">
              <a:srgbClr val="000000">
                <a:alpha val="50000"/>
              </a:srgbClr>
            </a:outerShdw>
          </a:effectLst>
        </p:spPr>
      </p:pic>
      <p:sp>
        <p:nvSpPr>
          <p:cNvPr id="12"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3"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154216" y="1596390"/>
            <a:ext cx="1037636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356616" y="319860"/>
            <a:ext cx="747300" cy="74730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85</a:t>
            </a:r>
            <a:endParaRPr i="1" dirty="0">
              <a:latin typeface="Calibri"/>
              <a:ea typeface="Calibri"/>
              <a:cs typeface="Calibri"/>
              <a:sym typeface="Calibri"/>
            </a:endParaRPr>
          </a:p>
        </p:txBody>
      </p:sp>
      <p:sp>
        <p:nvSpPr>
          <p:cNvPr id="9"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444682" y="1600200"/>
            <a:ext cx="1108643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relate the solution set of an inequality to its graph on a number line.</a:t>
            </a:r>
          </a:p>
          <a:p>
            <a:pPr marL="685800" indent="-685800">
              <a:buFont typeface="Wingdings" panose="05000000000000000000" pitchFamily="2" charset="2"/>
              <a:buChar char="q"/>
            </a:pPr>
            <a:endParaRPr lang="en-US" sz="3600" dirty="0">
              <a:latin typeface="Verdana" panose="020B0604030504040204" pitchFamily="34" charset="0"/>
              <a:ea typeface="Verdana" panose="020B0604030504040204" pitchFamily="34" charset="0"/>
              <a:cs typeface="Verdana" panose="020B0604030504040204" pitchFamily="34" charset="0"/>
            </a:endParaRPr>
          </a:p>
          <a:p>
            <a:pPr marL="685800" indent="-685800">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relate the solution set of an inequality to the context it represents.</a:t>
            </a:r>
          </a:p>
          <a:p>
            <a:pPr marL="685800" indent="-685800">
              <a:buFont typeface="Wingdings" panose="05000000000000000000" pitchFamily="2" charset="2"/>
              <a:buChar char="q"/>
            </a:pPr>
            <a:endParaRPr lang="en-US" sz="3600" dirty="0">
              <a:latin typeface="Verdana" panose="020B0604030504040204" pitchFamily="34" charset="0"/>
              <a:ea typeface="Verdana" panose="020B0604030504040204" pitchFamily="34" charset="0"/>
              <a:cs typeface="Verdana" panose="020B0604030504040204" pitchFamily="34" charset="0"/>
            </a:endParaRPr>
          </a:p>
          <a:p>
            <a:pPr marL="685800" indent="-685800">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determine the minimum or maximum value that makes an inequality true.</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85</a:t>
            </a:r>
            <a:endParaRPr i="1" dirty="0">
              <a:latin typeface="Calibri"/>
              <a:ea typeface="Calibri"/>
              <a:cs typeface="Calibri"/>
              <a:sym typeface="Calibri"/>
            </a:endParaRPr>
          </a:p>
        </p:txBody>
      </p:sp>
      <p:pic>
        <p:nvPicPr>
          <p:cNvPr id="7"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9"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10.1.1 Warm-Up: Which One Doesn’t Belong?</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4">
            <a:alphaModFix/>
          </a:blip>
          <a:stretch>
            <a:fillRect/>
          </a:stretch>
        </p:blipFill>
        <p:spPr>
          <a:xfrm>
            <a:off x="356616"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 xmlns:a16="http://schemas.microsoft.com/office/drawing/2014/main" id="{E1D7562E-134F-D14B-AF1A-DF40E11EF758}"/>
              </a:ext>
            </a:extLst>
          </p:cNvPr>
          <p:cNvSpPr txBox="1"/>
          <p:nvPr/>
        </p:nvSpPr>
        <p:spPr>
          <a:xfrm>
            <a:off x="914400" y="1386026"/>
            <a:ext cx="10515600" cy="526297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Four inequalities are shown.</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Javier says that Inequality B does not belong with the others. What is one reason Javier might have said this?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Select a different inequality and explain why it doesn’t belong.</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432251068"/>
                  </p:ext>
                </p:extLst>
              </p:nvPr>
            </p:nvGraphicFramePr>
            <p:xfrm>
              <a:off x="2146200" y="2023081"/>
              <a:ext cx="7087446" cy="1386840"/>
            </p:xfrm>
            <a:graphic>
              <a:graphicData uri="http://schemas.openxmlformats.org/drawingml/2006/table">
                <a:tbl>
                  <a:tblPr firstRow="1" firstCol="1" bandRow="1">
                    <a:tableStyleId>{5940675A-B579-460E-94D1-54222C63F5DA}</a:tableStyleId>
                  </a:tblPr>
                  <a:tblGrid>
                    <a:gridCol w="1808927">
                      <a:extLst>
                        <a:ext uri="{9D8B030D-6E8A-4147-A177-3AD203B41FA5}">
                          <a16:colId xmlns="" xmlns:a16="http://schemas.microsoft.com/office/drawing/2014/main" val="20000"/>
                        </a:ext>
                      </a:extLst>
                    </a:gridCol>
                    <a:gridCol w="1808927">
                      <a:extLst>
                        <a:ext uri="{9D8B030D-6E8A-4147-A177-3AD203B41FA5}">
                          <a16:colId xmlns="" xmlns:a16="http://schemas.microsoft.com/office/drawing/2014/main" val="20001"/>
                        </a:ext>
                      </a:extLst>
                    </a:gridCol>
                    <a:gridCol w="1809589">
                      <a:extLst>
                        <a:ext uri="{9D8B030D-6E8A-4147-A177-3AD203B41FA5}">
                          <a16:colId xmlns="" xmlns:a16="http://schemas.microsoft.com/office/drawing/2014/main" val="20002"/>
                        </a:ext>
                      </a:extLst>
                    </a:gridCol>
                    <a:gridCol w="1660003">
                      <a:extLst>
                        <a:ext uri="{9D8B030D-6E8A-4147-A177-3AD203B41FA5}">
                          <a16:colId xmlns="" xmlns:a16="http://schemas.microsoft.com/office/drawing/2014/main" val="20003"/>
                        </a:ext>
                      </a:extLst>
                    </a:gridCol>
                  </a:tblGrid>
                  <a:tr h="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6858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≥5</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12≤7</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2&gt;</m:t>
                                </m:r>
                                <m:r>
                                  <a:rPr lang="en-US" sz="2000">
                                    <a:effectLst/>
                                    <a:latin typeface="Cambria Math" panose="02040503050406030204" pitchFamily="18" charset="0"/>
                                    <a:ea typeface="Cambria Math" panose="02040503050406030204" pitchFamily="18" charset="0"/>
                                  </a:rPr>
                                  <m:t>𝑥</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&gt;1</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432251068"/>
                  </p:ext>
                </p:extLst>
              </p:nvPr>
            </p:nvGraphicFramePr>
            <p:xfrm>
              <a:off x="2146200" y="2023081"/>
              <a:ext cx="7087446" cy="1386840"/>
            </p:xfrm>
            <a:graphic>
              <a:graphicData uri="http://schemas.openxmlformats.org/drawingml/2006/table">
                <a:tbl>
                  <a:tblPr firstRow="1" firstCol="1" bandRow="1">
                    <a:tableStyleId>{5940675A-B579-460E-94D1-54222C63F5DA}</a:tableStyleId>
                  </a:tblPr>
                  <a:tblGrid>
                    <a:gridCol w="1808927">
                      <a:extLst>
                        <a:ext uri="{9D8B030D-6E8A-4147-A177-3AD203B41FA5}">
                          <a16:colId xmlns:a16="http://schemas.microsoft.com/office/drawing/2014/main" val="20000"/>
                        </a:ext>
                      </a:extLst>
                    </a:gridCol>
                    <a:gridCol w="1808927">
                      <a:extLst>
                        <a:ext uri="{9D8B030D-6E8A-4147-A177-3AD203B41FA5}">
                          <a16:colId xmlns:a16="http://schemas.microsoft.com/office/drawing/2014/main" val="20001"/>
                        </a:ext>
                      </a:extLst>
                    </a:gridCol>
                    <a:gridCol w="1809589">
                      <a:extLst>
                        <a:ext uri="{9D8B030D-6E8A-4147-A177-3AD203B41FA5}">
                          <a16:colId xmlns:a16="http://schemas.microsoft.com/office/drawing/2014/main" val="20002"/>
                        </a:ext>
                      </a:extLst>
                    </a:gridCol>
                    <a:gridCol w="1660003">
                      <a:extLst>
                        <a:ext uri="{9D8B030D-6E8A-4147-A177-3AD203B41FA5}">
                          <a16:colId xmlns:a16="http://schemas.microsoft.com/office/drawing/2014/main" val="20003"/>
                        </a:ext>
                      </a:extLst>
                    </a:gridCol>
                  </a:tblGrid>
                  <a:tr h="70104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 </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6858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t="-109259" r="-292308" b="-370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000" t="-109259" r="-192308" b="-370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0000" t="-109259" r="-92308" b="-370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27481" t="-109259" r="-763" b="-3704"/>
                          </a:stretch>
                        </a:blipFill>
                      </a:tcPr>
                    </a:tc>
                    <a:extLst>
                      <a:ext uri="{0D108BD9-81ED-4DB2-BD59-A6C34878D82A}">
                        <a16:rowId xmlns:a16="http://schemas.microsoft.com/office/drawing/2014/main" val="10001"/>
                      </a:ext>
                    </a:extLst>
                  </a:tr>
                </a:tbl>
              </a:graphicData>
            </a:graphic>
          </p:graphicFrame>
        </mc:Fallback>
      </mc:AlternateContent>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85</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7300" y="2778533"/>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pic>
        <p:nvPicPr>
          <p:cNvPr id="11266" name="Picture 2" descr="Icon&#10;&#10;Description automatically generated">
            <a:extLst>
              <a:ext uri="{FF2B5EF4-FFF2-40B4-BE49-F238E27FC236}">
                <a16:creationId xmlns="" xmlns:a16="http://schemas.microsoft.com/office/drawing/2014/main" id="{8E68AE2B-31C4-664C-9668-81B7C1673C9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75353" y="281101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86</a:t>
            </a:r>
            <a:endParaRPr i="1" dirty="0">
              <a:latin typeface="Calibri"/>
              <a:ea typeface="Calibri"/>
              <a:cs typeface="Calibri"/>
              <a:sym typeface="Calibri"/>
            </a:endParaRPr>
          </a:p>
        </p:txBody>
      </p:sp>
    </p:spTree>
    <p:extLst>
      <p:ext uri="{BB962C8B-B14F-4D97-AF65-F5344CB8AC3E}">
        <p14:creationId xmlns:p14="http://schemas.microsoft.com/office/powerpoint/2010/main" val="3062107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10.1.2 Refresher: Representing Inequalities on a Number Line</a:t>
            </a:r>
          </a:p>
        </p:txBody>
      </p:sp>
      <p:pic>
        <p:nvPicPr>
          <p:cNvPr id="9" name="Picture 2" descr="Icon&#10;&#10;Description automatically generated">
            <a:extLst>
              <a:ext uri="{FF2B5EF4-FFF2-40B4-BE49-F238E27FC236}">
                <a16:creationId xmlns="" xmlns:a16="http://schemas.microsoft.com/office/drawing/2014/main" id="{522B94A7-8145-AF4C-A130-4689EF537FB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2DC51FF2-AD43-3B4B-B9DE-330920D33388}"/>
                  </a:ext>
                </a:extLst>
              </p:cNvPr>
              <p:cNvSpPr txBox="1"/>
              <p:nvPr/>
            </p:nvSpPr>
            <p:spPr>
              <a:xfrm>
                <a:off x="914400" y="1288270"/>
                <a:ext cx="10515600" cy="581107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The values that make the inequality </a:t>
                </a:r>
                <a14:m>
                  <m:oMath xmlns:m="http://schemas.openxmlformats.org/officeDocument/2006/math">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&gt;1</m:t>
                    </m:r>
                  </m:oMath>
                </a14:m>
                <a:r>
                  <a:rPr lang="en-US" sz="2000" dirty="0">
                    <a:latin typeface="Verdana" panose="020B0604030504040204" pitchFamily="34" charset="0"/>
                    <a:ea typeface="Verdana" panose="020B0604030504040204" pitchFamily="34" charset="0"/>
                    <a:cs typeface="Verdana" panose="020B0604030504040204" pitchFamily="34" charset="0"/>
                  </a:rPr>
                  <a:t> true are represented on the number line shown.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spcAft>
                    <a:spcPts val="1200"/>
                  </a:spcAft>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Select the values of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from this list that could make the inequality </a:t>
                </a:r>
                <a14:m>
                  <m:oMath xmlns:m="http://schemas.openxmlformats.org/officeDocument/2006/math">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&gt;1 </m:t>
                    </m:r>
                  </m:oMath>
                </a14:m>
                <a:r>
                  <a:rPr lang="en-US" sz="2000" dirty="0">
                    <a:latin typeface="Verdana" panose="020B0604030504040204" pitchFamily="34" charset="0"/>
                    <a:ea typeface="Verdana" panose="020B0604030504040204" pitchFamily="34" charset="0"/>
                    <a:cs typeface="Verdana" panose="020B0604030504040204" pitchFamily="34" charset="0"/>
                  </a:rPr>
                  <a:t>true.</a:t>
                </a:r>
              </a:p>
              <a:p>
                <a:pPr marL="806450" lvl="1" indent="-342900">
                  <a:spcAft>
                    <a:spcPts val="600"/>
                  </a:spcAft>
                  <a:buFont typeface="Wingdings" panose="05000000000000000000" pitchFamily="2" charset="2"/>
                  <a:buChar char="q"/>
                </a:pPr>
                <a:r>
                  <a:rPr lang="en-US" sz="2000" dirty="0">
                    <a:ea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3</m:t>
                    </m:r>
                    <m:f>
                      <m:fPr>
                        <m:ctrlPr>
                          <a:rPr lang="en-US" sz="2000" i="1">
                            <a:latin typeface="Cambria Math"/>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7</m:t>
                        </m:r>
                      </m:num>
                      <m:den>
                        <m:r>
                          <a:rPr lang="en-US" sz="2000" i="1">
                            <a:latin typeface="Cambria Math" panose="02040503050406030204" pitchFamily="18" charset="0"/>
                            <a:ea typeface="Cambria Math" panose="02040503050406030204" pitchFamily="18" charset="0"/>
                          </a:rPr>
                          <m:t>8</m:t>
                        </m:r>
                      </m:den>
                    </m:f>
                  </m:oMath>
                </a14:m>
                <a:endParaRPr lang="en-US" sz="2000" dirty="0">
                  <a:latin typeface="Cambria Math" panose="02040503050406030204" pitchFamily="18" charset="0"/>
                  <a:ea typeface="Cambria Math" panose="02040503050406030204" pitchFamily="18" charset="0"/>
                </a:endParaRPr>
              </a:p>
              <a:p>
                <a:pPr marL="806450" lvl="1" indent="-342900">
                  <a:spcAft>
                    <a:spcPts val="600"/>
                  </a:spcAft>
                  <a:buFont typeface="Wingdings" panose="05000000000000000000" pitchFamily="2" charset="2"/>
                  <a:buChar char="q"/>
                </a:pPr>
                <a:r>
                  <a:rPr lang="en-US" sz="2000" dirty="0">
                    <a:ea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−3</m:t>
                    </m:r>
                    <m:f>
                      <m:fPr>
                        <m:ctrlPr>
                          <a:rPr lang="en-US" sz="2000" i="1">
                            <a:latin typeface="Cambria Math"/>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7</m:t>
                        </m:r>
                      </m:num>
                      <m:den>
                        <m:r>
                          <a:rPr lang="en-US" sz="2000" i="1">
                            <a:latin typeface="Cambria Math" panose="02040503050406030204" pitchFamily="18" charset="0"/>
                            <a:ea typeface="Cambria Math" panose="02040503050406030204" pitchFamily="18" charset="0"/>
                          </a:rPr>
                          <m:t>8</m:t>
                        </m:r>
                      </m:den>
                    </m:f>
                  </m:oMath>
                </a14:m>
                <a:endParaRPr lang="en-US" sz="2000" dirty="0">
                  <a:latin typeface="Cambria Math" panose="02040503050406030204" pitchFamily="18" charset="0"/>
                  <a:ea typeface="Cambria Math" panose="02040503050406030204" pitchFamily="18" charset="0"/>
                </a:endParaRPr>
              </a:p>
              <a:p>
                <a:pPr marL="806450" lvl="1" indent="-342900">
                  <a:spcAft>
                    <a:spcPts val="600"/>
                  </a:spcAft>
                  <a:buFont typeface="Wingdings" panose="05000000000000000000" pitchFamily="2" charset="2"/>
                  <a:buChar char="q"/>
                </a:pPr>
                <a:r>
                  <a:rPr lang="en-US" sz="2000" dirty="0">
                    <a:ea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1</m:t>
                    </m:r>
                  </m:oMath>
                </a14:m>
                <a:endParaRPr lang="en-US" sz="2000" dirty="0">
                  <a:latin typeface="Cambria Math" panose="02040503050406030204" pitchFamily="18" charset="0"/>
                  <a:ea typeface="Cambria Math" panose="02040503050406030204" pitchFamily="18" charset="0"/>
                </a:endParaRPr>
              </a:p>
              <a:p>
                <a:pPr marL="806450" lvl="1" indent="-342900">
                  <a:spcAft>
                    <a:spcPts val="600"/>
                  </a:spcAft>
                  <a:buFont typeface="Wingdings" panose="05000000000000000000" pitchFamily="2" charset="2"/>
                  <a:buChar char="q"/>
                </a:pPr>
                <a:r>
                  <a:rPr lang="en-US" sz="2000" dirty="0">
                    <a:ea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700</m:t>
                    </m:r>
                  </m:oMath>
                </a14:m>
                <a:endParaRPr lang="en-US" sz="2000" dirty="0">
                  <a:latin typeface="Cambria Math" panose="02040503050406030204" pitchFamily="18" charset="0"/>
                  <a:ea typeface="Cambria Math" panose="02040503050406030204" pitchFamily="18" charset="0"/>
                </a:endParaRPr>
              </a:p>
              <a:p>
                <a:pPr marL="806450" lvl="1" indent="-342900">
                  <a:spcAft>
                    <a:spcPts val="600"/>
                  </a:spcAft>
                  <a:buFont typeface="Wingdings" panose="05000000000000000000" pitchFamily="2" charset="2"/>
                  <a:buChar char="q"/>
                </a:pPr>
                <a:r>
                  <a:rPr lang="en-US" sz="2000" dirty="0">
                    <a:ea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1.05</m:t>
                    </m:r>
                  </m:oMath>
                </a14:m>
                <a:endParaRPr lang="en-US" sz="2000" dirty="0">
                  <a:latin typeface="Cambria Math" panose="02040503050406030204" pitchFamily="18" charset="0"/>
                  <a:ea typeface="Cambria Math" panose="02040503050406030204" pitchFamily="18" charset="0"/>
                </a:endParaRPr>
              </a:p>
              <a:p>
                <a:pPr marL="806450" lvl="1" indent="-342900">
                  <a:buFont typeface="Wingdings" panose="05000000000000000000" pitchFamily="2" charset="2"/>
                  <a:buChar char="q"/>
                </a:pPr>
                <a:r>
                  <a:rPr lang="en-US" sz="2000" dirty="0">
                    <a:ea typeface="Cambria Math" panose="020405030504060302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−16.4</m:t>
                    </m:r>
                  </m:oMath>
                </a14:m>
                <a:endParaRPr lang="en-US" sz="2000" dirty="0">
                  <a:latin typeface="Cambria Math" panose="02040503050406030204" pitchFamily="18" charset="0"/>
                  <a:ea typeface="Cambria Math" panose="02040503050406030204" pitchFamily="18"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2DC51FF2-AD43-3B4B-B9DE-330920D33388}"/>
                  </a:ext>
                </a:extLst>
              </p:cNvPr>
              <p:cNvSpPr txBox="1">
                <a:spLocks noRot="1" noChangeAspect="1" noMove="1" noResize="1" noEditPoints="1" noAdjustHandles="1" noChangeArrowheads="1" noChangeShapeType="1" noTextEdit="1"/>
              </p:cNvSpPr>
              <p:nvPr/>
            </p:nvSpPr>
            <p:spPr>
              <a:xfrm>
                <a:off x="914400" y="1288270"/>
                <a:ext cx="10515600" cy="5811078"/>
              </a:xfrm>
              <a:prstGeom prst="rect">
                <a:avLst/>
              </a:prstGeom>
              <a:blipFill>
                <a:blip r:embed="rId5"/>
                <a:stretch>
                  <a:fillRect l="-603" t="-654"/>
                </a:stretch>
              </a:blipFill>
            </p:spPr>
            <p:txBody>
              <a:bodyPr/>
              <a:lstStyle/>
              <a:p>
                <a:r>
                  <a:rPr lang="en-US">
                    <a:noFill/>
                  </a:rPr>
                  <a:t> </a:t>
                </a:r>
              </a:p>
            </p:txBody>
          </p:sp>
        </mc:Fallback>
      </mc:AlternateContent>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86</a:t>
            </a:r>
            <a:endParaRPr i="1" dirty="0">
              <a:latin typeface="Calibri"/>
              <a:ea typeface="Calibri"/>
              <a:cs typeface="Calibri"/>
              <a:sym typeface="Calibri"/>
            </a:endParaRPr>
          </a:p>
        </p:txBody>
      </p:sp>
      <p:pic>
        <p:nvPicPr>
          <p:cNvPr id="11" name="image73.png" descr="A number line with the numbers negative 5 through 5 indicated. An open circle is indicated at 1 and an arrow is drawn from the open circle extending to the right."/>
          <p:cNvPicPr/>
          <p:nvPr/>
        </p:nvPicPr>
        <p:blipFill>
          <a:blip r:embed="rId6"/>
          <a:srcRect/>
          <a:stretch>
            <a:fillRect/>
          </a:stretch>
        </p:blipFill>
        <p:spPr>
          <a:xfrm>
            <a:off x="3448565" y="2743030"/>
            <a:ext cx="5467350" cy="525780"/>
          </a:xfrm>
          <a:prstGeom prst="rect">
            <a:avLst/>
          </a:prstGeom>
          <a:ln/>
        </p:spPr>
      </p:pic>
    </p:spTree>
    <p:extLst>
      <p:ext uri="{BB962C8B-B14F-4D97-AF65-F5344CB8AC3E}">
        <p14:creationId xmlns:p14="http://schemas.microsoft.com/office/powerpoint/2010/main" val="136402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F16EAAB6-B932-C047-9261-EF734547974E}"/>
                  </a:ext>
                </a:extLst>
              </p:cNvPr>
              <p:cNvSpPr txBox="1"/>
              <p:nvPr/>
            </p:nvSpPr>
            <p:spPr>
              <a:xfrm>
                <a:off x="914400" y="422858"/>
                <a:ext cx="10515600" cy="489364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2400" i="1">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-values that make this inequality true are called solutions; however, there are many more possible solutions than those represented on the list.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Name two more values of </a:t>
                </a:r>
                <a14:m>
                  <m:oMath xmlns:m="http://schemas.openxmlformats.org/officeDocument/2006/math">
                    <m:r>
                      <a:rPr lang="en-US" sz="2400" i="1">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that are solutions to the inequality.</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Explain how you know the values are solutions.</a:t>
                </a:r>
              </a:p>
            </p:txBody>
          </p:sp>
        </mc:Choice>
        <mc:Fallback xmlns="">
          <p:sp>
            <p:nvSpPr>
              <p:cNvPr id="5" name="TextBox 4">
                <a:extLst>
                  <a:ext uri="{FF2B5EF4-FFF2-40B4-BE49-F238E27FC236}">
                    <a16:creationId xmlns:a16="http://schemas.microsoft.com/office/drawing/2014/main" id="{F16EAAB6-B932-C047-9261-EF734547974E}"/>
                  </a:ext>
                </a:extLst>
              </p:cNvPr>
              <p:cNvSpPr txBox="1">
                <a:spLocks noRot="1" noChangeAspect="1" noMove="1" noResize="1" noEditPoints="1" noAdjustHandles="1" noChangeArrowheads="1" noChangeShapeType="1" noTextEdit="1"/>
              </p:cNvSpPr>
              <p:nvPr/>
            </p:nvSpPr>
            <p:spPr>
              <a:xfrm>
                <a:off x="914400" y="422858"/>
                <a:ext cx="10515600" cy="4893647"/>
              </a:xfrm>
              <a:prstGeom prst="rect">
                <a:avLst/>
              </a:prstGeom>
              <a:blipFill>
                <a:blip r:embed="rId4"/>
                <a:stretch>
                  <a:fillRect l="-965" t="-1036"/>
                </a:stretch>
              </a:blipFill>
            </p:spPr>
            <p:txBody>
              <a:bodyPr/>
              <a:lstStyle/>
              <a:p>
                <a:r>
                  <a:rPr lang="en-US">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86</a:t>
            </a:r>
            <a:endParaRPr i="1" dirty="0">
              <a:latin typeface="Calibri"/>
              <a:ea typeface="Calibri"/>
              <a:cs typeface="Calibri"/>
              <a:sym typeface="Calibri"/>
            </a:endParaRPr>
          </a:p>
        </p:txBody>
      </p:sp>
    </p:spTree>
    <p:extLst>
      <p:ext uri="{BB962C8B-B14F-4D97-AF65-F5344CB8AC3E}">
        <p14:creationId xmlns:p14="http://schemas.microsoft.com/office/powerpoint/2010/main" val="852717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914400" y="520394"/>
                <a:ext cx="10515600" cy="5262979"/>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Name two values of </a:t>
                </a:r>
                <a14:m>
                  <m:oMath xmlns:m="http://schemas.openxmlformats.org/officeDocument/2006/math">
                    <m:r>
                      <a:rPr lang="en-US" sz="2400" i="1">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that are </a:t>
                </a:r>
                <a:r>
                  <a:rPr lang="en-US" sz="2400" b="1" dirty="0">
                    <a:latin typeface="Verdana" panose="020B0604030504040204" pitchFamily="34" charset="0"/>
                    <a:ea typeface="Verdana" panose="020B0604030504040204" pitchFamily="34" charset="0"/>
                    <a:cs typeface="Verdana" panose="020B0604030504040204" pitchFamily="34" charset="0"/>
                  </a:rPr>
                  <a:t>not</a:t>
                </a:r>
                <a:r>
                  <a:rPr lang="en-US" sz="2400" dirty="0">
                    <a:latin typeface="Verdana" panose="020B0604030504040204" pitchFamily="34" charset="0"/>
                    <a:ea typeface="Verdana" panose="020B0604030504040204" pitchFamily="34" charset="0"/>
                    <a:cs typeface="Verdana" panose="020B0604030504040204" pitchFamily="34" charset="0"/>
                  </a:rPr>
                  <a:t> solutions to the inequality. </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Explain how you know these values are </a:t>
                </a:r>
                <a:r>
                  <a:rPr lang="en-US" sz="2400" b="1" dirty="0">
                    <a:latin typeface="Verdana" panose="020B0604030504040204" pitchFamily="34" charset="0"/>
                    <a:ea typeface="Verdana" panose="020B0604030504040204" pitchFamily="34" charset="0"/>
                    <a:cs typeface="Verdana" panose="020B0604030504040204" pitchFamily="34" charset="0"/>
                  </a:rPr>
                  <a:t>not</a:t>
                </a:r>
                <a:r>
                  <a:rPr lang="en-US" sz="2400" dirty="0">
                    <a:latin typeface="Verdana" panose="020B0604030504040204" pitchFamily="34" charset="0"/>
                    <a:ea typeface="Verdana" panose="020B0604030504040204" pitchFamily="34" charset="0"/>
                    <a:cs typeface="Verdana" panose="020B0604030504040204" pitchFamily="34" charset="0"/>
                  </a:rPr>
                  <a:t> solutions.</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Alexis says the graph on the number line also represents the solutions to the inequality </a:t>
                </a:r>
                <a14:m>
                  <m:oMath xmlns:m="http://schemas.openxmlformats.org/officeDocument/2006/math">
                    <m:r>
                      <a:rPr lang="en-US" sz="2400" i="1">
                        <a:latin typeface="Cambria Math" panose="02040503050406030204" pitchFamily="18" charset="0"/>
                        <a:ea typeface="Cambria Math" panose="02040503050406030204" pitchFamily="18" charset="0"/>
                      </a:rPr>
                      <m:t>1&lt;</m:t>
                    </m:r>
                    <m:r>
                      <a:rPr lang="en-US" sz="2400" i="1">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Discuss with your partner whether you agree with Alexis, then write a brief summary of your discussion.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5262979"/>
              </a:xfrm>
              <a:prstGeom prst="rect">
                <a:avLst/>
              </a:prstGeom>
              <a:blipFill>
                <a:blip r:embed="rId4"/>
                <a:stretch>
                  <a:fillRect l="-965" t="-962"/>
                </a:stretch>
              </a:blipFill>
            </p:spPr>
            <p:txBody>
              <a:bodyPr/>
              <a:lstStyle/>
              <a:p>
                <a:r>
                  <a:rPr lang="en-US">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86</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87</a:t>
            </a:r>
            <a:endParaRPr i="1" dirty="0">
              <a:latin typeface="Calibri"/>
              <a:ea typeface="Calibri"/>
              <a:cs typeface="Calibri"/>
              <a:sym typeface="Calibri"/>
            </a:endParaRPr>
          </a:p>
        </p:txBody>
      </p:sp>
      <p:sp>
        <p:nvSpPr>
          <p:cNvPr id="7" name="Google Shape;313;g104476d1465_1_39"/>
          <p:cNvSpPr txBox="1">
            <a:spLocks/>
          </p:cNvSpPr>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9" name="Picture 2" descr="Icon&#10;&#10;Description automatically generated">
            <a:extLst>
              <a:ext uri="{FF2B5EF4-FFF2-40B4-BE49-F238E27FC236}">
                <a16:creationId xmlns=""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44861" y="2850881"/>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10.1.3 Exploration: Representing Inequalities in Context</a:t>
            </a:r>
          </a:p>
        </p:txBody>
      </p:sp>
      <p:pic>
        <p:nvPicPr>
          <p:cNvPr id="7"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152D1D4D-DCB8-A246-B186-D40316579D77}"/>
              </a:ext>
            </a:extLst>
          </p:cNvPr>
          <p:cNvSpPr txBox="1"/>
          <p:nvPr/>
        </p:nvSpPr>
        <p:spPr>
          <a:xfrm>
            <a:off x="914400" y="1386025"/>
            <a:ext cx="10515600"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Height restrictions are often in place for roller coasters and rides at amusement parks to keep guests safe. At Disney’s Typhoon Lagoon Water Park, the following height restrictions are in place.</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859063734"/>
                  </p:ext>
                </p:extLst>
              </p:nvPr>
            </p:nvGraphicFramePr>
            <p:xfrm>
              <a:off x="2515806" y="3281006"/>
              <a:ext cx="6879590" cy="2566670"/>
            </p:xfrm>
            <a:graphic>
              <a:graphicData uri="http://schemas.openxmlformats.org/drawingml/2006/table">
                <a:tbl>
                  <a:tblPr firstRow="1" firstCol="1" bandRow="1">
                    <a:tableStyleId>{5940675A-B579-460E-94D1-54222C63F5DA}</a:tableStyleId>
                  </a:tblPr>
                  <a:tblGrid>
                    <a:gridCol w="2545080">
                      <a:extLst>
                        <a:ext uri="{9D8B030D-6E8A-4147-A177-3AD203B41FA5}">
                          <a16:colId xmlns="" xmlns:a16="http://schemas.microsoft.com/office/drawing/2014/main" val="20000"/>
                        </a:ext>
                      </a:extLst>
                    </a:gridCol>
                    <a:gridCol w="4334510">
                      <a:extLst>
                        <a:ext uri="{9D8B030D-6E8A-4147-A177-3AD203B41FA5}">
                          <a16:colId xmlns="" xmlns:a16="http://schemas.microsoft.com/office/drawing/2014/main" val="20001"/>
                        </a:ext>
                      </a:extLst>
                    </a:gridCol>
                  </a:tblGrid>
                  <a:tr h="46355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Attraction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Height Restriction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46355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Bay Slides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Guests must be </a:t>
                          </a:r>
                          <a14:m>
                            <m:oMath xmlns:m="http://schemas.openxmlformats.org/officeDocument/2006/math">
                              <m:r>
                                <a:rPr lang="en-US" sz="2000">
                                  <a:effectLst/>
                                  <a:latin typeface="Cambria Math" panose="02040503050406030204" pitchFamily="18" charset="0"/>
                                  <a:ea typeface="Cambria Math" panose="02040503050406030204" pitchFamily="18" charset="0"/>
                                </a:rPr>
                                <m:t>60</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inches or shorter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46355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Crush ‘n’ Gusher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Guests must be </a:t>
                          </a:r>
                          <a14:m>
                            <m:oMath xmlns:m="http://schemas.openxmlformats.org/officeDocument/2006/math">
                              <m:r>
                                <a:rPr lang="en-US" sz="2000">
                                  <a:effectLst/>
                                  <a:latin typeface="Cambria Math" panose="02040503050406030204" pitchFamily="18" charset="0"/>
                                  <a:ea typeface="Cambria Math" panose="02040503050406030204" pitchFamily="18" charset="0"/>
                                </a:rPr>
                                <m:t>48</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inches or taller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46355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Ketchakiddee Creek</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Guests must be </a:t>
                          </a:r>
                          <a14:m>
                            <m:oMath xmlns:m="http://schemas.openxmlformats.org/officeDocument/2006/math">
                              <m:r>
                                <a:rPr lang="en-US" sz="2000" smtClean="0">
                                  <a:effectLst/>
                                  <a:latin typeface="Cambria Math" panose="02040503050406030204" pitchFamily="18" charset="0"/>
                                  <a:ea typeface="Cambria Math" panose="02040503050406030204" pitchFamily="18" charset="0"/>
                                </a:rPr>
                                <m:t>48</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inches or shorter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859063734"/>
                  </p:ext>
                </p:extLst>
              </p:nvPr>
            </p:nvGraphicFramePr>
            <p:xfrm>
              <a:off x="2515806" y="3281006"/>
              <a:ext cx="6879590" cy="2566670"/>
            </p:xfrm>
            <a:graphic>
              <a:graphicData uri="http://schemas.openxmlformats.org/drawingml/2006/table">
                <a:tbl>
                  <a:tblPr firstRow="1" firstCol="1" bandRow="1">
                    <a:tableStyleId>{5940675A-B579-460E-94D1-54222C63F5DA}</a:tableStyleId>
                  </a:tblPr>
                  <a:tblGrid>
                    <a:gridCol w="2545080">
                      <a:extLst>
                        <a:ext uri="{9D8B030D-6E8A-4147-A177-3AD203B41FA5}">
                          <a16:colId xmlns:a16="http://schemas.microsoft.com/office/drawing/2014/main" val="20000"/>
                        </a:ext>
                      </a:extLst>
                    </a:gridCol>
                    <a:gridCol w="4334510">
                      <a:extLst>
                        <a:ext uri="{9D8B030D-6E8A-4147-A177-3AD203B41FA5}">
                          <a16:colId xmlns:a16="http://schemas.microsoft.com/office/drawing/2014/main" val="20001"/>
                        </a:ext>
                      </a:extLst>
                    </a:gridCol>
                  </a:tblGrid>
                  <a:tr h="46355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Attraction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Height Restriction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0104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Bay Slides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9238" t="-69091" r="-587" b="-216364"/>
                          </a:stretch>
                        </a:blipFill>
                      </a:tcPr>
                    </a:tc>
                    <a:extLst>
                      <a:ext uri="{0D108BD9-81ED-4DB2-BD59-A6C34878D82A}">
                        <a16:rowId xmlns:a16="http://schemas.microsoft.com/office/drawing/2014/main" val="10001"/>
                      </a:ext>
                    </a:extLst>
                  </a:tr>
                  <a:tr h="70104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Crush ‘n’ Gusher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9238" t="-166071" r="-587" b="-112500"/>
                          </a:stretch>
                        </a:blipFill>
                      </a:tcPr>
                    </a:tc>
                    <a:extLst>
                      <a:ext uri="{0D108BD9-81ED-4DB2-BD59-A6C34878D82A}">
                        <a16:rowId xmlns:a16="http://schemas.microsoft.com/office/drawing/2014/main" val="10002"/>
                      </a:ext>
                    </a:extLst>
                  </a:tr>
                  <a:tr h="70104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Ketchakiddee Creek</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59238" t="-270909" r="-587" b="-14545"/>
                          </a:stretch>
                        </a:blipFill>
                      </a:tcPr>
                    </a:tc>
                    <a:extLst>
                      <a:ext uri="{0D108BD9-81ED-4DB2-BD59-A6C34878D82A}">
                        <a16:rowId xmlns:a16="http://schemas.microsoft.com/office/drawing/2014/main" val="10003"/>
                      </a:ext>
                    </a:extLst>
                  </a:tr>
                </a:tbl>
              </a:graphicData>
            </a:graphic>
          </p:graphicFrame>
        </mc:Fallback>
      </mc:AlternateContent>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87</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B74EB5C6-2FDE-474B-866F-02AD6706D73C}"/>
              </a:ext>
            </a:extLst>
          </p:cNvPr>
          <p:cNvSpPr txBox="1"/>
          <p:nvPr/>
        </p:nvSpPr>
        <p:spPr>
          <a:xfrm>
            <a:off x="914400" y="374089"/>
            <a:ext cx="10515600" cy="156966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determine which graph represents the height restrictions of each attraction at Typhoon Lagoon. Then, draw an arrow from each attraction to its matching graph.</a:t>
            </a:r>
          </a:p>
        </p:txBody>
      </p:sp>
      <p:graphicFrame>
        <p:nvGraphicFramePr>
          <p:cNvPr id="2" name="Table 1"/>
          <p:cNvGraphicFramePr>
            <a:graphicFrameLocks noGrp="1"/>
          </p:cNvGraphicFramePr>
          <p:nvPr>
            <p:extLst>
              <p:ext uri="{D42A27DB-BD31-4B8C-83A1-F6EECF244321}">
                <p14:modId xmlns:p14="http://schemas.microsoft.com/office/powerpoint/2010/main" val="1207409035"/>
              </p:ext>
            </p:extLst>
          </p:nvPr>
        </p:nvGraphicFramePr>
        <p:xfrm>
          <a:off x="2163356" y="2003513"/>
          <a:ext cx="1887007" cy="4073642"/>
        </p:xfrm>
        <a:graphic>
          <a:graphicData uri="http://schemas.openxmlformats.org/drawingml/2006/table">
            <a:tbl>
              <a:tblPr firstRow="1" firstCol="1" bandRow="1">
                <a:tableStyleId>{5940675A-B579-460E-94D1-54222C63F5DA}</a:tableStyleId>
              </a:tblPr>
              <a:tblGrid>
                <a:gridCol w="1887007">
                  <a:extLst>
                    <a:ext uri="{9D8B030D-6E8A-4147-A177-3AD203B41FA5}">
                      <a16:colId xmlns="" xmlns:a16="http://schemas.microsoft.com/office/drawing/2014/main" val="20000"/>
                    </a:ext>
                  </a:extLst>
                </a:gridCol>
              </a:tblGrid>
              <a:tr h="52343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Attraction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890314">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Bay Slides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1279117">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Crush ‘n’ Gusher</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1380781">
                <a:tc>
                  <a:txBody>
                    <a:bodyPr/>
                    <a:lstStyle/>
                    <a:p>
                      <a:pPr marL="0" marR="0" algn="ctr">
                        <a:spcBef>
                          <a:spcPts val="0"/>
                        </a:spcBef>
                        <a:spcAft>
                          <a:spcPts val="0"/>
                        </a:spcAft>
                      </a:pPr>
                      <a:r>
                        <a:rPr lang="en-US" sz="2000" dirty="0" err="1">
                          <a:effectLst/>
                          <a:latin typeface="Verdana" panose="020B0604030504040204" pitchFamily="34" charset="0"/>
                          <a:ea typeface="Verdana" panose="020B0604030504040204" pitchFamily="34" charset="0"/>
                          <a:cs typeface="Verdana" panose="020B0604030504040204" pitchFamily="34" charset="0"/>
                        </a:rPr>
                        <a:t>Ketchakiddee</a:t>
                      </a:r>
                      <a:r>
                        <a:rPr lang="en-US" sz="2000" dirty="0">
                          <a:effectLst/>
                          <a:latin typeface="Verdana" panose="020B0604030504040204" pitchFamily="34" charset="0"/>
                          <a:ea typeface="Verdana" panose="020B0604030504040204" pitchFamily="34" charset="0"/>
                          <a:cs typeface="Verdana" panose="020B0604030504040204" pitchFamily="34" charset="0"/>
                        </a:rPr>
                        <a:t> Creek</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pic>
        <p:nvPicPr>
          <p:cNvPr id="13" name="Picture 12"/>
          <p:cNvPicPr/>
          <p:nvPr/>
        </p:nvPicPr>
        <p:blipFill>
          <a:blip r:embed="rId4"/>
          <a:stretch>
            <a:fillRect/>
          </a:stretch>
        </p:blipFill>
        <p:spPr>
          <a:xfrm>
            <a:off x="5054306" y="2963854"/>
            <a:ext cx="4892040" cy="403225"/>
          </a:xfrm>
          <a:prstGeom prst="rect">
            <a:avLst/>
          </a:prstGeom>
        </p:spPr>
      </p:pic>
      <p:pic>
        <p:nvPicPr>
          <p:cNvPr id="14" name="Picture 13"/>
          <p:cNvPicPr/>
          <p:nvPr/>
        </p:nvPicPr>
        <p:blipFill>
          <a:blip r:embed="rId5"/>
          <a:stretch>
            <a:fillRect/>
          </a:stretch>
        </p:blipFill>
        <p:spPr>
          <a:xfrm>
            <a:off x="5054306" y="3850531"/>
            <a:ext cx="4892040" cy="340995"/>
          </a:xfrm>
          <a:prstGeom prst="rect">
            <a:avLst/>
          </a:prstGeom>
        </p:spPr>
      </p:pic>
      <p:pic>
        <p:nvPicPr>
          <p:cNvPr id="15" name="Picture 14"/>
          <p:cNvPicPr/>
          <p:nvPr/>
        </p:nvPicPr>
        <p:blipFill>
          <a:blip r:embed="rId6"/>
          <a:stretch>
            <a:fillRect/>
          </a:stretch>
        </p:blipFill>
        <p:spPr>
          <a:xfrm>
            <a:off x="5160936" y="4790543"/>
            <a:ext cx="4892040" cy="374015"/>
          </a:xfrm>
          <a:prstGeom prst="rect">
            <a:avLst/>
          </a:prstGeom>
        </p:spPr>
      </p:pic>
      <p:pic>
        <p:nvPicPr>
          <p:cNvPr id="16" name="Picture 15"/>
          <p:cNvPicPr/>
          <p:nvPr/>
        </p:nvPicPr>
        <p:blipFill>
          <a:blip r:embed="rId7"/>
          <a:stretch>
            <a:fillRect/>
          </a:stretch>
        </p:blipFill>
        <p:spPr>
          <a:xfrm>
            <a:off x="5160936" y="5652975"/>
            <a:ext cx="4892040" cy="317500"/>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671797455"/>
              </p:ext>
            </p:extLst>
          </p:nvPr>
        </p:nvGraphicFramePr>
        <p:xfrm>
          <a:off x="4257522" y="1984207"/>
          <a:ext cx="6211227" cy="4073642"/>
        </p:xfrm>
        <a:graphic>
          <a:graphicData uri="http://schemas.openxmlformats.org/drawingml/2006/table">
            <a:tbl>
              <a:tblPr firstRow="1" firstCol="1" bandRow="1">
                <a:tableStyleId>{5940675A-B579-460E-94D1-54222C63F5DA}</a:tableStyleId>
              </a:tblPr>
              <a:tblGrid>
                <a:gridCol w="6211227">
                  <a:extLst>
                    <a:ext uri="{9D8B030D-6E8A-4147-A177-3AD203B41FA5}">
                      <a16:colId xmlns="" xmlns:a16="http://schemas.microsoft.com/office/drawing/2014/main" val="20000"/>
                    </a:ext>
                  </a:extLst>
                </a:gridCol>
              </a:tblGrid>
              <a:tr h="793474">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Graph Representing Safe Heights for the Attraction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680402">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933246">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986118">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680402">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bl>
          </a:graphicData>
        </a:graphic>
      </p:graphicFrame>
      <p:sp>
        <p:nvSpPr>
          <p:cNvPr id="1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87</a:t>
            </a:r>
            <a:endParaRPr i="1" dirty="0">
              <a:latin typeface="Calibri"/>
              <a:ea typeface="Calibri"/>
              <a:cs typeface="Calibri"/>
              <a:sym typeface="Calibri"/>
            </a:endParaRPr>
          </a:p>
        </p:txBody>
      </p:sp>
    </p:spTree>
    <p:extLst>
      <p:ext uri="{BB962C8B-B14F-4D97-AF65-F5344CB8AC3E}">
        <p14:creationId xmlns:p14="http://schemas.microsoft.com/office/powerpoint/2010/main" val="687834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B74EB5C6-2FDE-474B-866F-02AD6706D73C}"/>
                  </a:ext>
                </a:extLst>
              </p:cNvPr>
              <p:cNvSpPr txBox="1"/>
              <p:nvPr/>
            </p:nvSpPr>
            <p:spPr>
              <a:xfrm>
                <a:off x="914400" y="374089"/>
                <a:ext cx="10515600" cy="1938992"/>
              </a:xfrm>
              <a:prstGeom prst="rect">
                <a:avLst/>
              </a:prstGeom>
              <a:noFill/>
            </p:spPr>
            <p:txBody>
              <a:bodyPr wrap="square" rtlCol="0">
                <a:spAutoFit/>
              </a:bodyPr>
              <a:lstStyle/>
              <a:p>
                <a:pPr marL="457200" lvl="1"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Nick is happy to realize that he is tall enough to go on the Crush ‘n’ Gusher raft ride. Nick’s friend Matt is </a:t>
                </a:r>
                <a14:m>
                  <m:oMath xmlns:m="http://schemas.openxmlformats.org/officeDocument/2006/math">
                    <m:r>
                      <a:rPr lang="en-US" sz="2400" i="1" dirty="0">
                        <a:latin typeface="Cambria Math"/>
                        <a:ea typeface="Verdana" panose="020B0604030504040204" pitchFamily="34" charset="0"/>
                        <a:cs typeface="Verdana" panose="020B0604030504040204" pitchFamily="34" charset="0"/>
                      </a:rPr>
                      <m:t>2 </m:t>
                    </m:r>
                  </m:oMath>
                </a14:m>
                <a:r>
                  <a:rPr lang="en-US" sz="2400" dirty="0">
                    <a:latin typeface="Verdana" panose="020B0604030504040204" pitchFamily="34" charset="0"/>
                    <a:ea typeface="Verdana" panose="020B0604030504040204" pitchFamily="34" charset="0"/>
                    <a:cs typeface="Verdana" panose="020B0604030504040204" pitchFamily="34" charset="0"/>
                  </a:rPr>
                  <a:t>inches shorter than Nick. Explain whether Matt is tall enough to go on the ride with Nick. </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914400" y="374089"/>
                <a:ext cx="10515600" cy="1938992"/>
              </a:xfrm>
              <a:prstGeom prst="rect">
                <a:avLst/>
              </a:prstGeom>
              <a:blipFill>
                <a:blip r:embed="rId4"/>
                <a:stretch>
                  <a:fillRect l="-965" t="-2614" r="-965"/>
                </a:stretch>
              </a:blipFill>
            </p:spPr>
            <p:txBody>
              <a:bodyPr/>
              <a:lstStyle/>
              <a:p>
                <a:r>
                  <a:rPr lang="en-US">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87</a:t>
            </a:r>
            <a:endParaRPr i="1" dirty="0">
              <a:latin typeface="Calibri"/>
              <a:ea typeface="Calibri"/>
              <a:cs typeface="Calibri"/>
              <a:sym typeface="Calibri"/>
            </a:endParaRPr>
          </a:p>
        </p:txBody>
      </p:sp>
    </p:spTree>
    <p:extLst>
      <p:ext uri="{BB962C8B-B14F-4D97-AF65-F5344CB8AC3E}">
        <p14:creationId xmlns:p14="http://schemas.microsoft.com/office/powerpoint/2010/main" val="3097904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B74EB5C6-2FDE-474B-866F-02AD6706D73C}"/>
                  </a:ext>
                </a:extLst>
              </p:cNvPr>
              <p:cNvSpPr txBox="1"/>
              <p:nvPr/>
            </p:nvSpPr>
            <p:spPr>
              <a:xfrm>
                <a:off x="914400" y="374904"/>
                <a:ext cx="10515600" cy="3433953"/>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lnSpc>
                    <a:spcPct val="250000"/>
                  </a:lnSpc>
                </a:pPr>
                <a:r>
                  <a:rPr lang="en-US" sz="2400" dirty="0">
                    <a:latin typeface="Verdana" panose="020B0604030504040204" pitchFamily="34" charset="0"/>
                    <a:ea typeface="Verdana" panose="020B0604030504040204" pitchFamily="34" charset="0"/>
                    <a:cs typeface="Verdana" panose="020B0604030504040204" pitchFamily="34" charset="0"/>
                  </a:rPr>
                  <a:t>If Nick is </a:t>
                </a:r>
                <a14:m>
                  <m:oMath xmlns:m="http://schemas.openxmlformats.org/officeDocument/2006/math">
                    <m:r>
                      <a:rPr lang="en-US" sz="2400" i="1">
                        <a:latin typeface="Cambria Math" panose="02040503050406030204" pitchFamily="18" charset="0"/>
                        <a:ea typeface="Cambria Math" panose="02040503050406030204" pitchFamily="18" charset="0"/>
                      </a:rPr>
                      <m:t>𝑛</m:t>
                    </m:r>
                  </m:oMath>
                </a14:m>
                <a:r>
                  <a:rPr lang="en-US" sz="2400" dirty="0">
                    <a:latin typeface="Verdana" panose="020B0604030504040204" pitchFamily="34" charset="0"/>
                    <a:ea typeface="Verdana" panose="020B0604030504040204" pitchFamily="34" charset="0"/>
                    <a:cs typeface="Verdana" panose="020B0604030504040204" pitchFamily="34" charset="0"/>
                  </a:rPr>
                  <a:t> inches tall, then Matt is		 inches tall. For Matt to be tall enough to go on the Crush ‘n’ Gusher, the value of		     must be 		       or equal to		</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914400" y="374904"/>
                <a:ext cx="10515600" cy="3433953"/>
              </a:xfrm>
              <a:prstGeom prst="rect">
                <a:avLst/>
              </a:prstGeom>
              <a:blipFill>
                <a:blip r:embed="rId4"/>
                <a:stretch>
                  <a:fillRect l="-965" t="-1476" r="-241" b="-3321"/>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906528" y="1221549"/>
            <a:ext cx="1406619" cy="899400"/>
          </a:xfrm>
          <a:prstGeom prst="rect">
            <a:avLst/>
          </a:prstGeom>
        </p:spPr>
      </p:pic>
      <p:pic>
        <p:nvPicPr>
          <p:cNvPr id="7" name="Picture 6"/>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890528" y="3025436"/>
            <a:ext cx="1406619" cy="899400"/>
          </a:xfrm>
          <a:prstGeom prst="rect">
            <a:avLst/>
          </a:prstGeom>
        </p:spPr>
      </p:pic>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798220" y="3058782"/>
            <a:ext cx="2199143" cy="866054"/>
          </a:xfrm>
          <a:prstGeom prst="rect">
            <a:avLst/>
          </a:prstGeom>
        </p:spPr>
      </p:pic>
      <p:pic>
        <p:nvPicPr>
          <p:cNvPr id="4" name="Picture 3"/>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238070" y="2986638"/>
            <a:ext cx="1211693" cy="976996"/>
          </a:xfrm>
          <a:prstGeom prst="rect">
            <a:avLst/>
          </a:prstGeom>
        </p:spPr>
      </p:pic>
      <p:sp>
        <p:nvSpPr>
          <p:cNvPr id="13"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87</a:t>
            </a:r>
            <a:endParaRPr i="1" dirty="0">
              <a:latin typeface="Calibri"/>
              <a:ea typeface="Calibri"/>
              <a:cs typeface="Calibri"/>
              <a:sym typeface="Calibri"/>
            </a:endParaRPr>
          </a:p>
        </p:txBody>
      </p:sp>
    </p:spTree>
    <p:extLst>
      <p:ext uri="{BB962C8B-B14F-4D97-AF65-F5344CB8AC3E}">
        <p14:creationId xmlns:p14="http://schemas.microsoft.com/office/powerpoint/2010/main" val="3231553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B74EB5C6-2FDE-474B-866F-02AD6706D73C}"/>
              </a:ext>
            </a:extLst>
          </p:cNvPr>
          <p:cNvSpPr txBox="1"/>
          <p:nvPr/>
        </p:nvSpPr>
        <p:spPr>
          <a:xfrm>
            <a:off x="914399" y="374090"/>
            <a:ext cx="9282545" cy="3416320"/>
          </a:xfrm>
          <a:prstGeom prst="rect">
            <a:avLst/>
          </a:prstGeom>
          <a:noFill/>
        </p:spPr>
        <p:txBody>
          <a:bodyPr wrap="square" rtlCol="0">
            <a:spAutoFit/>
          </a:bodyPr>
          <a:lstStyle/>
          <a:p>
            <a:pPr marL="466725">
              <a:tabLst>
                <a:tab pos="3086100" algn="l"/>
              </a:tabLst>
            </a:pPr>
            <a:r>
              <a:rPr lang="en-US" sz="2400" dirty="0">
                <a:latin typeface="Verdana" panose="020B0604030504040204" pitchFamily="34" charset="0"/>
                <a:ea typeface="Verdana" panose="020B0604030504040204" pitchFamily="34" charset="0"/>
                <a:cs typeface="Verdana" panose="020B0604030504040204" pitchFamily="34" charset="0"/>
              </a:rPr>
              <a:t>Therefore, the solutions to the </a:t>
            </a:r>
            <a:r>
              <a:rPr lang="en-US" sz="2400" dirty="0" smtClean="0">
                <a:latin typeface="Verdana" panose="020B0604030504040204" pitchFamily="34" charset="0"/>
                <a:ea typeface="Verdana" panose="020B0604030504040204" pitchFamily="34" charset="0"/>
                <a:cs typeface="Verdana" panose="020B0604030504040204" pitchFamily="34" charset="0"/>
              </a:rPr>
              <a:t>inequality</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represent </a:t>
            </a:r>
            <a:r>
              <a:rPr lang="en-US" sz="2400" dirty="0">
                <a:latin typeface="Verdana" panose="020B0604030504040204" pitchFamily="34" charset="0"/>
                <a:ea typeface="Verdana" panose="020B0604030504040204" pitchFamily="34" charset="0"/>
                <a:cs typeface="Verdana" panose="020B0604030504040204" pitchFamily="34" charset="0"/>
              </a:rPr>
              <a:t>Nick’s height, which means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that </a:t>
            </a:r>
            <a:r>
              <a:rPr lang="en-US" sz="2400" dirty="0">
                <a:latin typeface="Verdana" panose="020B0604030504040204" pitchFamily="34" charset="0"/>
                <a:ea typeface="Verdana" panose="020B0604030504040204" pitchFamily="34" charset="0"/>
                <a:cs typeface="Verdana" panose="020B0604030504040204" pitchFamily="34" charset="0"/>
              </a:rPr>
              <a:t>Matt </a:t>
            </a:r>
            <a:r>
              <a:rPr lang="en-US" sz="2400" dirty="0" smtClean="0">
                <a:latin typeface="Verdana" panose="020B0604030504040204" pitchFamily="34" charset="0"/>
                <a:ea typeface="Verdana" panose="020B0604030504040204" pitchFamily="34" charset="0"/>
                <a:cs typeface="Verdana" panose="020B0604030504040204" pitchFamily="34" charset="0"/>
              </a:rPr>
              <a:t>could also </a:t>
            </a:r>
            <a:r>
              <a:rPr lang="en-US" sz="2400" dirty="0">
                <a:latin typeface="Verdana" panose="020B0604030504040204" pitchFamily="34" charset="0"/>
                <a:ea typeface="Verdana" panose="020B0604030504040204" pitchFamily="34" charset="0"/>
                <a:cs typeface="Verdana" panose="020B0604030504040204" pitchFamily="34" charset="0"/>
              </a:rPr>
              <a:t>ride the Crush ‘n’ Gusher.</a:t>
            </a:r>
          </a:p>
        </p:txBody>
      </p:sp>
      <p:pic>
        <p:nvPicPr>
          <p:cNvPr id="6" name="Picture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61177" y="1417352"/>
            <a:ext cx="1325096" cy="1329795"/>
          </a:xfrm>
          <a:prstGeom prst="rect">
            <a:avLst/>
          </a:prstGeom>
        </p:spPr>
      </p:pic>
      <p:pic>
        <p:nvPicPr>
          <p:cNvPr id="2" name="Picture 1"/>
          <p:cNvPicPr>
            <a:picLocks noChangeAspect="1"/>
          </p:cNvPicPr>
          <p:nvPr/>
        </p:nvPicPr>
        <p:blipFill>
          <a:blip r:embed="rId5"/>
          <a:stretch>
            <a:fillRect/>
          </a:stretch>
        </p:blipFill>
        <p:spPr>
          <a:xfrm>
            <a:off x="2796307" y="1603227"/>
            <a:ext cx="1162331" cy="958043"/>
          </a:xfrm>
          <a:prstGeom prst="rect">
            <a:avLst/>
          </a:prstGeom>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87</a:t>
            </a:r>
            <a:endParaRPr i="1" dirty="0">
              <a:latin typeface="Calibri"/>
              <a:ea typeface="Calibri"/>
              <a:cs typeface="Calibri"/>
              <a:sym typeface="Calibri"/>
            </a:endParaRPr>
          </a:p>
        </p:txBody>
      </p:sp>
    </p:spTree>
    <p:extLst>
      <p:ext uri="{BB962C8B-B14F-4D97-AF65-F5344CB8AC3E}">
        <p14:creationId xmlns:p14="http://schemas.microsoft.com/office/powerpoint/2010/main" val="2311167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B74EB5C6-2FDE-474B-866F-02AD6706D73C}"/>
                  </a:ext>
                </a:extLst>
              </p:cNvPr>
              <p:cNvSpPr txBox="1"/>
              <p:nvPr/>
            </p:nvSpPr>
            <p:spPr>
              <a:xfrm>
                <a:off x="914400" y="374090"/>
                <a:ext cx="10515600" cy="6186309"/>
              </a:xfrm>
              <a:prstGeom prst="rect">
                <a:avLst/>
              </a:prstGeom>
              <a:noFill/>
            </p:spPr>
            <p:txBody>
              <a:bodyPr wrap="square" rtlCol="0">
                <a:spAutoFit/>
              </a:bodyPr>
              <a:lstStyle/>
              <a:p>
                <a:pPr marL="457200" indent="-457200">
                  <a:buFont typeface="+mj-lt"/>
                  <a:buAutoNum type="arabicPeriod" startAt="4"/>
                </a:pPr>
                <a:r>
                  <a:rPr lang="en-US" sz="2200" dirty="0">
                    <a:latin typeface="Verdana" panose="020B0604030504040204" pitchFamily="34" charset="0"/>
                    <a:ea typeface="Verdana" panose="020B0604030504040204" pitchFamily="34" charset="0"/>
                    <a:cs typeface="Verdana" panose="020B0604030504040204" pitchFamily="34" charset="0"/>
                  </a:rPr>
                  <a:t>On the number line, show all the possible heights that Nick could be if Matt is also tall enough to go on the ride.</a:t>
                </a: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200" dirty="0">
                    <a:latin typeface="Verdana" panose="020B0604030504040204" pitchFamily="34" charset="0"/>
                    <a:ea typeface="Verdana" panose="020B0604030504040204" pitchFamily="34" charset="0"/>
                    <a:cs typeface="Verdana" panose="020B0604030504040204" pitchFamily="34" charset="0"/>
                  </a:rPr>
                  <a:t>What is the minimum height Nick must be in order for Matt to be able to go on the ride as well?</a:t>
                </a: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r>
                  <a:rPr lang="en-US" sz="2200" dirty="0">
                    <a:latin typeface="Verdana" panose="020B0604030504040204" pitchFamily="34" charset="0"/>
                    <a:ea typeface="Verdana" panose="020B0604030504040204" pitchFamily="34" charset="0"/>
                    <a:cs typeface="Verdana" panose="020B0604030504040204" pitchFamily="34" charset="0"/>
                  </a:rPr>
                  <a:t>Julia noticed the graph also represents the solutions to the inequality </a:t>
                </a:r>
                <a14:m>
                  <m:oMath xmlns:m="http://schemas.openxmlformats.org/officeDocument/2006/math">
                    <m:r>
                      <a:rPr lang="en-US" sz="2200" i="1">
                        <a:latin typeface="Cambria Math" panose="02040503050406030204" pitchFamily="18" charset="0"/>
                        <a:ea typeface="Cambria Math" panose="02040503050406030204" pitchFamily="18" charset="0"/>
                      </a:rPr>
                      <m:t>𝑛</m:t>
                    </m:r>
                    <m:r>
                      <a:rPr lang="en-US" sz="2200" i="1">
                        <a:latin typeface="Cambria Math" panose="02040503050406030204" pitchFamily="18" charset="0"/>
                        <a:ea typeface="Cambria Math" panose="02040503050406030204" pitchFamily="18" charset="0"/>
                      </a:rPr>
                      <m:t>≥50</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200" dirty="0">
                    <a:latin typeface="Verdana" panose="020B0604030504040204" pitchFamily="34" charset="0"/>
                    <a:ea typeface="Verdana" panose="020B0604030504040204" pitchFamily="34" charset="0"/>
                    <a:cs typeface="Verdana" panose="020B0604030504040204" pitchFamily="34" charset="0"/>
                  </a:rPr>
                  <a:t>Work with your partner to explain why the solutions to the inequality </a:t>
                </a:r>
                <a14:m>
                  <m:oMath xmlns:m="http://schemas.openxmlformats.org/officeDocument/2006/math">
                    <m:r>
                      <a:rPr lang="en-US" sz="2200" i="1">
                        <a:latin typeface="Cambria Math" panose="02040503050406030204" pitchFamily="18" charset="0"/>
                        <a:ea typeface="Cambria Math" panose="02040503050406030204" pitchFamily="18" charset="0"/>
                      </a:rPr>
                      <m:t>𝑛</m:t>
                    </m:r>
                    <m:r>
                      <a:rPr lang="en-US" sz="2200" i="1">
                        <a:latin typeface="Cambria Math" panose="02040503050406030204" pitchFamily="18" charset="0"/>
                        <a:ea typeface="Cambria Math" panose="02040503050406030204" pitchFamily="18" charset="0"/>
                      </a:rPr>
                      <m:t>−2≥48</m:t>
                    </m:r>
                    <m:r>
                      <a:rPr lang="en-US" sz="2200">
                        <a:latin typeface="Cambria Math" panose="02040503050406030204" pitchFamily="18" charset="0"/>
                        <a:ea typeface="Cambria Math" panose="02040503050406030204" pitchFamily="18" charset="0"/>
                      </a:rPr>
                      <m:t> </m:t>
                    </m:r>
                  </m:oMath>
                </a14:m>
                <a:r>
                  <a:rPr lang="en-US" sz="2200" dirty="0">
                    <a:latin typeface="Verdana" panose="020B0604030504040204" pitchFamily="34" charset="0"/>
                    <a:ea typeface="Verdana" panose="020B0604030504040204" pitchFamily="34" charset="0"/>
                    <a:cs typeface="Verdana" panose="020B0604030504040204" pitchFamily="34" charset="0"/>
                  </a:rPr>
                  <a:t>can be represented the same way on a number line as </a:t>
                </a:r>
                <a14:m>
                  <m:oMath xmlns:m="http://schemas.openxmlformats.org/officeDocument/2006/math">
                    <m:r>
                      <a:rPr lang="en-US" sz="2200" i="1">
                        <a:latin typeface="Cambria Math" panose="02040503050406030204" pitchFamily="18" charset="0"/>
                        <a:ea typeface="Cambria Math" panose="02040503050406030204" pitchFamily="18" charset="0"/>
                      </a:rPr>
                      <m:t>𝑛</m:t>
                    </m:r>
                    <m:r>
                      <a:rPr lang="en-US" sz="2200" i="1">
                        <a:latin typeface="Cambria Math" panose="02040503050406030204" pitchFamily="18" charset="0"/>
                        <a:ea typeface="Cambria Math" panose="02040503050406030204" pitchFamily="18" charset="0"/>
                      </a:rPr>
                      <m:t>≥50</m:t>
                    </m:r>
                  </m:oMath>
                </a14:m>
                <a:r>
                  <a:rPr lang="en-US" sz="22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914400" y="374090"/>
                <a:ext cx="10515600" cy="6186309"/>
              </a:xfrm>
              <a:prstGeom prst="rect">
                <a:avLst/>
              </a:prstGeom>
              <a:blipFill>
                <a:blip r:embed="rId4"/>
                <a:stretch>
                  <a:fillRect l="-844" t="-820" r="-1327"/>
                </a:stretch>
              </a:blipFill>
            </p:spPr>
            <p:txBody>
              <a:bodyPr/>
              <a:lstStyle/>
              <a:p>
                <a:r>
                  <a:rPr lang="en-US">
                    <a:noFill/>
                  </a:rPr>
                  <a:t> </a:t>
                </a:r>
              </a:p>
            </p:txBody>
          </p:sp>
        </mc:Fallback>
      </mc:AlternateContent>
      <p:pic>
        <p:nvPicPr>
          <p:cNvPr id="6" name="Picture 5"/>
          <p:cNvPicPr/>
          <p:nvPr/>
        </p:nvPicPr>
        <p:blipFill>
          <a:blip r:embed="rId5"/>
          <a:stretch>
            <a:fillRect/>
          </a:stretch>
        </p:blipFill>
        <p:spPr>
          <a:xfrm>
            <a:off x="2697480" y="1355775"/>
            <a:ext cx="6949440" cy="484505"/>
          </a:xfrm>
          <a:prstGeom prst="rect">
            <a:avLst/>
          </a:prstGeom>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88</a:t>
            </a:r>
            <a:endParaRPr i="1" dirty="0">
              <a:latin typeface="Calibri"/>
              <a:ea typeface="Calibri"/>
              <a:cs typeface="Calibri"/>
              <a:sym typeface="Calibri"/>
            </a:endParaRPr>
          </a:p>
        </p:txBody>
      </p:sp>
    </p:spTree>
    <p:extLst>
      <p:ext uri="{BB962C8B-B14F-4D97-AF65-F5344CB8AC3E}">
        <p14:creationId xmlns:p14="http://schemas.microsoft.com/office/powerpoint/2010/main" val="257931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13314" name="Picture 2" descr="Icon&#10;&#10;Description automatically generated">
            <a:extLst>
              <a:ext uri="{FF2B5EF4-FFF2-40B4-BE49-F238E27FC236}">
                <a16:creationId xmlns=""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907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88</a:t>
            </a:r>
            <a:endParaRPr i="1" dirty="0">
              <a:latin typeface="Calibri"/>
              <a:ea typeface="Calibri"/>
              <a:cs typeface="Calibri"/>
              <a:sym typeface="Calibri"/>
            </a:endParaRPr>
          </a:p>
        </p:txBody>
      </p:sp>
      <p:sp>
        <p:nvSpPr>
          <p:cNvPr id="8"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lang="en-US" sz="5100" b="1" dirty="0">
              <a:solidFill>
                <a:srgbClr val="54B5D1"/>
              </a:solidFill>
              <a:latin typeface="Verdana"/>
              <a:ea typeface="Verdana"/>
              <a:cs typeface="Verdana"/>
              <a:sym typeface="Verdana"/>
            </a:endParaRPr>
          </a:p>
        </p:txBody>
      </p:sp>
    </p:spTree>
    <p:extLst>
      <p:ext uri="{BB962C8B-B14F-4D97-AF65-F5344CB8AC3E}">
        <p14:creationId xmlns:p14="http://schemas.microsoft.com/office/powerpoint/2010/main" val="2456065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143000" y="68736"/>
            <a:ext cx="10515600" cy="8124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600" b="1" dirty="0">
                <a:solidFill>
                  <a:srgbClr val="54B5D1"/>
                </a:solidFill>
                <a:latin typeface="Verdana"/>
                <a:ea typeface="Verdana"/>
                <a:cs typeface="Verdana"/>
                <a:sym typeface="Verdana"/>
              </a:rPr>
              <a:t>10.1.4 Bring It Together: Inequalities in Mathematical and Real-World Contexts</a:t>
            </a:r>
          </a:p>
        </p:txBody>
      </p:sp>
      <p:sp>
        <p:nvSpPr>
          <p:cNvPr id="8" name="TextBox 7">
            <a:extLst>
              <a:ext uri="{FF2B5EF4-FFF2-40B4-BE49-F238E27FC236}">
                <a16:creationId xmlns="" xmlns:a16="http://schemas.microsoft.com/office/drawing/2014/main" id="{669E00F9-F39F-5043-888E-B0A2D8C9AE0F}"/>
              </a:ext>
            </a:extLst>
          </p:cNvPr>
          <p:cNvSpPr txBox="1"/>
          <p:nvPr/>
        </p:nvSpPr>
        <p:spPr>
          <a:xfrm>
            <a:off x="914400" y="1386026"/>
            <a:ext cx="10515600" cy="489364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Inequalities have an infinite number of solutions. The set of all the solutions of an inequality is called the </a:t>
            </a:r>
            <a:r>
              <a:rPr lang="en-US" sz="2400" b="1" i="1" dirty="0">
                <a:latin typeface="Verdana" panose="020B0604030504040204" pitchFamily="34" charset="0"/>
                <a:ea typeface="Verdana" panose="020B0604030504040204" pitchFamily="34" charset="0"/>
                <a:cs typeface="Verdana" panose="020B0604030504040204" pitchFamily="34" charset="0"/>
              </a:rPr>
              <a:t>solution set</a:t>
            </a:r>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One way to represent the solution set of an inequality is by shading the values on the number line, beginning with the minimum or maximum value, and including all the values to the right or left of it that are included in the solutions set.</a:t>
            </a:r>
          </a:p>
        </p:txBody>
      </p:sp>
      <p:pic>
        <p:nvPicPr>
          <p:cNvPr id="10" name="Picture 2" descr="Icon&#10;&#10;Description automatically generated">
            <a:extLst>
              <a:ext uri="{FF2B5EF4-FFF2-40B4-BE49-F238E27FC236}">
                <a16:creationId xmlns="" xmlns:a16="http://schemas.microsoft.com/office/drawing/2014/main" id="{2375E889-EE73-6348-B442-A413C5A27F4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10007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1772976" y="2417703"/>
            <a:ext cx="8280000" cy="1080111"/>
            <a:chOff x="1310448" y="3252875"/>
            <a:chExt cx="8280000" cy="1080260"/>
          </a:xfrm>
        </p:grpSpPr>
        <p:sp>
          <p:nvSpPr>
            <p:cNvPr id="11" name="Rectangle 10"/>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3" name="Group 12"/>
            <p:cNvGrpSpPr/>
            <p:nvPr/>
          </p:nvGrpSpPr>
          <p:grpSpPr>
            <a:xfrm>
              <a:off x="1310448" y="3252875"/>
              <a:ext cx="8280000" cy="1080260"/>
              <a:chOff x="1310448" y="3252875"/>
              <a:chExt cx="8280000" cy="1080260"/>
            </a:xfrm>
          </p:grpSpPr>
          <p:sp>
            <p:nvSpPr>
              <p:cNvPr id="14" name="Rectangle 13"/>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5" name="Group 14"/>
              <p:cNvGrpSpPr/>
              <p:nvPr/>
            </p:nvGrpSpPr>
            <p:grpSpPr>
              <a:xfrm>
                <a:off x="1310448" y="3252875"/>
                <a:ext cx="8280000" cy="1080260"/>
                <a:chOff x="1310448" y="3252875"/>
                <a:chExt cx="8280000" cy="1080260"/>
              </a:xfrm>
            </p:grpSpPr>
            <p:sp>
              <p:nvSpPr>
                <p:cNvPr id="16" name="Rectangle 15"/>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7" name="Group 16"/>
                <p:cNvGrpSpPr/>
                <p:nvPr/>
              </p:nvGrpSpPr>
              <p:grpSpPr>
                <a:xfrm>
                  <a:off x="1310448" y="3252875"/>
                  <a:ext cx="8280000" cy="1080260"/>
                  <a:chOff x="1310448" y="3252875"/>
                  <a:chExt cx="8280000" cy="1080260"/>
                </a:xfrm>
              </p:grpSpPr>
              <p:sp>
                <p:nvSpPr>
                  <p:cNvPr id="18" name="Rectangle 17"/>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9" name="Group 18"/>
                  <p:cNvGrpSpPr/>
                  <p:nvPr/>
                </p:nvGrpSpPr>
                <p:grpSpPr>
                  <a:xfrm>
                    <a:off x="1310448" y="3252875"/>
                    <a:ext cx="8280000" cy="1080260"/>
                    <a:chOff x="1310448" y="3262288"/>
                    <a:chExt cx="8280000" cy="1060974"/>
                  </a:xfrm>
                </p:grpSpPr>
                <p:sp>
                  <p:nvSpPr>
                    <p:cNvPr id="20" name="Rectangle 19"/>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1" name="Group 20"/>
                    <p:cNvGrpSpPr/>
                    <p:nvPr/>
                  </p:nvGrpSpPr>
                  <p:grpSpPr>
                    <a:xfrm>
                      <a:off x="1310448" y="3262288"/>
                      <a:ext cx="8280000" cy="1060974"/>
                      <a:chOff x="1310448" y="3373600"/>
                      <a:chExt cx="8280000" cy="1060974"/>
                    </a:xfrm>
                  </p:grpSpPr>
                  <p:sp>
                    <p:nvSpPr>
                      <p:cNvPr id="22" name="Rectangle 21"/>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3" name="Group 22"/>
                      <p:cNvGrpSpPr/>
                      <p:nvPr/>
                    </p:nvGrpSpPr>
                    <p:grpSpPr>
                      <a:xfrm>
                        <a:off x="1310448" y="3373600"/>
                        <a:ext cx="8280000" cy="1060974"/>
                        <a:chOff x="1310448" y="3373600"/>
                        <a:chExt cx="8280000" cy="1060974"/>
                      </a:xfrm>
                    </p:grpSpPr>
                    <p:sp>
                      <p:nvSpPr>
                        <p:cNvPr id="24" name="Rectangle 23"/>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5" name="Group 24"/>
                        <p:cNvGrpSpPr/>
                        <p:nvPr/>
                      </p:nvGrpSpPr>
                      <p:grpSpPr>
                        <a:xfrm>
                          <a:off x="1310448" y="3373600"/>
                          <a:ext cx="8280000" cy="1060974"/>
                          <a:chOff x="-720852" y="0"/>
                          <a:chExt cx="8280000" cy="1060974"/>
                        </a:xfrm>
                      </p:grpSpPr>
                      <p:sp>
                        <p:nvSpPr>
                          <p:cNvPr id="26" name="Rectangle 25"/>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7" name="Rounded Rectangle 26"/>
                          <p:cNvSpPr/>
                          <p:nvPr/>
                        </p:nvSpPr>
                        <p:spPr>
                          <a:xfrm>
                            <a:off x="-720852" y="173621"/>
                            <a:ext cx="8280000" cy="887353"/>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a:spcAft>
                                <a:spcPts val="1000"/>
                              </a:spcAft>
                            </a:pPr>
                            <a:r>
                              <a:rPr lang="en-US" sz="2000" dirty="0">
                                <a:solidFill>
                                  <a:srgbClr val="6D983E"/>
                                </a:solidFill>
                                <a:latin typeface="Verdana" panose="020B0604030504040204" pitchFamily="34" charset="0"/>
                                <a:ea typeface="Times New Roman" panose="02020603050405020304" pitchFamily="18" charset="0"/>
                                <a:cs typeface="Times New Roman" panose="02020603050405020304" pitchFamily="18" charset="0"/>
                              </a:rPr>
                              <a:t>The </a:t>
                            </a:r>
                            <a:r>
                              <a:rPr lang="en-US" sz="2000" b="1" i="1" dirty="0">
                                <a:solidFill>
                                  <a:srgbClr val="6D983E"/>
                                </a:solidFill>
                                <a:latin typeface="Verdana" panose="020B0604030504040204" pitchFamily="34" charset="0"/>
                                <a:ea typeface="Times New Roman" panose="02020603050405020304" pitchFamily="18" charset="0"/>
                                <a:cs typeface="Times New Roman" panose="02020603050405020304" pitchFamily="18" charset="0"/>
                              </a:rPr>
                              <a:t>solution set</a:t>
                            </a:r>
                            <a:r>
                              <a:rPr lang="en-US" sz="2000" b="1" dirty="0">
                                <a:solidFill>
                                  <a:srgbClr val="6D983E"/>
                                </a:solidFill>
                                <a:latin typeface="Verdana" panose="020B0604030504040204" pitchFamily="34" charset="0"/>
                                <a:ea typeface="Times New Roman" panose="02020603050405020304" pitchFamily="18" charset="0"/>
                                <a:cs typeface="Times New Roman" panose="02020603050405020304" pitchFamily="18" charset="0"/>
                              </a:rPr>
                              <a:t> </a:t>
                            </a:r>
                            <a:r>
                              <a:rPr lang="en-US" sz="2000" dirty="0">
                                <a:solidFill>
                                  <a:srgbClr val="6D983E"/>
                                </a:solidFill>
                                <a:latin typeface="Verdana" panose="020B0604030504040204" pitchFamily="34" charset="0"/>
                                <a:ea typeface="Times New Roman" panose="02020603050405020304" pitchFamily="18" charset="0"/>
                                <a:cs typeface="Times New Roman" panose="02020603050405020304" pitchFamily="18" charset="0"/>
                              </a:rPr>
                              <a:t>of an inequality includes the values that, when substituted for the variable, make the inequality true.</a:t>
                            </a:r>
                            <a:r>
                              <a:rPr lang="en-US" sz="2000" dirty="0">
                                <a:latin typeface="Cambria" panose="02040503050406030204" pitchFamily="18" charset="0"/>
                                <a:ea typeface="Times New Roman" panose="02020603050405020304" pitchFamily="18" charset="0"/>
                                <a:cs typeface="Times New Roman" panose="02020603050405020304" pitchFamily="18" charset="0"/>
                              </a:rPr>
                              <a:t> </a:t>
                            </a:r>
                          </a:p>
                        </p:txBody>
                      </p:sp>
                    </p:grpSp>
                  </p:grpSp>
                </p:grpSp>
              </p:grpSp>
            </p:grpSp>
          </p:grpSp>
        </p:grpSp>
      </p:grpSp>
      <p:sp>
        <p:nvSpPr>
          <p:cNvPr id="2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88</a:t>
            </a:r>
            <a:endParaRPr i="1" dirty="0">
              <a:latin typeface="Calibri"/>
              <a:ea typeface="Calibri"/>
              <a:cs typeface="Calibri"/>
              <a:sym typeface="Calibri"/>
            </a:endParaRPr>
          </a:p>
        </p:txBody>
      </p:sp>
    </p:spTree>
    <p:extLst>
      <p:ext uri="{BB962C8B-B14F-4D97-AF65-F5344CB8AC3E}">
        <p14:creationId xmlns:p14="http://schemas.microsoft.com/office/powerpoint/2010/main" val="3399856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85126"/>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A08C1C0E-C7C0-F14B-88E2-57B6133AD69D}"/>
              </a:ext>
            </a:extLst>
          </p:cNvPr>
          <p:cNvSpPr txBox="1"/>
          <p:nvPr/>
        </p:nvSpPr>
        <p:spPr>
          <a:xfrm>
            <a:off x="914400" y="435051"/>
            <a:ext cx="10464800" cy="5786199"/>
          </a:xfrm>
          <a:prstGeom prst="rect">
            <a:avLst/>
          </a:prstGeom>
          <a:noFill/>
        </p:spPr>
        <p:txBody>
          <a:bodyPr wrap="square" rtlCol="0">
            <a:spAutoFit/>
          </a:bodyPr>
          <a:lstStyle/>
          <a:p>
            <a:pPr marL="457200" lvl="2"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a:t>
            </a:r>
          </a:p>
          <a:p>
            <a:pPr marL="466725" lvl="2">
              <a:lnSpc>
                <a:spcPct val="200000"/>
              </a:lnSpc>
            </a:pPr>
            <a:r>
              <a:rPr lang="en-US" sz="2000" dirty="0">
                <a:latin typeface="Verdana" panose="020B0604030504040204" pitchFamily="34" charset="0"/>
                <a:ea typeface="Verdana" panose="020B0604030504040204" pitchFamily="34" charset="0"/>
                <a:cs typeface="Verdana" panose="020B0604030504040204" pitchFamily="34" charset="0"/>
              </a:rPr>
              <a:t>A minimum or maximum value represented by an open circle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means </a:t>
            </a:r>
            <a:r>
              <a:rPr lang="en-US" sz="2000" dirty="0">
                <a:latin typeface="Verdana" panose="020B0604030504040204" pitchFamily="34" charset="0"/>
                <a:ea typeface="Verdana" panose="020B0604030504040204" pitchFamily="34" charset="0"/>
                <a:cs typeface="Verdana" panose="020B0604030504040204" pitchFamily="34" charset="0"/>
              </a:rPr>
              <a:t>the value </a:t>
            </a:r>
            <a:r>
              <a:rPr lang="en-US" sz="2000" dirty="0" smtClean="0">
                <a:latin typeface="Verdana" panose="020B0604030504040204" pitchFamily="34" charset="0"/>
                <a:ea typeface="Verdana" panose="020B0604030504040204" pitchFamily="34" charset="0"/>
                <a:cs typeface="Verdana" panose="020B0604030504040204" pitchFamily="34" charset="0"/>
              </a:rPr>
              <a:t>is</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the </a:t>
            </a:r>
            <a:r>
              <a:rPr lang="en-US" sz="2000" dirty="0">
                <a:latin typeface="Verdana" panose="020B0604030504040204" pitchFamily="34" charset="0"/>
                <a:ea typeface="Verdana" panose="020B0604030504040204" pitchFamily="34" charset="0"/>
                <a:cs typeface="Verdana" panose="020B0604030504040204" pitchFamily="34" charset="0"/>
              </a:rPr>
              <a:t>solution set.</a:t>
            </a:r>
          </a:p>
          <a:p>
            <a:pPr marL="466725" lvl="2">
              <a:lnSpc>
                <a:spcPct val="200000"/>
              </a:lnSpc>
            </a:pPr>
            <a:r>
              <a:rPr lang="en-US" sz="2000" dirty="0">
                <a:latin typeface="Verdana" panose="020B0604030504040204" pitchFamily="34" charset="0"/>
                <a:ea typeface="Verdana" panose="020B0604030504040204" pitchFamily="34" charset="0"/>
                <a:cs typeface="Verdana" panose="020B0604030504040204" pitchFamily="34" charset="0"/>
              </a:rPr>
              <a:t>A minimum or maximum value represented by a closed circle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means </a:t>
            </a:r>
            <a:r>
              <a:rPr lang="en-US" sz="2000" dirty="0">
                <a:latin typeface="Verdana" panose="020B0604030504040204" pitchFamily="34" charset="0"/>
                <a:ea typeface="Verdana" panose="020B0604030504040204" pitchFamily="34" charset="0"/>
                <a:cs typeface="Verdana" panose="020B0604030504040204" pitchFamily="34" charset="0"/>
              </a:rPr>
              <a:t>the value </a:t>
            </a:r>
            <a:r>
              <a:rPr lang="en-US" sz="2000" dirty="0" smtClean="0">
                <a:latin typeface="Verdana" panose="020B0604030504040204" pitchFamily="34" charset="0"/>
                <a:ea typeface="Verdana" panose="020B0604030504040204" pitchFamily="34" charset="0"/>
                <a:cs typeface="Verdana" panose="020B0604030504040204" pitchFamily="34" charset="0"/>
              </a:rPr>
              <a:t>is</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the </a:t>
            </a:r>
            <a:r>
              <a:rPr lang="en-US" sz="2000" dirty="0">
                <a:latin typeface="Verdana" panose="020B0604030504040204" pitchFamily="34" charset="0"/>
                <a:ea typeface="Verdana" panose="020B0604030504040204" pitchFamily="34" charset="0"/>
                <a:cs typeface="Verdana" panose="020B0604030504040204" pitchFamily="34" charset="0"/>
              </a:rPr>
              <a:t>solution set.</a:t>
            </a:r>
          </a:p>
          <a:p>
            <a:pPr lvl="2"/>
            <a:endParaRPr lang="en-US" sz="2000" dirty="0">
              <a:latin typeface="Verdana" panose="020B0604030504040204" pitchFamily="34" charset="0"/>
              <a:ea typeface="Verdana" panose="020B0604030504040204" pitchFamily="34" charset="0"/>
              <a:cs typeface="Verdana" panose="020B0604030504040204" pitchFamily="34" charset="0"/>
            </a:endParaRPr>
          </a:p>
          <a:p>
            <a:pPr lvl="2">
              <a:lnSpc>
                <a:spcPct val="150000"/>
              </a:lnSpc>
            </a:pPr>
            <a:r>
              <a:rPr lang="en-US" sz="2000" dirty="0">
                <a:latin typeface="Verdana" panose="020B0604030504040204" pitchFamily="34" charset="0"/>
                <a:ea typeface="Verdana" panose="020B0604030504040204" pitchFamily="34" charset="0"/>
                <a:cs typeface="Verdana" panose="020B0604030504040204" pitchFamily="34" charset="0"/>
              </a:rPr>
              <a:t>Graphs representing the solution set of inequalities are helpful when interpreting them in real-world contexts. However, sometimes there are parts of the solution set that may not make sense in a given context. </a:t>
            </a: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016268" y="1338707"/>
            <a:ext cx="2492638" cy="899642"/>
          </a:xfrm>
          <a:prstGeom prst="rect">
            <a:avLst/>
          </a:prstGeom>
        </p:spPr>
      </p:pic>
      <p:pic>
        <p:nvPicPr>
          <p:cNvPr id="7" name="Picture 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020318" y="3152974"/>
            <a:ext cx="2532427" cy="914002"/>
          </a:xfrm>
          <a:prstGeom prst="rect">
            <a:avLst/>
          </a:prstGeom>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88</a:t>
            </a:r>
            <a:endParaRPr i="1" dirty="0">
              <a:latin typeface="Calibri"/>
              <a:ea typeface="Calibri"/>
              <a:cs typeface="Calibri"/>
              <a:sym typeface="Calibri"/>
            </a:endParaRPr>
          </a:p>
        </p:txBody>
      </p:sp>
    </p:spTree>
    <p:extLst>
      <p:ext uri="{BB962C8B-B14F-4D97-AF65-F5344CB8AC3E}">
        <p14:creationId xmlns:p14="http://schemas.microsoft.com/office/powerpoint/2010/main" val="772273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A08C1C0E-C7C0-F14B-88E2-57B6133AD69D}"/>
                  </a:ext>
                </a:extLst>
              </p:cNvPr>
              <p:cNvSpPr txBox="1"/>
              <p:nvPr/>
            </p:nvSpPr>
            <p:spPr>
              <a:xfrm>
                <a:off x="914400" y="435050"/>
                <a:ext cx="10515600" cy="6001643"/>
              </a:xfrm>
              <a:prstGeom prst="rect">
                <a:avLst/>
              </a:prstGeom>
              <a:noFill/>
            </p:spPr>
            <p:txBody>
              <a:bodyPr wrap="square" rtlCol="0">
                <a:spAutoFit/>
              </a:bodyPr>
              <a:lstStyle/>
              <a:p>
                <a:pPr lvl="2"/>
                <a:r>
                  <a:rPr lang="en-US" sz="2400" dirty="0">
                    <a:latin typeface="Verdana" panose="020B0604030504040204" pitchFamily="34" charset="0"/>
                    <a:ea typeface="Verdana" panose="020B0604030504040204" pitchFamily="34" charset="0"/>
                    <a:cs typeface="Verdana" panose="020B0604030504040204" pitchFamily="34" charset="0"/>
                  </a:rPr>
                  <a:t>For example, to ride the Bay Slides at Typhoon Lagoon, guests must be </a:t>
                </a:r>
                <a14:m>
                  <m:oMath xmlns:m="http://schemas.openxmlformats.org/officeDocument/2006/math">
                    <m:r>
                      <a:rPr lang="en-US" sz="2400" i="1">
                        <a:latin typeface="Cambria Math" panose="02040503050406030204" pitchFamily="18" charset="0"/>
                        <a:ea typeface="Cambria Math" panose="02040503050406030204" pitchFamily="18" charset="0"/>
                      </a:rPr>
                      <m:t>60</m:t>
                    </m:r>
                  </m:oMath>
                </a14:m>
                <a:r>
                  <a:rPr lang="en-US" sz="2400" dirty="0">
                    <a:latin typeface="Verdana" panose="020B0604030504040204" pitchFamily="34" charset="0"/>
                    <a:ea typeface="Verdana" panose="020B0604030504040204" pitchFamily="34" charset="0"/>
                    <a:cs typeface="Verdana" panose="020B0604030504040204" pitchFamily="34" charset="0"/>
                  </a:rPr>
                  <a:t> inches or shorter. The graph below represents the graph of </a:t>
                </a:r>
                <a14:m>
                  <m:oMath xmlns:m="http://schemas.openxmlformats.org/officeDocument/2006/math">
                    <m:r>
                      <a:rPr lang="en-US" sz="2400" i="1">
                        <a:latin typeface="Cambria Math" panose="02040503050406030204" pitchFamily="18" charset="0"/>
                        <a:ea typeface="Cambria Math" panose="02040503050406030204" pitchFamily="18" charset="0"/>
                      </a:rPr>
                      <m:t>h</m:t>
                    </m:r>
                    <m:r>
                      <a:rPr lang="en-US" sz="2400" i="1">
                        <a:latin typeface="Cambria Math" panose="02040503050406030204" pitchFamily="18" charset="0"/>
                        <a:ea typeface="Cambria Math" panose="02040503050406030204" pitchFamily="18" charset="0"/>
                      </a:rPr>
                      <m:t>≤60</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in this situation, where </a:t>
                </a:r>
                <a14:m>
                  <m:oMath xmlns:m="http://schemas.openxmlformats.org/officeDocument/2006/math">
                    <m:r>
                      <a:rPr lang="en-US" sz="2400" i="1">
                        <a:latin typeface="Cambria Math" panose="02040503050406030204" pitchFamily="18" charset="0"/>
                        <a:ea typeface="Cambria Math" panose="02040503050406030204" pitchFamily="18" charset="0"/>
                      </a:rPr>
                      <m:t>h</m:t>
                    </m:r>
                  </m:oMath>
                </a14:m>
                <a:r>
                  <a:rPr lang="en-US" sz="2400" dirty="0">
                    <a:latin typeface="Verdana" panose="020B0604030504040204" pitchFamily="34" charset="0"/>
                    <a:ea typeface="Verdana" panose="020B0604030504040204" pitchFamily="34" charset="0"/>
                    <a:cs typeface="Verdana" panose="020B0604030504040204" pitchFamily="34" charset="0"/>
                  </a:rPr>
                  <a:t> is the height of guests that can ride the Bay Slides.</a:t>
                </a:r>
              </a:p>
              <a:p>
                <a:pPr lvl="2"/>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2"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2"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2"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does </a:t>
                </a:r>
                <a14:m>
                  <m:oMath xmlns:m="http://schemas.openxmlformats.org/officeDocument/2006/math">
                    <m:r>
                      <a:rPr lang="en-US" sz="2400" i="1">
                        <a:latin typeface="Cambria Math" panose="02040503050406030204" pitchFamily="18" charset="0"/>
                        <a:ea typeface="Cambria Math" panose="02040503050406030204" pitchFamily="18" charset="0"/>
                      </a:rPr>
                      <m:t>60</m:t>
                    </m:r>
                  </m:oMath>
                </a14:m>
                <a:r>
                  <a:rPr lang="en-US" sz="2400" dirty="0">
                    <a:latin typeface="Verdana" panose="020B0604030504040204" pitchFamily="34" charset="0"/>
                    <a:ea typeface="Verdana" panose="020B0604030504040204" pitchFamily="34" charset="0"/>
                    <a:cs typeface="Verdana" panose="020B0604030504040204" pitchFamily="34" charset="0"/>
                  </a:rPr>
                  <a:t> represent in this situation?</a:t>
                </a:r>
              </a:p>
              <a:p>
                <a:pPr marL="457200" lvl="2"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2"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does the arrow pointing to the left on the number line represent?</a:t>
                </a:r>
              </a:p>
              <a:p>
                <a:pPr marL="457200" lvl="2"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2"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Describe at least two values that are part of the solution set of </a:t>
                </a:r>
                <a14:m>
                  <m:oMath xmlns:m="http://schemas.openxmlformats.org/officeDocument/2006/math">
                    <m:r>
                      <a:rPr lang="en-US" sz="2400" i="1">
                        <a:latin typeface="Cambria Math" panose="02040503050406030204" pitchFamily="18" charset="0"/>
                        <a:ea typeface="Cambria Math" panose="02040503050406030204" pitchFamily="18" charset="0"/>
                      </a:rPr>
                      <m:t>h</m:t>
                    </m:r>
                    <m:r>
                      <a:rPr lang="en-US" sz="2400" i="1">
                        <a:latin typeface="Cambria Math" panose="02040503050406030204" pitchFamily="18" charset="0"/>
                        <a:ea typeface="Cambria Math" panose="02040503050406030204" pitchFamily="18" charset="0"/>
                      </a:rPr>
                      <m:t>≤60</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that do not make sense in this context.</a:t>
                </a:r>
              </a:p>
            </p:txBody>
          </p:sp>
        </mc:Choice>
        <mc:Fallback xmlns="">
          <p:sp>
            <p:nvSpPr>
              <p:cNvPr id="5" name="TextBox 4">
                <a:extLst>
                  <a:ext uri="{FF2B5EF4-FFF2-40B4-BE49-F238E27FC236}">
                    <a16:creationId xmlns:a16="http://schemas.microsoft.com/office/drawing/2014/main" id="{A08C1C0E-C7C0-F14B-88E2-57B6133AD69D}"/>
                  </a:ext>
                </a:extLst>
              </p:cNvPr>
              <p:cNvSpPr txBox="1">
                <a:spLocks noRot="1" noChangeAspect="1" noMove="1" noResize="1" noEditPoints="1" noAdjustHandles="1" noChangeArrowheads="1" noChangeShapeType="1" noTextEdit="1"/>
              </p:cNvSpPr>
              <p:nvPr/>
            </p:nvSpPr>
            <p:spPr>
              <a:xfrm>
                <a:off x="914400" y="435050"/>
                <a:ext cx="10515600" cy="6001643"/>
              </a:xfrm>
              <a:prstGeom prst="rect">
                <a:avLst/>
              </a:prstGeom>
              <a:blipFill>
                <a:blip r:embed="rId4"/>
                <a:stretch>
                  <a:fillRect l="-965" t="-846"/>
                </a:stretch>
              </a:blipFill>
            </p:spPr>
            <p:txBody>
              <a:bodyPr/>
              <a:lstStyle/>
              <a:p>
                <a:r>
                  <a:rPr lang="en-US">
                    <a:noFill/>
                  </a:rPr>
                  <a:t> </a:t>
                </a:r>
              </a:p>
            </p:txBody>
          </p:sp>
        </mc:Fallback>
      </mc:AlternateContent>
      <p:pic>
        <p:nvPicPr>
          <p:cNvPr id="6" name="Picture 5"/>
          <p:cNvPicPr/>
          <p:nvPr/>
        </p:nvPicPr>
        <p:blipFill>
          <a:blip r:embed="rId5"/>
          <a:stretch>
            <a:fillRect/>
          </a:stretch>
        </p:blipFill>
        <p:spPr>
          <a:xfrm>
            <a:off x="2697480" y="2331780"/>
            <a:ext cx="6949440" cy="451485"/>
          </a:xfrm>
          <a:prstGeom prst="rect">
            <a:avLst/>
          </a:prstGeom>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89</a:t>
            </a:r>
            <a:endParaRPr i="1" dirty="0">
              <a:latin typeface="Calibri"/>
              <a:ea typeface="Calibri"/>
              <a:cs typeface="Calibri"/>
              <a:sym typeface="Calibri"/>
            </a:endParaRPr>
          </a:p>
        </p:txBody>
      </p:sp>
    </p:spTree>
    <p:extLst>
      <p:ext uri="{BB962C8B-B14F-4D97-AF65-F5344CB8AC3E}">
        <p14:creationId xmlns:p14="http://schemas.microsoft.com/office/powerpoint/2010/main" val="3881922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A08C1C0E-C7C0-F14B-88E2-57B6133AD69D}"/>
                  </a:ext>
                </a:extLst>
              </p:cNvPr>
              <p:cNvSpPr txBox="1"/>
              <p:nvPr/>
            </p:nvSpPr>
            <p:spPr>
              <a:xfrm>
                <a:off x="914400" y="3130343"/>
                <a:ext cx="10515600" cy="2677656"/>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Exploration demonstrated the inequalities </a:t>
                </a:r>
                <a14:m>
                  <m:oMath xmlns:m="http://schemas.openxmlformats.org/officeDocument/2006/math">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−2≥48</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≥50</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are equivalent</a:t>
                </a:r>
                <a:r>
                  <a:rPr lang="en-US" sz="2400" b="1" dirty="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because all of the same values of </a:t>
                </a:r>
                <a14:m>
                  <m:oMath xmlns:m="http://schemas.openxmlformats.org/officeDocument/2006/math">
                    <m:r>
                      <a:rPr lang="en-US" sz="2400" i="1">
                        <a:latin typeface="Cambria Math" panose="02040503050406030204" pitchFamily="18" charset="0"/>
                        <a:ea typeface="Cambria Math" panose="02040503050406030204" pitchFamily="18" charset="0"/>
                      </a:rPr>
                      <m:t>𝑛</m:t>
                    </m:r>
                  </m:oMath>
                </a14:m>
                <a:r>
                  <a:rPr lang="en-US" sz="2400" dirty="0">
                    <a:latin typeface="Verdana" panose="020B0604030504040204" pitchFamily="34" charset="0"/>
                    <a:ea typeface="Verdana" panose="020B0604030504040204" pitchFamily="34" charset="0"/>
                    <a:cs typeface="Verdana" panose="020B0604030504040204" pitchFamily="34" charset="0"/>
                  </a:rPr>
                  <a:t> make both inequalities true. Both inequalities were also represented using the same graph.</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Inequalities that have the same solution set are called equivalent inequalities.</a:t>
                </a:r>
              </a:p>
            </p:txBody>
          </p:sp>
        </mc:Choice>
        <mc:Fallback xmlns="">
          <p:sp>
            <p:nvSpPr>
              <p:cNvPr id="5" name="TextBox 4">
                <a:extLst>
                  <a:ext uri="{FF2B5EF4-FFF2-40B4-BE49-F238E27FC236}">
                    <a16:creationId xmlns:a16="http://schemas.microsoft.com/office/drawing/2014/main" id="{A08C1C0E-C7C0-F14B-88E2-57B6133AD69D}"/>
                  </a:ext>
                </a:extLst>
              </p:cNvPr>
              <p:cNvSpPr txBox="1">
                <a:spLocks noRot="1" noChangeAspect="1" noMove="1" noResize="1" noEditPoints="1" noAdjustHandles="1" noChangeArrowheads="1" noChangeShapeType="1" noTextEdit="1"/>
              </p:cNvSpPr>
              <p:nvPr/>
            </p:nvSpPr>
            <p:spPr>
              <a:xfrm>
                <a:off x="914400" y="3130343"/>
                <a:ext cx="10515600" cy="2677656"/>
              </a:xfrm>
              <a:prstGeom prst="rect">
                <a:avLst/>
              </a:prstGeom>
              <a:blipFill>
                <a:blip r:embed="rId4"/>
                <a:stretch>
                  <a:fillRect l="-965" t="-1887" r="-1448" b="-4717"/>
                </a:stretch>
              </a:blipFill>
            </p:spPr>
            <p:txBody>
              <a:bodyPr/>
              <a:lstStyle/>
              <a:p>
                <a:r>
                  <a:rPr lang="en-US">
                    <a:noFill/>
                  </a:rPr>
                  <a:t> </a:t>
                </a:r>
              </a:p>
            </p:txBody>
          </p:sp>
        </mc:Fallback>
      </mc:AlternateContent>
      <p:grpSp>
        <p:nvGrpSpPr>
          <p:cNvPr id="6" name="Group 5"/>
          <p:cNvGrpSpPr/>
          <p:nvPr/>
        </p:nvGrpSpPr>
        <p:grpSpPr>
          <a:xfrm>
            <a:off x="2269269" y="592266"/>
            <a:ext cx="7920000" cy="2829732"/>
            <a:chOff x="1742020" y="1453186"/>
            <a:chExt cx="7920000" cy="2831074"/>
          </a:xfrm>
        </p:grpSpPr>
        <p:grpSp>
          <p:nvGrpSpPr>
            <p:cNvPr id="7" name="Group 6"/>
            <p:cNvGrpSpPr/>
            <p:nvPr/>
          </p:nvGrpSpPr>
          <p:grpSpPr>
            <a:xfrm>
              <a:off x="1742020" y="1453186"/>
              <a:ext cx="7920000" cy="2831074"/>
              <a:chOff x="1742020" y="1453186"/>
              <a:chExt cx="7920000" cy="2831074"/>
            </a:xfrm>
          </p:grpSpPr>
          <p:sp>
            <p:nvSpPr>
              <p:cNvPr id="8" name="Rectangle 7"/>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9" name="Group 8"/>
              <p:cNvGrpSpPr/>
              <p:nvPr/>
            </p:nvGrpSpPr>
            <p:grpSpPr>
              <a:xfrm>
                <a:off x="1742020" y="1453186"/>
                <a:ext cx="7920000" cy="2831074"/>
                <a:chOff x="1742020" y="1453186"/>
                <a:chExt cx="7920000" cy="2831074"/>
              </a:xfrm>
            </p:grpSpPr>
            <p:sp>
              <p:nvSpPr>
                <p:cNvPr id="10" name="Rectangle 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1" name="Group 10"/>
                <p:cNvGrpSpPr/>
                <p:nvPr/>
              </p:nvGrpSpPr>
              <p:grpSpPr>
                <a:xfrm>
                  <a:off x="1742020" y="1453186"/>
                  <a:ext cx="7920000" cy="2831074"/>
                  <a:chOff x="1742020" y="1453186"/>
                  <a:chExt cx="7920000" cy="2831074"/>
                </a:xfrm>
              </p:grpSpPr>
              <p:sp>
                <p:nvSpPr>
                  <p:cNvPr id="13" name="Rectangle 12"/>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4" name="Group 13"/>
                  <p:cNvGrpSpPr/>
                  <p:nvPr/>
                </p:nvGrpSpPr>
                <p:grpSpPr>
                  <a:xfrm>
                    <a:off x="1742020" y="1453186"/>
                    <a:ext cx="7920000" cy="2831074"/>
                    <a:chOff x="1742020" y="1453186"/>
                    <a:chExt cx="7920000" cy="2831074"/>
                  </a:xfrm>
                </p:grpSpPr>
                <p:sp>
                  <p:nvSpPr>
                    <p:cNvPr id="15" name="Rectangle 14"/>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6" name="Group 15"/>
                    <p:cNvGrpSpPr/>
                    <p:nvPr/>
                  </p:nvGrpSpPr>
                  <p:grpSpPr>
                    <a:xfrm>
                      <a:off x="1742020" y="1453186"/>
                      <a:ext cx="7920000" cy="2831074"/>
                      <a:chOff x="1742020" y="1453186"/>
                      <a:chExt cx="7920000" cy="2831074"/>
                    </a:xfrm>
                  </p:grpSpPr>
                  <p:sp>
                    <p:nvSpPr>
                      <p:cNvPr id="17" name="Rectangle 16"/>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8" name="Group 17"/>
                      <p:cNvGrpSpPr/>
                      <p:nvPr/>
                    </p:nvGrpSpPr>
                    <p:grpSpPr>
                      <a:xfrm>
                        <a:off x="1742020" y="1453186"/>
                        <a:ext cx="7920000" cy="2831074"/>
                        <a:chOff x="-289280" y="-1822549"/>
                        <a:chExt cx="7920000" cy="2831074"/>
                      </a:xfrm>
                    </p:grpSpPr>
                    <p:sp>
                      <p:nvSpPr>
                        <p:cNvPr id="19" name="Rectangle 18"/>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0" name="Group 19"/>
                        <p:cNvGrpSpPr/>
                        <p:nvPr/>
                      </p:nvGrpSpPr>
                      <p:grpSpPr>
                        <a:xfrm>
                          <a:off x="-289280" y="-1822549"/>
                          <a:ext cx="7920000" cy="2608924"/>
                          <a:chOff x="-289280" y="-1822549"/>
                          <a:chExt cx="7920000" cy="2608924"/>
                        </a:xfrm>
                      </p:grpSpPr>
                      <p:sp>
                        <p:nvSpPr>
                          <p:cNvPr id="22" name="Rectangle 21"/>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3" name="Rectangle 22"/>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4" name="Rounded Rectangle 23"/>
                          <p:cNvSpPr/>
                          <p:nvPr/>
                        </p:nvSpPr>
                        <p:spPr>
                          <a:xfrm>
                            <a:off x="-289280" y="-1822549"/>
                            <a:ext cx="7920000" cy="1805561"/>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marL="685800"/>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Sometimes there are values that are part of the mathematical solution set that do not make sense in the context. In those cases, the variable may have a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constraint </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(restriction or limitation) placed on it so that the mathematical model is realistic.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pic>
                      <p:nvPicPr>
                        <p:cNvPr id="21" name="Shape 37" descr="Icon&#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65494" y="-1647236"/>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grpSp>
      <p:sp>
        <p:nvSpPr>
          <p:cNvPr id="2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89</a:t>
            </a:r>
            <a:endParaRPr i="1" dirty="0">
              <a:latin typeface="Calibri"/>
              <a:ea typeface="Calibri"/>
              <a:cs typeface="Calibri"/>
              <a:sym typeface="Calibri"/>
            </a:endParaRPr>
          </a:p>
        </p:txBody>
      </p:sp>
    </p:spTree>
    <p:extLst>
      <p:ext uri="{BB962C8B-B14F-4D97-AF65-F5344CB8AC3E}">
        <p14:creationId xmlns:p14="http://schemas.microsoft.com/office/powerpoint/2010/main" val="4167805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90</a:t>
            </a:r>
            <a:endParaRPr i="1" dirty="0">
              <a:latin typeface="Calibri"/>
              <a:ea typeface="Calibri"/>
              <a:cs typeface="Calibri"/>
              <a:sym typeface="Calibri"/>
            </a:endParaRPr>
          </a:p>
        </p:txBody>
      </p:sp>
      <p:sp>
        <p:nvSpPr>
          <p:cNvPr id="7" name="Google Shape;313;g104476d1465_1_39"/>
          <p:cNvSpPr txBox="1">
            <a:spLocks/>
          </p:cNvSpPr>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3BEA6"/>
                </a:solidFill>
                <a:latin typeface="Verdana"/>
                <a:ea typeface="Verdana"/>
                <a:cs typeface="Verdana"/>
                <a:sym typeface="Verdana"/>
              </a:rPr>
              <a:t>Collaboration</a:t>
            </a:r>
            <a:endParaRPr lang="en-US" sz="5100" b="1" dirty="0">
              <a:solidFill>
                <a:srgbClr val="33BEA6"/>
              </a:solidFill>
              <a:latin typeface="Verdana"/>
              <a:ea typeface="Verdana"/>
              <a:cs typeface="Verdana"/>
              <a:sym typeface="Verdana"/>
            </a:endParaRPr>
          </a:p>
        </p:txBody>
      </p:sp>
      <p:pic>
        <p:nvPicPr>
          <p:cNvPr id="9"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43000" y="64008"/>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10.1.5 Collaboration: </a:t>
            </a:r>
            <a:br>
              <a:rPr lang="en-US" sz="3200" b="1" dirty="0">
                <a:solidFill>
                  <a:srgbClr val="33BEA6"/>
                </a:solidFill>
                <a:latin typeface="Verdana"/>
                <a:ea typeface="Verdana"/>
                <a:cs typeface="Verdana"/>
                <a:sym typeface="Verdana"/>
              </a:rPr>
            </a:br>
            <a:r>
              <a:rPr lang="en-US" sz="3200" b="1" dirty="0">
                <a:solidFill>
                  <a:srgbClr val="33BEA6"/>
                </a:solidFill>
                <a:latin typeface="Verdana"/>
                <a:ea typeface="Verdana"/>
                <a:cs typeface="Verdana"/>
                <a:sym typeface="Verdana"/>
              </a:rPr>
              <a:t>Exploring Inequalities</a:t>
            </a:r>
          </a:p>
        </p:txBody>
      </p:sp>
      <p:pic>
        <p:nvPicPr>
          <p:cNvPr id="9" name="Picture 2">
            <a:extLst>
              <a:ext uri="{FF2B5EF4-FFF2-40B4-BE49-F238E27FC236}">
                <a16:creationId xmlns=""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5750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E44DF7DE-9172-3E4E-B74A-7A51585FB6EA}"/>
                  </a:ext>
                </a:extLst>
              </p:cNvPr>
              <p:cNvSpPr txBox="1"/>
              <p:nvPr/>
            </p:nvSpPr>
            <p:spPr>
              <a:xfrm>
                <a:off x="914400" y="1386025"/>
                <a:ext cx="10515600"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Match each inequality with the graph that represents all the values of </a:t>
                </a:r>
                <a14:m>
                  <m:oMath xmlns:m="http://schemas.openxmlformats.org/officeDocument/2006/math">
                    <m:r>
                      <a:rPr lang="en-US" sz="2400" i="1">
                        <a:latin typeface="Cambria Math" panose="02040503050406030204" pitchFamily="18" charset="0"/>
                        <a:ea typeface="Cambria Math" panose="02040503050406030204" pitchFamily="18" charset="0"/>
                      </a:rPr>
                      <m:t>𝑦</m:t>
                    </m:r>
                  </m:oMath>
                </a14:m>
                <a:r>
                  <a:rPr lang="en-US" sz="2400" dirty="0">
                    <a:latin typeface="Verdana" panose="020B0604030504040204" pitchFamily="34" charset="0"/>
                    <a:ea typeface="Verdana" panose="020B0604030504040204" pitchFamily="34" charset="0"/>
                    <a:cs typeface="Verdana" panose="020B0604030504040204" pitchFamily="34" charset="0"/>
                  </a:rPr>
                  <a:t> that make it true.</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14400" y="1386025"/>
                <a:ext cx="10515600" cy="1569660"/>
              </a:xfrm>
              <a:prstGeom prst="rect">
                <a:avLst/>
              </a:prstGeom>
              <a:blipFill>
                <a:blip r:embed="rId5"/>
                <a:stretch>
                  <a:fillRect l="-965" t="-2400" b="-8000"/>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519850" y="3030227"/>
            <a:ext cx="6122126" cy="3715576"/>
          </a:xfrm>
          <a:prstGeom prst="rect">
            <a:avLst/>
          </a:prstGeom>
        </p:spPr>
      </p:pic>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90</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2AA35BC6-D428-FC41-BDE5-6438AB8840FC}"/>
                  </a:ext>
                </a:extLst>
              </p:cNvPr>
              <p:cNvSpPr txBox="1"/>
              <p:nvPr/>
            </p:nvSpPr>
            <p:spPr>
              <a:xfrm>
                <a:off x="914400" y="254877"/>
                <a:ext cx="10515600" cy="4001095"/>
              </a:xfrm>
              <a:prstGeom prst="rect">
                <a:avLst/>
              </a:prstGeom>
              <a:noFill/>
            </p:spPr>
            <p:txBody>
              <a:bodyPr wrap="square" rtlCol="0">
                <a:spAutoFit/>
              </a:bodyPr>
              <a:lstStyle/>
              <a:p>
                <a:pPr marL="457200" lvl="3"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Choose one inequality and explain how you determined which graph represents its solutions.</a:t>
                </a:r>
              </a:p>
              <a:p>
                <a:pPr marL="457200" lvl="3"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minimum value that makes the inequality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400" i="1">
                        <a:latin typeface="Cambria Math" panose="02040503050406030204" pitchFamily="18" charset="0"/>
                        <a:ea typeface="Cambria Math" panose="02040503050406030204" pitchFamily="18" charset="0"/>
                      </a:rPr>
                      <m:t>𝑦</m:t>
                    </m:r>
                    <m:r>
                      <a:rPr lang="en-US" sz="2400" i="1">
                        <a:latin typeface="Cambria Math" panose="02040503050406030204" pitchFamily="18" charset="0"/>
                        <a:ea typeface="Cambria Math" panose="02040503050406030204" pitchFamily="18" charset="0"/>
                      </a:rPr>
                      <m:t>−4≥−1</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true?</a:t>
                </a:r>
              </a:p>
              <a:p>
                <a:pPr marL="457200" lvl="3"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3"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graph of an inequality is shown.</a:t>
                </a:r>
              </a:p>
              <a:p>
                <a:pPr lvl="3"/>
                <a:endParaRPr lang="en-US" dirty="0">
                  <a:ea typeface="Verdana" panose="020B0604030504040204" pitchFamily="34" charset="0"/>
                </a:endParaRPr>
              </a:p>
              <a:p>
                <a:pPr lvl="3"/>
                <a:endParaRPr lang="en-US" sz="2400" dirty="0">
                  <a:latin typeface="Verdana" panose="020B0604030504040204" pitchFamily="34" charset="0"/>
                  <a:ea typeface="Verdana" panose="020B0604030504040204" pitchFamily="34" charset="0"/>
                  <a:cs typeface="Verdana" panose="020B0604030504040204" pitchFamily="34" charset="0"/>
                </a:endParaRPr>
              </a:p>
              <a:p>
                <a:pPr lvl="3"/>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lvl="3"/>
                <a:r>
                  <a:rPr lang="en-US" sz="2400" dirty="0">
                    <a:latin typeface="Verdana" panose="020B0604030504040204" pitchFamily="34" charset="0"/>
                    <a:ea typeface="Verdana" panose="020B0604030504040204" pitchFamily="34" charset="0"/>
                    <a:cs typeface="Verdana" panose="020B0604030504040204" pitchFamily="34" charset="0"/>
                  </a:rPr>
                  <a:t>Circle the inequalities that can be represented by the graph.</a:t>
                </a: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914400" y="254877"/>
                <a:ext cx="10515600" cy="4001095"/>
              </a:xfrm>
              <a:prstGeom prst="rect">
                <a:avLst/>
              </a:prstGeom>
              <a:blipFill rotWithShape="1">
                <a:blip r:embed="rId4"/>
                <a:stretch>
                  <a:fillRect l="-870" t="-1220" b="-2591"/>
                </a:stretch>
              </a:blipFill>
            </p:spPr>
            <p:txBody>
              <a:bodyPr/>
              <a:lstStyle/>
              <a:p>
                <a:r>
                  <a:rPr lang="en-US">
                    <a:noFill/>
                  </a:rPr>
                  <a:t> </a:t>
                </a:r>
              </a:p>
            </p:txBody>
          </p:sp>
        </mc:Fallback>
      </mc:AlternateContent>
      <p:grpSp>
        <p:nvGrpSpPr>
          <p:cNvPr id="6" name="Group 5"/>
          <p:cNvGrpSpPr>
            <a:grpSpLocks noChangeAspect="1"/>
          </p:cNvGrpSpPr>
          <p:nvPr/>
        </p:nvGrpSpPr>
        <p:grpSpPr>
          <a:xfrm>
            <a:off x="2536201" y="3180668"/>
            <a:ext cx="6635115" cy="488315"/>
            <a:chOff x="0" y="0"/>
            <a:chExt cx="4686832" cy="303530"/>
          </a:xfrm>
        </p:grpSpPr>
        <p:pic>
          <p:nvPicPr>
            <p:cNvPr id="7" name="Picture 6"/>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97712" y="0"/>
              <a:ext cx="4389120" cy="303530"/>
            </a:xfrm>
            <a:prstGeom prst="rect">
              <a:avLst/>
            </a:prstGeom>
          </p:spPr>
        </p:pic>
        <p:cxnSp>
          <p:nvCxnSpPr>
            <p:cNvPr id="8" name="Straight Arrow Connector 7"/>
            <p:cNvCxnSpPr/>
            <p:nvPr/>
          </p:nvCxnSpPr>
          <p:spPr>
            <a:xfrm flipH="1" flipV="1">
              <a:off x="0" y="65567"/>
              <a:ext cx="2651760"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2660207" y="12700"/>
              <a:ext cx="118745" cy="118745"/>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759032397"/>
                  </p:ext>
                </p:extLst>
              </p:nvPr>
            </p:nvGraphicFramePr>
            <p:xfrm>
              <a:off x="2821547" y="4484544"/>
              <a:ext cx="6485890" cy="1463040"/>
            </p:xfrm>
            <a:graphic>
              <a:graphicData uri="http://schemas.openxmlformats.org/drawingml/2006/table">
                <a:tbl>
                  <a:tblPr firstRow="1" firstCol="1" bandRow="1">
                    <a:tableStyleId>{2D5ABB26-0587-4C30-8999-92F81FD0307C}</a:tableStyleId>
                  </a:tblPr>
                  <a:tblGrid>
                    <a:gridCol w="2164715">
                      <a:extLst>
                        <a:ext uri="{9D8B030D-6E8A-4147-A177-3AD203B41FA5}">
                          <a16:colId xmlns="" xmlns:a16="http://schemas.microsoft.com/office/drawing/2014/main" val="20000"/>
                        </a:ext>
                      </a:extLst>
                    </a:gridCol>
                    <a:gridCol w="2165350">
                      <a:extLst>
                        <a:ext uri="{9D8B030D-6E8A-4147-A177-3AD203B41FA5}">
                          <a16:colId xmlns="" xmlns:a16="http://schemas.microsoft.com/office/drawing/2014/main" val="20001"/>
                        </a:ext>
                      </a:extLst>
                    </a:gridCol>
                    <a:gridCol w="2155825">
                      <a:extLst>
                        <a:ext uri="{9D8B030D-6E8A-4147-A177-3AD203B41FA5}">
                          <a16:colId xmlns="" xmlns:a16="http://schemas.microsoft.com/office/drawing/2014/main" val="20002"/>
                        </a:ext>
                      </a:extLst>
                    </a:gridCol>
                  </a:tblGrid>
                  <a:tr h="73152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a:rPr>
                                  <m:t>𝑚</m:t>
                                </m:r>
                                <m:r>
                                  <a:rPr lang="en-US" sz="2400">
                                    <a:effectLst/>
                                    <a:latin typeface="Cambria Math"/>
                                  </a:rPr>
                                  <m:t>+1.2&lt;2.2</m:t>
                                </m:r>
                              </m:oMath>
                            </m:oMathPara>
                          </a14:m>
                          <a:endParaRPr lang="en-US"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a:rPr>
                                  <m:t>𝑚</m:t>
                                </m:r>
                                <m:r>
                                  <a:rPr lang="en-US" sz="2400">
                                    <a:effectLst/>
                                    <a:latin typeface="Cambria Math"/>
                                  </a:rPr>
                                  <m:t>−1.2&lt;2.2</m:t>
                                </m:r>
                              </m:oMath>
                            </m:oMathPara>
                          </a14:m>
                          <a:endParaRPr lang="en-US"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14:m>
                            <m:oMath xmlns:m="http://schemas.openxmlformats.org/officeDocument/2006/math">
                              <m:f>
                                <m:fPr>
                                  <m:ctrlPr>
                                    <a:rPr lang="en-US" sz="2400" i="1">
                                      <a:effectLst/>
                                      <a:latin typeface="Cambria Math"/>
                                    </a:rPr>
                                  </m:ctrlPr>
                                </m:fPr>
                                <m:num>
                                  <m:r>
                                    <a:rPr lang="en-US" sz="2400">
                                      <a:effectLst/>
                                      <a:latin typeface="Cambria Math"/>
                                    </a:rPr>
                                    <m:t>1</m:t>
                                  </m:r>
                                </m:num>
                                <m:den>
                                  <m:r>
                                    <a:rPr lang="en-US" sz="2400">
                                      <a:effectLst/>
                                      <a:latin typeface="Cambria Math"/>
                                    </a:rPr>
                                    <m:t>4</m:t>
                                  </m:r>
                                </m:den>
                              </m:f>
                              <m:r>
                                <a:rPr lang="en-US" sz="2400">
                                  <a:effectLst/>
                                  <a:latin typeface="Cambria Math"/>
                                </a:rPr>
                                <m:t>&gt;</m:t>
                              </m:r>
                              <m:r>
                                <a:rPr lang="en-US" sz="2400">
                                  <a:effectLst/>
                                  <a:latin typeface="Cambria Math"/>
                                </a:rPr>
                                <m:t>𝑚</m:t>
                              </m:r>
                              <m:r>
                                <a:rPr lang="en-US" sz="2400">
                                  <a:effectLst/>
                                  <a:latin typeface="Cambria Math"/>
                                </a:rPr>
                                <m:t>+</m:t>
                              </m:r>
                              <m:f>
                                <m:fPr>
                                  <m:ctrlPr>
                                    <a:rPr lang="en-US" sz="2400" i="1">
                                      <a:effectLst/>
                                      <a:latin typeface="Cambria Math"/>
                                    </a:rPr>
                                  </m:ctrlPr>
                                </m:fPr>
                                <m:num>
                                  <m:r>
                                    <a:rPr lang="en-US" sz="2400">
                                      <a:effectLst/>
                                      <a:latin typeface="Cambria Math"/>
                                    </a:rPr>
                                    <m:t>3</m:t>
                                  </m:r>
                                </m:num>
                                <m:den>
                                  <m:r>
                                    <a:rPr lang="en-US" sz="2400">
                                      <a:effectLst/>
                                      <a:latin typeface="Cambria Math"/>
                                    </a:rPr>
                                    <m:t>4</m:t>
                                  </m:r>
                                </m:den>
                              </m:f>
                            </m:oMath>
                          </a14:m>
                          <a:r>
                            <a:rPr lang="en-US" sz="2400" dirty="0">
                              <a:effectLst/>
                            </a:rPr>
                            <a:t> </a:t>
                          </a:r>
                          <a:endParaRPr lang="en-US"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extLst>
                      <a:ext uri="{0D108BD9-81ED-4DB2-BD59-A6C34878D82A}">
                        <a16:rowId xmlns="" xmlns:a16="http://schemas.microsoft.com/office/drawing/2014/main" val="10000"/>
                      </a:ext>
                    </a:extLst>
                  </a:tr>
                  <a:tr h="73152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a:rPr>
                                  <m:t>1&gt;</m:t>
                                </m:r>
                                <m:r>
                                  <a:rPr lang="en-US" sz="2400">
                                    <a:effectLst/>
                                    <a:latin typeface="Cambria Math"/>
                                  </a:rPr>
                                  <m:t>𝑚</m:t>
                                </m:r>
                              </m:oMath>
                            </m:oMathPara>
                          </a14:m>
                          <a:endParaRPr lang="en-US"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a:rPr>
                                  <m:t>1&lt;</m:t>
                                </m:r>
                                <m:r>
                                  <a:rPr lang="en-US" sz="2400">
                                    <a:effectLst/>
                                    <a:latin typeface="Cambria Math"/>
                                  </a:rPr>
                                  <m:t>𝑚</m:t>
                                </m:r>
                              </m:oMath>
                            </m:oMathPara>
                          </a14:m>
                          <a:endParaRPr lang="en-US" sz="24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14:m>
                            <m:oMath xmlns:m="http://schemas.openxmlformats.org/officeDocument/2006/math">
                              <m:f>
                                <m:fPr>
                                  <m:ctrlPr>
                                    <a:rPr lang="en-US" sz="2400" i="1">
                                      <a:effectLst/>
                                      <a:latin typeface="Cambria Math"/>
                                    </a:rPr>
                                  </m:ctrlPr>
                                </m:fPr>
                                <m:num>
                                  <m:r>
                                    <a:rPr lang="en-US" sz="2400">
                                      <a:effectLst/>
                                      <a:latin typeface="Cambria Math"/>
                                    </a:rPr>
                                    <m:t>1</m:t>
                                  </m:r>
                                </m:num>
                                <m:den>
                                  <m:r>
                                    <a:rPr lang="en-US" sz="2400">
                                      <a:effectLst/>
                                      <a:latin typeface="Cambria Math"/>
                                    </a:rPr>
                                    <m:t>4</m:t>
                                  </m:r>
                                </m:den>
                              </m:f>
                              <m:r>
                                <a:rPr lang="en-US" sz="2400">
                                  <a:effectLst/>
                                  <a:latin typeface="Cambria Math"/>
                                </a:rPr>
                                <m:t>&gt;</m:t>
                              </m:r>
                              <m:r>
                                <a:rPr lang="en-US" sz="2400">
                                  <a:effectLst/>
                                  <a:latin typeface="Cambria Math"/>
                                </a:rPr>
                                <m:t>𝑚</m:t>
                              </m:r>
                              <m:r>
                                <a:rPr lang="en-US" sz="2400">
                                  <a:effectLst/>
                                  <a:latin typeface="Cambria Math"/>
                                </a:rPr>
                                <m:t>−</m:t>
                              </m:r>
                              <m:f>
                                <m:fPr>
                                  <m:ctrlPr>
                                    <a:rPr lang="en-US" sz="2400" i="1">
                                      <a:effectLst/>
                                      <a:latin typeface="Cambria Math"/>
                                    </a:rPr>
                                  </m:ctrlPr>
                                </m:fPr>
                                <m:num>
                                  <m:r>
                                    <a:rPr lang="en-US" sz="2400">
                                      <a:effectLst/>
                                      <a:latin typeface="Cambria Math"/>
                                    </a:rPr>
                                    <m:t>3</m:t>
                                  </m:r>
                                </m:num>
                                <m:den>
                                  <m:r>
                                    <a:rPr lang="en-US" sz="2400">
                                      <a:effectLst/>
                                      <a:latin typeface="Cambria Math"/>
                                    </a:rPr>
                                    <m:t>4</m:t>
                                  </m:r>
                                </m:den>
                              </m:f>
                            </m:oMath>
                          </a14:m>
                          <a:r>
                            <a:rPr lang="en-US" sz="2400" dirty="0">
                              <a:effectLst/>
                            </a:rPr>
                            <a:t> </a:t>
                          </a:r>
                          <a:endParaRPr lang="en-US"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extLst>
                      <a:ext uri="{0D108BD9-81ED-4DB2-BD59-A6C34878D82A}">
                        <a16:rowId xmlns=""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759032397"/>
                  </p:ext>
                </p:extLst>
              </p:nvPr>
            </p:nvGraphicFramePr>
            <p:xfrm>
              <a:off x="2821547" y="4484544"/>
              <a:ext cx="6485890" cy="1463040"/>
            </p:xfrm>
            <a:graphic>
              <a:graphicData uri="http://schemas.openxmlformats.org/drawingml/2006/table">
                <a:tbl>
                  <a:tblPr firstRow="1" firstCol="1" bandRow="1">
                    <a:tableStyleId>{2D5ABB26-0587-4C30-8999-92F81FD0307C}</a:tableStyleId>
                  </a:tblPr>
                  <a:tblGrid>
                    <a:gridCol w="2164715">
                      <a:extLst>
                        <a:ext uri="{9D8B030D-6E8A-4147-A177-3AD203B41FA5}">
                          <a16:colId xmlns:a16="http://schemas.microsoft.com/office/drawing/2014/main" xmlns:a14="http://schemas.microsoft.com/office/drawing/2010/main" xmlns="" val="20000"/>
                        </a:ext>
                      </a:extLst>
                    </a:gridCol>
                    <a:gridCol w="2165350">
                      <a:extLst>
                        <a:ext uri="{9D8B030D-6E8A-4147-A177-3AD203B41FA5}">
                          <a16:colId xmlns:a16="http://schemas.microsoft.com/office/drawing/2014/main" xmlns:a14="http://schemas.microsoft.com/office/drawing/2010/main" xmlns="" val="20001"/>
                        </a:ext>
                      </a:extLst>
                    </a:gridCol>
                    <a:gridCol w="2155825">
                      <a:extLst>
                        <a:ext uri="{9D8B030D-6E8A-4147-A177-3AD203B41FA5}">
                          <a16:colId xmlns:a16="http://schemas.microsoft.com/office/drawing/2014/main" xmlns:a14="http://schemas.microsoft.com/office/drawing/2010/main" xmlns="" val="20002"/>
                        </a:ext>
                      </a:extLst>
                    </a:gridCol>
                  </a:tblGrid>
                  <a:tr h="731520">
                    <a:tc>
                      <a:txBody>
                        <a:bodyPr/>
                        <a:lstStyle/>
                        <a:p>
                          <a:endParaRPr lang="en-US"/>
                        </a:p>
                      </a:txBody>
                      <a:tcPr marL="68580" marR="68580" marT="0" marB="0" anchor="ctr">
                        <a:blipFill rotWithShape="1">
                          <a:blip r:embed="rId6"/>
                          <a:stretch>
                            <a:fillRect l="-282" t="-833" r="-199718" b="-100000"/>
                          </a:stretch>
                        </a:blipFill>
                      </a:tcPr>
                    </a:tc>
                    <a:tc>
                      <a:txBody>
                        <a:bodyPr/>
                        <a:lstStyle/>
                        <a:p>
                          <a:endParaRPr lang="en-US"/>
                        </a:p>
                      </a:txBody>
                      <a:tcPr marL="68580" marR="68580" marT="0" marB="0" anchor="ctr">
                        <a:blipFill rotWithShape="1">
                          <a:blip r:embed="rId6"/>
                          <a:stretch>
                            <a:fillRect l="-100282" t="-833" r="-99718" b="-100000"/>
                          </a:stretch>
                        </a:blipFill>
                      </a:tcPr>
                    </a:tc>
                    <a:tc>
                      <a:txBody>
                        <a:bodyPr/>
                        <a:lstStyle/>
                        <a:p>
                          <a:endParaRPr lang="en-US"/>
                        </a:p>
                      </a:txBody>
                      <a:tcPr marL="68580" marR="68580" marT="0" marB="0" anchor="ctr">
                        <a:blipFill rotWithShape="1">
                          <a:blip r:embed="rId6"/>
                          <a:stretch>
                            <a:fillRect l="-200847" t="-833" b="-100000"/>
                          </a:stretch>
                        </a:blipFill>
                      </a:tcPr>
                    </a:tc>
                    <a:extLst>
                      <a:ext uri="{0D108BD9-81ED-4DB2-BD59-A6C34878D82A}">
                        <a16:rowId xmlns:a16="http://schemas.microsoft.com/office/drawing/2014/main" xmlns:a14="http://schemas.microsoft.com/office/drawing/2010/main" xmlns="" val="10000"/>
                      </a:ext>
                    </a:extLst>
                  </a:tr>
                  <a:tr h="731520">
                    <a:tc>
                      <a:txBody>
                        <a:bodyPr/>
                        <a:lstStyle/>
                        <a:p>
                          <a:endParaRPr lang="en-US"/>
                        </a:p>
                      </a:txBody>
                      <a:tcPr marL="68580" marR="68580" marT="0" marB="0" anchor="ctr">
                        <a:blipFill rotWithShape="1">
                          <a:blip r:embed="rId6"/>
                          <a:stretch>
                            <a:fillRect l="-282" t="-100833" r="-199718"/>
                          </a:stretch>
                        </a:blipFill>
                      </a:tcPr>
                    </a:tc>
                    <a:tc>
                      <a:txBody>
                        <a:bodyPr/>
                        <a:lstStyle/>
                        <a:p>
                          <a:endParaRPr lang="en-US"/>
                        </a:p>
                      </a:txBody>
                      <a:tcPr marL="68580" marR="68580" marT="0" marB="0" anchor="ctr">
                        <a:blipFill rotWithShape="1">
                          <a:blip r:embed="rId6"/>
                          <a:stretch>
                            <a:fillRect l="-100282" t="-100833" r="-99718"/>
                          </a:stretch>
                        </a:blipFill>
                      </a:tcPr>
                    </a:tc>
                    <a:tc>
                      <a:txBody>
                        <a:bodyPr/>
                        <a:lstStyle/>
                        <a:p>
                          <a:endParaRPr lang="en-US"/>
                        </a:p>
                      </a:txBody>
                      <a:tcPr marL="68580" marR="68580" marT="0" marB="0" anchor="ctr">
                        <a:blipFill rotWithShape="1">
                          <a:blip r:embed="rId6"/>
                          <a:stretch>
                            <a:fillRect l="-200847" t="-100833"/>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90</a:t>
            </a:r>
            <a:endParaRPr i="1" dirty="0">
              <a:latin typeface="Calibri"/>
              <a:ea typeface="Calibri"/>
              <a:cs typeface="Calibri"/>
              <a:sym typeface="Calibri"/>
            </a:endParaRPr>
          </a:p>
        </p:txBody>
      </p:sp>
    </p:spTree>
    <p:extLst>
      <p:ext uri="{BB962C8B-B14F-4D97-AF65-F5344CB8AC3E}">
        <p14:creationId xmlns:p14="http://schemas.microsoft.com/office/powerpoint/2010/main" val="1251846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A08C1C0E-C7C0-F14B-88E2-57B6133AD69D}"/>
              </a:ext>
            </a:extLst>
          </p:cNvPr>
          <p:cNvSpPr txBox="1"/>
          <p:nvPr/>
        </p:nvSpPr>
        <p:spPr>
          <a:xfrm>
            <a:off x="914400" y="435050"/>
            <a:ext cx="10515600" cy="6001643"/>
          </a:xfrm>
          <a:prstGeom prst="rect">
            <a:avLst/>
          </a:prstGeom>
          <a:noFill/>
        </p:spPr>
        <p:txBody>
          <a:bodyPr wrap="square" rtlCol="0">
            <a:spAutoFit/>
          </a:bodyPr>
          <a:lstStyle/>
          <a:p>
            <a:pPr marL="457200" lvl="2"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r>
              <a:rPr lang="en-US" sz="2400" dirty="0">
                <a:latin typeface="Verdana" panose="020B0604030504040204" pitchFamily="34" charset="0"/>
                <a:ea typeface="Verdana" panose="020B0604030504040204" pitchFamily="34" charset="0"/>
                <a:cs typeface="Verdana" panose="020B0604030504040204" pitchFamily="34" charset="0"/>
              </a:rPr>
              <a:t>The inequalities circled above are ____________ inequalities. </a:t>
            </a:r>
          </a:p>
          <a:p>
            <a:pPr marL="457200" lvl="2"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2"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2"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Suppose the solution set shown on the number line represents the possible height of Krista’s feet in relation to the surface of the water in her pool when she jumps off the pool’s deck. Describe any possible constraints on the solution set in this context.</a:t>
            </a:r>
          </a:p>
          <a:p>
            <a:pPr marL="457200" lvl="2"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2"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2"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Describe the minimum or maximum value that makes this inequality true given the context.</a:t>
            </a:r>
          </a:p>
        </p:txBody>
      </p:sp>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90</a:t>
            </a:r>
            <a:endParaRPr i="1" dirty="0">
              <a:latin typeface="Calibri"/>
              <a:ea typeface="Calibri"/>
              <a:cs typeface="Calibri"/>
              <a:sym typeface="Calibri"/>
            </a:endParaRPr>
          </a:p>
        </p:txBody>
      </p:sp>
    </p:spTree>
    <p:extLst>
      <p:ext uri="{BB962C8B-B14F-4D97-AF65-F5344CB8AC3E}">
        <p14:creationId xmlns:p14="http://schemas.microsoft.com/office/powerpoint/2010/main" val="3644422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91</a:t>
            </a:r>
            <a:endParaRPr i="1" dirty="0">
              <a:latin typeface="Calibri"/>
              <a:ea typeface="Calibri"/>
              <a:cs typeface="Calibri"/>
              <a:sym typeface="Calibri"/>
            </a:endParaRPr>
          </a:p>
        </p:txBody>
      </p:sp>
      <p:sp>
        <p:nvSpPr>
          <p:cNvPr id="9"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0"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TextBox 11">
            <a:extLst>
              <a:ext uri="{FF2B5EF4-FFF2-40B4-BE49-F238E27FC236}">
                <a16:creationId xmlns="" xmlns:a16="http://schemas.microsoft.com/office/drawing/2014/main" id="{0370EDB7-6994-3D43-ABF9-E04CBAFB9CD9}"/>
              </a:ext>
            </a:extLst>
          </p:cNvPr>
          <p:cNvSpPr txBox="1"/>
          <p:nvPr/>
        </p:nvSpPr>
        <p:spPr>
          <a:xfrm>
            <a:off x="914400" y="1386026"/>
            <a:ext cx="8327136"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a:t>
            </a:r>
          </a:p>
        </p:txBody>
      </p:sp>
      <p:graphicFrame>
        <p:nvGraphicFramePr>
          <p:cNvPr id="2" name="Table 1"/>
          <p:cNvGraphicFramePr>
            <a:graphicFrameLocks noGrp="1"/>
          </p:cNvGraphicFramePr>
          <p:nvPr>
            <p:extLst>
              <p:ext uri="{D42A27DB-BD31-4B8C-83A1-F6EECF244321}">
                <p14:modId xmlns:p14="http://schemas.microsoft.com/office/powerpoint/2010/main" val="1018195811"/>
              </p:ext>
            </p:extLst>
          </p:nvPr>
        </p:nvGraphicFramePr>
        <p:xfrm>
          <a:off x="1525980" y="2028216"/>
          <a:ext cx="7675223" cy="4267200"/>
        </p:xfrm>
        <a:graphic>
          <a:graphicData uri="http://schemas.openxmlformats.org/drawingml/2006/table">
            <a:tbl>
              <a:tblPr bandRow="1">
                <a:tableStyleId>{5940675A-B579-460E-94D1-54222C63F5DA}</a:tableStyleId>
              </a:tblPr>
              <a:tblGrid>
                <a:gridCol w="2580438">
                  <a:extLst>
                    <a:ext uri="{9D8B030D-6E8A-4147-A177-3AD203B41FA5}">
                      <a16:colId xmlns="" xmlns:a16="http://schemas.microsoft.com/office/drawing/2014/main" val="20000"/>
                    </a:ext>
                  </a:extLst>
                </a:gridCol>
                <a:gridCol w="2581149">
                  <a:extLst>
                    <a:ext uri="{9D8B030D-6E8A-4147-A177-3AD203B41FA5}">
                      <a16:colId xmlns="" xmlns:a16="http://schemas.microsoft.com/office/drawing/2014/main" val="20001"/>
                    </a:ext>
                  </a:extLst>
                </a:gridCol>
                <a:gridCol w="2513636">
                  <a:extLst>
                    <a:ext uri="{9D8B030D-6E8A-4147-A177-3AD203B41FA5}">
                      <a16:colId xmlns="" xmlns:a16="http://schemas.microsoft.com/office/drawing/2014/main" val="20002"/>
                    </a:ext>
                  </a:extLst>
                </a:gridCol>
              </a:tblGrid>
              <a:tr h="129149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The terms and information used in today’s lesson that I knew were…</a:t>
                      </a:r>
                    </a:p>
                  </a:txBody>
                  <a:tcPr marL="45370" marR="4537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Something I wondered during today’s lesson was…</a:t>
                      </a:r>
                    </a:p>
                  </a:txBody>
                  <a:tcPr marL="45370" marR="4537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Something I learned during today’s lesson was…</a:t>
                      </a:r>
                    </a:p>
                  </a:txBody>
                  <a:tcPr marL="45370" marR="4537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10000"/>
                  </a:ext>
                </a:extLst>
              </a:tr>
              <a:tr h="2743200">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marL="45370" marR="4537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marL="45370" marR="4537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marL="45370" marR="4537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91</a:t>
            </a:r>
            <a:endParaRPr i="1" dirty="0">
              <a:latin typeface="Calibri"/>
              <a:ea typeface="Calibri"/>
              <a:cs typeface="Calibri"/>
              <a:sym typeface="Calibri"/>
            </a:endParaRPr>
          </a:p>
        </p:txBody>
      </p:sp>
      <p:sp>
        <p:nvSpPr>
          <p:cNvPr id="11"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10.1.6 Wrap-Up: Cool Down</a:t>
            </a:r>
          </a:p>
        </p:txBody>
      </p:sp>
      <p:pic>
        <p:nvPicPr>
          <p:cNvPr id="13"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1386</TotalTime>
  <Words>1215</Words>
  <Application>Microsoft Office PowerPoint</Application>
  <PresentationFormat>Custom</PresentationFormat>
  <Paragraphs>248</Paragraphs>
  <Slides>28</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Arial</vt:lpstr>
      <vt:lpstr>Century Gothic</vt:lpstr>
      <vt:lpstr>Wingdings</vt:lpstr>
      <vt:lpstr>Cambria Math</vt:lpstr>
      <vt:lpstr>Cambria</vt:lpstr>
      <vt:lpstr>Arial Black</vt:lpstr>
      <vt:lpstr>Verdana</vt:lpstr>
      <vt:lpstr>Calibri</vt:lpstr>
      <vt:lpstr>Times New Roman</vt:lpstr>
      <vt:lpstr>1_Office Theme</vt:lpstr>
      <vt:lpstr>PowerPoint Presentation</vt:lpstr>
      <vt:lpstr>Benchmark</vt:lpstr>
      <vt:lpstr>PowerPoint Presentation</vt:lpstr>
      <vt:lpstr>PowerPoint Presentation</vt:lpstr>
      <vt:lpstr>PowerPoint Presentation</vt:lpstr>
      <vt:lpstr>PowerPoint Presentation</vt:lpstr>
      <vt:lpstr>Refresher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30</cp:revision>
  <dcterms:created xsi:type="dcterms:W3CDTF">2015-03-17T18:51:18Z</dcterms:created>
  <dcterms:modified xsi:type="dcterms:W3CDTF">2022-06-11T02:26:21Z</dcterms:modified>
</cp:coreProperties>
</file>