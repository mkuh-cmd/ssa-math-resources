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embeddedFontLst>
    <p:embeddedFont>
      <p:font typeface="Calibri" pitchFamily="34" charset="0"/>
      <p:regular r:id="rId29"/>
      <p:bold r:id="rId30"/>
      <p:italic r:id="rId31"/>
      <p:boldItalic r:id="rId32"/>
    </p:embeddedFont>
    <p:embeddedFont>
      <p:font typeface="Cambria Math" pitchFamily="18" charset="0"/>
      <p:regular r:id="rId33"/>
    </p:embeddedFont>
    <p:embeddedFont>
      <p:font typeface="Cambria" pitchFamily="18" charset="0"/>
      <p:regular r:id="rId34"/>
      <p:bold r:id="rId35"/>
      <p:italic r:id="rId36"/>
      <p:boldItalic r:id="rId37"/>
    </p:embeddedFont>
    <p:embeddedFont>
      <p:font typeface="Arial Black" pitchFamily="34" charset="0"/>
      <p:bold r:id="rId38"/>
    </p:embeddedFont>
    <p:embeddedFont>
      <p:font typeface="Verdana" pitchFamily="3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1079E168-2199-4EED-B6F2-8B0E5C9B8ADE}">
  <a:tblStyle styleId="{1079E168-2199-4EED-B6F2-8B0E5C9B8A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7" d="100"/>
          <a:sy n="107" d="100"/>
        </p:scale>
        <p:origin x="-594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205618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7" name="Google Shape;22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7" name="Google Shape;24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7" name="Google Shape;25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8" name="Google Shape;25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" name="Google Shape;27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" name="Google Shape;28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5" name="Google Shape;285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1" name="Google Shape;32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2" name="Google Shape;32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0" name="Google Shape;33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0" name="Google Shape;340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0" name="Google Shape;350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" name="Google Shape;36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2" name="Google Shape;36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0" name="Google Shape;37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1" name="Google Shape;371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1" name="Google Shape;381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4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4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5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5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6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6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7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7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8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8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endParaRPr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10,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Real-World Problems with Two-Step Equations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128</a:t>
            </a:r>
            <a:endParaRPr dirty="0"/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114" name="Google Shape;114;p19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p19"/>
          <p:cNvSpPr/>
          <p:nvPr/>
        </p:nvSpPr>
        <p:spPr>
          <a:xfrm>
            <a:off x="0" y="0"/>
            <a:ext cx="4094106" cy="6870701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16" name="Google Shape;116;p19" descr="Logo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480" y="1603831"/>
            <a:ext cx="3126752" cy="36449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title" idx="4294967295"/>
          </p:nvPr>
        </p:nvSpPr>
        <p:spPr>
          <a:xfrm>
            <a:off x="114300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5" name="Google Shape;125;p2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7" name="Google Shape;127;p20"/>
          <p:cNvSpPr txBox="1"/>
          <p:nvPr/>
        </p:nvSpPr>
        <p:spPr>
          <a:xfrm>
            <a:off x="532661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100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MA.7.AR.2.2</a:t>
            </a:r>
            <a:endParaRPr dirty="0"/>
          </a:p>
          <a:p>
            <a:pPr marL="45720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2100"/>
            </a:pPr>
            <a:r>
              <a:rPr lang="en-US" sz="35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Write and solve two-step equations in one variable within a mathematical context or real-world context, where all terms are rational numbers.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34" name="Google Shape;134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48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35" name="Google Shape;135;p21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6" name="Google Shape;136;p21"/>
          <p:cNvSpPr txBox="1"/>
          <p:nvPr/>
        </p:nvSpPr>
        <p:spPr>
          <a:xfrm>
            <a:off x="1151878" y="12966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  <a:endParaRPr dirty="0"/>
          </a:p>
        </p:txBody>
      </p:sp>
      <p:sp>
        <p:nvSpPr>
          <p:cNvPr id="137" name="Google Shape;137;p21"/>
          <p:cNvSpPr txBox="1"/>
          <p:nvPr/>
        </p:nvSpPr>
        <p:spPr>
          <a:xfrm>
            <a:off x="1158780" y="159639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MA.K12.MTR.1.1 Actively participate in effortful learning both individually and collectively.</a:t>
            </a:r>
            <a:endParaRPr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MA.K12.MTR.2.1 Demonstrate understanding by representing problems in multiple ways.</a:t>
            </a:r>
            <a:endParaRPr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MA.K12.MTR.3.1 Complete tasks with mathematical fluency.</a:t>
            </a:r>
            <a:endParaRPr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MA.K12.MTR.4.1 Engage in discussions that reflect on the mathematical thinking of self and others.</a:t>
            </a:r>
            <a:endParaRPr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MA.K12.MTR.5.1 Use patterns and structure to help understand and connect mathematical concepts.</a:t>
            </a:r>
            <a:endParaRPr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MA.K12.MTR.6.1 Assess the reasonableness of solutions.</a:t>
            </a:r>
            <a:endParaRPr dirty="0"/>
          </a:p>
          <a:p>
            <a:endParaRPr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r>
              <a:rPr lang="en-US" sz="180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MA.K12.MTR.7.1 Apply mathematics to real-world contexts.</a:t>
            </a:r>
            <a:endParaRPr dirty="0"/>
          </a:p>
        </p:txBody>
      </p:sp>
      <p:sp>
        <p:nvSpPr>
          <p:cNvPr id="138" name="Google Shape;138;p2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128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>
              <a:highlight>
                <a:srgbClr val="FFFF00"/>
              </a:highlight>
            </a:endParaRPr>
          </a:p>
        </p:txBody>
      </p:sp>
      <p:pic>
        <p:nvPicPr>
          <p:cNvPr id="145" name="Google Shape;145;p2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6" name="Google Shape;146;p22"/>
          <p:cNvSpPr txBox="1"/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  <a:endParaRPr dirty="0"/>
          </a:p>
        </p:txBody>
      </p:sp>
      <p:pic>
        <p:nvPicPr>
          <p:cNvPr id="147" name="Google Shape;14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" name="Google Shape;148;p22"/>
          <p:cNvSpPr txBox="1"/>
          <p:nvPr/>
        </p:nvSpPr>
        <p:spPr>
          <a:xfrm>
            <a:off x="532661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38163" indent="-538163">
              <a:buSzPts val="3500"/>
              <a:buFont typeface="Noto Sans Symbols"/>
              <a:buChar char="❑"/>
            </a:pPr>
            <a:r>
              <a:rPr lang="en-US" sz="3500" dirty="0">
                <a:latin typeface="Verdana"/>
                <a:ea typeface="Verdana"/>
                <a:cs typeface="Verdana"/>
                <a:sym typeface="Verdana"/>
              </a:rPr>
              <a:t>I can solve two-step equations within a real-world context.</a:t>
            </a:r>
            <a:endParaRPr dirty="0"/>
          </a:p>
          <a:p>
            <a:pPr marL="538163" indent="-315913">
              <a:buSzPts val="3500"/>
            </a:pPr>
            <a:endParaRPr sz="3500" dirty="0">
              <a:latin typeface="Verdana"/>
              <a:ea typeface="Verdana"/>
              <a:cs typeface="Verdana"/>
              <a:sym typeface="Verdana"/>
            </a:endParaRPr>
          </a:p>
          <a:p>
            <a:pPr marL="538163" indent="-538163">
              <a:buSzPts val="3500"/>
              <a:buFont typeface="Noto Sans Symbols"/>
              <a:buChar char="❑"/>
            </a:pPr>
            <a:r>
              <a:rPr lang="en-US" sz="3500" dirty="0">
                <a:latin typeface="Verdana"/>
                <a:ea typeface="Verdana"/>
                <a:cs typeface="Verdana"/>
                <a:sym typeface="Verdana"/>
              </a:rPr>
              <a:t>I can relate the solution of an equation representing a real-world context to the context.</a:t>
            </a:r>
            <a:endParaRPr dirty="0"/>
          </a:p>
        </p:txBody>
      </p:sp>
      <p:sp>
        <p:nvSpPr>
          <p:cNvPr id="149" name="Google Shape;149;p2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128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56" name="Google Shape;156;p2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57" name="Google Shape;157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8" name="Google Shape;158;p23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129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4" descr="A close up of a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6336" y="1906630"/>
            <a:ext cx="6055360" cy="203962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4"/>
          <p:cNvSpPr txBox="1"/>
          <p:nvPr/>
        </p:nvSpPr>
        <p:spPr>
          <a:xfrm>
            <a:off x="532660" y="1467186"/>
            <a:ext cx="10515600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A pattern is shown.</a:t>
            </a:r>
            <a:endParaRPr dirty="0"/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indent="-457200">
              <a:buSzPts val="24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Describe how the pattern is changing in each step.</a:t>
            </a:r>
            <a:endParaRPr dirty="0"/>
          </a:p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dirty="0"/>
          </a:p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  </a:t>
            </a:r>
            <a:endParaRPr dirty="0"/>
          </a:p>
          <a:p>
            <a:pPr marL="457200" indent="-457200">
              <a:buSzPts val="2400"/>
              <a:buFont typeface="Arial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How many circles will be in the next step?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68" name="Google Shape;168;p24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69" name="Google Shape;169;p24"/>
          <p:cNvSpPr txBox="1"/>
          <p:nvPr/>
        </p:nvSpPr>
        <p:spPr>
          <a:xfrm>
            <a:off x="1152144" y="462120"/>
            <a:ext cx="105156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10.8.1 Warm-Up: Number Patterns</a:t>
            </a:r>
            <a:endParaRPr dirty="0"/>
          </a:p>
        </p:txBody>
      </p:sp>
      <p:pic>
        <p:nvPicPr>
          <p:cNvPr id="170" name="Google Shape;170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1104" y="38391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1" name="Google Shape;171;p2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78" name="Google Shape;178;p2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79" name="Google Shape;179;p25"/>
          <p:cNvSpPr txBox="1">
            <a:spLocks noGrp="1"/>
          </p:cNvSpPr>
          <p:nvPr>
            <p:ph type="title" idx="4294967295"/>
          </p:nvPr>
        </p:nvSpPr>
        <p:spPr>
          <a:xfrm>
            <a:off x="427024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0" name="Google Shape;180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81" name="Google Shape;181;p2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188" name="Google Shape;188;p2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89" name="Google Shape;189;p26"/>
          <p:cNvSpPr txBox="1"/>
          <p:nvPr/>
        </p:nvSpPr>
        <p:spPr>
          <a:xfrm>
            <a:off x="1151878" y="9597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10.8.2 Collaboration: Matching Equations to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Diagrams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and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Contexts</a:t>
            </a:r>
            <a:endParaRPr sz="3600" dirty="0"/>
          </a:p>
        </p:txBody>
      </p:sp>
      <p:pic>
        <p:nvPicPr>
          <p:cNvPr id="190" name="Google Shape;190;p26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8596" y="383916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1" name="Google Shape;191;p26"/>
          <p:cNvSpPr txBox="1"/>
          <p:nvPr/>
        </p:nvSpPr>
        <p:spPr>
          <a:xfrm>
            <a:off x="532661" y="1467228"/>
            <a:ext cx="10515600" cy="3508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Equations can be represented using bar diagrams.</a:t>
            </a:r>
            <a:endParaRPr dirty="0"/>
          </a:p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dirty="0"/>
          </a:p>
          <a:p>
            <a:pPr marL="457200" indent="-457200">
              <a:buSzPts val="24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A bar diagram is shown.</a:t>
            </a:r>
            <a:endParaRPr dirty="0"/>
          </a:p>
          <a:p>
            <a:pPr marL="901700" lvl="3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1700" lvl="3" indent="-304800">
              <a:spcBef>
                <a:spcPts val="1200"/>
              </a:spcBef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1700" lvl="3" indent="-304800">
              <a:spcBef>
                <a:spcPts val="1200"/>
              </a:spcBef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1700" lvl="3" indent="-457200">
              <a:spcBef>
                <a:spcPts val="1200"/>
              </a:spcBef>
              <a:buSzPts val="2400"/>
              <a:buFont typeface="Arial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Select all the equations that match the diagram.</a:t>
            </a:r>
            <a:endParaRPr sz="2400" dirty="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129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779314" y="2607778"/>
            <a:ext cx="4645025" cy="1298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/>
          <p:nvPr/>
        </p:nvSpPr>
        <p:spPr>
          <a:xfrm>
            <a:off x="532661" y="4720262"/>
            <a:ext cx="7913763" cy="2323713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t="-78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01" name="Google Shape;201;p2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03" name="Google Shape;203;p2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129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191;p26"/>
              <p:cNvSpPr txBox="1"/>
              <p:nvPr/>
            </p:nvSpPr>
            <p:spPr>
              <a:xfrm>
                <a:off x="532661" y="377644"/>
                <a:ext cx="10800000" cy="4524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00113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Compare your selections with your partner. Resolve any differences if necessary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With your partner, choose one of the equations that can be modeled by the bar diagram and explain why it matches the diagram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Explain why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+5=18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does not match the bar diagram.</a:t>
                </a:r>
                <a:endParaRPr sz="2400" dirty="0">
                  <a:latin typeface="Verdana" pitchFamily="34" charset="0"/>
                  <a:ea typeface="Verdana" pitchFamily="34" charset="0"/>
                  <a:cs typeface="Verdana"/>
                  <a:sym typeface="Verdana"/>
                </a:endParaRPr>
              </a:p>
            </p:txBody>
          </p:sp>
        </mc:Choice>
        <mc:Fallback>
          <p:sp>
            <p:nvSpPr>
              <p:cNvPr id="6" name="Google Shape;191;p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377644"/>
                <a:ext cx="10800000" cy="4524275"/>
              </a:xfrm>
              <a:prstGeom prst="rect">
                <a:avLst/>
              </a:prstGeom>
              <a:blipFill rotWithShape="1">
                <a:blip r:embed="rId4"/>
                <a:stretch>
                  <a:fillRect t="-1078" b="-20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10" name="Google Shape;210;p2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11" name="Google Shape;211;p28"/>
          <p:cNvSpPr txBox="1"/>
          <p:nvPr/>
        </p:nvSpPr>
        <p:spPr>
          <a:xfrm>
            <a:off x="532661" y="381781"/>
            <a:ext cx="105156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2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Equations can be used to represent real-world contexts.</a:t>
            </a:r>
            <a:endParaRPr dirty="0"/>
          </a:p>
          <a:p>
            <a:pPr lvl="2"/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457200" lvl="2" indent="-457200">
              <a:buSzPts val="2400"/>
              <a:buFont typeface="Arial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Three equations are shown.</a:t>
            </a:r>
            <a:endParaRPr dirty="0"/>
          </a:p>
        </p:txBody>
      </p:sp>
      <p:sp>
        <p:nvSpPr>
          <p:cNvPr id="212" name="Google Shape;212;p2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130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3" name="Google Shape;213;p28"/>
              <p:cNvGraphicFramePr/>
              <p:nvPr>
                <p:extLst>
                  <p:ext uri="{D42A27DB-BD31-4B8C-83A1-F6EECF244321}">
                    <p14:modId xmlns:p14="http://schemas.microsoft.com/office/powerpoint/2010/main" val="4196026514"/>
                  </p:ext>
                </p:extLst>
              </p:nvPr>
            </p:nvGraphicFramePr>
            <p:xfrm>
              <a:off x="1185605" y="1706537"/>
              <a:ext cx="8640000" cy="1542350"/>
            </p:xfrm>
            <a:graphic>
              <a:graphicData uri="http://schemas.openxmlformats.org/drawingml/2006/table">
                <a:tbl>
                  <a:tblPr>
                    <a:noFill/>
                    <a:tableStyleId>{1079E168-2199-4EED-B6F2-8B0E5C9B8ADE}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Equation A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Equation B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Equation C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0743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 u="none" strike="noStrike" cap="none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u="none" strike="noStrike" cap="none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b="0" i="1" u="none" strike="noStrike" cap="none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 b="0" i="1" u="none" strike="noStrike" cap="none" smtClean="0">
                                    <a:latin typeface="Cambria Math"/>
                                  </a:rPr>
                                  <m:t>+4</m:t>
                                </m:r>
                                <m:r>
                                  <a:rPr lang="en-US" sz="2000" b="0" i="1" u="none" strike="noStrike" cap="none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u="none" strike="noStrike" cap="none" smtClean="0">
                                    <a:latin typeface="Cambria Math"/>
                                  </a:rPr>
                                  <m:t>=8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cap="none" smtClean="0">
                                    <a:latin typeface="Cambria Math"/>
                                  </a:rPr>
                                  <m:t>4+</m:t>
                                </m:r>
                                <m:f>
                                  <m:fPr>
                                    <m:ctrlPr>
                                      <a:rPr lang="en-US" sz="2000" b="0" i="1" u="none" strike="noStrike" cap="none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u="none" strike="noStrike" cap="none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b="0" i="1" u="none" strike="noStrike" cap="none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 b="0" i="1" u="none" strike="noStrike" cap="none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u="none" strike="noStrike" cap="none" smtClean="0">
                                    <a:latin typeface="Cambria Math"/>
                                  </a:rPr>
                                  <m:t>=8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cap="none" smtClean="0">
                                    <a:latin typeface="Cambria Math"/>
                                  </a:rPr>
                                  <m:t>8</m:t>
                                </m:r>
                                <m:r>
                                  <a:rPr lang="en-US" sz="2000" b="0" i="1" u="none" strike="noStrike" cap="none" smtClean="0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2000" b="0" i="1" u="none" strike="noStrike" cap="none" smtClean="0">
                                    <a:latin typeface="Cambria Math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sz="2000" b="0" i="1" u="none" strike="noStrike" cap="none" smtClean="0"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u="none" strike="noStrike" cap="none" smtClean="0">
                                        <a:latin typeface="Cambria Math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b="0" i="1" u="none" strike="noStrike" cap="none" smtClean="0">
                                        <a:latin typeface="Cambria Math"/>
                                      </a:rPr>
                                      <m:t>4</m:t>
                                    </m:r>
                                  </m:den>
                                </m:f>
                                <m:r>
                                  <a:rPr lang="en-US" sz="2000" b="0" i="1" u="none" strike="noStrike" cap="none" smtClean="0">
                                    <a:latin typeface="Cambria Math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3" name="Google Shape;213;p28"/>
              <p:cNvGraphicFramePr/>
              <p:nvPr>
                <p:extLst>
                  <p:ext uri="{D42A27DB-BD31-4B8C-83A1-F6EECF244321}">
                    <p14:modId xmlns:p14="http://schemas.microsoft.com/office/powerpoint/2010/main" val="4196026514"/>
                  </p:ext>
                </p:extLst>
              </p:nvPr>
            </p:nvGraphicFramePr>
            <p:xfrm>
              <a:off x="1185605" y="1706537"/>
              <a:ext cx="8640000" cy="1542350"/>
            </p:xfrm>
            <a:graphic>
              <a:graphicData uri="http://schemas.openxmlformats.org/drawingml/2006/table">
                <a:tbl>
                  <a:tblPr>
                    <a:noFill/>
                    <a:tableStyleId>{1079E168-2199-4EED-B6F2-8B0E5C9B8ADE}</a:tableStyleId>
                  </a:tblPr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Equation A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Equation B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Equation C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07435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t="-44318" r="-199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100212" t="-44318" r="-100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 rotWithShape="1">
                          <a:blip r:embed="rId4"/>
                          <a:stretch>
                            <a:fillRect l="-199789" t="-443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20" name="Google Shape;220;p2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21" name="Google Shape;221;p29"/>
          <p:cNvSpPr txBox="1"/>
          <p:nvPr/>
        </p:nvSpPr>
        <p:spPr>
          <a:xfrm>
            <a:off x="532662" y="381782"/>
            <a:ext cx="105156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01700" lvl="2" indent="-457200">
              <a:buSzPts val="2000"/>
              <a:buFont typeface="Arial"/>
              <a:buAutoNum type="alphaLcPeriod"/>
            </a:pPr>
            <a:r>
              <a:rPr lang="en-US" sz="2000" dirty="0">
                <a:latin typeface="Verdana"/>
                <a:ea typeface="Verdana"/>
                <a:cs typeface="Verdana"/>
                <a:sym typeface="Verdana"/>
              </a:rPr>
              <a:t>Work with your partner to determine which equation matches each context. Then, write each equation in the appropriate row.</a:t>
            </a:r>
            <a:endParaRPr dirty="0"/>
          </a:p>
        </p:txBody>
      </p:sp>
      <p:sp>
        <p:nvSpPr>
          <p:cNvPr id="222" name="Google Shape;222;p2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130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23" name="Google Shape;223;p29"/>
              <p:cNvGraphicFramePr/>
              <p:nvPr>
                <p:extLst>
                  <p:ext uri="{D42A27DB-BD31-4B8C-83A1-F6EECF244321}">
                    <p14:modId xmlns:p14="http://schemas.microsoft.com/office/powerpoint/2010/main" val="1037308263"/>
                  </p:ext>
                </p:extLst>
              </p:nvPr>
            </p:nvGraphicFramePr>
            <p:xfrm>
              <a:off x="1590739" y="1253990"/>
              <a:ext cx="7848000" cy="4848759"/>
            </p:xfrm>
            <a:graphic>
              <a:graphicData uri="http://schemas.openxmlformats.org/drawingml/2006/table">
                <a:tbl>
                  <a:tblPr>
                    <a:noFill/>
                    <a:tableStyleId>{1079E168-2199-4EED-B6F2-8B0E5C9B8ADE}</a:tableStyleId>
                  </a:tblPr>
                  <a:tblGrid>
                    <a:gridCol w="576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088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Context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Equation</a:t>
                          </a:r>
                          <a:endParaRPr sz="2000" u="none" strike="noStrike" cap="none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4362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A stack of nested paper cups is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cap="non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  <a:cs typeface="Arial"/>
                                  <a:sym typeface="Arial"/>
                                </a:rPr>
                                <m:t>8</m:t>
                              </m:r>
                            </m:oMath>
                          </a14:m>
                          <a:r>
                            <a:rPr lang="en-US" sz="20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 inches tall. The first cup is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cap="non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  <a:cs typeface="Arial"/>
                                  <a:sym typeface="Arial"/>
                                </a:rPr>
                                <m:t>4</m:t>
                              </m:r>
                            </m:oMath>
                          </a14:m>
                          <a:r>
                            <a:rPr lang="en-US" sz="20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 inches tall and each of the rest of the cups in the stack adds 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 inch to the height of the stack.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4362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A baker uses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cap="non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  <a:cs typeface="Arial"/>
                                  <a:sym typeface="Arial"/>
                                </a:rPr>
                                <m:t>4</m:t>
                              </m:r>
                            </m:oMath>
                          </a14:m>
                          <a:r>
                            <a:rPr lang="en-US" sz="20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 cups of flour. She uses 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 cup to cover the counter with flour so the dough doesn't stick, and the rest to make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cap="non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  <a:cs typeface="Arial"/>
                                  <a:sym typeface="Arial"/>
                                </a:rPr>
                                <m:t>8</m:t>
                              </m:r>
                            </m:oMath>
                          </a14:m>
                          <a:r>
                            <a:rPr lang="en-US" sz="20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 identical loaves of bread.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143625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Elena has an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cap="non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  <a:cs typeface="Arial"/>
                                  <a:sym typeface="Arial"/>
                                </a:rPr>
                                <m:t>8</m:t>
                              </m:r>
                            </m:oMath>
                          </a14:m>
                          <a:r>
                            <a:rPr lang="en-US" sz="20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-foot piece of ribbon. She cuts off a piece that is 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  <m:t>4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b="0" i="0" u="none" strike="noStrike" cap="none" dirty="0" smtClean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Arial"/>
                              <a:sym typeface="Arial"/>
                            </a:rPr>
                            <a:t> of a foot long and cuts the remainder into four pieces of equal length.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23" name="Google Shape;223;p29"/>
              <p:cNvGraphicFramePr/>
              <p:nvPr>
                <p:extLst>
                  <p:ext uri="{D42A27DB-BD31-4B8C-83A1-F6EECF244321}">
                    <p14:modId xmlns:p14="http://schemas.microsoft.com/office/powerpoint/2010/main" val="1037308263"/>
                  </p:ext>
                </p:extLst>
              </p:nvPr>
            </p:nvGraphicFramePr>
            <p:xfrm>
              <a:off x="1590739" y="1253990"/>
              <a:ext cx="7848000" cy="4848759"/>
            </p:xfrm>
            <a:graphic>
              <a:graphicData uri="http://schemas.openxmlformats.org/drawingml/2006/table">
                <a:tbl>
                  <a:tblPr>
                    <a:noFill/>
                    <a:tableStyleId>{1079E168-2199-4EED-B6F2-8B0E5C9B8ADE}</a:tableStyleId>
                  </a:tblPr>
                  <a:tblGrid>
                    <a:gridCol w="576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088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Context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Equation</a:t>
                          </a:r>
                          <a:endParaRPr sz="2000" u="none" strike="noStrike" cap="none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4362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6" t="-38298" r="-36296" b="-2085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4362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6" t="-137712" r="-36296" b="-1076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14362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6" t="-238723" r="-36296" b="-8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30" name="Google Shape;230;p3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31" name="Google Shape;231;p30"/>
          <p:cNvSpPr txBox="1"/>
          <p:nvPr/>
        </p:nvSpPr>
        <p:spPr>
          <a:xfrm>
            <a:off x="550416" y="381781"/>
            <a:ext cx="10515600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01700" lvl="2" indent="-457200">
              <a:buSzPts val="2400"/>
              <a:buFont typeface="Arial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With your partner, discuss what the variable 𝑥 represents in each of the equations. Then, write the meaning of 𝑥 in each equation based on the context it matches.</a:t>
            </a:r>
            <a:endParaRPr dirty="0"/>
          </a:p>
        </p:txBody>
      </p:sp>
      <p:sp>
        <p:nvSpPr>
          <p:cNvPr id="232" name="Google Shape;232;p3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33" name="Google Shape;233;p30"/>
              <p:cNvGraphicFramePr/>
              <p:nvPr>
                <p:extLst>
                  <p:ext uri="{D42A27DB-BD31-4B8C-83A1-F6EECF244321}">
                    <p14:modId xmlns:p14="http://schemas.microsoft.com/office/powerpoint/2010/main" val="2127297854"/>
                  </p:ext>
                </p:extLst>
              </p:nvPr>
            </p:nvGraphicFramePr>
            <p:xfrm>
              <a:off x="1582749" y="1797380"/>
              <a:ext cx="6840000" cy="3996000"/>
            </p:xfrm>
            <a:graphic>
              <a:graphicData uri="http://schemas.openxmlformats.org/drawingml/2006/table">
                <a:tbl>
                  <a:tblPr>
                    <a:noFill/>
                    <a:tableStyleId>{1079E168-2199-4EED-B6F2-8B0E5C9B8ADE}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Equation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 smtClean="0">
                              <a:latin typeface="Verdana" pitchFamily="34" charset="0"/>
                              <a:ea typeface="Verdana" pitchFamily="34" charset="0"/>
                            </a:rPr>
                            <a:t>Meaning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 u="none" strike="noStrike" cap="none" dirty="0" smtClean="0">
                                  <a:latin typeface="Cambria Math"/>
                                </a:rPr>
                                <m:t>𝒙</m:t>
                              </m:r>
                            </m:oMath>
                          </a14:m>
                          <a:endParaRPr sz="2000" b="1" u="none" strike="noStrike" cap="none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1520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 smtClean="0">
                              <a:latin typeface="Verdana" pitchFamily="34" charset="0"/>
                              <a:ea typeface="Verdana" pitchFamily="34" charset="0"/>
                            </a:rPr>
                            <a:t>A: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 b="0" i="1" u="none" strike="noStrike" cap="non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  <a:cs typeface="Arial"/>
                                  <a:sym typeface="Arial"/>
                                </a:rPr>
                                <m:t>+4</m:t>
                              </m:r>
                              <m:r>
                                <a:rPr lang="en-US" sz="2000" b="0" i="1" u="none" strike="noStrike" cap="non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  <a:cs typeface="Arial"/>
                                  <a:sym typeface="Arial"/>
                                </a:rPr>
                                <m:t>𝑥</m:t>
                              </m:r>
                              <m:r>
                                <a:rPr lang="en-US" sz="2000" b="0" i="1" u="none" strike="noStrike" cap="non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  <a:cs typeface="Arial"/>
                                  <a:sym typeface="Arial"/>
                                </a:rPr>
                                <m:t>=8</m:t>
                              </m:r>
                            </m:oMath>
                          </a14:m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14400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>
                            <a:latin typeface="Verdana" pitchFamily="34" charset="0"/>
                            <a:ea typeface="Verdana" pitchFamily="34" charset="0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1520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 smtClean="0">
                              <a:latin typeface="Verdana" pitchFamily="34" charset="0"/>
                              <a:ea typeface="Verdana" pitchFamily="34" charset="0"/>
                            </a:rPr>
                            <a:t>B: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cap="none" smtClean="0">
                                  <a:latin typeface="Cambria Math"/>
                                  <a:ea typeface="Verdana" pitchFamily="34" charset="0"/>
                                </a:rPr>
                                <m:t>4+</m:t>
                              </m:r>
                              <m:f>
                                <m:fPr>
                                  <m:ctrlP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 b="0" i="1" u="none" strike="noStrike" cap="non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  <a:cs typeface="Arial"/>
                                  <a:sym typeface="Arial"/>
                                </a:rPr>
                                <m:t>𝑥</m:t>
                              </m:r>
                              <m:r>
                                <a:rPr lang="en-US" sz="2000" b="0" i="1" u="none" strike="noStrike" cap="non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  <a:cs typeface="Arial"/>
                                  <a:sym typeface="Arial"/>
                                </a:rPr>
                                <m:t>=8</m:t>
                              </m:r>
                            </m:oMath>
                          </a14:m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14400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>
                            <a:latin typeface="Verdana" pitchFamily="34" charset="0"/>
                            <a:ea typeface="Verdana" pitchFamily="34" charset="0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11520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 smtClean="0">
                              <a:latin typeface="Verdana" pitchFamily="34" charset="0"/>
                              <a:ea typeface="Verdana" pitchFamily="34" charset="0"/>
                            </a:rPr>
                            <a:t>C: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u="none" strike="noStrike" cap="none" smtClean="0">
                                  <a:latin typeface="Cambria Math"/>
                                  <a:ea typeface="Verdana" pitchFamily="34" charset="0"/>
                                </a:rPr>
                                <m:t>8</m:t>
                              </m:r>
                              <m:r>
                                <a:rPr lang="en-US" sz="2000" b="0" i="1" u="none" strike="noStrike" cap="none" smtClean="0">
                                  <a:latin typeface="Cambria Math"/>
                                  <a:ea typeface="Verdana" pitchFamily="34" charset="0"/>
                                </a:rPr>
                                <m:t>𝑥</m:t>
                              </m:r>
                              <m:r>
                                <a:rPr lang="en-US" sz="2000" b="0" i="1" u="none" strike="noStrike" cap="none" smtClean="0">
                                  <a:latin typeface="Cambria Math"/>
                                  <a:ea typeface="Verdana" pitchFamily="34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u="none" strike="noStrike" cap="none" dirty="0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/>
                                      <a:ea typeface="Verdana" pitchFamily="34" charset="0"/>
                                      <a:cs typeface="Arial"/>
                                      <a:sym typeface="Arial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sz="2000" b="0" i="1" u="none" strike="noStrike" cap="none" dirty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/>
                                  <a:ea typeface="Verdana" pitchFamily="34" charset="0"/>
                                  <a:cs typeface="Arial"/>
                                  <a:sym typeface="Arial"/>
                                </a:rPr>
                                <m:t>=4</m:t>
                              </m:r>
                            </m:oMath>
                          </a14:m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14400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33" name="Google Shape;233;p30"/>
              <p:cNvGraphicFramePr/>
              <p:nvPr>
                <p:extLst>
                  <p:ext uri="{D42A27DB-BD31-4B8C-83A1-F6EECF244321}">
                    <p14:modId xmlns:p14="http://schemas.microsoft.com/office/powerpoint/2010/main" val="2127297854"/>
                  </p:ext>
                </p:extLst>
              </p:nvPr>
            </p:nvGraphicFramePr>
            <p:xfrm>
              <a:off x="1582749" y="1797380"/>
              <a:ext cx="6840000" cy="3996000"/>
            </p:xfrm>
            <a:graphic>
              <a:graphicData uri="http://schemas.openxmlformats.org/drawingml/2006/table">
                <a:tbl>
                  <a:tblPr>
                    <a:noFill/>
                    <a:tableStyleId>{1079E168-2199-4EED-B6F2-8B0E5C9B8ADE}</a:tableStyleId>
                  </a:tblPr>
                  <a:tblGrid>
                    <a:gridCol w="25200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Equation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5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 rotWithShape="1">
                          <a:blip r:embed="rId4"/>
                          <a:stretch>
                            <a:fillRect l="-58392" t="-1124" b="-6370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115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00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 rotWithShape="1">
                          <a:blip r:embed="rId4"/>
                          <a:stretch>
                            <a:fillRect l="-242" t="-47872" r="-171671" b="-2015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>
                            <a:latin typeface="Verdana" pitchFamily="34" charset="0"/>
                            <a:ea typeface="Verdana" pitchFamily="34" charset="0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115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00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 rotWithShape="1">
                          <a:blip r:embed="rId4"/>
                          <a:stretch>
                            <a:fillRect l="-242" t="-147090" r="-171671" b="-100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>
                            <a:latin typeface="Verdana" pitchFamily="34" charset="0"/>
                            <a:ea typeface="Verdana" pitchFamily="34" charset="0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1152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44000" marR="91450" marT="45725" marB="45725" anchor="ctr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 rotWithShape="1">
                          <a:blip r:embed="rId4"/>
                          <a:stretch>
                            <a:fillRect l="-242" t="-247090" r="-171671" b="-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Verdana" pitchFamily="34" charset="0"/>
                              <a:ea typeface="Verdana" pitchFamily="34" charset="0"/>
                              <a:cs typeface="Verdana"/>
                              <a:sym typeface="Verdana"/>
                            </a:rPr>
                            <a:t> </a:t>
                          </a:r>
                          <a:endParaRPr sz="2000" u="none" strike="noStrike" cap="none" dirty="0">
                            <a:latin typeface="Verdana" pitchFamily="34" charset="0"/>
                            <a:ea typeface="Verdana" pitchFamily="34" charset="0"/>
                            <a:cs typeface="Cambria"/>
                            <a:sym typeface="Cambria"/>
                          </a:endParaRPr>
                        </a:p>
                      </a:txBody>
                      <a:tcPr marL="91450" marR="91450" marT="45725" marB="45725">
                        <a:lnL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19050" cap="flat" cmpd="sng">
                          <a:solidFill>
                            <a:schemeClr val="dk1"/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40" name="Google Shape;240;p3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41" name="Google Shape;241;p31"/>
          <p:cNvSpPr txBox="1">
            <a:spLocks noGrp="1"/>
          </p:cNvSpPr>
          <p:nvPr>
            <p:ph type="title" idx="4294967295"/>
          </p:nvPr>
        </p:nvSpPr>
        <p:spPr>
          <a:xfrm>
            <a:off x="433594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550"/>
            <a:ext cx="1152891" cy="115289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50" name="Google Shape;250;p3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51" name="Google Shape;251;p32"/>
          <p:cNvSpPr txBox="1"/>
          <p:nvPr/>
        </p:nvSpPr>
        <p:spPr>
          <a:xfrm>
            <a:off x="1151878" y="214075"/>
            <a:ext cx="105156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10.8.3 Guided Instruction: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Relating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Equations to Their Contexts</a:t>
            </a:r>
            <a:endParaRPr sz="3600" dirty="0"/>
          </a:p>
        </p:txBody>
      </p:sp>
      <p:sp>
        <p:nvSpPr>
          <p:cNvPr id="253" name="Google Shape;253;p3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8596" y="383916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Google Shape;191;p26"/>
              <p:cNvSpPr txBox="1"/>
              <p:nvPr/>
            </p:nvSpPr>
            <p:spPr>
              <a:xfrm>
                <a:off x="532661" y="1467228"/>
                <a:ext cx="10515600" cy="2308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Olivia had her birthday party at a trampoline park. It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c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ost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$48.50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to reserve a private jumping area for their group and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$15.72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per person for food, drinks, and unlimited jump time. Olivia's parents paid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$315.74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for Olivia and her friends to attend the party.</a:t>
                </a:r>
              </a:p>
              <a:p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What was the total amount of money spent on the party?</a:t>
                </a:r>
              </a:p>
            </p:txBody>
          </p:sp>
        </mc:Choice>
        <mc:Fallback>
          <p:sp>
            <p:nvSpPr>
              <p:cNvPr id="11" name="Google Shape;191;p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1467228"/>
                <a:ext cx="10515600" cy="2308284"/>
              </a:xfrm>
              <a:prstGeom prst="rect">
                <a:avLst/>
              </a:prstGeom>
              <a:blipFill rotWithShape="1">
                <a:blip r:embed="rId5"/>
                <a:stretch>
                  <a:fillRect l="-870" t="-2381" r="-1623" b="-52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61" name="Google Shape;261;p3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62" name="Google Shape;262;p33"/>
          <p:cNvSpPr txBox="1"/>
          <p:nvPr/>
        </p:nvSpPr>
        <p:spPr>
          <a:xfrm>
            <a:off x="532660" y="378468"/>
            <a:ext cx="10515600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400"/>
              <a:buFont typeface="Arial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One of the costs depends on the number of people attending the party, while the other does not.</a:t>
            </a:r>
            <a:endParaRPr dirty="0"/>
          </a:p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dirty="0"/>
          </a:p>
          <a:p>
            <a:pPr marL="898525" indent="-457200">
              <a:buSzPts val="2400"/>
              <a:buFont typeface="Arial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Which cost depends on the number of people who attend the party?</a:t>
            </a:r>
            <a:endParaRPr dirty="0"/>
          </a:p>
          <a:p>
            <a:pPr marL="898525" indent="-457200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dirty="0"/>
          </a:p>
          <a:p>
            <a:pPr marL="898525" indent="-457200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dirty="0"/>
          </a:p>
          <a:p>
            <a:pPr marL="898525" indent="-457200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dirty="0"/>
          </a:p>
          <a:p>
            <a:pPr marL="898525" indent="-457200"/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  </a:t>
            </a:r>
            <a:endParaRPr dirty="0"/>
          </a:p>
          <a:p>
            <a:pPr marL="898525" indent="-457200">
              <a:buSzPts val="2400"/>
              <a:buFont typeface="Arial"/>
              <a:buAutoNum type="alphaL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Which cost is the same regardless of how many people attend the party?</a:t>
            </a:r>
            <a:endParaRPr dirty="0"/>
          </a:p>
        </p:txBody>
      </p:sp>
      <p:sp>
        <p:nvSpPr>
          <p:cNvPr id="263" name="Google Shape;263;p3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70" name="Google Shape;270;p3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72" name="Google Shape;272;p3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131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262;p33"/>
              <p:cNvSpPr txBox="1"/>
              <p:nvPr/>
            </p:nvSpPr>
            <p:spPr>
              <a:xfrm>
                <a:off x="532660" y="378468"/>
                <a:ext cx="10997924" cy="52629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The total cost for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Olivia’s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birthday party can be represented by the equation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315.74=15.72</m:t>
                    </m:r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𝑛</m:t>
                    </m:r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+48.50</m:t>
                    </m:r>
                  </m:oMath>
                </a14:m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Work with your partner to answer the following questions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442913"/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What does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represent in the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equation?</a:t>
                </a:r>
              </a:p>
              <a:p>
                <a:pPr marL="900113" lvl="1" indent="-457200"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lvl="1" indent="-457200">
                  <a:buFont typeface="+mj-lt"/>
                  <a:buAutoNum type="alphaLcPeriod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lvl="1" indent="-457200">
                  <a:buFont typeface="+mj-lt"/>
                  <a:buAutoNum type="alphaLcPeriod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lvl="1" indent="-457200">
                  <a:buFont typeface="+mj-lt"/>
                  <a:buAutoNum type="alphaLcPeriod"/>
                </a:pP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What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does the variable term,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15.72</m:t>
                    </m:r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, represent in the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equation?</a:t>
                </a:r>
              </a:p>
              <a:p>
                <a:pPr marL="900113" lvl="1" indent="-457200">
                  <a:buFont typeface="+mj-lt"/>
                  <a:buAutoNum type="alphaLcPeriod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lvl="1" indent="-457200">
                  <a:buFont typeface="+mj-lt"/>
                  <a:buAutoNum type="alphaL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lvl="1" indent="-457200">
                  <a:buFont typeface="+mj-lt"/>
                  <a:buAutoNum type="alphaLcPeriod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lvl="1" indent="-457200">
                  <a:buFont typeface="+mj-lt"/>
                  <a:buAutoNum type="alphaLcPeriod"/>
                </a:pP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What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does the constant term,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48.50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, represent in the equation?</a:t>
                </a:r>
              </a:p>
            </p:txBody>
          </p:sp>
        </mc:Choice>
        <mc:Fallback>
          <p:sp>
            <p:nvSpPr>
              <p:cNvPr id="6" name="Google Shape;262;p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378468"/>
                <a:ext cx="10997924" cy="5262939"/>
              </a:xfrm>
              <a:prstGeom prst="rect">
                <a:avLst/>
              </a:prstGeom>
              <a:blipFill rotWithShape="1">
                <a:blip r:embed="rId4"/>
                <a:stretch>
                  <a:fillRect l="-831" t="-927" b="-16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79" name="Google Shape;279;p3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81" name="Google Shape;281;p35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132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262;p33"/>
              <p:cNvSpPr txBox="1"/>
              <p:nvPr/>
            </p:nvSpPr>
            <p:spPr>
              <a:xfrm>
                <a:off x="532660" y="378468"/>
                <a:ext cx="10997924" cy="3785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Solve the equation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315.74=15.72</m:t>
                    </m:r>
                    <m:r>
                      <a:rPr lang="en-US" sz="2400" i="1" dirty="0" smtClean="0">
                        <a:latin typeface="Cambria Math"/>
                      </a:rPr>
                      <m:t>𝑛</m:t>
                    </m:r>
                    <m:r>
                      <a:rPr lang="en-US" sz="2400" i="1" dirty="0" smtClean="0">
                        <a:latin typeface="Cambria Math"/>
                      </a:rPr>
                      <m:t>+48.50</m:t>
                    </m:r>
                  </m:oMath>
                </a14:m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If Olivia was included as one of the people attending the party, determine how many of her friends attended.</a:t>
                </a:r>
              </a:p>
            </p:txBody>
          </p:sp>
        </mc:Choice>
        <mc:Fallback>
          <p:sp>
            <p:nvSpPr>
              <p:cNvPr id="6" name="Google Shape;262;p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378468"/>
                <a:ext cx="10997924" cy="3785611"/>
              </a:xfrm>
              <a:prstGeom prst="rect">
                <a:avLst/>
              </a:prstGeom>
              <a:blipFill rotWithShape="1">
                <a:blip r:embed="rId4"/>
                <a:stretch>
                  <a:fillRect l="-831" t="-1449" b="-27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88" name="Google Shape;288;p3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89" name="Google Shape;289;p36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ct val="96969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0" name="Google Shape;290;p36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132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1" name="Google Shape;291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63532"/>
            <a:ext cx="1154982" cy="115498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298" name="Google Shape;298;p3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99" name="Google Shape;299;p37"/>
          <p:cNvSpPr txBox="1"/>
          <p:nvPr/>
        </p:nvSpPr>
        <p:spPr>
          <a:xfrm>
            <a:off x="1151878" y="215032"/>
            <a:ext cx="105156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10.8.4 Guided Practice: Relating Equations to Their Contexts</a:t>
            </a:r>
            <a:endParaRPr sz="1600" dirty="0"/>
          </a:p>
        </p:txBody>
      </p:sp>
      <p:grpSp>
        <p:nvGrpSpPr>
          <p:cNvPr id="301" name="Google Shape;301;p37"/>
          <p:cNvGrpSpPr/>
          <p:nvPr/>
        </p:nvGrpSpPr>
        <p:grpSpPr>
          <a:xfrm>
            <a:off x="2781300" y="2796395"/>
            <a:ext cx="6629400" cy="1054079"/>
            <a:chOff x="2031300" y="3252877"/>
            <a:chExt cx="6629400" cy="1054225"/>
          </a:xfrm>
        </p:grpSpPr>
        <p:sp>
          <p:nvSpPr>
            <p:cNvPr id="302" name="Google Shape;302;p37"/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spcAft>
                  <a:spcPts val="1000"/>
                </a:spcAft>
              </a:pPr>
              <a:r>
                <a:rPr lang="en-US" sz="1200">
                  <a:latin typeface="Cambria"/>
                  <a:ea typeface="Cambria"/>
                  <a:cs typeface="Cambria"/>
                  <a:sym typeface="Cambria"/>
                </a:rPr>
                <a:t> </a:t>
              </a:r>
              <a:endParaRPr/>
            </a:p>
          </p:txBody>
        </p:sp>
        <p:grpSp>
          <p:nvGrpSpPr>
            <p:cNvPr id="303" name="Google Shape;303;p37"/>
            <p:cNvGrpSpPr/>
            <p:nvPr/>
          </p:nvGrpSpPr>
          <p:grpSpPr>
            <a:xfrm>
              <a:off x="2031300" y="3252877"/>
              <a:ext cx="6629400" cy="1054225"/>
              <a:chOff x="2031300" y="3252877"/>
              <a:chExt cx="6629400" cy="1054225"/>
            </a:xfrm>
          </p:grpSpPr>
          <p:sp>
            <p:nvSpPr>
              <p:cNvPr id="304" name="Google Shape;304;p37"/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Cambria"/>
                    <a:cs typeface="Cambria"/>
                    <a:sym typeface="Cambria"/>
                  </a:rPr>
                  <a:t> </a:t>
                </a:r>
                <a:endParaRPr/>
              </a:p>
            </p:txBody>
          </p:sp>
          <p:grpSp>
            <p:nvGrpSpPr>
              <p:cNvPr id="305" name="Google Shape;305;p37"/>
              <p:cNvGrpSpPr/>
              <p:nvPr/>
            </p:nvGrpSpPr>
            <p:grpSpPr>
              <a:xfrm>
                <a:off x="2031300" y="3252877"/>
                <a:ext cx="6629400" cy="1054225"/>
                <a:chOff x="2031300" y="3252877"/>
                <a:chExt cx="6629400" cy="1054225"/>
              </a:xfrm>
            </p:grpSpPr>
            <p:sp>
              <p:nvSpPr>
                <p:cNvPr id="306" name="Google Shape;306;p37"/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/>
                      <a:ea typeface="Cambria"/>
                      <a:cs typeface="Cambria"/>
                      <a:sym typeface="Cambria"/>
                    </a:rPr>
                    <a:t> </a:t>
                  </a:r>
                  <a:endParaRPr/>
                </a:p>
              </p:txBody>
            </p:sp>
            <p:grpSp>
              <p:nvGrpSpPr>
                <p:cNvPr id="307" name="Google Shape;307;p37"/>
                <p:cNvGrpSpPr/>
                <p:nvPr/>
              </p:nvGrpSpPr>
              <p:grpSpPr>
                <a:xfrm>
                  <a:off x="2031300" y="3252877"/>
                  <a:ext cx="6629400" cy="1054225"/>
                  <a:chOff x="2031300" y="3252877"/>
                  <a:chExt cx="6629400" cy="1054225"/>
                </a:xfrm>
              </p:grpSpPr>
              <p:sp>
                <p:nvSpPr>
                  <p:cNvPr id="308" name="Google Shape;308;p37"/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/>
                        <a:ea typeface="Cambria"/>
                        <a:cs typeface="Cambria"/>
                        <a:sym typeface="Cambria"/>
                      </a:rPr>
                      <a:t> </a:t>
                    </a:r>
                    <a:endParaRPr/>
                  </a:p>
                </p:txBody>
              </p:sp>
              <p:grpSp>
                <p:nvGrpSpPr>
                  <p:cNvPr id="309" name="Google Shape;309;p37"/>
                  <p:cNvGrpSpPr/>
                  <p:nvPr/>
                </p:nvGrpSpPr>
                <p:grpSpPr>
                  <a:xfrm>
                    <a:off x="2031300" y="3252878"/>
                    <a:ext cx="6629400" cy="1054222"/>
                    <a:chOff x="2031300" y="3262288"/>
                    <a:chExt cx="6629400" cy="1035400"/>
                  </a:xfrm>
                </p:grpSpPr>
                <p:sp>
                  <p:nvSpPr>
                    <p:cNvPr id="310" name="Google Shape;310;p37"/>
                    <p:cNvSpPr/>
                    <p:nvPr/>
                  </p:nvSpPr>
                  <p:spPr>
                    <a:xfrm>
                      <a:off x="2031300" y="3262288"/>
                      <a:ext cx="6629400" cy="10354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 </a:t>
                      </a:r>
                      <a:endParaRPr/>
                    </a:p>
                  </p:txBody>
                </p:sp>
                <p:grpSp>
                  <p:nvGrpSpPr>
                    <p:cNvPr id="311" name="Google Shape;311;p37"/>
                    <p:cNvGrpSpPr/>
                    <p:nvPr/>
                  </p:nvGrpSpPr>
                  <p:grpSpPr>
                    <a:xfrm>
                      <a:off x="2031300" y="3262288"/>
                      <a:ext cx="6629400" cy="1035400"/>
                      <a:chOff x="2031300" y="3373600"/>
                      <a:chExt cx="6629400" cy="1035400"/>
                    </a:xfrm>
                  </p:grpSpPr>
                  <p:sp>
                    <p:nvSpPr>
                      <p:cNvPr id="312" name="Google Shape;312;p37"/>
                      <p:cNvSpPr/>
                      <p:nvPr/>
                    </p:nvSpPr>
                    <p:spPr>
                      <a:xfrm>
                        <a:off x="2031300" y="3373600"/>
                        <a:ext cx="6629400" cy="10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/>
                            <a:ea typeface="Cambria"/>
                            <a:cs typeface="Cambria"/>
                            <a:sym typeface="Cambria"/>
                          </a:rPr>
                          <a:t> </a:t>
                        </a:r>
                        <a:endParaRPr/>
                      </a:p>
                    </p:txBody>
                  </p:sp>
                  <p:grpSp>
                    <p:nvGrpSpPr>
                      <p:cNvPr id="313" name="Google Shape;313;p37"/>
                      <p:cNvGrpSpPr/>
                      <p:nvPr/>
                    </p:nvGrpSpPr>
                    <p:grpSpPr>
                      <a:xfrm>
                        <a:off x="2031300" y="3373600"/>
                        <a:ext cx="6629400" cy="812800"/>
                        <a:chOff x="2031300" y="3373600"/>
                        <a:chExt cx="6629400" cy="812800"/>
                      </a:xfrm>
                    </p:grpSpPr>
                    <p:sp>
                      <p:nvSpPr>
                        <p:cNvPr id="314" name="Google Shape;314;p37"/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 </a:t>
                          </a:r>
                          <a:endParaRPr/>
                        </a:p>
                      </p:txBody>
                    </p:sp>
                    <p:sp>
                      <p:nvSpPr>
                        <p:cNvPr id="315" name="Google Shape;315;p37"/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/>
                              <a:ea typeface="Cambria"/>
                              <a:cs typeface="Cambria"/>
                              <a:sym typeface="Cambria"/>
                            </a:rPr>
                            <a:t> </a:t>
                          </a:r>
                          <a:endParaRPr/>
                        </a:p>
                      </p:txBody>
                    </p:sp>
                  </p:grpSp>
                </p:grpSp>
              </p:grpSp>
            </p:grpSp>
          </p:grpSp>
        </p:grpSp>
      </p:grpSp>
      <p:sp>
        <p:nvSpPr>
          <p:cNvPr id="316" name="Google Shape;316;p3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8596" y="383916"/>
            <a:ext cx="751722" cy="75172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18" name="Google Shape;318;p37"/>
              <p:cNvGraphicFramePr/>
              <p:nvPr>
                <p:extLst>
                  <p:ext uri="{D42A27DB-BD31-4B8C-83A1-F6EECF244321}">
                    <p14:modId xmlns:p14="http://schemas.microsoft.com/office/powerpoint/2010/main" val="1642629591"/>
                  </p:ext>
                </p:extLst>
              </p:nvPr>
            </p:nvGraphicFramePr>
            <p:xfrm>
              <a:off x="2750665" y="4332014"/>
              <a:ext cx="7318025" cy="914400"/>
            </p:xfrm>
            <a:graphic>
              <a:graphicData uri="http://schemas.openxmlformats.org/drawingml/2006/table">
                <a:tbl>
                  <a:tblPr>
                    <a:noFill/>
                    <a:tableStyleId>{1079E168-2199-4EED-B6F2-8B0E5C9B8ADE}</a:tableStyleId>
                  </a:tblPr>
                  <a:tblGrid>
                    <a:gridCol w="3448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26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448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3448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365125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29845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  <a:gridCol w="400050">
                      <a:extLst>
                        <a:ext uri="{9D8B030D-6E8A-4147-A177-3AD203B41FA5}">
                          <a16:colId xmlns:a16="http://schemas.microsoft.com/office/drawing/2014/main" xmlns="" val="20008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xmlns="" val="20009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4800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(</a:t>
                          </a:r>
                          <a:endParaRPr sz="12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Number of weeks</a:t>
                          </a:r>
                          <a:endParaRPr sz="14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4800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)</a:t>
                          </a:r>
                          <a:endParaRPr sz="1200" u="none" strike="noStrike" cap="none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4800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(</a:t>
                          </a:r>
                          <a:endParaRPr sz="1200" u="none" strike="noStrike" cap="none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Amount of weekly paycheck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u="none" strike="noStrike" cap="none" smtClean="0">
                                    <a:latin typeface="Cambria Math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sz="2400" u="none" strike="noStrike" cap="none" dirty="0"/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Amount of weekly expenses</a:t>
                          </a:r>
                          <a:endParaRPr sz="2000" u="none" strike="noStrike" cap="none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4800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)</a:t>
                          </a:r>
                          <a:endParaRPr sz="1200" u="none" strike="noStrike" cap="none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i="1" u="none" strike="noStrike" cap="none" smtClean="0">
                                    <a:latin typeface="Cambria Math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sz="2400" u="none" strike="noStrike" cap="none" dirty="0"/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Total Saved</a:t>
                          </a:r>
                          <a:endParaRPr sz="14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18" name="Google Shape;318;p37"/>
              <p:cNvGraphicFramePr/>
              <p:nvPr>
                <p:extLst>
                  <p:ext uri="{D42A27DB-BD31-4B8C-83A1-F6EECF244321}">
                    <p14:modId xmlns:p14="http://schemas.microsoft.com/office/powerpoint/2010/main" val="1642629591"/>
                  </p:ext>
                </p:extLst>
              </p:nvPr>
            </p:nvGraphicFramePr>
            <p:xfrm>
              <a:off x="2750665" y="4332014"/>
              <a:ext cx="7318025" cy="914400"/>
            </p:xfrm>
            <a:graphic>
              <a:graphicData uri="http://schemas.openxmlformats.org/drawingml/2006/table">
                <a:tbl>
                  <a:tblPr>
                    <a:noFill/>
                    <a:tableStyleId>{1079E168-2199-4EED-B6F2-8B0E5C9B8ADE}</a:tableStyleId>
                  </a:tblPr>
                  <a:tblGrid>
                    <a:gridCol w="34480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126000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4480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344800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val="20004"/>
                        </a:ext>
                      </a:extLst>
                    </a:gridCol>
                    <a:gridCol w="365125">
                      <a:extLst>
                        <a:ext uri="{9D8B030D-6E8A-4147-A177-3AD203B41FA5}">
                          <a16:colId xmlns:a16="http://schemas.microsoft.com/office/drawing/2014/main" xmlns="" val="20005"/>
                        </a:ext>
                      </a:extLst>
                    </a:gridCol>
                    <a:gridCol w="1440000">
                      <a:extLst>
                        <a:ext uri="{9D8B030D-6E8A-4147-A177-3AD203B41FA5}">
                          <a16:colId xmlns:a16="http://schemas.microsoft.com/office/drawing/2014/main" xmlns="" val="20006"/>
                        </a:ext>
                      </a:extLst>
                    </a:gridCol>
                    <a:gridCol w="298450">
                      <a:extLst>
                        <a:ext uri="{9D8B030D-6E8A-4147-A177-3AD203B41FA5}">
                          <a16:colId xmlns:a16="http://schemas.microsoft.com/office/drawing/2014/main" xmlns="" val="20007"/>
                        </a:ext>
                      </a:extLst>
                    </a:gridCol>
                    <a:gridCol w="400050">
                      <a:extLst>
                        <a:ext uri="{9D8B030D-6E8A-4147-A177-3AD203B41FA5}">
                          <a16:colId xmlns:a16="http://schemas.microsoft.com/office/drawing/2014/main" xmlns="" val="20008"/>
                        </a:ext>
                      </a:extLst>
                    </a:gridCol>
                    <a:gridCol w="1080000">
                      <a:extLst>
                        <a:ext uri="{9D8B030D-6E8A-4147-A177-3AD203B41FA5}">
                          <a16:colId xmlns:a16="http://schemas.microsoft.com/office/drawing/2014/main" xmlns="" val="20009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4800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(</a:t>
                          </a:r>
                          <a:endParaRPr sz="12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Number of weeks</a:t>
                          </a:r>
                          <a:endParaRPr sz="14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4800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)</a:t>
                          </a:r>
                          <a:endParaRPr sz="1200" u="none" strike="noStrike" cap="none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4800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(</a:t>
                          </a:r>
                          <a:endParaRPr sz="1200" u="none" strike="noStrike" cap="none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Amount of weekly paycheck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 rotWithShape="1">
                          <a:blip r:embed="rId5"/>
                          <a:stretch>
                            <a:fillRect l="-1021667" t="-11333" r="-880000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Amount of weekly expenses</a:t>
                          </a:r>
                          <a:endParaRPr sz="2000" u="none" strike="noStrike" cap="none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4800" u="none" strike="noStrike" cap="none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)</a:t>
                          </a:r>
                          <a:endParaRPr sz="1200" u="none" strike="noStrike" cap="none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blipFill rotWithShape="1">
                          <a:blip r:embed="rId5"/>
                          <a:stretch>
                            <a:fillRect l="-1451515" t="-11333" r="-268182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Total Saved</a:t>
                          </a:r>
                          <a:endParaRPr sz="14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solidFill>
                            <a:srgbClr val="000000">
                              <a:alpha val="0"/>
                            </a:srgbClr>
                          </a:solidFill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Google Shape;191;p26"/>
              <p:cNvSpPr txBox="1"/>
              <p:nvPr/>
            </p:nvSpPr>
            <p:spPr>
              <a:xfrm>
                <a:off x="532661" y="1467228"/>
                <a:ext cx="10800000" cy="45242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Franco is saving money to take a trip to Cocoa Beach, Florida with his friends. Every week, he sets aside the same portion of his paycheck after taking out the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$325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he needs for his weekly expenses. After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11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weeks, Franco has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$489.94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saved for his trip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17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An equation can be created relating these quantities as described below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444500" lvl="1"/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44500" lvl="1"/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444500" lvl="1"/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444500" lvl="1"/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896938" lvl="1"/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Which of these quantities is unknown?</a:t>
                </a:r>
              </a:p>
            </p:txBody>
          </p:sp>
        </mc:Choice>
        <mc:Fallback>
          <p:sp>
            <p:nvSpPr>
              <p:cNvPr id="26" name="Google Shape;191;p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1467228"/>
                <a:ext cx="10800000" cy="4524275"/>
              </a:xfrm>
              <a:prstGeom prst="rect">
                <a:avLst/>
              </a:prstGeom>
              <a:blipFill rotWithShape="1">
                <a:blip r:embed="rId6"/>
                <a:stretch>
                  <a:fillRect l="-847" t="-1078" b="-21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8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25" name="Google Shape;325;p38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27" name="Google Shape;327;p38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132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262;p33"/>
              <p:cNvSpPr txBox="1"/>
              <p:nvPr/>
            </p:nvSpPr>
            <p:spPr>
              <a:xfrm>
                <a:off x="532660" y="378468"/>
                <a:ext cx="10997924" cy="341627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00113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Write the equation that represents this situation using the variable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for the unknown quantity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What does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(</m:t>
                    </m:r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𝑝</m:t>
                    </m:r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−325)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represent in the equation?</a:t>
                </a:r>
              </a:p>
            </p:txBody>
          </p:sp>
        </mc:Choice>
        <mc:Fallback>
          <p:sp>
            <p:nvSpPr>
              <p:cNvPr id="6" name="Google Shape;262;p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0" y="378468"/>
                <a:ext cx="10997924" cy="3416279"/>
              </a:xfrm>
              <a:prstGeom prst="rect">
                <a:avLst/>
              </a:prstGeom>
              <a:blipFill rotWithShape="1">
                <a:blip r:embed="rId4"/>
                <a:stretch>
                  <a:fillRect t="-1429" b="-303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34" name="Google Shape;334;p39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35" name="Google Shape;335;p39"/>
          <p:cNvSpPr txBox="1"/>
          <p:nvPr/>
        </p:nvSpPr>
        <p:spPr>
          <a:xfrm>
            <a:off x="532661" y="390659"/>
            <a:ext cx="105156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01700" indent="-457200">
              <a:buSzPts val="2400"/>
              <a:buFont typeface="Arial"/>
              <a:buAutoNum type="alphaLcPeriod" startAt="4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Solve the equation. </a:t>
            </a:r>
            <a:endParaRPr dirty="0"/>
          </a:p>
          <a:p>
            <a:pPr marL="901700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1700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1700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1700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1700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1700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1700" indent="-304800">
              <a:buSzPts val="2400"/>
            </a:pPr>
            <a:endParaRPr sz="2400" dirty="0">
              <a:latin typeface="Verdana"/>
              <a:ea typeface="Verdana"/>
              <a:cs typeface="Verdana"/>
              <a:sym typeface="Verdana"/>
            </a:endParaRPr>
          </a:p>
          <a:p>
            <a:pPr marL="901700" indent="-457200">
              <a:buSzPts val="2400"/>
              <a:buFont typeface="+mj-lt"/>
              <a:buAutoNum type="alphaLcPeriod" startAt="5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Explain what the solution means in this context.</a:t>
            </a:r>
            <a:endParaRPr dirty="0"/>
          </a:p>
        </p:txBody>
      </p:sp>
      <p:sp>
        <p:nvSpPr>
          <p:cNvPr id="336" name="Google Shape;336;p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43" name="Google Shape;343;p4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44" name="Google Shape;344;p40"/>
          <p:cNvSpPr txBox="1">
            <a:spLocks noGrp="1"/>
          </p:cNvSpPr>
          <p:nvPr>
            <p:ph type="title" idx="4294967295"/>
          </p:nvPr>
        </p:nvSpPr>
        <p:spPr>
          <a:xfrm>
            <a:off x="3360859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5" name="Google Shape;345;p40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133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37439"/>
            <a:ext cx="1156228" cy="115622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53" name="Google Shape;353;p4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54" name="Google Shape;354;p41"/>
          <p:cNvSpPr txBox="1"/>
          <p:nvPr/>
        </p:nvSpPr>
        <p:spPr>
          <a:xfrm>
            <a:off x="1151878" y="9666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10.8.5 Try It: Relating Equations to Their Contexts</a:t>
            </a:r>
            <a:endParaRPr sz="1600" dirty="0"/>
          </a:p>
        </p:txBody>
      </p:sp>
      <p:sp>
        <p:nvSpPr>
          <p:cNvPr id="355" name="Google Shape;355;p41"/>
          <p:cNvSpPr txBox="1"/>
          <p:nvPr/>
        </p:nvSpPr>
        <p:spPr>
          <a:xfrm>
            <a:off x="541538" y="1467424"/>
            <a:ext cx="1051560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Work with your partner to complete the following.</a:t>
            </a:r>
            <a:endParaRPr dirty="0"/>
          </a:p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dirty="0"/>
          </a:p>
          <a:p>
            <a:pPr marL="457200" indent="-457200">
              <a:buSzPts val="24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Two equations are shown. </a:t>
            </a:r>
            <a:endParaRPr dirty="0"/>
          </a:p>
          <a:p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 </a:t>
            </a:r>
            <a:endParaRPr dirty="0"/>
          </a:p>
          <a:p>
            <a:pPr marL="898525" indent="-457200">
              <a:buSzPts val="2400"/>
              <a:buFont typeface="Arial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Solve both equations. Show your work.</a:t>
            </a:r>
            <a:endParaRPr dirty="0"/>
          </a:p>
        </p:txBody>
      </p:sp>
      <p:sp>
        <p:nvSpPr>
          <p:cNvPr id="356" name="Google Shape;356;p41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7" name="Google Shape;357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8596" y="383384"/>
            <a:ext cx="752254" cy="7522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58" name="Google Shape;358;p41"/>
              <p:cNvGraphicFramePr/>
              <p:nvPr>
                <p:extLst>
                  <p:ext uri="{D42A27DB-BD31-4B8C-83A1-F6EECF244321}">
                    <p14:modId xmlns:p14="http://schemas.microsoft.com/office/powerpoint/2010/main" val="3864155227"/>
                  </p:ext>
                </p:extLst>
              </p:nvPr>
            </p:nvGraphicFramePr>
            <p:xfrm>
              <a:off x="1559208" y="3544255"/>
              <a:ext cx="6486550" cy="2754000"/>
            </p:xfrm>
            <a:graphic>
              <a:graphicData uri="http://schemas.openxmlformats.org/drawingml/2006/table">
                <a:tbl>
                  <a:tblPr>
                    <a:noFill/>
                    <a:tableStyleId>{1079E168-2199-4EED-B6F2-8B0E5C9B8ADE}</a:tableStyleId>
                  </a:tblPr>
                  <a:tblGrid>
                    <a:gridCol w="324327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24327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Equation A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Equation B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cap="none" smtClean="0">
                                    <a:latin typeface="Cambria Math"/>
                                  </a:rPr>
                                  <m:t>46.92=6(</m:t>
                                </m:r>
                                <m:r>
                                  <a:rPr lang="en-US" sz="2000" b="0" i="1" u="none" strike="noStrike" cap="none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u="none" strike="noStrike" cap="none" smtClean="0">
                                    <a:latin typeface="Cambria Math"/>
                                  </a:rPr>
                                  <m:t>−1.75)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137150" marR="137150" marT="137150" marB="13715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u="none" strike="noStrike" cap="none" smtClean="0">
                                    <a:latin typeface="Cambria Math"/>
                                  </a:rPr>
                                  <m:t>6</m:t>
                                </m:r>
                                <m:r>
                                  <a:rPr lang="en-US" sz="2000" b="0" i="1" u="none" strike="noStrike" cap="none" smtClean="0"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2000" b="0" i="1" u="none" strike="noStrike" cap="none" smtClean="0">
                                    <a:latin typeface="Cambria Math"/>
                                  </a:rPr>
                                  <m:t>−1.75=46.92</m:t>
                                </m:r>
                              </m:oMath>
                            </m:oMathPara>
                          </a14:m>
                          <a:endParaRPr sz="2000" u="none" strike="noStrike" cap="none" dirty="0"/>
                        </a:p>
                      </a:txBody>
                      <a:tcPr marL="137150" marR="137150" marT="137150" marB="13715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58" name="Google Shape;358;p41"/>
              <p:cNvGraphicFramePr/>
              <p:nvPr>
                <p:extLst>
                  <p:ext uri="{D42A27DB-BD31-4B8C-83A1-F6EECF244321}">
                    <p14:modId xmlns:p14="http://schemas.microsoft.com/office/powerpoint/2010/main" val="3864155227"/>
                  </p:ext>
                </p:extLst>
              </p:nvPr>
            </p:nvGraphicFramePr>
            <p:xfrm>
              <a:off x="1559208" y="3544255"/>
              <a:ext cx="6486550" cy="2754000"/>
            </p:xfrm>
            <a:graphic>
              <a:graphicData uri="http://schemas.openxmlformats.org/drawingml/2006/table">
                <a:tbl>
                  <a:tblPr>
                    <a:noFill/>
                    <a:tableStyleId>{1079E168-2199-4EED-B6F2-8B0E5C9B8ADE}</a:tableStyleId>
                  </a:tblPr>
                  <a:tblGrid>
                    <a:gridCol w="3243275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243275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Equation A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rtl="0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rPr lang="en-US" sz="2000" b="1" u="none" strike="noStrike" cap="none" dirty="0">
                              <a:solidFill>
                                <a:srgbClr val="000000"/>
                              </a:solidFill>
                              <a:latin typeface="Verdana"/>
                              <a:ea typeface="Verdana"/>
                              <a:cs typeface="Verdana"/>
                              <a:sym typeface="Verdana"/>
                            </a:rPr>
                            <a:t>Equation B</a:t>
                          </a:r>
                          <a:endParaRPr sz="2000" u="none" strike="noStrike" cap="none" dirty="0">
                            <a:latin typeface="Cambria"/>
                            <a:ea typeface="Cambria"/>
                            <a:cs typeface="Cambria"/>
                            <a:sym typeface="Cambria"/>
                          </a:endParaRPr>
                        </a:p>
                      </a:txBody>
                      <a:tcPr marL="68575" marR="68575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50" marR="137150" marT="137150" marB="13715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88" t="-20533" r="-100000" b="-2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50" marR="137150" marT="137150" marB="13715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0188" t="-20533" b="-2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65" name="Google Shape;365;p4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67" name="Google Shape;367;p42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Google Shape;335;p39"/>
              <p:cNvSpPr txBox="1"/>
              <p:nvPr/>
            </p:nvSpPr>
            <p:spPr>
              <a:xfrm>
                <a:off x="532661" y="390659"/>
                <a:ext cx="10515600" cy="3785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900113" indent="-457200">
                  <a:buSzPts val="2400"/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A family of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is going to the local fair. They have a coupon for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$1.75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off of each ticket. They pay 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Verdana" pitchFamily="34" charset="0"/>
                      </a:rPr>
                      <m:t>$46.92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 for all their tickets. Explain which equation represents this situation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.</a:t>
                </a:r>
              </a:p>
              <a:p>
                <a:pPr marL="900113" indent="-457200">
                  <a:buSzPts val="2400"/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SzPts val="2400"/>
                  <a:buFont typeface="+mj-lt"/>
                  <a:buAutoNum type="alphaLcPeriod" startAt="2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SzPts val="2400"/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SzPts val="2400"/>
                  <a:buFont typeface="+mj-lt"/>
                  <a:buAutoNum type="alphaLcPeriod" startAt="2"/>
                </a:pPr>
                <a:endParaRPr lang="en-US" sz="2400" dirty="0" smtClean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SzPts val="2400"/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</a:endParaRPr>
              </a:p>
              <a:p>
                <a:pPr marL="900113" indent="-457200">
                  <a:buSzPts val="2400"/>
                  <a:buFont typeface="+mj-lt"/>
                  <a:buAutoNum type="alphaLcPeriod" startAt="2"/>
                </a:pPr>
                <a:r>
                  <a:rPr lang="en-US" sz="2400" dirty="0" smtClean="0">
                    <a:latin typeface="Verdana" pitchFamily="34" charset="0"/>
                    <a:ea typeface="Verdana" pitchFamily="34" charset="0"/>
                  </a:rPr>
                  <a:t>Explain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what the solution to the equation that correctly models this situation means.</a:t>
                </a:r>
                <a:endParaRPr sz="2400" dirty="0">
                  <a:latin typeface="Verdana" pitchFamily="34" charset="0"/>
                  <a:ea typeface="Verdana" pitchFamily="34" charset="0"/>
                </a:endParaRPr>
              </a:p>
            </p:txBody>
          </p:sp>
        </mc:Choice>
        <mc:Fallback>
          <p:sp>
            <p:nvSpPr>
              <p:cNvPr id="6" name="Google Shape;335;p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61" y="390659"/>
                <a:ext cx="10515600" cy="3785611"/>
              </a:xfrm>
              <a:prstGeom prst="rect">
                <a:avLst/>
              </a:prstGeom>
              <a:blipFill rotWithShape="1">
                <a:blip r:embed="rId4"/>
                <a:stretch>
                  <a:fillRect t="-1449" b="-27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74" name="Google Shape;374;p43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75" name="Google Shape;375;p43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76" name="Google Shape;376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77" name="Google Shape;377;p43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4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1F3165"/>
          </a:solidFill>
          <a:ln w="9525" cap="flat" cmpd="sng">
            <a:solidFill>
              <a:srgbClr val="1F3165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384" name="Google Shape;384;p44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85" name="Google Shape;385;p44"/>
          <p:cNvSpPr txBox="1"/>
          <p:nvPr/>
        </p:nvSpPr>
        <p:spPr>
          <a:xfrm>
            <a:off x="1151878" y="461588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10.8.6 Wrap-Up: Reflection</a:t>
            </a:r>
            <a:endParaRPr dirty="0"/>
          </a:p>
        </p:txBody>
      </p:sp>
      <p:pic>
        <p:nvPicPr>
          <p:cNvPr id="386" name="Google Shape;386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073" y="3833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87" name="Google Shape;387;p44"/>
          <p:cNvSpPr txBox="1"/>
          <p:nvPr/>
        </p:nvSpPr>
        <p:spPr>
          <a:xfrm>
            <a:off x="532659" y="1473950"/>
            <a:ext cx="105156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400"/>
              <a:buFont typeface="Arial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Circle the value on the emoji scale that best represents your understanding of today’s lesson.</a:t>
            </a:r>
            <a:endParaRPr dirty="0"/>
          </a:p>
        </p:txBody>
      </p:sp>
      <p:sp>
        <p:nvSpPr>
          <p:cNvPr id="388" name="Google Shape;388;p44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4"/>
          <p:cNvSpPr txBox="1"/>
          <p:nvPr/>
        </p:nvSpPr>
        <p:spPr>
          <a:xfrm>
            <a:off x="532659" y="4660903"/>
            <a:ext cx="832713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SzPts val="2400"/>
              <a:buFont typeface="Arial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Briefly explain your choice.</a:t>
            </a:r>
            <a:endParaRPr dirty="0"/>
          </a:p>
        </p:txBody>
      </p:sp>
      <p:grpSp>
        <p:nvGrpSpPr>
          <p:cNvPr id="390" name="Google Shape;390;p44"/>
          <p:cNvGrpSpPr/>
          <p:nvPr/>
        </p:nvGrpSpPr>
        <p:grpSpPr>
          <a:xfrm>
            <a:off x="2678430" y="2525843"/>
            <a:ext cx="6835140" cy="1623416"/>
            <a:chOff x="1154430" y="2383801"/>
            <a:chExt cx="6835140" cy="1623416"/>
          </a:xfrm>
        </p:grpSpPr>
        <p:pic>
          <p:nvPicPr>
            <p:cNvPr id="391" name="Google Shape;391;p44" descr="Chart&#10;&#10;Description automatically generated"/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46059" b="42611"/>
            <a:stretch/>
          </p:blipFill>
          <p:spPr>
            <a:xfrm>
              <a:off x="1154430" y="3500487"/>
              <a:ext cx="6835140" cy="5067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2" name="Google Shape;392;p44" descr="A group of yellow smiley faces&#10;&#10;Description automatically generated with low confidence"/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54430" y="2383801"/>
              <a:ext cx="6835140" cy="10272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684</Words>
  <Application>Microsoft Office PowerPoint</Application>
  <PresentationFormat>Custom</PresentationFormat>
  <Paragraphs>234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Noto Sans Symbols</vt:lpstr>
      <vt:lpstr>Cambria Math</vt:lpstr>
      <vt:lpstr>Cambria</vt:lpstr>
      <vt:lpstr>Arial Black</vt:lpstr>
      <vt:lpstr>Verdana</vt:lpstr>
      <vt:lpstr>1_Office Theme</vt:lpstr>
      <vt:lpstr>7th Grade Math  Unit 10, Lesson 8  Solving Real-World Problems with Two-Step Equations  Volume 2, pg. 128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7th Grade Math  Unit 10, Lesson 8  Solving Real-World Problems with Two-Step Equations  Volume 2, pg. 128</dc:title>
  <dc:creator>Sensei</dc:creator>
  <cp:lastModifiedBy>Sensei</cp:lastModifiedBy>
  <cp:revision>9</cp:revision>
  <dcterms:modified xsi:type="dcterms:W3CDTF">2022-06-11T07:46:48Z</dcterms:modified>
</cp:coreProperties>
</file>