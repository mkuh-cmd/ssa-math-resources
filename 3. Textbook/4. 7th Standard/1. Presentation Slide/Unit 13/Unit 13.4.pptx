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1" r:id="rId17"/>
    <p:sldId id="271" r:id="rId18"/>
    <p:sldId id="272" r:id="rId19"/>
    <p:sldId id="273" r:id="rId20"/>
    <p:sldId id="274" r:id="rId21"/>
    <p:sldId id="282" r:id="rId22"/>
    <p:sldId id="275" r:id="rId23"/>
    <p:sldId id="276" r:id="rId24"/>
    <p:sldId id="277" r:id="rId25"/>
    <p:sldId id="278" r:id="rId26"/>
    <p:sldId id="279" r:id="rId27"/>
    <p:sldId id="280" r:id="rId28"/>
  </p:sldIdLst>
  <p:sldSz cx="12192000" cy="6858000"/>
  <p:notesSz cx="6858000" cy="9144000"/>
  <p:embeddedFontLst>
    <p:embeddedFont>
      <p:font typeface="Arial Black" panose="020B0A04020102020204" pitchFamily="34" charset="0"/>
      <p:regular r:id="rId30"/>
      <p:bold r:id="rId31"/>
    </p:embeddedFont>
    <p:embeddedFont>
      <p:font typeface="Calibri" panose="020F0502020204030204" pitchFamily="34" charset="0"/>
      <p:regular r:id="rId32"/>
      <p:bold r:id="rId33"/>
      <p:italic r:id="rId34"/>
      <p:boldItalic r:id="rId35"/>
    </p:embeddedFont>
    <p:embeddedFont>
      <p:font typeface="Cambria" panose="02040503050406030204" pitchFamily="18" charset="0"/>
      <p:regular r:id="rId36"/>
      <p:bold r:id="rId37"/>
      <p:italic r:id="rId38"/>
      <p:boldItalic r:id="rId39"/>
    </p:embeddedFont>
    <p:embeddedFont>
      <p:font typeface="Cambria Math" panose="02040503050406030204" pitchFamily="18" charset="0"/>
      <p:regular r:id="rId40"/>
    </p:embeddedFont>
    <p:embeddedFont>
      <p:font typeface="Verdana" panose="020B060403050404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gLP0w/Sep+NaSlZiex8C+g7Lmw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D659866-F274-4FFC-AE47-F5A041375570}">
  <a:tblStyle styleId="{6D659866-F274-4FFC-AE47-F5A041375570}"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78"/>
    <p:restoredTop sz="94694"/>
  </p:normalViewPr>
  <p:slideViewPr>
    <p:cSldViewPr snapToGrid="0">
      <p:cViewPr varScale="1">
        <p:scale>
          <a:sx n="81" d="100"/>
          <a:sy n="81" d="100"/>
        </p:scale>
        <p:origin x="115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8" Type="http://schemas.openxmlformats.org/officeDocument/2006/relationships/slide" Target="slides/slide7.xml"/><Relationship Id="rId5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extLst>
      <p:ext uri="{BB962C8B-B14F-4D97-AF65-F5344CB8AC3E}">
        <p14:creationId xmlns:p14="http://schemas.microsoft.com/office/powerpoint/2010/main" val="401887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extLst>
      <p:ext uri="{BB962C8B-B14F-4D97-AF65-F5344CB8AC3E}">
        <p14:creationId xmlns:p14="http://schemas.microsoft.com/office/powerpoint/2010/main" val="1792493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0" name="Google Shape;350;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1" name="Google Shape;371;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a:solidFill>
                  <a:srgbClr val="417DBF"/>
                </a:solidFill>
                <a:latin typeface="Verdana"/>
                <a:ea typeface="Verdana"/>
                <a:cs typeface="Verdana"/>
                <a:sym typeface="Verdana"/>
              </a:rPr>
              <a:t>7</a:t>
            </a:r>
            <a:r>
              <a:rPr lang="en-US" sz="3600" b="1" baseline="30000">
                <a:solidFill>
                  <a:srgbClr val="417DBF"/>
                </a:solidFill>
                <a:latin typeface="Verdana"/>
                <a:ea typeface="Verdana"/>
                <a:cs typeface="Verdana"/>
                <a:sym typeface="Verdana"/>
              </a:rPr>
              <a:t>th</a:t>
            </a:r>
            <a:r>
              <a:rPr lang="en-US" sz="3600" b="1">
                <a:solidFill>
                  <a:srgbClr val="417DBF"/>
                </a:solidFill>
                <a:latin typeface="Verdana"/>
                <a:ea typeface="Verdana"/>
                <a:cs typeface="Verdana"/>
                <a:sym typeface="Verdana"/>
              </a:rPr>
              <a:t> Grade Math</a:t>
            </a:r>
            <a:br>
              <a:rPr lang="en-US" sz="3600" b="1">
                <a:solidFill>
                  <a:srgbClr val="417DBF"/>
                </a:solidFill>
                <a:latin typeface="Verdana"/>
                <a:ea typeface="Verdana"/>
                <a:cs typeface="Verdana"/>
                <a:sym typeface="Verdana"/>
              </a:rPr>
            </a:br>
            <a:endParaRPr sz="3600" b="1">
              <a:solidFill>
                <a:srgbClr val="417DBF"/>
              </a:solidFill>
              <a:latin typeface="Verdana"/>
              <a:ea typeface="Verdana"/>
              <a:cs typeface="Verdana"/>
              <a:sym typeface="Verdana"/>
            </a:endParaRPr>
          </a:p>
          <a:p>
            <a:pPr algn="ctr">
              <a:lnSpc>
                <a:spcPct val="100000"/>
              </a:lnSpc>
              <a:buClr>
                <a:srgbClr val="000000"/>
              </a:buClr>
            </a:pPr>
            <a:r>
              <a:rPr lang="en-US" sz="3600" b="1">
                <a:solidFill>
                  <a:srgbClr val="417DBF"/>
                </a:solidFill>
                <a:latin typeface="Verdana"/>
                <a:ea typeface="Verdana"/>
                <a:cs typeface="Verdana"/>
                <a:sym typeface="Verdana"/>
              </a:rPr>
              <a:t>Unit 13, Lesson 4</a:t>
            </a:r>
            <a:br>
              <a:rPr lang="en-US" sz="3600" b="1">
                <a:solidFill>
                  <a:srgbClr val="417DBF"/>
                </a:solidFill>
                <a:latin typeface="Verdana"/>
                <a:ea typeface="Verdana"/>
                <a:cs typeface="Verdana"/>
                <a:sym typeface="Verdana"/>
              </a:rPr>
            </a:br>
            <a:br>
              <a:rPr lang="en-US" sz="3600" b="1">
                <a:solidFill>
                  <a:srgbClr val="417DBF"/>
                </a:solidFill>
                <a:latin typeface="Verdana"/>
                <a:ea typeface="Verdana"/>
                <a:cs typeface="Verdana"/>
                <a:sym typeface="Verdana"/>
              </a:rPr>
            </a:br>
            <a:r>
              <a:rPr lang="en-US" sz="3600" b="1">
                <a:solidFill>
                  <a:srgbClr val="417DBF"/>
                </a:solidFill>
                <a:latin typeface="Verdana"/>
                <a:ea typeface="Verdana"/>
                <a:cs typeface="Verdana"/>
                <a:sym typeface="Verdana"/>
              </a:rPr>
              <a:t>Comparing Graphical Representations</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2, pg. 251</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480" y="1522577"/>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356616" y="3723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251</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199632"/>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200" dirty="0">
                <a:solidFill>
                  <a:schemeClr val="dk1"/>
                </a:solidFill>
                <a:latin typeface="Verdana"/>
                <a:ea typeface="Verdana"/>
                <a:cs typeface="Verdana"/>
                <a:sym typeface="Verdana"/>
              </a:rPr>
              <a:t>MA.7.DP.1.2</a:t>
            </a:r>
            <a:endParaRPr sz="3200" dirty="0"/>
          </a:p>
          <a:p>
            <a:pPr marL="457200">
              <a:lnSpc>
                <a:spcPct val="90000"/>
              </a:lnSpc>
              <a:spcBef>
                <a:spcPts val="750"/>
              </a:spcBef>
              <a:buClr>
                <a:schemeClr val="dk1"/>
              </a:buClr>
              <a:buSzPts val="2100"/>
            </a:pPr>
            <a:r>
              <a:rPr lang="en-US" sz="3200" dirty="0">
                <a:solidFill>
                  <a:schemeClr val="dk1"/>
                </a:solidFill>
                <a:latin typeface="Verdana"/>
                <a:ea typeface="Verdana"/>
                <a:cs typeface="Verdana"/>
                <a:sym typeface="Verdana"/>
              </a:rPr>
              <a:t>Given two numerical or graphical representations of data, use the measure(s) of center and measure(s) of variability to make comparisons, interpret results, and draw conclusions about the two populations. </a:t>
            </a:r>
            <a:endParaRPr sz="3200" dirty="0">
              <a:solidFill>
                <a:schemeClr val="dk1"/>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356616" y="372300"/>
            <a:ext cx="747300" cy="747300"/>
          </a:xfrm>
          <a:prstGeom prst="rect">
            <a:avLst/>
          </a:prstGeom>
          <a:noFill/>
          <a:ln>
            <a:noFill/>
          </a:ln>
          <a:effectLst>
            <a:outerShdw blurRad="57150" dist="19050" dir="5400000" algn="bl" rotWithShape="0">
              <a:srgbClr val="000000">
                <a:alpha val="49803"/>
              </a:srgbClr>
            </a:outerShdw>
          </a:effectLst>
        </p:spPr>
      </p:pic>
      <p:pic>
        <p:nvPicPr>
          <p:cNvPr id="135" name="Google Shape;135;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54B5D1"/>
                </a:solidFill>
                <a:latin typeface="Verdana"/>
                <a:ea typeface="Verdana"/>
                <a:cs typeface="Verdana"/>
                <a:sym typeface="Verdana"/>
              </a:rPr>
              <a:t>Integrated Mathematical Thinking and Reasoning Standards</a:t>
            </a:r>
            <a:endParaRPr sz="3200" dirty="0"/>
          </a:p>
        </p:txBody>
      </p:sp>
      <p:sp>
        <p:nvSpPr>
          <p:cNvPr id="137" name="Google Shape;137;p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251</a:t>
            </a:r>
            <a:endParaRPr/>
          </a:p>
        </p:txBody>
      </p:sp>
      <p:sp>
        <p:nvSpPr>
          <p:cNvPr id="138" name="Google Shape;138;p1"/>
          <p:cNvSpPr txBox="1"/>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p>
            <a:r>
              <a:rPr lang="en-US" sz="2400" dirty="0">
                <a:solidFill>
                  <a:schemeClr val="dk1"/>
                </a:solidFill>
                <a:latin typeface="Verdana"/>
                <a:ea typeface="Verdana"/>
                <a:cs typeface="Verdana"/>
                <a:sym typeface="Verdana"/>
              </a:rPr>
              <a:t>MA.K12.MTR.1.1 Actively participate in effortful learning both individually and collectively.</a:t>
            </a:r>
            <a:endParaRPr sz="2400"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MA.K12.MTR.2.1 Demonstrate understanding by representing problems in multiple ways.</a:t>
            </a:r>
            <a:endParaRPr sz="2400"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MA.K12.MTR.4.1 Engage in discussions that reflect on the mathematical thinking of self and others.</a:t>
            </a:r>
            <a:endParaRPr sz="2400" dirty="0"/>
          </a:p>
          <a:p>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MA.K12.MTR.7.1 Apply mathematics to real-world contexts.</a:t>
            </a:r>
            <a:endParaRPr sz="2400" dirty="0">
              <a:solidFill>
                <a:schemeClr val="dk1"/>
              </a:solidFill>
              <a:latin typeface="Verdana"/>
              <a:ea typeface="Verdana"/>
              <a:cs typeface="Verdana"/>
              <a:sym typeface="Verdan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pic>
        <p:nvPicPr>
          <p:cNvPr id="145" name="Google Shape;145;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46" name="Google Shape;146;p2"/>
          <p:cNvSpPr txBox="1"/>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7" name="Google Shape;147;p2"/>
          <p:cNvPicPr preferRelativeResize="0"/>
          <p:nvPr/>
        </p:nvPicPr>
        <p:blipFill rotWithShape="1">
          <a:blip r:embed="rId4">
            <a:alphaModFix/>
          </a:blip>
          <a:srcRect/>
          <a:stretch/>
        </p:blipFill>
        <p:spPr>
          <a:xfrm>
            <a:off x="356616" y="31986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251</a:t>
            </a:r>
            <a:endParaRPr dirty="0"/>
          </a:p>
        </p:txBody>
      </p:sp>
      <p:sp>
        <p:nvSpPr>
          <p:cNvPr id="149" name="Google Shape;149;p2"/>
          <p:cNvSpPr txBox="1"/>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p>
            <a:pPr marL="463550" indent="-457200">
              <a:buClr>
                <a:srgbClr val="434343"/>
              </a:buClr>
              <a:buSzPts val="2800"/>
              <a:buFont typeface="Noto Sans Symbols"/>
              <a:buChar char="❑"/>
            </a:pPr>
            <a:r>
              <a:rPr lang="en-US" sz="2800" dirty="0">
                <a:latin typeface="Verdana"/>
                <a:ea typeface="Verdana"/>
                <a:cs typeface="Verdana"/>
                <a:sym typeface="Verdana"/>
              </a:rPr>
              <a:t>I can use two graphical representations of data to make comparisons and draw conclusions about the populations. </a:t>
            </a:r>
            <a:endParaRPr sz="2800" dirty="0">
              <a:solidFill>
                <a:schemeClr val="dk1"/>
              </a:solidFill>
              <a:latin typeface="Verdana"/>
              <a:ea typeface="Verdana"/>
              <a:cs typeface="Verdana"/>
              <a:sym typeface="Verdan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6"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157" name="Google Shape;157;g104476d1465_1_39"/>
          <p:cNvPicPr preferRelativeResize="0"/>
          <p:nvPr/>
        </p:nvPicPr>
        <p:blipFill rotWithShape="1">
          <a:blip r:embed="rId4">
            <a:alphaModFix/>
          </a:blip>
          <a:srcRect/>
          <a:stretch/>
        </p:blipFill>
        <p:spPr>
          <a:xfrm>
            <a:off x="3054096"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15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252</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66" name="Google Shape;166;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67" name="Google Shape;167;p4"/>
          <p:cNvSpPr txBox="1"/>
          <p:nvPr/>
        </p:nvSpPr>
        <p:spPr>
          <a:xfrm>
            <a:off x="1143000" y="91440"/>
            <a:ext cx="8019300" cy="88446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F2A67"/>
                </a:solidFill>
                <a:latin typeface="Verdana"/>
                <a:ea typeface="Verdana"/>
                <a:cs typeface="Verdana"/>
                <a:sym typeface="Verdana"/>
              </a:rPr>
              <a:t>13.4.1 Warm-Up: Defrost Time</a:t>
            </a:r>
            <a:endParaRPr dirty="0"/>
          </a:p>
        </p:txBody>
      </p:sp>
      <p:pic>
        <p:nvPicPr>
          <p:cNvPr id="168" name="Google Shape;168;p4"/>
          <p:cNvPicPr preferRelativeResize="0"/>
          <p:nvPr/>
        </p:nvPicPr>
        <p:blipFill rotWithShape="1">
          <a:blip r:embed="rId4">
            <a:alphaModFix/>
          </a:blip>
          <a:srcRect/>
          <a:stretch/>
        </p:blipFill>
        <p:spPr>
          <a:xfrm>
            <a:off x="356616" y="197485"/>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252</a:t>
            </a:r>
            <a:endParaRPr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6CA0D63-633D-B54F-8C6B-7CB7982C604E}"/>
                  </a:ext>
                </a:extLst>
              </p:cNvPr>
              <p:cNvSpPr txBox="1"/>
              <p:nvPr/>
            </p:nvSpPr>
            <p:spPr>
              <a:xfrm>
                <a:off x="914400" y="1192852"/>
                <a:ext cx="10515600" cy="4832092"/>
              </a:xfrm>
              <a:prstGeom prst="rect">
                <a:avLst/>
              </a:prstGeom>
              <a:noFill/>
            </p:spPr>
            <p:txBody>
              <a:bodyPr wrap="square" rtlCol="0">
                <a:spAutoFit/>
              </a:bodyPr>
              <a:lstStyle/>
              <a:p>
                <a:pPr marL="457200" indent="-457200">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A microwave shows that it takes </a:t>
                </a:r>
                <a14:m>
                  <m:oMath xmlns:m="http://schemas.openxmlformats.org/officeDocument/2006/math">
                    <m:r>
                      <a:rPr lang="en-US" sz="2200" i="1">
                        <a:latin typeface="Cambria Math" panose="02040503050406030204" pitchFamily="18" charset="0"/>
                        <a:ea typeface="Verdana" panose="020B0604030504040204" pitchFamily="34" charset="0"/>
                        <a:cs typeface="Verdana" panose="020B0604030504040204" pitchFamily="34" charset="0"/>
                      </a:rPr>
                      <m:t>9</m:t>
                    </m:r>
                  </m:oMath>
                </a14:m>
                <a:r>
                  <a:rPr lang="en-US" sz="2200" dirty="0">
                    <a:latin typeface="Verdana" panose="020B0604030504040204" pitchFamily="34" charset="0"/>
                    <a:ea typeface="Verdana" panose="020B0604030504040204" pitchFamily="34" charset="0"/>
                    <a:cs typeface="Verdana" panose="020B0604030504040204" pitchFamily="34" charset="0"/>
                  </a:rPr>
                  <a:t> minutes and </a:t>
                </a:r>
                <a14:m>
                  <m:oMath xmlns:m="http://schemas.openxmlformats.org/officeDocument/2006/math">
                    <m:r>
                      <a:rPr lang="en-US" sz="2200" i="1">
                        <a:latin typeface="Cambria Math" panose="02040503050406030204" pitchFamily="18" charset="0"/>
                        <a:ea typeface="Verdana" panose="020B0604030504040204" pitchFamily="34" charset="0"/>
                        <a:cs typeface="Verdana" panose="020B0604030504040204" pitchFamily="34" charset="0"/>
                      </a:rPr>
                      <m:t>45</m:t>
                    </m:r>
                  </m:oMath>
                </a14:m>
                <a:r>
                  <a:rPr lang="en-US" sz="2200" dirty="0">
                    <a:latin typeface="Verdana" panose="020B0604030504040204" pitchFamily="34" charset="0"/>
                    <a:ea typeface="Verdana" panose="020B0604030504040204" pitchFamily="34" charset="0"/>
                    <a:cs typeface="Verdana" panose="020B0604030504040204" pitchFamily="34" charset="0"/>
                  </a:rPr>
                  <a:t> seconds to defrost </a:t>
                </a:r>
                <a14:m>
                  <m:oMath xmlns:m="http://schemas.openxmlformats.org/officeDocument/2006/math">
                    <m:r>
                      <a:rPr lang="en-US" sz="2200" i="1">
                        <a:latin typeface="Cambria Math" panose="02040503050406030204" pitchFamily="18" charset="0"/>
                        <a:ea typeface="Verdana" panose="020B0604030504040204" pitchFamily="34" charset="0"/>
                        <a:cs typeface="Verdana" panose="020B0604030504040204" pitchFamily="34" charset="0"/>
                      </a:rPr>
                      <m:t>1.5</m:t>
                    </m:r>
                  </m:oMath>
                </a14:m>
                <a:r>
                  <a:rPr lang="en-US" sz="2200" dirty="0">
                    <a:latin typeface="Verdana" panose="020B0604030504040204" pitchFamily="34" charset="0"/>
                    <a:ea typeface="Verdana" panose="020B0604030504040204" pitchFamily="34" charset="0"/>
                    <a:cs typeface="Verdana" panose="020B0604030504040204" pitchFamily="34" charset="0"/>
                  </a:rPr>
                  <a:t> pounds of meat and </a:t>
                </a:r>
                <a14:m>
                  <m:oMath xmlns:m="http://schemas.openxmlformats.org/officeDocument/2006/math">
                    <m:r>
                      <a:rPr lang="en-US" sz="2200" i="1">
                        <a:latin typeface="Cambria Math" panose="02040503050406030204" pitchFamily="18" charset="0"/>
                        <a:ea typeface="Verdana" panose="020B0604030504040204" pitchFamily="34" charset="0"/>
                        <a:cs typeface="Verdana" panose="020B0604030504040204" pitchFamily="34" charset="0"/>
                      </a:rPr>
                      <m:t>26</m:t>
                    </m:r>
                  </m:oMath>
                </a14:m>
                <a:r>
                  <a:rPr lang="en-US" sz="2200" dirty="0">
                    <a:latin typeface="Verdana" panose="020B0604030504040204" pitchFamily="34" charset="0"/>
                    <a:ea typeface="Verdana" panose="020B0604030504040204" pitchFamily="34" charset="0"/>
                    <a:cs typeface="Verdana" panose="020B0604030504040204" pitchFamily="34" charset="0"/>
                  </a:rPr>
                  <a:t> minutes to defrost </a:t>
                </a:r>
                <a14:m>
                  <m:oMath xmlns:m="http://schemas.openxmlformats.org/officeDocument/2006/math">
                    <m:r>
                      <a:rPr lang="en-US" sz="2200" i="1">
                        <a:latin typeface="Cambria Math" panose="02040503050406030204" pitchFamily="18" charset="0"/>
                        <a:ea typeface="Verdana" panose="020B0604030504040204" pitchFamily="34" charset="0"/>
                        <a:cs typeface="Verdana" panose="020B0604030504040204" pitchFamily="34" charset="0"/>
                      </a:rPr>
                      <m:t>4</m:t>
                    </m:r>
                  </m:oMath>
                </a14:m>
                <a:r>
                  <a:rPr lang="en-US" sz="2200" dirty="0">
                    <a:latin typeface="Verdana" panose="020B0604030504040204" pitchFamily="34" charset="0"/>
                    <a:ea typeface="Verdana" panose="020B0604030504040204" pitchFamily="34" charset="0"/>
                    <a:cs typeface="Verdana" panose="020B0604030504040204" pitchFamily="34" charset="0"/>
                  </a:rPr>
                  <a:t> pounds of meat. </a:t>
                </a:r>
              </a:p>
              <a:p>
                <a:pPr lvl="6"/>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lvl="6"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Without performing any calculations, estimate a 	range of minutes you think it will take to defrost </a:t>
                </a:r>
                <a14:m>
                  <m:oMath xmlns:m="http://schemas.openxmlformats.org/officeDocument/2006/math">
                    <m:r>
                      <a:rPr lang="en-US" sz="2200" i="1">
                        <a:latin typeface="Cambria Math" panose="02040503050406030204" pitchFamily="18" charset="0"/>
                        <a:ea typeface="Verdana" panose="020B0604030504040204" pitchFamily="34" charset="0"/>
                        <a:cs typeface="Verdana" panose="020B0604030504040204" pitchFamily="34" charset="0"/>
                      </a:rPr>
                      <m:t>3.5</m:t>
                    </m:r>
                  </m:oMath>
                </a14:m>
                <a:r>
                  <a:rPr lang="en-US" sz="2200" dirty="0">
                    <a:latin typeface="Verdana" panose="020B0604030504040204" pitchFamily="34" charset="0"/>
                    <a:ea typeface="Verdana" panose="020B0604030504040204" pitchFamily="34" charset="0"/>
                    <a:cs typeface="Verdana" panose="020B0604030504040204" pitchFamily="34" charset="0"/>
                  </a:rPr>
                  <a:t> pounds of meat.</a:t>
                </a:r>
              </a:p>
              <a:p>
                <a:pPr marL="914400" lvl="6"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6"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6"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Explain how the given information could be used to find the exact amount of time it takes to defrost</a:t>
                </a:r>
                <a:r>
                  <a:rPr lang="en-US" sz="2200" dirty="0">
                    <a:ea typeface="Verdana" panose="020B0604030504040204" pitchFamily="34"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Verdana" panose="020B0604030504040204" pitchFamily="34" charset="0"/>
                        <a:cs typeface="Verdana" panose="020B0604030504040204" pitchFamily="34" charset="0"/>
                      </a:rPr>
                      <m:t>3.5</m:t>
                    </m:r>
                  </m:oMath>
                </a14:m>
                <a:r>
                  <a:rPr lang="en-US" sz="2200" dirty="0">
                    <a:latin typeface="Verdana" panose="020B0604030504040204" pitchFamily="34" charset="0"/>
                    <a:ea typeface="Verdana" panose="020B0604030504040204" pitchFamily="34" charset="0"/>
                    <a:cs typeface="Verdana" panose="020B0604030504040204" pitchFamily="34" charset="0"/>
                  </a:rPr>
                  <a:t> pounds of meat.</a:t>
                </a:r>
              </a:p>
              <a:p>
                <a:pPr marL="914400" lvl="6"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6"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6"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Determine how long it would take for the microwave to defrost </a:t>
                </a:r>
                <a14:m>
                  <m:oMath xmlns:m="http://schemas.openxmlformats.org/officeDocument/2006/math">
                    <m:r>
                      <a:rPr lang="en-US" sz="2200" i="1">
                        <a:latin typeface="Cambria Math" panose="02040503050406030204" pitchFamily="18" charset="0"/>
                        <a:ea typeface="Verdana" panose="020B0604030504040204" pitchFamily="34" charset="0"/>
                        <a:cs typeface="Verdana" panose="020B0604030504040204" pitchFamily="34" charset="0"/>
                      </a:rPr>
                      <m:t>3.5</m:t>
                    </m:r>
                  </m:oMath>
                </a14:m>
                <a:r>
                  <a:rPr lang="en-US" sz="2200" dirty="0">
                    <a:latin typeface="Verdana" panose="020B0604030504040204" pitchFamily="34" charset="0"/>
                    <a:ea typeface="Verdana" panose="020B0604030504040204" pitchFamily="34" charset="0"/>
                    <a:cs typeface="Verdana" panose="020B0604030504040204" pitchFamily="34" charset="0"/>
                  </a:rPr>
                  <a:t> pounds of meat. Show your work. </a:t>
                </a:r>
              </a:p>
              <a:p>
                <a:pPr lvl="6"/>
                <a:endParaRPr lang="en-US" sz="22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id="{F6CA0D63-633D-B54F-8C6B-7CB7982C604E}"/>
                  </a:ext>
                </a:extLst>
              </p:cNvPr>
              <p:cNvSpPr txBox="1">
                <a:spLocks noRot="1" noChangeAspect="1" noMove="1" noResize="1" noEditPoints="1" noAdjustHandles="1" noChangeArrowheads="1" noChangeShapeType="1" noTextEdit="1"/>
              </p:cNvSpPr>
              <p:nvPr/>
            </p:nvSpPr>
            <p:spPr>
              <a:xfrm>
                <a:off x="914400" y="1192852"/>
                <a:ext cx="10515600" cy="4832092"/>
              </a:xfrm>
              <a:prstGeom prst="rect">
                <a:avLst/>
              </a:prstGeom>
              <a:blipFill>
                <a:blip r:embed="rId5"/>
                <a:stretch>
                  <a:fillRect l="-754" t="-1010" r="-464"/>
                </a:stretch>
              </a:blipFill>
            </p:spPr>
            <p:txBody>
              <a:bodyPr/>
              <a:lstStyle/>
              <a:p>
                <a:r>
                  <a:rPr 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77" name="Google Shape;177;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78" name="Google Shape;178;p5"/>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179" name="Google Shape;179;p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252</a:t>
            </a:r>
            <a:endParaRPr/>
          </a:p>
        </p:txBody>
      </p:sp>
      <p:pic>
        <p:nvPicPr>
          <p:cNvPr id="180" name="Google Shape;180;p5" descr="Icon&#10;&#10;Description automatically generated"/>
          <p:cNvPicPr preferRelativeResize="0"/>
          <p:nvPr/>
        </p:nvPicPr>
        <p:blipFill rotWithShape="1">
          <a:blip r:embed="rId4">
            <a:alphaModFix/>
          </a:blip>
          <a:srcRect/>
          <a:stretch/>
        </p:blipFill>
        <p:spPr>
          <a:xfrm>
            <a:off x="3054096" y="2852923"/>
            <a:ext cx="1152144" cy="1152144"/>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87" name="Google Shape;187;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88" name="Google Shape;188;p6"/>
          <p:cNvSpPr txBox="1"/>
          <p:nvPr/>
        </p:nvSpPr>
        <p:spPr>
          <a:xfrm>
            <a:off x="1143000" y="-36576"/>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13.4.2 Guided Practice: Comparing Line Plots</a:t>
            </a:r>
            <a:endParaRPr dirty="0"/>
          </a:p>
        </p:txBody>
      </p:sp>
      <p:sp>
        <p:nvSpPr>
          <p:cNvPr id="189" name="Google Shape;189;p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252</a:t>
            </a:r>
            <a:endParaRPr dirty="0"/>
          </a:p>
        </p:txBody>
      </p:sp>
      <p:pic>
        <p:nvPicPr>
          <p:cNvPr id="190" name="Google Shape;190;p6"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201168"/>
            <a:ext cx="749808" cy="749808"/>
          </a:xfrm>
          <a:prstGeom prst="rect">
            <a:avLst/>
          </a:prstGeom>
          <a:noFill/>
          <a:ln>
            <a:noFill/>
          </a:ln>
          <a:effectLst>
            <a:outerShdw blurRad="50800" dist="38100" dir="2700000" algn="tl" rotWithShape="0">
              <a:srgbClr val="000000">
                <a:alpha val="40000"/>
              </a:srgbClr>
            </a:outerShdw>
          </a:effectLst>
        </p:spPr>
      </p:pic>
      <p:sp>
        <p:nvSpPr>
          <p:cNvPr id="191" name="Google Shape;191;p6"/>
          <p:cNvSpPr txBox="1"/>
          <p:nvPr/>
        </p:nvSpPr>
        <p:spPr>
          <a:xfrm>
            <a:off x="1143000" y="1386025"/>
            <a:ext cx="10515600" cy="4524275"/>
          </a:xfrm>
          <a:prstGeom prst="rect">
            <a:avLst/>
          </a:prstGeom>
          <a:noFill/>
          <a:ln>
            <a:noFill/>
          </a:ln>
        </p:spPr>
        <p:txBody>
          <a:bodyPr spcFirstLastPara="1" wrap="square" lIns="91425" tIns="45700" rIns="91425" bIns="45700" anchor="t" anchorCtr="0">
            <a:spAutoFit/>
          </a:bodyPr>
          <a:lstStyle/>
          <a:p>
            <a:pPr marL="457200" lvl="1" indent="-457200">
              <a:buSzPts val="2000"/>
              <a:buFont typeface="Arial"/>
              <a:buAutoNum type="arabicPeriod"/>
            </a:pPr>
            <a:r>
              <a:rPr lang="en-US" sz="2400" dirty="0">
                <a:latin typeface="Verdana"/>
                <a:ea typeface="Verdana"/>
                <a:cs typeface="Verdana"/>
                <a:sym typeface="Verdana"/>
              </a:rPr>
              <a:t>Clare recorded the amount of time a sample of students in the sixth, eighth, and tenth grades spent doing homework, in hours per week. She made a line plot of the data for each grade and provided the following summary:</a:t>
            </a:r>
            <a:endParaRPr sz="2400" dirty="0"/>
          </a:p>
          <a:p>
            <a:pPr marL="457200" lvl="1" indent="-330200">
              <a:buSzPts val="2000"/>
            </a:pPr>
            <a:endParaRPr sz="2400" dirty="0">
              <a:latin typeface="Verdana"/>
              <a:ea typeface="Verdana"/>
              <a:cs typeface="Verdana"/>
              <a:sym typeface="Verdana"/>
            </a:endParaRPr>
          </a:p>
          <a:p>
            <a:pPr marL="914400" lvl="1" indent="-450850">
              <a:buSzPts val="2000"/>
              <a:buFont typeface="Arial"/>
              <a:buChar char="•"/>
            </a:pPr>
            <a:r>
              <a:rPr lang="en-US" sz="2400" dirty="0">
                <a:latin typeface="Verdana"/>
                <a:ea typeface="Verdana"/>
                <a:cs typeface="Verdana"/>
                <a:sym typeface="Verdana"/>
              </a:rPr>
              <a:t>Students in sixth grade tend to spend less time on homework than students in eighth and tenth grades.</a:t>
            </a:r>
            <a:endParaRPr sz="2400" dirty="0"/>
          </a:p>
          <a:p>
            <a:pPr marL="914400" lvl="1" indent="-450850">
              <a:buSzPts val="2000"/>
            </a:pPr>
            <a:endParaRPr sz="2400" dirty="0">
              <a:latin typeface="Verdana"/>
              <a:ea typeface="Verdana"/>
              <a:cs typeface="Verdana"/>
              <a:sym typeface="Verdana"/>
            </a:endParaRPr>
          </a:p>
          <a:p>
            <a:pPr marL="914400" lvl="1" indent="-450850">
              <a:buSzPts val="2000"/>
              <a:buFont typeface="Arial"/>
              <a:buChar char="•"/>
            </a:pPr>
            <a:r>
              <a:rPr lang="en-US" sz="2400" dirty="0">
                <a:latin typeface="Verdana"/>
                <a:ea typeface="Verdana"/>
                <a:cs typeface="Verdana"/>
                <a:sym typeface="Verdana"/>
              </a:rPr>
              <a:t>The homework times for the tenth-grade students are more alike than the homework times for the eighth-grade students.</a:t>
            </a:r>
            <a:endParaRPr sz="2400" dirty="0"/>
          </a:p>
          <a:p>
            <a:r>
              <a:rPr lang="en-US" sz="2400" dirty="0">
                <a:latin typeface="Verdana"/>
                <a:ea typeface="Verdana"/>
                <a:cs typeface="Verdana"/>
                <a:sym typeface="Verdana"/>
              </a:rPr>
              <a:t> </a:t>
            </a:r>
            <a:endParaRPr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99" name="Google Shape;199;p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252</a:t>
            </a:r>
            <a:endParaRPr dirty="0"/>
          </a:p>
        </p:txBody>
      </p:sp>
      <p:sp>
        <p:nvSpPr>
          <p:cNvPr id="200" name="Google Shape;200;p7"/>
          <p:cNvSpPr txBox="1"/>
          <p:nvPr/>
        </p:nvSpPr>
        <p:spPr>
          <a:xfrm>
            <a:off x="914400" y="425391"/>
            <a:ext cx="10515600" cy="769401"/>
          </a:xfrm>
          <a:prstGeom prst="rect">
            <a:avLst/>
          </a:prstGeom>
          <a:noFill/>
          <a:ln>
            <a:noFill/>
          </a:ln>
        </p:spPr>
        <p:txBody>
          <a:bodyPr spcFirstLastPara="1" wrap="square" lIns="91425" tIns="45700" rIns="91425" bIns="45700" anchor="t" anchorCtr="0">
            <a:spAutoFit/>
          </a:bodyPr>
          <a:lstStyle/>
          <a:p>
            <a:r>
              <a:rPr lang="en-US" sz="2200" dirty="0">
                <a:latin typeface="Verdana"/>
                <a:ea typeface="Verdana"/>
                <a:cs typeface="Verdana"/>
                <a:sym typeface="Verdana"/>
              </a:rPr>
              <a:t>Use Clare's summary to match each line plot to the correct grade (sixth, eighth, or tenth).</a:t>
            </a:r>
            <a:endParaRPr sz="2200" dirty="0"/>
          </a:p>
        </p:txBody>
      </p:sp>
      <p:graphicFrame>
        <p:nvGraphicFramePr>
          <p:cNvPr id="201" name="Google Shape;201;p7"/>
          <p:cNvGraphicFramePr/>
          <p:nvPr>
            <p:extLst>
              <p:ext uri="{D42A27DB-BD31-4B8C-83A1-F6EECF244321}">
                <p14:modId xmlns:p14="http://schemas.microsoft.com/office/powerpoint/2010/main" val="4003036920"/>
              </p:ext>
            </p:extLst>
          </p:nvPr>
        </p:nvGraphicFramePr>
        <p:xfrm>
          <a:off x="3321621" y="1314229"/>
          <a:ext cx="5946200" cy="5244350"/>
        </p:xfrm>
        <a:graphic>
          <a:graphicData uri="http://schemas.openxmlformats.org/drawingml/2006/table">
            <a:tbl>
              <a:tblPr firstRow="1" firstCol="1" bandRow="1">
                <a:noFill/>
                <a:tableStyleId>{6D659866-F274-4FFC-AE47-F5A041375570}</a:tableStyleId>
              </a:tblPr>
              <a:tblGrid>
                <a:gridCol w="997825">
                  <a:extLst>
                    <a:ext uri="{9D8B030D-6E8A-4147-A177-3AD203B41FA5}">
                      <a16:colId xmlns:a16="http://schemas.microsoft.com/office/drawing/2014/main" val="20000"/>
                    </a:ext>
                  </a:extLst>
                </a:gridCol>
                <a:gridCol w="4948375">
                  <a:extLst>
                    <a:ext uri="{9D8B030D-6E8A-4147-A177-3AD203B41FA5}">
                      <a16:colId xmlns:a16="http://schemas.microsoft.com/office/drawing/2014/main" val="20001"/>
                    </a:ext>
                  </a:extLst>
                </a:gridCol>
              </a:tblGrid>
              <a:tr h="6723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Grade Level</a:t>
                      </a:r>
                      <a:endParaRPr/>
                    </a:p>
                  </a:txBody>
                  <a:tcPr marL="51800" marR="518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Line Plot</a:t>
                      </a:r>
                      <a:endParaRPr/>
                    </a:p>
                  </a:txBody>
                  <a:tcPr marL="51800" marR="518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1913625">
                <a:tc>
                  <a:txBody>
                    <a:bodyPr/>
                    <a:lstStyle/>
                    <a:p>
                      <a:pPr marL="0" marR="0" lvl="0" indent="0" algn="l" rtl="0">
                        <a:lnSpc>
                          <a:spcPct val="100000"/>
                        </a:lnSpc>
                        <a:spcBef>
                          <a:spcPts val="0"/>
                        </a:spcBef>
                        <a:spcAft>
                          <a:spcPts val="0"/>
                        </a:spcAft>
                        <a:buNone/>
                      </a:pPr>
                      <a:r>
                        <a:rPr lang="en-US" sz="2000" u="none" strike="noStrike" cap="none"/>
                        <a:t> </a:t>
                      </a:r>
                      <a:endParaRPr/>
                    </a:p>
                    <a:p>
                      <a:pPr marL="0" marR="0" lvl="0" indent="0" algn="l" rtl="0">
                        <a:lnSpc>
                          <a:spcPct val="100000"/>
                        </a:lnSpc>
                        <a:spcBef>
                          <a:spcPts val="0"/>
                        </a:spcBef>
                        <a:spcAft>
                          <a:spcPts val="0"/>
                        </a:spcAft>
                        <a:buNone/>
                      </a:pPr>
                      <a:r>
                        <a:rPr lang="en-US" sz="2000" u="none" strike="noStrike" cap="none"/>
                        <a:t> </a:t>
                      </a:r>
                      <a:endParaRPr/>
                    </a:p>
                    <a:p>
                      <a:pPr marL="0" marR="0" lvl="0" indent="0" algn="l" rtl="0">
                        <a:lnSpc>
                          <a:spcPct val="100000"/>
                        </a:lnSpc>
                        <a:spcBef>
                          <a:spcPts val="0"/>
                        </a:spcBef>
                        <a:spcAft>
                          <a:spcPts val="0"/>
                        </a:spcAft>
                        <a:buNone/>
                      </a:pPr>
                      <a:r>
                        <a:rPr lang="en-US" sz="2000" u="none" strike="noStrike" cap="none"/>
                        <a:t> _____</a:t>
                      </a:r>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________</a:t>
                      </a:r>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________</a:t>
                      </a:r>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txBody>
                  <a:tcPr marL="51800" marR="518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u="none" strike="noStrike" cap="none" dirty="0"/>
                        <a:t> </a:t>
                      </a:r>
                      <a:endParaRPr sz="900" u="none" strike="noStrike" cap="none" dirty="0"/>
                    </a:p>
                  </a:txBody>
                  <a:tcPr marL="51800" marR="518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02" name="Google Shape;202;p7"/>
          <p:cNvSpPr txBox="1"/>
          <p:nvPr/>
        </p:nvSpPr>
        <p:spPr>
          <a:xfrm>
            <a:off x="4723447" y="6200600"/>
            <a:ext cx="4364550" cy="400110"/>
          </a:xfrm>
          <a:prstGeom prst="rect">
            <a:avLst/>
          </a:prstGeom>
          <a:noFill/>
          <a:ln>
            <a:noFill/>
          </a:ln>
        </p:spPr>
        <p:txBody>
          <a:bodyPr spcFirstLastPara="1" wrap="square" lIns="91425" tIns="45700" rIns="91425" bIns="45700" anchor="t" anchorCtr="0">
            <a:spAutoFit/>
          </a:bodyPr>
          <a:lstStyle/>
          <a:p>
            <a:pPr algn="ctr"/>
            <a:r>
              <a:rPr lang="en-US" sz="2000">
                <a:latin typeface="Verdana"/>
                <a:ea typeface="Verdana"/>
                <a:cs typeface="Verdana"/>
                <a:sym typeface="Verdana"/>
              </a:rPr>
              <a:t>Time (in hours)</a:t>
            </a:r>
            <a:endParaRPr/>
          </a:p>
        </p:txBody>
      </p:sp>
      <p:pic>
        <p:nvPicPr>
          <p:cNvPr id="203" name="Google Shape;203;p7" descr="Chart, scatter chart&#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995260" y="2038113"/>
            <a:ext cx="3820927" cy="1074105"/>
          </a:xfrm>
          <a:prstGeom prst="rect">
            <a:avLst/>
          </a:prstGeom>
          <a:noFill/>
          <a:ln>
            <a:noFill/>
          </a:ln>
        </p:spPr>
      </p:pic>
      <p:pic>
        <p:nvPicPr>
          <p:cNvPr id="204" name="Google Shape;204;p7" descr="Chart, scatter chart&#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5019523" y="3048440"/>
            <a:ext cx="3831273" cy="1191420"/>
          </a:xfrm>
          <a:prstGeom prst="rect">
            <a:avLst/>
          </a:prstGeom>
          <a:noFill/>
          <a:ln>
            <a:noFill/>
          </a:ln>
        </p:spPr>
      </p:pic>
      <p:pic>
        <p:nvPicPr>
          <p:cNvPr id="205" name="Google Shape;205;p7" descr="Chart, scatter chart&#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5019524" y="4282836"/>
            <a:ext cx="3831273" cy="191776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8"/>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12" name="Google Shape;212;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13" name="Google Shape;213;p8"/>
          <p:cNvSpPr txBox="1">
            <a:spLocks noGrp="1"/>
          </p:cNvSpPr>
          <p:nvPr>
            <p:ph type="title" idx="4294967295"/>
          </p:nvPr>
        </p:nvSpPr>
        <p:spPr>
          <a:xfrm>
            <a:off x="4087368"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214" name="Google Shape;214;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253</a:t>
            </a:r>
            <a:endParaRPr dirty="0"/>
          </a:p>
        </p:txBody>
      </p:sp>
      <p:pic>
        <p:nvPicPr>
          <p:cNvPr id="215" name="Google Shape;215;p8" descr="Icon&#10;&#10;Description automatically generated"/>
          <p:cNvPicPr preferRelativeResize="0"/>
          <p:nvPr/>
        </p:nvPicPr>
        <p:blipFill rotWithShape="1">
          <a:blip r:embed="rId4">
            <a:alphaModFix/>
          </a:blip>
          <a:srcRect/>
          <a:stretch/>
        </p:blipFill>
        <p:spPr>
          <a:xfrm>
            <a:off x="3054096" y="2852923"/>
            <a:ext cx="1152144" cy="1152144"/>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9"/>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22" name="Google Shape;222;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23" name="Google Shape;223;p9"/>
          <p:cNvSpPr txBox="1"/>
          <p:nvPr/>
        </p:nvSpPr>
        <p:spPr>
          <a:xfrm>
            <a:off x="1143000" y="-83648"/>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13.4.3 Activity: Station 1 – Histograms and Line Plots</a:t>
            </a:r>
            <a:endParaRPr dirty="0"/>
          </a:p>
        </p:txBody>
      </p:sp>
      <p:sp>
        <p:nvSpPr>
          <p:cNvPr id="224" name="Google Shape;224;p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253</a:t>
            </a:r>
            <a:endParaRPr dirty="0"/>
          </a:p>
        </p:txBody>
      </p:sp>
      <p:pic>
        <p:nvPicPr>
          <p:cNvPr id="225" name="Google Shape;225;p9"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348271"/>
            <a:ext cx="749808" cy="749808"/>
          </a:xfrm>
          <a:prstGeom prst="rect">
            <a:avLst/>
          </a:prstGeom>
          <a:noFill/>
          <a:ln>
            <a:noFill/>
          </a:ln>
          <a:effectLst>
            <a:outerShdw blurRad="50800" dist="38100" dir="2700000" algn="tl" rotWithShape="0">
              <a:srgbClr val="000000">
                <a:alpha val="40000"/>
              </a:srgbClr>
            </a:outerShdw>
          </a:effectLst>
        </p:spPr>
      </p:pic>
      <p:sp>
        <p:nvSpPr>
          <p:cNvPr id="226" name="Google Shape;226;p9"/>
          <p:cNvSpPr txBox="1"/>
          <p:nvPr/>
        </p:nvSpPr>
        <p:spPr>
          <a:xfrm>
            <a:off x="914400" y="1210670"/>
            <a:ext cx="10515600" cy="1015663"/>
          </a:xfrm>
          <a:prstGeom prst="rect">
            <a:avLst/>
          </a:prstGeom>
          <a:blipFill rotWithShape="1">
            <a:blip r:embed="rId5">
              <a:alphaModFix/>
            </a:blip>
            <a:stretch>
              <a:fillRect l="-748" t="-3703" b="-9874"/>
            </a:stretch>
          </a:blipFill>
          <a:ln>
            <a:noFill/>
          </a:ln>
        </p:spPr>
        <p:txBody>
          <a:bodyPr spcFirstLastPara="1" wrap="square" lIns="91425" tIns="45700" rIns="91425" bIns="45700" anchor="t" anchorCtr="0">
            <a:noAutofit/>
          </a:bodyPr>
          <a:lstStyle/>
          <a:p>
            <a:r>
              <a:rPr lang="en-US"/>
              <a:t> </a:t>
            </a:r>
            <a:endParaRPr/>
          </a:p>
        </p:txBody>
      </p:sp>
      <p:pic>
        <p:nvPicPr>
          <p:cNvPr id="227" name="Google Shape;227;p9" descr="Chart, histogram&#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933431" y="2937201"/>
            <a:ext cx="4178189" cy="2287942"/>
          </a:xfrm>
          <a:prstGeom prst="rect">
            <a:avLst/>
          </a:prstGeom>
          <a:noFill/>
          <a:ln>
            <a:noFill/>
          </a:ln>
        </p:spPr>
      </p:pic>
      <p:pic>
        <p:nvPicPr>
          <p:cNvPr id="228" name="Google Shape;228;p9" descr="Chart, histogram&#10;&#10;Description automatically generated"/>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6354649" y="2909456"/>
            <a:ext cx="4254816" cy="2207910"/>
          </a:xfrm>
          <a:prstGeom prst="rect">
            <a:avLst/>
          </a:prstGeom>
          <a:noFill/>
          <a:ln>
            <a:noFill/>
          </a:ln>
        </p:spPr>
      </p:pic>
      <p:sp>
        <p:nvSpPr>
          <p:cNvPr id="229" name="Google Shape;229;p9"/>
          <p:cNvSpPr txBox="1"/>
          <p:nvPr/>
        </p:nvSpPr>
        <p:spPr>
          <a:xfrm>
            <a:off x="1933430" y="2537091"/>
            <a:ext cx="4427444" cy="400110"/>
          </a:xfrm>
          <a:prstGeom prst="rect">
            <a:avLst/>
          </a:prstGeom>
          <a:noFill/>
          <a:ln>
            <a:noFill/>
          </a:ln>
        </p:spPr>
        <p:txBody>
          <a:bodyPr spcFirstLastPara="1" wrap="square" lIns="91425" tIns="45700" rIns="91425" bIns="45700" anchor="t" anchorCtr="0">
            <a:spAutoFit/>
          </a:bodyPr>
          <a:lstStyle/>
          <a:p>
            <a:r>
              <a:rPr lang="en-US" sz="2000" b="1">
                <a:latin typeface="Verdana"/>
                <a:ea typeface="Verdana"/>
                <a:cs typeface="Verdana"/>
                <a:sym typeface="Verdana"/>
              </a:rPr>
              <a:t>Heights of Basketball Players</a:t>
            </a:r>
            <a:endParaRPr sz="2000">
              <a:latin typeface="Cambria"/>
              <a:ea typeface="Cambria"/>
              <a:cs typeface="Cambria"/>
              <a:sym typeface="Cambria"/>
            </a:endParaRPr>
          </a:p>
        </p:txBody>
      </p:sp>
      <p:sp>
        <p:nvSpPr>
          <p:cNvPr id="230" name="Google Shape;230;p9"/>
          <p:cNvSpPr txBox="1"/>
          <p:nvPr/>
        </p:nvSpPr>
        <p:spPr>
          <a:xfrm>
            <a:off x="6529500" y="2537091"/>
            <a:ext cx="4637314" cy="400110"/>
          </a:xfrm>
          <a:prstGeom prst="rect">
            <a:avLst/>
          </a:prstGeom>
          <a:noFill/>
          <a:ln>
            <a:noFill/>
          </a:ln>
        </p:spPr>
        <p:txBody>
          <a:bodyPr spcFirstLastPara="1" wrap="square" lIns="91425" tIns="45700" rIns="91425" bIns="45700" anchor="t" anchorCtr="0">
            <a:spAutoFit/>
          </a:bodyPr>
          <a:lstStyle/>
          <a:p>
            <a:r>
              <a:rPr lang="en-US" sz="2000" b="1">
                <a:latin typeface="Verdana"/>
                <a:ea typeface="Verdana"/>
                <a:cs typeface="Verdana"/>
                <a:sym typeface="Verdana"/>
              </a:rPr>
              <a:t>Heights of Baseball Players</a:t>
            </a:r>
            <a:endParaRPr sz="2000">
              <a:latin typeface="Cambria"/>
              <a:ea typeface="Cambria"/>
              <a:cs typeface="Cambria"/>
              <a:sym typeface="Cambria"/>
            </a:endParaRPr>
          </a:p>
        </p:txBody>
      </p:sp>
      <p:sp>
        <p:nvSpPr>
          <p:cNvPr id="231" name="Google Shape;231;p9"/>
          <p:cNvSpPr txBox="1"/>
          <p:nvPr/>
        </p:nvSpPr>
        <p:spPr>
          <a:xfrm>
            <a:off x="2144946" y="5187355"/>
            <a:ext cx="4884056" cy="400110"/>
          </a:xfrm>
          <a:prstGeom prst="rect">
            <a:avLst/>
          </a:prstGeom>
          <a:noFill/>
          <a:ln>
            <a:noFill/>
          </a:ln>
        </p:spPr>
        <p:txBody>
          <a:bodyPr spcFirstLastPara="1" wrap="square" lIns="91425" tIns="45700" rIns="91425" bIns="45700" anchor="t" anchorCtr="0">
            <a:spAutoFit/>
          </a:bodyPr>
          <a:lstStyle/>
          <a:p>
            <a:pPr marL="2743200" indent="457200" algn="ctr"/>
            <a:r>
              <a:rPr lang="en-US" sz="2000">
                <a:latin typeface="Verdana"/>
                <a:ea typeface="Verdana"/>
                <a:cs typeface="Verdana"/>
                <a:sym typeface="Verdana"/>
              </a:rPr>
              <a:t>Height (in.)</a:t>
            </a:r>
            <a:endParaRPr sz="2000">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0"/>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8" name="Google Shape;238;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39" name="Google Shape;239;p1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253</a:t>
            </a:r>
            <a:endParaRPr/>
          </a:p>
        </p:txBody>
      </p:sp>
      <p:sp>
        <p:nvSpPr>
          <p:cNvPr id="240" name="Google Shape;240;p10"/>
          <p:cNvSpPr txBox="1"/>
          <p:nvPr/>
        </p:nvSpPr>
        <p:spPr>
          <a:xfrm>
            <a:off x="914400" y="520394"/>
            <a:ext cx="10515600" cy="4001055"/>
          </a:xfrm>
          <a:prstGeom prst="rect">
            <a:avLst/>
          </a:prstGeom>
          <a:noFill/>
          <a:ln>
            <a:noFill/>
          </a:ln>
        </p:spPr>
        <p:txBody>
          <a:bodyPr spcFirstLastPara="1" wrap="square" lIns="91425" tIns="45700" rIns="91425" bIns="45700" anchor="t" anchorCtr="0">
            <a:spAutoFit/>
          </a:bodyPr>
          <a:lstStyle/>
          <a:p>
            <a:pPr marL="922338" lvl="1" indent="-461963">
              <a:buSzPts val="2000"/>
              <a:buFont typeface="Arial"/>
              <a:buAutoNum type="alphaLcPeriod"/>
            </a:pPr>
            <a:r>
              <a:rPr lang="en-US" sz="2000" dirty="0">
                <a:latin typeface="Verdana"/>
                <a:ea typeface="Verdana"/>
                <a:cs typeface="Verdana"/>
                <a:sym typeface="Verdana"/>
              </a:rPr>
              <a:t>Complete the statements that draw a conclusion about the typical height of professional basketball players and baseball players.</a:t>
            </a:r>
          </a:p>
          <a:p>
            <a:pPr marL="914400" marR="0" lvl="0" indent="0" algn="l" defTabSz="914400" rtl="0" eaLnBrk="1" fontAlgn="auto" latinLnBrk="0" hangingPunct="1">
              <a:lnSpc>
                <a:spcPct val="25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Verdana"/>
                <a:ea typeface="Verdana"/>
                <a:cs typeface="Verdana"/>
                <a:sym typeface="Verdana"/>
              </a:rPr>
              <a:t>The sample data in the histograms shows the center of the data for basketball players is 			     the center of the data for baseball players. It can be concluded that professional basketball players are typically</a:t>
            </a:r>
            <a:r>
              <a:rPr kumimoji="0" lang="en-US" sz="2000" b="0" i="0" u="none" strike="noStrike" kern="0" cap="none" spc="0" normalizeH="0" baseline="0" noProof="0" dirty="0">
                <a:ln>
                  <a:noFill/>
                </a:ln>
                <a:solidFill>
                  <a:srgbClr val="000000"/>
                </a:solidFill>
                <a:effectLst/>
                <a:uLnTx/>
                <a:uFillTx/>
                <a:latin typeface="Arial"/>
                <a:cs typeface="Arial"/>
                <a:sym typeface="Arial"/>
              </a:rPr>
              <a:t> 			</a:t>
            </a:r>
            <a:r>
              <a:rPr kumimoji="0" lang="en-US" sz="2000" b="0" i="0" u="none" strike="noStrike" kern="0" cap="none" spc="0" normalizeH="0" baseline="0" noProof="0" dirty="0">
                <a:ln>
                  <a:noFill/>
                </a:ln>
                <a:solidFill>
                  <a:srgbClr val="000000"/>
                </a:solidFill>
                <a:effectLst/>
                <a:uLnTx/>
                <a:uFillTx/>
                <a:latin typeface="Verdana"/>
                <a:ea typeface="Verdana"/>
                <a:cs typeface="Verdana"/>
                <a:sym typeface="Verdana"/>
              </a:rPr>
              <a:t>professional baseball players. </a:t>
            </a:r>
            <a:endParaRPr kumimoji="0" lang="en-US" sz="2000" b="0" i="0" u="none" strike="noStrike" kern="0" cap="none" spc="0" normalizeH="0" baseline="0" noProof="0" dirty="0">
              <a:ln>
                <a:noFill/>
              </a:ln>
              <a:solidFill>
                <a:srgbClr val="000000"/>
              </a:solidFill>
              <a:effectLst/>
              <a:uLnTx/>
              <a:uFillTx/>
              <a:latin typeface="Cambria"/>
              <a:ea typeface="Cambria"/>
              <a:cs typeface="Cambria"/>
              <a:sym typeface="Cambria"/>
            </a:endParaRPr>
          </a:p>
          <a:p>
            <a:pPr marL="460375" lvl="1">
              <a:buSzPts val="2000"/>
            </a:pPr>
            <a:endParaRPr lang="en-US" dirty="0"/>
          </a:p>
        </p:txBody>
      </p:sp>
      <p:sp>
        <p:nvSpPr>
          <p:cNvPr id="242" name="Google Shape;242;p10"/>
          <p:cNvSpPr/>
          <p:nvPr/>
        </p:nvSpPr>
        <p:spPr>
          <a:xfrm>
            <a:off x="4619993" y="1923408"/>
            <a:ext cx="2221015" cy="101566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indent="-342900">
              <a:lnSpc>
                <a:spcPct val="107000"/>
              </a:lnSpc>
              <a:buSzPts val="1800"/>
              <a:buFont typeface="Courier New"/>
              <a:buChar char="o"/>
            </a:pPr>
            <a:r>
              <a:rPr lang="en-US" sz="2000" dirty="0">
                <a:latin typeface="Verdana"/>
                <a:ea typeface="Verdana"/>
                <a:cs typeface="Verdana"/>
                <a:sym typeface="Verdana"/>
              </a:rPr>
              <a:t>less than</a:t>
            </a:r>
            <a:endParaRPr sz="2000" dirty="0">
              <a:latin typeface="Cambria"/>
              <a:ea typeface="Cambria"/>
              <a:cs typeface="Cambria"/>
              <a:sym typeface="Cambria"/>
            </a:endParaRPr>
          </a:p>
          <a:p>
            <a:pPr marL="342900" indent="-342900" algn="just">
              <a:lnSpc>
                <a:spcPct val="107000"/>
              </a:lnSpc>
              <a:spcBef>
                <a:spcPts val="800"/>
              </a:spcBef>
              <a:spcAft>
                <a:spcPts val="800"/>
              </a:spcAft>
              <a:buSzPts val="1800"/>
              <a:buFont typeface="Courier New"/>
              <a:buChar char="o"/>
            </a:pPr>
            <a:r>
              <a:rPr lang="en-US" sz="2000" dirty="0">
                <a:latin typeface="Verdana"/>
                <a:ea typeface="Verdana"/>
                <a:cs typeface="Verdana"/>
                <a:sym typeface="Verdana"/>
              </a:rPr>
              <a:t>greater than</a:t>
            </a:r>
            <a:endParaRPr sz="2000" dirty="0">
              <a:latin typeface="Cambria"/>
              <a:ea typeface="Cambria"/>
              <a:cs typeface="Cambria"/>
              <a:sym typeface="Cambria"/>
            </a:endParaRPr>
          </a:p>
        </p:txBody>
      </p:sp>
      <p:sp>
        <p:nvSpPr>
          <p:cNvPr id="246" name="Google Shape;246;p10"/>
          <p:cNvSpPr/>
          <p:nvPr/>
        </p:nvSpPr>
        <p:spPr>
          <a:xfrm>
            <a:off x="3111128" y="3457812"/>
            <a:ext cx="2255825" cy="922238"/>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indent="-342900">
              <a:lnSpc>
                <a:spcPct val="107000"/>
              </a:lnSpc>
              <a:buSzPts val="1800"/>
              <a:buFont typeface="Courier New"/>
              <a:buChar char="o"/>
            </a:pPr>
            <a:r>
              <a:rPr lang="en-US" sz="2000">
                <a:latin typeface="Verdana"/>
                <a:ea typeface="Verdana"/>
                <a:cs typeface="Verdana"/>
                <a:sym typeface="Verdana"/>
              </a:rPr>
              <a:t>shorter than</a:t>
            </a:r>
            <a:endParaRPr sz="2000">
              <a:latin typeface="Cambria"/>
              <a:ea typeface="Cambria"/>
              <a:cs typeface="Cambria"/>
              <a:sym typeface="Cambria"/>
            </a:endParaRPr>
          </a:p>
          <a:p>
            <a:pPr marL="342900" indent="-342900" algn="just">
              <a:lnSpc>
                <a:spcPct val="107000"/>
              </a:lnSpc>
              <a:spcBef>
                <a:spcPts val="800"/>
              </a:spcBef>
              <a:spcAft>
                <a:spcPts val="800"/>
              </a:spcAft>
              <a:buSzPts val="1800"/>
              <a:buFont typeface="Courier New"/>
              <a:buChar char="o"/>
            </a:pPr>
            <a:r>
              <a:rPr lang="en-US" sz="2000">
                <a:latin typeface="Verdana"/>
                <a:ea typeface="Verdana"/>
                <a:cs typeface="Verdana"/>
                <a:sym typeface="Verdana"/>
              </a:rPr>
              <a:t>taller than</a:t>
            </a:r>
            <a:endParaRPr sz="2000">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54" name="Google Shape;254;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55" name="Google Shape;255;p1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253</a:t>
            </a:r>
            <a:endParaRPr/>
          </a:p>
        </p:txBody>
      </p:sp>
      <p:sp>
        <p:nvSpPr>
          <p:cNvPr id="256" name="Google Shape;256;p11"/>
          <p:cNvSpPr txBox="1"/>
          <p:nvPr/>
        </p:nvSpPr>
        <p:spPr>
          <a:xfrm>
            <a:off x="939129" y="520393"/>
            <a:ext cx="8327136" cy="400110"/>
          </a:xfrm>
          <a:prstGeom prst="rect">
            <a:avLst/>
          </a:prstGeom>
          <a:noFill/>
          <a:ln>
            <a:noFill/>
          </a:ln>
        </p:spPr>
        <p:txBody>
          <a:bodyPr spcFirstLastPara="1" wrap="square" lIns="91425" tIns="45700" rIns="91425" bIns="45700" anchor="t" anchorCtr="0">
            <a:spAutoFit/>
          </a:bodyPr>
          <a:lstStyle/>
          <a:p>
            <a:pPr marL="922338" lvl="1" indent="-461963">
              <a:buSzPts val="2000"/>
              <a:buFont typeface="Arial"/>
              <a:buAutoNum type="alphaLcPeriod" startAt="2"/>
            </a:pPr>
            <a:r>
              <a:rPr lang="en-US" sz="2000" dirty="0">
                <a:latin typeface="Verdana"/>
                <a:ea typeface="Verdana"/>
                <a:cs typeface="Verdana"/>
                <a:sym typeface="Verdana"/>
              </a:rPr>
              <a:t>Complete the statement.</a:t>
            </a:r>
            <a:endParaRPr dirty="0"/>
          </a:p>
        </p:txBody>
      </p:sp>
      <p:sp>
        <p:nvSpPr>
          <p:cNvPr id="257" name="Google Shape;257;p11"/>
          <p:cNvSpPr txBox="1"/>
          <p:nvPr/>
        </p:nvSpPr>
        <p:spPr>
          <a:xfrm>
            <a:off x="939129" y="1249011"/>
            <a:ext cx="9665536" cy="3939500"/>
          </a:xfrm>
          <a:prstGeom prst="rect">
            <a:avLst/>
          </a:prstGeom>
          <a:noFill/>
          <a:ln>
            <a:noFill/>
          </a:ln>
        </p:spPr>
        <p:txBody>
          <a:bodyPr spcFirstLastPara="1" wrap="square" lIns="91425" tIns="45700" rIns="91425" bIns="45700" anchor="t" anchorCtr="0">
            <a:spAutoFit/>
          </a:bodyPr>
          <a:lstStyle/>
          <a:p>
            <a:pPr marL="914400">
              <a:lnSpc>
                <a:spcPct val="250000"/>
              </a:lnSpc>
            </a:pPr>
            <a:r>
              <a:rPr lang="en-US" sz="2000" dirty="0">
                <a:latin typeface="Verdana"/>
                <a:ea typeface="Verdana"/>
                <a:cs typeface="Verdana"/>
                <a:sym typeface="Verdana"/>
              </a:rPr>
              <a:t>The histograms show that in the samples, the range of heights of basketball players is 			      the range of the heights of baseball players. We can conclude that professional basketball players have 		     variability in their heights than professional  baseball players. One possible reason for this is … </a:t>
            </a:r>
            <a:endParaRPr lang="en-US" sz="2000" dirty="0"/>
          </a:p>
        </p:txBody>
      </p:sp>
      <p:sp>
        <p:nvSpPr>
          <p:cNvPr id="259" name="Google Shape;259;p11"/>
          <p:cNvSpPr/>
          <p:nvPr/>
        </p:nvSpPr>
        <p:spPr>
          <a:xfrm>
            <a:off x="4702661" y="2130886"/>
            <a:ext cx="2277211" cy="885371"/>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indent="-342900">
              <a:lnSpc>
                <a:spcPct val="107000"/>
              </a:lnSpc>
              <a:buSzPts val="1800"/>
              <a:buFont typeface="Courier New"/>
              <a:buChar char="o"/>
            </a:pPr>
            <a:r>
              <a:rPr lang="en-US" sz="2000" dirty="0">
                <a:latin typeface="Verdana"/>
                <a:ea typeface="Verdana"/>
                <a:cs typeface="Verdana"/>
                <a:sym typeface="Verdana"/>
              </a:rPr>
              <a:t>less than </a:t>
            </a:r>
            <a:endParaRPr sz="2000" dirty="0">
              <a:latin typeface="Cambria"/>
              <a:ea typeface="Cambria"/>
              <a:cs typeface="Cambria"/>
              <a:sym typeface="Cambria"/>
            </a:endParaRPr>
          </a:p>
          <a:p>
            <a:pPr marL="342900" indent="-342900" algn="just">
              <a:lnSpc>
                <a:spcPct val="107000"/>
              </a:lnSpc>
              <a:spcBef>
                <a:spcPts val="800"/>
              </a:spcBef>
              <a:spcAft>
                <a:spcPts val="800"/>
              </a:spcAft>
              <a:buSzPts val="1800"/>
              <a:buFont typeface="Courier New"/>
              <a:buChar char="o"/>
            </a:pPr>
            <a:r>
              <a:rPr lang="en-US" sz="2000" dirty="0">
                <a:latin typeface="Verdana"/>
                <a:ea typeface="Verdana"/>
                <a:cs typeface="Verdana"/>
                <a:sym typeface="Verdana"/>
              </a:rPr>
              <a:t>greater than</a:t>
            </a:r>
            <a:endParaRPr sz="2000" dirty="0">
              <a:latin typeface="Cambria"/>
              <a:ea typeface="Cambria"/>
              <a:cs typeface="Cambria"/>
              <a:sym typeface="Cambria"/>
            </a:endParaRPr>
          </a:p>
        </p:txBody>
      </p:sp>
      <p:sp>
        <p:nvSpPr>
          <p:cNvPr id="260" name="Google Shape;260;p11"/>
          <p:cNvSpPr txBox="1"/>
          <p:nvPr/>
        </p:nvSpPr>
        <p:spPr>
          <a:xfrm>
            <a:off x="2657907" y="2862369"/>
            <a:ext cx="4637314" cy="307777"/>
          </a:xfrm>
          <a:prstGeom prst="rect">
            <a:avLst/>
          </a:prstGeom>
          <a:noFill/>
          <a:ln>
            <a:noFill/>
          </a:ln>
        </p:spPr>
        <p:txBody>
          <a:bodyPr spcFirstLastPara="1" wrap="square" lIns="91425" tIns="45700" rIns="91425" bIns="45700" anchor="t" anchorCtr="0">
            <a:spAutoFit/>
          </a:bodyPr>
          <a:lstStyle/>
          <a:p>
            <a:pPr marL="2743200" indent="457200"/>
            <a:r>
              <a:rPr lang="en-US">
                <a:latin typeface="Verdana"/>
                <a:ea typeface="Verdana"/>
                <a:cs typeface="Verdana"/>
                <a:sym typeface="Verdana"/>
              </a:rPr>
              <a:t> </a:t>
            </a:r>
            <a:endParaRPr sz="1050">
              <a:latin typeface="Cambria"/>
              <a:ea typeface="Cambria"/>
              <a:cs typeface="Cambria"/>
              <a:sym typeface="Cambria"/>
            </a:endParaRPr>
          </a:p>
        </p:txBody>
      </p:sp>
      <p:sp>
        <p:nvSpPr>
          <p:cNvPr id="263" name="Google Shape;263;p11"/>
          <p:cNvSpPr/>
          <p:nvPr/>
        </p:nvSpPr>
        <p:spPr>
          <a:xfrm>
            <a:off x="3678643" y="3687855"/>
            <a:ext cx="1332397" cy="85636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indent="-342900">
              <a:lnSpc>
                <a:spcPct val="107000"/>
              </a:lnSpc>
              <a:buSzPts val="1800"/>
              <a:buFont typeface="Courier New"/>
              <a:buChar char="o"/>
            </a:pPr>
            <a:r>
              <a:rPr lang="en-US" sz="2000" dirty="0">
                <a:latin typeface="Verdana"/>
                <a:ea typeface="Verdana"/>
                <a:cs typeface="Verdana"/>
                <a:sym typeface="Verdana"/>
              </a:rPr>
              <a:t>more</a:t>
            </a:r>
            <a:endParaRPr sz="2000" dirty="0">
              <a:latin typeface="Cambria"/>
              <a:ea typeface="Cambria"/>
              <a:cs typeface="Cambria"/>
              <a:sym typeface="Cambria"/>
            </a:endParaRPr>
          </a:p>
          <a:p>
            <a:pPr marL="342900" indent="-342900" algn="just">
              <a:lnSpc>
                <a:spcPct val="107000"/>
              </a:lnSpc>
              <a:spcBef>
                <a:spcPts val="800"/>
              </a:spcBef>
              <a:spcAft>
                <a:spcPts val="800"/>
              </a:spcAft>
              <a:buSzPts val="1800"/>
              <a:buFont typeface="Courier New"/>
              <a:buChar char="o"/>
            </a:pPr>
            <a:r>
              <a:rPr lang="en-US" sz="2000" dirty="0">
                <a:latin typeface="Verdana"/>
                <a:ea typeface="Verdana"/>
                <a:cs typeface="Verdana"/>
                <a:sym typeface="Verdana"/>
              </a:rPr>
              <a:t>less</a:t>
            </a:r>
            <a:endParaRPr sz="2000" dirty="0">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72" name="Google Shape;272;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73" name="Google Shape;273;p1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254</a:t>
            </a:r>
            <a:endParaRPr dirty="0"/>
          </a:p>
        </p:txBody>
      </p:sp>
      <p:sp>
        <p:nvSpPr>
          <p:cNvPr id="274" name="Google Shape;274;p12"/>
          <p:cNvSpPr txBox="1"/>
          <p:nvPr/>
        </p:nvSpPr>
        <p:spPr>
          <a:xfrm>
            <a:off x="914400" y="520394"/>
            <a:ext cx="10515600" cy="1323439"/>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startAt="2"/>
            </a:pPr>
            <a:r>
              <a:rPr lang="en-US" sz="2000" dirty="0">
                <a:latin typeface="Verdana"/>
                <a:ea typeface="Verdana"/>
                <a:cs typeface="Verdana"/>
                <a:sym typeface="Verdana"/>
              </a:rPr>
              <a:t>Mr. Logan surveyed a sample of his junior and senior students about the time they spend studying math per day. He then tabulated the results and created a line plot displaying the data for each group. </a:t>
            </a:r>
            <a:endParaRPr dirty="0"/>
          </a:p>
        </p:txBody>
      </p:sp>
      <p:grpSp>
        <p:nvGrpSpPr>
          <p:cNvPr id="275" name="Google Shape;275;p12"/>
          <p:cNvGrpSpPr/>
          <p:nvPr/>
        </p:nvGrpSpPr>
        <p:grpSpPr>
          <a:xfrm>
            <a:off x="3337211" y="2466354"/>
            <a:ext cx="6257398" cy="2178219"/>
            <a:chOff x="0" y="0"/>
            <a:chExt cx="6778690" cy="2360036"/>
          </a:xfrm>
        </p:grpSpPr>
        <p:pic>
          <p:nvPicPr>
            <p:cNvPr id="276" name="Google Shape;276;p12" descr="Chart, scatter chart&#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349690" y="0"/>
              <a:ext cx="3429000" cy="2322830"/>
            </a:xfrm>
            <a:prstGeom prst="rect">
              <a:avLst/>
            </a:prstGeom>
            <a:noFill/>
            <a:ln>
              <a:noFill/>
            </a:ln>
          </p:spPr>
        </p:pic>
        <p:pic>
          <p:nvPicPr>
            <p:cNvPr id="277" name="Google Shape;277;p12"/>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0" y="317241"/>
              <a:ext cx="3256280" cy="2042795"/>
            </a:xfrm>
            <a:prstGeom prst="rect">
              <a:avLst/>
            </a:prstGeom>
            <a:noFill/>
            <a:ln>
              <a:noFill/>
            </a:ln>
          </p:spPr>
        </p:pic>
      </p:grpSp>
      <p:sp>
        <p:nvSpPr>
          <p:cNvPr id="278" name="Google Shape;278;p12"/>
          <p:cNvSpPr txBox="1"/>
          <p:nvPr/>
        </p:nvSpPr>
        <p:spPr>
          <a:xfrm>
            <a:off x="2858944" y="1845558"/>
            <a:ext cx="3962400" cy="680085"/>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Time Spent Studying (Juniors)</a:t>
            </a:r>
            <a:endParaRPr sz="2000">
              <a:latin typeface="Cambria"/>
              <a:ea typeface="Cambria"/>
              <a:cs typeface="Cambria"/>
              <a:sym typeface="Cambria"/>
            </a:endParaRPr>
          </a:p>
        </p:txBody>
      </p:sp>
      <p:sp>
        <p:nvSpPr>
          <p:cNvPr id="279" name="Google Shape;279;p12"/>
          <p:cNvSpPr txBox="1"/>
          <p:nvPr/>
        </p:nvSpPr>
        <p:spPr>
          <a:xfrm>
            <a:off x="6226777" y="1845558"/>
            <a:ext cx="3962400" cy="680085"/>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Time Spent Studying (Seniors)</a:t>
            </a:r>
            <a:endParaRPr sz="2000">
              <a:latin typeface="Cambria"/>
              <a:ea typeface="Cambria"/>
              <a:cs typeface="Cambria"/>
              <a:sym typeface="Cambria"/>
            </a:endParaRPr>
          </a:p>
        </p:txBody>
      </p:sp>
      <p:sp>
        <p:nvSpPr>
          <p:cNvPr id="280" name="Google Shape;280;p12"/>
          <p:cNvSpPr txBox="1"/>
          <p:nvPr/>
        </p:nvSpPr>
        <p:spPr>
          <a:xfrm>
            <a:off x="2858944" y="4610232"/>
            <a:ext cx="3962400" cy="326390"/>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Minutes</a:t>
            </a:r>
            <a:endParaRPr sz="2000">
              <a:latin typeface="Cambria"/>
              <a:ea typeface="Cambria"/>
              <a:cs typeface="Cambria"/>
              <a:sym typeface="Cambria"/>
            </a:endParaRPr>
          </a:p>
        </p:txBody>
      </p:sp>
      <p:sp>
        <p:nvSpPr>
          <p:cNvPr id="281" name="Google Shape;281;p12"/>
          <p:cNvSpPr txBox="1"/>
          <p:nvPr/>
        </p:nvSpPr>
        <p:spPr>
          <a:xfrm>
            <a:off x="6226777" y="4610232"/>
            <a:ext cx="3962400" cy="326390"/>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Minutes</a:t>
            </a:r>
            <a:endParaRPr sz="2000">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3"/>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88" name="Google Shape;288;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89" name="Google Shape;289;p1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254</a:t>
            </a:r>
            <a:endParaRPr/>
          </a:p>
        </p:txBody>
      </p:sp>
      <p:sp>
        <p:nvSpPr>
          <p:cNvPr id="290" name="Google Shape;290;p13"/>
          <p:cNvSpPr txBox="1"/>
          <p:nvPr/>
        </p:nvSpPr>
        <p:spPr>
          <a:xfrm>
            <a:off x="914400" y="520393"/>
            <a:ext cx="10515600" cy="4154943"/>
          </a:xfrm>
          <a:prstGeom prst="rect">
            <a:avLst/>
          </a:prstGeom>
          <a:noFill/>
          <a:ln>
            <a:noFill/>
          </a:ln>
        </p:spPr>
        <p:txBody>
          <a:bodyPr spcFirstLastPara="1" wrap="square" lIns="91425" tIns="45700" rIns="91425" bIns="45700" anchor="t" anchorCtr="0">
            <a:spAutoFit/>
          </a:bodyPr>
          <a:lstStyle/>
          <a:p>
            <a:pPr marL="914400" lvl="2" indent="-457200">
              <a:buSzPct val="100000"/>
              <a:buFont typeface="Arial"/>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sym typeface="Verdana"/>
              </a:rPr>
              <a:t>The value of the larger median study time for the two groups is ______.</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2" indent="-457200">
              <a:buSzPct val="100000"/>
              <a:buFont typeface="Arial"/>
              <a:buAutoNum type="alphaLcPeriod"/>
            </a:pPr>
            <a:endParaRPr lang="en-US" sz="2400" dirty="0">
              <a:latin typeface="Verdana"/>
              <a:ea typeface="Verdana"/>
              <a:cs typeface="Verdana"/>
              <a:sym typeface="Verdana"/>
            </a:endParaRPr>
          </a:p>
          <a:p>
            <a:pPr marL="914400" lvl="2" indent="-457200">
              <a:buSzPct val="100000"/>
              <a:buFont typeface="Arial"/>
              <a:buAutoNum type="alphaLcPeriod"/>
            </a:pPr>
            <a:endParaRPr lang="en-US" sz="2400" dirty="0">
              <a:latin typeface="Verdana"/>
              <a:ea typeface="Verdana"/>
              <a:cs typeface="Verdana"/>
              <a:sym typeface="Verdana"/>
            </a:endParaRPr>
          </a:p>
          <a:p>
            <a:pPr marL="914400" lvl="2" indent="-457200">
              <a:buSzPct val="100000"/>
              <a:buFont typeface="Arial"/>
              <a:buAutoNum type="alphaLcPeriod"/>
            </a:pPr>
            <a:r>
              <a:rPr lang="en-US" sz="2400" dirty="0">
                <a:latin typeface="Verdana"/>
                <a:ea typeface="Verdana"/>
                <a:cs typeface="Verdana"/>
                <a:sym typeface="Verdana"/>
              </a:rPr>
              <a:t>The value of the larger mean study time for the two groups is ______.</a:t>
            </a:r>
            <a:endParaRPr lang="en-US" sz="2400" dirty="0">
              <a:ea typeface="Verdana"/>
            </a:endParaRPr>
          </a:p>
          <a:p>
            <a:pPr marL="914400" lvl="2" indent="-457200">
              <a:buSzPct val="100000"/>
              <a:buFont typeface="Arial"/>
              <a:buAutoNum type="alphaLcPeriod"/>
            </a:pPr>
            <a:endParaRPr lang="en-US" sz="2400" dirty="0">
              <a:latin typeface="Verdana"/>
              <a:ea typeface="Verdana"/>
              <a:cs typeface="Verdana"/>
              <a:sym typeface="Verdana"/>
            </a:endParaRPr>
          </a:p>
          <a:p>
            <a:pPr marL="914400" lvl="2" indent="-457200">
              <a:buSzPct val="100000"/>
              <a:buFont typeface="Arial"/>
              <a:buAutoNum type="alphaLcPeriod"/>
            </a:pPr>
            <a:endParaRPr lang="en-US" sz="2400" dirty="0">
              <a:latin typeface="Verdana"/>
              <a:ea typeface="Verdana"/>
              <a:cs typeface="Verdana"/>
              <a:sym typeface="Verdana"/>
            </a:endParaRPr>
          </a:p>
          <a:p>
            <a:pPr marL="914400" lvl="2" indent="-457200">
              <a:buSzPct val="100000"/>
              <a:buFont typeface="Arial"/>
              <a:buAutoNum type="alphaLcPeriod"/>
            </a:pPr>
            <a:r>
              <a:rPr lang="en-US" sz="2400" dirty="0">
                <a:latin typeface="Verdana"/>
                <a:ea typeface="Verdana"/>
                <a:cs typeface="Verdana"/>
                <a:sym typeface="Verdana"/>
              </a:rPr>
              <a:t>In one to two sentences, describe the difference between the number of minutes Mr. Logan’s juniors and seniors study by comparing the center and shapes for the groups.</a:t>
            </a:r>
            <a:endParaRPr sz="2400" dirty="0">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8"/>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12" name="Google Shape;212;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13" name="Google Shape;213;p8"/>
          <p:cNvSpPr txBox="1">
            <a:spLocks noGrp="1"/>
          </p:cNvSpPr>
          <p:nvPr>
            <p:ph type="title" idx="4294967295"/>
          </p:nvPr>
        </p:nvSpPr>
        <p:spPr>
          <a:xfrm>
            <a:off x="4087368"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214" name="Google Shape;214;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253</a:t>
            </a:r>
            <a:endParaRPr dirty="0"/>
          </a:p>
        </p:txBody>
      </p:sp>
      <p:pic>
        <p:nvPicPr>
          <p:cNvPr id="215" name="Google Shape;215;p8" descr="Icon&#10;&#10;Description automatically generated"/>
          <p:cNvPicPr preferRelativeResize="0"/>
          <p:nvPr/>
        </p:nvPicPr>
        <p:blipFill rotWithShape="1">
          <a:blip r:embed="rId4">
            <a:alphaModFix/>
          </a:blip>
          <a:srcRect/>
          <a:stretch/>
        </p:blipFill>
        <p:spPr>
          <a:xfrm>
            <a:off x="3054096" y="2852923"/>
            <a:ext cx="1152144" cy="1152144"/>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2179059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97" name="Google Shape;297;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98" name="Google Shape;298;p14"/>
          <p:cNvSpPr txBox="1"/>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13.4.4 Activity: Station 2 – Box Plots</a:t>
            </a:r>
            <a:endParaRPr dirty="0"/>
          </a:p>
        </p:txBody>
      </p:sp>
      <p:sp>
        <p:nvSpPr>
          <p:cNvPr id="299" name="Google Shape;299;p1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254</a:t>
            </a:r>
            <a:endParaRPr dirty="0"/>
          </a:p>
        </p:txBody>
      </p:sp>
      <p:pic>
        <p:nvPicPr>
          <p:cNvPr id="300" name="Google Shape;300;p14"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348271"/>
            <a:ext cx="749808" cy="749808"/>
          </a:xfrm>
          <a:prstGeom prst="rect">
            <a:avLst/>
          </a:prstGeom>
          <a:noFill/>
          <a:ln>
            <a:noFill/>
          </a:ln>
          <a:effectLst>
            <a:outerShdw blurRad="50800" dist="38100" dir="2700000" algn="tl" rotWithShape="0">
              <a:srgbClr val="000000">
                <a:alpha val="40000"/>
              </a:srgbClr>
            </a:outerShdw>
          </a:effectLst>
        </p:spPr>
      </p:pic>
      <p:sp>
        <p:nvSpPr>
          <p:cNvPr id="301" name="Google Shape;301;p14"/>
          <p:cNvSpPr txBox="1"/>
          <p:nvPr/>
        </p:nvSpPr>
        <p:spPr>
          <a:xfrm>
            <a:off x="914400" y="1386025"/>
            <a:ext cx="10515600" cy="4708941"/>
          </a:xfrm>
          <a:prstGeom prst="rect">
            <a:avLst/>
          </a:prstGeom>
          <a:noFill/>
          <a:ln>
            <a:noFill/>
          </a:ln>
        </p:spPr>
        <p:txBody>
          <a:bodyPr spcFirstLastPara="1" wrap="square" lIns="91425" tIns="45700" rIns="91425" bIns="45700" anchor="t" anchorCtr="0">
            <a:spAutoFit/>
          </a:bodyPr>
          <a:lstStyle/>
          <a:p>
            <a:pPr marL="457200" lvl="4" indent="-457200">
              <a:buSzPts val="2000"/>
              <a:buFont typeface="Arial"/>
              <a:buAutoNum type="arabicPeriod"/>
            </a:pPr>
            <a:r>
              <a:rPr lang="en-US" sz="2000" dirty="0">
                <a:latin typeface="Verdana"/>
                <a:ea typeface="Verdana"/>
                <a:cs typeface="Verdana"/>
                <a:sym typeface="Verdana"/>
              </a:rPr>
              <a:t>The mile times for a sample of track team members at East Bay High School and Leto High School are shown in the two box plots.</a:t>
            </a:r>
            <a:endParaRPr dirty="0"/>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lvl="4"/>
            <a:endParaRPr sz="2000" dirty="0">
              <a:latin typeface="Verdana"/>
              <a:ea typeface="Verdana"/>
              <a:cs typeface="Verdana"/>
              <a:sym typeface="Verdana"/>
            </a:endParaRPr>
          </a:p>
          <a:p>
            <a:pPr marL="922338" lvl="4" indent="-461963">
              <a:buSzPts val="2000"/>
              <a:buFont typeface="Arial"/>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Using the box plots above, calculate and describe each of the features for Leto High in the table.</a:t>
            </a:r>
            <a:endParaRPr dirty="0">
              <a:latin typeface="Verdana" panose="020B0604030504040204" pitchFamily="34" charset="0"/>
              <a:ea typeface="Verdana" panose="020B0604030504040204" pitchFamily="34" charset="0"/>
              <a:cs typeface="Verdana" panose="020B0604030504040204" pitchFamily="34" charset="0"/>
            </a:endParaRPr>
          </a:p>
        </p:txBody>
      </p:sp>
      <p:pic>
        <p:nvPicPr>
          <p:cNvPr id="302" name="Google Shape;302;p14"/>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132707" y="2168885"/>
            <a:ext cx="4764405" cy="2889250"/>
          </a:xfrm>
          <a:prstGeom prst="rect">
            <a:avLst/>
          </a:prstGeom>
          <a:noFill/>
          <a:ln>
            <a:noFill/>
          </a:ln>
        </p:spPr>
      </p:pic>
      <p:sp>
        <p:nvSpPr>
          <p:cNvPr id="303" name="Google Shape;303;p14"/>
          <p:cNvSpPr txBox="1"/>
          <p:nvPr/>
        </p:nvSpPr>
        <p:spPr>
          <a:xfrm>
            <a:off x="2499661" y="2331203"/>
            <a:ext cx="6991965" cy="3077766"/>
          </a:xfrm>
          <a:prstGeom prst="rect">
            <a:avLst/>
          </a:prstGeom>
          <a:noFill/>
          <a:ln>
            <a:noFill/>
          </a:ln>
        </p:spPr>
        <p:txBody>
          <a:bodyPr spcFirstLastPara="1" wrap="square" lIns="91425" tIns="45700" rIns="91425" bIns="45700" anchor="t" anchorCtr="0">
            <a:spAutoFit/>
          </a:bodyPr>
          <a:lstStyle/>
          <a:p>
            <a:endParaRPr b="1" dirty="0">
              <a:latin typeface="Verdana"/>
              <a:ea typeface="Verdana"/>
              <a:cs typeface="Verdana"/>
              <a:sym typeface="Verdana"/>
            </a:endParaRPr>
          </a:p>
          <a:p>
            <a:r>
              <a:rPr lang="en-US" sz="2000" b="1" dirty="0">
                <a:latin typeface="Verdana"/>
                <a:ea typeface="Verdana"/>
                <a:cs typeface="Verdana"/>
                <a:sym typeface="Verdana"/>
              </a:rPr>
              <a:t>East Bay High	</a:t>
            </a:r>
            <a:endParaRPr sz="2000" dirty="0">
              <a:latin typeface="Cambria"/>
              <a:ea typeface="Cambria"/>
              <a:cs typeface="Cambria"/>
              <a:sym typeface="Cambria"/>
            </a:endParaRPr>
          </a:p>
          <a:p>
            <a:r>
              <a:rPr lang="en-US" sz="2000" dirty="0">
                <a:latin typeface="Verdana"/>
                <a:ea typeface="Verdana"/>
                <a:cs typeface="Verdana"/>
                <a:sym typeface="Verdana"/>
              </a:rPr>
              <a:t> </a:t>
            </a:r>
            <a:endParaRPr sz="2000" dirty="0">
              <a:latin typeface="Cambria"/>
              <a:ea typeface="Cambria"/>
              <a:cs typeface="Cambria"/>
              <a:sym typeface="Cambria"/>
            </a:endParaRPr>
          </a:p>
          <a:p>
            <a:r>
              <a:rPr lang="en-US" sz="2000" dirty="0">
                <a:latin typeface="Verdana"/>
                <a:ea typeface="Verdana"/>
                <a:cs typeface="Verdana"/>
                <a:sym typeface="Verdana"/>
              </a:rPr>
              <a:t>		</a:t>
            </a:r>
            <a:endParaRPr sz="2000" dirty="0">
              <a:latin typeface="Cambria"/>
              <a:ea typeface="Cambria"/>
              <a:cs typeface="Cambria"/>
              <a:sym typeface="Cambria"/>
            </a:endParaRPr>
          </a:p>
          <a:p>
            <a:r>
              <a:rPr lang="en-US" sz="2000" dirty="0">
                <a:latin typeface="Verdana"/>
                <a:ea typeface="Verdana"/>
                <a:cs typeface="Verdana"/>
                <a:sym typeface="Verdana"/>
              </a:rPr>
              <a:t>		</a:t>
            </a:r>
            <a:endParaRPr sz="2000" dirty="0">
              <a:latin typeface="Cambria"/>
              <a:ea typeface="Cambria"/>
              <a:cs typeface="Cambria"/>
              <a:sym typeface="Cambria"/>
            </a:endParaRPr>
          </a:p>
          <a:p>
            <a:r>
              <a:rPr lang="en-US" sz="2000" b="1" dirty="0">
                <a:latin typeface="Verdana"/>
                <a:ea typeface="Verdana"/>
                <a:cs typeface="Verdana"/>
                <a:sym typeface="Verdana"/>
              </a:rPr>
              <a:t>   Leto High</a:t>
            </a:r>
            <a:endParaRPr sz="2000" dirty="0">
              <a:latin typeface="Cambria"/>
              <a:ea typeface="Cambria"/>
              <a:cs typeface="Cambria"/>
              <a:sym typeface="Cambria"/>
            </a:endParaRPr>
          </a:p>
          <a:p>
            <a:r>
              <a:rPr lang="en-US" sz="2000" i="1" dirty="0">
                <a:latin typeface="Verdana"/>
                <a:ea typeface="Verdana"/>
                <a:cs typeface="Verdana"/>
                <a:sym typeface="Verdana"/>
              </a:rPr>
              <a:t> </a:t>
            </a:r>
            <a:endParaRPr sz="2000" dirty="0">
              <a:latin typeface="Cambria"/>
              <a:ea typeface="Cambria"/>
              <a:cs typeface="Cambria"/>
              <a:sym typeface="Cambria"/>
            </a:endParaRPr>
          </a:p>
          <a:p>
            <a:r>
              <a:rPr lang="en-US" sz="2000" i="1" dirty="0">
                <a:latin typeface="Verdana"/>
                <a:ea typeface="Verdana"/>
                <a:cs typeface="Verdana"/>
                <a:sym typeface="Verdana"/>
              </a:rPr>
              <a:t> </a:t>
            </a:r>
            <a:endParaRPr sz="2000" dirty="0">
              <a:latin typeface="Cambria"/>
              <a:ea typeface="Cambria"/>
              <a:cs typeface="Cambria"/>
              <a:sym typeface="Cambria"/>
            </a:endParaRPr>
          </a:p>
          <a:p>
            <a:r>
              <a:rPr lang="en-US" sz="2000" i="1" dirty="0">
                <a:latin typeface="Verdana"/>
                <a:ea typeface="Verdana"/>
                <a:cs typeface="Verdana"/>
                <a:sym typeface="Verdana"/>
              </a:rPr>
              <a:t> </a:t>
            </a:r>
            <a:endParaRPr sz="2000" dirty="0">
              <a:latin typeface="Cambria"/>
              <a:ea typeface="Cambria"/>
              <a:cs typeface="Cambria"/>
              <a:sym typeface="Cambria"/>
            </a:endParaRPr>
          </a:p>
          <a:p>
            <a:r>
              <a:rPr lang="en-US" sz="2000" dirty="0">
                <a:latin typeface="Verdana"/>
                <a:ea typeface="Verdana"/>
                <a:cs typeface="Verdana"/>
                <a:sym typeface="Verdana"/>
              </a:rPr>
              <a:t>		         </a:t>
            </a:r>
            <a:r>
              <a:rPr lang="en-US" sz="2000" b="1" dirty="0">
                <a:latin typeface="Verdana"/>
                <a:ea typeface="Verdana"/>
                <a:cs typeface="Verdana"/>
                <a:sym typeface="Verdana"/>
              </a:rPr>
              <a:t>Mile Time (minutes)	</a:t>
            </a:r>
            <a:endParaRPr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10" name="Google Shape;310;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11" name="Google Shape;311;p1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254</a:t>
            </a:r>
            <a:endParaRPr/>
          </a:p>
        </p:txBody>
      </p:sp>
      <p:graphicFrame>
        <p:nvGraphicFramePr>
          <p:cNvPr id="312" name="Google Shape;312;p15"/>
          <p:cNvGraphicFramePr/>
          <p:nvPr/>
        </p:nvGraphicFramePr>
        <p:xfrm>
          <a:off x="2163225" y="751225"/>
          <a:ext cx="8176475" cy="4572000"/>
        </p:xfrm>
        <a:graphic>
          <a:graphicData uri="http://schemas.openxmlformats.org/drawingml/2006/table">
            <a:tbl>
              <a:tblPr firstRow="1" firstCol="1" bandRow="1">
                <a:noFill/>
                <a:tableStyleId>{6D659866-F274-4FFC-AE47-F5A041375570}</a:tableStyleId>
              </a:tblPr>
              <a:tblGrid>
                <a:gridCol w="1532275">
                  <a:extLst>
                    <a:ext uri="{9D8B030D-6E8A-4147-A177-3AD203B41FA5}">
                      <a16:colId xmlns:a16="http://schemas.microsoft.com/office/drawing/2014/main" val="20000"/>
                    </a:ext>
                  </a:extLst>
                </a:gridCol>
                <a:gridCol w="3600075">
                  <a:extLst>
                    <a:ext uri="{9D8B030D-6E8A-4147-A177-3AD203B41FA5}">
                      <a16:colId xmlns:a16="http://schemas.microsoft.com/office/drawing/2014/main" val="20001"/>
                    </a:ext>
                  </a:extLst>
                </a:gridCol>
                <a:gridCol w="3044125">
                  <a:extLst>
                    <a:ext uri="{9D8B030D-6E8A-4147-A177-3AD203B41FA5}">
                      <a16:colId xmlns:a16="http://schemas.microsoft.com/office/drawing/2014/main" val="20002"/>
                    </a:ext>
                  </a:extLst>
                </a:gridCol>
              </a:tblGrid>
              <a:tr h="3048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Feature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East Bay High School</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Leto High School</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609600">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Shape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The shape of the data is asymmetrical.</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219200">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Center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Font typeface="Arial"/>
                        <a:buNone/>
                      </a:pPr>
                      <a:r>
                        <a:rPr lang="en-US" sz="2000">
                          <a:solidFill>
                            <a:schemeClr val="dk1"/>
                          </a:solidFill>
                          <a:latin typeface="Verdana"/>
                          <a:ea typeface="Verdana"/>
                          <a:cs typeface="Verdana"/>
                          <a:sym typeface="Verdana"/>
                        </a:rPr>
                        <a:t>The median mile time for the sample of East Bay High team members is 5 minutes.</a:t>
                      </a:r>
                      <a:endParaRPr sz="1400" u="none" strike="noStrike" cap="none"/>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38400">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Variability</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US" sz="2000">
                          <a:solidFill>
                            <a:schemeClr val="dk1"/>
                          </a:solidFill>
                          <a:latin typeface="Verdana"/>
                          <a:ea typeface="Verdana"/>
                          <a:cs typeface="Verdana"/>
                          <a:sym typeface="Verdana"/>
                        </a:rPr>
                        <a:t>The range of the sample of East Bay High team members’ mile times is 1.5 minutes.</a:t>
                      </a:r>
                      <a:endParaRPr sz="2000">
                        <a:solidFill>
                          <a:schemeClr val="dk1"/>
                        </a:solidFill>
                        <a:latin typeface="Verdana"/>
                        <a:ea typeface="Verdana"/>
                        <a:cs typeface="Verdana"/>
                        <a:sym typeface="Verdana"/>
                      </a:endParaRPr>
                    </a:p>
                    <a:p>
                      <a:pPr marL="0" lvl="0" indent="0" algn="ctr" rtl="0">
                        <a:spcBef>
                          <a:spcPts val="0"/>
                        </a:spcBef>
                        <a:spcAft>
                          <a:spcPts val="0"/>
                        </a:spcAft>
                        <a:buClr>
                          <a:schemeClr val="dk1"/>
                        </a:buClr>
                        <a:buFont typeface="Arial"/>
                        <a:buNone/>
                      </a:pPr>
                      <a:r>
                        <a:rPr lang="en-US" sz="2000">
                          <a:solidFill>
                            <a:schemeClr val="dk1"/>
                          </a:solidFill>
                          <a:latin typeface="Verdana"/>
                          <a:ea typeface="Verdana"/>
                          <a:cs typeface="Verdana"/>
                          <a:sym typeface="Verdana"/>
                        </a:rPr>
                        <a:t>The IQR of the sample of East Bay High team members’ miles times is 0.75 minutes.</a:t>
                      </a:r>
                      <a:endParaRPr sz="2000">
                        <a:solidFill>
                          <a:schemeClr val="dk1"/>
                        </a:solidFill>
                        <a:latin typeface="Verdana"/>
                        <a:ea typeface="Verdana"/>
                        <a:cs typeface="Verdana"/>
                        <a:sym typeface="Verdana"/>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16"/>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19" name="Google Shape;319;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20" name="Google Shape;320;p1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255</a:t>
            </a:r>
            <a:endParaRPr dirty="0"/>
          </a:p>
        </p:txBody>
      </p:sp>
      <p:sp>
        <p:nvSpPr>
          <p:cNvPr id="321" name="Google Shape;321;p16"/>
          <p:cNvSpPr txBox="1"/>
          <p:nvPr/>
        </p:nvSpPr>
        <p:spPr>
          <a:xfrm>
            <a:off x="914400" y="520394"/>
            <a:ext cx="10515600" cy="5632311"/>
          </a:xfrm>
          <a:prstGeom prst="rect">
            <a:avLst/>
          </a:prstGeom>
          <a:blipFill rotWithShape="1">
            <a:blip r:embed="rId4">
              <a:alphaModFix/>
            </a:blip>
            <a:stretch>
              <a:fillRect t="-447" r="-1368"/>
            </a:stretch>
          </a:blipFill>
          <a:ln>
            <a:noFill/>
          </a:ln>
        </p:spPr>
        <p:txBody>
          <a:bodyPr spcFirstLastPara="1" wrap="square" lIns="91425" tIns="45700" rIns="91425" bIns="45700" anchor="t" anchorCtr="0">
            <a:noAutofit/>
          </a:bodyPr>
          <a:lstStyle/>
          <a:p>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28" name="Google Shape;328;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29" name="Google Shape;329;p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255</a:t>
            </a:r>
            <a:endParaRPr/>
          </a:p>
        </p:txBody>
      </p:sp>
      <p:sp>
        <p:nvSpPr>
          <p:cNvPr id="330" name="Google Shape;330;p17"/>
          <p:cNvSpPr txBox="1"/>
          <p:nvPr/>
        </p:nvSpPr>
        <p:spPr>
          <a:xfrm>
            <a:off x="914400" y="520393"/>
            <a:ext cx="10515600" cy="1938952"/>
          </a:xfrm>
          <a:prstGeom prst="rect">
            <a:avLst/>
          </a:prstGeom>
          <a:noFill/>
          <a:ln>
            <a:noFill/>
          </a:ln>
        </p:spPr>
        <p:txBody>
          <a:bodyPr spcFirstLastPara="1" wrap="square" lIns="91425" tIns="45700" rIns="91425" bIns="45700" anchor="t" anchorCtr="0">
            <a:spAutoFit/>
          </a:bodyPr>
          <a:lstStyle/>
          <a:p>
            <a:pPr marL="914400" lvl="2" indent="-457200">
              <a:buSzPct val="100000"/>
              <a:buFont typeface="Arial"/>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sym typeface="Verdana"/>
              </a:rPr>
              <a:t>Based on your conclusions and answers to Parts A through C, use some of the terms from the word bank below to write a 4-5 sentence summary comparing the population of runners at East Bay High School to the population of runners at Leto High School.</a:t>
            </a:r>
            <a:endParaRPr sz="2400" dirty="0">
              <a:latin typeface="Verdana" panose="020B0604030504040204" pitchFamily="34" charset="0"/>
              <a:ea typeface="Verdana" panose="020B0604030504040204" pitchFamily="34" charset="0"/>
              <a:cs typeface="Verdana" panose="020B0604030504040204" pitchFamily="34" charset="0"/>
            </a:endParaRPr>
          </a:p>
        </p:txBody>
      </p:sp>
      <p:grpSp>
        <p:nvGrpSpPr>
          <p:cNvPr id="331" name="Google Shape;331;p17"/>
          <p:cNvGrpSpPr/>
          <p:nvPr/>
        </p:nvGrpSpPr>
        <p:grpSpPr>
          <a:xfrm>
            <a:off x="1708987" y="2733081"/>
            <a:ext cx="8926426" cy="2147642"/>
            <a:chOff x="40154" y="-643986"/>
            <a:chExt cx="2378607" cy="2163670"/>
          </a:xfrm>
        </p:grpSpPr>
        <p:sp>
          <p:nvSpPr>
            <p:cNvPr id="332" name="Google Shape;332;p17"/>
            <p:cNvSpPr/>
            <p:nvPr/>
          </p:nvSpPr>
          <p:spPr>
            <a:xfrm>
              <a:off x="84159" y="-643986"/>
              <a:ext cx="2312372" cy="1915539"/>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33" name="Google Shape;333;p17"/>
            <p:cNvSpPr txBox="1"/>
            <p:nvPr/>
          </p:nvSpPr>
          <p:spPr>
            <a:xfrm>
              <a:off x="40154" y="-242220"/>
              <a:ext cx="2378607" cy="1761904"/>
            </a:xfrm>
            <a:prstGeom prst="rect">
              <a:avLst/>
            </a:prstGeom>
            <a:noFill/>
            <a:ln>
              <a:noFill/>
            </a:ln>
          </p:spPr>
          <p:txBody>
            <a:bodyPr spcFirstLastPara="1" wrap="square" lIns="91425" tIns="45700" rIns="91425" bIns="45700" anchor="t" anchorCtr="0">
              <a:noAutofit/>
            </a:bodyPr>
            <a:lstStyle/>
            <a:p>
              <a:pPr marL="457200"/>
              <a:r>
                <a:rPr lang="en-US" sz="1800" dirty="0">
                  <a:latin typeface="Verdana"/>
                  <a:ea typeface="Verdana"/>
                  <a:cs typeface="Verdana"/>
                  <a:sym typeface="Verdana"/>
                </a:rPr>
                <a:t>mean		median			range	 		IQR</a:t>
              </a:r>
              <a:endParaRPr sz="1200" dirty="0">
                <a:latin typeface="Cambria"/>
                <a:ea typeface="Cambria"/>
                <a:cs typeface="Cambria"/>
                <a:sym typeface="Cambria"/>
              </a:endParaRPr>
            </a:p>
            <a:p>
              <a:pPr marL="457200">
                <a:spcBef>
                  <a:spcPts val="1000"/>
                </a:spcBef>
              </a:pPr>
              <a:r>
                <a:rPr lang="en-US" sz="1800" dirty="0">
                  <a:latin typeface="Verdana"/>
                  <a:ea typeface="Verdana"/>
                  <a:cs typeface="Verdana"/>
                  <a:sym typeface="Verdana"/>
                </a:rPr>
                <a:t>	center		variability		upper quartile		</a:t>
              </a:r>
              <a:endParaRPr sz="1200" dirty="0">
                <a:latin typeface="Cambria"/>
                <a:ea typeface="Cambria"/>
                <a:cs typeface="Cambria"/>
                <a:sym typeface="Cambria"/>
              </a:endParaRPr>
            </a:p>
            <a:p>
              <a:pPr marL="457200">
                <a:spcBef>
                  <a:spcPts val="1000"/>
                </a:spcBef>
              </a:pPr>
              <a:r>
                <a:rPr lang="en-US" sz="1800" dirty="0">
                  <a:latin typeface="Verdana"/>
                  <a:ea typeface="Verdana"/>
                  <a:cs typeface="Verdana"/>
                  <a:sym typeface="Verdana"/>
                </a:rPr>
                <a:t>lower quartile		sample		population</a:t>
              </a:r>
              <a:endParaRPr sz="1200" dirty="0">
                <a:latin typeface="Cambria"/>
                <a:ea typeface="Cambria"/>
                <a:cs typeface="Cambria"/>
                <a:sym typeface="Cambria"/>
              </a:endParaRPr>
            </a:p>
            <a:p>
              <a:pPr marL="457200">
                <a:spcBef>
                  <a:spcPts val="1000"/>
                </a:spcBef>
              </a:pPr>
              <a:r>
                <a:rPr lang="en-US" sz="1800" dirty="0">
                  <a:latin typeface="Verdana"/>
                  <a:ea typeface="Verdana"/>
                  <a:cs typeface="Verdana"/>
                  <a:sym typeface="Verdana"/>
                </a:rPr>
                <a:t>			 					</a:t>
              </a:r>
              <a:endParaRPr sz="1200" dirty="0">
                <a:latin typeface="Cambria"/>
                <a:ea typeface="Cambria"/>
                <a:cs typeface="Cambria"/>
                <a:sym typeface="Cambria"/>
              </a:endParaRPr>
            </a:p>
            <a:p>
              <a:pPr marL="457200">
                <a:spcBef>
                  <a:spcPts val="1000"/>
                </a:spcBef>
              </a:pPr>
              <a:r>
                <a:rPr lang="en-US" sz="1800" dirty="0">
                  <a:latin typeface="Verdana"/>
                  <a:ea typeface="Verdana"/>
                  <a:cs typeface="Verdana"/>
                  <a:sym typeface="Verdana"/>
                </a:rPr>
                <a:t> </a:t>
              </a:r>
              <a:endParaRPr sz="1200" dirty="0">
                <a:latin typeface="Cambria"/>
                <a:ea typeface="Cambria"/>
                <a:cs typeface="Cambria"/>
                <a:sym typeface="Cambria"/>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8"/>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12" name="Google Shape;212;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13" name="Google Shape;213;p8"/>
          <p:cNvSpPr txBox="1">
            <a:spLocks noGrp="1"/>
          </p:cNvSpPr>
          <p:nvPr>
            <p:ph type="title" idx="4294967295"/>
          </p:nvPr>
        </p:nvSpPr>
        <p:spPr>
          <a:xfrm>
            <a:off x="4087368"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214" name="Google Shape;214;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253</a:t>
            </a:r>
            <a:endParaRPr dirty="0"/>
          </a:p>
        </p:txBody>
      </p:sp>
      <p:pic>
        <p:nvPicPr>
          <p:cNvPr id="215" name="Google Shape;215;p8" descr="Icon&#10;&#10;Description automatically generated"/>
          <p:cNvPicPr preferRelativeResize="0"/>
          <p:nvPr/>
        </p:nvPicPr>
        <p:blipFill rotWithShape="1">
          <a:blip r:embed="rId4">
            <a:alphaModFix/>
          </a:blip>
          <a:srcRect/>
          <a:stretch/>
        </p:blipFill>
        <p:spPr>
          <a:xfrm>
            <a:off x="3054096" y="2852923"/>
            <a:ext cx="1152144" cy="1152144"/>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2602558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graphicFrame>
        <p:nvGraphicFramePr>
          <p:cNvPr id="339" name="Google Shape;339;p18"/>
          <p:cNvGraphicFramePr/>
          <p:nvPr/>
        </p:nvGraphicFramePr>
        <p:xfrm>
          <a:off x="3263434" y="2709070"/>
          <a:ext cx="6532175" cy="3352800"/>
        </p:xfrm>
        <a:graphic>
          <a:graphicData uri="http://schemas.openxmlformats.org/drawingml/2006/table">
            <a:tbl>
              <a:tblPr firstRow="1" firstCol="1" bandRow="1">
                <a:noFill/>
                <a:tableStyleId>{6D659866-F274-4FFC-AE47-F5A041375570}</a:tableStyleId>
              </a:tblPr>
              <a:tblGrid>
                <a:gridCol w="1250075">
                  <a:extLst>
                    <a:ext uri="{9D8B030D-6E8A-4147-A177-3AD203B41FA5}">
                      <a16:colId xmlns:a16="http://schemas.microsoft.com/office/drawing/2014/main" val="20000"/>
                    </a:ext>
                  </a:extLst>
                </a:gridCol>
                <a:gridCol w="1320525">
                  <a:extLst>
                    <a:ext uri="{9D8B030D-6E8A-4147-A177-3AD203B41FA5}">
                      <a16:colId xmlns:a16="http://schemas.microsoft.com/office/drawing/2014/main" val="20001"/>
                    </a:ext>
                  </a:extLst>
                </a:gridCol>
                <a:gridCol w="1320525">
                  <a:extLst>
                    <a:ext uri="{9D8B030D-6E8A-4147-A177-3AD203B41FA5}">
                      <a16:colId xmlns:a16="http://schemas.microsoft.com/office/drawing/2014/main" val="20002"/>
                    </a:ext>
                  </a:extLst>
                </a:gridCol>
                <a:gridCol w="1320525">
                  <a:extLst>
                    <a:ext uri="{9D8B030D-6E8A-4147-A177-3AD203B41FA5}">
                      <a16:colId xmlns:a16="http://schemas.microsoft.com/office/drawing/2014/main" val="20003"/>
                    </a:ext>
                  </a:extLst>
                </a:gridCol>
                <a:gridCol w="1320525">
                  <a:extLst>
                    <a:ext uri="{9D8B030D-6E8A-4147-A177-3AD203B41FA5}">
                      <a16:colId xmlns:a16="http://schemas.microsoft.com/office/drawing/2014/main" val="20004"/>
                    </a:ext>
                  </a:extLst>
                </a:gridCol>
              </a:tblGrid>
              <a:tr h="3048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Stem</a:t>
                      </a:r>
                      <a:endParaRPr/>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Leaf</a:t>
                      </a:r>
                      <a:endParaRPr/>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270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Stem</a:t>
                      </a:r>
                      <a:endParaRPr/>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Leaf</a:t>
                      </a:r>
                      <a:endParaRPr/>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04800">
                <a:tc>
                  <a:txBody>
                    <a:bodyPr/>
                    <a:lstStyle/>
                    <a:p>
                      <a:pPr marL="0" marR="0" lvl="0" indent="0" algn="ctr" rtl="0">
                        <a:lnSpc>
                          <a:spcPct val="100000"/>
                        </a:lnSpc>
                        <a:spcBef>
                          <a:spcPts val="0"/>
                        </a:spcBef>
                        <a:spcAft>
                          <a:spcPts val="0"/>
                        </a:spcAft>
                        <a:buNone/>
                      </a:pPr>
                      <a:r>
                        <a:rPr lang="en-US" sz="2000"/>
                        <a:t>2</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1, 2, 8</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solidFill>
                        <a:schemeClr val="dk1">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4</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5, 8</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304800">
                <a:tc>
                  <a:txBody>
                    <a:bodyPr/>
                    <a:lstStyle/>
                    <a:p>
                      <a:pPr marL="0" marR="0" lvl="0" indent="0" algn="ctr" rtl="0">
                        <a:lnSpc>
                          <a:spcPct val="100000"/>
                        </a:lnSpc>
                        <a:spcBef>
                          <a:spcPts val="0"/>
                        </a:spcBef>
                        <a:spcAft>
                          <a:spcPts val="0"/>
                        </a:spcAft>
                        <a:buNone/>
                      </a:pPr>
                      <a:r>
                        <a:rPr lang="en-US" sz="2000" dirty="0"/>
                        <a:t>3</a:t>
                      </a:r>
                      <a:endParaRPr sz="2000" u="none" strike="noStrike" cap="none" dirty="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3,6</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5</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6, 9</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304800">
                <a:tc>
                  <a:txBody>
                    <a:bodyPr/>
                    <a:lstStyle/>
                    <a:p>
                      <a:pPr marL="0" marR="0" lvl="0" indent="0" algn="ctr" rtl="0">
                        <a:lnSpc>
                          <a:spcPct val="100000"/>
                        </a:lnSpc>
                        <a:spcBef>
                          <a:spcPts val="0"/>
                        </a:spcBef>
                        <a:spcAft>
                          <a:spcPts val="0"/>
                        </a:spcAft>
                        <a:buNone/>
                      </a:pPr>
                      <a:r>
                        <a:rPr lang="en-US" sz="2000"/>
                        <a:t>4</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5, 8, 8</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6</a:t>
                      </a: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1, 1, 3, 5</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r h="304800">
                <a:tc>
                  <a:txBody>
                    <a:bodyPr/>
                    <a:lstStyle/>
                    <a:p>
                      <a:pPr marL="0" marR="0" lvl="0" indent="0" algn="ctr" rtl="0">
                        <a:lnSpc>
                          <a:spcPct val="100000"/>
                        </a:lnSpc>
                        <a:spcBef>
                          <a:spcPts val="0"/>
                        </a:spcBef>
                        <a:spcAft>
                          <a:spcPts val="0"/>
                        </a:spcAft>
                        <a:buNone/>
                      </a:pPr>
                      <a:r>
                        <a:rPr lang="en-US" sz="2000"/>
                        <a:t>5</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1, 6</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7</a:t>
                      </a: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5, 5, 6</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r h="304800">
                <a:tc>
                  <a:txBody>
                    <a:bodyPr/>
                    <a:lstStyle/>
                    <a:p>
                      <a:pPr marL="0" marR="0" lvl="0" indent="0" algn="ctr" rtl="0">
                        <a:lnSpc>
                          <a:spcPct val="100000"/>
                        </a:lnSpc>
                        <a:spcBef>
                          <a:spcPts val="0"/>
                        </a:spcBef>
                        <a:spcAft>
                          <a:spcPts val="0"/>
                        </a:spcAft>
                        <a:buNone/>
                      </a:pPr>
                      <a:r>
                        <a:rPr lang="en-US" sz="2000"/>
                        <a:t>6</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8</a:t>
                      </a: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0, 6</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r h="304800">
                <a:tc>
                  <a:txBody>
                    <a:bodyPr/>
                    <a:lstStyle/>
                    <a:p>
                      <a:pPr marL="0" marR="0" lvl="0" indent="0" algn="ctr" rtl="0">
                        <a:lnSpc>
                          <a:spcPct val="100000"/>
                        </a:lnSpc>
                        <a:spcBef>
                          <a:spcPts val="0"/>
                        </a:spcBef>
                        <a:spcAft>
                          <a:spcPts val="0"/>
                        </a:spcAft>
                        <a:buNone/>
                      </a:pPr>
                      <a:r>
                        <a:rPr lang="en-US" sz="2000"/>
                        <a:t>7</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2, 2</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9</a:t>
                      </a: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1, 8</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6"/>
                  </a:ext>
                </a:extLst>
              </a:tr>
              <a:tr h="304800">
                <a:tc>
                  <a:txBody>
                    <a:bodyPr/>
                    <a:lstStyle/>
                    <a:p>
                      <a:pPr marL="0" marR="0" lvl="0" indent="0" algn="ctr" rtl="0">
                        <a:lnSpc>
                          <a:spcPct val="100000"/>
                        </a:lnSpc>
                        <a:spcBef>
                          <a:spcPts val="0"/>
                        </a:spcBef>
                        <a:spcAft>
                          <a:spcPts val="0"/>
                        </a:spcAft>
                        <a:buNone/>
                      </a:pPr>
                      <a:r>
                        <a:rPr lang="en-US" sz="2000"/>
                        <a:t>8</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1, 6</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10</a:t>
                      </a: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0</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7"/>
                  </a:ext>
                </a:extLst>
              </a:tr>
              <a:tr h="304800">
                <a:tc>
                  <a:txBody>
                    <a:bodyPr/>
                    <a:lstStyle/>
                    <a:p>
                      <a:pPr marL="0" marR="0" lvl="0" indent="0" algn="ctr" rtl="0">
                        <a:lnSpc>
                          <a:spcPct val="100000"/>
                        </a:lnSpc>
                        <a:spcBef>
                          <a:spcPts val="0"/>
                        </a:spcBef>
                        <a:spcAft>
                          <a:spcPts val="0"/>
                        </a:spcAft>
                        <a:buNone/>
                      </a:pPr>
                      <a:r>
                        <a:rPr lang="en-US" sz="2000"/>
                        <a:t>9</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1</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8"/>
                  </a:ext>
                </a:extLst>
              </a:tr>
              <a:tr h="304800">
                <a:tc gridSpan="2">
                  <a:txBody>
                    <a:bodyPr/>
                    <a:lstStyle/>
                    <a:p>
                      <a:pPr marL="0" marR="0" lvl="0" indent="0" algn="ctr" rtl="0">
                        <a:lnSpc>
                          <a:spcPct val="100000"/>
                        </a:lnSpc>
                        <a:spcBef>
                          <a:spcPts val="0"/>
                        </a:spcBef>
                        <a:spcAft>
                          <a:spcPts val="0"/>
                        </a:spcAft>
                        <a:buNone/>
                      </a:pPr>
                      <a:r>
                        <a:rPr lang="en-US" sz="2000" u="none" strike="noStrike" cap="none"/>
                        <a:t>Key: 2|1 = $210.00</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2">
                  <a:txBody>
                    <a:bodyPr/>
                    <a:lstStyle/>
                    <a:p>
                      <a:pPr marL="0" marR="0" lvl="0" indent="0" algn="ctr" rtl="0">
                        <a:lnSpc>
                          <a:spcPct val="100000"/>
                        </a:lnSpc>
                        <a:spcBef>
                          <a:spcPts val="0"/>
                        </a:spcBef>
                        <a:spcAft>
                          <a:spcPts val="0"/>
                        </a:spcAft>
                        <a:buNone/>
                      </a:pPr>
                      <a:r>
                        <a:rPr lang="en-US" sz="2000" u="none" strike="noStrike" cap="none"/>
                        <a:t>Key: 2|1 = $210.00</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9"/>
                  </a:ext>
                </a:extLst>
              </a:tr>
              <a:tr h="304800">
                <a:tc gridSpan="2">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2">
                  <a:txBody>
                    <a:bodyPr/>
                    <a:lstStyle/>
                    <a:p>
                      <a:pPr marL="0" marR="0" lvl="0" indent="0" algn="ctr" rtl="0">
                        <a:lnSpc>
                          <a:spcPct val="100000"/>
                        </a:lnSpc>
                        <a:spcBef>
                          <a:spcPts val="0"/>
                        </a:spcBef>
                        <a:spcAft>
                          <a:spcPts val="0"/>
                        </a:spcAft>
                        <a:buNone/>
                      </a:pPr>
                      <a:r>
                        <a:rPr lang="en-US" sz="2000" u="none" strike="noStrike" cap="none" dirty="0"/>
                        <a:t> </a:t>
                      </a:r>
                      <a:endParaRPr sz="2000" u="none" strike="noStrike" cap="none" dirty="0">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10"/>
                  </a:ext>
                </a:extLst>
              </a:tr>
            </a:tbl>
          </a:graphicData>
        </a:graphic>
      </p:graphicFrame>
      <p:sp>
        <p:nvSpPr>
          <p:cNvPr id="340" name="Google Shape;340;p1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41" name="Google Shape;341;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42" name="Google Shape;342;p18"/>
          <p:cNvSpPr txBox="1"/>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13.4.5 Activity: Station 3 – Stem-and-Leaf Plots and Box Plots</a:t>
            </a:r>
            <a:endParaRPr dirty="0"/>
          </a:p>
        </p:txBody>
      </p:sp>
      <p:sp>
        <p:nvSpPr>
          <p:cNvPr id="343" name="Google Shape;343;p1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255</a:t>
            </a:r>
            <a:endParaRPr dirty="0"/>
          </a:p>
        </p:txBody>
      </p:sp>
      <p:pic>
        <p:nvPicPr>
          <p:cNvPr id="344" name="Google Shape;344;p18"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348271"/>
            <a:ext cx="749808" cy="749808"/>
          </a:xfrm>
          <a:prstGeom prst="rect">
            <a:avLst/>
          </a:prstGeom>
          <a:noFill/>
          <a:ln>
            <a:noFill/>
          </a:ln>
          <a:effectLst>
            <a:outerShdw blurRad="50800" dist="38100" dir="2700000" algn="tl" rotWithShape="0">
              <a:srgbClr val="000000">
                <a:alpha val="40000"/>
              </a:srgbClr>
            </a:outerShdw>
          </a:effectLst>
        </p:spPr>
      </p:pic>
      <p:sp>
        <p:nvSpPr>
          <p:cNvPr id="345" name="Google Shape;345;p18"/>
          <p:cNvSpPr txBox="1"/>
          <p:nvPr/>
        </p:nvSpPr>
        <p:spPr>
          <a:xfrm>
            <a:off x="914400" y="1386025"/>
            <a:ext cx="10515600" cy="707886"/>
          </a:xfrm>
          <a:prstGeom prst="rect">
            <a:avLst/>
          </a:prstGeom>
          <a:noFill/>
          <a:ln>
            <a:noFill/>
          </a:ln>
        </p:spPr>
        <p:txBody>
          <a:bodyPr spcFirstLastPara="1" wrap="square" lIns="91425" tIns="45700" rIns="91425" bIns="45700" anchor="t" anchorCtr="0">
            <a:spAutoFit/>
          </a:bodyPr>
          <a:lstStyle/>
          <a:p>
            <a:pPr marL="457200" lvl="4" indent="-457200">
              <a:buSzPts val="2000"/>
              <a:buFont typeface="Arial"/>
              <a:buAutoNum type="arabicPeriod"/>
            </a:pPr>
            <a:r>
              <a:rPr lang="en-US" sz="2000" dirty="0">
                <a:latin typeface="Verdana"/>
                <a:ea typeface="Verdana"/>
                <a:cs typeface="Verdana"/>
                <a:sym typeface="Verdana"/>
              </a:rPr>
              <a:t>A sample of two stores’ guitar prices are shown in the stem-and-leaf plots.</a:t>
            </a:r>
            <a:endParaRPr dirty="0"/>
          </a:p>
        </p:txBody>
      </p:sp>
      <p:sp>
        <p:nvSpPr>
          <p:cNvPr id="346" name="Google Shape;346;p18"/>
          <p:cNvSpPr txBox="1"/>
          <p:nvPr/>
        </p:nvSpPr>
        <p:spPr>
          <a:xfrm>
            <a:off x="2782098" y="2181802"/>
            <a:ext cx="7605486" cy="400110"/>
          </a:xfrm>
          <a:prstGeom prst="rect">
            <a:avLst/>
          </a:prstGeom>
          <a:noFill/>
          <a:ln>
            <a:noFill/>
          </a:ln>
        </p:spPr>
        <p:txBody>
          <a:bodyPr spcFirstLastPara="1" wrap="square" lIns="91425" tIns="45700" rIns="91425" bIns="45700" anchor="t" anchorCtr="0">
            <a:spAutoFit/>
          </a:bodyPr>
          <a:lstStyle/>
          <a:p>
            <a:pPr algn="ctr"/>
            <a:r>
              <a:rPr lang="en-US" sz="2000" b="1">
                <a:latin typeface="Verdana"/>
                <a:ea typeface="Verdana"/>
                <a:cs typeface="Verdana"/>
                <a:sym typeface="Verdana"/>
              </a:rPr>
              <a:t>Store A’s Guitar Prices         Store B’s Guitar Prices</a:t>
            </a:r>
            <a:endParaRPr sz="2000">
              <a:latin typeface="Cambria"/>
              <a:ea typeface="Cambria"/>
              <a:cs typeface="Cambria"/>
              <a:sym typeface="Cambri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9"/>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53" name="Google Shape;353;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54" name="Google Shape;354;p1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255</a:t>
            </a:r>
            <a:endParaRPr/>
          </a:p>
        </p:txBody>
      </p:sp>
      <p:sp>
        <p:nvSpPr>
          <p:cNvPr id="355" name="Google Shape;355;p19"/>
          <p:cNvSpPr txBox="1"/>
          <p:nvPr/>
        </p:nvSpPr>
        <p:spPr>
          <a:xfrm>
            <a:off x="914400" y="267006"/>
            <a:ext cx="10515600" cy="4401205"/>
          </a:xfrm>
          <a:prstGeom prst="rect">
            <a:avLst/>
          </a:prstGeom>
          <a:blipFill rotWithShape="1">
            <a:blip r:embed="rId4">
              <a:alphaModFix/>
            </a:blip>
            <a:stretch>
              <a:fillRect l="-608" t="-574" r="-1369"/>
            </a:stretch>
          </a:blipFill>
          <a:ln>
            <a:noFill/>
          </a:ln>
        </p:spPr>
        <p:txBody>
          <a:bodyPr spcFirstLastPara="1" wrap="square" lIns="91425" tIns="45700" rIns="91425" bIns="45700" anchor="t" anchorCtr="0">
            <a:noAutofit/>
          </a:bodyPr>
          <a:lstStyle/>
          <a:p>
            <a:r>
              <a:rPr lang="en-US"/>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0"/>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62" name="Google Shape;362;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63" name="Google Shape;363;p2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256</a:t>
            </a:r>
            <a:endParaRPr dirty="0"/>
          </a:p>
        </p:txBody>
      </p:sp>
      <p:sp>
        <p:nvSpPr>
          <p:cNvPr id="364" name="Google Shape;364;p20"/>
          <p:cNvSpPr txBox="1"/>
          <p:nvPr/>
        </p:nvSpPr>
        <p:spPr>
          <a:xfrm>
            <a:off x="914400" y="520393"/>
            <a:ext cx="10515600" cy="1631216"/>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startAt="2"/>
            </a:pPr>
            <a:r>
              <a:rPr lang="en-US" sz="2000" dirty="0">
                <a:latin typeface="Verdana"/>
                <a:ea typeface="Verdana"/>
                <a:cs typeface="Verdana"/>
                <a:sym typeface="Verdana"/>
              </a:rPr>
              <a:t>Suppose a sample of test scores is taken from Mr. Spellman’s morning math classes. The data is displayed in the top box plot. Another sample of test scores is taken from Mr. Spellman’s afternoon math classes. The data is displayed in the bottom box plot.</a:t>
            </a:r>
            <a:endParaRPr dirty="0"/>
          </a:p>
        </p:txBody>
      </p:sp>
      <p:pic>
        <p:nvPicPr>
          <p:cNvPr id="365" name="Google Shape;365;p20"/>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343056" y="2151610"/>
            <a:ext cx="5709920" cy="3428365"/>
          </a:xfrm>
          <a:prstGeom prst="rect">
            <a:avLst/>
          </a:prstGeom>
          <a:noFill/>
          <a:ln>
            <a:noFill/>
          </a:ln>
        </p:spPr>
      </p:pic>
      <p:sp>
        <p:nvSpPr>
          <p:cNvPr id="366" name="Google Shape;366;p20"/>
          <p:cNvSpPr txBox="1"/>
          <p:nvPr/>
        </p:nvSpPr>
        <p:spPr>
          <a:xfrm>
            <a:off x="2007765" y="2422558"/>
            <a:ext cx="2416175" cy="736600"/>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Morning Test Scores</a:t>
            </a:r>
            <a:endParaRPr sz="2000">
              <a:latin typeface="Cambria"/>
              <a:ea typeface="Cambria"/>
              <a:cs typeface="Cambria"/>
              <a:sym typeface="Cambria"/>
            </a:endParaRPr>
          </a:p>
        </p:txBody>
      </p:sp>
      <p:sp>
        <p:nvSpPr>
          <p:cNvPr id="367" name="Google Shape;367;p20"/>
          <p:cNvSpPr txBox="1"/>
          <p:nvPr/>
        </p:nvSpPr>
        <p:spPr>
          <a:xfrm>
            <a:off x="2007765" y="3807804"/>
            <a:ext cx="2416175" cy="736600"/>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Afternoon Test Scores</a:t>
            </a:r>
            <a:endParaRPr sz="2000">
              <a:latin typeface="Cambria"/>
              <a:ea typeface="Cambria"/>
              <a:cs typeface="Cambria"/>
              <a:sym typeface="Cambri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74" name="Google Shape;374;p2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75" name="Google Shape;375;p2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256</a:t>
            </a:r>
            <a:endParaRPr dirty="0"/>
          </a:p>
        </p:txBody>
      </p:sp>
      <p:sp>
        <p:nvSpPr>
          <p:cNvPr id="376" name="Google Shape;376;p21"/>
          <p:cNvSpPr txBox="1"/>
          <p:nvPr/>
        </p:nvSpPr>
        <p:spPr>
          <a:xfrm>
            <a:off x="914400" y="520394"/>
            <a:ext cx="10515600" cy="1569620"/>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Explain the difference between taking Mr. Spellman’s math test in the morning compared to the afternoon. Use some of the terms from the word bank and be sure to include both a measure of center and variability in your explanation.</a:t>
            </a:r>
            <a:endParaRPr sz="2400" dirty="0"/>
          </a:p>
        </p:txBody>
      </p:sp>
      <p:grpSp>
        <p:nvGrpSpPr>
          <p:cNvPr id="377" name="Google Shape;377;p21"/>
          <p:cNvGrpSpPr/>
          <p:nvPr/>
        </p:nvGrpSpPr>
        <p:grpSpPr>
          <a:xfrm>
            <a:off x="1590680" y="2498647"/>
            <a:ext cx="9010639" cy="1775197"/>
            <a:chOff x="-53144" y="-381176"/>
            <a:chExt cx="2378607" cy="1788444"/>
          </a:xfrm>
        </p:grpSpPr>
        <p:sp>
          <p:nvSpPr>
            <p:cNvPr id="378" name="Google Shape;378;p21"/>
            <p:cNvSpPr/>
            <p:nvPr/>
          </p:nvSpPr>
          <p:spPr>
            <a:xfrm>
              <a:off x="5776" y="-381176"/>
              <a:ext cx="2314715" cy="1788444"/>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79" name="Google Shape;379;p21"/>
            <p:cNvSpPr txBox="1"/>
            <p:nvPr/>
          </p:nvSpPr>
          <p:spPr>
            <a:xfrm>
              <a:off x="-53144" y="-190333"/>
              <a:ext cx="2378607" cy="1219200"/>
            </a:xfrm>
            <a:prstGeom prst="rect">
              <a:avLst/>
            </a:prstGeom>
            <a:noFill/>
            <a:ln>
              <a:noFill/>
            </a:ln>
          </p:spPr>
          <p:txBody>
            <a:bodyPr spcFirstLastPara="1" wrap="square" lIns="91425" tIns="45700" rIns="91425" bIns="45700" anchor="t" anchorCtr="0">
              <a:noAutofit/>
            </a:bodyPr>
            <a:lstStyle/>
            <a:p>
              <a:pPr marL="457200"/>
              <a:r>
                <a:rPr lang="en-US" sz="1800" dirty="0">
                  <a:latin typeface="Verdana"/>
                  <a:ea typeface="Verdana"/>
                  <a:cs typeface="Verdana"/>
                  <a:sym typeface="Verdana"/>
                </a:rPr>
                <a:t>mean		median			range	 		IQR</a:t>
              </a:r>
              <a:endParaRPr sz="1200" dirty="0">
                <a:latin typeface="Cambria"/>
                <a:ea typeface="Cambria"/>
                <a:cs typeface="Cambria"/>
                <a:sym typeface="Cambria"/>
              </a:endParaRPr>
            </a:p>
            <a:p>
              <a:pPr marL="457200">
                <a:spcBef>
                  <a:spcPts val="1000"/>
                </a:spcBef>
              </a:pPr>
              <a:r>
                <a:rPr lang="en-US" sz="1800" dirty="0">
                  <a:latin typeface="Verdana"/>
                  <a:ea typeface="Verdana"/>
                  <a:cs typeface="Verdana"/>
                  <a:sym typeface="Verdana"/>
                </a:rPr>
                <a:t>	center		variability		upper quartile		</a:t>
              </a:r>
              <a:endParaRPr sz="1200" dirty="0">
                <a:latin typeface="Cambria"/>
                <a:ea typeface="Cambria"/>
                <a:cs typeface="Cambria"/>
                <a:sym typeface="Cambria"/>
              </a:endParaRPr>
            </a:p>
            <a:p>
              <a:pPr marL="457200">
                <a:spcBef>
                  <a:spcPts val="1000"/>
                </a:spcBef>
              </a:pPr>
              <a:r>
                <a:rPr lang="en-US" sz="1800" dirty="0">
                  <a:latin typeface="Verdana"/>
                  <a:ea typeface="Verdana"/>
                  <a:cs typeface="Verdana"/>
                  <a:sym typeface="Verdana"/>
                </a:rPr>
                <a:t>lower quartile		sample		population</a:t>
              </a:r>
              <a:endParaRPr sz="1200" dirty="0">
                <a:latin typeface="Cambria"/>
                <a:ea typeface="Cambria"/>
                <a:cs typeface="Cambria"/>
                <a:sym typeface="Cambria"/>
              </a:endParaRPr>
            </a:p>
            <a:p>
              <a:pPr marL="457200">
                <a:spcBef>
                  <a:spcPts val="1000"/>
                </a:spcBef>
              </a:pPr>
              <a:r>
                <a:rPr lang="en-US" sz="1800" dirty="0">
                  <a:latin typeface="Verdana"/>
                  <a:ea typeface="Verdana"/>
                  <a:cs typeface="Verdana"/>
                  <a:sym typeface="Verdana"/>
                </a:rPr>
                <a:t>			 					</a:t>
              </a:r>
              <a:endParaRPr sz="1200" dirty="0">
                <a:latin typeface="Cambria"/>
                <a:ea typeface="Cambria"/>
                <a:cs typeface="Cambria"/>
                <a:sym typeface="Cambria"/>
              </a:endParaRPr>
            </a:p>
            <a:p>
              <a:pPr marL="457200">
                <a:spcBef>
                  <a:spcPts val="1000"/>
                </a:spcBef>
              </a:pPr>
              <a:r>
                <a:rPr lang="en-US" sz="1800" dirty="0">
                  <a:latin typeface="Verdana"/>
                  <a:ea typeface="Verdana"/>
                  <a:cs typeface="Verdana"/>
                  <a:sym typeface="Verdana"/>
                </a:rPr>
                <a:t> </a:t>
              </a:r>
              <a:endParaRPr sz="1200" dirty="0">
                <a:latin typeface="Cambria"/>
                <a:ea typeface="Cambria"/>
                <a:cs typeface="Cambria"/>
                <a:sym typeface="Cambria"/>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2"/>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86" name="Google Shape;386;p2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256</a:t>
            </a:r>
            <a:endParaRPr/>
          </a:p>
        </p:txBody>
      </p:sp>
      <p:pic>
        <p:nvPicPr>
          <p:cNvPr id="387" name="Google Shape;387;p2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88" name="Google Shape;388;p22"/>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389" name="Google Shape;389;p22"/>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3"/>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96" name="Google Shape;396;p2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256</a:t>
            </a:r>
            <a:endParaRPr/>
          </a:p>
        </p:txBody>
      </p:sp>
      <p:pic>
        <p:nvPicPr>
          <p:cNvPr id="397" name="Google Shape;397;p2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98" name="Google Shape;398;p23"/>
          <p:cNvSpPr txBox="1"/>
          <p:nvPr/>
        </p:nvSpPr>
        <p:spPr>
          <a:xfrm>
            <a:off x="1143000" y="-82571"/>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13.4</a:t>
            </a:r>
            <a:r>
              <a:rPr lang="en-US" sz="3600" b="1" i="1" dirty="0">
                <a:solidFill>
                  <a:srgbClr val="3F2A67"/>
                </a:solidFill>
                <a:latin typeface="Verdana"/>
                <a:ea typeface="Verdana"/>
                <a:cs typeface="Verdana"/>
                <a:sym typeface="Verdana"/>
              </a:rPr>
              <a:t>.6</a:t>
            </a:r>
            <a:r>
              <a:rPr lang="en-US" sz="3600" b="1" dirty="0">
                <a:solidFill>
                  <a:srgbClr val="3F2A67"/>
                </a:solidFill>
                <a:latin typeface="Verdana"/>
                <a:ea typeface="Verdana"/>
                <a:cs typeface="Verdana"/>
                <a:sym typeface="Verdana"/>
              </a:rPr>
              <a:t> Wrap-Up: Reflection</a:t>
            </a:r>
            <a:endParaRPr dirty="0"/>
          </a:p>
        </p:txBody>
      </p:sp>
      <p:pic>
        <p:nvPicPr>
          <p:cNvPr id="399" name="Google Shape;399;p23"/>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srgbClr val="000000">
                <a:alpha val="40000"/>
              </a:srgbClr>
            </a:outerShdw>
          </a:effectLst>
        </p:spPr>
      </p:pic>
      <p:sp>
        <p:nvSpPr>
          <p:cNvPr id="400" name="Google Shape;400;p23"/>
          <p:cNvSpPr txBox="1"/>
          <p:nvPr/>
        </p:nvSpPr>
        <p:spPr>
          <a:xfrm>
            <a:off x="914400" y="1386025"/>
            <a:ext cx="10515600" cy="4093428"/>
          </a:xfrm>
          <a:prstGeom prst="rect">
            <a:avLst/>
          </a:prstGeom>
          <a:noFill/>
          <a:ln>
            <a:noFill/>
          </a:ln>
        </p:spPr>
        <p:txBody>
          <a:bodyPr spcFirstLastPara="1" wrap="square" lIns="91425" tIns="45700" rIns="91425" bIns="45700" anchor="t" anchorCtr="0">
            <a:spAutoFit/>
          </a:bodyPr>
          <a:lstStyle/>
          <a:p>
            <a:r>
              <a:rPr lang="en-US" sz="2000" dirty="0">
                <a:latin typeface="Verdana"/>
                <a:ea typeface="Verdana"/>
                <a:cs typeface="Verdana"/>
                <a:sym typeface="Verdana"/>
              </a:rPr>
              <a:t>Complete each statement based on your current understanding.</a:t>
            </a:r>
            <a:endParaRPr dirty="0"/>
          </a:p>
          <a:p>
            <a:endParaRPr sz="2000" dirty="0">
              <a:latin typeface="Verdana"/>
              <a:ea typeface="Verdana"/>
              <a:cs typeface="Verdana"/>
              <a:sym typeface="Verdana"/>
            </a:endParaRPr>
          </a:p>
          <a:p>
            <a:pPr marL="457200" indent="-457200">
              <a:buSzPts val="2000"/>
              <a:buFont typeface="Arial"/>
              <a:buAutoNum type="arabicPeriod"/>
            </a:pPr>
            <a:r>
              <a:rPr lang="en-US" sz="2000" dirty="0">
                <a:latin typeface="Verdana"/>
                <a:ea typeface="Verdana"/>
                <a:cs typeface="Verdana"/>
                <a:sym typeface="Verdana"/>
              </a:rPr>
              <a:t>I am still unsure about ____________________________</a:t>
            </a:r>
            <a:endParaRPr dirty="0"/>
          </a:p>
          <a:p>
            <a:pPr marL="460375"/>
            <a:r>
              <a:rPr lang="en-US" sz="2000" dirty="0">
                <a:latin typeface="Verdana"/>
                <a:ea typeface="Verdana"/>
                <a:cs typeface="Verdana"/>
                <a:sym typeface="Verdana"/>
              </a:rPr>
              <a:t>______________________________________________________________________________________________</a:t>
            </a:r>
            <a:endParaRPr dirty="0"/>
          </a:p>
          <a:p>
            <a:r>
              <a:rPr lang="en-US" sz="2000" dirty="0">
                <a:latin typeface="Verdana"/>
                <a:ea typeface="Verdana"/>
                <a:cs typeface="Verdana"/>
                <a:sym typeface="Verdana"/>
              </a:rPr>
              <a:t> </a:t>
            </a:r>
            <a:endParaRPr dirty="0"/>
          </a:p>
          <a:p>
            <a:pPr marL="457200" indent="-330200">
              <a:buSzPts val="2000"/>
            </a:pPr>
            <a:endParaRPr sz="2000" dirty="0">
              <a:latin typeface="Verdana"/>
              <a:ea typeface="Verdana"/>
              <a:cs typeface="Verdana"/>
              <a:sym typeface="Verdana"/>
            </a:endParaRPr>
          </a:p>
          <a:p>
            <a:pPr marL="457200" indent="-457200">
              <a:buSzPts val="2000"/>
              <a:buFont typeface="Arial"/>
              <a:buAutoNum type="arabicPeriod" startAt="2"/>
            </a:pPr>
            <a:r>
              <a:rPr lang="en-US" sz="2000" dirty="0">
                <a:latin typeface="Verdana"/>
                <a:ea typeface="Verdana"/>
                <a:cs typeface="Verdana"/>
                <a:sym typeface="Verdana"/>
              </a:rPr>
              <a:t>One question I have that will help me better understand is _______________________________________________</a:t>
            </a:r>
            <a:endParaRPr dirty="0"/>
          </a:p>
          <a:p>
            <a:pPr marL="460375"/>
            <a:r>
              <a:rPr lang="en-US" sz="2000" dirty="0">
                <a:latin typeface="Verdana"/>
                <a:ea typeface="Verdana"/>
                <a:cs typeface="Verdana"/>
                <a:sym typeface="Verdana"/>
              </a:rPr>
              <a:t>_____________________________________________________________________________________________?</a:t>
            </a:r>
            <a:endParaRPr dirty="0"/>
          </a:p>
          <a:p>
            <a:endParaRPr sz="2000" dirty="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1400</Words>
  <Application>Microsoft Office PowerPoint</Application>
  <PresentationFormat>Widescreen</PresentationFormat>
  <Paragraphs>253</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Cambria Math</vt:lpstr>
      <vt:lpstr>Arial Black</vt:lpstr>
      <vt:lpstr>Verdana</vt:lpstr>
      <vt:lpstr>Arial</vt:lpstr>
      <vt:lpstr>Calibri</vt:lpstr>
      <vt:lpstr>Noto Sans Symbols</vt:lpstr>
      <vt:lpstr>Courier New</vt:lpstr>
      <vt:lpstr>Cambria</vt:lpstr>
      <vt:lpstr>1_Office Theme</vt:lpstr>
      <vt:lpstr>7th Grade Math  Unit 13, Lesson 4  Comparing Graphical Representations  Volume 2, pg. 251  </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Activity</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PowerPoint Presentation</vt:lpstr>
      <vt:lpstr>PowerPoint Presentation</vt:lpstr>
      <vt:lpstr>Activity</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Math  Unit 13, Lesson 4  Comparing Graphical Representations  Volume 2, pg. 251</dc:title>
  <dc:creator>Karen McKenzie</dc:creator>
  <cp:lastModifiedBy>Natasha Dease</cp:lastModifiedBy>
  <cp:revision>6</cp:revision>
  <dcterms:created xsi:type="dcterms:W3CDTF">2015-03-17T18:51:18Z</dcterms:created>
  <dcterms:modified xsi:type="dcterms:W3CDTF">2022-07-13T15:07:51Z</dcterms:modified>
</cp:coreProperties>
</file>