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embeddedFontLst>
    <p:embeddedFont>
      <p:font typeface="Arial Black" panose="020B0604020202020204" pitchFamily="34" charset="0"/>
      <p:regular r:id="rId28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hOjtdiUzKxLbZCGYBWwLqFxrss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7EC58F-0D09-4F9A-9DB5-D61B73C90F9F}">
  <a:tblStyle styleId="{387EC58F-0D09-4F9A-9DB5-D61B73C90F9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/>
    <p:restoredTop sz="94694"/>
  </p:normalViewPr>
  <p:slideViewPr>
    <p:cSldViewPr snapToGrid="0">
      <p:cViewPr varScale="1">
        <p:scale>
          <a:sx n="121" d="100"/>
          <a:sy n="121" d="100"/>
        </p:scale>
        <p:origin x="77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8" name="Google Shape;28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3" name="Google Shape;36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" name="Google Shape;37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6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6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6</a:t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Comparing Data Sets and Graphs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262</a:t>
            </a:r>
            <a:endParaRPr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480" y="1522577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2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MA.7.DP.1.2</a:t>
            </a:r>
            <a:endParaRPr sz="2800" dirty="0"/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Given two numerical or graphical representations of data, use the measure(s) of center and measure(s) of variability to make comparisons, interpret results, and draw conclusions about the two populations.</a:t>
            </a:r>
            <a:endParaRPr sz="2800" dirty="0"/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endParaRPr sz="2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35" name="Google Shape;135;p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 sz="3200" dirty="0"/>
          </a:p>
        </p:txBody>
      </p:sp>
      <p:sp>
        <p:nvSpPr>
          <p:cNvPr id="137" name="Google Shape;137;p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262</a:t>
            </a:r>
            <a:endParaRPr dirty="0"/>
          </a:p>
        </p:txBody>
      </p:sp>
      <p:sp>
        <p:nvSpPr>
          <p:cNvPr id="138" name="Google Shape;138;p1"/>
          <p:cNvSpPr txBox="1"/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sz="2800" dirty="0"/>
          </a:p>
          <a:p>
            <a:pPr marL="457200"/>
            <a:endParaRPr sz="2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sz="2800" dirty="0"/>
          </a:p>
          <a:p>
            <a:endParaRPr sz="2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sz="2800" dirty="0"/>
          </a:p>
          <a:p>
            <a:endParaRPr sz="2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sz="2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pic>
        <p:nvPicPr>
          <p:cNvPr id="145" name="Google Shape;145;p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6" name="Google Shape;146;p2"/>
          <p:cNvSpPr txBox="1"/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dirty="0"/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262</a:t>
            </a:r>
            <a:endParaRPr dirty="0"/>
          </a:p>
        </p:txBody>
      </p:sp>
      <p:sp>
        <p:nvSpPr>
          <p:cNvPr id="149" name="Google Shape;149;p2"/>
          <p:cNvSpPr txBox="1"/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000"/>
              <a:buFont typeface="Verdana"/>
              <a:buChar char="❏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compare and interpret a numerical representation of data of one population and a graphical representation of another population.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6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57" name="Google Shape;157;g104476d1465_1_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262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66" name="Google Shape;166;p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7" name="Google Shape;167;p4"/>
          <p:cNvSpPr txBox="1"/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13.6.1 Warm-Up: Would You Rather?</a:t>
            </a:r>
            <a:endParaRPr dirty="0"/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262</a:t>
            </a:r>
            <a:endParaRPr dirty="0"/>
          </a:p>
        </p:txBody>
      </p:sp>
      <p:sp>
        <p:nvSpPr>
          <p:cNvPr id="170" name="Google Shape;170;p4"/>
          <p:cNvSpPr txBox="1"/>
          <p:nvPr/>
        </p:nvSpPr>
        <p:spPr>
          <a:xfrm>
            <a:off x="914400" y="1386025"/>
            <a:ext cx="10515600" cy="193899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761" t="-1298" b="-45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77" name="Google Shape;177;p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8" name="Google Shape;178;p5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263</a:t>
            </a:r>
            <a:endParaRPr dirty="0"/>
          </a:p>
        </p:txBody>
      </p:sp>
      <p:pic>
        <p:nvPicPr>
          <p:cNvPr id="180" name="Google Shape;180;p5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87" name="Google Shape;187;p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8" name="Google Shape;188;p6"/>
          <p:cNvSpPr txBox="1"/>
          <p:nvPr/>
        </p:nvSpPr>
        <p:spPr>
          <a:xfrm>
            <a:off x="1143000" y="-3721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13.6.2 Guided Practice: Summarizing Data</a:t>
            </a:r>
            <a:endParaRPr dirty="0"/>
          </a:p>
        </p:txBody>
      </p:sp>
      <p:sp>
        <p:nvSpPr>
          <p:cNvPr id="189" name="Google Shape;189;p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263</a:t>
            </a:r>
            <a:endParaRPr dirty="0"/>
          </a:p>
        </p:txBody>
      </p:sp>
      <p:pic>
        <p:nvPicPr>
          <p:cNvPr id="190" name="Google Shape;190;p6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6616" y="128815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1" name="Google Shape;191;p6"/>
          <p:cNvSpPr txBox="1"/>
          <p:nvPr/>
        </p:nvSpPr>
        <p:spPr>
          <a:xfrm>
            <a:off x="914400" y="1386026"/>
            <a:ext cx="10515600" cy="400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000"/>
              <a:buFont typeface="Arial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commute time, in minutes, for </a:t>
            </a:r>
            <a:r>
              <a:rPr lang="en-US" sz="2000" u="none" strike="noStrike" cap="none" dirty="0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 randomly selected people in Duval County, Florida is shown. </a:t>
            </a:r>
            <a:endParaRPr dirty="0"/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dirty="0"/>
          </a:p>
          <a:p>
            <a:pPr marL="469900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box plot displays the commute time, in minutes, for </a:t>
            </a:r>
            <a:r>
              <a:rPr lang="en-US" sz="2000" u="none" strike="noStrike" cap="none" dirty="0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 randomly selected people in Union County, Florida.</a:t>
            </a:r>
            <a:endParaRPr dirty="0"/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92" name="Google Shape;192;p6"/>
          <p:cNvGraphicFramePr/>
          <p:nvPr/>
        </p:nvGraphicFramePr>
        <p:xfrm>
          <a:off x="2753741" y="2355521"/>
          <a:ext cx="6940450" cy="609600"/>
        </p:xfrm>
        <a:graphic>
          <a:graphicData uri="http://schemas.openxmlformats.org/drawingml/2006/table">
            <a:tbl>
              <a:tblPr firstRow="1" firstCol="1" bandRow="1">
                <a:noFill/>
                <a:tableStyleId>{387EC58F-0D09-4F9A-9DB5-D61B73C90F9F}</a:tableStyleId>
              </a:tblPr>
              <a:tblGrid>
                <a:gridCol w="57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9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15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17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18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20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20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21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22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23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24</a:t>
                      </a:r>
                      <a:endParaRPr sz="2000" u="none" strike="noStrike" cap="none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25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25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25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25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26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26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29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29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29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32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34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38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40</a:t>
                      </a:r>
                      <a:endParaRPr sz="2000" u="none" strike="noStrike" cap="none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3" name="Google Shape;193;p6" descr="Chart, box and whisker chart&#10;&#10;Description automatically generated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53741" y="4353386"/>
            <a:ext cx="6945630" cy="184721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"/>
          <p:cNvSpPr/>
          <p:nvPr/>
        </p:nvSpPr>
        <p:spPr>
          <a:xfrm>
            <a:off x="3331779" y="4096310"/>
            <a:ext cx="556754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b="1" dirty="0">
                <a:latin typeface="Verdana"/>
                <a:ea typeface="Verdana"/>
                <a:cs typeface="Verdana"/>
                <a:sym typeface="Verdana"/>
              </a:rPr>
              <a:t>Travel Time in Union County, Florida</a:t>
            </a:r>
            <a:endParaRPr sz="20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344273" y="6261258"/>
            <a:ext cx="2370455" cy="466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Time (in minutes)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02" name="Google Shape;202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03" name="Google Shape;203;p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263</a:t>
            </a:r>
            <a:endParaRPr dirty="0"/>
          </a:p>
        </p:txBody>
      </p:sp>
      <p:sp>
        <p:nvSpPr>
          <p:cNvPr id="204" name="Google Shape;204;p7"/>
          <p:cNvSpPr txBox="1"/>
          <p:nvPr/>
        </p:nvSpPr>
        <p:spPr>
          <a:xfrm>
            <a:off x="914400" y="520394"/>
            <a:ext cx="105156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lvl="4" indent="-450850">
              <a:buSzPts val="2400"/>
              <a:buFont typeface="Arial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Explain why it would be beneficial to create a box plot of the Duval County data when comparing these data sets.</a:t>
            </a:r>
            <a:endParaRPr dirty="0"/>
          </a:p>
          <a:p>
            <a:pPr marL="914400" lvl="4" indent="-45085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4" indent="-45085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4" indent="-45085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4" indent="-45085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4" indent="-45085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4" indent="-45085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4" indent="-450850">
              <a:buSzPts val="2400"/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What are some measures used to describe data that cannot be determined from a box plot?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11" name="Google Shape;211;p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2" name="Google Shape;212;p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263</a:t>
            </a: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914400" y="520394"/>
            <a:ext cx="105156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3925" lvl="1" indent="-454025">
              <a:buSzPct val="100000"/>
              <a:buFont typeface="Arial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Use at least three terms from the term bank below to write a three-sentence summary comparing travel times to work in Duval County to travel times to work in Union County.</a:t>
            </a:r>
            <a:endParaRPr sz="2400" dirty="0"/>
          </a:p>
        </p:txBody>
      </p:sp>
      <p:grpSp>
        <p:nvGrpSpPr>
          <p:cNvPr id="214" name="Google Shape;214;p8"/>
          <p:cNvGrpSpPr/>
          <p:nvPr/>
        </p:nvGrpSpPr>
        <p:grpSpPr>
          <a:xfrm>
            <a:off x="2605377" y="2041944"/>
            <a:ext cx="9919344" cy="2219168"/>
            <a:chOff x="-212349" y="-861444"/>
            <a:chExt cx="2618599" cy="2235728"/>
          </a:xfrm>
        </p:grpSpPr>
        <p:sp>
          <p:nvSpPr>
            <p:cNvPr id="215" name="Google Shape;215;p8"/>
            <p:cNvSpPr/>
            <p:nvPr/>
          </p:nvSpPr>
          <p:spPr>
            <a:xfrm>
              <a:off x="0" y="0"/>
              <a:ext cx="2406250" cy="1285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Cambria"/>
                  <a:ea typeface="Cambria"/>
                  <a:cs typeface="Cambria"/>
                  <a:sym typeface="Cambria"/>
                </a:rPr>
                <a:t> </a:t>
              </a: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-116686" y="-861444"/>
              <a:ext cx="1850631" cy="2235728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Cambria"/>
                  <a:ea typeface="Cambria"/>
                  <a:cs typeface="Cambria"/>
                  <a:sym typeface="Cambria"/>
                </a:rPr>
                <a:t> </a:t>
              </a: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-212349" y="-609600"/>
              <a:ext cx="2132463" cy="12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57200" indent="457200"/>
              <a:r>
                <a:rPr lang="en-US" sz="1800">
                  <a:latin typeface="Verdana"/>
                  <a:ea typeface="Verdana"/>
                  <a:cs typeface="Verdana"/>
                  <a:sym typeface="Verdana"/>
                </a:rPr>
                <a:t>mean		median			range	 		IQR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marL="457200" indent="457200">
                <a:spcBef>
                  <a:spcPts val="1000"/>
                </a:spcBef>
              </a:pPr>
              <a:r>
                <a:rPr lang="en-US" sz="1800">
                  <a:latin typeface="Verdana"/>
                  <a:ea typeface="Verdana"/>
                  <a:cs typeface="Verdana"/>
                  <a:sym typeface="Verdana"/>
                </a:rPr>
                <a:t>	center		variability		upper quartile		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marL="457200" indent="457200">
                <a:spcBef>
                  <a:spcPts val="1000"/>
                </a:spcBef>
              </a:pPr>
              <a:r>
                <a:rPr lang="en-US" sz="1800">
                  <a:latin typeface="Verdana"/>
                  <a:ea typeface="Verdana"/>
                  <a:cs typeface="Verdana"/>
                  <a:sym typeface="Verdana"/>
                </a:rPr>
                <a:t>lower quartile		sample		population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marL="457200" indent="457200">
                <a:spcBef>
                  <a:spcPts val="1000"/>
                </a:spcBef>
              </a:pPr>
              <a:r>
                <a:rPr lang="en-US" sz="1800">
                  <a:latin typeface="Verdana"/>
                  <a:ea typeface="Verdana"/>
                  <a:cs typeface="Verdana"/>
                  <a:sym typeface="Verdana"/>
                </a:rPr>
                <a:t>			 					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marL="457200" indent="457200">
                <a:spcBef>
                  <a:spcPts val="1000"/>
                </a:spcBef>
                <a:spcAft>
                  <a:spcPts val="1000"/>
                </a:spcAft>
              </a:pPr>
              <a:r>
                <a:rPr lang="en-US" sz="1800">
                  <a:latin typeface="Verdana"/>
                  <a:ea typeface="Verdana"/>
                  <a:cs typeface="Verdana"/>
                  <a:sym typeface="Verdana"/>
                </a:rPr>
                <a:t> 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4" name="Google Shape;224;p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25" name="Google Shape;225;p9"/>
          <p:cNvSpPr txBox="1">
            <a:spLocks noGrp="1"/>
          </p:cNvSpPr>
          <p:nvPr>
            <p:ph type="title" idx="4294967295"/>
          </p:nvPr>
        </p:nvSpPr>
        <p:spPr>
          <a:xfrm>
            <a:off x="345797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264</a:t>
            </a:r>
            <a:endParaRPr dirty="0"/>
          </a:p>
        </p:txBody>
      </p:sp>
      <p:pic>
        <p:nvPicPr>
          <p:cNvPr id="227" name="Google Shape;22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34" name="Google Shape;234;p1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35" name="Google Shape;235;p10"/>
          <p:cNvSpPr txBox="1"/>
          <p:nvPr/>
        </p:nvSpPr>
        <p:spPr>
          <a:xfrm>
            <a:off x="1143000" y="-1418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13.6.3 Try It: Comparing Data Sets and Graphs</a:t>
            </a:r>
            <a:endParaRPr dirty="0"/>
          </a:p>
        </p:txBody>
      </p:sp>
      <p:sp>
        <p:nvSpPr>
          <p:cNvPr id="236" name="Google Shape;236;p1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264</a:t>
            </a:r>
            <a:endParaRPr dirty="0"/>
          </a:p>
        </p:txBody>
      </p:sp>
      <p:pic>
        <p:nvPicPr>
          <p:cNvPr id="237" name="Google Shape;237;p10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6616" y="34827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38" name="Google Shape;238;p10"/>
          <p:cNvSpPr txBox="1"/>
          <p:nvPr/>
        </p:nvSpPr>
        <p:spPr>
          <a:xfrm>
            <a:off x="914400" y="1278179"/>
            <a:ext cx="10515600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000"/>
              <a:buFont typeface="Arial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Deltona High School Wolves and Wildwood High School Wildcats cross-country teams ran an obstacle course. Each team’s times are summarized. </a:t>
            </a:r>
            <a:endParaRPr dirty="0"/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2940733" y="2383498"/>
            <a:ext cx="6566557" cy="43053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2000" b="1" dirty="0">
                <a:latin typeface="Verdana"/>
                <a:ea typeface="Verdana"/>
                <a:cs typeface="Verdana"/>
                <a:sym typeface="Verdana"/>
              </a:rPr>
              <a:t>Deltona HS Wolves’ Obstacle Course Times</a:t>
            </a:r>
            <a:endParaRPr sz="2000"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40" name="Google Shape;240;p10"/>
          <p:cNvGraphicFramePr/>
          <p:nvPr/>
        </p:nvGraphicFramePr>
        <p:xfrm>
          <a:off x="4149784" y="2917056"/>
          <a:ext cx="4148425" cy="1219200"/>
        </p:xfrm>
        <a:graphic>
          <a:graphicData uri="http://schemas.openxmlformats.org/drawingml/2006/table">
            <a:tbl>
              <a:tblPr firstRow="1" firstCol="1" bandRow="1">
                <a:noFill/>
                <a:tableStyleId>{387EC58F-0D09-4F9A-9DB5-D61B73C90F9F}</a:tableStyleId>
              </a:tblPr>
              <a:tblGrid>
                <a:gridCol w="82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9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4 : 25</a:t>
                      </a:r>
                      <a:endParaRPr sz="1400" u="none" strike="noStrike" cap="none"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 : 43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 : 49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 : 02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 : 12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 : 21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31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32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37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52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 : 54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08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20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26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33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 : 48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53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16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23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</a:t>
                      </a:r>
                      <a:r>
                        <a:rPr lang="en-US" dirty="0">
                          <a:solidFill>
                            <a:schemeClr val="dk1"/>
                          </a:solidFill>
                        </a:rPr>
                        <a:t> : 05</a:t>
                      </a:r>
                      <a:endParaRPr sz="1400" u="none" strike="noStrike" cap="none"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1" name="Google Shape;241;p10"/>
          <p:cNvSpPr txBox="1"/>
          <p:nvPr/>
        </p:nvSpPr>
        <p:spPr>
          <a:xfrm>
            <a:off x="2815419" y="4316536"/>
            <a:ext cx="6817186" cy="43053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2000" b="1">
                <a:latin typeface="Verdana"/>
                <a:ea typeface="Verdana"/>
                <a:cs typeface="Verdana"/>
                <a:sym typeface="Verdana"/>
              </a:rPr>
              <a:t>Wildwood HS Wildcats’ Obstacle Course Times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42" name="Google Shape;242;p10" descr="Chart, box and whisker char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t="20356" r="-333" b="14781"/>
          <a:stretch/>
        </p:blipFill>
        <p:spPr>
          <a:xfrm>
            <a:off x="3447477" y="4604325"/>
            <a:ext cx="5297047" cy="169897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 txBox="1"/>
          <p:nvPr/>
        </p:nvSpPr>
        <p:spPr>
          <a:xfrm>
            <a:off x="4343665" y="6303301"/>
            <a:ext cx="3760691" cy="45593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 Course Times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50" name="Google Shape;250;p1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51" name="Google Shape;251;p1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264</a:t>
            </a:r>
            <a:endParaRPr dirty="0"/>
          </a:p>
        </p:txBody>
      </p:sp>
      <p:sp>
        <p:nvSpPr>
          <p:cNvPr id="252" name="Google Shape;252;p11"/>
          <p:cNvSpPr txBox="1"/>
          <p:nvPr/>
        </p:nvSpPr>
        <p:spPr>
          <a:xfrm>
            <a:off x="914400" y="520394"/>
            <a:ext cx="10515600" cy="563231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447" r="-1521" b="-8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59" name="Google Shape;259;p1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60" name="Google Shape;260;p12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265</a:t>
            </a:r>
            <a:endParaRPr/>
          </a:p>
        </p:txBody>
      </p:sp>
      <p:pic>
        <p:nvPicPr>
          <p:cNvPr id="262" name="Google Shape;262;p12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9" name="Google Shape;269;p1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70" name="Google Shape;270;p13"/>
          <p:cNvSpPr txBox="1"/>
          <p:nvPr/>
        </p:nvSpPr>
        <p:spPr>
          <a:xfrm>
            <a:off x="114300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13.6.4 Activity: Roll the Dice</a:t>
            </a:r>
            <a:endParaRPr dirty="0"/>
          </a:p>
        </p:txBody>
      </p:sp>
      <p:sp>
        <p:nvSpPr>
          <p:cNvPr id="271" name="Google Shape;271;p1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265</a:t>
            </a:r>
            <a:endParaRPr/>
          </a:p>
        </p:txBody>
      </p:sp>
      <p:pic>
        <p:nvPicPr>
          <p:cNvPr id="272" name="Google Shape;272;p13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6616" y="34827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73" name="Google Shape;273;p13"/>
          <p:cNvSpPr txBox="1"/>
          <p:nvPr/>
        </p:nvSpPr>
        <p:spPr>
          <a:xfrm>
            <a:off x="914400" y="1386025"/>
            <a:ext cx="105156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With your partner, decide which of you will be “Partner 1” and “Partner 2.” Partner 1 will be creating a line plot and Partner 2 will be recording a data set.</a:t>
            </a:r>
            <a:endParaRPr sz="2400" dirty="0"/>
          </a:p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sz="2400" dirty="0"/>
          </a:p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Using a standard six-sided die, each person will roll one die 25 times. After each roll, record the results in either a line plot or numerical data set below, depending on if you are Partner 1 or Partner 2.</a:t>
            </a:r>
            <a:endParaRPr sz="2400" dirty="0"/>
          </a:p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80" name="Google Shape;280;p1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81" name="Google Shape;281;p1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265</a:t>
            </a:r>
            <a:endParaRPr dirty="0"/>
          </a:p>
        </p:txBody>
      </p:sp>
      <p:sp>
        <p:nvSpPr>
          <p:cNvPr id="282" name="Google Shape;282;p14"/>
          <p:cNvSpPr txBox="1"/>
          <p:nvPr/>
        </p:nvSpPr>
        <p:spPr>
          <a:xfrm>
            <a:off x="914400" y="520393"/>
            <a:ext cx="10515600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4" indent="-457200">
              <a:buSzPts val="2000"/>
              <a:buFont typeface="Arial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When both partners are finished, copy their data below.</a:t>
            </a:r>
            <a:endParaRPr dirty="0"/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Line plot (Partner 1’s rolls):</a:t>
            </a:r>
            <a:endParaRPr dirty="0"/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Data set (Partner 2’s rolls):</a:t>
            </a:r>
            <a:endParaRPr dirty="0"/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</p:txBody>
      </p:sp>
      <p:cxnSp>
        <p:nvCxnSpPr>
          <p:cNvPr id="283" name="Google Shape;283;p14"/>
          <p:cNvCxnSpPr/>
          <p:nvPr/>
        </p:nvCxnSpPr>
        <p:spPr>
          <a:xfrm>
            <a:off x="3352799" y="2708172"/>
            <a:ext cx="5486400" cy="25400"/>
          </a:xfrm>
          <a:prstGeom prst="straightConnector1">
            <a:avLst/>
          </a:prstGeom>
          <a:noFill/>
          <a:ln w="44450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  <p:graphicFrame>
        <p:nvGraphicFramePr>
          <p:cNvPr id="284" name="Google Shape;284;p14"/>
          <p:cNvGraphicFramePr/>
          <p:nvPr/>
        </p:nvGraphicFramePr>
        <p:xfrm>
          <a:off x="2697162" y="3779827"/>
          <a:ext cx="6797625" cy="2557750"/>
        </p:xfrm>
        <a:graphic>
          <a:graphicData uri="http://schemas.openxmlformats.org/drawingml/2006/table">
            <a:tbl>
              <a:tblPr firstRow="1" firstCol="1" bandRow="1">
                <a:noFill/>
                <a:tableStyleId>{387EC58F-0D09-4F9A-9DB5-D61B73C90F9F}</a:tableStyleId>
              </a:tblPr>
              <a:tblGrid>
                <a:gridCol w="135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91" name="Google Shape;291;p1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92" name="Google Shape;292;p1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265</a:t>
            </a:r>
            <a:endParaRPr/>
          </a:p>
        </p:txBody>
      </p:sp>
      <p:sp>
        <p:nvSpPr>
          <p:cNvPr id="293" name="Google Shape;293;p15"/>
          <p:cNvSpPr txBox="1"/>
          <p:nvPr/>
        </p:nvSpPr>
        <p:spPr>
          <a:xfrm>
            <a:off x="914400" y="520393"/>
            <a:ext cx="105156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ct val="100000"/>
              <a:buFont typeface="Arial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Complete the table by calculating the measures of center and spread for your data. Share your data with your partner and add their data to the table. </a:t>
            </a:r>
            <a:endParaRPr sz="2400" dirty="0"/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94" name="Google Shape;294;p15"/>
          <p:cNvGraphicFramePr/>
          <p:nvPr/>
        </p:nvGraphicFramePr>
        <p:xfrm>
          <a:off x="2886508" y="1908804"/>
          <a:ext cx="6418975" cy="2586400"/>
        </p:xfrm>
        <a:graphic>
          <a:graphicData uri="http://schemas.openxmlformats.org/drawingml/2006/table">
            <a:tbl>
              <a:tblPr bandRow="1">
                <a:noFill/>
                <a:tableStyleId>{387EC58F-0D09-4F9A-9DB5-D61B73C90F9F}</a:tableStyleId>
              </a:tblPr>
              <a:tblGrid>
                <a:gridCol w="151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Partner 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Partner 2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Mean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Median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Range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IQR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01" name="Google Shape;301;p1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02" name="Google Shape;302;p1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265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914400" y="520393"/>
            <a:ext cx="105156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ct val="100000"/>
              <a:buFont typeface="Arial"/>
              <a:buAutoNum type="arabi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With your partner, discuss similarities and differences in your data. Summarize your discussion in the table.</a:t>
            </a:r>
            <a:endParaRPr sz="2400" dirty="0"/>
          </a:p>
          <a:p>
            <a:r>
              <a:rPr lang="en-US" sz="2400" dirty="0"/>
              <a:t> </a:t>
            </a:r>
            <a:endParaRPr sz="2400" dirty="0"/>
          </a:p>
        </p:txBody>
      </p:sp>
      <p:graphicFrame>
        <p:nvGraphicFramePr>
          <p:cNvPr id="304" name="Google Shape;304;p16"/>
          <p:cNvGraphicFramePr/>
          <p:nvPr/>
        </p:nvGraphicFramePr>
        <p:xfrm>
          <a:off x="2926527" y="1443723"/>
          <a:ext cx="6338950" cy="4893875"/>
        </p:xfrm>
        <a:graphic>
          <a:graphicData uri="http://schemas.openxmlformats.org/drawingml/2006/table">
            <a:tbl>
              <a:tblPr firstRow="1" firstCol="1" bandRow="1">
                <a:noFill/>
                <a:tableStyleId>{387EC58F-0D09-4F9A-9DB5-D61B73C90F9F}</a:tableStyleId>
              </a:tblPr>
              <a:tblGrid>
                <a:gridCol w="323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Similarities</a:t>
                      </a:r>
                      <a:endParaRPr/>
                    </a:p>
                  </a:txBody>
                  <a:tcPr marL="51000" marR="510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Differences</a:t>
                      </a:r>
                      <a:endParaRPr/>
                    </a:p>
                  </a:txBody>
                  <a:tcPr marL="51000" marR="510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 </a:t>
                      </a:r>
                      <a:endParaRPr sz="9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51000" marR="510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 </a:t>
                      </a:r>
                      <a:endParaRPr sz="9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51000" marR="510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11" name="Google Shape;311;p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12" name="Google Shape;312;p17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3" name="Google Shape;31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97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14" name="Google Shape;314;p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266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21" name="Google Shape;321;p1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22" name="Google Shape;322;p18"/>
          <p:cNvSpPr txBox="1"/>
          <p:nvPr/>
        </p:nvSpPr>
        <p:spPr>
          <a:xfrm>
            <a:off x="1143000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13.6.5 Your Turn!</a:t>
            </a:r>
            <a:endParaRPr dirty="0"/>
          </a:p>
        </p:txBody>
      </p:sp>
      <p:pic>
        <p:nvPicPr>
          <p:cNvPr id="323" name="Google Shape;323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24" name="Google Shape;324;p18"/>
          <p:cNvSpPr txBox="1"/>
          <p:nvPr/>
        </p:nvSpPr>
        <p:spPr>
          <a:xfrm>
            <a:off x="8897112" y="64632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266</a:t>
            </a:r>
            <a:endParaRPr dirty="0"/>
          </a:p>
        </p:txBody>
      </p:sp>
      <p:sp>
        <p:nvSpPr>
          <p:cNvPr id="325" name="Google Shape;325;p18"/>
          <p:cNvSpPr txBox="1"/>
          <p:nvPr/>
        </p:nvSpPr>
        <p:spPr>
          <a:xfrm>
            <a:off x="914400" y="869362"/>
            <a:ext cx="10515600" cy="298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4" indent="-457200">
              <a:buSzPts val="2000"/>
              <a:buFont typeface="Arial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A group of ten rowers that practice outdoors on the water (Group 1) are challenging a group of ten who use indoor rowing machines (Group 2). They want to see who can row faster using rowing machines.</a:t>
            </a:r>
            <a:endParaRPr dirty="0"/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  <a:p>
            <a:pPr marL="469900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time, in minutes, it took each of the ten rowers in Group 1 to row 500 meters on the rowing machine is represented in the stem-and-leaf plot.</a:t>
            </a:r>
            <a:endParaRPr dirty="0"/>
          </a:p>
          <a:p>
            <a:pPr marL="469900"/>
            <a:endParaRPr sz="800" dirty="0">
              <a:latin typeface="Verdana"/>
              <a:ea typeface="Verdana"/>
              <a:cs typeface="Verdana"/>
              <a:sym typeface="Verdana"/>
            </a:endParaRPr>
          </a:p>
          <a:p>
            <a:pPr marL="14288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b="1" dirty="0">
                <a:latin typeface="Verdana"/>
                <a:ea typeface="Verdana"/>
                <a:cs typeface="Verdana"/>
                <a:sym typeface="Verdana"/>
              </a:rPr>
              <a:t>Group 1: Outdoor Rower Times (in minutes)</a:t>
            </a:r>
            <a:endParaRPr dirty="0"/>
          </a:p>
        </p:txBody>
      </p:sp>
      <p:graphicFrame>
        <p:nvGraphicFramePr>
          <p:cNvPr id="326" name="Google Shape;326;p18"/>
          <p:cNvGraphicFramePr/>
          <p:nvPr>
            <p:extLst>
              <p:ext uri="{D42A27DB-BD31-4B8C-83A1-F6EECF244321}">
                <p14:modId xmlns:p14="http://schemas.microsoft.com/office/powerpoint/2010/main" val="1943962421"/>
              </p:ext>
            </p:extLst>
          </p:nvPr>
        </p:nvGraphicFramePr>
        <p:xfrm>
          <a:off x="1552863" y="3434843"/>
          <a:ext cx="2390150" cy="1828800"/>
        </p:xfrm>
        <a:graphic>
          <a:graphicData uri="http://schemas.openxmlformats.org/drawingml/2006/table">
            <a:tbl>
              <a:tblPr firstRow="1" firstCol="1" bandRow="1">
                <a:noFill/>
                <a:tableStyleId>{387EC58F-0D09-4F9A-9DB5-D61B73C90F9F}</a:tableStyleId>
              </a:tblPr>
              <a:tblGrid>
                <a:gridCol w="106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Stem</a:t>
                      </a:r>
                      <a:endParaRPr/>
                    </a:p>
                  </a:txBody>
                  <a:tcPr marL="68575" marR="6857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Leaf</a:t>
                      </a:r>
                      <a:endParaRPr dirty="0"/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15</a:t>
                      </a:r>
                      <a:endParaRPr sz="2000" u="none" strike="noStrike" cap="none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2, 8</a:t>
                      </a:r>
                      <a:endParaRPr sz="2000" u="none" strike="noStrike" cap="none" dirty="0"/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16</a:t>
                      </a:r>
                      <a:endParaRPr sz="2000" u="none" strike="noStrike" cap="none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8</a:t>
                      </a:r>
                      <a:endParaRPr sz="2000" u="none" strike="noStrike" cap="none"/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17</a:t>
                      </a:r>
                      <a:endParaRPr sz="2000" u="none" strike="noStrike" cap="none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0, 5, 8</a:t>
                      </a:r>
                      <a:endParaRPr sz="2000" u="none" strike="noStrike" cap="none"/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18</a:t>
                      </a:r>
                      <a:endParaRPr sz="2000" u="none" strike="noStrike" cap="none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0, 2, 3, 7</a:t>
                      </a:r>
                      <a:endParaRPr sz="2000" u="none" strike="noStrike" cap="none"/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Key: 15|2 = 1.52</a:t>
                      </a:r>
                      <a:endParaRPr sz="20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7" name="Google Shape;327;p18"/>
          <p:cNvSpPr txBox="1"/>
          <p:nvPr/>
        </p:nvSpPr>
        <p:spPr>
          <a:xfrm>
            <a:off x="4509989" y="3440533"/>
            <a:ext cx="5502062" cy="190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time, in minutes, it took each of the ten rowers in Group 2 to row </a:t>
            </a:r>
            <a:r>
              <a:rPr lang="en-US" sz="2000" dirty="0">
                <a:latin typeface="Cambria Math"/>
                <a:ea typeface="Cambria Math"/>
                <a:cs typeface="Cambria Math"/>
                <a:sym typeface="Cambria Math"/>
              </a:rPr>
              <a:t>500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 meters on the rowing machine is represented in the data set.</a:t>
            </a:r>
            <a:endParaRPr sz="2000" dirty="0">
              <a:latin typeface="Cambria"/>
              <a:ea typeface="Cambria"/>
              <a:cs typeface="Cambria"/>
              <a:sym typeface="Cambria"/>
            </a:endParaRPr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sz="2000" dirty="0">
              <a:latin typeface="Cambria"/>
              <a:ea typeface="Cambria"/>
              <a:cs typeface="Cambria"/>
              <a:sym typeface="Cambria"/>
            </a:endParaRPr>
          </a:p>
          <a:p>
            <a:pPr algn="ctr"/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{</a:t>
            </a:r>
            <a:r>
              <a:rPr lang="en-US" sz="1800" dirty="0">
                <a:latin typeface="Cambria Math"/>
                <a:ea typeface="Cambria Math"/>
                <a:cs typeface="Cambria Math"/>
                <a:sym typeface="Cambria Math"/>
              </a:rPr>
              <a:t>1.63, 1.82, 1.95, 1.97 2.0, 2.02, 2.12, 2.20, 2.25, 2.88</a:t>
            </a: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}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34" name="Google Shape;334;p1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35" name="Google Shape;335;p1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266</a:t>
            </a:r>
            <a:endParaRPr/>
          </a:p>
        </p:txBody>
      </p:sp>
      <p:sp>
        <p:nvSpPr>
          <p:cNvPr id="336" name="Google Shape;336;p19"/>
          <p:cNvSpPr txBox="1"/>
          <p:nvPr/>
        </p:nvSpPr>
        <p:spPr>
          <a:xfrm>
            <a:off x="914400" y="520393"/>
            <a:ext cx="105156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For each statement, state whether it is true or false. For any statements that are true, explain why.</a:t>
            </a:r>
            <a:endParaRPr dirty="0"/>
          </a:p>
        </p:txBody>
      </p:sp>
      <p:graphicFrame>
        <p:nvGraphicFramePr>
          <p:cNvPr id="337" name="Google Shape;337;p19"/>
          <p:cNvGraphicFramePr/>
          <p:nvPr>
            <p:extLst>
              <p:ext uri="{D42A27DB-BD31-4B8C-83A1-F6EECF244321}">
                <p14:modId xmlns:p14="http://schemas.microsoft.com/office/powerpoint/2010/main" val="2108148551"/>
              </p:ext>
            </p:extLst>
          </p:nvPr>
        </p:nvGraphicFramePr>
        <p:xfrm>
          <a:off x="1604481" y="1449175"/>
          <a:ext cx="8940807" cy="4693622"/>
        </p:xfrm>
        <a:graphic>
          <a:graphicData uri="http://schemas.openxmlformats.org/drawingml/2006/table">
            <a:tbl>
              <a:tblPr firstRow="1" firstCol="1" bandRow="1">
                <a:noFill/>
                <a:tableStyleId>{387EC58F-0D09-4F9A-9DB5-D61B73C90F9F}</a:tableStyleId>
              </a:tblPr>
              <a:tblGrid>
                <a:gridCol w="6012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7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677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Statement</a:t>
                      </a:r>
                      <a:endParaRPr sz="2000" b="1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True or False?</a:t>
                      </a:r>
                      <a:endParaRPr sz="2000" b="1" u="none" strike="noStrike" cap="none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Explanation</a:t>
                      </a:r>
                      <a:endParaRPr sz="2000" b="1" u="none" strike="noStrike" cap="none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2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center of the Group 1 times is similar to the center of the Group 2 times.</a:t>
                      </a:r>
                      <a:endParaRPr sz="20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sz="20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sz="2000" u="none" strike="noStrike" cap="none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02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variability of the Group 1 times is similar to the variability of the Group 2 times.</a:t>
                      </a:r>
                      <a:endParaRPr sz="20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sz="2000" u="none" strike="noStrike" cap="none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sz="2000" u="none" strike="noStrike" cap="none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02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Group 1 rowers that practice on the water are typically faster than the Group 2 rowers that row on machines.</a:t>
                      </a:r>
                      <a:endParaRPr sz="20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sz="20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sz="20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02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Group 1 rowers that practice on the water are more consistent than the Group 2 rowers that row on machines.</a:t>
                      </a:r>
                      <a:endParaRPr sz="2000" u="none" strike="noStrike" cap="none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sz="2000" u="none" strike="noStrike" cap="none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sz="20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44" name="Google Shape;344;p2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45" name="Google Shape;345;p2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267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914400" y="294357"/>
            <a:ext cx="10515600" cy="59400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608" t="-639" b="-63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347" name="Google Shape;347;p20" descr="Chart, scatter chart&#10;&#10;Description automatically generated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5719" y="1649046"/>
            <a:ext cx="4445615" cy="2000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0" descr="Chart, scatter chart&#10;&#10;Description automatically generated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19206" y="1514034"/>
            <a:ext cx="4397620" cy="2149872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0"/>
          <p:cNvSpPr txBox="1"/>
          <p:nvPr/>
        </p:nvSpPr>
        <p:spPr>
          <a:xfrm>
            <a:off x="1627053" y="1084063"/>
            <a:ext cx="464294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000" b="1">
                <a:latin typeface="Verdana"/>
                <a:ea typeface="Verdana"/>
                <a:cs typeface="Verdana"/>
                <a:sym typeface="Verdana"/>
              </a:rPr>
              <a:t>Arrival Times of Airline P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0" name="Google Shape;350;p20"/>
          <p:cNvSpPr txBox="1"/>
          <p:nvPr/>
        </p:nvSpPr>
        <p:spPr>
          <a:xfrm>
            <a:off x="6094541" y="1084063"/>
            <a:ext cx="469812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000" b="1">
                <a:latin typeface="Verdana"/>
                <a:ea typeface="Verdana"/>
                <a:cs typeface="Verdana"/>
                <a:sym typeface="Verdana"/>
              </a:rPr>
              <a:t>Arrival Times of Airline Q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57" name="Google Shape;357;p2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58" name="Google Shape;358;p2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267</a:t>
            </a:r>
            <a:endParaRPr dirty="0"/>
          </a:p>
        </p:txBody>
      </p:sp>
      <p:sp>
        <p:nvSpPr>
          <p:cNvPr id="359" name="Google Shape;359;p21"/>
          <p:cNvSpPr txBox="1"/>
          <p:nvPr/>
        </p:nvSpPr>
        <p:spPr>
          <a:xfrm>
            <a:off x="914400" y="520393"/>
            <a:ext cx="105156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Based on the data, from which airline would you choose to buy your ticket? Use measure(s) of center and variability to justify your choice.</a:t>
            </a:r>
            <a:endParaRPr sz="2400" dirty="0"/>
          </a:p>
          <a:p>
            <a:r>
              <a:rPr lang="en-US" sz="2400" dirty="0"/>
              <a:t> </a:t>
            </a:r>
            <a:endParaRPr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268</a:t>
            </a:r>
            <a:endParaRPr/>
          </a:p>
        </p:txBody>
      </p:sp>
      <p:pic>
        <p:nvPicPr>
          <p:cNvPr id="367" name="Google Shape;367;p2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68" name="Google Shape;368;p22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69" name="Google Shape;36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268</a:t>
            </a:r>
            <a:endParaRPr dirty="0"/>
          </a:p>
        </p:txBody>
      </p:sp>
      <p:pic>
        <p:nvPicPr>
          <p:cNvPr id="377" name="Google Shape;377;p2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78" name="Google Shape;378;p23"/>
          <p:cNvSpPr txBox="1"/>
          <p:nvPr/>
        </p:nvSpPr>
        <p:spPr>
          <a:xfrm>
            <a:off x="11430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13.6.6 Wrap-Up: Cool Down</a:t>
            </a:r>
            <a:endParaRPr dirty="0"/>
          </a:p>
        </p:txBody>
      </p:sp>
      <p:pic>
        <p:nvPicPr>
          <p:cNvPr id="379" name="Google Shape;37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80" name="Google Shape;380;p23"/>
          <p:cNvSpPr txBox="1"/>
          <p:nvPr/>
        </p:nvSpPr>
        <p:spPr>
          <a:xfrm>
            <a:off x="914400" y="1386025"/>
            <a:ext cx="10515600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4" indent="-457200">
              <a:buSzPts val="24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Write a short note to a classmate who missed class summarizing today’s lesson.  </a:t>
            </a:r>
            <a:endParaRPr dirty="0"/>
          </a:p>
          <a:p>
            <a:r>
              <a:rPr lang="en-US" i="1" dirty="0"/>
              <a:t> </a:t>
            </a:r>
            <a:endParaRPr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1214</Words>
  <Application>Microsoft Macintosh PowerPoint</Application>
  <PresentationFormat>Widescreen</PresentationFormat>
  <Paragraphs>274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Calibri</vt:lpstr>
      <vt:lpstr>Arial Black</vt:lpstr>
      <vt:lpstr>Cambria Math</vt:lpstr>
      <vt:lpstr>Verdana</vt:lpstr>
      <vt:lpstr>Arial</vt:lpstr>
      <vt:lpstr>Cambria</vt:lpstr>
      <vt:lpstr>Century Gothic</vt:lpstr>
      <vt:lpstr>1_Office Theme</vt:lpstr>
      <vt:lpstr>7th Grade Math  Unit 13, Lesson 6  Comparing Data Sets and Graphs  Volume 2, pg. 262  </vt:lpstr>
      <vt:lpstr>Benchmark</vt:lpstr>
      <vt:lpstr>PowerPoint Presentation</vt:lpstr>
      <vt:lpstr>PowerPoint Presentation</vt:lpstr>
      <vt:lpstr>Warm-Up</vt:lpstr>
      <vt:lpstr>PowerPoint Presentation</vt:lpstr>
      <vt:lpstr>Guided Practice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7th Grade Math  Unit 13, Lesson 6  Comparing Data Sets and Graphs  Volume 2, pg. 262</dc:title>
  <dc:creator>Karen McKenzie</dc:creator>
  <cp:lastModifiedBy>Diana Barnett</cp:lastModifiedBy>
  <cp:revision>4</cp:revision>
  <dcterms:created xsi:type="dcterms:W3CDTF">2015-03-17T18:51:18Z</dcterms:created>
  <dcterms:modified xsi:type="dcterms:W3CDTF">2023-01-30T17:53:35Z</dcterms:modified>
</cp:coreProperties>
</file>