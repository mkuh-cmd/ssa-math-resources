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9144000"/>
  <p:embeddedFontLst>
    <p:embeddedFont>
      <p:font typeface="Arial Black" panose="020B0A04020102020204" pitchFamily="34" charset="0"/>
      <p:regular r:id="rId31"/>
      <p:bold r:id="rId32"/>
    </p:embeddedFont>
    <p:embeddedFont>
      <p:font typeface="Calibri" panose="020F0502020204030204" pitchFamily="34" charset="0"/>
      <p:regular r:id="rId33"/>
      <p:bold r:id="rId34"/>
      <p:italic r:id="rId35"/>
      <p:boldItalic r:id="rId36"/>
    </p:embeddedFont>
    <p:embeddedFont>
      <p:font typeface="Cambria" panose="02040503050406030204" pitchFamily="18" charset="0"/>
      <p:regular r:id="rId37"/>
      <p:bold r:id="rId38"/>
      <p:italic r:id="rId39"/>
      <p:boldItalic r:id="rId40"/>
    </p:embeddedFont>
    <p:embeddedFont>
      <p:font typeface="Cambria Math" panose="02040503050406030204" pitchFamily="18" charset="0"/>
      <p:regular r:id="rId41"/>
    </p:embeddedFont>
    <p:embeddedFont>
      <p:font typeface="Century Gothic" panose="020B0502020202020204" pitchFamily="34" charset="0"/>
      <p:regular r:id="rId42"/>
      <p:bold r:id="rId43"/>
      <p:italic r:id="rId44"/>
      <p:boldItalic r:id="rId45"/>
    </p:embeddedFont>
    <p:embeddedFont>
      <p:font typeface="Verdana" panose="020B060403050404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8DmabHHhdoemS2TY+sMLVvDfCF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990BA44-4C6E-4FD3-9C0D-04238C06397C}">
  <a:tblStyle styleId="{D990BA44-4C6E-4FD3-9C0D-04238C06397C}"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8"/>
    <p:restoredTop sz="94694"/>
  </p:normalViewPr>
  <p:slideViewPr>
    <p:cSldViewPr snapToGrid="0">
      <p:cViewPr varScale="1">
        <p:scale>
          <a:sx n="58" d="100"/>
          <a:sy n="58" d="100"/>
        </p:scale>
        <p:origin x="78" y="3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1.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font" Target="fonts/font1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4.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4" name="Google Shape;364;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600" b="1">
                <a:solidFill>
                  <a:srgbClr val="417DBF"/>
                </a:solidFill>
                <a:latin typeface="Verdana"/>
                <a:ea typeface="Verdana"/>
                <a:cs typeface="Verdana"/>
                <a:sym typeface="Verdana"/>
              </a:rPr>
              <a:t>7</a:t>
            </a:r>
            <a:r>
              <a:rPr lang="en-US" sz="3600" b="1" baseline="30000">
                <a:solidFill>
                  <a:srgbClr val="417DBF"/>
                </a:solidFill>
                <a:latin typeface="Verdana"/>
                <a:ea typeface="Verdana"/>
                <a:cs typeface="Verdana"/>
                <a:sym typeface="Verdana"/>
              </a:rPr>
              <a:t>th</a:t>
            </a:r>
            <a:r>
              <a:rPr lang="en-US" sz="3600" b="1">
                <a:solidFill>
                  <a:srgbClr val="417DBF"/>
                </a:solidFill>
                <a:latin typeface="Verdana"/>
                <a:ea typeface="Verdana"/>
                <a:cs typeface="Verdana"/>
                <a:sym typeface="Verdana"/>
              </a:rPr>
              <a:t> Grade Math</a:t>
            </a:r>
            <a:br>
              <a:rPr lang="en-US" sz="3600" b="1">
                <a:solidFill>
                  <a:srgbClr val="417DBF"/>
                </a:solidFill>
                <a:latin typeface="Verdana"/>
                <a:ea typeface="Verdana"/>
                <a:cs typeface="Verdana"/>
                <a:sym typeface="Verdana"/>
              </a:rPr>
            </a:br>
            <a:endParaRPr sz="3600" b="1">
              <a:solidFill>
                <a:srgbClr val="417DBF"/>
              </a:solidFill>
              <a:latin typeface="Verdana"/>
              <a:ea typeface="Verdana"/>
              <a:cs typeface="Verdana"/>
              <a:sym typeface="Verdana"/>
            </a:endParaRPr>
          </a:p>
          <a:p>
            <a:pPr algn="ctr">
              <a:lnSpc>
                <a:spcPct val="100000"/>
              </a:lnSpc>
              <a:buClr>
                <a:srgbClr val="000000"/>
              </a:buClr>
            </a:pPr>
            <a:r>
              <a:rPr lang="en-US" sz="3600" b="1">
                <a:solidFill>
                  <a:srgbClr val="417DBF"/>
                </a:solidFill>
                <a:latin typeface="Verdana"/>
                <a:ea typeface="Verdana"/>
                <a:cs typeface="Verdana"/>
                <a:sym typeface="Verdana"/>
              </a:rPr>
              <a:t>Unit 13, Lesson 5</a:t>
            </a:r>
            <a:br>
              <a:rPr lang="en-US" sz="3600" b="1">
                <a:solidFill>
                  <a:srgbClr val="417DBF"/>
                </a:solidFill>
                <a:latin typeface="Verdana"/>
                <a:ea typeface="Verdana"/>
                <a:cs typeface="Verdana"/>
                <a:sym typeface="Verdana"/>
              </a:rPr>
            </a:br>
            <a:br>
              <a:rPr lang="en-US" sz="3600" b="1">
                <a:solidFill>
                  <a:srgbClr val="417DBF"/>
                </a:solidFill>
                <a:latin typeface="Verdana"/>
                <a:ea typeface="Verdana"/>
                <a:cs typeface="Verdana"/>
                <a:sym typeface="Verdana"/>
              </a:rPr>
            </a:br>
            <a:r>
              <a:rPr lang="en-US" sz="3600" b="1">
                <a:solidFill>
                  <a:srgbClr val="417DBF"/>
                </a:solidFill>
                <a:latin typeface="Verdana"/>
                <a:ea typeface="Verdana"/>
                <a:cs typeface="Verdana"/>
                <a:sym typeface="Verdana"/>
              </a:rPr>
              <a:t>Comparing Data Sets</a:t>
            </a:r>
            <a:br>
              <a:rPr lang="en-US" sz="3800" b="1">
                <a:solidFill>
                  <a:srgbClr val="417DBF"/>
                </a:solidFill>
                <a:latin typeface="Verdana"/>
                <a:ea typeface="Verdana"/>
                <a:cs typeface="Verdana"/>
                <a:sym typeface="Verdana"/>
              </a:rPr>
            </a:br>
            <a:br>
              <a:rPr lang="en-US" sz="3800" b="1">
                <a:solidFill>
                  <a:srgbClr val="417DBF"/>
                </a:solidFill>
                <a:latin typeface="Verdana"/>
                <a:ea typeface="Verdana"/>
                <a:cs typeface="Verdana"/>
                <a:sym typeface="Verdana"/>
              </a:rPr>
            </a:br>
            <a:r>
              <a:rPr lang="en-US" sz="2800" b="1">
                <a:solidFill>
                  <a:srgbClr val="417DBF"/>
                </a:solidFill>
                <a:latin typeface="Verdana"/>
                <a:ea typeface="Verdana"/>
                <a:cs typeface="Verdana"/>
                <a:sym typeface="Verdana"/>
              </a:rPr>
              <a:t>Volume 2, pg. 257</a:t>
            </a:r>
            <a:endParaRPr/>
          </a:p>
          <a:p>
            <a:pPr algn="ctr">
              <a:lnSpc>
                <a:spcPct val="100000"/>
              </a:lnSpc>
              <a:buClr>
                <a:srgbClr val="000000"/>
              </a:buClr>
            </a:pPr>
            <a:endParaRPr sz="3400" b="1">
              <a:solidFill>
                <a:srgbClr val="417DBF"/>
              </a:solidFill>
              <a:latin typeface="Verdana"/>
              <a:ea typeface="Verdana"/>
              <a:cs typeface="Verdana"/>
              <a:sym typeface="Verdana"/>
            </a:endParaRPr>
          </a:p>
          <a:p>
            <a:pPr algn="ctr">
              <a:lnSpc>
                <a:spcPct val="75000"/>
              </a:lnSpc>
            </a:pPr>
            <a:endParaRPr sz="310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480" y="15225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411480"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257</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800" dirty="0">
                <a:solidFill>
                  <a:schemeClr val="dk1"/>
                </a:solidFill>
                <a:latin typeface="Verdana"/>
                <a:ea typeface="Verdana"/>
                <a:cs typeface="Verdana"/>
                <a:sym typeface="Verdana"/>
              </a:rPr>
              <a:t>MA.7.DP.1.2</a:t>
            </a:r>
            <a:endParaRPr sz="2800" dirty="0"/>
          </a:p>
          <a:p>
            <a:pPr marL="457200">
              <a:lnSpc>
                <a:spcPct val="90000"/>
              </a:lnSpc>
              <a:spcBef>
                <a:spcPts val="750"/>
              </a:spcBef>
              <a:buClr>
                <a:schemeClr val="dk1"/>
              </a:buClr>
              <a:buSzPts val="2100"/>
            </a:pPr>
            <a:r>
              <a:rPr lang="en-US" sz="2800" dirty="0">
                <a:solidFill>
                  <a:schemeClr val="dk1"/>
                </a:solidFill>
                <a:latin typeface="Verdana"/>
                <a:ea typeface="Verdana"/>
                <a:cs typeface="Verdana"/>
                <a:sym typeface="Verdana"/>
              </a:rPr>
              <a:t>Given two numerical or graphical representations of data, use the measure(s) of center and measure(s) of variability to make comparisons, interpret results, and draw conclusions about the two populations.</a:t>
            </a:r>
            <a:endParaRPr sz="2800" dirty="0"/>
          </a:p>
          <a:p>
            <a:pPr marL="457200">
              <a:lnSpc>
                <a:spcPct val="90000"/>
              </a:lnSpc>
              <a:spcBef>
                <a:spcPts val="750"/>
              </a:spcBef>
              <a:buClr>
                <a:schemeClr val="dk1"/>
              </a:buClr>
              <a:buSzPts val="2100"/>
            </a:pPr>
            <a:endParaRPr sz="2800"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356616" y="372300"/>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Integrated Mathematical Thinking and Reasoning Standards</a:t>
            </a:r>
            <a:endParaRPr sz="3200" dirty="0"/>
          </a:p>
        </p:txBody>
      </p:sp>
      <p:sp>
        <p:nvSpPr>
          <p:cNvPr id="137" name="Google Shape;137;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257</a:t>
            </a:r>
            <a:endParaRPr/>
          </a:p>
        </p:txBody>
      </p:sp>
      <p:sp>
        <p:nvSpPr>
          <p:cNvPr id="138" name="Google Shape;138;p1"/>
          <p:cNvSpPr txBox="1"/>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p>
            <a:r>
              <a:rPr lang="en-US" sz="2800" dirty="0">
                <a:solidFill>
                  <a:schemeClr val="dk1"/>
                </a:solidFill>
                <a:latin typeface="Verdana"/>
                <a:ea typeface="Verdana"/>
                <a:cs typeface="Verdana"/>
                <a:sym typeface="Verdana"/>
              </a:rPr>
              <a:t>MA.K12.MTR.1.1 Actively participate in effortful learning both individually and collectively.</a:t>
            </a:r>
            <a:endParaRPr sz="2800" dirty="0"/>
          </a:p>
          <a:p>
            <a:pPr marL="457200"/>
            <a:endParaRPr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MA.K12.MTR.2.1 Demonstrate understanding by representing problems in multiple ways.</a:t>
            </a:r>
            <a:endParaRPr sz="2800" dirty="0"/>
          </a:p>
          <a:p>
            <a:pPr marL="457200"/>
            <a:endParaRPr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MA.K12.MTR.4.1 Engage in discussions that reflect on the mathematical thinking of self and others.</a:t>
            </a:r>
            <a:endParaRPr sz="2800" dirty="0"/>
          </a:p>
          <a:p>
            <a:pPr marL="457200"/>
            <a:endParaRPr sz="2800" dirty="0">
              <a:solidFill>
                <a:schemeClr val="dk1"/>
              </a:solidFill>
              <a:latin typeface="Verdana"/>
              <a:ea typeface="Verdana"/>
              <a:cs typeface="Verdana"/>
              <a:sym typeface="Verdan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a:solidFill>
                  <a:srgbClr val="52BDA6"/>
                </a:solidFill>
                <a:latin typeface="Verdana"/>
                <a:ea typeface="Verdana"/>
                <a:cs typeface="Verdana"/>
                <a:sym typeface="Verdana"/>
              </a:rPr>
              <a:t>Learning Target</a:t>
            </a:r>
            <a:endParaRPr/>
          </a:p>
        </p:txBody>
      </p:sp>
      <p:pic>
        <p:nvPicPr>
          <p:cNvPr id="147" name="Google Shape;147;p2"/>
          <p:cNvPicPr preferRelativeResize="0"/>
          <p:nvPr/>
        </p:nvPicPr>
        <p:blipFill rotWithShape="1">
          <a:blip r:embed="rId4">
            <a:alphaModFix/>
          </a:blip>
          <a:srcRect/>
          <a:stretch/>
        </p:blipFill>
        <p:spPr>
          <a:xfrm>
            <a:off x="356616" y="319860"/>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257</a:t>
            </a:r>
            <a:endParaRPr dirty="0"/>
          </a:p>
        </p:txBody>
      </p:sp>
      <p:sp>
        <p:nvSpPr>
          <p:cNvPr id="149" name="Google Shape;149;p2"/>
          <p:cNvSpPr txBox="1"/>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p>
            <a:pPr marL="463550" indent="-463550">
              <a:buSzPts val="2400"/>
              <a:buFont typeface="Noto Sans Symbols"/>
              <a:buChar char="❑"/>
            </a:pPr>
            <a:r>
              <a:rPr lang="en-US" sz="2800" dirty="0">
                <a:latin typeface="Verdana"/>
                <a:ea typeface="Verdana"/>
                <a:cs typeface="Verdana"/>
                <a:sym typeface="Verdana"/>
              </a:rPr>
              <a:t>I can compare and interpret two numerical representations of data for two populations.</a:t>
            </a:r>
            <a:endParaRP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3054096"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257</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13.5.1 Warm-Up: Notice and Wonder</a:t>
            </a:r>
            <a:endParaRPr dirty="0"/>
          </a:p>
        </p:txBody>
      </p:sp>
      <p:pic>
        <p:nvPicPr>
          <p:cNvPr id="168" name="Google Shape;168;p4"/>
          <p:cNvPicPr preferRelativeResize="0"/>
          <p:nvPr/>
        </p:nvPicPr>
        <p:blipFill rotWithShape="1">
          <a:blip r:embed="rId4">
            <a:alphaModFix/>
          </a:blip>
          <a:srcRect/>
          <a:stretch/>
        </p:blipFill>
        <p:spPr>
          <a:xfrm>
            <a:off x="356616" y="197485"/>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257</a:t>
            </a:r>
            <a:endParaRPr dirty="0"/>
          </a:p>
        </p:txBody>
      </p:sp>
      <p:sp>
        <p:nvSpPr>
          <p:cNvPr id="170" name="Google Shape;170;p4"/>
          <p:cNvSpPr txBox="1"/>
          <p:nvPr/>
        </p:nvSpPr>
        <p:spPr>
          <a:xfrm>
            <a:off x="1143000" y="1386025"/>
            <a:ext cx="9244584" cy="707886"/>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The line plots represent the distribution of the tip amounts, in dollars, left at two different restaurants on the same night.</a:t>
            </a:r>
            <a:endParaRPr dirty="0"/>
          </a:p>
        </p:txBody>
      </p:sp>
      <p:pic>
        <p:nvPicPr>
          <p:cNvPr id="171" name="Google Shape;171;p4" descr="Chart, scatter chart&#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614738" y="2051292"/>
            <a:ext cx="4962525" cy="1924685"/>
          </a:xfrm>
          <a:prstGeom prst="rect">
            <a:avLst/>
          </a:prstGeom>
          <a:noFill/>
          <a:ln>
            <a:noFill/>
          </a:ln>
        </p:spPr>
      </p:pic>
      <p:pic>
        <p:nvPicPr>
          <p:cNvPr id="172" name="Google Shape;172;p4" descr="Chart, scatter chart&#10;&#10;Description automatically generated"/>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3705542" y="4272264"/>
            <a:ext cx="4871720" cy="1889125"/>
          </a:xfrm>
          <a:prstGeom prst="rect">
            <a:avLst/>
          </a:prstGeom>
          <a:noFill/>
          <a:ln>
            <a:noFill/>
          </a:ln>
        </p:spPr>
      </p:pic>
      <p:sp>
        <p:nvSpPr>
          <p:cNvPr id="173" name="Google Shape;173;p4"/>
          <p:cNvSpPr txBox="1"/>
          <p:nvPr/>
        </p:nvSpPr>
        <p:spPr>
          <a:xfrm>
            <a:off x="3914769" y="6200600"/>
            <a:ext cx="4618494" cy="400110"/>
          </a:xfrm>
          <a:prstGeom prst="rect">
            <a:avLst/>
          </a:prstGeom>
          <a:noFill/>
          <a:ln>
            <a:noFill/>
          </a:ln>
        </p:spPr>
        <p:txBody>
          <a:bodyPr spcFirstLastPara="1" wrap="square" lIns="91425" tIns="45700" rIns="91425" bIns="45700" anchor="t" anchorCtr="0">
            <a:spAutoFit/>
          </a:bodyPr>
          <a:lstStyle/>
          <a:p>
            <a:pPr algn="ctr"/>
            <a:r>
              <a:rPr lang="en-US" sz="2000" b="1">
                <a:latin typeface="Verdana"/>
                <a:ea typeface="Verdana"/>
                <a:cs typeface="Verdana"/>
                <a:sym typeface="Verdana"/>
              </a:rPr>
              <a:t>Tip Amount (in dollars)</a:t>
            </a:r>
            <a:endParaRPr sz="20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80" name="Google Shape;180;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1" name="Google Shape;181;p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257</a:t>
            </a:r>
            <a:endParaRPr dirty="0"/>
          </a:p>
        </p:txBody>
      </p:sp>
      <p:sp>
        <p:nvSpPr>
          <p:cNvPr id="182" name="Google Shape;182;p5"/>
          <p:cNvSpPr txBox="1"/>
          <p:nvPr/>
        </p:nvSpPr>
        <p:spPr>
          <a:xfrm>
            <a:off x="914399" y="520394"/>
            <a:ext cx="10515600" cy="4339609"/>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a:pPr>
            <a:r>
              <a:rPr lang="en-US" sz="2400" dirty="0">
                <a:latin typeface="Verdana"/>
                <a:ea typeface="Verdana"/>
                <a:cs typeface="Verdana"/>
                <a:sym typeface="Verdana"/>
              </a:rPr>
              <a:t>Complete each statement.</a:t>
            </a:r>
            <a:endParaRPr dirty="0"/>
          </a:p>
          <a:p>
            <a:r>
              <a:rPr lang="en-US" sz="2400" dirty="0">
                <a:latin typeface="Verdana"/>
                <a:ea typeface="Verdana"/>
                <a:cs typeface="Verdana"/>
                <a:sym typeface="Verdana"/>
              </a:rPr>
              <a:t> </a:t>
            </a:r>
            <a:endParaRPr dirty="0"/>
          </a:p>
          <a:p>
            <a:pPr marL="928688" lvl="1" indent="-465138">
              <a:buSzPts val="2400"/>
              <a:buFont typeface="Arial"/>
              <a:buAutoNum type="alphaLcPeriod"/>
            </a:pPr>
            <a:r>
              <a:rPr lang="en-US" sz="2400" dirty="0">
                <a:latin typeface="Verdana"/>
                <a:ea typeface="Verdana"/>
                <a:cs typeface="Verdana"/>
                <a:sym typeface="Verdana"/>
              </a:rPr>
              <a:t>When looking at the data displays, one thing I notice is …</a:t>
            </a:r>
            <a:endParaRPr lang="en-US" dirty="0">
              <a:ea typeface="Verdana"/>
            </a:endParaRPr>
          </a:p>
          <a:p>
            <a:pPr marL="928688" lvl="1" indent="-465138">
              <a:buSzPts val="2400"/>
              <a:buFont typeface="Arial"/>
              <a:buAutoNum type="alphaLcPeriod"/>
            </a:pPr>
            <a:endParaRPr lang="en-US" sz="2400" dirty="0">
              <a:latin typeface="Verdana"/>
              <a:ea typeface="Verdana"/>
              <a:cs typeface="Verdana"/>
              <a:sym typeface="Verdana"/>
            </a:endParaRPr>
          </a:p>
          <a:p>
            <a:pPr marL="928688" lvl="1" indent="-465138">
              <a:buSzPts val="2400"/>
              <a:buFont typeface="Arial"/>
              <a:buAutoNum type="alphaLcPeriod"/>
            </a:pPr>
            <a:endParaRPr lang="en-US" sz="2400" dirty="0">
              <a:latin typeface="Verdana"/>
              <a:ea typeface="Verdana"/>
              <a:cs typeface="Verdana"/>
              <a:sym typeface="Verdana"/>
            </a:endParaRPr>
          </a:p>
          <a:p>
            <a:pPr marL="928688" lvl="1" indent="-465138">
              <a:buSzPts val="2400"/>
              <a:buFont typeface="Arial"/>
              <a:buAutoNum type="alphaLcPeriod"/>
            </a:pPr>
            <a:endParaRPr lang="en-US" sz="2400" dirty="0">
              <a:latin typeface="Verdana"/>
              <a:ea typeface="Verdana"/>
              <a:cs typeface="Verdana"/>
              <a:sym typeface="Verdana"/>
            </a:endParaRPr>
          </a:p>
          <a:p>
            <a:pPr marL="928688" lvl="1" indent="-465138">
              <a:buSzPts val="2400"/>
              <a:buFont typeface="Arial"/>
              <a:buAutoNum type="alphaLcPeriod"/>
            </a:pPr>
            <a:r>
              <a:rPr lang="en-US" sz="2400" dirty="0">
                <a:latin typeface="Verdana"/>
                <a:ea typeface="Verdana"/>
                <a:cs typeface="Verdana"/>
                <a:sym typeface="Verdana"/>
              </a:rPr>
              <a:t>One thing I wonder is …</a:t>
            </a:r>
            <a:endParaRPr dirty="0"/>
          </a:p>
          <a:p>
            <a:pPr marL="928688" lvl="1" indent="-312738">
              <a:buSzPts val="2400"/>
            </a:pPr>
            <a:endParaRPr sz="2400" dirty="0">
              <a:latin typeface="Verdana"/>
              <a:ea typeface="Verdana"/>
              <a:cs typeface="Verdana"/>
              <a:sym typeface="Verdana"/>
            </a:endParaRPr>
          </a:p>
          <a:p>
            <a:pPr marL="928688" lvl="1" indent="-312738">
              <a:buSzPts val="2400"/>
            </a:pPr>
            <a:endParaRPr sz="2400" dirty="0">
              <a:latin typeface="Verdana"/>
              <a:ea typeface="Verdana"/>
              <a:cs typeface="Verdana"/>
              <a:sym typeface="Verdana"/>
            </a:endParaRPr>
          </a:p>
          <a:p>
            <a:pPr marL="928688" lvl="1" indent="-338138">
              <a:buSzPts val="2000"/>
            </a:pPr>
            <a:endParaRPr sz="2000" dirty="0">
              <a:latin typeface="Verdana"/>
              <a:ea typeface="Verdana"/>
              <a:cs typeface="Verdana"/>
              <a:sym typeface="Verdana"/>
            </a:endParaRPr>
          </a:p>
          <a:p>
            <a:pPr marL="928688" lvl="1" indent="-338138">
              <a:buSzPts val="2000"/>
            </a:pPr>
            <a:endParaRPr sz="2000" dirty="0">
              <a:latin typeface="Verdana"/>
              <a:ea typeface="Verdana"/>
              <a:cs typeface="Verdana"/>
              <a:sym typeface="Verdana"/>
            </a:endParaRPr>
          </a:p>
          <a:p>
            <a:pPr marL="928688" lvl="1" indent="-338138">
              <a:buSzPts val="2000"/>
            </a:pPr>
            <a:endParaRPr sz="2000" dirty="0">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89" name="Google Shape;189;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90" name="Google Shape;190;p6"/>
          <p:cNvSpPr txBox="1">
            <a:spLocks noGrp="1"/>
          </p:cNvSpPr>
          <p:nvPr>
            <p:ph type="title" idx="4294967295"/>
          </p:nvPr>
        </p:nvSpPr>
        <p:spPr>
          <a:xfrm>
            <a:off x="4270248"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191" name="Google Shape;191;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258</a:t>
            </a:r>
            <a:endParaRPr dirty="0"/>
          </a:p>
        </p:txBody>
      </p:sp>
      <p:pic>
        <p:nvPicPr>
          <p:cNvPr id="192" name="Google Shape;192;p6" descr="Icon&#10;&#10;Description automatically generated"/>
          <p:cNvPicPr preferRelativeResize="0"/>
          <p:nvPr/>
        </p:nvPicPr>
        <p:blipFill rotWithShape="1">
          <a:blip r:embed="rId4">
            <a:alphaModFix/>
          </a:blip>
          <a:srcRect/>
          <a:stretch/>
        </p:blipFill>
        <p:spPr>
          <a:xfrm>
            <a:off x="3054096" y="2814305"/>
            <a:ext cx="1156228" cy="1156228"/>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00" name="Google Shape;200;p7"/>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13.5.2 Exploration: Calculating Measures of Center and Variation</a:t>
            </a:r>
            <a:endParaRPr dirty="0"/>
          </a:p>
        </p:txBody>
      </p:sp>
      <p:sp>
        <p:nvSpPr>
          <p:cNvPr id="201" name="Google Shape;201;p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258</a:t>
            </a:r>
            <a:endParaRPr dirty="0"/>
          </a:p>
        </p:txBody>
      </p:sp>
      <p:pic>
        <p:nvPicPr>
          <p:cNvPr id="202" name="Google Shape;202;p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08450"/>
            <a:ext cx="752254" cy="752254"/>
          </a:xfrm>
          <a:prstGeom prst="rect">
            <a:avLst/>
          </a:prstGeom>
          <a:noFill/>
          <a:ln>
            <a:noFill/>
          </a:ln>
          <a:effectLst>
            <a:outerShdw blurRad="50800" dist="38100" dir="2700000" algn="tl" rotWithShape="0">
              <a:srgbClr val="000000">
                <a:alpha val="40000"/>
              </a:srgbClr>
            </a:outerShdw>
          </a:effectLst>
        </p:spPr>
      </p:pic>
      <p:sp>
        <p:nvSpPr>
          <p:cNvPr id="203" name="Google Shape;203;p7"/>
          <p:cNvSpPr txBox="1"/>
          <p:nvPr/>
        </p:nvSpPr>
        <p:spPr>
          <a:xfrm>
            <a:off x="1143000" y="1386026"/>
            <a:ext cx="9865426" cy="4924425"/>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On a college entrance exam, the possible scores on the math section range from 200-800. Below are the scores for 20 randomly selected female high school seniors.</a:t>
            </a:r>
            <a:endParaRPr dirty="0"/>
          </a:p>
          <a:p>
            <a:endParaRPr sz="2000" dirty="0">
              <a:latin typeface="Verdana"/>
              <a:ea typeface="Verdana"/>
              <a:cs typeface="Verdana"/>
              <a:sym typeface="Verdana"/>
            </a:endParaRPr>
          </a:p>
          <a:p>
            <a:pPr marL="2290763" indent="-2290763"/>
            <a:r>
              <a:rPr lang="en-US" sz="2000" dirty="0">
                <a:latin typeface="Cambria Math"/>
                <a:ea typeface="Cambria Math"/>
                <a:cs typeface="Cambria Math"/>
                <a:sym typeface="Cambria Math"/>
              </a:rPr>
              <a:t>454   409   437   415   452   440   454   478   401   403   426   426   437   465   465   429   470   448   511   453</a:t>
            </a:r>
            <a:endParaRPr dirty="0"/>
          </a:p>
          <a:p>
            <a:r>
              <a:rPr lang="en-US" dirty="0"/>
              <a:t> </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The scores for 20 randomly selected male high school seniors are shown below.</a:t>
            </a:r>
            <a:endParaRPr dirty="0"/>
          </a:p>
          <a:p>
            <a:endParaRPr sz="2000" dirty="0">
              <a:latin typeface="Cambria Math"/>
              <a:ea typeface="Cambria Math"/>
              <a:cs typeface="Cambria Math"/>
              <a:sym typeface="Cambria Math"/>
            </a:endParaRPr>
          </a:p>
          <a:p>
            <a:pPr marL="2290763" indent="-2276475"/>
            <a:r>
              <a:rPr lang="en-US" sz="2000" dirty="0">
                <a:latin typeface="Cambria Math"/>
                <a:ea typeface="Cambria Math"/>
                <a:cs typeface="Cambria Math"/>
                <a:sym typeface="Cambria Math"/>
              </a:rPr>
              <a:t>408   440   414   391   480   415   426   392   469   446   409   432   375   388   413   451   370   415   487   404</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10" name="Google Shape;210;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11" name="Google Shape;211;p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258</a:t>
            </a:r>
            <a:endParaRPr/>
          </a:p>
        </p:txBody>
      </p:sp>
      <p:sp>
        <p:nvSpPr>
          <p:cNvPr id="212" name="Google Shape;212;p8"/>
          <p:cNvSpPr txBox="1"/>
          <p:nvPr/>
        </p:nvSpPr>
        <p:spPr>
          <a:xfrm>
            <a:off x="914400" y="520393"/>
            <a:ext cx="10515600" cy="707886"/>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dirty="0">
                <a:latin typeface="Verdana"/>
                <a:ea typeface="Verdana"/>
                <a:cs typeface="Verdana"/>
                <a:sym typeface="Verdana"/>
              </a:rPr>
              <a:t>Work with your partner to complete the table by calculating the measures of center and variability for each set of data.</a:t>
            </a:r>
            <a:endParaRPr dirty="0"/>
          </a:p>
        </p:txBody>
      </p:sp>
      <p:graphicFrame>
        <p:nvGraphicFramePr>
          <p:cNvPr id="213" name="Google Shape;213;p8"/>
          <p:cNvGraphicFramePr/>
          <p:nvPr/>
        </p:nvGraphicFramePr>
        <p:xfrm>
          <a:off x="2463010" y="1751600"/>
          <a:ext cx="7416650" cy="3346450"/>
        </p:xfrm>
        <a:graphic>
          <a:graphicData uri="http://schemas.openxmlformats.org/drawingml/2006/table">
            <a:tbl>
              <a:tblPr firstRow="1" firstCol="1" bandRow="1">
                <a:noFill/>
                <a:tableStyleId>{D990BA44-4C6E-4FD3-9C0D-04238C06397C}</a:tableStyleId>
              </a:tblPr>
              <a:tblGrid>
                <a:gridCol w="2544925">
                  <a:extLst>
                    <a:ext uri="{9D8B030D-6E8A-4147-A177-3AD203B41FA5}">
                      <a16:colId xmlns:a16="http://schemas.microsoft.com/office/drawing/2014/main" val="20000"/>
                    </a:ext>
                  </a:extLst>
                </a:gridCol>
                <a:gridCol w="2544925">
                  <a:extLst>
                    <a:ext uri="{9D8B030D-6E8A-4147-A177-3AD203B41FA5}">
                      <a16:colId xmlns:a16="http://schemas.microsoft.com/office/drawing/2014/main" val="20001"/>
                    </a:ext>
                  </a:extLst>
                </a:gridCol>
                <a:gridCol w="2326800">
                  <a:extLst>
                    <a:ext uri="{9D8B030D-6E8A-4147-A177-3AD203B41FA5}">
                      <a16:colId xmlns:a16="http://schemas.microsoft.com/office/drawing/2014/main" val="20002"/>
                    </a:ext>
                  </a:extLst>
                </a:gridCol>
              </a:tblGrid>
              <a:tr h="1841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Measure</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Female Students</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Male Students</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06425">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Potential Outliers</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0" name="Google Shape;220;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21" name="Google Shape;221;p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258</a:t>
            </a:r>
            <a:endParaRPr dirty="0"/>
          </a:p>
        </p:txBody>
      </p:sp>
      <p:sp>
        <p:nvSpPr>
          <p:cNvPr id="222" name="Google Shape;222;p9"/>
          <p:cNvSpPr txBox="1"/>
          <p:nvPr/>
        </p:nvSpPr>
        <p:spPr>
          <a:xfrm>
            <a:off x="914400" y="520394"/>
            <a:ext cx="10392984" cy="5170606"/>
          </a:xfrm>
          <a:prstGeom prst="rect">
            <a:avLst/>
          </a:prstGeom>
          <a:noFill/>
          <a:ln>
            <a:noFill/>
          </a:ln>
        </p:spPr>
        <p:txBody>
          <a:bodyPr spcFirstLastPara="1" wrap="square" lIns="91425" tIns="45700" rIns="91425" bIns="45700" anchor="t" anchorCtr="0">
            <a:spAutoFit/>
          </a:bodyPr>
          <a:lstStyle/>
          <a:p>
            <a:pPr marL="342900" indent="-342900">
              <a:buSzPts val="2000"/>
              <a:buFont typeface="Arial"/>
              <a:buAutoNum type="arabicPeriod" startAt="2"/>
            </a:pPr>
            <a:r>
              <a:rPr lang="en-US" sz="2000" dirty="0">
                <a:latin typeface="Verdana"/>
                <a:ea typeface="Verdana"/>
                <a:cs typeface="Verdana"/>
                <a:sym typeface="Verdana"/>
              </a:rPr>
              <a:t>Complete the statements.</a:t>
            </a:r>
            <a:endParaRPr dirty="0"/>
          </a:p>
          <a:p>
            <a:pPr marL="342900" indent="-215900">
              <a:buSzPts val="2000"/>
            </a:pPr>
            <a:endParaRPr sz="2000" dirty="0">
              <a:latin typeface="Verdana"/>
              <a:ea typeface="Verdana"/>
              <a:cs typeface="Verdana"/>
              <a:sym typeface="Verdana"/>
            </a:endParaRPr>
          </a:p>
          <a:p>
            <a:pPr marL="928688" indent="-465138">
              <a:lnSpc>
                <a:spcPct val="250000"/>
              </a:lnSpc>
              <a:buSzPts val="2000"/>
              <a:buFont typeface="Arial"/>
              <a:buAutoNum type="alphaLcPeriod"/>
            </a:pPr>
            <a:r>
              <a:rPr lang="en-US" sz="2000" dirty="0">
                <a:latin typeface="Verdana"/>
                <a:ea typeface="Verdana"/>
                <a:cs typeface="Verdana"/>
                <a:sym typeface="Verdana"/>
              </a:rPr>
              <a:t>Female students tend to have 		scores on the math section of the college entrance exam, with a median of _______, than males, who have a median of _______.</a:t>
            </a:r>
            <a:endParaRPr dirty="0"/>
          </a:p>
          <a:p>
            <a:pPr indent="928688"/>
            <a:endParaRPr sz="2000" dirty="0">
              <a:latin typeface="Verdana"/>
              <a:ea typeface="Verdana"/>
              <a:cs typeface="Verdana"/>
              <a:sym typeface="Verdana"/>
            </a:endParaRPr>
          </a:p>
          <a:p>
            <a:pPr marL="928687" indent="-465137">
              <a:lnSpc>
                <a:spcPct val="250000"/>
              </a:lnSpc>
              <a:buSzPts val="2000"/>
              <a:buFont typeface="Arial"/>
              <a:buAutoNum type="alphaLcPeriod" startAt="2"/>
            </a:pPr>
            <a:r>
              <a:rPr lang="en-US" sz="2000" dirty="0">
                <a:latin typeface="Verdana"/>
                <a:ea typeface="Verdana"/>
                <a:cs typeface="Verdana"/>
                <a:sym typeface="Verdana"/>
              </a:rPr>
              <a:t>Scores for males tend to have 		variability, with an IQR of _______, than scores for females, with an IQR of _______.</a:t>
            </a:r>
            <a:endParaRPr dirty="0"/>
          </a:p>
          <a:p>
            <a:pPr marL="342900" indent="-215900">
              <a:buSzPts val="2000"/>
            </a:pPr>
            <a:endParaRPr sz="2000" dirty="0">
              <a:latin typeface="Verdana"/>
              <a:ea typeface="Verdana"/>
              <a:cs typeface="Verdana"/>
              <a:sym typeface="Verdana"/>
            </a:endParaRPr>
          </a:p>
        </p:txBody>
      </p:sp>
      <p:grpSp>
        <p:nvGrpSpPr>
          <p:cNvPr id="223" name="Google Shape;223;p9"/>
          <p:cNvGrpSpPr/>
          <p:nvPr/>
        </p:nvGrpSpPr>
        <p:grpSpPr>
          <a:xfrm>
            <a:off x="5784006" y="1270853"/>
            <a:ext cx="1610925" cy="947999"/>
            <a:chOff x="85724" y="0"/>
            <a:chExt cx="1962150" cy="1460933"/>
          </a:xfrm>
        </p:grpSpPr>
        <p:sp>
          <p:nvSpPr>
            <p:cNvPr id="224" name="Google Shape;224;p9"/>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225" name="Google Shape;225;p9"/>
            <p:cNvSpPr txBox="1"/>
            <p:nvPr/>
          </p:nvSpPr>
          <p:spPr>
            <a:xfrm>
              <a:off x="85724" y="66774"/>
              <a:ext cx="1962150" cy="1394159"/>
            </a:xfrm>
            <a:prstGeom prst="rect">
              <a:avLst/>
            </a:prstGeom>
            <a:noFill/>
            <a:ln>
              <a:noFill/>
            </a:ln>
          </p:spPr>
          <p:txBody>
            <a:bodyPr spcFirstLastPara="1" wrap="square" lIns="91425" tIns="45700" rIns="91425" bIns="45700" anchor="t" anchorCtr="0">
              <a:noAutofit/>
            </a:bodyPr>
            <a:lstStyle/>
            <a:p>
              <a:pPr marL="463550" indent="-277813">
                <a:buSzPts val="2000"/>
                <a:buFont typeface="Courier New"/>
                <a:buChar char="o"/>
              </a:pPr>
              <a:r>
                <a:rPr lang="en-US" sz="2000">
                  <a:latin typeface="Verdana"/>
                  <a:ea typeface="Verdana"/>
                  <a:cs typeface="Verdana"/>
                  <a:sym typeface="Verdana"/>
                </a:rPr>
                <a:t>lower</a:t>
              </a:r>
              <a:endParaRPr sz="2000">
                <a:latin typeface="Cambria"/>
                <a:ea typeface="Cambria"/>
                <a:cs typeface="Cambria"/>
                <a:sym typeface="Cambria"/>
              </a:endParaRPr>
            </a:p>
            <a:p>
              <a:pPr marL="463550" indent="-277813">
                <a:buSzPts val="2000"/>
                <a:buFont typeface="Courier New"/>
                <a:buChar char="o"/>
              </a:pPr>
              <a:r>
                <a:rPr lang="en-US" sz="2000">
                  <a:latin typeface="Verdana"/>
                  <a:ea typeface="Verdana"/>
                  <a:cs typeface="Verdana"/>
                  <a:sym typeface="Verdana"/>
                </a:rPr>
                <a:t>higher</a:t>
              </a:r>
              <a:endParaRPr sz="2000">
                <a:latin typeface="Cambria"/>
                <a:ea typeface="Cambria"/>
                <a:cs typeface="Cambria"/>
                <a:sym typeface="Cambria"/>
              </a:endParaRPr>
            </a:p>
          </p:txBody>
        </p:sp>
      </p:grpSp>
      <p:sp>
        <p:nvSpPr>
          <p:cNvPr id="226" name="Google Shape;226;p9"/>
          <p:cNvSpPr/>
          <p:nvPr/>
        </p:nvSpPr>
        <p:spPr>
          <a:xfrm>
            <a:off x="5898652" y="3869349"/>
            <a:ext cx="1425900" cy="769800"/>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indent="-342900">
              <a:buSzPts val="2000"/>
              <a:buFont typeface="Courier New"/>
              <a:buChar char="o"/>
            </a:pPr>
            <a:r>
              <a:rPr lang="en-US" sz="2000">
                <a:solidFill>
                  <a:schemeClr val="dk1"/>
                </a:solidFill>
                <a:latin typeface="Verdana"/>
                <a:ea typeface="Verdana"/>
                <a:cs typeface="Verdana"/>
                <a:sym typeface="Verdana"/>
              </a:rPr>
              <a:t>less</a:t>
            </a:r>
            <a:endParaRPr sz="2000">
              <a:solidFill>
                <a:schemeClr val="dk1"/>
              </a:solidFill>
            </a:endParaRPr>
          </a:p>
          <a:p>
            <a:pPr marL="342900" indent="-342900">
              <a:buSzPts val="2000"/>
              <a:buFont typeface="Courier New"/>
              <a:buChar char="o"/>
            </a:pPr>
            <a:r>
              <a:rPr lang="en-US" sz="2000">
                <a:solidFill>
                  <a:schemeClr val="dk1"/>
                </a:solidFill>
                <a:latin typeface="Verdana"/>
                <a:ea typeface="Verdana"/>
                <a:cs typeface="Verdana"/>
                <a:sym typeface="Verdana"/>
              </a:rPr>
              <a:t>more</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3" name="Google Shape;233;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34" name="Google Shape;234;p1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258</a:t>
            </a:r>
            <a:endParaRPr/>
          </a:p>
        </p:txBody>
      </p:sp>
      <p:sp>
        <p:nvSpPr>
          <p:cNvPr id="235" name="Google Shape;235;p10"/>
          <p:cNvSpPr txBox="1"/>
          <p:nvPr/>
        </p:nvSpPr>
        <p:spPr>
          <a:xfrm>
            <a:off x="914400" y="520394"/>
            <a:ext cx="10515600" cy="3416279"/>
          </a:xfrm>
          <a:prstGeom prst="rect">
            <a:avLst/>
          </a:prstGeom>
          <a:noFill/>
          <a:ln>
            <a:noFill/>
          </a:ln>
        </p:spPr>
        <p:txBody>
          <a:bodyPr spcFirstLastPara="1" wrap="square" lIns="91425" tIns="45700" rIns="91425" bIns="45700" anchor="t" anchorCtr="0">
            <a:spAutoFit/>
          </a:bodyPr>
          <a:lstStyle/>
          <a:p>
            <a:pPr marL="914400" indent="-457200">
              <a:buSzPts val="2400"/>
              <a:buFont typeface="Arial"/>
              <a:buAutoNum type="alphaLcPeriod" startAt="3"/>
            </a:pPr>
            <a:r>
              <a:rPr lang="en-US" sz="2400" dirty="0">
                <a:latin typeface="Verdana"/>
                <a:ea typeface="Verdana"/>
                <a:cs typeface="Verdana"/>
                <a:sym typeface="Verdana"/>
              </a:rPr>
              <a:t>Explain why the measures median and IQR were chosen to describe the data sets above instead of mean and range.</a:t>
            </a:r>
            <a:endParaRPr lang="en-US" dirty="0">
              <a:ea typeface="Verdana"/>
            </a:endParaRPr>
          </a:p>
          <a:p>
            <a:pPr marL="914400" indent="-457200">
              <a:buSzPts val="2400"/>
              <a:buFont typeface="Arial"/>
              <a:buAutoNum type="alphaLcPeriod" startAt="3"/>
            </a:pPr>
            <a:endParaRPr lang="en-US" sz="2400" dirty="0">
              <a:latin typeface="Verdana"/>
              <a:ea typeface="Verdana"/>
              <a:cs typeface="Verdana"/>
              <a:sym typeface="Verdana"/>
            </a:endParaRPr>
          </a:p>
          <a:p>
            <a:pPr marL="914400" indent="-457200">
              <a:buSzPts val="2400"/>
              <a:buFont typeface="Arial"/>
              <a:buAutoNum type="alphaLcPeriod" startAt="3"/>
            </a:pPr>
            <a:endParaRPr lang="en-US" sz="2400" dirty="0">
              <a:latin typeface="Verdana"/>
              <a:ea typeface="Verdana"/>
              <a:cs typeface="Verdana"/>
              <a:sym typeface="Verdana"/>
            </a:endParaRPr>
          </a:p>
          <a:p>
            <a:pPr marL="914400" indent="-457200">
              <a:buSzPts val="2400"/>
              <a:buFont typeface="Arial"/>
              <a:buAutoNum type="alphaLcPeriod" startAt="3"/>
            </a:pPr>
            <a:endParaRPr lang="en-US" sz="2400" dirty="0">
              <a:latin typeface="Verdana"/>
              <a:ea typeface="Verdana"/>
              <a:cs typeface="Verdana"/>
              <a:sym typeface="Verdana"/>
            </a:endParaRPr>
          </a:p>
          <a:p>
            <a:pPr marL="914400" indent="-457200">
              <a:buSzPts val="2400"/>
              <a:buFont typeface="Arial"/>
              <a:buAutoNum type="alphaLcPeriod" startAt="3"/>
            </a:pPr>
            <a:endParaRPr lang="en-US" sz="2400" dirty="0">
              <a:latin typeface="Verdana"/>
              <a:ea typeface="Verdana"/>
              <a:cs typeface="Verdana"/>
              <a:sym typeface="Verdana"/>
            </a:endParaRPr>
          </a:p>
          <a:p>
            <a:pPr marL="914400" indent="-457200">
              <a:buSzPts val="2400"/>
              <a:buFont typeface="Arial"/>
              <a:buAutoNum type="alphaLcPeriod" startAt="3"/>
            </a:pPr>
            <a:endParaRPr lang="en-US" sz="2400" dirty="0">
              <a:latin typeface="Verdana"/>
              <a:ea typeface="Verdana"/>
              <a:cs typeface="Verdana"/>
              <a:sym typeface="Verdana"/>
            </a:endParaRPr>
          </a:p>
          <a:p>
            <a:pPr marL="914400" indent="-457200">
              <a:buSzPts val="2400"/>
              <a:buFont typeface="Arial"/>
              <a:buAutoNum type="alphaLcPeriod" startAt="3"/>
            </a:pPr>
            <a:r>
              <a:rPr lang="en-US" sz="2400" dirty="0">
                <a:latin typeface="Verdana"/>
                <a:ea typeface="Verdana"/>
                <a:cs typeface="Verdana"/>
                <a:sym typeface="Verdana"/>
              </a:rPr>
              <a:t>Check your work on Parts A-C with your partner and, if necessary, resolve any differences.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1"/>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42" name="Google Shape;242;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43" name="Google Shape;243;p11"/>
          <p:cNvSpPr txBox="1">
            <a:spLocks noGrp="1"/>
          </p:cNvSpPr>
          <p:nvPr>
            <p:ph type="title" idx="4294967295"/>
          </p:nvPr>
        </p:nvSpPr>
        <p:spPr>
          <a:xfrm>
            <a:off x="3475960"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sp>
        <p:nvSpPr>
          <p:cNvPr id="244" name="Google Shape;244;p1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259</a:t>
            </a:r>
            <a:endParaRPr dirty="0"/>
          </a:p>
        </p:txBody>
      </p:sp>
      <p:pic>
        <p:nvPicPr>
          <p:cNvPr id="245" name="Google Shape;245;p11"/>
          <p:cNvPicPr preferRelativeResize="0"/>
          <p:nvPr/>
        </p:nvPicPr>
        <p:blipFill rotWithShape="1">
          <a:blip r:embed="rId4">
            <a:alphaModFix/>
          </a:blip>
          <a:srcRect/>
          <a:stretch/>
        </p:blipFill>
        <p:spPr>
          <a:xfrm>
            <a:off x="3054096" y="2852928"/>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2" name="Google Shape;252;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53" name="Google Shape;253;p12"/>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13.5.3 Try It: Drawing Conclusions</a:t>
            </a:r>
            <a:endParaRPr dirty="0"/>
          </a:p>
        </p:txBody>
      </p:sp>
      <p:sp>
        <p:nvSpPr>
          <p:cNvPr id="254" name="Google Shape;254;p1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259</a:t>
            </a:r>
            <a:endParaRPr dirty="0"/>
          </a:p>
        </p:txBody>
      </p:sp>
      <p:pic>
        <p:nvPicPr>
          <p:cNvPr id="255" name="Google Shape;255;p1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48271"/>
            <a:ext cx="749808" cy="749808"/>
          </a:xfrm>
          <a:prstGeom prst="rect">
            <a:avLst/>
          </a:prstGeom>
          <a:noFill/>
          <a:ln>
            <a:noFill/>
          </a:ln>
          <a:effectLst>
            <a:outerShdw blurRad="50800" dist="38100" dir="2700000" algn="tl" rotWithShape="0">
              <a:srgbClr val="000000">
                <a:alpha val="40000"/>
              </a:srgbClr>
            </a:outerShdw>
          </a:effectLst>
        </p:spPr>
      </p:pic>
      <p:sp>
        <p:nvSpPr>
          <p:cNvPr id="256" name="Google Shape;256;p12"/>
          <p:cNvSpPr txBox="1"/>
          <p:nvPr/>
        </p:nvSpPr>
        <p:spPr>
          <a:xfrm>
            <a:off x="1143000" y="1386026"/>
            <a:ext cx="10079182" cy="4708981"/>
          </a:xfrm>
          <a:prstGeom prst="rect">
            <a:avLst/>
          </a:prstGeom>
          <a:noFill/>
          <a:ln>
            <a:noFill/>
          </a:ln>
        </p:spPr>
        <p:txBody>
          <a:bodyPr spcFirstLastPara="1" wrap="square" lIns="91425" tIns="45700" rIns="91425" bIns="45700" anchor="t" anchorCtr="0">
            <a:spAutoFit/>
          </a:bodyPr>
          <a:lstStyle/>
          <a:p>
            <a:r>
              <a:rPr lang="en-US" sz="2000" dirty="0">
                <a:latin typeface="Verdana"/>
                <a:ea typeface="Verdana"/>
                <a:cs typeface="Verdana"/>
                <a:sym typeface="Verdana"/>
              </a:rPr>
              <a:t>Shawn wants to determine the best way to get to school. Over several weeks, he took turns riding in a car and riding his bicycle and recorded the time, in minutes.</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r>
              <a:rPr lang="en-US" sz="2000" dirty="0">
                <a:latin typeface="Verdana"/>
                <a:ea typeface="Verdana"/>
                <a:cs typeface="Verdana"/>
                <a:sym typeface="Verdana"/>
              </a:rPr>
              <a:t>Shawn calculated the measures of center and spread for each transportation method. They are shown in the table.</a:t>
            </a:r>
            <a:endParaRPr dirty="0"/>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a:p>
            <a:endParaRPr sz="2000" dirty="0">
              <a:latin typeface="Verdana"/>
              <a:ea typeface="Verdana"/>
              <a:cs typeface="Verdana"/>
              <a:sym typeface="Verdana"/>
            </a:endParaRPr>
          </a:p>
        </p:txBody>
      </p:sp>
      <p:graphicFrame>
        <p:nvGraphicFramePr>
          <p:cNvPr id="257" name="Google Shape;257;p12"/>
          <p:cNvGraphicFramePr/>
          <p:nvPr/>
        </p:nvGraphicFramePr>
        <p:xfrm>
          <a:off x="4092892" y="2421712"/>
          <a:ext cx="4006225" cy="1524000"/>
        </p:xfrm>
        <a:graphic>
          <a:graphicData uri="http://schemas.openxmlformats.org/drawingml/2006/table">
            <a:tbl>
              <a:tblPr firstRow="1" firstCol="1" bandRow="1">
                <a:noFill/>
                <a:tableStyleId>{D990BA44-4C6E-4FD3-9C0D-04238C06397C}</a:tableStyleId>
              </a:tblPr>
              <a:tblGrid>
                <a:gridCol w="701675">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gridCol w="706125">
                  <a:extLst>
                    <a:ext uri="{9D8B030D-6E8A-4147-A177-3AD203B41FA5}">
                      <a16:colId xmlns:a16="http://schemas.microsoft.com/office/drawing/2014/main" val="20003"/>
                    </a:ext>
                  </a:extLst>
                </a:gridCol>
                <a:gridCol w="706125">
                  <a:extLst>
                    <a:ext uri="{9D8B030D-6E8A-4147-A177-3AD203B41FA5}">
                      <a16:colId xmlns:a16="http://schemas.microsoft.com/office/drawing/2014/main" val="20004"/>
                    </a:ext>
                  </a:extLst>
                </a:gridCol>
              </a:tblGrid>
              <a:tr h="254000">
                <a:tc gridSpan="2">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Car</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Bicycle</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19</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17</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24</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18</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27</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26</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21</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28</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54000">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29</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14</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 </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32</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u="none" strike="noStrike" cap="none">
                          <a:latin typeface="Cambria Math"/>
                          <a:ea typeface="Cambria Math"/>
                          <a:cs typeface="Cambria Math"/>
                          <a:sym typeface="Cambria Math"/>
                        </a:rPr>
                        <a:t>23</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258" name="Google Shape;258;p12"/>
          <p:cNvGraphicFramePr/>
          <p:nvPr/>
        </p:nvGraphicFramePr>
        <p:xfrm>
          <a:off x="4424425" y="4857550"/>
          <a:ext cx="3599200" cy="1800250"/>
        </p:xfrm>
        <a:graphic>
          <a:graphicData uri="http://schemas.openxmlformats.org/drawingml/2006/table">
            <a:tbl>
              <a:tblPr firstRow="1" firstCol="1" bandRow="1">
                <a:noFill/>
                <a:tableStyleId>{D990BA44-4C6E-4FD3-9C0D-04238C06397C}</a:tableStyleId>
              </a:tblPr>
              <a:tblGrid>
                <a:gridCol w="1267275">
                  <a:extLst>
                    <a:ext uri="{9D8B030D-6E8A-4147-A177-3AD203B41FA5}">
                      <a16:colId xmlns:a16="http://schemas.microsoft.com/office/drawing/2014/main" val="20000"/>
                    </a:ext>
                  </a:extLst>
                </a:gridCol>
                <a:gridCol w="1092575">
                  <a:extLst>
                    <a:ext uri="{9D8B030D-6E8A-4147-A177-3AD203B41FA5}">
                      <a16:colId xmlns:a16="http://schemas.microsoft.com/office/drawing/2014/main" val="20001"/>
                    </a:ext>
                  </a:extLst>
                </a:gridCol>
                <a:gridCol w="1239350">
                  <a:extLst>
                    <a:ext uri="{9D8B030D-6E8A-4147-A177-3AD203B41FA5}">
                      <a16:colId xmlns:a16="http://schemas.microsoft.com/office/drawing/2014/main" val="20002"/>
                    </a:ext>
                  </a:extLst>
                </a:gridCol>
              </a:tblGrid>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Car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Bicycle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18.25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25.75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17.5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25.5</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17.0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11.0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00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6.0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a:latin typeface="Cambria Math"/>
                          <a:ea typeface="Cambria Math"/>
                          <a:cs typeface="Cambria Math"/>
                          <a:sym typeface="Cambria Math"/>
                        </a:rPr>
                        <a:t>4.0</a:t>
                      </a:r>
                      <a:endParaRPr sz="2000" u="none" strike="noStrike" cap="none">
                        <a:latin typeface="Cambria Math"/>
                        <a:ea typeface="Cambria Math"/>
                        <a:cs typeface="Cambria Math"/>
                        <a:sym typeface="Cambria Math"/>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65" name="Google Shape;265;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66" name="Google Shape;266;p1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259</a:t>
            </a:r>
            <a:endParaRPr/>
          </a:p>
        </p:txBody>
      </p:sp>
      <p:sp>
        <p:nvSpPr>
          <p:cNvPr id="267" name="Google Shape;267;p13"/>
          <p:cNvSpPr txBox="1"/>
          <p:nvPr/>
        </p:nvSpPr>
        <p:spPr>
          <a:xfrm>
            <a:off x="914400" y="520394"/>
            <a:ext cx="10515600" cy="3785611"/>
          </a:xfrm>
          <a:prstGeom prst="rect">
            <a:avLst/>
          </a:prstGeom>
          <a:noFill/>
          <a:ln>
            <a:noFill/>
          </a:ln>
        </p:spPr>
        <p:txBody>
          <a:bodyPr spcFirstLastPara="1" wrap="square" lIns="91425" tIns="45700" rIns="91425" bIns="45700" anchor="t" anchorCtr="0">
            <a:spAutoFit/>
          </a:bodyPr>
          <a:lstStyle/>
          <a:p>
            <a:pPr marL="457200" indent="-457200">
              <a:buSzPts val="2400"/>
              <a:buFont typeface="Arial"/>
              <a:buAutoNum type="arabicPeriod"/>
            </a:pPr>
            <a:r>
              <a:rPr lang="en-US" sz="2400" dirty="0">
                <a:latin typeface="Verdana"/>
                <a:ea typeface="Verdana"/>
                <a:cs typeface="Verdana"/>
                <a:sym typeface="Verdana"/>
              </a:rPr>
              <a:t>Make an argument as to why Shawn should ride in a car to get to school. </a:t>
            </a:r>
            <a:endParaRPr lang="en-US" dirty="0">
              <a:ea typeface="Verdana"/>
            </a:endParaRPr>
          </a:p>
          <a:p>
            <a:pPr marL="457200" indent="-457200">
              <a:buSzPts val="2400"/>
              <a:buFont typeface="Arial"/>
              <a:buAutoNum type="arabicPeriod"/>
            </a:pPr>
            <a:endParaRPr lang="en-US" sz="2400" dirty="0">
              <a:latin typeface="Verdana"/>
              <a:ea typeface="Verdana"/>
              <a:cs typeface="Verdana"/>
              <a:sym typeface="Verdana"/>
            </a:endParaRPr>
          </a:p>
          <a:p>
            <a:pPr marL="457200" indent="-457200">
              <a:buSzPts val="2400"/>
              <a:buFont typeface="Arial"/>
              <a:buAutoNum type="arabicPeriod"/>
            </a:pPr>
            <a:endParaRPr lang="en-US" sz="2400" dirty="0">
              <a:latin typeface="Verdana"/>
              <a:ea typeface="Verdana"/>
              <a:cs typeface="Verdana"/>
              <a:sym typeface="Verdana"/>
            </a:endParaRPr>
          </a:p>
          <a:p>
            <a:pPr marL="457200" indent="-457200">
              <a:buSzPts val="2400"/>
              <a:buFont typeface="Arial"/>
              <a:buAutoNum type="arabicPeriod"/>
            </a:pPr>
            <a:endParaRPr lang="en-US" sz="2400" dirty="0">
              <a:latin typeface="Verdana"/>
              <a:ea typeface="Verdana"/>
              <a:cs typeface="Verdana"/>
              <a:sym typeface="Verdana"/>
            </a:endParaRPr>
          </a:p>
          <a:p>
            <a:pPr marL="457200" indent="-457200">
              <a:buSzPts val="2400"/>
              <a:buFont typeface="Arial"/>
              <a:buAutoNum type="arabicPeriod"/>
            </a:pPr>
            <a:endParaRPr lang="en-US" sz="2400" dirty="0">
              <a:latin typeface="Verdana"/>
              <a:ea typeface="Verdana"/>
              <a:cs typeface="Verdana"/>
              <a:sym typeface="Verdana"/>
            </a:endParaRPr>
          </a:p>
          <a:p>
            <a:pPr marL="457200" indent="-457200">
              <a:buSzPts val="2400"/>
              <a:buFont typeface="Arial"/>
              <a:buAutoNum type="arabicPeriod"/>
            </a:pPr>
            <a:endParaRPr lang="en-US" sz="2400" dirty="0">
              <a:latin typeface="Verdana"/>
              <a:ea typeface="Verdana"/>
              <a:cs typeface="Verdana"/>
              <a:sym typeface="Verdana"/>
            </a:endParaRPr>
          </a:p>
          <a:p>
            <a:pPr marL="457200" indent="-457200">
              <a:buSzPts val="2400"/>
              <a:buFont typeface="Arial"/>
              <a:buAutoNum type="arabicPeriod"/>
            </a:pPr>
            <a:r>
              <a:rPr lang="en-US" sz="2400" dirty="0">
                <a:latin typeface="Verdana"/>
                <a:ea typeface="Verdana"/>
                <a:cs typeface="Verdana"/>
                <a:sym typeface="Verdana"/>
              </a:rPr>
              <a:t>Make an argument as to why Shawn should ride his bicycle to school. </a:t>
            </a:r>
            <a:endParaRPr dirty="0"/>
          </a:p>
          <a:p>
            <a:r>
              <a:rPr lang="en-US" sz="2400" i="1" dirty="0">
                <a:latin typeface="Verdana"/>
                <a:ea typeface="Verdana"/>
                <a:cs typeface="Verdana"/>
                <a:sym typeface="Verdana"/>
              </a:rPr>
              <a:t> </a:t>
            </a:r>
            <a:endParaRPr sz="2000" dirty="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4"/>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274" name="Google Shape;274;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75" name="Google Shape;275;p14"/>
          <p:cNvSpPr txBox="1">
            <a:spLocks noGrp="1"/>
          </p:cNvSpPr>
          <p:nvPr>
            <p:ph type="title" idx="4294967295"/>
          </p:nvPr>
        </p:nvSpPr>
        <p:spPr>
          <a:xfrm>
            <a:off x="4087368"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276" name="Google Shape;276;p1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259</a:t>
            </a:r>
            <a:endParaRPr dirty="0"/>
          </a:p>
        </p:txBody>
      </p:sp>
      <p:pic>
        <p:nvPicPr>
          <p:cNvPr id="277" name="Google Shape;277;p14" descr="Icon&#10;&#10;Description automatically generated"/>
          <p:cNvPicPr preferRelativeResize="0"/>
          <p:nvPr/>
        </p:nvPicPr>
        <p:blipFill rotWithShape="1">
          <a:blip r:embed="rId4">
            <a:alphaModFix/>
          </a:blip>
          <a:srcRect/>
          <a:stretch/>
        </p:blipFill>
        <p:spPr>
          <a:xfrm>
            <a:off x="3054096"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4" name="Google Shape;284;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85" name="Google Shape;285;p15"/>
          <p:cNvSpPr txBox="1"/>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33BEA6"/>
                </a:solidFill>
                <a:latin typeface="Verdana"/>
                <a:ea typeface="Verdana"/>
                <a:cs typeface="Verdana"/>
                <a:sym typeface="Verdana"/>
              </a:rPr>
              <a:t>13.5.4 Activity: Guess My Data Sets</a:t>
            </a:r>
            <a:endParaRPr dirty="0"/>
          </a:p>
        </p:txBody>
      </p:sp>
      <p:sp>
        <p:nvSpPr>
          <p:cNvPr id="286" name="Google Shape;286;p1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259</a:t>
            </a:r>
            <a:endParaRPr/>
          </a:p>
        </p:txBody>
      </p:sp>
      <p:pic>
        <p:nvPicPr>
          <p:cNvPr id="287" name="Google Shape;287;p15"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56616" y="348271"/>
            <a:ext cx="749808" cy="749808"/>
          </a:xfrm>
          <a:prstGeom prst="rect">
            <a:avLst/>
          </a:prstGeom>
          <a:noFill/>
          <a:ln>
            <a:noFill/>
          </a:ln>
          <a:effectLst>
            <a:outerShdw blurRad="50800" dist="38100" dir="2700000" algn="tl" rotWithShape="0">
              <a:srgbClr val="000000">
                <a:alpha val="40000"/>
              </a:srgbClr>
            </a:outerShdw>
          </a:effectLst>
        </p:spPr>
      </p:pic>
      <p:sp>
        <p:nvSpPr>
          <p:cNvPr id="288" name="Google Shape;288;p15"/>
          <p:cNvSpPr txBox="1"/>
          <p:nvPr/>
        </p:nvSpPr>
        <p:spPr>
          <a:xfrm>
            <a:off x="1142999" y="1386025"/>
            <a:ext cx="9497291" cy="5201424"/>
          </a:xfrm>
          <a:prstGeom prst="rect">
            <a:avLst/>
          </a:prstGeom>
          <a:noFill/>
          <a:ln>
            <a:noFill/>
          </a:ln>
        </p:spPr>
        <p:txBody>
          <a:bodyPr spcFirstLastPara="1" wrap="square" lIns="91425" tIns="45700" rIns="91425" bIns="45700" anchor="t" anchorCtr="0">
            <a:spAutoFit/>
          </a:bodyPr>
          <a:lstStyle/>
          <a:p>
            <a:r>
              <a:rPr lang="en-US" sz="2400" dirty="0"/>
              <a:t>Suppose an English teacher takes five random samples of students and records their most recent test scores. </a:t>
            </a:r>
            <a:endParaRPr dirty="0"/>
          </a:p>
          <a:p>
            <a:r>
              <a:rPr lang="en-US" sz="2400" dirty="0"/>
              <a:t> </a:t>
            </a:r>
            <a:endParaRPr dirty="0"/>
          </a:p>
          <a:p>
            <a:pPr marL="463550"/>
            <a:r>
              <a:rPr lang="en-US" sz="2400" dirty="0"/>
              <a:t>Data Set A: </a:t>
            </a:r>
            <a:r>
              <a:rPr lang="en-US" sz="2400" dirty="0">
                <a:latin typeface="Cambria Math"/>
                <a:ea typeface="Cambria Math"/>
                <a:cs typeface="Cambria Math"/>
                <a:sym typeface="Cambria Math"/>
              </a:rPr>
              <a:t>{22, 0, 44, 40, 56, 32, 64, 44, 52, 60}</a:t>
            </a:r>
            <a:endParaRPr dirty="0"/>
          </a:p>
          <a:p>
            <a:pPr marL="463550"/>
            <a:r>
              <a:rPr lang="en-US" sz="2400" dirty="0">
                <a:latin typeface="Cambria Math"/>
                <a:ea typeface="Cambria Math"/>
                <a:cs typeface="Cambria Math"/>
                <a:sym typeface="Cambria Math"/>
              </a:rPr>
              <a:t> </a:t>
            </a:r>
            <a:endParaRPr dirty="0"/>
          </a:p>
          <a:p>
            <a:pPr marL="463550"/>
            <a:r>
              <a:rPr lang="en-US" sz="2400" dirty="0"/>
              <a:t>Data Set B: </a:t>
            </a:r>
            <a:r>
              <a:rPr lang="en-US" sz="2400" dirty="0">
                <a:latin typeface="Cambria Math"/>
                <a:ea typeface="Cambria Math"/>
                <a:cs typeface="Cambria Math"/>
                <a:sym typeface="Cambria Math"/>
              </a:rPr>
              <a:t>{60, 62, 62, 60, 64, 68, 64, 62, 68, 60}</a:t>
            </a:r>
            <a:endParaRPr dirty="0"/>
          </a:p>
          <a:p>
            <a:pPr marL="463550"/>
            <a:r>
              <a:rPr lang="en-US" sz="2400" dirty="0"/>
              <a:t> </a:t>
            </a:r>
            <a:endParaRPr dirty="0"/>
          </a:p>
          <a:p>
            <a:pPr marL="463550"/>
            <a:r>
              <a:rPr lang="en-US" sz="2400" dirty="0"/>
              <a:t>Data Set C: </a:t>
            </a:r>
            <a:r>
              <a:rPr lang="en-US" sz="2400" dirty="0">
                <a:latin typeface="Cambria Math"/>
                <a:ea typeface="Cambria Math"/>
                <a:cs typeface="Cambria Math"/>
                <a:sym typeface="Cambria Math"/>
              </a:rPr>
              <a:t>{70, 82, 74, 76, 80, 72, 84, 70, 78, 82}</a:t>
            </a:r>
            <a:endParaRPr dirty="0"/>
          </a:p>
          <a:p>
            <a:pPr marL="463550"/>
            <a:r>
              <a:rPr lang="en-US" sz="2400" dirty="0"/>
              <a:t> </a:t>
            </a:r>
            <a:endParaRPr dirty="0"/>
          </a:p>
          <a:p>
            <a:pPr marL="463550"/>
            <a:r>
              <a:rPr lang="en-US" sz="2400" dirty="0"/>
              <a:t>Data Set D: </a:t>
            </a:r>
            <a:r>
              <a:rPr lang="en-US" sz="2400" dirty="0">
                <a:latin typeface="Cambria Math"/>
                <a:ea typeface="Cambria Math"/>
                <a:cs typeface="Cambria Math"/>
                <a:sym typeface="Cambria Math"/>
              </a:rPr>
              <a:t>{72, 86, 100, 76, 92, 90, 100, 78, 98, 86}</a:t>
            </a:r>
            <a:endParaRPr dirty="0"/>
          </a:p>
          <a:p>
            <a:pPr marL="463550"/>
            <a:r>
              <a:rPr lang="en-US" sz="2400" dirty="0"/>
              <a:t> </a:t>
            </a:r>
            <a:endParaRPr dirty="0"/>
          </a:p>
          <a:p>
            <a:pPr marL="463550"/>
            <a:r>
              <a:rPr lang="en-US" sz="2400" dirty="0"/>
              <a:t>Data Set E: </a:t>
            </a:r>
            <a:r>
              <a:rPr lang="en-US" sz="2400" dirty="0">
                <a:latin typeface="Cambria Math"/>
                <a:ea typeface="Cambria Math"/>
                <a:cs typeface="Cambria Math"/>
                <a:sym typeface="Cambria Math"/>
              </a:rPr>
              <a:t>{64, 36, 74, 82, 96, 80, 66, 78, 68, 0}</a:t>
            </a:r>
            <a:endParaRPr dirty="0"/>
          </a:p>
          <a:p>
            <a:pPr marL="463550"/>
            <a:endParaRPr sz="2400" dirty="0">
              <a:latin typeface="Cambria Math"/>
              <a:ea typeface="Cambria Math"/>
              <a:cs typeface="Cambria Math"/>
              <a:sym typeface="Cambria Math"/>
            </a:endParaRPr>
          </a:p>
          <a:p>
            <a:endParaRPr sz="2000" dirty="0">
              <a:latin typeface="Cambria Math"/>
              <a:ea typeface="Cambria Math"/>
              <a:cs typeface="Cambria Math"/>
              <a:sym typeface="Cambria Math"/>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95" name="Google Shape;295;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6" name="Google Shape;296;p1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259</a:t>
            </a:r>
            <a:endParaRPr dirty="0"/>
          </a:p>
        </p:txBody>
      </p:sp>
      <p:sp>
        <p:nvSpPr>
          <p:cNvPr id="297" name="Google Shape;297;p16"/>
          <p:cNvSpPr txBox="1"/>
          <p:nvPr/>
        </p:nvSpPr>
        <p:spPr>
          <a:xfrm>
            <a:off x="914400" y="520393"/>
            <a:ext cx="10515600" cy="3046988"/>
          </a:xfrm>
          <a:prstGeom prst="rect">
            <a:avLst/>
          </a:prstGeom>
          <a:noFill/>
          <a:ln>
            <a:noFill/>
          </a:ln>
        </p:spPr>
        <p:txBody>
          <a:bodyPr spcFirstLastPara="1" wrap="square" lIns="91425" tIns="45700" rIns="91425" bIns="45700" anchor="t" anchorCtr="0">
            <a:spAutoFit/>
          </a:bodyPr>
          <a:lstStyle/>
          <a:p>
            <a:r>
              <a:rPr lang="en-US" sz="2400" dirty="0">
                <a:latin typeface="Verdana"/>
                <a:ea typeface="Verdana"/>
                <a:cs typeface="Verdana"/>
                <a:sym typeface="Verdana"/>
              </a:rPr>
              <a:t>Without telling your partner, choose two data sets from above. </a:t>
            </a:r>
            <a:endParaRPr dirty="0"/>
          </a:p>
          <a:p>
            <a:r>
              <a:rPr lang="en-US" sz="2400" dirty="0">
                <a:latin typeface="Verdana"/>
                <a:ea typeface="Verdana"/>
                <a:cs typeface="Verdana"/>
                <a:sym typeface="Verdana"/>
              </a:rPr>
              <a:t> </a:t>
            </a:r>
            <a:endParaRPr dirty="0"/>
          </a:p>
          <a:p>
            <a:pPr marL="457200" indent="-457200">
              <a:buSzPts val="2400"/>
              <a:buFont typeface="Arial"/>
              <a:buAutoNum type="arabicPeriod"/>
            </a:pPr>
            <a:r>
              <a:rPr lang="en-US" sz="2400" dirty="0">
                <a:latin typeface="Verdana"/>
                <a:ea typeface="Verdana"/>
                <a:cs typeface="Verdana"/>
                <a:sym typeface="Verdana"/>
              </a:rPr>
              <a:t>Write a paragraph comparing the two data sets you have chosen using measures of center and variability. Make sure to refer to the data sets as “Data Set 1” and “Data Set 2” in the paragraph you write.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04" name="Google Shape;304;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05" name="Google Shape;305;p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260</a:t>
            </a:r>
            <a:endParaRPr/>
          </a:p>
        </p:txBody>
      </p:sp>
      <p:sp>
        <p:nvSpPr>
          <p:cNvPr id="306" name="Google Shape;306;p17"/>
          <p:cNvSpPr txBox="1"/>
          <p:nvPr/>
        </p:nvSpPr>
        <p:spPr>
          <a:xfrm>
            <a:off x="914400" y="520393"/>
            <a:ext cx="10515600" cy="5632271"/>
          </a:xfrm>
          <a:prstGeom prst="rect">
            <a:avLst/>
          </a:prstGeom>
          <a:noFill/>
          <a:ln>
            <a:noFill/>
          </a:ln>
        </p:spPr>
        <p:txBody>
          <a:bodyPr spcFirstLastPara="1" wrap="square" lIns="91425" tIns="45700" rIns="91425" bIns="45700" anchor="t" anchorCtr="0">
            <a:spAutoFit/>
          </a:bodyPr>
          <a:lstStyle/>
          <a:p>
            <a:pPr marL="457200" indent="-457200">
              <a:buSzPct val="100000"/>
              <a:buFont typeface="Arial"/>
              <a:buAutoNum type="arabicPeriod" startAt="2"/>
            </a:pPr>
            <a:r>
              <a:rPr lang="en-US" sz="2400" dirty="0">
                <a:latin typeface="Verdana"/>
                <a:ea typeface="Verdana"/>
                <a:cs typeface="Verdana"/>
                <a:sym typeface="Verdana"/>
              </a:rPr>
              <a:t>Determine with your partner who is partner A and who is Partner B. Write your names on the lines for each partner in the table.</a:t>
            </a:r>
            <a:endParaRPr sz="2400" dirty="0">
              <a:latin typeface="Verdana"/>
              <a:ea typeface="Verdana"/>
              <a:cs typeface="Verdana"/>
              <a:sym typeface="Verdana"/>
            </a:endParaRPr>
          </a:p>
          <a:p>
            <a:pPr marL="457200" indent="-457200">
              <a:buSzPct val="100000"/>
              <a:buFont typeface="+mj-lt"/>
              <a:buAutoNum type="arabicPeriod" startAt="3"/>
            </a:pPr>
            <a:endParaRPr lang="en-US" sz="2400" dirty="0">
              <a:latin typeface="Verdana"/>
              <a:ea typeface="Verdana"/>
              <a:cs typeface="Verdana"/>
              <a:sym typeface="Verdana"/>
            </a:endParaRPr>
          </a:p>
          <a:p>
            <a:pPr marL="457200" indent="-457200">
              <a:buSzPct val="100000"/>
              <a:buFont typeface="+mj-lt"/>
              <a:buAutoNum type="arabicPeriod" startAt="3"/>
            </a:pPr>
            <a:endParaRPr lang="en-US" sz="2400" dirty="0">
              <a:latin typeface="Verdana"/>
              <a:ea typeface="Verdana"/>
              <a:cs typeface="Verdana"/>
              <a:sym typeface="Verdana"/>
            </a:endParaRPr>
          </a:p>
          <a:p>
            <a:pPr marL="457200" indent="-457200">
              <a:buSzPct val="100000"/>
              <a:buFont typeface="+mj-lt"/>
              <a:buAutoNum type="arabicPeriod" startAt="3"/>
            </a:pPr>
            <a:r>
              <a:rPr lang="en-US" sz="2400" dirty="0">
                <a:latin typeface="Verdana"/>
                <a:ea typeface="Verdana"/>
                <a:cs typeface="Verdana"/>
                <a:sym typeface="Verdana"/>
              </a:rPr>
              <a:t>Partner A should read their paragraph from Number 1 to partner B, and partner B will guess which two data sets were used. Then, partner B will explain their reasoning for their guess. Both partners will summarize the guess and reasoning in the first row of the table. </a:t>
            </a:r>
            <a:endParaRPr sz="2400" dirty="0">
              <a:latin typeface="Verdana"/>
              <a:ea typeface="Verdana"/>
              <a:cs typeface="Verdana"/>
              <a:sym typeface="Verdana"/>
            </a:endParaRPr>
          </a:p>
          <a:p>
            <a:pPr marL="457200" indent="-457200">
              <a:buSzPct val="100000"/>
              <a:buFont typeface="+mj-lt"/>
              <a:buAutoNum type="arabicPeriod" startAt="4"/>
            </a:pPr>
            <a:endParaRPr lang="en-US" sz="2400" dirty="0">
              <a:latin typeface="Verdana"/>
              <a:ea typeface="Verdana"/>
              <a:cs typeface="Verdana"/>
              <a:sym typeface="Verdana"/>
            </a:endParaRPr>
          </a:p>
          <a:p>
            <a:pPr marL="457200" indent="-457200">
              <a:buSzPct val="100000"/>
              <a:buFont typeface="+mj-lt"/>
              <a:buAutoNum type="arabicPeriod" startAt="4"/>
            </a:pPr>
            <a:endParaRPr lang="en-US" sz="2400" dirty="0">
              <a:latin typeface="Verdana"/>
              <a:ea typeface="Verdana"/>
              <a:cs typeface="Verdana"/>
              <a:sym typeface="Verdana"/>
            </a:endParaRPr>
          </a:p>
          <a:p>
            <a:pPr marL="457200" indent="-457200">
              <a:buSzPct val="100000"/>
              <a:buFont typeface="+mj-lt"/>
              <a:buAutoNum type="arabicPeriod" startAt="4"/>
            </a:pPr>
            <a:r>
              <a:rPr lang="en-US" sz="2400" dirty="0">
                <a:latin typeface="Verdana"/>
                <a:ea typeface="Verdana"/>
                <a:cs typeface="Verdana"/>
                <a:sym typeface="Verdana"/>
              </a:rPr>
              <a:t>Then, switch roles so that partner B reads their paragraph while partner A makes a guess and explains their reasoning.</a:t>
            </a:r>
          </a:p>
          <a:p>
            <a:endParaRPr sz="2400" dirty="0">
              <a:latin typeface="Verdana"/>
              <a:ea typeface="Verdana"/>
              <a:cs typeface="Verdana"/>
              <a:sym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3" name="Google Shape;313;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14" name="Google Shape;314;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260</a:t>
            </a:r>
            <a:endParaRPr dirty="0"/>
          </a:p>
        </p:txBody>
      </p:sp>
      <p:sp>
        <p:nvSpPr>
          <p:cNvPr id="315" name="Google Shape;315;p18"/>
          <p:cNvSpPr txBox="1"/>
          <p:nvPr/>
        </p:nvSpPr>
        <p:spPr>
          <a:xfrm>
            <a:off x="914400" y="520393"/>
            <a:ext cx="10515600" cy="5940088"/>
          </a:xfrm>
          <a:prstGeom prst="rect">
            <a:avLst/>
          </a:prstGeom>
          <a:noFill/>
          <a:ln>
            <a:noFill/>
          </a:ln>
        </p:spPr>
        <p:txBody>
          <a:bodyPr spcFirstLastPara="1" wrap="square" lIns="91425" tIns="45700" rIns="91425" bIns="45700" anchor="t" anchorCtr="0">
            <a:spAutoFit/>
          </a:bodyPr>
          <a:lstStyle/>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pPr marL="457200" indent="-457200">
              <a:buSzPct val="100000"/>
              <a:buFont typeface="Arial"/>
              <a:buAutoNum type="arabicPeriod" startAt="5"/>
            </a:pPr>
            <a:r>
              <a:rPr lang="en-US" sz="2400" dirty="0">
                <a:latin typeface="Verdana"/>
                <a:ea typeface="Verdana"/>
                <a:cs typeface="Verdana"/>
                <a:sym typeface="Verdana"/>
              </a:rPr>
              <a:t>Reveal to your partner which data sets were used and discuss any errors that may have led to incorrect conclusions. </a:t>
            </a:r>
            <a:endParaRPr sz="2400" dirty="0"/>
          </a:p>
        </p:txBody>
      </p:sp>
      <p:graphicFrame>
        <p:nvGraphicFramePr>
          <p:cNvPr id="316" name="Google Shape;316;p18"/>
          <p:cNvGraphicFramePr/>
          <p:nvPr>
            <p:extLst>
              <p:ext uri="{D42A27DB-BD31-4B8C-83A1-F6EECF244321}">
                <p14:modId xmlns:p14="http://schemas.microsoft.com/office/powerpoint/2010/main" val="2290609805"/>
              </p:ext>
            </p:extLst>
          </p:nvPr>
        </p:nvGraphicFramePr>
        <p:xfrm>
          <a:off x="2125684" y="483963"/>
          <a:ext cx="7155886" cy="4351325"/>
        </p:xfrm>
        <a:graphic>
          <a:graphicData uri="http://schemas.openxmlformats.org/drawingml/2006/table">
            <a:tbl>
              <a:tblPr firstRow="1" firstCol="1" bandRow="1">
                <a:noFill/>
                <a:tableStyleId>{D990BA44-4C6E-4FD3-9C0D-04238C06397C}</a:tableStyleId>
              </a:tblPr>
              <a:tblGrid>
                <a:gridCol w="1564133">
                  <a:extLst>
                    <a:ext uri="{9D8B030D-6E8A-4147-A177-3AD203B41FA5}">
                      <a16:colId xmlns:a16="http://schemas.microsoft.com/office/drawing/2014/main" val="20000"/>
                    </a:ext>
                  </a:extLst>
                </a:gridCol>
                <a:gridCol w="1983077">
                  <a:extLst>
                    <a:ext uri="{9D8B030D-6E8A-4147-A177-3AD203B41FA5}">
                      <a16:colId xmlns:a16="http://schemas.microsoft.com/office/drawing/2014/main" val="20001"/>
                    </a:ext>
                  </a:extLst>
                </a:gridCol>
                <a:gridCol w="3608676">
                  <a:extLst>
                    <a:ext uri="{9D8B030D-6E8A-4147-A177-3AD203B41FA5}">
                      <a16:colId xmlns:a16="http://schemas.microsoft.com/office/drawing/2014/main" val="20002"/>
                    </a:ext>
                  </a:extLst>
                </a:gridCol>
              </a:tblGrid>
              <a:tr h="334725">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Partner</a:t>
                      </a:r>
                      <a:endParaRPr dirty="0"/>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Guess</a:t>
                      </a:r>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Reasoning for Guess</a:t>
                      </a:r>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2008300">
                <a:tc>
                  <a:txBody>
                    <a:bodyPr/>
                    <a:lstStyle/>
                    <a:p>
                      <a:pPr marL="0" marR="0" lvl="0" indent="0" algn="l" rtl="0">
                        <a:lnSpc>
                          <a:spcPct val="15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Partner A:</a:t>
                      </a:r>
                      <a:endParaRPr sz="2000" dirty="0">
                        <a:latin typeface="Verdana" panose="020B0604030504040204" pitchFamily="34" charset="0"/>
                        <a:ea typeface="Verdana" panose="020B0604030504040204" pitchFamily="34" charset="0"/>
                        <a:cs typeface="Verdana" panose="020B0604030504040204" pitchFamily="34" charset="0"/>
                      </a:endParaRPr>
                    </a:p>
                    <a:p>
                      <a:pPr marL="0" marR="0" lvl="0" indent="0" algn="l" rtl="0">
                        <a:lnSpc>
                          <a:spcPct val="15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 </a:t>
                      </a:r>
                      <a:endParaRPr sz="2000" dirty="0">
                        <a:latin typeface="Verdana" panose="020B0604030504040204" pitchFamily="34" charset="0"/>
                        <a:ea typeface="Verdana" panose="020B0604030504040204" pitchFamily="34" charset="0"/>
                        <a:cs typeface="Verdana" panose="020B0604030504040204" pitchFamily="34" charset="0"/>
                      </a:endParaRPr>
                    </a:p>
                    <a:p>
                      <a:pPr marL="0" marR="0" lvl="0" indent="0" algn="l" rtl="0">
                        <a:lnSpc>
                          <a:spcPct val="15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_________</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 </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 </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008300">
                <a:tc>
                  <a:txBody>
                    <a:bodyPr/>
                    <a:lstStyle/>
                    <a:p>
                      <a:pPr marL="0" marR="0" lvl="0" indent="0" algn="l" rtl="0">
                        <a:lnSpc>
                          <a:spcPct val="15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Partner B:</a:t>
                      </a:r>
                      <a:endParaRPr sz="2000">
                        <a:latin typeface="Verdana" panose="020B0604030504040204" pitchFamily="34" charset="0"/>
                        <a:ea typeface="Verdana" panose="020B0604030504040204" pitchFamily="34" charset="0"/>
                        <a:cs typeface="Verdana" panose="020B0604030504040204" pitchFamily="34" charset="0"/>
                      </a:endParaRPr>
                    </a:p>
                    <a:p>
                      <a:pPr marL="0" marR="0" lvl="0" indent="0" algn="l" rtl="0">
                        <a:lnSpc>
                          <a:spcPct val="15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 </a:t>
                      </a:r>
                      <a:endParaRPr sz="2000">
                        <a:latin typeface="Verdana" panose="020B0604030504040204" pitchFamily="34" charset="0"/>
                        <a:ea typeface="Verdana" panose="020B0604030504040204" pitchFamily="34" charset="0"/>
                        <a:cs typeface="Verdana" panose="020B0604030504040204" pitchFamily="34" charset="0"/>
                      </a:endParaRPr>
                    </a:p>
                    <a:p>
                      <a:pPr marL="0" marR="0" lvl="0" indent="0" algn="l" rtl="0">
                        <a:lnSpc>
                          <a:spcPct val="15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_________</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a:latin typeface="Verdana" panose="020B0604030504040204" pitchFamily="34" charset="0"/>
                          <a:ea typeface="Verdana" panose="020B0604030504040204" pitchFamily="34" charset="0"/>
                          <a:cs typeface="Verdana" panose="020B0604030504040204" pitchFamily="34" charset="0"/>
                        </a:rPr>
                        <a:t> </a:t>
                      </a:r>
                      <a:endParaRPr sz="2000" u="none" strike="noStrike" cap="none">
                        <a:latin typeface="Verdana" panose="020B0604030504040204" pitchFamily="34" charset="0"/>
                        <a:ea typeface="Verdana" panose="020B0604030504040204" pitchFamily="34" charset="0"/>
                        <a:cs typeface="Verdana" panose="020B0604030504040204" pitchFamily="34" charset="0"/>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2000" u="none" strike="noStrike" cap="none" dirty="0">
                          <a:latin typeface="Verdana" panose="020B0604030504040204" pitchFamily="34" charset="0"/>
                          <a:ea typeface="Verdana" panose="020B0604030504040204" pitchFamily="34" charset="0"/>
                          <a:cs typeface="Verdana" panose="020B0604030504040204" pitchFamily="34" charset="0"/>
                        </a:rPr>
                        <a:t> </a:t>
                      </a:r>
                      <a:endParaRPr sz="2000" u="none" strike="noStrike" cap="none" dirty="0">
                        <a:latin typeface="Verdana" panose="020B0604030504040204" pitchFamily="34" charset="0"/>
                        <a:ea typeface="Verdana" panose="020B0604030504040204" pitchFamily="34" charset="0"/>
                        <a:cs typeface="Verdana" panose="020B0604030504040204" pitchFamily="34" charset="0"/>
                        <a:sym typeface="Cambria"/>
                      </a:endParaRPr>
                    </a:p>
                  </a:txBody>
                  <a:tcPr marL="50200" marR="50200"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23" name="Google Shape;323;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24" name="Google Shape;324;p1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325" name="Google Shape;325;p19"/>
          <p:cNvPicPr preferRelativeResize="0"/>
          <p:nvPr/>
        </p:nvPicPr>
        <p:blipFill rotWithShape="1">
          <a:blip r:embed="rId4">
            <a:alphaModFix/>
          </a:blip>
          <a:srcRect/>
          <a:stretch/>
        </p:blipFill>
        <p:spPr>
          <a:xfrm>
            <a:off x="3054096" y="2897929"/>
            <a:ext cx="1122440" cy="1062143"/>
          </a:xfrm>
          <a:prstGeom prst="rect">
            <a:avLst/>
          </a:prstGeom>
          <a:noFill/>
          <a:ln>
            <a:noFill/>
          </a:ln>
          <a:effectLst>
            <a:outerShdw blurRad="50800" dist="38100" dir="2700000" algn="tl" rotWithShape="0">
              <a:srgbClr val="000000">
                <a:alpha val="40000"/>
              </a:srgbClr>
            </a:outerShdw>
          </a:effectLst>
        </p:spPr>
      </p:pic>
      <p:sp>
        <p:nvSpPr>
          <p:cNvPr id="326" name="Google Shape;326;p1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260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33" name="Google Shape;333;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34" name="Google Shape;334;p20"/>
          <p:cNvSpPr txBox="1"/>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13.5.5 Your Turn!</a:t>
            </a:r>
            <a:endParaRPr dirty="0"/>
          </a:p>
        </p:txBody>
      </p:sp>
      <p:pic>
        <p:nvPicPr>
          <p:cNvPr id="335" name="Google Shape;335;p20"/>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336" name="Google Shape;336;p20"/>
          <p:cNvSpPr txBox="1"/>
          <p:nvPr/>
        </p:nvSpPr>
        <p:spPr>
          <a:xfrm>
            <a:off x="8897112" y="646325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260</a:t>
            </a:r>
            <a:endParaRPr dirty="0"/>
          </a:p>
        </p:txBody>
      </p:sp>
      <p:sp>
        <p:nvSpPr>
          <p:cNvPr id="337" name="Google Shape;337;p20"/>
          <p:cNvSpPr txBox="1"/>
          <p:nvPr/>
        </p:nvSpPr>
        <p:spPr>
          <a:xfrm>
            <a:off x="914400" y="1386025"/>
            <a:ext cx="10515600" cy="4339609"/>
          </a:xfrm>
          <a:prstGeom prst="rect">
            <a:avLst/>
          </a:prstGeom>
          <a:noFill/>
          <a:ln>
            <a:noFill/>
          </a:ln>
        </p:spPr>
        <p:txBody>
          <a:bodyPr spcFirstLastPara="1" wrap="square" lIns="91425" tIns="45700" rIns="91425" bIns="45700" anchor="t" anchorCtr="0">
            <a:spAutoFit/>
          </a:bodyPr>
          <a:lstStyle/>
          <a:p>
            <a:pPr marL="457200" indent="-457200">
              <a:buSzPts val="2000"/>
              <a:buFont typeface="Arial"/>
              <a:buAutoNum type="arabicPeriod"/>
            </a:pPr>
            <a:r>
              <a:rPr lang="en-US" sz="2000" dirty="0">
                <a:latin typeface="Verdana"/>
                <a:ea typeface="Verdana"/>
                <a:cs typeface="Verdana"/>
                <a:sym typeface="Verdana"/>
              </a:rPr>
              <a:t>A company is trying to determine which method of communication is best to tell their employees important information. They send text messages to nine employees and emails to another nine employees. They record how many minutes it takes for the employees to reply.</a:t>
            </a:r>
            <a:endParaRPr dirty="0"/>
          </a:p>
          <a:p>
            <a:pPr marL="457200" indent="-330200">
              <a:buSzPts val="2000"/>
            </a:pPr>
            <a:endParaRPr sz="2000" dirty="0">
              <a:latin typeface="Verdana"/>
              <a:ea typeface="Verdana"/>
              <a:cs typeface="Verdana"/>
              <a:sym typeface="Verdana"/>
            </a:endParaRPr>
          </a:p>
          <a:p>
            <a:pPr marL="457200" indent="-330200">
              <a:buSzPts val="2000"/>
            </a:pPr>
            <a:endParaRPr sz="2000" dirty="0">
              <a:latin typeface="Verdana"/>
              <a:ea typeface="Verdana"/>
              <a:cs typeface="Verdana"/>
              <a:sym typeface="Verdana"/>
            </a:endParaRPr>
          </a:p>
          <a:p>
            <a:endParaRPr sz="2000" dirty="0">
              <a:latin typeface="Verdana"/>
              <a:ea typeface="Verdana"/>
              <a:cs typeface="Verdana"/>
              <a:sym typeface="Verdana"/>
            </a:endParaRPr>
          </a:p>
          <a:p>
            <a:pPr marL="928688" indent="-481013">
              <a:buSzPts val="2000"/>
              <a:buFont typeface="Arial"/>
              <a:buAutoNum type="alphaLcPeriod"/>
            </a:pPr>
            <a:r>
              <a:rPr lang="en-US" sz="2000" dirty="0">
                <a:latin typeface="Verdana"/>
                <a:ea typeface="Verdana"/>
                <a:cs typeface="Verdana"/>
                <a:sym typeface="Verdana"/>
              </a:rPr>
              <a:t>Which measure of center best summarizes the data sets?</a:t>
            </a:r>
            <a:endParaRPr dirty="0"/>
          </a:p>
          <a:p>
            <a:pPr marL="974725"/>
            <a:endParaRPr sz="800" dirty="0"/>
          </a:p>
          <a:p>
            <a:pPr marL="974725" indent="-46037"/>
            <a:r>
              <a:rPr lang="en-US" sz="2000" dirty="0"/>
              <a:t>Text:   				                 Email: </a:t>
            </a:r>
            <a:endParaRPr dirty="0"/>
          </a:p>
          <a:p>
            <a:pPr marL="974725" indent="-974725"/>
            <a:r>
              <a:rPr lang="en-US" sz="2000" dirty="0"/>
              <a:t> </a:t>
            </a:r>
            <a:endParaRPr sz="2000" dirty="0">
              <a:latin typeface="Verdana"/>
              <a:ea typeface="Verdana"/>
              <a:cs typeface="Verdana"/>
              <a:sym typeface="Verdana"/>
            </a:endParaRPr>
          </a:p>
          <a:p>
            <a:pPr marL="928688" indent="-481013">
              <a:buSzPts val="2000"/>
              <a:buFont typeface="Arial"/>
              <a:buAutoNum type="alphaLcPeriod" startAt="2"/>
            </a:pPr>
            <a:endParaRPr lang="en-US" sz="2000" dirty="0">
              <a:latin typeface="Verdana"/>
              <a:ea typeface="Verdana"/>
              <a:cs typeface="Verdana"/>
              <a:sym typeface="Verdana"/>
            </a:endParaRPr>
          </a:p>
          <a:p>
            <a:pPr marL="928688" indent="-481013">
              <a:buSzPts val="2000"/>
              <a:buFont typeface="Arial"/>
              <a:buAutoNum type="alphaLcPeriod" startAt="2"/>
            </a:pPr>
            <a:r>
              <a:rPr lang="en-US" sz="2000" dirty="0">
                <a:latin typeface="Verdana"/>
                <a:ea typeface="Verdana"/>
                <a:cs typeface="Verdana"/>
                <a:sym typeface="Verdana"/>
              </a:rPr>
              <a:t>Which measure of variability best summarizes the data sets?</a:t>
            </a:r>
            <a:endParaRPr dirty="0"/>
          </a:p>
          <a:p>
            <a:endParaRPr sz="800" dirty="0"/>
          </a:p>
          <a:p>
            <a:pPr marL="928688"/>
            <a:r>
              <a:rPr lang="en-US" sz="2000" dirty="0"/>
              <a:t>Text:   				                 Email: </a:t>
            </a:r>
            <a:endParaRPr dirty="0"/>
          </a:p>
        </p:txBody>
      </p:sp>
      <p:graphicFrame>
        <p:nvGraphicFramePr>
          <p:cNvPr id="338" name="Google Shape;338;p20"/>
          <p:cNvGraphicFramePr/>
          <p:nvPr>
            <p:extLst>
              <p:ext uri="{D42A27DB-BD31-4B8C-83A1-F6EECF244321}">
                <p14:modId xmlns:p14="http://schemas.microsoft.com/office/powerpoint/2010/main" val="1348844346"/>
              </p:ext>
            </p:extLst>
          </p:nvPr>
        </p:nvGraphicFramePr>
        <p:xfrm>
          <a:off x="2519926" y="2827297"/>
          <a:ext cx="7533050" cy="609600"/>
        </p:xfrm>
        <a:graphic>
          <a:graphicData uri="http://schemas.openxmlformats.org/drawingml/2006/table">
            <a:tbl>
              <a:tblPr firstRow="1" firstCol="1" bandRow="1">
                <a:noFill/>
                <a:tableStyleId>{D990BA44-4C6E-4FD3-9C0D-04238C06397C}</a:tableStyleId>
              </a:tblPr>
              <a:tblGrid>
                <a:gridCol w="949550">
                  <a:extLst>
                    <a:ext uri="{9D8B030D-6E8A-4147-A177-3AD203B41FA5}">
                      <a16:colId xmlns:a16="http://schemas.microsoft.com/office/drawing/2014/main" val="20000"/>
                    </a:ext>
                  </a:extLst>
                </a:gridCol>
                <a:gridCol w="731500">
                  <a:extLst>
                    <a:ext uri="{9D8B030D-6E8A-4147-A177-3AD203B41FA5}">
                      <a16:colId xmlns:a16="http://schemas.microsoft.com/office/drawing/2014/main" val="20001"/>
                    </a:ext>
                  </a:extLst>
                </a:gridCol>
                <a:gridCol w="731500">
                  <a:extLst>
                    <a:ext uri="{9D8B030D-6E8A-4147-A177-3AD203B41FA5}">
                      <a16:colId xmlns:a16="http://schemas.microsoft.com/office/drawing/2014/main" val="20002"/>
                    </a:ext>
                  </a:extLst>
                </a:gridCol>
                <a:gridCol w="731500">
                  <a:extLst>
                    <a:ext uri="{9D8B030D-6E8A-4147-A177-3AD203B41FA5}">
                      <a16:colId xmlns:a16="http://schemas.microsoft.com/office/drawing/2014/main" val="20003"/>
                    </a:ext>
                  </a:extLst>
                </a:gridCol>
                <a:gridCol w="731500">
                  <a:extLst>
                    <a:ext uri="{9D8B030D-6E8A-4147-A177-3AD203B41FA5}">
                      <a16:colId xmlns:a16="http://schemas.microsoft.com/office/drawing/2014/main" val="20004"/>
                    </a:ext>
                  </a:extLst>
                </a:gridCol>
                <a:gridCol w="731500">
                  <a:extLst>
                    <a:ext uri="{9D8B030D-6E8A-4147-A177-3AD203B41FA5}">
                      <a16:colId xmlns:a16="http://schemas.microsoft.com/office/drawing/2014/main" val="20005"/>
                    </a:ext>
                  </a:extLst>
                </a:gridCol>
                <a:gridCol w="731500">
                  <a:extLst>
                    <a:ext uri="{9D8B030D-6E8A-4147-A177-3AD203B41FA5}">
                      <a16:colId xmlns:a16="http://schemas.microsoft.com/office/drawing/2014/main" val="20006"/>
                    </a:ext>
                  </a:extLst>
                </a:gridCol>
                <a:gridCol w="731500">
                  <a:extLst>
                    <a:ext uri="{9D8B030D-6E8A-4147-A177-3AD203B41FA5}">
                      <a16:colId xmlns:a16="http://schemas.microsoft.com/office/drawing/2014/main" val="20007"/>
                    </a:ext>
                  </a:extLst>
                </a:gridCol>
                <a:gridCol w="731500">
                  <a:extLst>
                    <a:ext uri="{9D8B030D-6E8A-4147-A177-3AD203B41FA5}">
                      <a16:colId xmlns:a16="http://schemas.microsoft.com/office/drawing/2014/main" val="20008"/>
                    </a:ext>
                  </a:extLst>
                </a:gridCol>
                <a:gridCol w="731500">
                  <a:extLst>
                    <a:ext uri="{9D8B030D-6E8A-4147-A177-3AD203B41FA5}">
                      <a16:colId xmlns:a16="http://schemas.microsoft.com/office/drawing/2014/main" val="20009"/>
                    </a:ext>
                  </a:extLst>
                </a:gridCol>
              </a:tblGrid>
              <a:tr h="2540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Text</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1800" u="none" strike="noStrike" cap="none"/>
                        <a:t>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20</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45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13</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12</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4</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11</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5400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Email</a:t>
                      </a:r>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1800" u="none" strike="noStrike" cap="none"/>
                        <a:t>25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35</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24</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30</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19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29</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t>38</a:t>
                      </a:r>
                      <a:endParaRPr sz="1200" u="none" strike="noStrike" cap="none">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dirty="0"/>
                        <a:t>12</a:t>
                      </a:r>
                      <a:endParaRPr sz="1200" u="none" strike="noStrike" cap="none" dirty="0">
                        <a:latin typeface="Cambria"/>
                        <a:ea typeface="Cambria"/>
                        <a:cs typeface="Cambria"/>
                        <a:sym typeface="Cambria"/>
                      </a:endParaRPr>
                    </a:p>
                  </a:txBody>
                  <a:tcPr marL="68575" marR="6857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339" name="Google Shape;339;p20"/>
          <p:cNvGrpSpPr/>
          <p:nvPr/>
        </p:nvGrpSpPr>
        <p:grpSpPr>
          <a:xfrm>
            <a:off x="2410008" y="3914026"/>
            <a:ext cx="2150148" cy="866360"/>
            <a:chOff x="-73234" y="-97695"/>
            <a:chExt cx="2035384" cy="1491856"/>
          </a:xfrm>
        </p:grpSpPr>
        <p:sp>
          <p:nvSpPr>
            <p:cNvPr id="340" name="Google Shape;340;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41" name="Google Shape;341;p20"/>
            <p:cNvSpPr txBox="1"/>
            <p:nvPr/>
          </p:nvSpPr>
          <p:spPr>
            <a:xfrm>
              <a:off x="-73234" y="-97695"/>
              <a:ext cx="1903345" cy="1491856"/>
            </a:xfrm>
            <a:prstGeom prst="rect">
              <a:avLst/>
            </a:prstGeom>
            <a:noFill/>
            <a:ln>
              <a:noFill/>
            </a:ln>
          </p:spPr>
          <p:txBody>
            <a:bodyPr spcFirstLastPara="1" wrap="square" lIns="91425" tIns="45700" rIns="91425" bIns="45700" anchor="t" anchorCtr="0">
              <a:noAutofit/>
            </a:bodyPr>
            <a:lstStyle/>
            <a:p>
              <a:pPr marL="635000" indent="-279400">
                <a:buSzPts val="2000"/>
                <a:buFont typeface="Courier New"/>
                <a:buChar char="o"/>
              </a:pPr>
              <a:r>
                <a:rPr lang="en-US" sz="2000" dirty="0">
                  <a:latin typeface="Verdana"/>
                  <a:ea typeface="Verdana"/>
                  <a:cs typeface="Verdana"/>
                  <a:sym typeface="Verdana"/>
                </a:rPr>
                <a:t>mean</a:t>
              </a:r>
              <a:endParaRPr sz="2000" dirty="0">
                <a:latin typeface="Cambria"/>
                <a:ea typeface="Cambria"/>
                <a:cs typeface="Cambria"/>
                <a:sym typeface="Cambria"/>
              </a:endParaRPr>
            </a:p>
            <a:p>
              <a:pPr marL="635000" indent="-279400">
                <a:buSzPts val="2000"/>
                <a:buFont typeface="Courier New"/>
                <a:buChar char="o"/>
              </a:pPr>
              <a:r>
                <a:rPr lang="en-US" sz="2000" dirty="0">
                  <a:latin typeface="Verdana"/>
                  <a:ea typeface="Verdana"/>
                  <a:cs typeface="Verdana"/>
                  <a:sym typeface="Verdana"/>
                </a:rPr>
                <a:t>median</a:t>
              </a:r>
              <a:endParaRPr sz="2000" dirty="0">
                <a:latin typeface="Cambria"/>
                <a:ea typeface="Cambria"/>
                <a:cs typeface="Cambria"/>
                <a:sym typeface="Cambria"/>
              </a:endParaRPr>
            </a:p>
          </p:txBody>
        </p:sp>
      </p:grpSp>
      <p:grpSp>
        <p:nvGrpSpPr>
          <p:cNvPr id="342" name="Google Shape;342;p20"/>
          <p:cNvGrpSpPr/>
          <p:nvPr/>
        </p:nvGrpSpPr>
        <p:grpSpPr>
          <a:xfrm>
            <a:off x="7261020" y="3861099"/>
            <a:ext cx="2150148" cy="866360"/>
            <a:chOff x="-73234" y="-97695"/>
            <a:chExt cx="2035384" cy="1491856"/>
          </a:xfrm>
        </p:grpSpPr>
        <p:sp>
          <p:nvSpPr>
            <p:cNvPr id="343" name="Google Shape;343;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44" name="Google Shape;344;p20"/>
            <p:cNvSpPr txBox="1"/>
            <p:nvPr/>
          </p:nvSpPr>
          <p:spPr>
            <a:xfrm>
              <a:off x="-73234" y="-97695"/>
              <a:ext cx="1903345" cy="1491856"/>
            </a:xfrm>
            <a:prstGeom prst="rect">
              <a:avLst/>
            </a:prstGeom>
            <a:noFill/>
            <a:ln>
              <a:noFill/>
            </a:ln>
          </p:spPr>
          <p:txBody>
            <a:bodyPr spcFirstLastPara="1" wrap="square" lIns="91425" tIns="45700" rIns="91425" bIns="45700" anchor="t" anchorCtr="0">
              <a:noAutofit/>
            </a:bodyPr>
            <a:lstStyle/>
            <a:p>
              <a:pPr marL="635000" indent="-279400">
                <a:buSzPts val="2000"/>
                <a:buFont typeface="Courier New"/>
                <a:buChar char="o"/>
              </a:pPr>
              <a:r>
                <a:rPr lang="en-US" sz="2000" dirty="0">
                  <a:latin typeface="Verdana"/>
                  <a:ea typeface="Verdana"/>
                  <a:cs typeface="Verdana"/>
                  <a:sym typeface="Verdana"/>
                </a:rPr>
                <a:t>mean</a:t>
              </a:r>
              <a:endParaRPr sz="2000" dirty="0">
                <a:latin typeface="Cambria"/>
                <a:ea typeface="Cambria"/>
                <a:cs typeface="Cambria"/>
                <a:sym typeface="Cambria"/>
              </a:endParaRPr>
            </a:p>
            <a:p>
              <a:pPr marL="635000" indent="-279400">
                <a:buSzPts val="2000"/>
                <a:buFont typeface="Courier New"/>
                <a:buChar char="o"/>
              </a:pPr>
              <a:r>
                <a:rPr lang="en-US" sz="2000" dirty="0">
                  <a:latin typeface="Verdana"/>
                  <a:ea typeface="Verdana"/>
                  <a:cs typeface="Verdana"/>
                  <a:sym typeface="Verdana"/>
                </a:rPr>
                <a:t>median</a:t>
              </a:r>
              <a:endParaRPr sz="2000" dirty="0">
                <a:latin typeface="Cambria"/>
                <a:ea typeface="Cambria"/>
                <a:cs typeface="Cambria"/>
                <a:sym typeface="Cambria"/>
              </a:endParaRPr>
            </a:p>
          </p:txBody>
        </p:sp>
      </p:grpSp>
      <p:grpSp>
        <p:nvGrpSpPr>
          <p:cNvPr id="345" name="Google Shape;345;p20"/>
          <p:cNvGrpSpPr/>
          <p:nvPr/>
        </p:nvGrpSpPr>
        <p:grpSpPr>
          <a:xfrm>
            <a:off x="2519926" y="5235502"/>
            <a:ext cx="2010664" cy="917410"/>
            <a:chOff x="0" y="0"/>
            <a:chExt cx="1962150" cy="1394159"/>
          </a:xfrm>
        </p:grpSpPr>
        <p:sp>
          <p:nvSpPr>
            <p:cNvPr id="346" name="Google Shape;346;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47" name="Google Shape;347;p20"/>
            <p:cNvSpPr txBox="1"/>
            <p:nvPr/>
          </p:nvSpPr>
          <p:spPr>
            <a:xfrm>
              <a:off x="0" y="66673"/>
              <a:ext cx="1838325" cy="1327486"/>
            </a:xfrm>
            <a:prstGeom prst="rect">
              <a:avLst/>
            </a:prstGeom>
            <a:noFill/>
            <a:ln>
              <a:noFill/>
            </a:ln>
          </p:spPr>
          <p:txBody>
            <a:bodyPr spcFirstLastPara="1" wrap="square" lIns="91425" tIns="45700" rIns="91425" bIns="45700" anchor="t" anchorCtr="0">
              <a:noAutofit/>
            </a:bodyPr>
            <a:lstStyle/>
            <a:p>
              <a:pPr marL="525463" indent="-293688">
                <a:buSzPts val="2000"/>
                <a:buFont typeface="Courier New"/>
                <a:buChar char="o"/>
              </a:pPr>
              <a:r>
                <a:rPr lang="en-US" sz="2000">
                  <a:latin typeface="Verdana"/>
                  <a:ea typeface="Verdana"/>
                  <a:cs typeface="Verdana"/>
                  <a:sym typeface="Verdana"/>
                </a:rPr>
                <a:t>range</a:t>
              </a:r>
              <a:endParaRPr sz="2000">
                <a:latin typeface="Cambria"/>
                <a:ea typeface="Cambria"/>
                <a:cs typeface="Cambria"/>
                <a:sym typeface="Cambria"/>
              </a:endParaRPr>
            </a:p>
            <a:p>
              <a:pPr marL="525463" indent="-293688">
                <a:buSzPts val="2000"/>
                <a:buFont typeface="Courier New"/>
                <a:buChar char="o"/>
              </a:pPr>
              <a:r>
                <a:rPr lang="en-US" sz="2000">
                  <a:latin typeface="Verdana"/>
                  <a:ea typeface="Verdana"/>
                  <a:cs typeface="Verdana"/>
                  <a:sym typeface="Verdana"/>
                </a:rPr>
                <a:t>IQR</a:t>
              </a:r>
              <a:endParaRPr sz="2000">
                <a:latin typeface="Cambria"/>
                <a:ea typeface="Cambria"/>
                <a:cs typeface="Cambria"/>
                <a:sym typeface="Cambria"/>
              </a:endParaRPr>
            </a:p>
          </p:txBody>
        </p:sp>
      </p:grpSp>
      <p:grpSp>
        <p:nvGrpSpPr>
          <p:cNvPr id="348" name="Google Shape;348;p20"/>
          <p:cNvGrpSpPr/>
          <p:nvPr/>
        </p:nvGrpSpPr>
        <p:grpSpPr>
          <a:xfrm>
            <a:off x="7415568" y="5235502"/>
            <a:ext cx="1995600" cy="866360"/>
            <a:chOff x="0" y="0"/>
            <a:chExt cx="1962150" cy="1394159"/>
          </a:xfrm>
        </p:grpSpPr>
        <p:sp>
          <p:nvSpPr>
            <p:cNvPr id="349" name="Google Shape;349;p20"/>
            <p:cNvSpPr/>
            <p:nvPr/>
          </p:nvSpPr>
          <p:spPr>
            <a:xfrm>
              <a:off x="171450" y="0"/>
              <a:ext cx="1790700" cy="1285875"/>
            </a:xfrm>
            <a:prstGeom prst="roundRect">
              <a:avLst>
                <a:gd name="adj" fmla="val 16667"/>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endParaRPr>
                <a:solidFill>
                  <a:schemeClr val="dk1"/>
                </a:solidFill>
              </a:endParaRPr>
            </a:p>
          </p:txBody>
        </p:sp>
        <p:sp>
          <p:nvSpPr>
            <p:cNvPr id="350" name="Google Shape;350;p20"/>
            <p:cNvSpPr txBox="1"/>
            <p:nvPr/>
          </p:nvSpPr>
          <p:spPr>
            <a:xfrm>
              <a:off x="0" y="66673"/>
              <a:ext cx="1838325" cy="1327486"/>
            </a:xfrm>
            <a:prstGeom prst="rect">
              <a:avLst/>
            </a:prstGeom>
            <a:noFill/>
            <a:ln>
              <a:noFill/>
            </a:ln>
          </p:spPr>
          <p:txBody>
            <a:bodyPr spcFirstLastPara="1" wrap="square" lIns="91425" tIns="45700" rIns="91425" bIns="45700" anchor="t" anchorCtr="0">
              <a:noAutofit/>
            </a:bodyPr>
            <a:lstStyle/>
            <a:p>
              <a:pPr marL="525463" indent="-293688">
                <a:buSzPts val="2000"/>
                <a:buFont typeface="Courier New"/>
                <a:buChar char="o"/>
              </a:pPr>
              <a:r>
                <a:rPr lang="en-US" sz="2000" dirty="0">
                  <a:latin typeface="Verdana"/>
                  <a:ea typeface="Verdana"/>
                  <a:cs typeface="Verdana"/>
                  <a:sym typeface="Verdana"/>
                </a:rPr>
                <a:t>range</a:t>
              </a:r>
              <a:endParaRPr sz="2000" dirty="0">
                <a:latin typeface="Cambria"/>
                <a:ea typeface="Cambria"/>
                <a:cs typeface="Cambria"/>
                <a:sym typeface="Cambria"/>
              </a:endParaRPr>
            </a:p>
            <a:p>
              <a:pPr marL="525463" indent="-293688">
                <a:buSzPts val="2000"/>
                <a:buFont typeface="Courier New"/>
                <a:buChar char="o"/>
              </a:pPr>
              <a:r>
                <a:rPr lang="en-US" sz="2000" dirty="0">
                  <a:latin typeface="Verdana"/>
                  <a:ea typeface="Verdana"/>
                  <a:cs typeface="Verdana"/>
                  <a:sym typeface="Verdana"/>
                </a:rPr>
                <a:t>IQR</a:t>
              </a:r>
              <a:endParaRPr sz="2000" dirty="0">
                <a:latin typeface="Cambria"/>
                <a:ea typeface="Cambria"/>
                <a:cs typeface="Cambria"/>
                <a:sym typeface="Cambri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57" name="Google Shape;357;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58" name="Google Shape;358;p2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a:latin typeface="Calibri"/>
                <a:ea typeface="Calibri"/>
                <a:cs typeface="Calibri"/>
                <a:sym typeface="Calibri"/>
              </a:rPr>
              <a:t>volume 2, pg. 261</a:t>
            </a:r>
            <a:endParaRPr/>
          </a:p>
        </p:txBody>
      </p:sp>
      <p:sp>
        <p:nvSpPr>
          <p:cNvPr id="359" name="Google Shape;359;p21"/>
          <p:cNvSpPr txBox="1"/>
          <p:nvPr/>
        </p:nvSpPr>
        <p:spPr>
          <a:xfrm>
            <a:off x="914400" y="520393"/>
            <a:ext cx="10515600" cy="5755422"/>
          </a:xfrm>
          <a:prstGeom prst="rect">
            <a:avLst/>
          </a:prstGeom>
          <a:noFill/>
          <a:ln>
            <a:noFill/>
          </a:ln>
        </p:spPr>
        <p:txBody>
          <a:bodyPr spcFirstLastPara="1" wrap="square" lIns="91425" tIns="45700" rIns="91425" bIns="45700" anchor="t" anchorCtr="0">
            <a:spAutoFit/>
          </a:bodyPr>
          <a:lstStyle/>
          <a:p>
            <a:pPr marL="928688" indent="-465138">
              <a:buSzPts val="2000"/>
              <a:buFont typeface="Arial"/>
              <a:buAutoNum type="alphaLcPeriod" startAt="3"/>
            </a:pPr>
            <a:r>
              <a:rPr lang="en-US" sz="2000" dirty="0">
                <a:latin typeface="Verdana"/>
                <a:ea typeface="Verdana"/>
                <a:cs typeface="Verdana"/>
                <a:sym typeface="Verdana"/>
              </a:rPr>
              <a:t>Calculate the measures of center and variability.</a:t>
            </a:r>
            <a:endParaRPr dirty="0"/>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338138">
              <a:buSzPts val="2000"/>
            </a:pPr>
            <a:endParaRPr sz="2000" dirty="0">
              <a:latin typeface="Verdana"/>
              <a:ea typeface="Verdana"/>
              <a:cs typeface="Verdana"/>
              <a:sym typeface="Verdana"/>
            </a:endParaRPr>
          </a:p>
          <a:p>
            <a:pPr marL="928688" indent="-465138">
              <a:buSzPts val="2000"/>
              <a:buFont typeface="+mj-lt"/>
              <a:buAutoNum type="alphaLcPeriod" startAt="4"/>
            </a:pPr>
            <a:r>
              <a:rPr lang="en-US" sz="2000" dirty="0">
                <a:latin typeface="Verdana"/>
                <a:ea typeface="Verdana"/>
                <a:cs typeface="Verdana"/>
                <a:sym typeface="Verdana"/>
              </a:rPr>
              <a:t>Use the most appropriate measures of center and variability to compare the effectiveness of the two methods of communicating with employees.</a:t>
            </a:r>
            <a:endParaRPr dirty="0"/>
          </a:p>
          <a:p>
            <a:r>
              <a:rPr lang="en-US" dirty="0"/>
              <a:t> </a:t>
            </a:r>
            <a:endParaRPr dirty="0"/>
          </a:p>
          <a:p>
            <a:pPr marL="928688" indent="-338138">
              <a:buSzPts val="2000"/>
            </a:pPr>
            <a:endParaRPr sz="2000" dirty="0">
              <a:latin typeface="Verdana"/>
              <a:ea typeface="Verdana"/>
              <a:cs typeface="Verdana"/>
              <a:sym typeface="Verdana"/>
            </a:endParaRPr>
          </a:p>
          <a:p>
            <a:r>
              <a:rPr lang="en-US" dirty="0"/>
              <a:t> </a:t>
            </a:r>
            <a:endParaRPr dirty="0"/>
          </a:p>
        </p:txBody>
      </p:sp>
      <p:graphicFrame>
        <p:nvGraphicFramePr>
          <p:cNvPr id="360" name="Google Shape;360;p21"/>
          <p:cNvGraphicFramePr/>
          <p:nvPr/>
        </p:nvGraphicFramePr>
        <p:xfrm>
          <a:off x="3058334" y="1079864"/>
          <a:ext cx="3546725" cy="2743250"/>
        </p:xfrm>
        <a:graphic>
          <a:graphicData uri="http://schemas.openxmlformats.org/drawingml/2006/table">
            <a:tbl>
              <a:tblPr firstRow="1" firstCol="1" bandRow="1">
                <a:noFill/>
                <a:tableStyleId>{D990BA44-4C6E-4FD3-9C0D-04238C06397C}</a:tableStyleId>
              </a:tblPr>
              <a:tblGrid>
                <a:gridCol w="1248800">
                  <a:extLst>
                    <a:ext uri="{9D8B030D-6E8A-4147-A177-3AD203B41FA5}">
                      <a16:colId xmlns:a16="http://schemas.microsoft.com/office/drawing/2014/main" val="20000"/>
                    </a:ext>
                  </a:extLst>
                </a:gridCol>
                <a:gridCol w="1076650">
                  <a:extLst>
                    <a:ext uri="{9D8B030D-6E8A-4147-A177-3AD203B41FA5}">
                      <a16:colId xmlns:a16="http://schemas.microsoft.com/office/drawing/2014/main" val="20001"/>
                    </a:ext>
                  </a:extLst>
                </a:gridCol>
                <a:gridCol w="1221275">
                  <a:extLst>
                    <a:ext uri="{9D8B030D-6E8A-4147-A177-3AD203B41FA5}">
                      <a16:colId xmlns:a16="http://schemas.microsoft.com/office/drawing/2014/main" val="20002"/>
                    </a:ext>
                  </a:extLst>
                </a:gridCol>
              </a:tblGrid>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Text</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Email</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Median</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Range</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48650">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IQR</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000" b="1" u="none" strike="noStrike" cap="none">
                          <a:latin typeface="Verdana"/>
                          <a:ea typeface="Verdana"/>
                          <a:cs typeface="Verdana"/>
                          <a:sym typeface="Verdana"/>
                        </a:rPr>
                        <a:t> </a:t>
                      </a:r>
                      <a:endParaRPr/>
                    </a:p>
                  </a:txBody>
                  <a:tcPr marL="68575" marR="68575" marT="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2"/>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67" name="Google Shape;367;p2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261</a:t>
            </a:r>
            <a:endParaRPr dirty="0"/>
          </a:p>
        </p:txBody>
      </p:sp>
      <p:pic>
        <p:nvPicPr>
          <p:cNvPr id="368" name="Google Shape;368;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69" name="Google Shape;369;p22"/>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370" name="Google Shape;370;p22"/>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2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77" name="Google Shape;377;p23"/>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261</a:t>
            </a:r>
            <a:endParaRPr dirty="0"/>
          </a:p>
        </p:txBody>
      </p:sp>
      <p:pic>
        <p:nvPicPr>
          <p:cNvPr id="378" name="Google Shape;378;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79" name="Google Shape;379;p23"/>
          <p:cNvSpPr txBox="1"/>
          <p:nvPr/>
        </p:nvSpPr>
        <p:spPr>
          <a:xfrm>
            <a:off x="1143000" y="-8257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13.5.6 Wrap-Up: Cool Down</a:t>
            </a:r>
            <a:endParaRPr dirty="0"/>
          </a:p>
        </p:txBody>
      </p:sp>
      <p:pic>
        <p:nvPicPr>
          <p:cNvPr id="380" name="Google Shape;380;p23"/>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srgbClr val="000000">
                <a:alpha val="40000"/>
              </a:srgbClr>
            </a:outerShdw>
          </a:effectLst>
        </p:spPr>
      </p:pic>
      <p:sp>
        <p:nvSpPr>
          <p:cNvPr id="381" name="Google Shape;381;p23"/>
          <p:cNvSpPr txBox="1"/>
          <p:nvPr/>
        </p:nvSpPr>
        <p:spPr>
          <a:xfrm>
            <a:off x="914400" y="1386025"/>
            <a:ext cx="10515600" cy="2308284"/>
          </a:xfrm>
          <a:prstGeom prst="rect">
            <a:avLst/>
          </a:prstGeom>
          <a:noFill/>
          <a:ln>
            <a:noFill/>
          </a:ln>
        </p:spPr>
        <p:txBody>
          <a:bodyPr spcFirstLastPara="1" wrap="square" lIns="91425" tIns="45700" rIns="91425" bIns="45700" anchor="t" anchorCtr="0">
            <a:spAutoFit/>
          </a:bodyPr>
          <a:lstStyle/>
          <a:p>
            <a:pPr marL="457200" indent="-457200">
              <a:buSzPct val="100000"/>
              <a:buFont typeface="Arial"/>
              <a:buAutoNum type="arabicPeriod"/>
            </a:pPr>
            <a:r>
              <a:rPr lang="en-US" sz="2400" dirty="0">
                <a:latin typeface="Verdana"/>
                <a:ea typeface="Verdana"/>
                <a:cs typeface="Verdana"/>
                <a:sym typeface="Verdana"/>
              </a:rPr>
              <a:t>Use the data from Your Turn to complete the prompt below.</a:t>
            </a:r>
            <a:endParaRPr sz="2400" dirty="0"/>
          </a:p>
          <a:p>
            <a:r>
              <a:rPr lang="en-US" sz="2400" dirty="0">
                <a:latin typeface="Verdana"/>
                <a:ea typeface="Verdana"/>
                <a:cs typeface="Verdana"/>
                <a:sym typeface="Verdana"/>
              </a:rPr>
              <a:t> </a:t>
            </a:r>
            <a:endParaRPr sz="2400" dirty="0"/>
          </a:p>
          <a:p>
            <a:pPr marL="463550"/>
            <a:r>
              <a:rPr lang="en-US" sz="2400" dirty="0">
                <a:latin typeface="Verdana"/>
                <a:ea typeface="Verdana"/>
                <a:cs typeface="Verdana"/>
                <a:sym typeface="Verdana"/>
              </a:rPr>
              <a:t>Lucas recommends that the company emails its employees because of the smaller range in the data set. Explain why you agree or disagree with Lucas.</a:t>
            </a:r>
            <a:endParaRPr sz="2400" dirty="0"/>
          </a:p>
          <a:p>
            <a:r>
              <a:rPr lang="en-US" sz="2400" dirty="0">
                <a:latin typeface="Verdana"/>
                <a:ea typeface="Verdana"/>
                <a:cs typeface="Verdana"/>
                <a:sym typeface="Verdana"/>
              </a:rPr>
              <a:t> </a:t>
            </a:r>
            <a:endParaRPr sz="2400" dirty="0"/>
          </a:p>
        </p:txBody>
      </p: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D5542A-6694-435D-8A68-BEF66B36D479}">
  <ds:schemaRefs>
    <ds:schemaRef ds:uri="http://schemas.microsoft.com/sharepoint/v3/contenttype/forms"/>
  </ds:schemaRefs>
</ds:datastoreItem>
</file>

<file path=customXml/itemProps2.xml><?xml version="1.0" encoding="utf-8"?>
<ds:datastoreItem xmlns:ds="http://schemas.openxmlformats.org/officeDocument/2006/customXml" ds:itemID="{D1936432-B5A1-492E-AF3E-FCD09965BE08}">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3.xml><?xml version="1.0" encoding="utf-8"?>
<ds:datastoreItem xmlns:ds="http://schemas.openxmlformats.org/officeDocument/2006/customXml" ds:itemID="{0AE9F622-9B74-4D00-81E5-FE40FBAC97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66</TotalTime>
  <Words>1320</Words>
  <Application>Microsoft Office PowerPoint</Application>
  <PresentationFormat>Widescreen</PresentationFormat>
  <Paragraphs>315</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Cambria Math</vt:lpstr>
      <vt:lpstr>Arial Black</vt:lpstr>
      <vt:lpstr>Verdana</vt:lpstr>
      <vt:lpstr>Noto Sans Symbols</vt:lpstr>
      <vt:lpstr>Cambria</vt:lpstr>
      <vt:lpstr>Courier New</vt:lpstr>
      <vt:lpstr>Calibri</vt:lpstr>
      <vt:lpstr>Arial</vt:lpstr>
      <vt:lpstr>Century Gothic</vt:lpstr>
      <vt:lpstr>1_Office Theme</vt:lpstr>
      <vt:lpstr>7th Grade Math  Unit 13, Lesson 5  Comparing Data Sets  Volume 2, pg. 257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Try It</vt:lpstr>
      <vt:lpstr>PowerPoint Presentation</vt:lpstr>
      <vt:lpstr>PowerPoint Presentation</vt:lpstr>
      <vt:lpstr>Activity</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Math  Unit 13, Lesson 5  Comparing Data Sets  Volume 2, pg. 257</dc:title>
  <dc:creator>Karen McKenzie</dc:creator>
  <cp:lastModifiedBy>vaanmx</cp:lastModifiedBy>
  <cp:revision>5</cp:revision>
  <dcterms:created xsi:type="dcterms:W3CDTF">2015-03-17T18:51:18Z</dcterms:created>
  <dcterms:modified xsi:type="dcterms:W3CDTF">2023-06-30T09:28:20Z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