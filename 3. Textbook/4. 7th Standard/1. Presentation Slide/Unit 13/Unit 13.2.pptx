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7"/>
  </p:notesMasterIdLst>
  <p:sldIdLst>
    <p:sldId id="256" r:id="rId5"/>
    <p:sldId id="257" r:id="rId6"/>
    <p:sldId id="285" r:id="rId7"/>
    <p:sldId id="286" r:id="rId8"/>
    <p:sldId id="261" r:id="rId9"/>
    <p:sldId id="287" r:id="rId10"/>
    <p:sldId id="288" r:id="rId11"/>
    <p:sldId id="314" r:id="rId12"/>
    <p:sldId id="315" r:id="rId13"/>
    <p:sldId id="342" r:id="rId14"/>
    <p:sldId id="352" r:id="rId15"/>
    <p:sldId id="353" r:id="rId16"/>
    <p:sldId id="354" r:id="rId17"/>
    <p:sldId id="355" r:id="rId18"/>
    <p:sldId id="356" r:id="rId19"/>
    <p:sldId id="358" r:id="rId20"/>
    <p:sldId id="359" r:id="rId21"/>
    <p:sldId id="360" r:id="rId22"/>
    <p:sldId id="361" r:id="rId23"/>
    <p:sldId id="329" r:id="rId24"/>
    <p:sldId id="330" r:id="rId25"/>
    <p:sldId id="349" r:id="rId26"/>
    <p:sldId id="323" r:id="rId27"/>
    <p:sldId id="324" r:id="rId28"/>
    <p:sldId id="347" r:id="rId29"/>
    <p:sldId id="362" r:id="rId30"/>
    <p:sldId id="363" r:id="rId31"/>
    <p:sldId id="364" r:id="rId32"/>
    <p:sldId id="365" r:id="rId33"/>
    <p:sldId id="306" r:id="rId34"/>
    <p:sldId id="307" r:id="rId35"/>
    <p:sldId id="351" r:id="rId36"/>
  </p:sldIdLst>
  <p:sldSz cx="12192000" cy="6858000"/>
  <p:notesSz cx="6858000" cy="9144000"/>
  <p:embeddedFontLst>
    <p:embeddedFont>
      <p:font typeface="Arial Black" panose="020B0A04020102020204" pitchFamily="34" charset="0"/>
      <p:bold r:id="rId38"/>
    </p:embeddedFont>
    <p:embeddedFont>
      <p:font typeface="Calibri" panose="020F0502020204030204" pitchFamily="34" charset="0"/>
      <p:regular r:id="rId39"/>
      <p:bold r:id="rId40"/>
      <p:italic r:id="rId41"/>
      <p:boldItalic r:id="rId42"/>
    </p:embeddedFont>
    <p:embeddedFont>
      <p:font typeface="Cambria Math" panose="02040503050406030204" pitchFamily="18" charset="0"/>
      <p:regular r:id="rId43"/>
    </p:embeddedFont>
    <p:embeddedFont>
      <p:font typeface="Century Gothic" panose="020B0502020202020204" pitchFamily="34" charset="0"/>
      <p:regular r:id="rId44"/>
      <p:bold r:id="rId45"/>
      <p:italic r:id="rId46"/>
      <p:boldItalic r:id="rId47"/>
    </p:embeddedFont>
    <p:embeddedFont>
      <p:font typeface="Verdana" panose="020B0604030504040204" pitchFamily="34"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4487"/>
    <a:srgbClr val="276C46"/>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19"/>
    <p:restoredTop sz="94422" autoAdjust="0"/>
  </p:normalViewPr>
  <p:slideViewPr>
    <p:cSldViewPr snapToGrid="0">
      <p:cViewPr varScale="1">
        <p:scale>
          <a:sx n="55" d="100"/>
          <a:sy n="55" d="100"/>
        </p:scale>
        <p:origin x="84" y="42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46" Type="http://schemas.openxmlformats.org/officeDocument/2006/relationships/font" Target="fonts/font9.fntdata"/><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2.fntdata"/><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font" Target="fonts/font14.fntdata"/><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8439272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16714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084108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69652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213080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9588178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7264186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7911654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1270216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620577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4756240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6943157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645557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8131917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2681372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0132285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5811229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0177133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0474089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1667451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0.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0.tiff"/><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13, Lesson 2</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Justifying Measures of Center and Spread</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239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MA.7.DP.1.1</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Determine an appropriate measure of center or measure of variation to summarize numerical data, represented numerically or graphically, taking into consideration the context and any outliers. </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239</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239</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justify whether or not a measure of center or variation appropriately summarizes data.  </a:t>
            </a:r>
          </a:p>
          <a:p>
            <a:pPr marL="457200" indent="-450850">
              <a:buClr>
                <a:srgbClr val="434343"/>
              </a:buClr>
              <a:buSzPts val="3500"/>
              <a:buFont typeface="Verdana"/>
              <a:buChar char="❏"/>
            </a:pPr>
            <a:endParaRPr lang="en-US" sz="3500" dirty="0">
              <a:solidFill>
                <a:schemeClr val="tx1"/>
              </a:solidFill>
              <a:latin typeface="Verdana"/>
              <a:ea typeface="Verdana"/>
              <a:cs typeface="Verdana"/>
              <a:sym typeface="Verdana"/>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8036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13.2.1 Warm-Up: Income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240</a:t>
            </a:r>
          </a:p>
        </p:txBody>
      </p:sp>
      <p:sp>
        <p:nvSpPr>
          <p:cNvPr id="2" name="TextBox 1">
            <a:extLst>
              <a:ext uri="{FF2B5EF4-FFF2-40B4-BE49-F238E27FC236}">
                <a16:creationId xmlns:a16="http://schemas.microsoft.com/office/drawing/2014/main" id="{E1D7562E-134F-D14B-AF1A-DF40E11EF758}"/>
              </a:ext>
            </a:extLst>
          </p:cNvPr>
          <p:cNvSpPr txBox="1"/>
          <p:nvPr/>
        </p:nvSpPr>
        <p:spPr>
          <a:xfrm>
            <a:off x="914400" y="1338526"/>
            <a:ext cx="10515600" cy="1200329"/>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diagram below shows bar charts for the median and mean income between 2012 and 2014 in selected countries. The income is given in U.S dollars ($).</a:t>
            </a:r>
          </a:p>
        </p:txBody>
      </p:sp>
      <p:pic>
        <p:nvPicPr>
          <p:cNvPr id="9" name="Picture 8" descr="Chart, bar chart&#10;&#10;Description automatically generated">
            <a:extLst>
              <a:ext uri="{FF2B5EF4-FFF2-40B4-BE49-F238E27FC236}">
                <a16:creationId xmlns:a16="http://schemas.microsoft.com/office/drawing/2014/main" id="{DF783DEC-4822-264B-BBCE-3DB5A149B514}"/>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146200" y="2600213"/>
            <a:ext cx="6946900" cy="394970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240</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4524315"/>
          </a:xfrm>
          <a:prstGeom prst="rect">
            <a:avLst/>
          </a:prstGeom>
          <a:noFill/>
        </p:spPr>
        <p:txBody>
          <a:bodyPr wrap="square" rtlCol="0">
            <a:spAutoFit/>
          </a:bodyPr>
          <a:lstStyle/>
          <a:p>
            <a:pPr marL="457200" indent="-449263">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values for median and mean income?</a:t>
            </a: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49263">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Why do you think the mean income for the U.S. was so much higher than the median income?</a:t>
            </a:r>
          </a:p>
          <a:p>
            <a:r>
              <a:rPr lang="en-US" sz="2400" dirty="0">
                <a:latin typeface="Verdana" panose="020B0604030504040204" pitchFamily="34" charset="0"/>
                <a:ea typeface="Verdana" panose="020B0604030504040204" pitchFamily="34" charset="0"/>
                <a:cs typeface="Verdana" panose="020B0604030504040204" pitchFamily="34" charset="0"/>
              </a:rPr>
              <a:t> </a:t>
            </a:r>
          </a:p>
          <a:p>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240</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13.2.2 Collaboration: Center and Variation in Context</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240</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914400" y="1386026"/>
                <a:ext cx="10515600"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In a study of wild bears, researchers measured the weights, in pounds (</a:t>
                </a:r>
                <a:r>
                  <a:rPr lang="en-US" sz="2000" dirty="0" err="1">
                    <a:latin typeface="Verdana" panose="020B0604030504040204" pitchFamily="34" charset="0"/>
                    <a:ea typeface="Verdana" panose="020B0604030504040204" pitchFamily="34" charset="0"/>
                    <a:cs typeface="Verdana" panose="020B0604030504040204" pitchFamily="34" charset="0"/>
                  </a:rPr>
                  <a:t>lb</a:t>
                </a:r>
                <a:r>
                  <a:rPr lang="en-US" sz="2000" dirty="0">
                    <a:latin typeface="Verdana" panose="020B0604030504040204" pitchFamily="34" charset="0"/>
                    <a:ea typeface="Verdana" panose="020B0604030504040204" pitchFamily="34" charset="0"/>
                    <a:cs typeface="Verdana" panose="020B0604030504040204" pitchFamily="34" charset="0"/>
                  </a:rPr>
                  <a:t>), of </a:t>
                </a:r>
                <a14:m>
                  <m:oMath xmlns:m="http://schemas.openxmlformats.org/officeDocument/2006/math">
                    <m:r>
                      <a:rPr lang="en-US" sz="2000">
                        <a:latin typeface="Cambria Math" panose="02040503050406030204" pitchFamily="18" charset="0"/>
                        <a:ea typeface="Cambria Math" panose="02040503050406030204" pitchFamily="18" charset="0"/>
                      </a:rPr>
                      <m:t>14</m:t>
                    </m:r>
                    <m:r>
                      <a:rPr lang="en-US" sz="2000">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wild bears that ranged in age from newborn to </a:t>
                </a:r>
                <a14:m>
                  <m:oMath xmlns:m="http://schemas.openxmlformats.org/officeDocument/2006/math">
                    <m:r>
                      <a:rPr lang="en-US" sz="2000">
                        <a:latin typeface="Cambria Math" panose="02040503050406030204" pitchFamily="18" charset="0"/>
                        <a:ea typeface="Cambria Math" panose="02040503050406030204" pitchFamily="18"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years old. The data was used to make the histogram shown.</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14400" y="1386026"/>
                <a:ext cx="10515600" cy="1323439"/>
              </a:xfrm>
              <a:prstGeom prst="rect">
                <a:avLst/>
              </a:prstGeom>
              <a:blipFill>
                <a:blip r:embed="rId5"/>
                <a:stretch>
                  <a:fillRect l="-603" t="-1887"/>
                </a:stretch>
              </a:blipFill>
            </p:spPr>
            <p:txBody>
              <a:bodyPr/>
              <a:lstStyle/>
              <a:p>
                <a:r>
                  <a:rPr lang="en-US">
                    <a:noFill/>
                  </a:rPr>
                  <a:t> </a:t>
                </a:r>
              </a:p>
            </p:txBody>
          </p:sp>
        </mc:Fallback>
      </mc:AlternateContent>
      <p:pic>
        <p:nvPicPr>
          <p:cNvPr id="3" name="Picture 2" descr="Chart, histogram&#10;&#10;Description automatically generated">
            <a:extLst>
              <a:ext uri="{FF2B5EF4-FFF2-40B4-BE49-F238E27FC236}">
                <a16:creationId xmlns:a16="http://schemas.microsoft.com/office/drawing/2014/main" id="{65A11A9F-4012-B744-8A3B-CEF61F97AD3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738239" y="2765828"/>
            <a:ext cx="4994972" cy="3971493"/>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240</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3064622"/>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statements.</a:t>
            </a:r>
          </a:p>
          <a:p>
            <a:pPr marL="914400">
              <a:lnSpc>
                <a:spcPct val="250000"/>
              </a:lnSpc>
            </a:pPr>
            <a:r>
              <a:rPr lang="en-US" sz="2400" dirty="0">
                <a:latin typeface="Verdana" panose="020B0604030504040204" pitchFamily="34" charset="0"/>
                <a:ea typeface="Verdana" panose="020B0604030504040204" pitchFamily="34" charset="0"/>
                <a:cs typeface="Verdana" panose="020B0604030504040204" pitchFamily="34" charset="0"/>
              </a:rPr>
              <a:t>Based on the data, it appears wild bears typically weigh between                     pounds. A good estimate for the typical weight for wild bears is __________ pounds.</a:t>
            </a:r>
          </a:p>
        </p:txBody>
      </p:sp>
      <mc:AlternateContent xmlns:mc="http://schemas.openxmlformats.org/markup-compatibility/2006" xmlns:a14="http://schemas.microsoft.com/office/drawing/2010/main">
        <mc:Choice Requires="a14">
          <p:sp>
            <p:nvSpPr>
              <p:cNvPr id="6" name="Rounded Rectangle 5">
                <a:extLst>
                  <a:ext uri="{FF2B5EF4-FFF2-40B4-BE49-F238E27FC236}">
                    <a16:creationId xmlns:a16="http://schemas.microsoft.com/office/drawing/2014/main" id="{24B452A4-EE5C-D44A-ABE4-31D9DD27E921}"/>
                  </a:ext>
                </a:extLst>
              </p:cNvPr>
              <p:cNvSpPr/>
              <p:nvPr/>
            </p:nvSpPr>
            <p:spPr>
              <a:xfrm>
                <a:off x="3305117" y="1839495"/>
                <a:ext cx="2090238" cy="1143589"/>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50</m:t>
                    </m:r>
                  </m:oMath>
                </a14:m>
                <a:r>
                  <a:rPr lang="en-US"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 </a:t>
                </a: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and</a:t>
                </a:r>
                <a:r>
                  <a:rPr lang="en-US"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150</m:t>
                    </m:r>
                  </m:oMath>
                </a14:m>
                <a:endParaRPr 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342900" indent="-342900">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100</m:t>
                    </m:r>
                  </m:oMath>
                </a14:m>
                <a:r>
                  <a:rPr lang="en-US"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 </a:t>
                </a: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and</a:t>
                </a:r>
                <a:r>
                  <a:rPr lang="en-US"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200</m:t>
                    </m:r>
                  </m:oMath>
                </a14:m>
                <a:endParaRPr lang="en-US" sz="2000" dirty="0">
                  <a:latin typeface="Cambria Math" panose="02040503050406030204" pitchFamily="18" charset="0"/>
                  <a:ea typeface="Cambria Math" panose="02040503050406030204" pitchFamily="18" charset="0"/>
                  <a:cs typeface="Times New Roman" panose="02020603050405020304" pitchFamily="18" charset="0"/>
                </a:endParaRPr>
              </a:p>
              <a:p>
                <a:pPr marL="342900" indent="-342900">
                  <a:spcAft>
                    <a:spcPts val="1000"/>
                  </a:spcAft>
                  <a:buFont typeface="Courier New" panose="02070309020205020404" pitchFamily="49" charset="0"/>
                  <a:buChar char="o"/>
                </a:pP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150</m:t>
                    </m:r>
                  </m:oMath>
                </a14:m>
                <a:r>
                  <a:rPr lang="en-US"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 </a:t>
                </a: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and</a:t>
                </a:r>
                <a:r>
                  <a:rPr lang="en-US" sz="200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250</m:t>
                    </m:r>
                  </m:oMath>
                </a14:m>
                <a:endParaRPr lang="en-US" sz="2000"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6" name="Rounded Rectangle 5">
                <a:extLst>
                  <a:ext uri="{FF2B5EF4-FFF2-40B4-BE49-F238E27FC236}">
                    <a16:creationId xmlns:a16="http://schemas.microsoft.com/office/drawing/2014/main" id="{24B452A4-EE5C-D44A-ABE4-31D9DD27E921}"/>
                  </a:ext>
                </a:extLst>
              </p:cNvPr>
              <p:cNvSpPr>
                <a:spLocks noRot="1" noChangeAspect="1" noMove="1" noResize="1" noEditPoints="1" noAdjustHandles="1" noChangeArrowheads="1" noChangeShapeType="1" noTextEdit="1"/>
              </p:cNvSpPr>
              <p:nvPr/>
            </p:nvSpPr>
            <p:spPr>
              <a:xfrm>
                <a:off x="3305117" y="1839495"/>
                <a:ext cx="2090238" cy="1143589"/>
              </a:xfrm>
              <a:prstGeom prst="roundRect">
                <a:avLst/>
              </a:prstGeom>
              <a:blipFill>
                <a:blip r:embed="rId4"/>
                <a:stretch>
                  <a:fillRect b="-4762"/>
                </a:stretch>
              </a:blipFill>
              <a:ln>
                <a:solidFill>
                  <a:schemeClr val="tx1"/>
                </a:solidFill>
              </a:ln>
              <a:effectLst/>
            </p:spPr>
            <p:txBody>
              <a:bodyPr/>
              <a:lstStyle/>
              <a:p>
                <a:r>
                  <a:rPr lang="en-US">
                    <a:noFill/>
                  </a:rPr>
                  <a:t> </a:t>
                </a:r>
              </a:p>
            </p:txBody>
          </p:sp>
        </mc:Fallback>
      </mc:AlternateContent>
    </p:spTree>
    <p:extLst>
      <p:ext uri="{BB962C8B-B14F-4D97-AF65-F5344CB8AC3E}">
        <p14:creationId xmlns:p14="http://schemas.microsoft.com/office/powerpoint/2010/main" val="1320626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241</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4524315"/>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Compare your estimate with your partner. Discuss whether it is possible for both of your estimates to be reasonable, even if they are not the same.</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400" i="1"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whether your estimate from Part A is closer to the median or the mean. Summarize your discussion.</a:t>
            </a:r>
          </a:p>
          <a:p>
            <a:pPr marL="914400" indent="-457200"/>
            <a:r>
              <a:rPr lang="en-US" sz="2400" i="1"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635434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5632311"/>
              </a:xfrm>
              <a:prstGeom prst="rect">
                <a:avLst/>
              </a:prstGeom>
              <a:noFill/>
            </p:spPr>
            <p:txBody>
              <a:bodyPr wrap="square" rtlCol="0">
                <a:spAutoFit/>
              </a:bodyPr>
              <a:lstStyle/>
              <a:p>
                <a:pPr marL="914400"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Angelica and Raymond were asked to describe the variation in weight of the wild bears. </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a:r>
                  <a:rPr lang="en-US" sz="2400" dirty="0">
                    <a:latin typeface="Verdana" panose="020B0604030504040204" pitchFamily="34" charset="0"/>
                    <a:ea typeface="Verdana" panose="020B0604030504040204" pitchFamily="34" charset="0"/>
                    <a:cs typeface="Verdana" panose="020B0604030504040204" pitchFamily="34" charset="0"/>
                  </a:rPr>
                  <a:t>Angelica said, “The bear weights range from less than </a:t>
                </a:r>
                <a14:m>
                  <m:oMath xmlns:m="http://schemas.openxmlformats.org/officeDocument/2006/math">
                    <m:r>
                      <a:rPr lang="en-US" sz="2400" i="1">
                        <a:latin typeface="Cambria Math" panose="02040503050406030204" pitchFamily="18" charset="0"/>
                      </a:rPr>
                      <m:t>50</m:t>
                    </m:r>
                  </m:oMath>
                </a14:m>
                <a:r>
                  <a:rPr lang="en-US" sz="2400" dirty="0">
                    <a:latin typeface="Verdana" panose="020B0604030504040204" pitchFamily="34" charset="0"/>
                    <a:ea typeface="Verdana" panose="020B0604030504040204" pitchFamily="34" charset="0"/>
                    <a:cs typeface="Verdana" panose="020B0604030504040204" pitchFamily="34" charset="0"/>
                  </a:rPr>
                  <a:t> to over </a:t>
                </a:r>
                <a14:m>
                  <m:oMath xmlns:m="http://schemas.openxmlformats.org/officeDocument/2006/math">
                    <m:r>
                      <a:rPr lang="en-US" sz="2400" i="1">
                        <a:latin typeface="Cambria Math" panose="02040503050406030204" pitchFamily="18" charset="0"/>
                      </a:rPr>
                      <m:t>500</m:t>
                    </m:r>
                  </m:oMath>
                </a14:m>
                <a:r>
                  <a:rPr lang="en-US" sz="2400" dirty="0">
                    <a:latin typeface="Verdana" panose="020B0604030504040204" pitchFamily="34" charset="0"/>
                    <a:ea typeface="Verdana" panose="020B0604030504040204" pitchFamily="34" charset="0"/>
                    <a:cs typeface="Verdana" panose="020B0604030504040204" pitchFamily="34" charset="0"/>
                  </a:rPr>
                  <a:t> </a:t>
                </a:r>
                <a:r>
                  <a:rPr lang="en-US" sz="2400" dirty="0" err="1">
                    <a:latin typeface="Verdana" panose="020B0604030504040204" pitchFamily="34" charset="0"/>
                    <a:ea typeface="Verdana" panose="020B0604030504040204" pitchFamily="34" charset="0"/>
                    <a:cs typeface="Verdana" panose="020B0604030504040204" pitchFamily="34" charset="0"/>
                  </a:rPr>
                  <a:t>lbs</a:t>
                </a:r>
                <a:r>
                  <a:rPr lang="en-US" sz="2400" dirty="0">
                    <a:latin typeface="Verdana" panose="020B0604030504040204" pitchFamily="34" charset="0"/>
                    <a:ea typeface="Verdana" panose="020B0604030504040204" pitchFamily="34" charset="0"/>
                    <a:cs typeface="Verdana" panose="020B0604030504040204" pitchFamily="34" charset="0"/>
                  </a:rPr>
                  <a:t>, so the range best describes the spread of the weights of the wild bears.”</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a:r>
                  <a:rPr lang="en-US" sz="2400" dirty="0">
                    <a:latin typeface="Verdana" panose="020B0604030504040204" pitchFamily="34" charset="0"/>
                    <a:ea typeface="Verdana" panose="020B0604030504040204" pitchFamily="34" charset="0"/>
                    <a:cs typeface="Verdana" panose="020B0604030504040204" pitchFamily="34" charset="0"/>
                  </a:rPr>
                  <a:t>Raymond said, “It looks like most bears in the sample weigh between </a:t>
                </a:r>
                <a14:m>
                  <m:oMath xmlns:m="http://schemas.openxmlformats.org/officeDocument/2006/math">
                    <m:r>
                      <a:rPr lang="en-US" sz="2400" i="1">
                        <a:latin typeface="Cambria Math" panose="02040503050406030204" pitchFamily="18" charset="0"/>
                      </a:rPr>
                      <m:t>100</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rPr>
                      <m:t>300</m:t>
                    </m:r>
                  </m:oMath>
                </a14:m>
                <a:r>
                  <a:rPr lang="en-US" sz="2400" dirty="0">
                    <a:latin typeface="Verdana" panose="020B0604030504040204" pitchFamily="34" charset="0"/>
                    <a:ea typeface="Verdana" panose="020B0604030504040204" pitchFamily="34" charset="0"/>
                    <a:cs typeface="Verdana" panose="020B0604030504040204" pitchFamily="34" charset="0"/>
                  </a:rPr>
                  <a:t> </a:t>
                </a:r>
                <a:r>
                  <a:rPr lang="en-US" sz="2400" dirty="0" err="1">
                    <a:latin typeface="Verdana" panose="020B0604030504040204" pitchFamily="34" charset="0"/>
                    <a:ea typeface="Verdana" panose="020B0604030504040204" pitchFamily="34" charset="0"/>
                    <a:cs typeface="Verdana" panose="020B0604030504040204" pitchFamily="34" charset="0"/>
                  </a:rPr>
                  <a:t>lbs</a:t>
                </a:r>
                <a:r>
                  <a:rPr lang="en-US" sz="2400" dirty="0">
                    <a:latin typeface="Verdana" panose="020B0604030504040204" pitchFamily="34" charset="0"/>
                    <a:ea typeface="Verdana" panose="020B0604030504040204" pitchFamily="34" charset="0"/>
                    <a:cs typeface="Verdana" panose="020B0604030504040204" pitchFamily="34" charset="0"/>
                  </a:rPr>
                  <a:t>, with few weighing less and few weighing more. The small weights could be because there were babies in the sample. So, the interquartile range is the best measure of spread to describe this data.”</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a:r>
                  <a:rPr lang="en-US" sz="2400" dirty="0">
                    <a:latin typeface="Verdana" panose="020B0604030504040204" pitchFamily="34" charset="0"/>
                    <a:ea typeface="Verdana" panose="020B0604030504040204" pitchFamily="34" charset="0"/>
                    <a:cs typeface="Verdana" panose="020B0604030504040204" pitchFamily="34" charset="0"/>
                  </a:rPr>
                  <a:t>Explain whether you agree with Angelica or Raymond. Justify your reasoning.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5632311"/>
              </a:xfrm>
              <a:prstGeom prst="rect">
                <a:avLst/>
              </a:prstGeom>
              <a:blipFill>
                <a:blip r:embed="rId4"/>
                <a:stretch>
                  <a:fillRect t="-866" r="-1101" b="-1515"/>
                </a:stretch>
              </a:blipFill>
            </p:spPr>
            <p:txBody>
              <a:bodyPr/>
              <a:lstStyle/>
              <a:p>
                <a:r>
                  <a:rPr lang="en-US">
                    <a:noFill/>
                  </a:rPr>
                  <a:t> </a:t>
                </a:r>
              </a:p>
            </p:txBody>
          </p:sp>
        </mc:Fallback>
      </mc:AlternateContent>
    </p:spTree>
    <p:extLst>
      <p:ext uri="{BB962C8B-B14F-4D97-AF65-F5344CB8AC3E}">
        <p14:creationId xmlns:p14="http://schemas.microsoft.com/office/powerpoint/2010/main" val="567627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132343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two histograms, labeled A and B, show height distributions of </a:t>
                </a:r>
                <a14:m>
                  <m:oMath xmlns:m="http://schemas.openxmlformats.org/officeDocument/2006/math">
                    <m:r>
                      <a:rPr lang="en-US" sz="2000" i="1">
                        <a:latin typeface="Cambria Math" panose="02040503050406030204" pitchFamily="18" charset="0"/>
                        <a:ea typeface="Cambria Math" panose="02040503050406030204" pitchFamily="18" charset="0"/>
                      </a:rPr>
                      <m:t>50</m:t>
                    </m:r>
                  </m:oMath>
                </a14:m>
                <a:r>
                  <a:rPr lang="en-US" sz="2000" dirty="0">
                    <a:latin typeface="Verdana" panose="020B0604030504040204" pitchFamily="34" charset="0"/>
                    <a:ea typeface="Verdana" panose="020B0604030504040204" pitchFamily="34" charset="0"/>
                    <a:cs typeface="Verdana" panose="020B0604030504040204" pitchFamily="34" charset="0"/>
                  </a:rPr>
                  <a:t> male professional basketball players and </a:t>
                </a:r>
                <a14:m>
                  <m:oMath xmlns:m="http://schemas.openxmlformats.org/officeDocument/2006/math">
                    <m:r>
                      <a:rPr lang="en-US" sz="2000" i="1">
                        <a:latin typeface="Cambria Math" panose="02040503050406030204" pitchFamily="18" charset="0"/>
                      </a:rPr>
                      <m:t>50</m:t>
                    </m:r>
                  </m:oMath>
                </a14:m>
                <a:r>
                  <a:rPr lang="en-US" sz="2000" dirty="0">
                    <a:latin typeface="Verdana" panose="020B0604030504040204" pitchFamily="34" charset="0"/>
                    <a:ea typeface="Verdana" panose="020B0604030504040204" pitchFamily="34" charset="0"/>
                    <a:cs typeface="Verdana" panose="020B0604030504040204" pitchFamily="34" charset="0"/>
                  </a:rPr>
                  <a:t> male professional baseball players. </a:t>
                </a:r>
              </a:p>
              <a:p>
                <a:pPr marL="914400" indent="-457200"/>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1323439"/>
              </a:xfrm>
              <a:prstGeom prst="rect">
                <a:avLst/>
              </a:prstGeom>
              <a:blipFill>
                <a:blip r:embed="rId4"/>
                <a:stretch>
                  <a:fillRect l="-638" t="-2765"/>
                </a:stretch>
              </a:blipFill>
            </p:spPr>
            <p:txBody>
              <a:bodyPr/>
              <a:lstStyle/>
              <a:p>
                <a:r>
                  <a:rPr lang="en-US">
                    <a:noFill/>
                  </a:rPr>
                  <a:t> </a:t>
                </a:r>
              </a:p>
            </p:txBody>
          </p:sp>
        </mc:Fallback>
      </mc:AlternateContent>
      <p:pic>
        <p:nvPicPr>
          <p:cNvPr id="3" name="Picture 2" descr="Chart, histogram&#10;&#10;Description automatically generated">
            <a:extLst>
              <a:ext uri="{FF2B5EF4-FFF2-40B4-BE49-F238E27FC236}">
                <a16:creationId xmlns:a16="http://schemas.microsoft.com/office/drawing/2014/main" id="{3F110B67-4025-554D-94C5-84F768997AC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658047" y="1506583"/>
            <a:ext cx="4272687" cy="5297132"/>
          </a:xfrm>
          <a:prstGeom prst="rect">
            <a:avLst/>
          </a:prstGeom>
        </p:spPr>
      </p:pic>
    </p:spTree>
    <p:extLst>
      <p:ext uri="{BB962C8B-B14F-4D97-AF65-F5344CB8AC3E}">
        <p14:creationId xmlns:p14="http://schemas.microsoft.com/office/powerpoint/2010/main" val="1922992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241</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5834611"/>
              </a:xfrm>
              <a:prstGeom prst="rect">
                <a:avLst/>
              </a:prstGeom>
              <a:noFill/>
            </p:spPr>
            <p:txBody>
              <a:bodyPr wrap="square" rtlCol="0">
                <a:spAutoFit/>
              </a:bodyPr>
              <a:lstStyle/>
              <a:p>
                <a:pPr marL="457200"/>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each statement.</a:t>
                </a:r>
              </a:p>
              <a:p>
                <a:pPr marL="914400" lvl="1" indent="-457200">
                  <a:lnSpc>
                    <a:spcPct val="250000"/>
                  </a:lnSpc>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In                        the average height is around </a:t>
                </a:r>
                <a14:m>
                  <m:oMath xmlns:m="http://schemas.openxmlformats.org/officeDocument/2006/math">
                    <m:r>
                      <a:rPr lang="en-US" sz="2400" i="1">
                        <a:latin typeface="Cambria Math" panose="02040503050406030204" pitchFamily="18" charset="0"/>
                      </a:rPr>
                      <m:t>72</m:t>
                    </m:r>
                  </m:oMath>
                </a14:m>
                <a:r>
                  <a:rPr lang="en-US" sz="2400" dirty="0">
                    <a:latin typeface="Verdana" panose="020B0604030504040204" pitchFamily="34" charset="0"/>
                    <a:ea typeface="Verdana" panose="020B0604030504040204" pitchFamily="34" charset="0"/>
                    <a:cs typeface="Verdana" panose="020B0604030504040204" pitchFamily="34" charset="0"/>
                  </a:rPr>
                  <a:t> inches. The values of the mean and median are similar. </a:t>
                </a:r>
              </a:p>
              <a:p>
                <a:pPr marL="914400" lvl="1" indent="-457200">
                  <a:lnSpc>
                    <a:spcPct val="250000"/>
                  </a:lnSpc>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To explain typical height, the variation in			      is best described by the interquartile range because the range may be misleading due to outliers. The values of the mean and median are similar.</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3"/>
                <a:ext cx="10515600" cy="5834611"/>
              </a:xfrm>
              <a:prstGeom prst="rect">
                <a:avLst/>
              </a:prstGeom>
              <a:blipFill>
                <a:blip r:embed="rId4"/>
                <a:stretch>
                  <a:fillRect t="-836" b="-1463"/>
                </a:stretch>
              </a:blipFill>
            </p:spPr>
            <p:txBody>
              <a:bodyPr/>
              <a:lstStyle/>
              <a:p>
                <a:r>
                  <a:rPr lang="en-US">
                    <a:noFill/>
                  </a:rPr>
                  <a:t> </a:t>
                </a:r>
              </a:p>
            </p:txBody>
          </p:sp>
        </mc:Fallback>
      </mc:AlternateContent>
      <p:sp>
        <p:nvSpPr>
          <p:cNvPr id="7" name="Rectangle: Rounded Corners 10">
            <a:extLst>
              <a:ext uri="{FF2B5EF4-FFF2-40B4-BE49-F238E27FC236}">
                <a16:creationId xmlns:a16="http://schemas.microsoft.com/office/drawing/2014/main" id="{6CDA9943-6C72-6042-85E0-0BABD6DCF5CC}"/>
              </a:ext>
            </a:extLst>
          </p:cNvPr>
          <p:cNvSpPr/>
          <p:nvPr/>
        </p:nvSpPr>
        <p:spPr>
          <a:xfrm>
            <a:off x="2276781" y="1172665"/>
            <a:ext cx="2400074" cy="751931"/>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Histogram A,</a:t>
            </a:r>
          </a:p>
          <a:p>
            <a:pPr marL="342900" indent="-342900">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Histogram B,</a:t>
            </a:r>
          </a:p>
        </p:txBody>
      </p:sp>
      <p:sp>
        <p:nvSpPr>
          <p:cNvPr id="8" name="Rectangle: Rounded Corners 10">
            <a:extLst>
              <a:ext uri="{FF2B5EF4-FFF2-40B4-BE49-F238E27FC236}">
                <a16:creationId xmlns:a16="http://schemas.microsoft.com/office/drawing/2014/main" id="{FEB181CA-65C7-D244-8564-ABB13A0D52C9}"/>
              </a:ext>
            </a:extLst>
          </p:cNvPr>
          <p:cNvSpPr/>
          <p:nvPr/>
        </p:nvSpPr>
        <p:spPr>
          <a:xfrm>
            <a:off x="8322271" y="2959892"/>
            <a:ext cx="2400074" cy="751931"/>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Histogram A</a:t>
            </a:r>
          </a:p>
          <a:p>
            <a:pPr marL="342900" indent="-342900">
              <a:spcAft>
                <a:spcPts val="10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Histogram B</a:t>
            </a:r>
          </a:p>
        </p:txBody>
      </p:sp>
    </p:spTree>
    <p:extLst>
      <p:ext uri="{BB962C8B-B14F-4D97-AF65-F5344CB8AC3E}">
        <p14:creationId xmlns:p14="http://schemas.microsoft.com/office/powerpoint/2010/main" val="1617353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242</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3046988"/>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An earthworm farmer set up several containers of a certain species of earthworm so he could learn about their lengths. Lengths of earthworms provide information about their ages. The farmer measured the lengths of the earthworms in one container. </a:t>
            </a:r>
          </a:p>
          <a:p>
            <a:r>
              <a:rPr lang="en-US" sz="2400" i="1"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The farmer displayed the earthworms’ lengths, in millimeters (mm), in a stem-and-leaf plot. </a:t>
            </a:r>
          </a:p>
        </p:txBody>
      </p:sp>
    </p:spTree>
    <p:extLst>
      <p:ext uri="{BB962C8B-B14F-4D97-AF65-F5344CB8AC3E}">
        <p14:creationId xmlns:p14="http://schemas.microsoft.com/office/powerpoint/2010/main" val="3300750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242</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5632311"/>
          </a:xfrm>
          <a:prstGeom prst="rect">
            <a:avLst/>
          </a:prstGeom>
          <a:noFill/>
        </p:spPr>
        <p:txBody>
          <a:bodyPr wrap="square" rtlCol="0">
            <a:spAutoFit/>
          </a:bodyPr>
          <a:lstStyle/>
          <a:p>
            <a:pPr marL="465137"/>
            <a:r>
              <a:rPr lang="en-US" sz="2400" dirty="0">
                <a:latin typeface="Verdana" panose="020B0604030504040204" pitchFamily="34" charset="0"/>
                <a:ea typeface="Verdana" panose="020B0604030504040204" pitchFamily="34" charset="0"/>
                <a:cs typeface="Verdana" panose="020B0604030504040204" pitchFamily="34" charset="0"/>
              </a:rPr>
              <a:t>Use the display to answer the </a:t>
            </a:r>
          </a:p>
          <a:p>
            <a:pPr marL="465137"/>
            <a:r>
              <a:rPr lang="en-US" sz="2400" dirty="0">
                <a:latin typeface="Verdana" panose="020B0604030504040204" pitchFamily="34" charset="0"/>
                <a:ea typeface="Verdana" panose="020B0604030504040204" pitchFamily="34" charset="0"/>
                <a:cs typeface="Verdana" panose="020B0604030504040204" pitchFamily="34" charset="0"/>
              </a:rPr>
              <a:t>following questions.</a:t>
            </a:r>
          </a:p>
          <a:p>
            <a:pPr marL="465137"/>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400" dirty="0">
              <a:latin typeface="Verdana" panose="020B0604030504040204" pitchFamily="34" charset="0"/>
              <a:ea typeface="Verdana" panose="020B0604030504040204" pitchFamily="34" charset="0"/>
              <a:cs typeface="Verdana" panose="020B0604030504040204" pitchFamily="34" charset="0"/>
            </a:endParaRPr>
          </a:p>
          <a:p>
            <a:pPr marL="465137"/>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22337"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Half of the earthworms sampled were less than</a:t>
            </a:r>
          </a:p>
          <a:p>
            <a:pPr marL="914400" lvl="1" indent="-44926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a:r>
              <a:rPr lang="en-US" sz="2400" dirty="0">
                <a:latin typeface="Verdana" panose="020B0604030504040204" pitchFamily="34" charset="0"/>
                <a:ea typeface="Verdana" panose="020B0604030504040204" pitchFamily="34" charset="0"/>
                <a:cs typeface="Verdana" panose="020B0604030504040204" pitchFamily="34" charset="0"/>
              </a:rPr>
              <a:t> ________ mm long. </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236913C3-858B-B94A-97F6-B55A92330770}"/>
                  </a:ext>
                </a:extLst>
              </p:cNvPr>
              <p:cNvGraphicFramePr>
                <a:graphicFrameLocks noGrp="1"/>
              </p:cNvGraphicFramePr>
              <p:nvPr>
                <p:extLst>
                  <p:ext uri="{D42A27DB-BD31-4B8C-83A1-F6EECF244321}">
                    <p14:modId xmlns:p14="http://schemas.microsoft.com/office/powerpoint/2010/main" val="2528621078"/>
                  </p:ext>
                </p:extLst>
              </p:nvPr>
            </p:nvGraphicFramePr>
            <p:xfrm>
              <a:off x="6809761" y="520394"/>
              <a:ext cx="3657942" cy="4269317"/>
            </p:xfrm>
            <a:graphic>
              <a:graphicData uri="http://schemas.openxmlformats.org/drawingml/2006/table">
                <a:tbl>
                  <a:tblPr firstRow="1" firstCol="1" bandRow="1">
                    <a:tableStyleId>{A91F0D33-8C57-4600-99A7-42BC86742BE1}</a:tableStyleId>
                  </a:tblPr>
                  <a:tblGrid>
                    <a:gridCol w="881590">
                      <a:extLst>
                        <a:ext uri="{9D8B030D-6E8A-4147-A177-3AD203B41FA5}">
                          <a16:colId xmlns:a16="http://schemas.microsoft.com/office/drawing/2014/main" val="286336476"/>
                        </a:ext>
                      </a:extLst>
                    </a:gridCol>
                    <a:gridCol w="2776352">
                      <a:extLst>
                        <a:ext uri="{9D8B030D-6E8A-4147-A177-3AD203B41FA5}">
                          <a16:colId xmlns:a16="http://schemas.microsoft.com/office/drawing/2014/main" val="3257855910"/>
                        </a:ext>
                      </a:extLst>
                    </a:gridCol>
                  </a:tblGrid>
                  <a:tr h="383107">
                    <a:tc>
                      <a:txBody>
                        <a:bodyPr/>
                        <a:lstStyle/>
                        <a:p>
                          <a:pPr marL="0" marR="0" algn="l">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Stem</a:t>
                          </a: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Leaf</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5680842"/>
                      </a:ext>
                    </a:extLst>
                  </a:tr>
                  <a:tr h="334566">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0</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6</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591484007"/>
                      </a:ext>
                    </a:extLst>
                  </a:tr>
                  <a:tr h="334566">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1, 8, 9</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674516559"/>
                      </a:ext>
                    </a:extLst>
                  </a:tr>
                  <a:tr h="540550">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0, 3, 3, 5, 5, 6, 7, 7, 8, 9</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12952561"/>
                      </a:ext>
                    </a:extLst>
                  </a:tr>
                  <a:tr h="334566">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2, 3</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7926717"/>
                      </a:ext>
                    </a:extLst>
                  </a:tr>
                  <a:tr h="334566">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1, 2, 8</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663905774"/>
                      </a:ext>
                    </a:extLst>
                  </a:tr>
                  <a:tr h="334566">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2, 4, 9</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017586005"/>
                      </a:ext>
                    </a:extLst>
                  </a:tr>
                  <a:tr h="334566">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0</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915457336"/>
                      </a:ext>
                    </a:extLst>
                  </a:tr>
                  <a:tr h="334566">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7</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269752094"/>
                      </a:ext>
                    </a:extLst>
                  </a:tr>
                  <a:tr h="334566">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373463990"/>
                      </a:ext>
                    </a:extLst>
                  </a:tr>
                  <a:tr h="334566">
                    <a:tc>
                      <a:txBody>
                        <a:bodyPr/>
                        <a:lstStyle/>
                        <a:p>
                          <a:pPr marL="0" marR="0" algn="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3</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22107173"/>
                      </a:ext>
                    </a:extLst>
                  </a:tr>
                  <a:tr h="334566">
                    <a:tc>
                      <a:txBody>
                        <a:bodyPr/>
                        <a:lstStyle/>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Key: </a:t>
                          </a:r>
                          <a14:m>
                            <m:oMath xmlns:m="http://schemas.openxmlformats.org/officeDocument/2006/math">
                              <m:r>
                                <a:rPr lang="en-US" sz="2000">
                                  <a:effectLst/>
                                  <a:latin typeface="Cambria Math" panose="02040503050406030204" pitchFamily="18" charset="0"/>
                                  <a:ea typeface="Cambria Math" panose="02040503050406030204" pitchFamily="18" charset="0"/>
                                </a:rPr>
                                <m:t>2</m:t>
                              </m:r>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|8 = 28</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458081512"/>
                      </a:ext>
                    </a:extLst>
                  </a:tr>
                </a:tbl>
              </a:graphicData>
            </a:graphic>
          </p:graphicFrame>
        </mc:Choice>
        <mc:Fallback xmlns="">
          <p:graphicFrame>
            <p:nvGraphicFramePr>
              <p:cNvPr id="6" name="Table 5">
                <a:extLst>
                  <a:ext uri="{FF2B5EF4-FFF2-40B4-BE49-F238E27FC236}">
                    <a16:creationId xmlns:a16="http://schemas.microsoft.com/office/drawing/2014/main" id="{236913C3-858B-B94A-97F6-B55A92330770}"/>
                  </a:ext>
                </a:extLst>
              </p:cNvPr>
              <p:cNvGraphicFramePr>
                <a:graphicFrameLocks noGrp="1"/>
              </p:cNvGraphicFramePr>
              <p:nvPr>
                <p:extLst>
                  <p:ext uri="{D42A27DB-BD31-4B8C-83A1-F6EECF244321}">
                    <p14:modId xmlns:p14="http://schemas.microsoft.com/office/powerpoint/2010/main" val="2528621078"/>
                  </p:ext>
                </p:extLst>
              </p:nvPr>
            </p:nvGraphicFramePr>
            <p:xfrm>
              <a:off x="6809761" y="520394"/>
              <a:ext cx="3657942" cy="4269317"/>
            </p:xfrm>
            <a:graphic>
              <a:graphicData uri="http://schemas.openxmlformats.org/drawingml/2006/table">
                <a:tbl>
                  <a:tblPr firstRow="1" firstCol="1" bandRow="1">
                    <a:tableStyleId>{A91F0D33-8C57-4600-99A7-42BC86742BE1}</a:tableStyleId>
                  </a:tblPr>
                  <a:tblGrid>
                    <a:gridCol w="881590">
                      <a:extLst>
                        <a:ext uri="{9D8B030D-6E8A-4147-A177-3AD203B41FA5}">
                          <a16:colId xmlns:a16="http://schemas.microsoft.com/office/drawing/2014/main" val="286336476"/>
                        </a:ext>
                      </a:extLst>
                    </a:gridCol>
                    <a:gridCol w="2776352">
                      <a:extLst>
                        <a:ext uri="{9D8B030D-6E8A-4147-A177-3AD203B41FA5}">
                          <a16:colId xmlns:a16="http://schemas.microsoft.com/office/drawing/2014/main" val="3257855910"/>
                        </a:ext>
                      </a:extLst>
                    </a:gridCol>
                  </a:tblGrid>
                  <a:tr h="383107">
                    <a:tc>
                      <a:txBody>
                        <a:bodyPr/>
                        <a:lstStyle/>
                        <a:p>
                          <a:pPr marL="0" marR="0" algn="l">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Stem</a:t>
                          </a: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l">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Leaf</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5680842"/>
                      </a:ext>
                    </a:extLst>
                  </a:tr>
                  <a:tr h="334566">
                    <a:tc>
                      <a:txBody>
                        <a:bodyPr/>
                        <a:lstStyle/>
                        <a:p>
                          <a:endParaRPr lang="en-US"/>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33333" r="-314286" b="-1074074"/>
                          </a:stretch>
                        </a:blipFill>
                      </a:tcPr>
                    </a:tc>
                    <a:tc>
                      <a:txBody>
                        <a:bodyPr/>
                        <a:lstStyle/>
                        <a:p>
                          <a:pPr marL="0" marR="0" algn="l">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6</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591484007"/>
                      </a:ext>
                    </a:extLst>
                  </a:tr>
                  <a:tr h="334566">
                    <a:tc>
                      <a:txBody>
                        <a:bodyPr/>
                        <a:lstStyle/>
                        <a:p>
                          <a:endParaRPr lang="en-US"/>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42308" r="-314286" b="-1015385"/>
                          </a:stretch>
                        </a:blipFill>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1, 8, 9</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674516559"/>
                      </a:ext>
                    </a:extLst>
                  </a:tr>
                  <a:tr h="540550">
                    <a:tc>
                      <a:txBody>
                        <a:bodyPr/>
                        <a:lstStyle/>
                        <a:p>
                          <a:endParaRPr lang="en-US"/>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206977" r="-314286" b="-513953"/>
                          </a:stretch>
                        </a:blipFill>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0, 3, 3, 5, 5, 6, 7, 7, 8, 9</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12952561"/>
                      </a:ext>
                    </a:extLst>
                  </a:tr>
                  <a:tr h="334566">
                    <a:tc>
                      <a:txBody>
                        <a:bodyPr/>
                        <a:lstStyle/>
                        <a:p>
                          <a:endParaRPr lang="en-US"/>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488889" r="-314286" b="-718519"/>
                          </a:stretch>
                        </a:blipFill>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2, 3</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7926717"/>
                      </a:ext>
                    </a:extLst>
                  </a:tr>
                  <a:tr h="334566">
                    <a:tc>
                      <a:txBody>
                        <a:bodyPr/>
                        <a:lstStyle/>
                        <a:p>
                          <a:endParaRPr lang="en-US"/>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611538" r="-314286" b="-646154"/>
                          </a:stretch>
                        </a:blipFill>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1, 2, 8</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663905774"/>
                      </a:ext>
                    </a:extLst>
                  </a:tr>
                  <a:tr h="334566">
                    <a:tc>
                      <a:txBody>
                        <a:bodyPr/>
                        <a:lstStyle/>
                        <a:p>
                          <a:endParaRPr lang="en-US"/>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685185" r="-314286" b="-522222"/>
                          </a:stretch>
                        </a:blipFill>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2, 4, 9</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017586005"/>
                      </a:ext>
                    </a:extLst>
                  </a:tr>
                  <a:tr h="334566">
                    <a:tc>
                      <a:txBody>
                        <a:bodyPr/>
                        <a:lstStyle/>
                        <a:p>
                          <a:endParaRPr lang="en-US"/>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815385" r="-314286" b="-442308"/>
                          </a:stretch>
                        </a:blipFill>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0</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915457336"/>
                      </a:ext>
                    </a:extLst>
                  </a:tr>
                  <a:tr h="334566">
                    <a:tc>
                      <a:txBody>
                        <a:bodyPr/>
                        <a:lstStyle/>
                        <a:p>
                          <a:endParaRPr lang="en-US"/>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881481" r="-314286" b="-325926"/>
                          </a:stretch>
                        </a:blipFill>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7</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269752094"/>
                      </a:ext>
                    </a:extLst>
                  </a:tr>
                  <a:tr h="334566">
                    <a:tc>
                      <a:txBody>
                        <a:bodyPr/>
                        <a:lstStyle/>
                        <a:p>
                          <a:endParaRPr lang="en-US"/>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019231" r="-314286" b="-238462"/>
                          </a:stretch>
                        </a:blipFill>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373463990"/>
                      </a:ext>
                    </a:extLst>
                  </a:tr>
                  <a:tr h="334566">
                    <a:tc>
                      <a:txBody>
                        <a:bodyPr/>
                        <a:lstStyle/>
                        <a:p>
                          <a:endParaRPr lang="en-US"/>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1077778" r="-314286" b="-129630"/>
                          </a:stretch>
                        </a:blipFill>
                      </a:tcPr>
                    </a:tc>
                    <a:tc>
                      <a:txBody>
                        <a:bodyPr/>
                        <a:lstStyle/>
                        <a:p>
                          <a:pPr marL="0" marR="0" algn="l">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3</a:t>
                          </a:r>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22107173"/>
                      </a:ext>
                    </a:extLst>
                  </a:tr>
                  <a:tr h="334566">
                    <a:tc>
                      <a:txBody>
                        <a:bodyPr/>
                        <a:lstStyle/>
                        <a:p>
                          <a:pPr marL="0" marR="0" algn="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31963" t="-1223077" r="-457" b="-34615"/>
                          </a:stretch>
                        </a:blipFill>
                      </a:tcPr>
                    </a:tc>
                    <a:extLst>
                      <a:ext uri="{0D108BD9-81ED-4DB2-BD59-A6C34878D82A}">
                        <a16:rowId xmlns:a16="http://schemas.microsoft.com/office/drawing/2014/main" val="3458081512"/>
                      </a:ext>
                    </a:extLst>
                  </a:tr>
                </a:tbl>
              </a:graphicData>
            </a:graphic>
          </p:graphicFrame>
        </mc:Fallback>
      </mc:AlternateContent>
    </p:spTree>
    <p:extLst>
      <p:ext uri="{BB962C8B-B14F-4D97-AF65-F5344CB8AC3E}">
        <p14:creationId xmlns:p14="http://schemas.microsoft.com/office/powerpoint/2010/main" val="27618887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1200329"/>
              </a:xfrm>
              <a:prstGeom prst="rect">
                <a:avLst/>
              </a:prstGeom>
              <a:noFill/>
            </p:spPr>
            <p:txBody>
              <a:bodyPr wrap="square" rtlCol="0">
                <a:spAutoFit/>
              </a:bodyPr>
              <a:lstStyle/>
              <a:p>
                <a:pPr marL="914400" lvl="1"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The farmer reported that the average length is </a:t>
                </a:r>
                <a14:m>
                  <m:oMath xmlns:m="http://schemas.openxmlformats.org/officeDocument/2006/math">
                    <m:r>
                      <a:rPr lang="en-US" sz="2400" i="1">
                        <a:latin typeface="Cambria Math" panose="02040503050406030204" pitchFamily="18" charset="0"/>
                        <a:ea typeface="Cambria Math" panose="02040503050406030204" pitchFamily="18" charset="0"/>
                      </a:rPr>
                      <m:t>35.92</m:t>
                    </m:r>
                  </m:oMath>
                </a14:m>
                <a:r>
                  <a:rPr lang="en-US" sz="2400" dirty="0">
                    <a:latin typeface="Verdana" panose="020B0604030504040204" pitchFamily="34" charset="0"/>
                    <a:ea typeface="Verdana" panose="020B0604030504040204" pitchFamily="34" charset="0"/>
                    <a:cs typeface="Verdana" panose="020B0604030504040204" pitchFamily="34" charset="0"/>
                  </a:rPr>
                  <a:t> mm. Why might this measure of center be misleading about the typical length of the earthworms in this sample?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1200329"/>
              </a:xfrm>
              <a:prstGeom prst="rect">
                <a:avLst/>
              </a:prstGeom>
              <a:blipFill>
                <a:blip r:embed="rId4"/>
                <a:stretch>
                  <a:fillRect t="-4569" b="-10660"/>
                </a:stretch>
              </a:blipFill>
            </p:spPr>
            <p:txBody>
              <a:bodyPr/>
              <a:lstStyle/>
              <a:p>
                <a:r>
                  <a:rPr lang="en-US">
                    <a:noFill/>
                  </a:rPr>
                  <a:t> </a:t>
                </a:r>
              </a:p>
            </p:txBody>
          </p:sp>
        </mc:Fallback>
      </mc:AlternateContent>
    </p:spTree>
    <p:extLst>
      <p:ext uri="{BB962C8B-B14F-4D97-AF65-F5344CB8AC3E}">
        <p14:creationId xmlns:p14="http://schemas.microsoft.com/office/powerpoint/2010/main" val="36353708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242</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6019277"/>
              </a:xfrm>
              <a:prstGeom prst="rect">
                <a:avLst/>
              </a:prstGeom>
              <a:noFill/>
            </p:spPr>
            <p:txBody>
              <a:bodyPr wrap="square" rtlCol="0">
                <a:spAutoFit/>
              </a:bodyPr>
              <a:lstStyle/>
              <a:p>
                <a:pPr marL="914400" lvl="1" indent="-44926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Compare your answers to Parts A and B with your partner and, if necessary, resolve any differences.</a:t>
                </a:r>
              </a:p>
              <a:p>
                <a:pPr marL="914400" lvl="1" indent="-449263">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49263">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The farmer reported that the lengths varied between </a:t>
                </a:r>
                <a14:m>
                  <m:oMath xmlns:m="http://schemas.openxmlformats.org/officeDocument/2006/math">
                    <m:r>
                      <a:rPr lang="en-US" sz="2400" i="1">
                        <a:latin typeface="Cambria Math" panose="02040503050406030204" pitchFamily="18" charset="0"/>
                        <a:ea typeface="Cambria Math" panose="02040503050406030204" pitchFamily="18" charset="0"/>
                      </a:rPr>
                      <m:t>6</m:t>
                    </m:r>
                  </m:oMath>
                </a14:m>
                <a:r>
                  <a:rPr lang="en-US" sz="2400" dirty="0">
                    <a:latin typeface="Verdana" panose="020B0604030504040204" pitchFamily="34" charset="0"/>
                    <a:ea typeface="Verdana" panose="020B0604030504040204" pitchFamily="34" charset="0"/>
                    <a:cs typeface="Verdana" panose="020B0604030504040204" pitchFamily="34" charset="0"/>
                  </a:rPr>
                  <a:t> mm and </a:t>
                </a:r>
                <a14:m>
                  <m:oMath xmlns:m="http://schemas.openxmlformats.org/officeDocument/2006/math">
                    <m:r>
                      <a:rPr lang="en-US" sz="2400" i="1">
                        <a:latin typeface="Cambria Math" panose="02040503050406030204" pitchFamily="18" charset="0"/>
                        <a:ea typeface="Cambria Math" panose="02040503050406030204" pitchFamily="18" charset="0"/>
                      </a:rPr>
                      <m:t>93</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mm. The farmer’s assistant said that most earthworms had lengths between </a:t>
                </a:r>
                <a14:m>
                  <m:oMath xmlns:m="http://schemas.openxmlformats.org/officeDocument/2006/math">
                    <m:r>
                      <a:rPr lang="en-US" sz="2400" i="1">
                        <a:latin typeface="Cambria Math" panose="02040503050406030204" pitchFamily="18" charset="0"/>
                        <a:ea typeface="Cambria Math" panose="02040503050406030204" pitchFamily="18" charset="0"/>
                      </a:rPr>
                      <m:t>23</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a:latin typeface="Cambria Math" panose="02040503050406030204" pitchFamily="18" charset="0"/>
                        <a:ea typeface="Cambria Math" panose="02040503050406030204" pitchFamily="18" charset="0"/>
                      </a:rPr>
                      <m:t>48</m:t>
                    </m:r>
                  </m:oMath>
                </a14:m>
                <a:r>
                  <a:rPr lang="en-US" sz="2400" dirty="0">
                    <a:latin typeface="Verdana" panose="020B0604030504040204" pitchFamily="34" charset="0"/>
                    <a:ea typeface="Verdana" panose="020B0604030504040204" pitchFamily="34" charset="0"/>
                    <a:cs typeface="Verdana" panose="020B0604030504040204" pitchFamily="34" charset="0"/>
                  </a:rPr>
                  <a:t> mm. </a:t>
                </a:r>
              </a:p>
              <a:p>
                <a:pPr marL="914400" lvl="1" indent="-449263">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a:t>
                </a:r>
              </a:p>
              <a:p>
                <a:pPr marL="914400"/>
                <a:r>
                  <a:rPr lang="en-US" sz="2400" dirty="0">
                    <a:latin typeface="Verdana" panose="020B0604030504040204" pitchFamily="34" charset="0"/>
                    <a:ea typeface="Verdana" panose="020B0604030504040204" pitchFamily="34" charset="0"/>
                    <a:cs typeface="Verdana" panose="020B0604030504040204" pitchFamily="34" charset="0"/>
                  </a:rPr>
                  <a:t>statements.</a:t>
                </a:r>
              </a:p>
              <a:p>
                <a:pPr marL="914400">
                  <a:lnSpc>
                    <a:spcPct val="250000"/>
                  </a:lnSpc>
                </a:pPr>
                <a:r>
                  <a:rPr lang="en-US" sz="2400" dirty="0">
                    <a:latin typeface="Verdana" panose="020B0604030504040204" pitchFamily="34" charset="0"/>
                    <a:ea typeface="Verdana" panose="020B0604030504040204" pitchFamily="34" charset="0"/>
                    <a:cs typeface="Verdana" panose="020B0604030504040204" pitchFamily="34" charset="0"/>
                  </a:rPr>
                  <a:t>The farmer is using the                to summarize </a:t>
                </a: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the variation in worm length, while the farmer’s </a:t>
                </a: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assistant is using the </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3"/>
                <a:ext cx="10515600" cy="6019277"/>
              </a:xfrm>
              <a:prstGeom prst="rect">
                <a:avLst/>
              </a:prstGeom>
              <a:blipFill>
                <a:blip r:embed="rId4"/>
                <a:stretch>
                  <a:fillRect t="-810" b="-1316"/>
                </a:stretch>
              </a:blipFill>
            </p:spPr>
            <p:txBody>
              <a:bodyPr/>
              <a:lstStyle/>
              <a:p>
                <a:r>
                  <a:rPr lang="en-PH">
                    <a:noFill/>
                  </a:rPr>
                  <a:t> </a:t>
                </a:r>
              </a:p>
            </p:txBody>
          </p:sp>
        </mc:Fallback>
      </mc:AlternateContent>
      <p:sp>
        <p:nvSpPr>
          <p:cNvPr id="6" name="Rounded Rectangle 5">
            <a:extLst>
              <a:ext uri="{FF2B5EF4-FFF2-40B4-BE49-F238E27FC236}">
                <a16:creationId xmlns:a16="http://schemas.microsoft.com/office/drawing/2014/main" id="{4347DC99-E4D7-EA43-A0A5-A7E7B04FE2EF}"/>
              </a:ext>
            </a:extLst>
          </p:cNvPr>
          <p:cNvSpPr/>
          <p:nvPr/>
        </p:nvSpPr>
        <p:spPr>
          <a:xfrm>
            <a:off x="5597868" y="3997410"/>
            <a:ext cx="1532709" cy="886234"/>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IQR</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p>
        </p:txBody>
      </p:sp>
      <p:sp>
        <p:nvSpPr>
          <p:cNvPr id="7" name="Rounded Rectangle 6">
            <a:extLst>
              <a:ext uri="{FF2B5EF4-FFF2-40B4-BE49-F238E27FC236}">
                <a16:creationId xmlns:a16="http://schemas.microsoft.com/office/drawing/2014/main" id="{9A66E48E-ED0C-2445-8262-7992D241D9C1}"/>
              </a:ext>
            </a:extLst>
          </p:cNvPr>
          <p:cNvSpPr/>
          <p:nvPr/>
        </p:nvSpPr>
        <p:spPr>
          <a:xfrm>
            <a:off x="5329645" y="5757483"/>
            <a:ext cx="1532709" cy="886234"/>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IQR.</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p>
        </p:txBody>
      </p:sp>
    </p:spTree>
    <p:extLst>
      <p:ext uri="{BB962C8B-B14F-4D97-AF65-F5344CB8AC3E}">
        <p14:creationId xmlns:p14="http://schemas.microsoft.com/office/powerpoint/2010/main" val="3013423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242</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4541949"/>
          </a:xfrm>
          <a:prstGeom prst="rect">
            <a:avLst/>
          </a:prstGeom>
          <a:noFill/>
        </p:spPr>
        <p:txBody>
          <a:bodyPr wrap="square" rtlCol="0">
            <a:spAutoFit/>
          </a:bodyPr>
          <a:lstStyle/>
          <a:p>
            <a:pPr marL="914400">
              <a:lnSpc>
                <a:spcPct val="250000"/>
              </a:lnSpc>
            </a:pPr>
            <a:r>
              <a:rPr lang="en-US" sz="2400" dirty="0">
                <a:latin typeface="Verdana" panose="020B0604030504040204" pitchFamily="34" charset="0"/>
                <a:ea typeface="Verdana" panose="020B0604030504040204" pitchFamily="34" charset="0"/>
                <a:cs typeface="Verdana" panose="020B0604030504040204" pitchFamily="34" charset="0"/>
              </a:rPr>
              <a:t>If a researcher is interested in how long earthworms are, the	      is an appropriate measure of variation for the farmer to report because </a:t>
            </a:r>
            <a:r>
              <a:rPr lang="en-US" sz="2400" u="sng" dirty="0">
                <a:latin typeface="Verdana" panose="020B0604030504040204" pitchFamily="34" charset="0"/>
                <a:ea typeface="Verdana" panose="020B0604030504040204" pitchFamily="34"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a:t>
            </a:r>
          </a:p>
        </p:txBody>
      </p:sp>
      <p:sp>
        <p:nvSpPr>
          <p:cNvPr id="8" name="Rounded Rectangle 7">
            <a:extLst>
              <a:ext uri="{FF2B5EF4-FFF2-40B4-BE49-F238E27FC236}">
                <a16:creationId xmlns:a16="http://schemas.microsoft.com/office/drawing/2014/main" id="{CC411C23-1865-584C-9098-4205C5E28C39}"/>
              </a:ext>
            </a:extLst>
          </p:cNvPr>
          <p:cNvSpPr/>
          <p:nvPr/>
        </p:nvSpPr>
        <p:spPr>
          <a:xfrm>
            <a:off x="1861282" y="1565583"/>
            <a:ext cx="1532709" cy="886234"/>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IQR</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p>
        </p:txBody>
      </p:sp>
    </p:spTree>
    <p:extLst>
      <p:ext uri="{BB962C8B-B14F-4D97-AF65-F5344CB8AC3E}">
        <p14:creationId xmlns:p14="http://schemas.microsoft.com/office/powerpoint/2010/main" val="569114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243</a:t>
            </a: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065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1282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54B5D1"/>
                </a:solidFill>
                <a:latin typeface="Verdana"/>
                <a:ea typeface="Verdana"/>
                <a:cs typeface="Verdana"/>
                <a:sym typeface="Verdana"/>
              </a:rPr>
              <a:t>13.2.3 Bring It Together: Outlier Effects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243</a:t>
            </a:r>
          </a:p>
        </p:txBody>
      </p:sp>
      <p:sp>
        <p:nvSpPr>
          <p:cNvPr id="8" name="TextBox 7">
            <a:extLst>
              <a:ext uri="{FF2B5EF4-FFF2-40B4-BE49-F238E27FC236}">
                <a16:creationId xmlns:a16="http://schemas.microsoft.com/office/drawing/2014/main" id="{669E00F9-F39F-5043-888E-B0A2D8C9AE0F}"/>
              </a:ext>
            </a:extLst>
          </p:cNvPr>
          <p:cNvSpPr txBox="1"/>
          <p:nvPr/>
        </p:nvSpPr>
        <p:spPr>
          <a:xfrm>
            <a:off x="914400" y="1386026"/>
            <a:ext cx="10515600" cy="4357283"/>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each statement to describe the effect outliers have on each measure of center or variation. </a:t>
            </a:r>
          </a:p>
          <a:p>
            <a:pPr marL="914400" indent="-457200">
              <a:lnSpc>
                <a:spcPct val="250000"/>
              </a:lnSpc>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The presence of an outlier does not have a significant effect on the 			 </a:t>
            </a:r>
          </a:p>
          <a:p>
            <a:pPr marL="914400" indent="-457200">
              <a:lnSpc>
                <a:spcPct val="250000"/>
              </a:lnSpc>
              <a:buFont typeface="Arial" panose="020B0604020202020204" pitchFamily="34" charset="0"/>
              <a:buChar char="•"/>
            </a:pPr>
            <a:r>
              <a:rPr lang="en-US" sz="2400" dirty="0">
                <a:latin typeface="Verdana" panose="020B0604030504040204" pitchFamily="34" charset="0"/>
                <a:ea typeface="Verdana" panose="020B0604030504040204" pitchFamily="34" charset="0"/>
                <a:cs typeface="Verdana" panose="020B0604030504040204" pitchFamily="34" charset="0"/>
              </a:rPr>
              <a:t>The presence of an outlier will change, often significantly, the value of the		</a:t>
            </a:r>
          </a:p>
        </p:txBody>
      </p:sp>
      <p:pic>
        <p:nvPicPr>
          <p:cNvPr id="10" name="Picture 2" descr="Icon&#10;&#10;Description automatically generated">
            <a:extLst>
              <a:ext uri="{FF2B5EF4-FFF2-40B4-BE49-F238E27FC236}">
                <a16:creationId xmlns:a16="http://schemas.microsoft.com/office/drawing/2014/main" id="{364D3CB6-B77F-FF4B-B346-80DF82290ADB}"/>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11314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Rounded Rectangle 8">
            <a:extLst>
              <a:ext uri="{FF2B5EF4-FFF2-40B4-BE49-F238E27FC236}">
                <a16:creationId xmlns:a16="http://schemas.microsoft.com/office/drawing/2014/main" id="{1ABE87D8-0594-B944-A0B2-3020FA5B9CFA}"/>
              </a:ext>
            </a:extLst>
          </p:cNvPr>
          <p:cNvSpPr/>
          <p:nvPr/>
        </p:nvSpPr>
        <p:spPr>
          <a:xfrm>
            <a:off x="3021851" y="3188780"/>
            <a:ext cx="1696766" cy="842691"/>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mean.</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median.</a:t>
            </a:r>
          </a:p>
        </p:txBody>
      </p:sp>
      <p:sp>
        <p:nvSpPr>
          <p:cNvPr id="11" name="Rounded Rectangle 10">
            <a:extLst>
              <a:ext uri="{FF2B5EF4-FFF2-40B4-BE49-F238E27FC236}">
                <a16:creationId xmlns:a16="http://schemas.microsoft.com/office/drawing/2014/main" id="{43B3E7A5-7DC8-AE4F-A73B-19A086FEE453}"/>
              </a:ext>
            </a:extLst>
          </p:cNvPr>
          <p:cNvSpPr/>
          <p:nvPr/>
        </p:nvSpPr>
        <p:spPr>
          <a:xfrm>
            <a:off x="4475434" y="5050628"/>
            <a:ext cx="1696766" cy="842691"/>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mean.</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median.</a:t>
            </a:r>
          </a:p>
        </p:txBody>
      </p:sp>
    </p:spTree>
    <p:extLst>
      <p:ext uri="{BB962C8B-B14F-4D97-AF65-F5344CB8AC3E}">
        <p14:creationId xmlns:p14="http://schemas.microsoft.com/office/powerpoint/2010/main" val="33998569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236187"/>
            <a:ext cx="10515600" cy="3030894"/>
          </a:xfrm>
          <a:prstGeom prst="rect">
            <a:avLst/>
          </a:prstGeom>
          <a:noFill/>
        </p:spPr>
        <p:txBody>
          <a:bodyPr wrap="square" rtlCol="0">
            <a:spAutoFit/>
          </a:bodyPr>
          <a:lstStyle/>
          <a:p>
            <a:pPr marL="914400" indent="-457200">
              <a:lnSpc>
                <a:spcPct val="250000"/>
              </a:lnSpc>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The presence of an outlier does not have a significant effect on the 			 </a:t>
            </a:r>
          </a:p>
          <a:p>
            <a:pPr marL="914400" indent="-457200">
              <a:lnSpc>
                <a:spcPct val="250000"/>
              </a:lnSpc>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The presence of an outlier will change, often significantly, the value of the	</a:t>
            </a:r>
          </a:p>
        </p:txBody>
      </p:sp>
      <p:sp>
        <p:nvSpPr>
          <p:cNvPr id="6" name="Rounded Rectangle 5">
            <a:extLst>
              <a:ext uri="{FF2B5EF4-FFF2-40B4-BE49-F238E27FC236}">
                <a16:creationId xmlns:a16="http://schemas.microsoft.com/office/drawing/2014/main" id="{3E74C215-8357-184E-AEA5-444493E8CCBD}"/>
              </a:ext>
            </a:extLst>
          </p:cNvPr>
          <p:cNvSpPr/>
          <p:nvPr/>
        </p:nvSpPr>
        <p:spPr>
          <a:xfrm>
            <a:off x="2458073" y="2561703"/>
            <a:ext cx="1532709" cy="886234"/>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IQR.</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p>
        </p:txBody>
      </p:sp>
      <p:sp>
        <p:nvSpPr>
          <p:cNvPr id="7" name="Rounded Rectangle 6">
            <a:extLst>
              <a:ext uri="{FF2B5EF4-FFF2-40B4-BE49-F238E27FC236}">
                <a16:creationId xmlns:a16="http://schemas.microsoft.com/office/drawing/2014/main" id="{00F63F6B-D5BA-984E-A88F-EEE05F4E975D}"/>
              </a:ext>
            </a:extLst>
          </p:cNvPr>
          <p:cNvSpPr/>
          <p:nvPr/>
        </p:nvSpPr>
        <p:spPr>
          <a:xfrm>
            <a:off x="1872342" y="988966"/>
            <a:ext cx="1532709" cy="886234"/>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IQR.</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p>
        </p:txBody>
      </p:sp>
      <p:sp>
        <p:nvSpPr>
          <p:cNvPr id="8" name="Rounded Rectangle 7">
            <a:extLst>
              <a:ext uri="{FF2B5EF4-FFF2-40B4-BE49-F238E27FC236}">
                <a16:creationId xmlns:a16="http://schemas.microsoft.com/office/drawing/2014/main" id="{F55D185C-D59C-CE49-AD29-6A3E15662A64}"/>
              </a:ext>
            </a:extLst>
          </p:cNvPr>
          <p:cNvSpPr/>
          <p:nvPr/>
        </p:nvSpPr>
        <p:spPr>
          <a:xfrm>
            <a:off x="2162991" y="3721508"/>
            <a:ext cx="6629400" cy="2753995"/>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pPr>
            <a:endPar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endParaRPr>
          </a:p>
          <a:p>
            <a:pPr marL="742950">
              <a:lnSpc>
                <a:spcPct val="107000"/>
              </a:lnSpc>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When outliers are present or a distribution is skewed, the _______________ is the preferred measure of center and the ____________ is the preferred measure of variation to describe the distribution. However, the context must be considered because outliers may be important in understanding the data. </a:t>
            </a:r>
            <a:endParaRPr lang="en-US" sz="2000" dirty="0">
              <a:latin typeface="Times New Roman" panose="02020603050405020304" pitchFamily="18" charset="0"/>
              <a:ea typeface="Times New Roman" panose="02020603050405020304" pitchFamily="18" charset="0"/>
            </a:endParaRPr>
          </a:p>
          <a:p>
            <a:pPr marL="742950"/>
            <a:endParaRPr lang="en-US" sz="1200" dirty="0">
              <a:latin typeface="Times New Roman" panose="02020603050405020304" pitchFamily="18" charset="0"/>
              <a:ea typeface="Times New Roman" panose="02020603050405020304" pitchFamily="18" charset="0"/>
            </a:endParaRPr>
          </a:p>
          <a:p>
            <a:pPr marL="742950" indent="2971800"/>
            <a:r>
              <a:rPr lang="en-US" sz="1200" dirty="0">
                <a:latin typeface="Times New Roman" panose="02020603050405020304" pitchFamily="18" charset="0"/>
                <a:ea typeface="Times New Roman" panose="02020603050405020304" pitchFamily="18" charset="0"/>
              </a:rPr>
              <a:t> </a:t>
            </a:r>
          </a:p>
        </p:txBody>
      </p:sp>
      <p:pic>
        <p:nvPicPr>
          <p:cNvPr id="9" name="Shape 27" descr="Icon&#10;&#10;Description automatically generated">
            <a:extLst>
              <a:ext uri="{FF2B5EF4-FFF2-40B4-BE49-F238E27FC236}">
                <a16:creationId xmlns:a16="http://schemas.microsoft.com/office/drawing/2014/main" id="{3B6EDE70-DDEF-804B-98D9-CAED9E537667}"/>
              </a:ext>
            </a:extLst>
          </p:cNvPr>
          <p:cNvPicPr/>
          <p:nvPr/>
        </p:nvPicPr>
        <p:blipFill rotWithShape="1">
          <a:blip r:embed="rId4" cstate="screen">
            <a:alphaModFix/>
            <a:extLst>
              <a:ext uri="{28A0092B-C50C-407E-A947-70E740481C1C}">
                <a14:useLocalDpi xmlns:a14="http://schemas.microsoft.com/office/drawing/2010/main"/>
              </a:ext>
            </a:extLst>
          </a:blip>
          <a:srcRect/>
          <a:stretch/>
        </p:blipFill>
        <p:spPr>
          <a:xfrm>
            <a:off x="2368822" y="3870940"/>
            <a:ext cx="539750" cy="539115"/>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265626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243</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37211"/>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13.2.4 Guided Practice: Comparing Distributions </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243</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914400" y="1386025"/>
                <a:ext cx="10515600" cy="4524315"/>
              </a:xfrm>
              <a:prstGeom prst="rect">
                <a:avLst/>
              </a:prstGeom>
              <a:noFill/>
            </p:spPr>
            <p:txBody>
              <a:bodyPr wrap="square" rtlCol="0">
                <a:spAutoFit/>
              </a:bodyPr>
              <a:lstStyle/>
              <a:p>
                <a:pPr marL="457200" lvl="4"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Below is a line plot of the number of goals scored by the top </a:t>
                </a:r>
                <a14:m>
                  <m:oMath xmlns:m="http://schemas.openxmlformats.org/officeDocument/2006/math">
                    <m:r>
                      <a:rPr lang="en-US" sz="2400" i="1">
                        <a:latin typeface="Cambria Math" panose="02040503050406030204" pitchFamily="18" charset="0"/>
                        <a:ea typeface="Cambria Math" panose="02040503050406030204" pitchFamily="18" charset="0"/>
                      </a:rPr>
                      <m:t>15</m:t>
                    </m:r>
                  </m:oMath>
                </a14:m>
                <a:r>
                  <a:rPr lang="en-US" sz="2400" dirty="0">
                    <a:latin typeface="Verdana" panose="020B0604030504040204" pitchFamily="34" charset="0"/>
                    <a:ea typeface="Verdana" panose="020B0604030504040204" pitchFamily="34" charset="0"/>
                    <a:cs typeface="Verdana" panose="020B0604030504040204" pitchFamily="34" charset="0"/>
                  </a:rPr>
                  <a:t> women goal scorers during the 2019-2020 NCAA Women’s Division </a:t>
                </a:r>
                <a14:m>
                  <m:oMath xmlns:m="http://schemas.openxmlformats.org/officeDocument/2006/math">
                    <m:r>
                      <a:rPr lang="en-US" sz="2400" i="1">
                        <a:latin typeface="Cambria Math" panose="02040503050406030204" pitchFamily="18" charset="0"/>
                        <a:ea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soccer season. </a:t>
                </a:r>
              </a:p>
              <a:p>
                <a:pPr marL="457200" lvl="4"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4"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4"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4"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4"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4"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4"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4"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lvl="4"/>
                <a:r>
                  <a:rPr lang="en-US" sz="2400" dirty="0">
                    <a:latin typeface="Verdana" panose="020B0604030504040204" pitchFamily="34" charset="0"/>
                    <a:ea typeface="Verdana" panose="020B0604030504040204" pitchFamily="34" charset="0"/>
                    <a:cs typeface="Verdana" panose="020B0604030504040204" pitchFamily="34" charset="0"/>
                  </a:rPr>
                  <a:t>                                  Number of Goals</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914400" y="1386025"/>
                <a:ext cx="10515600" cy="4524315"/>
              </a:xfrm>
              <a:prstGeom prst="rect">
                <a:avLst/>
              </a:prstGeom>
              <a:blipFill>
                <a:blip r:embed="rId5"/>
                <a:stretch>
                  <a:fillRect l="-870" t="-1211" b="-2019"/>
                </a:stretch>
              </a:blipFill>
            </p:spPr>
            <p:txBody>
              <a:bodyPr/>
              <a:lstStyle/>
              <a:p>
                <a:r>
                  <a:rPr lang="en-US">
                    <a:noFill/>
                  </a:rPr>
                  <a:t> </a:t>
                </a:r>
              </a:p>
            </p:txBody>
          </p:sp>
        </mc:Fallback>
      </mc:AlternateContent>
      <p:pic>
        <p:nvPicPr>
          <p:cNvPr id="14" name="Picture 13" descr="Chart, scatter chart&#10;&#10;Description automatically generated">
            <a:extLst>
              <a:ext uri="{FF2B5EF4-FFF2-40B4-BE49-F238E27FC236}">
                <a16:creationId xmlns:a16="http://schemas.microsoft.com/office/drawing/2014/main" id="{DD4BB882-90F1-3240-BCF7-4D726B50DA2F}"/>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t="60531" b="10149"/>
          <a:stretch/>
        </p:blipFill>
        <p:spPr bwMode="auto">
          <a:xfrm>
            <a:off x="2419362" y="3648182"/>
            <a:ext cx="7794750" cy="1678957"/>
          </a:xfrm>
          <a:prstGeom prst="rect">
            <a:avLst/>
          </a:prstGeom>
          <a:ln>
            <a:noFill/>
          </a:ln>
          <a:extLst>
            <a:ext uri="{53640926-AAD7-44D8-BBD7-CCE9431645EC}">
              <a14:shadowObscured xmlns:a14="http://schemas.microsoft.com/office/drawing/2010/main"/>
            </a:ext>
          </a:extLst>
        </p:spPr>
      </p:pic>
      <p:sp>
        <p:nvSpPr>
          <p:cNvPr id="16" name="Text Box 77">
            <a:extLst>
              <a:ext uri="{FF2B5EF4-FFF2-40B4-BE49-F238E27FC236}">
                <a16:creationId xmlns:a16="http://schemas.microsoft.com/office/drawing/2014/main" id="{EE90860D-D4C5-8E49-B92B-0F3D6F229AEC}"/>
              </a:ext>
            </a:extLst>
          </p:cNvPr>
          <p:cNvSpPr txBox="1"/>
          <p:nvPr/>
        </p:nvSpPr>
        <p:spPr>
          <a:xfrm>
            <a:off x="3796347" y="2788646"/>
            <a:ext cx="4599305" cy="7620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2000" b="1" dirty="0">
                <a:latin typeface="Verdana" panose="020B0604030504040204" pitchFamily="34" charset="0"/>
                <a:ea typeface="Times New Roman" panose="02020603050405020304" pitchFamily="18" charset="0"/>
              </a:rPr>
              <a:t>2019-2020 NCAA Women’s Division 1 Soccer Top Scorers</a:t>
            </a:r>
            <a:endParaRPr lang="en-US" sz="20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45523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243</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E6A1315-AB51-AE4C-8559-D6D485F4E3DF}"/>
                  </a:ext>
                </a:extLst>
              </p:cNvPr>
              <p:cNvGraphicFramePr>
                <a:graphicFrameLocks noGrp="1"/>
              </p:cNvGraphicFramePr>
              <p:nvPr>
                <p:extLst>
                  <p:ext uri="{D42A27DB-BD31-4B8C-83A1-F6EECF244321}">
                    <p14:modId xmlns:p14="http://schemas.microsoft.com/office/powerpoint/2010/main" val="1645582563"/>
                  </p:ext>
                </p:extLst>
              </p:nvPr>
            </p:nvGraphicFramePr>
            <p:xfrm>
              <a:off x="2142310" y="262070"/>
              <a:ext cx="7264451" cy="6182635"/>
            </p:xfrm>
            <a:graphic>
              <a:graphicData uri="http://schemas.openxmlformats.org/drawingml/2006/table">
                <a:tbl>
                  <a:tblPr bandRow="1">
                    <a:tableStyleId>{A91F0D33-8C57-4600-99A7-42BC86742BE1}</a:tableStyleId>
                  </a:tblPr>
                  <a:tblGrid>
                    <a:gridCol w="1182905">
                      <a:extLst>
                        <a:ext uri="{9D8B030D-6E8A-4147-A177-3AD203B41FA5}">
                          <a16:colId xmlns:a16="http://schemas.microsoft.com/office/drawing/2014/main" val="353730057"/>
                        </a:ext>
                      </a:extLst>
                    </a:gridCol>
                    <a:gridCol w="4629962">
                      <a:extLst>
                        <a:ext uri="{9D8B030D-6E8A-4147-A177-3AD203B41FA5}">
                          <a16:colId xmlns:a16="http://schemas.microsoft.com/office/drawing/2014/main" val="1937295495"/>
                        </a:ext>
                      </a:extLst>
                    </a:gridCol>
                    <a:gridCol w="1451584">
                      <a:extLst>
                        <a:ext uri="{9D8B030D-6E8A-4147-A177-3AD203B41FA5}">
                          <a16:colId xmlns:a16="http://schemas.microsoft.com/office/drawing/2014/main" val="1972648966"/>
                        </a:ext>
                      </a:extLst>
                    </a:gridCol>
                  </a:tblGrid>
                  <a:tr h="789977">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Rank</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Player, School</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Goals</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321407084"/>
                      </a:ext>
                    </a:extLst>
                  </a:tr>
                  <a:tr h="2826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0" i="1">
                                    <a:effectLst/>
                                    <a:latin typeface="Cambria Math" panose="02040503050406030204" pitchFamily="18" charset="0"/>
                                    <a:ea typeface="Cambria Math" panose="02040503050406030204" pitchFamily="18" charset="0"/>
                                  </a:rPr>
                                  <m:t>1</m:t>
                                </m:r>
                              </m:oMath>
                            </m:oMathPara>
                          </a14:m>
                          <a:endParaRPr lang="en-US" sz="2000" b="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b="0" dirty="0">
                              <a:effectLst/>
                              <a:latin typeface="Verdana" panose="020B0604030504040204" pitchFamily="34" charset="0"/>
                              <a:ea typeface="Verdana" panose="020B0604030504040204" pitchFamily="34" charset="0"/>
                              <a:cs typeface="Verdana" panose="020B0604030504040204" pitchFamily="34" charset="0"/>
                            </a:rPr>
                            <a:t>Evelyne </a:t>
                          </a:r>
                          <a:r>
                            <a:rPr lang="en-US" sz="2000" b="0" dirty="0" err="1">
                              <a:effectLst/>
                              <a:latin typeface="Verdana" panose="020B0604030504040204" pitchFamily="34" charset="0"/>
                              <a:ea typeface="Verdana" panose="020B0604030504040204" pitchFamily="34" charset="0"/>
                              <a:cs typeface="Verdana" panose="020B0604030504040204" pitchFamily="34" charset="0"/>
                            </a:rPr>
                            <a:t>Viens</a:t>
                          </a:r>
                          <a:r>
                            <a:rPr lang="en-US" sz="2000" b="0" dirty="0">
                              <a:effectLst/>
                              <a:latin typeface="Verdana" panose="020B0604030504040204" pitchFamily="34" charset="0"/>
                              <a:ea typeface="Verdana" panose="020B0604030504040204" pitchFamily="34" charset="0"/>
                              <a:cs typeface="Verdana" panose="020B0604030504040204" pitchFamily="34" charset="0"/>
                            </a:rPr>
                            <a:t>, South Florida</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0" i="1">
                                    <a:effectLst/>
                                    <a:latin typeface="Cambria Math" panose="02040503050406030204" pitchFamily="18" charset="0"/>
                                    <a:ea typeface="Cambria Math" panose="02040503050406030204" pitchFamily="18" charset="0"/>
                                  </a:rPr>
                                  <m:t>73</m:t>
                                </m:r>
                              </m:oMath>
                            </m:oMathPara>
                          </a14:m>
                          <a:endParaRPr lang="en-US" sz="2000" b="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2689675"/>
                      </a:ext>
                    </a:extLst>
                  </a:tr>
                  <a:tr h="2826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Catarina </a:t>
                          </a:r>
                          <a:r>
                            <a:rPr lang="en-US" sz="2000" dirty="0" err="1">
                              <a:effectLst/>
                              <a:latin typeface="Verdana" panose="020B0604030504040204" pitchFamily="34" charset="0"/>
                              <a:ea typeface="Verdana" panose="020B0604030504040204" pitchFamily="34" charset="0"/>
                              <a:cs typeface="Verdana" panose="020B0604030504040204" pitchFamily="34" charset="0"/>
                            </a:rPr>
                            <a:t>Macario</a:t>
                          </a:r>
                          <a:r>
                            <a:rPr lang="en-US" sz="2000" dirty="0">
                              <a:effectLst/>
                              <a:latin typeface="Verdana" panose="020B0604030504040204" pitchFamily="34" charset="0"/>
                              <a:ea typeface="Verdana" panose="020B0604030504040204" pitchFamily="34" charset="0"/>
                              <a:cs typeface="Verdana" panose="020B0604030504040204" pitchFamily="34" charset="0"/>
                            </a:rPr>
                            <a:t>, Stanford</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63</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7787116"/>
                      </a:ext>
                    </a:extLst>
                  </a:tr>
                  <a:tr h="2826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err="1">
                              <a:effectLst/>
                              <a:latin typeface="Verdana" panose="020B0604030504040204" pitchFamily="34" charset="0"/>
                              <a:ea typeface="Verdana" panose="020B0604030504040204" pitchFamily="34" charset="0"/>
                              <a:cs typeface="Verdana" panose="020B0604030504040204" pitchFamily="34" charset="0"/>
                            </a:rPr>
                            <a:t>Raimee</a:t>
                          </a:r>
                          <a:r>
                            <a:rPr lang="en-US" sz="2000" dirty="0">
                              <a:effectLst/>
                              <a:latin typeface="Verdana" panose="020B0604030504040204" pitchFamily="34" charset="0"/>
                              <a:ea typeface="Verdana" panose="020B0604030504040204" pitchFamily="34" charset="0"/>
                              <a:cs typeface="Verdana" panose="020B0604030504040204" pitchFamily="34" charset="0"/>
                            </a:rPr>
                            <a:t> </a:t>
                          </a:r>
                          <a:r>
                            <a:rPr lang="en-US" sz="2000" dirty="0" err="1">
                              <a:effectLst/>
                              <a:latin typeface="Verdana" panose="020B0604030504040204" pitchFamily="34" charset="0"/>
                              <a:ea typeface="Verdana" panose="020B0604030504040204" pitchFamily="34" charset="0"/>
                              <a:cs typeface="Verdana" panose="020B0604030504040204" pitchFamily="34" charset="0"/>
                            </a:rPr>
                            <a:t>Sherle</a:t>
                          </a:r>
                          <a:r>
                            <a:rPr lang="en-US" sz="2000" dirty="0">
                              <a:effectLst/>
                              <a:latin typeface="Verdana" panose="020B0604030504040204" pitchFamily="34" charset="0"/>
                              <a:ea typeface="Verdana" panose="020B0604030504040204" pitchFamily="34" charset="0"/>
                              <a:cs typeface="Verdana" panose="020B0604030504040204" pitchFamily="34" charset="0"/>
                            </a:rPr>
                            <a:t>, Boise St.</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61</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0892041"/>
                      </a:ext>
                    </a:extLst>
                  </a:tr>
                  <a:tr h="2826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Ally Watt, Texas A&amp;M</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49</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0179603"/>
                      </a:ext>
                    </a:extLst>
                  </a:tr>
                  <a:tr h="2826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err="1">
                              <a:effectLst/>
                              <a:latin typeface="Verdana" panose="020B0604030504040204" pitchFamily="34" charset="0"/>
                              <a:ea typeface="Verdana" panose="020B0604030504040204" pitchFamily="34" charset="0"/>
                              <a:cs typeface="Verdana" panose="020B0604030504040204" pitchFamily="34" charset="0"/>
                            </a:rPr>
                            <a:t>Tziarra</a:t>
                          </a:r>
                          <a:r>
                            <a:rPr lang="en-US" sz="2000" dirty="0">
                              <a:effectLst/>
                              <a:latin typeface="Verdana" panose="020B0604030504040204" pitchFamily="34" charset="0"/>
                              <a:ea typeface="Verdana" panose="020B0604030504040204" pitchFamily="34" charset="0"/>
                              <a:cs typeface="Verdana" panose="020B0604030504040204" pitchFamily="34" charset="0"/>
                            </a:rPr>
                            <a:t> King, NC State</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48</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8374800"/>
                      </a:ext>
                    </a:extLst>
                  </a:tr>
                  <a:tr h="4739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Deyna Castellanos, Florida St.</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48</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1140124"/>
                      </a:ext>
                    </a:extLst>
                  </a:tr>
                  <a:tr h="2826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Alexa </a:t>
                          </a:r>
                          <a:r>
                            <a:rPr lang="en-US" sz="2000" dirty="0" err="1">
                              <a:effectLst/>
                              <a:latin typeface="Verdana" panose="020B0604030504040204" pitchFamily="34" charset="0"/>
                              <a:ea typeface="Verdana" panose="020B0604030504040204" pitchFamily="34" charset="0"/>
                              <a:cs typeface="Verdana" panose="020B0604030504040204" pitchFamily="34" charset="0"/>
                            </a:rPr>
                            <a:t>Genas</a:t>
                          </a:r>
                          <a:r>
                            <a:rPr lang="en-US" sz="2000" dirty="0">
                              <a:effectLst/>
                              <a:latin typeface="Verdana" panose="020B0604030504040204" pitchFamily="34" charset="0"/>
                              <a:ea typeface="Verdana" panose="020B0604030504040204" pitchFamily="34" charset="0"/>
                              <a:cs typeface="Verdana" panose="020B0604030504040204" pitchFamily="34" charset="0"/>
                            </a:rPr>
                            <a:t>, Campbell</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46</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9786159"/>
                      </a:ext>
                    </a:extLst>
                  </a:tr>
                  <a:tr h="56521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Morgan Weaver, Washington St.</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43</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5387607"/>
                      </a:ext>
                    </a:extLst>
                  </a:tr>
                  <a:tr h="47399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Peyton DePriest, Middle Tenn.</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42</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1124727"/>
                      </a:ext>
                    </a:extLst>
                  </a:tr>
                  <a:tr h="2826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Elise Flake, BYU</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40</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5013058"/>
                      </a:ext>
                    </a:extLst>
                  </a:tr>
                  <a:tr h="2826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Samantha Dewey, Xavier</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40</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3809903"/>
                      </a:ext>
                    </a:extLst>
                  </a:tr>
                  <a:tr h="526652">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Hayley Younginer, Wake Forest</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40</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344667"/>
                      </a:ext>
                    </a:extLst>
                  </a:tr>
                  <a:tr h="2826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13</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Dakota Mills, Saint Joseph's</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39</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3298560"/>
                      </a:ext>
                    </a:extLst>
                  </a:tr>
                  <a:tr h="2826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13</m:t>
                                </m:r>
                              </m:oMath>
                            </m:oMathPara>
                          </a14:m>
                          <a:endParaRPr lang="en-US" sz="200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Katie McClure, Kansas</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39</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4776007"/>
                      </a:ext>
                    </a:extLst>
                  </a:tr>
                  <a:tr h="2826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13</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Taylor Kornieck, Colorado</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39</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3331560"/>
                      </a:ext>
                    </a:extLst>
                  </a:tr>
                </a:tbl>
              </a:graphicData>
            </a:graphic>
          </p:graphicFrame>
        </mc:Choice>
        <mc:Fallback xmlns="">
          <p:graphicFrame>
            <p:nvGraphicFramePr>
              <p:cNvPr id="2" name="Table 1">
                <a:extLst>
                  <a:ext uri="{FF2B5EF4-FFF2-40B4-BE49-F238E27FC236}">
                    <a16:creationId xmlns:a16="http://schemas.microsoft.com/office/drawing/2014/main" id="{3E6A1315-AB51-AE4C-8559-D6D485F4E3DF}"/>
                  </a:ext>
                </a:extLst>
              </p:cNvPr>
              <p:cNvGraphicFramePr>
                <a:graphicFrameLocks noGrp="1"/>
              </p:cNvGraphicFramePr>
              <p:nvPr>
                <p:extLst>
                  <p:ext uri="{D42A27DB-BD31-4B8C-83A1-F6EECF244321}">
                    <p14:modId xmlns:p14="http://schemas.microsoft.com/office/powerpoint/2010/main" val="1645582563"/>
                  </p:ext>
                </p:extLst>
              </p:nvPr>
            </p:nvGraphicFramePr>
            <p:xfrm>
              <a:off x="2142310" y="262070"/>
              <a:ext cx="7264451" cy="6182635"/>
            </p:xfrm>
            <a:graphic>
              <a:graphicData uri="http://schemas.openxmlformats.org/drawingml/2006/table">
                <a:tbl>
                  <a:tblPr bandRow="1">
                    <a:tableStyleId>{A91F0D33-8C57-4600-99A7-42BC86742BE1}</a:tableStyleId>
                  </a:tblPr>
                  <a:tblGrid>
                    <a:gridCol w="1182905">
                      <a:extLst>
                        <a:ext uri="{9D8B030D-6E8A-4147-A177-3AD203B41FA5}">
                          <a16:colId xmlns:a16="http://schemas.microsoft.com/office/drawing/2014/main" val="353730057"/>
                        </a:ext>
                      </a:extLst>
                    </a:gridCol>
                    <a:gridCol w="4629962">
                      <a:extLst>
                        <a:ext uri="{9D8B030D-6E8A-4147-A177-3AD203B41FA5}">
                          <a16:colId xmlns:a16="http://schemas.microsoft.com/office/drawing/2014/main" val="1937295495"/>
                        </a:ext>
                      </a:extLst>
                    </a:gridCol>
                    <a:gridCol w="1451584">
                      <a:extLst>
                        <a:ext uri="{9D8B030D-6E8A-4147-A177-3AD203B41FA5}">
                          <a16:colId xmlns:a16="http://schemas.microsoft.com/office/drawing/2014/main" val="1972648966"/>
                        </a:ext>
                      </a:extLst>
                    </a:gridCol>
                  </a:tblGrid>
                  <a:tr h="789977">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Rank</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Player, School</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Number of Goals</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321407084"/>
                      </a:ext>
                    </a:extLst>
                  </a:tr>
                  <a:tr h="304800">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262500" r="-518280" b="-1725000"/>
                          </a:stretch>
                        </a:blipFill>
                      </a:tcPr>
                    </a:tc>
                    <a:tc>
                      <a:txBody>
                        <a:bodyPr/>
                        <a:lstStyle/>
                        <a:p>
                          <a:pPr marL="0" marR="0" algn="ctr">
                            <a:spcBef>
                              <a:spcPts val="0"/>
                            </a:spcBef>
                            <a:spcAft>
                              <a:spcPts val="0"/>
                            </a:spcAft>
                          </a:pPr>
                          <a:r>
                            <a:rPr lang="en-US" sz="2000" b="0" dirty="0">
                              <a:effectLst/>
                              <a:latin typeface="Verdana" panose="020B0604030504040204" pitchFamily="34" charset="0"/>
                              <a:ea typeface="Verdana" panose="020B0604030504040204" pitchFamily="34" charset="0"/>
                              <a:cs typeface="Verdana" panose="020B0604030504040204" pitchFamily="34" charset="0"/>
                            </a:rPr>
                            <a:t>Evelyne </a:t>
                          </a:r>
                          <a:r>
                            <a:rPr lang="en-US" sz="2000" b="0" dirty="0" err="1">
                              <a:effectLst/>
                              <a:latin typeface="Verdana" panose="020B0604030504040204" pitchFamily="34" charset="0"/>
                              <a:ea typeface="Verdana" panose="020B0604030504040204" pitchFamily="34" charset="0"/>
                              <a:cs typeface="Verdana" panose="020B0604030504040204" pitchFamily="34" charset="0"/>
                            </a:rPr>
                            <a:t>Viens</a:t>
                          </a:r>
                          <a:r>
                            <a:rPr lang="en-US" sz="2000" b="0" dirty="0">
                              <a:effectLst/>
                              <a:latin typeface="Verdana" panose="020B0604030504040204" pitchFamily="34" charset="0"/>
                              <a:ea typeface="Verdana" panose="020B0604030504040204" pitchFamily="34" charset="0"/>
                              <a:cs typeface="Verdana" panose="020B0604030504040204" pitchFamily="34" charset="0"/>
                            </a:rPr>
                            <a:t>, South Florida</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262500" r="-1754" b="-1725000"/>
                          </a:stretch>
                        </a:blipFill>
                      </a:tcPr>
                    </a:tc>
                    <a:extLst>
                      <a:ext uri="{0D108BD9-81ED-4DB2-BD59-A6C34878D82A}">
                        <a16:rowId xmlns:a16="http://schemas.microsoft.com/office/drawing/2014/main" val="2332689675"/>
                      </a:ext>
                    </a:extLst>
                  </a:tr>
                  <a:tr h="304800">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362500" r="-518280" b="-162500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Catarina </a:t>
                          </a:r>
                          <a:r>
                            <a:rPr lang="en-US" sz="2000" dirty="0" err="1">
                              <a:effectLst/>
                              <a:latin typeface="Verdana" panose="020B0604030504040204" pitchFamily="34" charset="0"/>
                              <a:ea typeface="Verdana" panose="020B0604030504040204" pitchFamily="34" charset="0"/>
                              <a:cs typeface="Verdana" panose="020B0604030504040204" pitchFamily="34" charset="0"/>
                            </a:rPr>
                            <a:t>Macario</a:t>
                          </a:r>
                          <a:r>
                            <a:rPr lang="en-US" sz="2000" dirty="0">
                              <a:effectLst/>
                              <a:latin typeface="Verdana" panose="020B0604030504040204" pitchFamily="34" charset="0"/>
                              <a:ea typeface="Verdana" panose="020B0604030504040204" pitchFamily="34" charset="0"/>
                              <a:cs typeface="Verdana" panose="020B0604030504040204" pitchFamily="34" charset="0"/>
                            </a:rPr>
                            <a:t>, Stanford</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362500" r="-1754" b="-1625000"/>
                          </a:stretch>
                        </a:blipFill>
                      </a:tcPr>
                    </a:tc>
                    <a:extLst>
                      <a:ext uri="{0D108BD9-81ED-4DB2-BD59-A6C34878D82A}">
                        <a16:rowId xmlns:a16="http://schemas.microsoft.com/office/drawing/2014/main" val="2327787116"/>
                      </a:ext>
                    </a:extLst>
                  </a:tr>
                  <a:tr h="304800">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444000" r="-518280" b="-1460000"/>
                          </a:stretch>
                        </a:blipFill>
                      </a:tcPr>
                    </a:tc>
                    <a:tc>
                      <a:txBody>
                        <a:bodyPr/>
                        <a:lstStyle/>
                        <a:p>
                          <a:pPr marL="0" marR="0" algn="ctr">
                            <a:spcBef>
                              <a:spcPts val="0"/>
                            </a:spcBef>
                            <a:spcAft>
                              <a:spcPts val="0"/>
                            </a:spcAft>
                          </a:pPr>
                          <a:r>
                            <a:rPr lang="en-US" sz="2000" dirty="0" err="1">
                              <a:effectLst/>
                              <a:latin typeface="Verdana" panose="020B0604030504040204" pitchFamily="34" charset="0"/>
                              <a:ea typeface="Verdana" panose="020B0604030504040204" pitchFamily="34" charset="0"/>
                              <a:cs typeface="Verdana" panose="020B0604030504040204" pitchFamily="34" charset="0"/>
                            </a:rPr>
                            <a:t>Raimee</a:t>
                          </a:r>
                          <a:r>
                            <a:rPr lang="en-US" sz="2000" dirty="0">
                              <a:effectLst/>
                              <a:latin typeface="Verdana" panose="020B0604030504040204" pitchFamily="34" charset="0"/>
                              <a:ea typeface="Verdana" panose="020B0604030504040204" pitchFamily="34" charset="0"/>
                              <a:cs typeface="Verdana" panose="020B0604030504040204" pitchFamily="34" charset="0"/>
                            </a:rPr>
                            <a:t> </a:t>
                          </a:r>
                          <a:r>
                            <a:rPr lang="en-US" sz="2000" dirty="0" err="1">
                              <a:effectLst/>
                              <a:latin typeface="Verdana" panose="020B0604030504040204" pitchFamily="34" charset="0"/>
                              <a:ea typeface="Verdana" panose="020B0604030504040204" pitchFamily="34" charset="0"/>
                              <a:cs typeface="Verdana" panose="020B0604030504040204" pitchFamily="34" charset="0"/>
                            </a:rPr>
                            <a:t>Sherle</a:t>
                          </a:r>
                          <a:r>
                            <a:rPr lang="en-US" sz="2000" dirty="0">
                              <a:effectLst/>
                              <a:latin typeface="Verdana" panose="020B0604030504040204" pitchFamily="34" charset="0"/>
                              <a:ea typeface="Verdana" panose="020B0604030504040204" pitchFamily="34" charset="0"/>
                              <a:cs typeface="Verdana" panose="020B0604030504040204" pitchFamily="34" charset="0"/>
                            </a:rPr>
                            <a:t>, Boise St.</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444000" r="-1754" b="-1460000"/>
                          </a:stretch>
                        </a:blipFill>
                      </a:tcPr>
                    </a:tc>
                    <a:extLst>
                      <a:ext uri="{0D108BD9-81ED-4DB2-BD59-A6C34878D82A}">
                        <a16:rowId xmlns:a16="http://schemas.microsoft.com/office/drawing/2014/main" val="4030892041"/>
                      </a:ext>
                    </a:extLst>
                  </a:tr>
                  <a:tr h="304800">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566667" r="-518280" b="-142083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Ally Watt, Texas A&amp;M</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566667" r="-1754" b="-1420833"/>
                          </a:stretch>
                        </a:blipFill>
                      </a:tcPr>
                    </a:tc>
                    <a:extLst>
                      <a:ext uri="{0D108BD9-81ED-4DB2-BD59-A6C34878D82A}">
                        <a16:rowId xmlns:a16="http://schemas.microsoft.com/office/drawing/2014/main" val="3860179603"/>
                      </a:ext>
                    </a:extLst>
                  </a:tr>
                  <a:tr h="304800">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666667" r="-518280" b="-1320833"/>
                          </a:stretch>
                        </a:blipFill>
                      </a:tcPr>
                    </a:tc>
                    <a:tc>
                      <a:txBody>
                        <a:bodyPr/>
                        <a:lstStyle/>
                        <a:p>
                          <a:pPr marL="0" marR="0" algn="ctr">
                            <a:spcBef>
                              <a:spcPts val="0"/>
                            </a:spcBef>
                            <a:spcAft>
                              <a:spcPts val="0"/>
                            </a:spcAft>
                          </a:pPr>
                          <a:r>
                            <a:rPr lang="en-US" sz="2000" dirty="0" err="1">
                              <a:effectLst/>
                              <a:latin typeface="Verdana" panose="020B0604030504040204" pitchFamily="34" charset="0"/>
                              <a:ea typeface="Verdana" panose="020B0604030504040204" pitchFamily="34" charset="0"/>
                              <a:cs typeface="Verdana" panose="020B0604030504040204" pitchFamily="34" charset="0"/>
                            </a:rPr>
                            <a:t>Tziarra</a:t>
                          </a:r>
                          <a:r>
                            <a:rPr lang="en-US" sz="2000" dirty="0">
                              <a:effectLst/>
                              <a:latin typeface="Verdana" panose="020B0604030504040204" pitchFamily="34" charset="0"/>
                              <a:ea typeface="Verdana" panose="020B0604030504040204" pitchFamily="34" charset="0"/>
                              <a:cs typeface="Verdana" panose="020B0604030504040204" pitchFamily="34" charset="0"/>
                            </a:rPr>
                            <a:t> King, NC State</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666667" r="-1754" b="-1320833"/>
                          </a:stretch>
                        </a:blipFill>
                      </a:tcPr>
                    </a:tc>
                    <a:extLst>
                      <a:ext uri="{0D108BD9-81ED-4DB2-BD59-A6C34878D82A}">
                        <a16:rowId xmlns:a16="http://schemas.microsoft.com/office/drawing/2014/main" val="628374800"/>
                      </a:ext>
                    </a:extLst>
                  </a:tr>
                  <a:tr h="473994">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497297" r="-518280" b="-756757"/>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Deyna Castellanos, Florida St.</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497297" r="-1754" b="-756757"/>
                          </a:stretch>
                        </a:blipFill>
                      </a:tcPr>
                    </a:tc>
                    <a:extLst>
                      <a:ext uri="{0D108BD9-81ED-4DB2-BD59-A6C34878D82A}">
                        <a16:rowId xmlns:a16="http://schemas.microsoft.com/office/drawing/2014/main" val="2351140124"/>
                      </a:ext>
                    </a:extLst>
                  </a:tr>
                  <a:tr h="304800">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920833" r="-518280" b="-1066667"/>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Alexa </a:t>
                          </a:r>
                          <a:r>
                            <a:rPr lang="en-US" sz="2000" dirty="0" err="1">
                              <a:effectLst/>
                              <a:latin typeface="Verdana" panose="020B0604030504040204" pitchFamily="34" charset="0"/>
                              <a:ea typeface="Verdana" panose="020B0604030504040204" pitchFamily="34" charset="0"/>
                              <a:cs typeface="Verdana" panose="020B0604030504040204" pitchFamily="34" charset="0"/>
                            </a:rPr>
                            <a:t>Genas</a:t>
                          </a:r>
                          <a:r>
                            <a:rPr lang="en-US" sz="2000" dirty="0">
                              <a:effectLst/>
                              <a:latin typeface="Verdana" panose="020B0604030504040204" pitchFamily="34" charset="0"/>
                              <a:ea typeface="Verdana" panose="020B0604030504040204" pitchFamily="34" charset="0"/>
                              <a:cs typeface="Verdana" panose="020B0604030504040204" pitchFamily="34" charset="0"/>
                            </a:rPr>
                            <a:t>, Campbell</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920833" r="-1754" b="-1066667"/>
                          </a:stretch>
                        </a:blipFill>
                      </a:tcPr>
                    </a:tc>
                    <a:extLst>
                      <a:ext uri="{0D108BD9-81ED-4DB2-BD59-A6C34878D82A}">
                        <a16:rowId xmlns:a16="http://schemas.microsoft.com/office/drawing/2014/main" val="1239786159"/>
                      </a:ext>
                    </a:extLst>
                  </a:tr>
                  <a:tr h="565218">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544444" r="-518280" b="-468889"/>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Morgan Weaver, Washington St.</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544444" r="-1754" b="-468889"/>
                          </a:stretch>
                        </a:blipFill>
                      </a:tcPr>
                    </a:tc>
                    <a:extLst>
                      <a:ext uri="{0D108BD9-81ED-4DB2-BD59-A6C34878D82A}">
                        <a16:rowId xmlns:a16="http://schemas.microsoft.com/office/drawing/2014/main" val="3755387607"/>
                      </a:ext>
                    </a:extLst>
                  </a:tr>
                  <a:tr h="473994">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783784" r="-518280" b="-47027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Peyton DePriest, Middle Tenn.</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783784" r="-1754" b="-470270"/>
                          </a:stretch>
                        </a:blipFill>
                      </a:tcPr>
                    </a:tc>
                    <a:extLst>
                      <a:ext uri="{0D108BD9-81ED-4DB2-BD59-A6C34878D82A}">
                        <a16:rowId xmlns:a16="http://schemas.microsoft.com/office/drawing/2014/main" val="2541124727"/>
                      </a:ext>
                    </a:extLst>
                  </a:tr>
                  <a:tr h="304800">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362500" r="-518280" b="-62500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Elise Flake, BYU</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1362500" r="-1754" b="-625000"/>
                          </a:stretch>
                        </a:blipFill>
                      </a:tcPr>
                    </a:tc>
                    <a:extLst>
                      <a:ext uri="{0D108BD9-81ED-4DB2-BD59-A6C34878D82A}">
                        <a16:rowId xmlns:a16="http://schemas.microsoft.com/office/drawing/2014/main" val="3375013058"/>
                      </a:ext>
                    </a:extLst>
                  </a:tr>
                  <a:tr h="304800">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462500" r="-518280" b="-52500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Samantha Dewey, Xavier</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1462500" r="-1754" b="-525000"/>
                          </a:stretch>
                        </a:blipFill>
                      </a:tcPr>
                    </a:tc>
                    <a:extLst>
                      <a:ext uri="{0D108BD9-81ED-4DB2-BD59-A6C34878D82A}">
                        <a16:rowId xmlns:a16="http://schemas.microsoft.com/office/drawing/2014/main" val="3933809903"/>
                      </a:ext>
                    </a:extLst>
                  </a:tr>
                  <a:tr h="526652">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892857" r="-518280" b="-20000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Hayley Younginer, Wake Forest</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892857" r="-1754" b="-200000"/>
                          </a:stretch>
                        </a:blipFill>
                      </a:tcPr>
                    </a:tc>
                    <a:extLst>
                      <a:ext uri="{0D108BD9-81ED-4DB2-BD59-A6C34878D82A}">
                        <a16:rowId xmlns:a16="http://schemas.microsoft.com/office/drawing/2014/main" val="177344667"/>
                      </a:ext>
                    </a:extLst>
                  </a:tr>
                  <a:tr h="304800">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737500" r="-518280" b="-25000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Dakota Mills, Saint Joseph's</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1737500" r="-1754" b="-250000"/>
                          </a:stretch>
                        </a:blipFill>
                      </a:tcPr>
                    </a:tc>
                    <a:extLst>
                      <a:ext uri="{0D108BD9-81ED-4DB2-BD59-A6C34878D82A}">
                        <a16:rowId xmlns:a16="http://schemas.microsoft.com/office/drawing/2014/main" val="2593298560"/>
                      </a:ext>
                    </a:extLst>
                  </a:tr>
                  <a:tr h="304800">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837500" r="-518280" b="-15000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Katie McClure, Kansas</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1837500" r="-1754" b="-150000"/>
                          </a:stretch>
                        </a:blipFill>
                      </a:tcPr>
                    </a:tc>
                    <a:extLst>
                      <a:ext uri="{0D108BD9-81ED-4DB2-BD59-A6C34878D82A}">
                        <a16:rowId xmlns:a16="http://schemas.microsoft.com/office/drawing/2014/main" val="2424776007"/>
                      </a:ext>
                    </a:extLst>
                  </a:tr>
                  <a:tr h="304800">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937500" r="-518280" b="-5000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Taylor Kornieck, Colorado</a:t>
                          </a:r>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3990" marR="6399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2632" t="-1937500" r="-1754" b="-50000"/>
                          </a:stretch>
                        </a:blipFill>
                      </a:tcPr>
                    </a:tc>
                    <a:extLst>
                      <a:ext uri="{0D108BD9-81ED-4DB2-BD59-A6C34878D82A}">
                        <a16:rowId xmlns:a16="http://schemas.microsoft.com/office/drawing/2014/main" val="2793331560"/>
                      </a:ext>
                    </a:extLst>
                  </a:tr>
                </a:tbl>
              </a:graphicData>
            </a:graphic>
          </p:graphicFrame>
        </mc:Fallback>
      </mc:AlternateContent>
    </p:spTree>
    <p:extLst>
      <p:ext uri="{BB962C8B-B14F-4D97-AF65-F5344CB8AC3E}">
        <p14:creationId xmlns:p14="http://schemas.microsoft.com/office/powerpoint/2010/main" val="21572638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5632311"/>
          </a:xfrm>
          <a:prstGeom prst="rect">
            <a:avLst/>
          </a:prstGeom>
          <a:noFill/>
        </p:spPr>
        <p:txBody>
          <a:bodyPr wrap="square" rtlCol="0">
            <a:spAutoFit/>
          </a:bodyPr>
          <a:lstStyle/>
          <a:p>
            <a:pPr marL="914400" lvl="5" indent="-44926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Without doing any calculations, explain which measure of central tendency you expect to be larger, the mean or the median.</a:t>
            </a:r>
          </a:p>
          <a:p>
            <a:pPr marL="914400" indent="-449263"/>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49263"/>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49263"/>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2" indent="-44926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mean number of goals. </a:t>
            </a:r>
          </a:p>
          <a:p>
            <a:pPr marL="914400" indent="-449263"/>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49263"/>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49263"/>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49263"/>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2" indent="-449263">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Find the median number of goals.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t>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887000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4"/>
                <a:ext cx="10515600" cy="4893647"/>
              </a:xfrm>
              <a:prstGeom prst="rect">
                <a:avLst/>
              </a:prstGeom>
              <a:noFill/>
            </p:spPr>
            <p:txBody>
              <a:bodyPr wrap="square" rtlCol="0">
                <a:spAutoFit/>
              </a:bodyPr>
              <a:lstStyle/>
              <a:p>
                <a:pPr marL="914400" lvl="2" indent="-449263">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Check your work with your partner, and if necessary, resolve any differences.</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br>
                  <a:rPr lang="en-US" dirty="0">
                    <a:effectLst/>
                    <a:latin typeface="Verdana" panose="020B0604030504040204" pitchFamily="34" charset="0"/>
                  </a:rPr>
                </a:b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2" indent="-449263">
                  <a:buFont typeface="+mj-lt"/>
                  <a:buAutoNum type="alphaLcPeriod" startAt="5"/>
                </a:pPr>
                <a:r>
                  <a:rPr lang="en-US" sz="2400" dirty="0">
                    <a:latin typeface="Verdana" panose="020B0604030504040204" pitchFamily="34" charset="0"/>
                    <a:ea typeface="Verdana" panose="020B0604030504040204" pitchFamily="34" charset="0"/>
                    <a:cs typeface="Verdana" panose="020B0604030504040204" pitchFamily="34" charset="0"/>
                  </a:rPr>
                  <a:t>Demetrica stated that the typical number of goals in the season for scorer in the top </a:t>
                </a:r>
                <a14:m>
                  <m:oMath xmlns:m="http://schemas.openxmlformats.org/officeDocument/2006/math">
                    <m:r>
                      <a:rPr lang="en-US" sz="2400" i="1" dirty="0" smtClean="0">
                        <a:latin typeface="Cambria Math" panose="02040503050406030204" pitchFamily="18" charset="0"/>
                        <a:ea typeface="Verdana" panose="020B0604030504040204" pitchFamily="34" charset="0"/>
                        <a:cs typeface="Verdana" panose="020B0604030504040204" pitchFamily="34" charset="0"/>
                      </a:rPr>
                      <m:t>15</m:t>
                    </m:r>
                  </m:oMath>
                </a14:m>
                <a:r>
                  <a:rPr lang="en-US" sz="2400" dirty="0">
                    <a:latin typeface="Verdana" panose="020B0604030504040204" pitchFamily="34" charset="0"/>
                    <a:ea typeface="Verdana" panose="020B0604030504040204" pitchFamily="34" charset="0"/>
                    <a:cs typeface="Verdana" panose="020B0604030504040204" pitchFamily="34" charset="0"/>
                  </a:rPr>
                  <a:t> scorer was about </a:t>
                </a:r>
                <a14:m>
                  <m:oMath xmlns:m="http://schemas.openxmlformats.org/officeDocument/2006/math">
                    <m:r>
                      <a:rPr lang="en-US" sz="2400" i="1">
                        <a:latin typeface="Cambria Math" panose="02040503050406030204" pitchFamily="18" charset="0"/>
                      </a:rPr>
                      <m:t>48</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a:r>
                  <a:rPr lang="en-US" sz="2400" dirty="0">
                    <a:latin typeface="Verdana" panose="020B0604030504040204" pitchFamily="34" charset="0"/>
                    <a:ea typeface="Verdana" panose="020B0604030504040204" pitchFamily="34" charset="0"/>
                    <a:cs typeface="Verdana" panose="020B0604030504040204" pitchFamily="34" charset="0"/>
                  </a:rPr>
                  <a:t>Explain whether you agree with </a:t>
                </a:r>
                <a:r>
                  <a:rPr lang="en-US" sz="2400" dirty="0" err="1">
                    <a:latin typeface="Verdana" panose="020B0604030504040204" pitchFamily="34" charset="0"/>
                    <a:ea typeface="Verdana" panose="020B0604030504040204" pitchFamily="34" charset="0"/>
                    <a:cs typeface="Verdana" panose="020B0604030504040204" pitchFamily="34" charset="0"/>
                  </a:rPr>
                  <a:t>Demetrica</a:t>
                </a:r>
                <a:r>
                  <a:rPr lang="en-US" sz="2400" dirty="0">
                    <a:latin typeface="Verdana" panose="020B0604030504040204" pitchFamily="34" charset="0"/>
                    <a:ea typeface="Verdana" panose="020B0604030504040204" pitchFamily="34" charset="0"/>
                    <a:cs typeface="Verdana" panose="020B0604030504040204" pitchFamily="34" charset="0"/>
                  </a:rPr>
                  <a:t> using your work from Parts A-C.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t>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4"/>
                <a:ext cx="10515600" cy="4893647"/>
              </a:xfrm>
              <a:prstGeom prst="rect">
                <a:avLst/>
              </a:prstGeom>
              <a:blipFill>
                <a:blip r:embed="rId4"/>
                <a:stretch>
                  <a:fillRect t="-1034" r="-1809"/>
                </a:stretch>
              </a:blipFill>
            </p:spPr>
            <p:txBody>
              <a:bodyPr/>
              <a:lstStyle/>
              <a:p>
                <a:r>
                  <a:rPr lang="en-US">
                    <a:noFill/>
                  </a:rPr>
                  <a:t> </a:t>
                </a:r>
              </a:p>
            </p:txBody>
          </p:sp>
        </mc:Fallback>
      </mc:AlternateContent>
    </p:spTree>
    <p:extLst>
      <p:ext uri="{BB962C8B-B14F-4D97-AF65-F5344CB8AC3E}">
        <p14:creationId xmlns:p14="http://schemas.microsoft.com/office/powerpoint/2010/main" val="1156060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5262979"/>
              </a:xfrm>
              <a:prstGeom prst="rect">
                <a:avLst/>
              </a:prstGeom>
              <a:noFill/>
            </p:spPr>
            <p:txBody>
              <a:bodyPr wrap="square" rtlCol="0">
                <a:spAutoFit/>
              </a:bodyPr>
              <a:lstStyle/>
              <a:p>
                <a:pPr marL="457200" indent="-457200">
                  <a:buFont typeface="+mj-lt"/>
                  <a:buAutoNum type="arabicPeriod" startAt="2"/>
                </a:pPr>
                <a:r>
                  <a:rPr lang="en-US" sz="2400" dirty="0" err="1">
                    <a:latin typeface="Verdana" panose="020B0604030504040204" pitchFamily="34" charset="0"/>
                    <a:ea typeface="Verdana" panose="020B0604030504040204" pitchFamily="34" charset="0"/>
                    <a:cs typeface="Verdana" panose="020B0604030504040204" pitchFamily="34" charset="0"/>
                  </a:rPr>
                  <a:t>Demetrica</a:t>
                </a:r>
                <a:r>
                  <a:rPr lang="en-US" sz="2400" dirty="0">
                    <a:latin typeface="Verdana" panose="020B0604030504040204" pitchFamily="34" charset="0"/>
                    <a:ea typeface="Verdana" panose="020B0604030504040204" pitchFamily="34" charset="0"/>
                    <a:cs typeface="Verdana" panose="020B0604030504040204" pitchFamily="34" charset="0"/>
                  </a:rPr>
                  <a:t> described the variation by saying that most of the players in the top </a:t>
                </a:r>
                <a14:m>
                  <m:oMath xmlns:m="http://schemas.openxmlformats.org/officeDocument/2006/math">
                    <m:r>
                      <a:rPr lang="en-US" sz="2400" i="1">
                        <a:latin typeface="Cambria Math" panose="02040503050406030204" pitchFamily="18" charset="0"/>
                      </a:rPr>
                      <m:t>15</m:t>
                    </m:r>
                  </m:oMath>
                </a14:m>
                <a:r>
                  <a:rPr lang="en-US" sz="2400" dirty="0">
                    <a:latin typeface="Verdana" panose="020B0604030504040204" pitchFamily="34" charset="0"/>
                    <a:ea typeface="Verdana" panose="020B0604030504040204" pitchFamily="34" charset="0"/>
                    <a:cs typeface="Verdana" panose="020B0604030504040204" pitchFamily="34" charset="0"/>
                  </a:rPr>
                  <a:t> had around the same number of goals scored, with only a few scoring much higher.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2"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Given her description, discuss with your partner whether </a:t>
                </a:r>
                <a:r>
                  <a:rPr lang="en-US" sz="2400" dirty="0" err="1">
                    <a:latin typeface="Verdana" panose="020B0604030504040204" pitchFamily="34" charset="0"/>
                    <a:ea typeface="Verdana" panose="020B0604030504040204" pitchFamily="34" charset="0"/>
                    <a:cs typeface="Verdana" panose="020B0604030504040204" pitchFamily="34" charset="0"/>
                  </a:rPr>
                  <a:t>Demetrica</a:t>
                </a:r>
                <a:r>
                  <a:rPr lang="en-US" sz="2400" dirty="0">
                    <a:latin typeface="Verdana" panose="020B0604030504040204" pitchFamily="34" charset="0"/>
                    <a:ea typeface="Verdana" panose="020B0604030504040204" pitchFamily="34" charset="0"/>
                    <a:cs typeface="Verdana" panose="020B0604030504040204" pitchFamily="34" charset="0"/>
                  </a:rPr>
                  <a:t> should use the range or the interquartile range to numerically summarize the spread of the number of goals scored.</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2"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Explain which measure of variation is most appropriate to summarize the data. </a:t>
                </a: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t>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4400" y="520393"/>
                <a:ext cx="10515600" cy="5262979"/>
              </a:xfrm>
              <a:prstGeom prst="rect">
                <a:avLst/>
              </a:prstGeom>
              <a:blipFill>
                <a:blip r:embed="rId4"/>
                <a:stretch>
                  <a:fillRect l="-870" t="-926" r="-1043"/>
                </a:stretch>
              </a:blipFill>
            </p:spPr>
            <p:txBody>
              <a:bodyPr/>
              <a:lstStyle/>
              <a:p>
                <a:r>
                  <a:rPr lang="en-US">
                    <a:noFill/>
                  </a:rPr>
                  <a:t> </a:t>
                </a:r>
              </a:p>
            </p:txBody>
          </p:sp>
        </mc:Fallback>
      </mc:AlternateContent>
    </p:spTree>
    <p:extLst>
      <p:ext uri="{BB962C8B-B14F-4D97-AF65-F5344CB8AC3E}">
        <p14:creationId xmlns:p14="http://schemas.microsoft.com/office/powerpoint/2010/main" val="24277427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4555093"/>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At times, a statistical purpose may justify using a particular measure to describe the data.</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Complete the statement. </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If the statistical purpose of collecting the data is to determine how high the very top scorers score, the 		 would be the most appropriate measure to use because this information is not captured in the</a:t>
            </a:r>
          </a:p>
          <a:p>
            <a:pPr marL="457200"/>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6" name="Rounded Rectangle 5">
            <a:extLst>
              <a:ext uri="{FF2B5EF4-FFF2-40B4-BE49-F238E27FC236}">
                <a16:creationId xmlns:a16="http://schemas.microsoft.com/office/drawing/2014/main" id="{07288703-86D1-734A-A8DD-00C31D3193E7}"/>
              </a:ext>
            </a:extLst>
          </p:cNvPr>
          <p:cNvSpPr/>
          <p:nvPr/>
        </p:nvSpPr>
        <p:spPr>
          <a:xfrm>
            <a:off x="4992384" y="2887029"/>
            <a:ext cx="1532709" cy="886234"/>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IQR</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p>
        </p:txBody>
      </p:sp>
      <p:sp>
        <p:nvSpPr>
          <p:cNvPr id="7" name="Rounded Rectangle 6">
            <a:extLst>
              <a:ext uri="{FF2B5EF4-FFF2-40B4-BE49-F238E27FC236}">
                <a16:creationId xmlns:a16="http://schemas.microsoft.com/office/drawing/2014/main" id="{7DA9ED2F-C758-E54E-B625-2E4113E73C23}"/>
              </a:ext>
            </a:extLst>
          </p:cNvPr>
          <p:cNvSpPr/>
          <p:nvPr/>
        </p:nvSpPr>
        <p:spPr>
          <a:xfrm>
            <a:off x="9613809" y="3609484"/>
            <a:ext cx="1532709" cy="886234"/>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IQR.</a:t>
            </a:r>
          </a:p>
          <a:p>
            <a:pPr marL="342900" indent="-342900">
              <a:lnSpc>
                <a:spcPct val="107000"/>
              </a:lnSpc>
              <a:spcAft>
                <a:spcPts val="800"/>
              </a:spcAft>
              <a:buFont typeface="Courier New" panose="02070309020205020404" pitchFamily="49" charset="0"/>
              <a:buChar char="o"/>
            </a:pPr>
            <a:r>
              <a:rPr lang="en-US" sz="2000" dirty="0">
                <a:latin typeface="Verdana" panose="020B0604030504040204" pitchFamily="34" charset="0"/>
                <a:ea typeface="Verdana" panose="020B0604030504040204" pitchFamily="34" charset="0"/>
                <a:cs typeface="Verdana" panose="020B0604030504040204" pitchFamily="34" charset="0"/>
              </a:rPr>
              <a:t>Range.</a:t>
            </a:r>
          </a:p>
        </p:txBody>
      </p:sp>
    </p:spTree>
    <p:extLst>
      <p:ext uri="{BB962C8B-B14F-4D97-AF65-F5344CB8AC3E}">
        <p14:creationId xmlns:p14="http://schemas.microsoft.com/office/powerpoint/2010/main" val="686675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245</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245</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82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13.2.5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603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914400" y="1386025"/>
            <a:ext cx="10515600" cy="193899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Draw an </a:t>
            </a:r>
            <a:r>
              <a:rPr lang="en-US" sz="2400" b="1" dirty="0">
                <a:latin typeface="Verdana" panose="020B0604030504040204" pitchFamily="34" charset="0"/>
                <a:ea typeface="Verdana" panose="020B0604030504040204" pitchFamily="34" charset="0"/>
                <a:cs typeface="Verdana" panose="020B0604030504040204" pitchFamily="34" charset="0"/>
              </a:rPr>
              <a:t>X</a:t>
            </a:r>
            <a:r>
              <a:rPr lang="en-US" sz="2400" dirty="0">
                <a:latin typeface="Verdana" panose="020B0604030504040204" pitchFamily="34" charset="0"/>
                <a:ea typeface="Verdana" panose="020B0604030504040204" pitchFamily="34" charset="0"/>
                <a:cs typeface="Verdana" panose="020B0604030504040204" pitchFamily="34" charset="0"/>
              </a:rPr>
              <a:t> on the line to indicate where your current learning is in relation to the following learning targets.</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lvl="1"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I can justify whether or not a measure of center appropriately summarizes data.</a:t>
            </a:r>
          </a:p>
        </p:txBody>
      </p:sp>
      <p:pic>
        <p:nvPicPr>
          <p:cNvPr id="4" name="Picture 3" descr="Text&#10;&#10;Description automatically generated">
            <a:extLst>
              <a:ext uri="{FF2B5EF4-FFF2-40B4-BE49-F238E27FC236}">
                <a16:creationId xmlns:a16="http://schemas.microsoft.com/office/drawing/2014/main" id="{60EEE343-16FA-9845-8CD6-F3031920AB45}"/>
              </a:ext>
            </a:extLst>
          </p:cNvPr>
          <p:cNvPicPr>
            <a:picLocks noChangeAspect="1"/>
          </p:cNvPicPr>
          <p:nvPr/>
        </p:nvPicPr>
        <p:blipFill>
          <a:blip r:embed="rId5"/>
          <a:stretch>
            <a:fillRect/>
          </a:stretch>
        </p:blipFill>
        <p:spPr>
          <a:xfrm>
            <a:off x="2008631" y="3903417"/>
            <a:ext cx="8327137" cy="1417934"/>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DA4487"/>
          </a:solidFill>
          <a:ln w="9525" cap="flat" cmpd="sng">
            <a:solidFill>
              <a:srgbClr val="DA448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2, pg. 245</a:t>
            </a:r>
          </a:p>
        </p:txBody>
      </p:sp>
      <p:sp>
        <p:nvSpPr>
          <p:cNvPr id="14" name="TextBox 13">
            <a:extLst>
              <a:ext uri="{FF2B5EF4-FFF2-40B4-BE49-F238E27FC236}">
                <a16:creationId xmlns:a16="http://schemas.microsoft.com/office/drawing/2014/main" id="{2FA392D8-3ED3-7940-83A8-1451AA8A08D4}"/>
              </a:ext>
            </a:extLst>
          </p:cNvPr>
          <p:cNvSpPr txBox="1"/>
          <p:nvPr/>
        </p:nvSpPr>
        <p:spPr>
          <a:xfrm>
            <a:off x="914400" y="520393"/>
            <a:ext cx="10515600" cy="830997"/>
          </a:xfrm>
          <a:prstGeom prst="rect">
            <a:avLst/>
          </a:prstGeom>
          <a:noFill/>
        </p:spPr>
        <p:txBody>
          <a:bodyPr wrap="square" rtlCol="0">
            <a:spAutoFit/>
          </a:bodyPr>
          <a:lstStyle/>
          <a:p>
            <a:pPr marL="457200" lvl="1"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I can justify whether or not a measure of variation appropriately summarizes data.</a:t>
            </a:r>
          </a:p>
        </p:txBody>
      </p:sp>
      <p:pic>
        <p:nvPicPr>
          <p:cNvPr id="6" name="Picture 5" descr="Text&#10;&#10;Description automatically generated">
            <a:extLst>
              <a:ext uri="{FF2B5EF4-FFF2-40B4-BE49-F238E27FC236}">
                <a16:creationId xmlns:a16="http://schemas.microsoft.com/office/drawing/2014/main" id="{643376E6-F259-9147-8701-9E794977A450}"/>
              </a:ext>
            </a:extLst>
          </p:cNvPr>
          <p:cNvPicPr>
            <a:picLocks noChangeAspect="1"/>
          </p:cNvPicPr>
          <p:nvPr/>
        </p:nvPicPr>
        <p:blipFill>
          <a:blip r:embed="rId4"/>
          <a:stretch>
            <a:fillRect/>
          </a:stretch>
        </p:blipFill>
        <p:spPr>
          <a:xfrm>
            <a:off x="2007766" y="1686394"/>
            <a:ext cx="8327137" cy="1417934"/>
          </a:xfrm>
          <a:prstGeom prst="rect">
            <a:avLst/>
          </a:prstGeom>
        </p:spPr>
      </p:pic>
    </p:spTree>
    <p:extLst>
      <p:ext uri="{BB962C8B-B14F-4D97-AF65-F5344CB8AC3E}">
        <p14:creationId xmlns:p14="http://schemas.microsoft.com/office/powerpoint/2010/main" val="351273238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5BAE42-048F-4972-B762-84B6BD62ACB2}">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E1967FCA-2FAF-4122-9505-AE273F877A2F}">
  <ds:schemaRefs>
    <ds:schemaRef ds:uri="http://schemas.microsoft.com/sharepoint/v3/contenttype/forms"/>
  </ds:schemaRefs>
</ds:datastoreItem>
</file>

<file path=customXml/itemProps3.xml><?xml version="1.0" encoding="utf-8"?>
<ds:datastoreItem xmlns:ds="http://schemas.openxmlformats.org/officeDocument/2006/customXml" ds:itemID="{0570AC09-0A51-41DF-94E7-ABA3DA22EA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1409</TotalTime>
  <Words>1717</Words>
  <Application>Microsoft Office PowerPoint</Application>
  <PresentationFormat>Widescreen</PresentationFormat>
  <Paragraphs>301</Paragraphs>
  <Slides>32</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Cambria Math</vt:lpstr>
      <vt:lpstr>Arial Black</vt:lpstr>
      <vt:lpstr>Verdana</vt:lpstr>
      <vt:lpstr>Courier New</vt:lpstr>
      <vt:lpstr>Times New Roman</vt:lpstr>
      <vt:lpstr>Calibri</vt:lpstr>
      <vt:lpstr>Arial</vt:lpstr>
      <vt:lpstr>Century Gothic</vt:lpstr>
      <vt:lpstr>1_Office Theme</vt:lpstr>
      <vt:lpstr>7th Grade  Unit 13, Lesson 2  Justifying Measures of Center and Spread  Volume 2, pg. 239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vaanmx</cp:lastModifiedBy>
  <cp:revision>24</cp:revision>
  <dcterms:created xsi:type="dcterms:W3CDTF">2015-03-17T18:51:18Z</dcterms:created>
  <dcterms:modified xsi:type="dcterms:W3CDTF">2023-06-30T08:55:13Z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