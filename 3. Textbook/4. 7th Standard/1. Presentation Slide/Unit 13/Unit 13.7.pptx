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embeddedFontLst>
    <p:embeddedFont>
      <p:font typeface="Arial Black" panose="020B0A04020102020204" pitchFamily="34" charset="0"/>
      <p:regular r:id="rId39"/>
      <p:bold r:id="rId40"/>
    </p:embeddedFont>
    <p:embeddedFont>
      <p:font typeface="Calibri" panose="020F0502020204030204" pitchFamily="34" charset="0"/>
      <p:regular r:id="rId41"/>
      <p:bold r:id="rId42"/>
      <p:italic r:id="rId43"/>
      <p:boldItalic r:id="rId44"/>
    </p:embeddedFont>
    <p:embeddedFont>
      <p:font typeface="Cambria" panose="02040503050406030204" pitchFamily="18" charset="0"/>
      <p:regular r:id="rId45"/>
      <p:bold r:id="rId46"/>
      <p:italic r:id="rId47"/>
      <p:boldItalic r:id="rId48"/>
    </p:embeddedFont>
    <p:embeddedFont>
      <p:font typeface="Cambria Math" panose="02040503050406030204" pitchFamily="18" charset="0"/>
      <p:regular r:id="rId49"/>
    </p:embeddedFont>
    <p:embeddedFont>
      <p:font typeface="Verdana" panose="020B0604030504040204" pitchFamily="34"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2" roundtripDataSignature="AMtx7mgZDetUHyvefX9yg2K8h6QfOBUs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F2A6ABC-8983-418E-9A7A-7AE3F89A46FA}">
  <a:tblStyle styleId="{1F2A6ABC-8983-418E-9A7A-7AE3F89A46FA}"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57" d="100"/>
          <a:sy n="57" d="100"/>
        </p:scale>
        <p:origin x="102" y="3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63"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3.fntdata"/><Relationship Id="rId6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font" Target="fonts/font14.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800" b="1">
                <a:solidFill>
                  <a:schemeClr val="tx1"/>
                </a:solidFill>
                <a:latin typeface="Verdana" panose="020B0604030504040204" pitchFamily="34" charset="0"/>
                <a:ea typeface="Verdana" panose="020B0604030504040204" pitchFamily="34" charset="0"/>
                <a:cs typeface="Verdana" panose="020B0604030504040204" pitchFamily="34" charset="0"/>
              </a:rPr>
              <a:t>Mode of Transportation to School</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5943556861968655"/>
          <c:y val="0.11010521711101902"/>
          <c:w val="0.84056436879213625"/>
          <c:h val="0.81084249373896522"/>
        </c:manualLayout>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Bus</c:v>
                </c:pt>
                <c:pt idx="1">
                  <c:v>Car</c:v>
                </c:pt>
                <c:pt idx="2">
                  <c:v>Bike</c:v>
                </c:pt>
                <c:pt idx="3">
                  <c:v>Walk</c:v>
                </c:pt>
              </c:strCache>
            </c:strRef>
          </c:cat>
          <c:val>
            <c:numRef>
              <c:f>Sheet1!$B$2:$B$5</c:f>
              <c:numCache>
                <c:formatCode>General</c:formatCode>
                <c:ptCount val="4"/>
                <c:pt idx="0">
                  <c:v>129</c:v>
                </c:pt>
                <c:pt idx="1">
                  <c:v>71</c:v>
                </c:pt>
                <c:pt idx="2">
                  <c:v>65</c:v>
                </c:pt>
                <c:pt idx="3">
                  <c:v>35</c:v>
                </c:pt>
              </c:numCache>
            </c:numRef>
          </c:val>
          <c:extLst>
            <c:ext xmlns:c16="http://schemas.microsoft.com/office/drawing/2014/chart" uri="{C3380CC4-5D6E-409C-BE32-E72D297353CC}">
              <c16:uniqueId val="{00000000-77CA-BF40-AB1D-3FF838AFFF00}"/>
            </c:ext>
          </c:extLst>
        </c:ser>
        <c:ser>
          <c:idx val="1"/>
          <c:order val="1"/>
          <c:tx>
            <c:strRef>
              <c:f>Sheet1!$C$1</c:f>
              <c:strCache>
                <c:ptCount val="1"/>
                <c:pt idx="0">
                  <c:v>Column1</c:v>
                </c:pt>
              </c:strCache>
            </c:strRef>
          </c:tx>
          <c:spPr>
            <a:solidFill>
              <a:schemeClr val="accent2"/>
            </a:solidFill>
            <a:ln>
              <a:noFill/>
            </a:ln>
            <a:effectLst/>
          </c:spPr>
          <c:invertIfNegative val="0"/>
          <c:cat>
            <c:strRef>
              <c:f>Sheet1!$A$2:$A$5</c:f>
              <c:strCache>
                <c:ptCount val="4"/>
                <c:pt idx="0">
                  <c:v>Bus</c:v>
                </c:pt>
                <c:pt idx="1">
                  <c:v>Car</c:v>
                </c:pt>
                <c:pt idx="2">
                  <c:v>Bike</c:v>
                </c:pt>
                <c:pt idx="3">
                  <c:v>Walk</c:v>
                </c:pt>
              </c:strCache>
            </c:strRef>
          </c:cat>
          <c:val>
            <c:numRef>
              <c:f>Sheet1!$C$2:$C$5</c:f>
              <c:numCache>
                <c:formatCode>General</c:formatCode>
                <c:ptCount val="4"/>
              </c:numCache>
            </c:numRef>
          </c:val>
          <c:extLst>
            <c:ext xmlns:c16="http://schemas.microsoft.com/office/drawing/2014/chart" uri="{C3380CC4-5D6E-409C-BE32-E72D297353CC}">
              <c16:uniqueId val="{00000001-77CA-BF40-AB1D-3FF838AFFF00}"/>
            </c:ext>
          </c:extLst>
        </c:ser>
        <c:ser>
          <c:idx val="2"/>
          <c:order val="2"/>
          <c:tx>
            <c:strRef>
              <c:f>Sheet1!$D$1</c:f>
              <c:strCache>
                <c:ptCount val="1"/>
                <c:pt idx="0">
                  <c:v>Column2</c:v>
                </c:pt>
              </c:strCache>
            </c:strRef>
          </c:tx>
          <c:spPr>
            <a:solidFill>
              <a:schemeClr val="accent3"/>
            </a:solidFill>
            <a:ln>
              <a:noFill/>
            </a:ln>
            <a:effectLst/>
          </c:spPr>
          <c:invertIfNegative val="0"/>
          <c:cat>
            <c:strRef>
              <c:f>Sheet1!$A$2:$A$5</c:f>
              <c:strCache>
                <c:ptCount val="4"/>
                <c:pt idx="0">
                  <c:v>Bus</c:v>
                </c:pt>
                <c:pt idx="1">
                  <c:v>Car</c:v>
                </c:pt>
                <c:pt idx="2">
                  <c:v>Bike</c:v>
                </c:pt>
                <c:pt idx="3">
                  <c:v>Walk</c:v>
                </c:pt>
              </c:strCache>
            </c:strRef>
          </c:cat>
          <c:val>
            <c:numRef>
              <c:f>Sheet1!$D$2:$D$5</c:f>
              <c:numCache>
                <c:formatCode>General</c:formatCode>
                <c:ptCount val="4"/>
              </c:numCache>
            </c:numRef>
          </c:val>
          <c:extLst>
            <c:ext xmlns:c16="http://schemas.microsoft.com/office/drawing/2014/chart" uri="{C3380CC4-5D6E-409C-BE32-E72D297353CC}">
              <c16:uniqueId val="{00000002-77CA-BF40-AB1D-3FF838AFFF00}"/>
            </c:ext>
          </c:extLst>
        </c:ser>
        <c:dLbls>
          <c:showLegendKey val="0"/>
          <c:showVal val="0"/>
          <c:showCatName val="0"/>
          <c:showSerName val="0"/>
          <c:showPercent val="0"/>
          <c:showBubbleSize val="0"/>
        </c:dLbls>
        <c:gapWidth val="150"/>
        <c:overlap val="100"/>
        <c:axId val="2136032255"/>
        <c:axId val="169424720"/>
      </c:barChart>
      <c:catAx>
        <c:axId val="21360322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t" anchorCtr="0"/>
          <a:lstStyle/>
          <a:p>
            <a:pPr>
              <a:defRPr sz="18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169424720"/>
        <c:crosses val="autoZero"/>
        <c:auto val="1"/>
        <c:lblAlgn val="ctr"/>
        <c:lblOffset val="10"/>
        <c:noMultiLvlLbl val="0"/>
      </c:catAx>
      <c:valAx>
        <c:axId val="1694247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213603225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800" b="1">
                <a:solidFill>
                  <a:schemeClr val="tx1"/>
                </a:solidFill>
                <a:latin typeface="Verdana" panose="020B0604030504040204" pitchFamily="34" charset="0"/>
                <a:ea typeface="Verdana" panose="020B0604030504040204" pitchFamily="34" charset="0"/>
                <a:cs typeface="Verdana" panose="020B0604030504040204" pitchFamily="34" charset="0"/>
              </a:rPr>
              <a:t>Mode of Transportation to School</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5943563120786372"/>
          <c:y val="0.11010525457423111"/>
          <c:w val="0.84056436879213625"/>
          <c:h val="0.81084249373896522"/>
        </c:manualLayout>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Bus</c:v>
                </c:pt>
                <c:pt idx="1">
                  <c:v>Car</c:v>
                </c:pt>
                <c:pt idx="2">
                  <c:v>Bike</c:v>
                </c:pt>
                <c:pt idx="3">
                  <c:v>Walk</c:v>
                </c:pt>
              </c:strCache>
            </c:strRef>
          </c:cat>
          <c:val>
            <c:numRef>
              <c:f>Sheet1!$B$2:$B$5</c:f>
              <c:numCache>
                <c:formatCode>General</c:formatCode>
                <c:ptCount val="4"/>
                <c:pt idx="0">
                  <c:v>129</c:v>
                </c:pt>
                <c:pt idx="1">
                  <c:v>71</c:v>
                </c:pt>
                <c:pt idx="2">
                  <c:v>65</c:v>
                </c:pt>
                <c:pt idx="3">
                  <c:v>35</c:v>
                </c:pt>
              </c:numCache>
            </c:numRef>
          </c:val>
          <c:extLst>
            <c:ext xmlns:c16="http://schemas.microsoft.com/office/drawing/2014/chart" uri="{C3380CC4-5D6E-409C-BE32-E72D297353CC}">
              <c16:uniqueId val="{00000000-60A9-BE46-A974-BE3E19D5A185}"/>
            </c:ext>
          </c:extLst>
        </c:ser>
        <c:ser>
          <c:idx val="1"/>
          <c:order val="1"/>
          <c:tx>
            <c:strRef>
              <c:f>Sheet1!$C$1</c:f>
              <c:strCache>
                <c:ptCount val="1"/>
                <c:pt idx="0">
                  <c:v>Column1</c:v>
                </c:pt>
              </c:strCache>
            </c:strRef>
          </c:tx>
          <c:spPr>
            <a:solidFill>
              <a:schemeClr val="accent2"/>
            </a:solidFill>
            <a:ln>
              <a:noFill/>
            </a:ln>
            <a:effectLst/>
          </c:spPr>
          <c:invertIfNegative val="0"/>
          <c:cat>
            <c:strRef>
              <c:f>Sheet1!$A$2:$A$5</c:f>
              <c:strCache>
                <c:ptCount val="4"/>
                <c:pt idx="0">
                  <c:v>Bus</c:v>
                </c:pt>
                <c:pt idx="1">
                  <c:v>Car</c:v>
                </c:pt>
                <c:pt idx="2">
                  <c:v>Bike</c:v>
                </c:pt>
                <c:pt idx="3">
                  <c:v>Walk</c:v>
                </c:pt>
              </c:strCache>
            </c:strRef>
          </c:cat>
          <c:val>
            <c:numRef>
              <c:f>Sheet1!$C$2:$C$5</c:f>
              <c:numCache>
                <c:formatCode>General</c:formatCode>
                <c:ptCount val="4"/>
              </c:numCache>
            </c:numRef>
          </c:val>
          <c:extLst>
            <c:ext xmlns:c16="http://schemas.microsoft.com/office/drawing/2014/chart" uri="{C3380CC4-5D6E-409C-BE32-E72D297353CC}">
              <c16:uniqueId val="{00000001-60A9-BE46-A974-BE3E19D5A185}"/>
            </c:ext>
          </c:extLst>
        </c:ser>
        <c:ser>
          <c:idx val="2"/>
          <c:order val="2"/>
          <c:tx>
            <c:strRef>
              <c:f>Sheet1!$D$1</c:f>
              <c:strCache>
                <c:ptCount val="1"/>
                <c:pt idx="0">
                  <c:v>Column2</c:v>
                </c:pt>
              </c:strCache>
            </c:strRef>
          </c:tx>
          <c:spPr>
            <a:solidFill>
              <a:schemeClr val="accent3"/>
            </a:solidFill>
            <a:ln>
              <a:noFill/>
            </a:ln>
            <a:effectLst/>
          </c:spPr>
          <c:invertIfNegative val="0"/>
          <c:cat>
            <c:strRef>
              <c:f>Sheet1!$A$2:$A$5</c:f>
              <c:strCache>
                <c:ptCount val="4"/>
                <c:pt idx="0">
                  <c:v>Bus</c:v>
                </c:pt>
                <c:pt idx="1">
                  <c:v>Car</c:v>
                </c:pt>
                <c:pt idx="2">
                  <c:v>Bike</c:v>
                </c:pt>
                <c:pt idx="3">
                  <c:v>Walk</c:v>
                </c:pt>
              </c:strCache>
            </c:strRef>
          </c:cat>
          <c:val>
            <c:numRef>
              <c:f>Sheet1!$D$2:$D$5</c:f>
              <c:numCache>
                <c:formatCode>General</c:formatCode>
                <c:ptCount val="4"/>
              </c:numCache>
            </c:numRef>
          </c:val>
          <c:extLst>
            <c:ext xmlns:c16="http://schemas.microsoft.com/office/drawing/2014/chart" uri="{C3380CC4-5D6E-409C-BE32-E72D297353CC}">
              <c16:uniqueId val="{00000002-60A9-BE46-A974-BE3E19D5A185}"/>
            </c:ext>
          </c:extLst>
        </c:ser>
        <c:dLbls>
          <c:showLegendKey val="0"/>
          <c:showVal val="0"/>
          <c:showCatName val="0"/>
          <c:showSerName val="0"/>
          <c:showPercent val="0"/>
          <c:showBubbleSize val="0"/>
        </c:dLbls>
        <c:gapWidth val="150"/>
        <c:axId val="2136032255"/>
        <c:axId val="169424720"/>
      </c:barChart>
      <c:catAx>
        <c:axId val="213603225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t" anchorCtr="0"/>
          <a:lstStyle/>
          <a:p>
            <a:pPr>
              <a:defRPr sz="18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169424720"/>
        <c:crosses val="autoZero"/>
        <c:auto val="1"/>
        <c:lblAlgn val="ctr"/>
        <c:lblOffset val="10"/>
        <c:noMultiLvlLbl val="0"/>
      </c:catAx>
      <c:valAx>
        <c:axId val="16942472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213603225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00" b="1" i="0" u="none" strike="noStrike" kern="1200" spc="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title>
    <c:autoTitleDeleted val="0"/>
    <c:plotArea>
      <c:layout/>
      <c:pieChart>
        <c:varyColors val="1"/>
        <c:ser>
          <c:idx val="0"/>
          <c:order val="0"/>
          <c:tx>
            <c:strRef>
              <c:f>Sheet1!$B$1</c:f>
              <c:strCache>
                <c:ptCount val="1"/>
                <c:pt idx="0">
                  <c:v>Mode of Transportation to School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3208-1849-A075-73AF6B75AFE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208-1849-A075-73AF6B75AFE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3208-1849-A075-73AF6B75AFE9}"/>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3208-1849-A075-73AF6B75AFE9}"/>
              </c:ext>
            </c:extLst>
          </c:dPt>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solidFill>
                    <a:latin typeface="+mn-lt"/>
                    <a:ea typeface="+mn-ea"/>
                    <a:cs typeface="+mn-cs"/>
                  </a:defRPr>
                </a:pPr>
                <a:endParaRPr lang="en-US"/>
              </a:p>
            </c:txPr>
            <c:dLblPos val="bestFit"/>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Walk</c:v>
                </c:pt>
                <c:pt idx="1">
                  <c:v>Bike</c:v>
                </c:pt>
                <c:pt idx="2">
                  <c:v>Car</c:v>
                </c:pt>
                <c:pt idx="3">
                  <c:v>Bus</c:v>
                </c:pt>
              </c:strCache>
            </c:strRef>
          </c:cat>
          <c:val>
            <c:numRef>
              <c:f>Sheet1!$B$2:$B$5</c:f>
              <c:numCache>
                <c:formatCode>General</c:formatCode>
                <c:ptCount val="4"/>
                <c:pt idx="0" formatCode="0">
                  <c:v>35</c:v>
                </c:pt>
                <c:pt idx="1">
                  <c:v>65</c:v>
                </c:pt>
                <c:pt idx="2">
                  <c:v>71</c:v>
                </c:pt>
                <c:pt idx="3">
                  <c:v>129</c:v>
                </c:pt>
              </c:numCache>
            </c:numRef>
          </c:val>
          <c:extLst>
            <c:ext xmlns:c16="http://schemas.microsoft.com/office/drawing/2014/chart" uri="{C3380CC4-5D6E-409C-BE32-E72D297353CC}">
              <c16:uniqueId val="{00000008-3208-1849-A075-73AF6B75AFE9}"/>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6" name="Google Shape;246;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 name="Google Shape;25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5" name="Google Shape;285;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5" name="Google Shape;295;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8" name="Google Shape;348;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9" name="Google Shape;349;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1" name="Google Shape;391;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0" name="Google Shape;400;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1" name="Google Shape;401;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 name="Google Shape;431;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2" name="Google Shape;432;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5" name="Google Shape;445;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5" name="Google Shape;455;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6" name="Google Shape;456;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3" name="Google Shape;483;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4" name="Google Shape;484;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4" name="Google Shape;494;p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4" name="Google Shape;50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5" name="Google Shape;505;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3" name="Google Shape;513;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4" name="Google Shape;514;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2" name="Google Shape;522;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5" name="Google Shape;535;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6" name="Google Shape;536;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5" name="Google Shape;545;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6" name="Google Shape;546;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7" name="Google Shape;557;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8" name="Google Shape;558;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6" name="Google Shape;566;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7" name="Google Shape;567;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6" name="Google Shape;576;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7" name="Google Shape;577;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600" b="1">
                <a:solidFill>
                  <a:srgbClr val="417DBF"/>
                </a:solidFill>
                <a:latin typeface="Verdana"/>
                <a:ea typeface="Verdana"/>
                <a:cs typeface="Verdana"/>
                <a:sym typeface="Verdana"/>
              </a:rPr>
              <a:t>7</a:t>
            </a:r>
            <a:r>
              <a:rPr lang="en-US" sz="3600" b="1" baseline="30000">
                <a:solidFill>
                  <a:srgbClr val="417DBF"/>
                </a:solidFill>
                <a:latin typeface="Verdana"/>
                <a:ea typeface="Verdana"/>
                <a:cs typeface="Verdana"/>
                <a:sym typeface="Verdana"/>
              </a:rPr>
              <a:t>th</a:t>
            </a:r>
            <a:r>
              <a:rPr lang="en-US" sz="3600" b="1">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13, Lesson 7</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Representing Real-World Contexts with Graphs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268</a:t>
            </a:r>
            <a:endParaRPr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480" y="1522577"/>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356616" y="372300"/>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897112" y="6468561"/>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268</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914400" y="1600200"/>
            <a:ext cx="1051560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2800" dirty="0">
                <a:solidFill>
                  <a:schemeClr val="dk1"/>
                </a:solidFill>
                <a:latin typeface="Verdana"/>
                <a:ea typeface="Verdana"/>
                <a:cs typeface="Verdana"/>
                <a:sym typeface="Verdana"/>
              </a:rPr>
              <a:t>MA.7.DP.1.5</a:t>
            </a:r>
            <a:endParaRPr sz="28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2800" dirty="0">
                <a:solidFill>
                  <a:schemeClr val="dk1"/>
                </a:solidFill>
                <a:latin typeface="Verdana"/>
                <a:ea typeface="Verdana"/>
                <a:cs typeface="Verdana"/>
                <a:sym typeface="Verdana"/>
              </a:rPr>
              <a:t>Given a real-world numerical or categorical data set, choose and create an appropriate graphical representation.</a:t>
            </a:r>
            <a:endParaRPr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34" name="Google Shape;134;p1"/>
          <p:cNvPicPr preferRelativeResize="0"/>
          <p:nvPr/>
        </p:nvPicPr>
        <p:blipFill rotWithShape="1">
          <a:blip r:embed="rId3">
            <a:alphaModFix/>
          </a:blip>
          <a:srcRect/>
          <a:stretch/>
        </p:blipFill>
        <p:spPr>
          <a:xfrm>
            <a:off x="356616" y="372300"/>
            <a:ext cx="747300" cy="747300"/>
          </a:xfrm>
          <a:prstGeom prst="rect">
            <a:avLst/>
          </a:prstGeom>
          <a:noFill/>
          <a:ln>
            <a:noFill/>
          </a:ln>
          <a:effectLst>
            <a:outerShdw blurRad="57150" dist="19050" dir="5400000" algn="bl" rotWithShape="0">
              <a:srgbClr val="000000">
                <a:alpha val="49803"/>
              </a:srgbClr>
            </a:outerShdw>
          </a:effectLst>
        </p:spPr>
      </p:pic>
      <p:pic>
        <p:nvPicPr>
          <p:cNvPr id="135" name="Google Shape;135;p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36" name="Google Shape;136;p1"/>
          <p:cNvSpPr txBox="1"/>
          <p:nvPr/>
        </p:nvSpPr>
        <p:spPr>
          <a:xfrm>
            <a:off x="1143000" y="129667"/>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54B5D1"/>
                </a:solidFill>
                <a:latin typeface="Verdana"/>
                <a:ea typeface="Verdana"/>
                <a:cs typeface="Verdana"/>
                <a:sym typeface="Verdana"/>
              </a:rPr>
              <a:t>Integrated Mathematical Thinking and Reasoning Standards</a:t>
            </a:r>
            <a:endParaRPr sz="3200" dirty="0"/>
          </a:p>
        </p:txBody>
      </p:sp>
      <p:sp>
        <p:nvSpPr>
          <p:cNvPr id="137" name="Google Shape;137;p1"/>
          <p:cNvSpPr txBox="1"/>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p>
            <a:r>
              <a:rPr lang="en-US" sz="2800" dirty="0">
                <a:solidFill>
                  <a:schemeClr val="dk1"/>
                </a:solidFill>
                <a:latin typeface="Verdana"/>
                <a:ea typeface="Verdana"/>
                <a:cs typeface="Verdana"/>
                <a:sym typeface="Verdana"/>
              </a:rPr>
              <a:t>MA.K12.MTR.2.1 Demonstrate understanding by representing problems in multiple ways.</a:t>
            </a:r>
            <a:endParaRPr sz="2800" dirty="0"/>
          </a:p>
          <a:p>
            <a:pPr marL="457200"/>
            <a:endParaRPr sz="2800" dirty="0">
              <a:solidFill>
                <a:schemeClr val="dk1"/>
              </a:solidFill>
              <a:latin typeface="Verdana"/>
              <a:ea typeface="Verdana"/>
              <a:cs typeface="Verdana"/>
              <a:sym typeface="Verdana"/>
            </a:endParaRPr>
          </a:p>
          <a:p>
            <a:r>
              <a:rPr lang="en-US" sz="2800" dirty="0">
                <a:solidFill>
                  <a:schemeClr val="dk1"/>
                </a:solidFill>
                <a:latin typeface="Verdana"/>
                <a:ea typeface="Verdana"/>
                <a:cs typeface="Verdana"/>
                <a:sym typeface="Verdana"/>
              </a:rPr>
              <a:t>MA.K12.MTR.4.1 Engage in discussions that reflect on the mathematical thinking of self and others.</a:t>
            </a:r>
            <a:endParaRPr sz="2800" dirty="0"/>
          </a:p>
          <a:p>
            <a:endParaRPr sz="2800" dirty="0">
              <a:solidFill>
                <a:schemeClr val="dk1"/>
              </a:solidFill>
              <a:latin typeface="Verdana"/>
              <a:ea typeface="Verdana"/>
              <a:cs typeface="Verdana"/>
              <a:sym typeface="Verdana"/>
            </a:endParaRPr>
          </a:p>
          <a:p>
            <a:r>
              <a:rPr lang="en-US" sz="2800" dirty="0">
                <a:solidFill>
                  <a:schemeClr val="dk1"/>
                </a:solidFill>
                <a:latin typeface="Verdana"/>
                <a:ea typeface="Verdana"/>
                <a:cs typeface="Verdana"/>
                <a:sym typeface="Verdana"/>
              </a:rPr>
              <a:t>MA.K12.MTR.7.1 Apply mathematics to real-world contexts.</a:t>
            </a:r>
            <a:endParaRPr sz="2800" dirty="0">
              <a:solidFill>
                <a:schemeClr val="dk1"/>
              </a:solidFill>
              <a:latin typeface="Verdana"/>
              <a:ea typeface="Verdana"/>
              <a:cs typeface="Verdana"/>
              <a:sym typeface="Verdana"/>
            </a:endParaRPr>
          </a:p>
        </p:txBody>
      </p:sp>
      <p:sp>
        <p:nvSpPr>
          <p:cNvPr id="138" name="Google Shape;138;p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268</a:t>
            </a:r>
            <a:endParaRPr i="1">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pic>
        <p:nvPicPr>
          <p:cNvPr id="145" name="Google Shape;145;p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46" name="Google Shape;146;p2"/>
          <p:cNvSpPr txBox="1"/>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a:t>
            </a:r>
            <a:endParaRPr dirty="0"/>
          </a:p>
        </p:txBody>
      </p:sp>
      <p:pic>
        <p:nvPicPr>
          <p:cNvPr id="147" name="Google Shape;147;p2"/>
          <p:cNvPicPr preferRelativeResize="0"/>
          <p:nvPr/>
        </p:nvPicPr>
        <p:blipFill rotWithShape="1">
          <a:blip r:embed="rId4">
            <a:alphaModFix/>
          </a:blip>
          <a:srcRect/>
          <a:stretch/>
        </p:blipFill>
        <p:spPr>
          <a:xfrm>
            <a:off x="356616" y="319860"/>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p>
            <a:pPr marL="457200" indent="-457200">
              <a:buSzPts val="2400"/>
              <a:buFont typeface="Noto Sans Symbols"/>
              <a:buChar char="❑"/>
            </a:pPr>
            <a:r>
              <a:rPr lang="en-US" sz="2800">
                <a:solidFill>
                  <a:schemeClr val="dk1"/>
                </a:solidFill>
                <a:latin typeface="Verdana"/>
                <a:ea typeface="Verdana"/>
                <a:cs typeface="Verdana"/>
                <a:sym typeface="Verdana"/>
              </a:rPr>
              <a:t>I can choose an appropriate graphical representation for a real-world context. </a:t>
            </a:r>
            <a:endParaRPr sz="2800"/>
          </a:p>
        </p:txBody>
      </p:sp>
      <p:sp>
        <p:nvSpPr>
          <p:cNvPr id="149" name="Google Shape;149;p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268</a:t>
            </a:r>
            <a:endParaRPr i="1">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6" name="Google Shape;156;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pic>
        <p:nvPicPr>
          <p:cNvPr id="157" name="Google Shape;157;g104476d1465_1_39"/>
          <p:cNvPicPr preferRelativeResize="0"/>
          <p:nvPr/>
        </p:nvPicPr>
        <p:blipFill rotWithShape="1">
          <a:blip r:embed="rId4">
            <a:alphaModFix/>
          </a:blip>
          <a:srcRect/>
          <a:stretch/>
        </p:blipFill>
        <p:spPr>
          <a:xfrm>
            <a:off x="3054096"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159"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269</a:t>
            </a:r>
            <a:endParaRPr i="1">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66" name="Google Shape;166;p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67" name="Google Shape;167;p4"/>
          <p:cNvSpPr txBox="1"/>
          <p:nvPr/>
        </p:nvSpPr>
        <p:spPr>
          <a:xfrm>
            <a:off x="1143000" y="6032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13.7.1 Warm-Up: Bell Work</a:t>
            </a:r>
            <a:endParaRPr dirty="0"/>
          </a:p>
        </p:txBody>
      </p:sp>
      <p:pic>
        <p:nvPicPr>
          <p:cNvPr id="168" name="Google Shape;168;p4"/>
          <p:cNvPicPr preferRelativeResize="0"/>
          <p:nvPr/>
        </p:nvPicPr>
        <p:blipFill rotWithShape="1">
          <a:blip r:embed="rId4">
            <a:alphaModFix/>
          </a:blip>
          <a:srcRect/>
          <a:stretch/>
        </p:blipFill>
        <p:spPr>
          <a:xfrm>
            <a:off x="356616" y="197485"/>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914400" y="1386025"/>
            <a:ext cx="10515600" cy="1938992"/>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sym typeface="Verdana"/>
              </a:rPr>
              <a:t>To choose an appropriate graphical representation for data, the first step is to determine if the data is </a:t>
            </a:r>
            <a:r>
              <a:rPr lang="en-US" sz="2400" b="1" i="1" dirty="0">
                <a:latin typeface="Verdana"/>
                <a:ea typeface="Verdana"/>
                <a:cs typeface="Verdana"/>
                <a:sym typeface="Verdana"/>
              </a:rPr>
              <a:t>numerical</a:t>
            </a:r>
            <a:r>
              <a:rPr lang="en-US" sz="2400" dirty="0">
                <a:latin typeface="Verdana"/>
                <a:ea typeface="Verdana"/>
                <a:cs typeface="Verdana"/>
                <a:sym typeface="Verdana"/>
              </a:rPr>
              <a:t> (data points are numbers) or </a:t>
            </a:r>
            <a:r>
              <a:rPr lang="en-US" sz="2400" b="1" i="1" dirty="0">
                <a:latin typeface="Verdana"/>
                <a:ea typeface="Verdana"/>
                <a:cs typeface="Verdana"/>
                <a:sym typeface="Verdana"/>
              </a:rPr>
              <a:t>categorical</a:t>
            </a:r>
            <a:r>
              <a:rPr lang="en-US" sz="2400" dirty="0">
                <a:latin typeface="Verdana"/>
                <a:ea typeface="Verdana"/>
                <a:cs typeface="Verdana"/>
                <a:sym typeface="Verdana"/>
              </a:rPr>
              <a:t> (data points fall within categories). </a:t>
            </a:r>
            <a:endParaRPr dirty="0"/>
          </a:p>
          <a:p>
            <a:endParaRPr sz="2400" dirty="0">
              <a:latin typeface="Verdana"/>
              <a:ea typeface="Verdana"/>
              <a:cs typeface="Verdana"/>
              <a:sym typeface="Verdana"/>
            </a:endParaRPr>
          </a:p>
        </p:txBody>
      </p:sp>
      <p:sp>
        <p:nvSpPr>
          <p:cNvPr id="170" name="Google Shape;170;p4"/>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269</a:t>
            </a:r>
            <a:endParaRPr i="1">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5"/>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77" name="Google Shape;177;p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78" name="Google Shape;178;p5"/>
          <p:cNvSpPr txBox="1"/>
          <p:nvPr/>
        </p:nvSpPr>
        <p:spPr>
          <a:xfrm>
            <a:off x="914400" y="520394"/>
            <a:ext cx="10515600" cy="830997"/>
          </a:xfrm>
          <a:prstGeom prst="rect">
            <a:avLst/>
          </a:prstGeom>
          <a:noFill/>
          <a:ln>
            <a:noFill/>
          </a:ln>
        </p:spPr>
        <p:txBody>
          <a:bodyPr spcFirstLastPara="1" wrap="square" lIns="91425" tIns="45700" rIns="91425" bIns="45700" anchor="t" anchorCtr="0">
            <a:spAutoFit/>
          </a:bodyPr>
          <a:lstStyle/>
          <a:p>
            <a:pPr marL="457200" indent="-457200">
              <a:buSzPts val="2400"/>
              <a:buFont typeface="Arial"/>
              <a:buAutoNum type="arabicPeriod"/>
            </a:pPr>
            <a:r>
              <a:rPr lang="en-US" sz="2400" dirty="0">
                <a:latin typeface="Verdana"/>
                <a:ea typeface="Verdana"/>
                <a:cs typeface="Verdana"/>
                <a:sym typeface="Verdana"/>
              </a:rPr>
              <a:t>Complete the table. The first two rows have been completed.</a:t>
            </a:r>
            <a:endParaRPr dirty="0"/>
          </a:p>
        </p:txBody>
      </p:sp>
      <p:graphicFrame>
        <p:nvGraphicFramePr>
          <p:cNvPr id="179" name="Google Shape;179;p5"/>
          <p:cNvGraphicFramePr/>
          <p:nvPr>
            <p:extLst>
              <p:ext uri="{D42A27DB-BD31-4B8C-83A1-F6EECF244321}">
                <p14:modId xmlns:p14="http://schemas.microsoft.com/office/powerpoint/2010/main" val="759959445"/>
              </p:ext>
            </p:extLst>
          </p:nvPr>
        </p:nvGraphicFramePr>
        <p:xfrm>
          <a:off x="2010840" y="1191556"/>
          <a:ext cx="7427250" cy="5146050"/>
        </p:xfrm>
        <a:graphic>
          <a:graphicData uri="http://schemas.openxmlformats.org/drawingml/2006/table">
            <a:tbl>
              <a:tblPr firstRow="1" firstCol="1" bandRow="1">
                <a:noFill/>
                <a:tableStyleId>{1F2A6ABC-8983-418E-9A7A-7AE3F89A46FA}</a:tableStyleId>
              </a:tblPr>
              <a:tblGrid>
                <a:gridCol w="2840175">
                  <a:extLst>
                    <a:ext uri="{9D8B030D-6E8A-4147-A177-3AD203B41FA5}">
                      <a16:colId xmlns:a16="http://schemas.microsoft.com/office/drawing/2014/main" val="20000"/>
                    </a:ext>
                  </a:extLst>
                </a:gridCol>
                <a:gridCol w="2663350">
                  <a:extLst>
                    <a:ext uri="{9D8B030D-6E8A-4147-A177-3AD203B41FA5}">
                      <a16:colId xmlns:a16="http://schemas.microsoft.com/office/drawing/2014/main" val="20001"/>
                    </a:ext>
                  </a:extLst>
                </a:gridCol>
                <a:gridCol w="1923725">
                  <a:extLst>
                    <a:ext uri="{9D8B030D-6E8A-4147-A177-3AD203B41FA5}">
                      <a16:colId xmlns:a16="http://schemas.microsoft.com/office/drawing/2014/main" val="20002"/>
                    </a:ext>
                  </a:extLst>
                </a:gridCol>
              </a:tblGrid>
              <a:tr h="705275">
                <a:tc>
                  <a:txBody>
                    <a:bodyPr/>
                    <a:lstStyle/>
                    <a:p>
                      <a:pPr marL="155575" marR="34290" lvl="0" indent="-155575" algn="ctr" rtl="0">
                        <a:lnSpc>
                          <a:spcPct val="100000"/>
                        </a:lnSpc>
                        <a:spcBef>
                          <a:spcPts val="0"/>
                        </a:spcBef>
                        <a:spcAft>
                          <a:spcPts val="0"/>
                        </a:spcAft>
                        <a:buNone/>
                      </a:pPr>
                      <a:r>
                        <a:rPr lang="en-US" sz="2000" b="1" u="none" strike="noStrike" cap="none" dirty="0">
                          <a:latin typeface="Verdana" panose="020B0604030504040204" pitchFamily="34" charset="0"/>
                          <a:ea typeface="Verdana" panose="020B0604030504040204" pitchFamily="34" charset="0"/>
                          <a:cs typeface="Verdana" panose="020B0604030504040204" pitchFamily="34" charset="0"/>
                        </a:rPr>
                        <a:t>Possible Question</a:t>
                      </a:r>
                      <a:endParaRPr sz="2000" b="1" u="none" strike="noStrike" cap="none" dirty="0">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5A5A5"/>
                    </a:solidFill>
                  </a:tcPr>
                </a:tc>
                <a:tc>
                  <a:txBody>
                    <a:bodyPr/>
                    <a:lstStyle/>
                    <a:p>
                      <a:pPr marL="155575" marR="34290" lvl="0" indent="-155575" algn="ctr" rtl="0">
                        <a:lnSpc>
                          <a:spcPct val="100000"/>
                        </a:lnSpc>
                        <a:spcBef>
                          <a:spcPts val="0"/>
                        </a:spcBef>
                        <a:spcAft>
                          <a:spcPts val="0"/>
                        </a:spcAft>
                        <a:buNone/>
                      </a:pPr>
                      <a:r>
                        <a:rPr lang="en-US" sz="2000" b="1" u="none" strike="noStrike" cap="none" dirty="0">
                          <a:latin typeface="Verdana" panose="020B0604030504040204" pitchFamily="34" charset="0"/>
                          <a:ea typeface="Verdana" panose="020B0604030504040204" pitchFamily="34" charset="0"/>
                          <a:cs typeface="Verdana" panose="020B0604030504040204" pitchFamily="34" charset="0"/>
                        </a:rPr>
                        <a:t>Possible Responses</a:t>
                      </a:r>
                      <a:endParaRPr sz="2000" b="1" u="none" strike="noStrike" cap="none" dirty="0">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5A5A5"/>
                    </a:solidFill>
                  </a:tcPr>
                </a:tc>
                <a:tc>
                  <a:txBody>
                    <a:bodyPr/>
                    <a:lstStyle/>
                    <a:p>
                      <a:pPr marL="155575" marR="34290" lvl="0" indent="-155575" algn="ctr" rtl="0">
                        <a:lnSpc>
                          <a:spcPct val="100000"/>
                        </a:lnSpc>
                        <a:spcBef>
                          <a:spcPts val="0"/>
                        </a:spcBef>
                        <a:spcAft>
                          <a:spcPts val="0"/>
                        </a:spcAft>
                        <a:buNone/>
                      </a:pPr>
                      <a:r>
                        <a:rPr lang="en-US" sz="2000" b="1" u="none" strike="noStrike" cap="none">
                          <a:latin typeface="Verdana" panose="020B0604030504040204" pitchFamily="34" charset="0"/>
                          <a:ea typeface="Verdana" panose="020B0604030504040204" pitchFamily="34" charset="0"/>
                          <a:cs typeface="Verdana" panose="020B0604030504040204" pitchFamily="34" charset="0"/>
                        </a:rPr>
                        <a:t>Numerical or Categorical</a:t>
                      </a:r>
                      <a:endParaRPr sz="2000" b="1" u="none" strike="noStrike" cap="none">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5A5A5"/>
                    </a:solidFill>
                  </a:tcPr>
                </a:tc>
                <a:extLst>
                  <a:ext uri="{0D108BD9-81ED-4DB2-BD59-A6C34878D82A}">
                    <a16:rowId xmlns:a16="http://schemas.microsoft.com/office/drawing/2014/main" val="10000"/>
                  </a:ext>
                </a:extLst>
              </a:tr>
              <a:tr h="705275">
                <a:tc>
                  <a:txBody>
                    <a:bodyPr/>
                    <a:lstStyle/>
                    <a:p>
                      <a:pPr marL="155575" marR="34290" lvl="0" indent="-155575" algn="ctr" rtl="0">
                        <a:lnSpc>
                          <a:spcPct val="100000"/>
                        </a:lnSpc>
                        <a:spcBef>
                          <a:spcPts val="0"/>
                        </a:spcBef>
                        <a:spcAft>
                          <a:spcPts val="0"/>
                        </a:spcAft>
                        <a:buNone/>
                      </a:pPr>
                      <a:r>
                        <a:rPr lang="en-US" sz="2000" u="none" strike="noStrike" cap="none">
                          <a:latin typeface="Verdana" panose="020B0604030504040204" pitchFamily="34" charset="0"/>
                          <a:ea typeface="Verdana" panose="020B0604030504040204" pitchFamily="34" charset="0"/>
                          <a:cs typeface="Verdana" panose="020B0604030504040204" pitchFamily="34" charset="0"/>
                        </a:rPr>
                        <a:t>What is your favorite color?</a:t>
                      </a:r>
                      <a:endParaRPr sz="2000" u="none" strike="noStrike" cap="none">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34290" lvl="0" indent="-155575" algn="ctr" rtl="0">
                        <a:lnSpc>
                          <a:spcPct val="100000"/>
                        </a:lnSpc>
                        <a:spcBef>
                          <a:spcPts val="0"/>
                        </a:spcBef>
                        <a:spcAft>
                          <a:spcPts val="0"/>
                        </a:spcAft>
                        <a:buNone/>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red, orange, yellow, green</a:t>
                      </a:r>
                      <a:endParaRPr sz="2000" u="none" strike="noStrike" cap="none" dirty="0">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34290" lvl="0" indent="-342900" algn="l" rtl="0">
                        <a:lnSpc>
                          <a:spcPct val="100000"/>
                        </a:lnSpc>
                        <a:spcBef>
                          <a:spcPts val="0"/>
                        </a:spcBef>
                        <a:spcAft>
                          <a:spcPts val="0"/>
                        </a:spcAft>
                        <a:buClr>
                          <a:srgbClr val="000000"/>
                        </a:buClr>
                        <a:buSzPts val="2000"/>
                        <a:buFont typeface="Courier New"/>
                        <a:buChar char="o"/>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categorical</a:t>
                      </a:r>
                      <a:endParaRPr sz="2000" dirty="0">
                        <a:latin typeface="Verdana" panose="020B0604030504040204" pitchFamily="34" charset="0"/>
                        <a:ea typeface="Verdana" panose="020B0604030504040204" pitchFamily="34" charset="0"/>
                        <a:cs typeface="Verdana" panose="020B0604030504040204" pitchFamily="34" charset="0"/>
                      </a:endParaRPr>
                    </a:p>
                    <a:p>
                      <a:pPr marL="342900" marR="34290" lvl="0" indent="-342900" algn="l" rtl="0">
                        <a:lnSpc>
                          <a:spcPct val="100000"/>
                        </a:lnSpc>
                        <a:spcBef>
                          <a:spcPts val="0"/>
                        </a:spcBef>
                        <a:spcAft>
                          <a:spcPts val="0"/>
                        </a:spcAft>
                        <a:buClr>
                          <a:srgbClr val="000000"/>
                        </a:buClr>
                        <a:buSzPts val="2000"/>
                        <a:buFont typeface="Courier New"/>
                        <a:buChar char="o"/>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numerical</a:t>
                      </a:r>
                      <a:endParaRPr sz="2000" u="none" strike="noStrike" cap="none" dirty="0">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05275">
                <a:tc>
                  <a:txBody>
                    <a:bodyPr/>
                    <a:lstStyle/>
                    <a:p>
                      <a:pPr marL="155575" marR="34290" lvl="0" indent="-155575" algn="ctr" rtl="0">
                        <a:lnSpc>
                          <a:spcPct val="100000"/>
                        </a:lnSpc>
                        <a:spcBef>
                          <a:spcPts val="0"/>
                        </a:spcBef>
                        <a:spcAft>
                          <a:spcPts val="0"/>
                        </a:spcAft>
                        <a:buNone/>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How many people are in your family?</a:t>
                      </a:r>
                      <a:endParaRPr sz="2000" u="none" strike="noStrike" cap="none" dirty="0">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34290" lvl="0" indent="-155575" algn="ctr" rtl="0">
                        <a:lnSpc>
                          <a:spcPct val="100000"/>
                        </a:lnSpc>
                        <a:spcBef>
                          <a:spcPts val="0"/>
                        </a:spcBef>
                        <a:spcAft>
                          <a:spcPts val="0"/>
                        </a:spcAft>
                        <a:buNone/>
                      </a:pPr>
                      <a:r>
                        <a:rPr lang="en-US" sz="2000" u="none" strike="noStrike" cap="none">
                          <a:latin typeface="Verdana" panose="020B0604030504040204" pitchFamily="34" charset="0"/>
                          <a:ea typeface="Verdana" panose="020B0604030504040204" pitchFamily="34" charset="0"/>
                          <a:cs typeface="Verdana" panose="020B0604030504040204" pitchFamily="34" charset="0"/>
                        </a:rPr>
                        <a:t>2, 3, 4, 5…</a:t>
                      </a:r>
                      <a:endParaRPr sz="2000" u="none" strike="noStrike" cap="none">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34290" lvl="0" indent="-342900" algn="l" rtl="0">
                        <a:lnSpc>
                          <a:spcPct val="100000"/>
                        </a:lnSpc>
                        <a:spcBef>
                          <a:spcPts val="0"/>
                        </a:spcBef>
                        <a:spcAft>
                          <a:spcPts val="0"/>
                        </a:spcAft>
                        <a:buClr>
                          <a:srgbClr val="000000"/>
                        </a:buClr>
                        <a:buSzPts val="2000"/>
                        <a:buFont typeface="Courier New"/>
                        <a:buChar char="o"/>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categorical</a:t>
                      </a:r>
                      <a:endParaRPr sz="2000" dirty="0">
                        <a:latin typeface="Verdana" panose="020B0604030504040204" pitchFamily="34" charset="0"/>
                        <a:ea typeface="Verdana" panose="020B0604030504040204" pitchFamily="34" charset="0"/>
                        <a:cs typeface="Verdana" panose="020B0604030504040204" pitchFamily="34" charset="0"/>
                      </a:endParaRPr>
                    </a:p>
                    <a:p>
                      <a:pPr marL="342900" marR="34290" lvl="0" indent="-342900" algn="l" rtl="0">
                        <a:lnSpc>
                          <a:spcPct val="100000"/>
                        </a:lnSpc>
                        <a:spcBef>
                          <a:spcPts val="0"/>
                        </a:spcBef>
                        <a:spcAft>
                          <a:spcPts val="0"/>
                        </a:spcAft>
                        <a:buClr>
                          <a:srgbClr val="000000"/>
                        </a:buClr>
                        <a:buSzPts val="2000"/>
                        <a:buFont typeface="Courier New"/>
                        <a:buChar char="o"/>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numerical</a:t>
                      </a:r>
                      <a:endParaRPr sz="2000" u="none" strike="noStrike" cap="none" dirty="0">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705275">
                <a:tc>
                  <a:txBody>
                    <a:bodyPr/>
                    <a:lstStyle/>
                    <a:p>
                      <a:pPr marL="155575" marR="34290" lvl="0" indent="-155575" algn="ctr" rtl="0">
                        <a:lnSpc>
                          <a:spcPct val="100000"/>
                        </a:lnSpc>
                        <a:spcBef>
                          <a:spcPts val="0"/>
                        </a:spcBef>
                        <a:spcAft>
                          <a:spcPts val="0"/>
                        </a:spcAft>
                        <a:buNone/>
                      </a:pPr>
                      <a:r>
                        <a:rPr lang="en-US" sz="2000" u="none" strike="noStrike" cap="none">
                          <a:latin typeface="Verdana" panose="020B0604030504040204" pitchFamily="34" charset="0"/>
                          <a:ea typeface="Verdana" panose="020B0604030504040204" pitchFamily="34" charset="0"/>
                          <a:cs typeface="Verdana" panose="020B0604030504040204" pitchFamily="34" charset="0"/>
                        </a:rPr>
                        <a:t>How old are you?</a:t>
                      </a:r>
                      <a:endParaRPr sz="2000" u="none" strike="noStrike" cap="none">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34290" lvl="0" indent="-155575" algn="ctr" rtl="0">
                        <a:lnSpc>
                          <a:spcPct val="100000"/>
                        </a:lnSpc>
                        <a:spcBef>
                          <a:spcPts val="0"/>
                        </a:spcBef>
                        <a:spcAft>
                          <a:spcPts val="0"/>
                        </a:spcAft>
                        <a:buNone/>
                      </a:pPr>
                      <a:r>
                        <a:rPr lang="en-US" sz="2000" u="none" strike="noStrike" cap="none">
                          <a:latin typeface="Verdana" panose="020B0604030504040204" pitchFamily="34" charset="0"/>
                          <a:ea typeface="Verdana" panose="020B0604030504040204" pitchFamily="34" charset="0"/>
                          <a:cs typeface="Verdana" panose="020B0604030504040204" pitchFamily="34" charset="0"/>
                        </a:rPr>
                        <a:t>11, 12, 13…</a:t>
                      </a:r>
                      <a:endParaRPr sz="2000" u="none" strike="noStrike" cap="none">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34290" lvl="0" indent="-342900" algn="l" rtl="0">
                        <a:lnSpc>
                          <a:spcPct val="100000"/>
                        </a:lnSpc>
                        <a:spcBef>
                          <a:spcPts val="0"/>
                        </a:spcBef>
                        <a:spcAft>
                          <a:spcPts val="0"/>
                        </a:spcAft>
                        <a:buClr>
                          <a:srgbClr val="000000"/>
                        </a:buClr>
                        <a:buSzPts val="2000"/>
                        <a:buFont typeface="Courier New"/>
                        <a:buChar char="o"/>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categorical</a:t>
                      </a:r>
                      <a:endParaRPr sz="2000" dirty="0">
                        <a:latin typeface="Verdana" panose="020B0604030504040204" pitchFamily="34" charset="0"/>
                        <a:ea typeface="Verdana" panose="020B0604030504040204" pitchFamily="34" charset="0"/>
                        <a:cs typeface="Verdana" panose="020B0604030504040204" pitchFamily="34" charset="0"/>
                      </a:endParaRPr>
                    </a:p>
                    <a:p>
                      <a:pPr marL="342900" marR="34290" lvl="0" indent="-342900" algn="l" rtl="0">
                        <a:lnSpc>
                          <a:spcPct val="100000"/>
                        </a:lnSpc>
                        <a:spcBef>
                          <a:spcPts val="0"/>
                        </a:spcBef>
                        <a:spcAft>
                          <a:spcPts val="0"/>
                        </a:spcAft>
                        <a:buClr>
                          <a:srgbClr val="000000"/>
                        </a:buClr>
                        <a:buSzPts val="2000"/>
                        <a:buFont typeface="Courier New"/>
                        <a:buChar char="o"/>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numerical</a:t>
                      </a:r>
                      <a:endParaRPr sz="2000" u="none" strike="noStrike" cap="none" dirty="0">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705275">
                <a:tc>
                  <a:txBody>
                    <a:bodyPr/>
                    <a:lstStyle/>
                    <a:p>
                      <a:pPr marL="155575" marR="34290" lvl="0" indent="-155575" algn="ctr" rtl="0">
                        <a:lnSpc>
                          <a:spcPct val="100000"/>
                        </a:lnSpc>
                        <a:spcBef>
                          <a:spcPts val="0"/>
                        </a:spcBef>
                        <a:spcAft>
                          <a:spcPts val="0"/>
                        </a:spcAft>
                        <a:buNone/>
                      </a:pPr>
                      <a:r>
                        <a:rPr lang="en-US" sz="2000" u="none" strike="noStrike" cap="none">
                          <a:latin typeface="Verdana" panose="020B0604030504040204" pitchFamily="34" charset="0"/>
                          <a:ea typeface="Verdana" panose="020B0604030504040204" pitchFamily="34" charset="0"/>
                          <a:cs typeface="Verdana" panose="020B0604030504040204" pitchFamily="34" charset="0"/>
                        </a:rPr>
                        <a:t>How tall are you?</a:t>
                      </a:r>
                      <a:endParaRPr sz="2000" u="none" strike="noStrike" cap="none">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34290" lvl="0" indent="-155575" algn="ctr" rtl="0">
                        <a:lnSpc>
                          <a:spcPct val="100000"/>
                        </a:lnSpc>
                        <a:spcBef>
                          <a:spcPts val="0"/>
                        </a:spcBef>
                        <a:spcAft>
                          <a:spcPts val="0"/>
                        </a:spcAft>
                        <a:buNone/>
                      </a:pPr>
                      <a:r>
                        <a:rPr lang="en-US" sz="2000" u="none" strike="noStrike" cap="none">
                          <a:latin typeface="Verdana" panose="020B0604030504040204" pitchFamily="34" charset="0"/>
                          <a:ea typeface="Verdana" panose="020B0604030504040204" pitchFamily="34" charset="0"/>
                          <a:cs typeface="Verdana" panose="020B0604030504040204" pitchFamily="34" charset="0"/>
                        </a:rPr>
                        <a:t> </a:t>
                      </a:r>
                      <a:endParaRPr sz="2000" u="none" strike="noStrike" cap="none">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34290" lvl="0" indent="-342900" algn="l" rtl="0">
                        <a:lnSpc>
                          <a:spcPct val="100000"/>
                        </a:lnSpc>
                        <a:spcBef>
                          <a:spcPts val="0"/>
                        </a:spcBef>
                        <a:spcAft>
                          <a:spcPts val="0"/>
                        </a:spcAft>
                        <a:buClr>
                          <a:srgbClr val="000000"/>
                        </a:buClr>
                        <a:buSzPts val="2000"/>
                        <a:buFont typeface="Courier New"/>
                        <a:buChar char="o"/>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categorical</a:t>
                      </a:r>
                      <a:endParaRPr sz="2000" dirty="0">
                        <a:latin typeface="Verdana" panose="020B0604030504040204" pitchFamily="34" charset="0"/>
                        <a:ea typeface="Verdana" panose="020B0604030504040204" pitchFamily="34" charset="0"/>
                        <a:cs typeface="Verdana" panose="020B0604030504040204" pitchFamily="34" charset="0"/>
                      </a:endParaRPr>
                    </a:p>
                    <a:p>
                      <a:pPr marL="342900" marR="34290" lvl="0" indent="-342900" algn="l" rtl="0">
                        <a:lnSpc>
                          <a:spcPct val="100000"/>
                        </a:lnSpc>
                        <a:spcBef>
                          <a:spcPts val="0"/>
                        </a:spcBef>
                        <a:spcAft>
                          <a:spcPts val="0"/>
                        </a:spcAft>
                        <a:buClr>
                          <a:srgbClr val="000000"/>
                        </a:buClr>
                        <a:buSzPts val="2000"/>
                        <a:buFont typeface="Courier New"/>
                        <a:buChar char="o"/>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numerical</a:t>
                      </a:r>
                      <a:endParaRPr sz="2000" u="none" strike="noStrike" cap="none" dirty="0">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705275">
                <a:tc>
                  <a:txBody>
                    <a:bodyPr/>
                    <a:lstStyle/>
                    <a:p>
                      <a:pPr marL="155575" marR="34290" lvl="0" indent="-155575" algn="ctr" rtl="0">
                        <a:lnSpc>
                          <a:spcPct val="100000"/>
                        </a:lnSpc>
                        <a:spcBef>
                          <a:spcPts val="0"/>
                        </a:spcBef>
                        <a:spcAft>
                          <a:spcPts val="0"/>
                        </a:spcAft>
                        <a:buNone/>
                      </a:pPr>
                      <a:r>
                        <a:rPr lang="en-US" sz="2000" u="none" strike="noStrike" cap="none">
                          <a:latin typeface="Verdana" panose="020B0604030504040204" pitchFamily="34" charset="0"/>
                          <a:ea typeface="Verdana" panose="020B0604030504040204" pitchFamily="34" charset="0"/>
                          <a:cs typeface="Verdana" panose="020B0604030504040204" pitchFamily="34" charset="0"/>
                        </a:rPr>
                        <a:t>What is your favorite sport?</a:t>
                      </a:r>
                      <a:endParaRPr sz="2000" u="none" strike="noStrike" cap="none">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34290" lvl="0" indent="-155575" algn="ctr" rtl="0">
                        <a:lnSpc>
                          <a:spcPct val="100000"/>
                        </a:lnSpc>
                        <a:spcBef>
                          <a:spcPts val="0"/>
                        </a:spcBef>
                        <a:spcAft>
                          <a:spcPts val="0"/>
                        </a:spcAft>
                        <a:buNone/>
                      </a:pPr>
                      <a:r>
                        <a:rPr lang="en-US" sz="2000" u="none" strike="noStrike" cap="none">
                          <a:latin typeface="Verdana" panose="020B0604030504040204" pitchFamily="34" charset="0"/>
                          <a:ea typeface="Verdana" panose="020B0604030504040204" pitchFamily="34" charset="0"/>
                          <a:cs typeface="Verdana" panose="020B0604030504040204" pitchFamily="34" charset="0"/>
                        </a:rPr>
                        <a:t> </a:t>
                      </a:r>
                      <a:endParaRPr sz="2000" u="none" strike="noStrike" cap="none">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34290" lvl="0" indent="-342900" algn="l" rtl="0">
                        <a:lnSpc>
                          <a:spcPct val="100000"/>
                        </a:lnSpc>
                        <a:spcBef>
                          <a:spcPts val="0"/>
                        </a:spcBef>
                        <a:spcAft>
                          <a:spcPts val="0"/>
                        </a:spcAft>
                        <a:buClr>
                          <a:srgbClr val="000000"/>
                        </a:buClr>
                        <a:buSzPts val="2000"/>
                        <a:buFont typeface="Courier New"/>
                        <a:buChar char="o"/>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categorical</a:t>
                      </a:r>
                      <a:endParaRPr sz="2000" dirty="0">
                        <a:latin typeface="Verdana" panose="020B0604030504040204" pitchFamily="34" charset="0"/>
                        <a:ea typeface="Verdana" panose="020B0604030504040204" pitchFamily="34" charset="0"/>
                        <a:cs typeface="Verdana" panose="020B0604030504040204" pitchFamily="34" charset="0"/>
                      </a:endParaRPr>
                    </a:p>
                    <a:p>
                      <a:pPr marL="342900" marR="34290" lvl="0" indent="-342900" algn="l" rtl="0">
                        <a:lnSpc>
                          <a:spcPct val="100000"/>
                        </a:lnSpc>
                        <a:spcBef>
                          <a:spcPts val="0"/>
                        </a:spcBef>
                        <a:spcAft>
                          <a:spcPts val="0"/>
                        </a:spcAft>
                        <a:buClr>
                          <a:srgbClr val="000000"/>
                        </a:buClr>
                        <a:buSzPts val="2000"/>
                        <a:buFont typeface="Courier New"/>
                        <a:buChar char="o"/>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numerical</a:t>
                      </a:r>
                      <a:endParaRPr sz="2000" u="none" strike="noStrike" cap="none" dirty="0">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705275">
                <a:tc>
                  <a:txBody>
                    <a:bodyPr/>
                    <a:lstStyle/>
                    <a:p>
                      <a:pPr marL="155575" marR="34290" lvl="0" indent="-155575" algn="ctr" rtl="0">
                        <a:lnSpc>
                          <a:spcPct val="100000"/>
                        </a:lnSpc>
                        <a:spcBef>
                          <a:spcPts val="0"/>
                        </a:spcBef>
                        <a:spcAft>
                          <a:spcPts val="0"/>
                        </a:spcAft>
                        <a:buNone/>
                      </a:pPr>
                      <a:r>
                        <a:rPr lang="en-US" sz="2000" u="none" strike="noStrike" cap="none">
                          <a:latin typeface="Verdana" panose="020B0604030504040204" pitchFamily="34" charset="0"/>
                          <a:ea typeface="Verdana" panose="020B0604030504040204" pitchFamily="34" charset="0"/>
                          <a:cs typeface="Verdana" panose="020B0604030504040204" pitchFamily="34" charset="0"/>
                        </a:rPr>
                        <a:t> </a:t>
                      </a:r>
                      <a:endParaRPr sz="2000" u="none" strike="noStrike" cap="none">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34290" lvl="0" indent="-155575" algn="ctr" rtl="0">
                        <a:lnSpc>
                          <a:spcPct val="100000"/>
                        </a:lnSpc>
                        <a:spcBef>
                          <a:spcPts val="0"/>
                        </a:spcBef>
                        <a:spcAft>
                          <a:spcPts val="0"/>
                        </a:spcAft>
                        <a:buNone/>
                      </a:pPr>
                      <a:r>
                        <a:rPr lang="en-US" sz="2000" u="none" strike="noStrike" cap="none">
                          <a:latin typeface="Verdana" panose="020B0604030504040204" pitchFamily="34" charset="0"/>
                          <a:ea typeface="Verdana" panose="020B0604030504040204" pitchFamily="34" charset="0"/>
                          <a:cs typeface="Verdana" panose="020B0604030504040204" pitchFamily="34" charset="0"/>
                        </a:rPr>
                        <a:t>watermelon, apple, pear, orange</a:t>
                      </a:r>
                      <a:endParaRPr sz="2000" u="none" strike="noStrike" cap="none">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34290" lvl="0" indent="-342900" algn="l" rtl="0">
                        <a:lnSpc>
                          <a:spcPct val="100000"/>
                        </a:lnSpc>
                        <a:spcBef>
                          <a:spcPts val="0"/>
                        </a:spcBef>
                        <a:spcAft>
                          <a:spcPts val="0"/>
                        </a:spcAft>
                        <a:buClr>
                          <a:srgbClr val="000000"/>
                        </a:buClr>
                        <a:buSzPts val="2000"/>
                        <a:buFont typeface="Courier New"/>
                        <a:buChar char="o"/>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categorical</a:t>
                      </a:r>
                      <a:endParaRPr sz="2000" dirty="0">
                        <a:latin typeface="Verdana" panose="020B0604030504040204" pitchFamily="34" charset="0"/>
                        <a:ea typeface="Verdana" panose="020B0604030504040204" pitchFamily="34" charset="0"/>
                        <a:cs typeface="Verdana" panose="020B0604030504040204" pitchFamily="34" charset="0"/>
                      </a:endParaRPr>
                    </a:p>
                    <a:p>
                      <a:pPr marL="342900" marR="34290" lvl="0" indent="-342900" algn="l" rtl="0">
                        <a:lnSpc>
                          <a:spcPct val="100000"/>
                        </a:lnSpc>
                        <a:spcBef>
                          <a:spcPts val="0"/>
                        </a:spcBef>
                        <a:spcAft>
                          <a:spcPts val="0"/>
                        </a:spcAft>
                        <a:buClr>
                          <a:srgbClr val="000000"/>
                        </a:buClr>
                        <a:buSzPts val="2000"/>
                        <a:buFont typeface="Courier New"/>
                        <a:buChar char="o"/>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numerical</a:t>
                      </a:r>
                      <a:endParaRPr sz="2000" u="none" strike="noStrike" cap="none" dirty="0">
                        <a:latin typeface="Verdana" panose="020B0604030504040204" pitchFamily="34" charset="0"/>
                        <a:ea typeface="Verdana" panose="020B0604030504040204" pitchFamily="34" charset="0"/>
                        <a:cs typeface="Verdana" panose="020B0604030504040204" pitchFamily="34" charset="0"/>
                        <a:sym typeface="Cambria"/>
                      </a:endParaRPr>
                    </a:p>
                  </a:txBody>
                  <a:tcPr marL="38850" marR="3885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pic>
        <p:nvPicPr>
          <p:cNvPr id="180" name="Google Shape;180;p5" descr="Checkmark with solid fill"/>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588886" y="2231868"/>
            <a:ext cx="185738" cy="184150"/>
          </a:xfrm>
          <a:prstGeom prst="rect">
            <a:avLst/>
          </a:prstGeom>
          <a:noFill/>
          <a:ln>
            <a:noFill/>
          </a:ln>
        </p:spPr>
      </p:pic>
      <p:pic>
        <p:nvPicPr>
          <p:cNvPr id="181" name="Google Shape;181;p5" descr="Checkmark with solid fill"/>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563557" y="3251126"/>
            <a:ext cx="185737" cy="185737"/>
          </a:xfrm>
          <a:prstGeom prst="rect">
            <a:avLst/>
          </a:prstGeom>
          <a:noFill/>
          <a:ln>
            <a:noFill/>
          </a:ln>
        </p:spPr>
      </p:pic>
      <p:sp>
        <p:nvSpPr>
          <p:cNvPr id="182" name="Google Shape;182;p5"/>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269</a:t>
            </a:r>
            <a:endParaRPr i="1" dirty="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6"/>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89" name="Google Shape;189;p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90" name="Google Shape;190;p6"/>
          <p:cNvSpPr txBox="1">
            <a:spLocks noGrp="1"/>
          </p:cNvSpPr>
          <p:nvPr>
            <p:ph type="title" idx="4294967295"/>
          </p:nvPr>
        </p:nvSpPr>
        <p:spPr>
          <a:xfrm>
            <a:off x="4270248"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91" name="Google Shape;191;p6" descr="Icon&#10;&#10;Description automatically generated"/>
          <p:cNvPicPr preferRelativeResize="0"/>
          <p:nvPr/>
        </p:nvPicPr>
        <p:blipFill rotWithShape="1">
          <a:blip r:embed="rId4">
            <a:alphaModFix/>
          </a:blip>
          <a:srcRect/>
          <a:stretch/>
        </p:blipFill>
        <p:spPr>
          <a:xfrm>
            <a:off x="3054096" y="2816352"/>
            <a:ext cx="1156228" cy="1156228"/>
          </a:xfrm>
          <a:prstGeom prst="rect">
            <a:avLst/>
          </a:prstGeom>
          <a:noFill/>
          <a:ln>
            <a:noFill/>
          </a:ln>
          <a:effectLst>
            <a:outerShdw blurRad="50800" dist="38100" dir="2700000" algn="tl" rotWithShape="0">
              <a:srgbClr val="000000">
                <a:alpha val="40000"/>
              </a:srgbClr>
            </a:outerShdw>
          </a:effectLst>
        </p:spPr>
      </p:pic>
      <p:sp>
        <p:nvSpPr>
          <p:cNvPr id="192" name="Google Shape;192;p6"/>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269</a:t>
            </a:r>
            <a:endParaRPr i="1">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99" name="Google Shape;199;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00" name="Google Shape;200;p7"/>
          <p:cNvSpPr txBox="1"/>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33BEA6"/>
                </a:solidFill>
                <a:latin typeface="Verdana"/>
                <a:ea typeface="Verdana"/>
                <a:cs typeface="Verdana"/>
                <a:sym typeface="Verdana"/>
              </a:rPr>
              <a:t>13.7.2 Exploration: Choosing the Best Graphical Representation for Numerical Data </a:t>
            </a:r>
            <a:endParaRPr sz="3200" b="1" dirty="0">
              <a:solidFill>
                <a:srgbClr val="33BEA6"/>
              </a:solidFill>
              <a:latin typeface="Verdana"/>
              <a:ea typeface="Verdana"/>
              <a:cs typeface="Verdana"/>
              <a:sym typeface="Verdana"/>
            </a:endParaRPr>
          </a:p>
        </p:txBody>
      </p:sp>
      <p:pic>
        <p:nvPicPr>
          <p:cNvPr id="201" name="Google Shape;201;p7"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56616" y="308450"/>
            <a:ext cx="752254" cy="752254"/>
          </a:xfrm>
          <a:prstGeom prst="rect">
            <a:avLst/>
          </a:prstGeom>
          <a:noFill/>
          <a:ln>
            <a:noFill/>
          </a:ln>
          <a:effectLst>
            <a:outerShdw blurRad="50800" dist="38100" dir="2700000" algn="tl" rotWithShape="0">
              <a:srgbClr val="000000">
                <a:alpha val="40000"/>
              </a:srgbClr>
            </a:outerShdw>
          </a:effectLst>
        </p:spPr>
      </p:pic>
      <p:sp>
        <p:nvSpPr>
          <p:cNvPr id="202" name="Google Shape;202;p7"/>
          <p:cNvSpPr txBox="1"/>
          <p:nvPr/>
        </p:nvSpPr>
        <p:spPr>
          <a:xfrm>
            <a:off x="914400" y="1614625"/>
            <a:ext cx="10515600" cy="1938992"/>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sym typeface="Verdana"/>
              </a:rPr>
              <a:t>Four graphical representations that can be used to display </a:t>
            </a:r>
            <a:r>
              <a:rPr lang="en-US" sz="2400" b="1" i="1" dirty="0">
                <a:latin typeface="Verdana"/>
                <a:ea typeface="Verdana"/>
                <a:cs typeface="Verdana"/>
                <a:sym typeface="Verdana"/>
              </a:rPr>
              <a:t>numerical data</a:t>
            </a:r>
            <a:r>
              <a:rPr lang="en-US" sz="2400" dirty="0">
                <a:latin typeface="Verdana"/>
                <a:ea typeface="Verdana"/>
                <a:cs typeface="Verdana"/>
                <a:sym typeface="Verdana"/>
              </a:rPr>
              <a:t> are box plots, histograms, line plots, and stem-and-leaf plots. Each graphical representation is shown in the table.  </a:t>
            </a:r>
            <a:endParaRPr dirty="0"/>
          </a:p>
          <a:p>
            <a:endParaRPr sz="2400" dirty="0">
              <a:latin typeface="Verdana"/>
              <a:ea typeface="Verdana"/>
              <a:cs typeface="Verdana"/>
              <a:sym typeface="Verdana"/>
            </a:endParaRPr>
          </a:p>
        </p:txBody>
      </p:sp>
      <p:sp>
        <p:nvSpPr>
          <p:cNvPr id="203" name="Google Shape;203;p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269</a:t>
            </a:r>
            <a:endParaRPr i="1" dirty="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8"/>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10" name="Google Shape;210;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pic>
        <p:nvPicPr>
          <p:cNvPr id="211" name="Google Shape;211;p8"/>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566928" y="109178"/>
            <a:ext cx="5058145" cy="6500300"/>
          </a:xfrm>
          <a:prstGeom prst="rect">
            <a:avLst/>
          </a:prstGeom>
          <a:noFill/>
          <a:ln>
            <a:noFill/>
          </a:ln>
        </p:spPr>
      </p:pic>
      <p:sp>
        <p:nvSpPr>
          <p:cNvPr id="212" name="Google Shape;212;p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269</a:t>
            </a:r>
            <a:endParaRPr i="1">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9"/>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19" name="Google Shape;219;p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20" name="Google Shape;220;p9"/>
          <p:cNvSpPr txBox="1"/>
          <p:nvPr/>
        </p:nvSpPr>
        <p:spPr>
          <a:xfrm>
            <a:off x="914400" y="520394"/>
            <a:ext cx="10515600" cy="4708981"/>
          </a:xfrm>
          <a:prstGeom prst="rect">
            <a:avLst/>
          </a:prstGeom>
          <a:blipFill rotWithShape="1">
            <a:blip r:embed="rId4">
              <a:alphaModFix/>
            </a:blip>
            <a:stretch>
              <a:fillRect l="-608" t="-537"/>
            </a:stretch>
          </a:blipFill>
          <a:ln>
            <a:noFill/>
          </a:ln>
        </p:spPr>
        <p:txBody>
          <a:bodyPr spcFirstLastPara="1" wrap="square" lIns="91425" tIns="45700" rIns="91425" bIns="45700" anchor="t" anchorCtr="0">
            <a:noAutofit/>
          </a:bodyPr>
          <a:lstStyle/>
          <a:p>
            <a:r>
              <a:rPr lang="en-US"/>
              <a:t> </a:t>
            </a:r>
            <a:endParaRPr/>
          </a:p>
        </p:txBody>
      </p:sp>
      <p:sp>
        <p:nvSpPr>
          <p:cNvPr id="221" name="Google Shape;221;p9"/>
          <p:cNvSpPr/>
          <p:nvPr/>
        </p:nvSpPr>
        <p:spPr>
          <a:xfrm>
            <a:off x="3050765" y="2494735"/>
            <a:ext cx="3173095" cy="1398270"/>
          </a:xfrm>
          <a:prstGeom prst="roundRect">
            <a:avLst>
              <a:gd name="adj" fmla="val 16667"/>
            </a:avLst>
          </a:prstGeom>
          <a:noFill/>
          <a:ln w="158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457200" indent="-400050">
              <a:buSzPts val="1800"/>
              <a:buFont typeface="Noto Sans Symbols"/>
              <a:buChar char="❑"/>
            </a:pPr>
            <a:r>
              <a:rPr lang="en-US" sz="1800" dirty="0">
                <a:latin typeface="Verdana"/>
                <a:ea typeface="Verdana"/>
                <a:cs typeface="Verdana"/>
                <a:sym typeface="Verdana"/>
              </a:rPr>
              <a:t>box plot</a:t>
            </a:r>
            <a:endParaRPr sz="1200" dirty="0">
              <a:solidFill>
                <a:schemeClr val="lt1"/>
              </a:solidFill>
              <a:latin typeface="Cambria"/>
              <a:ea typeface="Cambria"/>
              <a:cs typeface="Cambria"/>
              <a:sym typeface="Cambria"/>
            </a:endParaRPr>
          </a:p>
          <a:p>
            <a:pPr marL="457200" indent="-400050">
              <a:buSzPts val="1800"/>
              <a:buFont typeface="Noto Sans Symbols"/>
              <a:buChar char="❑"/>
            </a:pPr>
            <a:r>
              <a:rPr lang="en-US" sz="1800" dirty="0">
                <a:latin typeface="Verdana"/>
                <a:ea typeface="Verdana"/>
                <a:cs typeface="Verdana"/>
                <a:sym typeface="Verdana"/>
              </a:rPr>
              <a:t>line plot</a:t>
            </a:r>
            <a:endParaRPr sz="1200" dirty="0">
              <a:solidFill>
                <a:schemeClr val="lt1"/>
              </a:solidFill>
              <a:latin typeface="Cambria"/>
              <a:ea typeface="Cambria"/>
              <a:cs typeface="Cambria"/>
              <a:sym typeface="Cambria"/>
            </a:endParaRPr>
          </a:p>
          <a:p>
            <a:pPr marL="457200" indent="-400050">
              <a:buSzPts val="1800"/>
              <a:buFont typeface="Noto Sans Symbols"/>
              <a:buChar char="❑"/>
            </a:pPr>
            <a:r>
              <a:rPr lang="en-US" sz="1800" dirty="0">
                <a:latin typeface="Verdana"/>
                <a:ea typeface="Verdana"/>
                <a:cs typeface="Verdana"/>
                <a:sym typeface="Verdana"/>
              </a:rPr>
              <a:t>histogram</a:t>
            </a:r>
            <a:endParaRPr sz="1200" dirty="0">
              <a:solidFill>
                <a:schemeClr val="lt1"/>
              </a:solidFill>
              <a:latin typeface="Cambria"/>
              <a:ea typeface="Cambria"/>
              <a:cs typeface="Cambria"/>
              <a:sym typeface="Cambria"/>
            </a:endParaRPr>
          </a:p>
          <a:p>
            <a:pPr marL="457200" indent="-400050">
              <a:buSzPts val="1800"/>
              <a:buFont typeface="Noto Sans Symbols"/>
              <a:buChar char="❑"/>
            </a:pPr>
            <a:r>
              <a:rPr lang="en-US" sz="1800" dirty="0">
                <a:latin typeface="Verdana"/>
                <a:ea typeface="Verdana"/>
                <a:cs typeface="Verdana"/>
                <a:sym typeface="Verdana"/>
              </a:rPr>
              <a:t>stem-and-leaf plot</a:t>
            </a:r>
            <a:endParaRPr sz="1200" dirty="0">
              <a:solidFill>
                <a:schemeClr val="lt1"/>
              </a:solidFill>
              <a:latin typeface="Cambria"/>
              <a:ea typeface="Cambria"/>
              <a:cs typeface="Cambria"/>
              <a:sym typeface="Cambria"/>
            </a:endParaRPr>
          </a:p>
        </p:txBody>
      </p:sp>
      <p:sp>
        <p:nvSpPr>
          <p:cNvPr id="222" name="Google Shape;222;p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270</a:t>
            </a:r>
            <a:endParaRPr i="1" dirty="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0"/>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29" name="Google Shape;229;p1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30" name="Google Shape;230;p10"/>
          <p:cNvSpPr txBox="1"/>
          <p:nvPr/>
        </p:nvSpPr>
        <p:spPr>
          <a:xfrm>
            <a:off x="914400" y="520394"/>
            <a:ext cx="10515600" cy="4708981"/>
          </a:xfrm>
          <a:prstGeom prst="rect">
            <a:avLst/>
          </a:prstGeom>
          <a:blipFill rotWithShape="1">
            <a:blip r:embed="rId4">
              <a:alphaModFix/>
            </a:blip>
            <a:stretch>
              <a:fillRect t="-537" r="-1217"/>
            </a:stretch>
          </a:blipFill>
          <a:ln>
            <a:noFill/>
          </a:ln>
        </p:spPr>
        <p:txBody>
          <a:bodyPr spcFirstLastPara="1" wrap="square" lIns="91425" tIns="45700" rIns="91425" bIns="45700" anchor="t" anchorCtr="0">
            <a:noAutofit/>
          </a:bodyPr>
          <a:lstStyle/>
          <a:p>
            <a:r>
              <a:rPr lang="en-US"/>
              <a:t> </a:t>
            </a:r>
            <a:endParaRPr/>
          </a:p>
        </p:txBody>
      </p:sp>
      <p:sp>
        <p:nvSpPr>
          <p:cNvPr id="231" name="Google Shape;231;p1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270</a:t>
            </a:r>
            <a:endParaRPr i="1" dirty="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1"/>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38" name="Google Shape;238;p1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39" name="Google Shape;239;p11"/>
          <p:cNvSpPr txBox="1"/>
          <p:nvPr/>
        </p:nvSpPr>
        <p:spPr>
          <a:xfrm>
            <a:off x="914400" y="520393"/>
            <a:ext cx="10515600" cy="4524275"/>
          </a:xfrm>
          <a:prstGeom prst="rect">
            <a:avLst/>
          </a:prstGeom>
          <a:noFill/>
          <a:ln>
            <a:noFill/>
          </a:ln>
        </p:spPr>
        <p:txBody>
          <a:bodyPr spcFirstLastPara="1" wrap="square" lIns="91425" tIns="45700" rIns="91425" bIns="45700" anchor="t" anchorCtr="0">
            <a:spAutoFit/>
          </a:bodyPr>
          <a:lstStyle/>
          <a:p>
            <a:pPr marL="457200" indent="-457200">
              <a:buSzPct val="100000"/>
              <a:buFont typeface="Arial"/>
              <a:buAutoNum type="arabicPeriod" startAt="2"/>
            </a:pPr>
            <a:r>
              <a:rPr lang="en-US" sz="2400" dirty="0">
                <a:latin typeface="Verdana"/>
                <a:ea typeface="Verdana"/>
                <a:cs typeface="Verdana"/>
                <a:sym typeface="Verdana"/>
              </a:rPr>
              <a:t>Dallas records the highest temperature from each month over the past year in Immokalee, Florida. </a:t>
            </a:r>
            <a:endParaRPr sz="2400" dirty="0"/>
          </a:p>
          <a:p>
            <a:endParaRPr sz="2400" dirty="0">
              <a:latin typeface="Verdana"/>
              <a:ea typeface="Verdana"/>
              <a:cs typeface="Verdana"/>
              <a:sym typeface="Verdana"/>
            </a:endParaRPr>
          </a:p>
          <a:p>
            <a:endParaRPr sz="2400" dirty="0">
              <a:latin typeface="Verdana"/>
              <a:ea typeface="Verdana"/>
              <a:cs typeface="Verdana"/>
              <a:sym typeface="Verdana"/>
            </a:endParaRPr>
          </a:p>
          <a:p>
            <a:pPr marL="922338" indent="-455613">
              <a:buSzPct val="100000"/>
              <a:buFont typeface="Arial"/>
              <a:buAutoNum type="alphaLcPeriod"/>
            </a:pPr>
            <a:r>
              <a:rPr lang="en-US" sz="2400" dirty="0">
                <a:latin typeface="Verdana"/>
                <a:ea typeface="Verdana"/>
                <a:cs typeface="Verdana"/>
                <a:sym typeface="Verdana"/>
              </a:rPr>
              <a:t>Which representation(s) will best display the data?</a:t>
            </a:r>
            <a:endParaRPr sz="2400" dirty="0"/>
          </a:p>
          <a:p>
            <a:pPr marL="922338" indent="-328613">
              <a:buSzPts val="2000"/>
            </a:pPr>
            <a:endParaRPr sz="2400" dirty="0">
              <a:latin typeface="Verdana"/>
              <a:ea typeface="Verdana"/>
              <a:cs typeface="Verdana"/>
              <a:sym typeface="Verdana"/>
            </a:endParaRPr>
          </a:p>
          <a:p>
            <a:pPr marL="922338" indent="-328613">
              <a:buSzPts val="2000"/>
            </a:pPr>
            <a:endParaRPr sz="2400" dirty="0">
              <a:latin typeface="Verdana"/>
              <a:ea typeface="Verdana"/>
              <a:cs typeface="Verdana"/>
              <a:sym typeface="Verdana"/>
            </a:endParaRPr>
          </a:p>
          <a:p>
            <a:pPr marL="922338" indent="-328613">
              <a:buSzPts val="2000"/>
            </a:pPr>
            <a:endParaRPr sz="2400" dirty="0">
              <a:latin typeface="Verdana"/>
              <a:ea typeface="Verdana"/>
              <a:cs typeface="Verdana"/>
              <a:sym typeface="Verdana"/>
            </a:endParaRPr>
          </a:p>
          <a:p>
            <a:pPr marL="922338" indent="-328613">
              <a:buSzPts val="2000"/>
            </a:pPr>
            <a:endParaRPr sz="2400" dirty="0">
              <a:latin typeface="Verdana"/>
              <a:ea typeface="Verdana"/>
              <a:cs typeface="Verdana"/>
              <a:sym typeface="Verdana"/>
            </a:endParaRPr>
          </a:p>
          <a:p>
            <a:pPr marL="922338" indent="-328613">
              <a:buSzPts val="2000"/>
            </a:pPr>
            <a:endParaRPr sz="2400" dirty="0">
              <a:latin typeface="Verdana"/>
              <a:ea typeface="Verdana"/>
              <a:cs typeface="Verdana"/>
              <a:sym typeface="Verdana"/>
            </a:endParaRPr>
          </a:p>
          <a:p>
            <a:pPr marL="922338" indent="-328613">
              <a:buSzPts val="2000"/>
            </a:pPr>
            <a:endParaRPr sz="2400" dirty="0">
              <a:latin typeface="Verdana"/>
              <a:ea typeface="Verdana"/>
              <a:cs typeface="Verdana"/>
              <a:sym typeface="Verdana"/>
            </a:endParaRPr>
          </a:p>
          <a:p>
            <a:pPr marL="923925" indent="-457200">
              <a:buSzPct val="100000"/>
              <a:buFont typeface="+mj-lt"/>
              <a:buAutoNum type="alphaLcPeriod" startAt="2"/>
            </a:pPr>
            <a:r>
              <a:rPr lang="en-US" sz="2400" dirty="0">
                <a:latin typeface="Verdana"/>
                <a:ea typeface="Verdana"/>
                <a:cs typeface="Verdana"/>
                <a:sym typeface="Verdana"/>
              </a:rPr>
              <a:t>Explain your reasoning. </a:t>
            </a:r>
            <a:endParaRPr sz="2400" dirty="0"/>
          </a:p>
        </p:txBody>
      </p:sp>
      <p:sp>
        <p:nvSpPr>
          <p:cNvPr id="240" name="Google Shape;240;p11"/>
          <p:cNvSpPr/>
          <p:nvPr/>
        </p:nvSpPr>
        <p:spPr>
          <a:xfrm>
            <a:off x="3673318" y="1466630"/>
            <a:ext cx="4845365" cy="400110"/>
          </a:xfrm>
          <a:prstGeom prst="rect">
            <a:avLst/>
          </a:prstGeom>
          <a:blipFill rotWithShape="1">
            <a:blip r:embed="rId4" cstate="screen">
              <a:alphaModFix/>
              <a:extLst>
                <a:ext uri="{28A0092B-C50C-407E-A947-70E740481C1C}">
                  <a14:useLocalDpi xmlns:a14="http://schemas.microsoft.com/office/drawing/2010/main"/>
                </a:ext>
              </a:extLst>
            </a:blip>
            <a:stretch>
              <a:fillRect l="-523" t="-9373" r="-261" b="-28121"/>
            </a:stretch>
          </a:blipFill>
          <a:ln>
            <a:noFill/>
          </a:ln>
        </p:spPr>
        <p:txBody>
          <a:bodyPr spcFirstLastPara="1" wrap="square" lIns="91425" tIns="45700" rIns="91425" bIns="45700" anchor="t" anchorCtr="0">
            <a:noAutofit/>
          </a:bodyPr>
          <a:lstStyle/>
          <a:p>
            <a:r>
              <a:rPr lang="en-US"/>
              <a:t> </a:t>
            </a:r>
            <a:endParaRPr/>
          </a:p>
        </p:txBody>
      </p:sp>
      <p:sp>
        <p:nvSpPr>
          <p:cNvPr id="241" name="Google Shape;241;p11"/>
          <p:cNvSpPr/>
          <p:nvPr/>
        </p:nvSpPr>
        <p:spPr>
          <a:xfrm>
            <a:off x="2752302" y="2541145"/>
            <a:ext cx="3173095" cy="1398270"/>
          </a:xfrm>
          <a:prstGeom prst="roundRect">
            <a:avLst>
              <a:gd name="adj" fmla="val 16667"/>
            </a:avLst>
          </a:prstGeom>
          <a:noFill/>
          <a:ln w="158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457200" indent="-400050">
              <a:buSzPts val="1800"/>
              <a:buFont typeface="Noto Sans Symbols"/>
              <a:buChar char="❑"/>
            </a:pPr>
            <a:r>
              <a:rPr lang="en-US" sz="1800">
                <a:latin typeface="Verdana"/>
                <a:ea typeface="Verdana"/>
                <a:cs typeface="Verdana"/>
                <a:sym typeface="Verdana"/>
              </a:rPr>
              <a:t>box plot</a:t>
            </a:r>
            <a:endParaRPr sz="1200">
              <a:solidFill>
                <a:schemeClr val="lt1"/>
              </a:solidFill>
              <a:latin typeface="Cambria"/>
              <a:ea typeface="Cambria"/>
              <a:cs typeface="Cambria"/>
              <a:sym typeface="Cambria"/>
            </a:endParaRPr>
          </a:p>
          <a:p>
            <a:pPr marL="457200" indent="-400050">
              <a:buSzPts val="1800"/>
              <a:buFont typeface="Noto Sans Symbols"/>
              <a:buChar char="❑"/>
            </a:pPr>
            <a:r>
              <a:rPr lang="en-US" sz="1800">
                <a:latin typeface="Verdana"/>
                <a:ea typeface="Verdana"/>
                <a:cs typeface="Verdana"/>
                <a:sym typeface="Verdana"/>
              </a:rPr>
              <a:t>line plot</a:t>
            </a:r>
            <a:endParaRPr sz="1200">
              <a:solidFill>
                <a:schemeClr val="lt1"/>
              </a:solidFill>
              <a:latin typeface="Cambria"/>
              <a:ea typeface="Cambria"/>
              <a:cs typeface="Cambria"/>
              <a:sym typeface="Cambria"/>
            </a:endParaRPr>
          </a:p>
          <a:p>
            <a:pPr marL="457200" indent="-400050">
              <a:buSzPts val="1800"/>
              <a:buFont typeface="Noto Sans Symbols"/>
              <a:buChar char="❑"/>
            </a:pPr>
            <a:r>
              <a:rPr lang="en-US" sz="1800">
                <a:latin typeface="Verdana"/>
                <a:ea typeface="Verdana"/>
                <a:cs typeface="Verdana"/>
                <a:sym typeface="Verdana"/>
              </a:rPr>
              <a:t>histogram</a:t>
            </a:r>
            <a:endParaRPr sz="1200">
              <a:solidFill>
                <a:schemeClr val="lt1"/>
              </a:solidFill>
              <a:latin typeface="Cambria"/>
              <a:ea typeface="Cambria"/>
              <a:cs typeface="Cambria"/>
              <a:sym typeface="Cambria"/>
            </a:endParaRPr>
          </a:p>
          <a:p>
            <a:pPr marL="457200" indent="-400050">
              <a:buSzPts val="1800"/>
              <a:buFont typeface="Noto Sans Symbols"/>
              <a:buChar char="❑"/>
            </a:pPr>
            <a:r>
              <a:rPr lang="en-US" sz="1800">
                <a:latin typeface="Verdana"/>
                <a:ea typeface="Verdana"/>
                <a:cs typeface="Verdana"/>
                <a:sym typeface="Verdana"/>
              </a:rPr>
              <a:t>stem-and-leaf plot</a:t>
            </a:r>
            <a:endParaRPr sz="1200">
              <a:solidFill>
                <a:schemeClr val="lt1"/>
              </a:solidFill>
              <a:latin typeface="Cambria"/>
              <a:ea typeface="Cambria"/>
              <a:cs typeface="Cambria"/>
              <a:sym typeface="Cambria"/>
            </a:endParaRPr>
          </a:p>
        </p:txBody>
      </p:sp>
      <p:sp>
        <p:nvSpPr>
          <p:cNvPr id="242" name="Google Shape;242;p1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270</a:t>
            </a:r>
            <a:endParaRPr i="1">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2"/>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49" name="Google Shape;249;p1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50" name="Google Shape;250;p12"/>
          <p:cNvSpPr txBox="1"/>
          <p:nvPr/>
        </p:nvSpPr>
        <p:spPr>
          <a:xfrm>
            <a:off x="914400" y="520393"/>
            <a:ext cx="10515600" cy="1569660"/>
          </a:xfrm>
          <a:prstGeom prst="rect">
            <a:avLst/>
          </a:prstGeom>
          <a:noFill/>
          <a:ln>
            <a:noFill/>
          </a:ln>
        </p:spPr>
        <p:txBody>
          <a:bodyPr spcFirstLastPara="1" wrap="square" lIns="91425" tIns="45700" rIns="91425" bIns="45700" anchor="t" anchorCtr="0">
            <a:spAutoFit/>
          </a:bodyPr>
          <a:lstStyle/>
          <a:p>
            <a:pPr marL="922338" indent="-455613">
              <a:buSzPts val="2400"/>
              <a:buFont typeface="Arial"/>
              <a:buAutoNum type="alphaLcPeriod" startAt="3"/>
            </a:pPr>
            <a:r>
              <a:rPr lang="en-US" sz="2400" dirty="0">
                <a:latin typeface="Verdana"/>
                <a:ea typeface="Verdana"/>
                <a:cs typeface="Verdana"/>
                <a:sym typeface="Verdana"/>
              </a:rPr>
              <a:t>Dallas decides to change his data set to the average </a:t>
            </a:r>
            <a:r>
              <a:rPr lang="en-US" sz="2400" b="1" dirty="0">
                <a:latin typeface="Verdana"/>
                <a:ea typeface="Verdana"/>
                <a:cs typeface="Verdana"/>
                <a:sym typeface="Verdana"/>
              </a:rPr>
              <a:t>weekly</a:t>
            </a:r>
            <a:r>
              <a:rPr lang="en-US" sz="2400" dirty="0">
                <a:latin typeface="Verdana"/>
                <a:ea typeface="Verdana"/>
                <a:cs typeface="Verdana"/>
                <a:sym typeface="Verdana"/>
              </a:rPr>
              <a:t> high temperature. Explain whether this changes the display he should use. </a:t>
            </a:r>
            <a:endParaRPr dirty="0"/>
          </a:p>
        </p:txBody>
      </p:sp>
      <p:sp>
        <p:nvSpPr>
          <p:cNvPr id="251" name="Google Shape;251;p1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270</a:t>
            </a:r>
            <a:endParaRPr i="1" dirty="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3"/>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58" name="Google Shape;258;p1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59" name="Google Shape;259;p13"/>
          <p:cNvSpPr txBox="1"/>
          <p:nvPr/>
        </p:nvSpPr>
        <p:spPr>
          <a:xfrm>
            <a:off x="914400" y="520394"/>
            <a:ext cx="10515600" cy="4524315"/>
          </a:xfrm>
          <a:prstGeom prst="rect">
            <a:avLst/>
          </a:prstGeom>
          <a:blipFill rotWithShape="1">
            <a:blip r:embed="rId4">
              <a:alphaModFix/>
            </a:blip>
            <a:stretch>
              <a:fillRect l="-1064" t="-1116"/>
            </a:stretch>
          </a:blipFill>
          <a:ln>
            <a:noFill/>
          </a:ln>
        </p:spPr>
        <p:txBody>
          <a:bodyPr spcFirstLastPara="1" wrap="square" lIns="91425" tIns="45700" rIns="91425" bIns="45700" anchor="t" anchorCtr="0">
            <a:noAutofit/>
          </a:bodyPr>
          <a:lstStyle/>
          <a:p>
            <a:r>
              <a:rPr lang="en-US"/>
              <a:t> </a:t>
            </a:r>
            <a:endParaRPr/>
          </a:p>
        </p:txBody>
      </p:sp>
      <p:sp>
        <p:nvSpPr>
          <p:cNvPr id="260" name="Google Shape;260;p13"/>
          <p:cNvSpPr/>
          <p:nvPr/>
        </p:nvSpPr>
        <p:spPr>
          <a:xfrm>
            <a:off x="2988002" y="1664027"/>
            <a:ext cx="6215996" cy="400110"/>
          </a:xfrm>
          <a:prstGeom prst="rect">
            <a:avLst/>
          </a:prstGeom>
          <a:blipFill rotWithShape="1">
            <a:blip r:embed="rId5" cstate="screen">
              <a:alphaModFix/>
              <a:extLst>
                <a:ext uri="{28A0092B-C50C-407E-A947-70E740481C1C}">
                  <a14:useLocalDpi xmlns:a14="http://schemas.microsoft.com/office/drawing/2010/main"/>
                </a:ext>
              </a:extLst>
            </a:blip>
            <a:stretch>
              <a:fillRect b="-18749"/>
            </a:stretch>
          </a:blipFill>
          <a:ln>
            <a:noFill/>
          </a:ln>
        </p:spPr>
        <p:txBody>
          <a:bodyPr spcFirstLastPara="1" wrap="square" lIns="91425" tIns="45700" rIns="91425" bIns="45700" anchor="t" anchorCtr="0">
            <a:noAutofit/>
          </a:bodyPr>
          <a:lstStyle/>
          <a:p>
            <a:r>
              <a:rPr lang="en-US"/>
              <a:t> </a:t>
            </a:r>
            <a:endParaRPr/>
          </a:p>
        </p:txBody>
      </p:sp>
      <p:sp>
        <p:nvSpPr>
          <p:cNvPr id="261" name="Google Shape;261;p13"/>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271</a:t>
            </a:r>
            <a:endParaRPr i="1">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4"/>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68" name="Google Shape;268;p1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69" name="Google Shape;269;p14"/>
          <p:cNvSpPr txBox="1"/>
          <p:nvPr/>
        </p:nvSpPr>
        <p:spPr>
          <a:xfrm>
            <a:off x="914400" y="520393"/>
            <a:ext cx="10515600" cy="2677656"/>
          </a:xfrm>
          <a:prstGeom prst="rect">
            <a:avLst/>
          </a:prstGeom>
          <a:blipFill rotWithShape="1">
            <a:blip r:embed="rId4">
              <a:alphaModFix/>
            </a:blip>
            <a:stretch>
              <a:fillRect t="-1876" r="-1217" b="-4222"/>
            </a:stretch>
          </a:blipFill>
          <a:ln>
            <a:noFill/>
          </a:ln>
        </p:spPr>
        <p:txBody>
          <a:bodyPr spcFirstLastPara="1" wrap="square" lIns="91425" tIns="45700" rIns="91425" bIns="45700" anchor="t" anchorCtr="0">
            <a:noAutofit/>
          </a:bodyPr>
          <a:lstStyle/>
          <a:p>
            <a:r>
              <a:rPr lang="en-US"/>
              <a:t> </a:t>
            </a:r>
            <a:endParaRPr/>
          </a:p>
        </p:txBody>
      </p:sp>
      <p:sp>
        <p:nvSpPr>
          <p:cNvPr id="270" name="Google Shape;270;p14"/>
          <p:cNvSpPr/>
          <p:nvPr/>
        </p:nvSpPr>
        <p:spPr>
          <a:xfrm>
            <a:off x="3876057" y="1659166"/>
            <a:ext cx="4590552" cy="400110"/>
          </a:xfrm>
          <a:prstGeom prst="rect">
            <a:avLst/>
          </a:prstGeom>
          <a:blipFill rotWithShape="1">
            <a:blip r:embed="rId5" cstate="screen">
              <a:alphaModFix/>
              <a:extLst>
                <a:ext uri="{28A0092B-C50C-407E-A947-70E740481C1C}">
                  <a14:useLocalDpi xmlns:a14="http://schemas.microsoft.com/office/drawing/2010/main"/>
                </a:ext>
              </a:extLst>
            </a:blip>
            <a:stretch>
              <a:fillRect/>
            </a:stretch>
          </a:blipFill>
          <a:ln>
            <a:noFill/>
          </a:ln>
        </p:spPr>
        <p:txBody>
          <a:bodyPr spcFirstLastPara="1" wrap="square" lIns="91425" tIns="45700" rIns="91425" bIns="45700" anchor="t" anchorCtr="0">
            <a:noAutofit/>
          </a:bodyPr>
          <a:lstStyle/>
          <a:p>
            <a:r>
              <a:rPr lang="en-US"/>
              <a:t> </a:t>
            </a:r>
            <a:endParaRPr/>
          </a:p>
        </p:txBody>
      </p:sp>
      <p:sp>
        <p:nvSpPr>
          <p:cNvPr id="271" name="Google Shape;271;p14"/>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271</a:t>
            </a:r>
            <a:endParaRPr i="1">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5"/>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78" name="Google Shape;278;p1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79" name="Google Shape;279;p15"/>
          <p:cNvSpPr txBox="1"/>
          <p:nvPr/>
        </p:nvSpPr>
        <p:spPr>
          <a:xfrm>
            <a:off x="914400" y="520393"/>
            <a:ext cx="10515600" cy="3416320"/>
          </a:xfrm>
          <a:prstGeom prst="rect">
            <a:avLst/>
          </a:prstGeom>
          <a:noFill/>
          <a:ln>
            <a:noFill/>
          </a:ln>
        </p:spPr>
        <p:txBody>
          <a:bodyPr spcFirstLastPara="1" wrap="square" lIns="91425" tIns="45700" rIns="91425" bIns="45700" anchor="t" anchorCtr="0">
            <a:spAutoFit/>
          </a:bodyPr>
          <a:lstStyle/>
          <a:p>
            <a:pPr marL="923925" indent="-457200">
              <a:buSzPts val="2400"/>
              <a:buFont typeface="Arial"/>
              <a:buAutoNum type="alphaLcPeriod" startAt="3"/>
            </a:pPr>
            <a:r>
              <a:rPr lang="en-US" sz="2400" dirty="0">
                <a:latin typeface="Verdana"/>
                <a:ea typeface="Verdana"/>
                <a:cs typeface="Verdana"/>
                <a:sym typeface="Verdana"/>
              </a:rPr>
              <a:t>Basil updated his data to show the weights of the cats to the nearest tenth. </a:t>
            </a:r>
            <a:endParaRPr dirty="0"/>
          </a:p>
          <a:p>
            <a:pPr marL="923925" indent="-304800">
              <a:buSzPts val="2400"/>
            </a:pPr>
            <a:endParaRPr sz="2400" dirty="0">
              <a:latin typeface="Verdana"/>
              <a:ea typeface="Verdana"/>
              <a:cs typeface="Verdana"/>
              <a:sym typeface="Verdana"/>
            </a:endParaRPr>
          </a:p>
          <a:p>
            <a:pPr marL="923925" indent="-304800">
              <a:buSzPts val="2400"/>
            </a:pPr>
            <a:endParaRPr sz="2400" dirty="0">
              <a:latin typeface="Verdana"/>
              <a:ea typeface="Verdana"/>
              <a:cs typeface="Verdana"/>
              <a:sym typeface="Verdana"/>
            </a:endParaRPr>
          </a:p>
          <a:p>
            <a:pPr marL="466725"/>
            <a:endParaRPr sz="2400" dirty="0">
              <a:latin typeface="Verdana"/>
              <a:ea typeface="Verdana"/>
              <a:cs typeface="Verdana"/>
              <a:sym typeface="Verdana"/>
            </a:endParaRPr>
          </a:p>
          <a:p>
            <a:pPr marL="922338"/>
            <a:r>
              <a:rPr lang="en-US" sz="2400" dirty="0">
                <a:latin typeface="Verdana"/>
                <a:ea typeface="Verdana"/>
                <a:cs typeface="Verdana"/>
                <a:sym typeface="Verdana"/>
              </a:rPr>
              <a:t>Explain which display would be better for the data, a line plot or a histogram. If your recommendation is different from Part B, explain why.</a:t>
            </a:r>
            <a:endParaRPr dirty="0"/>
          </a:p>
        </p:txBody>
      </p:sp>
      <p:sp>
        <p:nvSpPr>
          <p:cNvPr id="280" name="Google Shape;280;p15"/>
          <p:cNvSpPr/>
          <p:nvPr/>
        </p:nvSpPr>
        <p:spPr>
          <a:xfrm>
            <a:off x="2888789" y="1637004"/>
            <a:ext cx="7524047" cy="400110"/>
          </a:xfrm>
          <a:prstGeom prst="rect">
            <a:avLst/>
          </a:prstGeom>
          <a:blipFill rotWithShape="1">
            <a:blip r:embed="rId4" cstate="screen">
              <a:alphaModFix/>
              <a:extLst>
                <a:ext uri="{28A0092B-C50C-407E-A947-70E740481C1C}">
                  <a14:useLocalDpi xmlns:a14="http://schemas.microsoft.com/office/drawing/2010/main"/>
                </a:ext>
              </a:extLst>
            </a:blip>
            <a:stretch>
              <a:fillRect/>
            </a:stretch>
          </a:blipFill>
          <a:ln>
            <a:noFill/>
          </a:ln>
        </p:spPr>
        <p:txBody>
          <a:bodyPr spcFirstLastPara="1" wrap="square" lIns="91425" tIns="45700" rIns="91425" bIns="45700" anchor="t" anchorCtr="0">
            <a:noAutofit/>
          </a:bodyPr>
          <a:lstStyle/>
          <a:p>
            <a:r>
              <a:rPr lang="en-US"/>
              <a:t> </a:t>
            </a:r>
            <a:endParaRPr/>
          </a:p>
        </p:txBody>
      </p:sp>
      <p:sp>
        <p:nvSpPr>
          <p:cNvPr id="281" name="Google Shape;281;p15"/>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271</a:t>
            </a:r>
            <a:endParaRPr i="1">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16"/>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88" name="Google Shape;288;p1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89" name="Google Shape;289;p16"/>
          <p:cNvSpPr txBox="1"/>
          <p:nvPr/>
        </p:nvSpPr>
        <p:spPr>
          <a:xfrm>
            <a:off x="914400" y="509508"/>
            <a:ext cx="10515600" cy="5262939"/>
          </a:xfrm>
          <a:prstGeom prst="rect">
            <a:avLst/>
          </a:prstGeom>
          <a:noFill/>
          <a:ln>
            <a:noFill/>
          </a:ln>
        </p:spPr>
        <p:txBody>
          <a:bodyPr spcFirstLastPara="1" wrap="square" lIns="91425" tIns="45700" rIns="91425" bIns="45700" anchor="t" anchorCtr="0">
            <a:spAutoFit/>
          </a:bodyPr>
          <a:lstStyle/>
          <a:p>
            <a:pPr marL="457200" indent="-457200">
              <a:buSzPct val="100000"/>
              <a:buFont typeface="Arial"/>
              <a:buAutoNum type="arabicPeriod" startAt="4"/>
            </a:pPr>
            <a:r>
              <a:rPr lang="en-US" sz="2400" dirty="0">
                <a:latin typeface="Verdana"/>
                <a:ea typeface="Verdana"/>
                <a:cs typeface="Verdana"/>
                <a:sym typeface="Verdana"/>
              </a:rPr>
              <a:t>Ms. </a:t>
            </a:r>
            <a:r>
              <a:rPr lang="en-US" sz="2400" dirty="0" err="1">
                <a:latin typeface="Verdana"/>
                <a:ea typeface="Verdana"/>
                <a:cs typeface="Verdana"/>
                <a:sym typeface="Verdana"/>
              </a:rPr>
              <a:t>Rallen</a:t>
            </a:r>
            <a:r>
              <a:rPr lang="en-US" sz="2400" dirty="0">
                <a:latin typeface="Verdana"/>
                <a:ea typeface="Verdana"/>
                <a:cs typeface="Verdana"/>
                <a:sym typeface="Verdana"/>
              </a:rPr>
              <a:t> asked her students how many pets they each have and wants to use a graphical representation that will allow her students to see the overall shape of the data and give them enough information to calculate the 5-number summary. </a:t>
            </a:r>
            <a:endParaRPr sz="2400" dirty="0"/>
          </a:p>
          <a:p>
            <a:r>
              <a:rPr lang="en-US" sz="2400" dirty="0">
                <a:latin typeface="Verdana"/>
                <a:ea typeface="Verdana"/>
                <a:cs typeface="Verdana"/>
                <a:sym typeface="Verdana"/>
              </a:rPr>
              <a:t> </a:t>
            </a:r>
            <a:endParaRPr sz="2400" dirty="0"/>
          </a:p>
          <a:p>
            <a:pPr marL="922338" indent="-455613">
              <a:buSzPct val="100000"/>
              <a:buFont typeface="Arial"/>
              <a:buAutoNum type="alphaLcPeriod"/>
            </a:pPr>
            <a:r>
              <a:rPr lang="en-US" sz="2400" dirty="0">
                <a:latin typeface="Verdana"/>
                <a:ea typeface="Verdana"/>
                <a:cs typeface="Verdana"/>
                <a:sym typeface="Verdana"/>
              </a:rPr>
              <a:t>Which graphical representation(s) should Ms. </a:t>
            </a:r>
            <a:r>
              <a:rPr lang="en-US" sz="2400" dirty="0" err="1">
                <a:latin typeface="Verdana"/>
                <a:ea typeface="Verdana"/>
                <a:cs typeface="Verdana"/>
                <a:sym typeface="Verdana"/>
              </a:rPr>
              <a:t>Rallen</a:t>
            </a:r>
            <a:r>
              <a:rPr lang="en-US" sz="2400" dirty="0">
                <a:latin typeface="Verdana"/>
                <a:ea typeface="Verdana"/>
                <a:cs typeface="Verdana"/>
                <a:sym typeface="Verdana"/>
              </a:rPr>
              <a:t> consider?</a:t>
            </a:r>
            <a:endParaRPr sz="2400" dirty="0"/>
          </a:p>
          <a:p>
            <a:pPr marL="922338" indent="-328613">
              <a:buSzPts val="2000"/>
            </a:pPr>
            <a:endParaRPr sz="2400" dirty="0">
              <a:latin typeface="Verdana"/>
              <a:ea typeface="Verdana"/>
              <a:cs typeface="Verdana"/>
              <a:sym typeface="Verdana"/>
            </a:endParaRPr>
          </a:p>
          <a:p>
            <a:pPr marL="922338" indent="-328613">
              <a:buSzPts val="2000"/>
            </a:pPr>
            <a:endParaRPr sz="2400" dirty="0">
              <a:latin typeface="Verdana"/>
              <a:ea typeface="Verdana"/>
              <a:cs typeface="Verdana"/>
              <a:sym typeface="Verdana"/>
            </a:endParaRPr>
          </a:p>
          <a:p>
            <a:pPr marL="922338" indent="-328613">
              <a:buSzPts val="2000"/>
            </a:pPr>
            <a:endParaRPr sz="2400" dirty="0">
              <a:latin typeface="Verdana"/>
              <a:ea typeface="Verdana"/>
              <a:cs typeface="Verdana"/>
              <a:sym typeface="Verdana"/>
            </a:endParaRPr>
          </a:p>
          <a:p>
            <a:pPr marL="922338" indent="-328613">
              <a:buSzPts val="2000"/>
            </a:pPr>
            <a:endParaRPr sz="2400" dirty="0">
              <a:latin typeface="Verdana"/>
              <a:ea typeface="Verdana"/>
              <a:cs typeface="Verdana"/>
              <a:sym typeface="Verdana"/>
            </a:endParaRPr>
          </a:p>
          <a:p>
            <a:pPr marL="922338" indent="-328613">
              <a:buSzPts val="2000"/>
            </a:pPr>
            <a:endParaRPr sz="2400" dirty="0">
              <a:latin typeface="Verdana"/>
              <a:ea typeface="Verdana"/>
              <a:cs typeface="Verdana"/>
              <a:sym typeface="Verdana"/>
            </a:endParaRPr>
          </a:p>
          <a:p>
            <a:pPr marL="922338" indent="-328613">
              <a:buSzPts val="2000"/>
            </a:pPr>
            <a:endParaRPr sz="2400" dirty="0">
              <a:latin typeface="Verdana"/>
              <a:ea typeface="Verdana"/>
              <a:cs typeface="Verdana"/>
              <a:sym typeface="Verdana"/>
            </a:endParaRPr>
          </a:p>
          <a:p>
            <a:pPr marL="923925" indent="-457200">
              <a:buSzPct val="100000"/>
              <a:buFont typeface="+mj-lt"/>
              <a:buAutoNum type="alphaLcPeriod" startAt="2"/>
            </a:pPr>
            <a:r>
              <a:rPr lang="en-US" sz="2400" dirty="0">
                <a:latin typeface="Verdana"/>
                <a:ea typeface="Verdana"/>
                <a:cs typeface="Verdana"/>
                <a:sym typeface="Verdana"/>
              </a:rPr>
              <a:t>Explain your reasoning. </a:t>
            </a:r>
            <a:endParaRPr sz="2400" dirty="0"/>
          </a:p>
        </p:txBody>
      </p:sp>
      <p:sp>
        <p:nvSpPr>
          <p:cNvPr id="290" name="Google Shape;290;p16"/>
          <p:cNvSpPr/>
          <p:nvPr/>
        </p:nvSpPr>
        <p:spPr>
          <a:xfrm>
            <a:off x="2703796" y="3429000"/>
            <a:ext cx="3173095" cy="1398270"/>
          </a:xfrm>
          <a:prstGeom prst="roundRect">
            <a:avLst>
              <a:gd name="adj" fmla="val 16667"/>
            </a:avLst>
          </a:prstGeom>
          <a:noFill/>
          <a:ln w="158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457200" indent="-400050">
              <a:buSzPts val="1800"/>
              <a:buFont typeface="Noto Sans Symbols"/>
              <a:buChar char="❑"/>
            </a:pPr>
            <a:r>
              <a:rPr lang="en-US" sz="1800" dirty="0">
                <a:latin typeface="Verdana"/>
                <a:ea typeface="Verdana"/>
                <a:cs typeface="Verdana"/>
                <a:sym typeface="Verdana"/>
              </a:rPr>
              <a:t>box plot</a:t>
            </a:r>
            <a:endParaRPr sz="1200" dirty="0">
              <a:solidFill>
                <a:schemeClr val="lt1"/>
              </a:solidFill>
              <a:latin typeface="Cambria"/>
              <a:ea typeface="Cambria"/>
              <a:cs typeface="Cambria"/>
              <a:sym typeface="Cambria"/>
            </a:endParaRPr>
          </a:p>
          <a:p>
            <a:pPr marL="457200" indent="-400050">
              <a:buSzPts val="1800"/>
              <a:buFont typeface="Noto Sans Symbols"/>
              <a:buChar char="❑"/>
            </a:pPr>
            <a:r>
              <a:rPr lang="en-US" sz="1800" dirty="0">
                <a:latin typeface="Verdana"/>
                <a:ea typeface="Verdana"/>
                <a:cs typeface="Verdana"/>
                <a:sym typeface="Verdana"/>
              </a:rPr>
              <a:t>line plot</a:t>
            </a:r>
            <a:endParaRPr sz="1200" dirty="0">
              <a:solidFill>
                <a:schemeClr val="lt1"/>
              </a:solidFill>
              <a:latin typeface="Cambria"/>
              <a:ea typeface="Cambria"/>
              <a:cs typeface="Cambria"/>
              <a:sym typeface="Cambria"/>
            </a:endParaRPr>
          </a:p>
          <a:p>
            <a:pPr marL="457200" indent="-400050">
              <a:buSzPts val="1800"/>
              <a:buFont typeface="Noto Sans Symbols"/>
              <a:buChar char="❑"/>
            </a:pPr>
            <a:r>
              <a:rPr lang="en-US" sz="1800" dirty="0">
                <a:latin typeface="Verdana"/>
                <a:ea typeface="Verdana"/>
                <a:cs typeface="Verdana"/>
                <a:sym typeface="Verdana"/>
              </a:rPr>
              <a:t>histogram</a:t>
            </a:r>
            <a:endParaRPr sz="1200" dirty="0">
              <a:solidFill>
                <a:schemeClr val="lt1"/>
              </a:solidFill>
              <a:latin typeface="Cambria"/>
              <a:ea typeface="Cambria"/>
              <a:cs typeface="Cambria"/>
              <a:sym typeface="Cambria"/>
            </a:endParaRPr>
          </a:p>
          <a:p>
            <a:pPr marL="457200" indent="-400050">
              <a:buSzPts val="1800"/>
              <a:buFont typeface="Noto Sans Symbols"/>
              <a:buChar char="❑"/>
            </a:pPr>
            <a:r>
              <a:rPr lang="en-US" sz="1800" dirty="0">
                <a:latin typeface="Verdana"/>
                <a:ea typeface="Verdana"/>
                <a:cs typeface="Verdana"/>
                <a:sym typeface="Verdana"/>
              </a:rPr>
              <a:t>stem-and-leaf plot</a:t>
            </a:r>
            <a:endParaRPr sz="1200" dirty="0">
              <a:solidFill>
                <a:schemeClr val="lt1"/>
              </a:solidFill>
              <a:latin typeface="Cambria"/>
              <a:ea typeface="Cambria"/>
              <a:cs typeface="Cambria"/>
              <a:sym typeface="Cambria"/>
            </a:endParaRPr>
          </a:p>
        </p:txBody>
      </p:sp>
      <p:sp>
        <p:nvSpPr>
          <p:cNvPr id="291" name="Google Shape;291;p16"/>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271</a:t>
            </a:r>
            <a:endParaRPr i="1" dirty="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17"/>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298" name="Google Shape;298;p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99" name="Google Shape;299;p17"/>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pic>
        <p:nvPicPr>
          <p:cNvPr id="300" name="Google Shape;300;p17" descr="Icon&#10;&#10;Description automatically generated"/>
          <p:cNvPicPr preferRelativeResize="0"/>
          <p:nvPr/>
        </p:nvPicPr>
        <p:blipFill rotWithShape="1">
          <a:blip r:embed="rId4">
            <a:alphaModFix/>
          </a:blip>
          <a:srcRect/>
          <a:stretch/>
        </p:blipFill>
        <p:spPr>
          <a:xfrm>
            <a:off x="3054096" y="2852923"/>
            <a:ext cx="1152144" cy="1152144"/>
          </a:xfrm>
          <a:prstGeom prst="rect">
            <a:avLst/>
          </a:prstGeom>
          <a:noFill/>
          <a:ln>
            <a:noFill/>
          </a:ln>
          <a:effectLst>
            <a:outerShdw blurRad="50800" dist="38100" dir="2700000" algn="tl" rotWithShape="0">
              <a:srgbClr val="000000">
                <a:alpha val="40000"/>
              </a:srgbClr>
            </a:outerShdw>
          </a:effectLst>
        </p:spPr>
      </p:pic>
      <p:sp>
        <p:nvSpPr>
          <p:cNvPr id="301" name="Google Shape;301;p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272</a:t>
            </a:r>
            <a:endParaRPr i="1">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18"/>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08" name="Google Shape;308;p1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09" name="Google Shape;309;p18"/>
          <p:cNvSpPr txBox="1"/>
          <p:nvPr/>
        </p:nvSpPr>
        <p:spPr>
          <a:xfrm>
            <a:off x="1143000" y="-12827"/>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54B5D1"/>
                </a:solidFill>
                <a:latin typeface="Verdana"/>
                <a:ea typeface="Verdana"/>
                <a:cs typeface="Verdana"/>
                <a:sym typeface="Verdana"/>
              </a:rPr>
              <a:t>13.7.3 Bring It Together: Choosing the Best Graphical Representation for Numerical Data</a:t>
            </a:r>
            <a:endParaRPr sz="3200" b="1" dirty="0">
              <a:solidFill>
                <a:srgbClr val="54B5D1"/>
              </a:solidFill>
              <a:latin typeface="Verdana"/>
              <a:ea typeface="Verdana"/>
              <a:cs typeface="Verdana"/>
              <a:sym typeface="Verdana"/>
            </a:endParaRPr>
          </a:p>
        </p:txBody>
      </p:sp>
      <p:pic>
        <p:nvPicPr>
          <p:cNvPr id="310" name="Google Shape;310;p18"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56616" y="100077"/>
            <a:ext cx="749808" cy="749808"/>
          </a:xfrm>
          <a:prstGeom prst="rect">
            <a:avLst/>
          </a:prstGeom>
          <a:noFill/>
          <a:ln>
            <a:noFill/>
          </a:ln>
          <a:effectLst>
            <a:outerShdw blurRad="50800" dist="38100" dir="2700000" algn="tl" rotWithShape="0">
              <a:srgbClr val="000000">
                <a:alpha val="40000"/>
              </a:srgbClr>
            </a:outerShdw>
          </a:effectLst>
        </p:spPr>
      </p:pic>
      <p:grpSp>
        <p:nvGrpSpPr>
          <p:cNvPr id="311" name="Google Shape;311;p18"/>
          <p:cNvGrpSpPr/>
          <p:nvPr/>
        </p:nvGrpSpPr>
        <p:grpSpPr>
          <a:xfrm>
            <a:off x="2781300" y="1865549"/>
            <a:ext cx="6629400" cy="1478914"/>
            <a:chOff x="2031300" y="3275734"/>
            <a:chExt cx="6629400" cy="1479177"/>
          </a:xfrm>
        </p:grpSpPr>
        <p:sp>
          <p:nvSpPr>
            <p:cNvPr id="312" name="Google Shape;312;p18"/>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13" name="Google Shape;313;p18"/>
            <p:cNvGrpSpPr/>
            <p:nvPr/>
          </p:nvGrpSpPr>
          <p:grpSpPr>
            <a:xfrm>
              <a:off x="2031300" y="3275734"/>
              <a:ext cx="6629400" cy="1479177"/>
              <a:chOff x="2031300" y="3275734"/>
              <a:chExt cx="6629400" cy="1479177"/>
            </a:xfrm>
          </p:grpSpPr>
          <p:sp>
            <p:nvSpPr>
              <p:cNvPr id="314" name="Google Shape;314;p18"/>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15" name="Google Shape;315;p18"/>
              <p:cNvGrpSpPr/>
              <p:nvPr/>
            </p:nvGrpSpPr>
            <p:grpSpPr>
              <a:xfrm>
                <a:off x="2031300" y="3275734"/>
                <a:ext cx="6629400" cy="1479177"/>
                <a:chOff x="2031300" y="3275734"/>
                <a:chExt cx="6629400" cy="1479177"/>
              </a:xfrm>
            </p:grpSpPr>
            <p:sp>
              <p:nvSpPr>
                <p:cNvPr id="316" name="Google Shape;316;p18"/>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17" name="Google Shape;317;p18"/>
                <p:cNvGrpSpPr/>
                <p:nvPr/>
              </p:nvGrpSpPr>
              <p:grpSpPr>
                <a:xfrm>
                  <a:off x="2031300" y="3275734"/>
                  <a:ext cx="6629400" cy="1479177"/>
                  <a:chOff x="2031300" y="3275734"/>
                  <a:chExt cx="6629400" cy="1479177"/>
                </a:xfrm>
              </p:grpSpPr>
              <p:sp>
                <p:nvSpPr>
                  <p:cNvPr id="318" name="Google Shape;318;p18"/>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19" name="Google Shape;319;p18"/>
                  <p:cNvGrpSpPr/>
                  <p:nvPr/>
                </p:nvGrpSpPr>
                <p:grpSpPr>
                  <a:xfrm>
                    <a:off x="2031300" y="3275734"/>
                    <a:ext cx="6629400" cy="1479177"/>
                    <a:chOff x="2031300" y="3275734"/>
                    <a:chExt cx="6629400" cy="1479177"/>
                  </a:xfrm>
                </p:grpSpPr>
                <p:sp>
                  <p:nvSpPr>
                    <p:cNvPr id="320" name="Google Shape;320;p18"/>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21" name="Google Shape;321;p18"/>
                    <p:cNvGrpSpPr/>
                    <p:nvPr/>
                  </p:nvGrpSpPr>
                  <p:grpSpPr>
                    <a:xfrm>
                      <a:off x="2031300" y="3275734"/>
                      <a:ext cx="6629400" cy="1479177"/>
                      <a:chOff x="0" y="-1"/>
                      <a:chExt cx="6629400" cy="1479177"/>
                    </a:xfrm>
                  </p:grpSpPr>
                  <p:sp>
                    <p:nvSpPr>
                      <p:cNvPr id="322" name="Google Shape;322;p18"/>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23" name="Google Shape;323;p18"/>
                      <p:cNvGrpSpPr/>
                      <p:nvPr/>
                    </p:nvGrpSpPr>
                    <p:grpSpPr>
                      <a:xfrm>
                        <a:off x="0" y="-1"/>
                        <a:ext cx="6629400" cy="1479177"/>
                        <a:chOff x="0" y="-1"/>
                        <a:chExt cx="6629400" cy="1479177"/>
                      </a:xfrm>
                    </p:grpSpPr>
                    <p:sp>
                      <p:nvSpPr>
                        <p:cNvPr id="324" name="Google Shape;324;p18"/>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sp>
                      <p:nvSpPr>
                        <p:cNvPr id="325" name="Google Shape;325;p18"/>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sp>
                      <p:nvSpPr>
                        <p:cNvPr id="326" name="Google Shape;326;p18"/>
                        <p:cNvSpPr/>
                        <p:nvPr/>
                      </p:nvSpPr>
                      <p:spPr>
                        <a:xfrm>
                          <a:off x="0" y="-1"/>
                          <a:ext cx="6629400" cy="1479177"/>
                        </a:xfrm>
                        <a:prstGeom prst="roundRect">
                          <a:avLst>
                            <a:gd name="adj" fmla="val 16667"/>
                          </a:avLst>
                        </a:prstGeom>
                        <a:solidFill>
                          <a:srgbClr val="B8E6F5"/>
                        </a:solidFill>
                        <a:ln>
                          <a:noFill/>
                        </a:ln>
                      </p:spPr>
                      <p:txBody>
                        <a:bodyPr spcFirstLastPara="1" wrap="square" lIns="91425" tIns="45700" rIns="91425" bIns="45700" anchor="ctr" anchorCtr="0">
                          <a:noAutofit/>
                        </a:bodyPr>
                        <a:lstStyle/>
                        <a:p>
                          <a:pPr marL="685800" marR="34290"/>
                          <a:r>
                            <a:rPr lang="en-US" sz="2000" b="1">
                              <a:solidFill>
                                <a:srgbClr val="00619E"/>
                              </a:solidFill>
                              <a:latin typeface="Verdana"/>
                              <a:ea typeface="Verdana"/>
                              <a:cs typeface="Verdana"/>
                              <a:sym typeface="Verdana"/>
                            </a:rPr>
                            <a:t>Line plots</a:t>
                          </a:r>
                          <a:r>
                            <a:rPr lang="en-US" sz="2000">
                              <a:solidFill>
                                <a:srgbClr val="00619E"/>
                              </a:solidFill>
                              <a:latin typeface="Verdana"/>
                              <a:ea typeface="Verdana"/>
                              <a:cs typeface="Verdana"/>
                              <a:sym typeface="Verdana"/>
                            </a:rPr>
                            <a:t> are best for smaller sets of data and when the goal is to see each value over a scale, making it easier to calculate measures of center and spread. </a:t>
                          </a:r>
                          <a:endParaRPr sz="2000">
                            <a:latin typeface="Cambria"/>
                            <a:ea typeface="Cambria"/>
                            <a:cs typeface="Cambria"/>
                            <a:sym typeface="Cambria"/>
                          </a:endParaRPr>
                        </a:p>
                      </p:txBody>
                    </p:sp>
                  </p:grpSp>
                  <p:pic>
                    <p:nvPicPr>
                      <p:cNvPr id="327" name="Google Shape;327;p18" descr="Icon&#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83914" y="140504"/>
                        <a:ext cx="539750" cy="539750"/>
                      </a:xfrm>
                      <a:prstGeom prst="rect">
                        <a:avLst/>
                      </a:prstGeom>
                      <a:noFill/>
                      <a:ln>
                        <a:noFill/>
                      </a:ln>
                      <a:effectLst>
                        <a:outerShdw blurRad="50800" dist="38100" dir="2700000" algn="tl" rotWithShape="0">
                          <a:srgbClr val="000000">
                            <a:alpha val="40000"/>
                          </a:srgbClr>
                        </a:outerShdw>
                      </a:effectLst>
                    </p:spPr>
                  </p:pic>
                </p:grpSp>
              </p:grpSp>
            </p:grpSp>
          </p:grpSp>
        </p:grpSp>
      </p:grpSp>
      <p:grpSp>
        <p:nvGrpSpPr>
          <p:cNvPr id="328" name="Google Shape;328;p18"/>
          <p:cNvGrpSpPr/>
          <p:nvPr/>
        </p:nvGrpSpPr>
        <p:grpSpPr>
          <a:xfrm>
            <a:off x="2781300" y="3559732"/>
            <a:ext cx="6629400" cy="2336068"/>
            <a:chOff x="2031300" y="3275734"/>
            <a:chExt cx="6629400" cy="2337059"/>
          </a:xfrm>
        </p:grpSpPr>
        <p:sp>
          <p:nvSpPr>
            <p:cNvPr id="329" name="Google Shape;329;p18"/>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30" name="Google Shape;330;p18"/>
            <p:cNvGrpSpPr/>
            <p:nvPr/>
          </p:nvGrpSpPr>
          <p:grpSpPr>
            <a:xfrm>
              <a:off x="2031300" y="3275734"/>
              <a:ext cx="6629400" cy="2337059"/>
              <a:chOff x="2031300" y="3275734"/>
              <a:chExt cx="6629400" cy="2337059"/>
            </a:xfrm>
          </p:grpSpPr>
          <p:sp>
            <p:nvSpPr>
              <p:cNvPr id="331" name="Google Shape;331;p18"/>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32" name="Google Shape;332;p18"/>
              <p:cNvGrpSpPr/>
              <p:nvPr/>
            </p:nvGrpSpPr>
            <p:grpSpPr>
              <a:xfrm>
                <a:off x="2031300" y="3275734"/>
                <a:ext cx="6629400" cy="2337059"/>
                <a:chOff x="2031300" y="3275734"/>
                <a:chExt cx="6629400" cy="2337059"/>
              </a:xfrm>
            </p:grpSpPr>
            <p:sp>
              <p:nvSpPr>
                <p:cNvPr id="333" name="Google Shape;333;p18"/>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34" name="Google Shape;334;p18"/>
                <p:cNvGrpSpPr/>
                <p:nvPr/>
              </p:nvGrpSpPr>
              <p:grpSpPr>
                <a:xfrm>
                  <a:off x="2031300" y="3275734"/>
                  <a:ext cx="6629400" cy="2337059"/>
                  <a:chOff x="2031300" y="3275734"/>
                  <a:chExt cx="6629400" cy="2337059"/>
                </a:xfrm>
              </p:grpSpPr>
              <p:sp>
                <p:nvSpPr>
                  <p:cNvPr id="335" name="Google Shape;335;p18"/>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36" name="Google Shape;336;p18"/>
                  <p:cNvGrpSpPr/>
                  <p:nvPr/>
                </p:nvGrpSpPr>
                <p:grpSpPr>
                  <a:xfrm>
                    <a:off x="2031300" y="3275734"/>
                    <a:ext cx="6629400" cy="2337059"/>
                    <a:chOff x="2031300" y="3275734"/>
                    <a:chExt cx="6629400" cy="2337059"/>
                  </a:xfrm>
                </p:grpSpPr>
                <p:sp>
                  <p:nvSpPr>
                    <p:cNvPr id="337" name="Google Shape;337;p18"/>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38" name="Google Shape;338;p18"/>
                    <p:cNvGrpSpPr/>
                    <p:nvPr/>
                  </p:nvGrpSpPr>
                  <p:grpSpPr>
                    <a:xfrm>
                      <a:off x="2031300" y="3275734"/>
                      <a:ext cx="6629400" cy="2337059"/>
                      <a:chOff x="0" y="-1"/>
                      <a:chExt cx="6629400" cy="2337059"/>
                    </a:xfrm>
                  </p:grpSpPr>
                  <p:sp>
                    <p:nvSpPr>
                      <p:cNvPr id="339" name="Google Shape;339;p18"/>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40" name="Google Shape;340;p18"/>
                      <p:cNvGrpSpPr/>
                      <p:nvPr/>
                    </p:nvGrpSpPr>
                    <p:grpSpPr>
                      <a:xfrm>
                        <a:off x="0" y="-1"/>
                        <a:ext cx="6629400" cy="2337059"/>
                        <a:chOff x="0" y="-1"/>
                        <a:chExt cx="6629400" cy="2337059"/>
                      </a:xfrm>
                    </p:grpSpPr>
                    <p:sp>
                      <p:nvSpPr>
                        <p:cNvPr id="341" name="Google Shape;341;p18"/>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sp>
                      <p:nvSpPr>
                        <p:cNvPr id="342" name="Google Shape;342;p18"/>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sp>
                      <p:nvSpPr>
                        <p:cNvPr id="343" name="Google Shape;343;p18"/>
                        <p:cNvSpPr/>
                        <p:nvPr/>
                      </p:nvSpPr>
                      <p:spPr>
                        <a:xfrm>
                          <a:off x="0" y="-1"/>
                          <a:ext cx="6629400" cy="2337059"/>
                        </a:xfrm>
                        <a:prstGeom prst="roundRect">
                          <a:avLst>
                            <a:gd name="adj" fmla="val 16667"/>
                          </a:avLst>
                        </a:prstGeom>
                        <a:solidFill>
                          <a:srgbClr val="B8E6F5"/>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685800" marR="34290"/>
                          <a:r>
                            <a:rPr lang="en-US" sz="2000" b="1">
                              <a:solidFill>
                                <a:srgbClr val="00619E"/>
                              </a:solidFill>
                              <a:latin typeface="Verdana"/>
                              <a:ea typeface="Verdana"/>
                              <a:cs typeface="Verdana"/>
                              <a:sym typeface="Verdana"/>
                            </a:rPr>
                            <a:t>Histograms</a:t>
                          </a:r>
                          <a:r>
                            <a:rPr lang="en-US" sz="2000">
                              <a:solidFill>
                                <a:srgbClr val="00619E"/>
                              </a:solidFill>
                              <a:latin typeface="Verdana"/>
                              <a:ea typeface="Verdana"/>
                              <a:cs typeface="Verdana"/>
                              <a:sym typeface="Verdana"/>
                            </a:rPr>
                            <a:t> are best for larger sets of data, data over a large range, or continuous data. One disadvantage is that the display cannot be used to calculate measures of center and spread since individual values cannot be determined from the display.  </a:t>
                          </a:r>
                          <a:endParaRPr sz="2000">
                            <a:latin typeface="Cambria"/>
                            <a:ea typeface="Cambria"/>
                            <a:cs typeface="Cambria"/>
                            <a:sym typeface="Cambria"/>
                          </a:endParaRPr>
                        </a:p>
                      </p:txBody>
                    </p:sp>
                  </p:grpSp>
                  <p:pic>
                    <p:nvPicPr>
                      <p:cNvPr id="344" name="Google Shape;344;p18" descr="Icon&#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83914" y="152454"/>
                        <a:ext cx="539750" cy="539750"/>
                      </a:xfrm>
                      <a:prstGeom prst="rect">
                        <a:avLst/>
                      </a:prstGeom>
                      <a:noFill/>
                      <a:ln>
                        <a:noFill/>
                      </a:ln>
                      <a:effectLst>
                        <a:outerShdw blurRad="50800" dist="38100" dir="2700000" algn="tl" rotWithShape="0">
                          <a:srgbClr val="000000">
                            <a:alpha val="40000"/>
                          </a:srgbClr>
                        </a:outerShdw>
                      </a:effectLst>
                    </p:spPr>
                  </p:pic>
                </p:grpSp>
              </p:grpSp>
            </p:grpSp>
          </p:grpSp>
        </p:grpSp>
      </p:grpSp>
      <p:sp>
        <p:nvSpPr>
          <p:cNvPr id="345" name="Google Shape;345;p1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272</a:t>
            </a:r>
            <a:endParaRPr i="1" dirty="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19"/>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52" name="Google Shape;352;p1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grpSp>
        <p:nvGrpSpPr>
          <p:cNvPr id="353" name="Google Shape;353;p19"/>
          <p:cNvGrpSpPr/>
          <p:nvPr/>
        </p:nvGrpSpPr>
        <p:grpSpPr>
          <a:xfrm>
            <a:off x="2714732" y="1359383"/>
            <a:ext cx="6750050" cy="1438274"/>
            <a:chOff x="2031300" y="3004732"/>
            <a:chExt cx="6750404" cy="1438527"/>
          </a:xfrm>
        </p:grpSpPr>
        <p:sp>
          <p:nvSpPr>
            <p:cNvPr id="354" name="Google Shape;354;p19"/>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55" name="Google Shape;355;p19"/>
            <p:cNvGrpSpPr/>
            <p:nvPr/>
          </p:nvGrpSpPr>
          <p:grpSpPr>
            <a:xfrm>
              <a:off x="2031300" y="3004732"/>
              <a:ext cx="6750404" cy="1438527"/>
              <a:chOff x="2031300" y="3004732"/>
              <a:chExt cx="6750404" cy="1438527"/>
            </a:xfrm>
          </p:grpSpPr>
          <p:sp>
            <p:nvSpPr>
              <p:cNvPr id="356" name="Google Shape;356;p19"/>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57" name="Google Shape;357;p19"/>
              <p:cNvGrpSpPr/>
              <p:nvPr/>
            </p:nvGrpSpPr>
            <p:grpSpPr>
              <a:xfrm>
                <a:off x="2031300" y="3004732"/>
                <a:ext cx="6750404" cy="1438527"/>
                <a:chOff x="2031300" y="3004732"/>
                <a:chExt cx="6750404" cy="1438527"/>
              </a:xfrm>
            </p:grpSpPr>
            <p:sp>
              <p:nvSpPr>
                <p:cNvPr id="358" name="Google Shape;358;p19"/>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59" name="Google Shape;359;p19"/>
                <p:cNvGrpSpPr/>
                <p:nvPr/>
              </p:nvGrpSpPr>
              <p:grpSpPr>
                <a:xfrm>
                  <a:off x="2031300" y="3004732"/>
                  <a:ext cx="6750404" cy="1438527"/>
                  <a:chOff x="2031300" y="3004732"/>
                  <a:chExt cx="6750404" cy="1438527"/>
                </a:xfrm>
              </p:grpSpPr>
              <p:sp>
                <p:nvSpPr>
                  <p:cNvPr id="360" name="Google Shape;360;p19"/>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61" name="Google Shape;361;p19"/>
                  <p:cNvGrpSpPr/>
                  <p:nvPr/>
                </p:nvGrpSpPr>
                <p:grpSpPr>
                  <a:xfrm>
                    <a:off x="2031300" y="3004732"/>
                    <a:ext cx="6750404" cy="1438527"/>
                    <a:chOff x="2031300" y="3004732"/>
                    <a:chExt cx="6750404" cy="1438527"/>
                  </a:xfrm>
                </p:grpSpPr>
                <p:sp>
                  <p:nvSpPr>
                    <p:cNvPr id="362" name="Google Shape;362;p19"/>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63" name="Google Shape;363;p19"/>
                    <p:cNvGrpSpPr/>
                    <p:nvPr/>
                  </p:nvGrpSpPr>
                  <p:grpSpPr>
                    <a:xfrm>
                      <a:off x="2031300" y="3004732"/>
                      <a:ext cx="6750404" cy="1438527"/>
                      <a:chOff x="0" y="-271003"/>
                      <a:chExt cx="6750404" cy="1438527"/>
                    </a:xfrm>
                  </p:grpSpPr>
                  <p:sp>
                    <p:nvSpPr>
                      <p:cNvPr id="364" name="Google Shape;364;p19"/>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65" name="Google Shape;365;p19"/>
                      <p:cNvGrpSpPr/>
                      <p:nvPr/>
                    </p:nvGrpSpPr>
                    <p:grpSpPr>
                      <a:xfrm>
                        <a:off x="0" y="-271003"/>
                        <a:ext cx="6750404" cy="1438527"/>
                        <a:chOff x="0" y="-271003"/>
                        <a:chExt cx="6750404" cy="1438527"/>
                      </a:xfrm>
                    </p:grpSpPr>
                    <p:sp>
                      <p:nvSpPr>
                        <p:cNvPr id="366" name="Google Shape;366;p19"/>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sp>
                      <p:nvSpPr>
                        <p:cNvPr id="367" name="Google Shape;367;p19"/>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sp>
                      <p:nvSpPr>
                        <p:cNvPr id="368" name="Google Shape;368;p19"/>
                        <p:cNvSpPr/>
                        <p:nvPr/>
                      </p:nvSpPr>
                      <p:spPr>
                        <a:xfrm>
                          <a:off x="121004" y="-271003"/>
                          <a:ext cx="6629400" cy="1438527"/>
                        </a:xfrm>
                        <a:prstGeom prst="roundRect">
                          <a:avLst>
                            <a:gd name="adj" fmla="val 16667"/>
                          </a:avLst>
                        </a:prstGeom>
                        <a:solidFill>
                          <a:srgbClr val="B8E6F5"/>
                        </a:solidFill>
                        <a:ln>
                          <a:noFill/>
                        </a:ln>
                      </p:spPr>
                      <p:txBody>
                        <a:bodyPr spcFirstLastPara="1" wrap="square" lIns="91425" tIns="45700" rIns="91425" bIns="45700" anchor="ctr" anchorCtr="0">
                          <a:noAutofit/>
                        </a:bodyPr>
                        <a:lstStyle/>
                        <a:p>
                          <a:pPr marL="685800" marR="34290"/>
                          <a:r>
                            <a:rPr lang="en-US" sz="2000" b="1">
                              <a:solidFill>
                                <a:srgbClr val="00619E"/>
                              </a:solidFill>
                              <a:latin typeface="Verdana"/>
                              <a:ea typeface="Verdana"/>
                              <a:cs typeface="Verdana"/>
                              <a:sym typeface="Verdana"/>
                            </a:rPr>
                            <a:t>Stem-and-leaf plots</a:t>
                          </a:r>
                          <a:r>
                            <a:rPr lang="en-US" sz="2000">
                              <a:solidFill>
                                <a:srgbClr val="00619E"/>
                              </a:solidFill>
                              <a:latin typeface="Verdana"/>
                              <a:ea typeface="Verdana"/>
                              <a:cs typeface="Verdana"/>
                              <a:sym typeface="Verdana"/>
                            </a:rPr>
                            <a:t> are helpful in visualizing the shape of a distribution, while still being able to see the individual values. </a:t>
                          </a:r>
                          <a:endParaRPr sz="2000">
                            <a:latin typeface="Cambria"/>
                            <a:ea typeface="Cambria"/>
                            <a:cs typeface="Cambria"/>
                            <a:sym typeface="Cambria"/>
                          </a:endParaRPr>
                        </a:p>
                      </p:txBody>
                    </p:sp>
                  </p:grpSp>
                  <p:pic>
                    <p:nvPicPr>
                      <p:cNvPr id="369" name="Google Shape;369;p19"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03043" y="-99365"/>
                        <a:ext cx="539750" cy="539750"/>
                      </a:xfrm>
                      <a:prstGeom prst="rect">
                        <a:avLst/>
                      </a:prstGeom>
                      <a:noFill/>
                      <a:ln>
                        <a:noFill/>
                      </a:ln>
                      <a:effectLst>
                        <a:outerShdw blurRad="50800" dist="38100" dir="2700000" algn="tl" rotWithShape="0">
                          <a:srgbClr val="000000">
                            <a:alpha val="40000"/>
                          </a:srgbClr>
                        </a:outerShdw>
                      </a:effectLst>
                    </p:spPr>
                  </p:pic>
                </p:grpSp>
              </p:grpSp>
            </p:grpSp>
          </p:grpSp>
        </p:grpSp>
      </p:grpSp>
      <p:grpSp>
        <p:nvGrpSpPr>
          <p:cNvPr id="370" name="Google Shape;370;p19"/>
          <p:cNvGrpSpPr/>
          <p:nvPr/>
        </p:nvGrpSpPr>
        <p:grpSpPr>
          <a:xfrm>
            <a:off x="2781300" y="3235641"/>
            <a:ext cx="6629400" cy="1577524"/>
            <a:chOff x="2031300" y="3136407"/>
            <a:chExt cx="6629400" cy="1578419"/>
          </a:xfrm>
        </p:grpSpPr>
        <p:sp>
          <p:nvSpPr>
            <p:cNvPr id="371" name="Google Shape;371;p19"/>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72" name="Google Shape;372;p19"/>
            <p:cNvGrpSpPr/>
            <p:nvPr/>
          </p:nvGrpSpPr>
          <p:grpSpPr>
            <a:xfrm>
              <a:off x="2031300" y="3136407"/>
              <a:ext cx="6629400" cy="1578419"/>
              <a:chOff x="2031300" y="3136407"/>
              <a:chExt cx="6629400" cy="1578419"/>
            </a:xfrm>
          </p:grpSpPr>
          <p:sp>
            <p:nvSpPr>
              <p:cNvPr id="373" name="Google Shape;373;p19"/>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74" name="Google Shape;374;p19"/>
              <p:cNvGrpSpPr/>
              <p:nvPr/>
            </p:nvGrpSpPr>
            <p:grpSpPr>
              <a:xfrm>
                <a:off x="2031300" y="3136407"/>
                <a:ext cx="6629400" cy="1578419"/>
                <a:chOff x="2031300" y="3136407"/>
                <a:chExt cx="6629400" cy="1578419"/>
              </a:xfrm>
            </p:grpSpPr>
            <p:sp>
              <p:nvSpPr>
                <p:cNvPr id="375" name="Google Shape;375;p19"/>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76" name="Google Shape;376;p19"/>
                <p:cNvGrpSpPr/>
                <p:nvPr/>
              </p:nvGrpSpPr>
              <p:grpSpPr>
                <a:xfrm>
                  <a:off x="2031300" y="3136407"/>
                  <a:ext cx="6629400" cy="1578419"/>
                  <a:chOff x="2031300" y="3136407"/>
                  <a:chExt cx="6629400" cy="1578419"/>
                </a:xfrm>
              </p:grpSpPr>
              <p:sp>
                <p:nvSpPr>
                  <p:cNvPr id="377" name="Google Shape;377;p19"/>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78" name="Google Shape;378;p19"/>
                  <p:cNvGrpSpPr/>
                  <p:nvPr/>
                </p:nvGrpSpPr>
                <p:grpSpPr>
                  <a:xfrm>
                    <a:off x="2031300" y="3136407"/>
                    <a:ext cx="6629400" cy="1578419"/>
                    <a:chOff x="2031300" y="3136407"/>
                    <a:chExt cx="6629400" cy="1578419"/>
                  </a:xfrm>
                </p:grpSpPr>
                <p:sp>
                  <p:nvSpPr>
                    <p:cNvPr id="379" name="Google Shape;379;p19"/>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80" name="Google Shape;380;p19"/>
                    <p:cNvGrpSpPr/>
                    <p:nvPr/>
                  </p:nvGrpSpPr>
                  <p:grpSpPr>
                    <a:xfrm>
                      <a:off x="2031300" y="3136407"/>
                      <a:ext cx="6629400" cy="1578419"/>
                      <a:chOff x="0" y="-139328"/>
                      <a:chExt cx="6629400" cy="1578419"/>
                    </a:xfrm>
                  </p:grpSpPr>
                  <p:sp>
                    <p:nvSpPr>
                      <p:cNvPr id="381" name="Google Shape;381;p19"/>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382" name="Google Shape;382;p19"/>
                      <p:cNvGrpSpPr/>
                      <p:nvPr/>
                    </p:nvGrpSpPr>
                    <p:grpSpPr>
                      <a:xfrm>
                        <a:off x="0" y="-139328"/>
                        <a:ext cx="6629400" cy="1578419"/>
                        <a:chOff x="0" y="-139328"/>
                        <a:chExt cx="6629400" cy="1578419"/>
                      </a:xfrm>
                    </p:grpSpPr>
                    <p:sp>
                      <p:nvSpPr>
                        <p:cNvPr id="383" name="Google Shape;383;p19"/>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sp>
                      <p:nvSpPr>
                        <p:cNvPr id="384" name="Google Shape;384;p19"/>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sp>
                      <p:nvSpPr>
                        <p:cNvPr id="385" name="Google Shape;385;p19"/>
                        <p:cNvSpPr/>
                        <p:nvPr/>
                      </p:nvSpPr>
                      <p:spPr>
                        <a:xfrm>
                          <a:off x="0" y="-139328"/>
                          <a:ext cx="6629400" cy="1578419"/>
                        </a:xfrm>
                        <a:prstGeom prst="roundRect">
                          <a:avLst>
                            <a:gd name="adj" fmla="val 16667"/>
                          </a:avLst>
                        </a:prstGeom>
                        <a:solidFill>
                          <a:srgbClr val="B8E6F5"/>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685800" marR="34290"/>
                          <a:r>
                            <a:rPr lang="en-US" sz="2000" b="1" dirty="0">
                              <a:solidFill>
                                <a:srgbClr val="00619E"/>
                              </a:solidFill>
                              <a:latin typeface="Verdana"/>
                              <a:ea typeface="Verdana"/>
                              <a:cs typeface="Verdana"/>
                              <a:sym typeface="Verdana"/>
                            </a:rPr>
                            <a:t>Box plots</a:t>
                          </a:r>
                          <a:r>
                            <a:rPr lang="en-US" sz="2000" dirty="0">
                              <a:solidFill>
                                <a:srgbClr val="00619E"/>
                              </a:solidFill>
                              <a:latin typeface="Verdana"/>
                              <a:ea typeface="Verdana"/>
                              <a:cs typeface="Verdana"/>
                              <a:sym typeface="Verdana"/>
                            </a:rPr>
                            <a:t> are helpful in visualizing the shape of a distribution and quickly identifying the five-number summary. This display cannot be used to find the mean. </a:t>
                          </a:r>
                          <a:endParaRPr sz="2000" dirty="0">
                            <a:latin typeface="Cambria"/>
                            <a:ea typeface="Cambria"/>
                            <a:cs typeface="Cambria"/>
                            <a:sym typeface="Cambria"/>
                          </a:endParaRPr>
                        </a:p>
                      </p:txBody>
                    </p:sp>
                  </p:grpSp>
                  <p:pic>
                    <p:nvPicPr>
                      <p:cNvPr id="386" name="Google Shape;386;p19"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80444" y="0"/>
                        <a:ext cx="539750" cy="539750"/>
                      </a:xfrm>
                      <a:prstGeom prst="rect">
                        <a:avLst/>
                      </a:prstGeom>
                      <a:noFill/>
                      <a:ln>
                        <a:noFill/>
                      </a:ln>
                      <a:effectLst>
                        <a:outerShdw blurRad="50800" dist="38100" dir="2700000" algn="tl" rotWithShape="0">
                          <a:srgbClr val="000000">
                            <a:alpha val="40000"/>
                          </a:srgbClr>
                        </a:outerShdw>
                      </a:effectLst>
                    </p:spPr>
                  </p:pic>
                </p:grpSp>
              </p:grpSp>
            </p:grpSp>
          </p:grpSp>
        </p:grpSp>
      </p:grpSp>
      <p:sp>
        <p:nvSpPr>
          <p:cNvPr id="387" name="Google Shape;387;p1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272</a:t>
            </a:r>
            <a:endParaRPr i="1" dirty="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20"/>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394" name="Google Shape;394;p2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95" name="Google Shape;395;p20"/>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396" name="Google Shape;396;p20"/>
          <p:cNvPicPr preferRelativeResize="0"/>
          <p:nvPr/>
        </p:nvPicPr>
        <p:blipFill rotWithShape="1">
          <a:blip r:embed="rId4">
            <a:alphaModFix/>
          </a:blip>
          <a:srcRect/>
          <a:stretch/>
        </p:blipFill>
        <p:spPr>
          <a:xfrm>
            <a:off x="3054096" y="2852928"/>
            <a:ext cx="1145792" cy="1158150"/>
          </a:xfrm>
          <a:prstGeom prst="rect">
            <a:avLst/>
          </a:prstGeom>
          <a:noFill/>
          <a:ln>
            <a:noFill/>
          </a:ln>
          <a:effectLst>
            <a:outerShdw blurRad="50800" dist="38100" dir="2700000" algn="tl" rotWithShape="0">
              <a:srgbClr val="000000">
                <a:alpha val="40000"/>
              </a:srgbClr>
            </a:outerShdw>
          </a:effectLst>
        </p:spPr>
      </p:pic>
      <p:sp>
        <p:nvSpPr>
          <p:cNvPr id="397" name="Google Shape;397;p2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272</a:t>
            </a:r>
            <a:endParaRPr i="1">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21"/>
          <p:cNvSpPr txBox="1"/>
          <p:nvPr/>
        </p:nvSpPr>
        <p:spPr>
          <a:xfrm>
            <a:off x="914400" y="1386025"/>
            <a:ext cx="10515600" cy="1569660"/>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sym typeface="Verdana"/>
              </a:rPr>
              <a:t>Two graphical representations that can be used to display categorical data are bar graphs and circle graphs. </a:t>
            </a:r>
            <a:endParaRPr dirty="0"/>
          </a:p>
          <a:p>
            <a:endParaRPr sz="2400" dirty="0">
              <a:latin typeface="Verdana"/>
              <a:ea typeface="Verdana"/>
              <a:cs typeface="Verdana"/>
              <a:sym typeface="Verdana"/>
            </a:endParaRPr>
          </a:p>
        </p:txBody>
      </p:sp>
      <p:grpSp>
        <p:nvGrpSpPr>
          <p:cNvPr id="404" name="Google Shape;404;p21"/>
          <p:cNvGrpSpPr/>
          <p:nvPr/>
        </p:nvGrpSpPr>
        <p:grpSpPr>
          <a:xfrm>
            <a:off x="2833983" y="3412935"/>
            <a:ext cx="6629400" cy="2122669"/>
            <a:chOff x="2031300" y="3252877"/>
            <a:chExt cx="6629400" cy="2123815"/>
          </a:xfrm>
        </p:grpSpPr>
        <p:sp>
          <p:nvSpPr>
            <p:cNvPr id="405" name="Google Shape;405;p21"/>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406" name="Google Shape;406;p21"/>
            <p:cNvGrpSpPr/>
            <p:nvPr/>
          </p:nvGrpSpPr>
          <p:grpSpPr>
            <a:xfrm>
              <a:off x="2031300" y="3252877"/>
              <a:ext cx="6629400" cy="2123815"/>
              <a:chOff x="2031300" y="3252877"/>
              <a:chExt cx="6629400" cy="2123815"/>
            </a:xfrm>
          </p:grpSpPr>
          <p:sp>
            <p:nvSpPr>
              <p:cNvPr id="407" name="Google Shape;407;p21"/>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408" name="Google Shape;408;p21"/>
              <p:cNvGrpSpPr/>
              <p:nvPr/>
            </p:nvGrpSpPr>
            <p:grpSpPr>
              <a:xfrm>
                <a:off x="2031300" y="3252877"/>
                <a:ext cx="6629400" cy="2123815"/>
                <a:chOff x="2031300" y="3252877"/>
                <a:chExt cx="6629400" cy="2123815"/>
              </a:xfrm>
            </p:grpSpPr>
            <p:sp>
              <p:nvSpPr>
                <p:cNvPr id="409" name="Google Shape;409;p21"/>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410" name="Google Shape;410;p21"/>
                <p:cNvGrpSpPr/>
                <p:nvPr/>
              </p:nvGrpSpPr>
              <p:grpSpPr>
                <a:xfrm>
                  <a:off x="2031300" y="3252877"/>
                  <a:ext cx="6629400" cy="2123815"/>
                  <a:chOff x="2031300" y="3252877"/>
                  <a:chExt cx="6629400" cy="2123815"/>
                </a:xfrm>
              </p:grpSpPr>
              <p:sp>
                <p:nvSpPr>
                  <p:cNvPr id="411" name="Google Shape;411;p21"/>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412" name="Google Shape;412;p21"/>
                  <p:cNvGrpSpPr/>
                  <p:nvPr/>
                </p:nvGrpSpPr>
                <p:grpSpPr>
                  <a:xfrm>
                    <a:off x="2031300" y="3252877"/>
                    <a:ext cx="6629400" cy="2123815"/>
                    <a:chOff x="2031300" y="3252877"/>
                    <a:chExt cx="6629400" cy="2123815"/>
                  </a:xfrm>
                </p:grpSpPr>
                <p:sp>
                  <p:nvSpPr>
                    <p:cNvPr id="413" name="Google Shape;413;p21"/>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414" name="Google Shape;414;p21"/>
                    <p:cNvGrpSpPr/>
                    <p:nvPr/>
                  </p:nvGrpSpPr>
                  <p:grpSpPr>
                    <a:xfrm>
                      <a:off x="2031300" y="3252880"/>
                      <a:ext cx="6629400" cy="2123812"/>
                      <a:chOff x="2031300" y="3262288"/>
                      <a:chExt cx="6629400" cy="2085893"/>
                    </a:xfrm>
                  </p:grpSpPr>
                  <p:sp>
                    <p:nvSpPr>
                      <p:cNvPr id="415" name="Google Shape;415;p21"/>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416" name="Google Shape;416;p21"/>
                      <p:cNvGrpSpPr/>
                      <p:nvPr/>
                    </p:nvGrpSpPr>
                    <p:grpSpPr>
                      <a:xfrm>
                        <a:off x="2031300" y="3262288"/>
                        <a:ext cx="6629400" cy="2085893"/>
                        <a:chOff x="2031300" y="3373600"/>
                        <a:chExt cx="6629400" cy="2085893"/>
                      </a:xfrm>
                    </p:grpSpPr>
                    <p:sp>
                      <p:nvSpPr>
                        <p:cNvPr id="417" name="Google Shape;417;p21"/>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418" name="Google Shape;418;p21"/>
                        <p:cNvGrpSpPr/>
                        <p:nvPr/>
                      </p:nvGrpSpPr>
                      <p:grpSpPr>
                        <a:xfrm>
                          <a:off x="2031300" y="3373600"/>
                          <a:ext cx="6629400" cy="2085893"/>
                          <a:chOff x="2031300" y="3373600"/>
                          <a:chExt cx="6629400" cy="2085893"/>
                        </a:xfrm>
                      </p:grpSpPr>
                      <p:sp>
                        <p:nvSpPr>
                          <p:cNvPr id="419" name="Google Shape;419;p21"/>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420" name="Google Shape;420;p21"/>
                          <p:cNvGrpSpPr/>
                          <p:nvPr/>
                        </p:nvGrpSpPr>
                        <p:grpSpPr>
                          <a:xfrm>
                            <a:off x="2031300" y="3373600"/>
                            <a:ext cx="6629400" cy="2085893"/>
                            <a:chOff x="0" y="0"/>
                            <a:chExt cx="6629400" cy="2085893"/>
                          </a:xfrm>
                        </p:grpSpPr>
                        <p:sp>
                          <p:nvSpPr>
                            <p:cNvPr id="421" name="Google Shape;421;p21"/>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sp>
                          <p:nvSpPr>
                            <p:cNvPr id="422" name="Google Shape;422;p21"/>
                            <p:cNvSpPr/>
                            <p:nvPr/>
                          </p:nvSpPr>
                          <p:spPr>
                            <a:xfrm>
                              <a:off x="0" y="0"/>
                              <a:ext cx="6629400" cy="2085893"/>
                            </a:xfrm>
                            <a:prstGeom prst="roundRect">
                              <a:avLst>
                                <a:gd name="adj" fmla="val 16667"/>
                              </a:avLst>
                            </a:prstGeom>
                            <a:solidFill>
                              <a:srgbClr val="E2EED5"/>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685800">
                                <a:spcAft>
                                  <a:spcPts val="1000"/>
                                </a:spcAft>
                              </a:pPr>
                              <a:r>
                                <a:rPr lang="en-US" sz="2000">
                                  <a:solidFill>
                                    <a:srgbClr val="6C993D"/>
                                  </a:solidFill>
                                  <a:latin typeface="Verdana"/>
                                  <a:ea typeface="Verdana"/>
                                  <a:cs typeface="Verdana"/>
                                  <a:sym typeface="Verdana"/>
                                </a:rPr>
                                <a:t>A </a:t>
                              </a:r>
                              <a:r>
                                <a:rPr lang="en-US" sz="2000" b="1" i="1">
                                  <a:solidFill>
                                    <a:srgbClr val="6C993D"/>
                                  </a:solidFill>
                                  <a:latin typeface="Verdana"/>
                                  <a:ea typeface="Verdana"/>
                                  <a:cs typeface="Verdana"/>
                                  <a:sym typeface="Verdana"/>
                                </a:rPr>
                                <a:t>bar graph</a:t>
                              </a:r>
                              <a:r>
                                <a:rPr lang="en-US" sz="2000">
                                  <a:solidFill>
                                    <a:srgbClr val="6C993D"/>
                                  </a:solidFill>
                                  <a:latin typeface="Verdana"/>
                                  <a:ea typeface="Verdana"/>
                                  <a:cs typeface="Verdana"/>
                                  <a:sym typeface="Verdana"/>
                                </a:rPr>
                                <a:t> is a visual display of categorical data values where each category is represented by a bar whose height represents the number in that category. Bar graphs can be represented vertically or horizontally.</a:t>
                              </a:r>
                              <a:r>
                                <a:rPr lang="en-US" sz="2000">
                                  <a:solidFill>
                                    <a:srgbClr val="6C993D"/>
                                  </a:solidFill>
                                  <a:latin typeface="Cambria"/>
                                  <a:ea typeface="Cambria"/>
                                  <a:cs typeface="Cambria"/>
                                  <a:sym typeface="Cambria"/>
                                </a:rPr>
                                <a:t> </a:t>
                              </a:r>
                              <a:endParaRPr sz="2000">
                                <a:latin typeface="Cambria"/>
                                <a:ea typeface="Cambria"/>
                                <a:cs typeface="Cambria"/>
                                <a:sym typeface="Cambria"/>
                              </a:endParaRPr>
                            </a:p>
                          </p:txBody>
                        </p:sp>
                        <p:pic>
                          <p:nvPicPr>
                            <p:cNvPr id="423" name="Google Shape;423;p21"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38545" y="192153"/>
                              <a:ext cx="539750" cy="539750"/>
                            </a:xfrm>
                            <a:prstGeom prst="rect">
                              <a:avLst/>
                            </a:prstGeom>
                            <a:noFill/>
                            <a:ln>
                              <a:noFill/>
                            </a:ln>
                            <a:effectLst>
                              <a:outerShdw blurRad="50800" dist="38100" dir="2700000" algn="tl" rotWithShape="0">
                                <a:srgbClr val="000000">
                                  <a:alpha val="40000"/>
                                </a:srgbClr>
                              </a:outerShdw>
                            </a:effectLst>
                          </p:spPr>
                        </p:pic>
                      </p:grpSp>
                    </p:grpSp>
                  </p:grpSp>
                </p:grpSp>
              </p:grpSp>
            </p:grpSp>
          </p:grpSp>
        </p:grpSp>
      </p:grpSp>
      <p:sp>
        <p:nvSpPr>
          <p:cNvPr id="424" name="Google Shape;424;p21"/>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25" name="Google Shape;425;p2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426" name="Google Shape;426;p21"/>
          <p:cNvSpPr txBox="1"/>
          <p:nvPr/>
        </p:nvSpPr>
        <p:spPr>
          <a:xfrm>
            <a:off x="1143000" y="-85979"/>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54B5D1"/>
                </a:solidFill>
                <a:latin typeface="Verdana"/>
                <a:ea typeface="Verdana"/>
                <a:cs typeface="Verdana"/>
                <a:sym typeface="Verdana"/>
              </a:rPr>
              <a:t>13.7.4 Guided Instruction: Graphical Representations for Categorical Data</a:t>
            </a:r>
            <a:endParaRPr sz="3200" b="1" dirty="0">
              <a:solidFill>
                <a:srgbClr val="54B5D1"/>
              </a:solidFill>
              <a:latin typeface="Verdana"/>
              <a:ea typeface="Verdana"/>
              <a:cs typeface="Verdana"/>
              <a:sym typeface="Verdana"/>
            </a:endParaRPr>
          </a:p>
        </p:txBody>
      </p:sp>
      <p:pic>
        <p:nvPicPr>
          <p:cNvPr id="427" name="Google Shape;427;p21"/>
          <p:cNvPicPr preferRelativeResize="0"/>
          <p:nvPr/>
        </p:nvPicPr>
        <p:blipFill rotWithShape="1">
          <a:blip r:embed="rId5">
            <a:alphaModFix/>
          </a:blip>
          <a:srcRect/>
          <a:stretch/>
        </p:blipFill>
        <p:spPr>
          <a:xfrm>
            <a:off x="356616" y="121285"/>
            <a:ext cx="747300" cy="747300"/>
          </a:xfrm>
          <a:prstGeom prst="rect">
            <a:avLst/>
          </a:prstGeom>
          <a:noFill/>
          <a:ln>
            <a:noFill/>
          </a:ln>
          <a:effectLst>
            <a:outerShdw blurRad="50800" dist="38100" dir="2700000" algn="tl" rotWithShape="0">
              <a:srgbClr val="000000">
                <a:alpha val="40000"/>
              </a:srgbClr>
            </a:outerShdw>
          </a:effectLst>
        </p:spPr>
      </p:pic>
      <p:sp>
        <p:nvSpPr>
          <p:cNvPr id="428" name="Google Shape;428;p2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272</a:t>
            </a:r>
            <a:endParaRPr i="1" dirty="0">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22"/>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35" name="Google Shape;435;p2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436" name="Google Shape;436;p22"/>
          <p:cNvSpPr txBox="1"/>
          <p:nvPr/>
        </p:nvSpPr>
        <p:spPr>
          <a:xfrm>
            <a:off x="914400" y="520393"/>
            <a:ext cx="10515600" cy="1569660"/>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sym typeface="Verdana"/>
              </a:rPr>
              <a:t>The vertical bar graph shows data collected from a survey on how students get to school. </a:t>
            </a:r>
            <a:endParaRPr dirty="0"/>
          </a:p>
          <a:p>
            <a:r>
              <a:rPr lang="en-US" sz="2400" dirty="0">
                <a:latin typeface="Verdana"/>
                <a:ea typeface="Verdana"/>
                <a:cs typeface="Verdana"/>
                <a:sym typeface="Verdana"/>
              </a:rPr>
              <a:t> </a:t>
            </a:r>
            <a:endParaRPr dirty="0"/>
          </a:p>
          <a:p>
            <a:endParaRPr sz="2400" dirty="0">
              <a:latin typeface="Verdana"/>
              <a:ea typeface="Verdana"/>
              <a:cs typeface="Verdana"/>
              <a:sym typeface="Verdana"/>
            </a:endParaRPr>
          </a:p>
        </p:txBody>
      </p:sp>
      <p:grpSp>
        <p:nvGrpSpPr>
          <p:cNvPr id="437" name="Google Shape;437;p22"/>
          <p:cNvGrpSpPr/>
          <p:nvPr/>
        </p:nvGrpSpPr>
        <p:grpSpPr>
          <a:xfrm>
            <a:off x="2813050" y="1648156"/>
            <a:ext cx="6565900" cy="4881083"/>
            <a:chOff x="1727241" y="1402909"/>
            <a:chExt cx="6565900" cy="4881083"/>
          </a:xfrm>
        </p:grpSpPr>
        <p:graphicFrame>
          <p:nvGraphicFramePr>
            <p:cNvPr id="438" name="Google Shape;438;p22"/>
            <p:cNvGraphicFramePr/>
            <p:nvPr/>
          </p:nvGraphicFramePr>
          <p:xfrm>
            <a:off x="1727241" y="1402909"/>
            <a:ext cx="6565900" cy="4343400"/>
          </p:xfrm>
          <a:graphic>
            <a:graphicData uri="http://schemas.openxmlformats.org/drawingml/2006/chart">
              <c:chart xmlns:c="http://schemas.openxmlformats.org/drawingml/2006/chart" xmlns:r="http://schemas.openxmlformats.org/officeDocument/2006/relationships" r:id="rId4"/>
            </a:graphicData>
          </a:graphic>
        </p:graphicFrame>
        <p:sp>
          <p:nvSpPr>
            <p:cNvPr id="439" name="Google Shape;439;p22"/>
            <p:cNvSpPr txBox="1"/>
            <p:nvPr/>
          </p:nvSpPr>
          <p:spPr>
            <a:xfrm>
              <a:off x="2994248" y="5793137"/>
              <a:ext cx="4546600" cy="490855"/>
            </a:xfrm>
            <a:prstGeom prst="rect">
              <a:avLst/>
            </a:prstGeom>
            <a:noFill/>
            <a:ln>
              <a:noFill/>
            </a:ln>
          </p:spPr>
          <p:txBody>
            <a:bodyPr spcFirstLastPara="1" wrap="square" lIns="91425" tIns="45700" rIns="91425" bIns="45700" anchor="t" anchorCtr="0">
              <a:noAutofit/>
            </a:bodyPr>
            <a:lstStyle/>
            <a:p>
              <a:pPr algn="ctr"/>
              <a:r>
                <a:rPr lang="en-US" sz="1800">
                  <a:latin typeface="Verdana"/>
                  <a:ea typeface="Verdana"/>
                  <a:cs typeface="Verdana"/>
                  <a:sym typeface="Verdana"/>
                </a:rPr>
                <a:t>Transportation Type</a:t>
              </a:r>
              <a:endParaRPr sz="1200">
                <a:latin typeface="Cambria"/>
                <a:ea typeface="Cambria"/>
                <a:cs typeface="Cambria"/>
                <a:sym typeface="Cambria"/>
              </a:endParaRPr>
            </a:p>
          </p:txBody>
        </p:sp>
        <p:sp>
          <p:nvSpPr>
            <p:cNvPr id="440" name="Google Shape;440;p22"/>
            <p:cNvSpPr txBox="1"/>
            <p:nvPr/>
          </p:nvSpPr>
          <p:spPr>
            <a:xfrm rot="-5400000">
              <a:off x="326113" y="2896378"/>
              <a:ext cx="3411855" cy="609600"/>
            </a:xfrm>
            <a:prstGeom prst="rect">
              <a:avLst/>
            </a:prstGeom>
            <a:noFill/>
            <a:ln>
              <a:noFill/>
            </a:ln>
          </p:spPr>
          <p:txBody>
            <a:bodyPr spcFirstLastPara="1" wrap="square" lIns="91425" tIns="45700" rIns="91425" bIns="45700" anchor="t" anchorCtr="0">
              <a:noAutofit/>
            </a:bodyPr>
            <a:lstStyle/>
            <a:p>
              <a:r>
                <a:rPr lang="en-US" sz="1800">
                  <a:latin typeface="Verdana"/>
                  <a:ea typeface="Verdana"/>
                  <a:cs typeface="Verdana"/>
                  <a:sym typeface="Verdana"/>
                </a:rPr>
                <a:t>Number of Students </a:t>
              </a:r>
              <a:endParaRPr sz="1200">
                <a:latin typeface="Cambria"/>
                <a:ea typeface="Cambria"/>
                <a:cs typeface="Cambria"/>
                <a:sym typeface="Cambria"/>
              </a:endParaRPr>
            </a:p>
          </p:txBody>
        </p:sp>
      </p:grpSp>
      <p:sp>
        <p:nvSpPr>
          <p:cNvPr id="441" name="Google Shape;441;p2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272</a:t>
            </a:r>
            <a:endParaRPr i="1" dirty="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23"/>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48" name="Google Shape;448;p2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449" name="Google Shape;449;p23"/>
          <p:cNvSpPr txBox="1"/>
          <p:nvPr/>
        </p:nvSpPr>
        <p:spPr>
          <a:xfrm>
            <a:off x="914400" y="520393"/>
            <a:ext cx="10515600" cy="1938992"/>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sym typeface="Verdana"/>
              </a:rPr>
              <a:t>The same data is also displayed in a horizontal bar graph.</a:t>
            </a:r>
            <a:endParaRPr dirty="0"/>
          </a:p>
          <a:p>
            <a:endParaRPr sz="2400" dirty="0">
              <a:latin typeface="Verdana"/>
              <a:ea typeface="Verdana"/>
              <a:cs typeface="Verdana"/>
              <a:sym typeface="Verdana"/>
            </a:endParaRPr>
          </a:p>
          <a:p>
            <a:r>
              <a:rPr lang="en-US" sz="2400" dirty="0">
                <a:latin typeface="Verdana"/>
                <a:ea typeface="Verdana"/>
                <a:cs typeface="Verdana"/>
                <a:sym typeface="Verdana"/>
              </a:rPr>
              <a:t> </a:t>
            </a:r>
            <a:endParaRPr dirty="0"/>
          </a:p>
          <a:p>
            <a:endParaRPr sz="2400" dirty="0">
              <a:latin typeface="Verdana"/>
              <a:ea typeface="Verdana"/>
              <a:cs typeface="Verdana"/>
              <a:sym typeface="Verdana"/>
            </a:endParaRPr>
          </a:p>
        </p:txBody>
      </p:sp>
      <p:graphicFrame>
        <p:nvGraphicFramePr>
          <p:cNvPr id="450" name="Google Shape;450;p23"/>
          <p:cNvGraphicFramePr/>
          <p:nvPr>
            <p:extLst>
              <p:ext uri="{D42A27DB-BD31-4B8C-83A1-F6EECF244321}">
                <p14:modId xmlns:p14="http://schemas.microsoft.com/office/powerpoint/2010/main" val="2759334238"/>
              </p:ext>
            </p:extLst>
          </p:nvPr>
        </p:nvGraphicFramePr>
        <p:xfrm>
          <a:off x="3003600" y="1403400"/>
          <a:ext cx="6337200" cy="4051200"/>
        </p:xfrm>
        <a:graphic>
          <a:graphicData uri="http://schemas.openxmlformats.org/drawingml/2006/chart">
            <c:chart xmlns:c="http://schemas.openxmlformats.org/drawingml/2006/chart" xmlns:r="http://schemas.openxmlformats.org/officeDocument/2006/relationships" r:id="rId4"/>
          </a:graphicData>
        </a:graphic>
      </p:graphicFrame>
      <p:sp>
        <p:nvSpPr>
          <p:cNvPr id="451" name="Google Shape;451;p23"/>
          <p:cNvSpPr txBox="1"/>
          <p:nvPr/>
        </p:nvSpPr>
        <p:spPr>
          <a:xfrm>
            <a:off x="5117215" y="5651337"/>
            <a:ext cx="3087000" cy="609600"/>
          </a:xfrm>
          <a:prstGeom prst="rect">
            <a:avLst/>
          </a:prstGeom>
          <a:noFill/>
          <a:ln>
            <a:noFill/>
          </a:ln>
        </p:spPr>
        <p:txBody>
          <a:bodyPr spcFirstLastPara="1" wrap="square" lIns="91425" tIns="45700" rIns="91425" bIns="45700" anchor="t" anchorCtr="0">
            <a:noAutofit/>
          </a:bodyPr>
          <a:lstStyle/>
          <a:p>
            <a:r>
              <a:rPr lang="en-US" sz="1800" dirty="0">
                <a:latin typeface="Verdana"/>
                <a:ea typeface="Verdana"/>
                <a:cs typeface="Verdana"/>
                <a:sym typeface="Verdana"/>
              </a:rPr>
              <a:t>Number of Students </a:t>
            </a:r>
            <a:endParaRPr sz="1200" dirty="0">
              <a:latin typeface="Cambria"/>
              <a:ea typeface="Cambria"/>
              <a:cs typeface="Cambria"/>
              <a:sym typeface="Cambria"/>
            </a:endParaRPr>
          </a:p>
        </p:txBody>
      </p:sp>
      <p:sp>
        <p:nvSpPr>
          <p:cNvPr id="452" name="Google Shape;452;p23"/>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273</a:t>
            </a:r>
            <a:endParaRPr i="1" dirty="0">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24"/>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59" name="Google Shape;459;p2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grpSp>
        <p:nvGrpSpPr>
          <p:cNvPr id="460" name="Google Shape;460;p24"/>
          <p:cNvGrpSpPr/>
          <p:nvPr/>
        </p:nvGrpSpPr>
        <p:grpSpPr>
          <a:xfrm>
            <a:off x="2781300" y="2231616"/>
            <a:ext cx="6629400" cy="2133552"/>
            <a:chOff x="2031300" y="3252877"/>
            <a:chExt cx="6629400" cy="2134704"/>
          </a:xfrm>
        </p:grpSpPr>
        <p:sp>
          <p:nvSpPr>
            <p:cNvPr id="461" name="Google Shape;461;p24"/>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462" name="Google Shape;462;p24"/>
            <p:cNvGrpSpPr/>
            <p:nvPr/>
          </p:nvGrpSpPr>
          <p:grpSpPr>
            <a:xfrm>
              <a:off x="2031300" y="3252877"/>
              <a:ext cx="6629400" cy="2134704"/>
              <a:chOff x="2031300" y="3252877"/>
              <a:chExt cx="6629400" cy="2134704"/>
            </a:xfrm>
          </p:grpSpPr>
          <p:sp>
            <p:nvSpPr>
              <p:cNvPr id="463" name="Google Shape;463;p24"/>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464" name="Google Shape;464;p24"/>
              <p:cNvGrpSpPr/>
              <p:nvPr/>
            </p:nvGrpSpPr>
            <p:grpSpPr>
              <a:xfrm>
                <a:off x="2031300" y="3252877"/>
                <a:ext cx="6629400" cy="2134704"/>
                <a:chOff x="2031300" y="3252877"/>
                <a:chExt cx="6629400" cy="2134704"/>
              </a:xfrm>
            </p:grpSpPr>
            <p:sp>
              <p:nvSpPr>
                <p:cNvPr id="465" name="Google Shape;465;p24"/>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466" name="Google Shape;466;p24"/>
                <p:cNvGrpSpPr/>
                <p:nvPr/>
              </p:nvGrpSpPr>
              <p:grpSpPr>
                <a:xfrm>
                  <a:off x="2031300" y="3252877"/>
                  <a:ext cx="6629400" cy="2134704"/>
                  <a:chOff x="2031300" y="3252877"/>
                  <a:chExt cx="6629400" cy="2134704"/>
                </a:xfrm>
              </p:grpSpPr>
              <p:sp>
                <p:nvSpPr>
                  <p:cNvPr id="467" name="Google Shape;467;p24"/>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468" name="Google Shape;468;p24"/>
                  <p:cNvGrpSpPr/>
                  <p:nvPr/>
                </p:nvGrpSpPr>
                <p:grpSpPr>
                  <a:xfrm>
                    <a:off x="2031300" y="3252877"/>
                    <a:ext cx="6629400" cy="2134704"/>
                    <a:chOff x="2031300" y="3252877"/>
                    <a:chExt cx="6629400" cy="2134704"/>
                  </a:xfrm>
                </p:grpSpPr>
                <p:sp>
                  <p:nvSpPr>
                    <p:cNvPr id="469" name="Google Shape;469;p24"/>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470" name="Google Shape;470;p24"/>
                    <p:cNvGrpSpPr/>
                    <p:nvPr/>
                  </p:nvGrpSpPr>
                  <p:grpSpPr>
                    <a:xfrm>
                      <a:off x="2031300" y="3252879"/>
                      <a:ext cx="6629400" cy="2134702"/>
                      <a:chOff x="2031300" y="3262288"/>
                      <a:chExt cx="6629400" cy="2096589"/>
                    </a:xfrm>
                  </p:grpSpPr>
                  <p:sp>
                    <p:nvSpPr>
                      <p:cNvPr id="471" name="Google Shape;471;p24"/>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472" name="Google Shape;472;p24"/>
                      <p:cNvGrpSpPr/>
                      <p:nvPr/>
                    </p:nvGrpSpPr>
                    <p:grpSpPr>
                      <a:xfrm>
                        <a:off x="2031300" y="3262288"/>
                        <a:ext cx="6629400" cy="2096589"/>
                        <a:chOff x="2031300" y="3373600"/>
                        <a:chExt cx="6629400" cy="2096589"/>
                      </a:xfrm>
                    </p:grpSpPr>
                    <p:sp>
                      <p:nvSpPr>
                        <p:cNvPr id="473" name="Google Shape;473;p24"/>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474" name="Google Shape;474;p24"/>
                        <p:cNvGrpSpPr/>
                        <p:nvPr/>
                      </p:nvGrpSpPr>
                      <p:grpSpPr>
                        <a:xfrm>
                          <a:off x="2031300" y="3373600"/>
                          <a:ext cx="6629400" cy="2096589"/>
                          <a:chOff x="2031300" y="3373600"/>
                          <a:chExt cx="6629400" cy="2096589"/>
                        </a:xfrm>
                      </p:grpSpPr>
                      <p:sp>
                        <p:nvSpPr>
                          <p:cNvPr id="475" name="Google Shape;475;p24"/>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476" name="Google Shape;476;p24"/>
                          <p:cNvGrpSpPr/>
                          <p:nvPr/>
                        </p:nvGrpSpPr>
                        <p:grpSpPr>
                          <a:xfrm>
                            <a:off x="2031300" y="3373600"/>
                            <a:ext cx="6629400" cy="2096589"/>
                            <a:chOff x="0" y="0"/>
                            <a:chExt cx="6629400" cy="2096589"/>
                          </a:xfrm>
                        </p:grpSpPr>
                        <p:sp>
                          <p:nvSpPr>
                            <p:cNvPr id="477" name="Google Shape;477;p24"/>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sp>
                          <p:nvSpPr>
                            <p:cNvPr id="478" name="Google Shape;478;p24"/>
                            <p:cNvSpPr/>
                            <p:nvPr/>
                          </p:nvSpPr>
                          <p:spPr>
                            <a:xfrm>
                              <a:off x="0" y="0"/>
                              <a:ext cx="6629400" cy="2096589"/>
                            </a:xfrm>
                            <a:prstGeom prst="roundRect">
                              <a:avLst>
                                <a:gd name="adj" fmla="val 16667"/>
                              </a:avLst>
                            </a:prstGeom>
                            <a:solidFill>
                              <a:srgbClr val="E2EED5"/>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685800">
                                <a:spcAft>
                                  <a:spcPts val="1000"/>
                                </a:spcAft>
                              </a:pPr>
                              <a:r>
                                <a:rPr lang="en-US" sz="2000">
                                  <a:solidFill>
                                    <a:srgbClr val="6C993D"/>
                                  </a:solidFill>
                                  <a:latin typeface="Verdana"/>
                                  <a:ea typeface="Verdana"/>
                                  <a:cs typeface="Verdana"/>
                                  <a:sym typeface="Verdana"/>
                                </a:rPr>
                                <a:t>A </a:t>
                              </a:r>
                              <a:r>
                                <a:rPr lang="en-US" sz="2000" b="1" i="1">
                                  <a:solidFill>
                                    <a:srgbClr val="6C993D"/>
                                  </a:solidFill>
                                  <a:latin typeface="Verdana"/>
                                  <a:ea typeface="Verdana"/>
                                  <a:cs typeface="Verdana"/>
                                  <a:sym typeface="Verdana"/>
                                </a:rPr>
                                <a:t>circle graph</a:t>
                              </a:r>
                              <a:r>
                                <a:rPr lang="en-US" sz="2000">
                                  <a:solidFill>
                                    <a:srgbClr val="6C993D"/>
                                  </a:solidFill>
                                  <a:latin typeface="Verdana"/>
                                  <a:ea typeface="Verdana"/>
                                  <a:cs typeface="Verdana"/>
                                  <a:sym typeface="Verdana"/>
                                </a:rPr>
                                <a:t> is a visual display of categorical data. The whole set of data is represented by the circle and its interior. The categories are represented by fractional parts of the circle. This is also called a pie chart. </a:t>
                              </a:r>
                              <a:r>
                                <a:rPr lang="en-US" sz="2000">
                                  <a:solidFill>
                                    <a:srgbClr val="6C993D"/>
                                  </a:solidFill>
                                  <a:latin typeface="Cambria"/>
                                  <a:ea typeface="Cambria"/>
                                  <a:cs typeface="Cambria"/>
                                  <a:sym typeface="Cambria"/>
                                </a:rPr>
                                <a:t> </a:t>
                              </a:r>
                              <a:endParaRPr sz="2000">
                                <a:latin typeface="Cambria"/>
                                <a:ea typeface="Cambria"/>
                                <a:cs typeface="Cambria"/>
                                <a:sym typeface="Cambria"/>
                              </a:endParaRPr>
                            </a:p>
                          </p:txBody>
                        </p:sp>
                        <p:pic>
                          <p:nvPicPr>
                            <p:cNvPr id="479" name="Google Shape;479;p24"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38545" y="192153"/>
                              <a:ext cx="539750" cy="539750"/>
                            </a:xfrm>
                            <a:prstGeom prst="rect">
                              <a:avLst/>
                            </a:prstGeom>
                            <a:noFill/>
                            <a:ln>
                              <a:noFill/>
                            </a:ln>
                            <a:effectLst>
                              <a:outerShdw blurRad="50800" dist="38100" dir="2700000" algn="tl" rotWithShape="0">
                                <a:srgbClr val="000000">
                                  <a:alpha val="40000"/>
                                </a:srgbClr>
                              </a:outerShdw>
                            </a:effectLst>
                          </p:spPr>
                        </p:pic>
                      </p:grpSp>
                    </p:grpSp>
                  </p:grpSp>
                </p:grpSp>
              </p:grpSp>
            </p:grpSp>
          </p:grpSp>
        </p:grpSp>
      </p:grpSp>
      <p:sp>
        <p:nvSpPr>
          <p:cNvPr id="480" name="Google Shape;480;p24"/>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273</a:t>
            </a:r>
            <a:endParaRPr i="1" dirty="0">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25"/>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87" name="Google Shape;487;p2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488" name="Google Shape;488;p25"/>
          <p:cNvSpPr txBox="1"/>
          <p:nvPr/>
        </p:nvSpPr>
        <p:spPr>
          <a:xfrm>
            <a:off x="2007765" y="520394"/>
            <a:ext cx="8327136" cy="1200329"/>
          </a:xfrm>
          <a:prstGeom prst="rect">
            <a:avLst/>
          </a:prstGeom>
          <a:noFill/>
          <a:ln>
            <a:noFill/>
          </a:ln>
        </p:spPr>
        <p:txBody>
          <a:bodyPr spcFirstLastPara="1" wrap="square" lIns="91425" tIns="45700" rIns="91425" bIns="45700" anchor="t" anchorCtr="0">
            <a:spAutoFit/>
          </a:bodyPr>
          <a:lstStyle/>
          <a:p>
            <a:r>
              <a:rPr lang="en-US" sz="2400">
                <a:latin typeface="Verdana"/>
                <a:ea typeface="Verdana"/>
                <a:cs typeface="Verdana"/>
                <a:sym typeface="Verdana"/>
              </a:rPr>
              <a:t>The circle graph below shows the same data.</a:t>
            </a:r>
            <a:endParaRPr/>
          </a:p>
          <a:p>
            <a:r>
              <a:rPr lang="en-US" sz="2400">
                <a:latin typeface="Verdana"/>
                <a:ea typeface="Verdana"/>
                <a:cs typeface="Verdana"/>
                <a:sym typeface="Verdana"/>
              </a:rPr>
              <a:t> </a:t>
            </a:r>
            <a:endParaRPr/>
          </a:p>
          <a:p>
            <a:endParaRPr sz="2400">
              <a:latin typeface="Verdana"/>
              <a:ea typeface="Verdana"/>
              <a:cs typeface="Verdana"/>
              <a:sym typeface="Verdana"/>
            </a:endParaRPr>
          </a:p>
        </p:txBody>
      </p:sp>
      <p:graphicFrame>
        <p:nvGraphicFramePr>
          <p:cNvPr id="489" name="Google Shape;489;p25"/>
          <p:cNvGraphicFramePr/>
          <p:nvPr/>
        </p:nvGraphicFramePr>
        <p:xfrm>
          <a:off x="3441786" y="1588646"/>
          <a:ext cx="5459095" cy="3482975"/>
        </p:xfrm>
        <a:graphic>
          <a:graphicData uri="http://schemas.openxmlformats.org/drawingml/2006/chart">
            <c:chart xmlns:c="http://schemas.openxmlformats.org/drawingml/2006/chart" xmlns:r="http://schemas.openxmlformats.org/officeDocument/2006/relationships" r:id="rId4"/>
          </a:graphicData>
        </a:graphic>
      </p:graphicFrame>
      <p:sp>
        <p:nvSpPr>
          <p:cNvPr id="490" name="Google Shape;490;p25"/>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273</a:t>
            </a:r>
            <a:endParaRPr i="1" dirty="0">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26"/>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97" name="Google Shape;497;p2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498" name="Google Shape;498;p26"/>
          <p:cNvSpPr txBox="1"/>
          <p:nvPr/>
        </p:nvSpPr>
        <p:spPr>
          <a:xfrm>
            <a:off x="914400" y="520393"/>
            <a:ext cx="10515600" cy="3416320"/>
          </a:xfrm>
          <a:prstGeom prst="rect">
            <a:avLst/>
          </a:prstGeom>
          <a:noFill/>
          <a:ln>
            <a:noFill/>
          </a:ln>
        </p:spPr>
        <p:txBody>
          <a:bodyPr spcFirstLastPara="1" wrap="square" lIns="91425" tIns="45700" rIns="91425" bIns="45700" anchor="t" anchorCtr="0">
            <a:spAutoFit/>
          </a:bodyPr>
          <a:lstStyle/>
          <a:p>
            <a:pPr marL="457200" indent="-457200">
              <a:buSzPts val="2400"/>
              <a:buFont typeface="Arial"/>
              <a:buAutoNum type="arabicPeriod"/>
            </a:pPr>
            <a:r>
              <a:rPr lang="en-US" sz="2400" dirty="0">
                <a:latin typeface="Verdana"/>
                <a:ea typeface="Verdana"/>
                <a:cs typeface="Verdana"/>
                <a:sym typeface="Verdana"/>
              </a:rPr>
              <a:t>Complete the statements. </a:t>
            </a:r>
            <a:endParaRPr dirty="0"/>
          </a:p>
          <a:p>
            <a:r>
              <a:rPr lang="en-US" sz="2400" dirty="0">
                <a:latin typeface="Verdana"/>
                <a:ea typeface="Verdana"/>
                <a:cs typeface="Verdana"/>
                <a:sym typeface="Verdana"/>
              </a:rPr>
              <a:t> </a:t>
            </a:r>
            <a:endParaRPr dirty="0"/>
          </a:p>
          <a:p>
            <a:pPr marL="466725"/>
            <a:r>
              <a:rPr lang="en-US" sz="2400" dirty="0">
                <a:latin typeface="Verdana"/>
                <a:ea typeface="Verdana"/>
                <a:cs typeface="Verdana"/>
                <a:sym typeface="Verdana"/>
              </a:rPr>
              <a:t>The bar graph visually shows </a:t>
            </a:r>
            <a:endParaRPr dirty="0"/>
          </a:p>
          <a:p>
            <a:r>
              <a:rPr lang="en-US" sz="2400" dirty="0">
                <a:latin typeface="Verdana"/>
                <a:ea typeface="Verdana"/>
                <a:cs typeface="Verdana"/>
                <a:sym typeface="Verdana"/>
              </a:rPr>
              <a:t> </a:t>
            </a:r>
            <a:endParaRPr dirty="0"/>
          </a:p>
          <a:p>
            <a:endParaRPr sz="2400" dirty="0">
              <a:latin typeface="Verdana"/>
              <a:ea typeface="Verdana"/>
              <a:cs typeface="Verdana"/>
              <a:sym typeface="Verdana"/>
            </a:endParaRPr>
          </a:p>
          <a:p>
            <a:endParaRPr sz="2400" dirty="0">
              <a:latin typeface="Verdana"/>
              <a:ea typeface="Verdana"/>
              <a:cs typeface="Verdana"/>
              <a:sym typeface="Verdana"/>
            </a:endParaRPr>
          </a:p>
          <a:p>
            <a:endParaRPr sz="2400" dirty="0">
              <a:latin typeface="Verdana"/>
              <a:ea typeface="Verdana"/>
              <a:cs typeface="Verdana"/>
              <a:sym typeface="Verdana"/>
            </a:endParaRPr>
          </a:p>
          <a:p>
            <a:pPr marL="466725"/>
            <a:r>
              <a:rPr lang="en-US" sz="2400" dirty="0">
                <a:latin typeface="Verdana"/>
                <a:ea typeface="Verdana"/>
                <a:cs typeface="Verdana"/>
                <a:sym typeface="Verdana"/>
              </a:rPr>
              <a:t>The circle graph shows </a:t>
            </a:r>
            <a:endParaRPr dirty="0"/>
          </a:p>
          <a:p>
            <a:endParaRPr sz="2400" dirty="0">
              <a:latin typeface="Verdana"/>
              <a:ea typeface="Verdana"/>
              <a:cs typeface="Verdana"/>
              <a:sym typeface="Verdana"/>
            </a:endParaRPr>
          </a:p>
        </p:txBody>
      </p:sp>
      <p:sp>
        <p:nvSpPr>
          <p:cNvPr id="499" name="Google Shape;499;p26"/>
          <p:cNvSpPr/>
          <p:nvPr/>
        </p:nvSpPr>
        <p:spPr>
          <a:xfrm>
            <a:off x="2503714" y="1773465"/>
            <a:ext cx="6477000" cy="850900"/>
          </a:xfrm>
          <a:prstGeom prst="roundRect">
            <a:avLst>
              <a:gd name="adj" fmla="val 16667"/>
            </a:avLst>
          </a:prstGeom>
          <a:noFill/>
          <a:ln w="158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342900" indent="-342900">
              <a:buSzPts val="2000"/>
              <a:buFont typeface="Courier New"/>
              <a:buChar char="o"/>
            </a:pPr>
            <a:r>
              <a:rPr lang="en-US" sz="2000">
                <a:latin typeface="Verdana"/>
                <a:ea typeface="Verdana"/>
                <a:cs typeface="Verdana"/>
                <a:sym typeface="Verdana"/>
              </a:rPr>
              <a:t>how each part relates to the whole.</a:t>
            </a:r>
            <a:endParaRPr sz="2000">
              <a:solidFill>
                <a:schemeClr val="lt1"/>
              </a:solidFill>
              <a:latin typeface="Cambria"/>
              <a:ea typeface="Cambria"/>
              <a:cs typeface="Cambria"/>
              <a:sym typeface="Cambria"/>
            </a:endParaRPr>
          </a:p>
          <a:p>
            <a:pPr marL="342900" indent="-342900">
              <a:buSzPts val="2000"/>
              <a:buFont typeface="Courier New"/>
              <a:buChar char="o"/>
            </a:pPr>
            <a:r>
              <a:rPr lang="en-US" sz="2000">
                <a:latin typeface="Verdana"/>
                <a:ea typeface="Verdana"/>
                <a:cs typeface="Verdana"/>
                <a:sym typeface="Verdana"/>
              </a:rPr>
              <a:t>how each part compares to the other parts. </a:t>
            </a:r>
            <a:endParaRPr sz="2000">
              <a:solidFill>
                <a:schemeClr val="lt1"/>
              </a:solidFill>
              <a:latin typeface="Cambria"/>
              <a:ea typeface="Cambria"/>
              <a:cs typeface="Cambria"/>
              <a:sym typeface="Cambria"/>
            </a:endParaRPr>
          </a:p>
        </p:txBody>
      </p:sp>
      <p:sp>
        <p:nvSpPr>
          <p:cNvPr id="500" name="Google Shape;500;p26"/>
          <p:cNvSpPr/>
          <p:nvPr/>
        </p:nvSpPr>
        <p:spPr>
          <a:xfrm>
            <a:off x="2503714" y="3613149"/>
            <a:ext cx="6476999" cy="850900"/>
          </a:xfrm>
          <a:prstGeom prst="roundRect">
            <a:avLst>
              <a:gd name="adj" fmla="val 16667"/>
            </a:avLst>
          </a:prstGeom>
          <a:noFill/>
          <a:ln w="158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342900" indent="-342900">
              <a:buSzPts val="2000"/>
              <a:buFont typeface="Courier New"/>
              <a:buChar char="o"/>
            </a:pPr>
            <a:r>
              <a:rPr lang="en-US" sz="2000">
                <a:latin typeface="Verdana"/>
                <a:ea typeface="Verdana"/>
                <a:cs typeface="Verdana"/>
                <a:sym typeface="Verdana"/>
              </a:rPr>
              <a:t>how each part relates to the whole.</a:t>
            </a:r>
            <a:endParaRPr/>
          </a:p>
          <a:p>
            <a:pPr marL="342900" indent="-342900">
              <a:buSzPts val="2000"/>
              <a:buFont typeface="Courier New"/>
              <a:buChar char="o"/>
            </a:pPr>
            <a:r>
              <a:rPr lang="en-US" sz="2000">
                <a:latin typeface="Verdana"/>
                <a:ea typeface="Verdana"/>
                <a:cs typeface="Verdana"/>
                <a:sym typeface="Verdana"/>
              </a:rPr>
              <a:t>how each part compares to the other parts. </a:t>
            </a:r>
            <a:endParaRPr/>
          </a:p>
        </p:txBody>
      </p:sp>
      <p:sp>
        <p:nvSpPr>
          <p:cNvPr id="501" name="Google Shape;501;p26"/>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273</a:t>
            </a:r>
            <a:endParaRPr i="1">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2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508" name="Google Shape;508;p2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509" name="Google Shape;509;p27"/>
          <p:cNvSpPr txBox="1"/>
          <p:nvPr/>
        </p:nvSpPr>
        <p:spPr>
          <a:xfrm>
            <a:off x="914400" y="520393"/>
            <a:ext cx="10515600" cy="3046988"/>
          </a:xfrm>
          <a:prstGeom prst="rect">
            <a:avLst/>
          </a:prstGeom>
          <a:noFill/>
          <a:ln>
            <a:noFill/>
          </a:ln>
        </p:spPr>
        <p:txBody>
          <a:bodyPr spcFirstLastPara="1" wrap="square" lIns="91425" tIns="45700" rIns="91425" bIns="45700" anchor="t" anchorCtr="0">
            <a:spAutoFit/>
          </a:bodyPr>
          <a:lstStyle/>
          <a:p>
            <a:pPr marL="457200" indent="-457200">
              <a:buSzPts val="2400"/>
              <a:buFont typeface="Arial"/>
              <a:buAutoNum type="arabicPeriod" startAt="2"/>
            </a:pPr>
            <a:r>
              <a:rPr lang="en-US" sz="2400" dirty="0">
                <a:latin typeface="Verdana"/>
                <a:ea typeface="Verdana"/>
                <a:cs typeface="Verdana"/>
                <a:sym typeface="Verdana"/>
              </a:rPr>
              <a:t>Greer wants to convince the head chef at his school to include oat milk as an option at meals, so he asks a random sample of students from his school what their favorite kind of milk is: dairy, oat, or soy. He wants to use a graphical representation that makes it easy to compare the number of students who prefer oat milk to the total number of students surveyed. </a:t>
            </a:r>
            <a:endParaRPr dirty="0"/>
          </a:p>
        </p:txBody>
      </p:sp>
      <p:sp>
        <p:nvSpPr>
          <p:cNvPr id="510" name="Google Shape;510;p2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274</a:t>
            </a:r>
            <a:endParaRPr i="1" dirty="0">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28"/>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517" name="Google Shape;517;p2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518" name="Google Shape;518;p28"/>
          <p:cNvSpPr txBox="1"/>
          <p:nvPr/>
        </p:nvSpPr>
        <p:spPr>
          <a:xfrm>
            <a:off x="914400" y="520393"/>
            <a:ext cx="10515600" cy="2308324"/>
          </a:xfrm>
          <a:prstGeom prst="rect">
            <a:avLst/>
          </a:prstGeom>
          <a:noFill/>
          <a:ln>
            <a:noFill/>
          </a:ln>
        </p:spPr>
        <p:txBody>
          <a:bodyPr spcFirstLastPara="1" wrap="square" lIns="91425" tIns="45700" rIns="91425" bIns="45700" anchor="t" anchorCtr="0">
            <a:spAutoFit/>
          </a:bodyPr>
          <a:lstStyle/>
          <a:p>
            <a:pPr marL="466725"/>
            <a:r>
              <a:rPr lang="en-US" sz="2400" dirty="0">
                <a:latin typeface="Verdana"/>
                <a:ea typeface="Verdana"/>
                <a:cs typeface="Verdana"/>
                <a:sym typeface="Verdana"/>
              </a:rPr>
              <a:t>Jordan asks a random sample of students from his middle school which of these apps is their favorite: TikTok, Snapchat, Instagram, Pinterest, YouTube, WhatsApp, Kik, or Discord. He wants to display the data so it is easy to compare the different categories to each other. </a:t>
            </a:r>
            <a:endParaRPr dirty="0"/>
          </a:p>
        </p:txBody>
      </p:sp>
      <p:sp>
        <p:nvSpPr>
          <p:cNvPr id="519" name="Google Shape;519;p2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274</a:t>
            </a:r>
            <a:endParaRPr i="1" dirty="0">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29"/>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526" name="Google Shape;526;p2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527" name="Google Shape;527;p29"/>
          <p:cNvSpPr txBox="1"/>
          <p:nvPr/>
        </p:nvSpPr>
        <p:spPr>
          <a:xfrm>
            <a:off x="914400" y="520394"/>
            <a:ext cx="10515600" cy="4708981"/>
          </a:xfrm>
          <a:prstGeom prst="rect">
            <a:avLst/>
          </a:prstGeom>
          <a:noFill/>
          <a:ln>
            <a:noFill/>
          </a:ln>
        </p:spPr>
        <p:txBody>
          <a:bodyPr spcFirstLastPara="1" wrap="square" lIns="91425" tIns="45700" rIns="91425" bIns="45700" anchor="t" anchorCtr="0">
            <a:spAutoFit/>
          </a:bodyPr>
          <a:lstStyle/>
          <a:p>
            <a:pPr marL="466725"/>
            <a:r>
              <a:rPr lang="en-US" sz="2000" dirty="0">
                <a:latin typeface="Verdana"/>
                <a:ea typeface="Verdana"/>
                <a:cs typeface="Verdana"/>
                <a:sym typeface="Verdana"/>
              </a:rPr>
              <a:t>Complete each statement.</a:t>
            </a:r>
            <a:endParaRPr dirty="0"/>
          </a:p>
          <a:p>
            <a:pPr marL="466725"/>
            <a:endParaRPr sz="2000" dirty="0">
              <a:latin typeface="Verdana"/>
              <a:ea typeface="Verdana"/>
              <a:cs typeface="Verdana"/>
              <a:sym typeface="Verdana"/>
            </a:endParaRPr>
          </a:p>
          <a:p>
            <a:pPr marL="466725"/>
            <a:endParaRPr sz="2000" dirty="0">
              <a:latin typeface="Verdana"/>
              <a:ea typeface="Verdana"/>
              <a:cs typeface="Verdana"/>
              <a:sym typeface="Verdana"/>
            </a:endParaRPr>
          </a:p>
          <a:p>
            <a:pPr marL="466725"/>
            <a:r>
              <a:rPr lang="en-US" sz="2000" dirty="0">
                <a:latin typeface="Verdana"/>
                <a:ea typeface="Verdana"/>
                <a:cs typeface="Verdana"/>
                <a:sym typeface="Verdana"/>
              </a:rPr>
              <a:t>	      	  should use a bar graph. A bar graph is </a:t>
            </a:r>
            <a:endParaRPr dirty="0"/>
          </a:p>
          <a:p>
            <a:pPr marL="466725"/>
            <a:r>
              <a:rPr lang="en-US" sz="2000" dirty="0">
                <a:latin typeface="Verdana"/>
                <a:ea typeface="Verdana"/>
                <a:cs typeface="Verdana"/>
                <a:sym typeface="Verdana"/>
              </a:rPr>
              <a:t> </a:t>
            </a:r>
            <a:endParaRPr dirty="0"/>
          </a:p>
          <a:p>
            <a:pPr marL="466725"/>
            <a:r>
              <a:rPr lang="en-US" sz="2000" dirty="0">
                <a:latin typeface="Verdana"/>
                <a:ea typeface="Verdana"/>
                <a:cs typeface="Verdana"/>
                <a:sym typeface="Verdana"/>
              </a:rPr>
              <a:t>the best option for this student because it</a:t>
            </a:r>
            <a:endParaRPr dirty="0"/>
          </a:p>
          <a:p>
            <a:endParaRPr sz="20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a:p>
            <a:pPr marL="466725"/>
            <a:r>
              <a:rPr lang="en-US" sz="2000" dirty="0">
                <a:latin typeface="Verdana"/>
                <a:ea typeface="Verdana"/>
                <a:cs typeface="Verdana"/>
                <a:sym typeface="Verdana"/>
              </a:rPr>
              <a:t>	      	  should use a circle graph. A circle</a:t>
            </a:r>
            <a:endParaRPr dirty="0"/>
          </a:p>
          <a:p>
            <a:pPr marL="466725"/>
            <a:endParaRPr sz="2000" dirty="0">
              <a:latin typeface="Verdana"/>
              <a:ea typeface="Verdana"/>
              <a:cs typeface="Verdana"/>
              <a:sym typeface="Verdana"/>
            </a:endParaRPr>
          </a:p>
          <a:p>
            <a:pPr marL="466725"/>
            <a:r>
              <a:rPr lang="en-US" sz="2000" dirty="0">
                <a:latin typeface="Verdana"/>
                <a:ea typeface="Verdana"/>
                <a:cs typeface="Verdana"/>
                <a:sym typeface="Verdana"/>
              </a:rPr>
              <a:t>graph is the best option for this student because it</a:t>
            </a:r>
            <a:endParaRPr dirty="0"/>
          </a:p>
        </p:txBody>
      </p:sp>
      <p:sp>
        <p:nvSpPr>
          <p:cNvPr id="528" name="Google Shape;528;p29"/>
          <p:cNvSpPr/>
          <p:nvPr/>
        </p:nvSpPr>
        <p:spPr>
          <a:xfrm>
            <a:off x="1384105" y="1081006"/>
            <a:ext cx="1478689" cy="819785"/>
          </a:xfrm>
          <a:prstGeom prst="roundRect">
            <a:avLst>
              <a:gd name="adj" fmla="val 16667"/>
            </a:avLst>
          </a:prstGeom>
          <a:noFill/>
          <a:ln w="158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342900" indent="-342900">
              <a:buSzPts val="2000"/>
              <a:buFont typeface="Courier New"/>
              <a:buChar char="o"/>
            </a:pPr>
            <a:r>
              <a:rPr lang="en-US" sz="2000">
                <a:latin typeface="Verdana"/>
                <a:ea typeface="Verdana"/>
                <a:cs typeface="Verdana"/>
                <a:sym typeface="Verdana"/>
              </a:rPr>
              <a:t>Greer</a:t>
            </a:r>
            <a:endParaRPr sz="2000">
              <a:solidFill>
                <a:schemeClr val="lt1"/>
              </a:solidFill>
              <a:latin typeface="Cambria"/>
              <a:ea typeface="Cambria"/>
              <a:cs typeface="Cambria"/>
              <a:sym typeface="Cambria"/>
            </a:endParaRPr>
          </a:p>
          <a:p>
            <a:pPr marL="342900" indent="-342900">
              <a:buSzPts val="2000"/>
              <a:buFont typeface="Courier New"/>
              <a:buChar char="o"/>
            </a:pPr>
            <a:r>
              <a:rPr lang="en-US" sz="2000">
                <a:latin typeface="Verdana"/>
                <a:ea typeface="Verdana"/>
                <a:cs typeface="Verdana"/>
                <a:sym typeface="Verdana"/>
              </a:rPr>
              <a:t>Jordan</a:t>
            </a:r>
            <a:endParaRPr sz="2000">
              <a:solidFill>
                <a:schemeClr val="lt1"/>
              </a:solidFill>
              <a:latin typeface="Cambria"/>
              <a:ea typeface="Cambria"/>
              <a:cs typeface="Cambria"/>
              <a:sym typeface="Cambria"/>
            </a:endParaRPr>
          </a:p>
        </p:txBody>
      </p:sp>
      <p:sp>
        <p:nvSpPr>
          <p:cNvPr id="529" name="Google Shape;529;p29"/>
          <p:cNvSpPr/>
          <p:nvPr/>
        </p:nvSpPr>
        <p:spPr>
          <a:xfrm>
            <a:off x="1438225" y="2584578"/>
            <a:ext cx="7399725" cy="1089025"/>
          </a:xfrm>
          <a:prstGeom prst="roundRect">
            <a:avLst>
              <a:gd name="adj" fmla="val 16667"/>
            </a:avLst>
          </a:prstGeom>
          <a:noFill/>
          <a:ln w="158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342900" indent="-342900">
              <a:buSzPts val="2000"/>
              <a:buFont typeface="Courier New"/>
              <a:buChar char="o"/>
            </a:pPr>
            <a:r>
              <a:rPr lang="en-US" sz="2000">
                <a:latin typeface="Verdana"/>
                <a:ea typeface="Verdana"/>
                <a:cs typeface="Verdana"/>
                <a:sym typeface="Verdana"/>
              </a:rPr>
              <a:t>visually shows how each part relates to the whole.</a:t>
            </a:r>
            <a:endParaRPr sz="2000">
              <a:solidFill>
                <a:schemeClr val="lt1"/>
              </a:solidFill>
              <a:latin typeface="Cambria"/>
              <a:ea typeface="Cambria"/>
              <a:cs typeface="Cambria"/>
              <a:sym typeface="Cambria"/>
            </a:endParaRPr>
          </a:p>
          <a:p>
            <a:pPr marL="342900" indent="-342900">
              <a:buSzPts val="2000"/>
              <a:buFont typeface="Courier New"/>
              <a:buChar char="o"/>
            </a:pPr>
            <a:r>
              <a:rPr lang="en-US" sz="2000">
                <a:latin typeface="Verdana"/>
                <a:ea typeface="Verdana"/>
                <a:cs typeface="Verdana"/>
                <a:sym typeface="Verdana"/>
              </a:rPr>
              <a:t>visually shows how each part compares to the other parts. </a:t>
            </a:r>
            <a:endParaRPr sz="2000">
              <a:solidFill>
                <a:schemeClr val="lt1"/>
              </a:solidFill>
              <a:latin typeface="Cambria"/>
              <a:ea typeface="Cambria"/>
              <a:cs typeface="Cambria"/>
              <a:sym typeface="Cambria"/>
            </a:endParaRPr>
          </a:p>
        </p:txBody>
      </p:sp>
      <p:sp>
        <p:nvSpPr>
          <p:cNvPr id="530" name="Google Shape;530;p29"/>
          <p:cNvSpPr/>
          <p:nvPr/>
        </p:nvSpPr>
        <p:spPr>
          <a:xfrm>
            <a:off x="1438225" y="3947497"/>
            <a:ext cx="1478689" cy="819785"/>
          </a:xfrm>
          <a:prstGeom prst="roundRect">
            <a:avLst>
              <a:gd name="adj" fmla="val 16667"/>
            </a:avLst>
          </a:prstGeom>
          <a:noFill/>
          <a:ln w="158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342900" indent="-342900">
              <a:buSzPts val="2000"/>
              <a:buFont typeface="Courier New"/>
              <a:buChar char="o"/>
            </a:pPr>
            <a:r>
              <a:rPr lang="en-US" sz="2000" dirty="0">
                <a:latin typeface="Verdana"/>
                <a:ea typeface="Verdana"/>
                <a:cs typeface="Verdana"/>
                <a:sym typeface="Verdana"/>
              </a:rPr>
              <a:t>Greer</a:t>
            </a:r>
            <a:endParaRPr sz="2000" dirty="0">
              <a:solidFill>
                <a:schemeClr val="lt1"/>
              </a:solidFill>
              <a:latin typeface="Cambria"/>
              <a:ea typeface="Cambria"/>
              <a:cs typeface="Cambria"/>
              <a:sym typeface="Cambria"/>
            </a:endParaRPr>
          </a:p>
          <a:p>
            <a:pPr marL="342900" indent="-342900">
              <a:buSzPts val="2000"/>
              <a:buFont typeface="Courier New"/>
              <a:buChar char="o"/>
            </a:pPr>
            <a:r>
              <a:rPr lang="en-US" sz="2000" dirty="0">
                <a:latin typeface="Verdana"/>
                <a:ea typeface="Verdana"/>
                <a:cs typeface="Verdana"/>
                <a:sym typeface="Verdana"/>
              </a:rPr>
              <a:t>Jordan</a:t>
            </a:r>
            <a:endParaRPr sz="2000" dirty="0">
              <a:solidFill>
                <a:schemeClr val="lt1"/>
              </a:solidFill>
              <a:latin typeface="Cambria"/>
              <a:ea typeface="Cambria"/>
              <a:cs typeface="Cambria"/>
              <a:sym typeface="Cambria"/>
            </a:endParaRPr>
          </a:p>
        </p:txBody>
      </p:sp>
      <p:sp>
        <p:nvSpPr>
          <p:cNvPr id="531" name="Google Shape;531;p29"/>
          <p:cNvSpPr/>
          <p:nvPr/>
        </p:nvSpPr>
        <p:spPr>
          <a:xfrm>
            <a:off x="1438224" y="5299012"/>
            <a:ext cx="7399725" cy="1089025"/>
          </a:xfrm>
          <a:prstGeom prst="roundRect">
            <a:avLst>
              <a:gd name="adj" fmla="val 16667"/>
            </a:avLst>
          </a:prstGeom>
          <a:noFill/>
          <a:ln w="158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342900" indent="-342900">
              <a:buSzPts val="2000"/>
              <a:buFont typeface="Courier New"/>
              <a:buChar char="o"/>
            </a:pPr>
            <a:r>
              <a:rPr lang="en-US" sz="2000">
                <a:latin typeface="Verdana"/>
                <a:ea typeface="Verdana"/>
                <a:cs typeface="Verdana"/>
                <a:sym typeface="Verdana"/>
              </a:rPr>
              <a:t>visually shows how each part relates to the whole.</a:t>
            </a:r>
            <a:endParaRPr sz="2000">
              <a:solidFill>
                <a:schemeClr val="lt1"/>
              </a:solidFill>
              <a:latin typeface="Cambria"/>
              <a:ea typeface="Cambria"/>
              <a:cs typeface="Cambria"/>
              <a:sym typeface="Cambria"/>
            </a:endParaRPr>
          </a:p>
          <a:p>
            <a:pPr marL="342900" indent="-342900">
              <a:buSzPts val="2000"/>
              <a:buFont typeface="Courier New"/>
              <a:buChar char="o"/>
            </a:pPr>
            <a:r>
              <a:rPr lang="en-US" sz="2000">
                <a:latin typeface="Verdana"/>
                <a:ea typeface="Verdana"/>
                <a:cs typeface="Verdana"/>
                <a:sym typeface="Verdana"/>
              </a:rPr>
              <a:t>visually shows how each part compares to the other parts. </a:t>
            </a:r>
            <a:endParaRPr sz="2000">
              <a:solidFill>
                <a:schemeClr val="lt1"/>
              </a:solidFill>
              <a:latin typeface="Cambria"/>
              <a:ea typeface="Cambria"/>
              <a:cs typeface="Cambria"/>
              <a:sym typeface="Cambria"/>
            </a:endParaRPr>
          </a:p>
        </p:txBody>
      </p:sp>
      <p:sp>
        <p:nvSpPr>
          <p:cNvPr id="532" name="Google Shape;532;p2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274</a:t>
            </a:r>
            <a:endParaRPr i="1" dirty="0">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30"/>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539" name="Google Shape;539;p3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540" name="Google Shape;540;p30"/>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541" name="Google Shape;541;p30"/>
          <p:cNvPicPr preferRelativeResize="0"/>
          <p:nvPr/>
        </p:nvPicPr>
        <p:blipFill rotWithShape="1">
          <a:blip r:embed="rId4">
            <a:alphaModFix/>
          </a:blip>
          <a:srcRect/>
          <a:stretch/>
        </p:blipFill>
        <p:spPr>
          <a:xfrm>
            <a:off x="3054096" y="2897929"/>
            <a:ext cx="1122440" cy="1062143"/>
          </a:xfrm>
          <a:prstGeom prst="rect">
            <a:avLst/>
          </a:prstGeom>
          <a:noFill/>
          <a:ln>
            <a:noFill/>
          </a:ln>
          <a:effectLst>
            <a:outerShdw blurRad="50800" dist="38100" dir="2700000" algn="tl" rotWithShape="0">
              <a:srgbClr val="000000">
                <a:alpha val="40000"/>
              </a:srgbClr>
            </a:outerShdw>
          </a:effectLst>
        </p:spPr>
      </p:pic>
      <p:sp>
        <p:nvSpPr>
          <p:cNvPr id="542" name="Google Shape;542;p3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274</a:t>
            </a:r>
            <a:endParaRPr i="1">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31"/>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549" name="Google Shape;549;p3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550" name="Google Shape;550;p31"/>
          <p:cNvSpPr txBox="1"/>
          <p:nvPr/>
        </p:nvSpPr>
        <p:spPr>
          <a:xfrm>
            <a:off x="1143000" y="60325"/>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dirty="0">
                <a:solidFill>
                  <a:srgbClr val="E24E5F"/>
                </a:solidFill>
                <a:latin typeface="Verdana"/>
                <a:ea typeface="Verdana"/>
                <a:cs typeface="Verdana"/>
                <a:sym typeface="Verdana"/>
              </a:rPr>
              <a:t>13.7.5 Your Turn!</a:t>
            </a:r>
            <a:endParaRPr dirty="0"/>
          </a:p>
        </p:txBody>
      </p:sp>
      <p:pic>
        <p:nvPicPr>
          <p:cNvPr id="551" name="Google Shape;551;p31"/>
          <p:cNvPicPr preferRelativeResize="0"/>
          <p:nvPr/>
        </p:nvPicPr>
        <p:blipFill rotWithShape="1">
          <a:blip r:embed="rId4">
            <a:alphaModFix/>
          </a:blip>
          <a:srcRect/>
          <a:stretch/>
        </p:blipFill>
        <p:spPr>
          <a:xfrm>
            <a:off x="356616" y="60325"/>
            <a:ext cx="747300" cy="747300"/>
          </a:xfrm>
          <a:prstGeom prst="rect">
            <a:avLst/>
          </a:prstGeom>
          <a:noFill/>
          <a:ln>
            <a:noFill/>
          </a:ln>
          <a:effectLst>
            <a:outerShdw blurRad="50800" dist="38100" dir="2700000" algn="tl" rotWithShape="0">
              <a:srgbClr val="000000">
                <a:alpha val="40000"/>
              </a:srgbClr>
            </a:outerShdw>
          </a:effectLst>
        </p:spPr>
      </p:pic>
      <p:sp>
        <p:nvSpPr>
          <p:cNvPr id="552" name="Google Shape;552;p31"/>
          <p:cNvSpPr txBox="1"/>
          <p:nvPr/>
        </p:nvSpPr>
        <p:spPr>
          <a:xfrm>
            <a:off x="914400" y="1386026"/>
            <a:ext cx="10515600" cy="4401205"/>
          </a:xfrm>
          <a:prstGeom prst="rect">
            <a:avLst/>
          </a:prstGeom>
          <a:noFill/>
          <a:ln>
            <a:noFill/>
          </a:ln>
        </p:spPr>
        <p:txBody>
          <a:bodyPr spcFirstLastPara="1" wrap="square" lIns="91425" tIns="45700" rIns="91425" bIns="45700" anchor="t" anchorCtr="0">
            <a:spAutoFit/>
          </a:bodyPr>
          <a:lstStyle/>
          <a:p>
            <a:pPr marL="457200" indent="-457200">
              <a:buSzPts val="2000"/>
              <a:buFont typeface="Arial"/>
              <a:buAutoNum type="arabicPeriod"/>
            </a:pPr>
            <a:r>
              <a:rPr lang="en-US" sz="2000" dirty="0">
                <a:latin typeface="Verdana"/>
                <a:ea typeface="Verdana"/>
                <a:cs typeface="Verdana"/>
                <a:sym typeface="Verdana"/>
              </a:rPr>
              <a:t>Mr. Shapiro’s seventh grade class read more books than any other class in the middle school over the summer. The number of books read by the students in his class is shown below. </a:t>
            </a:r>
            <a:endParaRPr dirty="0"/>
          </a:p>
          <a:p>
            <a:endParaRPr sz="20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a:p>
            <a:pPr marL="466725"/>
            <a:r>
              <a:rPr lang="en-US" sz="2000" dirty="0">
                <a:latin typeface="Verdana"/>
                <a:ea typeface="Verdana"/>
                <a:cs typeface="Verdana"/>
                <a:sym typeface="Verdana"/>
              </a:rPr>
              <a:t>He wants to make a graph that shows the number of books read by each student. Which graphical representation would you recommend for this situation? Explain your reasoning.</a:t>
            </a:r>
            <a:endParaRPr dirty="0"/>
          </a:p>
          <a:p>
            <a:endParaRPr sz="2000" dirty="0">
              <a:latin typeface="Verdana"/>
              <a:ea typeface="Verdana"/>
              <a:cs typeface="Verdana"/>
              <a:sym typeface="Verdana"/>
            </a:endParaRPr>
          </a:p>
          <a:p>
            <a:endParaRPr sz="2000" dirty="0">
              <a:latin typeface="Verdana"/>
              <a:ea typeface="Verdana"/>
              <a:cs typeface="Verdana"/>
              <a:sym typeface="Verdana"/>
            </a:endParaRPr>
          </a:p>
        </p:txBody>
      </p:sp>
      <p:sp>
        <p:nvSpPr>
          <p:cNvPr id="553" name="Google Shape;553;p31"/>
          <p:cNvSpPr/>
          <p:nvPr/>
        </p:nvSpPr>
        <p:spPr>
          <a:xfrm>
            <a:off x="2178667" y="2603169"/>
            <a:ext cx="7987066" cy="707886"/>
          </a:xfrm>
          <a:prstGeom prst="rect">
            <a:avLst/>
          </a:prstGeom>
          <a:noFill/>
          <a:ln>
            <a:noFill/>
          </a:ln>
        </p:spPr>
        <p:txBody>
          <a:bodyPr spcFirstLastPara="1" wrap="square" lIns="91425" tIns="45700" rIns="91425" bIns="45700" anchor="t" anchorCtr="0">
            <a:spAutoFit/>
          </a:bodyPr>
          <a:lstStyle/>
          <a:p>
            <a:pPr marR="34290" algn="ctr"/>
            <a:r>
              <a:rPr lang="en-US" sz="2000" dirty="0">
                <a:latin typeface="Verdana"/>
                <a:ea typeface="Verdana"/>
                <a:cs typeface="Verdana"/>
                <a:sym typeface="Verdana"/>
              </a:rPr>
              <a:t>{</a:t>
            </a:r>
            <a:r>
              <a:rPr lang="en-US" sz="2000" dirty="0">
                <a:latin typeface="Cambria Math"/>
                <a:ea typeface="Cambria Math"/>
                <a:cs typeface="Cambria Math"/>
                <a:sym typeface="Cambria Math"/>
              </a:rPr>
              <a:t>1, 1, 3, 5, 5, 6, 6, 6, 6, 7, 8, 9, 10, 10, 11, 12, 12,</a:t>
            </a:r>
            <a:endParaRPr sz="2000" dirty="0">
              <a:latin typeface="Cambria Math"/>
              <a:ea typeface="Cambria Math"/>
              <a:cs typeface="Cambria Math"/>
              <a:sym typeface="Cambria Math"/>
            </a:endParaRPr>
          </a:p>
          <a:p>
            <a:pPr marR="34290" algn="ctr"/>
            <a:r>
              <a:rPr lang="en-US" sz="2000" dirty="0">
                <a:latin typeface="Cambria Math"/>
                <a:ea typeface="Cambria Math"/>
                <a:cs typeface="Cambria Math"/>
                <a:sym typeface="Cambria Math"/>
              </a:rPr>
              <a:t>14, 14, 15, 15, 15, 17, 17, 20, 23, 25, 27</a:t>
            </a:r>
            <a:r>
              <a:rPr lang="en-US" sz="2000" dirty="0">
                <a:latin typeface="Verdana"/>
                <a:ea typeface="Verdana"/>
                <a:cs typeface="Verdana"/>
                <a:sym typeface="Verdana"/>
              </a:rPr>
              <a:t>}</a:t>
            </a:r>
            <a:endParaRPr sz="2000" dirty="0">
              <a:latin typeface="Cambria"/>
              <a:ea typeface="Cambria"/>
              <a:cs typeface="Cambria"/>
              <a:sym typeface="Cambria"/>
            </a:endParaRPr>
          </a:p>
        </p:txBody>
      </p:sp>
      <p:sp>
        <p:nvSpPr>
          <p:cNvPr id="554" name="Google Shape;554;p3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274</a:t>
            </a:r>
            <a:endParaRPr i="1">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32"/>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561" name="Google Shape;561;p3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562" name="Google Shape;562;p32"/>
          <p:cNvSpPr txBox="1"/>
          <p:nvPr/>
        </p:nvSpPr>
        <p:spPr>
          <a:xfrm>
            <a:off x="914400" y="520393"/>
            <a:ext cx="10515600" cy="2677656"/>
          </a:xfrm>
          <a:prstGeom prst="rect">
            <a:avLst/>
          </a:prstGeom>
          <a:noFill/>
          <a:ln>
            <a:noFill/>
          </a:ln>
        </p:spPr>
        <p:txBody>
          <a:bodyPr spcFirstLastPara="1" wrap="square" lIns="91425" tIns="45700" rIns="91425" bIns="45700" anchor="t" anchorCtr="0">
            <a:spAutoFit/>
          </a:bodyPr>
          <a:lstStyle/>
          <a:p>
            <a:pPr marL="457200" indent="-457200">
              <a:buSzPts val="2400"/>
              <a:buFont typeface="Arial"/>
              <a:buAutoNum type="arabicPeriod" startAt="2"/>
            </a:pPr>
            <a:r>
              <a:rPr lang="en-US" sz="2400" dirty="0">
                <a:latin typeface="Verdana"/>
                <a:ea typeface="Verdana"/>
                <a:cs typeface="Verdana"/>
                <a:sym typeface="Verdana"/>
              </a:rPr>
              <a:t>Kendrick wants to make a graph that will show what proportion of students in his homeroom like science class best when compared to language arts, math, and social studies. Explain which graphical representation would best show this comparison.</a:t>
            </a:r>
            <a:endParaRPr dirty="0"/>
          </a:p>
          <a:p>
            <a:endParaRPr sz="2400" dirty="0">
              <a:latin typeface="Verdana"/>
              <a:ea typeface="Verdana"/>
              <a:cs typeface="Verdana"/>
              <a:sym typeface="Verdana"/>
            </a:endParaRPr>
          </a:p>
        </p:txBody>
      </p:sp>
      <p:sp>
        <p:nvSpPr>
          <p:cNvPr id="563" name="Google Shape;563;p3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274</a:t>
            </a:r>
            <a:endParaRPr i="1" dirty="0">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33"/>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570" name="Google Shape;570;p3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571" name="Google Shape;571;p33"/>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572" name="Google Shape;572;p33"/>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srgbClr val="000000">
                <a:alpha val="40000"/>
              </a:srgbClr>
            </a:outerShdw>
          </a:effectLst>
        </p:spPr>
      </p:pic>
      <p:sp>
        <p:nvSpPr>
          <p:cNvPr id="573" name="Google Shape;573;p33"/>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275</a:t>
            </a:r>
            <a:endParaRPr i="1" dirty="0">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34"/>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580" name="Google Shape;580;p3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581" name="Google Shape;581;p34"/>
          <p:cNvSpPr txBox="1"/>
          <p:nvPr/>
        </p:nvSpPr>
        <p:spPr>
          <a:xfrm>
            <a:off x="1143000" y="-82571"/>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13.7.6 Wrap-Up: Growth Mindset</a:t>
            </a:r>
            <a:endParaRPr dirty="0"/>
          </a:p>
        </p:txBody>
      </p:sp>
      <p:pic>
        <p:nvPicPr>
          <p:cNvPr id="582" name="Google Shape;582;p34"/>
          <p:cNvPicPr preferRelativeResize="0"/>
          <p:nvPr/>
        </p:nvPicPr>
        <p:blipFill rotWithShape="1">
          <a:blip r:embed="rId4">
            <a:alphaModFix/>
          </a:blip>
          <a:srcRect/>
          <a:stretch/>
        </p:blipFill>
        <p:spPr>
          <a:xfrm>
            <a:off x="356616" y="60325"/>
            <a:ext cx="747300" cy="747300"/>
          </a:xfrm>
          <a:prstGeom prst="rect">
            <a:avLst/>
          </a:prstGeom>
          <a:noFill/>
          <a:ln>
            <a:noFill/>
          </a:ln>
          <a:effectLst>
            <a:outerShdw blurRad="50800" dist="38100" dir="2700000" algn="tl" rotWithShape="0">
              <a:srgbClr val="000000">
                <a:alpha val="40000"/>
              </a:srgbClr>
            </a:outerShdw>
          </a:effectLst>
        </p:spPr>
      </p:pic>
      <p:sp>
        <p:nvSpPr>
          <p:cNvPr id="583" name="Google Shape;583;p34"/>
          <p:cNvSpPr txBox="1"/>
          <p:nvPr/>
        </p:nvSpPr>
        <p:spPr>
          <a:xfrm>
            <a:off x="914400" y="1386025"/>
            <a:ext cx="10515600" cy="3046988"/>
          </a:xfrm>
          <a:prstGeom prst="rect">
            <a:avLst/>
          </a:prstGeom>
          <a:noFill/>
          <a:ln>
            <a:noFill/>
          </a:ln>
        </p:spPr>
        <p:txBody>
          <a:bodyPr spcFirstLastPara="1" wrap="square" lIns="91425" tIns="45700" rIns="91425" bIns="45700" anchor="t" anchorCtr="0">
            <a:spAutoFit/>
          </a:bodyPr>
          <a:lstStyle/>
          <a:p>
            <a:pPr marL="457200" indent="-457200">
              <a:buSzPts val="2400"/>
              <a:buFont typeface="Arial"/>
              <a:buAutoNum type="arabicPeriod"/>
            </a:pPr>
            <a:r>
              <a:rPr lang="en-US" sz="2400" dirty="0">
                <a:latin typeface="Verdana"/>
                <a:ea typeface="Verdana"/>
                <a:cs typeface="Verdana"/>
                <a:sym typeface="Verdana"/>
              </a:rPr>
              <a:t>Every mistake a person makes, their brain actually grows! Take a moment to celebrate your mistakes by summarizing your favorite mistake from today. </a:t>
            </a:r>
            <a:endParaRPr dirty="0"/>
          </a:p>
          <a:p>
            <a:r>
              <a:rPr lang="en-US" sz="2400" dirty="0">
                <a:latin typeface="Verdana"/>
                <a:ea typeface="Verdana"/>
                <a:cs typeface="Verdana"/>
                <a:sym typeface="Verdana"/>
              </a:rPr>
              <a:t> </a:t>
            </a:r>
            <a:endParaRPr dirty="0"/>
          </a:p>
          <a:p>
            <a:r>
              <a:rPr lang="en-US" sz="2400" dirty="0">
                <a:latin typeface="Verdana"/>
                <a:ea typeface="Verdana"/>
                <a:cs typeface="Verdana"/>
                <a:sym typeface="Verdana"/>
              </a:rPr>
              <a:t> </a:t>
            </a:r>
            <a:endParaRPr dirty="0"/>
          </a:p>
          <a:p>
            <a:pPr marL="466725"/>
            <a:r>
              <a:rPr lang="en-US" sz="2400" dirty="0">
                <a:latin typeface="Verdana"/>
                <a:ea typeface="Verdana"/>
                <a:cs typeface="Verdana"/>
                <a:sym typeface="Verdana"/>
              </a:rPr>
              <a:t>My favorite mistake from today was</a:t>
            </a:r>
            <a:r>
              <a:rPr lang="en-US" dirty="0"/>
              <a:t>…</a:t>
            </a:r>
            <a:endParaRPr dirty="0"/>
          </a:p>
          <a:p>
            <a:endParaRPr sz="2400" dirty="0">
              <a:latin typeface="Verdana"/>
              <a:ea typeface="Verdana"/>
              <a:cs typeface="Verdana"/>
              <a:sym typeface="Verdana"/>
            </a:endParaRPr>
          </a:p>
        </p:txBody>
      </p:sp>
      <p:sp>
        <p:nvSpPr>
          <p:cNvPr id="584" name="Google Shape;584;p34"/>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a:t>
            </a:r>
            <a:r>
              <a:rPr lang="en-US" i="1" dirty="0">
                <a:latin typeface="Calibri"/>
                <a:ea typeface="Calibri"/>
                <a:cs typeface="Calibri"/>
                <a:sym typeface="Calibri"/>
              </a:rPr>
              <a:t>275</a:t>
            </a:r>
            <a:endParaRPr i="1" dirty="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TotalTime>
  <Words>1584</Words>
  <Application>Microsoft Office PowerPoint</Application>
  <PresentationFormat>Widescreen</PresentationFormat>
  <Paragraphs>292</Paragraphs>
  <Slides>36</Slides>
  <Notes>36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Verdana</vt:lpstr>
      <vt:lpstr>Cambria</vt:lpstr>
      <vt:lpstr>Courier New</vt:lpstr>
      <vt:lpstr>Calibri</vt:lpstr>
      <vt:lpstr>Arial</vt:lpstr>
      <vt:lpstr>Noto Sans Symbols</vt:lpstr>
      <vt:lpstr>Cambria Math</vt:lpstr>
      <vt:lpstr>Arial Black</vt:lpstr>
      <vt:lpstr>1_Office Theme</vt:lpstr>
      <vt:lpstr>7th Grade Math  Unit 13, Lesson 7  Representing Real-World Contexts with Graphs  Volume 2, pg. 268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  Unit 13, Lesson 7  Representing Real-World Contexts with Graphs  Volume 2, pg. 268</dc:title>
  <dc:creator>Karen McKenzie</dc:creator>
  <cp:lastModifiedBy>vaanmx</cp:lastModifiedBy>
  <cp:revision>7</cp:revision>
  <dcterms:created xsi:type="dcterms:W3CDTF">2015-03-17T18:51:18Z</dcterms:created>
  <dcterms:modified xsi:type="dcterms:W3CDTF">2023-07-12T11:17:30Z</dcterms:modified>
</cp:coreProperties>
</file>