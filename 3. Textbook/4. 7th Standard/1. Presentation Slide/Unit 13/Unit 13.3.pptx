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Arial Black" panose="020B0604020202020204" pitchFamily="34" charset="0"/>
      <p:regular r:id="rId3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Uk6q5ZNTyu91+ccmOKpCBAQIA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p:restoredTop sz="94694"/>
  </p:normalViewPr>
  <p:slideViewPr>
    <p:cSldViewPr snapToGrid="0">
      <p:cViewPr varScale="1">
        <p:scale>
          <a:sx n="121" d="100"/>
          <a:sy n="121" d="100"/>
        </p:scale>
        <p:origin x="728"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200" b="1">
                <a:solidFill>
                  <a:srgbClr val="417DBF"/>
                </a:solidFill>
                <a:latin typeface="Verdana"/>
                <a:ea typeface="Verdana"/>
                <a:cs typeface="Verdana"/>
                <a:sym typeface="Verdana"/>
              </a:rPr>
              <a:t>7</a:t>
            </a:r>
            <a:r>
              <a:rPr lang="en-US" sz="3200" b="1" baseline="30000">
                <a:solidFill>
                  <a:srgbClr val="417DBF"/>
                </a:solidFill>
                <a:latin typeface="Verdana"/>
                <a:ea typeface="Verdana"/>
                <a:cs typeface="Verdana"/>
                <a:sym typeface="Verdana"/>
              </a:rPr>
              <a:t>th</a:t>
            </a:r>
            <a:r>
              <a:rPr lang="en-US" sz="3200" b="1">
                <a:solidFill>
                  <a:srgbClr val="417DBF"/>
                </a:solidFill>
                <a:latin typeface="Verdana"/>
                <a:ea typeface="Verdana"/>
                <a:cs typeface="Verdana"/>
                <a:sym typeface="Verdana"/>
              </a:rPr>
              <a:t> Grade Math</a:t>
            </a:r>
            <a:br>
              <a:rPr lang="en-US" sz="3200" b="1">
                <a:solidFill>
                  <a:srgbClr val="417DBF"/>
                </a:solidFill>
                <a:latin typeface="Verdana"/>
                <a:ea typeface="Verdana"/>
                <a:cs typeface="Verdana"/>
                <a:sym typeface="Verdana"/>
              </a:rPr>
            </a:br>
            <a:endParaRPr sz="3200" b="1">
              <a:solidFill>
                <a:srgbClr val="417DBF"/>
              </a:solidFill>
              <a:latin typeface="Verdana"/>
              <a:ea typeface="Verdana"/>
              <a:cs typeface="Verdana"/>
              <a:sym typeface="Verdana"/>
            </a:endParaRPr>
          </a:p>
          <a:p>
            <a:pPr algn="ctr">
              <a:lnSpc>
                <a:spcPct val="100000"/>
              </a:lnSpc>
              <a:buClr>
                <a:srgbClr val="000000"/>
              </a:buClr>
            </a:pPr>
            <a:r>
              <a:rPr lang="en-US" sz="3200" b="1">
                <a:solidFill>
                  <a:srgbClr val="417DBF"/>
                </a:solidFill>
                <a:latin typeface="Verdana"/>
                <a:ea typeface="Verdana"/>
                <a:cs typeface="Verdana"/>
                <a:sym typeface="Verdana"/>
              </a:rPr>
              <a:t>Unit 13, Lesson 3</a:t>
            </a:r>
            <a:br>
              <a:rPr lang="en-US" sz="3200" b="1">
                <a:solidFill>
                  <a:srgbClr val="417DBF"/>
                </a:solidFill>
                <a:latin typeface="Verdana"/>
                <a:ea typeface="Verdana"/>
                <a:cs typeface="Verdana"/>
                <a:sym typeface="Verdana"/>
              </a:rPr>
            </a:br>
            <a:br>
              <a:rPr lang="en-US" sz="3200" b="1">
                <a:solidFill>
                  <a:srgbClr val="417DBF"/>
                </a:solidFill>
                <a:latin typeface="Verdana"/>
                <a:ea typeface="Verdana"/>
                <a:cs typeface="Verdana"/>
                <a:sym typeface="Verdana"/>
              </a:rPr>
            </a:br>
            <a:r>
              <a:rPr lang="en-US" sz="3200" b="1">
                <a:solidFill>
                  <a:srgbClr val="417DBF"/>
                </a:solidFill>
                <a:latin typeface="Verdana"/>
                <a:ea typeface="Verdana"/>
                <a:cs typeface="Verdana"/>
                <a:sym typeface="Verdana"/>
              </a:rPr>
              <a:t>Determining Appropriate Measures of Center and Variation</a:t>
            </a:r>
            <a:br>
              <a:rPr lang="en-US" sz="3600" b="1">
                <a:solidFill>
                  <a:srgbClr val="417DBF"/>
                </a:solidFill>
                <a:latin typeface="Verdana"/>
                <a:ea typeface="Verdana"/>
                <a:cs typeface="Verdana"/>
                <a:sym typeface="Verdana"/>
              </a:rPr>
            </a:br>
            <a:br>
              <a:rPr lang="en-US" sz="3600" b="1">
                <a:solidFill>
                  <a:srgbClr val="417DBF"/>
                </a:solidFill>
                <a:latin typeface="Verdana"/>
                <a:ea typeface="Verdana"/>
                <a:cs typeface="Verdana"/>
                <a:sym typeface="Verdana"/>
              </a:rPr>
            </a:br>
            <a:r>
              <a:rPr lang="en-US" sz="2400" b="1">
                <a:solidFill>
                  <a:srgbClr val="417DBF"/>
                </a:solidFill>
                <a:latin typeface="Verdana"/>
                <a:ea typeface="Verdana"/>
                <a:cs typeface="Verdana"/>
                <a:sym typeface="Verdana"/>
              </a:rPr>
              <a:t>Volume 2, pg. 245</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480" y="15225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245</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800" dirty="0">
                <a:solidFill>
                  <a:schemeClr val="dk1"/>
                </a:solidFill>
                <a:latin typeface="Verdana"/>
                <a:ea typeface="Verdana"/>
                <a:cs typeface="Verdana"/>
                <a:sym typeface="Verdana"/>
              </a:rPr>
              <a:t>MA.7.DP.1.1</a:t>
            </a:r>
            <a:endParaRPr dirty="0"/>
          </a:p>
          <a:p>
            <a:pPr marL="457200">
              <a:lnSpc>
                <a:spcPct val="90000"/>
              </a:lnSpc>
              <a:spcBef>
                <a:spcPts val="750"/>
              </a:spcBef>
              <a:buClr>
                <a:schemeClr val="dk1"/>
              </a:buClr>
              <a:buSzPts val="2100"/>
            </a:pPr>
            <a:r>
              <a:rPr lang="en-US" sz="2800" dirty="0">
                <a:solidFill>
                  <a:schemeClr val="dk1"/>
                </a:solidFill>
                <a:latin typeface="Verdana"/>
                <a:ea typeface="Verdana"/>
                <a:cs typeface="Verdana"/>
                <a:sym typeface="Verdana"/>
              </a:rPr>
              <a:t>Determine an appropriate measure of center or measure of variation to summarize numerical data, represented numerically or graphically, while taking into consideration the context and any outliers. </a:t>
            </a:r>
            <a:endParaRPr sz="2800" dirty="0">
              <a:solidFill>
                <a:schemeClr val="dk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Integrated Mathematical Thinking and Reasoning Standards</a:t>
            </a:r>
            <a:endParaRPr sz="3200" dirty="0"/>
          </a:p>
        </p:txBody>
      </p:sp>
      <p:sp>
        <p:nvSpPr>
          <p:cNvPr id="137" name="Google Shape;137;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245</a:t>
            </a:r>
            <a:endParaRPr i="1" dirty="0">
              <a:latin typeface="Calibri"/>
              <a:ea typeface="Calibri"/>
              <a:cs typeface="Calibri"/>
              <a:sym typeface="Calibri"/>
            </a:endParaRPr>
          </a:p>
        </p:txBody>
      </p:sp>
      <p:sp>
        <p:nvSpPr>
          <p:cNvPr id="138" name="Google Shape;138;p1"/>
          <p:cNvSpPr txBox="1"/>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p>
            <a:r>
              <a:rPr lang="en-US" sz="2800" dirty="0">
                <a:solidFill>
                  <a:schemeClr val="dk1"/>
                </a:solidFill>
                <a:latin typeface="Verdana"/>
                <a:ea typeface="Verdana"/>
                <a:cs typeface="Verdana"/>
                <a:sym typeface="Verdana"/>
              </a:rPr>
              <a:t>MA.K12.MTR.2.1 Demonstrate understanding by representing problems in multiple ways.</a:t>
            </a:r>
            <a:endParaRPr sz="2800" dirty="0"/>
          </a:p>
          <a:p>
            <a:pPr marL="457200"/>
            <a:endParaRPr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MA.K12.MTR.7.1 Apply mathematics to real-world contexts.</a:t>
            </a:r>
            <a:endParaRPr sz="2800" dirty="0">
              <a:solidFill>
                <a:schemeClr val="dk1"/>
              </a:solidFill>
              <a:latin typeface="Verdana"/>
              <a:ea typeface="Verdana"/>
              <a:cs typeface="Verdana"/>
              <a:sym typeface="Verdan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4">
            <a:alphaModFix/>
          </a:blip>
          <a:srcRect/>
          <a:stretch/>
        </p:blipFill>
        <p:spPr>
          <a:xfrm>
            <a:off x="356616" y="31986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245</a:t>
            </a:r>
            <a:endParaRPr i="1">
              <a:latin typeface="Calibri"/>
              <a:ea typeface="Calibri"/>
              <a:cs typeface="Calibri"/>
              <a:sym typeface="Calibri"/>
            </a:endParaRPr>
          </a:p>
        </p:txBody>
      </p:sp>
      <p:sp>
        <p:nvSpPr>
          <p:cNvPr id="149" name="Google Shape;149;p2"/>
          <p:cNvSpPr txBox="1"/>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determine an appropriate measure of center and variation to summarize numerical data.</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3054096"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13.3.1 Warm-Up: Between Two Numbers</a:t>
            </a:r>
            <a:endParaRPr dirty="0"/>
          </a:p>
        </p:txBody>
      </p:sp>
      <p:pic>
        <p:nvPicPr>
          <p:cNvPr id="168" name="Google Shape;168;p4"/>
          <p:cNvPicPr preferRelativeResize="0"/>
          <p:nvPr/>
        </p:nvPicPr>
        <p:blipFill rotWithShape="1">
          <a:blip r:embed="rId4">
            <a:alphaModFix/>
          </a:blip>
          <a:srcRect/>
          <a:stretch/>
        </p:blipFill>
        <p:spPr>
          <a:xfrm>
            <a:off x="356616"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246</a:t>
            </a:r>
            <a:endParaRPr i="1" dirty="0">
              <a:latin typeface="Calibri"/>
              <a:ea typeface="Calibri"/>
              <a:cs typeface="Calibri"/>
              <a:sym typeface="Calibri"/>
            </a:endParaRPr>
          </a:p>
        </p:txBody>
      </p:sp>
      <p:sp>
        <p:nvSpPr>
          <p:cNvPr id="170" name="Google Shape;170;p4"/>
          <p:cNvSpPr txBox="1"/>
          <p:nvPr/>
        </p:nvSpPr>
        <p:spPr>
          <a:xfrm>
            <a:off x="914400" y="1386025"/>
            <a:ext cx="10515600" cy="3046988"/>
          </a:xfrm>
          <a:prstGeom prst="rect">
            <a:avLst/>
          </a:prstGeom>
          <a:blipFill rotWithShape="1">
            <a:blip r:embed="rId5">
              <a:alphaModFix/>
            </a:blip>
            <a:stretch>
              <a:fillRect l="-1219" t="-1242" r="-1065" b="-3732"/>
            </a:stretch>
          </a:blipFill>
          <a:ln>
            <a:noFill/>
          </a:ln>
        </p:spPr>
        <p:txBody>
          <a:bodyPr spcFirstLastPara="1" wrap="square" lIns="91425" tIns="45700" rIns="91425" bIns="45700" anchor="t" anchorCtr="0">
            <a:noAutofit/>
          </a:bodyPr>
          <a:lstStyle/>
          <a:p>
            <a:r>
              <a:rPr lang="en-US">
                <a:latin typeface="Verdana" panose="020B0604030504040204" pitchFamily="34" charset="0"/>
                <a:ea typeface="Verdana" panose="020B0604030504040204" pitchFamily="34" charset="0"/>
                <a:cs typeface="Verdana" panose="020B0604030504040204" pitchFamily="34" charset="0"/>
              </a:rPr>
              <a:t> </a:t>
            </a:r>
            <a:endParaRPr>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179" name="Google Shape;179;p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246</a:t>
            </a:r>
            <a:endParaRPr i="1">
              <a:latin typeface="Calibri"/>
              <a:ea typeface="Calibri"/>
              <a:cs typeface="Calibri"/>
              <a:sym typeface="Calibri"/>
            </a:endParaRPr>
          </a:p>
        </p:txBody>
      </p:sp>
      <p:pic>
        <p:nvPicPr>
          <p:cNvPr id="180" name="Google Shape;180;p5"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87" name="Google Shape;18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8" name="Google Shape;188;p6"/>
          <p:cNvSpPr txBox="1"/>
          <p:nvPr/>
        </p:nvSpPr>
        <p:spPr>
          <a:xfrm>
            <a:off x="1143000" y="-37211"/>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13.3.2 Guided Practice: Measures of Center and Variation</a:t>
            </a:r>
            <a:endParaRPr dirty="0"/>
          </a:p>
        </p:txBody>
      </p:sp>
      <p:sp>
        <p:nvSpPr>
          <p:cNvPr id="189" name="Google Shape;189;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246</a:t>
            </a:r>
            <a:endParaRPr i="1">
              <a:latin typeface="Calibri"/>
              <a:ea typeface="Calibri"/>
              <a:cs typeface="Calibri"/>
              <a:sym typeface="Calibri"/>
            </a:endParaRPr>
          </a:p>
        </p:txBody>
      </p:sp>
      <p:pic>
        <p:nvPicPr>
          <p:cNvPr id="190" name="Google Shape;190;p6"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128815"/>
            <a:ext cx="749808" cy="749808"/>
          </a:xfrm>
          <a:prstGeom prst="rect">
            <a:avLst/>
          </a:prstGeom>
          <a:noFill/>
          <a:ln>
            <a:noFill/>
          </a:ln>
          <a:effectLst>
            <a:outerShdw blurRad="50800" dist="38100" dir="2700000" algn="tl" rotWithShape="0">
              <a:srgbClr val="000000">
                <a:alpha val="40000"/>
              </a:srgbClr>
            </a:outerShdw>
          </a:effectLst>
        </p:spPr>
      </p:pic>
      <p:sp>
        <p:nvSpPr>
          <p:cNvPr id="191" name="Google Shape;191;p6"/>
          <p:cNvSpPr txBox="1"/>
          <p:nvPr/>
        </p:nvSpPr>
        <p:spPr>
          <a:xfrm>
            <a:off x="914400" y="1386025"/>
            <a:ext cx="10515600" cy="1569660"/>
          </a:xfrm>
          <a:prstGeom prst="rect">
            <a:avLst/>
          </a:prstGeom>
          <a:blipFill rotWithShape="1">
            <a:blip r:embed="rId5">
              <a:alphaModFix/>
            </a:blip>
            <a:stretch>
              <a:fillRect l="-1219" t="-2398" r="-150" b="-7998"/>
            </a:stretch>
          </a:blipFill>
          <a:ln>
            <a:noFill/>
          </a:ln>
        </p:spPr>
        <p:txBody>
          <a:bodyPr spcFirstLastPara="1" wrap="square" lIns="91425" tIns="45700" rIns="91425" bIns="45700" anchor="t" anchorCtr="0">
            <a:noAutofit/>
          </a:bodyPr>
          <a:lstStyle/>
          <a:p>
            <a:r>
              <a:rPr lang="en-US"/>
              <a:t> </a:t>
            </a:r>
            <a:endParaRPr/>
          </a:p>
        </p:txBody>
      </p:sp>
      <p:pic>
        <p:nvPicPr>
          <p:cNvPr id="192" name="Google Shape;192;p6" descr="Chart, box and whisker chart&#10;&#10;Description automatically generated"/>
          <p:cNvPicPr preferRelativeResize="0"/>
          <p:nvPr/>
        </p:nvPicPr>
        <p:blipFill rotWithShape="1">
          <a:blip r:embed="rId6">
            <a:alphaModFix/>
          </a:blip>
          <a:srcRect/>
          <a:stretch/>
        </p:blipFill>
        <p:spPr>
          <a:xfrm>
            <a:off x="2519850" y="3208879"/>
            <a:ext cx="7253762" cy="27385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0" name="Google Shape;200;p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246</a:t>
            </a:r>
            <a:endParaRPr i="1">
              <a:latin typeface="Calibri"/>
              <a:ea typeface="Calibri"/>
              <a:cs typeface="Calibri"/>
              <a:sym typeface="Calibri"/>
            </a:endParaRPr>
          </a:p>
        </p:txBody>
      </p:sp>
      <p:sp>
        <p:nvSpPr>
          <p:cNvPr id="201" name="Google Shape;201;p7"/>
          <p:cNvSpPr txBox="1"/>
          <p:nvPr/>
        </p:nvSpPr>
        <p:spPr>
          <a:xfrm>
            <a:off x="914400" y="520393"/>
            <a:ext cx="10515600" cy="3785611"/>
          </a:xfrm>
          <a:prstGeom prst="rect">
            <a:avLst/>
          </a:prstGeom>
          <a:noFill/>
          <a:ln>
            <a:noFill/>
          </a:ln>
        </p:spPr>
        <p:txBody>
          <a:bodyPr spcFirstLastPara="1" wrap="square" lIns="91425" tIns="45700" rIns="91425" bIns="45700" anchor="t" anchorCtr="0">
            <a:spAutoFit/>
          </a:bodyPr>
          <a:lstStyle/>
          <a:p>
            <a:pPr marL="914400" lvl="2" indent="-457200">
              <a:buSzPts val="2400"/>
              <a:buFont typeface="Arial"/>
              <a:buAutoNum type="alphaLcPeriod"/>
            </a:pPr>
            <a:r>
              <a:rPr lang="en-US" sz="2400" dirty="0">
                <a:latin typeface="Verdana"/>
                <a:ea typeface="Verdana"/>
                <a:cs typeface="Verdana"/>
                <a:sym typeface="Verdana"/>
              </a:rPr>
              <a:t>Explain which measure of center, the mean or the median, best describes the center of the data.</a:t>
            </a:r>
            <a:endParaRPr dirty="0"/>
          </a:p>
          <a:p>
            <a:pPr marL="914400" lvl="2" indent="-457200">
              <a:buSzPts val="2400"/>
            </a:pPr>
            <a:endParaRPr sz="2400" dirty="0">
              <a:latin typeface="Verdana"/>
              <a:ea typeface="Verdana"/>
              <a:cs typeface="Verdana"/>
              <a:sym typeface="Verdana"/>
            </a:endParaRPr>
          </a:p>
          <a:p>
            <a:pPr marL="914400" lvl="2" indent="-457200">
              <a:buSzPts val="2400"/>
            </a:pPr>
            <a:endParaRPr sz="2400" dirty="0">
              <a:latin typeface="Verdana"/>
              <a:ea typeface="Verdana"/>
              <a:cs typeface="Verdana"/>
              <a:sym typeface="Verdana"/>
            </a:endParaRPr>
          </a:p>
          <a:p>
            <a:pPr marL="914400" lvl="2" indent="-457200">
              <a:buSzPts val="2400"/>
            </a:pPr>
            <a:endParaRPr sz="2400" dirty="0">
              <a:latin typeface="Verdana"/>
              <a:ea typeface="Verdana"/>
              <a:cs typeface="Verdana"/>
              <a:sym typeface="Verdana"/>
            </a:endParaRPr>
          </a:p>
          <a:p>
            <a:pPr marL="914400" lvl="2" indent="-457200">
              <a:buSzPts val="2400"/>
            </a:pPr>
            <a:endParaRPr sz="2400" dirty="0">
              <a:latin typeface="Verdana"/>
              <a:ea typeface="Verdana"/>
              <a:cs typeface="Verdana"/>
              <a:sym typeface="Verdana"/>
            </a:endParaRPr>
          </a:p>
          <a:p>
            <a:pPr marL="914400" lvl="2" indent="-457200">
              <a:buSzPts val="2400"/>
            </a:pPr>
            <a:endParaRPr sz="2400" dirty="0">
              <a:latin typeface="Verdana"/>
              <a:ea typeface="Verdana"/>
              <a:cs typeface="Verdana"/>
              <a:sym typeface="Verdana"/>
            </a:endParaRPr>
          </a:p>
          <a:p>
            <a:pPr marL="914400" lvl="2" indent="-457200">
              <a:buSzPts val="2400"/>
            </a:pPr>
            <a:endParaRPr sz="2400" dirty="0">
              <a:latin typeface="Verdana"/>
              <a:ea typeface="Verdana"/>
              <a:cs typeface="Verdana"/>
              <a:sym typeface="Verdana"/>
            </a:endParaRPr>
          </a:p>
          <a:p>
            <a:pPr marL="914400" lvl="2" indent="-457200">
              <a:buSzPts val="2400"/>
              <a:buFont typeface="+mj-lt"/>
              <a:buAutoNum type="alphaLcPeriod" startAt="2"/>
            </a:pPr>
            <a:r>
              <a:rPr lang="en-US" sz="2400" dirty="0">
                <a:latin typeface="Verdana"/>
                <a:ea typeface="Verdana"/>
                <a:cs typeface="Verdana"/>
                <a:sym typeface="Verdana"/>
              </a:rPr>
              <a:t>If possible, find the value of the measure you chose in Part A.</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8" name="Google Shape;208;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9" name="Google Shape;209;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247</a:t>
            </a:r>
            <a:endParaRPr i="1">
              <a:latin typeface="Calibri"/>
              <a:ea typeface="Calibri"/>
              <a:cs typeface="Calibri"/>
              <a:sym typeface="Calibri"/>
            </a:endParaRPr>
          </a:p>
        </p:txBody>
      </p:sp>
      <p:sp>
        <p:nvSpPr>
          <p:cNvPr id="210" name="Google Shape;210;p8"/>
          <p:cNvSpPr txBox="1"/>
          <p:nvPr/>
        </p:nvSpPr>
        <p:spPr>
          <a:xfrm>
            <a:off x="914400" y="520394"/>
            <a:ext cx="10515600" cy="3262391"/>
          </a:xfrm>
          <a:prstGeom prst="rect">
            <a:avLst/>
          </a:prstGeom>
          <a:noFill/>
          <a:ln>
            <a:noFill/>
          </a:ln>
        </p:spPr>
        <p:txBody>
          <a:bodyPr spcFirstLastPara="1" wrap="square" lIns="91425" tIns="45700" rIns="91425" bIns="45700" anchor="t" anchorCtr="0">
            <a:spAutoFit/>
          </a:bodyPr>
          <a:lstStyle/>
          <a:p>
            <a:pPr marL="914400" lvl="2" indent="-457200">
              <a:buAutoNum type="alphaLcPeriod" startAt="3"/>
            </a:pPr>
            <a:r>
              <a:rPr lang="en-US" sz="2400" dirty="0">
                <a:latin typeface="Verdana"/>
                <a:ea typeface="Verdana"/>
                <a:cs typeface="Verdana"/>
                <a:sym typeface="Verdana"/>
              </a:rPr>
              <a:t>Describe the variation of the weekly average price of gasoline.</a:t>
            </a:r>
          </a:p>
          <a:p>
            <a:pPr marL="914400" lvl="2" indent="-457200">
              <a:buAutoNum type="alphaLcPeriod" startAt="3"/>
            </a:pPr>
            <a:endParaRPr lang="en-US" sz="2400" dirty="0">
              <a:latin typeface="Verdana"/>
              <a:ea typeface="Verdana"/>
              <a:cs typeface="Verdana"/>
              <a:sym typeface="Verdana"/>
            </a:endParaRPr>
          </a:p>
          <a:p>
            <a:pPr marL="914400" lvl="2" indent="-457200">
              <a:buAutoNum type="alphaLcPeriod" startAt="3"/>
            </a:pPr>
            <a:endParaRPr lang="en-US" sz="2400" dirty="0">
              <a:latin typeface="Verdana"/>
              <a:ea typeface="Verdana"/>
              <a:cs typeface="Verdana"/>
              <a:sym typeface="Verdana"/>
            </a:endParaRPr>
          </a:p>
          <a:p>
            <a:pPr marL="914400" lvl="2" indent="-457200">
              <a:buAutoNum type="alphaLcPeriod" startAt="3"/>
            </a:pPr>
            <a:endParaRPr lang="en-US" sz="2400" dirty="0">
              <a:latin typeface="Verdana"/>
              <a:ea typeface="Verdana"/>
              <a:cs typeface="Verdana"/>
              <a:sym typeface="Verdana"/>
            </a:endParaRPr>
          </a:p>
          <a:p>
            <a:pPr marL="914400" lvl="2" indent="-457200">
              <a:buAutoNum type="alphaLcPeriod" startAt="3"/>
            </a:pPr>
            <a:endParaRPr lang="en-US" sz="2400" dirty="0">
              <a:latin typeface="Verdana"/>
              <a:ea typeface="Verdana"/>
              <a:cs typeface="Verdana"/>
              <a:sym typeface="Verdana"/>
            </a:endParaRPr>
          </a:p>
          <a:p>
            <a:pPr marL="914400" lvl="2" indent="-457200">
              <a:buAutoNum type="alphaLcPeriod" startAt="3"/>
            </a:pPr>
            <a:r>
              <a:rPr lang="en-US" sz="2400" dirty="0">
                <a:latin typeface="Verdana"/>
                <a:ea typeface="Verdana"/>
                <a:cs typeface="Verdana"/>
                <a:sym typeface="Verdana"/>
              </a:rPr>
              <a:t>Given your description, does the interquartile range or range better represent the variation in price? </a:t>
            </a:r>
            <a:endParaRPr dirty="0"/>
          </a:p>
          <a:p>
            <a:r>
              <a:rPr lang="en-US" dirty="0"/>
              <a:t> </a:t>
            </a:r>
            <a:endParaRPr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17" name="Google Shape;217;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8" name="Google Shape;218;p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247</a:t>
            </a:r>
            <a:endParaRPr i="1" dirty="0">
              <a:latin typeface="Calibri"/>
              <a:ea typeface="Calibri"/>
              <a:cs typeface="Calibri"/>
              <a:sym typeface="Calibri"/>
            </a:endParaRPr>
          </a:p>
        </p:txBody>
      </p:sp>
      <p:sp>
        <p:nvSpPr>
          <p:cNvPr id="219" name="Google Shape;219;p9"/>
          <p:cNvSpPr txBox="1"/>
          <p:nvPr/>
        </p:nvSpPr>
        <p:spPr>
          <a:xfrm>
            <a:off x="914400" y="520393"/>
            <a:ext cx="10515600" cy="1938992"/>
          </a:xfrm>
          <a:prstGeom prst="rect">
            <a:avLst/>
          </a:prstGeom>
          <a:blipFill rotWithShape="1">
            <a:blip r:embed="rId4">
              <a:alphaModFix/>
            </a:blip>
            <a:stretch>
              <a:fillRect l="-608" t="-1298" r="-608" b="-4544"/>
            </a:stretch>
          </a:blipFill>
          <a:ln>
            <a:noFill/>
          </a:ln>
        </p:spPr>
        <p:txBody>
          <a:bodyPr spcFirstLastPara="1" wrap="square" lIns="91425" tIns="45700" rIns="91425" bIns="45700" anchor="t" anchorCtr="0">
            <a:noAutofit/>
          </a:bodyPr>
          <a:lstStyle/>
          <a:p>
            <a:r>
              <a:rPr lang="en-US"/>
              <a:t> </a:t>
            </a:r>
            <a:endParaRPr/>
          </a:p>
        </p:txBody>
      </p:sp>
      <p:pic>
        <p:nvPicPr>
          <p:cNvPr id="220" name="Google Shape;220;p9" descr="Chart, histogram&#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867875" y="2459386"/>
            <a:ext cx="6456250" cy="41194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7" name="Google Shape;227;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28" name="Google Shape;228;p1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247</a:t>
            </a:r>
            <a:endParaRPr i="1" dirty="0">
              <a:latin typeface="Calibri"/>
              <a:ea typeface="Calibri"/>
              <a:cs typeface="Calibri"/>
              <a:sym typeface="Calibri"/>
            </a:endParaRPr>
          </a:p>
        </p:txBody>
      </p:sp>
      <p:sp>
        <p:nvSpPr>
          <p:cNvPr id="229" name="Google Shape;229;p10"/>
          <p:cNvSpPr txBox="1"/>
          <p:nvPr/>
        </p:nvSpPr>
        <p:spPr>
          <a:xfrm>
            <a:off x="914400" y="520394"/>
            <a:ext cx="10515600" cy="4031833"/>
          </a:xfrm>
          <a:prstGeom prst="rect">
            <a:avLst/>
          </a:prstGeom>
          <a:noFill/>
          <a:ln>
            <a:noFill/>
          </a:ln>
        </p:spPr>
        <p:txBody>
          <a:bodyPr spcFirstLastPara="1" wrap="square" lIns="91425" tIns="45700" rIns="91425" bIns="45700" anchor="t" anchorCtr="0">
            <a:spAutoFit/>
          </a:bodyPr>
          <a:lstStyle/>
          <a:p>
            <a:pPr marL="457200"/>
            <a:r>
              <a:rPr lang="en-US" sz="2400" dirty="0">
                <a:highlight>
                  <a:srgbClr val="FFFFFF"/>
                </a:highlight>
                <a:latin typeface="Verdana"/>
                <a:ea typeface="Verdana"/>
                <a:cs typeface="Verdana"/>
                <a:sym typeface="Verdana"/>
              </a:rPr>
              <a:t>Complete the statements to explain which measure of center and variation Robin should provide to her insurance agent to accurately summarize the ages of her employees. </a:t>
            </a:r>
            <a:endParaRPr sz="2400" dirty="0">
              <a:highlight>
                <a:srgbClr val="FFFFFF"/>
              </a:highlight>
              <a:latin typeface="Verdana"/>
              <a:ea typeface="Verdana"/>
              <a:cs typeface="Verdana"/>
              <a:sym typeface="Verdana"/>
            </a:endParaRPr>
          </a:p>
          <a:p>
            <a:pPr marL="457200"/>
            <a:endParaRPr sz="2400" dirty="0">
              <a:highlight>
                <a:srgbClr val="FFFFFF"/>
              </a:highlight>
              <a:latin typeface="Verdana"/>
              <a:ea typeface="Verdana"/>
              <a:cs typeface="Verdana"/>
              <a:sym typeface="Verdana"/>
            </a:endParaRPr>
          </a:p>
          <a:p>
            <a:pPr marL="914400" indent="-457200">
              <a:lnSpc>
                <a:spcPct val="250000"/>
              </a:lnSpc>
              <a:buSzPts val="2400"/>
              <a:buFont typeface="Arial"/>
              <a:buAutoNum type="alphaLcPeriod"/>
            </a:pPr>
            <a:r>
              <a:rPr lang="en-US" sz="2400" dirty="0">
                <a:highlight>
                  <a:srgbClr val="FFFFFF"/>
                </a:highlight>
                <a:latin typeface="Verdana"/>
                <a:ea typeface="Verdana"/>
                <a:cs typeface="Verdana"/>
                <a:sym typeface="Verdana"/>
              </a:rPr>
              <a:t>The                 best summarizes the center of</a:t>
            </a:r>
            <a:r>
              <a:rPr lang="en-US" dirty="0">
                <a:highlight>
                  <a:srgbClr val="FFFFFF"/>
                </a:highlight>
                <a:ea typeface="Verdana"/>
              </a:rPr>
              <a:t> </a:t>
            </a:r>
            <a:r>
              <a:rPr lang="en-US" sz="2400" dirty="0">
                <a:highlight>
                  <a:srgbClr val="FFFFFF"/>
                </a:highlight>
                <a:latin typeface="Verdana"/>
                <a:ea typeface="Verdana"/>
                <a:cs typeface="Verdana"/>
                <a:sym typeface="Verdana"/>
              </a:rPr>
              <a:t>the data for the agent because …</a:t>
            </a:r>
            <a:endParaRPr dirty="0"/>
          </a:p>
          <a:p>
            <a:pPr marL="457200"/>
            <a:endParaRPr sz="2400" dirty="0">
              <a:highlight>
                <a:srgbClr val="FFFFFF"/>
              </a:highlight>
              <a:latin typeface="Verdana"/>
              <a:ea typeface="Verdana"/>
              <a:cs typeface="Verdana"/>
              <a:sym typeface="Verdana"/>
            </a:endParaRPr>
          </a:p>
          <a:p>
            <a:pPr marL="457200"/>
            <a:endParaRPr sz="1600" dirty="0">
              <a:latin typeface="Cambria"/>
              <a:ea typeface="Cambria"/>
              <a:cs typeface="Cambria"/>
              <a:sym typeface="Cambria"/>
            </a:endParaRPr>
          </a:p>
        </p:txBody>
      </p:sp>
      <p:pic>
        <p:nvPicPr>
          <p:cNvPr id="230" name="Google Shape;230;p10" descr="A picture containing shape&#10;&#10;Description automatically generated"/>
          <p:cNvPicPr preferRelativeResize="0"/>
          <p:nvPr/>
        </p:nvPicPr>
        <p:blipFill rotWithShape="1">
          <a:blip r:embed="rId4">
            <a:alphaModFix/>
          </a:blip>
          <a:srcRect t="6337"/>
          <a:stretch/>
        </p:blipFill>
        <p:spPr>
          <a:xfrm>
            <a:off x="2502012" y="2204440"/>
            <a:ext cx="1714500" cy="844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7" name="Google Shape;23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8" name="Google Shape;238;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248</a:t>
            </a:r>
            <a:endParaRPr i="1">
              <a:latin typeface="Calibri"/>
              <a:ea typeface="Calibri"/>
              <a:cs typeface="Calibri"/>
              <a:sym typeface="Calibri"/>
            </a:endParaRPr>
          </a:p>
        </p:txBody>
      </p:sp>
      <p:sp>
        <p:nvSpPr>
          <p:cNvPr id="239" name="Google Shape;239;p11"/>
          <p:cNvSpPr txBox="1"/>
          <p:nvPr/>
        </p:nvSpPr>
        <p:spPr>
          <a:xfrm>
            <a:off x="914400" y="520394"/>
            <a:ext cx="10515600" cy="1938952"/>
          </a:xfrm>
          <a:prstGeom prst="rect">
            <a:avLst/>
          </a:prstGeom>
          <a:noFill/>
          <a:ln>
            <a:noFill/>
          </a:ln>
        </p:spPr>
        <p:txBody>
          <a:bodyPr spcFirstLastPara="1" wrap="square" lIns="91425" tIns="45700" rIns="91425" bIns="45700" anchor="t" anchorCtr="0">
            <a:spAutoFit/>
          </a:bodyPr>
          <a:lstStyle/>
          <a:p>
            <a:pPr marL="914400" lvl="2" indent="-457200">
              <a:lnSpc>
                <a:spcPct val="250000"/>
              </a:lnSpc>
              <a:buSzPts val="2400"/>
              <a:buFont typeface="Arial"/>
              <a:buAutoNum type="alphaLcPeriod" startAt="2"/>
            </a:pPr>
            <a:r>
              <a:rPr lang="en-US" sz="2400" dirty="0">
                <a:latin typeface="Verdana"/>
                <a:ea typeface="Verdana"/>
                <a:cs typeface="Verdana"/>
                <a:sym typeface="Verdana"/>
              </a:rPr>
              <a:t>The  	            best summarizes the</a:t>
            </a:r>
            <a:r>
              <a:rPr lang="en-US" dirty="0">
                <a:ea typeface="Verdana"/>
              </a:rPr>
              <a:t> </a:t>
            </a:r>
            <a:r>
              <a:rPr lang="en-US" sz="2400" dirty="0">
                <a:latin typeface="Verdana"/>
                <a:ea typeface="Verdana"/>
                <a:cs typeface="Verdana"/>
                <a:sym typeface="Verdana"/>
              </a:rPr>
              <a:t>variation of  the data for the agent because … </a:t>
            </a:r>
            <a:endParaRPr dirty="0"/>
          </a:p>
        </p:txBody>
      </p:sp>
      <p:sp>
        <p:nvSpPr>
          <p:cNvPr id="240" name="Google Shape;240;p11"/>
          <p:cNvSpPr/>
          <p:nvPr/>
        </p:nvSpPr>
        <p:spPr>
          <a:xfrm>
            <a:off x="2588212" y="727870"/>
            <a:ext cx="1477645" cy="7620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85750" indent="-285750">
              <a:buSzPts val="1800"/>
              <a:buFont typeface="Courier New"/>
              <a:buChar char="o"/>
            </a:pPr>
            <a:r>
              <a:rPr lang="en-US" sz="1800">
                <a:solidFill>
                  <a:schemeClr val="dk1"/>
                </a:solidFill>
                <a:latin typeface="Verdana"/>
                <a:ea typeface="Verdana"/>
                <a:cs typeface="Verdana"/>
                <a:sym typeface="Verdana"/>
              </a:rPr>
              <a:t>IQR</a:t>
            </a:r>
            <a:endParaRPr sz="1200">
              <a:solidFill>
                <a:schemeClr val="dk1"/>
              </a:solidFill>
            </a:endParaRPr>
          </a:p>
          <a:p>
            <a:pPr marL="285750" indent="-285750">
              <a:buSzPts val="1800"/>
              <a:buFont typeface="Courier New"/>
              <a:buChar char="o"/>
            </a:pPr>
            <a:r>
              <a:rPr lang="en-US" sz="1800">
                <a:solidFill>
                  <a:schemeClr val="dk1"/>
                </a:solidFill>
                <a:latin typeface="Verdana"/>
                <a:ea typeface="Verdana"/>
                <a:cs typeface="Verdana"/>
                <a:sym typeface="Verdana"/>
              </a:rPr>
              <a:t>range</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2"/>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47" name="Google Shape;247;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48" name="Google Shape;248;p12"/>
          <p:cNvSpPr txBox="1">
            <a:spLocks noGrp="1"/>
          </p:cNvSpPr>
          <p:nvPr>
            <p:ph type="title" idx="4294967295"/>
          </p:nvPr>
        </p:nvSpPr>
        <p:spPr>
          <a:xfrm>
            <a:off x="3389536" y="2852928"/>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249" name="Google Shape;249;p1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248</a:t>
            </a:r>
            <a:endParaRPr i="1">
              <a:latin typeface="Calibri"/>
              <a:ea typeface="Calibri"/>
              <a:cs typeface="Calibri"/>
              <a:sym typeface="Calibri"/>
            </a:endParaRPr>
          </a:p>
        </p:txBody>
      </p:sp>
      <p:pic>
        <p:nvPicPr>
          <p:cNvPr id="250" name="Google Shape;250;p12"/>
          <p:cNvPicPr preferRelativeResize="0"/>
          <p:nvPr/>
        </p:nvPicPr>
        <p:blipFill rotWithShape="1">
          <a:blip r:embed="rId4">
            <a:alphaModFix/>
          </a:blip>
          <a:srcRect/>
          <a:stretch/>
        </p:blipFill>
        <p:spPr>
          <a:xfrm>
            <a:off x="3054096" y="2852928"/>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7" name="Google Shape;257;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58" name="Google Shape;258;p13"/>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13.3.3 Try It: Measures of Center and Variation</a:t>
            </a:r>
            <a:endParaRPr dirty="0"/>
          </a:p>
        </p:txBody>
      </p:sp>
      <p:sp>
        <p:nvSpPr>
          <p:cNvPr id="259" name="Google Shape;259;p1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248</a:t>
            </a:r>
            <a:endParaRPr i="1" dirty="0">
              <a:latin typeface="Calibri"/>
              <a:ea typeface="Calibri"/>
              <a:cs typeface="Calibri"/>
              <a:sym typeface="Calibri"/>
            </a:endParaRPr>
          </a:p>
        </p:txBody>
      </p:sp>
      <p:pic>
        <p:nvPicPr>
          <p:cNvPr id="260" name="Google Shape;260;p13"/>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48271"/>
            <a:ext cx="749808" cy="749808"/>
          </a:xfrm>
          <a:prstGeom prst="rect">
            <a:avLst/>
          </a:prstGeom>
          <a:noFill/>
          <a:ln>
            <a:noFill/>
          </a:ln>
          <a:effectLst>
            <a:outerShdw blurRad="50800" dist="38100" dir="2700000" algn="tl" rotWithShape="0">
              <a:srgbClr val="000000">
                <a:alpha val="40000"/>
              </a:srgbClr>
            </a:outerShdw>
          </a:effectLst>
        </p:spPr>
      </p:pic>
      <p:sp>
        <p:nvSpPr>
          <p:cNvPr id="261" name="Google Shape;261;p13"/>
          <p:cNvSpPr txBox="1"/>
          <p:nvPr/>
        </p:nvSpPr>
        <p:spPr>
          <a:xfrm>
            <a:off x="914400" y="1386025"/>
            <a:ext cx="10515600" cy="1200288"/>
          </a:xfrm>
          <a:prstGeom prst="rect">
            <a:avLst/>
          </a:prstGeom>
          <a:noFill/>
          <a:ln>
            <a:noFill/>
          </a:ln>
        </p:spPr>
        <p:txBody>
          <a:bodyPr spcFirstLastPara="1" wrap="square" lIns="91425" tIns="45700" rIns="91425" bIns="45700" anchor="t" anchorCtr="0">
            <a:spAutoFit/>
          </a:bodyPr>
          <a:lstStyle/>
          <a:p>
            <a:pPr marL="463550" lvl="4" indent="-463550">
              <a:buSzPts val="2400"/>
              <a:buFont typeface="Arial"/>
              <a:buAutoNum type="arabicPeriod"/>
            </a:pPr>
            <a:r>
              <a:rPr lang="en-US" sz="2400" dirty="0">
                <a:latin typeface="Verdana"/>
                <a:ea typeface="Verdana"/>
                <a:cs typeface="Verdana"/>
                <a:sym typeface="Verdana"/>
              </a:rPr>
              <a:t>Tom Brady is considered by most to be one of the best NFL quarterbacks of all time. His pass-completion percentages from 2009 to 2019 are shown in the box plot and stem-and-leaf plot.</a:t>
            </a:r>
            <a:endParaRPr sz="1600" dirty="0">
              <a:latin typeface="Verdana"/>
              <a:ea typeface="Verdana"/>
              <a:cs typeface="Verdana"/>
              <a:sym typeface="Verdana"/>
            </a:endParaRPr>
          </a:p>
        </p:txBody>
      </p:sp>
      <p:pic>
        <p:nvPicPr>
          <p:cNvPr id="262" name="Google Shape;262;p13" descr="Chart, box and whisker chart&#10;&#10;Description automatically generated"/>
          <p:cNvPicPr preferRelativeResize="0"/>
          <p:nvPr/>
        </p:nvPicPr>
        <p:blipFill rotWithShape="1">
          <a:blip r:embed="rId5">
            <a:alphaModFix/>
          </a:blip>
          <a:srcRect b="9437"/>
          <a:stretch/>
        </p:blipFill>
        <p:spPr>
          <a:xfrm>
            <a:off x="2525907" y="2876100"/>
            <a:ext cx="7140186" cy="344793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69" name="Google Shape;269;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70" name="Google Shape;270;p1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248</a:t>
            </a:r>
            <a:endParaRPr i="1" dirty="0">
              <a:latin typeface="Calibri"/>
              <a:ea typeface="Calibri"/>
              <a:cs typeface="Calibri"/>
              <a:sym typeface="Calibri"/>
            </a:endParaRPr>
          </a:p>
        </p:txBody>
      </p:sp>
      <p:sp>
        <p:nvSpPr>
          <p:cNvPr id="271" name="Google Shape;271;p14"/>
          <p:cNvSpPr txBox="1"/>
          <p:nvPr/>
        </p:nvSpPr>
        <p:spPr>
          <a:xfrm>
            <a:off x="914400" y="520393"/>
            <a:ext cx="10515600" cy="2400617"/>
          </a:xfrm>
          <a:prstGeom prst="rect">
            <a:avLst/>
          </a:prstGeom>
          <a:noFill/>
          <a:ln>
            <a:noFill/>
          </a:ln>
        </p:spPr>
        <p:txBody>
          <a:bodyPr spcFirstLastPara="1" wrap="square" lIns="91425" tIns="45700" rIns="91425" bIns="45700" anchor="t" anchorCtr="0">
            <a:spAutoFit/>
          </a:bodyPr>
          <a:lstStyle/>
          <a:p>
            <a:pPr marL="914400" lvl="5" indent="-457200">
              <a:lnSpc>
                <a:spcPct val="250000"/>
              </a:lnSpc>
              <a:buSzPts val="2000"/>
              <a:buFont typeface="Arial"/>
              <a:buAutoNum type="alphaLcPeriod"/>
            </a:pPr>
            <a:r>
              <a:rPr lang="en-US" sz="2000" dirty="0">
                <a:latin typeface="Verdana"/>
                <a:ea typeface="Verdana"/>
                <a:cs typeface="Verdana"/>
                <a:sym typeface="Verdana"/>
              </a:rPr>
              <a:t>The  		    best  summarizes the center of the data. The   		   is  not the best measure of center because it is influenced by the values 			that are far from the rest of the data values. </a:t>
            </a:r>
            <a:endParaRPr dirty="0"/>
          </a:p>
        </p:txBody>
      </p:sp>
      <p:sp>
        <p:nvSpPr>
          <p:cNvPr id="272" name="Google Shape;272;p14"/>
          <p:cNvSpPr/>
          <p:nvPr/>
        </p:nvSpPr>
        <p:spPr>
          <a:xfrm>
            <a:off x="2510160" y="673358"/>
            <a:ext cx="1477500" cy="7620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85750" indent="-285750">
              <a:buSzPts val="1800"/>
              <a:buFont typeface="Courier New"/>
              <a:buChar char="o"/>
            </a:pPr>
            <a:r>
              <a:rPr lang="en-US" sz="1800">
                <a:solidFill>
                  <a:schemeClr val="dk1"/>
                </a:solidFill>
                <a:latin typeface="Verdana"/>
                <a:ea typeface="Verdana"/>
                <a:cs typeface="Verdana"/>
                <a:sym typeface="Verdana"/>
              </a:rPr>
              <a:t>mean</a:t>
            </a:r>
            <a:endParaRPr sz="1200">
              <a:solidFill>
                <a:schemeClr val="dk1"/>
              </a:solidFill>
            </a:endParaRPr>
          </a:p>
          <a:p>
            <a:pPr marL="285750" indent="-285750">
              <a:buSzPts val="1800"/>
              <a:buFont typeface="Courier New"/>
              <a:buChar char="o"/>
            </a:pPr>
            <a:r>
              <a:rPr lang="en-US" sz="1800">
                <a:solidFill>
                  <a:schemeClr val="dk1"/>
                </a:solidFill>
                <a:latin typeface="Verdana"/>
                <a:ea typeface="Verdana"/>
                <a:cs typeface="Verdana"/>
                <a:sym typeface="Verdana"/>
              </a:rPr>
              <a:t>median</a:t>
            </a:r>
            <a:endParaRPr sz="1200">
              <a:solidFill>
                <a:schemeClr val="dk1"/>
              </a:solidFill>
            </a:endParaRPr>
          </a:p>
        </p:txBody>
      </p:sp>
      <p:sp>
        <p:nvSpPr>
          <p:cNvPr id="273" name="Google Shape;273;p14"/>
          <p:cNvSpPr/>
          <p:nvPr/>
        </p:nvSpPr>
        <p:spPr>
          <a:xfrm>
            <a:off x="9952355" y="673358"/>
            <a:ext cx="1477645" cy="7620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85750" indent="-285750">
              <a:buSzPts val="1800"/>
              <a:buFont typeface="Courier New"/>
              <a:buChar char="o"/>
            </a:pPr>
            <a:r>
              <a:rPr lang="en-US" sz="1800">
                <a:solidFill>
                  <a:schemeClr val="dk1"/>
                </a:solidFill>
                <a:latin typeface="Verdana"/>
                <a:ea typeface="Verdana"/>
                <a:cs typeface="Verdana"/>
                <a:sym typeface="Verdana"/>
              </a:rPr>
              <a:t>mean</a:t>
            </a:r>
            <a:endParaRPr sz="1200">
              <a:solidFill>
                <a:schemeClr val="dk1"/>
              </a:solidFill>
            </a:endParaRPr>
          </a:p>
          <a:p>
            <a:pPr marL="285750" indent="-285750">
              <a:buSzPts val="1800"/>
              <a:buFont typeface="Courier New"/>
              <a:buChar char="o"/>
            </a:pPr>
            <a:r>
              <a:rPr lang="en-US" sz="1800">
                <a:solidFill>
                  <a:schemeClr val="dk1"/>
                </a:solidFill>
                <a:latin typeface="Verdana"/>
                <a:ea typeface="Verdana"/>
                <a:cs typeface="Verdana"/>
                <a:sym typeface="Verdana"/>
              </a:rPr>
              <a:t>median</a:t>
            </a:r>
            <a:endParaRPr sz="1200">
              <a:solidFill>
                <a:schemeClr val="dk1"/>
              </a:solidFill>
            </a:endParaRPr>
          </a:p>
        </p:txBody>
      </p:sp>
      <p:sp>
        <p:nvSpPr>
          <p:cNvPr id="274" name="Google Shape;274;p14"/>
          <p:cNvSpPr/>
          <p:nvPr/>
        </p:nvSpPr>
        <p:spPr>
          <a:xfrm>
            <a:off x="1899210" y="2154716"/>
            <a:ext cx="2699400" cy="775200"/>
          </a:xfrm>
          <a:prstGeom prst="roundRect">
            <a:avLst>
              <a:gd name="adj" fmla="val 16667"/>
            </a:avLst>
          </a:prstGeom>
          <a:blipFill rotWithShape="1">
            <a:blip r:embed="rId4" cstate="screen">
              <a:alphaModFix/>
              <a:extLst>
                <a:ext uri="{28A0092B-C50C-407E-A947-70E740481C1C}">
                  <a14:useLocalDpi xmlns:a14="http://schemas.microsoft.com/office/drawing/2010/main"/>
                </a:ext>
              </a:extLst>
            </a:blip>
            <a:stretch>
              <a:fillRect t="-3173" b="-9522"/>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1" name="Google Shape;281;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82" name="Google Shape;282;p1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248</a:t>
            </a:r>
            <a:endParaRPr i="1" dirty="0">
              <a:latin typeface="Calibri"/>
              <a:ea typeface="Calibri"/>
              <a:cs typeface="Calibri"/>
              <a:sym typeface="Calibri"/>
            </a:endParaRPr>
          </a:p>
        </p:txBody>
      </p:sp>
      <p:sp>
        <p:nvSpPr>
          <p:cNvPr id="283" name="Google Shape;283;p15"/>
          <p:cNvSpPr txBox="1"/>
          <p:nvPr/>
        </p:nvSpPr>
        <p:spPr>
          <a:xfrm>
            <a:off x="914400" y="520393"/>
            <a:ext cx="10515600" cy="2400617"/>
          </a:xfrm>
          <a:prstGeom prst="rect">
            <a:avLst/>
          </a:prstGeom>
          <a:noFill/>
          <a:ln>
            <a:noFill/>
          </a:ln>
        </p:spPr>
        <p:txBody>
          <a:bodyPr spcFirstLastPara="1" wrap="square" lIns="91425" tIns="45700" rIns="91425" bIns="45700" anchor="t" anchorCtr="0">
            <a:spAutoFit/>
          </a:bodyPr>
          <a:lstStyle/>
          <a:p>
            <a:pPr marL="914400" lvl="5" indent="-457200">
              <a:lnSpc>
                <a:spcPct val="250000"/>
              </a:lnSpc>
            </a:pPr>
            <a:r>
              <a:rPr lang="en-US" sz="2000" dirty="0">
                <a:latin typeface="Verdana"/>
                <a:ea typeface="Verdana"/>
                <a:cs typeface="Verdana"/>
                <a:sym typeface="Verdana"/>
              </a:rPr>
              <a:t>b.  The  	            best summarizes the variation of the data. The   	          is not the best measure of variation because it is affected by the value 		    from the rest of the data. </a:t>
            </a:r>
            <a:endParaRPr dirty="0"/>
          </a:p>
        </p:txBody>
      </p:sp>
      <p:sp>
        <p:nvSpPr>
          <p:cNvPr id="284" name="Google Shape;284;p15"/>
          <p:cNvSpPr/>
          <p:nvPr/>
        </p:nvSpPr>
        <p:spPr>
          <a:xfrm>
            <a:off x="2508956" y="680560"/>
            <a:ext cx="1230000" cy="7710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85750" indent="-285750">
              <a:buSzPts val="1800"/>
              <a:buFont typeface="Courier New"/>
              <a:buChar char="o"/>
            </a:pPr>
            <a:r>
              <a:rPr lang="en-US" sz="1800">
                <a:solidFill>
                  <a:schemeClr val="dk1"/>
                </a:solidFill>
                <a:latin typeface="Verdana"/>
                <a:ea typeface="Verdana"/>
                <a:cs typeface="Verdana"/>
                <a:sym typeface="Verdana"/>
              </a:rPr>
              <a:t>IQR</a:t>
            </a:r>
            <a:endParaRPr sz="1200">
              <a:solidFill>
                <a:schemeClr val="dk1"/>
              </a:solidFill>
            </a:endParaRPr>
          </a:p>
          <a:p>
            <a:pPr marL="285750" indent="-285750">
              <a:buSzPts val="1800"/>
              <a:buFont typeface="Courier New"/>
              <a:buChar char="o"/>
            </a:pPr>
            <a:r>
              <a:rPr lang="en-US" sz="1800">
                <a:solidFill>
                  <a:schemeClr val="dk1"/>
                </a:solidFill>
                <a:latin typeface="Verdana"/>
                <a:ea typeface="Verdana"/>
                <a:cs typeface="Verdana"/>
                <a:sym typeface="Verdana"/>
              </a:rPr>
              <a:t>range</a:t>
            </a:r>
            <a:endParaRPr sz="1200">
              <a:solidFill>
                <a:schemeClr val="dk1"/>
              </a:solidFill>
            </a:endParaRPr>
          </a:p>
        </p:txBody>
      </p:sp>
      <p:sp>
        <p:nvSpPr>
          <p:cNvPr id="285" name="Google Shape;285;p15"/>
          <p:cNvSpPr/>
          <p:nvPr/>
        </p:nvSpPr>
        <p:spPr>
          <a:xfrm>
            <a:off x="10047600" y="680560"/>
            <a:ext cx="1230000" cy="7710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85750" indent="-285750">
              <a:buSzPts val="1800"/>
              <a:buFont typeface="Courier New"/>
              <a:buChar char="o"/>
            </a:pPr>
            <a:r>
              <a:rPr lang="en-US" sz="1800">
                <a:solidFill>
                  <a:schemeClr val="dk1"/>
                </a:solidFill>
                <a:latin typeface="Verdana"/>
                <a:ea typeface="Verdana"/>
                <a:cs typeface="Verdana"/>
                <a:sym typeface="Verdana"/>
              </a:rPr>
              <a:t>IQR</a:t>
            </a:r>
            <a:endParaRPr sz="1200">
              <a:solidFill>
                <a:schemeClr val="dk1"/>
              </a:solidFill>
            </a:endParaRPr>
          </a:p>
          <a:p>
            <a:pPr marL="285750" indent="-285750">
              <a:buSzPts val="1800"/>
              <a:buFont typeface="Courier New"/>
              <a:buChar char="o"/>
            </a:pPr>
            <a:r>
              <a:rPr lang="en-US" sz="1800">
                <a:solidFill>
                  <a:schemeClr val="dk1"/>
                </a:solidFill>
                <a:latin typeface="Verdana"/>
                <a:ea typeface="Verdana"/>
                <a:cs typeface="Verdana"/>
                <a:sym typeface="Verdana"/>
              </a:rPr>
              <a:t>range</a:t>
            </a:r>
            <a:endParaRPr sz="1200">
              <a:solidFill>
                <a:schemeClr val="dk1"/>
              </a:solidFill>
            </a:endParaRPr>
          </a:p>
        </p:txBody>
      </p:sp>
      <p:sp>
        <p:nvSpPr>
          <p:cNvPr id="286" name="Google Shape;286;p15"/>
          <p:cNvSpPr/>
          <p:nvPr/>
        </p:nvSpPr>
        <p:spPr>
          <a:xfrm>
            <a:off x="1917356" y="2166592"/>
            <a:ext cx="1206600" cy="775200"/>
          </a:xfrm>
          <a:prstGeom prst="roundRect">
            <a:avLst>
              <a:gd name="adj" fmla="val 16667"/>
            </a:avLst>
          </a:prstGeom>
          <a:blipFill rotWithShape="1">
            <a:blip r:embed="rId4" cstate="screen">
              <a:alphaModFix/>
              <a:extLst>
                <a:ext uri="{28A0092B-C50C-407E-A947-70E740481C1C}">
                  <a14:useLocalDpi xmlns:a14="http://schemas.microsoft.com/office/drawing/2010/main"/>
                </a:ext>
              </a:extLst>
            </a:blip>
            <a:stretch>
              <a:fillRect b="-9521"/>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93" name="Google Shape;293;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4" name="Google Shape;294;p1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0197BBC-4A84-D03B-ECAA-A3F7248A6930}"/>
                  </a:ext>
                </a:extLst>
              </p:cNvPr>
              <p:cNvSpPr txBox="1"/>
              <p:nvPr/>
            </p:nvSpPr>
            <p:spPr>
              <a:xfrm>
                <a:off x="572814" y="-36411"/>
                <a:ext cx="11619186" cy="3046988"/>
              </a:xfrm>
              <a:prstGeom prst="rect">
                <a:avLst/>
              </a:prstGeom>
              <a:noFill/>
            </p:spPr>
            <p:txBody>
              <a:bodyPr wrap="square">
                <a:spAutoFit/>
              </a:bodyPr>
              <a:lstStyle/>
              <a:p>
                <a:pPr marR="0" lvl="0">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2.  The </a:t>
                </a:r>
                <a:r>
                  <a:rPr lang="en-US" sz="24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Rachards</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family is moving to Gainesville, Florida and want to purchase a home in a specific area. They have a budget of </a:t>
                </a:r>
                <a14:m>
                  <m:oMath xmlns:m="http://schemas.openxmlformats.org/officeDocument/2006/math">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$160,000</m:t>
                    </m:r>
                  </m:oMath>
                </a14:m>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The prices of homes in the area are shown below, in thousands of dollars.</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150, 302, 201, 212, 150, 160, 140, 145</m:t>
                      </m:r>
                    </m:oMath>
                  </m:oMathPara>
                </a14:m>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dirty="0">
                  <a:latin typeface="Cambria" panose="02040503050406030204" pitchFamily="18" charset="0"/>
                  <a:ea typeface="Verdana" panose="020B0604030504040204" pitchFamily="34" charset="0"/>
                  <a:cs typeface="Times New Roman" panose="02020603050405020304" pitchFamily="18" charset="0"/>
                </a:endParaRPr>
              </a:p>
              <a:p>
                <a:pPr marL="0" marR="0">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The </a:t>
                </a:r>
                <a:r>
                  <a:rPr lang="en-US" sz="24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Rachards</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are concerned that the homes may be out of their budget, so they ask the realtor to summarize the home prices. </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4" name="TextBox 3">
                <a:extLst>
                  <a:ext uri="{FF2B5EF4-FFF2-40B4-BE49-F238E27FC236}">
                    <a16:creationId xmlns:a16="http://schemas.microsoft.com/office/drawing/2014/main" id="{20197BBC-4A84-D03B-ECAA-A3F7248A6930}"/>
                  </a:ext>
                </a:extLst>
              </p:cNvPr>
              <p:cNvSpPr txBox="1">
                <a:spLocks noRot="1" noChangeAspect="1" noMove="1" noResize="1" noEditPoints="1" noAdjustHandles="1" noChangeArrowheads="1" noChangeShapeType="1" noTextEdit="1"/>
              </p:cNvSpPr>
              <p:nvPr/>
            </p:nvSpPr>
            <p:spPr>
              <a:xfrm>
                <a:off x="572814" y="-36411"/>
                <a:ext cx="11619186" cy="3046988"/>
              </a:xfrm>
              <a:prstGeom prst="rect">
                <a:avLst/>
              </a:prstGeom>
              <a:blipFill>
                <a:blip r:embed="rId4"/>
                <a:stretch>
                  <a:fillRect l="-873" t="-1660" b="-3320"/>
                </a:stretch>
              </a:blipFill>
            </p:spPr>
            <p:txBody>
              <a:bodyPr/>
              <a:lstStyle/>
              <a:p>
                <a:r>
                  <a:rPr 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03" name="Google Shape;303;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04" name="Google Shape;304;p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249</a:t>
            </a:r>
            <a:endParaRPr i="1" dirty="0">
              <a:latin typeface="Calibri"/>
              <a:ea typeface="Calibri"/>
              <a:cs typeface="Calibri"/>
              <a:sym typeface="Calibri"/>
            </a:endParaRPr>
          </a:p>
        </p:txBody>
      </p:sp>
      <p:sp>
        <p:nvSpPr>
          <p:cNvPr id="305" name="Google Shape;305;p17"/>
          <p:cNvSpPr txBox="1"/>
          <p:nvPr/>
        </p:nvSpPr>
        <p:spPr>
          <a:xfrm>
            <a:off x="914400" y="520393"/>
            <a:ext cx="10515600" cy="3785611"/>
          </a:xfrm>
          <a:prstGeom prst="rect">
            <a:avLst/>
          </a:prstGeom>
          <a:noFill/>
          <a:ln>
            <a:noFill/>
          </a:ln>
        </p:spPr>
        <p:txBody>
          <a:bodyPr spcFirstLastPara="1" wrap="square" lIns="91425" tIns="45700" rIns="91425" bIns="45700" anchor="t" anchorCtr="0">
            <a:spAutoFit/>
          </a:bodyPr>
          <a:lstStyle/>
          <a:p>
            <a:pPr marL="914400" lvl="5" indent="-457200">
              <a:buSzPts val="2400"/>
              <a:buFont typeface="Arial"/>
              <a:buAutoNum type="alphaLcPeriod"/>
            </a:pPr>
            <a:r>
              <a:rPr lang="en-US" sz="2400" dirty="0">
                <a:latin typeface="Verdana"/>
                <a:ea typeface="Verdana"/>
                <a:cs typeface="Verdana"/>
                <a:sym typeface="Verdana"/>
              </a:rPr>
              <a:t>Which measure of center should the realtor report to the </a:t>
            </a:r>
            <a:r>
              <a:rPr lang="en-US" sz="2400" dirty="0" err="1">
                <a:latin typeface="Verdana"/>
                <a:ea typeface="Verdana"/>
                <a:cs typeface="Verdana"/>
                <a:sym typeface="Verdana"/>
              </a:rPr>
              <a:t>Rachards</a:t>
            </a:r>
            <a:r>
              <a:rPr lang="en-US" sz="2400" dirty="0">
                <a:latin typeface="Verdana"/>
                <a:ea typeface="Verdana"/>
                <a:cs typeface="Verdana"/>
                <a:sym typeface="Verdana"/>
              </a:rPr>
              <a:t>, the mean or the median? Explain your reasoning. </a:t>
            </a:r>
            <a:endParaRPr dirty="0"/>
          </a:p>
          <a:p>
            <a:pPr marL="914400" lvl="5" indent="-457200">
              <a:buSzPts val="2400"/>
            </a:pPr>
            <a:endParaRPr sz="2400" dirty="0">
              <a:latin typeface="Verdana"/>
              <a:ea typeface="Verdana"/>
              <a:cs typeface="Verdana"/>
              <a:sym typeface="Verdana"/>
            </a:endParaRPr>
          </a:p>
          <a:p>
            <a:pPr marL="914400" lvl="5" indent="-457200">
              <a:buSzPts val="2400"/>
            </a:pPr>
            <a:endParaRPr sz="2400" dirty="0">
              <a:latin typeface="Verdana"/>
              <a:ea typeface="Verdana"/>
              <a:cs typeface="Verdana"/>
              <a:sym typeface="Verdana"/>
            </a:endParaRPr>
          </a:p>
          <a:p>
            <a:pPr marL="914400" lvl="5" indent="-457200">
              <a:buSzPts val="2400"/>
            </a:pPr>
            <a:endParaRPr sz="2400" dirty="0">
              <a:latin typeface="Verdana"/>
              <a:ea typeface="Verdana"/>
              <a:cs typeface="Verdana"/>
              <a:sym typeface="Verdana"/>
            </a:endParaRPr>
          </a:p>
          <a:p>
            <a:pPr marL="914400" lvl="5" indent="-457200">
              <a:buSzPts val="2400"/>
            </a:pPr>
            <a:endParaRPr sz="2400" dirty="0">
              <a:latin typeface="Verdana"/>
              <a:ea typeface="Verdana"/>
              <a:cs typeface="Verdana"/>
              <a:sym typeface="Verdana"/>
            </a:endParaRPr>
          </a:p>
          <a:p>
            <a:pPr marL="914400" lvl="5" indent="-457200">
              <a:buSzPts val="2400"/>
            </a:pPr>
            <a:endParaRPr sz="2400" dirty="0">
              <a:latin typeface="Verdana"/>
              <a:ea typeface="Verdana"/>
              <a:cs typeface="Verdana"/>
              <a:sym typeface="Verdana"/>
            </a:endParaRPr>
          </a:p>
          <a:p>
            <a:pPr marL="914400" lvl="5" indent="-457200">
              <a:buSzPts val="2400"/>
              <a:buFont typeface="+mj-lt"/>
              <a:buAutoNum type="alphaLcPeriod" startAt="2"/>
            </a:pPr>
            <a:r>
              <a:rPr lang="en-US" sz="2400" dirty="0">
                <a:latin typeface="Verdana"/>
                <a:ea typeface="Verdana"/>
                <a:cs typeface="Verdana"/>
                <a:sym typeface="Verdana"/>
              </a:rPr>
              <a:t>Which measure of variation should the realtor report to the </a:t>
            </a:r>
            <a:r>
              <a:rPr lang="en-US" sz="2400" dirty="0" err="1">
                <a:latin typeface="Verdana"/>
                <a:ea typeface="Verdana"/>
                <a:cs typeface="Verdana"/>
                <a:sym typeface="Verdana"/>
              </a:rPr>
              <a:t>Rachards</a:t>
            </a:r>
            <a:r>
              <a:rPr lang="en-US" sz="2400" dirty="0">
                <a:latin typeface="Verdana"/>
                <a:ea typeface="Verdana"/>
                <a:cs typeface="Verdana"/>
                <a:sym typeface="Verdana"/>
              </a:rPr>
              <a:t>, the interquartile range or the range? Explain your reasoning. </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8"/>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12" name="Google Shape;312;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13" name="Google Shape;313;p18"/>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314" name="Google Shape;314;p18"/>
          <p:cNvPicPr preferRelativeResize="0"/>
          <p:nvPr/>
        </p:nvPicPr>
        <p:blipFill rotWithShape="1">
          <a:blip r:embed="rId4">
            <a:alphaModFix/>
          </a:blip>
          <a:srcRect/>
          <a:stretch/>
        </p:blipFill>
        <p:spPr>
          <a:xfrm>
            <a:off x="3054096" y="2897929"/>
            <a:ext cx="1122440" cy="1062143"/>
          </a:xfrm>
          <a:prstGeom prst="rect">
            <a:avLst/>
          </a:prstGeom>
          <a:noFill/>
          <a:ln>
            <a:noFill/>
          </a:ln>
          <a:effectLst>
            <a:outerShdw blurRad="50800" dist="38100" dir="2700000" algn="tl" rotWithShape="0">
              <a:srgbClr val="000000">
                <a:alpha val="40000"/>
              </a:srgbClr>
            </a:outerShdw>
          </a:effectLst>
        </p:spPr>
      </p:pic>
      <p:sp>
        <p:nvSpPr>
          <p:cNvPr id="315" name="Google Shape;315;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249</a:t>
            </a:r>
            <a:endParaRPr i="1">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9"/>
          <p:cNvSpPr/>
          <p:nvPr/>
        </p:nvSpPr>
        <p:spPr>
          <a:xfrm>
            <a:off x="0" y="220718"/>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22" name="Google Shape;322;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23" name="Google Shape;323;p19"/>
          <p:cNvSpPr txBox="1"/>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13.3.4 Your Turn!</a:t>
            </a:r>
            <a:endParaRPr/>
          </a:p>
        </p:txBody>
      </p:sp>
      <p:pic>
        <p:nvPicPr>
          <p:cNvPr id="324" name="Google Shape;324;p19"/>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325" name="Google Shape;325;p19"/>
          <p:cNvSpPr txBox="1"/>
          <p:nvPr/>
        </p:nvSpPr>
        <p:spPr>
          <a:xfrm>
            <a:off x="8897112" y="646325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326" name="Google Shape;326;p19"/>
              <p:cNvSpPr txBox="1"/>
              <p:nvPr/>
            </p:nvSpPr>
            <p:spPr>
              <a:xfrm>
                <a:off x="914400" y="1136645"/>
                <a:ext cx="10515600" cy="830956"/>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Zane and </a:t>
                </a:r>
                <a14:m>
                  <m:oMath xmlns:m="http://schemas.openxmlformats.org/officeDocument/2006/math">
                    <m:r>
                      <a:rPr lang="en-US" sz="2400" i="1" dirty="0" smtClean="0">
                        <a:latin typeface="Cambria Math" panose="02040503050406030204" pitchFamily="18" charset="0"/>
                        <a:ea typeface="Verdana"/>
                        <a:cs typeface="Verdana"/>
                        <a:sym typeface="Verdana"/>
                      </a:rPr>
                      <m:t>12</m:t>
                    </m:r>
                  </m:oMath>
                </a14:m>
                <a:r>
                  <a:rPr lang="en-US" sz="2400" dirty="0">
                    <a:latin typeface="Verdana"/>
                    <a:ea typeface="Verdana"/>
                    <a:cs typeface="Verdana"/>
                    <a:sym typeface="Verdana"/>
                  </a:rPr>
                  <a:t> of his friends listed how far, in miles, they live from the school and created a histogram. </a:t>
                </a:r>
                <a:endParaRPr sz="2400" dirty="0"/>
              </a:p>
            </p:txBody>
          </p:sp>
        </mc:Choice>
        <mc:Fallback>
          <p:sp>
            <p:nvSpPr>
              <p:cNvPr id="326" name="Google Shape;326;p19"/>
              <p:cNvSpPr txBox="1">
                <a:spLocks noRot="1" noChangeAspect="1" noMove="1" noResize="1" noEditPoints="1" noAdjustHandles="1" noChangeArrowheads="1" noChangeShapeType="1" noTextEdit="1"/>
              </p:cNvSpPr>
              <p:nvPr/>
            </p:nvSpPr>
            <p:spPr>
              <a:xfrm>
                <a:off x="914400" y="1136645"/>
                <a:ext cx="10515600" cy="830956"/>
              </a:xfrm>
              <a:prstGeom prst="rect">
                <a:avLst/>
              </a:prstGeom>
              <a:blipFill>
                <a:blip r:embed="rId5"/>
                <a:stretch>
                  <a:fillRect l="-965" t="-5970" b="-13433"/>
                </a:stretch>
              </a:blipFill>
              <a:ln>
                <a:noFill/>
              </a:ln>
            </p:spPr>
            <p:txBody>
              <a:bodyPr/>
              <a:lstStyle/>
              <a:p>
                <a:r>
                  <a:rPr lang="en-US">
                    <a:noFill/>
                  </a:rPr>
                  <a:t> </a:t>
                </a:r>
              </a:p>
            </p:txBody>
          </p:sp>
        </mc:Fallback>
      </mc:AlternateContent>
      <p:pic>
        <p:nvPicPr>
          <p:cNvPr id="327" name="Google Shape;327;p19" descr="Chart, histogram&#10;&#10;Description automatically generated"/>
          <p:cNvPicPr preferRelativeResize="0"/>
          <p:nvPr/>
        </p:nvPicPr>
        <p:blipFill rotWithShape="1">
          <a:blip r:embed="rId6">
            <a:alphaModFix/>
          </a:blip>
          <a:srcRect/>
          <a:stretch/>
        </p:blipFill>
        <p:spPr>
          <a:xfrm>
            <a:off x="2450019" y="2069050"/>
            <a:ext cx="6858000" cy="4394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34" name="Google Shape;334;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35" name="Google Shape;335;p2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249</a:t>
            </a:r>
            <a:endParaRPr i="1" dirty="0">
              <a:latin typeface="Calibri"/>
              <a:ea typeface="Calibri"/>
              <a:cs typeface="Calibri"/>
              <a:sym typeface="Calibri"/>
            </a:endParaRPr>
          </a:p>
        </p:txBody>
      </p:sp>
      <p:sp>
        <p:nvSpPr>
          <p:cNvPr id="336" name="Google Shape;336;p20"/>
          <p:cNvSpPr txBox="1"/>
          <p:nvPr/>
        </p:nvSpPr>
        <p:spPr>
          <a:xfrm>
            <a:off x="914400" y="520393"/>
            <a:ext cx="10515600" cy="1938992"/>
          </a:xfrm>
          <a:prstGeom prst="rect">
            <a:avLst/>
          </a:prstGeom>
          <a:blipFill rotWithShape="1">
            <a:blip r:embed="rId4">
              <a:alphaModFix/>
            </a:blip>
            <a:stretch>
              <a:fillRect l="-1064" t="-2596" b="-6491"/>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43" name="Google Shape;343;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44" name="Google Shape;344;p2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250</a:t>
            </a:r>
            <a:endParaRPr i="1" dirty="0">
              <a:latin typeface="Calibri"/>
              <a:ea typeface="Calibri"/>
              <a:cs typeface="Calibri"/>
              <a:sym typeface="Calibri"/>
            </a:endParaRPr>
          </a:p>
        </p:txBody>
      </p:sp>
      <p:sp>
        <p:nvSpPr>
          <p:cNvPr id="345" name="Google Shape;345;p21"/>
          <p:cNvSpPr txBox="1"/>
          <p:nvPr/>
        </p:nvSpPr>
        <p:spPr>
          <a:xfrm>
            <a:off x="914400" y="520393"/>
            <a:ext cx="10515600" cy="5016758"/>
          </a:xfrm>
          <a:prstGeom prst="rect">
            <a:avLst/>
          </a:prstGeom>
          <a:blipFill rotWithShape="1">
            <a:blip r:embed="rId4">
              <a:alphaModFix/>
            </a:blip>
            <a:stretch>
              <a:fillRect l="-608" t="-503" b="-1262"/>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52" name="Google Shape;352;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53" name="Google Shape;353;p2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250</a:t>
            </a:r>
            <a:endParaRPr i="1">
              <a:latin typeface="Calibri"/>
              <a:ea typeface="Calibri"/>
              <a:cs typeface="Calibri"/>
              <a:sym typeface="Calibri"/>
            </a:endParaRPr>
          </a:p>
        </p:txBody>
      </p:sp>
      <p:sp>
        <p:nvSpPr>
          <p:cNvPr id="354" name="Google Shape;354;p22"/>
          <p:cNvSpPr txBox="1"/>
          <p:nvPr/>
        </p:nvSpPr>
        <p:spPr>
          <a:xfrm>
            <a:off x="914400" y="520393"/>
            <a:ext cx="10515600" cy="5232202"/>
          </a:xfrm>
          <a:prstGeom prst="rect">
            <a:avLst/>
          </a:prstGeom>
          <a:blipFill rotWithShape="1">
            <a:blip r:embed="rId4">
              <a:alphaModFix/>
            </a:blip>
            <a:stretch>
              <a:fillRect l="-608" b="-964"/>
            </a:stretch>
          </a:blipFill>
          <a:ln>
            <a:noFill/>
          </a:ln>
        </p:spPr>
        <p:txBody>
          <a:bodyPr spcFirstLastPara="1" wrap="square" lIns="91425" tIns="45700" rIns="91425" bIns="45700" anchor="t" anchorCtr="0">
            <a:noAutofit/>
          </a:bodyPr>
          <a:lstStyle/>
          <a:p>
            <a:r>
              <a:rPr lang="en-US"/>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3"/>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1" name="Google Shape;361;p2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251</a:t>
            </a:r>
            <a:endParaRPr i="1" dirty="0">
              <a:latin typeface="Calibri"/>
              <a:ea typeface="Calibri"/>
              <a:cs typeface="Calibri"/>
              <a:sym typeface="Calibri"/>
            </a:endParaRPr>
          </a:p>
        </p:txBody>
      </p:sp>
      <p:pic>
        <p:nvPicPr>
          <p:cNvPr id="362" name="Google Shape;362;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63" name="Google Shape;363;p23"/>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364" name="Google Shape;364;p23"/>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71" name="Google Shape;371;p2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251</a:t>
            </a:r>
            <a:endParaRPr i="1" dirty="0">
              <a:latin typeface="Calibri"/>
              <a:ea typeface="Calibri"/>
              <a:cs typeface="Calibri"/>
              <a:sym typeface="Calibri"/>
            </a:endParaRPr>
          </a:p>
        </p:txBody>
      </p:sp>
      <p:pic>
        <p:nvPicPr>
          <p:cNvPr id="372" name="Google Shape;372;p2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73" name="Google Shape;373;p24"/>
          <p:cNvSpPr txBox="1"/>
          <p:nvPr/>
        </p:nvSpPr>
        <p:spPr>
          <a:xfrm>
            <a:off x="1143000" y="-82571"/>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13.3.5 Wrap-Up: Ticket Out the Door</a:t>
            </a:r>
            <a:endParaRPr dirty="0"/>
          </a:p>
        </p:txBody>
      </p:sp>
      <p:pic>
        <p:nvPicPr>
          <p:cNvPr id="374" name="Google Shape;374;p24"/>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375" name="Google Shape;375;p24"/>
          <p:cNvSpPr txBox="1"/>
          <p:nvPr/>
        </p:nvSpPr>
        <p:spPr>
          <a:xfrm>
            <a:off x="914400" y="1386026"/>
            <a:ext cx="10515600" cy="5139869"/>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The dot plot summarizes the hours of battery life for students’ cell phones when streaming videos. </a:t>
            </a:r>
            <a:endParaRPr dirty="0"/>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pPr algn="ctr"/>
            <a:endParaRPr sz="2400" b="1" dirty="0">
              <a:latin typeface="Verdana"/>
              <a:ea typeface="Verdana"/>
              <a:cs typeface="Verdana"/>
              <a:sym typeface="Verdana"/>
            </a:endParaRPr>
          </a:p>
          <a:p>
            <a:pPr algn="ctr"/>
            <a:r>
              <a:rPr lang="en-US" sz="2400" b="1" dirty="0">
                <a:latin typeface="Verdana"/>
                <a:ea typeface="Verdana"/>
                <a:cs typeface="Verdana"/>
                <a:sym typeface="Verdana"/>
              </a:rPr>
              <a:t>Battery Life (in hours)</a:t>
            </a:r>
            <a:endParaRPr dirty="0"/>
          </a:p>
          <a:p>
            <a:pPr algn="ctr"/>
            <a:endParaRPr sz="2000" b="1" dirty="0">
              <a:latin typeface="Verdana"/>
              <a:ea typeface="Verdana"/>
              <a:cs typeface="Verdana"/>
              <a:sym typeface="Verdana"/>
            </a:endParaRPr>
          </a:p>
          <a:p>
            <a:pPr algn="ctr"/>
            <a:endParaRPr sz="2000" b="1" dirty="0">
              <a:latin typeface="Cambria"/>
              <a:ea typeface="Cambria"/>
              <a:cs typeface="Cambria"/>
              <a:sym typeface="Cambria"/>
            </a:endParaRPr>
          </a:p>
        </p:txBody>
      </p:sp>
      <p:pic>
        <p:nvPicPr>
          <p:cNvPr id="376" name="Google Shape;376;p24" descr="Chart, scatter chart&#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677062" y="2402219"/>
            <a:ext cx="4837876" cy="303926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83" name="Google Shape;383;p2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84" name="Google Shape;384;p25"/>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251</a:t>
            </a:r>
            <a:endParaRPr i="1" dirty="0">
              <a:latin typeface="Calibri"/>
              <a:ea typeface="Calibri"/>
              <a:cs typeface="Calibri"/>
              <a:sym typeface="Calibri"/>
            </a:endParaRPr>
          </a:p>
        </p:txBody>
      </p:sp>
      <p:sp>
        <p:nvSpPr>
          <p:cNvPr id="385" name="Google Shape;385;p25"/>
          <p:cNvSpPr txBox="1"/>
          <p:nvPr/>
        </p:nvSpPr>
        <p:spPr>
          <a:xfrm>
            <a:off x="914400" y="520393"/>
            <a:ext cx="10515600" cy="3046948"/>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Mr. Funk’s world history class has an upcoming field trip to Tallahassee, Florida that involves a five-hour drive. The students want to be able to watch videos on their phones during the drive without charging their cell phones.</a:t>
            </a:r>
            <a:endParaRPr dirty="0"/>
          </a:p>
          <a:p>
            <a:endParaRPr sz="2400" dirty="0">
              <a:latin typeface="Verdana"/>
              <a:ea typeface="Verdana"/>
              <a:cs typeface="Verdana"/>
              <a:sym typeface="Verdana"/>
            </a:endParaRPr>
          </a:p>
          <a:p>
            <a:pPr marL="457200" indent="-457200">
              <a:buSzPts val="2400"/>
              <a:buFont typeface="Arial"/>
              <a:buAutoNum type="arabicPeriod"/>
            </a:pPr>
            <a:r>
              <a:rPr lang="en-US" sz="2400" dirty="0">
                <a:latin typeface="Verdana"/>
                <a:ea typeface="Verdana"/>
                <a:cs typeface="Verdana"/>
                <a:sym typeface="Verdana"/>
              </a:rPr>
              <a:t>Determine the appropriate measure of center and variation for the battery life of the students’ cell phones when streaming videos. </a:t>
            </a:r>
            <a:endParaRPr dirty="0"/>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841</Words>
  <Application>Microsoft Macintosh PowerPoint</Application>
  <PresentationFormat>Widescreen</PresentationFormat>
  <Paragraphs>140</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Calibri</vt:lpstr>
      <vt:lpstr>Arial Black</vt:lpstr>
      <vt:lpstr>Cambria Math</vt:lpstr>
      <vt:lpstr>Verdana</vt:lpstr>
      <vt:lpstr>Courier New</vt:lpstr>
      <vt:lpstr>Arial</vt:lpstr>
      <vt:lpstr>Cambria</vt:lpstr>
      <vt:lpstr>1_Office Theme</vt:lpstr>
      <vt:lpstr>7th Grade Math  Unit 13, Lesson 3  Determining Appropriate Measures of Center and Variation  Volume 2, pg. 245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Math  Unit 13, Lesson 3  Determining Appropriate Measures of Center and Variation  Volume 2, pg. 245</dc:title>
  <dc:creator>Karen McKenzie</dc:creator>
  <cp:lastModifiedBy>Diana Barnett</cp:lastModifiedBy>
  <cp:revision>3</cp:revision>
  <dcterms:created xsi:type="dcterms:W3CDTF">2015-03-17T18:51:18Z</dcterms:created>
  <dcterms:modified xsi:type="dcterms:W3CDTF">2023-01-30T17:35:13Z</dcterms:modified>
</cp:coreProperties>
</file>