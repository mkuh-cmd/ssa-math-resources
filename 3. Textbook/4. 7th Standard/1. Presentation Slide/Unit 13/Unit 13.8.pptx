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314" r:id="rId8"/>
    <p:sldId id="315" r:id="rId9"/>
    <p:sldId id="342" r:id="rId10"/>
    <p:sldId id="352" r:id="rId11"/>
    <p:sldId id="343" r:id="rId12"/>
    <p:sldId id="320" r:id="rId13"/>
    <p:sldId id="321" r:id="rId14"/>
    <p:sldId id="345" r:id="rId15"/>
    <p:sldId id="353" r:id="rId16"/>
    <p:sldId id="354" r:id="rId17"/>
    <p:sldId id="302" r:id="rId18"/>
    <p:sldId id="303" r:id="rId19"/>
    <p:sldId id="350" r:id="rId20"/>
    <p:sldId id="355" r:id="rId21"/>
    <p:sldId id="351" r:id="rId22"/>
    <p:sldId id="306" r:id="rId23"/>
    <p:sldId id="307" r:id="rId24"/>
  </p:sldIdLst>
  <p:sldSz cx="12192000" cy="6858000"/>
  <p:notesSz cx="6858000" cy="9144000"/>
  <p:embeddedFontLst>
    <p:embeddedFont>
      <p:font typeface="Arial Black" panose="020B0604020202020204" pitchFamily="34" charset="0"/>
      <p:regular r:id="rId26"/>
      <p:bold r:id="rId27"/>
    </p:embeddedFont>
    <p:embeddedFont>
      <p:font typeface="Calibri" panose="020F0502020204030204" pitchFamily="34" charset="0"/>
      <p:regular r:id="rId28"/>
      <p:bold r:id="rId29"/>
      <p:italic r:id="rId30"/>
      <p:boldItalic r:id="rId31"/>
    </p:embeddedFont>
    <p:embeddedFont>
      <p:font typeface="Cambria Math" panose="02040503050406030204" pitchFamily="18" charset="0"/>
      <p:regular r:id="rId32"/>
    </p:embeddedFont>
    <p:embeddedFont>
      <p:font typeface="Century Gothic" panose="020B0502020202020204" pitchFamily="34" charset="0"/>
      <p:regular r:id="rId33"/>
      <p:bold r:id="rId34"/>
      <p:italic r:id="rId35"/>
      <p:boldItalic r:id="rId36"/>
    </p:embeddedFont>
    <p:embeddedFont>
      <p:font typeface="Verdana" panose="020B060403050404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4487"/>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18"/>
    <p:restoredTop sz="94694"/>
  </p:normalViewPr>
  <p:slideViewPr>
    <p:cSldViewPr snapToGrid="0">
      <p:cViewPr varScale="1">
        <p:scale>
          <a:sx n="121" d="100"/>
          <a:sy n="121" d="100"/>
        </p:scale>
        <p:origin x="616"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83004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61036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371252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038765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8042263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923020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7475011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6674518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0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13, Lesson 8</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Creating Displays for Numerical Data</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275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MA.7.DP.1.5</a:t>
            </a:r>
          </a:p>
          <a:p>
            <a:pPr marL="0" indent="0">
              <a:buSzPts val="1100"/>
              <a:buNone/>
            </a:pPr>
            <a:r>
              <a:rPr lang="en-US" sz="2800" dirty="0">
                <a:latin typeface="Verdana" panose="020B0604030504040204" pitchFamily="34" charset="0"/>
                <a:ea typeface="Verdana" panose="020B0604030504040204" pitchFamily="34" charset="0"/>
                <a:cs typeface="Verdana" panose="020B0604030504040204" pitchFamily="34" charset="0"/>
              </a:rPr>
              <a:t>Given a real-world numerical or categorical data set, choose and create an appropriate graphical representation. </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275</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275</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create an appropriate graphical representation for a numerical data set.</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7024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276</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9171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13.8.1 Warm-Up: Mystery Boxes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276</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914400" y="1386025"/>
                <a:ext cx="10515600" cy="3785652"/>
              </a:xfrm>
              <a:prstGeom prst="rect">
                <a:avLst/>
              </a:prstGeom>
              <a:noFill/>
            </p:spPr>
            <p:txBody>
              <a:bodyPr wrap="square" rtlCol="0">
                <a:spAutoFit/>
              </a:bodyPr>
              <a:lstStyle/>
              <a:p>
                <a:pPr marL="520700" indent="-520700"/>
                <a:r>
                  <a:rPr lang="en-US" sz="2400" dirty="0">
                    <a:latin typeface="Verdana" panose="020B0604030504040204" pitchFamily="34" charset="0"/>
                    <a:ea typeface="Verdana" panose="020B0604030504040204" pitchFamily="34" charset="0"/>
                    <a:cs typeface="Verdana" panose="020B0604030504040204" pitchFamily="34" charset="0"/>
                  </a:rPr>
                  <a:t>1.  The data set below contains </a:t>
                </a:r>
                <a14:m>
                  <m:oMath xmlns:m="http://schemas.openxmlformats.org/officeDocument/2006/math">
                    <m:r>
                      <a:rPr lang="en-US" sz="2400" i="1" dirty="0" smtClean="0">
                        <a:latin typeface="Cambria Math" panose="02040503050406030204" pitchFamily="18" charset="0"/>
                        <a:ea typeface="Verdana" panose="020B0604030504040204" pitchFamily="34" charset="0"/>
                        <a:cs typeface="Verdana" panose="020B0604030504040204" pitchFamily="34" charset="0"/>
                      </a:rPr>
                      <m:t>14</m:t>
                    </m:r>
                  </m:oMath>
                </a14:m>
                <a:r>
                  <a:rPr lang="en-US" sz="2400" dirty="0">
                    <a:latin typeface="Verdana" panose="020B0604030504040204" pitchFamily="34" charset="0"/>
                    <a:ea typeface="Verdana" panose="020B0604030504040204" pitchFamily="34" charset="0"/>
                    <a:cs typeface="Verdana" panose="020B0604030504040204" pitchFamily="34" charset="0"/>
                  </a:rPr>
                  <a:t> numbers, listed in order from least to greatest. Six of the values have been removed. Your job is to use the clues given to determine the missing values. Write your answers in the boxes.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085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The mean is </a:t>
                </a:r>
                <a14:m>
                  <m:oMath xmlns:m="http://schemas.openxmlformats.org/officeDocument/2006/math">
                    <m:r>
                      <a:rPr lang="en-US" sz="2400" i="1" dirty="0" smtClean="0">
                        <a:latin typeface="Cambria Math" panose="02040503050406030204" pitchFamily="18" charset="0"/>
                        <a:ea typeface="Verdana" panose="020B0604030504040204" pitchFamily="34" charset="0"/>
                        <a:cs typeface="Verdana" panose="020B0604030504040204" pitchFamily="34" charset="0"/>
                      </a:rPr>
                      <m:t>26</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085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The median is </a:t>
                </a:r>
                <a14:m>
                  <m:oMath xmlns:m="http://schemas.openxmlformats.org/officeDocument/2006/math">
                    <m:r>
                      <a:rPr lang="en-US" sz="2400" i="1" dirty="0" smtClean="0">
                        <a:latin typeface="Cambria Math" panose="02040503050406030204" pitchFamily="18" charset="0"/>
                        <a:ea typeface="Verdana" panose="020B0604030504040204" pitchFamily="34" charset="0"/>
                        <a:cs typeface="Verdana" panose="020B0604030504040204" pitchFamily="34" charset="0"/>
                      </a:rPr>
                      <m:t>22</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085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The interquartile range is </a:t>
                </a:r>
                <a14:m>
                  <m:oMath xmlns:m="http://schemas.openxmlformats.org/officeDocument/2006/math">
                    <m:r>
                      <a:rPr lang="en-US" sz="2400" i="1" dirty="0" smtClean="0">
                        <a:latin typeface="Cambria Math" panose="02040503050406030204" pitchFamily="18" charset="0"/>
                        <a:ea typeface="Verdana" panose="020B0604030504040204" pitchFamily="34" charset="0"/>
                        <a:cs typeface="Verdana" panose="020B0604030504040204" pitchFamily="34" charset="0"/>
                      </a:rPr>
                      <m:t>20</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085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The mode is </a:t>
                </a:r>
                <a14:m>
                  <m:oMath xmlns:m="http://schemas.openxmlformats.org/officeDocument/2006/math">
                    <m:r>
                      <a:rPr lang="en-US" sz="2400" i="1" dirty="0" smtClean="0">
                        <a:latin typeface="Cambria Math" panose="02040503050406030204" pitchFamily="18" charset="0"/>
                        <a:ea typeface="Verdana" panose="020B0604030504040204" pitchFamily="34" charset="0"/>
                        <a:cs typeface="Verdana" panose="020B0604030504040204" pitchFamily="34" charset="0"/>
                      </a:rPr>
                      <m:t>18</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085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The range is </a:t>
                </a:r>
                <a14:m>
                  <m:oMath xmlns:m="http://schemas.openxmlformats.org/officeDocument/2006/math">
                    <m:r>
                      <a:rPr lang="en-US" sz="2400" i="1" dirty="0" smtClean="0">
                        <a:latin typeface="Cambria Math" panose="02040503050406030204" pitchFamily="18" charset="0"/>
                        <a:ea typeface="Verdana" panose="020B0604030504040204" pitchFamily="34" charset="0"/>
                        <a:cs typeface="Verdana" panose="020B0604030504040204" pitchFamily="34" charset="0"/>
                      </a:rPr>
                      <m:t>60</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914400" y="1386025"/>
                <a:ext cx="10515600" cy="3785652"/>
              </a:xfrm>
              <a:prstGeom prst="rect">
                <a:avLst/>
              </a:prstGeom>
              <a:blipFill>
                <a:blip r:embed="rId5"/>
                <a:stretch>
                  <a:fillRect l="-965" t="-1000" b="-266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EA1B392-63A9-954C-9D2E-FB4BE1E1567F}"/>
              </a:ext>
            </a:extLst>
          </p:cNvPr>
          <p:cNvPicPr>
            <a:picLocks noChangeAspect="1"/>
          </p:cNvPicPr>
          <p:nvPr/>
        </p:nvPicPr>
        <p:blipFill>
          <a:blip r:embed="rId6"/>
          <a:stretch>
            <a:fillRect/>
          </a:stretch>
        </p:blipFill>
        <p:spPr>
          <a:xfrm>
            <a:off x="2230664" y="5280299"/>
            <a:ext cx="7556500" cy="82550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276</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147411"/>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13.8.2 Collaboration: Who Made It Best?</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276</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914400" y="1386025"/>
            <a:ext cx="10515600" cy="3416320"/>
          </a:xfrm>
          <a:prstGeom prst="rect">
            <a:avLst/>
          </a:prstGeom>
          <a:noFill/>
        </p:spPr>
        <p:txBody>
          <a:bodyPr wrap="square" rtlCol="0">
            <a:spAutoFit/>
          </a:bodyPr>
          <a:lstStyle/>
          <a:p>
            <a:pPr marL="520700" indent="-520700"/>
            <a:r>
              <a:rPr lang="en-US" sz="2400" dirty="0">
                <a:latin typeface="Verdana" panose="020B0604030504040204" pitchFamily="34" charset="0"/>
                <a:ea typeface="Verdana" panose="020B0604030504040204" pitchFamily="34" charset="0"/>
                <a:cs typeface="Verdana" panose="020B0604030504040204" pitchFamily="34" charset="0"/>
              </a:rPr>
              <a:t>1.  Dante and Lorraine are both managers of the seventh-grade basketball team. They are trying to decide which graphical representation to use to show the number of turnovers the team has had per game in the first 12 games of the season, shown in the data set below.</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1485900" indent="119063"/>
            <a:r>
              <a:rPr lang="en-US" sz="2400" dirty="0">
                <a:latin typeface="Verdana" panose="020B0604030504040204" pitchFamily="34" charset="0"/>
                <a:ea typeface="Verdana" panose="020B0604030504040204" pitchFamily="34" charset="0"/>
                <a:cs typeface="Verdana" panose="020B0604030504040204" pitchFamily="34" charset="0"/>
              </a:rPr>
              <a:t>{2, 2, 3, 4, 4, 5, 5, 6, 7, 8, 10, 12}</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276</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520394"/>
            <a:ext cx="8327136" cy="120032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Lorraine made a histogram, as shown.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algn="ctr"/>
            <a:r>
              <a:rPr lang="en-US" sz="2400" b="1" dirty="0">
                <a:latin typeface="Verdana" panose="020B0604030504040204" pitchFamily="34" charset="0"/>
                <a:ea typeface="Verdana" panose="020B0604030504040204" pitchFamily="34" charset="0"/>
                <a:cs typeface="Verdana" panose="020B0604030504040204" pitchFamily="34" charset="0"/>
              </a:rPr>
              <a:t>Turnovers per Game</a:t>
            </a:r>
            <a:r>
              <a:rPr lang="en-US" sz="2400" dirty="0">
                <a:latin typeface="Verdana" panose="020B0604030504040204" pitchFamily="34" charset="0"/>
                <a:ea typeface="Verdana" panose="020B0604030504040204" pitchFamily="34" charset="0"/>
                <a:cs typeface="Verdana" panose="020B0604030504040204" pitchFamily="34" charset="0"/>
              </a:rPr>
              <a:t> </a:t>
            </a:r>
          </a:p>
        </p:txBody>
      </p:sp>
      <p:pic>
        <p:nvPicPr>
          <p:cNvPr id="3" name="Picture 2" descr="Chart, histogram&#10;&#10;Description automatically generated">
            <a:extLst>
              <a:ext uri="{FF2B5EF4-FFF2-40B4-BE49-F238E27FC236}">
                <a16:creationId xmlns:a16="http://schemas.microsoft.com/office/drawing/2014/main" id="{5DDD5C31-A09B-0549-9007-71E6BEEC3626}"/>
              </a:ext>
            </a:extLst>
          </p:cNvPr>
          <p:cNvPicPr>
            <a:picLocks noChangeAspect="1"/>
          </p:cNvPicPr>
          <p:nvPr/>
        </p:nvPicPr>
        <p:blipFill>
          <a:blip r:embed="rId4"/>
          <a:stretch>
            <a:fillRect/>
          </a:stretch>
        </p:blipFill>
        <p:spPr>
          <a:xfrm>
            <a:off x="2553893" y="1840230"/>
            <a:ext cx="6175829" cy="3396706"/>
          </a:xfrm>
          <a:prstGeom prst="rect">
            <a:avLst/>
          </a:prstGeom>
        </p:spPr>
      </p:pic>
    </p:spTree>
    <p:extLst>
      <p:ext uri="{BB962C8B-B14F-4D97-AF65-F5344CB8AC3E}">
        <p14:creationId xmlns:p14="http://schemas.microsoft.com/office/powerpoint/2010/main" val="1320626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276</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193899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Dante made a line plot, as shown.</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b="1" dirty="0">
                <a:latin typeface="Verdana" panose="020B0604030504040204" pitchFamily="34" charset="0"/>
                <a:ea typeface="Verdana" panose="020B0604030504040204" pitchFamily="34" charset="0"/>
                <a:cs typeface="Verdana" panose="020B0604030504040204" pitchFamily="34" charset="0"/>
              </a:rPr>
              <a:t>Turnovers in the First Twelve Games of the Season</a:t>
            </a: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A picture containing clock&#10;&#10;Description automatically generated">
            <a:extLst>
              <a:ext uri="{FF2B5EF4-FFF2-40B4-BE49-F238E27FC236}">
                <a16:creationId xmlns:a16="http://schemas.microsoft.com/office/drawing/2014/main" id="{F29E0C94-6D9B-EB49-945D-DA0C6F0FDAAD}"/>
              </a:ext>
            </a:extLst>
          </p:cNvPr>
          <p:cNvPicPr>
            <a:picLocks noChangeAspect="1"/>
          </p:cNvPicPr>
          <p:nvPr/>
        </p:nvPicPr>
        <p:blipFill>
          <a:blip r:embed="rId4"/>
          <a:stretch>
            <a:fillRect/>
          </a:stretch>
        </p:blipFill>
        <p:spPr>
          <a:xfrm>
            <a:off x="2258538" y="2194378"/>
            <a:ext cx="7226300" cy="1663700"/>
          </a:xfrm>
          <a:prstGeom prst="rect">
            <a:avLst/>
          </a:prstGeom>
        </p:spPr>
      </p:pic>
      <p:sp>
        <p:nvSpPr>
          <p:cNvPr id="4" name="Rectangle 3">
            <a:extLst>
              <a:ext uri="{FF2B5EF4-FFF2-40B4-BE49-F238E27FC236}">
                <a16:creationId xmlns:a16="http://schemas.microsoft.com/office/drawing/2014/main" id="{7E53CA73-2FD4-4242-8D2D-0134C489A179}"/>
              </a:ext>
            </a:extLst>
          </p:cNvPr>
          <p:cNvSpPr/>
          <p:nvPr/>
        </p:nvSpPr>
        <p:spPr>
          <a:xfrm>
            <a:off x="914400" y="4133370"/>
            <a:ext cx="10515600" cy="1938992"/>
          </a:xfrm>
          <a:prstGeom prst="rect">
            <a:avLst/>
          </a:prstGeom>
        </p:spPr>
        <p:txBody>
          <a:bodyPr wrap="square">
            <a:spAutoFit/>
          </a:bodyPr>
          <a:lstStyle/>
          <a:p>
            <a:pPr marL="914400" marR="34290" indent="-4635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Which of the two graphical representations shown is best to display the data?</a:t>
            </a:r>
          </a:p>
          <a:p>
            <a:pPr marR="34290"/>
            <a:r>
              <a:rPr lang="en-US" sz="2400" dirty="0">
                <a:latin typeface="Verdana" panose="020B0604030504040204" pitchFamily="34" charset="0"/>
                <a:ea typeface="Verdana" panose="020B0604030504040204" pitchFamily="34" charset="0"/>
                <a:cs typeface="Verdana" panose="020B0604030504040204" pitchFamily="34" charset="0"/>
              </a:rPr>
              <a:t> </a:t>
            </a:r>
          </a:p>
          <a:p>
            <a:pPr marR="34290"/>
            <a:r>
              <a:rPr lang="en-US" sz="2400" dirty="0">
                <a:latin typeface="Verdana" panose="020B0604030504040204" pitchFamily="34" charset="0"/>
                <a:ea typeface="Verdana" panose="020B0604030504040204" pitchFamily="34" charset="0"/>
                <a:cs typeface="Verdana" panose="020B0604030504040204" pitchFamily="34" charset="0"/>
              </a:rPr>
              <a:t> </a:t>
            </a:r>
          </a:p>
          <a:p>
            <a:pPr marR="34290"/>
            <a:r>
              <a:rPr lang="en-US" sz="24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2460548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277</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286801"/>
            <a:ext cx="10515600" cy="4524315"/>
          </a:xfrm>
          <a:prstGeom prst="rect">
            <a:avLst/>
          </a:prstGeom>
          <a:noFill/>
        </p:spPr>
        <p:txBody>
          <a:bodyPr wrap="square" rtlCol="0">
            <a:spAutoFit/>
          </a:bodyPr>
          <a:lstStyle/>
          <a:p>
            <a:pPr marL="914400" lvl="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your reasoning.</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Compare your work with your partner and if necessary, resolve any differences.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whether a box plot or stem-and-leaf plot would be useful for displaying this data set. Summarize your discussion. </a:t>
            </a:r>
          </a:p>
        </p:txBody>
      </p:sp>
    </p:spTree>
    <p:extLst>
      <p:ext uri="{BB962C8B-B14F-4D97-AF65-F5344CB8AC3E}">
        <p14:creationId xmlns:p14="http://schemas.microsoft.com/office/powerpoint/2010/main" val="2820094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469530"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277</a:t>
            </a:r>
            <a:endParaRPr i="1" dirty="0">
              <a:latin typeface="Calibri"/>
              <a:ea typeface="Calibri"/>
              <a:cs typeface="Calibri"/>
              <a:sym typeface="Calibri"/>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858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13.8.3 Try It: Creating Graphical Representations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277</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914400" y="1639936"/>
            <a:ext cx="10515600" cy="3785652"/>
          </a:xfrm>
          <a:prstGeom prst="rect">
            <a:avLst/>
          </a:prstGeom>
          <a:noFill/>
        </p:spPr>
        <p:txBody>
          <a:bodyPr wrap="square" rtlCol="0">
            <a:spAutoFit/>
          </a:bodyPr>
          <a:lstStyle/>
          <a:p>
            <a:pPr marL="400050" indent="-400050"/>
            <a:r>
              <a:rPr lang="en-US" sz="2000" dirty="0">
                <a:latin typeface="Verdana" panose="020B0604030504040204" pitchFamily="34" charset="0"/>
                <a:ea typeface="Verdana" panose="020B0604030504040204" pitchFamily="34" charset="0"/>
                <a:cs typeface="Verdana" panose="020B0604030504040204" pitchFamily="34" charset="0"/>
              </a:rPr>
              <a:t>1.  Laverne and Rocco planned to travel the greatest distance between any two points in the United States of America — from Log Point, Elliot Key, Florida to Kure Atoll, Hawaii — a distance of 5,859 miles.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346075"/>
            <a:r>
              <a:rPr lang="en-US" sz="2000" dirty="0">
                <a:latin typeface="Verdana" panose="020B0604030504040204" pitchFamily="34" charset="0"/>
                <a:ea typeface="Verdana" panose="020B0604030504040204" pitchFamily="34" charset="0"/>
                <a:cs typeface="Verdana" panose="020B0604030504040204" pitchFamily="34" charset="0"/>
              </a:rPr>
              <a:t>They took a ferry from Log Point to Miami, then drove to Los Angeles, California, where they took a plane to Hawaii. They drove anywhere from 5-8 hours a day, and kept track of how many miles they traveled per day on their trip. This information is shown below.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238125"/>
            <a:r>
              <a:rPr lang="en-US" sz="2000" dirty="0">
                <a:latin typeface="Verdana" panose="020B0604030504040204" pitchFamily="34" charset="0"/>
                <a:ea typeface="Verdana" panose="020B0604030504040204" pitchFamily="34" charset="0"/>
                <a:cs typeface="Verdana" panose="020B0604030504040204" pitchFamily="34" charset="0"/>
              </a:rPr>
              <a:t>{224, 294, 309, 317, 321, 339, 355, 361, 383, 456, 2500}</a:t>
            </a:r>
          </a:p>
        </p:txBody>
      </p:sp>
    </p:spTree>
    <p:extLst>
      <p:ext uri="{BB962C8B-B14F-4D97-AF65-F5344CB8AC3E}">
        <p14:creationId xmlns:p14="http://schemas.microsoft.com/office/powerpoint/2010/main" val="3840359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 pg. #</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55683"/>
                <a:ext cx="10515600" cy="4462760"/>
              </a:xfrm>
              <a:prstGeom prst="rect">
                <a:avLst/>
              </a:prstGeom>
              <a:noFill/>
            </p:spPr>
            <p:txBody>
              <a:bodyPr wrap="square" rtlCol="0">
                <a:spAutoFit/>
              </a:bodyPr>
              <a:lstStyle/>
              <a:p>
                <a:pPr marL="466725" indent="-466725" algn="ctr"/>
                <a:r>
                  <a:rPr lang="en-US" sz="2000" dirty="0">
                    <a:latin typeface="Verdana" panose="020B0604030504040204" pitchFamily="34" charset="0"/>
                    <a:ea typeface="Verdana" panose="020B0604030504040204" pitchFamily="34" charset="0"/>
                    <a:cs typeface="Verdana" panose="020B0604030504040204" pitchFamily="34" charset="0"/>
                  </a:rPr>
                  <a:t>{224, 294, 309, 317, 321, 339, 355, 361, 383, 456, 2500}</a:t>
                </a:r>
                <a:endParaRPr lang="en-US" sz="2400" dirty="0"/>
              </a:p>
              <a:p>
                <a:pPr marL="466725" indent="-466725"/>
                <a:endParaRPr lang="en-US" sz="2400" dirty="0"/>
              </a:p>
              <a:p>
                <a:pPr marL="914400" indent="-457200">
                  <a:buFont typeface="+mj-lt"/>
                  <a:buAutoNum type="alphaLcPeriod"/>
                </a:pPr>
                <a:r>
                  <a:rPr lang="en-US" sz="2400" dirty="0">
                    <a:latin typeface="Verdana" panose="020B0604030504040204" pitchFamily="34" charset="0"/>
                    <a:ea typeface="Verdana" panose="020B0604030504040204" pitchFamily="34" charset="0"/>
                  </a:rPr>
                  <a:t>Create an appropriate graphical representation for the data.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If the value </a:t>
                </a:r>
                <a14:m>
                  <m:oMath xmlns:m="http://schemas.openxmlformats.org/officeDocument/2006/math">
                    <m:r>
                      <a:rPr lang="en-US" sz="2400" i="1">
                        <a:latin typeface="Cambria Math" panose="02040503050406030204" pitchFamily="18" charset="0"/>
                      </a:rPr>
                      <m:t>2500</m:t>
                    </m:r>
                  </m:oMath>
                </a14:m>
                <a:r>
                  <a:rPr lang="en-US" sz="2400" dirty="0">
                    <a:latin typeface="Verdana" panose="020B0604030504040204" pitchFamily="34" charset="0"/>
                    <a:ea typeface="Verdana" panose="020B0604030504040204" pitchFamily="34" charset="0"/>
                    <a:cs typeface="Verdana" panose="020B0604030504040204" pitchFamily="34" charset="0"/>
                  </a:rPr>
                  <a:t> were removed from the data set, which display would you create to represent the data? Explain your reasoning.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Create an appropriate graphical representation for the data without the value </a:t>
                </a:r>
                <a14:m>
                  <m:oMath xmlns:m="http://schemas.openxmlformats.org/officeDocument/2006/math">
                    <m:r>
                      <a:rPr lang="en-US" sz="2400" i="1">
                        <a:latin typeface="Cambria Math" panose="02040503050406030204" pitchFamily="18" charset="0"/>
                      </a:rPr>
                      <m:t>2500</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55683"/>
                <a:ext cx="10515600" cy="4462760"/>
              </a:xfrm>
              <a:prstGeom prst="rect">
                <a:avLst/>
              </a:prstGeom>
              <a:blipFill>
                <a:blip r:embed="rId4"/>
                <a:stretch>
                  <a:fillRect t="-683" r="-1449" b="-204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1F3C290-CA86-3342-A7EB-4CCDC2C1F4FA}"/>
              </a:ext>
            </a:extLst>
          </p:cNvPr>
          <p:cNvSpPr txBox="1"/>
          <p:nvPr/>
        </p:nvSpPr>
        <p:spPr>
          <a:xfrm>
            <a:off x="8588830" y="6457676"/>
            <a:ext cx="1359921" cy="307777"/>
          </a:xfrm>
          <a:prstGeom prst="rect">
            <a:avLst/>
          </a:prstGeom>
          <a:solidFill>
            <a:schemeClr val="bg1"/>
          </a:solidFill>
        </p:spPr>
        <p:txBody>
          <a:bodyPr wrap="square" rtlCol="0">
            <a:spAutoFit/>
          </a:bodyPr>
          <a:lstStyle/>
          <a:p>
            <a:endParaRPr lang="en-US" dirty="0"/>
          </a:p>
        </p:txBody>
      </p:sp>
      <p:sp>
        <p:nvSpPr>
          <p:cNvPr id="8" name="Google Shape;282;g104476d1465_1_17">
            <a:extLst>
              <a:ext uri="{FF2B5EF4-FFF2-40B4-BE49-F238E27FC236}">
                <a16:creationId xmlns:a16="http://schemas.microsoft.com/office/drawing/2014/main" id="{CE123B83-45A0-AA4E-8889-DAEA66E705B2}"/>
              </a:ext>
            </a:extLst>
          </p:cNvPr>
          <p:cNvSpPr txBox="1"/>
          <p:nvPr/>
        </p:nvSpPr>
        <p:spPr>
          <a:xfrm>
            <a:off x="8897112"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277</a:t>
            </a:r>
            <a:endParaRPr i="1" dirty="0">
              <a:latin typeface="Calibri"/>
              <a:ea typeface="Calibri"/>
              <a:cs typeface="Calibri"/>
              <a:sym typeface="Calibri"/>
            </a:endParaRPr>
          </a:p>
        </p:txBody>
      </p:sp>
    </p:spTree>
    <p:extLst>
      <p:ext uri="{BB962C8B-B14F-4D97-AF65-F5344CB8AC3E}">
        <p14:creationId xmlns:p14="http://schemas.microsoft.com/office/powerpoint/2010/main" val="1163510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278</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3785652"/>
          </a:xfrm>
          <a:prstGeom prst="rect">
            <a:avLst/>
          </a:prstGeom>
          <a:noFill/>
        </p:spPr>
        <p:txBody>
          <a:bodyPr wrap="square" rtlCol="0">
            <a:spAutoFit/>
          </a:bodyPr>
          <a:lstStyle/>
          <a:p>
            <a:pPr marL="520700" indent="-520700"/>
            <a:r>
              <a:rPr lang="en-US" sz="2400" dirty="0">
                <a:latin typeface="Verdana" panose="020B0604030504040204" pitchFamily="34" charset="0"/>
                <a:ea typeface="Verdana" panose="020B0604030504040204" pitchFamily="34" charset="0"/>
                <a:cs typeface="Verdana" panose="020B0604030504040204" pitchFamily="34" charset="0"/>
              </a:rPr>
              <a:t>2.  An earthworm farmer set up several containers of a certain species of earthworm so he could learn about their lengths. Lengths of earthworms provide information about their ages. The farmer measured the lengths of the earthworms in one container. </a:t>
            </a:r>
          </a:p>
          <a:p>
            <a:r>
              <a:rPr lang="en-US" sz="2400" i="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520700"/>
            <a:r>
              <a:rPr lang="en-US" sz="2400" dirty="0">
                <a:latin typeface="Verdana" panose="020B0604030504040204" pitchFamily="34" charset="0"/>
                <a:ea typeface="Verdana" panose="020B0604030504040204" pitchFamily="34" charset="0"/>
                <a:cs typeface="Verdana" panose="020B0604030504040204" pitchFamily="34" charset="0"/>
              </a:rPr>
              <a:t>The farmer recorded the earthworms’ lengths, in millimeters (mm), in the table shown. </a:t>
            </a:r>
          </a:p>
          <a:p>
            <a:r>
              <a:rPr lang="en-US" sz="2400" i="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Table&#10;&#10;Description automatically generated">
            <a:extLst>
              <a:ext uri="{FF2B5EF4-FFF2-40B4-BE49-F238E27FC236}">
                <a16:creationId xmlns:a16="http://schemas.microsoft.com/office/drawing/2014/main" id="{4974C8AC-F802-6049-B221-C97C5D2D67EE}"/>
              </a:ext>
            </a:extLst>
          </p:cNvPr>
          <p:cNvPicPr>
            <a:picLocks noChangeAspect="1"/>
          </p:cNvPicPr>
          <p:nvPr/>
        </p:nvPicPr>
        <p:blipFill rotWithShape="1">
          <a:blip r:embed="rId4"/>
          <a:srcRect l="440" r="428"/>
          <a:stretch/>
        </p:blipFill>
        <p:spPr>
          <a:xfrm>
            <a:off x="2394857" y="3835557"/>
            <a:ext cx="7553893" cy="2044700"/>
          </a:xfrm>
          <a:prstGeom prst="rect">
            <a:avLst/>
          </a:prstGeom>
        </p:spPr>
      </p:pic>
    </p:spTree>
    <p:extLst>
      <p:ext uri="{BB962C8B-B14F-4D97-AF65-F5344CB8AC3E}">
        <p14:creationId xmlns:p14="http://schemas.microsoft.com/office/powerpoint/2010/main" val="2953375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 pg. #</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2217751"/>
            <a:ext cx="10515600" cy="3046988"/>
          </a:xfrm>
          <a:prstGeom prst="rect">
            <a:avLst/>
          </a:prstGeom>
          <a:noFill/>
        </p:spPr>
        <p:txBody>
          <a:bodyPr wrap="square" rtlCol="0">
            <a:spAutoFit/>
          </a:bodyPr>
          <a:lstStyle/>
          <a:p>
            <a:pPr marL="914400" indent="-457200">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Create an appropriate graphical representation for the data.</a:t>
            </a:r>
          </a:p>
          <a:p>
            <a:pPr marL="914400" indent="-457200">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your reasoning for choosing your display type.</a:t>
            </a:r>
          </a:p>
          <a:p>
            <a:pPr marL="914400" indent="-457200">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If you were asked to create an additional display, which would you make and why?</a:t>
            </a:r>
          </a:p>
        </p:txBody>
      </p:sp>
      <p:sp>
        <p:nvSpPr>
          <p:cNvPr id="3" name="TextBox 2">
            <a:extLst>
              <a:ext uri="{FF2B5EF4-FFF2-40B4-BE49-F238E27FC236}">
                <a16:creationId xmlns:a16="http://schemas.microsoft.com/office/drawing/2014/main" id="{E070A02A-C971-844A-BF90-9998ED246FE6}"/>
              </a:ext>
            </a:extLst>
          </p:cNvPr>
          <p:cNvSpPr txBox="1"/>
          <p:nvPr/>
        </p:nvSpPr>
        <p:spPr>
          <a:xfrm>
            <a:off x="8545286" y="6457676"/>
            <a:ext cx="1403464" cy="307777"/>
          </a:xfrm>
          <a:prstGeom prst="rect">
            <a:avLst/>
          </a:prstGeom>
          <a:solidFill>
            <a:schemeClr val="bg1"/>
          </a:solidFill>
        </p:spPr>
        <p:txBody>
          <a:bodyPr wrap="square" rtlCol="0">
            <a:spAutoFit/>
          </a:bodyPr>
          <a:lstStyle/>
          <a:p>
            <a:endParaRPr lang="en-US" dirty="0"/>
          </a:p>
        </p:txBody>
      </p:sp>
      <p:sp>
        <p:nvSpPr>
          <p:cNvPr id="8" name="Google Shape;282;g104476d1465_1_17">
            <a:extLst>
              <a:ext uri="{FF2B5EF4-FFF2-40B4-BE49-F238E27FC236}">
                <a16:creationId xmlns:a16="http://schemas.microsoft.com/office/drawing/2014/main" id="{D9D0DBB1-ECF6-1444-88CE-726B8CC8392D}"/>
              </a:ext>
            </a:extLst>
          </p:cNvPr>
          <p:cNvSpPr txBox="1"/>
          <p:nvPr/>
        </p:nvSpPr>
        <p:spPr>
          <a:xfrm>
            <a:off x="8897112" y="64536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279</a:t>
            </a:r>
            <a:endParaRPr i="1" dirty="0">
              <a:latin typeface="Calibri"/>
              <a:ea typeface="Calibri"/>
              <a:cs typeface="Calibri"/>
              <a:sym typeface="Calibri"/>
            </a:endParaRPr>
          </a:p>
        </p:txBody>
      </p:sp>
      <p:pic>
        <p:nvPicPr>
          <p:cNvPr id="9" name="Picture 8" descr="Table&#10;&#10;Description automatically generated">
            <a:extLst>
              <a:ext uri="{FF2B5EF4-FFF2-40B4-BE49-F238E27FC236}">
                <a16:creationId xmlns:a16="http://schemas.microsoft.com/office/drawing/2014/main" id="{40291A40-F5C5-432C-A5AB-CEFDBA7718A6}"/>
              </a:ext>
            </a:extLst>
          </p:cNvPr>
          <p:cNvPicPr>
            <a:picLocks noChangeAspect="1"/>
          </p:cNvPicPr>
          <p:nvPr/>
        </p:nvPicPr>
        <p:blipFill rotWithShape="1">
          <a:blip r:embed="rId4"/>
          <a:srcRect l="440" r="428"/>
          <a:stretch/>
        </p:blipFill>
        <p:spPr>
          <a:xfrm>
            <a:off x="2319054" y="73753"/>
            <a:ext cx="7553893" cy="2044700"/>
          </a:xfrm>
          <a:prstGeom prst="rect">
            <a:avLst/>
          </a:prstGeom>
        </p:spPr>
      </p:pic>
    </p:spTree>
    <p:extLst>
      <p:ext uri="{BB962C8B-B14F-4D97-AF65-F5344CB8AC3E}">
        <p14:creationId xmlns:p14="http://schemas.microsoft.com/office/powerpoint/2010/main" val="2441376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3054096"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279</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43000" y="6032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13.8.4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prstClr val="black">
                <a:alpha val="40000"/>
              </a:prstClr>
            </a:outerShdw>
          </a:effectLst>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8897112" y="646325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279</a:t>
            </a:r>
            <a:endParaRPr i="1" dirty="0">
              <a:latin typeface="Calibri"/>
              <a:ea typeface="Calibri"/>
              <a:cs typeface="Calibri"/>
              <a:sym typeface="Calibri"/>
            </a:endParaRPr>
          </a:p>
        </p:txBody>
      </p:sp>
      <p:sp>
        <p:nvSpPr>
          <p:cNvPr id="12" name="TextBox 11">
            <a:extLst>
              <a:ext uri="{FF2B5EF4-FFF2-40B4-BE49-F238E27FC236}">
                <a16:creationId xmlns:a16="http://schemas.microsoft.com/office/drawing/2014/main" id="{759C3E41-93EC-B84D-963F-86A3B15AC1C6}"/>
              </a:ext>
            </a:extLst>
          </p:cNvPr>
          <p:cNvSpPr txBox="1"/>
          <p:nvPr/>
        </p:nvSpPr>
        <p:spPr>
          <a:xfrm>
            <a:off x="914400" y="1149622"/>
            <a:ext cx="7077347" cy="1938992"/>
          </a:xfrm>
          <a:prstGeom prst="rect">
            <a:avLst/>
          </a:prstGeom>
          <a:noFill/>
        </p:spPr>
        <p:txBody>
          <a:bodyPr wrap="square" rtlCol="0">
            <a:spAutoFit/>
          </a:bodyPr>
          <a:lstStyle/>
          <a:p>
            <a:pPr marL="457200" indent="-457200">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birth weights, in ounces, </a:t>
            </a:r>
          </a:p>
          <a:p>
            <a:pPr marL="520700"/>
            <a:r>
              <a:rPr lang="en-US" sz="2400" dirty="0">
                <a:latin typeface="Verdana" panose="020B0604030504040204" pitchFamily="34" charset="0"/>
                <a:ea typeface="Verdana" panose="020B0604030504040204" pitchFamily="34" charset="0"/>
                <a:cs typeface="Verdana" panose="020B0604030504040204" pitchFamily="34" charset="0"/>
              </a:rPr>
              <a:t>of golden retriever puppies born at a kennel were recorded for the past month. The data is recorded in the table.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8" name="Picture 7" descr="A dog sitting in the grass&#10;&#10;Description automatically generated with low confidence">
            <a:extLst>
              <a:ext uri="{FF2B5EF4-FFF2-40B4-BE49-F238E27FC236}">
                <a16:creationId xmlns:a16="http://schemas.microsoft.com/office/drawing/2014/main" id="{E04D25AE-C1C6-6D40-89E5-4869E362DA5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91747" y="1149622"/>
            <a:ext cx="1760220" cy="1958340"/>
          </a:xfrm>
          <a:prstGeom prst="rect">
            <a:avLst/>
          </a:prstGeom>
        </p:spPr>
      </p:pic>
      <p:pic>
        <p:nvPicPr>
          <p:cNvPr id="3" name="Picture 2" descr="A picture containing text, crossword puzzle, clipart&#10;&#10;Description automatically generated">
            <a:extLst>
              <a:ext uri="{FF2B5EF4-FFF2-40B4-BE49-F238E27FC236}">
                <a16:creationId xmlns:a16="http://schemas.microsoft.com/office/drawing/2014/main" id="{64AF7165-3D7C-B544-BB4F-33090073CDAE}"/>
              </a:ext>
            </a:extLst>
          </p:cNvPr>
          <p:cNvPicPr>
            <a:picLocks noChangeAspect="1"/>
          </p:cNvPicPr>
          <p:nvPr/>
        </p:nvPicPr>
        <p:blipFill>
          <a:blip r:embed="rId6"/>
          <a:stretch>
            <a:fillRect/>
          </a:stretch>
        </p:blipFill>
        <p:spPr>
          <a:xfrm>
            <a:off x="2316985" y="3027406"/>
            <a:ext cx="4610100" cy="1473200"/>
          </a:xfrm>
          <a:prstGeom prst="rect">
            <a:avLst/>
          </a:prstGeom>
        </p:spPr>
      </p:pic>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279</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2866069"/>
            <a:ext cx="10515600" cy="2308324"/>
          </a:xfrm>
          <a:prstGeom prst="rect">
            <a:avLst/>
          </a:prstGeom>
          <a:noFill/>
        </p:spPr>
        <p:txBody>
          <a:bodyPr wrap="square" rtlCol="0">
            <a:spAutoFit/>
          </a:bodyPr>
          <a:lstStyle/>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Create an appropriate graphical display for the data.</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your reasoning for choosing that display type.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A picture containing text, crossword puzzle, clipart&#10;&#10;Description automatically generated">
            <a:extLst>
              <a:ext uri="{FF2B5EF4-FFF2-40B4-BE49-F238E27FC236}">
                <a16:creationId xmlns:a16="http://schemas.microsoft.com/office/drawing/2014/main" id="{1A8F7755-0F97-4B15-8E59-8AB5299CB4A7}"/>
              </a:ext>
            </a:extLst>
          </p:cNvPr>
          <p:cNvPicPr>
            <a:picLocks noChangeAspect="1"/>
          </p:cNvPicPr>
          <p:nvPr/>
        </p:nvPicPr>
        <p:blipFill>
          <a:blip r:embed="rId4"/>
          <a:stretch>
            <a:fillRect/>
          </a:stretch>
        </p:blipFill>
        <p:spPr>
          <a:xfrm>
            <a:off x="2501330" y="947007"/>
            <a:ext cx="4610100" cy="1473200"/>
          </a:xfrm>
          <a:prstGeom prst="rect">
            <a:avLst/>
          </a:prstGeom>
        </p:spPr>
      </p:pic>
    </p:spTree>
    <p:extLst>
      <p:ext uri="{BB962C8B-B14F-4D97-AF65-F5344CB8AC3E}">
        <p14:creationId xmlns:p14="http://schemas.microsoft.com/office/powerpoint/2010/main" val="678525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270023"/>
                <a:ext cx="10515600" cy="120032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Tom Brady’s pass-completion percentages from </a:t>
                </a:r>
                <a14:m>
                  <m:oMath xmlns:m="http://schemas.openxmlformats.org/officeDocument/2006/math">
                    <m:r>
                      <a:rPr lang="en-US" sz="2400" i="1">
                        <a:latin typeface="Cambria Math" panose="02040503050406030204" pitchFamily="18" charset="0"/>
                      </a:rPr>
                      <m:t>2009</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a:latin typeface="Cambria Math" panose="02040503050406030204" pitchFamily="18" charset="0"/>
                      </a:rPr>
                      <m:t>2020</m:t>
                    </m:r>
                  </m:oMath>
                </a14:m>
                <a:r>
                  <a:rPr lang="en-US" sz="2400" dirty="0">
                    <a:latin typeface="Verdana" panose="020B0604030504040204" pitchFamily="34" charset="0"/>
                    <a:ea typeface="Verdana" panose="020B0604030504040204" pitchFamily="34" charset="0"/>
                    <a:cs typeface="Verdana" panose="020B0604030504040204" pitchFamily="34" charset="0"/>
                  </a:rPr>
                  <a:t> are listed in the table.  </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270023"/>
                <a:ext cx="10515600" cy="1200329"/>
              </a:xfrm>
              <a:prstGeom prst="rect">
                <a:avLst/>
              </a:prstGeom>
              <a:blipFill>
                <a:blip r:embed="rId4"/>
                <a:stretch>
                  <a:fillRect l="-870" t="-4569"/>
                </a:stretch>
              </a:blipFill>
            </p:spPr>
            <p:txBody>
              <a:bodyPr/>
              <a:lstStyle/>
              <a:p>
                <a:r>
                  <a:rPr lang="en-US">
                    <a:noFill/>
                  </a:rPr>
                  <a:t> </a:t>
                </a:r>
              </a:p>
            </p:txBody>
          </p:sp>
        </mc:Fallback>
      </mc:AlternateContent>
      <p:pic>
        <p:nvPicPr>
          <p:cNvPr id="3" name="Picture 2" descr="Table&#10;&#10;Description automatically generated">
            <a:extLst>
              <a:ext uri="{FF2B5EF4-FFF2-40B4-BE49-F238E27FC236}">
                <a16:creationId xmlns:a16="http://schemas.microsoft.com/office/drawing/2014/main" id="{6226BF79-DB8F-3748-ADCF-158ADA72DDE8}"/>
              </a:ext>
            </a:extLst>
          </p:cNvPr>
          <p:cNvPicPr>
            <a:picLocks noChangeAspect="1"/>
          </p:cNvPicPr>
          <p:nvPr/>
        </p:nvPicPr>
        <p:blipFill rotWithShape="1">
          <a:blip r:embed="rId5"/>
          <a:srcRect l="369" r="654"/>
          <a:stretch/>
        </p:blipFill>
        <p:spPr>
          <a:xfrm>
            <a:off x="2398694" y="1042811"/>
            <a:ext cx="6553202" cy="1861776"/>
          </a:xfrm>
          <a:prstGeom prst="rect">
            <a:avLst/>
          </a:prstGeom>
        </p:spPr>
      </p:pic>
      <p:sp>
        <p:nvSpPr>
          <p:cNvPr id="4" name="Rectangle 3">
            <a:extLst>
              <a:ext uri="{FF2B5EF4-FFF2-40B4-BE49-F238E27FC236}">
                <a16:creationId xmlns:a16="http://schemas.microsoft.com/office/drawing/2014/main" id="{EE3DBC54-3EBC-FE4D-BFDB-8A0A9F29A16B}"/>
              </a:ext>
            </a:extLst>
          </p:cNvPr>
          <p:cNvSpPr/>
          <p:nvPr/>
        </p:nvSpPr>
        <p:spPr>
          <a:xfrm>
            <a:off x="914400" y="3077212"/>
            <a:ext cx="10515600" cy="830997"/>
          </a:xfrm>
          <a:prstGeom prst="rect">
            <a:avLst/>
          </a:prstGeom>
        </p:spPr>
        <p:txBody>
          <a:bodyPr wrap="square">
            <a:spAutoFit/>
          </a:bodyPr>
          <a:lstStyle/>
          <a:p>
            <a:pPr marL="914400" lvl="1" indent="-457200">
              <a:buFont typeface="Verdana" panose="020B0604030504040204" pitchFamily="34" charset="0"/>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Create an appropriate graphical display for the data.</a:t>
            </a:r>
          </a:p>
          <a:p>
            <a:pPr marL="914400" indent="-457200">
              <a:spcAft>
                <a:spcPts val="1000"/>
              </a:spcAft>
            </a:pPr>
            <a:r>
              <a:rPr lang="en-US" sz="24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1502560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 pg. #</a:t>
            </a:r>
            <a:endParaRPr i="1" dirty="0">
              <a:latin typeface="Calibri"/>
              <a:ea typeface="Calibri"/>
              <a:cs typeface="Calibri"/>
              <a:sym typeface="Calibri"/>
            </a:endParaRPr>
          </a:p>
        </p:txBody>
      </p:sp>
      <p:sp>
        <p:nvSpPr>
          <p:cNvPr id="7" name="Rectangle 6">
            <a:extLst>
              <a:ext uri="{FF2B5EF4-FFF2-40B4-BE49-F238E27FC236}">
                <a16:creationId xmlns:a16="http://schemas.microsoft.com/office/drawing/2014/main" id="{E63EA855-7CFC-FF49-B638-C14FB768F2BA}"/>
              </a:ext>
            </a:extLst>
          </p:cNvPr>
          <p:cNvSpPr/>
          <p:nvPr/>
        </p:nvSpPr>
        <p:spPr>
          <a:xfrm>
            <a:off x="914400" y="536810"/>
            <a:ext cx="10515600" cy="4555093"/>
          </a:xfrm>
          <a:prstGeom prst="rect">
            <a:avLst/>
          </a:prstGeom>
        </p:spPr>
        <p:txBody>
          <a:bodyPr wrap="square">
            <a:spAutoFit/>
          </a:bodyPr>
          <a:lstStyle/>
          <a:p>
            <a:pPr marL="914400" lvl="1" indent="-447675">
              <a:spcAft>
                <a:spcPts val="1000"/>
              </a:spcAft>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your reasoning for choosing that display type.</a:t>
            </a:r>
          </a:p>
          <a:p>
            <a:pPr marL="914400" lvl="1" indent="-447675">
              <a:spcAft>
                <a:spcPts val="1000"/>
              </a:spcAft>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47675">
              <a:spcAft>
                <a:spcPts val="1000"/>
              </a:spcAft>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47675">
              <a:spcAft>
                <a:spcPts val="1000"/>
              </a:spcAft>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47675">
              <a:spcAft>
                <a:spcPts val="1000"/>
              </a:spcAft>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Compare your graph with your partner. If you created the same type of graph, explain why this graph is the best choice to represent the data. If you created different displays, discuss which graph is a better choice.</a:t>
            </a:r>
          </a:p>
          <a:p>
            <a:pPr marL="457200" lvl="1">
              <a:spcAft>
                <a:spcPts val="1000"/>
              </a:spcAft>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742950" lvl="1" indent="-285750">
              <a:spcAft>
                <a:spcPts val="1000"/>
              </a:spcAft>
              <a:buFont typeface="Verdana" panose="020B0604030504040204" pitchFamily="34" charset="0"/>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8" name="TextBox 7">
            <a:extLst>
              <a:ext uri="{FF2B5EF4-FFF2-40B4-BE49-F238E27FC236}">
                <a16:creationId xmlns:a16="http://schemas.microsoft.com/office/drawing/2014/main" id="{4073049F-A63D-E546-90E1-D0B7E4C4D23D}"/>
              </a:ext>
            </a:extLst>
          </p:cNvPr>
          <p:cNvSpPr txBox="1"/>
          <p:nvPr/>
        </p:nvSpPr>
        <p:spPr>
          <a:xfrm>
            <a:off x="8631751" y="6529239"/>
            <a:ext cx="1309115" cy="307777"/>
          </a:xfrm>
          <a:prstGeom prst="rect">
            <a:avLst/>
          </a:prstGeom>
          <a:solidFill>
            <a:schemeClr val="bg1"/>
          </a:solidFill>
        </p:spPr>
        <p:txBody>
          <a:bodyPr wrap="square" rtlCol="0">
            <a:spAutoFit/>
          </a:bodyPr>
          <a:lstStyle/>
          <a:p>
            <a:endParaRPr lang="en-US" dirty="0"/>
          </a:p>
        </p:txBody>
      </p:sp>
      <p:sp>
        <p:nvSpPr>
          <p:cNvPr id="13" name="Google Shape;282;g104476d1465_1_17">
            <a:extLst>
              <a:ext uri="{FF2B5EF4-FFF2-40B4-BE49-F238E27FC236}">
                <a16:creationId xmlns:a16="http://schemas.microsoft.com/office/drawing/2014/main" id="{57F6E67F-A390-1F4F-813C-89CD775F5F11}"/>
              </a:ext>
            </a:extLst>
          </p:cNvPr>
          <p:cNvSpPr txBox="1"/>
          <p:nvPr/>
        </p:nvSpPr>
        <p:spPr>
          <a:xfrm>
            <a:off x="8897112" y="645639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280</a:t>
            </a:r>
            <a:endParaRPr i="1" dirty="0">
              <a:latin typeface="Calibri"/>
              <a:ea typeface="Calibri"/>
              <a:cs typeface="Calibri"/>
              <a:sym typeface="Calibri"/>
            </a:endParaRPr>
          </a:p>
        </p:txBody>
      </p:sp>
    </p:spTree>
    <p:extLst>
      <p:ext uri="{BB962C8B-B14F-4D97-AF65-F5344CB8AC3E}">
        <p14:creationId xmlns:p14="http://schemas.microsoft.com/office/powerpoint/2010/main" val="3512732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281</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281</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22887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13.8.5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14400" y="1386026"/>
            <a:ext cx="10515600" cy="3785652"/>
          </a:xfrm>
          <a:prstGeom prst="rect">
            <a:avLst/>
          </a:prstGeom>
          <a:noFill/>
        </p:spPr>
        <p:txBody>
          <a:bodyPr wrap="square" rtlCol="0">
            <a:spAutoFit/>
          </a:bodyPr>
          <a:lstStyle/>
          <a:p>
            <a:pPr marL="463550" lvl="3" indent="-46355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is your favorite type of graphical representation to create when displaying numerical data?</a:t>
            </a:r>
          </a:p>
          <a:p>
            <a:pPr marL="463550" lvl="3" indent="-46355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lvl="3" indent="-46355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lvl="3" indent="-46355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lvl="3" indent="-46355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a note to your teacher explaining why this is your favorite type of display to create. Be specific in your explanation. You can use illustrations and examples from the lesson to help in your explanation.  </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1511</TotalTime>
  <Words>1038</Words>
  <Application>Microsoft Macintosh PowerPoint</Application>
  <PresentationFormat>Widescreen</PresentationFormat>
  <Paragraphs>145</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Arial Black</vt:lpstr>
      <vt:lpstr>Cambria Math</vt:lpstr>
      <vt:lpstr>Wingdings</vt:lpstr>
      <vt:lpstr>Verdana</vt:lpstr>
      <vt:lpstr>Arial</vt:lpstr>
      <vt:lpstr>Century Gothic</vt:lpstr>
      <vt:lpstr>1_Office Theme</vt:lpstr>
      <vt:lpstr>7th Grade Math  Unit 13, Lesson 8  Creating Displays for Numerical Data  Volume 2, pg. 275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20</cp:revision>
  <dcterms:created xsi:type="dcterms:W3CDTF">2015-03-17T18:51:18Z</dcterms:created>
  <dcterms:modified xsi:type="dcterms:W3CDTF">2023-02-01T23:30:17Z</dcterms:modified>
</cp:coreProperties>
</file>