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57" r:id="rId3"/>
    <p:sldId id="285" r:id="rId4"/>
    <p:sldId id="286" r:id="rId5"/>
    <p:sldId id="261" r:id="rId6"/>
    <p:sldId id="287" r:id="rId7"/>
    <p:sldId id="288" r:id="rId8"/>
    <p:sldId id="326" r:id="rId9"/>
    <p:sldId id="327" r:id="rId10"/>
    <p:sldId id="348" r:id="rId11"/>
    <p:sldId id="361" r:id="rId12"/>
    <p:sldId id="352" r:id="rId13"/>
    <p:sldId id="353" r:id="rId14"/>
    <p:sldId id="354" r:id="rId15"/>
    <p:sldId id="355" r:id="rId16"/>
    <p:sldId id="289" r:id="rId17"/>
    <p:sldId id="290" r:id="rId18"/>
    <p:sldId id="346" r:id="rId19"/>
    <p:sldId id="356" r:id="rId20"/>
    <p:sldId id="342" r:id="rId21"/>
    <p:sldId id="314" r:id="rId22"/>
    <p:sldId id="315" r:id="rId23"/>
    <p:sldId id="362" r:id="rId24"/>
    <p:sldId id="358" r:id="rId25"/>
    <p:sldId id="359" r:id="rId26"/>
    <p:sldId id="360" r:id="rId27"/>
    <p:sldId id="363" r:id="rId28"/>
    <p:sldId id="302" r:id="rId29"/>
    <p:sldId id="303" r:id="rId30"/>
    <p:sldId id="350" r:id="rId31"/>
    <p:sldId id="306" r:id="rId32"/>
    <p:sldId id="307" r:id="rId33"/>
  </p:sldIdLst>
  <p:sldSz cx="12192000" cy="6858000"/>
  <p:notesSz cx="6858000" cy="9144000"/>
  <p:embeddedFontLst>
    <p:embeddedFont>
      <p:font typeface="Arial Black" panose="020B0604020202020204" pitchFamily="34" charset="0"/>
      <p:bold r:id="rId35"/>
    </p:embeddedFont>
    <p:embeddedFont>
      <p:font typeface="Calibri" panose="020F0502020204030204" pitchFamily="34" charset="0"/>
      <p:regular r:id="rId36"/>
      <p:bold r:id="rId37"/>
      <p:italic r:id="rId38"/>
      <p:boldItalic r:id="rId39"/>
    </p:embeddedFont>
    <p:embeddedFont>
      <p:font typeface="Cambria" panose="02040503050406030204" pitchFamily="18" charset="0"/>
      <p:regular r:id="rId40"/>
      <p:bold r:id="rId41"/>
      <p:italic r:id="rId42"/>
      <p:boldItalic r:id="rId43"/>
    </p:embeddedFont>
    <p:embeddedFont>
      <p:font typeface="Cambria Math" panose="02040503050406030204" pitchFamily="18" charset="0"/>
      <p:regular r:id="rId44"/>
    </p:embeddedFont>
    <p:embeddedFont>
      <p:font typeface="Century Gothic" panose="020B0502020202020204" pitchFamily="34" charset="0"/>
      <p:regular r:id="rId45"/>
      <p:bold r:id="rId46"/>
      <p:italic r:id="rId47"/>
      <p:boldItalic r:id="rId48"/>
    </p:embeddedFont>
    <p:embeddedFont>
      <p:font typeface="Verdana" panose="020B0604030504040204"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4487"/>
    <a:srgbClr val="276C46"/>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28"/>
    <p:restoredTop sz="94150"/>
  </p:normalViewPr>
  <p:slideViewPr>
    <p:cSldViewPr snapToGrid="0">
      <p:cViewPr varScale="1">
        <p:scale>
          <a:sx n="120" d="100"/>
          <a:sy n="120" d="100"/>
        </p:scale>
        <p:origin x="1216"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font" Target="fonts/font15.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0.fntdata"/><Relationship Id="rId52"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5709345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45639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1300483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985609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9559051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798070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45126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671325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2266111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1239282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4214016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390228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706143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7939878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6739949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7009819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2580380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7544956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35718432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1882125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150578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31287848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33918160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557859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31884283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4513157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7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19.tiff"/><Relationship Id="rId5" Type="http://schemas.openxmlformats.org/officeDocument/2006/relationships/image" Target="../media/image18.tiff"/><Relationship Id="rId4" Type="http://schemas.openxmlformats.org/officeDocument/2006/relationships/image" Target="../media/image17.tiff"/></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22.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26.tiff"/><Relationship Id="rId5" Type="http://schemas.openxmlformats.org/officeDocument/2006/relationships/image" Target="../media/image27.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29.png"/><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tiff"/></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20.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0.png"/><Relationship Id="rId7"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8.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3.png"/><Relationship Id="rId10" Type="http://schemas.openxmlformats.org/officeDocument/2006/relationships/image" Target="../media/image40.png"/><Relationship Id="rId4" Type="http://schemas.openxmlformats.org/officeDocument/2006/relationships/image" Target="../media/image30.png"/><Relationship Id="rId9"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13, Lesson 1</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Effects of Outliers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233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MA.7.DP.1.1</a:t>
            </a:r>
          </a:p>
          <a:p>
            <a:pPr indent="0">
              <a:buNone/>
            </a:pPr>
            <a:r>
              <a:rPr lang="en-US" sz="3200" dirty="0">
                <a:latin typeface="Verdana" panose="020B0604030504040204" pitchFamily="34" charset="0"/>
                <a:ea typeface="Verdana" panose="020B0604030504040204" pitchFamily="34" charset="0"/>
                <a:cs typeface="Verdana" panose="020B0604030504040204" pitchFamily="34" charset="0"/>
              </a:rPr>
              <a:t>Determine an appropriate measure of center or measure of variation to summarize numerical data, represented numerically or graphically, taking into consideration the context and any outliers.</a:t>
            </a:r>
          </a:p>
          <a:p>
            <a:pPr indent="0">
              <a:buNone/>
            </a:pPr>
            <a:endParaRPr lang="en-US"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233</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233</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0375" indent="-460375">
              <a:buFont typeface="Wingdings" pitchFamily="2" charset="2"/>
              <a:buChar char="q"/>
            </a:pPr>
            <a:r>
              <a:rPr lang="en-US" sz="3200" dirty="0">
                <a:latin typeface="Verdana" panose="020B0604030504040204" pitchFamily="34" charset="0"/>
                <a:ea typeface="Verdana" panose="020B0604030504040204" pitchFamily="34" charset="0"/>
                <a:cs typeface="Verdana" panose="020B0604030504040204" pitchFamily="34" charset="0"/>
              </a:rPr>
              <a:t>I can determine the implications an outlier has in a given data set.</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13.1.1 Warm-Up: Precision Is Key</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233</a:t>
            </a:r>
          </a:p>
        </p:txBody>
      </p:sp>
      <p:sp>
        <p:nvSpPr>
          <p:cNvPr id="2" name="TextBox 1">
            <a:extLst>
              <a:ext uri="{FF2B5EF4-FFF2-40B4-BE49-F238E27FC236}">
                <a16:creationId xmlns:a16="http://schemas.microsoft.com/office/drawing/2014/main" id="{E1D7562E-134F-D14B-AF1A-DF40E11EF758}"/>
              </a:ext>
            </a:extLst>
          </p:cNvPr>
          <p:cNvSpPr txBox="1"/>
          <p:nvPr/>
        </p:nvSpPr>
        <p:spPr>
          <a:xfrm>
            <a:off x="914400" y="1386026"/>
            <a:ext cx="10515600" cy="4893647"/>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Becky Miller is a quality control engineer with GE Aviation. Like many other careers, manufacturing engineering has many moving parts that make up an entire process. Becky says that manufacturing is problem-solving.</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List at least two steps that you take when faced with a difficult task.</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233</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2308324"/>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Becky mentions that an error “about the size of a human hair” can make a difference in manufacturing jet engines.</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What is a time that you have made a small error that caused a big impact in your next steps?</a:t>
            </a: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234</a:t>
            </a:r>
          </a:p>
        </p:txBody>
      </p:sp>
      <p:pic>
        <p:nvPicPr>
          <p:cNvPr id="11266" name="Picture 2" descr="Icon&#10;&#10;Description automatically generated">
            <a:extLst>
              <a:ext uri="{FF2B5EF4-FFF2-40B4-BE49-F238E27FC236}">
                <a16:creationId xmlns:a16="http://schemas.microsoft.com/office/drawing/2014/main" id="{8E68AE2B-31C4-664C-9668-81B7C1673C9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79196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7169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85979"/>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13.1.2 Refresher: Measures of Center and Variation</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234</a:t>
            </a:r>
          </a:p>
        </p:txBody>
      </p:sp>
      <p:pic>
        <p:nvPicPr>
          <p:cNvPr id="9" name="Picture 2" descr="Icon&#10;&#10;Description automatically generated">
            <a:extLst>
              <a:ext uri="{FF2B5EF4-FFF2-40B4-BE49-F238E27FC236}">
                <a16:creationId xmlns:a16="http://schemas.microsoft.com/office/drawing/2014/main" id="{522B94A7-8145-AF4C-A130-4689EF537FB7}"/>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12881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7F60FCE0-1F2C-BF48-A380-B49E2228B0EB}"/>
              </a:ext>
            </a:extLst>
          </p:cNvPr>
          <p:cNvGrpSpPr/>
          <p:nvPr/>
        </p:nvGrpSpPr>
        <p:grpSpPr>
          <a:xfrm>
            <a:off x="2953704" y="1795960"/>
            <a:ext cx="6685298" cy="1551180"/>
            <a:chOff x="2031300" y="3154218"/>
            <a:chExt cx="6685298" cy="1551411"/>
          </a:xfrm>
        </p:grpSpPr>
        <p:sp>
          <p:nvSpPr>
            <p:cNvPr id="11" name="Rectangle 10">
              <a:extLst>
                <a:ext uri="{FF2B5EF4-FFF2-40B4-BE49-F238E27FC236}">
                  <a16:creationId xmlns:a16="http://schemas.microsoft.com/office/drawing/2014/main" id="{F6025DF2-2A80-D44A-9393-90C918AFA4EA}"/>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3" name="Group 12">
              <a:extLst>
                <a:ext uri="{FF2B5EF4-FFF2-40B4-BE49-F238E27FC236}">
                  <a16:creationId xmlns:a16="http://schemas.microsoft.com/office/drawing/2014/main" id="{C446031C-0A89-3C41-B1C9-EF44EB586C10}"/>
                </a:ext>
              </a:extLst>
            </p:cNvPr>
            <p:cNvGrpSpPr/>
            <p:nvPr/>
          </p:nvGrpSpPr>
          <p:grpSpPr>
            <a:xfrm>
              <a:off x="2031300" y="3154218"/>
              <a:ext cx="6685298" cy="1551411"/>
              <a:chOff x="2031300" y="3154218"/>
              <a:chExt cx="6685298" cy="1551411"/>
            </a:xfrm>
          </p:grpSpPr>
          <p:sp>
            <p:nvSpPr>
              <p:cNvPr id="14" name="Rectangle 13">
                <a:extLst>
                  <a:ext uri="{FF2B5EF4-FFF2-40B4-BE49-F238E27FC236}">
                    <a16:creationId xmlns:a16="http://schemas.microsoft.com/office/drawing/2014/main" id="{F2526F81-51F5-874C-BE81-3135EC3907FD}"/>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id="{3186AC0E-761B-4D4D-B2BF-04A47830BCF6}"/>
                  </a:ext>
                </a:extLst>
              </p:cNvPr>
              <p:cNvGrpSpPr/>
              <p:nvPr/>
            </p:nvGrpSpPr>
            <p:grpSpPr>
              <a:xfrm>
                <a:off x="2031300" y="3154218"/>
                <a:ext cx="6685298" cy="1551411"/>
                <a:chOff x="2031300" y="3154218"/>
                <a:chExt cx="6685298" cy="1551411"/>
              </a:xfrm>
            </p:grpSpPr>
            <p:sp>
              <p:nvSpPr>
                <p:cNvPr id="16" name="Rectangle 15">
                  <a:extLst>
                    <a:ext uri="{FF2B5EF4-FFF2-40B4-BE49-F238E27FC236}">
                      <a16:creationId xmlns:a16="http://schemas.microsoft.com/office/drawing/2014/main" id="{CA32E876-2DB0-C741-82E3-447FAA063FD7}"/>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7" name="Group 16">
                  <a:extLst>
                    <a:ext uri="{FF2B5EF4-FFF2-40B4-BE49-F238E27FC236}">
                      <a16:creationId xmlns:a16="http://schemas.microsoft.com/office/drawing/2014/main" id="{B6DF99A9-ABE7-144B-B40A-3F0DF23FEFD8}"/>
                    </a:ext>
                  </a:extLst>
                </p:cNvPr>
                <p:cNvGrpSpPr/>
                <p:nvPr/>
              </p:nvGrpSpPr>
              <p:grpSpPr>
                <a:xfrm>
                  <a:off x="2031300" y="3154218"/>
                  <a:ext cx="6685298" cy="1551411"/>
                  <a:chOff x="2031300" y="3154218"/>
                  <a:chExt cx="6685298" cy="1551411"/>
                </a:xfrm>
              </p:grpSpPr>
              <p:sp>
                <p:nvSpPr>
                  <p:cNvPr id="18" name="Rectangle 17">
                    <a:extLst>
                      <a:ext uri="{FF2B5EF4-FFF2-40B4-BE49-F238E27FC236}">
                        <a16:creationId xmlns:a16="http://schemas.microsoft.com/office/drawing/2014/main" id="{D0282538-6680-544F-B5AE-CE74694B06BC}"/>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9" name="Group 18">
                    <a:extLst>
                      <a:ext uri="{FF2B5EF4-FFF2-40B4-BE49-F238E27FC236}">
                        <a16:creationId xmlns:a16="http://schemas.microsoft.com/office/drawing/2014/main" id="{A372E231-8C5D-F640-A49B-0AF0FD755CF5}"/>
                      </a:ext>
                    </a:extLst>
                  </p:cNvPr>
                  <p:cNvGrpSpPr/>
                  <p:nvPr/>
                </p:nvGrpSpPr>
                <p:grpSpPr>
                  <a:xfrm>
                    <a:off x="2031300" y="3154218"/>
                    <a:ext cx="6685298" cy="1551411"/>
                    <a:chOff x="2031300" y="3154218"/>
                    <a:chExt cx="6685298" cy="1551411"/>
                  </a:xfrm>
                </p:grpSpPr>
                <p:sp>
                  <p:nvSpPr>
                    <p:cNvPr id="20" name="Rectangle 19">
                      <a:extLst>
                        <a:ext uri="{FF2B5EF4-FFF2-40B4-BE49-F238E27FC236}">
                          <a16:creationId xmlns:a16="http://schemas.microsoft.com/office/drawing/2014/main" id="{6DC7BB61-F832-F243-A34B-CC43112DE14F}"/>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21" name="Group 20">
                      <a:extLst>
                        <a:ext uri="{FF2B5EF4-FFF2-40B4-BE49-F238E27FC236}">
                          <a16:creationId xmlns:a16="http://schemas.microsoft.com/office/drawing/2014/main" id="{744F0F44-4BBA-F743-872E-81C59335671B}"/>
                        </a:ext>
                      </a:extLst>
                    </p:cNvPr>
                    <p:cNvGrpSpPr/>
                    <p:nvPr/>
                  </p:nvGrpSpPr>
                  <p:grpSpPr>
                    <a:xfrm>
                      <a:off x="2031300" y="3154218"/>
                      <a:ext cx="6685298" cy="1551411"/>
                      <a:chOff x="2031300" y="3154218"/>
                      <a:chExt cx="6685298" cy="1551411"/>
                    </a:xfrm>
                  </p:grpSpPr>
                  <p:sp>
                    <p:nvSpPr>
                      <p:cNvPr id="22" name="Rectangle 21">
                        <a:extLst>
                          <a:ext uri="{FF2B5EF4-FFF2-40B4-BE49-F238E27FC236}">
                            <a16:creationId xmlns:a16="http://schemas.microsoft.com/office/drawing/2014/main" id="{13D4D4FF-799A-9749-9BA0-01B3BB7346A7}"/>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23" name="Group 22">
                        <a:extLst>
                          <a:ext uri="{FF2B5EF4-FFF2-40B4-BE49-F238E27FC236}">
                            <a16:creationId xmlns:a16="http://schemas.microsoft.com/office/drawing/2014/main" id="{B9153893-A323-D749-83BB-388F2A0A4FDC}"/>
                          </a:ext>
                        </a:extLst>
                      </p:cNvPr>
                      <p:cNvGrpSpPr/>
                      <p:nvPr/>
                    </p:nvGrpSpPr>
                    <p:grpSpPr>
                      <a:xfrm>
                        <a:off x="2031300" y="3154218"/>
                        <a:ext cx="6685298" cy="1551411"/>
                        <a:chOff x="0" y="-121517"/>
                        <a:chExt cx="6685298" cy="1551411"/>
                      </a:xfrm>
                    </p:grpSpPr>
                    <p:sp>
                      <p:nvSpPr>
                        <p:cNvPr id="24" name="Rectangle 23">
                          <a:extLst>
                            <a:ext uri="{FF2B5EF4-FFF2-40B4-BE49-F238E27FC236}">
                              <a16:creationId xmlns:a16="http://schemas.microsoft.com/office/drawing/2014/main" id="{49F0149C-20E5-5049-B3D8-19924A21FE69}"/>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25" name="Group 24">
                          <a:extLst>
                            <a:ext uri="{FF2B5EF4-FFF2-40B4-BE49-F238E27FC236}">
                              <a16:creationId xmlns:a16="http://schemas.microsoft.com/office/drawing/2014/main" id="{48199D68-C9F2-FC46-964F-4A83147874F7}"/>
                            </a:ext>
                          </a:extLst>
                        </p:cNvPr>
                        <p:cNvGrpSpPr/>
                        <p:nvPr/>
                      </p:nvGrpSpPr>
                      <p:grpSpPr>
                        <a:xfrm>
                          <a:off x="0" y="-121517"/>
                          <a:ext cx="6685298" cy="1551411"/>
                          <a:chOff x="0" y="-121517"/>
                          <a:chExt cx="6685298" cy="1551411"/>
                        </a:xfrm>
                      </p:grpSpPr>
                      <p:sp>
                        <p:nvSpPr>
                          <p:cNvPr id="27" name="Rectangle 26">
                            <a:extLst>
                              <a:ext uri="{FF2B5EF4-FFF2-40B4-BE49-F238E27FC236}">
                                <a16:creationId xmlns:a16="http://schemas.microsoft.com/office/drawing/2014/main" id="{B539903B-508E-4447-A235-204118114281}"/>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8" name="Rounded Rectangle 27">
                            <a:extLst>
                              <a:ext uri="{FF2B5EF4-FFF2-40B4-BE49-F238E27FC236}">
                                <a16:creationId xmlns:a16="http://schemas.microsoft.com/office/drawing/2014/main" id="{A86A1931-AD7C-0349-941A-544B9D1F5532}"/>
                              </a:ext>
                            </a:extLst>
                          </p:cNvPr>
                          <p:cNvSpPr/>
                          <p:nvPr/>
                        </p:nvSpPr>
                        <p:spPr>
                          <a:xfrm>
                            <a:off x="55898" y="-121517"/>
                            <a:ext cx="6629400" cy="1551411"/>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spcAft>
                                <a:spcPts val="1000"/>
                              </a:spcAft>
                            </a:pP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Measures of center, </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such as</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 mean </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and</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 median,</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are used to describe a typical value in the data set. </a:t>
                            </a:r>
                            <a:r>
                              <a:rPr lang="en-US" sz="1200" dirty="0">
                                <a:solidFill>
                                  <a:srgbClr val="00619E"/>
                                </a:solidFill>
                                <a:latin typeface="Verdana" panose="020B0604030504040204" pitchFamily="34" charset="0"/>
                                <a:ea typeface="Verdana" panose="020B0604030504040204" pitchFamily="34" charset="0"/>
                                <a:cs typeface="Verdana" panose="020B0604030504040204" pitchFamily="34" charset="0"/>
                              </a:rPr>
                              <a:t> </a:t>
                            </a:r>
                            <a:endParaRPr lang="en-US" sz="1200" dirty="0">
                              <a:latin typeface="Verdana" panose="020B0604030504040204" pitchFamily="34" charset="0"/>
                              <a:ea typeface="Verdana" panose="020B0604030504040204" pitchFamily="34" charset="0"/>
                              <a:cs typeface="Verdana" panose="020B0604030504040204" pitchFamily="34" charset="0"/>
                            </a:endParaRPr>
                          </a:p>
                        </p:txBody>
                      </p:sp>
                    </p:grpSp>
                    <p:pic>
                      <p:nvPicPr>
                        <p:cNvPr id="26" name="Shape 40" descr="Icon&#10;&#10;Description automatically generated">
                          <a:extLst>
                            <a:ext uri="{FF2B5EF4-FFF2-40B4-BE49-F238E27FC236}">
                              <a16:creationId xmlns:a16="http://schemas.microsoft.com/office/drawing/2014/main" id="{6D14B163-C53E-6949-86DE-21624D6DB3FA}"/>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266450" y="114438"/>
                          <a:ext cx="539750" cy="539750"/>
                        </a:xfrm>
                        <a:prstGeom prst="rect">
                          <a:avLst/>
                        </a:prstGeom>
                        <a:noFill/>
                        <a:ln>
                          <a:noFill/>
                        </a:ln>
                        <a:effectLst>
                          <a:outerShdw blurRad="50800" dist="38100" dir="2700000" algn="tl" rotWithShape="0">
                            <a:prstClr val="black">
                              <a:alpha val="40000"/>
                            </a:prstClr>
                          </a:outerShdw>
                        </a:effectLst>
                      </p:spPr>
                    </p:pic>
                  </p:grpSp>
                </p:grpSp>
              </p:grpSp>
            </p:grpSp>
          </p:grpSp>
        </p:grpSp>
      </p:grpSp>
      <p:grpSp>
        <p:nvGrpSpPr>
          <p:cNvPr id="29" name="Group 28">
            <a:extLst>
              <a:ext uri="{FF2B5EF4-FFF2-40B4-BE49-F238E27FC236}">
                <a16:creationId xmlns:a16="http://schemas.microsoft.com/office/drawing/2014/main" id="{2F5121BF-F2F1-6A46-BCAF-DF5C83CD3993}"/>
              </a:ext>
            </a:extLst>
          </p:cNvPr>
          <p:cNvGrpSpPr/>
          <p:nvPr/>
        </p:nvGrpSpPr>
        <p:grpSpPr>
          <a:xfrm>
            <a:off x="2965776" y="3046539"/>
            <a:ext cx="6673226" cy="2589467"/>
            <a:chOff x="2031300" y="3275735"/>
            <a:chExt cx="6673226" cy="2589852"/>
          </a:xfrm>
          <a:effectLst>
            <a:outerShdw blurRad="50800" dist="38100" dir="2700000" algn="tl" rotWithShape="0">
              <a:prstClr val="black">
                <a:alpha val="40000"/>
              </a:prstClr>
            </a:outerShdw>
          </a:effectLst>
        </p:grpSpPr>
        <p:sp>
          <p:nvSpPr>
            <p:cNvPr id="30" name="Rectangle 29">
              <a:extLst>
                <a:ext uri="{FF2B5EF4-FFF2-40B4-BE49-F238E27FC236}">
                  <a16:creationId xmlns:a16="http://schemas.microsoft.com/office/drawing/2014/main" id="{90090EFB-A983-6744-845D-EA3600903925}"/>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31" name="Group 30">
              <a:extLst>
                <a:ext uri="{FF2B5EF4-FFF2-40B4-BE49-F238E27FC236}">
                  <a16:creationId xmlns:a16="http://schemas.microsoft.com/office/drawing/2014/main" id="{498B9CB2-1239-0F4E-AED4-100E39D9DC73}"/>
                </a:ext>
              </a:extLst>
            </p:cNvPr>
            <p:cNvGrpSpPr/>
            <p:nvPr/>
          </p:nvGrpSpPr>
          <p:grpSpPr>
            <a:xfrm>
              <a:off x="2031300" y="3275735"/>
              <a:ext cx="6673226" cy="2589852"/>
              <a:chOff x="2031300" y="3275735"/>
              <a:chExt cx="6673226" cy="2589852"/>
            </a:xfrm>
          </p:grpSpPr>
          <p:sp>
            <p:nvSpPr>
              <p:cNvPr id="32" name="Rectangle 31">
                <a:extLst>
                  <a:ext uri="{FF2B5EF4-FFF2-40B4-BE49-F238E27FC236}">
                    <a16:creationId xmlns:a16="http://schemas.microsoft.com/office/drawing/2014/main" id="{EB677A76-9F55-1148-A891-229EEC25450C}"/>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33" name="Group 32">
                <a:extLst>
                  <a:ext uri="{FF2B5EF4-FFF2-40B4-BE49-F238E27FC236}">
                    <a16:creationId xmlns:a16="http://schemas.microsoft.com/office/drawing/2014/main" id="{E362ECCB-4E13-9548-B29D-CDC6475D7682}"/>
                  </a:ext>
                </a:extLst>
              </p:cNvPr>
              <p:cNvGrpSpPr/>
              <p:nvPr/>
            </p:nvGrpSpPr>
            <p:grpSpPr>
              <a:xfrm>
                <a:off x="2031300" y="3275735"/>
                <a:ext cx="6673226" cy="2589852"/>
                <a:chOff x="2031300" y="3275735"/>
                <a:chExt cx="6673226" cy="2589852"/>
              </a:xfrm>
            </p:grpSpPr>
            <p:sp>
              <p:nvSpPr>
                <p:cNvPr id="34" name="Rectangle 33">
                  <a:extLst>
                    <a:ext uri="{FF2B5EF4-FFF2-40B4-BE49-F238E27FC236}">
                      <a16:creationId xmlns:a16="http://schemas.microsoft.com/office/drawing/2014/main" id="{4DC45E71-5A0E-E241-B115-6A0CC31E40F6}"/>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35" name="Group 34">
                  <a:extLst>
                    <a:ext uri="{FF2B5EF4-FFF2-40B4-BE49-F238E27FC236}">
                      <a16:creationId xmlns:a16="http://schemas.microsoft.com/office/drawing/2014/main" id="{89C64E4C-CA8C-D44F-8728-4B927C7A1DBD}"/>
                    </a:ext>
                  </a:extLst>
                </p:cNvPr>
                <p:cNvGrpSpPr/>
                <p:nvPr/>
              </p:nvGrpSpPr>
              <p:grpSpPr>
                <a:xfrm>
                  <a:off x="2031300" y="3275735"/>
                  <a:ext cx="6673226" cy="2589852"/>
                  <a:chOff x="2031300" y="3275735"/>
                  <a:chExt cx="6673226" cy="2589852"/>
                </a:xfrm>
              </p:grpSpPr>
              <p:sp>
                <p:nvSpPr>
                  <p:cNvPr id="36" name="Rectangle 35">
                    <a:extLst>
                      <a:ext uri="{FF2B5EF4-FFF2-40B4-BE49-F238E27FC236}">
                        <a16:creationId xmlns:a16="http://schemas.microsoft.com/office/drawing/2014/main" id="{B495E8E7-81B9-A142-93F5-DE54B669F2BC}"/>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37" name="Group 36">
                    <a:extLst>
                      <a:ext uri="{FF2B5EF4-FFF2-40B4-BE49-F238E27FC236}">
                        <a16:creationId xmlns:a16="http://schemas.microsoft.com/office/drawing/2014/main" id="{6AF53104-7672-9C4F-A081-B81280FFCE7B}"/>
                      </a:ext>
                    </a:extLst>
                  </p:cNvPr>
                  <p:cNvGrpSpPr/>
                  <p:nvPr/>
                </p:nvGrpSpPr>
                <p:grpSpPr>
                  <a:xfrm>
                    <a:off x="2031300" y="3275735"/>
                    <a:ext cx="6673226" cy="2589852"/>
                    <a:chOff x="2031300" y="3275735"/>
                    <a:chExt cx="6673226" cy="2589852"/>
                  </a:xfrm>
                </p:grpSpPr>
                <p:sp>
                  <p:nvSpPr>
                    <p:cNvPr id="38" name="Rectangle 37">
                      <a:extLst>
                        <a:ext uri="{FF2B5EF4-FFF2-40B4-BE49-F238E27FC236}">
                          <a16:creationId xmlns:a16="http://schemas.microsoft.com/office/drawing/2014/main" id="{34766521-C6D0-FB49-B298-D46ECFB9D309}"/>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39" name="Group 38">
                      <a:extLst>
                        <a:ext uri="{FF2B5EF4-FFF2-40B4-BE49-F238E27FC236}">
                          <a16:creationId xmlns:a16="http://schemas.microsoft.com/office/drawing/2014/main" id="{E247B309-D5E6-2947-958F-E1D9F3E80FCC}"/>
                        </a:ext>
                      </a:extLst>
                    </p:cNvPr>
                    <p:cNvGrpSpPr/>
                    <p:nvPr/>
                  </p:nvGrpSpPr>
                  <p:grpSpPr>
                    <a:xfrm>
                      <a:off x="2031300" y="3275735"/>
                      <a:ext cx="6673226" cy="2589852"/>
                      <a:chOff x="2031300" y="3275735"/>
                      <a:chExt cx="6673226" cy="2589852"/>
                    </a:xfrm>
                  </p:grpSpPr>
                  <p:sp>
                    <p:nvSpPr>
                      <p:cNvPr id="40" name="Rectangle 39">
                        <a:extLst>
                          <a:ext uri="{FF2B5EF4-FFF2-40B4-BE49-F238E27FC236}">
                            <a16:creationId xmlns:a16="http://schemas.microsoft.com/office/drawing/2014/main" id="{0FF253B6-EC56-534E-892B-BEBF2C8F17B0}"/>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41" name="Group 40">
                        <a:extLst>
                          <a:ext uri="{FF2B5EF4-FFF2-40B4-BE49-F238E27FC236}">
                            <a16:creationId xmlns:a16="http://schemas.microsoft.com/office/drawing/2014/main" id="{28533B89-F539-7C44-A005-FBCA52C169AA}"/>
                          </a:ext>
                        </a:extLst>
                      </p:cNvPr>
                      <p:cNvGrpSpPr/>
                      <p:nvPr/>
                    </p:nvGrpSpPr>
                    <p:grpSpPr>
                      <a:xfrm>
                        <a:off x="2031300" y="3275735"/>
                        <a:ext cx="6673226" cy="2589852"/>
                        <a:chOff x="0" y="0"/>
                        <a:chExt cx="6673226" cy="2589852"/>
                      </a:xfrm>
                    </p:grpSpPr>
                    <p:sp>
                      <p:nvSpPr>
                        <p:cNvPr id="42" name="Rectangle 41">
                          <a:extLst>
                            <a:ext uri="{FF2B5EF4-FFF2-40B4-BE49-F238E27FC236}">
                              <a16:creationId xmlns:a16="http://schemas.microsoft.com/office/drawing/2014/main" id="{35AE839B-CB75-6A42-A199-48A3FD32E5C7}"/>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43" name="Group 42">
                          <a:extLst>
                            <a:ext uri="{FF2B5EF4-FFF2-40B4-BE49-F238E27FC236}">
                              <a16:creationId xmlns:a16="http://schemas.microsoft.com/office/drawing/2014/main" id="{4E9FD286-9202-EC4B-A018-DE78EF7BD221}"/>
                            </a:ext>
                          </a:extLst>
                        </p:cNvPr>
                        <p:cNvGrpSpPr/>
                        <p:nvPr/>
                      </p:nvGrpSpPr>
                      <p:grpSpPr>
                        <a:xfrm>
                          <a:off x="0" y="0"/>
                          <a:ext cx="6673226" cy="2589852"/>
                          <a:chOff x="0" y="0"/>
                          <a:chExt cx="6673226" cy="2589852"/>
                        </a:xfrm>
                      </p:grpSpPr>
                      <p:sp>
                        <p:nvSpPr>
                          <p:cNvPr id="45" name="Rectangle 44">
                            <a:extLst>
                              <a:ext uri="{FF2B5EF4-FFF2-40B4-BE49-F238E27FC236}">
                                <a16:creationId xmlns:a16="http://schemas.microsoft.com/office/drawing/2014/main" id="{A5008F45-6AC7-E144-A0E8-5FDF4E0D7C23}"/>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46" name="Rounded Rectangle 45">
                            <a:extLst>
                              <a:ext uri="{FF2B5EF4-FFF2-40B4-BE49-F238E27FC236}">
                                <a16:creationId xmlns:a16="http://schemas.microsoft.com/office/drawing/2014/main" id="{AD934352-E4BF-5749-AF1F-17CAC048CE58}"/>
                              </a:ext>
                            </a:extLst>
                          </p:cNvPr>
                          <p:cNvSpPr/>
                          <p:nvPr/>
                        </p:nvSpPr>
                        <p:spPr>
                          <a:xfrm>
                            <a:off x="43826" y="1122438"/>
                            <a:ext cx="6629400" cy="1467414"/>
                          </a:xfrm>
                          <a:prstGeom prst="roundRect">
                            <a:avLst>
                              <a:gd name="adj" fmla="val 16667"/>
                            </a:avLst>
                          </a:prstGeom>
                          <a:solidFill>
                            <a:srgbClr val="B8E6F5"/>
                          </a:solidFill>
                          <a:ln>
                            <a:noFill/>
                          </a:ln>
                        </p:spPr>
                        <p:txBody>
                          <a:bodyPr spcFirstLastPara="1" wrap="square" lIns="91425" tIns="45700" rIns="91425" bIns="45700" anchor="ctr" anchorCtr="0">
                            <a:noAutofit/>
                          </a:bodyPr>
                          <a:lstStyle/>
                          <a:p>
                            <a:pPr marL="685800">
                              <a:spcAft>
                                <a:spcPts val="1000"/>
                              </a:spcAft>
                            </a:pP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Measures of variation, </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such as</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 range </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and</a:t>
                            </a: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 interquartile range,</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are used to describe how “spread out” the data is.</a:t>
                            </a:r>
                            <a:r>
                              <a:rPr lang="en-US" sz="1200" dirty="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grpSp>
                    <p:pic>
                      <p:nvPicPr>
                        <p:cNvPr id="44" name="Shape 40" descr="Icon&#10;&#10;Description automatically generated">
                          <a:extLst>
                            <a:ext uri="{FF2B5EF4-FFF2-40B4-BE49-F238E27FC236}">
                              <a16:creationId xmlns:a16="http://schemas.microsoft.com/office/drawing/2014/main" id="{F2663D38-4D0C-564F-BDD8-9DB2AFE59E2B}"/>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254378" y="1351397"/>
                          <a:ext cx="539750" cy="539750"/>
                        </a:xfrm>
                        <a:prstGeom prst="rect">
                          <a:avLst/>
                        </a:prstGeom>
                        <a:noFill/>
                        <a:ln>
                          <a:noFill/>
                        </a:ln>
                        <a:effectLst>
                          <a:outerShdw blurRad="50800" dist="38100" dir="2700000" algn="tl" rotWithShape="0">
                            <a:prstClr val="black">
                              <a:alpha val="40000"/>
                            </a:prstClr>
                          </a:outerShdw>
                        </a:effectLst>
                      </p:spPr>
                    </p:pic>
                  </p:grpSp>
                </p:grpSp>
              </p:grpSp>
            </p:grpSp>
          </p:grpSp>
        </p:grpSp>
      </p:grpSp>
    </p:spTree>
    <p:extLst>
      <p:ext uri="{BB962C8B-B14F-4D97-AF65-F5344CB8AC3E}">
        <p14:creationId xmlns:p14="http://schemas.microsoft.com/office/powerpoint/2010/main" val="2433542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621258"/>
            <a:ext cx="10515600" cy="4616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Fill in the blanks with the terms provided.</a:t>
            </a:r>
          </a:p>
        </p:txBody>
      </p:sp>
      <p:grpSp>
        <p:nvGrpSpPr>
          <p:cNvPr id="10" name="Group 9">
            <a:extLst>
              <a:ext uri="{FF2B5EF4-FFF2-40B4-BE49-F238E27FC236}">
                <a16:creationId xmlns:a16="http://schemas.microsoft.com/office/drawing/2014/main" id="{32DB4C82-CB1E-1943-875C-897549CD6954}"/>
              </a:ext>
            </a:extLst>
          </p:cNvPr>
          <p:cNvGrpSpPr/>
          <p:nvPr/>
        </p:nvGrpSpPr>
        <p:grpSpPr>
          <a:xfrm>
            <a:off x="1690400" y="1237185"/>
            <a:ext cx="8744226" cy="678320"/>
            <a:chOff x="33257" y="-66471"/>
            <a:chExt cx="2308277" cy="1472521"/>
          </a:xfrm>
        </p:grpSpPr>
        <p:sp>
          <p:nvSpPr>
            <p:cNvPr id="11" name="Rectangle: Rounded Corners 22">
              <a:extLst>
                <a:ext uri="{FF2B5EF4-FFF2-40B4-BE49-F238E27FC236}">
                  <a16:creationId xmlns:a16="http://schemas.microsoft.com/office/drawing/2014/main" id="{B86B639D-4625-BE45-BEB2-BD3A8C5533F2}"/>
                </a:ext>
              </a:extLst>
            </p:cNvPr>
            <p:cNvSpPr/>
            <p:nvPr/>
          </p:nvSpPr>
          <p:spPr>
            <a:xfrm>
              <a:off x="173772" y="-66471"/>
              <a:ext cx="2055392" cy="1285875"/>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Text Box 24">
              <a:extLst>
                <a:ext uri="{FF2B5EF4-FFF2-40B4-BE49-F238E27FC236}">
                  <a16:creationId xmlns:a16="http://schemas.microsoft.com/office/drawing/2014/main" id="{E413CF44-B8B7-C54D-B490-8CE3C75B808C}"/>
                </a:ext>
              </a:extLst>
            </p:cNvPr>
            <p:cNvSpPr txBox="1"/>
            <p:nvPr/>
          </p:nvSpPr>
          <p:spPr>
            <a:xfrm>
              <a:off x="33257" y="186850"/>
              <a:ext cx="2308277" cy="12192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457200"/>
              <a:r>
                <a:rPr lang="en-US" sz="1800" dirty="0">
                  <a:latin typeface="Verdana" panose="020B0604030504040204" pitchFamily="34" charset="0"/>
                  <a:ea typeface="Times New Roman" panose="02020603050405020304" pitchFamily="18" charset="0"/>
                  <a:cs typeface="Times New Roman" panose="02020603050405020304" pitchFamily="18" charset="0"/>
                </a:rPr>
                <a:t>     mean	    range         median	       interquartile range(IQR)</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1800" dirty="0">
                  <a:latin typeface="Verdana" panose="020B0604030504040204" pitchFamily="34" charset="0"/>
                  <a:ea typeface="Times New Roman" panose="02020603050405020304" pitchFamily="18" charset="0"/>
                  <a:cs typeface="Times New Roman" panose="02020603050405020304" pitchFamily="18" charset="0"/>
                </a:rPr>
                <a:t>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marL="457200">
                <a:spcAft>
                  <a:spcPts val="1000"/>
                </a:spcAft>
              </a:pPr>
              <a:r>
                <a:rPr lang="en-US" sz="1800" dirty="0">
                  <a:latin typeface="Verdana" panose="020B0604030504040204" pitchFamily="34" charset="0"/>
                  <a:ea typeface="Times New Roman" panose="02020603050405020304" pitchFamily="18" charset="0"/>
                  <a:cs typeface="Times New Roman" panose="02020603050405020304" pitchFamily="18" charset="0"/>
                </a:rPr>
                <a:t>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grpSp>
      <p:grpSp>
        <p:nvGrpSpPr>
          <p:cNvPr id="16" name="Group 15">
            <a:extLst>
              <a:ext uri="{FF2B5EF4-FFF2-40B4-BE49-F238E27FC236}">
                <a16:creationId xmlns:a16="http://schemas.microsoft.com/office/drawing/2014/main" id="{6B27DC37-A177-2648-853F-24E8AB979CBC}"/>
              </a:ext>
            </a:extLst>
          </p:cNvPr>
          <p:cNvGrpSpPr/>
          <p:nvPr/>
        </p:nvGrpSpPr>
        <p:grpSpPr>
          <a:xfrm>
            <a:off x="2225910" y="2495696"/>
            <a:ext cx="7432908" cy="1393190"/>
            <a:chOff x="1795559" y="3329150"/>
            <a:chExt cx="6982383" cy="1393800"/>
          </a:xfrm>
        </p:grpSpPr>
        <p:sp>
          <p:nvSpPr>
            <p:cNvPr id="18" name="Rectangle 17">
              <a:extLst>
                <a:ext uri="{FF2B5EF4-FFF2-40B4-BE49-F238E27FC236}">
                  <a16:creationId xmlns:a16="http://schemas.microsoft.com/office/drawing/2014/main" id="{B6011B78-F9E9-B245-9715-442BCE508B8F}"/>
                </a:ext>
              </a:extLst>
            </p:cNvPr>
            <p:cNvSpPr/>
            <p:nvPr/>
          </p:nvSpPr>
          <p:spPr>
            <a:xfrm>
              <a:off x="1902013" y="3329150"/>
              <a:ext cx="6852950" cy="1393800"/>
            </a:xfrm>
            <a:prstGeom prst="rect">
              <a:avLst/>
            </a:prstGeom>
            <a:noFill/>
            <a:ln>
              <a:noFill/>
            </a:ln>
          </p:spPr>
          <p:txBody>
            <a:bodyPr spcFirstLastPara="1" wrap="square" lIns="91425" tIns="91425" rIns="91425" bIns="91425" anchor="ctr" anchorCtr="0">
              <a:noAutofit/>
            </a:bodyPr>
            <a:lstStyle/>
            <a:p>
              <a:r>
                <a:rPr lang="en-US" sz="1200">
                  <a:solidFill>
                    <a:srgbClr val="6C993D"/>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9" name="Group 18">
              <a:extLst>
                <a:ext uri="{FF2B5EF4-FFF2-40B4-BE49-F238E27FC236}">
                  <a16:creationId xmlns:a16="http://schemas.microsoft.com/office/drawing/2014/main" id="{31675BF8-C1AC-F445-B1D7-B4CEBBD35494}"/>
                </a:ext>
              </a:extLst>
            </p:cNvPr>
            <p:cNvGrpSpPr/>
            <p:nvPr/>
          </p:nvGrpSpPr>
          <p:grpSpPr>
            <a:xfrm>
              <a:off x="1795559" y="3329150"/>
              <a:ext cx="6982383" cy="1329719"/>
              <a:chOff x="-141444" y="0"/>
              <a:chExt cx="6982383" cy="1329719"/>
            </a:xfrm>
          </p:grpSpPr>
          <p:sp>
            <p:nvSpPr>
              <p:cNvPr id="20" name="Rectangle 19">
                <a:extLst>
                  <a:ext uri="{FF2B5EF4-FFF2-40B4-BE49-F238E27FC236}">
                    <a16:creationId xmlns:a16="http://schemas.microsoft.com/office/drawing/2014/main" id="{BCA99BD7-40AC-F140-B71C-E0582FB6BB48}"/>
                  </a:ext>
                </a:extLst>
              </p:cNvPr>
              <p:cNvSpPr/>
              <p:nvPr/>
            </p:nvSpPr>
            <p:spPr>
              <a:xfrm>
                <a:off x="0" y="0"/>
                <a:ext cx="6817975" cy="901700"/>
              </a:xfrm>
              <a:prstGeom prst="rect">
                <a:avLst/>
              </a:prstGeom>
              <a:noFill/>
              <a:ln>
                <a:noFill/>
              </a:ln>
            </p:spPr>
            <p:txBody>
              <a:bodyPr spcFirstLastPara="1" wrap="square" lIns="91425" tIns="91425" rIns="91425" bIns="91425" anchor="ctr" anchorCtr="0">
                <a:noAutofit/>
              </a:bodyPr>
              <a:lstStyle/>
              <a:p>
                <a:r>
                  <a:rPr lang="en-US" sz="1200">
                    <a:solidFill>
                      <a:srgbClr val="6C993D"/>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1" name="Rounded Rectangle 20">
                <a:extLst>
                  <a:ext uri="{FF2B5EF4-FFF2-40B4-BE49-F238E27FC236}">
                    <a16:creationId xmlns:a16="http://schemas.microsoft.com/office/drawing/2014/main" id="{01B63FD8-B2D1-3D42-8489-63FE8DD45A21}"/>
                  </a:ext>
                </a:extLst>
              </p:cNvPr>
              <p:cNvSpPr/>
              <p:nvPr/>
            </p:nvSpPr>
            <p:spPr>
              <a:xfrm>
                <a:off x="-141444" y="144781"/>
                <a:ext cx="6982383" cy="1184938"/>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indent="3175"/>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___________ is the arithmetic average of a set of numbers. It is a measure of center, or central tendency.</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pSp>
      </p:grpSp>
      <p:grpSp>
        <p:nvGrpSpPr>
          <p:cNvPr id="22" name="Group 21">
            <a:extLst>
              <a:ext uri="{FF2B5EF4-FFF2-40B4-BE49-F238E27FC236}">
                <a16:creationId xmlns:a16="http://schemas.microsoft.com/office/drawing/2014/main" id="{2E474BB8-6913-DC48-93CC-8C4BA5CEE12C}"/>
              </a:ext>
            </a:extLst>
          </p:cNvPr>
          <p:cNvGrpSpPr/>
          <p:nvPr/>
        </p:nvGrpSpPr>
        <p:grpSpPr>
          <a:xfrm>
            <a:off x="2222701" y="4417021"/>
            <a:ext cx="7955211" cy="1911087"/>
            <a:chOff x="1791786" y="2992028"/>
            <a:chExt cx="7449272" cy="1912222"/>
          </a:xfrm>
        </p:grpSpPr>
        <p:sp>
          <p:nvSpPr>
            <p:cNvPr id="23" name="Rectangle 22">
              <a:extLst>
                <a:ext uri="{FF2B5EF4-FFF2-40B4-BE49-F238E27FC236}">
                  <a16:creationId xmlns:a16="http://schemas.microsoft.com/office/drawing/2014/main" id="{1A73138A-87E7-7940-B15C-4A8FAD93080F}"/>
                </a:ext>
              </a:extLst>
            </p:cNvPr>
            <p:cNvSpPr/>
            <p:nvPr/>
          </p:nvSpPr>
          <p:spPr>
            <a:xfrm>
              <a:off x="1937003" y="3329150"/>
              <a:ext cx="6846500" cy="1575100"/>
            </a:xfrm>
            <a:prstGeom prst="rect">
              <a:avLst/>
            </a:prstGeom>
            <a:noFill/>
            <a:ln>
              <a:noFill/>
            </a:ln>
          </p:spPr>
          <p:txBody>
            <a:bodyPr spcFirstLastPara="1" wrap="square" lIns="91425" tIns="91425" rIns="91425" bIns="91425" anchor="ctr" anchorCtr="0">
              <a:noAutofit/>
            </a:bodyPr>
            <a:lstStyle/>
            <a:p>
              <a:r>
                <a:rPr lang="en-US" sz="1200">
                  <a:solidFill>
                    <a:srgbClr val="6C993D"/>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24" name="Group 23">
              <a:extLst>
                <a:ext uri="{FF2B5EF4-FFF2-40B4-BE49-F238E27FC236}">
                  <a16:creationId xmlns:a16="http://schemas.microsoft.com/office/drawing/2014/main" id="{F96919A7-9E2C-CD40-A0C1-4A2215C9DB04}"/>
                </a:ext>
              </a:extLst>
            </p:cNvPr>
            <p:cNvGrpSpPr/>
            <p:nvPr/>
          </p:nvGrpSpPr>
          <p:grpSpPr>
            <a:xfrm>
              <a:off x="1791786" y="2992028"/>
              <a:ext cx="7449272" cy="1471805"/>
              <a:chOff x="-145217" y="-337122"/>
              <a:chExt cx="7449272" cy="1471805"/>
            </a:xfrm>
          </p:grpSpPr>
          <p:sp>
            <p:nvSpPr>
              <p:cNvPr id="25" name="Rectangle 24">
                <a:extLst>
                  <a:ext uri="{FF2B5EF4-FFF2-40B4-BE49-F238E27FC236}">
                    <a16:creationId xmlns:a16="http://schemas.microsoft.com/office/drawing/2014/main" id="{6024CE67-B552-4847-B787-ABD2A6ACF606}"/>
                  </a:ext>
                </a:extLst>
              </p:cNvPr>
              <p:cNvSpPr/>
              <p:nvPr/>
            </p:nvSpPr>
            <p:spPr>
              <a:xfrm>
                <a:off x="0" y="0"/>
                <a:ext cx="6817975" cy="901700"/>
              </a:xfrm>
              <a:prstGeom prst="rect">
                <a:avLst/>
              </a:prstGeom>
              <a:noFill/>
              <a:ln>
                <a:noFill/>
              </a:ln>
            </p:spPr>
            <p:txBody>
              <a:bodyPr spcFirstLastPara="1" wrap="square" lIns="91425" tIns="91425" rIns="91425" bIns="91425" anchor="ctr" anchorCtr="0">
                <a:noAutofit/>
              </a:bodyPr>
              <a:lstStyle/>
              <a:p>
                <a:r>
                  <a:rPr lang="en-US" sz="1200">
                    <a:solidFill>
                      <a:srgbClr val="6C993D"/>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6" name="Rounded Rectangle 25">
                <a:extLst>
                  <a:ext uri="{FF2B5EF4-FFF2-40B4-BE49-F238E27FC236}">
                    <a16:creationId xmlns:a16="http://schemas.microsoft.com/office/drawing/2014/main" id="{78FD2619-8640-C34F-861F-4ADAE484ADEE}"/>
                  </a:ext>
                </a:extLst>
              </p:cNvPr>
              <p:cNvSpPr/>
              <p:nvPr/>
            </p:nvSpPr>
            <p:spPr>
              <a:xfrm>
                <a:off x="-145217" y="-337122"/>
                <a:ext cx="7449272" cy="1471805"/>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lnSpc>
                    <a:spcPct val="107000"/>
                  </a:lnSpc>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___________ is the difference between the highest data value and the lowest data value in a data set. It is a measure of variation.</a:t>
                </a:r>
                <a:r>
                  <a:rPr lang="en-US" sz="2000" dirty="0">
                    <a:solidFill>
                      <a:srgbClr val="6C993D"/>
                    </a:solidFill>
                    <a:latin typeface="Cambria" panose="02040503050406030204" pitchFamily="18"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pSp>
      </p:grpSp>
      <p:grpSp>
        <p:nvGrpSpPr>
          <p:cNvPr id="28" name="Group 27">
            <a:extLst>
              <a:ext uri="{FF2B5EF4-FFF2-40B4-BE49-F238E27FC236}">
                <a16:creationId xmlns:a16="http://schemas.microsoft.com/office/drawing/2014/main" id="{B2DBAD7B-EA50-6145-992F-A140877A2A76}"/>
              </a:ext>
            </a:extLst>
          </p:cNvPr>
          <p:cNvGrpSpPr/>
          <p:nvPr/>
        </p:nvGrpSpPr>
        <p:grpSpPr>
          <a:xfrm>
            <a:off x="1984730" y="4135640"/>
            <a:ext cx="7256404" cy="1550035"/>
            <a:chOff x="1936983" y="3329150"/>
            <a:chExt cx="6817995" cy="1319000"/>
          </a:xfrm>
        </p:grpSpPr>
        <p:sp>
          <p:nvSpPr>
            <p:cNvPr id="30" name="Rectangle 29">
              <a:extLst>
                <a:ext uri="{FF2B5EF4-FFF2-40B4-BE49-F238E27FC236}">
                  <a16:creationId xmlns:a16="http://schemas.microsoft.com/office/drawing/2014/main" id="{AD6B142D-0B63-E94B-9DB9-A92C9A8FFF35}"/>
                </a:ext>
              </a:extLst>
            </p:cNvPr>
            <p:cNvSpPr/>
            <p:nvPr/>
          </p:nvSpPr>
          <p:spPr>
            <a:xfrm>
              <a:off x="1936983" y="3329150"/>
              <a:ext cx="6817975" cy="1319000"/>
            </a:xfrm>
            <a:prstGeom prst="rect">
              <a:avLst/>
            </a:prstGeom>
            <a:noFill/>
            <a:ln>
              <a:noFill/>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32" name="Rectangle 31">
              <a:extLst>
                <a:ext uri="{FF2B5EF4-FFF2-40B4-BE49-F238E27FC236}">
                  <a16:creationId xmlns:a16="http://schemas.microsoft.com/office/drawing/2014/main" id="{E966E97C-8B92-4D45-B41C-FE1E0B075127}"/>
                </a:ext>
              </a:extLst>
            </p:cNvPr>
            <p:cNvSpPr/>
            <p:nvPr/>
          </p:nvSpPr>
          <p:spPr>
            <a:xfrm>
              <a:off x="1937003" y="3329150"/>
              <a:ext cx="6817975" cy="901700"/>
            </a:xfrm>
            <a:prstGeom prst="rect">
              <a:avLst/>
            </a:prstGeom>
            <a:noFill/>
            <a:ln>
              <a:noFill/>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pic>
        <p:nvPicPr>
          <p:cNvPr id="42" name="Picture 41" descr="Icon&#10;&#10;Description automatically generated">
            <a:extLst>
              <a:ext uri="{FF2B5EF4-FFF2-40B4-BE49-F238E27FC236}">
                <a16:creationId xmlns:a16="http://schemas.microsoft.com/office/drawing/2014/main" id="{6D9986F3-F30B-CD41-B1B2-A25758FF298A}"/>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339218" y="2696002"/>
            <a:ext cx="548640" cy="548640"/>
          </a:xfrm>
          <a:prstGeom prst="rect">
            <a:avLst/>
          </a:prstGeom>
          <a:noFill/>
          <a:ln>
            <a:noFill/>
          </a:ln>
          <a:effectLst>
            <a:outerShdw blurRad="50800" dist="38100" dir="2700000" algn="tl" rotWithShape="0">
              <a:prstClr val="black">
                <a:alpha val="40000"/>
              </a:prstClr>
            </a:outerShdw>
          </a:effectLst>
        </p:spPr>
      </p:pic>
      <p:pic>
        <p:nvPicPr>
          <p:cNvPr id="43" name="Picture 42" descr="Icon&#10;&#10;Description automatically generated">
            <a:extLst>
              <a:ext uri="{FF2B5EF4-FFF2-40B4-BE49-F238E27FC236}">
                <a16:creationId xmlns:a16="http://schemas.microsoft.com/office/drawing/2014/main" id="{C16C3E3F-31D6-624C-B279-5791E7281909}"/>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384627" y="4592398"/>
            <a:ext cx="548640" cy="54864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2130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2DBAD7B-EA50-6145-992F-A140877A2A76}"/>
              </a:ext>
            </a:extLst>
          </p:cNvPr>
          <p:cNvGrpSpPr/>
          <p:nvPr/>
        </p:nvGrpSpPr>
        <p:grpSpPr>
          <a:xfrm>
            <a:off x="2016240" y="1613858"/>
            <a:ext cx="7676169" cy="2271714"/>
            <a:chOff x="1757448" y="2715038"/>
            <a:chExt cx="7212399" cy="1933112"/>
          </a:xfrm>
        </p:grpSpPr>
        <p:sp>
          <p:nvSpPr>
            <p:cNvPr id="3" name="Rectangle 2">
              <a:extLst>
                <a:ext uri="{FF2B5EF4-FFF2-40B4-BE49-F238E27FC236}">
                  <a16:creationId xmlns:a16="http://schemas.microsoft.com/office/drawing/2014/main" id="{AD6B142D-0B63-E94B-9DB9-A92C9A8FFF35}"/>
                </a:ext>
              </a:extLst>
            </p:cNvPr>
            <p:cNvSpPr/>
            <p:nvPr/>
          </p:nvSpPr>
          <p:spPr>
            <a:xfrm>
              <a:off x="1936983" y="3329150"/>
              <a:ext cx="6817975" cy="1319000"/>
            </a:xfrm>
            <a:prstGeom prst="rect">
              <a:avLst/>
            </a:prstGeom>
            <a:noFill/>
            <a:ln>
              <a:noFill/>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4" name="Group 3">
              <a:extLst>
                <a:ext uri="{FF2B5EF4-FFF2-40B4-BE49-F238E27FC236}">
                  <a16:creationId xmlns:a16="http://schemas.microsoft.com/office/drawing/2014/main" id="{66D65EDD-8D74-4747-BC48-E3F0DB8BFE02}"/>
                </a:ext>
              </a:extLst>
            </p:cNvPr>
            <p:cNvGrpSpPr/>
            <p:nvPr/>
          </p:nvGrpSpPr>
          <p:grpSpPr>
            <a:xfrm>
              <a:off x="1757448" y="2715038"/>
              <a:ext cx="7212399" cy="1515812"/>
              <a:chOff x="-179555" y="-614112"/>
              <a:chExt cx="7212399" cy="1515812"/>
            </a:xfrm>
          </p:grpSpPr>
          <p:sp>
            <p:nvSpPr>
              <p:cNvPr id="5" name="Rectangle 4">
                <a:extLst>
                  <a:ext uri="{FF2B5EF4-FFF2-40B4-BE49-F238E27FC236}">
                    <a16:creationId xmlns:a16="http://schemas.microsoft.com/office/drawing/2014/main" id="{E966E97C-8B92-4D45-B41C-FE1E0B075127}"/>
                  </a:ext>
                </a:extLst>
              </p:cNvPr>
              <p:cNvSpPr/>
              <p:nvPr/>
            </p:nvSpPr>
            <p:spPr>
              <a:xfrm>
                <a:off x="0" y="0"/>
                <a:ext cx="6817975" cy="901700"/>
              </a:xfrm>
              <a:prstGeom prst="rect">
                <a:avLst/>
              </a:prstGeom>
              <a:noFill/>
              <a:ln>
                <a:noFill/>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6" name="Rounded Rectangle 5">
                <a:extLst>
                  <a:ext uri="{FF2B5EF4-FFF2-40B4-BE49-F238E27FC236}">
                    <a16:creationId xmlns:a16="http://schemas.microsoft.com/office/drawing/2014/main" id="{65E05FF8-147A-2F4B-A751-A7BFA6404EFF}"/>
                  </a:ext>
                </a:extLst>
              </p:cNvPr>
              <p:cNvSpPr/>
              <p:nvPr/>
            </p:nvSpPr>
            <p:spPr>
              <a:xfrm>
                <a:off x="-179555" y="-614112"/>
                <a:ext cx="7212399" cy="1414734"/>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indent="-6350">
                  <a:lnSpc>
                    <a:spcPct val="107000"/>
                  </a:lnSpc>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measure of variation in a set of numerical data, the </a:t>
                </a:r>
                <a:r>
                  <a:rPr lang="en-US" sz="2000" i="1" dirty="0">
                    <a:solidFill>
                      <a:srgbClr val="6C993D"/>
                    </a:solidFill>
                    <a:latin typeface="Verdana" panose="020B0604030504040204" pitchFamily="34" charset="0"/>
                    <a:ea typeface="Verdana" panose="020B0604030504040204" pitchFamily="34" charset="0"/>
                    <a:cs typeface="Verdana" panose="020B0604030504040204" pitchFamily="34" charset="0"/>
                  </a:rPr>
                  <a:t>__________________</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the distance between the first and third quartiles of the data set.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pSp>
      </p:grpSp>
      <p:pic>
        <p:nvPicPr>
          <p:cNvPr id="7" name="Picture 6" descr="Icon&#10;&#10;Description automatically generated">
            <a:extLst>
              <a:ext uri="{FF2B5EF4-FFF2-40B4-BE49-F238E27FC236}">
                <a16:creationId xmlns:a16="http://schemas.microsoft.com/office/drawing/2014/main" id="{0CD39B72-31CC-E44A-AB2D-A1C971B2D01C}"/>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2189675" y="1841089"/>
            <a:ext cx="548640" cy="548640"/>
          </a:xfrm>
          <a:prstGeom prst="rect">
            <a:avLst/>
          </a:prstGeom>
          <a:noFill/>
          <a:ln>
            <a:noFill/>
          </a:ln>
          <a:effectLst>
            <a:outerShdw blurRad="50800" dist="38100" dir="2700000" algn="tl" rotWithShape="0">
              <a:prstClr val="black">
                <a:alpha val="40000"/>
              </a:prstClr>
            </a:outerShdw>
          </a:effectLst>
        </p:spPr>
      </p:pic>
      <p:grpSp>
        <p:nvGrpSpPr>
          <p:cNvPr id="8" name="Group 7">
            <a:extLst>
              <a:ext uri="{FF2B5EF4-FFF2-40B4-BE49-F238E27FC236}">
                <a16:creationId xmlns:a16="http://schemas.microsoft.com/office/drawing/2014/main" id="{9FDC400B-5FEF-7D4B-8232-8E418F1F8A00}"/>
              </a:ext>
            </a:extLst>
          </p:cNvPr>
          <p:cNvGrpSpPr/>
          <p:nvPr/>
        </p:nvGrpSpPr>
        <p:grpSpPr>
          <a:xfrm>
            <a:off x="2016240" y="1438657"/>
            <a:ext cx="8674459" cy="4735337"/>
            <a:chOff x="1504405" y="3214799"/>
            <a:chExt cx="7279073" cy="4737450"/>
          </a:xfrm>
        </p:grpSpPr>
        <p:sp>
          <p:nvSpPr>
            <p:cNvPr id="9" name="Rectangle 8">
              <a:extLst>
                <a:ext uri="{FF2B5EF4-FFF2-40B4-BE49-F238E27FC236}">
                  <a16:creationId xmlns:a16="http://schemas.microsoft.com/office/drawing/2014/main" id="{D5A03A2A-92ED-2F49-82F7-C784C5C6F48A}"/>
                </a:ext>
              </a:extLst>
            </p:cNvPr>
            <p:cNvSpPr/>
            <p:nvPr/>
          </p:nvSpPr>
          <p:spPr>
            <a:xfrm>
              <a:off x="1937003" y="3214799"/>
              <a:ext cx="6846475" cy="2032900"/>
            </a:xfrm>
            <a:prstGeom prst="rect">
              <a:avLst/>
            </a:prstGeom>
            <a:noFill/>
            <a:ln>
              <a:noFill/>
            </a:ln>
          </p:spPr>
          <p:txBody>
            <a:bodyPr spcFirstLastPara="1" wrap="square" lIns="91425" tIns="91425" rIns="91425" bIns="91425" anchor="ctr" anchorCtr="0">
              <a:noAutofit/>
            </a:bodyPr>
            <a:lstStyle/>
            <a:p>
              <a:r>
                <a:rPr lang="en-US" sz="1200">
                  <a:solidFill>
                    <a:srgbClr val="6C993D"/>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id="{2FC6EF1A-815E-3546-BB96-DDAD188D6B12}"/>
                </a:ext>
              </a:extLst>
            </p:cNvPr>
            <p:cNvGrpSpPr/>
            <p:nvPr/>
          </p:nvGrpSpPr>
          <p:grpSpPr>
            <a:xfrm>
              <a:off x="1504405" y="3329150"/>
              <a:ext cx="7250573" cy="4623099"/>
              <a:chOff x="-432598" y="0"/>
              <a:chExt cx="7250573" cy="4623099"/>
            </a:xfrm>
          </p:grpSpPr>
          <p:sp>
            <p:nvSpPr>
              <p:cNvPr id="11" name="Rectangle 10">
                <a:extLst>
                  <a:ext uri="{FF2B5EF4-FFF2-40B4-BE49-F238E27FC236}">
                    <a16:creationId xmlns:a16="http://schemas.microsoft.com/office/drawing/2014/main" id="{EEBB80E7-E1D6-934D-8CF1-B85E0C8EF016}"/>
                  </a:ext>
                </a:extLst>
              </p:cNvPr>
              <p:cNvSpPr/>
              <p:nvPr/>
            </p:nvSpPr>
            <p:spPr>
              <a:xfrm>
                <a:off x="0" y="0"/>
                <a:ext cx="6817975" cy="901700"/>
              </a:xfrm>
              <a:prstGeom prst="rect">
                <a:avLst/>
              </a:prstGeom>
              <a:noFill/>
              <a:ln>
                <a:noFill/>
              </a:ln>
            </p:spPr>
            <p:txBody>
              <a:bodyPr spcFirstLastPara="1" wrap="square" lIns="91425" tIns="91425" rIns="91425" bIns="91425" anchor="ctr" anchorCtr="0">
                <a:noAutofit/>
              </a:bodyPr>
              <a:lstStyle/>
              <a:p>
                <a:r>
                  <a:rPr lang="en-US" sz="1200">
                    <a:solidFill>
                      <a:srgbClr val="6C993D"/>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2" name="Rounded Rectangle 11">
                <a:extLst>
                  <a:ext uri="{FF2B5EF4-FFF2-40B4-BE49-F238E27FC236}">
                    <a16:creationId xmlns:a16="http://schemas.microsoft.com/office/drawing/2014/main" id="{B72A0A22-C7B4-4241-B206-EE17ED9E6F3B}"/>
                  </a:ext>
                </a:extLst>
              </p:cNvPr>
              <p:cNvSpPr/>
              <p:nvPr/>
            </p:nvSpPr>
            <p:spPr>
              <a:xfrm>
                <a:off x="-432598" y="2164660"/>
                <a:ext cx="6588462" cy="2458439"/>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28650">
                  <a:lnSpc>
                    <a:spcPct val="107000"/>
                  </a:lnSpc>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___________ is the middle of an ordered list of the values. If the list has an odd number of values, it is the middle value of that list. If the list has an even number of values, it is the average of the two middle values. It is a measure of center, or central tendency.</a:t>
                </a:r>
                <a:r>
                  <a:rPr lang="en-US" sz="2000" dirty="0">
                    <a:solidFill>
                      <a:srgbClr val="6C993D"/>
                    </a:solidFill>
                    <a:latin typeface="Cambria" panose="02040503050406030204" pitchFamily="18"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pSp>
      </p:grpSp>
      <p:pic>
        <p:nvPicPr>
          <p:cNvPr id="13" name="Picture 12" descr="Icon&#10;&#10;Description automatically generated">
            <a:extLst>
              <a:ext uri="{FF2B5EF4-FFF2-40B4-BE49-F238E27FC236}">
                <a16:creationId xmlns:a16="http://schemas.microsoft.com/office/drawing/2014/main" id="{56339135-C469-4B4C-93B9-A985E46C4F63}"/>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2171684" y="3885572"/>
            <a:ext cx="548640" cy="548640"/>
          </a:xfrm>
          <a:prstGeom prst="rect">
            <a:avLst/>
          </a:prstGeom>
          <a:noFill/>
          <a:ln>
            <a:noFill/>
          </a:ln>
          <a:effectLst>
            <a:outerShdw blurRad="50800" dist="38100" dir="2700000" algn="tl" rotWithShape="0">
              <a:prstClr val="black">
                <a:alpha val="40000"/>
              </a:prstClr>
            </a:outerShdw>
          </a:effectLst>
        </p:spPr>
      </p:pic>
      <p:sp>
        <p:nvSpPr>
          <p:cNvPr id="17"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8"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234</a:t>
            </a:r>
          </a:p>
        </p:txBody>
      </p:sp>
      <p:pic>
        <p:nvPicPr>
          <p:cNvPr id="1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grpSp>
        <p:nvGrpSpPr>
          <p:cNvPr id="20" name="Group 19">
            <a:extLst>
              <a:ext uri="{FF2B5EF4-FFF2-40B4-BE49-F238E27FC236}">
                <a16:creationId xmlns:a16="http://schemas.microsoft.com/office/drawing/2014/main" id="{4243BD59-E36E-387F-B758-D3DA7E5527F2}"/>
              </a:ext>
            </a:extLst>
          </p:cNvPr>
          <p:cNvGrpSpPr/>
          <p:nvPr/>
        </p:nvGrpSpPr>
        <p:grpSpPr>
          <a:xfrm>
            <a:off x="1504779" y="256595"/>
            <a:ext cx="8744226" cy="678320"/>
            <a:chOff x="33257" y="-66471"/>
            <a:chExt cx="2308277" cy="1472521"/>
          </a:xfrm>
        </p:grpSpPr>
        <p:sp>
          <p:nvSpPr>
            <p:cNvPr id="21" name="Rectangle: Rounded Corners 22">
              <a:extLst>
                <a:ext uri="{FF2B5EF4-FFF2-40B4-BE49-F238E27FC236}">
                  <a16:creationId xmlns:a16="http://schemas.microsoft.com/office/drawing/2014/main" id="{53A6E54E-3F1B-9BC2-382F-75727D2CC8D2}"/>
                </a:ext>
              </a:extLst>
            </p:cNvPr>
            <p:cNvSpPr/>
            <p:nvPr/>
          </p:nvSpPr>
          <p:spPr>
            <a:xfrm>
              <a:off x="173772" y="-66471"/>
              <a:ext cx="2055392" cy="1285875"/>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 name="Text Box 24">
              <a:extLst>
                <a:ext uri="{FF2B5EF4-FFF2-40B4-BE49-F238E27FC236}">
                  <a16:creationId xmlns:a16="http://schemas.microsoft.com/office/drawing/2014/main" id="{845FB12C-9EC6-10CB-38EB-14572DEF2764}"/>
                </a:ext>
              </a:extLst>
            </p:cNvPr>
            <p:cNvSpPr txBox="1"/>
            <p:nvPr/>
          </p:nvSpPr>
          <p:spPr>
            <a:xfrm>
              <a:off x="33257" y="186850"/>
              <a:ext cx="2308277" cy="12192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457200"/>
              <a:r>
                <a:rPr lang="en-US" sz="1800" dirty="0">
                  <a:latin typeface="Verdana" panose="020B0604030504040204" pitchFamily="34" charset="0"/>
                  <a:ea typeface="Times New Roman" panose="02020603050405020304" pitchFamily="18" charset="0"/>
                  <a:cs typeface="Times New Roman" panose="02020603050405020304" pitchFamily="18" charset="0"/>
                </a:rPr>
                <a:t>     mean	    range         median	       interquartile range(IQR)</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marL="457200"/>
              <a:r>
                <a:rPr lang="en-US" sz="1800" dirty="0">
                  <a:latin typeface="Verdana" panose="020B0604030504040204" pitchFamily="34" charset="0"/>
                  <a:ea typeface="Times New Roman" panose="02020603050405020304" pitchFamily="18" charset="0"/>
                  <a:cs typeface="Times New Roman" panose="02020603050405020304" pitchFamily="18" charset="0"/>
                </a:rPr>
                <a:t>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marL="457200">
                <a:spcAft>
                  <a:spcPts val="1000"/>
                </a:spcAft>
              </a:pPr>
              <a:r>
                <a:rPr lang="en-US" sz="1800" dirty="0">
                  <a:latin typeface="Verdana" panose="020B0604030504040204" pitchFamily="34" charset="0"/>
                  <a:ea typeface="Times New Roman" panose="02020603050405020304" pitchFamily="18" charset="0"/>
                  <a:cs typeface="Times New Roman" panose="02020603050405020304" pitchFamily="18" charset="0"/>
                </a:rPr>
                <a:t>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570545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4893647"/>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Suppose an office tracks the number of phone calls received on business days, Monday through Friday, over two weeks. The data set is shown below.</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what you notice about the data set.</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F0451F0-FBBA-1F48-BF40-A83392E3D3B0}"/>
                  </a:ext>
                </a:extLst>
              </p:cNvPr>
              <p:cNvGraphicFramePr>
                <a:graphicFrameLocks noGrp="1"/>
              </p:cNvGraphicFramePr>
              <p:nvPr>
                <p:extLst>
                  <p:ext uri="{D42A27DB-BD31-4B8C-83A1-F6EECF244321}">
                    <p14:modId xmlns:p14="http://schemas.microsoft.com/office/powerpoint/2010/main" val="1360315725"/>
                  </p:ext>
                </p:extLst>
              </p:nvPr>
            </p:nvGraphicFramePr>
            <p:xfrm>
              <a:off x="3688910" y="2078151"/>
              <a:ext cx="4942840" cy="756920"/>
            </p:xfrm>
            <a:graphic>
              <a:graphicData uri="http://schemas.openxmlformats.org/drawingml/2006/table">
                <a:tbl>
                  <a:tblPr firstRow="1" firstCol="1" bandRow="1">
                    <a:tableStyleId>{A91F0D33-8C57-4600-99A7-42BC86742BE1}</a:tableStyleId>
                  </a:tblPr>
                  <a:tblGrid>
                    <a:gridCol w="988060">
                      <a:extLst>
                        <a:ext uri="{9D8B030D-6E8A-4147-A177-3AD203B41FA5}">
                          <a16:colId xmlns:a16="http://schemas.microsoft.com/office/drawing/2014/main" val="2652348259"/>
                        </a:ext>
                      </a:extLst>
                    </a:gridCol>
                    <a:gridCol w="988695">
                      <a:extLst>
                        <a:ext uri="{9D8B030D-6E8A-4147-A177-3AD203B41FA5}">
                          <a16:colId xmlns:a16="http://schemas.microsoft.com/office/drawing/2014/main" val="599570741"/>
                        </a:ext>
                      </a:extLst>
                    </a:gridCol>
                    <a:gridCol w="988695">
                      <a:extLst>
                        <a:ext uri="{9D8B030D-6E8A-4147-A177-3AD203B41FA5}">
                          <a16:colId xmlns:a16="http://schemas.microsoft.com/office/drawing/2014/main" val="4213913553"/>
                        </a:ext>
                      </a:extLst>
                    </a:gridCol>
                    <a:gridCol w="988695">
                      <a:extLst>
                        <a:ext uri="{9D8B030D-6E8A-4147-A177-3AD203B41FA5}">
                          <a16:colId xmlns:a16="http://schemas.microsoft.com/office/drawing/2014/main" val="1978406751"/>
                        </a:ext>
                      </a:extLst>
                    </a:gridCol>
                    <a:gridCol w="988695">
                      <a:extLst>
                        <a:ext uri="{9D8B030D-6E8A-4147-A177-3AD203B41FA5}">
                          <a16:colId xmlns:a16="http://schemas.microsoft.com/office/drawing/2014/main" val="3987342245"/>
                        </a:ext>
                      </a:extLst>
                    </a:gridCol>
                  </a:tblGrid>
                  <a:tr h="3784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183</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165</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58</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152</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179</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66898820"/>
                      </a:ext>
                    </a:extLst>
                  </a:tr>
                  <a:tr h="3784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152</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153</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135</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124</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112</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4923063"/>
                      </a:ext>
                    </a:extLst>
                  </a:tr>
                </a:tbl>
              </a:graphicData>
            </a:graphic>
          </p:graphicFrame>
        </mc:Choice>
        <mc:Fallback xmlns="">
          <p:graphicFrame>
            <p:nvGraphicFramePr>
              <p:cNvPr id="2" name="Table 1">
                <a:extLst>
                  <a:ext uri="{FF2B5EF4-FFF2-40B4-BE49-F238E27FC236}">
                    <a16:creationId xmlns:a16="http://schemas.microsoft.com/office/drawing/2014/main" id="{FF0451F0-FBBA-1F48-BF40-A83392E3D3B0}"/>
                  </a:ext>
                </a:extLst>
              </p:cNvPr>
              <p:cNvGraphicFramePr>
                <a:graphicFrameLocks noGrp="1"/>
              </p:cNvGraphicFramePr>
              <p:nvPr>
                <p:extLst>
                  <p:ext uri="{D42A27DB-BD31-4B8C-83A1-F6EECF244321}">
                    <p14:modId xmlns:p14="http://schemas.microsoft.com/office/powerpoint/2010/main" val="1360315725"/>
                  </p:ext>
                </p:extLst>
              </p:nvPr>
            </p:nvGraphicFramePr>
            <p:xfrm>
              <a:off x="3688910" y="2078151"/>
              <a:ext cx="4942840" cy="756920"/>
            </p:xfrm>
            <a:graphic>
              <a:graphicData uri="http://schemas.openxmlformats.org/drawingml/2006/table">
                <a:tbl>
                  <a:tblPr firstRow="1" firstCol="1" bandRow="1">
                    <a:tableStyleId>{A91F0D33-8C57-4600-99A7-42BC86742BE1}</a:tableStyleId>
                  </a:tblPr>
                  <a:tblGrid>
                    <a:gridCol w="988060">
                      <a:extLst>
                        <a:ext uri="{9D8B030D-6E8A-4147-A177-3AD203B41FA5}">
                          <a16:colId xmlns:a16="http://schemas.microsoft.com/office/drawing/2014/main" val="2652348259"/>
                        </a:ext>
                      </a:extLst>
                    </a:gridCol>
                    <a:gridCol w="988695">
                      <a:extLst>
                        <a:ext uri="{9D8B030D-6E8A-4147-A177-3AD203B41FA5}">
                          <a16:colId xmlns:a16="http://schemas.microsoft.com/office/drawing/2014/main" val="599570741"/>
                        </a:ext>
                      </a:extLst>
                    </a:gridCol>
                    <a:gridCol w="988695">
                      <a:extLst>
                        <a:ext uri="{9D8B030D-6E8A-4147-A177-3AD203B41FA5}">
                          <a16:colId xmlns:a16="http://schemas.microsoft.com/office/drawing/2014/main" val="4213913553"/>
                        </a:ext>
                      </a:extLst>
                    </a:gridCol>
                    <a:gridCol w="988695">
                      <a:extLst>
                        <a:ext uri="{9D8B030D-6E8A-4147-A177-3AD203B41FA5}">
                          <a16:colId xmlns:a16="http://schemas.microsoft.com/office/drawing/2014/main" val="1978406751"/>
                        </a:ext>
                      </a:extLst>
                    </a:gridCol>
                    <a:gridCol w="988695">
                      <a:extLst>
                        <a:ext uri="{9D8B030D-6E8A-4147-A177-3AD203B41FA5}">
                          <a16:colId xmlns:a16="http://schemas.microsoft.com/office/drawing/2014/main" val="3987342245"/>
                        </a:ext>
                      </a:extLst>
                    </a:gridCol>
                  </a:tblGrid>
                  <a:tr h="378460">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617" t="-1587" r="-402469" b="-103175"/>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0617" t="-1587" r="-302469" b="-103175"/>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99387" t="-1587" r="-200613" b="-103175"/>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01235" t="-1587" r="-101852" b="-103175"/>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401235" t="-1587" r="-1852" b="-103175"/>
                          </a:stretch>
                        </a:blipFill>
                      </a:tcPr>
                    </a:tc>
                    <a:extLst>
                      <a:ext uri="{0D108BD9-81ED-4DB2-BD59-A6C34878D82A}">
                        <a16:rowId xmlns:a16="http://schemas.microsoft.com/office/drawing/2014/main" val="1766898820"/>
                      </a:ext>
                    </a:extLst>
                  </a:tr>
                  <a:tr h="378460">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617" t="-101587" r="-402469" b="-3175"/>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0617" t="-101587" r="-302469" b="-3175"/>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99387" t="-101587" r="-200613" b="-3175"/>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01235" t="-101587" r="-101852" b="-3175"/>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401235" t="-101587" r="-1852" b="-3175"/>
                          </a:stretch>
                        </a:blipFill>
                      </a:tcPr>
                    </a:tc>
                    <a:extLst>
                      <a:ext uri="{0D108BD9-81ED-4DB2-BD59-A6C34878D82A}">
                        <a16:rowId xmlns:a16="http://schemas.microsoft.com/office/drawing/2014/main" val="1124923063"/>
                      </a:ext>
                    </a:extLst>
                  </a:tr>
                </a:tbl>
              </a:graphicData>
            </a:graphic>
          </p:graphicFrame>
        </mc:Fallback>
      </mc:AlternateContent>
    </p:spTree>
    <p:extLst>
      <p:ext uri="{BB962C8B-B14F-4D97-AF65-F5344CB8AC3E}">
        <p14:creationId xmlns:p14="http://schemas.microsoft.com/office/powerpoint/2010/main" val="1574927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830997"/>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Match the measures of center and variation with their calculations for the data set above.</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A69E8656-0C56-8B46-91AB-DC32D4E1DBDF}"/>
                  </a:ext>
                </a:extLst>
              </p:cNvPr>
              <p:cNvGraphicFramePr>
                <a:graphicFrameLocks noGrp="1"/>
              </p:cNvGraphicFramePr>
              <p:nvPr>
                <p:extLst>
                  <p:ext uri="{D42A27DB-BD31-4B8C-83A1-F6EECF244321}">
                    <p14:modId xmlns:p14="http://schemas.microsoft.com/office/powerpoint/2010/main" val="2552837079"/>
                  </p:ext>
                </p:extLst>
              </p:nvPr>
            </p:nvGraphicFramePr>
            <p:xfrm>
              <a:off x="1866803" y="2820146"/>
              <a:ext cx="8609061" cy="2905760"/>
            </p:xfrm>
            <a:graphic>
              <a:graphicData uri="http://schemas.openxmlformats.org/drawingml/2006/table">
                <a:tbl>
                  <a:tblPr firstRow="1" firstCol="1" bandRow="1">
                    <a:tableStyleId>{A91F0D33-8C57-4600-99A7-42BC86742BE1}</a:tableStyleId>
                  </a:tblPr>
                  <a:tblGrid>
                    <a:gridCol w="624507">
                      <a:extLst>
                        <a:ext uri="{9D8B030D-6E8A-4147-A177-3AD203B41FA5}">
                          <a16:colId xmlns:a16="http://schemas.microsoft.com/office/drawing/2014/main" val="31958853"/>
                        </a:ext>
                      </a:extLst>
                    </a:gridCol>
                    <a:gridCol w="7984554">
                      <a:extLst>
                        <a:ext uri="{9D8B030D-6E8A-4147-A177-3AD203B41FA5}">
                          <a16:colId xmlns:a16="http://schemas.microsoft.com/office/drawing/2014/main" val="59097032"/>
                        </a:ext>
                      </a:extLst>
                    </a:gridCol>
                  </a:tblGrid>
                  <a:tr h="726440">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en-US" sz="2000" i="1">
                                      <a:effectLst/>
                                      <a:latin typeface="Cambria Math" panose="02040503050406030204" pitchFamily="18" charset="0"/>
                                    </a:rPr>
                                  </m:ctrlPr>
                                </m:fPr>
                                <m:num>
                                  <m:r>
                                    <a:rPr lang="en-US" sz="2000">
                                      <a:effectLst/>
                                      <a:latin typeface="Cambria Math" panose="02040503050406030204" pitchFamily="18" charset="0"/>
                                    </a:rPr>
                                    <m:t>152+152</m:t>
                                  </m:r>
                                </m:num>
                                <m:den>
                                  <m:r>
                                    <a:rPr lang="en-US" sz="2000">
                                      <a:effectLst/>
                                      <a:latin typeface="Cambria Math" panose="02040503050406030204" pitchFamily="18" charset="0"/>
                                    </a:rPr>
                                    <m:t>2</m:t>
                                  </m:r>
                                </m:den>
                              </m:f>
                              <m:r>
                                <a:rPr lang="en-US" sz="2000">
                                  <a:effectLst/>
                                  <a:latin typeface="Cambria Math" panose="02040503050406030204" pitchFamily="18" charset="0"/>
                                </a:rPr>
                                <m:t>=152</m:t>
                              </m:r>
                            </m:oMath>
                          </a14:m>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7686550"/>
                      </a:ext>
                    </a:extLst>
                  </a:tr>
                  <a:tr h="726440">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165−124=41</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4688008"/>
                      </a:ext>
                    </a:extLst>
                  </a:tr>
                  <a:tr h="726440">
                    <a:tc>
                      <a:txBody>
                        <a:bodyPr/>
                        <a:lstStyle/>
                        <a:p>
                          <a:pPr marL="68580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rPr>
                                    </m:ctrlPr>
                                  </m:fPr>
                                  <m:num>
                                    <m:r>
                                      <a:rPr lang="en-US" sz="2000">
                                        <a:effectLst/>
                                        <a:latin typeface="Cambria Math" panose="02040503050406030204" pitchFamily="18" charset="0"/>
                                      </a:rPr>
                                      <m:t>183+165+58+152+179+152+153+135+124+112</m:t>
                                    </m:r>
                                  </m:num>
                                  <m:den>
                                    <m:r>
                                      <a:rPr lang="en-US" sz="2000">
                                        <a:effectLst/>
                                        <a:latin typeface="Cambria Math" panose="02040503050406030204" pitchFamily="18" charset="0"/>
                                      </a:rPr>
                                      <m:t>10</m:t>
                                    </m:r>
                                  </m:den>
                                </m:f>
                                <m:r>
                                  <a:rPr lang="en-US" sz="2000">
                                    <a:effectLst/>
                                    <a:latin typeface="Cambria Math" panose="02040503050406030204" pitchFamily="18" charset="0"/>
                                  </a:rPr>
                                  <m:t>=141.3</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2318201"/>
                      </a:ext>
                    </a:extLst>
                  </a:tr>
                  <a:tr h="726440">
                    <a:tc>
                      <a:txBody>
                        <a:bodyPr/>
                        <a:lstStyle/>
                        <a:p>
                          <a:pPr marL="68580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183−58=125</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9693789"/>
                      </a:ext>
                    </a:extLst>
                  </a:tr>
                </a:tbl>
              </a:graphicData>
            </a:graphic>
          </p:graphicFrame>
        </mc:Choice>
        <mc:Fallback xmlns="">
          <p:graphicFrame>
            <p:nvGraphicFramePr>
              <p:cNvPr id="2" name="Table 1">
                <a:extLst>
                  <a:ext uri="{FF2B5EF4-FFF2-40B4-BE49-F238E27FC236}">
                    <a16:creationId xmlns:a16="http://schemas.microsoft.com/office/drawing/2014/main" id="{A69E8656-0C56-8B46-91AB-DC32D4E1DBDF}"/>
                  </a:ext>
                </a:extLst>
              </p:cNvPr>
              <p:cNvGraphicFramePr>
                <a:graphicFrameLocks noGrp="1"/>
              </p:cNvGraphicFramePr>
              <p:nvPr>
                <p:extLst>
                  <p:ext uri="{D42A27DB-BD31-4B8C-83A1-F6EECF244321}">
                    <p14:modId xmlns:p14="http://schemas.microsoft.com/office/powerpoint/2010/main" val="2552837079"/>
                  </p:ext>
                </p:extLst>
              </p:nvPr>
            </p:nvGraphicFramePr>
            <p:xfrm>
              <a:off x="1866803" y="2820146"/>
              <a:ext cx="8609061" cy="2905760"/>
            </p:xfrm>
            <a:graphic>
              <a:graphicData uri="http://schemas.openxmlformats.org/drawingml/2006/table">
                <a:tbl>
                  <a:tblPr firstRow="1" firstCol="1" bandRow="1">
                    <a:tableStyleId>{A91F0D33-8C57-4600-99A7-42BC86742BE1}</a:tableStyleId>
                  </a:tblPr>
                  <a:tblGrid>
                    <a:gridCol w="624507">
                      <a:extLst>
                        <a:ext uri="{9D8B030D-6E8A-4147-A177-3AD203B41FA5}">
                          <a16:colId xmlns:a16="http://schemas.microsoft.com/office/drawing/2014/main" val="31958853"/>
                        </a:ext>
                      </a:extLst>
                    </a:gridCol>
                    <a:gridCol w="7984554">
                      <a:extLst>
                        <a:ext uri="{9D8B030D-6E8A-4147-A177-3AD203B41FA5}">
                          <a16:colId xmlns:a16="http://schemas.microsoft.com/office/drawing/2014/main" val="59097032"/>
                        </a:ext>
                      </a:extLst>
                    </a:gridCol>
                  </a:tblGrid>
                  <a:tr h="726440">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778" t="-1754" r="-317" b="-305263"/>
                          </a:stretch>
                        </a:blipFill>
                      </a:tcPr>
                    </a:tc>
                    <a:extLst>
                      <a:ext uri="{0D108BD9-81ED-4DB2-BD59-A6C34878D82A}">
                        <a16:rowId xmlns:a16="http://schemas.microsoft.com/office/drawing/2014/main" val="487686550"/>
                      </a:ext>
                    </a:extLst>
                  </a:tr>
                  <a:tr h="726440">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778" t="-100000" r="-317" b="-200000"/>
                          </a:stretch>
                        </a:blipFill>
                      </a:tcPr>
                    </a:tc>
                    <a:extLst>
                      <a:ext uri="{0D108BD9-81ED-4DB2-BD59-A6C34878D82A}">
                        <a16:rowId xmlns:a16="http://schemas.microsoft.com/office/drawing/2014/main" val="1124688008"/>
                      </a:ext>
                    </a:extLst>
                  </a:tr>
                  <a:tr h="726440">
                    <a:tc>
                      <a:txBody>
                        <a:bodyPr/>
                        <a:lstStyle/>
                        <a:p>
                          <a:pPr marL="68580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778" t="-203509" r="-317" b="-103509"/>
                          </a:stretch>
                        </a:blipFill>
                      </a:tcPr>
                    </a:tc>
                    <a:extLst>
                      <a:ext uri="{0D108BD9-81ED-4DB2-BD59-A6C34878D82A}">
                        <a16:rowId xmlns:a16="http://schemas.microsoft.com/office/drawing/2014/main" val="1302318201"/>
                      </a:ext>
                    </a:extLst>
                  </a:tr>
                  <a:tr h="726440">
                    <a:tc>
                      <a:txBody>
                        <a:bodyPr/>
                        <a:lstStyle/>
                        <a:p>
                          <a:pPr marL="68580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778" t="-303509" r="-317" b="-3509"/>
                          </a:stretch>
                        </a:blipFill>
                      </a:tcPr>
                    </a:tc>
                    <a:extLst>
                      <a:ext uri="{0D108BD9-81ED-4DB2-BD59-A6C34878D82A}">
                        <a16:rowId xmlns:a16="http://schemas.microsoft.com/office/drawing/2014/main" val="3439693789"/>
                      </a:ext>
                    </a:extLst>
                  </a:tr>
                </a:tbl>
              </a:graphicData>
            </a:graphic>
          </p:graphicFrame>
        </mc:Fallback>
      </mc:AlternateContent>
      <p:graphicFrame>
        <p:nvGraphicFramePr>
          <p:cNvPr id="7" name="Table 6">
            <a:extLst>
              <a:ext uri="{FF2B5EF4-FFF2-40B4-BE49-F238E27FC236}">
                <a16:creationId xmlns:a16="http://schemas.microsoft.com/office/drawing/2014/main" id="{876FDF93-F08E-F348-AD86-6863DE42F0EB}"/>
              </a:ext>
            </a:extLst>
          </p:cNvPr>
          <p:cNvGraphicFramePr>
            <a:graphicFrameLocks noGrp="1"/>
          </p:cNvGraphicFramePr>
          <p:nvPr>
            <p:extLst>
              <p:ext uri="{D42A27DB-BD31-4B8C-83A1-F6EECF244321}">
                <p14:modId xmlns:p14="http://schemas.microsoft.com/office/powerpoint/2010/main" val="549323906"/>
              </p:ext>
            </p:extLst>
          </p:nvPr>
        </p:nvGraphicFramePr>
        <p:xfrm>
          <a:off x="2778442" y="1770243"/>
          <a:ext cx="6828790" cy="318135"/>
        </p:xfrm>
        <a:graphic>
          <a:graphicData uri="http://schemas.openxmlformats.org/drawingml/2006/table">
            <a:tbl>
              <a:tblPr firstRow="1" firstCol="1" bandRow="1">
                <a:tableStyleId>{A91F0D33-8C57-4600-99A7-42BC86742BE1}</a:tableStyleId>
              </a:tblPr>
              <a:tblGrid>
                <a:gridCol w="1706880">
                  <a:extLst>
                    <a:ext uri="{9D8B030D-6E8A-4147-A177-3AD203B41FA5}">
                      <a16:colId xmlns:a16="http://schemas.microsoft.com/office/drawing/2014/main" val="682248163"/>
                    </a:ext>
                  </a:extLst>
                </a:gridCol>
                <a:gridCol w="1706880">
                  <a:extLst>
                    <a:ext uri="{9D8B030D-6E8A-4147-A177-3AD203B41FA5}">
                      <a16:colId xmlns:a16="http://schemas.microsoft.com/office/drawing/2014/main" val="3792124647"/>
                    </a:ext>
                  </a:extLst>
                </a:gridCol>
                <a:gridCol w="1707515">
                  <a:extLst>
                    <a:ext uri="{9D8B030D-6E8A-4147-A177-3AD203B41FA5}">
                      <a16:colId xmlns:a16="http://schemas.microsoft.com/office/drawing/2014/main" val="4119192933"/>
                    </a:ext>
                  </a:extLst>
                </a:gridCol>
                <a:gridCol w="1707515">
                  <a:extLst>
                    <a:ext uri="{9D8B030D-6E8A-4147-A177-3AD203B41FA5}">
                      <a16:colId xmlns:a16="http://schemas.microsoft.com/office/drawing/2014/main" val="3548869435"/>
                    </a:ext>
                  </a:extLst>
                </a:gridCol>
              </a:tblGrid>
              <a:tr h="318135">
                <a:tc>
                  <a:txBody>
                    <a:bodyPr/>
                    <a:lstStyle/>
                    <a:p>
                      <a:pPr marL="342900" marR="0" lvl="0" indent="-342900" algn="l">
                        <a:spcBef>
                          <a:spcPts val="0"/>
                        </a:spcBef>
                        <a:spcAft>
                          <a:spcPts val="0"/>
                        </a:spcAft>
                        <a:buFont typeface="+mj-lt"/>
                        <a:buAutoNum type="alphaUcPeriod"/>
                      </a:pPr>
                      <a:r>
                        <a:rPr lang="en-US" sz="2000" dirty="0">
                          <a:effectLst/>
                          <a:latin typeface="Verdana" panose="020B0604030504040204" pitchFamily="34" charset="0"/>
                          <a:ea typeface="Verdana" panose="020B0604030504040204" pitchFamily="34" charset="0"/>
                          <a:cs typeface="Verdana" panose="020B0604030504040204" pitchFamily="34" charset="0"/>
                        </a:rPr>
                        <a:t>Mean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marR="0" lvl="0" indent="-457200" algn="l">
                        <a:spcBef>
                          <a:spcPts val="0"/>
                        </a:spcBef>
                        <a:spcAft>
                          <a:spcPts val="0"/>
                        </a:spcAft>
                        <a:buFont typeface="+mj-lt"/>
                        <a:buAutoNum type="alphaUcPeriod" startAt="2"/>
                      </a:pPr>
                      <a:r>
                        <a:rPr lang="en-US" sz="2000" dirty="0">
                          <a:effectLst/>
                          <a:latin typeface="Verdana" panose="020B0604030504040204" pitchFamily="34" charset="0"/>
                          <a:ea typeface="Verdana" panose="020B0604030504040204" pitchFamily="34" charset="0"/>
                          <a:cs typeface="Verdana" panose="020B0604030504040204" pitchFamily="34" charset="0"/>
                        </a:rPr>
                        <a:t>Median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marR="0" lvl="0" indent="-457200" algn="l">
                        <a:spcBef>
                          <a:spcPts val="0"/>
                        </a:spcBef>
                        <a:spcAft>
                          <a:spcPts val="0"/>
                        </a:spcAft>
                        <a:buFont typeface="+mj-lt"/>
                        <a:buAutoNum type="alphaUcPeriod" startAt="3"/>
                      </a:pPr>
                      <a:r>
                        <a:rPr lang="en-US" sz="2000" dirty="0">
                          <a:effectLst/>
                          <a:latin typeface="Verdana" panose="020B0604030504040204" pitchFamily="34" charset="0"/>
                          <a:ea typeface="Verdana" panose="020B0604030504040204" pitchFamily="34" charset="0"/>
                          <a:cs typeface="Verdana" panose="020B0604030504040204" pitchFamily="34" charset="0"/>
                        </a:rPr>
                        <a:t>Range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marR="0" lvl="0" indent="-457200" algn="l">
                        <a:spcBef>
                          <a:spcPts val="0"/>
                        </a:spcBef>
                        <a:spcAft>
                          <a:spcPts val="0"/>
                        </a:spcAft>
                        <a:buFont typeface="+mj-lt"/>
                        <a:buAutoNum type="alphaUcPeriod" startAt="4"/>
                      </a:pPr>
                      <a:r>
                        <a:rPr lang="en-US" sz="2000" dirty="0">
                          <a:effectLst/>
                          <a:latin typeface="Verdana" panose="020B0604030504040204" pitchFamily="34" charset="0"/>
                          <a:ea typeface="Verdana" panose="020B0604030504040204" pitchFamily="34" charset="0"/>
                          <a:cs typeface="Verdana" panose="020B0604030504040204" pitchFamily="34" charset="0"/>
                        </a:rPr>
                        <a:t>IQR</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1236387"/>
                  </a:ext>
                </a:extLst>
              </a:tr>
            </a:tbl>
          </a:graphicData>
        </a:graphic>
      </p:graphicFrame>
    </p:spTree>
    <p:extLst>
      <p:ext uri="{BB962C8B-B14F-4D97-AF65-F5344CB8AC3E}">
        <p14:creationId xmlns:p14="http://schemas.microsoft.com/office/powerpoint/2010/main" val="2980082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235</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220845"/>
            <a:ext cx="10515600" cy="830997"/>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A </a:t>
            </a:r>
            <a:r>
              <a:rPr lang="en-US" sz="2400" b="1" i="1" dirty="0">
                <a:latin typeface="Verdana" panose="020B0604030504040204" pitchFamily="34" charset="0"/>
                <a:ea typeface="Verdana" panose="020B0604030504040204" pitchFamily="34" charset="0"/>
                <a:cs typeface="Verdana" panose="020B0604030504040204" pitchFamily="34" charset="0"/>
              </a:rPr>
              <a:t>histogram</a:t>
            </a:r>
            <a:r>
              <a:rPr lang="en-US" sz="2400" dirty="0">
                <a:latin typeface="Verdana" panose="020B0604030504040204" pitchFamily="34" charset="0"/>
                <a:ea typeface="Verdana" panose="020B0604030504040204" pitchFamily="34" charset="0"/>
                <a:cs typeface="Verdana" panose="020B0604030504040204" pitchFamily="34" charset="0"/>
              </a:rPr>
              <a:t>, </a:t>
            </a:r>
            <a:r>
              <a:rPr lang="en-US" sz="2400" b="1" i="1" dirty="0">
                <a:latin typeface="Verdana" panose="020B0604030504040204" pitchFamily="34" charset="0"/>
                <a:ea typeface="Verdana" panose="020B0604030504040204" pitchFamily="34" charset="0"/>
                <a:cs typeface="Verdana" panose="020B0604030504040204" pitchFamily="34" charset="0"/>
              </a:rPr>
              <a:t>line plot</a:t>
            </a:r>
            <a:r>
              <a:rPr lang="en-US" sz="2400" dirty="0">
                <a:latin typeface="Verdana" panose="020B0604030504040204" pitchFamily="34" charset="0"/>
                <a:ea typeface="Verdana" panose="020B0604030504040204" pitchFamily="34" charset="0"/>
                <a:cs typeface="Verdana" panose="020B0604030504040204" pitchFamily="34" charset="0"/>
              </a:rPr>
              <a:t>, and </a:t>
            </a:r>
            <a:r>
              <a:rPr lang="en-US" sz="2400" b="1" i="1" dirty="0">
                <a:latin typeface="Verdana" panose="020B0604030504040204" pitchFamily="34" charset="0"/>
                <a:ea typeface="Verdana" panose="020B0604030504040204" pitchFamily="34" charset="0"/>
                <a:cs typeface="Verdana" panose="020B0604030504040204" pitchFamily="34" charset="0"/>
              </a:rPr>
              <a:t>box plot</a:t>
            </a:r>
            <a:r>
              <a:rPr lang="en-US" sz="2400" dirty="0">
                <a:latin typeface="Verdana" panose="020B0604030504040204" pitchFamily="34" charset="0"/>
                <a:ea typeface="Verdana" panose="020B0604030504040204" pitchFamily="34" charset="0"/>
                <a:cs typeface="Verdana" panose="020B0604030504040204" pitchFamily="34" charset="0"/>
              </a:rPr>
              <a:t> representing the data are shown. </a:t>
            </a:r>
          </a:p>
        </p:txBody>
      </p:sp>
      <p:sp>
        <p:nvSpPr>
          <p:cNvPr id="6" name="Rectangle 5">
            <a:extLst>
              <a:ext uri="{FF2B5EF4-FFF2-40B4-BE49-F238E27FC236}">
                <a16:creationId xmlns:a16="http://schemas.microsoft.com/office/drawing/2014/main" id="{4EAA8599-EA3E-8541-8CE9-6C2C24BB4430}"/>
              </a:ext>
            </a:extLst>
          </p:cNvPr>
          <p:cNvSpPr/>
          <p:nvPr/>
        </p:nvSpPr>
        <p:spPr>
          <a:xfrm>
            <a:off x="2160356" y="1080097"/>
            <a:ext cx="3711575" cy="663575"/>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7" name="Picture 6" descr="Chart, scatter chart&#10;&#10;Description automatically generated">
            <a:extLst>
              <a:ext uri="{FF2B5EF4-FFF2-40B4-BE49-F238E27FC236}">
                <a16:creationId xmlns:a16="http://schemas.microsoft.com/office/drawing/2014/main" id="{E8FDEAD4-8B6E-5F4D-A707-EF37CAF16837}"/>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43925" b="7842"/>
          <a:stretch/>
        </p:blipFill>
        <p:spPr bwMode="auto">
          <a:xfrm>
            <a:off x="1860955" y="1829738"/>
            <a:ext cx="4310379" cy="1060450"/>
          </a:xfrm>
          <a:prstGeom prst="rect">
            <a:avLst/>
          </a:prstGeom>
          <a:ln>
            <a:noFill/>
          </a:ln>
          <a:extLst>
            <a:ext uri="{53640926-AAD7-44D8-BBD7-CCE9431645EC}">
              <a14:shadowObscured xmlns:a14="http://schemas.microsoft.com/office/drawing/2010/main"/>
            </a:ext>
          </a:extLst>
        </p:spPr>
      </p:pic>
      <p:sp>
        <p:nvSpPr>
          <p:cNvPr id="8" name="Rectangle 7">
            <a:extLst>
              <a:ext uri="{FF2B5EF4-FFF2-40B4-BE49-F238E27FC236}">
                <a16:creationId xmlns:a16="http://schemas.microsoft.com/office/drawing/2014/main" id="{CBCFFD3B-07D7-DE43-8F88-65108CBFF9E7}"/>
              </a:ext>
            </a:extLst>
          </p:cNvPr>
          <p:cNvSpPr/>
          <p:nvPr/>
        </p:nvSpPr>
        <p:spPr>
          <a:xfrm>
            <a:off x="6865846" y="1080097"/>
            <a:ext cx="3711575" cy="663575"/>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9" name="Picture 8" descr="Chart, histogram&#10;&#10;Description automatically generated">
            <a:extLst>
              <a:ext uri="{FF2B5EF4-FFF2-40B4-BE49-F238E27FC236}">
                <a16:creationId xmlns:a16="http://schemas.microsoft.com/office/drawing/2014/main" id="{F0D42543-96E3-084E-963B-0541AD73E28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929858" y="1778200"/>
            <a:ext cx="3583549" cy="2805490"/>
          </a:xfrm>
          <a:prstGeom prst="rect">
            <a:avLst/>
          </a:prstGeom>
        </p:spPr>
      </p:pic>
      <p:pic>
        <p:nvPicPr>
          <p:cNvPr id="10" name="Picture 9" descr="Chart, histogram&#10;&#10;Description automatically generated">
            <a:extLst>
              <a:ext uri="{FF2B5EF4-FFF2-40B4-BE49-F238E27FC236}">
                <a16:creationId xmlns:a16="http://schemas.microsoft.com/office/drawing/2014/main" id="{5CC656AB-60A5-EF47-B762-35D7B0DB5E01}"/>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t="15091" b="51861"/>
          <a:stretch/>
        </p:blipFill>
        <p:spPr bwMode="auto">
          <a:xfrm>
            <a:off x="1830118" y="4068163"/>
            <a:ext cx="4896008" cy="1327049"/>
          </a:xfrm>
          <a:prstGeom prst="rect">
            <a:avLst/>
          </a:prstGeom>
          <a:ln>
            <a:noFill/>
          </a:ln>
          <a:extLst>
            <a:ext uri="{53640926-AAD7-44D8-BBD7-CCE9431645EC}">
              <a14:shadowObscured xmlns:a14="http://schemas.microsoft.com/office/drawing/2010/main"/>
            </a:ext>
          </a:extLst>
        </p:spPr>
      </p:pic>
      <p:sp>
        <p:nvSpPr>
          <p:cNvPr id="11" name="Rectangle 10">
            <a:extLst>
              <a:ext uri="{FF2B5EF4-FFF2-40B4-BE49-F238E27FC236}">
                <a16:creationId xmlns:a16="http://schemas.microsoft.com/office/drawing/2014/main" id="{5E5C32B0-1E7D-0F4C-90C3-D56D8B9F5DD3}"/>
              </a:ext>
            </a:extLst>
          </p:cNvPr>
          <p:cNvSpPr/>
          <p:nvPr/>
        </p:nvSpPr>
        <p:spPr>
          <a:xfrm>
            <a:off x="2169441" y="3184590"/>
            <a:ext cx="3711575" cy="663575"/>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TextBox 12">
            <a:extLst>
              <a:ext uri="{FF2B5EF4-FFF2-40B4-BE49-F238E27FC236}">
                <a16:creationId xmlns:a16="http://schemas.microsoft.com/office/drawing/2014/main" id="{0A224D71-D56D-8343-BADC-1F48FB532EDD}"/>
              </a:ext>
            </a:extLst>
          </p:cNvPr>
          <p:cNvSpPr txBox="1"/>
          <p:nvPr/>
        </p:nvSpPr>
        <p:spPr>
          <a:xfrm>
            <a:off x="914400" y="5594819"/>
            <a:ext cx="10515600" cy="830997"/>
          </a:xfrm>
          <a:prstGeom prst="rect">
            <a:avLst/>
          </a:prstGeom>
          <a:noFill/>
        </p:spPr>
        <p:txBody>
          <a:bodyPr wrap="square">
            <a:spAutoFit/>
          </a:bodyPr>
          <a:lstStyle/>
          <a:p>
            <a:pPr marL="922338" indent="-46196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Label the display types by filling in the box above each display.</a:t>
            </a:r>
          </a:p>
        </p:txBody>
      </p:sp>
    </p:spTree>
    <p:extLst>
      <p:ext uri="{BB962C8B-B14F-4D97-AF65-F5344CB8AC3E}">
        <p14:creationId xmlns:p14="http://schemas.microsoft.com/office/powerpoint/2010/main" val="836146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235</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3785652"/>
          </a:xfrm>
          <a:prstGeom prst="rect">
            <a:avLst/>
          </a:prstGeom>
          <a:noFill/>
        </p:spPr>
        <p:txBody>
          <a:bodyPr wrap="square" rtlCol="0">
            <a:spAutoFit/>
          </a:bodyPr>
          <a:lstStyle/>
          <a:p>
            <a:pPr marL="922338" indent="-461963">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table by identifying which measures of center and variation can be determined from each display. </a:t>
            </a:r>
          </a:p>
          <a:p>
            <a:pPr marL="922338" indent="-46196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6196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6196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6196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6196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6196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6196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0375" indent="-460375">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Are there any data values that are far away from the rest? </a:t>
            </a:r>
          </a:p>
        </p:txBody>
      </p:sp>
      <p:graphicFrame>
        <p:nvGraphicFramePr>
          <p:cNvPr id="2" name="Table 1">
            <a:extLst>
              <a:ext uri="{FF2B5EF4-FFF2-40B4-BE49-F238E27FC236}">
                <a16:creationId xmlns:a16="http://schemas.microsoft.com/office/drawing/2014/main" id="{1CA6D64F-D38F-2F4C-B49A-93C2820C5AE3}"/>
              </a:ext>
            </a:extLst>
          </p:cNvPr>
          <p:cNvGraphicFramePr>
            <a:graphicFrameLocks noGrp="1"/>
          </p:cNvGraphicFramePr>
          <p:nvPr>
            <p:extLst>
              <p:ext uri="{D42A27DB-BD31-4B8C-83A1-F6EECF244321}">
                <p14:modId xmlns:p14="http://schemas.microsoft.com/office/powerpoint/2010/main" val="2168096095"/>
              </p:ext>
            </p:extLst>
          </p:nvPr>
        </p:nvGraphicFramePr>
        <p:xfrm>
          <a:off x="2248045" y="1628359"/>
          <a:ext cx="7940984" cy="1569720"/>
        </p:xfrm>
        <a:graphic>
          <a:graphicData uri="http://schemas.openxmlformats.org/drawingml/2006/table">
            <a:tbl>
              <a:tblPr firstRow="1" firstCol="1" bandRow="1">
                <a:tableStyleId>{A91F0D33-8C57-4600-99A7-42BC86742BE1}</a:tableStyleId>
              </a:tblPr>
              <a:tblGrid>
                <a:gridCol w="1730792">
                  <a:extLst>
                    <a:ext uri="{9D8B030D-6E8A-4147-A177-3AD203B41FA5}">
                      <a16:colId xmlns:a16="http://schemas.microsoft.com/office/drawing/2014/main" val="4005426578"/>
                    </a:ext>
                  </a:extLst>
                </a:gridCol>
                <a:gridCol w="1552548">
                  <a:extLst>
                    <a:ext uri="{9D8B030D-6E8A-4147-A177-3AD203B41FA5}">
                      <a16:colId xmlns:a16="http://schemas.microsoft.com/office/drawing/2014/main" val="3241047285"/>
                    </a:ext>
                  </a:extLst>
                </a:gridCol>
                <a:gridCol w="1552548">
                  <a:extLst>
                    <a:ext uri="{9D8B030D-6E8A-4147-A177-3AD203B41FA5}">
                      <a16:colId xmlns:a16="http://schemas.microsoft.com/office/drawing/2014/main" val="2394980727"/>
                    </a:ext>
                  </a:extLst>
                </a:gridCol>
                <a:gridCol w="1552548">
                  <a:extLst>
                    <a:ext uri="{9D8B030D-6E8A-4147-A177-3AD203B41FA5}">
                      <a16:colId xmlns:a16="http://schemas.microsoft.com/office/drawing/2014/main" val="1134672695"/>
                    </a:ext>
                  </a:extLst>
                </a:gridCol>
                <a:gridCol w="1552548">
                  <a:extLst>
                    <a:ext uri="{9D8B030D-6E8A-4147-A177-3AD203B41FA5}">
                      <a16:colId xmlns:a16="http://schemas.microsoft.com/office/drawing/2014/main" val="4022258804"/>
                    </a:ext>
                  </a:extLst>
                </a:gridCol>
              </a:tblGrid>
              <a:tr h="39243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Mean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Median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Range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IQR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35014489"/>
                  </a:ext>
                </a:extLst>
              </a:tr>
              <a:tr h="392430">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Histogram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342900" marR="0" lvl="0" indent="-342900" algn="ctr">
                        <a:spcBef>
                          <a:spcPts val="0"/>
                        </a:spcBef>
                        <a:spcAft>
                          <a:spcPts val="0"/>
                        </a:spcAft>
                        <a:buFont typeface="Wingdings" pitchFamily="2" charset="2"/>
                        <a:buChar char=""/>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4430449"/>
                  </a:ext>
                </a:extLst>
              </a:tr>
              <a:tr h="39243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Line Plot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342900" marR="0" lvl="0" indent="-342900" algn="ctr">
                        <a:spcBef>
                          <a:spcPts val="0"/>
                        </a:spcBef>
                        <a:spcAft>
                          <a:spcPts val="0"/>
                        </a:spcAft>
                        <a:buFont typeface="Wingdings" pitchFamily="2" charset="2"/>
                        <a:buChar char=""/>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6296666"/>
                  </a:ext>
                </a:extLst>
              </a:tr>
              <a:tr h="39243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Box Plot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342900" marR="0" lvl="0" indent="-342900" algn="ctr">
                        <a:spcBef>
                          <a:spcPts val="0"/>
                        </a:spcBef>
                        <a:spcAft>
                          <a:spcPts val="0"/>
                        </a:spcAft>
                        <a:buFont typeface="Wingdings" pitchFamily="2" charset="2"/>
                        <a:buChar char=""/>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ctr">
                        <a:spcBef>
                          <a:spcPts val="0"/>
                        </a:spcBef>
                        <a:spcAft>
                          <a:spcPts val="0"/>
                        </a:spcAft>
                        <a:buFont typeface="Wingdings" pitchFamily="2" charset="2"/>
                        <a:buChar char=""/>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4477313"/>
                  </a:ext>
                </a:extLst>
              </a:tr>
            </a:tbl>
          </a:graphicData>
        </a:graphic>
      </p:graphicFrame>
      <p:grpSp>
        <p:nvGrpSpPr>
          <p:cNvPr id="7" name="Group 6">
            <a:extLst>
              <a:ext uri="{FF2B5EF4-FFF2-40B4-BE49-F238E27FC236}">
                <a16:creationId xmlns:a16="http://schemas.microsoft.com/office/drawing/2014/main" id="{1744C7B9-29E9-1F4D-9FB1-4329BC34CC9D}"/>
              </a:ext>
            </a:extLst>
          </p:cNvPr>
          <p:cNvGrpSpPr/>
          <p:nvPr/>
        </p:nvGrpSpPr>
        <p:grpSpPr>
          <a:xfrm>
            <a:off x="2625903" y="2413219"/>
            <a:ext cx="6940193" cy="3721697"/>
            <a:chOff x="0" y="0"/>
            <a:chExt cx="6940193" cy="3721697"/>
          </a:xfrm>
        </p:grpSpPr>
        <p:grpSp>
          <p:nvGrpSpPr>
            <p:cNvPr id="8" name="Group 7">
              <a:extLst>
                <a:ext uri="{FF2B5EF4-FFF2-40B4-BE49-F238E27FC236}">
                  <a16:creationId xmlns:a16="http://schemas.microsoft.com/office/drawing/2014/main" id="{0C563A61-FB6E-094D-B408-7ADEDA807AF4}"/>
                </a:ext>
              </a:extLst>
            </p:cNvPr>
            <p:cNvGrpSpPr/>
            <p:nvPr/>
          </p:nvGrpSpPr>
          <p:grpSpPr>
            <a:xfrm>
              <a:off x="0" y="0"/>
              <a:ext cx="6940193" cy="3721697"/>
              <a:chOff x="1937003" y="3329150"/>
              <a:chExt cx="6940766" cy="3723907"/>
            </a:xfrm>
          </p:grpSpPr>
          <p:sp>
            <p:nvSpPr>
              <p:cNvPr id="10" name="Rectangle 9">
                <a:extLst>
                  <a:ext uri="{FF2B5EF4-FFF2-40B4-BE49-F238E27FC236}">
                    <a16:creationId xmlns:a16="http://schemas.microsoft.com/office/drawing/2014/main" id="{F98785B0-7512-D548-A9D0-28566F2A135C}"/>
                  </a:ext>
                </a:extLst>
              </p:cNvPr>
              <p:cNvSpPr/>
              <p:nvPr/>
            </p:nvSpPr>
            <p:spPr>
              <a:xfrm>
                <a:off x="1937003" y="3329150"/>
                <a:ext cx="6846500" cy="1575100"/>
              </a:xfrm>
              <a:prstGeom prst="rect">
                <a:avLst/>
              </a:prstGeom>
              <a:noFill/>
              <a:ln>
                <a:noFill/>
              </a:ln>
            </p:spPr>
            <p:txBody>
              <a:bodyPr spcFirstLastPara="1" wrap="square" lIns="91425" tIns="91425" rIns="91425" bIns="91425" anchor="ctr" anchorCtr="0">
                <a:noAutofit/>
              </a:bodyPr>
              <a:lstStyle/>
              <a:p>
                <a:r>
                  <a:rPr lang="en-US" sz="1200">
                    <a:solidFill>
                      <a:srgbClr val="6C993D"/>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84F85C11-43E1-CF48-ABCC-5515AFDECDD6}"/>
                  </a:ext>
                </a:extLst>
              </p:cNvPr>
              <p:cNvGrpSpPr/>
              <p:nvPr/>
            </p:nvGrpSpPr>
            <p:grpSpPr>
              <a:xfrm>
                <a:off x="1937003" y="3329150"/>
                <a:ext cx="6940766" cy="3723907"/>
                <a:chOff x="0" y="0"/>
                <a:chExt cx="6940766" cy="3723907"/>
              </a:xfrm>
            </p:grpSpPr>
            <p:sp>
              <p:nvSpPr>
                <p:cNvPr id="13" name="Rectangle 12">
                  <a:extLst>
                    <a:ext uri="{FF2B5EF4-FFF2-40B4-BE49-F238E27FC236}">
                      <a16:creationId xmlns:a16="http://schemas.microsoft.com/office/drawing/2014/main" id="{F9BC7CEF-0D05-3A4B-BFF7-BFC6447DB238}"/>
                    </a:ext>
                  </a:extLst>
                </p:cNvPr>
                <p:cNvSpPr/>
                <p:nvPr/>
              </p:nvSpPr>
              <p:spPr>
                <a:xfrm>
                  <a:off x="0" y="0"/>
                  <a:ext cx="6817975" cy="901700"/>
                </a:xfrm>
                <a:prstGeom prst="rect">
                  <a:avLst/>
                </a:prstGeom>
                <a:noFill/>
                <a:ln>
                  <a:noFill/>
                </a:ln>
              </p:spPr>
              <p:txBody>
                <a:bodyPr spcFirstLastPara="1" wrap="square" lIns="91425" tIns="91425" rIns="91425" bIns="91425" anchor="ctr" anchorCtr="0">
                  <a:noAutofit/>
                </a:bodyPr>
                <a:lstStyle/>
                <a:p>
                  <a:r>
                    <a:rPr lang="en-US" sz="1200">
                      <a:solidFill>
                        <a:srgbClr val="6C993D"/>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5" name="Rounded Rectangle 14">
                  <a:extLst>
                    <a:ext uri="{FF2B5EF4-FFF2-40B4-BE49-F238E27FC236}">
                      <a16:creationId xmlns:a16="http://schemas.microsoft.com/office/drawing/2014/main" id="{09329C1C-8EBC-4644-9349-EA88921905A4}"/>
                    </a:ext>
                  </a:extLst>
                </p:cNvPr>
                <p:cNvSpPr/>
                <p:nvPr/>
              </p:nvSpPr>
              <p:spPr>
                <a:xfrm>
                  <a:off x="1" y="2247690"/>
                  <a:ext cx="6940765" cy="1476217"/>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lnSpc>
                      <a:spcPct val="107000"/>
                    </a:lnSpc>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An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outlier</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value that is much higher or much lower than the other values in a set of data.</a:t>
                  </a:r>
                  <a:r>
                    <a:rPr lang="en-US" sz="2000" dirty="0">
                      <a:solidFill>
                        <a:srgbClr val="6C993D"/>
                      </a:solidFill>
                      <a:latin typeface="Cambria" panose="02040503050406030204" pitchFamily="18" charset="0"/>
                      <a:ea typeface="Times New Roman" panose="02020603050405020304" pitchFamily="18" charset="0"/>
                      <a:cs typeface="Times New Roman" panose="02020603050405020304" pitchFamily="18" charset="0"/>
                    </a:rPr>
                    <a: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pSp>
        </p:grpSp>
        <p:pic>
          <p:nvPicPr>
            <p:cNvPr id="9" name="Picture 8" descr="Icon&#10;&#10;Description automatically generated">
              <a:extLst>
                <a:ext uri="{FF2B5EF4-FFF2-40B4-BE49-F238E27FC236}">
                  <a16:creationId xmlns:a16="http://schemas.microsoft.com/office/drawing/2014/main" id="{84B5BA71-EB96-DE4C-9995-0044D7B9A6B5}"/>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81534" y="2369909"/>
              <a:ext cx="548640" cy="548640"/>
            </a:xfrm>
            <a:prstGeom prst="rect">
              <a:avLst/>
            </a:prstGeom>
            <a:noFill/>
            <a:ln>
              <a:no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663504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3054096"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236</a:t>
            </a:r>
          </a:p>
        </p:txBody>
      </p:sp>
    </p:spTree>
    <p:extLst>
      <p:ext uri="{BB962C8B-B14F-4D97-AF65-F5344CB8AC3E}">
        <p14:creationId xmlns:p14="http://schemas.microsoft.com/office/powerpoint/2010/main" val="2973619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875"/>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85979"/>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13.1.3 Guided Instruction: Stem-and-Leaf Plots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56616" y="121285"/>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236</a:t>
            </a:r>
          </a:p>
        </p:txBody>
      </p:sp>
      <p:sp>
        <p:nvSpPr>
          <p:cNvPr id="13" name="TextBox 12">
            <a:extLst>
              <a:ext uri="{FF2B5EF4-FFF2-40B4-BE49-F238E27FC236}">
                <a16:creationId xmlns:a16="http://schemas.microsoft.com/office/drawing/2014/main" id="{C01B13E8-EC8D-E443-A329-C5E3593DD13A}"/>
              </a:ext>
            </a:extLst>
          </p:cNvPr>
          <p:cNvSpPr txBox="1"/>
          <p:nvPr/>
        </p:nvSpPr>
        <p:spPr>
          <a:xfrm>
            <a:off x="914400" y="1389888"/>
            <a:ext cx="10515600" cy="4524315"/>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Recall the data collected on the number of phone calls an office received on business days over two weeks.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In addition to displaying the data graphically with a histogram, line plot, or box plot, the data can also be displayed in a </a:t>
            </a:r>
            <a:r>
              <a:rPr lang="en-US" sz="2400" b="1" i="1" dirty="0">
                <a:latin typeface="Verdana" panose="020B0604030504040204" pitchFamily="34" charset="0"/>
                <a:ea typeface="Verdana" panose="020B0604030504040204" pitchFamily="34" charset="0"/>
                <a:cs typeface="Verdana" panose="020B0604030504040204" pitchFamily="34" charset="0"/>
              </a:rPr>
              <a:t>stem-and-leaf</a:t>
            </a:r>
            <a:r>
              <a:rPr lang="en-US" sz="2400" dirty="0">
                <a:latin typeface="Verdana" panose="020B0604030504040204" pitchFamily="34" charset="0"/>
                <a:ea typeface="Verdana" panose="020B0604030504040204" pitchFamily="34" charset="0"/>
                <a:cs typeface="Verdana" panose="020B0604030504040204" pitchFamily="34" charset="0"/>
              </a:rPr>
              <a:t> plot.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41813F07-D9D4-FA41-AA51-77507B041A39}"/>
                  </a:ext>
                </a:extLst>
              </p:cNvPr>
              <p:cNvGraphicFramePr>
                <a:graphicFrameLocks noGrp="1"/>
              </p:cNvGraphicFramePr>
              <p:nvPr>
                <p:extLst>
                  <p:ext uri="{D42A27DB-BD31-4B8C-83A1-F6EECF244321}">
                    <p14:modId xmlns:p14="http://schemas.microsoft.com/office/powerpoint/2010/main" val="1044239212"/>
                  </p:ext>
                </p:extLst>
              </p:nvPr>
            </p:nvGraphicFramePr>
            <p:xfrm>
              <a:off x="3624580" y="2469985"/>
              <a:ext cx="4942840" cy="756920"/>
            </p:xfrm>
            <a:graphic>
              <a:graphicData uri="http://schemas.openxmlformats.org/drawingml/2006/table">
                <a:tbl>
                  <a:tblPr firstRow="1" firstCol="1" bandRow="1">
                    <a:tableStyleId>{A91F0D33-8C57-4600-99A7-42BC86742BE1}</a:tableStyleId>
                  </a:tblPr>
                  <a:tblGrid>
                    <a:gridCol w="988060">
                      <a:extLst>
                        <a:ext uri="{9D8B030D-6E8A-4147-A177-3AD203B41FA5}">
                          <a16:colId xmlns:a16="http://schemas.microsoft.com/office/drawing/2014/main" val="516494845"/>
                        </a:ext>
                      </a:extLst>
                    </a:gridCol>
                    <a:gridCol w="988695">
                      <a:extLst>
                        <a:ext uri="{9D8B030D-6E8A-4147-A177-3AD203B41FA5}">
                          <a16:colId xmlns:a16="http://schemas.microsoft.com/office/drawing/2014/main" val="199899567"/>
                        </a:ext>
                      </a:extLst>
                    </a:gridCol>
                    <a:gridCol w="988695">
                      <a:extLst>
                        <a:ext uri="{9D8B030D-6E8A-4147-A177-3AD203B41FA5}">
                          <a16:colId xmlns:a16="http://schemas.microsoft.com/office/drawing/2014/main" val="3898408895"/>
                        </a:ext>
                      </a:extLst>
                    </a:gridCol>
                    <a:gridCol w="988695">
                      <a:extLst>
                        <a:ext uri="{9D8B030D-6E8A-4147-A177-3AD203B41FA5}">
                          <a16:colId xmlns:a16="http://schemas.microsoft.com/office/drawing/2014/main" val="287612863"/>
                        </a:ext>
                      </a:extLst>
                    </a:gridCol>
                    <a:gridCol w="988695">
                      <a:extLst>
                        <a:ext uri="{9D8B030D-6E8A-4147-A177-3AD203B41FA5}">
                          <a16:colId xmlns:a16="http://schemas.microsoft.com/office/drawing/2014/main" val="1448223655"/>
                        </a:ext>
                      </a:extLst>
                    </a:gridCol>
                  </a:tblGrid>
                  <a:tr h="3784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183</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165</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58</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152</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179</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2487581"/>
                      </a:ext>
                    </a:extLst>
                  </a:tr>
                  <a:tr h="37846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152</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153</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135</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124</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112</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981041"/>
                      </a:ext>
                    </a:extLst>
                  </a:tr>
                </a:tbl>
              </a:graphicData>
            </a:graphic>
          </p:graphicFrame>
        </mc:Choice>
        <mc:Fallback xmlns="">
          <p:graphicFrame>
            <p:nvGraphicFramePr>
              <p:cNvPr id="2" name="Table 1">
                <a:extLst>
                  <a:ext uri="{FF2B5EF4-FFF2-40B4-BE49-F238E27FC236}">
                    <a16:creationId xmlns:a16="http://schemas.microsoft.com/office/drawing/2014/main" id="{41813F07-D9D4-FA41-AA51-77507B041A39}"/>
                  </a:ext>
                </a:extLst>
              </p:cNvPr>
              <p:cNvGraphicFramePr>
                <a:graphicFrameLocks noGrp="1"/>
              </p:cNvGraphicFramePr>
              <p:nvPr>
                <p:extLst>
                  <p:ext uri="{D42A27DB-BD31-4B8C-83A1-F6EECF244321}">
                    <p14:modId xmlns:p14="http://schemas.microsoft.com/office/powerpoint/2010/main" val="1044239212"/>
                  </p:ext>
                </p:extLst>
              </p:nvPr>
            </p:nvGraphicFramePr>
            <p:xfrm>
              <a:off x="3624580" y="2469985"/>
              <a:ext cx="4942840" cy="756920"/>
            </p:xfrm>
            <a:graphic>
              <a:graphicData uri="http://schemas.openxmlformats.org/drawingml/2006/table">
                <a:tbl>
                  <a:tblPr firstRow="1" firstCol="1" bandRow="1">
                    <a:tableStyleId>{A91F0D33-8C57-4600-99A7-42BC86742BE1}</a:tableStyleId>
                  </a:tblPr>
                  <a:tblGrid>
                    <a:gridCol w="988060">
                      <a:extLst>
                        <a:ext uri="{9D8B030D-6E8A-4147-A177-3AD203B41FA5}">
                          <a16:colId xmlns:a16="http://schemas.microsoft.com/office/drawing/2014/main" val="516494845"/>
                        </a:ext>
                      </a:extLst>
                    </a:gridCol>
                    <a:gridCol w="988695">
                      <a:extLst>
                        <a:ext uri="{9D8B030D-6E8A-4147-A177-3AD203B41FA5}">
                          <a16:colId xmlns:a16="http://schemas.microsoft.com/office/drawing/2014/main" val="199899567"/>
                        </a:ext>
                      </a:extLst>
                    </a:gridCol>
                    <a:gridCol w="988695">
                      <a:extLst>
                        <a:ext uri="{9D8B030D-6E8A-4147-A177-3AD203B41FA5}">
                          <a16:colId xmlns:a16="http://schemas.microsoft.com/office/drawing/2014/main" val="3898408895"/>
                        </a:ext>
                      </a:extLst>
                    </a:gridCol>
                    <a:gridCol w="988695">
                      <a:extLst>
                        <a:ext uri="{9D8B030D-6E8A-4147-A177-3AD203B41FA5}">
                          <a16:colId xmlns:a16="http://schemas.microsoft.com/office/drawing/2014/main" val="287612863"/>
                        </a:ext>
                      </a:extLst>
                    </a:gridCol>
                    <a:gridCol w="988695">
                      <a:extLst>
                        <a:ext uri="{9D8B030D-6E8A-4147-A177-3AD203B41FA5}">
                          <a16:colId xmlns:a16="http://schemas.microsoft.com/office/drawing/2014/main" val="1448223655"/>
                        </a:ext>
                      </a:extLst>
                    </a:gridCol>
                  </a:tblGrid>
                  <a:tr h="3784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17" t="-1587" r="-402469" b="-10158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1587" r="-300000" b="-10158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1235" t="-1587" r="-201852" b="-10158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9387" t="-1587" r="-100613" b="-101587"/>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852" t="-1587" r="-1235" b="-101587"/>
                          </a:stretch>
                        </a:blipFill>
                      </a:tcPr>
                    </a:tc>
                    <a:extLst>
                      <a:ext uri="{0D108BD9-81ED-4DB2-BD59-A6C34878D82A}">
                        <a16:rowId xmlns:a16="http://schemas.microsoft.com/office/drawing/2014/main" val="3352487581"/>
                      </a:ext>
                    </a:extLst>
                  </a:tr>
                  <a:tr h="3784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17" t="-103226" r="-402469" b="-322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 t="-103226" r="-300000" b="-322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1235" t="-103226" r="-201852" b="-322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99387" t="-103226" r="-100613" b="-3226"/>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01852" t="-103226" r="-1235" b="-3226"/>
                          </a:stretch>
                        </a:blipFill>
                      </a:tcPr>
                    </a:tc>
                    <a:extLst>
                      <a:ext uri="{0D108BD9-81ED-4DB2-BD59-A6C34878D82A}">
                        <a16:rowId xmlns:a16="http://schemas.microsoft.com/office/drawing/2014/main" val="927981041"/>
                      </a:ext>
                    </a:extLst>
                  </a:tr>
                </a:tbl>
              </a:graphicData>
            </a:graphic>
          </p:graphicFrame>
        </mc:Fallback>
      </mc:AlternateContent>
      <p:grpSp>
        <p:nvGrpSpPr>
          <p:cNvPr id="10" name="Group 9">
            <a:extLst>
              <a:ext uri="{FF2B5EF4-FFF2-40B4-BE49-F238E27FC236}">
                <a16:creationId xmlns:a16="http://schemas.microsoft.com/office/drawing/2014/main" id="{F4DD565B-4FFF-9C48-9AFA-92A6A3A2A15A}"/>
              </a:ext>
            </a:extLst>
          </p:cNvPr>
          <p:cNvGrpSpPr/>
          <p:nvPr/>
        </p:nvGrpSpPr>
        <p:grpSpPr>
          <a:xfrm>
            <a:off x="2669539" y="3217865"/>
            <a:ext cx="6852921" cy="3206138"/>
            <a:chOff x="0" y="0"/>
            <a:chExt cx="6852921" cy="3206138"/>
          </a:xfrm>
        </p:grpSpPr>
        <p:grpSp>
          <p:nvGrpSpPr>
            <p:cNvPr id="11" name="Group 10">
              <a:extLst>
                <a:ext uri="{FF2B5EF4-FFF2-40B4-BE49-F238E27FC236}">
                  <a16:creationId xmlns:a16="http://schemas.microsoft.com/office/drawing/2014/main" id="{A6E93396-6356-414A-9850-E318CE974672}"/>
                </a:ext>
              </a:extLst>
            </p:cNvPr>
            <p:cNvGrpSpPr/>
            <p:nvPr/>
          </p:nvGrpSpPr>
          <p:grpSpPr>
            <a:xfrm>
              <a:off x="0" y="0"/>
              <a:ext cx="6852921" cy="3206138"/>
              <a:chOff x="1902013" y="3329150"/>
              <a:chExt cx="6852965" cy="3207541"/>
            </a:xfrm>
          </p:grpSpPr>
          <p:sp>
            <p:nvSpPr>
              <p:cNvPr id="15" name="Rectangle 14">
                <a:extLst>
                  <a:ext uri="{FF2B5EF4-FFF2-40B4-BE49-F238E27FC236}">
                    <a16:creationId xmlns:a16="http://schemas.microsoft.com/office/drawing/2014/main" id="{76F20832-1183-DA40-8577-549C4119032F}"/>
                  </a:ext>
                </a:extLst>
              </p:cNvPr>
              <p:cNvSpPr/>
              <p:nvPr/>
            </p:nvSpPr>
            <p:spPr>
              <a:xfrm>
                <a:off x="1902013" y="3329150"/>
                <a:ext cx="6852950" cy="1393800"/>
              </a:xfrm>
              <a:prstGeom prst="rect">
                <a:avLst/>
              </a:prstGeom>
              <a:noFill/>
              <a:ln>
                <a:noFill/>
              </a:ln>
            </p:spPr>
            <p:txBody>
              <a:bodyPr spcFirstLastPara="1" wrap="square" lIns="91425" tIns="91425" rIns="91425" bIns="91425" anchor="ctr" anchorCtr="0">
                <a:noAutofit/>
              </a:bodyPr>
              <a:lstStyle/>
              <a:p>
                <a:r>
                  <a:rPr lang="en-US" sz="1200">
                    <a:solidFill>
                      <a:srgbClr val="6C993D"/>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6" name="Group 15">
                <a:extLst>
                  <a:ext uri="{FF2B5EF4-FFF2-40B4-BE49-F238E27FC236}">
                    <a16:creationId xmlns:a16="http://schemas.microsoft.com/office/drawing/2014/main" id="{FDCE0E4A-8968-8D4F-AE7A-C7D08A98AF61}"/>
                  </a:ext>
                </a:extLst>
              </p:cNvPr>
              <p:cNvGrpSpPr/>
              <p:nvPr/>
            </p:nvGrpSpPr>
            <p:grpSpPr>
              <a:xfrm>
                <a:off x="1937003" y="3329150"/>
                <a:ext cx="6817975" cy="3207541"/>
                <a:chOff x="0" y="0"/>
                <a:chExt cx="6817975" cy="3207541"/>
              </a:xfrm>
            </p:grpSpPr>
            <p:sp>
              <p:nvSpPr>
                <p:cNvPr id="17" name="Rectangle 16">
                  <a:extLst>
                    <a:ext uri="{FF2B5EF4-FFF2-40B4-BE49-F238E27FC236}">
                      <a16:creationId xmlns:a16="http://schemas.microsoft.com/office/drawing/2014/main" id="{725B85CE-3D23-F742-A498-E8002F127C02}"/>
                    </a:ext>
                  </a:extLst>
                </p:cNvPr>
                <p:cNvSpPr/>
                <p:nvPr/>
              </p:nvSpPr>
              <p:spPr>
                <a:xfrm>
                  <a:off x="0" y="0"/>
                  <a:ext cx="6817975" cy="901700"/>
                </a:xfrm>
                <a:prstGeom prst="rect">
                  <a:avLst/>
                </a:prstGeom>
                <a:noFill/>
                <a:ln>
                  <a:noFill/>
                </a:ln>
              </p:spPr>
              <p:txBody>
                <a:bodyPr spcFirstLastPara="1" wrap="square" lIns="91425" tIns="91425" rIns="91425" bIns="91425" anchor="ctr" anchorCtr="0">
                  <a:noAutofit/>
                </a:bodyPr>
                <a:lstStyle/>
                <a:p>
                  <a:r>
                    <a:rPr lang="en-US" sz="1200">
                      <a:solidFill>
                        <a:srgbClr val="6C993D"/>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8" name="Rounded Rectangle 17">
                  <a:extLst>
                    <a:ext uri="{FF2B5EF4-FFF2-40B4-BE49-F238E27FC236}">
                      <a16:creationId xmlns:a16="http://schemas.microsoft.com/office/drawing/2014/main" id="{7B5B9158-8907-0745-B665-05F736207F79}"/>
                    </a:ext>
                  </a:extLst>
                </p:cNvPr>
                <p:cNvSpPr/>
                <p:nvPr/>
              </p:nvSpPr>
              <p:spPr>
                <a:xfrm>
                  <a:off x="97553" y="1846423"/>
                  <a:ext cx="6587863" cy="1361118"/>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r>
                    <a:rPr lang="en-US" sz="1800" dirty="0">
                      <a:solidFill>
                        <a:srgbClr val="6C993D"/>
                      </a:solidFill>
                      <a:latin typeface="Verdana" panose="020B0604030504040204" pitchFamily="34" charset="0"/>
                      <a:ea typeface="Cambria" panose="02040503050406030204" pitchFamily="18" charset="0"/>
                      <a:cs typeface="Times New Roman" panose="02020603050405020304" pitchFamily="18" charset="0"/>
                    </a:rPr>
                    <a:t>A </a:t>
                  </a:r>
                  <a:r>
                    <a:rPr lang="en-US" sz="1800" b="1" i="1" dirty="0">
                      <a:solidFill>
                        <a:srgbClr val="6C993D"/>
                      </a:solidFill>
                      <a:latin typeface="Verdana" panose="020B0604030504040204" pitchFamily="34" charset="0"/>
                      <a:ea typeface="Cambria" panose="02040503050406030204" pitchFamily="18" charset="0"/>
                      <a:cs typeface="Times New Roman" panose="02020603050405020304" pitchFamily="18" charset="0"/>
                    </a:rPr>
                    <a:t>stem-and-leaf plot</a:t>
                  </a:r>
                  <a:r>
                    <a:rPr lang="en-US" sz="1800" dirty="0">
                      <a:solidFill>
                        <a:srgbClr val="6C993D"/>
                      </a:solidFill>
                      <a:latin typeface="Verdana" panose="020B0604030504040204" pitchFamily="34" charset="0"/>
                      <a:ea typeface="Cambria" panose="02040503050406030204" pitchFamily="18" charset="0"/>
                      <a:cs typeface="Times New Roman" panose="02020603050405020304" pitchFamily="18" charset="0"/>
                    </a:rPr>
                    <a:t> is a table that organizes data by place value to compare data frequencies.</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grpSp>
        </p:grpSp>
        <p:pic>
          <p:nvPicPr>
            <p:cNvPr id="14" name="Picture 13" descr="Icon&#10;&#10;Description automatically generated">
              <a:extLst>
                <a:ext uri="{FF2B5EF4-FFF2-40B4-BE49-F238E27FC236}">
                  <a16:creationId xmlns:a16="http://schemas.microsoft.com/office/drawing/2014/main" id="{130F3189-1D1E-2F48-B595-3459A3297AC4}"/>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67218" y="2042020"/>
              <a:ext cx="548640" cy="548640"/>
            </a:xfrm>
            <a:prstGeom prst="rect">
              <a:avLst/>
            </a:prstGeom>
            <a:noFill/>
            <a:ln>
              <a:noFill/>
            </a:ln>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3932194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875"/>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236</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5854390"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data in the stem-and-leaf plot?</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26E9D1D1-8098-654A-8557-04CB5A0F377E}"/>
                  </a:ext>
                </a:extLst>
              </p:cNvPr>
              <p:cNvGraphicFramePr>
                <a:graphicFrameLocks noGrp="1"/>
              </p:cNvGraphicFramePr>
              <p:nvPr>
                <p:extLst>
                  <p:ext uri="{D42A27DB-BD31-4B8C-83A1-F6EECF244321}">
                    <p14:modId xmlns:p14="http://schemas.microsoft.com/office/powerpoint/2010/main" val="338312314"/>
                  </p:ext>
                </p:extLst>
              </p:nvPr>
            </p:nvGraphicFramePr>
            <p:xfrm>
              <a:off x="7168108" y="703648"/>
              <a:ext cx="2884868" cy="4876800"/>
            </p:xfrm>
            <a:graphic>
              <a:graphicData uri="http://schemas.openxmlformats.org/drawingml/2006/table">
                <a:tbl>
                  <a:tblPr firstRow="1" firstCol="1" bandRow="1">
                    <a:tableStyleId>{A91F0D33-8C57-4600-99A7-42BC86742BE1}</a:tableStyleId>
                  </a:tblPr>
                  <a:tblGrid>
                    <a:gridCol w="1125377">
                      <a:extLst>
                        <a:ext uri="{9D8B030D-6E8A-4147-A177-3AD203B41FA5}">
                          <a16:colId xmlns:a16="http://schemas.microsoft.com/office/drawing/2014/main" val="2137632230"/>
                        </a:ext>
                      </a:extLst>
                    </a:gridCol>
                    <a:gridCol w="1759491">
                      <a:extLst>
                        <a:ext uri="{9D8B030D-6E8A-4147-A177-3AD203B41FA5}">
                          <a16:colId xmlns:a16="http://schemas.microsoft.com/office/drawing/2014/main" val="3327792144"/>
                        </a:ext>
                      </a:extLst>
                    </a:gridCol>
                  </a:tblGrid>
                  <a:tr h="271959">
                    <a:tc>
                      <a:txBody>
                        <a:bodyPr/>
                        <a:lstStyle/>
                        <a:p>
                          <a:pPr marL="0" marR="0" algn="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Stem</a:t>
                          </a:r>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Leaf</a:t>
                          </a: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7774235"/>
                      </a:ext>
                    </a:extLst>
                  </a:tr>
                  <a:tr h="271959">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8</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70082101"/>
                      </a:ext>
                    </a:extLst>
                  </a:tr>
                  <a:tr h="271959">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46119839"/>
                      </a:ext>
                    </a:extLst>
                  </a:tr>
                  <a:tr h="271959">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7</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3453296"/>
                      </a:ext>
                    </a:extLst>
                  </a:tr>
                  <a:tr h="271959">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8</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1726632"/>
                      </a:ext>
                    </a:extLst>
                  </a:tr>
                  <a:tr h="271959">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9</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47681438"/>
                      </a:ext>
                    </a:extLst>
                  </a:tr>
                  <a:tr h="271959">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10</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1403225"/>
                      </a:ext>
                    </a:extLst>
                  </a:tr>
                  <a:tr h="271959">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11</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5258174"/>
                      </a:ext>
                    </a:extLst>
                  </a:tr>
                  <a:tr h="271959">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12</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67591797"/>
                      </a:ext>
                    </a:extLst>
                  </a:tr>
                  <a:tr h="271959">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13</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4992332"/>
                      </a:ext>
                    </a:extLst>
                  </a:tr>
                  <a:tr h="271959">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14</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2155948"/>
                      </a:ext>
                    </a:extLst>
                  </a:tr>
                  <a:tr h="271959">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15</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2, 2, 3</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6107391"/>
                      </a:ext>
                    </a:extLst>
                  </a:tr>
                  <a:tr h="271959">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16</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63600419"/>
                      </a:ext>
                    </a:extLst>
                  </a:tr>
                  <a:tr h="271959">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17</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9</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3329143"/>
                      </a:ext>
                    </a:extLst>
                  </a:tr>
                  <a:tr h="271959">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11458987"/>
                      </a:ext>
                    </a:extLst>
                  </a:tr>
                  <a:tr h="271959">
                    <a:tc>
                      <a:txBody>
                        <a:bodyPr/>
                        <a:lstStyle/>
                        <a:p>
                          <a:pPr marL="0" marR="0" algn="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9525" cap="flat" cmpd="sng">
                          <a:noFill/>
                          <a:prstDash val="solid"/>
                          <a:round/>
                          <a:headEnd type="none" w="sm" len="sm"/>
                          <a:tailEnd type="none" w="sm" len="sm"/>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dirty="0">
                              <a:effectLst/>
                            </a:rPr>
                            <a:t>Key: 5|8 = 58</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no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76605947"/>
                      </a:ext>
                    </a:extLst>
                  </a:tr>
                </a:tbl>
              </a:graphicData>
            </a:graphic>
          </p:graphicFrame>
        </mc:Choice>
        <mc:Fallback xmlns="">
          <p:graphicFrame>
            <p:nvGraphicFramePr>
              <p:cNvPr id="2" name="Table 1">
                <a:extLst>
                  <a:ext uri="{FF2B5EF4-FFF2-40B4-BE49-F238E27FC236}">
                    <a16:creationId xmlns:a16="http://schemas.microsoft.com/office/drawing/2014/main" id="{26E9D1D1-8098-654A-8557-04CB5A0F377E}"/>
                  </a:ext>
                </a:extLst>
              </p:cNvPr>
              <p:cNvGraphicFramePr>
                <a:graphicFrameLocks noGrp="1"/>
              </p:cNvGraphicFramePr>
              <p:nvPr>
                <p:extLst>
                  <p:ext uri="{D42A27DB-BD31-4B8C-83A1-F6EECF244321}">
                    <p14:modId xmlns:p14="http://schemas.microsoft.com/office/powerpoint/2010/main" val="338312314"/>
                  </p:ext>
                </p:extLst>
              </p:nvPr>
            </p:nvGraphicFramePr>
            <p:xfrm>
              <a:off x="7168108" y="703648"/>
              <a:ext cx="2884868" cy="4876800"/>
            </p:xfrm>
            <a:graphic>
              <a:graphicData uri="http://schemas.openxmlformats.org/drawingml/2006/table">
                <a:tbl>
                  <a:tblPr firstRow="1" firstCol="1" bandRow="1">
                    <a:tableStyleId>{A91F0D33-8C57-4600-99A7-42BC86742BE1}</a:tableStyleId>
                  </a:tblPr>
                  <a:tblGrid>
                    <a:gridCol w="1125377">
                      <a:extLst>
                        <a:ext uri="{9D8B030D-6E8A-4147-A177-3AD203B41FA5}">
                          <a16:colId xmlns:a16="http://schemas.microsoft.com/office/drawing/2014/main" val="2137632230"/>
                        </a:ext>
                      </a:extLst>
                    </a:gridCol>
                    <a:gridCol w="1759491">
                      <a:extLst>
                        <a:ext uri="{9D8B030D-6E8A-4147-A177-3AD203B41FA5}">
                          <a16:colId xmlns:a16="http://schemas.microsoft.com/office/drawing/2014/main" val="3327792144"/>
                        </a:ext>
                      </a:extLst>
                    </a:gridCol>
                  </a:tblGrid>
                  <a:tr h="304800">
                    <a:tc>
                      <a:txBody>
                        <a:bodyPr/>
                        <a:lstStyle/>
                        <a:p>
                          <a:pPr marL="0" marR="0" algn="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Stem</a:t>
                          </a:r>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Leaf</a:t>
                          </a: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7774235"/>
                      </a:ext>
                    </a:extLst>
                  </a:tr>
                  <a:tr h="304800">
                    <a:tc>
                      <a:txBody>
                        <a:bodyPr/>
                        <a:lstStyle/>
                        <a:p>
                          <a:endParaRPr lang="en-US"/>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29167" r="-157303" b="-1454167"/>
                          </a:stretch>
                        </a:blipFill>
                      </a:tcPr>
                    </a:tc>
                    <a:tc>
                      <a:txBody>
                        <a:bodyPr/>
                        <a:lstStyle/>
                        <a:p>
                          <a:endParaRPr lang="en-US"/>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64029" t="-129167" r="-719" b="-1454167"/>
                          </a:stretch>
                        </a:blipFill>
                      </a:tcPr>
                    </a:tc>
                    <a:extLst>
                      <a:ext uri="{0D108BD9-81ED-4DB2-BD59-A6C34878D82A}">
                        <a16:rowId xmlns:a16="http://schemas.microsoft.com/office/drawing/2014/main" val="2770082101"/>
                      </a:ext>
                    </a:extLst>
                  </a:tr>
                  <a:tr h="304800">
                    <a:tc>
                      <a:txBody>
                        <a:bodyPr/>
                        <a:lstStyle/>
                        <a:p>
                          <a:endParaRPr lang="en-US"/>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29167" r="-157303" b="-1354167"/>
                          </a:stretch>
                        </a:blipFill>
                      </a:tcPr>
                    </a:tc>
                    <a:tc>
                      <a:txBody>
                        <a:bodyPr/>
                        <a:lstStyle/>
                        <a:p>
                          <a:pPr marL="0" marR="0" algn="l">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46119839"/>
                      </a:ext>
                    </a:extLst>
                  </a:tr>
                  <a:tr h="304800">
                    <a:tc>
                      <a:txBody>
                        <a:bodyPr/>
                        <a:lstStyle/>
                        <a:p>
                          <a:endParaRPr lang="en-US"/>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329167" r="-157303" b="-1254167"/>
                          </a:stretch>
                        </a:blipFill>
                      </a:tcPr>
                    </a:tc>
                    <a:tc>
                      <a:txBody>
                        <a:bodyPr/>
                        <a:lstStyle/>
                        <a:p>
                          <a:pPr marL="0" marR="0" algn="l">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3453296"/>
                      </a:ext>
                    </a:extLst>
                  </a:tr>
                  <a:tr h="304800">
                    <a:tc>
                      <a:txBody>
                        <a:bodyPr/>
                        <a:lstStyle/>
                        <a:p>
                          <a:endParaRPr lang="en-US"/>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429167" r="-157303" b="-1154167"/>
                          </a:stretch>
                        </a:blipFill>
                      </a:tcPr>
                    </a:tc>
                    <a:tc>
                      <a:txBody>
                        <a:bodyPr/>
                        <a:lstStyle/>
                        <a:p>
                          <a:pPr marL="0" marR="0" algn="l">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51726632"/>
                      </a:ext>
                    </a:extLst>
                  </a:tr>
                  <a:tr h="304800">
                    <a:tc>
                      <a:txBody>
                        <a:bodyPr/>
                        <a:lstStyle/>
                        <a:p>
                          <a:endParaRPr lang="en-US"/>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529167" r="-157303" b="-1054167"/>
                          </a:stretch>
                        </a:blipFill>
                      </a:tcPr>
                    </a:tc>
                    <a:tc>
                      <a:txBody>
                        <a:bodyPr/>
                        <a:lstStyle/>
                        <a:p>
                          <a:pPr marL="0" marR="0" algn="l">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47681438"/>
                      </a:ext>
                    </a:extLst>
                  </a:tr>
                  <a:tr h="304800">
                    <a:tc>
                      <a:txBody>
                        <a:bodyPr/>
                        <a:lstStyle/>
                        <a:p>
                          <a:endParaRPr lang="en-US"/>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629167" r="-157303" b="-954167"/>
                          </a:stretch>
                        </a:blipFill>
                      </a:tcPr>
                    </a:tc>
                    <a:tc>
                      <a:txBody>
                        <a:bodyPr/>
                        <a:lstStyle/>
                        <a:p>
                          <a:pPr marL="0" marR="0" algn="l">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1403225"/>
                      </a:ext>
                    </a:extLst>
                  </a:tr>
                  <a:tr h="304800">
                    <a:tc>
                      <a:txBody>
                        <a:bodyPr/>
                        <a:lstStyle/>
                        <a:p>
                          <a:endParaRPr lang="en-US"/>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700000" r="-157303" b="-816000"/>
                          </a:stretch>
                        </a:blipFill>
                      </a:tcPr>
                    </a:tc>
                    <a:tc>
                      <a:txBody>
                        <a:bodyPr/>
                        <a:lstStyle/>
                        <a:p>
                          <a:endParaRPr lang="en-US"/>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64029" t="-700000" r="-719" b="-816000"/>
                          </a:stretch>
                        </a:blipFill>
                      </a:tcPr>
                    </a:tc>
                    <a:extLst>
                      <a:ext uri="{0D108BD9-81ED-4DB2-BD59-A6C34878D82A}">
                        <a16:rowId xmlns:a16="http://schemas.microsoft.com/office/drawing/2014/main" val="1395258174"/>
                      </a:ext>
                    </a:extLst>
                  </a:tr>
                  <a:tr h="304800">
                    <a:tc>
                      <a:txBody>
                        <a:bodyPr/>
                        <a:lstStyle/>
                        <a:p>
                          <a:endParaRPr lang="en-US"/>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833333" r="-157303" b="-750000"/>
                          </a:stretch>
                        </a:blipFill>
                      </a:tcPr>
                    </a:tc>
                    <a:tc>
                      <a:txBody>
                        <a:bodyPr/>
                        <a:lstStyle/>
                        <a:p>
                          <a:endParaRPr lang="en-US"/>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64029" t="-833333" r="-719" b="-750000"/>
                          </a:stretch>
                        </a:blipFill>
                      </a:tcPr>
                    </a:tc>
                    <a:extLst>
                      <a:ext uri="{0D108BD9-81ED-4DB2-BD59-A6C34878D82A}">
                        <a16:rowId xmlns:a16="http://schemas.microsoft.com/office/drawing/2014/main" val="4267591797"/>
                      </a:ext>
                    </a:extLst>
                  </a:tr>
                  <a:tr h="304800">
                    <a:tc>
                      <a:txBody>
                        <a:bodyPr/>
                        <a:lstStyle/>
                        <a:p>
                          <a:endParaRPr lang="en-US"/>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933333" r="-157303" b="-650000"/>
                          </a:stretch>
                        </a:blipFill>
                      </a:tcPr>
                    </a:tc>
                    <a:tc>
                      <a:txBody>
                        <a:bodyPr/>
                        <a:lstStyle/>
                        <a:p>
                          <a:endParaRPr lang="en-US"/>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64029" t="-933333" r="-719" b="-650000"/>
                          </a:stretch>
                        </a:blipFill>
                      </a:tcPr>
                    </a:tc>
                    <a:extLst>
                      <a:ext uri="{0D108BD9-81ED-4DB2-BD59-A6C34878D82A}">
                        <a16:rowId xmlns:a16="http://schemas.microsoft.com/office/drawing/2014/main" val="3624992332"/>
                      </a:ext>
                    </a:extLst>
                  </a:tr>
                  <a:tr h="304800">
                    <a:tc>
                      <a:txBody>
                        <a:bodyPr/>
                        <a:lstStyle/>
                        <a:p>
                          <a:endParaRPr lang="en-US"/>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033333" r="-157303" b="-550000"/>
                          </a:stretch>
                        </a:blipFill>
                      </a:tcPr>
                    </a:tc>
                    <a:tc>
                      <a:txBody>
                        <a:bodyPr/>
                        <a:lstStyle/>
                        <a:p>
                          <a:pPr marL="0" marR="0" algn="l">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2155948"/>
                      </a:ext>
                    </a:extLst>
                  </a:tr>
                  <a:tr h="304800">
                    <a:tc>
                      <a:txBody>
                        <a:bodyPr/>
                        <a:lstStyle/>
                        <a:p>
                          <a:endParaRPr lang="en-US"/>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133333" r="-157303" b="-450000"/>
                          </a:stretch>
                        </a:blipFill>
                      </a:tcPr>
                    </a:tc>
                    <a:tc>
                      <a:txBody>
                        <a:bodyPr/>
                        <a:lstStyle/>
                        <a:p>
                          <a:endParaRPr lang="en-US"/>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64029" t="-1133333" r="-719" b="-450000"/>
                          </a:stretch>
                        </a:blipFill>
                      </a:tcPr>
                    </a:tc>
                    <a:extLst>
                      <a:ext uri="{0D108BD9-81ED-4DB2-BD59-A6C34878D82A}">
                        <a16:rowId xmlns:a16="http://schemas.microsoft.com/office/drawing/2014/main" val="3756107391"/>
                      </a:ext>
                    </a:extLst>
                  </a:tr>
                  <a:tr h="304800">
                    <a:tc>
                      <a:txBody>
                        <a:bodyPr/>
                        <a:lstStyle/>
                        <a:p>
                          <a:endParaRPr lang="en-US"/>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233333" r="-157303" b="-350000"/>
                          </a:stretch>
                        </a:blipFill>
                      </a:tcPr>
                    </a:tc>
                    <a:tc>
                      <a:txBody>
                        <a:bodyPr/>
                        <a:lstStyle/>
                        <a:p>
                          <a:endParaRPr lang="en-US"/>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64029" t="-1233333" r="-719" b="-350000"/>
                          </a:stretch>
                        </a:blipFill>
                      </a:tcPr>
                    </a:tc>
                    <a:extLst>
                      <a:ext uri="{0D108BD9-81ED-4DB2-BD59-A6C34878D82A}">
                        <a16:rowId xmlns:a16="http://schemas.microsoft.com/office/drawing/2014/main" val="963600419"/>
                      </a:ext>
                    </a:extLst>
                  </a:tr>
                  <a:tr h="304800">
                    <a:tc>
                      <a:txBody>
                        <a:bodyPr/>
                        <a:lstStyle/>
                        <a:p>
                          <a:endParaRPr lang="en-US"/>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333333" r="-157303" b="-250000"/>
                          </a:stretch>
                        </a:blipFill>
                      </a:tcPr>
                    </a:tc>
                    <a:tc>
                      <a:txBody>
                        <a:bodyPr/>
                        <a:lstStyle/>
                        <a:p>
                          <a:endParaRPr lang="en-US"/>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64029" t="-1333333" r="-719" b="-250000"/>
                          </a:stretch>
                        </a:blipFill>
                      </a:tcPr>
                    </a:tc>
                    <a:extLst>
                      <a:ext uri="{0D108BD9-81ED-4DB2-BD59-A6C34878D82A}">
                        <a16:rowId xmlns:a16="http://schemas.microsoft.com/office/drawing/2014/main" val="2913329143"/>
                      </a:ext>
                    </a:extLst>
                  </a:tr>
                  <a:tr h="304800">
                    <a:tc>
                      <a:txBody>
                        <a:bodyPr/>
                        <a:lstStyle/>
                        <a:p>
                          <a:endParaRPr lang="en-US"/>
                        </a:p>
                      </a:txBody>
                      <a:tcPr marL="67990" marR="6799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433333" r="-157303" b="-150000"/>
                          </a:stretch>
                        </a:blipFill>
                      </a:tcPr>
                    </a:tc>
                    <a:tc>
                      <a:txBody>
                        <a:bodyPr/>
                        <a:lstStyle/>
                        <a:p>
                          <a:endParaRPr lang="en-US"/>
                        </a:p>
                      </a:txBody>
                      <a:tcPr marL="67990" marR="6799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64029" t="-1433333" r="-719" b="-150000"/>
                          </a:stretch>
                        </a:blipFill>
                      </a:tcPr>
                    </a:tc>
                    <a:extLst>
                      <a:ext uri="{0D108BD9-81ED-4DB2-BD59-A6C34878D82A}">
                        <a16:rowId xmlns:a16="http://schemas.microsoft.com/office/drawing/2014/main" val="2011458987"/>
                      </a:ext>
                    </a:extLst>
                  </a:tr>
                  <a:tr h="304800">
                    <a:tc>
                      <a:txBody>
                        <a:bodyPr/>
                        <a:lstStyle/>
                        <a:p>
                          <a:pPr marL="0" marR="0" algn="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9525" cap="flat" cmpd="sng">
                          <a:noFill/>
                          <a:prstDash val="solid"/>
                          <a:round/>
                          <a:headEnd type="none" w="sm" len="sm"/>
                          <a:tailEnd type="none" w="sm" len="sm"/>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dirty="0">
                              <a:effectLst/>
                            </a:rPr>
                            <a:t>Key: 5|8 = 58</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7990" marR="67990" marT="0" marB="0">
                        <a:lnL w="12700" cap="flat" cmpd="sng" algn="ctr">
                          <a:noFill/>
                          <a:prstDash val="solid"/>
                          <a:round/>
                          <a:headEnd type="none" w="med" len="med"/>
                          <a:tailEnd type="none" w="med" len="med"/>
                        </a:lnL>
                        <a:lnR w="9525" cap="flat" cmpd="sng">
                          <a:noFill/>
                          <a:prstDash val="solid"/>
                          <a:round/>
                          <a:headEnd type="none" w="sm" len="sm"/>
                          <a:tailEnd type="none" w="sm" len="sm"/>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76605947"/>
                      </a:ext>
                    </a:extLst>
                  </a:tr>
                </a:tbl>
              </a:graphicData>
            </a:graphic>
          </p:graphicFrame>
        </mc:Fallback>
      </mc:AlternateContent>
    </p:spTree>
    <p:extLst>
      <p:ext uri="{BB962C8B-B14F-4D97-AF65-F5344CB8AC3E}">
        <p14:creationId xmlns:p14="http://schemas.microsoft.com/office/powerpoint/2010/main" val="2790811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9144"/>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236</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489364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Compare the stem-and-leaf plot with the line plot from the refresher.</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What value does the entry </a:t>
                </a:r>
                <a14:m>
                  <m:oMath xmlns:m="http://schemas.openxmlformats.org/officeDocument/2006/math">
                    <m:r>
                      <a:rPr lang="en-US" sz="2400" i="1">
                        <a:latin typeface="Cambria Math" panose="02040503050406030204" pitchFamily="18" charset="0"/>
                      </a:rPr>
                      <m:t>13|5</m:t>
                    </m:r>
                  </m:oMath>
                </a14:m>
                <a:r>
                  <a:rPr lang="en-US" sz="2400" dirty="0">
                    <a:latin typeface="Verdana" panose="020B0604030504040204" pitchFamily="34" charset="0"/>
                    <a:ea typeface="Verdana" panose="020B0604030504040204" pitchFamily="34" charset="0"/>
                    <a:cs typeface="Verdana" panose="020B0604030504040204" pitchFamily="34" charset="0"/>
                  </a:rPr>
                  <a:t> represent?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3"/>
                <a:ext cx="10515600" cy="4893647"/>
              </a:xfrm>
              <a:prstGeom prst="rect">
                <a:avLst/>
              </a:prstGeom>
              <a:blipFill>
                <a:blip r:embed="rId4"/>
                <a:stretch>
                  <a:fillRect l="-870" t="-996" b="-1743"/>
                </a:stretch>
              </a:blipFill>
            </p:spPr>
            <p:txBody>
              <a:bodyPr/>
              <a:lstStyle/>
              <a:p>
                <a:r>
                  <a:rPr lang="en-US">
                    <a:noFill/>
                  </a:rPr>
                  <a:t> </a:t>
                </a:r>
              </a:p>
            </p:txBody>
          </p:sp>
        </mc:Fallback>
      </mc:AlternateContent>
      <p:graphicFrame>
        <p:nvGraphicFramePr>
          <p:cNvPr id="2" name="Table 1">
            <a:extLst>
              <a:ext uri="{FF2B5EF4-FFF2-40B4-BE49-F238E27FC236}">
                <a16:creationId xmlns:a16="http://schemas.microsoft.com/office/drawing/2014/main" id="{40E4CA20-6B38-3341-B790-E93078434441}"/>
              </a:ext>
            </a:extLst>
          </p:cNvPr>
          <p:cNvGraphicFramePr>
            <a:graphicFrameLocks noGrp="1"/>
          </p:cNvGraphicFramePr>
          <p:nvPr>
            <p:extLst>
              <p:ext uri="{D42A27DB-BD31-4B8C-83A1-F6EECF244321}">
                <p14:modId xmlns:p14="http://schemas.microsoft.com/office/powerpoint/2010/main" val="1304778359"/>
              </p:ext>
            </p:extLst>
          </p:nvPr>
        </p:nvGraphicFramePr>
        <p:xfrm>
          <a:off x="3078612" y="1456316"/>
          <a:ext cx="6483350" cy="3200400"/>
        </p:xfrm>
        <a:graphic>
          <a:graphicData uri="http://schemas.openxmlformats.org/drawingml/2006/table">
            <a:tbl>
              <a:tblPr firstRow="1" firstCol="1" bandRow="1">
                <a:tableStyleId>{A91F0D33-8C57-4600-99A7-42BC86742BE1}</a:tableStyleId>
              </a:tblPr>
              <a:tblGrid>
                <a:gridCol w="3251200">
                  <a:extLst>
                    <a:ext uri="{9D8B030D-6E8A-4147-A177-3AD203B41FA5}">
                      <a16:colId xmlns:a16="http://schemas.microsoft.com/office/drawing/2014/main" val="341307766"/>
                    </a:ext>
                  </a:extLst>
                </a:gridCol>
                <a:gridCol w="3232150">
                  <a:extLst>
                    <a:ext uri="{9D8B030D-6E8A-4147-A177-3AD203B41FA5}">
                      <a16:colId xmlns:a16="http://schemas.microsoft.com/office/drawing/2014/main" val="2272946724"/>
                    </a:ext>
                  </a:extLst>
                </a:gridCol>
              </a:tblGrid>
              <a:tr h="0">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What similarities do you notice between the displays?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What differences do you notice between the displays?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749619989"/>
                  </a:ext>
                </a:extLst>
              </a:tr>
              <a:tr h="2286000">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8023129"/>
                  </a:ext>
                </a:extLst>
              </a:tr>
            </a:tbl>
          </a:graphicData>
        </a:graphic>
      </p:graphicFrame>
    </p:spTree>
    <p:extLst>
      <p:ext uri="{BB962C8B-B14F-4D97-AF65-F5344CB8AC3E}">
        <p14:creationId xmlns:p14="http://schemas.microsoft.com/office/powerpoint/2010/main" val="2743532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875"/>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236</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4154984"/>
          </a:xfrm>
          <a:prstGeom prst="rect">
            <a:avLst/>
          </a:prstGeom>
          <a:noFill/>
        </p:spPr>
        <p:txBody>
          <a:bodyPr wrap="square" rtlCol="0">
            <a:spAutoFit/>
          </a:bodyPr>
          <a:lstStyle/>
          <a:p>
            <a:pPr marL="342900" indent="-3429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Which measure(s) of center can be determined from the stem-and-leaf plot?</a:t>
            </a:r>
          </a:p>
          <a:p>
            <a:pPr marL="342900" indent="-3429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Which measure(s) of variation can be determined from the stem-and-leaf plot?</a:t>
            </a:r>
          </a:p>
          <a:p>
            <a:pPr lvl="0"/>
            <a:endParaRPr lang="en-US" sz="2400" dirty="0"/>
          </a:p>
        </p:txBody>
      </p:sp>
      <p:sp>
        <p:nvSpPr>
          <p:cNvPr id="6" name="Rounded Rectangle 5">
            <a:extLst>
              <a:ext uri="{FF2B5EF4-FFF2-40B4-BE49-F238E27FC236}">
                <a16:creationId xmlns:a16="http://schemas.microsoft.com/office/drawing/2014/main" id="{B91340A2-48C4-8D41-B9A2-C06337AB51BD}"/>
              </a:ext>
            </a:extLst>
          </p:cNvPr>
          <p:cNvSpPr/>
          <p:nvPr/>
        </p:nvSpPr>
        <p:spPr>
          <a:xfrm>
            <a:off x="2642025" y="1449696"/>
            <a:ext cx="4351122" cy="1466033"/>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85750" indent="-28575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mean</a:t>
            </a:r>
          </a:p>
          <a:p>
            <a:pPr marL="285750" indent="-28575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median</a:t>
            </a:r>
          </a:p>
          <a:p>
            <a:pPr marL="285750" indent="-28575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both the mean and median</a:t>
            </a:r>
          </a:p>
        </p:txBody>
      </p:sp>
      <p:sp>
        <p:nvSpPr>
          <p:cNvPr id="7" name="Rounded Rectangle 6">
            <a:extLst>
              <a:ext uri="{FF2B5EF4-FFF2-40B4-BE49-F238E27FC236}">
                <a16:creationId xmlns:a16="http://schemas.microsoft.com/office/drawing/2014/main" id="{95E90882-D2ED-B541-80CF-4E93E486F3C6}"/>
              </a:ext>
            </a:extLst>
          </p:cNvPr>
          <p:cNvSpPr/>
          <p:nvPr/>
        </p:nvSpPr>
        <p:spPr>
          <a:xfrm>
            <a:off x="2642025" y="4516908"/>
            <a:ext cx="6197175" cy="1482497"/>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range</a:t>
            </a: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interquartile range</a:t>
            </a: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both the range and the interquartile range</a:t>
            </a:r>
          </a:p>
        </p:txBody>
      </p:sp>
    </p:spTree>
    <p:extLst>
      <p:ext uri="{BB962C8B-B14F-4D97-AF65-F5344CB8AC3E}">
        <p14:creationId xmlns:p14="http://schemas.microsoft.com/office/powerpoint/2010/main" val="1320626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237</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13.1.4 Collaboration: Determining, Describing, and Comparing Numerical Data Represented Graphically </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237</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914400" y="1392656"/>
                <a:ext cx="10515600" cy="224676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lvl="0"/>
                <a:r>
                  <a:rPr lang="en-US" sz="2000" dirty="0">
                    <a:latin typeface="Verdana" panose="020B0604030504040204" pitchFamily="34" charset="0"/>
                    <a:ea typeface="Verdana" panose="020B0604030504040204" pitchFamily="34" charset="0"/>
                    <a:cs typeface="Verdana" panose="020B0604030504040204" pitchFamily="34" charset="0"/>
                  </a:rPr>
                  <a:t>Twenty students timed how long it took each of them to solve a puzzle. Below is a list of their solution times, in minutes, and a line plot displaying the data.</a:t>
                </a:r>
              </a:p>
              <a:p>
                <a:endParaRPr lang="en-US" sz="20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2, 6, 7, 7, 8, 8, 8, 9, 9, 9, 9, 9 ,9, 9, 10, 10, 11, 11, 11, 12</m:t>
                      </m:r>
                    </m:oMath>
                  </m:oMathPara>
                </a14:m>
                <a:endParaRPr lang="en-US" sz="2000" dirty="0"/>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914400" y="1392656"/>
                <a:ext cx="10515600" cy="2246769"/>
              </a:xfrm>
              <a:prstGeom prst="rect">
                <a:avLst/>
              </a:prstGeom>
              <a:blipFill>
                <a:blip r:embed="rId5"/>
                <a:stretch>
                  <a:fillRect l="-638" t="-1626" r="-1043"/>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2A08D010-E75E-A54B-80AF-DB6EB008474B}"/>
              </a:ext>
            </a:extLst>
          </p:cNvPr>
          <p:cNvSpPr txBox="1"/>
          <p:nvPr/>
        </p:nvSpPr>
        <p:spPr>
          <a:xfrm>
            <a:off x="3289632" y="6000545"/>
            <a:ext cx="5129775" cy="400110"/>
          </a:xfrm>
          <a:prstGeom prst="rect">
            <a:avLst/>
          </a:prstGeom>
          <a:noFill/>
        </p:spPr>
        <p:txBody>
          <a:bodyPr wrap="square">
            <a:spAutoFit/>
          </a:bodyPr>
          <a:lstStyle/>
          <a:p>
            <a:pPr algn="ctr"/>
            <a:r>
              <a:rPr lang="en-US" sz="2000" dirty="0">
                <a:latin typeface="Verdana" panose="020B0604030504040204" pitchFamily="34" charset="0"/>
                <a:ea typeface="Times New Roman" panose="02020603050405020304" pitchFamily="18" charset="0"/>
                <a:cs typeface="Times New Roman" panose="02020603050405020304" pitchFamily="18" charset="0"/>
              </a:rPr>
              <a:t>Puzzle Solving Time (minutes)</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4" name="Picture 13" descr="Chart, scatter chart&#10;&#10;Description automatically generated"/>
          <p:cNvPicPr/>
          <p:nvPr/>
        </p:nvPicPr>
        <p:blipFill rotWithShape="1">
          <a:blip r:embed="rId6" cstate="screen">
            <a:extLst>
              <a:ext uri="{28A0092B-C50C-407E-A947-70E740481C1C}">
                <a14:useLocalDpi xmlns:a14="http://schemas.microsoft.com/office/drawing/2010/main"/>
              </a:ext>
            </a:extLst>
          </a:blip>
          <a:srcRect t="13954"/>
          <a:stretch/>
        </p:blipFill>
        <p:spPr bwMode="auto">
          <a:xfrm>
            <a:off x="3085407" y="3536015"/>
            <a:ext cx="5334000" cy="255206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744370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914400" y="3406522"/>
                <a:ext cx="10515600" cy="2677656"/>
              </a:xfrm>
              <a:prstGeom prst="rect">
                <a:avLst/>
              </a:prstGeom>
            </p:spPr>
            <p:txBody>
              <a:bodyPr wrap="square">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Determine the mean of the data set.</a:t>
                </a:r>
                <a:r>
                  <a:rPr lang="en-US" sz="2400" i="1" dirty="0">
                    <a:latin typeface="Verdana" panose="020B0604030504040204" pitchFamily="34" charset="0"/>
                    <a:ea typeface="Verdana" panose="020B0604030504040204" pitchFamily="34"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Then, draw an arrow (</a:t>
                </a:r>
                <a14:m>
                  <m:oMath xmlns:m="http://schemas.openxmlformats.org/officeDocument/2006/math">
                    <m:r>
                      <a:rPr lang="en-US" sz="2400" i="1">
                        <a:latin typeface="Cambria Math" panose="020405030504060302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below the number line that points to this value.</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Determine the median of the data set.</a:t>
                </a:r>
                <a:r>
                  <a:rPr lang="en-US" sz="2400" i="1" dirty="0">
                    <a:latin typeface="Verdana" panose="020B0604030504040204" pitchFamily="34" charset="0"/>
                    <a:ea typeface="Verdana" panose="020B0604030504040204" pitchFamily="34"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Then, circle the value on the number line that represents the median.</a:t>
                </a:r>
              </a:p>
            </p:txBody>
          </p:sp>
        </mc:Choice>
        <mc:Fallback xmlns="">
          <p:sp>
            <p:nvSpPr>
              <p:cNvPr id="2" name="Rectangle 1"/>
              <p:cNvSpPr>
                <a:spLocks noRot="1" noChangeAspect="1" noMove="1" noResize="1" noEditPoints="1" noAdjustHandles="1" noChangeArrowheads="1" noChangeShapeType="1" noTextEdit="1"/>
              </p:cNvSpPr>
              <p:nvPr/>
            </p:nvSpPr>
            <p:spPr>
              <a:xfrm>
                <a:off x="914400" y="3406522"/>
                <a:ext cx="10515600" cy="2677656"/>
              </a:xfrm>
              <a:prstGeom prst="rect">
                <a:avLst/>
              </a:prstGeom>
              <a:blipFill>
                <a:blip r:embed="rId2"/>
                <a:stretch>
                  <a:fillRect t="-1822" r="-986" b="-43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3263544" y="421552"/>
                <a:ext cx="583833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2, 6, 7, 7, 8, 8, 8, 9, 9, 9, 9, 9 ,9, 9, 10, 10, 11, 11, 11, 12</m:t>
                      </m:r>
                    </m:oMath>
                  </m:oMathPara>
                </a14:m>
                <a:endParaRPr lang="en-US" sz="2000" dirty="0"/>
              </a:p>
            </p:txBody>
          </p:sp>
        </mc:Choice>
        <mc:Fallback xmlns="">
          <p:sp>
            <p:nvSpPr>
              <p:cNvPr id="3" name="Rectangle 2"/>
              <p:cNvSpPr>
                <a:spLocks noRot="1" noChangeAspect="1" noMove="1" noResize="1" noEditPoints="1" noAdjustHandles="1" noChangeArrowheads="1" noChangeShapeType="1" noTextEdit="1"/>
              </p:cNvSpPr>
              <p:nvPr/>
            </p:nvSpPr>
            <p:spPr>
              <a:xfrm>
                <a:off x="3263544" y="421552"/>
                <a:ext cx="5838330" cy="400110"/>
              </a:xfrm>
              <a:prstGeom prst="rect">
                <a:avLst/>
              </a:prstGeom>
              <a:blipFill>
                <a:blip r:embed="rId3"/>
                <a:stretch>
                  <a:fillRect b="-18750"/>
                </a:stretch>
              </a:blipFill>
            </p:spPr>
            <p:txBody>
              <a:bodyPr/>
              <a:lstStyle/>
              <a:p>
                <a:r>
                  <a:rPr lang="en-US">
                    <a:noFill/>
                  </a:rPr>
                  <a:t> </a:t>
                </a:r>
              </a:p>
            </p:txBody>
          </p:sp>
        </mc:Fallback>
      </mc:AlternateContent>
      <p:pic>
        <p:nvPicPr>
          <p:cNvPr id="4" name="Picture 3" descr="Chart, scatter chart&#10;&#10;Description automatically generated"/>
          <p:cNvPicPr/>
          <p:nvPr/>
        </p:nvPicPr>
        <p:blipFill rotWithShape="1">
          <a:blip r:embed="rId4" cstate="screen">
            <a:extLst>
              <a:ext uri="{28A0092B-C50C-407E-A947-70E740481C1C}">
                <a14:useLocalDpi xmlns:a14="http://schemas.microsoft.com/office/drawing/2010/main"/>
              </a:ext>
            </a:extLst>
          </a:blip>
          <a:srcRect t="13954"/>
          <a:stretch/>
        </p:blipFill>
        <p:spPr bwMode="auto">
          <a:xfrm>
            <a:off x="3494689" y="821663"/>
            <a:ext cx="4803310" cy="2086447"/>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2A08D010-E75E-A54B-80AF-DB6EB008474B}"/>
              </a:ext>
            </a:extLst>
          </p:cNvPr>
          <p:cNvSpPr txBox="1"/>
          <p:nvPr/>
        </p:nvSpPr>
        <p:spPr>
          <a:xfrm>
            <a:off x="3570162" y="2708054"/>
            <a:ext cx="5129775" cy="400110"/>
          </a:xfrm>
          <a:prstGeom prst="rect">
            <a:avLst/>
          </a:prstGeom>
          <a:noFill/>
        </p:spPr>
        <p:txBody>
          <a:bodyPr wrap="square">
            <a:spAutoFit/>
          </a:bodyPr>
          <a:lstStyle/>
          <a:p>
            <a:pPr algn="ctr"/>
            <a:r>
              <a:rPr lang="en-US" sz="2000" dirty="0">
                <a:latin typeface="Verdana" panose="020B0604030504040204" pitchFamily="34" charset="0"/>
                <a:ea typeface="Times New Roman" panose="02020603050405020304" pitchFamily="18" charset="0"/>
                <a:cs typeface="Times New Roman" panose="02020603050405020304" pitchFamily="18" charset="0"/>
              </a:rPr>
              <a:t>Puzzle Solving Time (minutes)</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6"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237</a:t>
            </a:r>
          </a:p>
        </p:txBody>
      </p:sp>
      <p:pic>
        <p:nvPicPr>
          <p:cNvPr id="7"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960545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237</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4154984"/>
          </a:xfrm>
          <a:prstGeom prst="rect">
            <a:avLst/>
          </a:prstGeom>
          <a:noFill/>
        </p:spPr>
        <p:txBody>
          <a:bodyPr wrap="square" rtlCol="0">
            <a:spAutoFit/>
          </a:bodyPr>
          <a:lstStyle/>
          <a:p>
            <a:pPr marL="925513" indent="-46355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what you notice about the mean and the median of the data. Summarize your discussion.</a:t>
            </a:r>
          </a:p>
          <a:p>
            <a:pPr marL="925513" indent="-46355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5513" indent="-46355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5513" indent="-46355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5513" indent="-46355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What is the range of the data?</a:t>
            </a:r>
          </a:p>
          <a:p>
            <a:pPr marL="925513" indent="-46355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5513" indent="-46355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5513" indent="-46355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5513" indent="-46355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Find the interquartile range (IQR).</a:t>
            </a:r>
          </a:p>
          <a:p>
            <a:pPr lvl="0"/>
            <a:endParaRPr lang="en-US" sz="2400" dirty="0"/>
          </a:p>
        </p:txBody>
      </p:sp>
      <p:graphicFrame>
        <p:nvGraphicFramePr>
          <p:cNvPr id="2" name="Table 1">
            <a:extLst>
              <a:ext uri="{FF2B5EF4-FFF2-40B4-BE49-F238E27FC236}">
                <a16:creationId xmlns:a16="http://schemas.microsoft.com/office/drawing/2014/main" id="{66038552-C0D1-4D4F-95E8-EE040272913D}"/>
              </a:ext>
            </a:extLst>
          </p:cNvPr>
          <p:cNvGraphicFramePr>
            <a:graphicFrameLocks noGrp="1"/>
          </p:cNvGraphicFramePr>
          <p:nvPr>
            <p:extLst>
              <p:ext uri="{D42A27DB-BD31-4B8C-83A1-F6EECF244321}">
                <p14:modId xmlns:p14="http://schemas.microsoft.com/office/powerpoint/2010/main" val="2493036107"/>
              </p:ext>
            </p:extLst>
          </p:nvPr>
        </p:nvGraphicFramePr>
        <p:xfrm>
          <a:off x="2190048" y="4912393"/>
          <a:ext cx="5911850" cy="1118870"/>
        </p:xfrm>
        <a:graphic>
          <a:graphicData uri="http://schemas.openxmlformats.org/drawingml/2006/table">
            <a:tbl>
              <a:tblPr firstRow="1" firstCol="1" bandRow="1">
                <a:tableStyleId>{A91F0D33-8C57-4600-99A7-42BC86742BE1}</a:tableStyleId>
              </a:tblPr>
              <a:tblGrid>
                <a:gridCol w="1962785">
                  <a:extLst>
                    <a:ext uri="{9D8B030D-6E8A-4147-A177-3AD203B41FA5}">
                      <a16:colId xmlns:a16="http://schemas.microsoft.com/office/drawing/2014/main" val="520199921"/>
                    </a:ext>
                  </a:extLst>
                </a:gridCol>
                <a:gridCol w="1962785">
                  <a:extLst>
                    <a:ext uri="{9D8B030D-6E8A-4147-A177-3AD203B41FA5}">
                      <a16:colId xmlns:a16="http://schemas.microsoft.com/office/drawing/2014/main" val="2597631472"/>
                    </a:ext>
                  </a:extLst>
                </a:gridCol>
                <a:gridCol w="1986280">
                  <a:extLst>
                    <a:ext uri="{9D8B030D-6E8A-4147-A177-3AD203B41FA5}">
                      <a16:colId xmlns:a16="http://schemas.microsoft.com/office/drawing/2014/main" val="302503636"/>
                    </a:ext>
                  </a:extLst>
                </a:gridCol>
              </a:tblGrid>
              <a:tr h="43942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Q1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a:effectLst/>
                          <a:latin typeface="Verdana" panose="020B0604030504040204" pitchFamily="34" charset="0"/>
                          <a:ea typeface="Verdana" panose="020B0604030504040204" pitchFamily="34" charset="0"/>
                          <a:cs typeface="Verdana" panose="020B0604030504040204" pitchFamily="34" charset="0"/>
                        </a:rPr>
                        <a:t>Q3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IQR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187569908"/>
                  </a:ext>
                </a:extLst>
              </a:tr>
              <a:tr h="679450">
                <a:tc>
                  <a:txBody>
                    <a:bodyPr/>
                    <a:lstStyle/>
                    <a:p>
                      <a:pPr marL="0" marR="0" algn="ctr">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538133"/>
                  </a:ext>
                </a:extLst>
              </a:tr>
            </a:tbl>
          </a:graphicData>
        </a:graphic>
      </p:graphicFrame>
    </p:spTree>
    <p:extLst>
      <p:ext uri="{BB962C8B-B14F-4D97-AF65-F5344CB8AC3E}">
        <p14:creationId xmlns:p14="http://schemas.microsoft.com/office/powerpoint/2010/main" val="5326881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237</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4524315"/>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Imagine that the fastest time of </a:t>
                </a:r>
                <a14:m>
                  <m:oMath xmlns:m="http://schemas.openxmlformats.org/officeDocument/2006/math">
                    <m:r>
                      <a:rPr lang="en-US" sz="2400">
                        <a:latin typeface="Cambria Math" panose="02040503050406030204" pitchFamily="18"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minutes was removed from the data set. Discuss with your partner what effect, if any, removing this value has on the values of center and variation (mean, median, range, IQR). Summarize your discussion.</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Describe how the shape of the graph would change if </a:t>
                </a:r>
                <a14:m>
                  <m:oMath xmlns:m="http://schemas.openxmlformats.org/officeDocument/2006/math">
                    <m:r>
                      <a:rPr lang="en-US" sz="2400">
                        <a:latin typeface="Cambria Math" panose="02040503050406030204" pitchFamily="18"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is removed.</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3"/>
                <a:ext cx="10515600" cy="4524315"/>
              </a:xfrm>
              <a:prstGeom prst="rect">
                <a:avLst/>
              </a:prstGeom>
              <a:blipFill>
                <a:blip r:embed="rId4"/>
                <a:stretch>
                  <a:fillRect l="-870" t="-1211" b="-2019"/>
                </a:stretch>
              </a:blipFill>
            </p:spPr>
            <p:txBody>
              <a:bodyPr/>
              <a:lstStyle/>
              <a:p>
                <a:r>
                  <a:rPr lang="en-US">
                    <a:noFill/>
                  </a:rPr>
                  <a:t> </a:t>
                </a:r>
              </a:p>
            </p:txBody>
          </p:sp>
        </mc:Fallback>
      </mc:AlternateContent>
    </p:spTree>
    <p:extLst>
      <p:ext uri="{BB962C8B-B14F-4D97-AF65-F5344CB8AC3E}">
        <p14:creationId xmlns:p14="http://schemas.microsoft.com/office/powerpoint/2010/main" val="16891742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238</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13322"/>
                <a:ext cx="10515600" cy="1938992"/>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Complete the table to compare the values of each measure before and after </a:t>
                </a:r>
                <a14:m>
                  <m:oMath xmlns:m="http://schemas.openxmlformats.org/officeDocument/2006/math">
                    <m:r>
                      <a:rPr lang="en-US" sz="2400" i="1">
                        <a:latin typeface="Cambria Math" panose="02040503050406030204" pitchFamily="18"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is removed.</a:t>
                </a: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13322"/>
                <a:ext cx="10515600" cy="1938992"/>
              </a:xfrm>
              <a:prstGeom prst="rect">
                <a:avLst/>
              </a:prstGeom>
              <a:blipFill>
                <a:blip r:embed="rId4"/>
                <a:stretch>
                  <a:fillRect l="-870" t="-25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659A9AA1-0CEF-164A-A1C4-81D89CA8EC3E}"/>
                  </a:ext>
                </a:extLst>
              </p:cNvPr>
              <p:cNvGraphicFramePr>
                <a:graphicFrameLocks noGrp="1"/>
              </p:cNvGraphicFramePr>
              <p:nvPr>
                <p:extLst>
                  <p:ext uri="{D42A27DB-BD31-4B8C-83A1-F6EECF244321}">
                    <p14:modId xmlns:p14="http://schemas.microsoft.com/office/powerpoint/2010/main" val="2477306627"/>
                  </p:ext>
                </p:extLst>
              </p:nvPr>
            </p:nvGraphicFramePr>
            <p:xfrm>
              <a:off x="2391103" y="1581097"/>
              <a:ext cx="7868464" cy="3053965"/>
            </p:xfrm>
            <a:graphic>
              <a:graphicData uri="http://schemas.openxmlformats.org/drawingml/2006/table">
                <a:tbl>
                  <a:tblPr firstRow="1" firstCol="1" bandRow="1">
                    <a:tableStyleId>{A91F0D33-8C57-4600-99A7-42BC86742BE1}</a:tableStyleId>
                  </a:tblPr>
                  <a:tblGrid>
                    <a:gridCol w="1421046">
                      <a:extLst>
                        <a:ext uri="{9D8B030D-6E8A-4147-A177-3AD203B41FA5}">
                          <a16:colId xmlns:a16="http://schemas.microsoft.com/office/drawing/2014/main" val="3767551589"/>
                        </a:ext>
                      </a:extLst>
                    </a:gridCol>
                    <a:gridCol w="2231926">
                      <a:extLst>
                        <a:ext uri="{9D8B030D-6E8A-4147-A177-3AD203B41FA5}">
                          <a16:colId xmlns:a16="http://schemas.microsoft.com/office/drawing/2014/main" val="845845289"/>
                        </a:ext>
                      </a:extLst>
                    </a:gridCol>
                    <a:gridCol w="1202731">
                      <a:extLst>
                        <a:ext uri="{9D8B030D-6E8A-4147-A177-3AD203B41FA5}">
                          <a16:colId xmlns:a16="http://schemas.microsoft.com/office/drawing/2014/main" val="624999615"/>
                        </a:ext>
                      </a:extLst>
                    </a:gridCol>
                    <a:gridCol w="3012761">
                      <a:extLst>
                        <a:ext uri="{9D8B030D-6E8A-4147-A177-3AD203B41FA5}">
                          <a16:colId xmlns:a16="http://schemas.microsoft.com/office/drawing/2014/main" val="1497273048"/>
                        </a:ext>
                      </a:extLst>
                    </a:gridCol>
                  </a:tblGrid>
                  <a:tr h="1034473">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Original Value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smtClean="0">
                                    <a:effectLst/>
                                    <a:latin typeface="Cambria Math" panose="02040503050406030204" pitchFamily="18" charset="0"/>
                                  </a:rPr>
                                  <m:t>&gt;,&lt;,=</m:t>
                                </m:r>
                              </m:oMath>
                            </m:oMathPara>
                          </a14:m>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New Value After </a:t>
                          </a:r>
                          <a:r>
                            <a:rPr lang="en-US" sz="2000" b="1" dirty="0">
                              <a:effectLst/>
                              <a:latin typeface="Cambria Math" panose="02040503050406030204" pitchFamily="18" charset="0"/>
                              <a:ea typeface="Cambria Math" panose="02040503050406030204" pitchFamily="18" charset="0"/>
                              <a:cs typeface="Verdana" panose="020B0604030504040204" pitchFamily="34" charset="0"/>
                            </a:rPr>
                            <a:t>2</a:t>
                          </a:r>
                          <a:r>
                            <a:rPr lang="en-US" sz="2000" b="1" dirty="0">
                              <a:effectLst/>
                              <a:latin typeface="Verdana" panose="020B0604030504040204" pitchFamily="34" charset="0"/>
                              <a:ea typeface="Verdana" panose="020B0604030504040204" pitchFamily="34" charset="0"/>
                              <a:cs typeface="Verdana" panose="020B0604030504040204" pitchFamily="34" charset="0"/>
                            </a:rPr>
                            <a:t> is Removed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109688714"/>
                      </a:ext>
                    </a:extLst>
                  </a:tr>
                  <a:tr h="504873">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Mean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2133637"/>
                      </a:ext>
                    </a:extLst>
                  </a:tr>
                  <a:tr h="504873">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Median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3923453"/>
                      </a:ext>
                    </a:extLst>
                  </a:tr>
                  <a:tr h="504873">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Range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4868877"/>
                      </a:ext>
                    </a:extLst>
                  </a:tr>
                  <a:tr h="504873">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IQR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7776269"/>
                      </a:ext>
                    </a:extLst>
                  </a:tr>
                </a:tbl>
              </a:graphicData>
            </a:graphic>
          </p:graphicFrame>
        </mc:Choice>
        <mc:Fallback xmlns="">
          <p:graphicFrame>
            <p:nvGraphicFramePr>
              <p:cNvPr id="2" name="Table 1">
                <a:extLst>
                  <a:ext uri="{FF2B5EF4-FFF2-40B4-BE49-F238E27FC236}">
                    <a16:creationId xmlns:a16="http://schemas.microsoft.com/office/drawing/2014/main" id="{659A9AA1-0CEF-164A-A1C4-81D89CA8EC3E}"/>
                  </a:ext>
                </a:extLst>
              </p:cNvPr>
              <p:cNvGraphicFramePr>
                <a:graphicFrameLocks noGrp="1"/>
              </p:cNvGraphicFramePr>
              <p:nvPr>
                <p:extLst>
                  <p:ext uri="{D42A27DB-BD31-4B8C-83A1-F6EECF244321}">
                    <p14:modId xmlns:p14="http://schemas.microsoft.com/office/powerpoint/2010/main" val="2477306627"/>
                  </p:ext>
                </p:extLst>
              </p:nvPr>
            </p:nvGraphicFramePr>
            <p:xfrm>
              <a:off x="2391103" y="1581097"/>
              <a:ext cx="7868464" cy="3053965"/>
            </p:xfrm>
            <a:graphic>
              <a:graphicData uri="http://schemas.openxmlformats.org/drawingml/2006/table">
                <a:tbl>
                  <a:tblPr firstRow="1" firstCol="1" bandRow="1">
                    <a:tableStyleId>{A91F0D33-8C57-4600-99A7-42BC86742BE1}</a:tableStyleId>
                  </a:tblPr>
                  <a:tblGrid>
                    <a:gridCol w="1421046">
                      <a:extLst>
                        <a:ext uri="{9D8B030D-6E8A-4147-A177-3AD203B41FA5}">
                          <a16:colId xmlns:a16="http://schemas.microsoft.com/office/drawing/2014/main" val="3767551589"/>
                        </a:ext>
                      </a:extLst>
                    </a:gridCol>
                    <a:gridCol w="2231926">
                      <a:extLst>
                        <a:ext uri="{9D8B030D-6E8A-4147-A177-3AD203B41FA5}">
                          <a16:colId xmlns:a16="http://schemas.microsoft.com/office/drawing/2014/main" val="845845289"/>
                        </a:ext>
                      </a:extLst>
                    </a:gridCol>
                    <a:gridCol w="1202731">
                      <a:extLst>
                        <a:ext uri="{9D8B030D-6E8A-4147-A177-3AD203B41FA5}">
                          <a16:colId xmlns:a16="http://schemas.microsoft.com/office/drawing/2014/main" val="624999615"/>
                        </a:ext>
                      </a:extLst>
                    </a:gridCol>
                    <a:gridCol w="3012761">
                      <a:extLst>
                        <a:ext uri="{9D8B030D-6E8A-4147-A177-3AD203B41FA5}">
                          <a16:colId xmlns:a16="http://schemas.microsoft.com/office/drawing/2014/main" val="1497273048"/>
                        </a:ext>
                      </a:extLst>
                    </a:gridCol>
                  </a:tblGrid>
                  <a:tr h="1034473">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Original Value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4211" t="-1220" r="-251579" b="-200000"/>
                          </a:stretch>
                        </a:blip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New Value After </a:t>
                          </a:r>
                          <a:r>
                            <a:rPr lang="en-US" sz="2000" b="1" dirty="0">
                              <a:effectLst/>
                              <a:latin typeface="Cambria Math" panose="02040503050406030204" pitchFamily="18" charset="0"/>
                              <a:ea typeface="Cambria Math" panose="02040503050406030204" pitchFamily="18" charset="0"/>
                              <a:cs typeface="Verdana" panose="020B0604030504040204" pitchFamily="34" charset="0"/>
                            </a:rPr>
                            <a:t>2</a:t>
                          </a:r>
                          <a:r>
                            <a:rPr lang="en-US" sz="2000" b="1" dirty="0">
                              <a:effectLst/>
                              <a:latin typeface="Verdana" panose="020B0604030504040204" pitchFamily="34" charset="0"/>
                              <a:ea typeface="Verdana" panose="020B0604030504040204" pitchFamily="34" charset="0"/>
                              <a:cs typeface="Verdana" panose="020B0604030504040204" pitchFamily="34" charset="0"/>
                            </a:rPr>
                            <a:t> is Removed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109688714"/>
                      </a:ext>
                    </a:extLst>
                  </a:tr>
                  <a:tr h="504873">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Mean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2133637"/>
                      </a:ext>
                    </a:extLst>
                  </a:tr>
                  <a:tr h="504873">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Median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3923453"/>
                      </a:ext>
                    </a:extLst>
                  </a:tr>
                  <a:tr h="504873">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Range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4868877"/>
                      </a:ext>
                    </a:extLst>
                  </a:tr>
                  <a:tr h="504873">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IQR</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rPr>
                            <a:t> </a:t>
                          </a:r>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7776269"/>
                      </a:ext>
                    </a:extLst>
                  </a:tr>
                </a:tbl>
              </a:graphicData>
            </a:graphic>
          </p:graphicFrame>
        </mc:Fallback>
      </mc:AlternateContent>
    </p:spTree>
    <p:extLst>
      <p:ext uri="{BB962C8B-B14F-4D97-AF65-F5344CB8AC3E}">
        <p14:creationId xmlns:p14="http://schemas.microsoft.com/office/powerpoint/2010/main" val="3134092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238</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45070"/>
            <a:ext cx="10515600" cy="4524315"/>
          </a:xfrm>
          <a:prstGeom prst="rect">
            <a:avLst/>
          </a:prstGeom>
          <a:noFill/>
        </p:spPr>
        <p:txBody>
          <a:bodyPr wrap="square" rtlCol="0">
            <a:spAutoFit/>
          </a:bodyPr>
          <a:lstStyle/>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Which measure(s) of center will be affected if the outlier is removed?</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r>
              <a:rPr lang="en-US" sz="2400" dirty="0">
                <a:latin typeface="Verdana" panose="020B0604030504040204" pitchFamily="34" charset="0"/>
                <a:ea typeface="Verdana" panose="020B0604030504040204" pitchFamily="34" charset="0"/>
                <a:cs typeface="Verdana" panose="020B0604030504040204" pitchFamily="34" charset="0"/>
              </a:rPr>
              <a:t>Which measure(s) of variation will be affected if the outlier is removed?</a:t>
            </a:r>
          </a:p>
          <a:p>
            <a:pPr lvl="0"/>
            <a:endParaRPr lang="en-US" sz="2400" dirty="0"/>
          </a:p>
        </p:txBody>
      </p:sp>
      <p:sp>
        <p:nvSpPr>
          <p:cNvPr id="7" name="Rounded Rectangle 6">
            <a:extLst>
              <a:ext uri="{FF2B5EF4-FFF2-40B4-BE49-F238E27FC236}">
                <a16:creationId xmlns:a16="http://schemas.microsoft.com/office/drawing/2014/main" id="{35A2BFE3-B808-5E40-B6FC-F029D47413ED}"/>
              </a:ext>
            </a:extLst>
          </p:cNvPr>
          <p:cNvSpPr/>
          <p:nvPr/>
        </p:nvSpPr>
        <p:spPr>
          <a:xfrm>
            <a:off x="2467711" y="1798725"/>
            <a:ext cx="4290446" cy="1225065"/>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mean</a:t>
            </a:r>
            <a:endParaRPr lang="en-US" sz="2000" dirty="0">
              <a:ea typeface="Times New Roman" panose="02020603050405020304" pitchFamily="18" charset="0"/>
              <a:cs typeface="Times New Roman" panose="02020603050405020304" pitchFamily="18" charset="0"/>
            </a:endParaRP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median</a:t>
            </a:r>
            <a:endParaRPr lang="en-US" sz="2000" dirty="0">
              <a:ea typeface="Times New Roman" panose="02020603050405020304" pitchFamily="18" charset="0"/>
              <a:cs typeface="Times New Roman" panose="02020603050405020304" pitchFamily="18" charset="0"/>
            </a:endParaRP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both the mean and median</a:t>
            </a:r>
            <a:endParaRPr lang="en-US" sz="2000" dirty="0">
              <a:ea typeface="Times New Roman" panose="02020603050405020304" pitchFamily="18" charset="0"/>
              <a:cs typeface="Times New Roman" panose="02020603050405020304" pitchFamily="18" charset="0"/>
            </a:endParaRPr>
          </a:p>
        </p:txBody>
      </p:sp>
      <p:sp>
        <p:nvSpPr>
          <p:cNvPr id="8" name="Rounded Rectangle 7">
            <a:extLst>
              <a:ext uri="{FF2B5EF4-FFF2-40B4-BE49-F238E27FC236}">
                <a16:creationId xmlns:a16="http://schemas.microsoft.com/office/drawing/2014/main" id="{B82DC607-FD70-544E-B4D4-8985161A445C}"/>
              </a:ext>
            </a:extLst>
          </p:cNvPr>
          <p:cNvSpPr/>
          <p:nvPr/>
        </p:nvSpPr>
        <p:spPr>
          <a:xfrm>
            <a:off x="2467711" y="4446742"/>
            <a:ext cx="6171004" cy="1167130"/>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range</a:t>
            </a:r>
            <a:endParaRPr lang="en-US" sz="2000" dirty="0">
              <a:ea typeface="Times New Roman" panose="02020603050405020304" pitchFamily="18" charset="0"/>
              <a:cs typeface="Times New Roman" panose="02020603050405020304" pitchFamily="18" charset="0"/>
            </a:endParaRP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interquartile range</a:t>
            </a:r>
            <a:endParaRPr lang="en-US" sz="2000" dirty="0">
              <a:ea typeface="Times New Roman" panose="02020603050405020304" pitchFamily="18" charset="0"/>
              <a:cs typeface="Times New Roman" panose="02020603050405020304" pitchFamily="18" charset="0"/>
            </a:endParaRP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both the range and the interquartile range</a:t>
            </a:r>
            <a:endParaRPr lang="en-US" sz="2000" dirty="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03169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3054096" y="2897923"/>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EE3C8BB3-D8AE-154C-9B2D-B1D7451436FE}"/>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238</a:t>
            </a:r>
          </a:p>
        </p:txBody>
      </p:sp>
    </p:spTree>
    <p:extLst>
      <p:ext uri="{BB962C8B-B14F-4D97-AF65-F5344CB8AC3E}">
        <p14:creationId xmlns:p14="http://schemas.microsoft.com/office/powerpoint/2010/main" val="11559349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143000" y="60325"/>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13.1.5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356616" y="60325"/>
            <a:ext cx="747300" cy="747300"/>
          </a:xfrm>
          <a:prstGeom prst="rect">
            <a:avLst/>
          </a:prstGeom>
          <a:noFill/>
          <a:ln>
            <a:noFill/>
          </a:ln>
          <a:effectLst>
            <a:outerShdw blurRad="50800" dist="38100" dir="2700000" algn="tl" rotWithShape="0">
              <a:prstClr val="black">
                <a:alpha val="40000"/>
              </a:prstClr>
            </a:outerShdw>
          </a:effectLst>
        </p:spPr>
      </p:pic>
      <p:sp>
        <p:nvSpPr>
          <p:cNvPr id="11" name="Google Shape;282;g104476d1465_1_17">
            <a:extLst>
              <a:ext uri="{FF2B5EF4-FFF2-40B4-BE49-F238E27FC236}">
                <a16:creationId xmlns:a16="http://schemas.microsoft.com/office/drawing/2014/main" id="{F9486181-07A1-C74B-A129-E8949F43C159}"/>
              </a:ext>
            </a:extLst>
          </p:cNvPr>
          <p:cNvSpPr txBox="1"/>
          <p:nvPr/>
        </p:nvSpPr>
        <p:spPr>
          <a:xfrm>
            <a:off x="8897112" y="6463250"/>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238</a:t>
            </a:r>
          </a:p>
        </p:txBody>
      </p:sp>
      <p:sp>
        <p:nvSpPr>
          <p:cNvPr id="12" name="TextBox 11">
            <a:extLst>
              <a:ext uri="{FF2B5EF4-FFF2-40B4-BE49-F238E27FC236}">
                <a16:creationId xmlns:a16="http://schemas.microsoft.com/office/drawing/2014/main" id="{759C3E41-93EC-B84D-963F-86A3B15AC1C6}"/>
              </a:ext>
            </a:extLst>
          </p:cNvPr>
          <p:cNvSpPr txBox="1"/>
          <p:nvPr/>
        </p:nvSpPr>
        <p:spPr>
          <a:xfrm>
            <a:off x="914400" y="1386026"/>
            <a:ext cx="10515600" cy="3785652"/>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following data set shows the number of tickets a movie theater sold in one day for each movie that is playing at the theater.</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One of the values in the data set is an outlier. Explain which value you think is the outlier.</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EB4664AB-9023-FB4A-B430-310F8D290264}"/>
                  </a:ext>
                </a:extLst>
              </p:cNvPr>
              <p:cNvGraphicFramePr>
                <a:graphicFrameLocks noGrp="1"/>
              </p:cNvGraphicFramePr>
              <p:nvPr>
                <p:extLst>
                  <p:ext uri="{D42A27DB-BD31-4B8C-83A1-F6EECF244321}">
                    <p14:modId xmlns:p14="http://schemas.microsoft.com/office/powerpoint/2010/main" val="3372200322"/>
                  </p:ext>
                </p:extLst>
              </p:nvPr>
            </p:nvGraphicFramePr>
            <p:xfrm>
              <a:off x="2532900" y="2819400"/>
              <a:ext cx="6629400" cy="609600"/>
            </p:xfrm>
            <a:graphic>
              <a:graphicData uri="http://schemas.openxmlformats.org/drawingml/2006/table">
                <a:tbl>
                  <a:tblPr firstRow="1" firstCol="1" bandRow="1">
                    <a:tableStyleId>{A91F0D33-8C57-4600-99A7-42BC86742BE1}</a:tableStyleId>
                  </a:tblPr>
                  <a:tblGrid>
                    <a:gridCol w="946785">
                      <a:extLst>
                        <a:ext uri="{9D8B030D-6E8A-4147-A177-3AD203B41FA5}">
                          <a16:colId xmlns:a16="http://schemas.microsoft.com/office/drawing/2014/main" val="1199257097"/>
                        </a:ext>
                      </a:extLst>
                    </a:gridCol>
                    <a:gridCol w="946785">
                      <a:extLst>
                        <a:ext uri="{9D8B030D-6E8A-4147-A177-3AD203B41FA5}">
                          <a16:colId xmlns:a16="http://schemas.microsoft.com/office/drawing/2014/main" val="572561985"/>
                        </a:ext>
                      </a:extLst>
                    </a:gridCol>
                    <a:gridCol w="947420">
                      <a:extLst>
                        <a:ext uri="{9D8B030D-6E8A-4147-A177-3AD203B41FA5}">
                          <a16:colId xmlns:a16="http://schemas.microsoft.com/office/drawing/2014/main" val="267819819"/>
                        </a:ext>
                      </a:extLst>
                    </a:gridCol>
                    <a:gridCol w="946785">
                      <a:extLst>
                        <a:ext uri="{9D8B030D-6E8A-4147-A177-3AD203B41FA5}">
                          <a16:colId xmlns:a16="http://schemas.microsoft.com/office/drawing/2014/main" val="4000208847"/>
                        </a:ext>
                      </a:extLst>
                    </a:gridCol>
                    <a:gridCol w="947420">
                      <a:extLst>
                        <a:ext uri="{9D8B030D-6E8A-4147-A177-3AD203B41FA5}">
                          <a16:colId xmlns:a16="http://schemas.microsoft.com/office/drawing/2014/main" val="1425074361"/>
                        </a:ext>
                      </a:extLst>
                    </a:gridCol>
                    <a:gridCol w="946785">
                      <a:extLst>
                        <a:ext uri="{9D8B030D-6E8A-4147-A177-3AD203B41FA5}">
                          <a16:colId xmlns:a16="http://schemas.microsoft.com/office/drawing/2014/main" val="3376361368"/>
                        </a:ext>
                      </a:extLst>
                    </a:gridCol>
                    <a:gridCol w="947420">
                      <a:extLst>
                        <a:ext uri="{9D8B030D-6E8A-4147-A177-3AD203B41FA5}">
                          <a16:colId xmlns:a16="http://schemas.microsoft.com/office/drawing/2014/main" val="1386699876"/>
                        </a:ext>
                      </a:extLst>
                    </a:gridCol>
                  </a:tblGrid>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162</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623</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76</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277</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181</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64</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105</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5714922"/>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265</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82</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263</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124</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167</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150</m:t>
                                </m:r>
                              </m:oMath>
                            </m:oMathPara>
                          </a14:m>
                          <a:endParaRPr lang="en-US"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245</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634919"/>
                      </a:ext>
                    </a:extLst>
                  </a:tr>
                </a:tbl>
              </a:graphicData>
            </a:graphic>
          </p:graphicFrame>
        </mc:Choice>
        <mc:Fallback xmlns="">
          <p:graphicFrame>
            <p:nvGraphicFramePr>
              <p:cNvPr id="2" name="Table 1">
                <a:extLst>
                  <a:ext uri="{FF2B5EF4-FFF2-40B4-BE49-F238E27FC236}">
                    <a16:creationId xmlns:a16="http://schemas.microsoft.com/office/drawing/2014/main" id="{EB4664AB-9023-FB4A-B430-310F8D290264}"/>
                  </a:ext>
                </a:extLst>
              </p:cNvPr>
              <p:cNvGraphicFramePr>
                <a:graphicFrameLocks noGrp="1"/>
              </p:cNvGraphicFramePr>
              <p:nvPr>
                <p:extLst>
                  <p:ext uri="{D42A27DB-BD31-4B8C-83A1-F6EECF244321}">
                    <p14:modId xmlns:p14="http://schemas.microsoft.com/office/powerpoint/2010/main" val="3372200322"/>
                  </p:ext>
                </p:extLst>
              </p:nvPr>
            </p:nvGraphicFramePr>
            <p:xfrm>
              <a:off x="2532900" y="2819400"/>
              <a:ext cx="6629400" cy="609600"/>
            </p:xfrm>
            <a:graphic>
              <a:graphicData uri="http://schemas.openxmlformats.org/drawingml/2006/table">
                <a:tbl>
                  <a:tblPr firstRow="1" firstCol="1" bandRow="1">
                    <a:tableStyleId>{A91F0D33-8C57-4600-99A7-42BC86742BE1}</a:tableStyleId>
                  </a:tblPr>
                  <a:tblGrid>
                    <a:gridCol w="946785">
                      <a:extLst>
                        <a:ext uri="{9D8B030D-6E8A-4147-A177-3AD203B41FA5}">
                          <a16:colId xmlns:a16="http://schemas.microsoft.com/office/drawing/2014/main" val="1199257097"/>
                        </a:ext>
                      </a:extLst>
                    </a:gridCol>
                    <a:gridCol w="946785">
                      <a:extLst>
                        <a:ext uri="{9D8B030D-6E8A-4147-A177-3AD203B41FA5}">
                          <a16:colId xmlns:a16="http://schemas.microsoft.com/office/drawing/2014/main" val="572561985"/>
                        </a:ext>
                      </a:extLst>
                    </a:gridCol>
                    <a:gridCol w="947420">
                      <a:extLst>
                        <a:ext uri="{9D8B030D-6E8A-4147-A177-3AD203B41FA5}">
                          <a16:colId xmlns:a16="http://schemas.microsoft.com/office/drawing/2014/main" val="267819819"/>
                        </a:ext>
                      </a:extLst>
                    </a:gridCol>
                    <a:gridCol w="946785">
                      <a:extLst>
                        <a:ext uri="{9D8B030D-6E8A-4147-A177-3AD203B41FA5}">
                          <a16:colId xmlns:a16="http://schemas.microsoft.com/office/drawing/2014/main" val="4000208847"/>
                        </a:ext>
                      </a:extLst>
                    </a:gridCol>
                    <a:gridCol w="947420">
                      <a:extLst>
                        <a:ext uri="{9D8B030D-6E8A-4147-A177-3AD203B41FA5}">
                          <a16:colId xmlns:a16="http://schemas.microsoft.com/office/drawing/2014/main" val="1425074361"/>
                        </a:ext>
                      </a:extLst>
                    </a:gridCol>
                    <a:gridCol w="946785">
                      <a:extLst>
                        <a:ext uri="{9D8B030D-6E8A-4147-A177-3AD203B41FA5}">
                          <a16:colId xmlns:a16="http://schemas.microsoft.com/office/drawing/2014/main" val="3376361368"/>
                        </a:ext>
                      </a:extLst>
                    </a:gridCol>
                    <a:gridCol w="947420">
                      <a:extLst>
                        <a:ext uri="{9D8B030D-6E8A-4147-A177-3AD203B41FA5}">
                          <a16:colId xmlns:a16="http://schemas.microsoft.com/office/drawing/2014/main" val="1386699876"/>
                        </a:ext>
                      </a:extLst>
                    </a:gridCol>
                  </a:tblGrid>
                  <a:tr h="304800">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41" t="-1961" r="-599359" b="-107843"/>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1290" t="-1961" r="-503226" b="-107843"/>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1961" r="-400000" b="-107843"/>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1935" t="-1961" r="-302581" b="-107843"/>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99359" t="-1961" r="-200641" b="-107843"/>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2581" t="-1961" r="-101935" b="-107843"/>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98718" t="-1961" r="-1282" b="-107843"/>
                          </a:stretch>
                        </a:blipFill>
                      </a:tcPr>
                    </a:tc>
                    <a:extLst>
                      <a:ext uri="{0D108BD9-81ED-4DB2-BD59-A6C34878D82A}">
                        <a16:rowId xmlns:a16="http://schemas.microsoft.com/office/drawing/2014/main" val="4095714922"/>
                      </a:ext>
                    </a:extLst>
                  </a:tr>
                  <a:tr h="304800">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41" t="-104000" r="-599359" b="-1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1290" t="-104000" r="-503226" b="-1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0000" t="-104000" r="-400000" b="-1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01935" t="-104000" r="-302581" b="-1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99359" t="-104000" r="-200641" b="-1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02581" t="-104000" r="-101935" b="-10000"/>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598718" t="-104000" r="-1282" b="-10000"/>
                          </a:stretch>
                        </a:blipFill>
                      </a:tcPr>
                    </a:tc>
                    <a:extLst>
                      <a:ext uri="{0D108BD9-81ED-4DB2-BD59-A6C34878D82A}">
                        <a16:rowId xmlns:a16="http://schemas.microsoft.com/office/drawing/2014/main" val="336634919"/>
                      </a:ext>
                    </a:extLst>
                  </a:tr>
                </a:tbl>
              </a:graphicData>
            </a:graphic>
          </p:graphicFrame>
        </mc:Fallback>
      </mc:AlternateContent>
    </p:spTree>
    <p:extLst>
      <p:ext uri="{BB962C8B-B14F-4D97-AF65-F5344CB8AC3E}">
        <p14:creationId xmlns:p14="http://schemas.microsoft.com/office/powerpoint/2010/main" val="21120359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238</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616184" cy="489364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statement.</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3550">
                  <a:lnSpc>
                    <a:spcPct val="250000"/>
                  </a:lnSpc>
                </a:pPr>
                <a:r>
                  <a:rPr lang="en-US" sz="2400" dirty="0">
                    <a:latin typeface="Verdana" panose="020B0604030504040204" pitchFamily="34" charset="0"/>
                    <a:ea typeface="Verdana" panose="020B0604030504040204" pitchFamily="34" charset="0"/>
                    <a:cs typeface="Verdana" panose="020B0604030504040204" pitchFamily="34" charset="0"/>
                  </a:rPr>
                  <a:t>Removing the outlier,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623</m:t>
                    </m:r>
                  </m:oMath>
                </a14:m>
                <a:r>
                  <a:rPr lang="en-US" sz="2400" dirty="0">
                    <a:latin typeface="Verdana" panose="020B0604030504040204" pitchFamily="34" charset="0"/>
                    <a:ea typeface="Verdana" panose="020B0604030504040204" pitchFamily="34" charset="0"/>
                    <a:cs typeface="Verdana" panose="020B0604030504040204" pitchFamily="34" charset="0"/>
                  </a:rPr>
                  <a:t>, causes the mean to 		       and the range to 				</a:t>
                </a:r>
                <a:r>
                  <a:rPr lang="en-US" sz="2400" dirty="0">
                    <a:latin typeface="Verdana" panose="020B0604030504040204" pitchFamily="34" charset="0"/>
                    <a:ea typeface="Times New Roman" panose="02020603050405020304" pitchFamily="18" charset="0"/>
                    <a:cs typeface="Times New Roman" panose="02020603050405020304" pitchFamily="18" charset="0"/>
                  </a:rPr>
                  <a:t>because it is much	      		   than </a:t>
                </a:r>
                <a:r>
                  <a:rPr lang="en-US" sz="2400" dirty="0">
                    <a:latin typeface="Verdana" panose="020B0604030504040204" pitchFamily="34" charset="0"/>
                    <a:ea typeface="Verdana" panose="020B0604030504040204" pitchFamily="34" charset="0"/>
                    <a:cs typeface="Verdana" panose="020B0604030504040204" pitchFamily="34" charset="0"/>
                  </a:rPr>
                  <a:t>the other values in the data set.</a:t>
                </a:r>
              </a:p>
              <a:p>
                <a:pPr marL="463550">
                  <a:lnSpc>
                    <a:spcPct val="250000"/>
                  </a:lnSpc>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3"/>
                <a:ext cx="10616184" cy="4893647"/>
              </a:xfrm>
              <a:prstGeom prst="rect">
                <a:avLst/>
              </a:prstGeom>
              <a:blipFill>
                <a:blip r:embed="rId4"/>
                <a:stretch>
                  <a:fillRect l="-861" t="-996"/>
                </a:stretch>
              </a:blipFill>
            </p:spPr>
            <p:txBody>
              <a:bodyPr/>
              <a:lstStyle/>
              <a:p>
                <a:r>
                  <a:rPr lang="en-US">
                    <a:noFill/>
                  </a:rPr>
                  <a:t> </a:t>
                </a:r>
              </a:p>
            </p:txBody>
          </p:sp>
        </mc:Fallback>
      </mc:AlternateContent>
      <p:sp>
        <p:nvSpPr>
          <p:cNvPr id="8" name="Rectangle: Rounded Corners 6">
            <a:extLst>
              <a:ext uri="{FF2B5EF4-FFF2-40B4-BE49-F238E27FC236}">
                <a16:creationId xmlns:a16="http://schemas.microsoft.com/office/drawing/2014/main" id="{1C43F848-EA6A-C543-B31D-E26960EC8131}"/>
              </a:ext>
            </a:extLst>
          </p:cNvPr>
          <p:cNvSpPr/>
          <p:nvPr/>
        </p:nvSpPr>
        <p:spPr>
          <a:xfrm>
            <a:off x="8765898" y="1264290"/>
            <a:ext cx="2896427" cy="1292764"/>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SzPts val="180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increase</a:t>
            </a:r>
          </a:p>
          <a:p>
            <a:pPr marL="342900" indent="-342900">
              <a:buSzPts val="180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decrease</a:t>
            </a:r>
          </a:p>
          <a:p>
            <a:pPr marL="342900" indent="-342900">
              <a:spcAft>
                <a:spcPts val="1000"/>
              </a:spcAft>
              <a:buSzPts val="180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remain the same</a:t>
            </a:r>
          </a:p>
        </p:txBody>
      </p:sp>
      <p:sp>
        <p:nvSpPr>
          <p:cNvPr id="11" name="Rectangle: Rounded Corners 6">
            <a:extLst>
              <a:ext uri="{FF2B5EF4-FFF2-40B4-BE49-F238E27FC236}">
                <a16:creationId xmlns:a16="http://schemas.microsoft.com/office/drawing/2014/main" id="{6E6AC105-1F60-B646-9B9F-81BB4C4445B0}"/>
              </a:ext>
            </a:extLst>
          </p:cNvPr>
          <p:cNvSpPr/>
          <p:nvPr/>
        </p:nvSpPr>
        <p:spPr>
          <a:xfrm>
            <a:off x="4187018" y="2130454"/>
            <a:ext cx="3017201" cy="1292764"/>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SzPts val="180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increase</a:t>
            </a:r>
          </a:p>
          <a:p>
            <a:pPr marL="342900" indent="-342900">
              <a:buSzPts val="180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decrease</a:t>
            </a:r>
          </a:p>
          <a:p>
            <a:pPr marL="342900" indent="-342900">
              <a:spcAft>
                <a:spcPts val="1000"/>
              </a:spcAft>
              <a:buSzPts val="180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remain the same</a:t>
            </a:r>
          </a:p>
        </p:txBody>
      </p:sp>
      <p:sp>
        <p:nvSpPr>
          <p:cNvPr id="15" name="Rectangle: Rounded Corners 6">
            <a:extLst>
              <a:ext uri="{FF2B5EF4-FFF2-40B4-BE49-F238E27FC236}">
                <a16:creationId xmlns:a16="http://schemas.microsoft.com/office/drawing/2014/main" id="{1C6B20A5-38C9-2043-8352-CA951FA9F575}"/>
              </a:ext>
            </a:extLst>
          </p:cNvPr>
          <p:cNvSpPr/>
          <p:nvPr/>
        </p:nvSpPr>
        <p:spPr>
          <a:xfrm>
            <a:off x="1526714" y="3246656"/>
            <a:ext cx="1543136" cy="749300"/>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SzPts val="1800"/>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larger</a:t>
            </a:r>
            <a:endParaRPr lang="en-US" sz="2000" dirty="0">
              <a:ea typeface="Times New Roman" panose="02020603050405020304" pitchFamily="18" charset="0"/>
              <a:cs typeface="Times New Roman" panose="02020603050405020304" pitchFamily="18" charset="0"/>
            </a:endParaRPr>
          </a:p>
          <a:p>
            <a:pPr marL="342900" indent="-342900">
              <a:spcAft>
                <a:spcPts val="1000"/>
              </a:spcAft>
              <a:buSzPts val="1800"/>
              <a:buFont typeface="Courier New" panose="02070309020205020404" pitchFamily="49" charset="0"/>
              <a:buChar char="o"/>
            </a:pPr>
            <a:r>
              <a:rPr lang="en-US" sz="2000" dirty="0">
                <a:latin typeface="Verdana" panose="020B0604030504040204" pitchFamily="34" charset="0"/>
                <a:ea typeface="Times New Roman" panose="02020603050405020304" pitchFamily="18" charset="0"/>
                <a:cs typeface="Times New Roman" panose="02020603050405020304" pitchFamily="18" charset="0"/>
              </a:rPr>
              <a:t>smaller</a:t>
            </a:r>
            <a:endParaRPr lang="en-US" sz="2000" dirty="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94876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239</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284496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239</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825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13.1.6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6032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914400" y="1341420"/>
            <a:ext cx="10515600" cy="452431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Rate yourself on today’s learning target using the scale below.</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458788"/>
            <a:r>
              <a:rPr lang="en-US" sz="2400" dirty="0">
                <a:latin typeface="Verdana" panose="020B0604030504040204" pitchFamily="34" charset="0"/>
                <a:ea typeface="Verdana" panose="020B0604030504040204" pitchFamily="34" charset="0"/>
                <a:cs typeface="Verdana" panose="020B0604030504040204" pitchFamily="34" charset="0"/>
              </a:rPr>
              <a:t>I can determine the implications an outlier has in a given data set.</a:t>
            </a:r>
          </a:p>
          <a:p>
            <a:pPr marL="458788"/>
            <a:endParaRPr lang="en-US" sz="2400" dirty="0">
              <a:latin typeface="Verdana" panose="020B0604030504040204" pitchFamily="34" charset="0"/>
              <a:ea typeface="Verdana" panose="020B0604030504040204" pitchFamily="34" charset="0"/>
              <a:cs typeface="Verdana" panose="020B0604030504040204" pitchFamily="34" charset="0"/>
            </a:endParaRPr>
          </a:p>
          <a:p>
            <a:pPr marL="458788"/>
            <a:endParaRPr lang="en-US" sz="2400" dirty="0">
              <a:latin typeface="Verdana" panose="020B0604030504040204" pitchFamily="34" charset="0"/>
              <a:ea typeface="Verdana" panose="020B0604030504040204" pitchFamily="34" charset="0"/>
              <a:cs typeface="Verdana" panose="020B0604030504040204" pitchFamily="34" charset="0"/>
            </a:endParaRPr>
          </a:p>
          <a:p>
            <a:pPr marL="458788"/>
            <a:endParaRPr lang="en-US" sz="2400" dirty="0">
              <a:latin typeface="Verdana" panose="020B0604030504040204" pitchFamily="34" charset="0"/>
              <a:ea typeface="Verdana" panose="020B0604030504040204" pitchFamily="34" charset="0"/>
              <a:cs typeface="Verdana" panose="020B0604030504040204" pitchFamily="34" charset="0"/>
            </a:endParaRPr>
          </a:p>
          <a:p>
            <a:pPr marL="458788"/>
            <a:endParaRPr lang="en-US" sz="2400" dirty="0">
              <a:latin typeface="Verdana" panose="020B0604030504040204" pitchFamily="34" charset="0"/>
              <a:ea typeface="Verdana" panose="020B0604030504040204" pitchFamily="34" charset="0"/>
              <a:cs typeface="Verdana" panose="020B0604030504040204" pitchFamily="34" charset="0"/>
            </a:endParaRPr>
          </a:p>
          <a:p>
            <a:pPr marL="458788"/>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Write an explanation of why you rated yourself where you did.</a:t>
            </a:r>
          </a:p>
        </p:txBody>
      </p:sp>
      <p:pic>
        <p:nvPicPr>
          <p:cNvPr id="8" name="image17.png" descr="Icon&#10;&#10;Description automatically generated">
            <a:extLst>
              <a:ext uri="{FF2B5EF4-FFF2-40B4-BE49-F238E27FC236}">
                <a16:creationId xmlns:a16="http://schemas.microsoft.com/office/drawing/2014/main" id="{2E4C9341-4D7E-C24F-BFDC-BC74E8399C7F}"/>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2576305" y="3521088"/>
            <a:ext cx="914400" cy="914400"/>
          </a:xfrm>
          <a:prstGeom prst="rect">
            <a:avLst/>
          </a:prstGeom>
          <a:ln/>
        </p:spPr>
      </p:pic>
      <p:pic>
        <p:nvPicPr>
          <p:cNvPr id="10" name="image19.png" descr="Icon&#10;&#10;Description automatically generated">
            <a:extLst>
              <a:ext uri="{FF2B5EF4-FFF2-40B4-BE49-F238E27FC236}">
                <a16:creationId xmlns:a16="http://schemas.microsoft.com/office/drawing/2014/main" id="{0EA09F8E-26CE-B446-B147-8414B866B20B}"/>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3778790" y="3521088"/>
            <a:ext cx="914400" cy="914400"/>
          </a:xfrm>
          <a:prstGeom prst="rect">
            <a:avLst/>
          </a:prstGeom>
          <a:ln/>
        </p:spPr>
      </p:pic>
      <p:pic>
        <p:nvPicPr>
          <p:cNvPr id="11" name="image20.png">
            <a:extLst>
              <a:ext uri="{FF2B5EF4-FFF2-40B4-BE49-F238E27FC236}">
                <a16:creationId xmlns:a16="http://schemas.microsoft.com/office/drawing/2014/main" id="{FC400025-A657-CA47-AF81-0037440D930E}"/>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6112264" y="3521088"/>
            <a:ext cx="914400" cy="914400"/>
          </a:xfrm>
          <a:prstGeom prst="rect">
            <a:avLst/>
          </a:prstGeom>
          <a:ln/>
        </p:spPr>
      </p:pic>
      <p:pic>
        <p:nvPicPr>
          <p:cNvPr id="13" name="image21.png">
            <a:extLst>
              <a:ext uri="{FF2B5EF4-FFF2-40B4-BE49-F238E27FC236}">
                <a16:creationId xmlns:a16="http://schemas.microsoft.com/office/drawing/2014/main" id="{E8DF47D1-0065-E347-BD8C-7D03A5AFC64C}"/>
              </a:ext>
            </a:extLst>
          </p:cNvPr>
          <p:cNvPicPr/>
          <p:nvPr/>
        </p:nvPicPr>
        <p:blipFill>
          <a:blip r:embed="rId8" cstate="screen">
            <a:extLst>
              <a:ext uri="{28A0092B-C50C-407E-A947-70E740481C1C}">
                <a14:useLocalDpi xmlns:a14="http://schemas.microsoft.com/office/drawing/2010/main"/>
              </a:ext>
            </a:extLst>
          </a:blip>
          <a:srcRect/>
          <a:stretch>
            <a:fillRect/>
          </a:stretch>
        </p:blipFill>
        <p:spPr>
          <a:xfrm>
            <a:off x="7298227" y="3521088"/>
            <a:ext cx="914400" cy="914400"/>
          </a:xfrm>
          <a:prstGeom prst="rect">
            <a:avLst/>
          </a:prstGeom>
          <a:ln/>
        </p:spPr>
      </p:pic>
      <p:pic>
        <p:nvPicPr>
          <p:cNvPr id="15" name="image8.png" descr="Icon&#10;&#10;Description automatically generated">
            <a:extLst>
              <a:ext uri="{FF2B5EF4-FFF2-40B4-BE49-F238E27FC236}">
                <a16:creationId xmlns:a16="http://schemas.microsoft.com/office/drawing/2014/main" id="{B5A0F1F9-4A92-B144-B7DB-BB491253AF89}"/>
              </a:ext>
            </a:extLst>
          </p:cNvPr>
          <p:cNvPicPr/>
          <p:nvPr/>
        </p:nvPicPr>
        <p:blipFill>
          <a:blip r:embed="rId9" cstate="screen">
            <a:extLst>
              <a:ext uri="{28A0092B-C50C-407E-A947-70E740481C1C}">
                <a14:useLocalDpi xmlns:a14="http://schemas.microsoft.com/office/drawing/2010/main"/>
              </a:ext>
            </a:extLst>
          </a:blip>
          <a:srcRect/>
          <a:stretch>
            <a:fillRect/>
          </a:stretch>
        </p:blipFill>
        <p:spPr>
          <a:xfrm>
            <a:off x="8446627" y="3515205"/>
            <a:ext cx="914400" cy="914400"/>
          </a:xfrm>
          <a:prstGeom prst="rect">
            <a:avLst/>
          </a:prstGeom>
          <a:ln/>
        </p:spPr>
      </p:pic>
      <p:pic>
        <p:nvPicPr>
          <p:cNvPr id="16" name="image4.png" descr="Chart&#10;&#10;Description automatically generated">
            <a:extLst>
              <a:ext uri="{FF2B5EF4-FFF2-40B4-BE49-F238E27FC236}">
                <a16:creationId xmlns:a16="http://schemas.microsoft.com/office/drawing/2014/main" id="{79FCCAF4-1F62-2442-9E99-7F2C2315A175}"/>
              </a:ext>
            </a:extLst>
          </p:cNvPr>
          <p:cNvPicPr/>
          <p:nvPr/>
        </p:nvPicPr>
        <p:blipFill>
          <a:blip r:embed="rId10" cstate="screen">
            <a:extLst>
              <a:ext uri="{28A0092B-C50C-407E-A947-70E740481C1C}">
                <a14:useLocalDpi xmlns:a14="http://schemas.microsoft.com/office/drawing/2010/main"/>
              </a:ext>
            </a:extLst>
          </a:blip>
          <a:srcRect t="46060" b="42611"/>
          <a:stretch>
            <a:fillRect/>
          </a:stretch>
        </p:blipFill>
        <p:spPr>
          <a:xfrm>
            <a:off x="2576305" y="4573290"/>
            <a:ext cx="6835140" cy="506730"/>
          </a:xfrm>
          <a:prstGeom prst="rect">
            <a:avLst/>
          </a:prstGeom>
          <a:ln/>
        </p:spPr>
      </p:pic>
      <p:pic>
        <p:nvPicPr>
          <p:cNvPr id="17" name="image22.png" descr="Icon&#10;&#10;Description automatically generated">
            <a:extLst>
              <a:ext uri="{FF2B5EF4-FFF2-40B4-BE49-F238E27FC236}">
                <a16:creationId xmlns:a16="http://schemas.microsoft.com/office/drawing/2014/main" id="{2FCA0429-9F20-3A4B-A7DF-A4C1096D85A4}"/>
              </a:ext>
            </a:extLst>
          </p:cNvPr>
          <p:cNvPicPr/>
          <p:nvPr/>
        </p:nvPicPr>
        <p:blipFill>
          <a:blip r:embed="rId11" cstate="screen">
            <a:extLst>
              <a:ext uri="{28A0092B-C50C-407E-A947-70E740481C1C}">
                <a14:useLocalDpi xmlns:a14="http://schemas.microsoft.com/office/drawing/2010/main"/>
              </a:ext>
            </a:extLst>
          </a:blip>
          <a:srcRect/>
          <a:stretch>
            <a:fillRect/>
          </a:stretch>
        </p:blipFill>
        <p:spPr>
          <a:xfrm>
            <a:off x="4945527" y="3521088"/>
            <a:ext cx="914400" cy="914400"/>
          </a:xfrm>
          <a:prstGeom prst="rect">
            <a:avLst/>
          </a:prstGeom>
          <a:ln/>
        </p:spPr>
      </p:pic>
    </p:spTree>
    <p:extLst>
      <p:ext uri="{BB962C8B-B14F-4D97-AF65-F5344CB8AC3E}">
        <p14:creationId xmlns:p14="http://schemas.microsoft.com/office/powerpoint/2010/main" val="2838359199"/>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6049</TotalTime>
  <Words>1686</Words>
  <Application>Microsoft Macintosh PowerPoint</Application>
  <PresentationFormat>Widescreen</PresentationFormat>
  <Paragraphs>398</Paragraphs>
  <Slides>32</Slides>
  <Notes>30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Calibri</vt:lpstr>
      <vt:lpstr>Arial Black</vt:lpstr>
      <vt:lpstr>Cambria Math</vt:lpstr>
      <vt:lpstr>Wingdings</vt:lpstr>
      <vt:lpstr>Verdana</vt:lpstr>
      <vt:lpstr>Courier New</vt:lpstr>
      <vt:lpstr>Arial</vt:lpstr>
      <vt:lpstr>Cambria</vt:lpstr>
      <vt:lpstr>Century Gothic</vt:lpstr>
      <vt:lpstr>1_Office Theme</vt:lpstr>
      <vt:lpstr>7th Grade Math  Unit 13, Lesson 1  Effects of Outliers  Volume 2, pg. 233  </vt:lpstr>
      <vt:lpstr>Benchmark</vt:lpstr>
      <vt:lpstr>PowerPoint Presentation</vt:lpstr>
      <vt:lpstr>PowerPoint Presentation</vt:lpstr>
      <vt:lpstr>Warm-Up</vt:lpstr>
      <vt:lpstr>PowerPoint Presentation</vt:lpstr>
      <vt:lpstr>PowerPoint Presentation</vt:lpstr>
      <vt:lpstr>Refresher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32</cp:revision>
  <dcterms:created xsi:type="dcterms:W3CDTF">2015-03-17T18:51:18Z</dcterms:created>
  <dcterms:modified xsi:type="dcterms:W3CDTF">2023-01-30T17:18:58Z</dcterms:modified>
</cp:coreProperties>
</file>