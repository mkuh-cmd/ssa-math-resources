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289" r:id="rId9"/>
    <p:sldId id="290" r:id="rId10"/>
    <p:sldId id="346" r:id="rId11"/>
    <p:sldId id="352" r:id="rId12"/>
    <p:sldId id="353" r:id="rId13"/>
    <p:sldId id="354" r:id="rId14"/>
    <p:sldId id="355" r:id="rId15"/>
    <p:sldId id="320" r:id="rId16"/>
    <p:sldId id="321" r:id="rId17"/>
    <p:sldId id="345" r:id="rId18"/>
    <p:sldId id="356" r:id="rId19"/>
    <p:sldId id="357" r:id="rId20"/>
    <p:sldId id="358" r:id="rId21"/>
    <p:sldId id="359" r:id="rId22"/>
    <p:sldId id="306" r:id="rId23"/>
    <p:sldId id="307" r:id="rId24"/>
    <p:sldId id="351" r:id="rId25"/>
  </p:sldIdLst>
  <p:sldSz cx="12192000" cy="6858000"/>
  <p:notesSz cx="6858000" cy="9144000"/>
  <p:embeddedFontLst>
    <p:embeddedFont>
      <p:font typeface="Arial Black" panose="020B0A04020102020204" pitchFamily="34" charset="0"/>
      <p:regular r:id="rId27"/>
      <p:bold r:id="rId28"/>
    </p:embeddedFont>
    <p:embeddedFont>
      <p:font typeface="Calibri" panose="020F0502020204030204" pitchFamily="34" charset="0"/>
      <p:regular r:id="rId29"/>
      <p:bold r:id="rId30"/>
      <p:italic r:id="rId31"/>
      <p:boldItalic r:id="rId32"/>
    </p:embeddedFont>
    <p:embeddedFont>
      <p:font typeface="Cambria" panose="02040503050406030204" pitchFamily="18"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1"/>
    <p:restoredTop sz="94704"/>
  </p:normalViewPr>
  <p:slideViewPr>
    <p:cSldViewPr snapToGrid="0">
      <p:cViewPr varScale="1">
        <p:scale>
          <a:sx n="59" d="100"/>
          <a:sy n="59" d="100"/>
        </p:scale>
        <p:origin x="36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370572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851034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45082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272699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371252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033311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710148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1725004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020136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66745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0.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0.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20.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p>
          <a:p>
            <a:pPr algn="ctr">
              <a:lnSpc>
                <a:spcPct val="100000"/>
              </a:lnSpc>
              <a:buClr>
                <a:srgbClr val="000000"/>
              </a:buClr>
            </a:pPr>
            <a:r>
              <a:rPr lang="en-US" sz="3600" b="1" dirty="0">
                <a:solidFill>
                  <a:srgbClr val="417DBF"/>
                </a:solidFill>
                <a:latin typeface="Verdana"/>
                <a:ea typeface="Verdana"/>
                <a:cs typeface="Verdana"/>
                <a:sym typeface="Verdana"/>
              </a:rPr>
              <a:t>Unit 13, Lesson 9</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Creating Displays for Categorical Data </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281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MA.7.DP.1.5</a:t>
            </a:r>
          </a:p>
          <a:p>
            <a:pPr indent="0">
              <a:buNone/>
            </a:pPr>
            <a:r>
              <a:rPr lang="en-US" sz="3500" dirty="0">
                <a:solidFill>
                  <a:schemeClr val="tx1"/>
                </a:solidFill>
                <a:latin typeface="Verdana"/>
                <a:ea typeface="Verdana"/>
                <a:cs typeface="Verdana"/>
                <a:sym typeface="Verdana"/>
              </a:rPr>
              <a:t>Given a real-world numerical or categorical data set, choose and create an appropriate graphical representation.</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281</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281</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solidFill>
                  <a:schemeClr val="tx1"/>
                </a:solidFill>
                <a:latin typeface="Verdana"/>
                <a:ea typeface="Verdana"/>
                <a:cs typeface="Verdana"/>
                <a:sym typeface="Verdana"/>
              </a:rPr>
              <a:t>I can create an appropriate graphical representation for a categorical data set.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F2A67"/>
                </a:solidFill>
                <a:latin typeface="Verdana"/>
                <a:ea typeface="Verdana"/>
                <a:cs typeface="Verdana"/>
                <a:sym typeface="Verdana"/>
              </a:rPr>
              <a:t>13.9.1 Warm-Up: Visual Representations </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282</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838200" y="1569037"/>
                <a:ext cx="10515600" cy="30469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Various number systems have developed over time. In some of the original systems, symbols representing values were written one after another and then added together to determine the value represented. The Roman Numeral system added the ability to represent values with fewer symbols. Even so, to represent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4999</m:t>
                    </m:r>
                  </m:oMath>
                </a14:m>
                <a:r>
                  <a:rPr lang="en-US" sz="2400" dirty="0">
                    <a:latin typeface="Verdana" panose="020B0604030504040204" pitchFamily="34" charset="0"/>
                    <a:ea typeface="Verdana" panose="020B0604030504040204" pitchFamily="34" charset="0"/>
                    <a:cs typeface="Verdana" panose="020B0604030504040204" pitchFamily="34" charset="0"/>
                  </a:rPr>
                  <a:t> in Roman Numerals is MMMMCMXCIX, which is still quite long. The base-</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system used today allows for positional notation where the value of a number depends on its placement. </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838200" y="1569037"/>
                <a:ext cx="10515600" cy="3046988"/>
              </a:xfrm>
              <a:prstGeom prst="rect">
                <a:avLst/>
              </a:prstGeom>
              <a:blipFill>
                <a:blip r:embed="rId5"/>
                <a:stretch>
                  <a:fillRect l="-928" t="-1600" r="-1739" b="-360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CCFDD87-1421-9EA1-3817-AE9EE56643BD}"/>
              </a:ext>
            </a:extLst>
          </p:cNvPr>
          <p:cNvPicPr>
            <a:picLocks noChangeAspect="1"/>
          </p:cNvPicPr>
          <p:nvPr/>
        </p:nvPicPr>
        <p:blipFill>
          <a:blip r:embed="rId6"/>
          <a:stretch>
            <a:fillRect/>
          </a:stretch>
        </p:blipFill>
        <p:spPr>
          <a:xfrm>
            <a:off x="10427065" y="16093"/>
            <a:ext cx="1541778" cy="1498469"/>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828163"/>
                <a:ext cx="10515600" cy="526297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are some reasons it is better to use the base-</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10 </m:t>
                    </m:r>
                  </m:oMath>
                </a14:m>
                <a:r>
                  <a:rPr lang="en-US" sz="2400" dirty="0">
                    <a:latin typeface="Verdana" panose="020B0604030504040204" pitchFamily="34" charset="0"/>
                    <a:ea typeface="Verdana" panose="020B0604030504040204" pitchFamily="34" charset="0"/>
                    <a:cs typeface="Verdana" panose="020B0604030504040204" pitchFamily="34" charset="0"/>
                  </a:rPr>
                  <a:t>representation of the number instead of the Roman Numerals?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symbols used for the base-</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system varied regionally for a long time. The current digits used worldwide,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0123456789</m:t>
                    </m:r>
                  </m:oMath>
                </a14:m>
                <a:r>
                  <a:rPr lang="en-US" sz="2400" dirty="0">
                    <a:latin typeface="Verdana" panose="020B0604030504040204" pitchFamily="34" charset="0"/>
                    <a:ea typeface="Verdana" panose="020B0604030504040204" pitchFamily="34" charset="0"/>
                    <a:cs typeface="Verdana" panose="020B0604030504040204" pitchFamily="34" charset="0"/>
                  </a:rPr>
                  <a:t>, evolved from the North African region of the Arab empire. Why do you think having a standard worldwide numbering system is helpful?</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828163"/>
                <a:ext cx="10515600" cy="5262979"/>
              </a:xfrm>
              <a:prstGeom prst="rect">
                <a:avLst/>
              </a:prstGeom>
              <a:blipFill>
                <a:blip r:embed="rId4"/>
                <a:stretch>
                  <a:fillRect l="-870" t="-927" r="-986"/>
                </a:stretch>
              </a:blipFill>
            </p:spPr>
            <p:txBody>
              <a:bodyPr/>
              <a:lstStyle/>
              <a:p>
                <a:r>
                  <a:rPr lang="en-US">
                    <a:noFill/>
                  </a:rPr>
                  <a:t> </a:t>
                </a:r>
              </a:p>
            </p:txBody>
          </p:sp>
        </mc:Fallback>
      </mc:AlternateContent>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282</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2800" b="1" dirty="0">
                <a:solidFill>
                  <a:srgbClr val="54B5D1"/>
                </a:solidFill>
                <a:latin typeface="Verdana"/>
                <a:ea typeface="Verdana"/>
                <a:cs typeface="Verdana"/>
                <a:sym typeface="Verdana"/>
              </a:rPr>
              <a:t>13.9.2 Guided Instruction: Graphical Representations for Categorical Data</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914400" y="1119185"/>
                <a:ext cx="10515600"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Lupe is reviewing her bills to determine if there is a way to save money by using less energy. In 2020, she paid a total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$1477 </m:t>
                    </m:r>
                  </m:oMath>
                </a14:m>
                <a:r>
                  <a:rPr lang="en-US" sz="2400" dirty="0">
                    <a:latin typeface="Verdana" panose="020B0604030504040204" pitchFamily="34" charset="0"/>
                    <a:ea typeface="Verdana" panose="020B0604030504040204" pitchFamily="34" charset="0"/>
                    <a:cs typeface="Verdana" panose="020B0604030504040204" pitchFamily="34" charset="0"/>
                  </a:rPr>
                  <a:t>in electricity costs to Florida Power and Light (FPL). The table shows the total cost associated with each area of electricity use in her household for the year.</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914400" y="1119185"/>
                <a:ext cx="10515600" cy="2308324"/>
              </a:xfrm>
              <a:prstGeom prst="rect">
                <a:avLst/>
              </a:prstGeom>
              <a:blipFill>
                <a:blip r:embed="rId5"/>
                <a:stretch>
                  <a:fillRect l="-965" t="-21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B62EE76-8147-864C-82DC-5A8CE9B5138D}"/>
                  </a:ext>
                </a:extLst>
              </p:cNvPr>
              <p:cNvGraphicFramePr>
                <a:graphicFrameLocks noGrp="1"/>
              </p:cNvGraphicFramePr>
              <p:nvPr>
                <p:extLst>
                  <p:ext uri="{D42A27DB-BD31-4B8C-83A1-F6EECF244321}">
                    <p14:modId xmlns:p14="http://schemas.microsoft.com/office/powerpoint/2010/main" val="4180582447"/>
                  </p:ext>
                </p:extLst>
              </p:nvPr>
            </p:nvGraphicFramePr>
            <p:xfrm>
              <a:off x="3179649" y="3236308"/>
              <a:ext cx="5832702" cy="2792730"/>
            </p:xfrm>
            <a:graphic>
              <a:graphicData uri="http://schemas.openxmlformats.org/drawingml/2006/table">
                <a:tbl>
                  <a:tblPr bandRow="1">
                    <a:tableStyleId>{A91F0D33-8C57-4600-99A7-42BC86742BE1}</a:tableStyleId>
                  </a:tblPr>
                  <a:tblGrid>
                    <a:gridCol w="2283069">
                      <a:extLst>
                        <a:ext uri="{9D8B030D-6E8A-4147-A177-3AD203B41FA5}">
                          <a16:colId xmlns:a16="http://schemas.microsoft.com/office/drawing/2014/main" val="2171306233"/>
                        </a:ext>
                      </a:extLst>
                    </a:gridCol>
                    <a:gridCol w="1730253">
                      <a:extLst>
                        <a:ext uri="{9D8B030D-6E8A-4147-A177-3AD203B41FA5}">
                          <a16:colId xmlns:a16="http://schemas.microsoft.com/office/drawing/2014/main" val="3194065342"/>
                        </a:ext>
                      </a:extLst>
                    </a:gridCol>
                    <a:gridCol w="1819380">
                      <a:extLst>
                        <a:ext uri="{9D8B030D-6E8A-4147-A177-3AD203B41FA5}">
                          <a16:colId xmlns:a16="http://schemas.microsoft.com/office/drawing/2014/main" val="4032516771"/>
                        </a:ext>
                      </a:extLst>
                    </a:gridCol>
                  </a:tblGrid>
                  <a:tr h="494030">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Electricity Use</a:t>
                          </a:r>
                        </a:p>
                      </a:txBody>
                      <a:tcPr marL="68580" marR="68580" marT="0" marB="0" anchor="ctr">
                        <a:solidFill>
                          <a:schemeClr val="bg1">
                            <a:lumMod val="75000"/>
                          </a:schemeClr>
                        </a:solidFill>
                      </a:tcPr>
                    </a:tc>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Annual Cost, in Dollars</a:t>
                          </a:r>
                        </a:p>
                      </a:txBody>
                      <a:tcPr marL="68580" marR="68580" marT="0" marB="0" anchor="ctr">
                        <a:solidFill>
                          <a:schemeClr val="bg1">
                            <a:lumMod val="75000"/>
                          </a:schemeClr>
                        </a:solidFill>
                      </a:tcPr>
                    </a:tc>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txBody>
                      <a:tcPr marL="68580" marR="68580" marT="0" marB="0" anchor="ctr">
                        <a:solidFill>
                          <a:schemeClr val="bg1">
                            <a:lumMod val="75000"/>
                          </a:schemeClr>
                        </a:solidFill>
                      </a:tcPr>
                    </a:tc>
                    <a:extLst>
                      <a:ext uri="{0D108BD9-81ED-4DB2-BD59-A6C34878D82A}">
                        <a16:rowId xmlns:a16="http://schemas.microsoft.com/office/drawing/2014/main" val="2379507616"/>
                      </a:ext>
                    </a:extLst>
                  </a:tr>
                  <a:tr h="351790">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Air conditioning</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399</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416408732"/>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Space heating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133</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2222854756"/>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Water heating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207</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41515955"/>
                      </a:ext>
                    </a:extLst>
                  </a:tr>
                  <a:tr h="351790">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Appliances, electronics, and lighting</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738</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2494406219"/>
                      </a:ext>
                    </a:extLst>
                  </a:tr>
                </a:tbl>
              </a:graphicData>
            </a:graphic>
          </p:graphicFrame>
        </mc:Choice>
        <mc:Fallback xmlns="">
          <p:graphicFrame>
            <p:nvGraphicFramePr>
              <p:cNvPr id="2" name="Table 1">
                <a:extLst>
                  <a:ext uri="{FF2B5EF4-FFF2-40B4-BE49-F238E27FC236}">
                    <a16:creationId xmlns:a16="http://schemas.microsoft.com/office/drawing/2014/main" id="{EB62EE76-8147-864C-82DC-5A8CE9B5138D}"/>
                  </a:ext>
                </a:extLst>
              </p:cNvPr>
              <p:cNvGraphicFramePr>
                <a:graphicFrameLocks noGrp="1"/>
              </p:cNvGraphicFramePr>
              <p:nvPr>
                <p:extLst>
                  <p:ext uri="{D42A27DB-BD31-4B8C-83A1-F6EECF244321}">
                    <p14:modId xmlns:p14="http://schemas.microsoft.com/office/powerpoint/2010/main" val="4180582447"/>
                  </p:ext>
                </p:extLst>
              </p:nvPr>
            </p:nvGraphicFramePr>
            <p:xfrm>
              <a:off x="3179649" y="3236308"/>
              <a:ext cx="5832702" cy="2792730"/>
            </p:xfrm>
            <a:graphic>
              <a:graphicData uri="http://schemas.openxmlformats.org/drawingml/2006/table">
                <a:tbl>
                  <a:tblPr bandRow="1">
                    <a:tableStyleId>{A91F0D33-8C57-4600-99A7-42BC86742BE1}</a:tableStyleId>
                  </a:tblPr>
                  <a:tblGrid>
                    <a:gridCol w="2283069">
                      <a:extLst>
                        <a:ext uri="{9D8B030D-6E8A-4147-A177-3AD203B41FA5}">
                          <a16:colId xmlns:a16="http://schemas.microsoft.com/office/drawing/2014/main" val="2171306233"/>
                        </a:ext>
                      </a:extLst>
                    </a:gridCol>
                    <a:gridCol w="1730253">
                      <a:extLst>
                        <a:ext uri="{9D8B030D-6E8A-4147-A177-3AD203B41FA5}">
                          <a16:colId xmlns:a16="http://schemas.microsoft.com/office/drawing/2014/main" val="3194065342"/>
                        </a:ext>
                      </a:extLst>
                    </a:gridCol>
                    <a:gridCol w="1819380">
                      <a:extLst>
                        <a:ext uri="{9D8B030D-6E8A-4147-A177-3AD203B41FA5}">
                          <a16:colId xmlns:a16="http://schemas.microsoft.com/office/drawing/2014/main" val="4032516771"/>
                        </a:ext>
                      </a:extLst>
                    </a:gridCol>
                  </a:tblGrid>
                  <a:tr h="914400">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Electricity Use</a:t>
                          </a:r>
                        </a:p>
                      </a:txBody>
                      <a:tcPr marL="68580" marR="68580" marT="0" marB="0" anchor="ctr">
                        <a:solidFill>
                          <a:schemeClr val="bg1">
                            <a:lumMod val="75000"/>
                          </a:schemeClr>
                        </a:solidFill>
                      </a:tcPr>
                    </a:tc>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Annual Cost, in Dollars</a:t>
                          </a:r>
                        </a:p>
                      </a:txBody>
                      <a:tcPr marL="68580" marR="68580" marT="0" marB="0" anchor="ctr">
                        <a:solidFill>
                          <a:schemeClr val="bg1">
                            <a:lumMod val="75000"/>
                          </a:schemeClr>
                        </a:solidFill>
                      </a:tcPr>
                    </a:tc>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txBody>
                      <a:tcPr marL="68580" marR="68580" marT="0" marB="0" anchor="ctr">
                        <a:solidFill>
                          <a:schemeClr val="bg1">
                            <a:lumMod val="75000"/>
                          </a:schemeClr>
                        </a:solidFill>
                      </a:tcPr>
                    </a:tc>
                    <a:extLst>
                      <a:ext uri="{0D108BD9-81ED-4DB2-BD59-A6C34878D82A}">
                        <a16:rowId xmlns:a16="http://schemas.microsoft.com/office/drawing/2014/main" val="2379507616"/>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Air conditioning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6"/>
                          <a:stretch>
                            <a:fillRect l="-132117" t="-278571" r="-105109" b="-475000"/>
                          </a:stretch>
                        </a:blipFill>
                      </a:tcP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416408732"/>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Space heating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6"/>
                          <a:stretch>
                            <a:fillRect l="-132117" t="-378571" r="-105109" b="-375000"/>
                          </a:stretch>
                        </a:blipFill>
                      </a:tcP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2222854756"/>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Water heating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6"/>
                          <a:stretch>
                            <a:fillRect l="-132117" t="-478571" r="-105109" b="-275000"/>
                          </a:stretch>
                        </a:blipFill>
                      </a:tcP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41515955"/>
                      </a:ext>
                    </a:extLst>
                  </a:tr>
                  <a:tr h="822960">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Appliances, electronics, and lighting</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6"/>
                          <a:stretch>
                            <a:fillRect l="-132117" t="-249231" r="-105109" b="-18462"/>
                          </a:stretch>
                        </a:blipFill>
                      </a:tcPr>
                    </a:tc>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2494406219"/>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282 &amp; 283</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3072223"/>
            <a:ext cx="10515600"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data to create a bar graph for Lupe’s data set.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table by calculating the percentage of Lupe’s electricity costs for each area of electricity use.</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77F64ECE-41B9-4A52-899F-8548D1A9B6F7}"/>
                  </a:ext>
                </a:extLst>
              </p:cNvPr>
              <p:cNvGraphicFramePr>
                <a:graphicFrameLocks noGrp="1"/>
              </p:cNvGraphicFramePr>
              <p:nvPr>
                <p:extLst>
                  <p:ext uri="{D42A27DB-BD31-4B8C-83A1-F6EECF244321}">
                    <p14:modId xmlns:p14="http://schemas.microsoft.com/office/powerpoint/2010/main" val="3704798515"/>
                  </p:ext>
                </p:extLst>
              </p:nvPr>
            </p:nvGraphicFramePr>
            <p:xfrm>
              <a:off x="3179649" y="143151"/>
              <a:ext cx="5832702" cy="2820303"/>
            </p:xfrm>
            <a:graphic>
              <a:graphicData uri="http://schemas.openxmlformats.org/drawingml/2006/table">
                <a:tbl>
                  <a:tblPr bandRow="1">
                    <a:tableStyleId>{A91F0D33-8C57-4600-99A7-42BC86742BE1}</a:tableStyleId>
                  </a:tblPr>
                  <a:tblGrid>
                    <a:gridCol w="2283069">
                      <a:extLst>
                        <a:ext uri="{9D8B030D-6E8A-4147-A177-3AD203B41FA5}">
                          <a16:colId xmlns:a16="http://schemas.microsoft.com/office/drawing/2014/main" val="2171306233"/>
                        </a:ext>
                      </a:extLst>
                    </a:gridCol>
                    <a:gridCol w="1730253">
                      <a:extLst>
                        <a:ext uri="{9D8B030D-6E8A-4147-A177-3AD203B41FA5}">
                          <a16:colId xmlns:a16="http://schemas.microsoft.com/office/drawing/2014/main" val="3194065342"/>
                        </a:ext>
                      </a:extLst>
                    </a:gridCol>
                    <a:gridCol w="1819380">
                      <a:extLst>
                        <a:ext uri="{9D8B030D-6E8A-4147-A177-3AD203B41FA5}">
                          <a16:colId xmlns:a16="http://schemas.microsoft.com/office/drawing/2014/main" val="4032516771"/>
                        </a:ext>
                      </a:extLst>
                    </a:gridCol>
                  </a:tblGrid>
                  <a:tr h="494030">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Electricity Use</a:t>
                          </a:r>
                        </a:p>
                      </a:txBody>
                      <a:tcPr marL="68580" marR="68580" marT="0" marB="0" anchor="ctr">
                        <a:solidFill>
                          <a:schemeClr val="bg1">
                            <a:lumMod val="75000"/>
                          </a:schemeClr>
                        </a:solidFill>
                      </a:tcPr>
                    </a:tc>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Annual Cost, in Dollars</a:t>
                          </a:r>
                        </a:p>
                      </a:txBody>
                      <a:tcPr marL="68580" marR="68580" marT="0" marB="0" anchor="ctr">
                        <a:solidFill>
                          <a:schemeClr val="bg1">
                            <a:lumMod val="75000"/>
                          </a:schemeClr>
                        </a:solidFill>
                      </a:tcPr>
                    </a:tc>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txBody>
                      <a:tcPr marL="68580" marR="68580" marT="0" marB="0" anchor="ctr">
                        <a:solidFill>
                          <a:schemeClr val="bg1">
                            <a:lumMod val="75000"/>
                          </a:schemeClr>
                        </a:solidFill>
                      </a:tcPr>
                    </a:tc>
                    <a:extLst>
                      <a:ext uri="{0D108BD9-81ED-4DB2-BD59-A6C34878D82A}">
                        <a16:rowId xmlns:a16="http://schemas.microsoft.com/office/drawing/2014/main" val="2379507616"/>
                      </a:ext>
                    </a:extLst>
                  </a:tr>
                  <a:tr h="379363">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Air conditioning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399</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416408732"/>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Space heating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133</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2222854756"/>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Water heating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207</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41515955"/>
                      </a:ext>
                    </a:extLst>
                  </a:tr>
                  <a:tr h="351790">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Appliances, electronics, and lighting</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738</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2494406219"/>
                      </a:ext>
                    </a:extLst>
                  </a:tr>
                </a:tbl>
              </a:graphicData>
            </a:graphic>
          </p:graphicFrame>
        </mc:Choice>
        <mc:Fallback xmlns="">
          <p:graphicFrame>
            <p:nvGraphicFramePr>
              <p:cNvPr id="7" name="Table 6">
                <a:extLst>
                  <a:ext uri="{FF2B5EF4-FFF2-40B4-BE49-F238E27FC236}">
                    <a16:creationId xmlns:a16="http://schemas.microsoft.com/office/drawing/2014/main" id="{77F64ECE-41B9-4A52-899F-8548D1A9B6F7}"/>
                  </a:ext>
                </a:extLst>
              </p:cNvPr>
              <p:cNvGraphicFramePr>
                <a:graphicFrameLocks noGrp="1"/>
              </p:cNvGraphicFramePr>
              <p:nvPr>
                <p:extLst>
                  <p:ext uri="{D42A27DB-BD31-4B8C-83A1-F6EECF244321}">
                    <p14:modId xmlns:p14="http://schemas.microsoft.com/office/powerpoint/2010/main" val="3704798515"/>
                  </p:ext>
                </p:extLst>
              </p:nvPr>
            </p:nvGraphicFramePr>
            <p:xfrm>
              <a:off x="3179649" y="143151"/>
              <a:ext cx="5832702" cy="2820303"/>
            </p:xfrm>
            <a:graphic>
              <a:graphicData uri="http://schemas.openxmlformats.org/drawingml/2006/table">
                <a:tbl>
                  <a:tblPr bandRow="1">
                    <a:tableStyleId>{A91F0D33-8C57-4600-99A7-42BC86742BE1}</a:tableStyleId>
                  </a:tblPr>
                  <a:tblGrid>
                    <a:gridCol w="2283069">
                      <a:extLst>
                        <a:ext uri="{9D8B030D-6E8A-4147-A177-3AD203B41FA5}">
                          <a16:colId xmlns:a16="http://schemas.microsoft.com/office/drawing/2014/main" val="2171306233"/>
                        </a:ext>
                      </a:extLst>
                    </a:gridCol>
                    <a:gridCol w="1730253">
                      <a:extLst>
                        <a:ext uri="{9D8B030D-6E8A-4147-A177-3AD203B41FA5}">
                          <a16:colId xmlns:a16="http://schemas.microsoft.com/office/drawing/2014/main" val="3194065342"/>
                        </a:ext>
                      </a:extLst>
                    </a:gridCol>
                    <a:gridCol w="1819380">
                      <a:extLst>
                        <a:ext uri="{9D8B030D-6E8A-4147-A177-3AD203B41FA5}">
                          <a16:colId xmlns:a16="http://schemas.microsoft.com/office/drawing/2014/main" val="4032516771"/>
                        </a:ext>
                      </a:extLst>
                    </a:gridCol>
                  </a:tblGrid>
                  <a:tr h="914400">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Electricity Use</a:t>
                          </a:r>
                        </a:p>
                      </a:txBody>
                      <a:tcPr marL="68580" marR="68580" marT="0" marB="0" anchor="ctr">
                        <a:solidFill>
                          <a:schemeClr val="bg1">
                            <a:lumMod val="75000"/>
                          </a:schemeClr>
                        </a:solidFill>
                      </a:tcPr>
                    </a:tc>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Annual Cost, in Dollars</a:t>
                          </a:r>
                        </a:p>
                      </a:txBody>
                      <a:tcPr marL="68580" marR="68580" marT="0" marB="0" anchor="ctr">
                        <a:solidFill>
                          <a:schemeClr val="bg1">
                            <a:lumMod val="75000"/>
                          </a:schemeClr>
                        </a:solidFill>
                      </a:tcPr>
                    </a:tc>
                    <a:tc>
                      <a:txBody>
                        <a:bodyPr/>
                        <a:lstStyle/>
                        <a:p>
                          <a:pPr marL="0" marR="3683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txBody>
                      <a:tcPr marL="68580" marR="68580" marT="0" marB="0" anchor="ctr">
                        <a:solidFill>
                          <a:schemeClr val="bg1">
                            <a:lumMod val="75000"/>
                          </a:schemeClr>
                        </a:solidFill>
                      </a:tcPr>
                    </a:tc>
                    <a:extLst>
                      <a:ext uri="{0D108BD9-81ED-4DB2-BD59-A6C34878D82A}">
                        <a16:rowId xmlns:a16="http://schemas.microsoft.com/office/drawing/2014/main" val="2379507616"/>
                      </a:ext>
                    </a:extLst>
                  </a:tr>
                  <a:tr h="379363">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Air conditioning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4"/>
                          <a:stretch>
                            <a:fillRect l="-132394" t="-258730" r="-105634" b="-434921"/>
                          </a:stretch>
                        </a:blipFill>
                      </a:tcP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416408732"/>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Space heating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4"/>
                          <a:stretch>
                            <a:fillRect l="-132394" t="-389655" r="-105634" b="-372414"/>
                          </a:stretch>
                        </a:blipFill>
                      </a:tcP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2222854756"/>
                      </a:ext>
                    </a:extLst>
                  </a:tr>
                  <a:tr h="351790">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Water heating</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4"/>
                          <a:stretch>
                            <a:fillRect l="-132394" t="-489655" r="-105634" b="-272414"/>
                          </a:stretch>
                        </a:blipFill>
                      </a:tcPr>
                    </a:tc>
                    <a:tc>
                      <a:txBody>
                        <a:bodyPr/>
                        <a:lstStyle/>
                        <a:p>
                          <a:pPr marL="0" marR="3683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41515955"/>
                      </a:ext>
                    </a:extLst>
                  </a:tr>
                  <a:tr h="822960">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Appliances, electronics, and lighting</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4"/>
                          <a:stretch>
                            <a:fillRect l="-132394" t="-253333" r="-105634" b="-17037"/>
                          </a:stretch>
                        </a:blipFill>
                      </a:tcPr>
                    </a:tc>
                    <a:tc>
                      <a:txBody>
                        <a:bodyPr/>
                        <a:lstStyle/>
                        <a:p>
                          <a:pPr marL="0" marR="3683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2494406219"/>
                      </a:ext>
                    </a:extLst>
                  </a:tr>
                </a:tbl>
              </a:graphicData>
            </a:graphic>
          </p:graphicFrame>
        </mc:Fallback>
      </mc:AlternateContent>
    </p:spTree>
    <p:extLst>
      <p:ext uri="{BB962C8B-B14F-4D97-AF65-F5344CB8AC3E}">
        <p14:creationId xmlns:p14="http://schemas.microsoft.com/office/powerpoint/2010/main" val="419499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283</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5632311"/>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Create a circle graph for Lupe’s data set.</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each data display can be useful to Lupe as she considers ways to reduce her energy bills. </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Circle&#10;&#10;Description automatically generated">
            <a:extLst>
              <a:ext uri="{FF2B5EF4-FFF2-40B4-BE49-F238E27FC236}">
                <a16:creationId xmlns:a16="http://schemas.microsoft.com/office/drawing/2014/main" id="{47D1B287-138F-5C4C-9286-447A9FA8B883}"/>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9810" r="12281"/>
          <a:stretch/>
        </p:blipFill>
        <p:spPr>
          <a:xfrm>
            <a:off x="4332600" y="1032858"/>
            <a:ext cx="3526800" cy="3462447"/>
          </a:xfrm>
          <a:prstGeom prst="rect">
            <a:avLst/>
          </a:prstGeom>
        </p:spPr>
      </p:pic>
    </p:spTree>
    <p:extLst>
      <p:ext uri="{BB962C8B-B14F-4D97-AF65-F5344CB8AC3E}">
        <p14:creationId xmlns:p14="http://schemas.microsoft.com/office/powerpoint/2010/main" val="1781707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283</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233977"/>
            <a:ext cx="8513064" cy="6355586"/>
          </a:xfrm>
          <a:prstGeom prst="rect">
            <a:avLst/>
          </a:prstGeom>
          <a:noFill/>
        </p:spPr>
        <p:txBody>
          <a:bodyPr wrap="square" rtlCol="0">
            <a:spAutoFit/>
          </a:bodyPr>
          <a:lstStyle/>
          <a:p>
            <a:pPr marL="457200" indent="-457200">
              <a:buFont typeface="+mj-lt"/>
              <a:buAutoNum type="arabicPeriod" startAt="5"/>
            </a:pPr>
            <a:r>
              <a:rPr lang="en-US" sz="2200" dirty="0">
                <a:latin typeface="Verdana" panose="020B0604030504040204" pitchFamily="34" charset="0"/>
                <a:ea typeface="Verdana" panose="020B0604030504040204" pitchFamily="34" charset="0"/>
                <a:cs typeface="Verdana" panose="020B0604030504040204" pitchFamily="34" charset="0"/>
              </a:rPr>
              <a:t>Complete the statements. </a:t>
            </a: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The bar graph displays the</a:t>
            </a: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Lupe pays for each area of electricity use, while </a:t>
            </a: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the circle graph displays the</a:t>
            </a: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Lupe pays for each.</a:t>
            </a: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Lupe can use the                        to analyze whether </a:t>
            </a:r>
          </a:p>
          <a:p>
            <a:pPr marL="465138">
              <a:lnSpc>
                <a:spcPct val="150000"/>
              </a:lnSpc>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there are any areas of electricity use that make up too </a:t>
            </a: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large of a portion of her bill to determine where she </a:t>
            </a: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r>
              <a:rPr lang="en-US" sz="2200" dirty="0">
                <a:latin typeface="Verdana" panose="020B0604030504040204" pitchFamily="34" charset="0"/>
                <a:ea typeface="Verdana" panose="020B0604030504040204" pitchFamily="34" charset="0"/>
                <a:cs typeface="Verdana" panose="020B0604030504040204" pitchFamily="34" charset="0"/>
              </a:rPr>
              <a:t>should try to reduce her electricity consumption.</a:t>
            </a:r>
          </a:p>
        </p:txBody>
      </p:sp>
      <p:sp>
        <p:nvSpPr>
          <p:cNvPr id="9" name="Rounded Rectangle 8">
            <a:extLst>
              <a:ext uri="{FF2B5EF4-FFF2-40B4-BE49-F238E27FC236}">
                <a16:creationId xmlns:a16="http://schemas.microsoft.com/office/drawing/2014/main" id="{B1164694-4E77-724F-9B80-CA4DB16BCB16}"/>
              </a:ext>
            </a:extLst>
          </p:cNvPr>
          <p:cNvSpPr/>
          <p:nvPr/>
        </p:nvSpPr>
        <p:spPr>
          <a:xfrm>
            <a:off x="5423967" y="609182"/>
            <a:ext cx="3781566" cy="954450"/>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actual amount</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proportion of the total cost</a:t>
            </a:r>
            <a:endParaRPr lang="en-US" sz="2000" dirty="0">
              <a:latin typeface="Cambria" panose="02040503050406030204" pitchFamily="18" charset="0"/>
              <a:ea typeface="Times New Roman" panose="02020603050405020304" pitchFamily="18" charset="0"/>
              <a:cs typeface="Cambria" panose="02040503050406030204" pitchFamily="18" charset="0"/>
            </a:endParaRPr>
          </a:p>
        </p:txBody>
      </p:sp>
      <p:sp>
        <p:nvSpPr>
          <p:cNvPr id="10" name="Rounded Rectangle 9">
            <a:extLst>
              <a:ext uri="{FF2B5EF4-FFF2-40B4-BE49-F238E27FC236}">
                <a16:creationId xmlns:a16="http://schemas.microsoft.com/office/drawing/2014/main" id="{3A79F75A-92CC-1C43-BFF8-9B6127F90906}"/>
              </a:ext>
            </a:extLst>
          </p:cNvPr>
          <p:cNvSpPr/>
          <p:nvPr/>
        </p:nvSpPr>
        <p:spPr>
          <a:xfrm>
            <a:off x="5564899" y="2038566"/>
            <a:ext cx="3297801" cy="926952"/>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actual amount</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proportion of the total cost</a:t>
            </a:r>
            <a:endParaRPr lang="en-US" sz="2000" dirty="0">
              <a:latin typeface="Cambria" panose="02040503050406030204" pitchFamily="18" charset="0"/>
              <a:ea typeface="Times New Roman" panose="02020603050405020304" pitchFamily="18" charset="0"/>
              <a:cs typeface="Cambria" panose="02040503050406030204" pitchFamily="18" charset="0"/>
            </a:endParaRPr>
          </a:p>
        </p:txBody>
      </p:sp>
      <p:sp>
        <p:nvSpPr>
          <p:cNvPr id="11" name="Rounded Rectangle 10">
            <a:extLst>
              <a:ext uri="{FF2B5EF4-FFF2-40B4-BE49-F238E27FC236}">
                <a16:creationId xmlns:a16="http://schemas.microsoft.com/office/drawing/2014/main" id="{A1BBE3DE-47A4-8941-ABC2-E3C804A8C81E}"/>
              </a:ext>
            </a:extLst>
          </p:cNvPr>
          <p:cNvSpPr/>
          <p:nvPr/>
        </p:nvSpPr>
        <p:spPr>
          <a:xfrm>
            <a:off x="4031696" y="3784644"/>
            <a:ext cx="1925235" cy="926952"/>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bar graph</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circle graph</a:t>
            </a:r>
            <a:endParaRPr lang="en-US" sz="2000" dirty="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3837649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283</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8327136" cy="5447645"/>
          </a:xfrm>
          <a:prstGeom prst="rect">
            <a:avLst/>
          </a:prstGeom>
          <a:noFill/>
        </p:spPr>
        <p:txBody>
          <a:bodyPr wrap="square" rtlCol="0">
            <a:spAutoFit/>
          </a:bodyPr>
          <a:lstStyle/>
          <a:p>
            <a:pPr marL="465138"/>
            <a:r>
              <a:rPr lang="en-US" sz="2400" dirty="0">
                <a:latin typeface="Verdana" panose="020B0604030504040204" pitchFamily="34" charset="0"/>
                <a:ea typeface="Verdana" panose="020B0604030504040204" pitchFamily="34" charset="0"/>
                <a:cs typeface="Verdana" panose="020B0604030504040204" pitchFamily="34" charset="0"/>
              </a:rPr>
              <a:t>She can use the                      to show her </a:t>
            </a:r>
          </a:p>
          <a:p>
            <a:pPr marL="465138">
              <a:lnSpc>
                <a:spcPct val="150000"/>
              </a:lnSpc>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family the actual cost of each area of use as they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set goals for using less energy, such as taking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shorter showers or running the air conditioner at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a higher temperature.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sp>
        <p:nvSpPr>
          <p:cNvPr id="6" name="Rounded Rectangle 5">
            <a:extLst>
              <a:ext uri="{FF2B5EF4-FFF2-40B4-BE49-F238E27FC236}">
                <a16:creationId xmlns:a16="http://schemas.microsoft.com/office/drawing/2014/main" id="{086C711C-C7CC-AE4C-A062-EB0C5C64BE5F}"/>
              </a:ext>
            </a:extLst>
          </p:cNvPr>
          <p:cNvSpPr/>
          <p:nvPr/>
        </p:nvSpPr>
        <p:spPr>
          <a:xfrm>
            <a:off x="4042120" y="356020"/>
            <a:ext cx="2191935" cy="902970"/>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bar graph</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Times New Roman" panose="02020603050405020304" pitchFamily="18" charset="0"/>
                <a:cs typeface="Cambria" panose="02040503050406030204" pitchFamily="18" charset="0"/>
              </a:rPr>
              <a:t>circle graph</a:t>
            </a:r>
            <a:endParaRPr lang="en-US" sz="2000" dirty="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3027030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283</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6001643"/>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Bar graphs and circle graphs are both useful for visually representing categorical data.</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The purpose of displaying the data can also be used to determine which graph is best.</a:t>
            </a:r>
          </a:p>
        </p:txBody>
      </p:sp>
      <p:grpSp>
        <p:nvGrpSpPr>
          <p:cNvPr id="6" name="Group 5">
            <a:extLst>
              <a:ext uri="{FF2B5EF4-FFF2-40B4-BE49-F238E27FC236}">
                <a16:creationId xmlns:a16="http://schemas.microsoft.com/office/drawing/2014/main" id="{2803AC98-5B53-C84A-BCAB-255047808BDF}"/>
              </a:ext>
            </a:extLst>
          </p:cNvPr>
          <p:cNvGrpSpPr/>
          <p:nvPr/>
        </p:nvGrpSpPr>
        <p:grpSpPr>
          <a:xfrm>
            <a:off x="2686189" y="1962219"/>
            <a:ext cx="6803887" cy="1945005"/>
            <a:chOff x="1856813" y="2517773"/>
            <a:chExt cx="6803887" cy="1945341"/>
          </a:xfrm>
        </p:grpSpPr>
        <p:grpSp>
          <p:nvGrpSpPr>
            <p:cNvPr id="7" name="Group 6">
              <a:extLst>
                <a:ext uri="{FF2B5EF4-FFF2-40B4-BE49-F238E27FC236}">
                  <a16:creationId xmlns:a16="http://schemas.microsoft.com/office/drawing/2014/main" id="{76A5C271-D832-0B44-B2AC-DCF101813BCE}"/>
                </a:ext>
              </a:extLst>
            </p:cNvPr>
            <p:cNvGrpSpPr/>
            <p:nvPr/>
          </p:nvGrpSpPr>
          <p:grpSpPr>
            <a:xfrm>
              <a:off x="1856813" y="2517773"/>
              <a:ext cx="6803887" cy="1945341"/>
              <a:chOff x="1856813" y="2517773"/>
              <a:chExt cx="6803887" cy="1945341"/>
            </a:xfrm>
          </p:grpSpPr>
          <p:sp>
            <p:nvSpPr>
              <p:cNvPr id="8" name="Rectangle 7">
                <a:extLst>
                  <a:ext uri="{FF2B5EF4-FFF2-40B4-BE49-F238E27FC236}">
                    <a16:creationId xmlns:a16="http://schemas.microsoft.com/office/drawing/2014/main" id="{170A3DF2-8AE1-6F4B-B22C-ACFD73ADA1D8}"/>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9" name="Group 8">
                <a:extLst>
                  <a:ext uri="{FF2B5EF4-FFF2-40B4-BE49-F238E27FC236}">
                    <a16:creationId xmlns:a16="http://schemas.microsoft.com/office/drawing/2014/main" id="{AF8A2EDE-622C-CC45-8EB3-F14B904CBE83}"/>
                  </a:ext>
                </a:extLst>
              </p:cNvPr>
              <p:cNvGrpSpPr/>
              <p:nvPr/>
            </p:nvGrpSpPr>
            <p:grpSpPr>
              <a:xfrm>
                <a:off x="1856813" y="2517773"/>
                <a:ext cx="6803887" cy="1945341"/>
                <a:chOff x="1856813" y="2517773"/>
                <a:chExt cx="6803887" cy="1945341"/>
              </a:xfrm>
            </p:grpSpPr>
            <p:sp>
              <p:nvSpPr>
                <p:cNvPr id="10" name="Rectangle 9">
                  <a:extLst>
                    <a:ext uri="{FF2B5EF4-FFF2-40B4-BE49-F238E27FC236}">
                      <a16:creationId xmlns:a16="http://schemas.microsoft.com/office/drawing/2014/main" id="{2F5725AC-5B58-4E43-980A-50F66E704144}"/>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1" name="Group 10">
                  <a:extLst>
                    <a:ext uri="{FF2B5EF4-FFF2-40B4-BE49-F238E27FC236}">
                      <a16:creationId xmlns:a16="http://schemas.microsoft.com/office/drawing/2014/main" id="{CF0F19FB-0FF5-7848-AA54-8B9A409187F0}"/>
                    </a:ext>
                  </a:extLst>
                </p:cNvPr>
                <p:cNvGrpSpPr/>
                <p:nvPr/>
              </p:nvGrpSpPr>
              <p:grpSpPr>
                <a:xfrm>
                  <a:off x="1856813" y="2517773"/>
                  <a:ext cx="6803887" cy="1945341"/>
                  <a:chOff x="1856813" y="2517773"/>
                  <a:chExt cx="6803887" cy="1945341"/>
                </a:xfrm>
              </p:grpSpPr>
              <p:sp>
                <p:nvSpPr>
                  <p:cNvPr id="13" name="Rectangle 12">
                    <a:extLst>
                      <a:ext uri="{FF2B5EF4-FFF2-40B4-BE49-F238E27FC236}">
                        <a16:creationId xmlns:a16="http://schemas.microsoft.com/office/drawing/2014/main" id="{8DD8103F-9C55-534A-ABFA-8A5DB8557127}"/>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5" name="Group 14">
                    <a:extLst>
                      <a:ext uri="{FF2B5EF4-FFF2-40B4-BE49-F238E27FC236}">
                        <a16:creationId xmlns:a16="http://schemas.microsoft.com/office/drawing/2014/main" id="{87CA93BE-007A-E047-81C9-B9A01432BC47}"/>
                      </a:ext>
                    </a:extLst>
                  </p:cNvPr>
                  <p:cNvGrpSpPr/>
                  <p:nvPr/>
                </p:nvGrpSpPr>
                <p:grpSpPr>
                  <a:xfrm>
                    <a:off x="1856813" y="2517773"/>
                    <a:ext cx="6803887" cy="1945341"/>
                    <a:chOff x="1856813" y="2517773"/>
                    <a:chExt cx="6803887" cy="1945341"/>
                  </a:xfrm>
                </p:grpSpPr>
                <p:sp>
                  <p:nvSpPr>
                    <p:cNvPr id="16" name="Rectangle 15">
                      <a:extLst>
                        <a:ext uri="{FF2B5EF4-FFF2-40B4-BE49-F238E27FC236}">
                          <a16:creationId xmlns:a16="http://schemas.microsoft.com/office/drawing/2014/main" id="{C3875209-7425-C34A-B9AA-FA8DC61B7BF3}"/>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7" name="Group 16">
                      <a:extLst>
                        <a:ext uri="{FF2B5EF4-FFF2-40B4-BE49-F238E27FC236}">
                          <a16:creationId xmlns:a16="http://schemas.microsoft.com/office/drawing/2014/main" id="{392107A8-6198-4941-9902-FFEDC3C5D9C7}"/>
                        </a:ext>
                      </a:extLst>
                    </p:cNvPr>
                    <p:cNvGrpSpPr/>
                    <p:nvPr/>
                  </p:nvGrpSpPr>
                  <p:grpSpPr>
                    <a:xfrm>
                      <a:off x="1856813" y="2517773"/>
                      <a:ext cx="6803887" cy="1945341"/>
                      <a:chOff x="1856813" y="2517773"/>
                      <a:chExt cx="6803887" cy="1945341"/>
                    </a:xfrm>
                  </p:grpSpPr>
                  <p:sp>
                    <p:nvSpPr>
                      <p:cNvPr id="18" name="Rectangle 17">
                        <a:extLst>
                          <a:ext uri="{FF2B5EF4-FFF2-40B4-BE49-F238E27FC236}">
                            <a16:creationId xmlns:a16="http://schemas.microsoft.com/office/drawing/2014/main" id="{6DAF08FA-6DC3-4345-BF9E-7FA8ADA67E9B}"/>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9" name="Group 18">
                        <a:extLst>
                          <a:ext uri="{FF2B5EF4-FFF2-40B4-BE49-F238E27FC236}">
                            <a16:creationId xmlns:a16="http://schemas.microsoft.com/office/drawing/2014/main" id="{13CCEFF3-4731-5B40-ADF6-95C587F485AF}"/>
                          </a:ext>
                        </a:extLst>
                      </p:cNvPr>
                      <p:cNvGrpSpPr/>
                      <p:nvPr/>
                    </p:nvGrpSpPr>
                    <p:grpSpPr>
                      <a:xfrm>
                        <a:off x="1856813" y="2517773"/>
                        <a:ext cx="6803887" cy="1945341"/>
                        <a:chOff x="-174487" y="-757962"/>
                        <a:chExt cx="6803887" cy="1945341"/>
                      </a:xfrm>
                    </p:grpSpPr>
                    <p:sp>
                      <p:nvSpPr>
                        <p:cNvPr id="20" name="Rectangle 19">
                          <a:extLst>
                            <a:ext uri="{FF2B5EF4-FFF2-40B4-BE49-F238E27FC236}">
                              <a16:creationId xmlns:a16="http://schemas.microsoft.com/office/drawing/2014/main" id="{860383E4-AA3A-0C4D-A317-00880ACA85D8}"/>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1" name="Group 20">
                          <a:extLst>
                            <a:ext uri="{FF2B5EF4-FFF2-40B4-BE49-F238E27FC236}">
                              <a16:creationId xmlns:a16="http://schemas.microsoft.com/office/drawing/2014/main" id="{86DD6062-73B2-2143-B5E2-FB33400FE750}"/>
                            </a:ext>
                          </a:extLst>
                        </p:cNvPr>
                        <p:cNvGrpSpPr/>
                        <p:nvPr/>
                      </p:nvGrpSpPr>
                      <p:grpSpPr>
                        <a:xfrm>
                          <a:off x="-174487" y="-757962"/>
                          <a:ext cx="6803887" cy="1945341"/>
                          <a:chOff x="-174487" y="-757962"/>
                          <a:chExt cx="6803887" cy="1945341"/>
                        </a:xfrm>
                      </p:grpSpPr>
                      <p:sp>
                        <p:nvSpPr>
                          <p:cNvPr id="23" name="Rectangle 22">
                            <a:extLst>
                              <a:ext uri="{FF2B5EF4-FFF2-40B4-BE49-F238E27FC236}">
                                <a16:creationId xmlns:a16="http://schemas.microsoft.com/office/drawing/2014/main" id="{2ED2620F-B127-6F4E-82FE-A6D36E02945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24" name="Rectangle 23">
                            <a:extLst>
                              <a:ext uri="{FF2B5EF4-FFF2-40B4-BE49-F238E27FC236}">
                                <a16:creationId xmlns:a16="http://schemas.microsoft.com/office/drawing/2014/main" id="{42F75511-58C7-9A44-851E-B86CCF7579E4}"/>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25" name="Rounded Rectangle 24">
                            <a:extLst>
                              <a:ext uri="{FF2B5EF4-FFF2-40B4-BE49-F238E27FC236}">
                                <a16:creationId xmlns:a16="http://schemas.microsoft.com/office/drawing/2014/main" id="{D7D37716-4D7A-B74B-8625-E3C2B8970FDF}"/>
                              </a:ext>
                            </a:extLst>
                          </p:cNvPr>
                          <p:cNvSpPr/>
                          <p:nvPr/>
                        </p:nvSpPr>
                        <p:spPr>
                          <a:xfrm>
                            <a:off x="-174487" y="-757962"/>
                            <a:ext cx="6629400" cy="194534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marR="34290"/>
                            <a:endParaRPr lang="en-US" sz="2000" b="1" dirty="0">
                              <a:solidFill>
                                <a:srgbClr val="00619E"/>
                              </a:solidFill>
                              <a:latin typeface="Verdana" panose="020B0604030504040204" pitchFamily="34" charset="0"/>
                              <a:ea typeface="Arial" panose="020B0604020202020204" pitchFamily="34" charset="0"/>
                              <a:cs typeface="Arial" panose="020B0604020202020204" pitchFamily="34" charset="0"/>
                            </a:endParaRPr>
                          </a:p>
                          <a:p>
                            <a:pPr marL="685800" marR="34290"/>
                            <a:r>
                              <a:rPr lang="en-US" sz="2000" b="1" dirty="0">
                                <a:solidFill>
                                  <a:srgbClr val="00619E"/>
                                </a:solidFill>
                                <a:latin typeface="Verdana" panose="020B0604030504040204" pitchFamily="34" charset="0"/>
                                <a:ea typeface="Arial" panose="020B0604020202020204" pitchFamily="34" charset="0"/>
                                <a:cs typeface="Arial" panose="020B0604020202020204" pitchFamily="34" charset="0"/>
                              </a:rPr>
                              <a:t>Bar graphs</a:t>
                            </a:r>
                            <a:r>
                              <a:rPr lang="en-US" sz="2000" dirty="0">
                                <a:solidFill>
                                  <a:srgbClr val="00619E"/>
                                </a:solidFill>
                                <a:latin typeface="Verdana" panose="020B0604030504040204" pitchFamily="34" charset="0"/>
                                <a:ea typeface="Arial" panose="020B0604020202020204" pitchFamily="34" charset="0"/>
                                <a:cs typeface="Arial" panose="020B0604020202020204" pitchFamily="34" charset="0"/>
                              </a:rPr>
                              <a:t> are best when the goal is to compare categories to each other or to compare the actual values. They visually show how each part compares to other parts and display the exact counts or values for each category.</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685800" indent="4457700"/>
                            <a:r>
                              <a:rPr lang="en-US" sz="1800" dirty="0">
                                <a:solidFill>
                                  <a:srgbClr val="00619E"/>
                                </a:solidFill>
                                <a:latin typeface="Verdana" panose="020B0604030504040204" pitchFamily="34" charset="0"/>
                                <a:ea typeface="Times New Roman" panose="02020603050405020304" pitchFamily="18" charset="0"/>
                              </a:rPr>
                              <a:t> </a:t>
                            </a:r>
                            <a:endParaRPr lang="en-US" sz="1200" dirty="0">
                              <a:latin typeface="Times New Roman" panose="02020603050405020304" pitchFamily="18" charset="0"/>
                              <a:ea typeface="Times New Roman" panose="02020603050405020304" pitchFamily="18" charset="0"/>
                            </a:endParaRPr>
                          </a:p>
                        </p:txBody>
                      </p:sp>
                    </p:grpSp>
                  </p:grpSp>
                </p:grpSp>
              </p:grpSp>
            </p:grpSp>
          </p:grpSp>
        </p:grpSp>
      </p:grpSp>
      <p:grpSp>
        <p:nvGrpSpPr>
          <p:cNvPr id="26" name="Group 25">
            <a:extLst>
              <a:ext uri="{FF2B5EF4-FFF2-40B4-BE49-F238E27FC236}">
                <a16:creationId xmlns:a16="http://schemas.microsoft.com/office/drawing/2014/main" id="{15FFA5D3-3E41-004F-87ED-6E55DDC15D14}"/>
              </a:ext>
            </a:extLst>
          </p:cNvPr>
          <p:cNvGrpSpPr/>
          <p:nvPr/>
        </p:nvGrpSpPr>
        <p:grpSpPr>
          <a:xfrm>
            <a:off x="2701925" y="2204563"/>
            <a:ext cx="6731000" cy="3242286"/>
            <a:chOff x="1929700" y="3119055"/>
            <a:chExt cx="6731000" cy="3242674"/>
          </a:xfrm>
        </p:grpSpPr>
        <p:grpSp>
          <p:nvGrpSpPr>
            <p:cNvPr id="27" name="Group 26">
              <a:extLst>
                <a:ext uri="{FF2B5EF4-FFF2-40B4-BE49-F238E27FC236}">
                  <a16:creationId xmlns:a16="http://schemas.microsoft.com/office/drawing/2014/main" id="{9CE78901-4908-1A4F-A353-C4350E8AB0AD}"/>
                </a:ext>
              </a:extLst>
            </p:cNvPr>
            <p:cNvGrpSpPr/>
            <p:nvPr/>
          </p:nvGrpSpPr>
          <p:grpSpPr>
            <a:xfrm>
              <a:off x="1929700" y="3119055"/>
              <a:ext cx="6731000" cy="3242674"/>
              <a:chOff x="1929700" y="3119055"/>
              <a:chExt cx="6731000" cy="3242674"/>
            </a:xfrm>
          </p:grpSpPr>
          <p:sp>
            <p:nvSpPr>
              <p:cNvPr id="28" name="Rectangle 27">
                <a:extLst>
                  <a:ext uri="{FF2B5EF4-FFF2-40B4-BE49-F238E27FC236}">
                    <a16:creationId xmlns:a16="http://schemas.microsoft.com/office/drawing/2014/main" id="{B6AF6758-9628-7744-B3F1-26BA294F03E5}"/>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9" name="Group 28">
                <a:extLst>
                  <a:ext uri="{FF2B5EF4-FFF2-40B4-BE49-F238E27FC236}">
                    <a16:creationId xmlns:a16="http://schemas.microsoft.com/office/drawing/2014/main" id="{01A94C7D-BE4C-6248-8D95-00723207E0AD}"/>
                  </a:ext>
                </a:extLst>
              </p:cNvPr>
              <p:cNvGrpSpPr/>
              <p:nvPr/>
            </p:nvGrpSpPr>
            <p:grpSpPr>
              <a:xfrm>
                <a:off x="1929700" y="3119055"/>
                <a:ext cx="6731000" cy="3242674"/>
                <a:chOff x="1929700" y="3119055"/>
                <a:chExt cx="6731000" cy="3242674"/>
              </a:xfrm>
            </p:grpSpPr>
            <p:sp>
              <p:nvSpPr>
                <p:cNvPr id="30" name="Rectangle 29">
                  <a:extLst>
                    <a:ext uri="{FF2B5EF4-FFF2-40B4-BE49-F238E27FC236}">
                      <a16:creationId xmlns:a16="http://schemas.microsoft.com/office/drawing/2014/main" id="{43881F67-3968-7246-840A-E826B5D84BE7}"/>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1" name="Group 30">
                  <a:extLst>
                    <a:ext uri="{FF2B5EF4-FFF2-40B4-BE49-F238E27FC236}">
                      <a16:creationId xmlns:a16="http://schemas.microsoft.com/office/drawing/2014/main" id="{9AA8B2E1-544E-2D45-864E-FE095406914D}"/>
                    </a:ext>
                  </a:extLst>
                </p:cNvPr>
                <p:cNvGrpSpPr/>
                <p:nvPr/>
              </p:nvGrpSpPr>
              <p:grpSpPr>
                <a:xfrm>
                  <a:off x="1929700" y="3119055"/>
                  <a:ext cx="6731000" cy="3242674"/>
                  <a:chOff x="1929700" y="3119055"/>
                  <a:chExt cx="6731000" cy="3242674"/>
                </a:xfrm>
              </p:grpSpPr>
              <p:sp>
                <p:nvSpPr>
                  <p:cNvPr id="32" name="Rectangle 31">
                    <a:extLst>
                      <a:ext uri="{FF2B5EF4-FFF2-40B4-BE49-F238E27FC236}">
                        <a16:creationId xmlns:a16="http://schemas.microsoft.com/office/drawing/2014/main" id="{20F3B24E-B7F0-2D47-86FA-2EB8CD62C946}"/>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3" name="Group 32">
                    <a:extLst>
                      <a:ext uri="{FF2B5EF4-FFF2-40B4-BE49-F238E27FC236}">
                        <a16:creationId xmlns:a16="http://schemas.microsoft.com/office/drawing/2014/main" id="{10007AD5-F83E-2244-B8DB-59F4F9858F15}"/>
                      </a:ext>
                    </a:extLst>
                  </p:cNvPr>
                  <p:cNvGrpSpPr/>
                  <p:nvPr/>
                </p:nvGrpSpPr>
                <p:grpSpPr>
                  <a:xfrm>
                    <a:off x="1929700" y="3119055"/>
                    <a:ext cx="6731000" cy="3242674"/>
                    <a:chOff x="1929700" y="3119055"/>
                    <a:chExt cx="6731000" cy="3242674"/>
                  </a:xfrm>
                </p:grpSpPr>
                <p:sp>
                  <p:nvSpPr>
                    <p:cNvPr id="34" name="Rectangle 33">
                      <a:extLst>
                        <a:ext uri="{FF2B5EF4-FFF2-40B4-BE49-F238E27FC236}">
                          <a16:creationId xmlns:a16="http://schemas.microsoft.com/office/drawing/2014/main" id="{8FA8A157-C0A5-5E40-A5B5-65FF550DE783}"/>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5" name="Group 34">
                      <a:extLst>
                        <a:ext uri="{FF2B5EF4-FFF2-40B4-BE49-F238E27FC236}">
                          <a16:creationId xmlns:a16="http://schemas.microsoft.com/office/drawing/2014/main" id="{A4257EB8-F145-1940-B720-BEE9BEAB752E}"/>
                        </a:ext>
                      </a:extLst>
                    </p:cNvPr>
                    <p:cNvGrpSpPr/>
                    <p:nvPr/>
                  </p:nvGrpSpPr>
                  <p:grpSpPr>
                    <a:xfrm>
                      <a:off x="1929700" y="3119055"/>
                      <a:ext cx="6731000" cy="3242674"/>
                      <a:chOff x="1929700" y="3119055"/>
                      <a:chExt cx="6731000" cy="3242674"/>
                    </a:xfrm>
                  </p:grpSpPr>
                  <p:sp>
                    <p:nvSpPr>
                      <p:cNvPr id="36" name="Rectangle 35">
                        <a:extLst>
                          <a:ext uri="{FF2B5EF4-FFF2-40B4-BE49-F238E27FC236}">
                            <a16:creationId xmlns:a16="http://schemas.microsoft.com/office/drawing/2014/main" id="{F704CA89-2F52-DA49-BD6E-659B979D4104}"/>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7" name="Group 36">
                        <a:extLst>
                          <a:ext uri="{FF2B5EF4-FFF2-40B4-BE49-F238E27FC236}">
                            <a16:creationId xmlns:a16="http://schemas.microsoft.com/office/drawing/2014/main" id="{A24AA864-54D1-9141-B895-FDA3D996DD2F}"/>
                          </a:ext>
                        </a:extLst>
                      </p:cNvPr>
                      <p:cNvGrpSpPr/>
                      <p:nvPr/>
                    </p:nvGrpSpPr>
                    <p:grpSpPr>
                      <a:xfrm>
                        <a:off x="1929700" y="3119055"/>
                        <a:ext cx="6731000" cy="3242674"/>
                        <a:chOff x="-101600" y="-156680"/>
                        <a:chExt cx="6731000" cy="3242674"/>
                      </a:xfrm>
                    </p:grpSpPr>
                    <p:sp>
                      <p:nvSpPr>
                        <p:cNvPr id="38" name="Rectangle 37">
                          <a:extLst>
                            <a:ext uri="{FF2B5EF4-FFF2-40B4-BE49-F238E27FC236}">
                              <a16:creationId xmlns:a16="http://schemas.microsoft.com/office/drawing/2014/main" id="{1FAAAE42-1BE0-7148-8810-C038D2D83052}"/>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9" name="Group 38">
                          <a:extLst>
                            <a:ext uri="{FF2B5EF4-FFF2-40B4-BE49-F238E27FC236}">
                              <a16:creationId xmlns:a16="http://schemas.microsoft.com/office/drawing/2014/main" id="{BF1F076D-A753-2545-A02F-972DDE95E03E}"/>
                            </a:ext>
                          </a:extLst>
                        </p:cNvPr>
                        <p:cNvGrpSpPr/>
                        <p:nvPr/>
                      </p:nvGrpSpPr>
                      <p:grpSpPr>
                        <a:xfrm>
                          <a:off x="-101600" y="0"/>
                          <a:ext cx="6731000" cy="3085994"/>
                          <a:chOff x="-101600" y="0"/>
                          <a:chExt cx="6731000" cy="3085994"/>
                        </a:xfrm>
                      </p:grpSpPr>
                      <p:sp>
                        <p:nvSpPr>
                          <p:cNvPr id="41" name="Rectangle 40">
                            <a:extLst>
                              <a:ext uri="{FF2B5EF4-FFF2-40B4-BE49-F238E27FC236}">
                                <a16:creationId xmlns:a16="http://schemas.microsoft.com/office/drawing/2014/main" id="{73EAD1A9-56C4-1A49-97C1-8836B97F45F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42" name="Rectangle 41">
                            <a:extLst>
                              <a:ext uri="{FF2B5EF4-FFF2-40B4-BE49-F238E27FC236}">
                                <a16:creationId xmlns:a16="http://schemas.microsoft.com/office/drawing/2014/main" id="{30F2DBA0-5605-804C-807F-17193F9F670E}"/>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43" name="Rounded Rectangle 42">
                            <a:extLst>
                              <a:ext uri="{FF2B5EF4-FFF2-40B4-BE49-F238E27FC236}">
                                <a16:creationId xmlns:a16="http://schemas.microsoft.com/office/drawing/2014/main" id="{718CC492-6109-C84A-AD6D-DAB206AD3BDF}"/>
                              </a:ext>
                            </a:extLst>
                          </p:cNvPr>
                          <p:cNvSpPr/>
                          <p:nvPr/>
                        </p:nvSpPr>
                        <p:spPr>
                          <a:xfrm>
                            <a:off x="-101600" y="1725026"/>
                            <a:ext cx="6629400" cy="1360968"/>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marR="34290"/>
                            <a:endParaRPr lang="en-US" sz="2000" b="1" dirty="0">
                              <a:solidFill>
                                <a:srgbClr val="00619E"/>
                              </a:solidFill>
                              <a:latin typeface="Verdana" panose="020B0604030504040204" pitchFamily="34" charset="0"/>
                              <a:ea typeface="Arial" panose="020B0604020202020204" pitchFamily="34" charset="0"/>
                              <a:cs typeface="Arial" panose="020B0604020202020204" pitchFamily="34" charset="0"/>
                            </a:endParaRPr>
                          </a:p>
                          <a:p>
                            <a:pPr marL="685800" marR="34290"/>
                            <a:r>
                              <a:rPr lang="en-US" sz="2000" b="1" dirty="0">
                                <a:solidFill>
                                  <a:srgbClr val="00619E"/>
                                </a:solidFill>
                                <a:latin typeface="Verdana" panose="020B0604030504040204" pitchFamily="34" charset="0"/>
                                <a:ea typeface="Arial" panose="020B0604020202020204" pitchFamily="34" charset="0"/>
                                <a:cs typeface="Arial" panose="020B0604020202020204" pitchFamily="34" charset="0"/>
                              </a:rPr>
                              <a:t>Circle graphs</a:t>
                            </a:r>
                            <a:r>
                              <a:rPr lang="en-US" sz="2000" dirty="0">
                                <a:solidFill>
                                  <a:srgbClr val="00619E"/>
                                </a:solidFill>
                                <a:latin typeface="Verdana" panose="020B0604030504040204" pitchFamily="34" charset="0"/>
                                <a:ea typeface="Arial" panose="020B0604020202020204" pitchFamily="34" charset="0"/>
                                <a:cs typeface="Arial" panose="020B0604020202020204" pitchFamily="34" charset="0"/>
                              </a:rPr>
                              <a:t> are best when the goal is to compare parts to a whole. They visually show each category as a proportion related to the whole.</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685800" indent="4457700"/>
                            <a:r>
                              <a:rPr lang="en-US" sz="2000" dirty="0">
                                <a:solidFill>
                                  <a:srgbClr val="00619E"/>
                                </a:solidFill>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p:grpSp>
                    <p:pic>
                      <p:nvPicPr>
                        <p:cNvPr id="40" name="Shape 37" descr="Icon&#10;&#10;Description automatically generated">
                          <a:extLst>
                            <a:ext uri="{FF2B5EF4-FFF2-40B4-BE49-F238E27FC236}">
                              <a16:creationId xmlns:a16="http://schemas.microsoft.com/office/drawing/2014/main" id="{5DDC3ED8-0BD2-AF47-A7D7-94F0025F5AD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7150" y="-156680"/>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pic>
        <p:nvPicPr>
          <p:cNvPr id="44" name="Shape 37" descr="Icon&#10;&#10;Description automatically generated">
            <a:extLst>
              <a:ext uri="{FF2B5EF4-FFF2-40B4-BE49-F238E27FC236}">
                <a16:creationId xmlns:a16="http://schemas.microsoft.com/office/drawing/2014/main" id="{890AA7B4-F62F-464C-B2D5-C047B94522CE}"/>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860675" y="4243142"/>
            <a:ext cx="539750" cy="53968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72448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481440"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284</a:t>
            </a:r>
            <a:endParaRPr i="1" dirty="0">
              <a:latin typeface="Calibri"/>
              <a:ea typeface="Calibri"/>
              <a:cs typeface="Calibri"/>
              <a:sym typeface="Calibri"/>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13.9.3 Try It: Graphical Representations for Categorical Data</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284</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914400" y="1386025"/>
                <a:ext cx="10515600"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Terrance is a server at a local restaurant and is being evaluated by his manager on his customer service skills.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After their meals,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50</m:t>
                    </m:r>
                  </m:oMath>
                </a14:m>
                <a:r>
                  <a:rPr lang="en-US" sz="2400" dirty="0">
                    <a:latin typeface="Verdana" panose="020B0604030504040204" pitchFamily="34" charset="0"/>
                    <a:ea typeface="Verdana" panose="020B0604030504040204" pitchFamily="34" charset="0"/>
                    <a:cs typeface="Verdana" panose="020B0604030504040204" pitchFamily="34" charset="0"/>
                  </a:rPr>
                  <a:t> customers sitting at his tables were given a survey asking to rate their satisfaction with their service on the scale shown.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914400" y="1386025"/>
                <a:ext cx="10515600" cy="3785652"/>
              </a:xfrm>
              <a:prstGeom prst="rect">
                <a:avLst/>
              </a:prstGeom>
              <a:blipFill>
                <a:blip r:embed="rId5"/>
                <a:stretch>
                  <a:fillRect l="-965" t="-1000" r="-1689"/>
                </a:stretch>
              </a:blipFill>
            </p:spPr>
            <p:txBody>
              <a:bodyPr/>
              <a:lstStyle/>
              <a:p>
                <a:r>
                  <a:rPr lang="en-US">
                    <a:noFill/>
                  </a:rPr>
                  <a:t> </a:t>
                </a:r>
              </a:p>
            </p:txBody>
          </p:sp>
        </mc:Fallback>
      </mc:AlternateContent>
      <p:pic>
        <p:nvPicPr>
          <p:cNvPr id="3" name="Picture 2" descr="Shape, circle&#10;&#10;Description automatically generated">
            <a:extLst>
              <a:ext uri="{FF2B5EF4-FFF2-40B4-BE49-F238E27FC236}">
                <a16:creationId xmlns:a16="http://schemas.microsoft.com/office/drawing/2014/main" id="{F32BF1A9-135B-E94A-8FDE-CAB6F6F4962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87643" y="3880604"/>
            <a:ext cx="6816714" cy="1934072"/>
          </a:xfrm>
          <a:prstGeom prst="rect">
            <a:avLst/>
          </a:prstGeom>
        </p:spPr>
      </p:pic>
    </p:spTree>
    <p:extLst>
      <p:ext uri="{BB962C8B-B14F-4D97-AF65-F5344CB8AC3E}">
        <p14:creationId xmlns:p14="http://schemas.microsoft.com/office/powerpoint/2010/main" val="3840359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284</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227079"/>
            <a:ext cx="10515600" cy="341632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results are shown in the frequency table.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to determine the percentage of customers who responded with each rating. The first row has been completed for you.</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1738EFD-B8DD-C042-AD26-A0F35A24B40C}"/>
                  </a:ext>
                </a:extLst>
              </p:cNvPr>
              <p:cNvGraphicFramePr>
                <a:graphicFrameLocks noGrp="1"/>
              </p:cNvGraphicFramePr>
              <p:nvPr>
                <p:extLst>
                  <p:ext uri="{D42A27DB-BD31-4B8C-83A1-F6EECF244321}">
                    <p14:modId xmlns:p14="http://schemas.microsoft.com/office/powerpoint/2010/main" val="2608559648"/>
                  </p:ext>
                </p:extLst>
              </p:nvPr>
            </p:nvGraphicFramePr>
            <p:xfrm>
              <a:off x="2209326" y="798308"/>
              <a:ext cx="7070724" cy="999490"/>
            </p:xfrm>
            <a:graphic>
              <a:graphicData uri="http://schemas.openxmlformats.org/drawingml/2006/table">
                <a:tbl>
                  <a:tblPr bandRow="1">
                    <a:tableStyleId>{A91F0D33-8C57-4600-99A7-42BC86742BE1}</a:tableStyleId>
                  </a:tblPr>
                  <a:tblGrid>
                    <a:gridCol w="1701800">
                      <a:extLst>
                        <a:ext uri="{9D8B030D-6E8A-4147-A177-3AD203B41FA5}">
                          <a16:colId xmlns:a16="http://schemas.microsoft.com/office/drawing/2014/main" val="2992966134"/>
                        </a:ext>
                      </a:extLst>
                    </a:gridCol>
                    <a:gridCol w="974644">
                      <a:extLst>
                        <a:ext uri="{9D8B030D-6E8A-4147-A177-3AD203B41FA5}">
                          <a16:colId xmlns:a16="http://schemas.microsoft.com/office/drawing/2014/main" val="23703710"/>
                        </a:ext>
                      </a:extLst>
                    </a:gridCol>
                    <a:gridCol w="1135541">
                      <a:extLst>
                        <a:ext uri="{9D8B030D-6E8A-4147-A177-3AD203B41FA5}">
                          <a16:colId xmlns:a16="http://schemas.microsoft.com/office/drawing/2014/main" val="487742658"/>
                        </a:ext>
                      </a:extLst>
                    </a:gridCol>
                    <a:gridCol w="1135541">
                      <a:extLst>
                        <a:ext uri="{9D8B030D-6E8A-4147-A177-3AD203B41FA5}">
                          <a16:colId xmlns:a16="http://schemas.microsoft.com/office/drawing/2014/main" val="2266293651"/>
                        </a:ext>
                      </a:extLst>
                    </a:gridCol>
                    <a:gridCol w="1135541">
                      <a:extLst>
                        <a:ext uri="{9D8B030D-6E8A-4147-A177-3AD203B41FA5}">
                          <a16:colId xmlns:a16="http://schemas.microsoft.com/office/drawing/2014/main" val="3080724417"/>
                        </a:ext>
                      </a:extLst>
                    </a:gridCol>
                    <a:gridCol w="987657">
                      <a:extLst>
                        <a:ext uri="{9D8B030D-6E8A-4147-A177-3AD203B41FA5}">
                          <a16:colId xmlns:a16="http://schemas.microsoft.com/office/drawing/2014/main" val="3878828272"/>
                        </a:ext>
                      </a:extLst>
                    </a:gridCol>
                  </a:tblGrid>
                  <a:tr h="55435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Rating</a:t>
                          </a:r>
                        </a:p>
                      </a:txBody>
                      <a:tcPr marL="68580" marR="68580" marT="0" marB="0" anchor="ctr">
                        <a:solidFill>
                          <a:schemeClr val="bg1">
                            <a:lumMod val="75000"/>
                          </a:schemeClr>
                        </a:solidFill>
                      </a:tcP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2953735291"/>
                      </a:ext>
                    </a:extLst>
                  </a:tr>
                  <a:tr h="44513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Frequency</a:t>
                          </a:r>
                        </a:p>
                      </a:txBody>
                      <a:tcPr marL="68580" marR="68580" marT="0" marB="0" anchor="ctr">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12</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25</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8</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3</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2</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465021744"/>
                      </a:ext>
                    </a:extLst>
                  </a:tr>
                </a:tbl>
              </a:graphicData>
            </a:graphic>
          </p:graphicFrame>
        </mc:Choice>
        <mc:Fallback xmlns="">
          <p:graphicFrame>
            <p:nvGraphicFramePr>
              <p:cNvPr id="3" name="Table 2">
                <a:extLst>
                  <a:ext uri="{FF2B5EF4-FFF2-40B4-BE49-F238E27FC236}">
                    <a16:creationId xmlns:a16="http://schemas.microsoft.com/office/drawing/2014/main" id="{B1738EFD-B8DD-C042-AD26-A0F35A24B40C}"/>
                  </a:ext>
                </a:extLst>
              </p:cNvPr>
              <p:cNvGraphicFramePr>
                <a:graphicFrameLocks noGrp="1"/>
              </p:cNvGraphicFramePr>
              <p:nvPr>
                <p:extLst>
                  <p:ext uri="{D42A27DB-BD31-4B8C-83A1-F6EECF244321}">
                    <p14:modId xmlns:p14="http://schemas.microsoft.com/office/powerpoint/2010/main" val="2608559648"/>
                  </p:ext>
                </p:extLst>
              </p:nvPr>
            </p:nvGraphicFramePr>
            <p:xfrm>
              <a:off x="2209326" y="798308"/>
              <a:ext cx="7070724" cy="999490"/>
            </p:xfrm>
            <a:graphic>
              <a:graphicData uri="http://schemas.openxmlformats.org/drawingml/2006/table">
                <a:tbl>
                  <a:tblPr bandRow="1">
                    <a:tableStyleId>{A91F0D33-8C57-4600-99A7-42BC86742BE1}</a:tableStyleId>
                  </a:tblPr>
                  <a:tblGrid>
                    <a:gridCol w="1701800">
                      <a:extLst>
                        <a:ext uri="{9D8B030D-6E8A-4147-A177-3AD203B41FA5}">
                          <a16:colId xmlns:a16="http://schemas.microsoft.com/office/drawing/2014/main" val="2992966134"/>
                        </a:ext>
                      </a:extLst>
                    </a:gridCol>
                    <a:gridCol w="974644">
                      <a:extLst>
                        <a:ext uri="{9D8B030D-6E8A-4147-A177-3AD203B41FA5}">
                          <a16:colId xmlns:a16="http://schemas.microsoft.com/office/drawing/2014/main" val="23703710"/>
                        </a:ext>
                      </a:extLst>
                    </a:gridCol>
                    <a:gridCol w="1135541">
                      <a:extLst>
                        <a:ext uri="{9D8B030D-6E8A-4147-A177-3AD203B41FA5}">
                          <a16:colId xmlns:a16="http://schemas.microsoft.com/office/drawing/2014/main" val="487742658"/>
                        </a:ext>
                      </a:extLst>
                    </a:gridCol>
                    <a:gridCol w="1135541">
                      <a:extLst>
                        <a:ext uri="{9D8B030D-6E8A-4147-A177-3AD203B41FA5}">
                          <a16:colId xmlns:a16="http://schemas.microsoft.com/office/drawing/2014/main" val="2266293651"/>
                        </a:ext>
                      </a:extLst>
                    </a:gridCol>
                    <a:gridCol w="1135541">
                      <a:extLst>
                        <a:ext uri="{9D8B030D-6E8A-4147-A177-3AD203B41FA5}">
                          <a16:colId xmlns:a16="http://schemas.microsoft.com/office/drawing/2014/main" val="3080724417"/>
                        </a:ext>
                      </a:extLst>
                    </a:gridCol>
                    <a:gridCol w="987657">
                      <a:extLst>
                        <a:ext uri="{9D8B030D-6E8A-4147-A177-3AD203B41FA5}">
                          <a16:colId xmlns:a16="http://schemas.microsoft.com/office/drawing/2014/main" val="3878828272"/>
                        </a:ext>
                      </a:extLst>
                    </a:gridCol>
                  </a:tblGrid>
                  <a:tr h="55435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Rating</a:t>
                          </a:r>
                        </a:p>
                      </a:txBody>
                      <a:tcPr marL="68580" marR="68580" marT="0" marB="0" anchor="ctr">
                        <a:solidFill>
                          <a:schemeClr val="bg1">
                            <a:lumMod val="75000"/>
                          </a:schemeClr>
                        </a:solidFill>
                      </a:tcP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2953735291"/>
                      </a:ext>
                    </a:extLst>
                  </a:tr>
                  <a:tr h="44513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Frequency</a:t>
                          </a:r>
                        </a:p>
                      </a:txBody>
                      <a:tcPr marL="68580" marR="68580" marT="0" marB="0" anchor="ctr">
                        <a:solidFill>
                          <a:schemeClr val="bg1">
                            <a:lumMod val="75000"/>
                          </a:schemeClr>
                        </a:solidFill>
                      </a:tcPr>
                    </a:tc>
                    <a:tc>
                      <a:txBody>
                        <a:bodyPr/>
                        <a:lstStyle/>
                        <a:p>
                          <a:endParaRPr lang="en-US"/>
                        </a:p>
                      </a:txBody>
                      <a:tcPr marL="68580" marR="68580" marT="0" marB="0" anchor="ctr">
                        <a:blipFill>
                          <a:blip r:embed="rId4"/>
                          <a:stretch>
                            <a:fillRect l="-174026" t="-122222" r="-451948" b="-19444"/>
                          </a:stretch>
                        </a:blipFill>
                      </a:tcPr>
                    </a:tc>
                    <a:tc>
                      <a:txBody>
                        <a:bodyPr/>
                        <a:lstStyle/>
                        <a:p>
                          <a:endParaRPr lang="en-US"/>
                        </a:p>
                      </a:txBody>
                      <a:tcPr marL="68580" marR="68580" marT="0" marB="0" anchor="ctr">
                        <a:blipFill>
                          <a:blip r:embed="rId4"/>
                          <a:stretch>
                            <a:fillRect l="-234444" t="-122222" r="-286667" b="-19444"/>
                          </a:stretch>
                        </a:blipFill>
                      </a:tcPr>
                    </a:tc>
                    <a:tc>
                      <a:txBody>
                        <a:bodyPr/>
                        <a:lstStyle/>
                        <a:p>
                          <a:endParaRPr lang="en-US"/>
                        </a:p>
                      </a:txBody>
                      <a:tcPr marL="68580" marR="68580" marT="0" marB="0" anchor="ctr">
                        <a:blipFill>
                          <a:blip r:embed="rId4"/>
                          <a:stretch>
                            <a:fillRect l="-338202" t="-122222" r="-189888" b="-19444"/>
                          </a:stretch>
                        </a:blipFill>
                      </a:tcPr>
                    </a:tc>
                    <a:tc>
                      <a:txBody>
                        <a:bodyPr/>
                        <a:lstStyle/>
                        <a:p>
                          <a:endParaRPr lang="en-US"/>
                        </a:p>
                      </a:txBody>
                      <a:tcPr marL="68580" marR="68580" marT="0" marB="0" anchor="ctr">
                        <a:blipFill>
                          <a:blip r:embed="rId4"/>
                          <a:stretch>
                            <a:fillRect l="-433333" t="-122222" r="-87778" b="-19444"/>
                          </a:stretch>
                        </a:blipFill>
                      </a:tcPr>
                    </a:tc>
                    <a:tc>
                      <a:txBody>
                        <a:bodyPr/>
                        <a:lstStyle/>
                        <a:p>
                          <a:endParaRPr lang="en-US"/>
                        </a:p>
                      </a:txBody>
                      <a:tcPr marL="68580" marR="68580" marT="0" marB="0" anchor="ctr">
                        <a:blipFill>
                          <a:blip r:embed="rId4"/>
                          <a:stretch>
                            <a:fillRect l="-615385" t="-122222" r="-1282" b="-19444"/>
                          </a:stretch>
                        </a:blipFill>
                      </a:tcPr>
                    </a:tc>
                    <a:extLst>
                      <a:ext uri="{0D108BD9-81ED-4DB2-BD59-A6C34878D82A}">
                        <a16:rowId xmlns:a16="http://schemas.microsoft.com/office/drawing/2014/main" val="465021744"/>
                      </a:ext>
                    </a:extLst>
                  </a:tr>
                </a:tbl>
              </a:graphicData>
            </a:graphic>
          </p:graphicFrame>
        </mc:Fallback>
      </mc:AlternateContent>
      <p:pic>
        <p:nvPicPr>
          <p:cNvPr id="18" name="image4.png">
            <a:extLst>
              <a:ext uri="{FF2B5EF4-FFF2-40B4-BE49-F238E27FC236}">
                <a16:creationId xmlns:a16="http://schemas.microsoft.com/office/drawing/2014/main" id="{3436327F-73FB-4F49-9D18-97DDA3F445E3}"/>
              </a:ext>
            </a:extLst>
          </p:cNvPr>
          <p:cNvPicPr/>
          <p:nvPr/>
        </p:nvPicPr>
        <p:blipFill>
          <a:blip r:embed="rId5" cstate="screen">
            <a:extLst>
              <a:ext uri="{28A0092B-C50C-407E-A947-70E740481C1C}">
                <a14:useLocalDpi xmlns:a14="http://schemas.microsoft.com/office/drawing/2010/main"/>
              </a:ext>
            </a:extLst>
          </a:blip>
          <a:stretch>
            <a:fillRect/>
          </a:stretch>
        </p:blipFill>
        <p:spPr>
          <a:xfrm>
            <a:off x="4131512" y="840853"/>
            <a:ext cx="457200" cy="457200"/>
          </a:xfrm>
          <a:prstGeom prst="rect">
            <a:avLst/>
          </a:prstGeom>
          <a:ln/>
        </p:spPr>
      </p:pic>
      <p:pic>
        <p:nvPicPr>
          <p:cNvPr id="19" name="image12.png">
            <a:extLst>
              <a:ext uri="{FF2B5EF4-FFF2-40B4-BE49-F238E27FC236}">
                <a16:creationId xmlns:a16="http://schemas.microsoft.com/office/drawing/2014/main" id="{E774AA8F-C058-B84B-A67F-0A1C5A1201DC}"/>
              </a:ext>
            </a:extLst>
          </p:cNvPr>
          <p:cNvPicPr/>
          <p:nvPr/>
        </p:nvPicPr>
        <p:blipFill>
          <a:blip r:embed="rId6" cstate="screen">
            <a:extLst>
              <a:ext uri="{28A0092B-C50C-407E-A947-70E740481C1C}">
                <a14:useLocalDpi xmlns:a14="http://schemas.microsoft.com/office/drawing/2010/main"/>
              </a:ext>
            </a:extLst>
          </a:blip>
          <a:stretch>
            <a:fillRect/>
          </a:stretch>
        </p:blipFill>
        <p:spPr>
          <a:xfrm>
            <a:off x="5213137" y="840853"/>
            <a:ext cx="457200" cy="457200"/>
          </a:xfrm>
          <a:prstGeom prst="rect">
            <a:avLst/>
          </a:prstGeom>
          <a:ln/>
        </p:spPr>
      </p:pic>
      <p:pic>
        <p:nvPicPr>
          <p:cNvPr id="20" name="image10.png">
            <a:extLst>
              <a:ext uri="{FF2B5EF4-FFF2-40B4-BE49-F238E27FC236}">
                <a16:creationId xmlns:a16="http://schemas.microsoft.com/office/drawing/2014/main" id="{F2513E52-64C6-4340-B7D1-E134F789751A}"/>
              </a:ext>
            </a:extLst>
          </p:cNvPr>
          <p:cNvPicPr/>
          <p:nvPr/>
        </p:nvPicPr>
        <p:blipFill>
          <a:blip r:embed="rId7" cstate="screen">
            <a:extLst>
              <a:ext uri="{28A0092B-C50C-407E-A947-70E740481C1C}">
                <a14:useLocalDpi xmlns:a14="http://schemas.microsoft.com/office/drawing/2010/main"/>
              </a:ext>
            </a:extLst>
          </a:blip>
          <a:stretch>
            <a:fillRect/>
          </a:stretch>
        </p:blipFill>
        <p:spPr>
          <a:xfrm>
            <a:off x="6313350" y="840853"/>
            <a:ext cx="457200" cy="457200"/>
          </a:xfrm>
          <a:prstGeom prst="rect">
            <a:avLst/>
          </a:prstGeom>
          <a:ln/>
        </p:spPr>
      </p:pic>
      <p:pic>
        <p:nvPicPr>
          <p:cNvPr id="21" name="image11.png">
            <a:extLst>
              <a:ext uri="{FF2B5EF4-FFF2-40B4-BE49-F238E27FC236}">
                <a16:creationId xmlns:a16="http://schemas.microsoft.com/office/drawing/2014/main" id="{BA63E5AF-4952-7147-A1A4-F21214F4CDBB}"/>
              </a:ext>
            </a:extLst>
          </p:cNvPr>
          <p:cNvPicPr/>
          <p:nvPr/>
        </p:nvPicPr>
        <p:blipFill>
          <a:blip r:embed="rId8" cstate="screen">
            <a:extLst>
              <a:ext uri="{28A0092B-C50C-407E-A947-70E740481C1C}">
                <a14:useLocalDpi xmlns:a14="http://schemas.microsoft.com/office/drawing/2010/main"/>
              </a:ext>
            </a:extLst>
          </a:blip>
          <a:stretch>
            <a:fillRect/>
          </a:stretch>
        </p:blipFill>
        <p:spPr>
          <a:xfrm>
            <a:off x="7427024" y="848113"/>
            <a:ext cx="457200" cy="457200"/>
          </a:xfrm>
          <a:prstGeom prst="rect">
            <a:avLst/>
          </a:prstGeom>
          <a:ln/>
        </p:spPr>
      </p:pic>
      <p:pic>
        <p:nvPicPr>
          <p:cNvPr id="22" name="image5.png">
            <a:extLst>
              <a:ext uri="{FF2B5EF4-FFF2-40B4-BE49-F238E27FC236}">
                <a16:creationId xmlns:a16="http://schemas.microsoft.com/office/drawing/2014/main" id="{8AE30C04-8DB6-FE42-A832-6E66917C3025}"/>
              </a:ext>
            </a:extLst>
          </p:cNvPr>
          <p:cNvPicPr/>
          <p:nvPr/>
        </p:nvPicPr>
        <p:blipFill>
          <a:blip r:embed="rId9" cstate="screen">
            <a:extLst>
              <a:ext uri="{28A0092B-C50C-407E-A947-70E740481C1C}">
                <a14:useLocalDpi xmlns:a14="http://schemas.microsoft.com/office/drawing/2010/main"/>
              </a:ext>
            </a:extLst>
          </a:blip>
          <a:stretch>
            <a:fillRect/>
          </a:stretch>
        </p:blipFill>
        <p:spPr>
          <a:xfrm>
            <a:off x="8511048" y="840853"/>
            <a:ext cx="457200" cy="457200"/>
          </a:xfrm>
          <a:prstGeom prst="rect">
            <a:avLst/>
          </a:prstGeom>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051BE6A-59B4-F649-B20C-75EDE807D828}"/>
                  </a:ext>
                </a:extLst>
              </p:cNvPr>
              <p:cNvGraphicFramePr>
                <a:graphicFrameLocks noGrp="1"/>
              </p:cNvGraphicFramePr>
              <p:nvPr>
                <p:extLst>
                  <p:ext uri="{D42A27DB-BD31-4B8C-83A1-F6EECF244321}">
                    <p14:modId xmlns:p14="http://schemas.microsoft.com/office/powerpoint/2010/main" val="931942822"/>
                  </p:ext>
                </p:extLst>
              </p:nvPr>
            </p:nvGraphicFramePr>
            <p:xfrm>
              <a:off x="2920526" y="3288465"/>
              <a:ext cx="5648325" cy="3369310"/>
            </p:xfrm>
            <a:graphic>
              <a:graphicData uri="http://schemas.openxmlformats.org/drawingml/2006/table">
                <a:tbl>
                  <a:tblPr bandRow="1">
                    <a:tableStyleId>{A91F0D33-8C57-4600-99A7-42BC86742BE1}</a:tableStyleId>
                  </a:tblPr>
                  <a:tblGrid>
                    <a:gridCol w="1103878">
                      <a:extLst>
                        <a:ext uri="{9D8B030D-6E8A-4147-A177-3AD203B41FA5}">
                          <a16:colId xmlns:a16="http://schemas.microsoft.com/office/drawing/2014/main" val="3724099066"/>
                        </a:ext>
                      </a:extLst>
                    </a:gridCol>
                    <a:gridCol w="4544447">
                      <a:extLst>
                        <a:ext uri="{9D8B030D-6E8A-4147-A177-3AD203B41FA5}">
                          <a16:colId xmlns:a16="http://schemas.microsoft.com/office/drawing/2014/main" val="417999806"/>
                        </a:ext>
                      </a:extLst>
                    </a:gridCol>
                  </a:tblGrid>
                  <a:tr h="3676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Rating</a:t>
                          </a: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txBody>
                      <a:tcPr marL="68580" marR="68580" marT="0" marB="0" anchor="ctr">
                        <a:solidFill>
                          <a:schemeClr val="bg1">
                            <a:lumMod val="75000"/>
                          </a:schemeClr>
                        </a:solidFill>
                      </a:tcPr>
                    </a:tc>
                    <a:extLst>
                      <a:ext uri="{0D108BD9-81ED-4DB2-BD59-A6C34878D82A}">
                        <a16:rowId xmlns:a16="http://schemas.microsoft.com/office/drawing/2014/main" val="3968823773"/>
                      </a:ext>
                    </a:extLst>
                  </a:tr>
                  <a:tr h="593090">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i="1" dirty="0" smtClean="0">
                                        <a:effectLst/>
                                        <a:latin typeface="Cambria Math" panose="02040503050406030204" pitchFamily="18" charset="0"/>
                                      </a:rPr>
                                    </m:ctrlPr>
                                  </m:fPr>
                                  <m:num>
                                    <m:r>
                                      <a:rPr lang="en-US" sz="1800" b="0" i="1" dirty="0" smtClean="0">
                                        <a:effectLst/>
                                        <a:latin typeface="Cambria Math" panose="02040503050406030204" pitchFamily="18" charset="0"/>
                                      </a:rPr>
                                      <m:t>12</m:t>
                                    </m:r>
                                  </m:num>
                                  <m:den>
                                    <m:r>
                                      <a:rPr lang="en-US" sz="1800" b="0" i="1" dirty="0" smtClean="0">
                                        <a:effectLst/>
                                        <a:latin typeface="Cambria Math" panose="02040503050406030204" pitchFamily="18" charset="0"/>
                                      </a:rPr>
                                      <m:t>50</m:t>
                                    </m:r>
                                  </m:den>
                                </m:f>
                                <m:r>
                                  <a:rPr lang="en-US" sz="1800" i="1" dirty="0" smtClean="0">
                                    <a:effectLst/>
                                    <a:latin typeface="Cambria Math" panose="02040503050406030204" pitchFamily="18" charset="0"/>
                                  </a:rPr>
                                  <m:t>=0.24</m:t>
                                </m:r>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       </m:t>
                                </m:r>
                                <m:r>
                                  <a:rPr lang="en-US" sz="1800">
                                    <a:effectLst/>
                                    <a:latin typeface="Cambria Math" panose="02040503050406030204" pitchFamily="18" charset="0"/>
                                  </a:rPr>
                                  <m:t>0.24×100=24%</m:t>
                                </m:r>
                              </m:oMath>
                            </m:oMathPara>
                          </a14:m>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948966510"/>
                      </a:ext>
                    </a:extLst>
                  </a:tr>
                  <a:tr h="605155">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722655994"/>
                      </a:ext>
                    </a:extLst>
                  </a:tr>
                  <a:tr h="605155">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392788438"/>
                      </a:ext>
                    </a:extLst>
                  </a:tr>
                  <a:tr h="605155">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4097959441"/>
                      </a:ext>
                    </a:extLst>
                  </a:tr>
                  <a:tr h="593090">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732551654"/>
                      </a:ext>
                    </a:extLst>
                  </a:tr>
                </a:tbl>
              </a:graphicData>
            </a:graphic>
          </p:graphicFrame>
        </mc:Choice>
        <mc:Fallback xmlns="">
          <p:graphicFrame>
            <p:nvGraphicFramePr>
              <p:cNvPr id="4" name="Table 3">
                <a:extLst>
                  <a:ext uri="{FF2B5EF4-FFF2-40B4-BE49-F238E27FC236}">
                    <a16:creationId xmlns:a16="http://schemas.microsoft.com/office/drawing/2014/main" id="{1051BE6A-59B4-F649-B20C-75EDE807D828}"/>
                  </a:ext>
                </a:extLst>
              </p:cNvPr>
              <p:cNvGraphicFramePr>
                <a:graphicFrameLocks noGrp="1"/>
              </p:cNvGraphicFramePr>
              <p:nvPr>
                <p:extLst>
                  <p:ext uri="{D42A27DB-BD31-4B8C-83A1-F6EECF244321}">
                    <p14:modId xmlns:p14="http://schemas.microsoft.com/office/powerpoint/2010/main" val="931942822"/>
                  </p:ext>
                </p:extLst>
              </p:nvPr>
            </p:nvGraphicFramePr>
            <p:xfrm>
              <a:off x="2920526" y="3288465"/>
              <a:ext cx="5648325" cy="3369310"/>
            </p:xfrm>
            <a:graphic>
              <a:graphicData uri="http://schemas.openxmlformats.org/drawingml/2006/table">
                <a:tbl>
                  <a:tblPr bandRow="1">
                    <a:tableStyleId>{A91F0D33-8C57-4600-99A7-42BC86742BE1}</a:tableStyleId>
                  </a:tblPr>
                  <a:tblGrid>
                    <a:gridCol w="1103878">
                      <a:extLst>
                        <a:ext uri="{9D8B030D-6E8A-4147-A177-3AD203B41FA5}">
                          <a16:colId xmlns:a16="http://schemas.microsoft.com/office/drawing/2014/main" val="3724099066"/>
                        </a:ext>
                      </a:extLst>
                    </a:gridCol>
                    <a:gridCol w="4544447">
                      <a:extLst>
                        <a:ext uri="{9D8B030D-6E8A-4147-A177-3AD203B41FA5}">
                          <a16:colId xmlns:a16="http://schemas.microsoft.com/office/drawing/2014/main" val="417999806"/>
                        </a:ext>
                      </a:extLst>
                    </a:gridCol>
                  </a:tblGrid>
                  <a:tr h="3676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Rating</a:t>
                          </a:r>
                        </a:p>
                      </a:txBody>
                      <a:tcPr marL="68580" marR="68580" marT="0" marB="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txBody>
                      <a:tcPr marL="68580" marR="68580" marT="0" marB="0" anchor="ctr">
                        <a:solidFill>
                          <a:schemeClr val="bg1">
                            <a:lumMod val="75000"/>
                          </a:schemeClr>
                        </a:solidFill>
                      </a:tcPr>
                    </a:tc>
                    <a:extLst>
                      <a:ext uri="{0D108BD9-81ED-4DB2-BD59-A6C34878D82A}">
                        <a16:rowId xmlns:a16="http://schemas.microsoft.com/office/drawing/2014/main" val="3968823773"/>
                      </a:ext>
                    </a:extLst>
                  </a:tr>
                  <a:tr h="593090">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10"/>
                          <a:stretch>
                            <a:fillRect l="-24234" t="-68085" r="-279" b="-408511"/>
                          </a:stretch>
                        </a:blipFill>
                      </a:tcPr>
                    </a:tc>
                    <a:extLst>
                      <a:ext uri="{0D108BD9-81ED-4DB2-BD59-A6C34878D82A}">
                        <a16:rowId xmlns:a16="http://schemas.microsoft.com/office/drawing/2014/main" val="948966510"/>
                      </a:ext>
                    </a:extLst>
                  </a:tr>
                  <a:tr h="605155">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722655994"/>
                      </a:ext>
                    </a:extLst>
                  </a:tr>
                  <a:tr h="605155">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392788438"/>
                      </a:ext>
                    </a:extLst>
                  </a:tr>
                  <a:tr h="605155">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4097959441"/>
                      </a:ext>
                    </a:extLst>
                  </a:tr>
                  <a:tr h="593090">
                    <a:tc>
                      <a:txBody>
                        <a:bodyPr/>
                        <a:lstStyle/>
                        <a:p>
                          <a:pPr marL="0" marR="0" algn="ctr">
                            <a:spcBef>
                              <a:spcPts val="0"/>
                            </a:spcBef>
                            <a:spcAft>
                              <a:spcPts val="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US"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732551654"/>
                      </a:ext>
                    </a:extLst>
                  </a:tr>
                </a:tbl>
              </a:graphicData>
            </a:graphic>
          </p:graphicFrame>
        </mc:Fallback>
      </mc:AlternateContent>
      <p:pic>
        <p:nvPicPr>
          <p:cNvPr id="29" name="image4.png">
            <a:extLst>
              <a:ext uri="{FF2B5EF4-FFF2-40B4-BE49-F238E27FC236}">
                <a16:creationId xmlns:a16="http://schemas.microsoft.com/office/drawing/2014/main" id="{6F4045EB-2D1B-5D46-97CA-60904D724C57}"/>
              </a:ext>
            </a:extLst>
          </p:cNvPr>
          <p:cNvPicPr/>
          <p:nvPr/>
        </p:nvPicPr>
        <p:blipFill>
          <a:blip r:embed="rId5" cstate="screen">
            <a:extLst>
              <a:ext uri="{28A0092B-C50C-407E-A947-70E740481C1C}">
                <a14:useLocalDpi xmlns:a14="http://schemas.microsoft.com/office/drawing/2010/main"/>
              </a:ext>
            </a:extLst>
          </a:blip>
          <a:stretch>
            <a:fillRect/>
          </a:stretch>
        </p:blipFill>
        <p:spPr>
          <a:xfrm>
            <a:off x="3165950" y="3716541"/>
            <a:ext cx="457200" cy="457200"/>
          </a:xfrm>
          <a:prstGeom prst="rect">
            <a:avLst/>
          </a:prstGeom>
          <a:ln/>
        </p:spPr>
      </p:pic>
      <p:pic>
        <p:nvPicPr>
          <p:cNvPr id="30" name="image12.png">
            <a:extLst>
              <a:ext uri="{FF2B5EF4-FFF2-40B4-BE49-F238E27FC236}">
                <a16:creationId xmlns:a16="http://schemas.microsoft.com/office/drawing/2014/main" id="{5C166C3B-B9BC-714E-98D2-44B783428228}"/>
              </a:ext>
            </a:extLst>
          </p:cNvPr>
          <p:cNvPicPr/>
          <p:nvPr/>
        </p:nvPicPr>
        <p:blipFill>
          <a:blip r:embed="rId6" cstate="screen">
            <a:extLst>
              <a:ext uri="{28A0092B-C50C-407E-A947-70E740481C1C}">
                <a14:useLocalDpi xmlns:a14="http://schemas.microsoft.com/office/drawing/2010/main"/>
              </a:ext>
            </a:extLst>
          </a:blip>
          <a:stretch>
            <a:fillRect/>
          </a:stretch>
        </p:blipFill>
        <p:spPr>
          <a:xfrm>
            <a:off x="3165950" y="4364102"/>
            <a:ext cx="457200" cy="457200"/>
          </a:xfrm>
          <a:prstGeom prst="rect">
            <a:avLst/>
          </a:prstGeom>
          <a:ln/>
        </p:spPr>
      </p:pic>
      <p:pic>
        <p:nvPicPr>
          <p:cNvPr id="31" name="image10.png">
            <a:extLst>
              <a:ext uri="{FF2B5EF4-FFF2-40B4-BE49-F238E27FC236}">
                <a16:creationId xmlns:a16="http://schemas.microsoft.com/office/drawing/2014/main" id="{21AEDA08-60C4-FD46-AFA6-AD836223417F}"/>
              </a:ext>
            </a:extLst>
          </p:cNvPr>
          <p:cNvPicPr/>
          <p:nvPr/>
        </p:nvPicPr>
        <p:blipFill>
          <a:blip r:embed="rId7" cstate="screen">
            <a:extLst>
              <a:ext uri="{28A0092B-C50C-407E-A947-70E740481C1C}">
                <a14:useLocalDpi xmlns:a14="http://schemas.microsoft.com/office/drawing/2010/main"/>
              </a:ext>
            </a:extLst>
          </a:blip>
          <a:stretch>
            <a:fillRect/>
          </a:stretch>
        </p:blipFill>
        <p:spPr>
          <a:xfrm>
            <a:off x="3165950" y="4973120"/>
            <a:ext cx="457200" cy="457200"/>
          </a:xfrm>
          <a:prstGeom prst="rect">
            <a:avLst/>
          </a:prstGeom>
          <a:ln/>
        </p:spPr>
      </p:pic>
      <p:pic>
        <p:nvPicPr>
          <p:cNvPr id="32" name="image11.png">
            <a:extLst>
              <a:ext uri="{FF2B5EF4-FFF2-40B4-BE49-F238E27FC236}">
                <a16:creationId xmlns:a16="http://schemas.microsoft.com/office/drawing/2014/main" id="{718F88B0-9586-D240-82A3-C6649D482235}"/>
              </a:ext>
            </a:extLst>
          </p:cNvPr>
          <p:cNvPicPr/>
          <p:nvPr/>
        </p:nvPicPr>
        <p:blipFill>
          <a:blip r:embed="rId8" cstate="screen">
            <a:extLst>
              <a:ext uri="{28A0092B-C50C-407E-A947-70E740481C1C}">
                <a14:useLocalDpi xmlns:a14="http://schemas.microsoft.com/office/drawing/2010/main"/>
              </a:ext>
            </a:extLst>
          </a:blip>
          <a:stretch>
            <a:fillRect/>
          </a:stretch>
        </p:blipFill>
        <p:spPr>
          <a:xfrm>
            <a:off x="3165950" y="5573630"/>
            <a:ext cx="457200" cy="457200"/>
          </a:xfrm>
          <a:prstGeom prst="rect">
            <a:avLst/>
          </a:prstGeom>
          <a:ln/>
        </p:spPr>
      </p:pic>
      <p:pic>
        <p:nvPicPr>
          <p:cNvPr id="33" name="image5.png">
            <a:extLst>
              <a:ext uri="{FF2B5EF4-FFF2-40B4-BE49-F238E27FC236}">
                <a16:creationId xmlns:a16="http://schemas.microsoft.com/office/drawing/2014/main" id="{8C943787-6CF2-DA46-AD55-3CBFBCABA0F7}"/>
              </a:ext>
            </a:extLst>
          </p:cNvPr>
          <p:cNvPicPr/>
          <p:nvPr/>
        </p:nvPicPr>
        <p:blipFill>
          <a:blip r:embed="rId9" cstate="screen">
            <a:extLst>
              <a:ext uri="{28A0092B-C50C-407E-A947-70E740481C1C}">
                <a14:useLocalDpi xmlns:a14="http://schemas.microsoft.com/office/drawing/2010/main"/>
              </a:ext>
            </a:extLst>
          </a:blip>
          <a:stretch>
            <a:fillRect/>
          </a:stretch>
        </p:blipFill>
        <p:spPr>
          <a:xfrm>
            <a:off x="3165950" y="6174140"/>
            <a:ext cx="457200" cy="457200"/>
          </a:xfrm>
          <a:prstGeom prst="rect">
            <a:avLst/>
          </a:prstGeom>
          <a:ln/>
        </p:spPr>
      </p:pic>
    </p:spTree>
    <p:extLst>
      <p:ext uri="{BB962C8B-B14F-4D97-AF65-F5344CB8AC3E}">
        <p14:creationId xmlns:p14="http://schemas.microsoft.com/office/powerpoint/2010/main" val="1163510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284</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117694"/>
            <a:ext cx="10515600" cy="6001643"/>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Use your calculated percentages to create a circle graph displaying Terrance’s survey data.</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With your partner, discuss some conclusions that can be drawn about Terrance’s customer service based on the circle graph. Then, write three statements summarizing the conclusions discussed.</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Circle&#10;&#10;Description automatically generated">
            <a:extLst>
              <a:ext uri="{FF2B5EF4-FFF2-40B4-BE49-F238E27FC236}">
                <a16:creationId xmlns:a16="http://schemas.microsoft.com/office/drawing/2014/main" id="{20070C83-1DA3-C94F-B44E-4E368EA4AE4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9810" r="12281"/>
          <a:stretch/>
        </p:blipFill>
        <p:spPr>
          <a:xfrm>
            <a:off x="4729042" y="952500"/>
            <a:ext cx="2884583" cy="2831948"/>
          </a:xfrm>
          <a:prstGeom prst="rect">
            <a:avLst/>
          </a:prstGeom>
        </p:spPr>
      </p:pic>
    </p:spTree>
    <p:extLst>
      <p:ext uri="{BB962C8B-B14F-4D97-AF65-F5344CB8AC3E}">
        <p14:creationId xmlns:p14="http://schemas.microsoft.com/office/powerpoint/2010/main" val="1766563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239338"/>
            <a:ext cx="10515600" cy="6370975"/>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The best graphical representation for Terrance’s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data is a 		  because it helps us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visualize how each rating category compares to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the whole.</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indent="-454025">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If Terrance’s manager wants to compare two servers’ customer service skills, explain whether it would be better to create two circle graphs or two bar graphs.</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Rounded Rectangle 5">
            <a:extLst>
              <a:ext uri="{FF2B5EF4-FFF2-40B4-BE49-F238E27FC236}">
                <a16:creationId xmlns:a16="http://schemas.microsoft.com/office/drawing/2014/main" id="{B72D7351-7C3B-0F4A-AB00-BA0E2E34F588}"/>
              </a:ext>
            </a:extLst>
          </p:cNvPr>
          <p:cNvSpPr/>
          <p:nvPr/>
        </p:nvSpPr>
        <p:spPr>
          <a:xfrm>
            <a:off x="2897640" y="1506951"/>
            <a:ext cx="1842135" cy="895033"/>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a:solidFill>
                  <a:srgbClr val="000000"/>
                </a:solidFill>
                <a:latin typeface="Verdana" panose="020B0604030504040204" pitchFamily="34" charset="0"/>
                <a:ea typeface="Times New Roman" panose="02020603050405020304" pitchFamily="18" charset="0"/>
                <a:cs typeface="Cambria" panose="02040503050406030204" pitchFamily="18" charset="0"/>
              </a:rPr>
              <a:t>bar graph</a:t>
            </a:r>
            <a:endParaRPr lang="en-US" sz="120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1800">
                <a:solidFill>
                  <a:srgbClr val="000000"/>
                </a:solidFill>
                <a:latin typeface="Verdana" panose="020B0604030504040204" pitchFamily="34" charset="0"/>
                <a:ea typeface="Times New Roman" panose="02020603050405020304" pitchFamily="18" charset="0"/>
                <a:cs typeface="Cambria" panose="02040503050406030204" pitchFamily="18" charset="0"/>
              </a:rPr>
              <a:t>circle graph</a:t>
            </a:r>
            <a:endParaRPr lang="en-US" sz="120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4203864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198958"/>
            <a:ext cx="10515600" cy="6370975"/>
          </a:xfrm>
          <a:prstGeom prst="rect">
            <a:avLst/>
          </a:prstGeom>
          <a:noFill/>
        </p:spPr>
        <p:txBody>
          <a:bodyPr wrap="square" rtlCol="0">
            <a:spAutoFit/>
          </a:bodyPr>
          <a:lstStyle/>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Compare your recommendation with your partner’s. Discuss any differences in your reasoning.</a:t>
            </a: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 </a:t>
            </a: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If the same number of customers responded to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each server’s survey, a                    is a better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choice for comparing these two data sets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because the                           in each server’s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graph can be easily compared side-by-side. </a:t>
            </a:r>
          </a:p>
        </p:txBody>
      </p:sp>
      <p:sp>
        <p:nvSpPr>
          <p:cNvPr id="6" name="Rounded Rectangle 5">
            <a:extLst>
              <a:ext uri="{FF2B5EF4-FFF2-40B4-BE49-F238E27FC236}">
                <a16:creationId xmlns:a16="http://schemas.microsoft.com/office/drawing/2014/main" id="{59FD5473-C94A-FC44-A8A0-E0C8F0F85C37}"/>
              </a:ext>
            </a:extLst>
          </p:cNvPr>
          <p:cNvSpPr/>
          <p:nvPr/>
        </p:nvSpPr>
        <p:spPr>
          <a:xfrm>
            <a:off x="5174932" y="3384445"/>
            <a:ext cx="1842135" cy="874646"/>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solidFill>
                  <a:srgbClr val="000000"/>
                </a:solidFill>
                <a:latin typeface="Verdana" panose="020B0604030504040204" pitchFamily="34" charset="0"/>
                <a:ea typeface="Times New Roman" panose="02020603050405020304" pitchFamily="18" charset="0"/>
                <a:cs typeface="Cambria" panose="02040503050406030204" pitchFamily="18" charset="0"/>
              </a:rPr>
              <a:t>bar graph</a:t>
            </a:r>
            <a:endParaRPr lang="en-US" sz="1200" dirty="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1800" dirty="0">
                <a:solidFill>
                  <a:srgbClr val="000000"/>
                </a:solidFill>
                <a:latin typeface="Verdana" panose="020B0604030504040204" pitchFamily="34" charset="0"/>
                <a:ea typeface="Times New Roman" panose="02020603050405020304" pitchFamily="18" charset="0"/>
                <a:cs typeface="Cambria" panose="02040503050406030204" pitchFamily="18" charset="0"/>
              </a:rPr>
              <a:t>circle graph</a:t>
            </a:r>
            <a:endParaRPr lang="en-US" sz="1200" dirty="0">
              <a:latin typeface="Cambria" panose="02040503050406030204" pitchFamily="18" charset="0"/>
              <a:ea typeface="Times New Roman" panose="02020603050405020304" pitchFamily="18" charset="0"/>
              <a:cs typeface="Cambria" panose="02040503050406030204" pitchFamily="18" charset="0"/>
            </a:endParaRPr>
          </a:p>
        </p:txBody>
      </p:sp>
      <p:sp>
        <p:nvSpPr>
          <p:cNvPr id="7" name="Rounded Rectangle 6">
            <a:extLst>
              <a:ext uri="{FF2B5EF4-FFF2-40B4-BE49-F238E27FC236}">
                <a16:creationId xmlns:a16="http://schemas.microsoft.com/office/drawing/2014/main" id="{83ABAA11-E82A-B841-A928-55E721240C20}"/>
              </a:ext>
            </a:extLst>
          </p:cNvPr>
          <p:cNvSpPr/>
          <p:nvPr/>
        </p:nvSpPr>
        <p:spPr>
          <a:xfrm>
            <a:off x="3390899" y="4818995"/>
            <a:ext cx="2705100" cy="793115"/>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solidFill>
                  <a:srgbClr val="000000"/>
                </a:solidFill>
                <a:latin typeface="Verdana" panose="020B0604030504040204" pitchFamily="34" charset="0"/>
                <a:ea typeface="Times New Roman" panose="02020603050405020304" pitchFamily="18" charset="0"/>
                <a:cs typeface="Cambria" panose="02040503050406030204" pitchFamily="18" charset="0"/>
              </a:rPr>
              <a:t>height of the bars</a:t>
            </a:r>
            <a:endParaRPr lang="en-US" sz="1200" dirty="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1800" dirty="0">
                <a:solidFill>
                  <a:srgbClr val="000000"/>
                </a:solidFill>
                <a:latin typeface="Verdana" panose="020B0604030504040204" pitchFamily="34" charset="0"/>
                <a:ea typeface="Times New Roman" panose="02020603050405020304" pitchFamily="18" charset="0"/>
                <a:cs typeface="Cambria" panose="02040503050406030204" pitchFamily="18" charset="0"/>
              </a:rPr>
              <a:t>size of each section</a:t>
            </a:r>
            <a:endParaRPr lang="en-US" sz="1200" dirty="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2195319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8327136" cy="4893647"/>
          </a:xfrm>
          <a:prstGeom prst="rect">
            <a:avLst/>
          </a:prstGeom>
          <a:noFill/>
        </p:spPr>
        <p:txBody>
          <a:bodyPr wrap="square" rtlCol="0">
            <a:spAutoFit/>
          </a:bodyPr>
          <a:lstStyle/>
          <a:p>
            <a:pPr marL="917575"/>
            <a:r>
              <a:rPr lang="en-US" sz="2400" dirty="0">
                <a:latin typeface="Verdana" panose="020B0604030504040204" pitchFamily="34" charset="0"/>
                <a:ea typeface="Verdana" panose="020B0604030504040204" pitchFamily="34" charset="0"/>
                <a:cs typeface="Verdana" panose="020B0604030504040204" pitchFamily="34" charset="0"/>
              </a:rPr>
              <a:t>If a different number of customers responded </a:t>
            </a: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r>
              <a:rPr lang="en-US" sz="2400" dirty="0">
                <a:latin typeface="Verdana" panose="020B0604030504040204" pitchFamily="34" charset="0"/>
                <a:ea typeface="Verdana" panose="020B0604030504040204" pitchFamily="34" charset="0"/>
                <a:cs typeface="Verdana" panose="020B0604030504040204" pitchFamily="34" charset="0"/>
              </a:rPr>
              <a:t>to each server’s survey, a                    would </a:t>
            </a: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r>
              <a:rPr lang="en-US" sz="2400" dirty="0">
                <a:latin typeface="Verdana" panose="020B0604030504040204" pitchFamily="34" charset="0"/>
                <a:ea typeface="Verdana" panose="020B0604030504040204" pitchFamily="34" charset="0"/>
                <a:cs typeface="Verdana" panose="020B0604030504040204" pitchFamily="34" charset="0"/>
              </a:rPr>
              <a:t>be better because it would compare the 												 who gave each </a:t>
            </a: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r>
              <a:rPr lang="en-US" sz="2400" dirty="0">
                <a:latin typeface="Verdana" panose="020B0604030504040204" pitchFamily="34" charset="0"/>
                <a:ea typeface="Verdana" panose="020B0604030504040204" pitchFamily="34" charset="0"/>
                <a:cs typeface="Verdana" panose="020B0604030504040204" pitchFamily="34" charset="0"/>
              </a:rPr>
              <a:t>response rather than the raw numbers that </a:t>
            </a:r>
          </a:p>
          <a:p>
            <a:pPr marL="917575"/>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r>
              <a:rPr lang="en-US" sz="2400" dirty="0">
                <a:latin typeface="Verdana" panose="020B0604030504040204" pitchFamily="34" charset="0"/>
                <a:ea typeface="Verdana" panose="020B0604030504040204" pitchFamily="34" charset="0"/>
                <a:cs typeface="Verdana" panose="020B0604030504040204" pitchFamily="34" charset="0"/>
              </a:rPr>
              <a:t>could be misleading in this case.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Rounded Rectangle 5">
            <a:extLst>
              <a:ext uri="{FF2B5EF4-FFF2-40B4-BE49-F238E27FC236}">
                <a16:creationId xmlns:a16="http://schemas.microsoft.com/office/drawing/2014/main" id="{EEE13334-E9FB-AF47-B775-D47EEDD28147}"/>
              </a:ext>
            </a:extLst>
          </p:cNvPr>
          <p:cNvSpPr/>
          <p:nvPr/>
        </p:nvSpPr>
        <p:spPr>
          <a:xfrm>
            <a:off x="6096000" y="1007287"/>
            <a:ext cx="1842135" cy="873343"/>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solidFill>
                  <a:srgbClr val="000000"/>
                </a:solidFill>
                <a:latin typeface="Verdana" panose="020B0604030504040204" pitchFamily="34" charset="0"/>
                <a:ea typeface="Times New Roman" panose="02020603050405020304" pitchFamily="18" charset="0"/>
                <a:cs typeface="Cambria" panose="02040503050406030204" pitchFamily="18" charset="0"/>
              </a:rPr>
              <a:t>bar graph</a:t>
            </a:r>
            <a:endParaRPr lang="en-US" sz="1200" dirty="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1800" dirty="0">
                <a:solidFill>
                  <a:srgbClr val="000000"/>
                </a:solidFill>
                <a:latin typeface="Verdana" panose="020B0604030504040204" pitchFamily="34" charset="0"/>
                <a:ea typeface="Times New Roman" panose="02020603050405020304" pitchFamily="18" charset="0"/>
                <a:cs typeface="Cambria" panose="02040503050406030204" pitchFamily="18" charset="0"/>
              </a:rPr>
              <a:t>circle graph</a:t>
            </a:r>
            <a:endParaRPr lang="en-US" sz="1200" dirty="0">
              <a:latin typeface="Cambria" panose="02040503050406030204" pitchFamily="18" charset="0"/>
              <a:ea typeface="Times New Roman" panose="02020603050405020304" pitchFamily="18" charset="0"/>
              <a:cs typeface="Cambria" panose="02040503050406030204" pitchFamily="18" charset="0"/>
            </a:endParaRPr>
          </a:p>
        </p:txBody>
      </p:sp>
      <p:sp>
        <p:nvSpPr>
          <p:cNvPr id="7" name="Rounded Rectangle 6">
            <a:extLst>
              <a:ext uri="{FF2B5EF4-FFF2-40B4-BE49-F238E27FC236}">
                <a16:creationId xmlns:a16="http://schemas.microsoft.com/office/drawing/2014/main" id="{525561E8-2D8C-DE48-96E3-AFF719B10976}"/>
              </a:ext>
            </a:extLst>
          </p:cNvPr>
          <p:cNvSpPr/>
          <p:nvPr/>
        </p:nvSpPr>
        <p:spPr>
          <a:xfrm>
            <a:off x="1920172" y="2482409"/>
            <a:ext cx="3697605" cy="969615"/>
          </a:xfrm>
          <a:prstGeom prst="round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a:solidFill>
                  <a:srgbClr val="000000"/>
                </a:solidFill>
                <a:latin typeface="Verdana" panose="020B0604030504040204" pitchFamily="34" charset="0"/>
                <a:ea typeface="Times New Roman" panose="02020603050405020304" pitchFamily="18" charset="0"/>
                <a:cs typeface="Cambria" panose="02040503050406030204" pitchFamily="18" charset="0"/>
              </a:rPr>
              <a:t>actual number of customers</a:t>
            </a:r>
            <a:endParaRPr lang="en-US" sz="1200">
              <a:latin typeface="Cambria" panose="02040503050406030204" pitchFamily="18" charset="0"/>
              <a:ea typeface="Times New Roman" panose="02020603050405020304" pitchFamily="18" charset="0"/>
              <a:cs typeface="Cambria" panose="02040503050406030204" pitchFamily="18" charset="0"/>
            </a:endParaRPr>
          </a:p>
          <a:p>
            <a:pPr marL="342900" indent="-342900">
              <a:spcAft>
                <a:spcPts val="1000"/>
              </a:spcAft>
              <a:buFont typeface="Courier New" panose="02070309020205020404" pitchFamily="49" charset="0"/>
              <a:buChar char="o"/>
            </a:pPr>
            <a:r>
              <a:rPr lang="en-US" sz="1800">
                <a:solidFill>
                  <a:srgbClr val="000000"/>
                </a:solidFill>
                <a:latin typeface="Verdana" panose="020B0604030504040204" pitchFamily="34" charset="0"/>
                <a:ea typeface="Times New Roman" panose="02020603050405020304" pitchFamily="18" charset="0"/>
                <a:cs typeface="Cambria" panose="02040503050406030204" pitchFamily="18" charset="0"/>
              </a:rPr>
              <a:t>proportion of customers</a:t>
            </a:r>
            <a:endParaRPr lang="en-US" sz="120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3960423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82571"/>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400" b="1" dirty="0">
                <a:solidFill>
                  <a:srgbClr val="3F2A67"/>
                </a:solidFill>
                <a:latin typeface="Verdana"/>
                <a:ea typeface="Verdana"/>
                <a:cs typeface="Verdana"/>
                <a:sym typeface="Verdana"/>
              </a:rPr>
              <a:t>13.9.4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3546"/>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14400" y="1273777"/>
            <a:ext cx="10515600" cy="30469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manager at a new restaurant surveys a sample of customers to identify where their marketing efforts have been successful. The results are shown in the frequency table.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C1B2117-16B2-FD40-AEA5-7951C6EFF2C2}"/>
                  </a:ext>
                </a:extLst>
              </p:cNvPr>
              <p:cNvGraphicFramePr>
                <a:graphicFrameLocks noGrp="1"/>
              </p:cNvGraphicFramePr>
              <p:nvPr>
                <p:extLst>
                  <p:ext uri="{D42A27DB-BD31-4B8C-83A1-F6EECF244321}">
                    <p14:modId xmlns:p14="http://schemas.microsoft.com/office/powerpoint/2010/main" val="4234324144"/>
                  </p:ext>
                </p:extLst>
              </p:nvPr>
            </p:nvGraphicFramePr>
            <p:xfrm>
              <a:off x="2381251" y="3220900"/>
              <a:ext cx="7429499" cy="1803400"/>
            </p:xfrm>
            <a:graphic>
              <a:graphicData uri="http://schemas.openxmlformats.org/drawingml/2006/table">
                <a:tbl>
                  <a:tblPr bandRow="1">
                    <a:tableStyleId>{A91F0D33-8C57-4600-99A7-42BC86742BE1}</a:tableStyleId>
                  </a:tblPr>
                  <a:tblGrid>
                    <a:gridCol w="1704657">
                      <a:extLst>
                        <a:ext uri="{9D8B030D-6E8A-4147-A177-3AD203B41FA5}">
                          <a16:colId xmlns:a16="http://schemas.microsoft.com/office/drawing/2014/main" val="290249488"/>
                        </a:ext>
                      </a:extLst>
                    </a:gridCol>
                    <a:gridCol w="1316374">
                      <a:extLst>
                        <a:ext uri="{9D8B030D-6E8A-4147-A177-3AD203B41FA5}">
                          <a16:colId xmlns:a16="http://schemas.microsoft.com/office/drawing/2014/main" val="923545576"/>
                        </a:ext>
                      </a:extLst>
                    </a:gridCol>
                    <a:gridCol w="1442194">
                      <a:extLst>
                        <a:ext uri="{9D8B030D-6E8A-4147-A177-3AD203B41FA5}">
                          <a16:colId xmlns:a16="http://schemas.microsoft.com/office/drawing/2014/main" val="2481487024"/>
                        </a:ext>
                      </a:extLst>
                    </a:gridCol>
                    <a:gridCol w="1441518">
                      <a:extLst>
                        <a:ext uri="{9D8B030D-6E8A-4147-A177-3AD203B41FA5}">
                          <a16:colId xmlns:a16="http://schemas.microsoft.com/office/drawing/2014/main" val="996075209"/>
                        </a:ext>
                      </a:extLst>
                    </a:gridCol>
                    <a:gridCol w="1524756">
                      <a:extLst>
                        <a:ext uri="{9D8B030D-6E8A-4147-A177-3AD203B41FA5}">
                          <a16:colId xmlns:a16="http://schemas.microsoft.com/office/drawing/2014/main" val="3370464766"/>
                        </a:ext>
                      </a:extLst>
                    </a:gridCol>
                  </a:tblGrid>
                  <a:tr h="90997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Source</a:t>
                          </a:r>
                        </a:p>
                      </a:txBody>
                      <a:tcPr marL="68580" marR="68580" marT="0" marB="0" anchor="ctr">
                        <a:solidFill>
                          <a:schemeClr val="bg1">
                            <a:lumMod val="75000"/>
                          </a:schemeClr>
                        </a:solidFill>
                      </a:tcPr>
                    </a:tc>
                    <a:tc>
                      <a:txBody>
                        <a:bodyPr/>
                        <a:lstStyle/>
                        <a:p>
                          <a:pPr marL="0" marR="3429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Facebook Ad</a:t>
                          </a:r>
                        </a:p>
                      </a:txBody>
                      <a:tcPr marL="68580" marR="68580" marT="0" marB="0" anchor="ctr"/>
                    </a:tc>
                    <a:tc>
                      <a:txBody>
                        <a:bodyPr/>
                        <a:lstStyle/>
                        <a:p>
                          <a:pPr marL="0" marR="3429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Friend</a:t>
                          </a:r>
                        </a:p>
                      </a:txBody>
                      <a:tcPr marL="68580" marR="68580" marT="0" marB="0" anchor="ctr"/>
                    </a:tc>
                    <a:tc>
                      <a:txBody>
                        <a:bodyPr/>
                        <a:lstStyle/>
                        <a:p>
                          <a:pPr marL="0" marR="3429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Google Ad</a:t>
                          </a:r>
                        </a:p>
                      </a:txBody>
                      <a:tcPr marL="68580" marR="68580" marT="0" marB="0" anchor="ctr"/>
                    </a:tc>
                    <a:tc>
                      <a:txBody>
                        <a:bodyPr/>
                        <a:lstStyle/>
                        <a:p>
                          <a:pPr marL="0" marR="3429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Newspaper</a:t>
                          </a:r>
                        </a:p>
                      </a:txBody>
                      <a:tcPr marL="68580" marR="68580" marT="0" marB="0" anchor="ctr"/>
                    </a:tc>
                    <a:extLst>
                      <a:ext uri="{0D108BD9-81ED-4DB2-BD59-A6C34878D82A}">
                        <a16:rowId xmlns:a16="http://schemas.microsoft.com/office/drawing/2014/main" val="727069770"/>
                      </a:ext>
                    </a:extLst>
                  </a:tr>
                  <a:tr h="89342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New Customers</a:t>
                          </a:r>
                        </a:p>
                      </a:txBody>
                      <a:tcPr marL="68580" marR="68580" marT="0" marB="0" anchor="ctr">
                        <a:solidFill>
                          <a:schemeClr val="bg1">
                            <a:lumMod val="75000"/>
                          </a:schemeClr>
                        </a:solid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2</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9</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13</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ea typeface="Verdana" panose="020B0604030504040204" pitchFamily="34" charset="0"/>
                                    <a:cs typeface="Verdana" panose="020B0604030504040204" pitchFamily="34" charset="0"/>
                                  </a:rPr>
                                  <m:t>8</m:t>
                                </m:r>
                              </m:oMath>
                            </m:oMathPara>
                          </a14:m>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737386417"/>
                      </a:ext>
                    </a:extLst>
                  </a:tr>
                </a:tbl>
              </a:graphicData>
            </a:graphic>
          </p:graphicFrame>
        </mc:Choice>
        <mc:Fallback xmlns="">
          <p:graphicFrame>
            <p:nvGraphicFramePr>
              <p:cNvPr id="2" name="Table 1">
                <a:extLst>
                  <a:ext uri="{FF2B5EF4-FFF2-40B4-BE49-F238E27FC236}">
                    <a16:creationId xmlns:a16="http://schemas.microsoft.com/office/drawing/2014/main" id="{4C1B2117-16B2-FD40-AEA5-7951C6EFF2C2}"/>
                  </a:ext>
                </a:extLst>
              </p:cNvPr>
              <p:cNvGraphicFramePr>
                <a:graphicFrameLocks noGrp="1"/>
              </p:cNvGraphicFramePr>
              <p:nvPr>
                <p:extLst>
                  <p:ext uri="{D42A27DB-BD31-4B8C-83A1-F6EECF244321}">
                    <p14:modId xmlns:p14="http://schemas.microsoft.com/office/powerpoint/2010/main" val="4234324144"/>
                  </p:ext>
                </p:extLst>
              </p:nvPr>
            </p:nvGraphicFramePr>
            <p:xfrm>
              <a:off x="2381251" y="3220900"/>
              <a:ext cx="7429499" cy="1803400"/>
            </p:xfrm>
            <a:graphic>
              <a:graphicData uri="http://schemas.openxmlformats.org/drawingml/2006/table">
                <a:tbl>
                  <a:tblPr bandRow="1">
                    <a:tableStyleId>{A91F0D33-8C57-4600-99A7-42BC86742BE1}</a:tableStyleId>
                  </a:tblPr>
                  <a:tblGrid>
                    <a:gridCol w="1704657">
                      <a:extLst>
                        <a:ext uri="{9D8B030D-6E8A-4147-A177-3AD203B41FA5}">
                          <a16:colId xmlns:a16="http://schemas.microsoft.com/office/drawing/2014/main" val="290249488"/>
                        </a:ext>
                      </a:extLst>
                    </a:gridCol>
                    <a:gridCol w="1316374">
                      <a:extLst>
                        <a:ext uri="{9D8B030D-6E8A-4147-A177-3AD203B41FA5}">
                          <a16:colId xmlns:a16="http://schemas.microsoft.com/office/drawing/2014/main" val="923545576"/>
                        </a:ext>
                      </a:extLst>
                    </a:gridCol>
                    <a:gridCol w="1442194">
                      <a:extLst>
                        <a:ext uri="{9D8B030D-6E8A-4147-A177-3AD203B41FA5}">
                          <a16:colId xmlns:a16="http://schemas.microsoft.com/office/drawing/2014/main" val="2481487024"/>
                        </a:ext>
                      </a:extLst>
                    </a:gridCol>
                    <a:gridCol w="1441518">
                      <a:extLst>
                        <a:ext uri="{9D8B030D-6E8A-4147-A177-3AD203B41FA5}">
                          <a16:colId xmlns:a16="http://schemas.microsoft.com/office/drawing/2014/main" val="996075209"/>
                        </a:ext>
                      </a:extLst>
                    </a:gridCol>
                    <a:gridCol w="1524756">
                      <a:extLst>
                        <a:ext uri="{9D8B030D-6E8A-4147-A177-3AD203B41FA5}">
                          <a16:colId xmlns:a16="http://schemas.microsoft.com/office/drawing/2014/main" val="3370464766"/>
                        </a:ext>
                      </a:extLst>
                    </a:gridCol>
                  </a:tblGrid>
                  <a:tr h="90997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Source</a:t>
                          </a:r>
                        </a:p>
                      </a:txBody>
                      <a:tcPr marL="68580" marR="68580" marT="0" marB="0" anchor="ctr">
                        <a:solidFill>
                          <a:schemeClr val="bg1">
                            <a:lumMod val="75000"/>
                          </a:schemeClr>
                        </a:solidFill>
                      </a:tcPr>
                    </a:tc>
                    <a:tc>
                      <a:txBody>
                        <a:bodyPr/>
                        <a:lstStyle/>
                        <a:p>
                          <a:pPr marL="0" marR="3429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Facebook Ad</a:t>
                          </a:r>
                        </a:p>
                      </a:txBody>
                      <a:tcPr marL="68580" marR="68580" marT="0" marB="0" anchor="ctr"/>
                    </a:tc>
                    <a:tc>
                      <a:txBody>
                        <a:bodyPr/>
                        <a:lstStyle/>
                        <a:p>
                          <a:pPr marL="0" marR="3429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Friend</a:t>
                          </a:r>
                        </a:p>
                      </a:txBody>
                      <a:tcPr marL="68580" marR="68580" marT="0" marB="0" anchor="ctr"/>
                    </a:tc>
                    <a:tc>
                      <a:txBody>
                        <a:bodyPr/>
                        <a:lstStyle/>
                        <a:p>
                          <a:pPr marL="0" marR="3429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Google Ad</a:t>
                          </a:r>
                        </a:p>
                      </a:txBody>
                      <a:tcPr marL="68580" marR="68580" marT="0" marB="0" anchor="ctr"/>
                    </a:tc>
                    <a:tc>
                      <a:txBody>
                        <a:bodyPr/>
                        <a:lstStyle/>
                        <a:p>
                          <a:pPr marL="0" marR="3429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Newspaper</a:t>
                          </a:r>
                        </a:p>
                      </a:txBody>
                      <a:tcPr marL="68580" marR="68580" marT="0" marB="0" anchor="ctr"/>
                    </a:tc>
                    <a:extLst>
                      <a:ext uri="{0D108BD9-81ED-4DB2-BD59-A6C34878D82A}">
                        <a16:rowId xmlns:a16="http://schemas.microsoft.com/office/drawing/2014/main" val="727069770"/>
                      </a:ext>
                    </a:extLst>
                  </a:tr>
                  <a:tr h="89342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New Customers</a:t>
                          </a:r>
                        </a:p>
                      </a:txBody>
                      <a:tcPr marL="68580" marR="68580" marT="0" marB="0" anchor="ctr">
                        <a:solidFill>
                          <a:schemeClr val="bg1">
                            <a:lumMod val="75000"/>
                          </a:schemeClr>
                        </a:solidFill>
                      </a:tcPr>
                    </a:tc>
                    <a:tc>
                      <a:txBody>
                        <a:bodyPr/>
                        <a:lstStyle/>
                        <a:p>
                          <a:endParaRPr lang="en-US"/>
                        </a:p>
                      </a:txBody>
                      <a:tcPr marL="68580" marR="68580" marT="0" marB="0" anchor="ctr">
                        <a:blipFill>
                          <a:blip r:embed="rId5"/>
                          <a:stretch>
                            <a:fillRect l="-129808" t="-102817" r="-335577" b="-1408"/>
                          </a:stretch>
                        </a:blipFill>
                      </a:tcPr>
                    </a:tc>
                    <a:tc>
                      <a:txBody>
                        <a:bodyPr/>
                        <a:lstStyle/>
                        <a:p>
                          <a:endParaRPr lang="en-US"/>
                        </a:p>
                      </a:txBody>
                      <a:tcPr marL="68580" marR="68580" marT="0" marB="0" anchor="ctr">
                        <a:blipFill>
                          <a:blip r:embed="rId5"/>
                          <a:stretch>
                            <a:fillRect l="-209649" t="-102817" r="-206140" b="-1408"/>
                          </a:stretch>
                        </a:blipFill>
                      </a:tcPr>
                    </a:tc>
                    <a:tc>
                      <a:txBody>
                        <a:bodyPr/>
                        <a:lstStyle/>
                        <a:p>
                          <a:endParaRPr lang="en-US"/>
                        </a:p>
                      </a:txBody>
                      <a:tcPr marL="68580" marR="68580" marT="0" marB="0" anchor="ctr">
                        <a:blipFill>
                          <a:blip r:embed="rId5"/>
                          <a:stretch>
                            <a:fillRect l="-309649" t="-102817" r="-106140" b="-1408"/>
                          </a:stretch>
                        </a:blipFill>
                      </a:tcPr>
                    </a:tc>
                    <a:tc>
                      <a:txBody>
                        <a:bodyPr/>
                        <a:lstStyle/>
                        <a:p>
                          <a:endParaRPr lang="en-US"/>
                        </a:p>
                      </a:txBody>
                      <a:tcPr marL="68580" marR="68580" marT="0" marB="0" anchor="ctr">
                        <a:blipFill>
                          <a:blip r:embed="rId5"/>
                          <a:stretch>
                            <a:fillRect l="-389167" t="-102817" r="-833" b="-1408"/>
                          </a:stretch>
                        </a:blipFill>
                      </a:tcPr>
                    </a:tc>
                    <a:extLst>
                      <a:ext uri="{0D108BD9-81ED-4DB2-BD59-A6C34878D82A}">
                        <a16:rowId xmlns:a16="http://schemas.microsoft.com/office/drawing/2014/main" val="1737386417"/>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415498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restaurant manager wants to make a recommendation to the owner about where to spend more money on advertisements using a data display. What graphical display is best for the manager to use to display the data?</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Create the data display you chose in Question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to display the data collected by the restaurant manager.</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515600" cy="4154984"/>
              </a:xfrm>
              <a:prstGeom prst="rect">
                <a:avLst/>
              </a:prstGeom>
              <a:blipFill>
                <a:blip r:embed="rId4"/>
                <a:stretch>
                  <a:fillRect l="-965" t="-1216"/>
                </a:stretch>
              </a:blipFill>
            </p:spPr>
            <p:txBody>
              <a:bodyPr/>
              <a:lstStyle/>
              <a:p>
                <a:r>
                  <a:rPr lang="en-US">
                    <a:noFill/>
                  </a:rPr>
                  <a:t> </a:t>
                </a:r>
              </a:p>
            </p:txBody>
          </p:sp>
        </mc:Fallback>
      </mc:AlternateContent>
    </p:spTree>
    <p:extLst>
      <p:ext uri="{BB962C8B-B14F-4D97-AF65-F5344CB8AC3E}">
        <p14:creationId xmlns:p14="http://schemas.microsoft.com/office/powerpoint/2010/main" val="351273238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1552</TotalTime>
  <Words>1334</Words>
  <Application>Microsoft Office PowerPoint</Application>
  <PresentationFormat>Widescreen</PresentationFormat>
  <Paragraphs>299</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Cambria Math</vt:lpstr>
      <vt:lpstr>Calibri</vt:lpstr>
      <vt:lpstr>Cambria</vt:lpstr>
      <vt:lpstr>Arial Black</vt:lpstr>
      <vt:lpstr>Times New Roman</vt:lpstr>
      <vt:lpstr>Verdana</vt:lpstr>
      <vt:lpstr>Courier New</vt:lpstr>
      <vt:lpstr>Century Gothic</vt:lpstr>
      <vt:lpstr>1_Office Theme</vt:lpstr>
      <vt:lpstr>7th Grade Math Unit 13, Lesson 9  Creating Displays for Categorical Data   Volume 2, pg. 281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21</cp:revision>
  <dcterms:created xsi:type="dcterms:W3CDTF">2015-03-17T18:51:18Z</dcterms:created>
  <dcterms:modified xsi:type="dcterms:W3CDTF">2022-07-14T03:10:25Z</dcterms:modified>
</cp:coreProperties>
</file>