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345" r:id="rId4"/>
    <p:sldId id="286" r:id="rId5"/>
    <p:sldId id="261" r:id="rId6"/>
    <p:sldId id="287" r:id="rId7"/>
    <p:sldId id="289" r:id="rId8"/>
    <p:sldId id="290" r:id="rId9"/>
    <p:sldId id="387" r:id="rId10"/>
    <p:sldId id="388" r:id="rId11"/>
    <p:sldId id="389" r:id="rId12"/>
    <p:sldId id="314" r:id="rId13"/>
    <p:sldId id="315" r:id="rId14"/>
    <p:sldId id="316" r:id="rId15"/>
    <p:sldId id="339" r:id="rId16"/>
    <p:sldId id="340" r:id="rId17"/>
    <p:sldId id="371" r:id="rId18"/>
    <p:sldId id="372" r:id="rId19"/>
    <p:sldId id="373" r:id="rId20"/>
    <p:sldId id="306" r:id="rId21"/>
    <p:sldId id="307" r:id="rId22"/>
    <p:sldId id="390" r:id="rId23"/>
  </p:sldIdLst>
  <p:sldSz cx="12192000" cy="6858000"/>
  <p:notesSz cx="6858000" cy="9144000"/>
  <p:embeddedFontLst>
    <p:embeddedFont>
      <p:font typeface="Arial Black" panose="020B0A04020102020204" pitchFamily="34" charset="0"/>
      <p:bold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mbria" panose="02040503050406030204" pitchFamily="18" charset="0"/>
      <p:regular r:id="rId30"/>
      <p:bold r:id="rId31"/>
      <p:italic r:id="rId32"/>
      <p:boldItalic r:id="rId33"/>
    </p:embeddedFont>
    <p:embeddedFont>
      <p:font typeface="Cambria Math" panose="02040503050406030204" pitchFamily="18" charset="0"/>
      <p:regular r:id="rId34"/>
    </p:embeddedFont>
    <p:embeddedFont>
      <p:font typeface="Century Gothic" panose="020B0502020202020204" pitchFamily="34" charset="0"/>
      <p:regular r:id="rId35"/>
      <p:bold r:id="rId36"/>
      <p:italic r:id="rId37"/>
      <p:boldItalic r:id="rId38"/>
    </p:embeddedFont>
    <p:embeddedFont>
      <p:font typeface="Cutive" panose="020B0604020202020204" charset="0"/>
      <p:regular r:id="rId39"/>
    </p:embeddedFont>
    <p:embeddedFont>
      <p:font typeface="Verdana" panose="020B060403050404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9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4E5F"/>
    <a:srgbClr val="26B7D4"/>
    <a:srgbClr val="BFBFBF"/>
    <a:srgbClr val="C9DF6F"/>
    <a:srgbClr val="417DBF"/>
    <a:srgbClr val="3F2A67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15"/>
    <p:restoredTop sz="94694"/>
  </p:normalViewPr>
  <p:slideViewPr>
    <p:cSldViewPr snapToGrid="0">
      <p:cViewPr varScale="1">
        <p:scale>
          <a:sx n="81" d="100"/>
          <a:sy n="81" d="100"/>
        </p:scale>
        <p:origin x="744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2.fntdata"/><Relationship Id="rId39" Type="http://schemas.openxmlformats.org/officeDocument/2006/relationships/font" Target="fonts/font15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0.fntdata"/><Relationship Id="rId42" Type="http://schemas.openxmlformats.org/officeDocument/2006/relationships/font" Target="fonts/font18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1.fntdata"/><Relationship Id="rId33" Type="http://schemas.openxmlformats.org/officeDocument/2006/relationships/font" Target="fonts/font9.fntdata"/><Relationship Id="rId38" Type="http://schemas.openxmlformats.org/officeDocument/2006/relationships/font" Target="fonts/font14.fntdata"/><Relationship Id="rId59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5.fntdata"/><Relationship Id="rId41" Type="http://schemas.openxmlformats.org/officeDocument/2006/relationships/font" Target="fonts/font17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openxmlformats.org/officeDocument/2006/relationships/font" Target="fonts/font8.fntdata"/><Relationship Id="rId37" Type="http://schemas.openxmlformats.org/officeDocument/2006/relationships/font" Target="fonts/font13.fntdata"/><Relationship Id="rId40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4.fntdata"/><Relationship Id="rId36" Type="http://schemas.openxmlformats.org/officeDocument/2006/relationships/font" Target="fonts/font12.fntdata"/><Relationship Id="rId61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7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3.fntdata"/><Relationship Id="rId30" Type="http://schemas.openxmlformats.org/officeDocument/2006/relationships/font" Target="fonts/font6.fntdata"/><Relationship Id="rId35" Type="http://schemas.openxmlformats.org/officeDocument/2006/relationships/font" Target="fonts/font11.fntdata"/><Relationship Id="rId43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940110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Video Link: https://</a:t>
            </a:r>
            <a:r>
              <a:rPr lang="en-US" dirty="0" err="1"/>
              <a:t>algebranation.wistia.com</a:t>
            </a:r>
            <a:r>
              <a:rPr lang="en-US" dirty="0"/>
              <a:t>/medias/fi4fidi5y8</a:t>
            </a:r>
            <a:endParaRPr dirty="0"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775880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70480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59295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34147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752346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738162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4131636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35488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191853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6283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7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9.png"/><Relationship Id="rId4" Type="http://schemas.openxmlformats.org/officeDocument/2006/relationships/image" Target="../media/image3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4.png"/><Relationship Id="rId5" Type="http://schemas.openxmlformats.org/officeDocument/2006/relationships/image" Target="../media/image33.jpe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1" y="2212773"/>
            <a:ext cx="5077650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6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6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4, Lesson 9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Finding the </a:t>
            </a:r>
            <a:b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Area of a Circle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167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480" y="15225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43000" y="-9144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914400" y="1307592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MA.7.GR.1.4</a:t>
            </a:r>
          </a:p>
          <a:p>
            <a:pPr marL="552450" lvl="1"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Explore and apply a formula to find the area of a circle to solve mathematical and real-world problems.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78;g104476d1465_1_17">
            <a:extLst>
              <a:ext uri="{FF2B5EF4-FFF2-40B4-BE49-F238E27FC236}">
                <a16:creationId xmlns:a16="http://schemas.microsoft.com/office/drawing/2014/main" id="{78632872-3F42-3447-924A-20A16C6976F7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Google Shape;281;g104476d1465_1_17">
            <a:extLst>
              <a:ext uri="{FF2B5EF4-FFF2-40B4-BE49-F238E27FC236}">
                <a16:creationId xmlns:a16="http://schemas.microsoft.com/office/drawing/2014/main" id="{D915A027-4791-D04E-90A8-9E6239ED88EB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4" name="Google Shape;283;g104476d1465_1_17">
            <a:extLst>
              <a:ext uri="{FF2B5EF4-FFF2-40B4-BE49-F238E27FC236}">
                <a16:creationId xmlns:a16="http://schemas.microsoft.com/office/drawing/2014/main" id="{983DCB5F-2CE8-A74F-A579-F39E2E9337FB}"/>
              </a:ext>
            </a:extLst>
          </p:cNvPr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5" name="Google Shape;295;g103996e1364_0_10">
            <a:extLst>
              <a:ext uri="{FF2B5EF4-FFF2-40B4-BE49-F238E27FC236}">
                <a16:creationId xmlns:a16="http://schemas.microsoft.com/office/drawing/2014/main" id="{73A67FE7-C13F-C24F-85E9-A4B96A1F42A8}"/>
              </a:ext>
            </a:extLst>
          </p:cNvPr>
          <p:cNvSpPr txBox="1">
            <a:spLocks/>
          </p:cNvSpPr>
          <p:nvPr/>
        </p:nvSpPr>
        <p:spPr>
          <a:xfrm>
            <a:off x="1143000" y="12801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6" name="Google Shape;282;g104476d1465_1_17">
            <a:extLst>
              <a:ext uri="{FF2B5EF4-FFF2-40B4-BE49-F238E27FC236}">
                <a16:creationId xmlns:a16="http://schemas.microsoft.com/office/drawing/2014/main" id="{FD66E1D7-C8ED-8A4A-9EE6-BDBA39B99125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96;g103996e1364_0_10">
            <a:extLst>
              <a:ext uri="{FF2B5EF4-FFF2-40B4-BE49-F238E27FC236}">
                <a16:creationId xmlns:a16="http://schemas.microsoft.com/office/drawing/2014/main" id="{5BB4D65A-27E8-4F4F-9348-5380FE318E8D}"/>
              </a:ext>
            </a:extLst>
          </p:cNvPr>
          <p:cNvSpPr txBox="1">
            <a:spLocks/>
          </p:cNvSpPr>
          <p:nvPr/>
        </p:nvSpPr>
        <p:spPr>
          <a:xfrm>
            <a:off x="914400" y="1455367"/>
            <a:ext cx="10515600" cy="47452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Apply mathematics to </a:t>
            </a:r>
            <a:b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</a:b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real-world contexts.</a:t>
            </a:r>
          </a:p>
        </p:txBody>
      </p:sp>
    </p:spTree>
    <p:extLst>
      <p:ext uri="{BB962C8B-B14F-4D97-AF65-F5344CB8AC3E}">
        <p14:creationId xmlns:p14="http://schemas.microsoft.com/office/powerpoint/2010/main" val="2342996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43000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3ECD2D46-55D5-C547-91DD-0801CE9D6AD7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914400" y="1600200"/>
            <a:ext cx="105156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71500" indent="-5715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find the area of a circle given the radius or diameter.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4096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Graphical user interface, diagram, application&#10;&#10;Description automatically generated">
            <a:extLst>
              <a:ext uri="{FF2B5EF4-FFF2-40B4-BE49-F238E27FC236}">
                <a16:creationId xmlns:a16="http://schemas.microsoft.com/office/drawing/2014/main" id="{14DBD6AB-9DED-1A4D-BF37-F6CA48DE5C9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8223"/>
          <a:stretch/>
        </p:blipFill>
        <p:spPr>
          <a:xfrm>
            <a:off x="2805791" y="1937714"/>
            <a:ext cx="4106436" cy="2982571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603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4.9.1 Warm-Up: Which Is the Best?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F32FA606-312E-FE45-9E7F-5EB4EB5783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1963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80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20" name="Rectangle 15">
            <a:extLst>
              <a:ext uri="{FF2B5EF4-FFF2-40B4-BE49-F238E27FC236}">
                <a16:creationId xmlns:a16="http://schemas.microsoft.com/office/drawing/2014/main" id="{3F80061E-0FC7-534E-8F32-815F86902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4557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1" name="Rectangle 16">
            <a:extLst>
              <a:ext uri="{FF2B5EF4-FFF2-40B4-BE49-F238E27FC236}">
                <a16:creationId xmlns:a16="http://schemas.microsoft.com/office/drawing/2014/main" id="{F0663C2D-D71E-9747-B131-91E050FC8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22" name="Rectangle 18">
            <a:extLst>
              <a:ext uri="{FF2B5EF4-FFF2-40B4-BE49-F238E27FC236}">
                <a16:creationId xmlns:a16="http://schemas.microsoft.com/office/drawing/2014/main" id="{1EDB4A78-8756-D641-B2CF-25FE103BD0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76401" y="3808513"/>
            <a:ext cx="184731" cy="3077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BF1F58-1771-BE4A-9AA4-4E18AE9205C1}"/>
              </a:ext>
            </a:extLst>
          </p:cNvPr>
          <p:cNvSpPr txBox="1"/>
          <p:nvPr/>
        </p:nvSpPr>
        <p:spPr>
          <a:xfrm>
            <a:off x="914400" y="1386026"/>
            <a:ext cx="878774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Rank each person’s image based on which looks most like a circle.</a:t>
            </a: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Explain how you decided upon your ranking.</a:t>
            </a:r>
          </a:p>
        </p:txBody>
      </p:sp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0632"/>
            <a:ext cx="4809744" cy="1350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5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3005AFD-D615-1344-BDC0-5A40F6454816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image8.png" descr="Icon&#10;&#10;Description automatically generated">
            <a:extLst>
              <a:ext uri="{FF2B5EF4-FFF2-40B4-BE49-F238E27FC236}">
                <a16:creationId xmlns:a16="http://schemas.microsoft.com/office/drawing/2014/main" id="{BC7C462E-D054-6A4F-A8DB-7E396B9B4611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8"/>
            <a:ext cx="1148148" cy="114814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3000" y="-69547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2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4.9.2 Guided Instruction: Finding the Area of a Circle</a:t>
            </a:r>
          </a:p>
        </p:txBody>
      </p:sp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B2B1ECCC-8E07-F247-BB16-7B958B8E6B2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1261217"/>
                <a:ext cx="10515600" cy="517064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goat, located at point 𝐺, is tied with a </a:t>
                </a:r>
                <a:b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foot (ft) rope to a stake located at point 𝑆. </a:t>
                </a: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Cambria"/>
                  </a:rPr>
                  <a:t>Complete each statement with words </a:t>
                </a:r>
                <a:br>
                  <a:rPr lang="en-US" sz="2000" dirty="0">
                    <a:latin typeface="Verdana"/>
                    <a:ea typeface="Times New Roman"/>
                    <a:cs typeface="Cambria"/>
                  </a:rPr>
                </a:br>
                <a:r>
                  <a:rPr lang="en-US" sz="2000" dirty="0">
                    <a:latin typeface="Verdana"/>
                    <a:ea typeface="Times New Roman"/>
                    <a:cs typeface="Cambria"/>
                  </a:rPr>
                  <a:t>from the word bank.</a:t>
                </a: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US" sz="2000" dirty="0">
                  <a:latin typeface="Verdana"/>
                  <a:ea typeface="Times New Roman"/>
                  <a:cs typeface="Cambria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US" sz="2000" dirty="0">
                  <a:latin typeface="Verdana"/>
                  <a:ea typeface="Times New Roman"/>
                  <a:cs typeface="Cambria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US" sz="2000" dirty="0">
                  <a:latin typeface="Verdana"/>
                  <a:ea typeface="Times New Roman"/>
                  <a:cs typeface="Cambria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endParaRPr lang="en-US" sz="2000" dirty="0">
                  <a:latin typeface="Verdana"/>
                  <a:ea typeface="Times New Roman"/>
                  <a:cs typeface="Cambria"/>
                </a:endParaRPr>
              </a:p>
              <a:p>
                <a:pPr marL="457200" indent="457200">
                  <a:lnSpc>
                    <a:spcPct val="150000"/>
                  </a:lnSpc>
                </a:pPr>
                <a:r>
                  <a:rPr lang="en-US" sz="2000" dirty="0">
                    <a:latin typeface="Verdana"/>
                    <a:ea typeface="Times New Roman"/>
                    <a:cs typeface="Cambria"/>
                  </a:rPr>
                  <a:t>The space in which the goat can roam is the </a:t>
                </a:r>
                <a:endParaRPr lang="en-US" sz="2000" dirty="0">
                  <a:latin typeface="Cambria"/>
                  <a:ea typeface="Times New Roman"/>
                  <a:cs typeface="Cambria"/>
                </a:endParaRPr>
              </a:p>
              <a:p>
                <a:pPr marL="457200" indent="457200">
                  <a:lnSpc>
                    <a:spcPct val="150000"/>
                  </a:lnSpc>
                </a:pPr>
                <a:r>
                  <a:rPr lang="en-US" sz="2000" dirty="0">
                    <a:latin typeface="Verdana"/>
                    <a:ea typeface="Times New Roman"/>
                    <a:cs typeface="Cambria"/>
                  </a:rPr>
                  <a:t>___________ of the circle. The distance of the rope </a:t>
                </a:r>
                <a:endParaRPr lang="en-US" sz="2000" dirty="0">
                  <a:latin typeface="Cambria"/>
                  <a:ea typeface="Times New Roman"/>
                  <a:cs typeface="Cambria"/>
                </a:endParaRPr>
              </a:p>
              <a:p>
                <a:pPr marL="914400">
                  <a:lnSpc>
                    <a:spcPct val="150000"/>
                  </a:lnSpc>
                </a:pPr>
                <a:r>
                  <a:rPr lang="en-US" sz="2000" dirty="0">
                    <a:latin typeface="Verdana"/>
                    <a:ea typeface="Times New Roman"/>
                    <a:cs typeface="Cambria"/>
                  </a:rPr>
                  <a:t>from the stake to the goat is the ___________ of </a:t>
                </a:r>
                <a:endParaRPr lang="en-US" sz="2000" dirty="0">
                  <a:latin typeface="Cambria"/>
                  <a:ea typeface="Times New Roman"/>
                  <a:cs typeface="Cambria"/>
                </a:endParaRPr>
              </a:p>
              <a:p>
                <a:pPr marL="914400">
                  <a:lnSpc>
                    <a:spcPct val="150000"/>
                  </a:lnSpc>
                </a:pPr>
                <a:r>
                  <a:rPr lang="en-US" sz="2000" dirty="0">
                    <a:latin typeface="Verdana"/>
                    <a:ea typeface="Times New Roman"/>
                    <a:cs typeface="Cambria"/>
                  </a:rPr>
                  <a:t>the circle. To find the total space in which the goat</a:t>
                </a:r>
                <a:r>
                  <a:rPr lang="en-US" sz="2000" dirty="0">
                    <a:latin typeface="Cambria"/>
                    <a:ea typeface="Times New Roman"/>
                    <a:cs typeface="Cambria"/>
                  </a:rPr>
                  <a:t> </a:t>
                </a:r>
                <a:r>
                  <a:rPr lang="en-US" sz="2000" dirty="0">
                    <a:latin typeface="Verdana"/>
                    <a:ea typeface="Times New Roman"/>
                    <a:cs typeface="Cambria"/>
                  </a:rPr>
                  <a:t>can roam, use the formula ___________.</a:t>
                </a: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E208A00-51E7-C544-ABDE-AE9DC3DAAB4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1261217"/>
                <a:ext cx="10515600" cy="5170646"/>
              </a:xfrm>
              <a:prstGeom prst="rect">
                <a:avLst/>
              </a:prstGeom>
              <a:blipFill>
                <a:blip r:embed="rId4"/>
                <a:stretch>
                  <a:fillRect l="-603" t="-980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8.png" descr="Icon&#10;&#10;Description automatically generated">
            <a:extLst>
              <a:ext uri="{FF2B5EF4-FFF2-40B4-BE49-F238E27FC236}">
                <a16:creationId xmlns:a16="http://schemas.microsoft.com/office/drawing/2014/main" id="{3E939DA3-FD88-9A48-8338-4635C63812D2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47299" cy="747299"/>
          </a:xfrm>
          <a:prstGeom prst="rect">
            <a:avLst/>
          </a:prstGeom>
          <a:ln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8467216" y="1147029"/>
            <a:ext cx="2081571" cy="20085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ounded Rectangle 13"/>
          <p:cNvSpPr/>
          <p:nvPr/>
        </p:nvSpPr>
        <p:spPr>
          <a:xfrm>
            <a:off x="3182806" y="3189315"/>
            <a:ext cx="6765945" cy="685800"/>
          </a:xfrm>
          <a:prstGeom prst="roundRect">
            <a:avLst/>
          </a:prstGeom>
          <a:noFill/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spcAft>
                <a:spcPts val="1000"/>
              </a:spcAft>
              <a:buClrTx/>
              <a:defRPr/>
            </a:pPr>
            <a:r>
              <a:rPr lang="en-US" sz="2000" dirty="0">
                <a:latin typeface="Verdana" pitchFamily="34" charset="0"/>
                <a:ea typeface="Verdana" pitchFamily="34" charset="0"/>
                <a:cs typeface="Cambria"/>
              </a:rPr>
              <a:t>	 	</a:t>
            </a:r>
            <a:endParaRPr lang="en-US" sz="2000" dirty="0">
              <a:solidFill>
                <a:sysClr val="window" lastClr="FFFFFF"/>
              </a:solidFill>
              <a:latin typeface="Verdana" pitchFamily="34" charset="0"/>
              <a:ea typeface="Verdana" pitchFamily="34" charset="0"/>
              <a:cs typeface="Cambri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023405"/>
                  </p:ext>
                </p:extLst>
              </p:nvPr>
            </p:nvGraphicFramePr>
            <p:xfrm>
              <a:off x="3324225" y="3313453"/>
              <a:ext cx="6583680" cy="3962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2801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14:m>
                            <m:oMath xmlns:m="http://schemas.openxmlformats.org/officeDocument/2006/math">
                              <m:r>
                                <a:rPr kumimoji="0" lang="en-US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Times New Roman"/>
                                  <a:cs typeface="Cambria"/>
                                  <a:sym typeface="Arial"/>
                                </a:rPr>
                                <m:t>𝐴</m:t>
                              </m:r>
                              <m:r>
                                <a:rPr kumimoji="0" lang="en-US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Times New Roman"/>
                                  <a:cs typeface="Cambria"/>
                                  <a:sym typeface="Arial"/>
                                </a:rPr>
                                <m:t>= </m:t>
                              </m:r>
                              <m:r>
                                <a:rPr kumimoji="0" lang="en-US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Times New Roman"/>
                                  <a:cs typeface="Cambria"/>
                                  <a:sym typeface="Arial"/>
                                </a:rPr>
                                <m:t>𝜋</m:t>
                              </m:r>
                              <m:r>
                                <a:rPr kumimoji="0" lang="en-US" sz="20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Times New Roman"/>
                                  <a:cs typeface="Cambria"/>
                                  <a:sym typeface="Arial"/>
                                </a:rPr>
                                <m:t>𝑟</m:t>
                              </m:r>
                            </m:oMath>
                          </a14:m>
                          <a:r>
                            <a:rPr kumimoji="0" lang="en-US" sz="2000" b="0" i="0" u="none" strike="noStrike" kern="0" cap="none" spc="0" normalizeH="0" baseline="3000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Cambria"/>
                              <a:sym typeface="Arial"/>
                            </a:rPr>
                            <a:t>2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Cambria"/>
                              <a:sym typeface="Arial"/>
                            </a:rPr>
                            <a:t>radius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kumimoji="0" lang="en-US" sz="2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Times New Roman"/>
                                    <a:cs typeface="Cambria"/>
                                    <a:sym typeface="Arial"/>
                                  </a:rPr>
                                  <m:t>𝐶</m:t>
                                </m:r>
                                <m:r>
                                  <a:rPr kumimoji="0" lang="en-US" sz="2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Times New Roman"/>
                                    <a:cs typeface="Cambria"/>
                                    <a:sym typeface="Arial"/>
                                  </a:rPr>
                                  <m:t>= 2</m:t>
                                </m:r>
                                <m:r>
                                  <a:rPr kumimoji="0" lang="en-US" sz="2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Times New Roman"/>
                                    <a:cs typeface="Cambria"/>
                                    <a:sym typeface="Arial"/>
                                  </a:rPr>
                                  <m:t>𝜋</m:t>
                                </m:r>
                                <m:r>
                                  <a:rPr kumimoji="0" lang="en-US" sz="2000" b="0" i="1" u="none" strike="noStrike" kern="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rgbClr val="000000"/>
                                    </a:solidFill>
                                    <a:effectLst/>
                                    <a:uLnTx/>
                                    <a:uFillTx/>
                                    <a:latin typeface="Cambria Math"/>
                                    <a:ea typeface="Times New Roman"/>
                                    <a:cs typeface="Cambria"/>
                                    <a:sym typeface="Arial"/>
                                  </a:rPr>
                                  <m:t>𝑟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Cambria"/>
                            </a:rPr>
                            <a:t>area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Cambria"/>
                              <a:sym typeface="Arial"/>
                            </a:rPr>
                            <a:t>circumference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8023405"/>
                  </p:ext>
                </p:extLst>
              </p:nvPr>
            </p:nvGraphicFramePr>
            <p:xfrm>
              <a:off x="3324225" y="3313453"/>
              <a:ext cx="6583680" cy="3962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12801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09728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137160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914400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1920240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96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t="-6061" r="-414851" b="-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Cambria"/>
                              <a:sym typeface="Arial"/>
                            </a:rPr>
                            <a:t>radius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7"/>
                          <a:stretch>
                            <a:fillRect l="-174074" t="-6061" r="-207407" b="-2424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Cambria"/>
                            </a:rPr>
                            <a:t>area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kumimoji="0" lang="en-US" sz="2000" b="0" i="0" u="none" strike="noStrike" kern="0" cap="none" spc="0" normalizeH="0" baseline="0" noProof="0" dirty="0">
                              <a:ln>
                                <a:noFill/>
                              </a:ln>
                              <a:solidFill>
                                <a:srgbClr val="000000"/>
                              </a:solidFill>
                              <a:effectLst/>
                              <a:uLnTx/>
                              <a:uFillTx/>
                              <a:latin typeface="Verdana" pitchFamily="34" charset="0"/>
                              <a:ea typeface="Verdana" pitchFamily="34" charset="0"/>
                              <a:cs typeface="Cambria"/>
                              <a:sym typeface="Arial"/>
                            </a:rPr>
                            <a:t>circumference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L="0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01D0CD-46AE-1846-9674-E6BBA2DE4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28272"/>
            <a:ext cx="10515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9144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 startAt="2"/>
            </a:pPr>
            <a:r>
              <a:rPr lang="en-US" altLang="en-US" sz="24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is the area over which the goat can roam?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BAD4DD4-1257-BA43-B533-5705F0BD1F74}"/>
              </a:ext>
            </a:extLst>
          </p:cNvPr>
          <p:cNvGrpSpPr/>
          <p:nvPr/>
        </p:nvGrpSpPr>
        <p:grpSpPr>
          <a:xfrm>
            <a:off x="1843512" y="2574609"/>
            <a:ext cx="7305014" cy="2086953"/>
            <a:chOff x="-66675" y="-355"/>
            <a:chExt cx="7305014" cy="150880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B045BC7-D5B8-174C-8639-A5431E0C44EC}"/>
                </a:ext>
              </a:extLst>
            </p:cNvPr>
            <p:cNvGrpSpPr/>
            <p:nvPr/>
          </p:nvGrpSpPr>
          <p:grpSpPr>
            <a:xfrm>
              <a:off x="-66675" y="-355"/>
              <a:ext cx="7305014" cy="1508807"/>
              <a:chOff x="1964625" y="3386453"/>
              <a:chExt cx="7305014" cy="1508807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44E7966-D845-A249-80EC-F54962E10B9A}"/>
                  </a:ext>
                </a:extLst>
              </p:cNvPr>
              <p:cNvGrpSpPr/>
              <p:nvPr/>
            </p:nvGrpSpPr>
            <p:grpSpPr>
              <a:xfrm>
                <a:off x="1964625" y="3386453"/>
                <a:ext cx="7305014" cy="1508807"/>
                <a:chOff x="-66675" y="-355"/>
                <a:chExt cx="7305014" cy="1508807"/>
              </a:xfrm>
            </p:grpSpPr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081F962B-72E5-0347-B5CA-78C092404F5B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solidFill>
                        <a:srgbClr val="00619E"/>
                      </a:solidFill>
                      <a:latin typeface="Cambria" panose="02040503050406030204" pitchFamily="18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endParaRP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3D08FA88-7CFF-F243-B71C-AA3C42B78EE6}"/>
                    </a:ext>
                  </a:extLst>
                </p:cNvPr>
                <p:cNvSpPr/>
                <p:nvPr/>
              </p:nvSpPr>
              <p:spPr>
                <a:xfrm>
                  <a:off x="0" y="0"/>
                  <a:ext cx="6629400" cy="78637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>
                    <a:spcAft>
                      <a:spcPts val="1000"/>
                    </a:spcAft>
                  </a:pPr>
                  <a:r>
                    <a:rPr lang="en-US" sz="1200">
                      <a:solidFill>
                        <a:srgbClr val="00619E"/>
                      </a:solidFill>
                      <a:latin typeface="Cambria" panose="02040503050406030204" pitchFamily="18" charset="0"/>
                      <a:ea typeface="Times New Roman" panose="02020603050405020304" pitchFamily="18" charset="0"/>
                      <a:cs typeface="Cambria" panose="02040503050406030204" pitchFamily="18" charset="0"/>
                    </a:rPr>
                    <a:t> </a:t>
                  </a:r>
                  <a:endParaRPr lang="x-none" sz="120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endParaRPr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5" name="Rounded Rectangle 14">
                      <a:extLst>
                        <a:ext uri="{FF2B5EF4-FFF2-40B4-BE49-F238E27FC236}">
                          <a16:creationId xmlns:a16="http://schemas.microsoft.com/office/drawing/2014/main" id="{BB77AF0D-EBFE-6B41-A47F-A7BDB82466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-66675" y="-355"/>
                      <a:ext cx="7305014" cy="1508807"/>
                    </a:xfrm>
                    <a:prstGeom prst="roundRect">
                      <a:avLst>
                        <a:gd name="adj" fmla="val 16667"/>
                      </a:avLst>
                    </a:prstGeom>
                    <a:solidFill>
                      <a:srgbClr val="B8E6F5"/>
                    </a:solid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spcFirstLastPara="1" wrap="square" lIns="91425" tIns="91440" rIns="91425" bIns="0" anchor="ctr" anchorCtr="0">
                      <a:spAutoFit/>
                    </a:bodyPr>
                    <a:lstStyle/>
                    <a:p>
                      <a:pPr marL="742950">
                        <a:spcAft>
                          <a:spcPts val="1000"/>
                        </a:spcAft>
                      </a:pPr>
                      <a:r>
                        <a:rPr lang="en-US" sz="2000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The </a:t>
                      </a:r>
                      <a:r>
                        <a:rPr lang="en-US" sz="2000" b="1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area of a circle</a:t>
                      </a:r>
                      <a:r>
                        <a:rPr lang="en-US" sz="2000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,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𝐴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, can be found using the formula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𝐴</m:t>
                          </m:r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=</m:t>
                          </m:r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x-none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sSupPr>
                            <m:e>
                              <m: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2</m:t>
                              </m:r>
                            </m:sup>
                          </m:sSup>
                        </m:oMath>
                      </a14:m>
                      <a:r>
                        <a:rPr lang="en-US" sz="2000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or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𝐴</m:t>
                          </m:r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x-none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</m:ctrlPr>
                            </m:fPr>
                            <m:num>
                              <m: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000" i="1">
                                  <a:solidFill>
                                    <a:srgbClr val="00619E"/>
                                  </a:solidFill>
                                  <a:latin typeface="Cambria Math" panose="02040503050406030204" pitchFamily="18" charset="0"/>
                                  <a:ea typeface="Verdana" panose="020B0604030504040204" pitchFamily="34" charset="0"/>
                                  <a:cs typeface="Verdana" panose="020B0604030504040204" pitchFamily="34" charset="0"/>
                                </a:rPr>
                                <m:t>2</m:t>
                              </m:r>
                            </m:den>
                          </m:f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𝐶𝑟</m:t>
                          </m:r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,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where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𝐶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is the circumference of the circle,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𝜋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is the proportional relationship between the diameter and the circumference of any circle, and </a:t>
                      </a:r>
                      <a14:m>
                        <m:oMath xmlns:m="http://schemas.openxmlformats.org/officeDocument/2006/math">
                          <m:r>
                            <a:rPr lang="en-US" sz="2000" i="1">
                              <a:solidFill>
                                <a:srgbClr val="00619E"/>
                              </a:solidFill>
                              <a:latin typeface="Cambria Math" panose="02040503050406030204" pitchFamily="18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m:t>𝑟</m:t>
                          </m:r>
                        </m:oMath>
                      </a14:m>
                      <a:r>
                        <a:rPr lang="en-US" sz="2000" dirty="0">
                          <a:solidFill>
                            <a:srgbClr val="00619E"/>
                          </a:solidFill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 is the radius.</a:t>
                      </a:r>
                      <a:endParaRPr lang="x-none" sz="2000" dirty="0">
                        <a:latin typeface="Cambria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endParaRPr>
                    </a:p>
                  </p:txBody>
                </p:sp>
              </mc:Choice>
              <mc:Fallback xmlns="">
                <p:sp>
                  <p:nvSpPr>
                    <p:cNvPr id="15" name="Rounded Rectangle 14">
                      <a:extLst>
                        <a:ext uri="{FF2B5EF4-FFF2-40B4-BE49-F238E27FC236}">
                          <a16:creationId xmlns:a16="http://schemas.microsoft.com/office/drawing/2014/main" xmlns:a14="http://schemas.microsoft.com/office/drawing/2010/main" xmlns="" id="{BB77AF0D-EBFE-6B41-A47F-A7BDB824668C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66675" y="-355"/>
                      <a:ext cx="7305014" cy="1508807"/>
                    </a:xfrm>
                    <a:prstGeom prst="roundRect">
                      <a:avLst>
                        <a:gd name="adj" fmla="val 16667"/>
                      </a:avLst>
                    </a:prstGeom>
                    <a:blipFill rotWithShape="1">
                      <a:blip r:embed="rId4"/>
                      <a:stretch>
                        <a:fillRect/>
                      </a:stretch>
                    </a:blipFill>
                    <a:ln>
                      <a:noFill/>
                    </a:ln>
                    <a:effectLst>
                      <a:outerShdw blurRad="50800" dist="38100" dir="2700000" algn="tl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  <p:pic>
          <p:nvPicPr>
            <p:cNvPr id="10" name="image15.png" descr="Icon&#10;&#10;Description automatically generated">
              <a:extLst>
                <a:ext uri="{FF2B5EF4-FFF2-40B4-BE49-F238E27FC236}">
                  <a16:creationId xmlns:a16="http://schemas.microsoft.com/office/drawing/2014/main" id="{E16D7E1C-B9E9-FC4F-9C0A-740A83943AA3}"/>
                </a:ext>
              </a:extLst>
            </p:cNvPr>
            <p:cNvPicPr/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>
            <a:xfrm>
              <a:off x="147918" y="177095"/>
              <a:ext cx="548640" cy="396651"/>
            </a:xfrm>
            <a:prstGeom prst="rect">
              <a:avLst/>
            </a:prstGeom>
            <a:ln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8429133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A01D0CD-46AE-1846-9674-E6BBA2DE42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14400" y="475727"/>
                <a:ext cx="10515600" cy="532453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Jeffery, Katelyn, and </a:t>
                </a:r>
                <a:r>
                  <a:rPr lang="en-US" altLang="en-US" sz="2000" dirty="0" err="1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Azia</a:t>
                </a:r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each found the area, in square feet (</a:t>
                </a:r>
                <a14:m>
                  <m:oMath xmlns:m="http://schemas.openxmlformats.org/officeDocument/2006/math">
                    <m:r>
                      <a:rPr lang="en-US" altLang="en-US" sz="2000" i="1" dirty="0">
                        <a:solidFill>
                          <a:schemeClr val="tx1"/>
                        </a:solidFill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𝑓𝑡</m:t>
                    </m:r>
                    <m:r>
                      <a:rPr lang="en-US" altLang="en-US" sz="2000" i="1" baseline="30000" dirty="0">
                        <a:solidFill>
                          <a:schemeClr val="tx1"/>
                        </a:solidFill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2</m:t>
                    </m:r>
                  </m:oMath>
                </a14:m>
                <a:r>
                  <a:rPr lang="en-US" altLang="en-US" sz="2000" dirty="0">
                    <a:solidFill>
                      <a:schemeClr val="tx1"/>
                    </a:solidFill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), in which the goat can roam. Their work is shown.</a:t>
                </a: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rabicPeriod" startAt="2"/>
                </a:pP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14400" indent="-457200" eaLnBrk="0" fontAlgn="base" hangingPunct="0">
                  <a:spcBef>
                    <a:spcPct val="0"/>
                  </a:spcBef>
                  <a:spcAft>
                    <a:spcPct val="0"/>
                  </a:spcAft>
                  <a:buClrTx/>
                  <a:buFont typeface="+mj-lt"/>
                  <a:buAutoNum type="alphaLcPeriod"/>
                </a:pPr>
                <a:r>
                  <a:rPr lang="en-US" sz="2000" dirty="0">
                    <a:latin typeface="Verdana"/>
                    <a:ea typeface="Times New Roman"/>
                    <a:cs typeface="Cambria"/>
                  </a:rPr>
                  <a:t>Explain why Jeffery uses the equal sign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Cambria"/>
                      </a:rPr>
                      <m:t>=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Cambria"/>
                  </a:rPr>
                  <a:t>) but Katelyn and </a:t>
                </a:r>
                <a:r>
                  <a:rPr lang="en-US" sz="2000" dirty="0" err="1">
                    <a:latin typeface="Verdana"/>
                    <a:ea typeface="Times New Roman"/>
                    <a:cs typeface="Cambria"/>
                  </a:rPr>
                  <a:t>Azia</a:t>
                </a:r>
                <a:r>
                  <a:rPr lang="en-US" sz="2000" dirty="0">
                    <a:latin typeface="Verdana"/>
                    <a:ea typeface="Times New Roman"/>
                    <a:cs typeface="Cambria"/>
                  </a:rPr>
                  <a:t> both use the approximate sign (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Cambria"/>
                      </a:rPr>
                      <m:t>≈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Cambria"/>
                  </a:rPr>
                  <a:t>).</a:t>
                </a:r>
                <a:endParaRPr lang="en-US" altLang="en-US" sz="2000" dirty="0">
                  <a:solidFill>
                    <a:schemeClr val="tx1"/>
                  </a:solidFill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A01D0CD-46AE-1846-9674-E6BBA2DE4236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914400" y="475727"/>
                <a:ext cx="10515600" cy="5324535"/>
              </a:xfrm>
              <a:prstGeom prst="rect">
                <a:avLst/>
              </a:prstGeom>
              <a:blipFill>
                <a:blip r:embed="rId4"/>
                <a:stretch>
                  <a:fillRect l="-603" t="-476" r="-12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5383942"/>
                  </p:ext>
                </p:extLst>
              </p:nvPr>
            </p:nvGraphicFramePr>
            <p:xfrm>
              <a:off x="2891038" y="1450479"/>
              <a:ext cx="7551420" cy="3118993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4955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603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955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Cambria"/>
                            </a:rPr>
                            <a:t>Jeffery’s Work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Cambria"/>
                            </a:rPr>
                            <a:t>Katelyn’s Work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err="1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Cambria"/>
                            </a:rPr>
                            <a:t>Azia’s</a:t>
                          </a: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Cambria"/>
                            </a:rPr>
                            <a:t> Work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𝐴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=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Cambria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Cambria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𝐴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=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𝜋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Cambria"/>
                                      </a:rPr>
                                      <m:t>6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Cambria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𝐴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=36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𝜋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 </m:t>
                                </m:r>
                                <m:sSup>
                                  <m:sSup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effectLst/>
                                        <a:latin typeface="Cambria Math"/>
                                      </a:rPr>
                                      <m:t>𝑓𝑡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𝐴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Cambria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Cambria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𝐶𝑟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𝐴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Cambria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Cambria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Cambria"/>
                                      </a:rPr>
                                      <m:t>2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Cambria"/>
                                      </a:rPr>
                                      <m:t>𝜋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Cambria"/>
                                      </a:rPr>
                                      <m:t>∙6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∙6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𝐴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Cambria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Cambria"/>
                                      </a:rPr>
                                      <m:t>2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(2∙3.14∙6)(6)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𝐴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≈113.04 </m:t>
                                </m:r>
                                <m:sSup>
                                  <m:sSup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effectLst/>
                                        <a:latin typeface="Cambria Math"/>
                                      </a:rPr>
                                      <m:t>𝑓𝑡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𝐴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=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𝜋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Cambria"/>
                                      </a:rPr>
                                      <m:t>𝑟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Cambria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𝐴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=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𝜋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(</m:t>
                                </m:r>
                                <m:sSup>
                                  <m:sSup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Cambria"/>
                                      </a:rPr>
                                      <m:t>6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Cambria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𝐴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=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en-US" sz="2000" i="1">
                                            <a:effectLst/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Times New Roman"/>
                                            <a:cs typeface="Cambria"/>
                                          </a:rPr>
                                          <m:t>22</m:t>
                                        </m:r>
                                      </m:num>
                                      <m:den>
                                        <m:r>
                                          <a:rPr lang="en-US" sz="2000" i="1">
                                            <a:effectLst/>
                                            <a:latin typeface="Cambria Math"/>
                                            <a:ea typeface="Times New Roman"/>
                                            <a:cs typeface="Cambria"/>
                                          </a:rPr>
                                          <m:t>7</m:t>
                                        </m:r>
                                      </m:den>
                                    </m:f>
                                  </m:e>
                                </m:d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/>
                                        <a:ea typeface="Times New Roman"/>
                                        <a:cs typeface="Cambria"/>
                                      </a:rPr>
                                      <m:t>36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  <a:p>
                          <a:pPr algn="ctr">
                            <a:spcAft>
                              <a:spcPts val="100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𝐴</m:t>
                                </m:r>
                                <m:r>
                                  <a:rPr lang="en-US" sz="2000" i="1" smtClean="0">
                                    <a:effectLst/>
                                    <a:latin typeface="Cambria Math"/>
                                    <a:ea typeface="Times New Roman"/>
                                    <a:cs typeface="Cambria"/>
                                  </a:rPr>
                                  <m:t>≈113.14 </m:t>
                                </m:r>
                                <m:sSup>
                                  <m:sSupPr>
                                    <m:ctrlPr>
                                      <a:rPr lang="en-US" sz="2000" i="1" smtClean="0">
                                        <a:effectLst/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b="0" i="1" smtClean="0">
                                        <a:effectLst/>
                                        <a:latin typeface="Cambria Math"/>
                                      </a:rPr>
                                      <m:t>𝑓𝑡</m:t>
                                    </m:r>
                                  </m:e>
                                  <m:sup>
                                    <m:r>
                                      <a:rPr lang="en-US" sz="2000" b="0" i="1" smtClean="0">
                                        <a:effectLst/>
                                        <a:latin typeface="Cambria Math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marT="9144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25383942"/>
                  </p:ext>
                </p:extLst>
              </p:nvPr>
            </p:nvGraphicFramePr>
            <p:xfrm>
              <a:off x="2891038" y="1450479"/>
              <a:ext cx="7551420" cy="3118993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249555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5603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49555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Cambria"/>
                            </a:rPr>
                            <a:t>Jeffery’s Work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Cambria"/>
                            </a:rPr>
                            <a:t>Katelyn’s Work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2000" b="1" dirty="0" err="1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Cambria"/>
                            </a:rPr>
                            <a:t>Azia’s</a:t>
                          </a: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/>
                              <a:ea typeface="Times New Roman"/>
                              <a:cs typeface="Cambria"/>
                            </a:rPr>
                            <a:t> Work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66179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t="-17619" r="-203046" b="-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97525" t="-17619" r="-98020" b="-47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2538" t="-17619" r="-508" b="-47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506152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01D0CD-46AE-1846-9674-E6BBA2DE42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475727"/>
            <a:ext cx="1051560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spAutoFit/>
          </a:bodyPr>
          <a:lstStyle/>
          <a:p>
            <a:pPr marL="914400" indent="-457200" eaLnBrk="0" fontAlgn="base" hangingPunct="0">
              <a:spcBef>
                <a:spcPct val="0"/>
              </a:spcBef>
              <a:spcAft>
                <a:spcPct val="0"/>
              </a:spcAft>
              <a:buClrTx/>
              <a:buFont typeface="+mj-lt"/>
              <a:buAutoNum type="alphaLcPeriod" startAt="2"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Harold said that he used the 𝜋 button on his calculator instead of using an approximate value for 𝜋. What answer did Harold get, rounded to the hundredths place?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2000" dirty="0">
              <a:solidFill>
                <a:schemeClr val="tx1"/>
              </a:solidFill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2000" dirty="0">
                <a:solidFill>
                  <a:schemeClr val="tx1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When finding the area of a circle, always write answers using the representation of 𝜋 based on the directions given in the problem.</a:t>
            </a:r>
          </a:p>
        </p:txBody>
      </p:sp>
    </p:spTree>
    <p:extLst>
      <p:ext uri="{BB962C8B-B14F-4D97-AF65-F5344CB8AC3E}">
        <p14:creationId xmlns:p14="http://schemas.microsoft.com/office/powerpoint/2010/main" val="669591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3456303" y="2766150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500" b="1" dirty="0">
              <a:solidFill>
                <a:srgbClr val="26B7D4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image9.png" descr="Icon&#10;&#10;Description automatically generated">
            <a:extLst>
              <a:ext uri="{FF2B5EF4-FFF2-40B4-BE49-F238E27FC236}">
                <a16:creationId xmlns:a16="http://schemas.microsoft.com/office/drawing/2014/main" id="{2536FE26-3B56-4545-924A-762809667E05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79053"/>
            <a:ext cx="1152149" cy="115214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3000" y="2227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26B7D4"/>
                </a:solidFill>
                <a:latin typeface="Verdana"/>
                <a:ea typeface="Verdana"/>
                <a:cs typeface="Verdana"/>
                <a:sym typeface="Verdana"/>
              </a:rPr>
              <a:t>4.9.3 Guided Practice: Finding the Area of a Circle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914400" y="1465538"/>
                <a:ext cx="10515600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 circle with radius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0.65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 (in.) is shown. Complete the table by finding the area of the circle using the given value for 𝜋.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465538"/>
                <a:ext cx="10515600" cy="1200329"/>
              </a:xfrm>
              <a:prstGeom prst="rect">
                <a:avLst/>
              </a:prstGeom>
              <a:blipFill>
                <a:blip r:embed="rId4"/>
                <a:stretch>
                  <a:fillRect l="-965" t="-4211" b="-105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7" name="image9.png" descr="Icon&#10;&#10;Description automatically generated">
            <a:extLst>
              <a:ext uri="{FF2B5EF4-FFF2-40B4-BE49-F238E27FC236}">
                <a16:creationId xmlns:a16="http://schemas.microsoft.com/office/drawing/2014/main" id="{09A9F5B6-47FD-2E4A-B87F-066A69867042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6616" y="201168"/>
            <a:ext cx="750164" cy="750164"/>
          </a:xfrm>
          <a:prstGeom prst="rect">
            <a:avLst/>
          </a:prstGeom>
          <a:ln/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08556794-C459-0648-B740-A88181E64BAC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748213" y="3144563"/>
            <a:ext cx="2695575" cy="2247900"/>
          </a:xfrm>
          <a:prstGeom prst="rect">
            <a:avLst/>
          </a:prstGeom>
          <a:noFill/>
          <a:ln>
            <a:noFill/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 Box 320">
                <a:extLst>
                  <a:ext uri="{FF2B5EF4-FFF2-40B4-BE49-F238E27FC236}">
                    <a16:creationId xmlns:a16="http://schemas.microsoft.com/office/drawing/2014/main" id="{3F5A5593-B76B-D74D-BB1A-871A3AA351A7}"/>
                  </a:ext>
                </a:extLst>
              </p:cNvPr>
              <p:cNvSpPr txBox="1"/>
              <p:nvPr/>
            </p:nvSpPr>
            <p:spPr>
              <a:xfrm rot="17358286">
                <a:off x="6021611" y="3598004"/>
                <a:ext cx="1019175" cy="371475"/>
              </a:xfrm>
              <a:prstGeom prst="rect">
                <a:avLst/>
              </a:prstGeom>
              <a:noFill/>
              <a:ln w="6350">
                <a:noFill/>
              </a:ln>
            </p:spPr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>
                  <a:spcAft>
                    <a:spcPts val="1000"/>
                  </a:spcAft>
                </a:pPr>
                <a14:m>
                  <m:oMath xmlns:m="http://schemas.openxmlformats.org/officeDocument/2006/math">
                    <m:r>
                      <a:rPr lang="en-US" sz="18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Cambria" panose="02040503050406030204" pitchFamily="18" charset="0"/>
                      </a:rPr>
                      <m:t>0.65</m:t>
                    </m:r>
                  </m:oMath>
                </a14:m>
                <a:r>
                  <a:rPr lang="en-US" sz="1800" dirty="0">
                    <a:latin typeface="Cambria" panose="02040503050406030204" pitchFamily="18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 </a:t>
                </a:r>
                <a:r>
                  <a:rPr lang="en-US" sz="1800" dirty="0">
                    <a:latin typeface="Verdana" panose="020B0604030504040204" pitchFamily="34" charset="0"/>
                    <a:ea typeface="Times New Roman" panose="02020603050405020304" pitchFamily="18" charset="0"/>
                    <a:cs typeface="Cambria" panose="02040503050406030204" pitchFamily="18" charset="0"/>
                  </a:rPr>
                  <a:t>in.</a:t>
                </a:r>
                <a:endParaRPr lang="x-none" sz="1200" dirty="0">
                  <a:latin typeface="Cambria" panose="02040503050406030204" pitchFamily="18" charset="0"/>
                  <a:ea typeface="Times New Roman" panose="02020603050405020304" pitchFamily="18" charset="0"/>
                  <a:cs typeface="Cambria" panose="02040503050406030204" pitchFamily="18" charset="0"/>
                </a:endParaRPr>
              </a:p>
            </p:txBody>
          </p:sp>
        </mc:Choice>
        <mc:Fallback xmlns="">
          <p:sp>
            <p:nvSpPr>
              <p:cNvPr id="29" name="Text Box 320">
                <a:extLst>
                  <a:ext uri="{FF2B5EF4-FFF2-40B4-BE49-F238E27FC236}">
                    <a16:creationId xmlns:a16="http://schemas.microsoft.com/office/drawing/2014/main" id="{3F5A5593-B76B-D74D-BB1A-871A3AA351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 rot="17358286">
                <a:off x="6021611" y="3598004"/>
                <a:ext cx="1019175" cy="371475"/>
              </a:xfrm>
              <a:prstGeom prst="rect">
                <a:avLst/>
              </a:prstGeom>
              <a:blipFill>
                <a:blip r:embed="rId7"/>
                <a:stretch>
                  <a:fillRect r="-12727"/>
                </a:stretch>
              </a:blipFill>
              <a:ln w="6350"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169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2F8C19E-0C57-3A43-9C88-E1681C0055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1621643"/>
                  </p:ext>
                </p:extLst>
              </p:nvPr>
            </p:nvGraphicFramePr>
            <p:xfrm>
              <a:off x="3151114" y="298920"/>
              <a:ext cx="6631062" cy="547156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15531">
                      <a:extLst>
                        <a:ext uri="{9D8B030D-6E8A-4147-A177-3AD203B41FA5}">
                          <a16:colId xmlns:a16="http://schemas.microsoft.com/office/drawing/2014/main" val="406371354"/>
                        </a:ext>
                      </a:extLst>
                    </a:gridCol>
                    <a:gridCol w="3315531">
                      <a:extLst>
                        <a:ext uri="{9D8B030D-6E8A-4147-A177-3AD203B41FA5}">
                          <a16:colId xmlns:a16="http://schemas.microsoft.com/office/drawing/2014/main" val="677190574"/>
                        </a:ext>
                      </a:extLst>
                    </a:gridCol>
                  </a:tblGrid>
                  <a:tr h="544451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A</a:t>
                          </a: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pproximation of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mbria" panose="02040503050406030204" pitchFamily="18" charset="0"/>
                                </a:rPr>
                                <m:t>𝝅</m:t>
                              </m:r>
                            </m:oMath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0870" marR="6087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Area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0870" marR="6087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742315"/>
                      </a:ext>
                    </a:extLst>
                  </a:tr>
                  <a:tr h="164237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effectLst/>
                                    <a:latin typeface="Cambria Math"/>
                                    <a:ea typeface="Verdana" pitchFamily="34" charset="0"/>
                                    <a:cs typeface="Cambria" panose="02040503050406030204" pitchFamily="18" charset="0"/>
                                  </a:rPr>
                                  <m:t>3.14</m:t>
                                </m:r>
                              </m:oMath>
                            </m:oMathPara>
                          </a14:m>
                          <a:endParaRPr lang="en-US" sz="2000" b="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0870" marR="6087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0870" marR="6087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36647805"/>
                      </a:ext>
                    </a:extLst>
                  </a:tr>
                  <a:tr h="164237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x-none" sz="2000" i="1" smtClean="0">
                                        <a:effectLst/>
                                        <a:latin typeface="Cambria Math" panose="02040503050406030204" pitchFamily="18" charset="0"/>
                                        <a:ea typeface="Verdana" pitchFamily="34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b="0" i="1" smtClean="0">
                                        <a:effectLst/>
                                        <a:latin typeface="Cambria Math"/>
                                        <a:ea typeface="Verdana" pitchFamily="34" charset="0"/>
                                      </a:rPr>
                                      <m:t>22</m:t>
                                    </m:r>
                                  </m:num>
                                  <m:den>
                                    <m:r>
                                      <a:rPr lang="en-US" sz="2000" b="0" i="1" smtClean="0">
                                        <a:effectLst/>
                                        <a:latin typeface="Cambria Math"/>
                                        <a:ea typeface="Verdana" pitchFamily="34" charset="0"/>
                                      </a:rPr>
                                      <m:t>7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0870" marR="6087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0870" marR="6087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3453493"/>
                      </a:ext>
                    </a:extLst>
                  </a:tr>
                  <a:tr h="1642372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mbria" panose="02040503050406030204" pitchFamily="18" charset="0"/>
                                </a:rPr>
                                <m:t>𝜋</m:t>
                              </m:r>
                            </m:oMath>
                          </a14:m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 button on the calculator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0870" marR="6087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0870" marR="6087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342575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32F8C19E-0C57-3A43-9C88-E1681C0055C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1621643"/>
                  </p:ext>
                </p:extLst>
              </p:nvPr>
            </p:nvGraphicFramePr>
            <p:xfrm>
              <a:off x="3151114" y="298920"/>
              <a:ext cx="6631062" cy="5471567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15531">
                      <a:extLst>
                        <a:ext uri="{9D8B030D-6E8A-4147-A177-3AD203B41FA5}">
                          <a16:colId xmlns:a16="http://schemas.microsoft.com/office/drawing/2014/main" val="406371354"/>
                        </a:ext>
                      </a:extLst>
                    </a:gridCol>
                    <a:gridCol w="3315531">
                      <a:extLst>
                        <a:ext uri="{9D8B030D-6E8A-4147-A177-3AD203B41FA5}">
                          <a16:colId xmlns:a16="http://schemas.microsoft.com/office/drawing/2014/main" val="677190574"/>
                        </a:ext>
                      </a:extLst>
                    </a:gridCol>
                  </a:tblGrid>
                  <a:tr h="54445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870" marR="6087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2" t="-2326" r="-100000" b="-9069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Area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0870" marR="6087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2742315"/>
                      </a:ext>
                    </a:extLst>
                  </a:tr>
                  <a:tr h="16423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870" marR="6087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2" t="-33846" r="-100000" b="-2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0870" marR="6087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736647805"/>
                      </a:ext>
                    </a:extLst>
                  </a:tr>
                  <a:tr h="16423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870" marR="6087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2" t="-134884" r="-100000" b="-1015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0870" marR="6087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93453493"/>
                      </a:ext>
                    </a:extLst>
                  </a:tr>
                  <a:tr h="164237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0870" marR="6087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82" t="-233077" r="-100000" b="-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0870" marR="6087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43425751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518468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/>
              <p:nvPr/>
            </p:nvSpPr>
            <p:spPr>
              <a:xfrm>
                <a:off x="914400" y="298919"/>
                <a:ext cx="10515600" cy="163121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Roberto wants to replace the floor on his circular skating rink but doesn’t know the area. He knows the length across the skating rink through the center is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60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meters (m). He asked his two sons, Adrian and Juan, to help him determine the area. Their work, rounded to the nearest hundredth, is shown.  </a:t>
                </a:r>
              </a:p>
            </p:txBody>
          </p:sp>
        </mc:Choice>
        <mc:Fallback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298919"/>
                <a:ext cx="10515600" cy="1631216"/>
              </a:xfrm>
              <a:prstGeom prst="rect">
                <a:avLst/>
              </a:prstGeom>
              <a:blipFill>
                <a:blip r:embed="rId4"/>
                <a:stretch>
                  <a:fillRect l="-638" t="-2612" b="-559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749AB05-55CB-ED4B-8EC1-3CD990884B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863144"/>
                  </p:ext>
                </p:extLst>
              </p:nvPr>
            </p:nvGraphicFramePr>
            <p:xfrm>
              <a:off x="2700105" y="2472326"/>
              <a:ext cx="7158270" cy="246037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79135">
                      <a:extLst>
                        <a:ext uri="{9D8B030D-6E8A-4147-A177-3AD203B41FA5}">
                          <a16:colId xmlns:a16="http://schemas.microsoft.com/office/drawing/2014/main" val="601941854"/>
                        </a:ext>
                      </a:extLst>
                    </a:gridCol>
                    <a:gridCol w="3579135">
                      <a:extLst>
                        <a:ext uri="{9D8B030D-6E8A-4147-A177-3AD203B41FA5}">
                          <a16:colId xmlns:a16="http://schemas.microsoft.com/office/drawing/2014/main" val="2064253744"/>
                        </a:ext>
                      </a:extLst>
                    </a:gridCol>
                  </a:tblGrid>
                  <a:tr h="47879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Adrian’s Method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Juan’s Method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9252781"/>
                      </a:ext>
                    </a:extLst>
                  </a:tr>
                  <a:tr h="140335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mbria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mbria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mbria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mbria" panose="02040503050406030204" pitchFamily="18" charset="0"/>
                                  </a:rPr>
                                  <m:t>∙</m:t>
                                </m:r>
                                <m:sSup>
                                  <m:sSup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mbria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mbria" panose="02040503050406030204" pitchFamily="18" charset="0"/>
                                      </a:rPr>
                                      <m:t>60</m:t>
                                    </m:r>
                                  </m:e>
                                  <m:sup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mbria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mbria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mbria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mbria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mbria" panose="02040503050406030204" pitchFamily="18" charset="0"/>
                                  </a:rPr>
                                  <m:t>∙3600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mbria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mbria" panose="02040503050406030204" pitchFamily="18" charset="0"/>
                                </a:rPr>
                                <m:t>=11,309.73 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m</a:t>
                          </a:r>
                          <a:r>
                            <a:rPr lang="en-US" sz="2000" baseline="30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2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mbria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mbria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mbria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mbria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mbria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  <m:d>
                                  <m:dPr>
                                    <m:ctrlPr>
                                      <a:rPr lang="x-none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mbria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mbria" panose="02040503050406030204" pitchFamily="18" charset="0"/>
                                      </a:rPr>
                                      <m:t>𝜋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Cambria" panose="02040503050406030204" pitchFamily="18" charset="0"/>
                                      </a:rPr>
                                      <m:t>∙60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mbria" panose="02040503050406030204" pitchFamily="18" charset="0"/>
                                  </a:rPr>
                                  <m:t>∙30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mbria" panose="02040503050406030204" pitchFamily="18" charset="0"/>
                                  </a:rPr>
                                  <m:t>𝐴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mbria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mbria" panose="02040503050406030204" pitchFamily="18" charset="0"/>
                                  </a:rPr>
                                  <m:t>𝜋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Cambria" panose="02040503050406030204" pitchFamily="18" charset="0"/>
                                  </a:rPr>
                                  <m:t>∙900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 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mbria" panose="02040503050406030204" pitchFamily="18" charset="0"/>
                                </a:rPr>
                                <m:t>𝐴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Cambria" panose="02040503050406030204" pitchFamily="18" charset="0"/>
                                </a:rPr>
                                <m:t>=2827.43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 m</a:t>
                          </a:r>
                          <a:r>
                            <a:rPr lang="en-US" sz="2000" baseline="30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2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07051636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E749AB05-55CB-ED4B-8EC1-3CD990884BB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8863144"/>
                  </p:ext>
                </p:extLst>
              </p:nvPr>
            </p:nvGraphicFramePr>
            <p:xfrm>
              <a:off x="2700105" y="2472326"/>
              <a:ext cx="7158270" cy="2460371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579135">
                      <a:extLst>
                        <a:ext uri="{9D8B030D-6E8A-4147-A177-3AD203B41FA5}">
                          <a16:colId xmlns:a16="http://schemas.microsoft.com/office/drawing/2014/main" val="601941854"/>
                        </a:ext>
                      </a:extLst>
                    </a:gridCol>
                    <a:gridCol w="3579135">
                      <a:extLst>
                        <a:ext uri="{9D8B030D-6E8A-4147-A177-3AD203B41FA5}">
                          <a16:colId xmlns:a16="http://schemas.microsoft.com/office/drawing/2014/main" val="2064253744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Adrian’s Method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ambria" panose="02040503050406030204" pitchFamily="18" charset="0"/>
                            </a:rPr>
                            <a:t>Juan’s Method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9252781"/>
                      </a:ext>
                    </a:extLst>
                  </a:tr>
                  <a:tr h="197269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353" t="-25641" r="-100000" b="-32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0709" t="-25641" r="-355" b="-32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7051636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815530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4A4596-5923-6342-9500-70E8F702680A}"/>
              </a:ext>
            </a:extLst>
          </p:cNvPr>
          <p:cNvSpPr/>
          <p:nvPr/>
        </p:nvSpPr>
        <p:spPr>
          <a:xfrm>
            <a:off x="914400" y="397919"/>
            <a:ext cx="105156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Whose method is correct?</a:t>
            </a: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the mistake that was made to the son who made the error.</a:t>
            </a:r>
          </a:p>
        </p:txBody>
      </p:sp>
    </p:spTree>
    <p:extLst>
      <p:ext uri="{BB962C8B-B14F-4D97-AF65-F5344CB8AC3E}">
        <p14:creationId xmlns:p14="http://schemas.microsoft.com/office/powerpoint/2010/main" val="20427872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199632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B595484E-1C62-AC4F-B448-37E60F77A8C0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13;g104476d1465_1_39">
            <a:extLst>
              <a:ext uri="{FF2B5EF4-FFF2-40B4-BE49-F238E27FC236}">
                <a16:creationId xmlns:a16="http://schemas.microsoft.com/office/drawing/2014/main" id="{FBE81C39-C116-3E43-8FD2-10F6C7887F5E}"/>
              </a:ext>
            </a:extLst>
          </p:cNvPr>
          <p:cNvSpPr txBox="1">
            <a:spLocks/>
          </p:cNvSpPr>
          <p:nvPr/>
        </p:nvSpPr>
        <p:spPr>
          <a:xfrm>
            <a:off x="4087368" y="2766144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buClr>
                <a:schemeClr val="lt1"/>
              </a:buClr>
              <a:buSzPts val="4800"/>
              <a:buFont typeface="Cutive"/>
              <a:buNone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lang="en-US"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image4.png" descr="Icon&#10;&#10;Description automatically generated">
            <a:extLst>
              <a:ext uri="{FF2B5EF4-FFF2-40B4-BE49-F238E27FC236}">
                <a16:creationId xmlns:a16="http://schemas.microsoft.com/office/drawing/2014/main" id="{70E5E16D-F00A-8E41-B674-71005B1C1D76}"/>
              </a:ext>
            </a:extLst>
          </p:cNvPr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054096" y="2852928"/>
            <a:ext cx="1152149" cy="115214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9904035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52976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95702" y="-86789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44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4.9.4 Your Turn!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id="{5B627696-920F-B441-B5C1-01510F09761A}"/>
              </a:ext>
            </a:extLst>
          </p:cNvPr>
          <p:cNvSpPr txBox="1"/>
          <p:nvPr/>
        </p:nvSpPr>
        <p:spPr>
          <a:xfrm>
            <a:off x="73147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1175657" y="1238911"/>
                <a:ext cx="10260281" cy="42537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Elena wants to tile the top of a circular table. The radius of the top is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14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inches (in.). What is the area of the table that will be tiled? Use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22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 𝜋.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Jada painted the face of a circular clock that has a diameter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2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4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(ft). What area of the clock was painted? Use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3.14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for 𝜋.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5657" y="1238911"/>
                <a:ext cx="10260281" cy="4253729"/>
              </a:xfrm>
              <a:prstGeom prst="rect">
                <a:avLst/>
              </a:prstGeom>
              <a:blipFill>
                <a:blip r:embed="rId4"/>
                <a:stretch>
                  <a:fillRect l="-951" t="-11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image4.png" descr="Icon&#10;&#10;Description automatically generated">
            <a:extLst>
              <a:ext uri="{FF2B5EF4-FFF2-40B4-BE49-F238E27FC236}">
                <a16:creationId xmlns:a16="http://schemas.microsoft.com/office/drawing/2014/main" id="{8D7ECE95-D8E0-9845-912E-C057032FEC95}"/>
              </a:ext>
            </a:extLst>
          </p:cNvPr>
          <p:cNvPicPr/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2691" y="154191"/>
            <a:ext cx="753520" cy="753520"/>
          </a:xfrm>
          <a:prstGeom prst="rect">
            <a:avLst/>
          </a:prstGeom>
          <a:ln/>
        </p:spPr>
      </p:pic>
    </p:spTree>
    <p:extLst>
      <p:ext uri="{BB962C8B-B14F-4D97-AF65-F5344CB8AC3E}">
        <p14:creationId xmlns:p14="http://schemas.microsoft.com/office/powerpoint/2010/main" val="379199778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id="{647643F2-AA27-F54D-9B18-929351C91D74}"/>
              </a:ext>
            </a:extLst>
          </p:cNvPr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/>
              <p:nvPr/>
            </p:nvSpPr>
            <p:spPr>
              <a:xfrm>
                <a:off x="914400" y="417101"/>
                <a:ext cx="10515600" cy="135562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 circle has a diameter that measures </a:t>
                </a:r>
                <a:b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s-E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7</m:t>
                    </m:r>
                    <m:f>
                      <m:f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fPr>
                      <m:num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9</m:t>
                        </m:r>
                      </m:num>
                      <m:den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centimeters (cm) in length. What is the area of the circle? Use the 𝜋 on your calculator.</a:t>
                </a:r>
              </a:p>
            </p:txBody>
          </p:sp>
        </mc:Choice>
        <mc:Fallback xmlns=""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54A4596-5923-6342-9500-70E8F7026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17101"/>
                <a:ext cx="10515600" cy="1355628"/>
              </a:xfrm>
              <a:prstGeom prst="rect">
                <a:avLst/>
              </a:prstGeom>
              <a:blipFill>
                <a:blip r:embed="rId4"/>
                <a:stretch>
                  <a:fillRect l="-965" t="-3704" b="-92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98398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4087368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54096" y="2935224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37332" y="184595"/>
            <a:ext cx="8019300" cy="780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4.9.5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281112-0763-C941-9DB7-9B28C4EA4745}"/>
              </a:ext>
            </a:extLst>
          </p:cNvPr>
          <p:cNvSpPr/>
          <p:nvPr/>
        </p:nvSpPr>
        <p:spPr>
          <a:xfrm>
            <a:off x="914400" y="1201421"/>
            <a:ext cx="105156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Clare and Andre are baking and frosting cookies. </a:t>
            </a:r>
          </a:p>
        </p:txBody>
      </p:sp>
      <p:pic>
        <p:nvPicPr>
          <p:cNvPr id="10" name="Picture 9" descr="table full of maple walnut spice cookies">
            <a:extLst>
              <a:ext uri="{FF2B5EF4-FFF2-40B4-BE49-F238E27FC236}">
                <a16:creationId xmlns:a16="http://schemas.microsoft.com/office/drawing/2014/main" id="{67D6E40D-54DF-5442-9092-870312EABD9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8132" t="7825" r="18620" b="31431"/>
          <a:stretch/>
        </p:blipFill>
        <p:spPr bwMode="auto">
          <a:xfrm>
            <a:off x="4082307" y="1880018"/>
            <a:ext cx="4194175" cy="232156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F2BAB83-77B3-FF40-83A3-868ED0E313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6883082"/>
                  </p:ext>
                </p:extLst>
              </p:nvPr>
            </p:nvGraphicFramePr>
            <p:xfrm>
              <a:off x="2519850" y="4521621"/>
              <a:ext cx="7406640" cy="18897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57600">
                      <a:extLst>
                        <a:ext uri="{9D8B030D-6E8A-4147-A177-3AD203B41FA5}">
                          <a16:colId xmlns:a16="http://schemas.microsoft.com/office/drawing/2014/main" val="708609619"/>
                        </a:ext>
                      </a:extLst>
                    </a:gridCol>
                    <a:gridCol w="3749040">
                      <a:extLst>
                        <a:ext uri="{9D8B030D-6E8A-4147-A177-3AD203B41FA5}">
                          <a16:colId xmlns:a16="http://schemas.microsoft.com/office/drawing/2014/main" val="3582433944"/>
                        </a:ext>
                      </a:extLst>
                    </a:gridCol>
                  </a:tblGrid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Clare </a:t>
                          </a: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says: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Andre says: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3806555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“The radius of my cookie is about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entury Gothic" panose="020B0502020202020204" pitchFamily="34" charset="0"/>
                                  <a:cs typeface="Century Gothic" panose="020B0502020202020204" pitchFamily="34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 cm, so the space for frosting is about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entury Gothic" panose="020B0502020202020204" pitchFamily="34" charset="0"/>
                                  <a:cs typeface="Century Gothic" panose="020B0502020202020204" pitchFamily="34" charset="0"/>
                                </a:rPr>
                                <m:t>18.8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 square centimeters (cm</a:t>
                          </a:r>
                          <a:r>
                            <a:rPr lang="en-US" sz="2000" baseline="30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2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).”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“The diameter of my cookie is about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entury Gothic" panose="020B0502020202020204" pitchFamily="34" charset="0"/>
                                  <a:cs typeface="Century Gothic" panose="020B0502020202020204" pitchFamily="34" charset="0"/>
                                </a:rPr>
                                <m:t>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 in., so the space for frosting is about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Century Gothic" panose="020B0502020202020204" pitchFamily="34" charset="0"/>
                                  <a:cs typeface="Century Gothic" panose="020B0502020202020204" pitchFamily="34" charset="0"/>
                                </a:rPr>
                                <m:t>28.3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 square inches (in</a:t>
                          </a:r>
                          <a:r>
                            <a:rPr lang="en-US" sz="2000" baseline="30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2</a:t>
                          </a: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).”</a:t>
                          </a:r>
                          <a:endParaRPr lang="x-none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42976448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9F2BAB83-77B3-FF40-83A3-868ED0E3133D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06883082"/>
                  </p:ext>
                </p:extLst>
              </p:nvPr>
            </p:nvGraphicFramePr>
            <p:xfrm>
              <a:off x="2519850" y="4521621"/>
              <a:ext cx="7406640" cy="18897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657600">
                      <a:extLst>
                        <a:ext uri="{9D8B030D-6E8A-4147-A177-3AD203B41FA5}">
                          <a16:colId xmlns:a16="http://schemas.microsoft.com/office/drawing/2014/main" val="708609619"/>
                        </a:ext>
                      </a:extLst>
                    </a:gridCol>
                    <a:gridCol w="3749040">
                      <a:extLst>
                        <a:ext uri="{9D8B030D-6E8A-4147-A177-3AD203B41FA5}">
                          <a16:colId xmlns:a16="http://schemas.microsoft.com/office/drawing/2014/main" val="3582433944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Clare </a:t>
                          </a: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says: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itchFamily="34" charset="0"/>
                              <a:cs typeface="Century Gothic" panose="020B0502020202020204" pitchFamily="34" charset="0"/>
                            </a:rPr>
                            <a:t>Andre says:</a:t>
                          </a:r>
                          <a:endParaRPr lang="x-none" sz="2000">
                            <a:effectLst/>
                            <a:latin typeface="Verdana" pitchFamily="34" charset="0"/>
                            <a:ea typeface="Verdana" pitchFamily="34" charset="0"/>
                            <a:cs typeface="Cambria" panose="02040503050406030204" pitchFamily="18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13806555"/>
                      </a:ext>
                    </a:extLst>
                  </a:tr>
                  <a:tr h="14020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347" t="-35135" r="-103125" b="-450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6"/>
                          <a:stretch>
                            <a:fillRect l="-97635" t="-35135" r="-338" b="-45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442976448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C9DF6F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171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E281112-0763-C941-9DB7-9B28C4EA4745}"/>
              </a:ext>
            </a:extLst>
          </p:cNvPr>
          <p:cNvSpPr/>
          <p:nvPr/>
        </p:nvSpPr>
        <p:spPr>
          <a:xfrm>
            <a:off x="914400" y="365398"/>
            <a:ext cx="10515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Who, if anyone, correctly approximated how much space there is to spread frosting on their cookie? </a:t>
            </a: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indent="-457200">
              <a:buFont typeface="+mj-lt"/>
              <a:buAutoNum type="alphaLcPeriod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to either Clare or Andre an explanation of why their statement is incorrect.</a:t>
            </a:r>
          </a:p>
        </p:txBody>
      </p:sp>
    </p:spTree>
    <p:extLst>
      <p:ext uri="{BB962C8B-B14F-4D97-AF65-F5344CB8AC3E}">
        <p14:creationId xmlns:p14="http://schemas.microsoft.com/office/powerpoint/2010/main" val="4239858181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3176</TotalTime>
  <Words>1075</Words>
  <Application>Microsoft Office PowerPoint</Application>
  <PresentationFormat>Widescreen</PresentationFormat>
  <Paragraphs>189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2" baseType="lpstr">
      <vt:lpstr>Verdana</vt:lpstr>
      <vt:lpstr>Wingdings</vt:lpstr>
      <vt:lpstr>Century Gothic</vt:lpstr>
      <vt:lpstr>Calibri</vt:lpstr>
      <vt:lpstr>Arial Black</vt:lpstr>
      <vt:lpstr>Cutive</vt:lpstr>
      <vt:lpstr>Cambria Math</vt:lpstr>
      <vt:lpstr>Arial</vt:lpstr>
      <vt:lpstr>Cambria</vt:lpstr>
      <vt:lpstr>1_Office Theme</vt:lpstr>
      <vt:lpstr>7th Grade Math  Unit 4, Lesson 9  Finding the  Area of a Circle  Volume 1, pg. 167  </vt:lpstr>
      <vt:lpstr>Benchmark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Natasha Dease</cp:lastModifiedBy>
  <cp:revision>42</cp:revision>
  <dcterms:created xsi:type="dcterms:W3CDTF">2015-03-17T18:51:18Z</dcterms:created>
  <dcterms:modified xsi:type="dcterms:W3CDTF">2022-06-07T19:32:35Z</dcterms:modified>
</cp:coreProperties>
</file>