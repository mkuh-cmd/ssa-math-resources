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345" r:id="rId4"/>
    <p:sldId id="286" r:id="rId5"/>
    <p:sldId id="261" r:id="rId6"/>
    <p:sldId id="287" r:id="rId7"/>
    <p:sldId id="289" r:id="rId8"/>
    <p:sldId id="290" r:id="rId9"/>
    <p:sldId id="308" r:id="rId10"/>
    <p:sldId id="386" r:id="rId11"/>
    <p:sldId id="388" r:id="rId12"/>
    <p:sldId id="314" r:id="rId13"/>
    <p:sldId id="315" r:id="rId14"/>
    <p:sldId id="316" r:id="rId15"/>
    <p:sldId id="339" r:id="rId16"/>
    <p:sldId id="340" r:id="rId17"/>
    <p:sldId id="341" r:id="rId18"/>
    <p:sldId id="384" r:id="rId19"/>
    <p:sldId id="385" r:id="rId20"/>
    <p:sldId id="389" r:id="rId21"/>
    <p:sldId id="306" r:id="rId22"/>
    <p:sldId id="307" r:id="rId23"/>
  </p:sldIdLst>
  <p:sldSz cx="12192000" cy="6858000"/>
  <p:notesSz cx="6858000" cy="9144000"/>
  <p:embeddedFontLst>
    <p:embeddedFont>
      <p:font typeface="Arial Black" panose="020B0604020202020204" pitchFamily="34" charset="0"/>
      <p:bold r:id="rId25"/>
    </p:embeddedFont>
    <p:embeddedFont>
      <p:font typeface="Calibri" panose="020F0502020204030204" pitchFamily="34" charset="0"/>
      <p:regular r:id="rId26"/>
      <p:bold r:id="rId27"/>
      <p:italic r:id="rId28"/>
      <p:boldItalic r:id="rId29"/>
    </p:embeddedFont>
    <p:embeddedFont>
      <p:font typeface="Cambria" panose="02040503050406030204" pitchFamily="18"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94694"/>
  </p:normalViewPr>
  <p:slideViewPr>
    <p:cSldViewPr snapToGrid="0">
      <p:cViewPr varScale="1">
        <p:scale>
          <a:sx n="117" d="100"/>
          <a:sy n="117" d="100"/>
        </p:scale>
        <p:origin x="696"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17.fntdata"/><Relationship Id="rId6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1304446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050582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441501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3683785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667963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9354881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9354881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3.jpe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tiff"/><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4.tiff"/></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3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5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4,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Exploring Relationships in Circles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148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94381"/>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105156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307592"/>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MA.7.GR.1.3</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Explore the proportional relationship between circumferences and diameters of circles. Apply a formula for the circumference of a circle to solve mathematical and real-world problems.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914400" y="1455367"/>
            <a:ext cx="1051560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274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explain the relationship between the circumference and diameter of a circle. </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8036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4.5.1 Warm-Up: </a:t>
            </a:r>
            <a:r>
              <a:rPr lang="en-US" sz="3600" b="1">
                <a:solidFill>
                  <a:srgbClr val="3F2A67"/>
                </a:solidFill>
                <a:latin typeface="Verdana"/>
                <a:ea typeface="Verdana"/>
                <a:cs typeface="Verdana"/>
                <a:sym typeface="Verdana"/>
              </a:rPr>
              <a:t>Ostrich vs. </a:t>
            </a:r>
            <a:r>
              <a:rPr lang="en-US" sz="3600" b="1" dirty="0">
                <a:solidFill>
                  <a:srgbClr val="3F2A67"/>
                </a:solidFill>
                <a:latin typeface="Verdana"/>
                <a:ea typeface="Verdana"/>
                <a:cs typeface="Verdana"/>
                <a:sym typeface="Verdana"/>
              </a:rPr>
              <a:t>Hummingbird</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914400" y="1493368"/>
                <a:ext cx="10515600" cy="1938992"/>
              </a:xfrm>
              <a:prstGeom prst="rect">
                <a:avLst/>
              </a:prstGeom>
              <a:noFill/>
            </p:spPr>
            <p:txBody>
              <a:bodyPr wrap="square" rtlCol="0">
                <a:spAutoFit/>
              </a:bodyPr>
              <a:lstStyle/>
              <a:p>
                <a:r>
                  <a:rPr lang="en-US" sz="2000" dirty="0">
                    <a:latin typeface="Verdana" pitchFamily="34" charset="0"/>
                    <a:ea typeface="Verdana" pitchFamily="34" charset="0"/>
                    <a:cs typeface="Verdana" pitchFamily="34" charset="0"/>
                  </a:rPr>
                  <a:t>The average weight of a hummingbird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0.15</m:t>
                    </m:r>
                  </m:oMath>
                </a14:m>
                <a:r>
                  <a:rPr lang="en-US" sz="2000" dirty="0">
                    <a:latin typeface="Verdana" panose="020B0604030504040204" pitchFamily="34" charset="0"/>
                    <a:ea typeface="Verdana" panose="020B0604030504040204" pitchFamily="34" charset="0"/>
                    <a:cs typeface="Verdana" panose="020B0604030504040204" pitchFamily="34" charset="0"/>
                  </a:rPr>
                  <a:t> ounces.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average weight of an ostrich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230</m:t>
                    </m:r>
                  </m:oMath>
                </a14:m>
                <a:r>
                  <a:rPr lang="en-US" sz="2000" dirty="0">
                    <a:latin typeface="Verdana" panose="020B0604030504040204" pitchFamily="34" charset="0"/>
                    <a:ea typeface="Verdana" panose="020B0604030504040204" pitchFamily="34" charset="0"/>
                    <a:cs typeface="Verdana" panose="020B0604030504040204" pitchFamily="34" charset="0"/>
                  </a:rPr>
                  <a:t> pounds.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is the ratio of the average weight of an ostrich to the average weight of a hummingbird?</a:t>
                </a:r>
                <a:br>
                  <a:rPr lang="en-US" sz="20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pound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 16</m:t>
                    </m:r>
                  </m:oMath>
                </a14:m>
                <a:r>
                  <a:rPr lang="en-US" sz="2000" dirty="0">
                    <a:latin typeface="Verdana" panose="020B0604030504040204" pitchFamily="34" charset="0"/>
                    <a:ea typeface="Verdana" panose="020B0604030504040204" pitchFamily="34" charset="0"/>
                    <a:cs typeface="Verdana" panose="020B0604030504040204" pitchFamily="34" charset="0"/>
                  </a:rPr>
                  <a:t> ounces.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914400" y="1493368"/>
                <a:ext cx="10515600" cy="1938992"/>
              </a:xfrm>
              <a:prstGeom prst="rect">
                <a:avLst/>
              </a:prstGeom>
              <a:blipFill>
                <a:blip r:embed="rId5"/>
                <a:stretch>
                  <a:fillRect l="-603" t="-1948" b="-4545"/>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8" name="Picture 17" descr="A hummingbird eating a flower&#10;&#10;Description automatically generated with low confidence">
            <a:extLst>
              <a:ext uri="{FF2B5EF4-FFF2-40B4-BE49-F238E27FC236}">
                <a16:creationId xmlns:a16="http://schemas.microsoft.com/office/drawing/2014/main" id="{05F70BCB-F703-5347-B964-9DD403619967}"/>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658745" y="3696615"/>
            <a:ext cx="3571512" cy="2379345"/>
          </a:xfrm>
          <a:prstGeom prst="rect">
            <a:avLst/>
          </a:prstGeom>
          <a:noFill/>
          <a:ln>
            <a:noFill/>
          </a:ln>
        </p:spPr>
      </p:pic>
      <p:pic>
        <p:nvPicPr>
          <p:cNvPr id="23" name="Picture 22" descr="A picture containing grass, bird, outdoor, field&#10;&#10;Description automatically generated">
            <a:extLst>
              <a:ext uri="{FF2B5EF4-FFF2-40B4-BE49-F238E27FC236}">
                <a16:creationId xmlns:a16="http://schemas.microsoft.com/office/drawing/2014/main" id="{12126CE1-177F-8D4A-A5B6-3E12AB3C9073}"/>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6501131" y="3690899"/>
            <a:ext cx="3184525" cy="2385060"/>
          </a:xfrm>
          <a:prstGeom prst="rect">
            <a:avLst/>
          </a:prstGeom>
          <a:noFill/>
          <a:ln>
            <a:noFill/>
          </a:ln>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pic>
        <p:nvPicPr>
          <p:cNvPr id="7" name="image8.png" descr="Icon&#10;&#10;Description automatically generated">
            <a:extLst>
              <a:ext uri="{FF2B5EF4-FFF2-40B4-BE49-F238E27FC236}">
                <a16:creationId xmlns:a16="http://schemas.microsoft.com/office/drawing/2014/main" id="{09E88202-239B-114A-A0D4-F4A7E313F1E5}"/>
              </a:ext>
            </a:extLst>
          </p:cNvPr>
          <p:cNvPicPr/>
          <p:nvPr/>
        </p:nvPicPr>
        <p:blipFill>
          <a:blip r:embed="rId4"/>
          <a:srcRect/>
          <a:stretch>
            <a:fillRect/>
          </a:stretch>
        </p:blipFill>
        <p:spPr>
          <a:xfrm>
            <a:off x="3054096" y="2852928"/>
            <a:ext cx="1148148" cy="1148148"/>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6954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4.5.2 Guided Instruction: Identifying Parts of a Circle</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2155882" y="2817200"/>
            <a:ext cx="78970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 circle with center 𝑅 is shown.</a:t>
            </a:r>
          </a:p>
        </p:txBody>
      </p:sp>
      <p:pic>
        <p:nvPicPr>
          <p:cNvPr id="11" name="image8.png" descr="Icon&#10;&#10;Description automatically generated">
            <a:extLst>
              <a:ext uri="{FF2B5EF4-FFF2-40B4-BE49-F238E27FC236}">
                <a16:creationId xmlns:a16="http://schemas.microsoft.com/office/drawing/2014/main" id="{E3055ADD-BD2D-1440-BA56-2AB255DE4FD0}"/>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7299" cy="747299"/>
          </a:xfrm>
          <a:prstGeom prst="rect">
            <a:avLst/>
          </a:prstGeom>
          <a:ln/>
        </p:spPr>
      </p:pic>
      <p:grpSp>
        <p:nvGrpSpPr>
          <p:cNvPr id="16" name="Group 15">
            <a:extLst>
              <a:ext uri="{FF2B5EF4-FFF2-40B4-BE49-F238E27FC236}">
                <a16:creationId xmlns:a16="http://schemas.microsoft.com/office/drawing/2014/main" id="{91823BE7-A168-804F-8709-D5E11D75A61D}"/>
              </a:ext>
            </a:extLst>
          </p:cNvPr>
          <p:cNvGrpSpPr/>
          <p:nvPr/>
        </p:nvGrpSpPr>
        <p:grpSpPr>
          <a:xfrm>
            <a:off x="2155882" y="1305652"/>
            <a:ext cx="7897095" cy="1265595"/>
            <a:chOff x="2031300" y="3258285"/>
            <a:chExt cx="6930867" cy="1266054"/>
          </a:xfrm>
        </p:grpSpPr>
        <p:grpSp>
          <p:nvGrpSpPr>
            <p:cNvPr id="17" name="Group 16">
              <a:extLst>
                <a:ext uri="{FF2B5EF4-FFF2-40B4-BE49-F238E27FC236}">
                  <a16:creationId xmlns:a16="http://schemas.microsoft.com/office/drawing/2014/main" id="{E0FD34EA-CA7B-9940-B3C5-80727D4EBE55}"/>
                </a:ext>
              </a:extLst>
            </p:cNvPr>
            <p:cNvGrpSpPr/>
            <p:nvPr/>
          </p:nvGrpSpPr>
          <p:grpSpPr>
            <a:xfrm>
              <a:off x="2031300" y="3258285"/>
              <a:ext cx="6930867" cy="1266054"/>
              <a:chOff x="2031300" y="3258285"/>
              <a:chExt cx="6930867" cy="1266054"/>
            </a:xfrm>
          </p:grpSpPr>
          <p:sp>
            <p:nvSpPr>
              <p:cNvPr id="18" name="Rectangle 17">
                <a:extLst>
                  <a:ext uri="{FF2B5EF4-FFF2-40B4-BE49-F238E27FC236}">
                    <a16:creationId xmlns:a16="http://schemas.microsoft.com/office/drawing/2014/main" id="{7D2435C5-8FE6-0A41-B841-D9AF24FAD465}"/>
                  </a:ext>
                </a:extLst>
              </p:cNvPr>
              <p:cNvSpPr/>
              <p:nvPr/>
            </p:nvSpPr>
            <p:spPr>
              <a:xfrm>
                <a:off x="2031300" y="3531139"/>
                <a:ext cx="6629400" cy="497722"/>
              </a:xfrm>
              <a:prstGeom prst="rect">
                <a:avLst/>
              </a:prstGeom>
              <a:noFill/>
              <a:ln>
                <a:noFill/>
              </a:ln>
            </p:spPr>
            <p:txBody>
              <a:bodyPr spcFirstLastPara="1" wrap="square" lIns="91425" tIns="91425" rIns="91425" bIns="91425" anchor="ctr" anchorCtr="0">
                <a:sp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29CC0409-A8DD-F844-A53B-EA05D8B19BB6}"/>
                  </a:ext>
                </a:extLst>
              </p:cNvPr>
              <p:cNvGrpSpPr/>
              <p:nvPr/>
            </p:nvGrpSpPr>
            <p:grpSpPr>
              <a:xfrm>
                <a:off x="2031300" y="3258285"/>
                <a:ext cx="6930867" cy="1266054"/>
                <a:chOff x="0" y="-115315"/>
                <a:chExt cx="6930867" cy="1266054"/>
              </a:xfrm>
            </p:grpSpPr>
            <p:sp>
              <p:nvSpPr>
                <p:cNvPr id="20" name="Rectangle 19">
                  <a:extLst>
                    <a:ext uri="{FF2B5EF4-FFF2-40B4-BE49-F238E27FC236}">
                      <a16:creationId xmlns:a16="http://schemas.microsoft.com/office/drawing/2014/main" id="{58ACF146-B602-4E49-B118-08924EA84803}"/>
                    </a:ext>
                  </a:extLst>
                </p:cNvPr>
                <p:cNvSpPr/>
                <p:nvPr/>
              </p:nvSpPr>
              <p:spPr>
                <a:xfrm>
                  <a:off x="0" y="157539"/>
                  <a:ext cx="6629400" cy="497722"/>
                </a:xfrm>
                <a:prstGeom prst="rect">
                  <a:avLst/>
                </a:prstGeom>
                <a:noFill/>
                <a:ln>
                  <a:noFill/>
                </a:ln>
              </p:spPr>
              <p:txBody>
                <a:bodyPr spcFirstLastPara="1" wrap="square" lIns="91425" tIns="91425" rIns="91425" bIns="91425" anchor="ctr" anchorCtr="0">
                  <a:sp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1" name="Rounded Rectangle 20">
                  <a:extLst>
                    <a:ext uri="{FF2B5EF4-FFF2-40B4-BE49-F238E27FC236}">
                      <a16:creationId xmlns:a16="http://schemas.microsoft.com/office/drawing/2014/main" id="{E98FA2D4-46C8-FC45-ACEC-E12E55E7B0FC}"/>
                    </a:ext>
                  </a:extLst>
                </p:cNvPr>
                <p:cNvSpPr/>
                <p:nvPr/>
              </p:nvSpPr>
              <p:spPr>
                <a:xfrm>
                  <a:off x="0" y="-115315"/>
                  <a:ext cx="6930867" cy="126605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circle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perfectly round two-dimensional figure, where all points on the circle are equidistant from </a:t>
                  </a:r>
                  <a:b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center.</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grpSp>
        </p:grpSp>
      </p:grpSp>
      <p:pic>
        <p:nvPicPr>
          <p:cNvPr id="23" name="Picture 22">
            <a:extLst>
              <a:ext uri="{FF2B5EF4-FFF2-40B4-BE49-F238E27FC236}">
                <a16:creationId xmlns:a16="http://schemas.microsoft.com/office/drawing/2014/main" id="{F82F52A3-9775-A149-A193-EB04053CA095}"/>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25834" t="2849" r="15444" b="17393"/>
          <a:stretch/>
        </p:blipFill>
        <p:spPr bwMode="auto">
          <a:xfrm>
            <a:off x="4279825" y="3364590"/>
            <a:ext cx="3632350" cy="3486458"/>
          </a:xfrm>
          <a:prstGeom prst="rect">
            <a:avLst/>
          </a:prstGeom>
          <a:ln>
            <a:noFill/>
          </a:ln>
          <a:extLst>
            <a:ext uri="{53640926-AAD7-44D8-BBD7-CCE9431645EC}">
              <a14:shadowObscured xmlns:a14="http://schemas.microsoft.com/office/drawing/2010/main"/>
            </a:ext>
          </a:extLst>
        </p:spPr>
      </p:pic>
      <p:pic>
        <p:nvPicPr>
          <p:cNvPr id="24" name="Shape 7" descr="Icon&#10;&#10;Description automatically generated"/>
          <p:cNvPicPr/>
          <p:nvPr/>
        </p:nvPicPr>
        <p:blipFill rotWithShape="1">
          <a:blip r:embed="rId6" cstate="screen">
            <a:alphaModFix/>
            <a:extLst>
              <a:ext uri="{28A0092B-C50C-407E-A947-70E740481C1C}">
                <a14:useLocalDpi xmlns:a14="http://schemas.microsoft.com/office/drawing/2010/main"/>
              </a:ext>
            </a:extLst>
          </a:blip>
          <a:srcRect/>
          <a:stretch/>
        </p:blipFill>
        <p:spPr>
          <a:xfrm>
            <a:off x="2382203" y="1445054"/>
            <a:ext cx="539115" cy="53911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sp>
        <p:nvSpPr>
          <p:cNvPr id="17" name="Rectangle 16">
            <a:extLst>
              <a:ext uri="{FF2B5EF4-FFF2-40B4-BE49-F238E27FC236}">
                <a16:creationId xmlns:a16="http://schemas.microsoft.com/office/drawing/2014/main" id="{E4A5F596-0748-EA42-858C-192E1E43773E}"/>
              </a:ext>
            </a:extLst>
          </p:cNvPr>
          <p:cNvSpPr>
            <a:spLocks noChangeArrowheads="1"/>
          </p:cNvSpPr>
          <p:nvPr/>
        </p:nvSpPr>
        <p:spPr bwMode="auto">
          <a:xfrm>
            <a:off x="914400" y="358916"/>
            <a:ext cx="105156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purple line segment is a diameter of the circle. The pink line segment is the radius of the circle. The center of a circle is the point that is the same distance from all points on the circle.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plural of radius is radii. Circles have radii and diameters, both of which pass through the center of the circle.</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green part of the circle is the circumference.  </a:t>
            </a:r>
          </a:p>
        </p:txBody>
      </p:sp>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E4A5F596-0748-EA42-858C-192E1E43773E}"/>
                  </a:ext>
                </a:extLst>
              </p:cNvPr>
              <p:cNvSpPr>
                <a:spLocks noChangeArrowheads="1"/>
              </p:cNvSpPr>
              <p:nvPr/>
            </p:nvSpPr>
            <p:spPr bwMode="auto">
              <a:xfrm>
                <a:off x="914400" y="548640"/>
                <a:ext cx="7897095" cy="440120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Label each part of circle 𝑅 by writing the name of each part.</a:t>
                </a: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2000" dirty="0">
                    <a:latin typeface="Verdana" panose="020B0604030504040204" pitchFamily="34" charset="0"/>
                    <a:ea typeface="Times New Roman" panose="02020603050405020304" pitchFamily="18" charset="0"/>
                    <a:cs typeface="Times New Roman" panose="02020603050405020304" pitchFamily="18" charset="0"/>
                  </a:rPr>
                  <a:t>The length of a diameter is equal to the length of </a:t>
                </a:r>
                <a14:m>
                  <m:oMath xmlns:m="http://schemas.openxmlformats.org/officeDocument/2006/math">
                    <m:r>
                      <a:rPr lang="en-US" alt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altLang="en-US" sz="2000" dirty="0">
                    <a:latin typeface="Verdana" panose="020B0604030504040204" pitchFamily="34" charset="0"/>
                    <a:ea typeface="Times New Roman" panose="02020603050405020304" pitchFamily="18" charset="0"/>
                    <a:cs typeface="Times New Roman" panose="02020603050405020304" pitchFamily="18" charset="0"/>
                  </a:rPr>
                  <a:t> radii.</a:t>
                </a:r>
              </a:p>
            </p:txBody>
          </p:sp>
        </mc:Choice>
        <mc:Fallback xmlns="">
          <p:sp>
            <p:nvSpPr>
              <p:cNvPr id="17" name="Rectangle 16">
                <a:extLst>
                  <a:ext uri="{FF2B5EF4-FFF2-40B4-BE49-F238E27FC236}">
                    <a16:creationId xmlns:a16="http://schemas.microsoft.com/office/drawing/2014/main" id="{E4A5F596-0748-EA42-858C-192E1E43773E}"/>
                  </a:ext>
                </a:extLst>
              </p:cNvPr>
              <p:cNvSpPr>
                <a:spLocks noRot="1" noChangeAspect="1" noMove="1" noResize="1" noEditPoints="1" noAdjustHandles="1" noChangeArrowheads="1" noChangeShapeType="1" noTextEdit="1"/>
              </p:cNvSpPr>
              <p:nvPr/>
            </p:nvSpPr>
            <p:spPr bwMode="auto">
              <a:xfrm>
                <a:off x="914400" y="548640"/>
                <a:ext cx="7897095" cy="4401205"/>
              </a:xfrm>
              <a:prstGeom prst="rect">
                <a:avLst/>
              </a:prstGeom>
              <a:blipFill>
                <a:blip r:embed="rId4"/>
                <a:stretch>
                  <a:fillRect l="-804" t="-1153" b="-172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6" name="Group 5">
            <a:extLst>
              <a:ext uri="{FF2B5EF4-FFF2-40B4-BE49-F238E27FC236}">
                <a16:creationId xmlns:a16="http://schemas.microsoft.com/office/drawing/2014/main" id="{DFE14428-EA57-5040-8E4B-5BBC221BF142}"/>
              </a:ext>
            </a:extLst>
          </p:cNvPr>
          <p:cNvGrpSpPr/>
          <p:nvPr/>
        </p:nvGrpSpPr>
        <p:grpSpPr>
          <a:xfrm>
            <a:off x="1371600" y="1424784"/>
            <a:ext cx="6766560" cy="995938"/>
            <a:chOff x="2031300" y="3369220"/>
            <a:chExt cx="6766560" cy="817180"/>
          </a:xfrm>
        </p:grpSpPr>
        <p:grpSp>
          <p:nvGrpSpPr>
            <p:cNvPr id="15" name="Group 14">
              <a:extLst>
                <a:ext uri="{FF2B5EF4-FFF2-40B4-BE49-F238E27FC236}">
                  <a16:creationId xmlns:a16="http://schemas.microsoft.com/office/drawing/2014/main" id="{363DA906-2431-B842-8E2D-37AA53E4AB50}"/>
                </a:ext>
              </a:extLst>
            </p:cNvPr>
            <p:cNvGrpSpPr/>
            <p:nvPr/>
          </p:nvGrpSpPr>
          <p:grpSpPr>
            <a:xfrm>
              <a:off x="2031300" y="3369220"/>
              <a:ext cx="6766560" cy="817180"/>
              <a:chOff x="2031300" y="3369220"/>
              <a:chExt cx="6766560" cy="817180"/>
            </a:xfrm>
          </p:grpSpPr>
          <p:sp>
            <p:nvSpPr>
              <p:cNvPr id="16" name="Rectangle 15">
                <a:extLst>
                  <a:ext uri="{FF2B5EF4-FFF2-40B4-BE49-F238E27FC236}">
                    <a16:creationId xmlns:a16="http://schemas.microsoft.com/office/drawing/2014/main" id="{D1483788-862A-F14A-A7BC-E39F40EE03C5}"/>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8" name="Group 17">
                <a:extLst>
                  <a:ext uri="{FF2B5EF4-FFF2-40B4-BE49-F238E27FC236}">
                    <a16:creationId xmlns:a16="http://schemas.microsoft.com/office/drawing/2014/main" id="{657D01D5-84FC-654A-9DE4-67D6221B7E74}"/>
                  </a:ext>
                </a:extLst>
              </p:cNvPr>
              <p:cNvGrpSpPr/>
              <p:nvPr/>
            </p:nvGrpSpPr>
            <p:grpSpPr>
              <a:xfrm>
                <a:off x="2031300" y="3369220"/>
                <a:ext cx="6766560" cy="817180"/>
                <a:chOff x="0" y="-4380"/>
                <a:chExt cx="6766560" cy="817180"/>
              </a:xfrm>
            </p:grpSpPr>
            <p:sp>
              <p:nvSpPr>
                <p:cNvPr id="19" name="Rectangle 18">
                  <a:extLst>
                    <a:ext uri="{FF2B5EF4-FFF2-40B4-BE49-F238E27FC236}">
                      <a16:creationId xmlns:a16="http://schemas.microsoft.com/office/drawing/2014/main" id="{040F3CC1-930C-384C-B0C8-9FB9B3F2B691}"/>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0" name="Rounded Rectangle 19">
                  <a:extLst>
                    <a:ext uri="{FF2B5EF4-FFF2-40B4-BE49-F238E27FC236}">
                      <a16:creationId xmlns:a16="http://schemas.microsoft.com/office/drawing/2014/main" id="{A0495BC0-F980-2244-9261-DDF93D417CA1}"/>
                    </a:ext>
                  </a:extLst>
                </p:cNvPr>
                <p:cNvSpPr/>
                <p:nvPr/>
              </p:nvSpPr>
              <p:spPr>
                <a:xfrm>
                  <a:off x="0" y="-4380"/>
                  <a:ext cx="6766560" cy="759037"/>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radius</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line segment extending from the center of a circle to a point on the circle.</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21" name="Shape 7" descr="Icon&#10;&#10;Description automatically generated">
                  <a:extLst>
                    <a:ext uri="{FF2B5EF4-FFF2-40B4-BE49-F238E27FC236}">
                      <a16:creationId xmlns:a16="http://schemas.microsoft.com/office/drawing/2014/main" id="{8149B483-290C-6A46-96F3-AA17E558E539}"/>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123627"/>
                  <a:ext cx="548640" cy="450166"/>
                </a:xfrm>
                <a:prstGeom prst="rect">
                  <a:avLst/>
                </a:prstGeom>
                <a:noFill/>
                <a:ln>
                  <a:noFill/>
                </a:ln>
                <a:effectLst>
                  <a:outerShdw blurRad="50800" dist="38100" dir="2700000" algn="tl" rotWithShape="0">
                    <a:prstClr val="black">
                      <a:alpha val="40000"/>
                    </a:prstClr>
                  </a:outerShdw>
                </a:effectLst>
              </p:spPr>
            </p:pic>
          </p:grpSp>
        </p:grpSp>
      </p:grpSp>
      <p:grpSp>
        <p:nvGrpSpPr>
          <p:cNvPr id="7" name="Group 6">
            <a:extLst>
              <a:ext uri="{FF2B5EF4-FFF2-40B4-BE49-F238E27FC236}">
                <a16:creationId xmlns:a16="http://schemas.microsoft.com/office/drawing/2014/main" id="{A1882792-0573-3A4A-8A52-FA9DB2FEE4AC}"/>
              </a:ext>
            </a:extLst>
          </p:cNvPr>
          <p:cNvGrpSpPr/>
          <p:nvPr/>
        </p:nvGrpSpPr>
        <p:grpSpPr>
          <a:xfrm>
            <a:off x="1371600" y="2681236"/>
            <a:ext cx="6768940" cy="1316650"/>
            <a:chOff x="2031300" y="3232749"/>
            <a:chExt cx="6768940" cy="1317128"/>
          </a:xfrm>
        </p:grpSpPr>
        <p:grpSp>
          <p:nvGrpSpPr>
            <p:cNvPr id="8" name="Group 7">
              <a:extLst>
                <a:ext uri="{FF2B5EF4-FFF2-40B4-BE49-F238E27FC236}">
                  <a16:creationId xmlns:a16="http://schemas.microsoft.com/office/drawing/2014/main" id="{92554706-9BAD-EC4D-9434-8F04EF232230}"/>
                </a:ext>
              </a:extLst>
            </p:cNvPr>
            <p:cNvGrpSpPr/>
            <p:nvPr/>
          </p:nvGrpSpPr>
          <p:grpSpPr>
            <a:xfrm>
              <a:off x="2031300" y="3232749"/>
              <a:ext cx="6768940" cy="1317128"/>
              <a:chOff x="2031300" y="3232749"/>
              <a:chExt cx="6768940" cy="1317128"/>
            </a:xfrm>
          </p:grpSpPr>
          <p:sp>
            <p:nvSpPr>
              <p:cNvPr id="9" name="Rectangle 8">
                <a:extLst>
                  <a:ext uri="{FF2B5EF4-FFF2-40B4-BE49-F238E27FC236}">
                    <a16:creationId xmlns:a16="http://schemas.microsoft.com/office/drawing/2014/main" id="{DDBF1EF8-5480-1C43-9260-352F91154F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A9478E05-275B-E34D-B29A-01E6DE852EC7}"/>
                  </a:ext>
                </a:extLst>
              </p:cNvPr>
              <p:cNvGrpSpPr/>
              <p:nvPr/>
            </p:nvGrpSpPr>
            <p:grpSpPr>
              <a:xfrm>
                <a:off x="2031300" y="3232749"/>
                <a:ext cx="6768940" cy="1317128"/>
                <a:chOff x="0" y="-140851"/>
                <a:chExt cx="6768940" cy="1317128"/>
              </a:xfrm>
            </p:grpSpPr>
            <p:sp>
              <p:nvSpPr>
                <p:cNvPr id="11" name="Rectangle 10">
                  <a:extLst>
                    <a:ext uri="{FF2B5EF4-FFF2-40B4-BE49-F238E27FC236}">
                      <a16:creationId xmlns:a16="http://schemas.microsoft.com/office/drawing/2014/main" id="{E308D546-56A0-D149-90D0-A3CB04DB5199}"/>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ounded Rectangle 12">
                  <a:extLst>
                    <a:ext uri="{FF2B5EF4-FFF2-40B4-BE49-F238E27FC236}">
                      <a16:creationId xmlns:a16="http://schemas.microsoft.com/office/drawing/2014/main" id="{C90410D4-EDDB-A64B-B36E-1CB07DFDA2F4}"/>
                    </a:ext>
                  </a:extLst>
                </p:cNvPr>
                <p:cNvSpPr/>
                <p:nvPr/>
              </p:nvSpPr>
              <p:spPr>
                <a:xfrm>
                  <a:off x="0" y="-140851"/>
                  <a:ext cx="6768940" cy="1317128"/>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diameter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line segment from any point on the circle passing through the center to another point on the circle.</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4" name="Shape 7" descr="Icon&#10;&#10;Description automatically generated">
                  <a:extLst>
                    <a:ext uri="{FF2B5EF4-FFF2-40B4-BE49-F238E27FC236}">
                      <a16:creationId xmlns:a16="http://schemas.microsoft.com/office/drawing/2014/main" id="{7EFC3797-AA65-0C48-B317-60F6CFE717BD}"/>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67120" y="54253"/>
                  <a:ext cx="539750" cy="539750"/>
                </a:xfrm>
                <a:prstGeom prst="rect">
                  <a:avLst/>
                </a:prstGeom>
                <a:noFill/>
                <a:ln>
                  <a:noFill/>
                </a:ln>
                <a:effectLst>
                  <a:outerShdw blurRad="50800" dist="38100" dir="2700000" algn="tl" rotWithShape="0">
                    <a:prstClr val="black">
                      <a:alpha val="40000"/>
                    </a:prstClr>
                  </a:outerShdw>
                </a:effectLst>
              </p:spPr>
            </p:pic>
          </p:grpSp>
        </p:grpSp>
      </p:grpSp>
      <p:grpSp>
        <p:nvGrpSpPr>
          <p:cNvPr id="22" name="Group 21">
            <a:extLst>
              <a:ext uri="{FF2B5EF4-FFF2-40B4-BE49-F238E27FC236}">
                <a16:creationId xmlns:a16="http://schemas.microsoft.com/office/drawing/2014/main" id="{4AABF090-8663-3241-87AA-F3BF0EA6EDAB}"/>
              </a:ext>
            </a:extLst>
          </p:cNvPr>
          <p:cNvGrpSpPr/>
          <p:nvPr/>
        </p:nvGrpSpPr>
        <p:grpSpPr>
          <a:xfrm>
            <a:off x="1371600" y="5243754"/>
            <a:ext cx="8047528" cy="925076"/>
            <a:chOff x="613172" y="3344449"/>
            <a:chExt cx="8047528" cy="925076"/>
          </a:xfrm>
        </p:grpSpPr>
        <p:grpSp>
          <p:nvGrpSpPr>
            <p:cNvPr id="23" name="Group 22">
              <a:extLst>
                <a:ext uri="{FF2B5EF4-FFF2-40B4-BE49-F238E27FC236}">
                  <a16:creationId xmlns:a16="http://schemas.microsoft.com/office/drawing/2014/main" id="{DE224489-6727-7943-9416-8A7656728C43}"/>
                </a:ext>
              </a:extLst>
            </p:cNvPr>
            <p:cNvGrpSpPr/>
            <p:nvPr/>
          </p:nvGrpSpPr>
          <p:grpSpPr>
            <a:xfrm>
              <a:off x="613172" y="3344449"/>
              <a:ext cx="8047528" cy="925076"/>
              <a:chOff x="613172" y="3344449"/>
              <a:chExt cx="8047528" cy="925076"/>
            </a:xfrm>
          </p:grpSpPr>
          <p:sp>
            <p:nvSpPr>
              <p:cNvPr id="24" name="Rectangle 23">
                <a:extLst>
                  <a:ext uri="{FF2B5EF4-FFF2-40B4-BE49-F238E27FC236}">
                    <a16:creationId xmlns:a16="http://schemas.microsoft.com/office/drawing/2014/main" id="{36168167-0E77-C740-A0F7-B0CEC9A012ED}"/>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25" name="Group 24">
                <a:extLst>
                  <a:ext uri="{FF2B5EF4-FFF2-40B4-BE49-F238E27FC236}">
                    <a16:creationId xmlns:a16="http://schemas.microsoft.com/office/drawing/2014/main" id="{331BFE3C-F3C3-9E4A-8EC6-47CDB8CDF04E}"/>
                  </a:ext>
                </a:extLst>
              </p:cNvPr>
              <p:cNvGrpSpPr/>
              <p:nvPr/>
            </p:nvGrpSpPr>
            <p:grpSpPr>
              <a:xfrm>
                <a:off x="613172" y="3344449"/>
                <a:ext cx="8047528" cy="925076"/>
                <a:chOff x="-1418128" y="-29151"/>
                <a:chExt cx="8047528" cy="925076"/>
              </a:xfrm>
            </p:grpSpPr>
            <p:sp>
              <p:nvSpPr>
                <p:cNvPr id="26" name="Rectangle 25">
                  <a:extLst>
                    <a:ext uri="{FF2B5EF4-FFF2-40B4-BE49-F238E27FC236}">
                      <a16:creationId xmlns:a16="http://schemas.microsoft.com/office/drawing/2014/main" id="{37F8CCC3-466D-DC4C-B510-456C45D7F150}"/>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7" name="Rounded Rectangle 26">
                  <a:extLst>
                    <a:ext uri="{FF2B5EF4-FFF2-40B4-BE49-F238E27FC236}">
                      <a16:creationId xmlns:a16="http://schemas.microsoft.com/office/drawing/2014/main" id="{9FC6A1D5-A971-784D-BB47-F76B570CF5A9}"/>
                    </a:ext>
                  </a:extLst>
                </p:cNvPr>
                <p:cNvSpPr/>
                <p:nvPr/>
              </p:nvSpPr>
              <p:spPr>
                <a:xfrm>
                  <a:off x="-1418128" y="-29151"/>
                  <a:ext cx="6718444" cy="92507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circumference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distance around a circle.</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28" name="Shape 7" descr="Icon&#10;&#10;Description automatically generated">
                  <a:extLst>
                    <a:ext uri="{FF2B5EF4-FFF2-40B4-BE49-F238E27FC236}">
                      <a16:creationId xmlns:a16="http://schemas.microsoft.com/office/drawing/2014/main" id="{1C5513CA-DDDA-F341-8B6E-3551096D8AEF}"/>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251008" y="13334"/>
                  <a:ext cx="539750" cy="539750"/>
                </a:xfrm>
                <a:prstGeom prst="rect">
                  <a:avLst/>
                </a:prstGeom>
                <a:noFill/>
                <a:ln>
                  <a:noFill/>
                </a:ln>
                <a:effectLst>
                  <a:outerShdw blurRad="50800" dist="38100" dir="2700000" algn="tl" rotWithShape="0">
                    <a:prstClr val="black">
                      <a:alpha val="40000"/>
                    </a:prstClr>
                  </a:outerShdw>
                </a:effectLst>
              </p:spPr>
            </p:pic>
          </p:grpSp>
        </p:grpSp>
      </p:grpSp>
    </p:spTree>
    <p:extLst>
      <p:ext uri="{BB962C8B-B14F-4D97-AF65-F5344CB8AC3E}">
        <p14:creationId xmlns:p14="http://schemas.microsoft.com/office/powerpoint/2010/main" val="1508783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149</a:t>
            </a:r>
            <a:endParaRPr i="1" dirty="0">
              <a:latin typeface="Calibri"/>
              <a:ea typeface="Calibri"/>
              <a:cs typeface="Calibri"/>
              <a:sym typeface="Calibri"/>
            </a:endParaRPr>
          </a:p>
        </p:txBody>
      </p:sp>
      <p:sp>
        <p:nvSpPr>
          <p:cNvPr id="17" name="Rectangle 16">
            <a:extLst>
              <a:ext uri="{FF2B5EF4-FFF2-40B4-BE49-F238E27FC236}">
                <a16:creationId xmlns:a16="http://schemas.microsoft.com/office/drawing/2014/main" id="{E4A5F596-0748-EA42-858C-192E1E43773E}"/>
              </a:ext>
            </a:extLst>
          </p:cNvPr>
          <p:cNvSpPr>
            <a:spLocks noChangeArrowheads="1"/>
          </p:cNvSpPr>
          <p:nvPr/>
        </p:nvSpPr>
        <p:spPr bwMode="auto">
          <a:xfrm>
            <a:off x="914400" y="411026"/>
            <a:ext cx="1051560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000" dirty="0">
                <a:latin typeface="Verdana" panose="020B0604030504040204" pitchFamily="34" charset="0"/>
                <a:ea typeface="Times New Roman" panose="02020603050405020304" pitchFamily="18" charset="0"/>
                <a:cs typeface="Times New Roman" panose="02020603050405020304" pitchFamily="18" charset="0"/>
              </a:rPr>
              <a:t>If a circle were made of a piece of string and we cut the string and straightened it out, the circumference would be the length of the string.</a:t>
            </a: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Circle 𝐵 is shown.</a:t>
            </a: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2000" dirty="0">
                <a:latin typeface="Verdana" panose="020B0604030504040204" pitchFamily="34" charset="0"/>
                <a:ea typeface="Times New Roman" panose="02020603050405020304" pitchFamily="18" charset="0"/>
                <a:cs typeface="Times New Roman" panose="02020603050405020304" pitchFamily="18" charset="0"/>
              </a:rPr>
              <a:t>The line segment is approximately the same length as the circumference of circle 𝐵.</a:t>
            </a:r>
          </a:p>
        </p:txBody>
      </p:sp>
      <p:pic>
        <p:nvPicPr>
          <p:cNvPr id="8" name="Picture 7">
            <a:extLst>
              <a:ext uri="{FF2B5EF4-FFF2-40B4-BE49-F238E27FC236}">
                <a16:creationId xmlns:a16="http://schemas.microsoft.com/office/drawing/2014/main" id="{94A9372F-02A5-304F-9D1E-66D01CF764B4}"/>
              </a:ext>
            </a:extLst>
          </p:cNvPr>
          <p:cNvPicPr>
            <a:picLocks noChangeAspect="1"/>
          </p:cNvPicPr>
          <p:nvPr/>
        </p:nvPicPr>
        <p:blipFill>
          <a:blip r:embed="rId4"/>
          <a:stretch>
            <a:fillRect/>
          </a:stretch>
        </p:blipFill>
        <p:spPr>
          <a:xfrm>
            <a:off x="2622550" y="2287154"/>
            <a:ext cx="6946900" cy="3076575"/>
          </a:xfrm>
          <a:prstGeom prst="rect">
            <a:avLst/>
          </a:prstGeom>
        </p:spPr>
      </p:pic>
    </p:spTree>
    <p:extLst>
      <p:ext uri="{BB962C8B-B14F-4D97-AF65-F5344CB8AC3E}">
        <p14:creationId xmlns:p14="http://schemas.microsoft.com/office/powerpoint/2010/main" val="603412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p:pic>
        <p:nvPicPr>
          <p:cNvPr id="8" name="image10.png" descr="Icon&#10;&#10;Description automatically generated">
            <a:extLst>
              <a:ext uri="{FF2B5EF4-FFF2-40B4-BE49-F238E27FC236}">
                <a16:creationId xmlns:a16="http://schemas.microsoft.com/office/drawing/2014/main" id="{F14BD837-EC9F-7E4E-9B35-C754ED4A954B}"/>
              </a:ext>
            </a:extLst>
          </p:cNvPr>
          <p:cNvPicPr/>
          <p:nvPr/>
        </p:nvPicPr>
        <p:blipFill>
          <a:blip r:embed="rId4"/>
          <a:srcRect/>
          <a:stretch>
            <a:fillRect/>
          </a:stretch>
        </p:blipFill>
        <p:spPr>
          <a:xfrm>
            <a:off x="3054096" y="2852920"/>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13983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4.5.3 Exploration: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Finding Circumference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914400" y="1685648"/>
            <a:ext cx="10515600" cy="230832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In the table, record the name of the five different circular objects your group is using.</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Using a ruler, measure and record the diameter of each circle in centimeters (cm). </a:t>
            </a:r>
          </a:p>
        </p:txBody>
      </p:sp>
      <p:pic>
        <p:nvPicPr>
          <p:cNvPr id="27" name="image10.png" descr="Icon&#10;&#10;Description automatically generated">
            <a:extLst>
              <a:ext uri="{FF2B5EF4-FFF2-40B4-BE49-F238E27FC236}">
                <a16:creationId xmlns:a16="http://schemas.microsoft.com/office/drawing/2014/main" id="{A9B93E36-E313-DC40-90CF-16C243DF4DA5}"/>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50164" cy="750164"/>
          </a:xfrm>
          <a:prstGeom prst="rect">
            <a:avLst/>
          </a:prstGeom>
          <a:ln/>
        </p:spPr>
      </p:pic>
    </p:spTree>
    <p:extLst>
      <p:ext uri="{BB962C8B-B14F-4D97-AF65-F5344CB8AC3E}">
        <p14:creationId xmlns:p14="http://schemas.microsoft.com/office/powerpoint/2010/main" val="1674437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417101"/>
            <a:ext cx="10515600" cy="1631216"/>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Using string, wrap the circular object with string using your finger to mark the circumference of the circle. Straighten out the string and use it to measure the length of the circumference in centimeters (cm) with a ruler. Then, record it in the table.</a:t>
            </a:r>
          </a:p>
        </p:txBody>
      </p:sp>
      <p:graphicFrame>
        <p:nvGraphicFramePr>
          <p:cNvPr id="4" name="Table 3">
            <a:extLst>
              <a:ext uri="{FF2B5EF4-FFF2-40B4-BE49-F238E27FC236}">
                <a16:creationId xmlns:a16="http://schemas.microsoft.com/office/drawing/2014/main" id="{8914250D-4C2F-3B4F-ACFE-4D7A4A744830}"/>
              </a:ext>
            </a:extLst>
          </p:cNvPr>
          <p:cNvGraphicFramePr>
            <a:graphicFrameLocks noGrp="1"/>
          </p:cNvGraphicFramePr>
          <p:nvPr>
            <p:extLst>
              <p:ext uri="{D42A27DB-BD31-4B8C-83A1-F6EECF244321}">
                <p14:modId xmlns:p14="http://schemas.microsoft.com/office/powerpoint/2010/main" val="3913887246"/>
              </p:ext>
            </p:extLst>
          </p:nvPr>
        </p:nvGraphicFramePr>
        <p:xfrm>
          <a:off x="2599651" y="2223294"/>
          <a:ext cx="7315875" cy="4114800"/>
        </p:xfrm>
        <a:graphic>
          <a:graphicData uri="http://schemas.openxmlformats.org/drawingml/2006/table">
            <a:tbl>
              <a:tblPr firstRow="1" firstCol="1" bandRow="1"/>
              <a:tblGrid>
                <a:gridCol w="2438625">
                  <a:extLst>
                    <a:ext uri="{9D8B030D-6E8A-4147-A177-3AD203B41FA5}">
                      <a16:colId xmlns:a16="http://schemas.microsoft.com/office/drawing/2014/main" val="2370420344"/>
                    </a:ext>
                  </a:extLst>
                </a:gridCol>
                <a:gridCol w="2438625">
                  <a:extLst>
                    <a:ext uri="{9D8B030D-6E8A-4147-A177-3AD203B41FA5}">
                      <a16:colId xmlns:a16="http://schemas.microsoft.com/office/drawing/2014/main" val="3499100836"/>
                    </a:ext>
                  </a:extLst>
                </a:gridCol>
                <a:gridCol w="2438625">
                  <a:extLst>
                    <a:ext uri="{9D8B030D-6E8A-4147-A177-3AD203B41FA5}">
                      <a16:colId xmlns:a16="http://schemas.microsoft.com/office/drawing/2014/main" val="429311320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Diameter</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Circumference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175186248"/>
                  </a:ext>
                </a:extLst>
              </a:tr>
              <a:tr h="73152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7954167"/>
                  </a:ext>
                </a:extLst>
              </a:tr>
              <a:tr h="73152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3839947"/>
                  </a:ext>
                </a:extLst>
              </a:tr>
              <a:tr h="73152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6004504"/>
                  </a:ext>
                </a:extLst>
              </a:tr>
              <a:tr h="73152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4499770"/>
                  </a:ext>
                </a:extLst>
              </a:tr>
              <a:tr h="73152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9502" marR="595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3496149"/>
                  </a:ext>
                </a:extLst>
              </a:tr>
            </a:tbl>
          </a:graphicData>
        </a:graphic>
      </p:graphicFrame>
    </p:spTree>
    <p:extLst>
      <p:ext uri="{BB962C8B-B14F-4D97-AF65-F5344CB8AC3E}">
        <p14:creationId xmlns:p14="http://schemas.microsoft.com/office/powerpoint/2010/main" val="1251846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298920"/>
            <a:ext cx="10515600" cy="1200329"/>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 coordinate plane is shown with the horizontal axis representing the diameter and the vertical axis representing the circumference. </a:t>
            </a:r>
          </a:p>
        </p:txBody>
      </p:sp>
      <p:pic>
        <p:nvPicPr>
          <p:cNvPr id="16" name="Picture 15">
            <a:extLst>
              <a:ext uri="{FF2B5EF4-FFF2-40B4-BE49-F238E27FC236}">
                <a16:creationId xmlns:a16="http://schemas.microsoft.com/office/drawing/2014/main" id="{9272015B-DBA6-2B47-AECA-273E0F4D5E7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57828" y="1858034"/>
            <a:ext cx="5073922" cy="4093292"/>
          </a:xfrm>
          <a:prstGeom prst="rect">
            <a:avLst/>
          </a:prstGeom>
        </p:spPr>
      </p:pic>
      <p:sp>
        <p:nvSpPr>
          <p:cNvPr id="18" name="Text Box 2">
            <a:extLst>
              <a:ext uri="{FF2B5EF4-FFF2-40B4-BE49-F238E27FC236}">
                <a16:creationId xmlns:a16="http://schemas.microsoft.com/office/drawing/2014/main" id="{493F5239-4B59-F940-B6A6-575B11835825}"/>
              </a:ext>
            </a:extLst>
          </p:cNvPr>
          <p:cNvSpPr txBox="1">
            <a:spLocks noChangeArrowheads="1"/>
          </p:cNvSpPr>
          <p:nvPr/>
        </p:nvSpPr>
        <p:spPr bwMode="auto">
          <a:xfrm>
            <a:off x="5324026" y="6048101"/>
            <a:ext cx="1990725" cy="409575"/>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sz="1800">
                <a:latin typeface="Verdana" panose="020B0604030504040204" pitchFamily="34" charset="0"/>
                <a:ea typeface="Times New Roman" panose="02020603050405020304" pitchFamily="18" charset="0"/>
                <a:cs typeface="Times New Roman" panose="02020603050405020304" pitchFamily="18" charset="0"/>
              </a:rPr>
              <a:t>Diameter (cm)</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9" name="Text Box 2">
            <a:extLst>
              <a:ext uri="{FF2B5EF4-FFF2-40B4-BE49-F238E27FC236}">
                <a16:creationId xmlns:a16="http://schemas.microsoft.com/office/drawing/2014/main" id="{EAA18393-771F-6040-A12A-470548615214}"/>
              </a:ext>
            </a:extLst>
          </p:cNvPr>
          <p:cNvSpPr txBox="1">
            <a:spLocks noChangeArrowheads="1"/>
          </p:cNvSpPr>
          <p:nvPr/>
        </p:nvSpPr>
        <p:spPr bwMode="auto">
          <a:xfrm rot="16200000">
            <a:off x="2027344" y="3580418"/>
            <a:ext cx="2493010" cy="466725"/>
          </a:xfrm>
          <a:prstGeom prst="rect">
            <a:avLst/>
          </a:prstGeom>
          <a:noFill/>
          <a:ln w="9525">
            <a:noFill/>
            <a:miter lim="800000"/>
            <a:headEnd/>
            <a:tailEnd/>
          </a:ln>
        </p:spPr>
        <p:txBody>
          <a:bodyPr rot="0" vert="horz" wrap="square" lIns="91440" tIns="45720" rIns="91440" bIns="45720" anchor="t" anchorCtr="0">
            <a:noAutofit/>
          </a:bodyPr>
          <a:lstStyle/>
          <a:p>
            <a:pPr algn="ctr">
              <a:spcAft>
                <a:spcPts val="1000"/>
              </a:spcAft>
            </a:pPr>
            <a:r>
              <a:rPr lang="en-US" sz="1800">
                <a:latin typeface="Verdana" panose="020B0604030504040204" pitchFamily="34" charset="0"/>
                <a:ea typeface="Times New Roman" panose="02020603050405020304" pitchFamily="18" charset="0"/>
                <a:cs typeface="Times New Roman" panose="02020603050405020304" pitchFamily="18" charset="0"/>
              </a:rPr>
              <a:t>Circumference (cm)</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1553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150</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397919"/>
            <a:ext cx="10515600" cy="2308324"/>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Plot the values for each object on the graph.</a:t>
            </a: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with your partner what you notice about the graph. </a:t>
            </a:r>
          </a:p>
        </p:txBody>
      </p:sp>
    </p:spTree>
    <p:extLst>
      <p:ext uri="{BB962C8B-B14F-4D97-AF65-F5344CB8AC3E}">
        <p14:creationId xmlns:p14="http://schemas.microsoft.com/office/powerpoint/2010/main" val="2042787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411367"/>
            <a:ext cx="10515600" cy="1015663"/>
          </a:xfrm>
          <a:prstGeom prst="rect">
            <a:avLst/>
          </a:prstGeom>
        </p:spPr>
        <p:txBody>
          <a:bodyPr wrap="square">
            <a:spAutoFit/>
          </a:bodyPr>
          <a:lstStyle/>
          <a:p>
            <a:pPr marL="457200" indent="-457200">
              <a:buFont typeface="+mj-lt"/>
              <a:buAutoNum type="arabicPeriod" startAt="6"/>
            </a:pPr>
            <a:r>
              <a:rPr lang="en-US" sz="2000" dirty="0">
                <a:latin typeface="Verdana" panose="020B0604030504040204" pitchFamily="34" charset="0"/>
                <a:ea typeface="Times New Roman" panose="02020603050405020304" pitchFamily="18" charset="0"/>
                <a:cs typeface="Times New Roman" panose="02020603050405020304" pitchFamily="18" charset="0"/>
              </a:rPr>
              <a:t>Using circumference (𝐶) and diameter (𝐷), find the value of the expressions listed in the table for each of the circular objects measured. </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E906A7D-87A1-B644-AB0B-DB356E96ABC1}"/>
                  </a:ext>
                </a:extLst>
              </p:cNvPr>
              <p:cNvGraphicFramePr>
                <a:graphicFrameLocks noGrp="1"/>
              </p:cNvGraphicFramePr>
              <p:nvPr>
                <p:extLst>
                  <p:ext uri="{D42A27DB-BD31-4B8C-83A1-F6EECF244321}">
                    <p14:modId xmlns:p14="http://schemas.microsoft.com/office/powerpoint/2010/main" val="4031131542"/>
                  </p:ext>
                </p:extLst>
              </p:nvPr>
            </p:nvGraphicFramePr>
            <p:xfrm>
              <a:off x="2574102" y="1616075"/>
              <a:ext cx="7293800" cy="4572000"/>
            </p:xfrm>
            <a:graphic>
              <a:graphicData uri="http://schemas.openxmlformats.org/drawingml/2006/table">
                <a:tbl>
                  <a:tblPr firstRow="1" firstCol="1" bandRow="1"/>
                  <a:tblGrid>
                    <a:gridCol w="1458760">
                      <a:extLst>
                        <a:ext uri="{9D8B030D-6E8A-4147-A177-3AD203B41FA5}">
                          <a16:colId xmlns:a16="http://schemas.microsoft.com/office/drawing/2014/main" val="2094333494"/>
                        </a:ext>
                      </a:extLst>
                    </a:gridCol>
                    <a:gridCol w="1458760">
                      <a:extLst>
                        <a:ext uri="{9D8B030D-6E8A-4147-A177-3AD203B41FA5}">
                          <a16:colId xmlns:a16="http://schemas.microsoft.com/office/drawing/2014/main" val="644119831"/>
                        </a:ext>
                      </a:extLst>
                    </a:gridCol>
                    <a:gridCol w="1458760">
                      <a:extLst>
                        <a:ext uri="{9D8B030D-6E8A-4147-A177-3AD203B41FA5}">
                          <a16:colId xmlns:a16="http://schemas.microsoft.com/office/drawing/2014/main" val="1744068239"/>
                        </a:ext>
                      </a:extLst>
                    </a:gridCol>
                    <a:gridCol w="1458760">
                      <a:extLst>
                        <a:ext uri="{9D8B030D-6E8A-4147-A177-3AD203B41FA5}">
                          <a16:colId xmlns:a16="http://schemas.microsoft.com/office/drawing/2014/main" val="3618250938"/>
                        </a:ext>
                      </a:extLst>
                    </a:gridCol>
                    <a:gridCol w="1458760">
                      <a:extLst>
                        <a:ext uri="{9D8B030D-6E8A-4147-A177-3AD203B41FA5}">
                          <a16:colId xmlns:a16="http://schemas.microsoft.com/office/drawing/2014/main" val="80084693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2000">
                            <a:effectLst/>
                            <a:latin typeface="Verdana" pitchFamily="34" charset="0"/>
                            <a:ea typeface="Verdana" pitchFamily="34" charset="0"/>
                            <a:cs typeface="Times New Roman" panose="02020603050405020304" pitchFamily="18" charset="0"/>
                          </a:endParaRPr>
                        </a:p>
                      </a:txBody>
                      <a:tcPr marL="66612" marR="666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𝑪</m:t>
                                </m:r>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𝑫</m:t>
                                </m:r>
                              </m:oMath>
                            </m:oMathPara>
                          </a14:m>
                          <a:endParaRPr lang="x-none" sz="2000">
                            <a:effectLst/>
                            <a:latin typeface="Verdana" pitchFamily="34" charset="0"/>
                            <a:ea typeface="Verdana" pitchFamily="34" charset="0"/>
                            <a:cs typeface="Times New Roman" panose="02020603050405020304" pitchFamily="18" charset="0"/>
                          </a:endParaRPr>
                        </a:p>
                      </a:txBody>
                      <a:tcPr marL="66612" marR="666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𝑪</m:t>
                                </m:r>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𝑫</m:t>
                                </m:r>
                              </m:oMath>
                            </m:oMathPara>
                          </a14:m>
                          <a:endParaRPr lang="x-none" sz="2000">
                            <a:effectLst/>
                            <a:latin typeface="Verdana" pitchFamily="34" charset="0"/>
                            <a:ea typeface="Verdana" pitchFamily="34" charset="0"/>
                            <a:cs typeface="Times New Roman" panose="02020603050405020304" pitchFamily="18" charset="0"/>
                          </a:endParaRPr>
                        </a:p>
                      </a:txBody>
                      <a:tcPr marL="66612" marR="666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𝑪</m:t>
                                </m:r>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𝑫</m:t>
                                </m:r>
                              </m:oMath>
                            </m:oMathPara>
                          </a14:m>
                          <a:endParaRPr lang="x-none" sz="2000">
                            <a:effectLst/>
                            <a:latin typeface="Verdana" pitchFamily="34" charset="0"/>
                            <a:ea typeface="Verdana" pitchFamily="34" charset="0"/>
                            <a:cs typeface="Times New Roman" panose="02020603050405020304" pitchFamily="18" charset="0"/>
                          </a:endParaRPr>
                        </a:p>
                      </a:txBody>
                      <a:tcPr marL="66612" marR="666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𝑪</m:t>
                                </m:r>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𝑫</m:t>
                                </m:r>
                              </m:oMath>
                            </m:oMathPara>
                          </a14:m>
                          <a:endParaRPr lang="x-none" sz="2000">
                            <a:effectLst/>
                            <a:latin typeface="Verdana" pitchFamily="34" charset="0"/>
                            <a:ea typeface="Verdana" pitchFamily="34" charset="0"/>
                            <a:cs typeface="Times New Roman" panose="02020603050405020304" pitchFamily="18" charset="0"/>
                          </a:endParaRPr>
                        </a:p>
                      </a:txBody>
                      <a:tcPr marL="66612" marR="666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072086210"/>
                      </a:ext>
                    </a:extLst>
                  </a:tr>
                  <a:tr h="82296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6644125"/>
                      </a:ext>
                    </a:extLst>
                  </a:tr>
                  <a:tr h="82296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8005241"/>
                      </a:ext>
                    </a:extLst>
                  </a:tr>
                  <a:tr h="82296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7435396"/>
                      </a:ext>
                    </a:extLst>
                  </a:tr>
                  <a:tr h="82296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7538303"/>
                      </a:ext>
                    </a:extLst>
                  </a:tr>
                  <a:tr h="82296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1983383"/>
                      </a:ext>
                    </a:extLst>
                  </a:tr>
                </a:tbl>
              </a:graphicData>
            </a:graphic>
          </p:graphicFrame>
        </mc:Choice>
        <mc:Fallback xmlns="">
          <p:graphicFrame>
            <p:nvGraphicFramePr>
              <p:cNvPr id="5" name="Table 4">
                <a:extLst>
                  <a:ext uri="{FF2B5EF4-FFF2-40B4-BE49-F238E27FC236}">
                    <a16:creationId xmlns:a16="http://schemas.microsoft.com/office/drawing/2014/main" id="{EE906A7D-87A1-B644-AB0B-DB356E96ABC1}"/>
                  </a:ext>
                </a:extLst>
              </p:cNvPr>
              <p:cNvGraphicFramePr>
                <a:graphicFrameLocks noGrp="1"/>
              </p:cNvGraphicFramePr>
              <p:nvPr>
                <p:extLst>
                  <p:ext uri="{D42A27DB-BD31-4B8C-83A1-F6EECF244321}">
                    <p14:modId xmlns:p14="http://schemas.microsoft.com/office/powerpoint/2010/main" val="4031131542"/>
                  </p:ext>
                </p:extLst>
              </p:nvPr>
            </p:nvGraphicFramePr>
            <p:xfrm>
              <a:off x="2574102" y="1616075"/>
              <a:ext cx="7293800" cy="4572000"/>
            </p:xfrm>
            <a:graphic>
              <a:graphicData uri="http://schemas.openxmlformats.org/drawingml/2006/table">
                <a:tbl>
                  <a:tblPr firstRow="1" firstCol="1" bandRow="1"/>
                  <a:tblGrid>
                    <a:gridCol w="1458760">
                      <a:extLst>
                        <a:ext uri="{9D8B030D-6E8A-4147-A177-3AD203B41FA5}">
                          <a16:colId xmlns:a16="http://schemas.microsoft.com/office/drawing/2014/main" val="2094333494"/>
                        </a:ext>
                      </a:extLst>
                    </a:gridCol>
                    <a:gridCol w="1458760">
                      <a:extLst>
                        <a:ext uri="{9D8B030D-6E8A-4147-A177-3AD203B41FA5}">
                          <a16:colId xmlns:a16="http://schemas.microsoft.com/office/drawing/2014/main" val="644119831"/>
                        </a:ext>
                      </a:extLst>
                    </a:gridCol>
                    <a:gridCol w="1458760">
                      <a:extLst>
                        <a:ext uri="{9D8B030D-6E8A-4147-A177-3AD203B41FA5}">
                          <a16:colId xmlns:a16="http://schemas.microsoft.com/office/drawing/2014/main" val="1744068239"/>
                        </a:ext>
                      </a:extLst>
                    </a:gridCol>
                    <a:gridCol w="1458760">
                      <a:extLst>
                        <a:ext uri="{9D8B030D-6E8A-4147-A177-3AD203B41FA5}">
                          <a16:colId xmlns:a16="http://schemas.microsoft.com/office/drawing/2014/main" val="3618250938"/>
                        </a:ext>
                      </a:extLst>
                    </a:gridCol>
                    <a:gridCol w="1458760">
                      <a:extLst>
                        <a:ext uri="{9D8B030D-6E8A-4147-A177-3AD203B41FA5}">
                          <a16:colId xmlns:a16="http://schemas.microsoft.com/office/drawing/2014/main" val="80084693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2000">
                            <a:effectLst/>
                            <a:latin typeface="Verdana" pitchFamily="34" charset="0"/>
                            <a:ea typeface="Verdana" pitchFamily="34" charset="0"/>
                            <a:cs typeface="Times New Roman" panose="02020603050405020304" pitchFamily="18" charset="0"/>
                          </a:endParaRPr>
                        </a:p>
                      </a:txBody>
                      <a:tcPr marL="66612" marR="666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6612" marR="666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0000" t="-2778" r="-301739" b="-905556"/>
                          </a:stretch>
                        </a:blipFill>
                      </a:tcPr>
                    </a:tc>
                    <a:tc>
                      <a:txBody>
                        <a:bodyPr/>
                        <a:lstStyle/>
                        <a:p>
                          <a:endParaRPr lang="en-US"/>
                        </a:p>
                      </a:txBody>
                      <a:tcPr marL="66612" marR="666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8276" t="-2778" r="-199138" b="-905556"/>
                          </a:stretch>
                        </a:blipFill>
                      </a:tcPr>
                    </a:tc>
                    <a:tc>
                      <a:txBody>
                        <a:bodyPr/>
                        <a:lstStyle/>
                        <a:p>
                          <a:endParaRPr lang="en-US"/>
                        </a:p>
                      </a:txBody>
                      <a:tcPr marL="66612" marR="666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870" t="-2778" r="-100870" b="-905556"/>
                          </a:stretch>
                        </a:blipFill>
                      </a:tcPr>
                    </a:tc>
                    <a:tc>
                      <a:txBody>
                        <a:bodyPr/>
                        <a:lstStyle/>
                        <a:p>
                          <a:endParaRPr lang="en-US"/>
                        </a:p>
                      </a:txBody>
                      <a:tcPr marL="66612" marR="666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00870" t="-2778" r="-870" b="-905556"/>
                          </a:stretch>
                        </a:blipFill>
                      </a:tcPr>
                    </a:tc>
                    <a:extLst>
                      <a:ext uri="{0D108BD9-81ED-4DB2-BD59-A6C34878D82A}">
                        <a16:rowId xmlns:a16="http://schemas.microsoft.com/office/drawing/2014/main" val="3072086210"/>
                      </a:ext>
                    </a:extLst>
                  </a:tr>
                  <a:tr h="82296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6644125"/>
                      </a:ext>
                    </a:extLst>
                  </a:tr>
                  <a:tr h="82296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8005241"/>
                      </a:ext>
                    </a:extLst>
                  </a:tr>
                  <a:tr h="82296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7435396"/>
                      </a:ext>
                    </a:extLst>
                  </a:tr>
                  <a:tr h="82296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7538303"/>
                      </a:ext>
                    </a:extLst>
                  </a:tr>
                  <a:tr h="82296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L="66612" marR="6661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1983383"/>
                      </a:ext>
                    </a:extLst>
                  </a:tr>
                </a:tbl>
              </a:graphicData>
            </a:graphic>
          </p:graphicFrame>
        </mc:Fallback>
      </mc:AlternateContent>
    </p:spTree>
    <p:extLst>
      <p:ext uri="{BB962C8B-B14F-4D97-AF65-F5344CB8AC3E}">
        <p14:creationId xmlns:p14="http://schemas.microsoft.com/office/powerpoint/2010/main" val="3252903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411367"/>
            <a:ext cx="10515600" cy="5016758"/>
          </a:xfrm>
          <a:prstGeom prst="rect">
            <a:avLst/>
          </a:prstGeom>
        </p:spPr>
        <p:txBody>
          <a:bodyPr wrap="square">
            <a:spAutoFit/>
          </a:bodyPr>
          <a:lstStyle/>
          <a:p>
            <a:pPr marL="457200" indent="-457200">
              <a:buFont typeface="+mj-lt"/>
              <a:buAutoNum type="arabicPeriod" startAt="7"/>
            </a:pPr>
            <a:r>
              <a:rPr lang="en-US" sz="2000" dirty="0">
                <a:latin typeface="Verdana" panose="020B0604030504040204" pitchFamily="34" charset="0"/>
                <a:ea typeface="Times New Roman" panose="02020603050405020304" pitchFamily="18" charset="0"/>
                <a:cs typeface="Times New Roman" panose="02020603050405020304" pitchFamily="18" charset="0"/>
              </a:rPr>
              <a:t>What do you notice about the table?</a:t>
            </a:r>
          </a:p>
          <a:p>
            <a:pPr marL="457200" indent="-457200">
              <a:buFont typeface="+mj-lt"/>
              <a:buAutoNum type="arabicPeriod" startAt="7"/>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7"/>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7"/>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7"/>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7"/>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lnSpc>
                <a:spcPct val="300000"/>
              </a:lnSpc>
              <a:buFont typeface="+mj-lt"/>
              <a:buAutoNum type="arabicPeriod" startAt="7"/>
            </a:pPr>
            <a:r>
              <a:rPr lang="en-US" sz="2000" dirty="0">
                <a:latin typeface="Verdana" panose="020B0604030504040204" pitchFamily="34" charset="0"/>
                <a:ea typeface="Times New Roman" panose="02020603050405020304" pitchFamily="18" charset="0"/>
                <a:cs typeface="Times New Roman" panose="02020603050405020304" pitchFamily="18" charset="0"/>
              </a:rPr>
              <a:t>Use the information in the table to complete the statement.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The value of	          is approximately equivalent for each circular object. It is approximately _______.</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Rounded Rectangle 6"/>
              <p:cNvSpPr/>
              <p:nvPr/>
            </p:nvSpPr>
            <p:spPr>
              <a:xfrm>
                <a:off x="3189012" y="3023092"/>
                <a:ext cx="1243965" cy="1438632"/>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28600">
                  <a:buFont typeface="Courier New"/>
                  <a:buChar char="o"/>
                </a:pPr>
                <a14:m>
                  <m:oMath xmlns:m="http://schemas.openxmlformats.org/officeDocument/2006/math">
                    <m:r>
                      <a:rPr lang="en-US" sz="2000" i="1">
                        <a:latin typeface="Cambria Math"/>
                        <a:ea typeface="Times New Roman"/>
                        <a:cs typeface="Times New Roman"/>
                      </a:rPr>
                      <m:t>𝐶</m:t>
                    </m:r>
                    <m:r>
                      <a:rPr lang="en-US" sz="2000" i="1">
                        <a:latin typeface="Cambria Math"/>
                        <a:ea typeface="Times New Roman"/>
                        <a:cs typeface="Times New Roman"/>
                      </a:rPr>
                      <m:t>+</m:t>
                    </m:r>
                    <m:r>
                      <a:rPr lang="en-US" sz="2000" i="1">
                        <a:latin typeface="Cambria Math"/>
                        <a:ea typeface="Times New Roman"/>
                        <a:cs typeface="Times New Roman"/>
                      </a:rPr>
                      <m:t>𝐷</m:t>
                    </m:r>
                  </m:oMath>
                </a14:m>
                <a:endParaRPr lang="en-US" sz="2000" dirty="0">
                  <a:latin typeface="Verdana" pitchFamily="34" charset="0"/>
                  <a:ea typeface="Verdana" pitchFamily="34" charset="0"/>
                  <a:cs typeface="Times New Roman"/>
                </a:endParaRPr>
              </a:p>
              <a:p>
                <a:pPr marL="228600" indent="-228600">
                  <a:buFont typeface="Courier New"/>
                  <a:buChar char="o"/>
                </a:pPr>
                <a14:m>
                  <m:oMath xmlns:m="http://schemas.openxmlformats.org/officeDocument/2006/math">
                    <m:r>
                      <a:rPr lang="en-US" sz="2000" i="1">
                        <a:latin typeface="Cambria Math"/>
                        <a:ea typeface="Times New Roman"/>
                        <a:cs typeface="Times New Roman"/>
                      </a:rPr>
                      <m:t>𝐶</m:t>
                    </m:r>
                    <m:r>
                      <a:rPr lang="en-US" sz="2000" i="1">
                        <a:latin typeface="Cambria Math"/>
                        <a:ea typeface="Times New Roman"/>
                        <a:cs typeface="Times New Roman"/>
                      </a:rPr>
                      <m:t>−</m:t>
                    </m:r>
                    <m:r>
                      <a:rPr lang="en-US" sz="2000" i="1">
                        <a:latin typeface="Cambria Math"/>
                        <a:ea typeface="Times New Roman"/>
                        <a:cs typeface="Times New Roman"/>
                      </a:rPr>
                      <m:t>𝐷</m:t>
                    </m:r>
                  </m:oMath>
                </a14:m>
                <a:endParaRPr lang="en-US" sz="2000" dirty="0">
                  <a:latin typeface="Verdana" pitchFamily="34" charset="0"/>
                  <a:ea typeface="Verdana" pitchFamily="34" charset="0"/>
                  <a:cs typeface="Times New Roman"/>
                </a:endParaRPr>
              </a:p>
              <a:p>
                <a:pPr marL="228600" indent="-228600">
                  <a:buFont typeface="Courier New"/>
                  <a:buChar char="o"/>
                </a:pPr>
                <a14:m>
                  <m:oMath xmlns:m="http://schemas.openxmlformats.org/officeDocument/2006/math">
                    <m:r>
                      <a:rPr lang="en-US" sz="2000" i="1">
                        <a:latin typeface="Cambria Math"/>
                        <a:ea typeface="Times New Roman"/>
                        <a:cs typeface="Times New Roman"/>
                      </a:rPr>
                      <m:t>𝐶</m:t>
                    </m:r>
                    <m:r>
                      <a:rPr lang="en-US" sz="2000" i="1">
                        <a:latin typeface="Cambria Math"/>
                        <a:ea typeface="Times New Roman"/>
                        <a:cs typeface="Times New Roman"/>
                      </a:rPr>
                      <m:t>×</m:t>
                    </m:r>
                    <m:r>
                      <a:rPr lang="en-US" sz="2000" i="1">
                        <a:latin typeface="Cambria Math"/>
                        <a:ea typeface="Times New Roman"/>
                        <a:cs typeface="Times New Roman"/>
                      </a:rPr>
                      <m:t>𝐷</m:t>
                    </m:r>
                  </m:oMath>
                </a14:m>
                <a:endParaRPr lang="en-US" sz="2000" dirty="0">
                  <a:latin typeface="Verdana" pitchFamily="34" charset="0"/>
                  <a:ea typeface="Verdana" pitchFamily="34" charset="0"/>
                  <a:cs typeface="Times New Roman"/>
                </a:endParaRPr>
              </a:p>
              <a:p>
                <a:pPr marL="228600" indent="-228600">
                  <a:spcAft>
                    <a:spcPts val="1000"/>
                  </a:spcAft>
                  <a:buFont typeface="Courier New"/>
                  <a:buChar char="o"/>
                </a:pPr>
                <a14:m>
                  <m:oMath xmlns:m="http://schemas.openxmlformats.org/officeDocument/2006/math">
                    <m:r>
                      <a:rPr lang="en-US" sz="2000" i="1">
                        <a:latin typeface="Cambria Math"/>
                        <a:ea typeface="Times New Roman"/>
                        <a:cs typeface="Times New Roman"/>
                      </a:rPr>
                      <m:t>𝐶</m:t>
                    </m:r>
                    <m:r>
                      <a:rPr lang="en-US" sz="2000" i="1">
                        <a:latin typeface="Cambria Math"/>
                        <a:ea typeface="Times New Roman"/>
                        <a:cs typeface="Times New Roman"/>
                      </a:rPr>
                      <m:t>÷</m:t>
                    </m:r>
                    <m:r>
                      <a:rPr lang="en-US" sz="2000" i="1">
                        <a:latin typeface="Cambria Math"/>
                        <a:ea typeface="Times New Roman"/>
                        <a:cs typeface="Times New Roman"/>
                      </a:rPr>
                      <m:t>𝐷</m:t>
                    </m:r>
                  </m:oMath>
                </a14:m>
                <a:endParaRPr lang="en-US" sz="2000" dirty="0">
                  <a:latin typeface="Verdana" pitchFamily="34" charset="0"/>
                  <a:ea typeface="Verdana" pitchFamily="34" charset="0"/>
                  <a:cs typeface="Times New Roman"/>
                </a:endParaRPr>
              </a:p>
            </p:txBody>
          </p:sp>
        </mc:Choice>
        <mc:Fallback xmlns="">
          <p:sp>
            <p:nvSpPr>
              <p:cNvPr id="7" name="Rounded Rectangle 6"/>
              <p:cNvSpPr>
                <a:spLocks noRot="1" noChangeAspect="1" noMove="1" noResize="1" noEditPoints="1" noAdjustHandles="1" noChangeArrowheads="1" noChangeShapeType="1" noTextEdit="1"/>
              </p:cNvSpPr>
              <p:nvPr/>
            </p:nvSpPr>
            <p:spPr>
              <a:xfrm>
                <a:off x="3189012" y="3023092"/>
                <a:ext cx="1243965" cy="1438632"/>
              </a:xfrm>
              <a:prstGeom prst="roundRect">
                <a:avLst/>
              </a:prstGeom>
              <a:blipFill>
                <a:blip r:embed="rId4"/>
                <a:stretch>
                  <a:fillRect b="-3333"/>
                </a:stretch>
              </a:blipFill>
              <a:ln/>
            </p:spPr>
            <p:txBody>
              <a:bodyPr/>
              <a:lstStyle/>
              <a:p>
                <a:r>
                  <a:rPr lang="en-US">
                    <a:noFill/>
                  </a:rPr>
                  <a:t> </a:t>
                </a:r>
              </a:p>
            </p:txBody>
          </p:sp>
        </mc:Fallback>
      </mc:AlternateContent>
    </p:spTree>
    <p:extLst>
      <p:ext uri="{BB962C8B-B14F-4D97-AF65-F5344CB8AC3E}">
        <p14:creationId xmlns:p14="http://schemas.microsoft.com/office/powerpoint/2010/main" val="1939889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411367"/>
            <a:ext cx="10515600" cy="5324535"/>
          </a:xfrm>
          <a:prstGeom prst="rect">
            <a:avLst/>
          </a:prstGeom>
        </p:spPr>
        <p:txBody>
          <a:bodyPr wrap="square">
            <a:spAutoFit/>
          </a:bodyPr>
          <a:lstStyle/>
          <a:p>
            <a:pPr marL="571500" indent="-457200">
              <a:buFont typeface="+mj-lt"/>
              <a:buAutoNum type="arabicPeriod" startAt="9"/>
            </a:pPr>
            <a:r>
              <a:rPr lang="en-US" sz="2000" dirty="0">
                <a:latin typeface="Verdana" panose="020B0604030504040204" pitchFamily="34" charset="0"/>
                <a:ea typeface="Times New Roman" panose="02020603050405020304" pitchFamily="18" charset="0"/>
                <a:cs typeface="Times New Roman" panose="02020603050405020304" pitchFamily="18" charset="0"/>
              </a:rPr>
              <a:t>Use the relationship you observed to predict the circumference of each circle using the given diameter. Record your predictions in the middle column.</a:t>
            </a:r>
          </a:p>
          <a:p>
            <a:pPr marL="457200" indent="-457200">
              <a:buFont typeface="+mj-lt"/>
              <a:buAutoNum type="arabicPeriod" startAt="9"/>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9"/>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9"/>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9"/>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9"/>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9"/>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9"/>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9"/>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9"/>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9"/>
            </a:pPr>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pPr marL="571500" indent="-571500">
              <a:buFont typeface="+mj-lt"/>
              <a:buAutoNum type="arabicPeriod" startAt="10"/>
            </a:pPr>
            <a:r>
              <a:rPr lang="en-US" sz="2000" dirty="0">
                <a:latin typeface="Verdana" panose="020B0604030504040204" pitchFamily="34" charset="0"/>
                <a:ea typeface="Times New Roman" panose="02020603050405020304" pitchFamily="18" charset="0"/>
                <a:cs typeface="Times New Roman" panose="02020603050405020304" pitchFamily="18" charset="0"/>
              </a:rPr>
              <a:t>Use a string and a ruler to measure the circumference of each of the circles using the same units from the given diameter. Then, record the measured circumference of each circle in the table. </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52C00DD-2168-F74F-9448-2DE155D552CA}"/>
                  </a:ext>
                </a:extLst>
              </p:cNvPr>
              <p:cNvGraphicFramePr>
                <a:graphicFrameLocks noGrp="1"/>
              </p:cNvGraphicFramePr>
              <p:nvPr>
                <p:extLst>
                  <p:ext uri="{D42A27DB-BD31-4B8C-83A1-F6EECF244321}">
                    <p14:modId xmlns:p14="http://schemas.microsoft.com/office/powerpoint/2010/main" val="3906183749"/>
                  </p:ext>
                </p:extLst>
              </p:nvPr>
            </p:nvGraphicFramePr>
            <p:xfrm>
              <a:off x="2674620" y="1622696"/>
              <a:ext cx="7406640" cy="2503043"/>
            </p:xfrm>
            <a:graphic>
              <a:graphicData uri="http://schemas.openxmlformats.org/drawingml/2006/table">
                <a:tbl>
                  <a:tblPr firstRow="1" firstCol="1" bandRow="1"/>
                  <a:tblGrid>
                    <a:gridCol w="2743200">
                      <a:extLst>
                        <a:ext uri="{9D8B030D-6E8A-4147-A177-3AD203B41FA5}">
                          <a16:colId xmlns:a16="http://schemas.microsoft.com/office/drawing/2014/main" val="2535269549"/>
                        </a:ext>
                      </a:extLst>
                    </a:gridCol>
                    <a:gridCol w="2377440">
                      <a:extLst>
                        <a:ext uri="{9D8B030D-6E8A-4147-A177-3AD203B41FA5}">
                          <a16:colId xmlns:a16="http://schemas.microsoft.com/office/drawing/2014/main" val="279668969"/>
                        </a:ext>
                      </a:extLst>
                    </a:gridCol>
                    <a:gridCol w="2286000">
                      <a:extLst>
                        <a:ext uri="{9D8B030D-6E8A-4147-A177-3AD203B41FA5}">
                          <a16:colId xmlns:a16="http://schemas.microsoft.com/office/drawing/2014/main" val="370202935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Diameter</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Predicted Circumference</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Measured Circumference</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441494796"/>
                      </a:ext>
                    </a:extLst>
                  </a:tr>
                  <a:tr h="548640">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1</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foot (</a:t>
                          </a:r>
                          <a:r>
                            <a:rPr lang="en-US" sz="2000" dirty="0" err="1">
                              <a:effectLst/>
                              <a:latin typeface="Verdana" panose="020B0604030504040204" pitchFamily="34" charset="0"/>
                              <a:ea typeface="Verdana" panose="020B0604030504040204" pitchFamily="34" charset="0"/>
                              <a:cs typeface="Verdana" panose="020B0604030504040204" pitchFamily="34" charset="0"/>
                            </a:rPr>
                            <a:t>ft</a:t>
                          </a:r>
                          <a:r>
                            <a:rPr lang="en-US" sz="2000" dirty="0">
                              <a:effectLst/>
                              <a:latin typeface="Verdana" panose="020B0604030504040204" pitchFamily="34" charset="0"/>
                              <a:ea typeface="Verdana" panose="020B0604030504040204" pitchFamily="34" charset="0"/>
                              <a:cs typeface="Verdana" panose="020B0604030504040204" pitchFamily="34" charset="0"/>
                            </a:rPr>
                            <a:t>)</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930216"/>
                      </a:ext>
                    </a:extLst>
                  </a:tr>
                  <a:tr h="548640">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6.25</m:t>
                              </m:r>
                            </m:oMath>
                          </a14:m>
                          <a:r>
                            <a:rPr lang="en-US" sz="2000">
                              <a:effectLst/>
                              <a:latin typeface="Verdana" panose="020B0604030504040204" pitchFamily="34" charset="0"/>
                              <a:ea typeface="Verdana" panose="020B0604030504040204" pitchFamily="34" charset="0"/>
                              <a:cs typeface="Verdana" panose="020B0604030504040204" pitchFamily="34" charset="0"/>
                            </a:rPr>
                            <a:t> inches (in.)</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563708"/>
                      </a:ext>
                    </a:extLst>
                  </a:tr>
                  <a:tr h="548640">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8</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centimeters (cm)</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4847749"/>
                      </a:ext>
                    </a:extLst>
                  </a:tr>
                </a:tbl>
              </a:graphicData>
            </a:graphic>
          </p:graphicFrame>
        </mc:Choice>
        <mc:Fallback xmlns="">
          <p:graphicFrame>
            <p:nvGraphicFramePr>
              <p:cNvPr id="4" name="Table 3">
                <a:extLst>
                  <a:ext uri="{FF2B5EF4-FFF2-40B4-BE49-F238E27FC236}">
                    <a16:creationId xmlns:a16="http://schemas.microsoft.com/office/drawing/2014/main" id="{C52C00DD-2168-F74F-9448-2DE155D552CA}"/>
                  </a:ext>
                </a:extLst>
              </p:cNvPr>
              <p:cNvGraphicFramePr>
                <a:graphicFrameLocks noGrp="1"/>
              </p:cNvGraphicFramePr>
              <p:nvPr>
                <p:extLst>
                  <p:ext uri="{D42A27DB-BD31-4B8C-83A1-F6EECF244321}">
                    <p14:modId xmlns:p14="http://schemas.microsoft.com/office/powerpoint/2010/main" val="3906183749"/>
                  </p:ext>
                </p:extLst>
              </p:nvPr>
            </p:nvGraphicFramePr>
            <p:xfrm>
              <a:off x="2674620" y="1622696"/>
              <a:ext cx="7406640" cy="2503043"/>
            </p:xfrm>
            <a:graphic>
              <a:graphicData uri="http://schemas.openxmlformats.org/drawingml/2006/table">
                <a:tbl>
                  <a:tblPr firstRow="1" firstCol="1" bandRow="1"/>
                  <a:tblGrid>
                    <a:gridCol w="2743200">
                      <a:extLst>
                        <a:ext uri="{9D8B030D-6E8A-4147-A177-3AD203B41FA5}">
                          <a16:colId xmlns:a16="http://schemas.microsoft.com/office/drawing/2014/main" val="2535269549"/>
                        </a:ext>
                      </a:extLst>
                    </a:gridCol>
                    <a:gridCol w="2377440">
                      <a:extLst>
                        <a:ext uri="{9D8B030D-6E8A-4147-A177-3AD203B41FA5}">
                          <a16:colId xmlns:a16="http://schemas.microsoft.com/office/drawing/2014/main" val="279668969"/>
                        </a:ext>
                      </a:extLst>
                    </a:gridCol>
                    <a:gridCol w="2286000">
                      <a:extLst>
                        <a:ext uri="{9D8B030D-6E8A-4147-A177-3AD203B41FA5}">
                          <a16:colId xmlns:a16="http://schemas.microsoft.com/office/drawing/2014/main" val="3702029352"/>
                        </a:ext>
                      </a:extLst>
                    </a:gridCol>
                  </a:tblGrid>
                  <a:tr h="7924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Diameter</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Predicted Circumference</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Measured Circumference</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441494796"/>
                      </a:ext>
                    </a:extLst>
                  </a:tr>
                  <a:tr h="548640">
                    <a:tc>
                      <a:txBody>
                        <a:bodyPr/>
                        <a:lstStyle/>
                        <a:p>
                          <a:endParaRPr lang="en-US"/>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3" t="-146512" r="-170833" b="-21627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930216"/>
                      </a:ext>
                    </a:extLst>
                  </a:tr>
                  <a:tr h="548640">
                    <a:tc>
                      <a:txBody>
                        <a:bodyPr/>
                        <a:lstStyle/>
                        <a:p>
                          <a:endParaRPr lang="en-US"/>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3" t="-246512" r="-170833" b="-11627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563708"/>
                      </a:ext>
                    </a:extLst>
                  </a:tr>
                  <a:tr h="613283">
                    <a:tc>
                      <a:txBody>
                        <a:bodyPr/>
                        <a:lstStyle/>
                        <a:p>
                          <a:endParaRPr lang="en-US"/>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3" t="-304082" r="-170833" b="-2041"/>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4847749"/>
                      </a:ext>
                    </a:extLst>
                  </a:tr>
                </a:tbl>
              </a:graphicData>
            </a:graphic>
          </p:graphicFrame>
        </mc:Fallback>
      </mc:AlternateContent>
    </p:spTree>
    <p:extLst>
      <p:ext uri="{BB962C8B-B14F-4D97-AF65-F5344CB8AC3E}">
        <p14:creationId xmlns:p14="http://schemas.microsoft.com/office/powerpoint/2010/main" val="2711267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411366"/>
            <a:ext cx="10515600" cy="400110"/>
          </a:xfrm>
          <a:prstGeom prst="rect">
            <a:avLst/>
          </a:prstGeom>
        </p:spPr>
        <p:txBody>
          <a:bodyPr wrap="square">
            <a:spAutoFit/>
          </a:bodyPr>
          <a:lstStyle/>
          <a:p>
            <a:pPr marL="571500" indent="-571500">
              <a:buFont typeface="+mj-lt"/>
              <a:buAutoNum type="arabicPeriod" startAt="11"/>
            </a:pPr>
            <a:r>
              <a:rPr lang="en-US" sz="2000" dirty="0">
                <a:latin typeface="Verdana" panose="020B0604030504040204" pitchFamily="34" charset="0"/>
                <a:ea typeface="Times New Roman" panose="02020603050405020304" pitchFamily="18" charset="0"/>
                <a:cs typeface="Times New Roman" panose="02020603050405020304" pitchFamily="18" charset="0"/>
              </a:rPr>
              <a:t>Describe the accuracy of your predictions.</a:t>
            </a:r>
          </a:p>
        </p:txBody>
      </p:sp>
    </p:spTree>
    <p:extLst>
      <p:ext uri="{BB962C8B-B14F-4D97-AF65-F5344CB8AC3E}">
        <p14:creationId xmlns:p14="http://schemas.microsoft.com/office/powerpoint/2010/main" val="158577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5224"/>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124279"/>
            <a:ext cx="801928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4.5.4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914400" y="1346521"/>
            <a:ext cx="10515600" cy="1323439"/>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Write an explanation to a classmate who might have missed today’s lesson, in your own words, about the relationship between the circumference of a circle and its diameter.</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3149</TotalTime>
  <Words>1044</Words>
  <Application>Microsoft Macintosh PowerPoint</Application>
  <PresentationFormat>Widescreen</PresentationFormat>
  <Paragraphs>217</Paragraphs>
  <Slides>22</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Verdana</vt:lpstr>
      <vt:lpstr>Courier New</vt:lpstr>
      <vt:lpstr>Century Gothic</vt:lpstr>
      <vt:lpstr>Cambria</vt:lpstr>
      <vt:lpstr>Calibri</vt:lpstr>
      <vt:lpstr>Arial Black</vt:lpstr>
      <vt:lpstr>Cambria Math</vt:lpstr>
      <vt:lpstr>Arial</vt:lpstr>
      <vt:lpstr>Wingdings</vt:lpstr>
      <vt:lpstr>1_Office Theme</vt:lpstr>
      <vt:lpstr>7th Grade Math  Unit 4, Lesson 5  Exploring Relationships in Circles  Volume 1, pg. 148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Akarshna Iyer</cp:lastModifiedBy>
  <cp:revision>39</cp:revision>
  <dcterms:created xsi:type="dcterms:W3CDTF">2015-03-17T18:51:18Z</dcterms:created>
  <dcterms:modified xsi:type="dcterms:W3CDTF">2022-07-11T05:07:31Z</dcterms:modified>
</cp:coreProperties>
</file>