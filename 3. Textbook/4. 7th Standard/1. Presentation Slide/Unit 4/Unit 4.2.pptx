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fntdata" ContentType="application/x-fontdata"/>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345" r:id="rId4"/>
    <p:sldId id="286" r:id="rId5"/>
    <p:sldId id="261" r:id="rId6"/>
    <p:sldId id="287" r:id="rId7"/>
    <p:sldId id="289" r:id="rId8"/>
    <p:sldId id="290" r:id="rId9"/>
    <p:sldId id="308" r:id="rId10"/>
    <p:sldId id="386" r:id="rId11"/>
    <p:sldId id="314" r:id="rId12"/>
    <p:sldId id="315" r:id="rId13"/>
    <p:sldId id="316" r:id="rId14"/>
    <p:sldId id="339" r:id="rId15"/>
    <p:sldId id="340" r:id="rId16"/>
    <p:sldId id="341" r:id="rId17"/>
    <p:sldId id="306" r:id="rId18"/>
    <p:sldId id="307" r:id="rId19"/>
    <p:sldId id="387" r:id="rId20"/>
  </p:sldIdLst>
  <p:sldSz cx="12192000" cy="6858000"/>
  <p:notesSz cx="6858000" cy="9144000"/>
  <p:embeddedFontLst>
    <p:embeddedFont>
      <p:font typeface="Arial Black" panose="020B0604020202020204" pitchFamily="34" charset="0"/>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74"/>
    <p:restoredTop sz="94694"/>
  </p:normalViewPr>
  <p:slideViewPr>
    <p:cSldViewPr snapToGrid="0">
      <p:cViewPr varScale="1">
        <p:scale>
          <a:sx n="121" d="100"/>
          <a:sy n="121" d="100"/>
        </p:scale>
        <p:origin x="23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66"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60" Type="http://schemas.openxmlformats.org/officeDocument/2006/relationships/presProps" Target="presProps.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64"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customschemas.google.com/relationships/presentationmetadata" Target="metadata"/><Relationship Id="rId20" Type="http://schemas.openxmlformats.org/officeDocument/2006/relationships/slide" Target="slides/slide19.xml"/><Relationship Id="rId6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495824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9105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42946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40.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3.jpe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png"/><Relationship Id="rId7"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the Area of Trapezoids, Parallelograms, and Rhombi</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981200" y="136525"/>
            <a:ext cx="7771607"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13164" y="1307592"/>
            <a:ext cx="879763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MA.7.GR.1.1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formulas to find the areas of trapezoids, parallelograms, and rhombi.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1030293" y="418867"/>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2006930" y="129667"/>
            <a:ext cx="85126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377539" y="1455367"/>
            <a:ext cx="8539382"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2006930" y="36234"/>
            <a:ext cx="835392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939175"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17171" y="1600200"/>
            <a:ext cx="88936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8163" indent="-53816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find the area of trapezoids, parallelograms, and rhombi.</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0887"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726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95055" y="518099"/>
            <a:ext cx="8170519"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4.2.1 Warm-Up: A Day in the Life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1113832" y="38100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9037"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520042" y="1493369"/>
            <a:ext cx="8618686"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Betsy McIver, a mechanical engineer, works in the Walt Disney Imagineering area and designs systems for the interactive attractions at the theme park. She mentions that her job can include creative left-brain thinking, as well as technical right-brain thinking. She says that to be successful at her job, it is important to understand math, design, and theatre. She also mentions that many disciplines, such as designers and architects, all work together to make everything possible in the entertainment engineering industry.</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Describe a ride you saw that looked exciting and entertaining.</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pic>
        <p:nvPicPr>
          <p:cNvPr id="7" name="image9.png" descr="Icon&#10;&#10;Description automatically generated">
            <a:extLst>
              <a:ext uri="{FF2B5EF4-FFF2-40B4-BE49-F238E27FC236}">
                <a16:creationId xmlns:a16="http://schemas.microsoft.com/office/drawing/2014/main" id="{20ABC5D4-E22A-164C-ABBE-1A95D5193A23}"/>
              </a:ext>
            </a:extLst>
          </p:cNvPr>
          <p:cNvPicPr/>
          <p:nvPr/>
        </p:nvPicPr>
        <p:blipFill>
          <a:blip r:embed="rId4"/>
          <a:srcRect/>
          <a:stretch>
            <a:fillRect/>
          </a:stretch>
        </p:blipFill>
        <p:spPr>
          <a:xfrm>
            <a:off x="4937850"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43"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1493"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948889" y="235577"/>
            <a:ext cx="90416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4.2.2 Guided Practice: </a:t>
            </a:r>
            <a:r>
              <a:rPr lang="en-US" sz="3200" b="1">
                <a:solidFill>
                  <a:srgbClr val="54B5D1"/>
                </a:solidFill>
                <a:latin typeface="Verdana"/>
                <a:ea typeface="Verdana"/>
                <a:cs typeface="Verdana"/>
                <a:sym typeface="Verdana"/>
              </a:rPr>
              <a:t>Finding the Area </a:t>
            </a:r>
            <a:r>
              <a:rPr lang="en-US" sz="3200" b="1" dirty="0">
                <a:solidFill>
                  <a:srgbClr val="54B5D1"/>
                </a:solidFill>
                <a:latin typeface="Verdana"/>
                <a:ea typeface="Verdana"/>
                <a:cs typeface="Verdana"/>
                <a:sym typeface="Verdana"/>
              </a:rPr>
              <a:t>of Parallelograms, Trapezoids, and Rhombi</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43267"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531918" y="1761444"/>
            <a:ext cx="85126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 to match each type of quadrilateral with the formula to find its area.</a:t>
            </a:r>
          </a:p>
        </p:txBody>
      </p:sp>
      <p:pic>
        <p:nvPicPr>
          <p:cNvPr id="11" name="image9.png" descr="Icon&#10;&#10;Description automatically generated">
            <a:extLst>
              <a:ext uri="{FF2B5EF4-FFF2-40B4-BE49-F238E27FC236}">
                <a16:creationId xmlns:a16="http://schemas.microsoft.com/office/drawing/2014/main" id="{BDFAF4E3-D025-9D4B-A340-8550EA427F4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201459" y="365360"/>
            <a:ext cx="747430" cy="747430"/>
          </a:xfrm>
          <a:prstGeom prst="rect">
            <a:avLst/>
          </a:prstGeom>
          <a:ln/>
        </p:spPr>
      </p:pic>
      <mc:AlternateContent xmlns:mc="http://schemas.openxmlformats.org/markup-compatibility/2006" xmlns:a14="http://schemas.microsoft.com/office/drawing/2010/main">
        <mc:Choice Requires="a14">
          <p:sp>
            <p:nvSpPr>
              <p:cNvPr id="16" name="Rounded Rectangle 15">
                <a:extLst>
                  <a:ext uri="{FF2B5EF4-FFF2-40B4-BE49-F238E27FC236}">
                    <a16:creationId xmlns:a16="http://schemas.microsoft.com/office/drawing/2014/main" id="{8B3F3F64-8AC3-E540-8A97-F3E41519DC28}"/>
                  </a:ext>
                </a:extLst>
              </p:cNvPr>
              <p:cNvSpPr/>
              <p:nvPr/>
            </p:nvSpPr>
            <p:spPr>
              <a:xfrm>
                <a:off x="2188233" y="2851100"/>
                <a:ext cx="7200000" cy="703161"/>
              </a:xfrm>
              <a:prstGeom prst="roundRect">
                <a:avLst>
                  <a:gd name="adj" fmla="val 16667"/>
                </a:avLst>
              </a:prstGeom>
              <a:noFill/>
              <a:ln w="25400" cap="flat" cmpd="sng">
                <a:solidFill>
                  <a:srgbClr val="000000"/>
                </a:solidFill>
                <a:prstDash val="solid"/>
                <a:round/>
                <a:headEnd type="none" w="sm" len="sm"/>
                <a:tailEnd type="none" w="sm" len="sm"/>
              </a:ln>
            </p:spPr>
            <p:txBody>
              <a:bodyPr spcFirstLastPara="1" wrap="square" lIns="91425" tIns="72000" rIns="91425" bIns="0" anchor="b" anchorCtr="0">
                <a:spAutoFit/>
              </a:bodyPr>
              <a:lstStyle/>
              <a:p>
                <a:pPr>
                  <a:spcAft>
                    <a:spcPts val="1000"/>
                  </a:spcAft>
                </a:pPr>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𝐴</m:t>
                    </m:r>
                    <m:r>
                      <a:rPr lang="en-US" sz="2000" i="1">
                        <a:latin typeface="Cambria Math" panose="02040503050406030204" pitchFamily="18" charset="0"/>
                        <a:ea typeface="Verdana" panose="020B0604030504040204" pitchFamily="34" charset="0"/>
                        <a:cs typeface="Verdana" panose="020B0604030504040204" pitchFamily="34" charset="0"/>
                      </a:rPr>
                      <m:t>=</m:t>
                    </m:r>
                    <m:f>
                      <m:fPr>
                        <m:ctrlPr>
                          <a:rPr lang="x-none"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r>
                      <a:rPr lang="en-US" sz="2000" i="1">
                        <a:latin typeface="Cambria Math" panose="02040503050406030204" pitchFamily="18" charset="0"/>
                        <a:ea typeface="Verdana" panose="020B0604030504040204" pitchFamily="34" charset="0"/>
                        <a:cs typeface="Verdana" panose="020B0604030504040204" pitchFamily="34" charset="0"/>
                      </a:rPr>
                      <m:t>h</m:t>
                    </m:r>
                    <m:d>
                      <m:dPr>
                        <m:ctrlPr>
                          <a:rPr lang="x-none" sz="2000" i="1">
                            <a:latin typeface="Cambria Math" panose="02040503050406030204" pitchFamily="18" charset="0"/>
                            <a:ea typeface="Verdana" panose="020B0604030504040204" pitchFamily="34" charset="0"/>
                            <a:cs typeface="Verdana" panose="020B0604030504040204" pitchFamily="34" charset="0"/>
                          </a:rPr>
                        </m:ctrlPr>
                      </m:dPr>
                      <m:e>
                        <m:sSub>
                          <m:sSubPr>
                            <m:ctrlPr>
                              <a:rPr lang="x-none"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r>
                          <a:rPr lang="en-US" sz="2000" i="1">
                            <a:latin typeface="Cambria Math" panose="02040503050406030204" pitchFamily="18" charset="0"/>
                            <a:ea typeface="Verdana" panose="020B0604030504040204" pitchFamily="34" charset="0"/>
                            <a:cs typeface="Verdana" panose="020B0604030504040204" pitchFamily="34" charset="0"/>
                          </a:rPr>
                          <m:t>+</m:t>
                        </m:r>
                        <m:sSub>
                          <m:sSubPr>
                            <m:ctrlPr>
                              <a:rPr lang="x-none"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𝑏</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e>
                    </m:d>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𝐴</m:t>
                    </m:r>
                    <m:r>
                      <a:rPr lang="en-US" sz="2000" i="1">
                        <a:latin typeface="Cambria Math" panose="02040503050406030204" pitchFamily="18" charset="0"/>
                        <a:ea typeface="Verdana" panose="020B0604030504040204" pitchFamily="34" charset="0"/>
                        <a:cs typeface="Verdana" panose="020B0604030504040204" pitchFamily="34" charset="0"/>
                      </a:rPr>
                      <m:t>=</m:t>
                    </m:r>
                    <m:f>
                      <m:fPr>
                        <m:ctrlPr>
                          <a:rPr lang="x-none" sz="2000" i="1">
                            <a:latin typeface="Cambria Math" panose="02040503050406030204" pitchFamily="18" charset="0"/>
                            <a:ea typeface="Verdana" panose="020B0604030504040204" pitchFamily="34" charset="0"/>
                            <a:cs typeface="Verdana" panose="020B0604030504040204" pitchFamily="34" charset="0"/>
                          </a:rPr>
                        </m:ctrlPr>
                      </m:fPr>
                      <m:num>
                        <m:r>
                          <a:rPr lang="en-US" sz="2000" i="1">
                            <a:latin typeface="Cambria Math" panose="02040503050406030204" pitchFamily="18" charset="0"/>
                            <a:ea typeface="Verdana" panose="020B0604030504040204" pitchFamily="34" charset="0"/>
                            <a:cs typeface="Verdana" panose="020B0604030504040204" pitchFamily="34" charset="0"/>
                          </a:rPr>
                          <m:t>1</m:t>
                        </m:r>
                      </m:num>
                      <m:den>
                        <m:r>
                          <a:rPr lang="en-US" sz="2000" i="1">
                            <a:latin typeface="Cambria Math" panose="02040503050406030204" pitchFamily="18" charset="0"/>
                            <a:ea typeface="Verdana" panose="020B0604030504040204" pitchFamily="34" charset="0"/>
                            <a:cs typeface="Verdana" panose="020B0604030504040204" pitchFamily="34" charset="0"/>
                          </a:rPr>
                          <m:t>2</m:t>
                        </m:r>
                      </m:den>
                    </m:f>
                    <m:sSub>
                      <m:sSubPr>
                        <m:ctrlPr>
                          <a:rPr lang="x-none"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1</m:t>
                        </m:r>
                      </m:sub>
                    </m:sSub>
                    <m:sSub>
                      <m:sSubPr>
                        <m:ctrlPr>
                          <a:rPr lang="x-none" sz="2000" i="1">
                            <a:latin typeface="Cambria Math" panose="02040503050406030204" pitchFamily="18" charset="0"/>
                            <a:ea typeface="Verdana" panose="020B0604030504040204" pitchFamily="34" charset="0"/>
                            <a:cs typeface="Verdana" panose="020B0604030504040204" pitchFamily="34" charset="0"/>
                          </a:rPr>
                        </m:ctrlPr>
                      </m:sSubPr>
                      <m:e>
                        <m:r>
                          <a:rPr lang="en-US" sz="2000" i="1">
                            <a:latin typeface="Cambria Math" panose="02040503050406030204" pitchFamily="18" charset="0"/>
                            <a:ea typeface="Verdana" panose="020B0604030504040204" pitchFamily="34" charset="0"/>
                            <a:cs typeface="Verdana" panose="020B0604030504040204" pitchFamily="34" charset="0"/>
                          </a:rPr>
                          <m:t>𝑑</m:t>
                        </m:r>
                      </m:e>
                      <m:sub>
                        <m:r>
                          <a:rPr lang="en-US" sz="2000" i="1">
                            <a:latin typeface="Cambria Math" panose="02040503050406030204" pitchFamily="18" charset="0"/>
                            <a:ea typeface="Verdana" panose="020B0604030504040204" pitchFamily="34" charset="0"/>
                            <a:cs typeface="Verdana" panose="020B0604030504040204" pitchFamily="34" charset="0"/>
                          </a:rPr>
                          <m:t>2</m:t>
                        </m:r>
                      </m:sub>
                    </m:sSub>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𝐴</m:t>
                    </m:r>
                    <m:r>
                      <a:rPr lang="en-US" sz="2000" i="1">
                        <a:latin typeface="Cambria Math" panose="02040503050406030204" pitchFamily="18" charset="0"/>
                        <a:ea typeface="Verdana" panose="020B0604030504040204" pitchFamily="34" charset="0"/>
                        <a:cs typeface="Verdana" panose="020B0604030504040204" pitchFamily="34" charset="0"/>
                      </a:rPr>
                      <m:t>=</m:t>
                    </m:r>
                    <m:r>
                      <a:rPr lang="en-US" sz="2000" i="1">
                        <a:latin typeface="Cambria Math" panose="02040503050406030204" pitchFamily="18" charset="0"/>
                        <a:ea typeface="Verdana" panose="020B0604030504040204" pitchFamily="34" charset="0"/>
                        <a:cs typeface="Verdana" panose="020B0604030504040204" pitchFamily="34" charset="0"/>
                      </a:rPr>
                      <m:t>𝑏h</m:t>
                    </m:r>
                  </m:oMath>
                </a14:m>
                <a:endParaRPr lang="x-none"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6" name="Rounded Rectangle 15">
                <a:extLst>
                  <a:ext uri="{FF2B5EF4-FFF2-40B4-BE49-F238E27FC236}">
                    <a16:creationId xmlns:a16="http://schemas.microsoft.com/office/drawing/2014/main" id="{8B3F3F64-8AC3-E540-8A97-F3E41519DC28}"/>
                  </a:ext>
                </a:extLst>
              </p:cNvPr>
              <p:cNvSpPr>
                <a:spLocks noRot="1" noChangeAspect="1" noMove="1" noResize="1" noEditPoints="1" noAdjustHandles="1" noChangeArrowheads="1" noChangeShapeType="1" noTextEdit="1"/>
              </p:cNvSpPr>
              <p:nvPr/>
            </p:nvSpPr>
            <p:spPr>
              <a:xfrm>
                <a:off x="2188233" y="2851100"/>
                <a:ext cx="7200000" cy="703161"/>
              </a:xfrm>
              <a:prstGeom prst="roundRect">
                <a:avLst>
                  <a:gd name="adj" fmla="val 16667"/>
                </a:avLst>
              </a:prstGeom>
              <a:blipFill>
                <a:blip r:embed="rId5"/>
                <a:stretch>
                  <a:fillRect/>
                </a:stretch>
              </a:blipFill>
              <a:ln w="25400" cap="flat" cmpd="sng">
                <a:solidFill>
                  <a:srgbClr val="000000"/>
                </a:solidFill>
                <a:prstDash val="solid"/>
                <a:round/>
                <a:headEnd type="none" w="sm" len="sm"/>
                <a:tailEnd type="none" w="sm" len="sm"/>
              </a:ln>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1C59B6BF-E56A-E74B-AC02-4C9378BE0F5E}"/>
              </a:ext>
            </a:extLst>
          </p:cNvPr>
          <p:cNvGraphicFramePr>
            <a:graphicFrameLocks noGrp="1"/>
          </p:cNvGraphicFramePr>
          <p:nvPr>
            <p:extLst>
              <p:ext uri="{D42A27DB-BD31-4B8C-83A1-F6EECF244321}">
                <p14:modId xmlns:p14="http://schemas.microsoft.com/office/powerpoint/2010/main" val="2833032912"/>
              </p:ext>
            </p:extLst>
          </p:nvPr>
        </p:nvGraphicFramePr>
        <p:xfrm>
          <a:off x="2188233" y="3812920"/>
          <a:ext cx="6691630" cy="2628000"/>
        </p:xfrm>
        <a:graphic>
          <a:graphicData uri="http://schemas.openxmlformats.org/drawingml/2006/table">
            <a:tbl>
              <a:tblPr firstRow="1" firstCol="1" bandRow="1"/>
              <a:tblGrid>
                <a:gridCol w="3345815">
                  <a:extLst>
                    <a:ext uri="{9D8B030D-6E8A-4147-A177-3AD203B41FA5}">
                      <a16:colId xmlns:a16="http://schemas.microsoft.com/office/drawing/2014/main" val="4163197268"/>
                    </a:ext>
                  </a:extLst>
                </a:gridCol>
                <a:gridCol w="3345815">
                  <a:extLst>
                    <a:ext uri="{9D8B030D-6E8A-4147-A177-3AD203B41FA5}">
                      <a16:colId xmlns:a16="http://schemas.microsoft.com/office/drawing/2014/main" val="2653047872"/>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Quadrilateral</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Formula for the Area</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632912297"/>
                  </a:ext>
                </a:extLst>
              </a:tr>
              <a:tr h="720000">
                <a:tc>
                  <a:txBody>
                    <a:bodyPr/>
                    <a:lstStyle/>
                    <a:p>
                      <a:pPr marL="0" marR="0" algn="ctr">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parallelogram</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86483"/>
                  </a:ext>
                </a:extLst>
              </a:tr>
              <a:tr h="7200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trapezoid</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1773120"/>
                  </a:ext>
                </a:extLst>
              </a:tr>
              <a:tr h="720000">
                <a:tc>
                  <a:txBody>
                    <a:bodyPr/>
                    <a:lstStyle/>
                    <a:p>
                      <a:pPr marL="0" marR="0" algn="ctr">
                        <a:spcBef>
                          <a:spcPts val="0"/>
                        </a:spcBef>
                        <a:spcAft>
                          <a:spcPts val="0"/>
                        </a:spcAft>
                      </a:pPr>
                      <a:r>
                        <a:rPr lang="en-US" sz="2000">
                          <a:effectLst/>
                          <a:latin typeface="Verdana" panose="020B0604030504040204" pitchFamily="34" charset="0"/>
                          <a:ea typeface="Times New Roman" panose="02020603050405020304" pitchFamily="18" charset="0"/>
                          <a:cs typeface="Cambria" panose="02040503050406030204" pitchFamily="18" charset="0"/>
                        </a:rPr>
                        <a:t>rhombus</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3882459"/>
                  </a:ext>
                </a:extLst>
              </a:tr>
            </a:tbl>
          </a:graphicData>
        </a:graphic>
      </p:graphicFrame>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8961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4669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id="{5B83C4F2-4529-0148-99DC-4963EE7E7209}"/>
              </a:ext>
            </a:extLst>
          </p:cNvPr>
          <p:cNvSpPr>
            <a:spLocks noChangeArrowheads="1"/>
          </p:cNvSpPr>
          <p:nvPr/>
        </p:nvSpPr>
        <p:spPr bwMode="auto">
          <a:xfrm>
            <a:off x="1531917" y="417101"/>
            <a:ext cx="848988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dimensions of three quadrilaterals are given in the table. Label each figure shown with the given dimensions in centimeters (cm). Then, calculate the area of each figure using the appropriate formula. Show your work.</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C1A0E9B-7494-A745-A50C-8159C4DD865F}"/>
                  </a:ext>
                </a:extLst>
              </p:cNvPr>
              <p:cNvGraphicFramePr>
                <a:graphicFrameLocks noGrp="1"/>
              </p:cNvGraphicFramePr>
              <p:nvPr>
                <p:extLst>
                  <p:ext uri="{D42A27DB-BD31-4B8C-83A1-F6EECF244321}">
                    <p14:modId xmlns:p14="http://schemas.microsoft.com/office/powerpoint/2010/main" val="926094686"/>
                  </p:ext>
                </p:extLst>
              </p:nvPr>
            </p:nvGraphicFramePr>
            <p:xfrm>
              <a:off x="2176679" y="2588701"/>
              <a:ext cx="7200360" cy="3348000"/>
            </p:xfrm>
            <a:graphic>
              <a:graphicData uri="http://schemas.openxmlformats.org/drawingml/2006/table">
                <a:tbl>
                  <a:tblPr firstRow="1" firstCol="1" bandRow="1"/>
                  <a:tblGrid>
                    <a:gridCol w="2880360">
                      <a:extLst>
                        <a:ext uri="{9D8B030D-6E8A-4147-A177-3AD203B41FA5}">
                          <a16:colId xmlns:a16="http://schemas.microsoft.com/office/drawing/2014/main" val="1949008754"/>
                        </a:ext>
                      </a:extLst>
                    </a:gridCol>
                    <a:gridCol w="2160000">
                      <a:extLst>
                        <a:ext uri="{9D8B030D-6E8A-4147-A177-3AD203B41FA5}">
                          <a16:colId xmlns:a16="http://schemas.microsoft.com/office/drawing/2014/main" val="49075362"/>
                        </a:ext>
                      </a:extLst>
                    </a:gridCol>
                    <a:gridCol w="2160000">
                      <a:extLst>
                        <a:ext uri="{9D8B030D-6E8A-4147-A177-3AD203B41FA5}">
                          <a16:colId xmlns:a16="http://schemas.microsoft.com/office/drawing/2014/main" val="4022241088"/>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Figure</a:t>
                          </a:r>
                          <a:endParaRPr lang="x-none"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Dimensions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Area</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621423576"/>
                      </a:ext>
                    </a:extLst>
                  </a:tr>
                  <a:tr h="2880000">
                    <a:tc>
                      <a:txBody>
                        <a:bodyPr/>
                        <a:lstStyle/>
                        <a:p>
                          <a:pPr marL="0" marR="0" algn="ctr">
                            <a:spcBef>
                              <a:spcPts val="0"/>
                            </a:spcBef>
                            <a:spcAft>
                              <a:spcPts val="0"/>
                            </a:spcAft>
                          </a:pPr>
                          <a:endPar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Parallelogram</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tabLst>
                              <a:tab pos="0" algn="l"/>
                            </a:tabLst>
                          </a:pPr>
                          <a14:m>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𝑏</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=22</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14:m>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h</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=8</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7320620"/>
                      </a:ext>
                    </a:extLst>
                  </a:tr>
                </a:tbl>
              </a:graphicData>
            </a:graphic>
          </p:graphicFrame>
        </mc:Choice>
        <mc:Fallback xmlns="">
          <p:graphicFrame>
            <p:nvGraphicFramePr>
              <p:cNvPr id="3" name="Table 2">
                <a:extLst>
                  <a:ext uri="{FF2B5EF4-FFF2-40B4-BE49-F238E27FC236}">
                    <a16:creationId xmlns:a16="http://schemas.microsoft.com/office/drawing/2014/main" id="{DC1A0E9B-7494-A745-A50C-8159C4DD865F}"/>
                  </a:ext>
                </a:extLst>
              </p:cNvPr>
              <p:cNvGraphicFramePr>
                <a:graphicFrameLocks noGrp="1"/>
              </p:cNvGraphicFramePr>
              <p:nvPr>
                <p:extLst>
                  <p:ext uri="{D42A27DB-BD31-4B8C-83A1-F6EECF244321}">
                    <p14:modId xmlns:p14="http://schemas.microsoft.com/office/powerpoint/2010/main" val="926094686"/>
                  </p:ext>
                </p:extLst>
              </p:nvPr>
            </p:nvGraphicFramePr>
            <p:xfrm>
              <a:off x="2176679" y="2588701"/>
              <a:ext cx="7200360" cy="3348000"/>
            </p:xfrm>
            <a:graphic>
              <a:graphicData uri="http://schemas.openxmlformats.org/drawingml/2006/table">
                <a:tbl>
                  <a:tblPr firstRow="1" firstCol="1" bandRow="1"/>
                  <a:tblGrid>
                    <a:gridCol w="2880360">
                      <a:extLst>
                        <a:ext uri="{9D8B030D-6E8A-4147-A177-3AD203B41FA5}">
                          <a16:colId xmlns:a16="http://schemas.microsoft.com/office/drawing/2014/main" val="1949008754"/>
                        </a:ext>
                      </a:extLst>
                    </a:gridCol>
                    <a:gridCol w="2160000">
                      <a:extLst>
                        <a:ext uri="{9D8B030D-6E8A-4147-A177-3AD203B41FA5}">
                          <a16:colId xmlns:a16="http://schemas.microsoft.com/office/drawing/2014/main" val="49075362"/>
                        </a:ext>
                      </a:extLst>
                    </a:gridCol>
                    <a:gridCol w="2160000">
                      <a:extLst>
                        <a:ext uri="{9D8B030D-6E8A-4147-A177-3AD203B41FA5}">
                          <a16:colId xmlns:a16="http://schemas.microsoft.com/office/drawing/2014/main" val="4022241088"/>
                        </a:ext>
                      </a:extLst>
                    </a:gridCol>
                  </a:tblGrid>
                  <a:tr h="46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Figure</a:t>
                          </a:r>
                          <a:endParaRPr lang="x-none" sz="2000" dirty="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Dimensions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Area</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621423576"/>
                      </a:ext>
                    </a:extLst>
                  </a:tr>
                  <a:tr h="2880000">
                    <a:tc>
                      <a:txBody>
                        <a:bodyPr/>
                        <a:lstStyle/>
                        <a:p>
                          <a:pPr marL="0" marR="0" algn="ctr">
                            <a:spcBef>
                              <a:spcPts val="0"/>
                            </a:spcBef>
                            <a:spcAft>
                              <a:spcPts val="0"/>
                            </a:spcAft>
                          </a:pPr>
                          <a:endPar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endPar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Parallelogram</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34181" t="-16490" r="-101130" b="-634"/>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7320620"/>
                      </a:ext>
                    </a:extLst>
                  </a:tr>
                </a:tbl>
              </a:graphicData>
            </a:graphic>
          </p:graphicFrame>
        </mc:Fallback>
      </mc:AlternateContent>
      <p:pic>
        <p:nvPicPr>
          <p:cNvPr id="18" name="Picture 17">
            <a:extLst>
              <a:ext uri="{FF2B5EF4-FFF2-40B4-BE49-F238E27FC236}">
                <a16:creationId xmlns:a16="http://schemas.microsoft.com/office/drawing/2014/main" id="{CC05B290-6CC7-8649-9578-B5170593BABA}"/>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236054" y="4161144"/>
            <a:ext cx="2743200" cy="1475105"/>
          </a:xfrm>
          <a:prstGeom prst="rect">
            <a:avLst/>
          </a:prstGeom>
          <a:noFill/>
          <a:ln>
            <a:noFill/>
          </a:ln>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a:extLst>
              <a:ext uri="{FF2B5EF4-FFF2-40B4-BE49-F238E27FC236}">
                <a16:creationId xmlns:a16="http://schemas.microsoft.com/office/drawing/2014/main" id="{43276370-F952-C24B-8DD8-474A75E8BF20}"/>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bwMode="auto">
          <a:xfrm rot="16200000">
            <a:off x="2739908" y="4321851"/>
            <a:ext cx="2617045" cy="1703533"/>
          </a:xfrm>
          <a:prstGeom prst="rect">
            <a:avLst/>
          </a:prstGeom>
          <a:noFill/>
          <a:ln>
            <a:noFill/>
          </a:ln>
        </p:spPr>
      </p:pic>
      <p:pic>
        <p:nvPicPr>
          <p:cNvPr id="10" name="Picture 9">
            <a:extLst>
              <a:ext uri="{FF2B5EF4-FFF2-40B4-BE49-F238E27FC236}">
                <a16:creationId xmlns:a16="http://schemas.microsoft.com/office/drawing/2014/main" id="{D6942E2D-9F9C-A34F-97A3-2320D49A8828}"/>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rot="16200000">
            <a:off x="2768052" y="2069136"/>
            <a:ext cx="2318710" cy="1004266"/>
          </a:xfrm>
          <a:prstGeom prst="rect">
            <a:avLst/>
          </a:prstGeom>
          <a:noFill/>
          <a:ln>
            <a:noFill/>
          </a:ln>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24B44C1-C3ED-7943-A07B-EAE95F2CBEDF}"/>
                  </a:ext>
                </a:extLst>
              </p:cNvPr>
              <p:cNvGraphicFramePr>
                <a:graphicFrameLocks noGrp="1"/>
              </p:cNvGraphicFramePr>
              <p:nvPr>
                <p:extLst>
                  <p:ext uri="{D42A27DB-BD31-4B8C-83A1-F6EECF244321}">
                    <p14:modId xmlns:p14="http://schemas.microsoft.com/office/powerpoint/2010/main" val="3671359171"/>
                  </p:ext>
                </p:extLst>
              </p:nvPr>
            </p:nvGraphicFramePr>
            <p:xfrm>
              <a:off x="2496000" y="745612"/>
              <a:ext cx="7200000" cy="5791850"/>
            </p:xfrm>
            <a:graphic>
              <a:graphicData uri="http://schemas.openxmlformats.org/drawingml/2006/table">
                <a:tbl>
                  <a:tblPr firstRow="1" firstCol="1" bandRow="1"/>
                  <a:tblGrid>
                    <a:gridCol w="2880000">
                      <a:extLst>
                        <a:ext uri="{9D8B030D-6E8A-4147-A177-3AD203B41FA5}">
                          <a16:colId xmlns:a16="http://schemas.microsoft.com/office/drawing/2014/main" val="2106968709"/>
                        </a:ext>
                      </a:extLst>
                    </a:gridCol>
                    <a:gridCol w="2160000">
                      <a:extLst>
                        <a:ext uri="{9D8B030D-6E8A-4147-A177-3AD203B41FA5}">
                          <a16:colId xmlns:a16="http://schemas.microsoft.com/office/drawing/2014/main" val="1169609423"/>
                        </a:ext>
                      </a:extLst>
                    </a:gridCol>
                    <a:gridCol w="2160000">
                      <a:extLst>
                        <a:ext uri="{9D8B030D-6E8A-4147-A177-3AD203B41FA5}">
                          <a16:colId xmlns:a16="http://schemas.microsoft.com/office/drawing/2014/main" val="1186371107"/>
                        </a:ext>
                      </a:extLst>
                    </a:gridCol>
                  </a:tblGrid>
                  <a:tr h="46385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Figure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000"/>
                            </a:spcAft>
                            <a:tabLst>
                              <a:tab pos="0" algn="l"/>
                            </a:tabLs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Dimensions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Area</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424712709"/>
                      </a:ext>
                    </a:extLst>
                  </a:tr>
                  <a:tr h="262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Trapezoid</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tabLst>
                              <a:tab pos="0" algn="l"/>
                            </a:tabLst>
                          </a:pPr>
                          <a14:m>
                            <m:oMath xmlns:m="http://schemas.openxmlformats.org/officeDocument/2006/math">
                              <m:sSub>
                                <m:sSub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7</m:t>
                                  </m:r>
                                </m:num>
                                <m:den>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12</m:t>
                                  </m:r>
                                </m:den>
                              </m:f>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14:m>
                            <m:oMath xmlns:m="http://schemas.openxmlformats.org/officeDocument/2006/math">
                              <m:sSub>
                                <m:sSub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𝑏</m:t>
                                  </m:r>
                                </m:e>
                                <m: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2</m:t>
                                  </m:r>
                                </m:sub>
                              </m:s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11</m:t>
                                  </m:r>
                                </m:num>
                                <m:den>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12</m:t>
                                  </m:r>
                                </m:den>
                              </m:f>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 </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h</m:t>
                              </m:r>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m:t>
                                  </m:r>
                                </m:num>
                                <m:den>
                                  <m:r>
                                    <a:rPr lang="en-US" sz="20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m:t>
                                  </m:r>
                                </m:den>
                              </m:f>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939910"/>
                      </a:ext>
                    </a:extLst>
                  </a:tr>
                  <a:tr h="270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Rhombus</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tabLst>
                              <a:tab pos="0" algn="l"/>
                            </a:tabLst>
                          </a:pPr>
                          <a14:m>
                            <m:oMath xmlns:m="http://schemas.openxmlformats.org/officeDocument/2006/math">
                              <m:sSub>
                                <m:sSub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𝑑</m:t>
                                  </m:r>
                                </m:e>
                                <m: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m:t>
                                  </m:r>
                                </m:sub>
                              </m:s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=6.5</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panose="02040503050406030204" pitchFamily="18" charset="0"/>
                          </a:endParaRPr>
                        </a:p>
                        <a:p>
                          <a:pPr marL="0" marR="0" algn="ctr">
                            <a:spcBef>
                              <a:spcPts val="0"/>
                            </a:spcBef>
                            <a:spcAft>
                              <a:spcPts val="1000"/>
                            </a:spcAft>
                            <a:tabLst>
                              <a:tab pos="0" algn="l"/>
                            </a:tabLst>
                          </a:pPr>
                          <a14:m>
                            <m:oMath xmlns:m="http://schemas.openxmlformats.org/officeDocument/2006/math">
                              <m:sSub>
                                <m:sSubPr>
                                  <m:ctrlPr>
                                    <a:rPr lang="x-none"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ctrlPr>
                                </m:sSubPr>
                                <m:e>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𝑑</m:t>
                                  </m:r>
                                </m:e>
                                <m: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2</m:t>
                                  </m:r>
                                </m:sub>
                              </m:sSub>
                              <m:r>
                                <a:rPr lang="en-US" sz="2000"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=12.25</m:t>
                              </m:r>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cm</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7746561"/>
                      </a:ext>
                    </a:extLst>
                  </a:tr>
                </a:tbl>
              </a:graphicData>
            </a:graphic>
          </p:graphicFrame>
        </mc:Choice>
        <mc:Fallback xmlns="">
          <p:graphicFrame>
            <p:nvGraphicFramePr>
              <p:cNvPr id="4" name="Table 3">
                <a:extLst>
                  <a:ext uri="{FF2B5EF4-FFF2-40B4-BE49-F238E27FC236}">
                    <a16:creationId xmlns:a16="http://schemas.microsoft.com/office/drawing/2014/main" id="{524B44C1-C3ED-7943-A07B-EAE95F2CBEDF}"/>
                  </a:ext>
                </a:extLst>
              </p:cNvPr>
              <p:cNvGraphicFramePr>
                <a:graphicFrameLocks noGrp="1"/>
              </p:cNvGraphicFramePr>
              <p:nvPr>
                <p:extLst>
                  <p:ext uri="{D42A27DB-BD31-4B8C-83A1-F6EECF244321}">
                    <p14:modId xmlns:p14="http://schemas.microsoft.com/office/powerpoint/2010/main" val="3671359171"/>
                  </p:ext>
                </p:extLst>
              </p:nvPr>
            </p:nvGraphicFramePr>
            <p:xfrm>
              <a:off x="2496000" y="745612"/>
              <a:ext cx="7200000" cy="5791850"/>
            </p:xfrm>
            <a:graphic>
              <a:graphicData uri="http://schemas.openxmlformats.org/drawingml/2006/table">
                <a:tbl>
                  <a:tblPr firstRow="1" firstCol="1" bandRow="1"/>
                  <a:tblGrid>
                    <a:gridCol w="2880000">
                      <a:extLst>
                        <a:ext uri="{9D8B030D-6E8A-4147-A177-3AD203B41FA5}">
                          <a16:colId xmlns:a16="http://schemas.microsoft.com/office/drawing/2014/main" val="2106968709"/>
                        </a:ext>
                      </a:extLst>
                    </a:gridCol>
                    <a:gridCol w="2160000">
                      <a:extLst>
                        <a:ext uri="{9D8B030D-6E8A-4147-A177-3AD203B41FA5}">
                          <a16:colId xmlns:a16="http://schemas.microsoft.com/office/drawing/2014/main" val="1169609423"/>
                        </a:ext>
                      </a:extLst>
                    </a:gridCol>
                    <a:gridCol w="2160000">
                      <a:extLst>
                        <a:ext uri="{9D8B030D-6E8A-4147-A177-3AD203B41FA5}">
                          <a16:colId xmlns:a16="http://schemas.microsoft.com/office/drawing/2014/main" val="1186371107"/>
                        </a:ext>
                      </a:extLst>
                    </a:gridCol>
                  </a:tblGrid>
                  <a:tr h="46385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Figure</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1000"/>
                            </a:spcAft>
                            <a:tabLst>
                              <a:tab pos="0" algn="l"/>
                            </a:tabLs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Dimensions</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Area</a:t>
                          </a:r>
                          <a:endParaRPr lang="x-none" sz="2000">
                            <a:effectLst/>
                            <a:latin typeface="Verdana" pitchFamily="34" charset="0"/>
                            <a:ea typeface="Verdana" pitchFamily="34"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424712709"/>
                      </a:ext>
                    </a:extLst>
                  </a:tr>
                  <a:tr h="2628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Trapezoid</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34181" t="-18056" r="-101130" b="-103241"/>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1939910"/>
                      </a:ext>
                    </a:extLst>
                  </a:tr>
                  <a:tr h="27000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Rhombus</a:t>
                          </a:r>
                          <a:endParaRPr lang="x-none" sz="2000" dirty="0">
                            <a:effectLst/>
                            <a:latin typeface="Verdana" pitchFamily="34" charset="0"/>
                            <a:ea typeface="Verdana" pitchFamily="34" charset="0"/>
                            <a:cs typeface="Cambria" panose="02040503050406030204" pitchFamily="18" charset="0"/>
                          </a:endParaRPr>
                        </a:p>
                        <a:p>
                          <a:pPr marL="0" marR="0" algn="ctr">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34181" t="-115124" r="-101130" b="-677"/>
                          </a:stretch>
                        </a:blipFill>
                      </a:tcPr>
                    </a:tc>
                    <a:tc>
                      <a:txBody>
                        <a:bodyPr/>
                        <a:lstStyle/>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p>
                          <a:pPr marL="0" marR="0">
                            <a:spcBef>
                              <a:spcPts val="0"/>
                            </a:spcBef>
                            <a:spcAft>
                              <a:spcPts val="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7746561"/>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spTree>
    <p:extLst>
      <p:ext uri="{BB962C8B-B14F-4D97-AF65-F5344CB8AC3E}">
        <p14:creationId xmlns:p14="http://schemas.microsoft.com/office/powerpoint/2010/main" val="1621880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14084"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pic>
        <p:nvPicPr>
          <p:cNvPr id="8" name="image12.png" descr="Icon&#10;&#10;Description automatically generated">
            <a:extLst>
              <a:ext uri="{FF2B5EF4-FFF2-40B4-BE49-F238E27FC236}">
                <a16:creationId xmlns:a16="http://schemas.microsoft.com/office/drawing/2014/main" id="{9E19A267-2A4F-7047-8DF3-17DF7520C9F1}"/>
              </a:ext>
            </a:extLst>
          </p:cNvPr>
          <p:cNvPicPr/>
          <p:nvPr/>
        </p:nvPicPr>
        <p:blipFill>
          <a:blip r:embed="rId4"/>
          <a:srcRect/>
          <a:stretch>
            <a:fillRect/>
          </a:stretch>
        </p:blipFill>
        <p:spPr>
          <a:xfrm>
            <a:off x="4632826" y="2852920"/>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558"/>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6141"/>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983179" y="146289"/>
            <a:ext cx="827937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4.2.3 Your Turn!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7321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531917" y="1333017"/>
                <a:ext cx="8676904" cy="224785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Alina is making rhombus-shaped earrings with green stones. The measure of one diagonal of each earring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m:t>
                        </m:r>
                      </m:num>
                      <m:den>
                        <m:r>
                          <a:rPr lang="es-ES" sz="2400" i="1" dirty="0">
                            <a:latin typeface="Cambria Math" panose="02040503050406030204" pitchFamily="18" charset="0"/>
                            <a:ea typeface="Verdana" panose="020B0604030504040204" pitchFamily="34" charset="0"/>
                            <a:cs typeface="Verdana" panose="020B0604030504040204" pitchFamily="34" charset="0"/>
                          </a:rPr>
                          <m:t>8</m:t>
                        </m:r>
                      </m:den>
                    </m:f>
                  </m:oMath>
                </a14:m>
                <a:r>
                  <a:rPr lang="en-US" sz="2400" dirty="0">
                    <a:latin typeface="Verdana" panose="020B0604030504040204" pitchFamily="34" charset="0"/>
                    <a:ea typeface="Verdana" panose="020B0604030504040204" pitchFamily="34" charset="0"/>
                    <a:cs typeface="Verdana" panose="020B0604030504040204" pitchFamily="34" charset="0"/>
                  </a:rPr>
                  <a:t> centimeters (cm), and the length of the other diagonal measures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4</m:t>
                        </m:r>
                      </m:num>
                      <m:den>
                        <m:r>
                          <a:rPr lang="es-ES" sz="2400" i="1" dirty="0">
                            <a:latin typeface="Cambria Math" panose="02040503050406030204" pitchFamily="18" charset="0"/>
                            <a:ea typeface="Verdana" panose="020B0604030504040204" pitchFamily="34" charset="0"/>
                            <a:cs typeface="Verdana" panose="020B0604030504040204" pitchFamily="34" charset="0"/>
                          </a:rPr>
                          <m:t>9</m:t>
                        </m:r>
                      </m:den>
                    </m:f>
                  </m:oMath>
                </a14:m>
                <a:r>
                  <a:rPr lang="en-US" sz="2400" dirty="0">
                    <a:latin typeface="Verdana" panose="020B0604030504040204" pitchFamily="34" charset="0"/>
                    <a:ea typeface="Verdana" panose="020B0604030504040204" pitchFamily="34" charset="0"/>
                    <a:cs typeface="Verdana" panose="020B0604030504040204" pitchFamily="34" charset="0"/>
                  </a:rPr>
                  <a:t> cm. What is the area, in square centimeters (cm</a:t>
                </a:r>
                <a:r>
                  <a:rPr lang="en-US" sz="2400" baseline="30000" dirty="0">
                    <a:latin typeface="Verdana" panose="020B0604030504040204" pitchFamily="34" charset="0"/>
                    <a:ea typeface="Verdana" panose="020B0604030504040204" pitchFamily="34" charset="0"/>
                    <a:cs typeface="Verdana" panose="020B0604030504040204" pitchFamily="34" charset="0"/>
                  </a:rPr>
                  <a:t>2</a:t>
                </a:r>
                <a:r>
                  <a:rPr lang="en-US" sz="2400" dirty="0">
                    <a:latin typeface="Verdana" panose="020B0604030504040204" pitchFamily="34" charset="0"/>
                    <a:ea typeface="Verdana" panose="020B0604030504040204" pitchFamily="34" charset="0"/>
                    <a:cs typeface="Verdana" panose="020B0604030504040204" pitchFamily="34" charset="0"/>
                  </a:rPr>
                  <a:t>), of two earrings?</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531917" y="1333017"/>
                <a:ext cx="8676904" cy="2247859"/>
              </a:xfrm>
              <a:prstGeom prst="rect">
                <a:avLst/>
              </a:prstGeom>
              <a:blipFill>
                <a:blip r:embed="rId4"/>
                <a:stretch>
                  <a:fillRect l="-1022" t="-2260" r="-584" b="-5650"/>
                </a:stretch>
              </a:blipFill>
            </p:spPr>
            <p:txBody>
              <a:bodyPr/>
              <a:lstStyle/>
              <a:p>
                <a:r>
                  <a:rPr lang="en-US">
                    <a:noFill/>
                  </a:rPr>
                  <a:t> </a:t>
                </a:r>
              </a:p>
            </p:txBody>
          </p:sp>
        </mc:Fallback>
      </mc:AlternateContent>
      <p:pic>
        <p:nvPicPr>
          <p:cNvPr id="27" name="image12.png" descr="Icon&#10;&#10;Description automatically generated">
            <a:extLst>
              <a:ext uri="{FF2B5EF4-FFF2-40B4-BE49-F238E27FC236}">
                <a16:creationId xmlns:a16="http://schemas.microsoft.com/office/drawing/2014/main" id="{57B59C34-BA8C-9040-9F86-F3F360E6E86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001968" y="434057"/>
            <a:ext cx="750164" cy="750164"/>
          </a:xfrm>
          <a:prstGeom prst="rect">
            <a:avLst/>
          </a:prstGeom>
          <a:ln/>
        </p:spPr>
      </p:pic>
      <p:grpSp>
        <p:nvGrpSpPr>
          <p:cNvPr id="2" name="Group 1"/>
          <p:cNvGrpSpPr/>
          <p:nvPr/>
        </p:nvGrpSpPr>
        <p:grpSpPr>
          <a:xfrm>
            <a:off x="3880876" y="3985025"/>
            <a:ext cx="3390488" cy="2586594"/>
            <a:chOff x="4411307" y="3805667"/>
            <a:chExt cx="3390488" cy="2586594"/>
          </a:xfrm>
        </p:grpSpPr>
        <p:sp>
          <p:nvSpPr>
            <p:cNvPr id="28" name="Diamond 27">
              <a:extLst>
                <a:ext uri="{FF2B5EF4-FFF2-40B4-BE49-F238E27FC236}">
                  <a16:creationId xmlns:a16="http://schemas.microsoft.com/office/drawing/2014/main" id="{0A2DBEE5-6EE0-3A4A-93FC-4C01DC233C38}"/>
                </a:ext>
              </a:extLst>
            </p:cNvPr>
            <p:cNvSpPr/>
            <p:nvPr/>
          </p:nvSpPr>
          <p:spPr>
            <a:xfrm>
              <a:off x="6202376" y="3805667"/>
              <a:ext cx="1599419" cy="2586594"/>
            </a:xfrm>
            <a:prstGeom prst="diamond">
              <a:avLst/>
            </a:prstGeom>
            <a:solidFill>
              <a:srgbClr val="00B050"/>
            </a:solidFill>
            <a:ln w="381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a:ea typeface="Times New Roman" panose="02020603050405020304" pitchFamily="18" charset="0"/>
                  <a:cs typeface="Cambria" panose="02040503050406030204" pitchFamily="18" charset="0"/>
                </a:rPr>
                <a:t> </a:t>
              </a:r>
              <a:endParaRPr lang="x-none" sz="1200">
                <a:ea typeface="Times New Roman" panose="02020603050405020304" pitchFamily="18" charset="0"/>
                <a:cs typeface="Cambria" panose="02040503050406030204" pitchFamily="18" charset="0"/>
              </a:endParaRPr>
            </a:p>
          </p:txBody>
        </p:sp>
        <p:sp>
          <p:nvSpPr>
            <p:cNvPr id="29" name="Diamond 28">
              <a:extLst>
                <a:ext uri="{FF2B5EF4-FFF2-40B4-BE49-F238E27FC236}">
                  <a16:creationId xmlns:a16="http://schemas.microsoft.com/office/drawing/2014/main" id="{96208BA3-7736-ED44-8ADF-612C2291CA17}"/>
                </a:ext>
              </a:extLst>
            </p:cNvPr>
            <p:cNvSpPr/>
            <p:nvPr/>
          </p:nvSpPr>
          <p:spPr>
            <a:xfrm>
              <a:off x="4411307" y="3805667"/>
              <a:ext cx="1599419" cy="2586594"/>
            </a:xfrm>
            <a:prstGeom prst="diamond">
              <a:avLst/>
            </a:prstGeom>
            <a:solidFill>
              <a:srgbClr val="00B050"/>
            </a:solidFill>
            <a:ln w="381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200" dirty="0">
                  <a:ea typeface="Times New Roman" panose="02020603050405020304" pitchFamily="18" charset="0"/>
                  <a:cs typeface="Cambria" panose="02040503050406030204" pitchFamily="18" charset="0"/>
                </a:rPr>
                <a:t> </a:t>
              </a:r>
              <a:endParaRPr lang="x-none" sz="1200" dirty="0">
                <a:ea typeface="Times New Roman" panose="02020603050405020304" pitchFamily="18" charset="0"/>
                <a:cs typeface="Cambria" panose="02040503050406030204" pitchFamily="18" charset="0"/>
              </a:endParaRPr>
            </a:p>
          </p:txBody>
        </p:sp>
      </p:grpSp>
    </p:spTree>
    <p:extLst>
      <p:ext uri="{BB962C8B-B14F-4D97-AF65-F5344CB8AC3E}">
        <p14:creationId xmlns:p14="http://schemas.microsoft.com/office/powerpoint/2010/main" val="1674437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4086"/>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8116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20042" y="417102"/>
                <a:ext cx="8532934" cy="1200329"/>
              </a:xfrm>
              <a:prstGeom prst="rect">
                <a:avLst/>
              </a:prstGeom>
            </p:spPr>
            <p:txBody>
              <a:bodyPr wrap="square">
                <a:spAutoFit/>
              </a:bodyPr>
              <a:lstStyle/>
              <a:p>
                <a:pPr marL="444500" indent="-4445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One wall of </a:t>
                </a:r>
                <a:r>
                  <a:rPr lang="en-US" sz="2400" dirty="0" err="1">
                    <a:latin typeface="Verdana" panose="020B0604030504040204" pitchFamily="34" charset="0"/>
                    <a:ea typeface="Times New Roman" panose="02020603050405020304" pitchFamily="18" charset="0"/>
                    <a:cs typeface="Times New Roman" panose="02020603050405020304" pitchFamily="18" charset="0"/>
                  </a:rPr>
                  <a:t>Kel’s</a:t>
                </a:r>
                <a:r>
                  <a:rPr lang="en-US" sz="2400" dirty="0">
                    <a:latin typeface="Verdana" panose="020B0604030504040204" pitchFamily="34" charset="0"/>
                    <a:ea typeface="Times New Roman" panose="02020603050405020304" pitchFamily="18" charset="0"/>
                    <a:cs typeface="Times New Roman" panose="02020603050405020304" pitchFamily="18" charset="0"/>
                  </a:rPr>
                  <a:t> apartment is shaped like a trapezoid with one base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18.7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feet (ft), the other base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16.3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ft, and a height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ft.</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20042" y="417102"/>
                <a:ext cx="8532934" cy="1200329"/>
              </a:xfrm>
              <a:prstGeom prst="rect">
                <a:avLst/>
              </a:prstGeom>
              <a:blipFill>
                <a:blip r:embed="rId4"/>
                <a:stretch>
                  <a:fillRect l="-1071" t="-4061" b="-10152"/>
                </a:stretch>
              </a:blipFill>
            </p:spPr>
            <p:txBody>
              <a:bodyPr/>
              <a:lstStyle/>
              <a:p>
                <a:r>
                  <a:rPr lang="en-US">
                    <a:noFill/>
                  </a:rPr>
                  <a:t> </a:t>
                </a:r>
              </a:p>
            </p:txBody>
          </p:sp>
        </mc:Fallback>
      </mc:AlternateContent>
      <p:grpSp>
        <p:nvGrpSpPr>
          <p:cNvPr id="3" name="Group 2"/>
          <p:cNvGrpSpPr/>
          <p:nvPr/>
        </p:nvGrpSpPr>
        <p:grpSpPr>
          <a:xfrm>
            <a:off x="4507007" y="1719759"/>
            <a:ext cx="3019293" cy="2935606"/>
            <a:chOff x="3305174" y="1625986"/>
            <a:chExt cx="3019293" cy="2935606"/>
          </a:xfrm>
        </p:grpSpPr>
        <p:pic>
          <p:nvPicPr>
            <p:cNvPr id="10" name="Picture 9">
              <a:extLst>
                <a:ext uri="{FF2B5EF4-FFF2-40B4-BE49-F238E27FC236}">
                  <a16:creationId xmlns:a16="http://schemas.microsoft.com/office/drawing/2014/main" id="{F1B1BF47-C58F-8E46-BC7E-ADBC4B5F58CC}"/>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305174" y="1733960"/>
              <a:ext cx="3019293" cy="2690122"/>
            </a:xfrm>
            <a:prstGeom prst="rect">
              <a:avLst/>
            </a:prstGeom>
            <a:noFill/>
            <a:ln>
              <a:noFill/>
            </a:ln>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CB92F4B-51C1-264F-9E62-E19054B09BFD}"/>
                    </a:ext>
                  </a:extLst>
                </p:cNvPr>
                <p:cNvSpPr/>
                <p:nvPr/>
              </p:nvSpPr>
              <p:spPr>
                <a:xfrm>
                  <a:off x="4262370" y="1625986"/>
                  <a:ext cx="1104900"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16.3</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ft</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Rectangle 10">
                  <a:extLst>
                    <a:ext uri="{FF2B5EF4-FFF2-40B4-BE49-F238E27FC236}">
                      <a16:creationId xmlns:a16="http://schemas.microsoft.com/office/drawing/2014/main" xmlns:a14="http://schemas.microsoft.com/office/drawing/2010/main" xmlns="" id="{1CB92F4B-51C1-264F-9E62-E19054B09BFD}"/>
                    </a:ext>
                  </a:extLst>
                </p:cNvPr>
                <p:cNvSpPr>
                  <a:spLocks noRot="1" noChangeAspect="1" noMove="1" noResize="1" noEditPoints="1" noAdjustHandles="1" noChangeArrowheads="1" noChangeShapeType="1" noTextEdit="1"/>
                </p:cNvSpPr>
                <p:nvPr/>
              </p:nvSpPr>
              <p:spPr>
                <a:xfrm>
                  <a:off x="4262370" y="1625986"/>
                  <a:ext cx="1104900" cy="408940"/>
                </a:xfrm>
                <a:prstGeom prst="rect">
                  <a:avLst/>
                </a:prstGeom>
                <a:blipFill rotWithShape="1">
                  <a:blip r:embed="rId6"/>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88C38DA-67DF-3D4E-9B0E-72177808E493}"/>
                    </a:ext>
                  </a:extLst>
                </p:cNvPr>
                <p:cNvSpPr/>
                <p:nvPr/>
              </p:nvSpPr>
              <p:spPr>
                <a:xfrm>
                  <a:off x="4262370" y="4153287"/>
                  <a:ext cx="1104900" cy="408305"/>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18.7</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ft</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Rectangle 12">
                  <a:extLst>
                    <a:ext uri="{FF2B5EF4-FFF2-40B4-BE49-F238E27FC236}">
                      <a16:creationId xmlns:a16="http://schemas.microsoft.com/office/drawing/2014/main" xmlns:a14="http://schemas.microsoft.com/office/drawing/2010/main" xmlns="" id="{588C38DA-67DF-3D4E-9B0E-72177808E493}"/>
                    </a:ext>
                  </a:extLst>
                </p:cNvPr>
                <p:cNvSpPr>
                  <a:spLocks noRot="1" noChangeAspect="1" noMove="1" noResize="1" noEditPoints="1" noAdjustHandles="1" noChangeArrowheads="1" noChangeShapeType="1" noTextEdit="1"/>
                </p:cNvSpPr>
                <p:nvPr/>
              </p:nvSpPr>
              <p:spPr>
                <a:xfrm>
                  <a:off x="4262370" y="4153287"/>
                  <a:ext cx="1104900" cy="408305"/>
                </a:xfrm>
                <a:prstGeom prst="rect">
                  <a:avLst/>
                </a:prstGeom>
                <a:blipFill rotWithShape="1">
                  <a:blip r:embed="rId7"/>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DAA30F6-A82A-E54F-A93C-5AACCA6F000F}"/>
                    </a:ext>
                  </a:extLst>
                </p:cNvPr>
                <p:cNvSpPr/>
                <p:nvPr/>
              </p:nvSpPr>
              <p:spPr>
                <a:xfrm>
                  <a:off x="5212175" y="2874868"/>
                  <a:ext cx="733425" cy="408305"/>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9</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ft</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4" name="Rectangle 13">
                  <a:extLst>
                    <a:ext uri="{FF2B5EF4-FFF2-40B4-BE49-F238E27FC236}">
                      <a16:creationId xmlns:a16="http://schemas.microsoft.com/office/drawing/2014/main" xmlns:a14="http://schemas.microsoft.com/office/drawing/2010/main" xmlns="" id="{1DAA30F6-A82A-E54F-A93C-5AACCA6F000F}"/>
                    </a:ext>
                  </a:extLst>
                </p:cNvPr>
                <p:cNvSpPr>
                  <a:spLocks noRot="1" noChangeAspect="1" noMove="1" noResize="1" noEditPoints="1" noAdjustHandles="1" noChangeArrowheads="1" noChangeShapeType="1" noTextEdit="1"/>
                </p:cNvSpPr>
                <p:nvPr/>
              </p:nvSpPr>
              <p:spPr>
                <a:xfrm>
                  <a:off x="5212175" y="2874868"/>
                  <a:ext cx="733425" cy="408305"/>
                </a:xfrm>
                <a:prstGeom prst="rect">
                  <a:avLst/>
                </a:prstGeom>
                <a:blipFill rotWithShape="1">
                  <a:blip r:embed="rId8"/>
                  <a:stretch>
                    <a:fillRect t="-5970" b="-25373"/>
                  </a:stretch>
                </a:blipFill>
                <a:ln w="9525" cap="flat" cmpd="sng" algn="ctr">
                  <a:noFill/>
                  <a:prstDash val="solid"/>
                </a:ln>
                <a:effectLst/>
              </p:spPr>
              <p:txBody>
                <a:bodyPr/>
                <a:lstStyle/>
                <a:p>
                  <a:r>
                    <a:rPr lang="en-PH">
                      <a:noFill/>
                    </a:rPr>
                    <a:t> </a:t>
                  </a:r>
                </a:p>
              </p:txBody>
            </p:sp>
          </mc:Fallback>
        </mc:AlternateContent>
      </p:grpSp>
      <p:sp>
        <p:nvSpPr>
          <p:cNvPr id="15" name="Rectangle 14">
            <a:extLst>
              <a:ext uri="{FF2B5EF4-FFF2-40B4-BE49-F238E27FC236}">
                <a16:creationId xmlns:a16="http://schemas.microsoft.com/office/drawing/2014/main" id="{FA74BCA4-7AC9-3841-9F4A-0C3B92CA175B}"/>
              </a:ext>
            </a:extLst>
          </p:cNvPr>
          <p:cNvSpPr/>
          <p:nvPr/>
        </p:nvSpPr>
        <p:spPr>
          <a:xfrm>
            <a:off x="1520042" y="4787804"/>
            <a:ext cx="8072646" cy="1200329"/>
          </a:xfrm>
          <a:prstGeom prst="rect">
            <a:avLst/>
          </a:prstGeom>
        </p:spPr>
        <p:txBody>
          <a:bodyPr wrap="square">
            <a:spAutoFit/>
          </a:bodyPr>
          <a:lstStyle/>
          <a:p>
            <a:pPr marL="444500"/>
            <a:r>
              <a:rPr lang="en-US" sz="2400" dirty="0" err="1">
                <a:latin typeface="Verdana" panose="020B0604030504040204" pitchFamily="34" charset="0"/>
                <a:ea typeface="Times New Roman" panose="02020603050405020304" pitchFamily="18" charset="0"/>
                <a:cs typeface="Times New Roman" panose="02020603050405020304" pitchFamily="18" charset="0"/>
              </a:rPr>
              <a:t>Kel</a:t>
            </a:r>
            <a:r>
              <a:rPr lang="en-US" sz="2400" dirty="0">
                <a:latin typeface="Verdana" panose="020B0604030504040204" pitchFamily="34" charset="0"/>
                <a:ea typeface="Times New Roman" panose="02020603050405020304" pitchFamily="18" charset="0"/>
                <a:cs typeface="Times New Roman" panose="02020603050405020304" pitchFamily="18" charset="0"/>
              </a:rPr>
              <a:t> plans to paint this wall blue and needs to know how much paint to buy. What is the area of the wall </a:t>
            </a:r>
            <a:r>
              <a:rPr lang="en-US" sz="2400" dirty="0" err="1">
                <a:latin typeface="Verdana" panose="020B0604030504040204" pitchFamily="34" charset="0"/>
                <a:ea typeface="Times New Roman" panose="02020603050405020304" pitchFamily="18" charset="0"/>
                <a:cs typeface="Times New Roman" panose="02020603050405020304" pitchFamily="18" charset="0"/>
              </a:rPr>
              <a:t>Kel</a:t>
            </a:r>
            <a:r>
              <a:rPr lang="en-US" sz="2400" dirty="0">
                <a:latin typeface="Verdana" panose="020B0604030504040204" pitchFamily="34" charset="0"/>
                <a:ea typeface="Times New Roman" panose="02020603050405020304" pitchFamily="18" charset="0"/>
                <a:cs typeface="Times New Roman" panose="02020603050405020304" pitchFamily="18" charset="0"/>
              </a:rPr>
              <a:t> plans to paint?</a:t>
            </a:r>
          </a:p>
        </p:txBody>
      </p:sp>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211"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5064"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6838"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31917" y="411366"/>
                <a:ext cx="8359695" cy="2242858"/>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Mika, a designer, is creating a geometric design in a tile floor. The design will be in the shape of a parallelogram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36</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7</m:t>
                        </m:r>
                      </m:num>
                      <m:den>
                        <m:r>
                          <a:rPr lang="es-ES" sz="2400" i="1" dirty="0">
                            <a:latin typeface="Cambria Math" panose="02040503050406030204" pitchFamily="18" charset="0"/>
                            <a:cs typeface="Times New Roman" panose="02020603050405020304" pitchFamily="18" charset="0"/>
                          </a:rPr>
                          <m:t>12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 (in.) bases and a height of </a:t>
                </a:r>
                <a14:m>
                  <m:oMath xmlns:m="http://schemas.openxmlformats.org/officeDocument/2006/math">
                    <m:r>
                      <a:rPr lang="es-ES" sz="2400" i="1" dirty="0">
                        <a:latin typeface="Cambria Math" panose="02040503050406030204" pitchFamily="18" charset="0"/>
                        <a:ea typeface="Times New Roman" panose="02020603050405020304" pitchFamily="18" charset="0"/>
                        <a:cs typeface="Times New Roman" panose="02020603050405020304" pitchFamily="18" charset="0"/>
                      </a:rPr>
                      <m:t>70</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9</m:t>
                        </m:r>
                      </m:num>
                      <m:den>
                        <m:r>
                          <a:rPr lang="es-ES" sz="2400" i="1" dirty="0">
                            <a:latin typeface="Cambria Math" panose="02040503050406030204" pitchFamily="18" charset="0"/>
                            <a:cs typeface="Times New Roman" panose="02020603050405020304" pitchFamily="18" charset="0"/>
                          </a:rPr>
                          <m:t>14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How many square inches of tile will she need for the design?</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31917" y="411366"/>
                <a:ext cx="8359695" cy="2242858"/>
              </a:xfrm>
              <a:prstGeom prst="rect">
                <a:avLst/>
              </a:prstGeom>
              <a:blipFill>
                <a:blip r:embed="rId4"/>
                <a:stretch>
                  <a:fillRect l="-1093" t="-2174" r="-1239" b="-5163"/>
                </a:stretch>
              </a:blipFill>
            </p:spPr>
            <p:txBody>
              <a:bodyPr/>
              <a:lstStyle/>
              <a:p>
                <a:r>
                  <a:rPr lang="en-US">
                    <a:noFill/>
                  </a:rPr>
                  <a:t> </a:t>
                </a:r>
              </a:p>
            </p:txBody>
          </p:sp>
        </mc:Fallback>
      </mc:AlternateContent>
      <p:grpSp>
        <p:nvGrpSpPr>
          <p:cNvPr id="3" name="Group 2"/>
          <p:cNvGrpSpPr/>
          <p:nvPr/>
        </p:nvGrpSpPr>
        <p:grpSpPr>
          <a:xfrm>
            <a:off x="2731056" y="2876898"/>
            <a:ext cx="4416648" cy="3358227"/>
            <a:chOff x="1483150" y="2669190"/>
            <a:chExt cx="4416648" cy="3358227"/>
          </a:xfrm>
        </p:grpSpPr>
        <p:pic>
          <p:nvPicPr>
            <p:cNvPr id="16" name="Picture 15">
              <a:extLst>
                <a:ext uri="{FF2B5EF4-FFF2-40B4-BE49-F238E27FC236}">
                  <a16:creationId xmlns:a16="http://schemas.microsoft.com/office/drawing/2014/main" id="{C8204099-2DE4-3845-9869-F9EF00B1C5A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483150" y="2669190"/>
              <a:ext cx="3739302" cy="3358227"/>
            </a:xfrm>
            <a:prstGeom prst="rect">
              <a:avLst/>
            </a:prstGeom>
            <a:noFill/>
            <a:ln>
              <a:noFill/>
            </a:ln>
          </p:spPr>
        </p:pic>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0E73122-FAED-B544-95C2-EC1C758C4846}"/>
                    </a:ext>
                  </a:extLst>
                </p:cNvPr>
                <p:cNvSpPr/>
                <p:nvPr/>
              </p:nvSpPr>
              <p:spPr>
                <a:xfrm>
                  <a:off x="2385683" y="4348303"/>
                  <a:ext cx="1104900" cy="636905"/>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70</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9</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14</m:t>
                          </m:r>
                        </m:den>
                      </m:f>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a:latin typeface="Verdana" panose="020B0604030504040204" pitchFamily="34" charset="0"/>
                      <a:ea typeface="Times New Roman" panose="02020603050405020304" pitchFamily="18" charset="0"/>
                      <a:cs typeface="Cambria" panose="02040503050406030204" pitchFamily="18" charset="0"/>
                    </a:rPr>
                    <a:t>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8" name="Rectangle 17">
                  <a:extLst>
                    <a:ext uri="{FF2B5EF4-FFF2-40B4-BE49-F238E27FC236}">
                      <a16:creationId xmlns:a16="http://schemas.microsoft.com/office/drawing/2014/main" xmlns:a14="http://schemas.microsoft.com/office/drawing/2010/main" xmlns="" id="{C0E73122-FAED-B544-95C2-EC1C758C4846}"/>
                    </a:ext>
                  </a:extLst>
                </p:cNvPr>
                <p:cNvSpPr>
                  <a:spLocks noRot="1" noChangeAspect="1" noMove="1" noResize="1" noEditPoints="1" noAdjustHandles="1" noChangeArrowheads="1" noChangeShapeType="1" noTextEdit="1"/>
                </p:cNvSpPr>
                <p:nvPr/>
              </p:nvSpPr>
              <p:spPr>
                <a:xfrm>
                  <a:off x="2385683" y="4348303"/>
                  <a:ext cx="1104900" cy="636905"/>
                </a:xfrm>
                <a:prstGeom prst="rect">
                  <a:avLst/>
                </a:prstGeom>
                <a:blipFill rotWithShape="1">
                  <a:blip r:embed="rId6"/>
                  <a:stretch>
                    <a:fillRect r="-5525"/>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56B21D0E-E69A-4942-BDAC-0768EB66A91E}"/>
                    </a:ext>
                  </a:extLst>
                </p:cNvPr>
                <p:cNvSpPr/>
                <p:nvPr/>
              </p:nvSpPr>
              <p:spPr>
                <a:xfrm>
                  <a:off x="4794898" y="3309985"/>
                  <a:ext cx="1104900" cy="636905"/>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36</m:t>
                      </m:r>
                      <m:f>
                        <m:fPr>
                          <m:ctrlPr>
                            <a:rPr lang="x-none"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12</m:t>
                          </m:r>
                        </m:den>
                      </m:f>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a:latin typeface="Verdana" panose="020B0604030504040204" pitchFamily="34" charset="0"/>
                      <a:ea typeface="Times New Roman" panose="02020603050405020304" pitchFamily="18" charset="0"/>
                      <a:cs typeface="Cambria" panose="02040503050406030204" pitchFamily="18" charset="0"/>
                    </a:rPr>
                    <a:t>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9" name="Rectangle 18">
                  <a:extLst>
                    <a:ext uri="{FF2B5EF4-FFF2-40B4-BE49-F238E27FC236}">
                      <a16:creationId xmlns:a16="http://schemas.microsoft.com/office/drawing/2014/main" xmlns:a14="http://schemas.microsoft.com/office/drawing/2010/main" xmlns="" id="{56B21D0E-E69A-4942-BDAC-0768EB66A91E}"/>
                    </a:ext>
                  </a:extLst>
                </p:cNvPr>
                <p:cNvSpPr>
                  <a:spLocks noRot="1" noChangeAspect="1" noMove="1" noResize="1" noEditPoints="1" noAdjustHandles="1" noChangeArrowheads="1" noChangeShapeType="1" noTextEdit="1"/>
                </p:cNvSpPr>
                <p:nvPr/>
              </p:nvSpPr>
              <p:spPr>
                <a:xfrm>
                  <a:off x="4794898" y="3309985"/>
                  <a:ext cx="1104900" cy="636905"/>
                </a:xfrm>
                <a:prstGeom prst="rect">
                  <a:avLst/>
                </a:prstGeom>
                <a:blipFill rotWithShape="1">
                  <a:blip r:embed="rId7"/>
                  <a:stretch>
                    <a:fillRect r="-5525"/>
                  </a:stretch>
                </a:blipFill>
                <a:ln w="9525" cap="flat" cmpd="sng" algn="ctr">
                  <a:noFill/>
                  <a:prstDash val="solid"/>
                </a:ln>
                <a:effectLst/>
              </p:spPr>
              <p:txBody>
                <a:bodyPr/>
                <a:lstStyle/>
                <a:p>
                  <a:r>
                    <a:rPr lang="en-PH">
                      <a:noFill/>
                    </a:rPr>
                    <a:t> </a:t>
                  </a:r>
                </a:p>
              </p:txBody>
            </p:sp>
          </mc:Fallback>
        </mc:AlternateContent>
      </p:grpSp>
    </p:spTree>
    <p:extLst>
      <p:ext uri="{BB962C8B-B14F-4D97-AF65-F5344CB8AC3E}">
        <p14:creationId xmlns:p14="http://schemas.microsoft.com/office/powerpoint/2010/main" val="2381553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520042" y="411366"/>
                <a:ext cx="8423693" cy="1569660"/>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The Smart family’s horse pasture is in the shape of a trapezoid. One of the parallel sides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168.2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yards (yd) long and the other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135.6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yd long. The distance between these sides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93.4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yd.</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520042" y="411366"/>
                <a:ext cx="8423693" cy="1569660"/>
              </a:xfrm>
              <a:prstGeom prst="rect">
                <a:avLst/>
              </a:prstGeom>
              <a:blipFill>
                <a:blip r:embed="rId4"/>
                <a:stretch>
                  <a:fillRect l="-1085" t="-3101" r="-2315" b="-7364"/>
                </a:stretch>
              </a:blipFill>
            </p:spPr>
            <p:txBody>
              <a:bodyPr/>
              <a:lstStyle/>
              <a:p>
                <a:r>
                  <a:rPr lang="en-US">
                    <a:noFill/>
                  </a:rPr>
                  <a:t> </a:t>
                </a:r>
              </a:p>
            </p:txBody>
          </p:sp>
        </mc:Fallback>
      </mc:AlternateContent>
      <p:grpSp>
        <p:nvGrpSpPr>
          <p:cNvPr id="3" name="Group 2"/>
          <p:cNvGrpSpPr/>
          <p:nvPr/>
        </p:nvGrpSpPr>
        <p:grpSpPr>
          <a:xfrm>
            <a:off x="3392835" y="2514601"/>
            <a:ext cx="5081868" cy="2375535"/>
            <a:chOff x="1909482" y="2389919"/>
            <a:chExt cx="5081868" cy="2375535"/>
          </a:xfrm>
        </p:grpSpPr>
        <p:pic>
          <p:nvPicPr>
            <p:cNvPr id="6" name="Picture 5">
              <a:extLst>
                <a:ext uri="{FF2B5EF4-FFF2-40B4-BE49-F238E27FC236}">
                  <a16:creationId xmlns:a16="http://schemas.microsoft.com/office/drawing/2014/main" id="{7EEAEB11-6060-2346-9862-3CF1B3EBA597}"/>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909482" y="2514600"/>
              <a:ext cx="4529418" cy="2218490"/>
            </a:xfrm>
            <a:prstGeom prst="rect">
              <a:avLst/>
            </a:prstGeom>
            <a:noFill/>
            <a:ln>
              <a:noFill/>
            </a:ln>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B0D578B-B1E4-484E-A35A-16DA99014141}"/>
                    </a:ext>
                  </a:extLst>
                </p:cNvPr>
                <p:cNvSpPr/>
                <p:nvPr/>
              </p:nvSpPr>
              <p:spPr>
                <a:xfrm>
                  <a:off x="3495692" y="2389919"/>
                  <a:ext cx="1356997"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135.6</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yd</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Rectangle 6">
                  <a:extLst>
                    <a:ext uri="{FF2B5EF4-FFF2-40B4-BE49-F238E27FC236}">
                      <a16:creationId xmlns:a16="http://schemas.microsoft.com/office/drawing/2014/main" xmlns:a14="http://schemas.microsoft.com/office/drawing/2010/main" xmlns="" id="{7B0D578B-B1E4-484E-A35A-16DA99014141}"/>
                    </a:ext>
                  </a:extLst>
                </p:cNvPr>
                <p:cNvSpPr>
                  <a:spLocks noRot="1" noChangeAspect="1" noMove="1" noResize="1" noEditPoints="1" noAdjustHandles="1" noChangeArrowheads="1" noChangeShapeType="1" noTextEdit="1"/>
                </p:cNvSpPr>
                <p:nvPr/>
              </p:nvSpPr>
              <p:spPr>
                <a:xfrm>
                  <a:off x="3495692" y="2389919"/>
                  <a:ext cx="1356997" cy="408940"/>
                </a:xfrm>
                <a:prstGeom prst="rect">
                  <a:avLst/>
                </a:prstGeom>
                <a:blipFill rotWithShape="1">
                  <a:blip r:embed="rId6"/>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A0B75FF-C15D-4A46-B8DC-70C0D6D53770}"/>
                    </a:ext>
                  </a:extLst>
                </p:cNvPr>
                <p:cNvSpPr/>
                <p:nvPr/>
              </p:nvSpPr>
              <p:spPr>
                <a:xfrm>
                  <a:off x="3440130" y="4356514"/>
                  <a:ext cx="1468121"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168.2</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yd</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Rectangle 7">
                  <a:extLst>
                    <a:ext uri="{FF2B5EF4-FFF2-40B4-BE49-F238E27FC236}">
                      <a16:creationId xmlns:a16="http://schemas.microsoft.com/office/drawing/2014/main" xmlns:a14="http://schemas.microsoft.com/office/drawing/2010/main" xmlns="" id="{4A0B75FF-C15D-4A46-B8DC-70C0D6D53770}"/>
                    </a:ext>
                  </a:extLst>
                </p:cNvPr>
                <p:cNvSpPr>
                  <a:spLocks noRot="1" noChangeAspect="1" noMove="1" noResize="1" noEditPoints="1" noAdjustHandles="1" noChangeArrowheads="1" noChangeShapeType="1" noTextEdit="1"/>
                </p:cNvSpPr>
                <p:nvPr/>
              </p:nvSpPr>
              <p:spPr>
                <a:xfrm>
                  <a:off x="3440130" y="4356514"/>
                  <a:ext cx="1468121" cy="408940"/>
                </a:xfrm>
                <a:prstGeom prst="rect">
                  <a:avLst/>
                </a:prstGeom>
                <a:blipFill rotWithShape="1">
                  <a:blip r:embed="rId7"/>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19D2729F-5E1A-B042-BF40-39E0A477CB30}"/>
                    </a:ext>
                  </a:extLst>
                </p:cNvPr>
                <p:cNvSpPr/>
                <p:nvPr/>
              </p:nvSpPr>
              <p:spPr>
                <a:xfrm>
                  <a:off x="5886450" y="3419375"/>
                  <a:ext cx="1104900"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93.4</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err="1">
                      <a:latin typeface="Verdana" panose="020B0604030504040204" pitchFamily="34" charset="0"/>
                      <a:ea typeface="Times New Roman" panose="02020603050405020304" pitchFamily="18" charset="0"/>
                      <a:cs typeface="Cambria" panose="02040503050406030204" pitchFamily="18" charset="0"/>
                    </a:rPr>
                    <a:t>yd</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9" name="Rectangle 8">
                  <a:extLst>
                    <a:ext uri="{FF2B5EF4-FFF2-40B4-BE49-F238E27FC236}">
                      <a16:creationId xmlns:a16="http://schemas.microsoft.com/office/drawing/2014/main" xmlns:a14="http://schemas.microsoft.com/office/drawing/2010/main" xmlns="" id="{19D2729F-5E1A-B042-BF40-39E0A477CB30}"/>
                    </a:ext>
                  </a:extLst>
                </p:cNvPr>
                <p:cNvSpPr>
                  <a:spLocks noRot="1" noChangeAspect="1" noMove="1" noResize="1" noEditPoints="1" noAdjustHandles="1" noChangeArrowheads="1" noChangeShapeType="1" noTextEdit="1"/>
                </p:cNvSpPr>
                <p:nvPr/>
              </p:nvSpPr>
              <p:spPr>
                <a:xfrm>
                  <a:off x="5886450" y="3419375"/>
                  <a:ext cx="1104900" cy="408940"/>
                </a:xfrm>
                <a:prstGeom prst="rect">
                  <a:avLst/>
                </a:prstGeom>
                <a:blipFill rotWithShape="1">
                  <a:blip r:embed="rId8"/>
                  <a:stretch>
                    <a:fillRect t="-5970" r="-2210" b="-25373"/>
                  </a:stretch>
                </a:blipFill>
                <a:ln w="9525" cap="flat" cmpd="sng" algn="ctr">
                  <a:noFill/>
                  <a:prstDash val="solid"/>
                </a:ln>
                <a:effectLst/>
              </p:spPr>
              <p:txBody>
                <a:bodyPr/>
                <a:lstStyle/>
                <a:p>
                  <a:r>
                    <a:rPr lang="en-PH">
                      <a:noFill/>
                    </a:rPr>
                    <a:t> </a:t>
                  </a:r>
                </a:p>
              </p:txBody>
            </p:sp>
          </mc:Fallback>
        </mc:AlternateContent>
      </p:grpSp>
      <p:sp>
        <p:nvSpPr>
          <p:cNvPr id="10" name="Rectangle 9">
            <a:extLst>
              <a:ext uri="{FF2B5EF4-FFF2-40B4-BE49-F238E27FC236}">
                <a16:creationId xmlns:a16="http://schemas.microsoft.com/office/drawing/2014/main" id="{3A61D601-7CFA-184D-8A72-292227E98D17}"/>
              </a:ext>
            </a:extLst>
          </p:cNvPr>
          <p:cNvSpPr/>
          <p:nvPr/>
        </p:nvSpPr>
        <p:spPr>
          <a:xfrm>
            <a:off x="1520042" y="5166542"/>
            <a:ext cx="8371570" cy="461665"/>
          </a:xfrm>
          <a:prstGeom prst="rect">
            <a:avLst/>
          </a:prstGeom>
        </p:spPr>
        <p:txBody>
          <a:bodyPr wrap="square">
            <a:spAutoFit/>
          </a:bodyPr>
          <a:lstStyle/>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area of the horse pasture?</a:t>
            </a:r>
          </a:p>
        </p:txBody>
      </p:sp>
    </p:spTree>
    <p:extLst>
      <p:ext uri="{BB962C8B-B14F-4D97-AF65-F5344CB8AC3E}">
        <p14:creationId xmlns:p14="http://schemas.microsoft.com/office/powerpoint/2010/main" val="2042787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135</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520042" y="411367"/>
            <a:ext cx="8532934" cy="830997"/>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The Dockland Building in Hamburg, Germany is shaped like a parallelogram.</a:t>
            </a:r>
          </a:p>
        </p:txBody>
      </p:sp>
      <p:pic>
        <p:nvPicPr>
          <p:cNvPr id="9" name="Picture" descr="A picture containing water, outdoor, boat, river&#10;&#10;Description automatically generated">
            <a:extLst>
              <a:ext uri="{FF2B5EF4-FFF2-40B4-BE49-F238E27FC236}">
                <a16:creationId xmlns:a16="http://schemas.microsoft.com/office/drawing/2014/main" id="{B268BC68-2165-7446-BEBD-9FB546EBDDE2}"/>
              </a:ext>
            </a:extLst>
          </p:cNvPr>
          <p:cNvPicPr/>
          <p:nvPr/>
        </p:nvPicPr>
        <p:blipFill>
          <a:blip r:embed="rId4" cstate="screen">
            <a:extLst>
              <a:ext uri="{28A0092B-C50C-407E-A947-70E740481C1C}">
                <a14:useLocalDpi xmlns:a14="http://schemas.microsoft.com/office/drawing/2010/main"/>
              </a:ext>
            </a:extLst>
          </a:blip>
          <a:stretch>
            <a:fillRect/>
          </a:stretch>
        </p:blipFill>
        <p:spPr bwMode="auto">
          <a:xfrm>
            <a:off x="3705543" y="1559395"/>
            <a:ext cx="4780915" cy="2573020"/>
          </a:xfrm>
          <a:prstGeom prst="rect">
            <a:avLst/>
          </a:prstGeom>
          <a:noFill/>
          <a:ln w="9525">
            <a:noFill/>
            <a:headEnd/>
            <a:tailEnd/>
          </a:ln>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4CDDB5BC-CC6D-3C49-8B7A-C800D5B234E3}"/>
                  </a:ext>
                </a:extLst>
              </p:cNvPr>
              <p:cNvSpPr/>
              <p:nvPr/>
            </p:nvSpPr>
            <p:spPr>
              <a:xfrm>
                <a:off x="1520042" y="4479784"/>
                <a:ext cx="8532934" cy="1200329"/>
              </a:xfrm>
              <a:prstGeom prst="rect">
                <a:avLst/>
              </a:prstGeom>
            </p:spPr>
            <p:txBody>
              <a:bodyPr wrap="square">
                <a:spAutoFit/>
              </a:bodyPr>
              <a:lstStyle/>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If the base of the building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meters (m) and its height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 what is the area of the face of the building shown in the image?</a:t>
                </a:r>
              </a:p>
            </p:txBody>
          </p:sp>
        </mc:Choice>
        <mc:Fallback xmlns="">
          <p:sp>
            <p:nvSpPr>
              <p:cNvPr id="11" name="Rectangle 10">
                <a:extLst>
                  <a:ext uri="{FF2B5EF4-FFF2-40B4-BE49-F238E27FC236}">
                    <a16:creationId xmlns:a16="http://schemas.microsoft.com/office/drawing/2014/main" id="{4CDDB5BC-CC6D-3C49-8B7A-C800D5B234E3}"/>
                  </a:ext>
                </a:extLst>
              </p:cNvPr>
              <p:cNvSpPr>
                <a:spLocks noRot="1" noChangeAspect="1" noMove="1" noResize="1" noEditPoints="1" noAdjustHandles="1" noChangeArrowheads="1" noChangeShapeType="1" noTextEdit="1"/>
              </p:cNvSpPr>
              <p:nvPr/>
            </p:nvSpPr>
            <p:spPr>
              <a:xfrm>
                <a:off x="1520042" y="4479784"/>
                <a:ext cx="8532934" cy="1200329"/>
              </a:xfrm>
              <a:prstGeom prst="rect">
                <a:avLst/>
              </a:prstGeom>
              <a:blipFill>
                <a:blip r:embed="rId5"/>
                <a:stretch>
                  <a:fillRect t="-4569" r="-929" b="-10660"/>
                </a:stretch>
              </a:blipFill>
            </p:spPr>
            <p:txBody>
              <a:bodyPr/>
              <a:lstStyle/>
              <a:p>
                <a:r>
                  <a:rPr lang="en-US">
                    <a:noFill/>
                  </a:rPr>
                  <a:t> </a:t>
                </a:r>
              </a:p>
            </p:txBody>
          </p:sp>
        </mc:Fallback>
      </mc:AlternateContent>
    </p:spTree>
    <p:extLst>
      <p:ext uri="{BB962C8B-B14F-4D97-AF65-F5344CB8AC3E}">
        <p14:creationId xmlns:p14="http://schemas.microsoft.com/office/powerpoint/2010/main" val="3252903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475"/>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255"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962912" y="107850"/>
            <a:ext cx="83719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4.2.4 Wrap-Up: Ticket Out </a:t>
            </a:r>
            <a:br>
              <a:rPr lang="en-US" sz="3600" b="1" dirty="0">
                <a:solidFill>
                  <a:srgbClr val="3F2A67"/>
                </a:solidFill>
                <a:latin typeface="Verdana"/>
                <a:ea typeface="Verdana"/>
                <a:cs typeface="Verdana"/>
                <a:sym typeface="Verdana"/>
              </a:rPr>
            </a:br>
            <a:r>
              <a:rPr lang="en-US" sz="3600" b="1" dirty="0">
                <a:solidFill>
                  <a:srgbClr val="3F2A67"/>
                </a:solidFill>
                <a:latin typeface="Verdana"/>
                <a:ea typeface="Verdana"/>
                <a:cs typeface="Verdana"/>
                <a:sym typeface="Verdana"/>
              </a:rPr>
              <a:t>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035085" y="270937"/>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520042" y="1433550"/>
            <a:ext cx="8532934"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Don’s work for finding the area of the trapezoid is shown below.</a:t>
            </a:r>
          </a:p>
        </p:txBody>
      </p:sp>
      <p:grpSp>
        <p:nvGrpSpPr>
          <p:cNvPr id="3" name="Group 2"/>
          <p:cNvGrpSpPr/>
          <p:nvPr/>
        </p:nvGrpSpPr>
        <p:grpSpPr>
          <a:xfrm>
            <a:off x="2519850" y="2839456"/>
            <a:ext cx="3992208" cy="2521748"/>
            <a:chOff x="995850" y="2839456"/>
            <a:chExt cx="3992208" cy="2521748"/>
          </a:xfrm>
        </p:grpSpPr>
        <p:pic>
          <p:nvPicPr>
            <p:cNvPr id="10" name="Picture 9">
              <a:extLst>
                <a:ext uri="{FF2B5EF4-FFF2-40B4-BE49-F238E27FC236}">
                  <a16:creationId xmlns:a16="http://schemas.microsoft.com/office/drawing/2014/main" id="{5D6FA0CF-0FAE-214E-B30D-87D6B107162C}"/>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995850" y="3043926"/>
              <a:ext cx="3992208" cy="2031727"/>
            </a:xfrm>
            <a:prstGeom prst="rect">
              <a:avLst/>
            </a:prstGeom>
            <a:noFill/>
            <a:ln>
              <a:noFill/>
            </a:ln>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34ACF81B-F056-C445-A047-5E3DED900CCB}"/>
                    </a:ext>
                  </a:extLst>
                </p:cNvPr>
                <p:cNvSpPr/>
                <p:nvPr/>
              </p:nvSpPr>
              <p:spPr>
                <a:xfrm>
                  <a:off x="2439504" y="2839456"/>
                  <a:ext cx="1104900"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14</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a:latin typeface="Verdana" panose="020B0604030504040204" pitchFamily="34" charset="0"/>
                      <a:ea typeface="Times New Roman" panose="02020603050405020304" pitchFamily="18" charset="0"/>
                      <a:cs typeface="Cambria" panose="02040503050406030204" pitchFamily="18" charset="0"/>
                    </a:rPr>
                    <a:t>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1" name="Rectangle 10">
                  <a:extLst>
                    <a:ext uri="{FF2B5EF4-FFF2-40B4-BE49-F238E27FC236}">
                      <a16:creationId xmlns:a16="http://schemas.microsoft.com/office/drawing/2014/main" xmlns:a14="http://schemas.microsoft.com/office/drawing/2010/main" xmlns="" id="{34ACF81B-F056-C445-A047-5E3DED900CCB}"/>
                    </a:ext>
                  </a:extLst>
                </p:cNvPr>
                <p:cNvSpPr>
                  <a:spLocks noRot="1" noChangeAspect="1" noMove="1" noResize="1" noEditPoints="1" noAdjustHandles="1" noChangeArrowheads="1" noChangeShapeType="1" noTextEdit="1"/>
                </p:cNvSpPr>
                <p:nvPr/>
              </p:nvSpPr>
              <p:spPr>
                <a:xfrm>
                  <a:off x="2439504" y="2839456"/>
                  <a:ext cx="1104900" cy="408940"/>
                </a:xfrm>
                <a:prstGeom prst="rect">
                  <a:avLst/>
                </a:prstGeom>
                <a:blipFill rotWithShape="1">
                  <a:blip r:embed="rId6"/>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2BFB47AD-4CB6-6740-93EA-41C8FA37A287}"/>
                    </a:ext>
                  </a:extLst>
                </p:cNvPr>
                <p:cNvSpPr/>
                <p:nvPr/>
              </p:nvSpPr>
              <p:spPr>
                <a:xfrm>
                  <a:off x="2439504" y="4952264"/>
                  <a:ext cx="1104900"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11</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a:latin typeface="Verdana" panose="020B0604030504040204" pitchFamily="34" charset="0"/>
                      <a:ea typeface="Times New Roman" panose="02020603050405020304" pitchFamily="18" charset="0"/>
                      <a:cs typeface="Cambria" panose="02040503050406030204" pitchFamily="18" charset="0"/>
                    </a:rPr>
                    <a:t>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2" name="Rectangle 11">
                  <a:extLst>
                    <a:ext uri="{FF2B5EF4-FFF2-40B4-BE49-F238E27FC236}">
                      <a16:creationId xmlns:a16="http://schemas.microsoft.com/office/drawing/2014/main" xmlns:a14="http://schemas.microsoft.com/office/drawing/2010/main" xmlns="" id="{2BFB47AD-4CB6-6740-93EA-41C8FA37A287}"/>
                    </a:ext>
                  </a:extLst>
                </p:cNvPr>
                <p:cNvSpPr>
                  <a:spLocks noRot="1" noChangeAspect="1" noMove="1" noResize="1" noEditPoints="1" noAdjustHandles="1" noChangeArrowheads="1" noChangeShapeType="1" noTextEdit="1"/>
                </p:cNvSpPr>
                <p:nvPr/>
              </p:nvSpPr>
              <p:spPr>
                <a:xfrm>
                  <a:off x="2439504" y="4952264"/>
                  <a:ext cx="1104900" cy="408940"/>
                </a:xfrm>
                <a:prstGeom prst="rect">
                  <a:avLst/>
                </a:prstGeom>
                <a:blipFill rotWithShape="1">
                  <a:blip r:embed="rId7"/>
                  <a:stretch>
                    <a:fillRect t="-5970" b="-25373"/>
                  </a:stretch>
                </a:blipFill>
                <a:ln w="9525" cap="flat" cmpd="sng" algn="ctr">
                  <a:noFill/>
                  <a:prstDash val="solid"/>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84DA0D6C-D22F-1F44-B4AA-83FD2C25A232}"/>
                    </a:ext>
                  </a:extLst>
                </p:cNvPr>
                <p:cNvSpPr/>
                <p:nvPr/>
              </p:nvSpPr>
              <p:spPr>
                <a:xfrm>
                  <a:off x="2625241" y="3855319"/>
                  <a:ext cx="733425" cy="408940"/>
                </a:xfrm>
                <a:prstGeom prst="rect">
                  <a:avLst/>
                </a:prstGeom>
                <a:noFill/>
                <a:ln w="9525" cap="flat" cmpd="sng" algn="ctr">
                  <a:no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Cambria" panose="02040503050406030204" pitchFamily="18" charset="0"/>
                        </a:rPr>
                        <m:t>6</m:t>
                      </m:r>
                    </m:oMath>
                  </a14:m>
                  <a:r>
                    <a:rPr lang="en-US" sz="2000" dirty="0">
                      <a:latin typeface="Cambria Math" panose="02040503050406030204" pitchFamily="18" charset="0"/>
                      <a:ea typeface="Times New Roman" panose="02020603050405020304" pitchFamily="18" charset="0"/>
                      <a:cs typeface="Cambria" panose="02040503050406030204" pitchFamily="18" charset="0"/>
                    </a:rPr>
                    <a:t> </a:t>
                  </a:r>
                  <a:r>
                    <a:rPr lang="en-US" sz="2000" dirty="0">
                      <a:latin typeface="Verdana" panose="020B0604030504040204" pitchFamily="34" charset="0"/>
                      <a:ea typeface="Times New Roman" panose="02020603050405020304" pitchFamily="18" charset="0"/>
                      <a:cs typeface="Cambria" panose="02040503050406030204" pitchFamily="18" charset="0"/>
                    </a:rPr>
                    <a:t>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Rectangle 12">
                  <a:extLst>
                    <a:ext uri="{FF2B5EF4-FFF2-40B4-BE49-F238E27FC236}">
                      <a16:creationId xmlns:a16="http://schemas.microsoft.com/office/drawing/2014/main" xmlns:a14="http://schemas.microsoft.com/office/drawing/2010/main" xmlns="" id="{84DA0D6C-D22F-1F44-B4AA-83FD2C25A232}"/>
                    </a:ext>
                  </a:extLst>
                </p:cNvPr>
                <p:cNvSpPr>
                  <a:spLocks noRot="1" noChangeAspect="1" noMove="1" noResize="1" noEditPoints="1" noAdjustHandles="1" noChangeArrowheads="1" noChangeShapeType="1" noTextEdit="1"/>
                </p:cNvSpPr>
                <p:nvPr/>
              </p:nvSpPr>
              <p:spPr>
                <a:xfrm>
                  <a:off x="2625241" y="3855319"/>
                  <a:ext cx="733425" cy="408940"/>
                </a:xfrm>
                <a:prstGeom prst="rect">
                  <a:avLst/>
                </a:prstGeom>
                <a:blipFill rotWithShape="1">
                  <a:blip r:embed="rId8"/>
                  <a:stretch>
                    <a:fillRect t="-5882" r="-6667" b="-23529"/>
                  </a:stretch>
                </a:blipFill>
                <a:ln w="9525" cap="flat" cmpd="sng" algn="ctr">
                  <a:noFill/>
                  <a:prstDash val="solid"/>
                </a:ln>
                <a:effectLst/>
              </p:spPr>
              <p:txBody>
                <a:bodyPr/>
                <a:lstStyle/>
                <a:p>
                  <a:r>
                    <a:rPr lang="en-PH">
                      <a:noFill/>
                    </a:rPr>
                    <a:t> </a:t>
                  </a:r>
                </a:p>
              </p:txBody>
            </p:sp>
          </mc:Fallback>
        </mc:AlternateContent>
      </p:gr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0CF07DD-4597-9645-94E6-C27EB2767C1B}"/>
                  </a:ext>
                </a:extLst>
              </p:cNvPr>
              <p:cNvGraphicFramePr>
                <a:graphicFrameLocks noGrp="1"/>
              </p:cNvGraphicFramePr>
              <p:nvPr>
                <p:extLst>
                  <p:ext uri="{D42A27DB-BD31-4B8C-83A1-F6EECF244321}">
                    <p14:modId xmlns:p14="http://schemas.microsoft.com/office/powerpoint/2010/main" val="3404210513"/>
                  </p:ext>
                </p:extLst>
              </p:nvPr>
            </p:nvGraphicFramePr>
            <p:xfrm>
              <a:off x="6696643" y="2399861"/>
              <a:ext cx="2941955" cy="3502919"/>
            </p:xfrm>
            <a:graphic>
              <a:graphicData uri="http://schemas.openxmlformats.org/drawingml/2006/table">
                <a:tbl>
                  <a:tblPr firstRow="1" firstCol="1" bandRow="1"/>
                  <a:tblGrid>
                    <a:gridCol w="2941955">
                      <a:extLst>
                        <a:ext uri="{9D8B030D-6E8A-4147-A177-3AD203B41FA5}">
                          <a16:colId xmlns:a16="http://schemas.microsoft.com/office/drawing/2014/main" val="1113421417"/>
                        </a:ext>
                      </a:extLst>
                    </a:gridCol>
                  </a:tblGrid>
                  <a:tr h="468000">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Century Gothic" panose="020B0502020202020204" pitchFamily="34" charset="0"/>
                            </a:rPr>
                            <a:t>Don’s Work</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907092211"/>
                      </a:ext>
                    </a:extLst>
                  </a:tr>
                  <a:tr h="560070">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𝐴</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m:t>
                                </m:r>
                                <m:f>
                                  <m:f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fPr>
                                  <m:num>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2</m:t>
                                    </m:r>
                                  </m:den>
                                </m:f>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h</m:t>
                                </m:r>
                                <m:d>
                                  <m:d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dPr>
                                  <m:e>
                                    <m:sSub>
                                      <m:sSub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sSubPr>
                                      <m:e>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𝑏</m:t>
                                        </m:r>
                                      </m:e>
                                      <m:sub>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m:t>
                                        </m:r>
                                      </m:sub>
                                    </m:sSub>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m:t>
                                    </m:r>
                                    <m:sSub>
                                      <m:sSub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sSubPr>
                                      <m:e>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𝑏</m:t>
                                        </m:r>
                                      </m:e>
                                      <m:sub>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2</m:t>
                                        </m:r>
                                      </m:sub>
                                    </m:sSub>
                                  </m:e>
                                </m:d>
                              </m:oMath>
                            </m:oMathPara>
                          </a14:m>
                          <a:endParaRPr lang="x-none" sz="2000" dirty="0">
                            <a:effectLst/>
                            <a:latin typeface="Verdana" pitchFamily="34" charset="0"/>
                            <a:ea typeface="Verdana" pitchFamily="34" charset="0"/>
                            <a:cs typeface="Cambria" panose="02040503050406030204" pitchFamily="18" charset="0"/>
                          </a:endParaRPr>
                        </a:p>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𝐴</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m:t>
                                </m:r>
                                <m:f>
                                  <m:f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fPr>
                                  <m:num>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2</m:t>
                                    </m:r>
                                  </m:den>
                                </m:f>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(14)</m:t>
                                </m:r>
                                <m:d>
                                  <m:d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dPr>
                                  <m:e>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11+6</m:t>
                                    </m:r>
                                  </m:e>
                                </m:d>
                              </m:oMath>
                            </m:oMathPara>
                          </a14:m>
                          <a:endParaRPr lang="x-none" sz="2000" dirty="0">
                            <a:effectLst/>
                            <a:latin typeface="Verdana" pitchFamily="34" charset="0"/>
                            <a:ea typeface="Verdana" pitchFamily="34" charset="0"/>
                            <a:cs typeface="Cambria" panose="02040503050406030204" pitchFamily="18" charset="0"/>
                          </a:endParaRPr>
                        </a:p>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𝐴</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m:t>
                                </m:r>
                                <m:f>
                                  <m:f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fPr>
                                  <m:num>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2</m:t>
                                    </m:r>
                                  </m:den>
                                </m:f>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(14)</m:t>
                                </m:r>
                                <m:d>
                                  <m:d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dPr>
                                  <m:e>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17</m:t>
                                    </m:r>
                                  </m:e>
                                </m:d>
                              </m:oMath>
                            </m:oMathPara>
                          </a14:m>
                          <a:endParaRPr lang="x-none" sz="2000" dirty="0">
                            <a:effectLst/>
                            <a:latin typeface="Verdana" pitchFamily="34" charset="0"/>
                            <a:ea typeface="Verdana" pitchFamily="34" charset="0"/>
                            <a:cs typeface="Cambria" panose="02040503050406030204" pitchFamily="18" charset="0"/>
                          </a:endParaRPr>
                        </a:p>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𝐴</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m:t>
                                </m:r>
                                <m:f>
                                  <m:fPr>
                                    <m:ctrlPr>
                                      <a:rPr lang="x-none"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ctrlPr>
                                  </m:fPr>
                                  <m:num>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2</m:t>
                                    </m:r>
                                  </m:den>
                                </m:f>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∙238</m:t>
                                </m:r>
                              </m:oMath>
                            </m:oMathPara>
                          </a14:m>
                          <a:endParaRPr lang="x-none" sz="2000" dirty="0">
                            <a:effectLst/>
                            <a:latin typeface="Verdana" pitchFamily="34" charset="0"/>
                            <a:ea typeface="Verdana" pitchFamily="34" charset="0"/>
                            <a:cs typeface="Cambria" panose="02040503050406030204" pitchFamily="18" charset="0"/>
                          </a:endParaRPr>
                        </a:p>
                        <a:p>
                          <a:pPr marL="0" marR="0" algn="ctr">
                            <a:lnSpc>
                              <a:spcPct val="115000"/>
                            </a:lnSpc>
                            <a:spcBef>
                              <a:spcPts val="0"/>
                            </a:spcBef>
                            <a:spcAft>
                              <a:spcPts val="0"/>
                            </a:spcAft>
                          </a:pPr>
                          <a14:m>
                            <m:oMath xmlns:m="http://schemas.openxmlformats.org/officeDocument/2006/math">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𝐴</m:t>
                              </m:r>
                              <m:r>
                                <a:rPr lang="en-US" sz="2000" i="1">
                                  <a:solidFill>
                                    <a:srgbClr val="000000"/>
                                  </a:solidFill>
                                  <a:effectLst/>
                                  <a:latin typeface="Cambria Math" panose="02040503050406030204" pitchFamily="18" charset="0"/>
                                  <a:ea typeface="Century Gothic" panose="020B0502020202020204" pitchFamily="34" charset="0"/>
                                  <a:cs typeface="Century Gothic" panose="020B0502020202020204" pitchFamily="34" charset="0"/>
                                </a:rPr>
                                <m:t>= 119</m:t>
                              </m:r>
                            </m:oMath>
                          </a14:m>
                          <a:r>
                            <a:rPr lang="en-US" sz="2000" dirty="0">
                              <a:solidFill>
                                <a:srgbClr val="000000"/>
                              </a:solidFill>
                              <a:effectLst/>
                              <a:latin typeface="Verdana" pitchFamily="34" charset="0"/>
                              <a:ea typeface="Verdana" pitchFamily="34" charset="0"/>
                              <a:cs typeface="Century Gothic" panose="020B0502020202020204" pitchFamily="34" charset="0"/>
                            </a:rPr>
                            <a:t> in</a:t>
                          </a:r>
                          <a:r>
                            <a:rPr lang="en-US" sz="2000" baseline="30000" dirty="0">
                              <a:solidFill>
                                <a:srgbClr val="000000"/>
                              </a:solidFill>
                              <a:effectLst/>
                              <a:latin typeface="Verdana" panose="020B0604030504040204" pitchFamily="34" charset="0"/>
                              <a:ea typeface="Verdana" pitchFamily="34" charset="0"/>
                              <a:cs typeface="Century Gothic" panose="020B0502020202020204" pitchFamily="34" charset="0"/>
                            </a:rPr>
                            <a:t>2</a:t>
                          </a:r>
                          <a:endParaRPr lang="x-none" sz="2000" dirty="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7942156"/>
                      </a:ext>
                    </a:extLst>
                  </a:tr>
                </a:tbl>
              </a:graphicData>
            </a:graphic>
          </p:graphicFrame>
        </mc:Choice>
        <mc:Fallback xmlns="">
          <p:graphicFrame>
            <p:nvGraphicFramePr>
              <p:cNvPr id="4" name="Table 3">
                <a:extLst>
                  <a:ext uri="{FF2B5EF4-FFF2-40B4-BE49-F238E27FC236}">
                    <a16:creationId xmlns:a16="http://schemas.microsoft.com/office/drawing/2014/main" id="{90CF07DD-4597-9645-94E6-C27EB2767C1B}"/>
                  </a:ext>
                </a:extLst>
              </p:cNvPr>
              <p:cNvGraphicFramePr>
                <a:graphicFrameLocks noGrp="1"/>
              </p:cNvGraphicFramePr>
              <p:nvPr>
                <p:extLst>
                  <p:ext uri="{D42A27DB-BD31-4B8C-83A1-F6EECF244321}">
                    <p14:modId xmlns:p14="http://schemas.microsoft.com/office/powerpoint/2010/main" val="3404210513"/>
                  </p:ext>
                </p:extLst>
              </p:nvPr>
            </p:nvGraphicFramePr>
            <p:xfrm>
              <a:off x="6696643" y="2399861"/>
              <a:ext cx="2941955" cy="3502919"/>
            </p:xfrm>
            <a:graphic>
              <a:graphicData uri="http://schemas.openxmlformats.org/drawingml/2006/table">
                <a:tbl>
                  <a:tblPr firstRow="1" firstCol="1" bandRow="1"/>
                  <a:tblGrid>
                    <a:gridCol w="2941955">
                      <a:extLst>
                        <a:ext uri="{9D8B030D-6E8A-4147-A177-3AD203B41FA5}">
                          <a16:colId xmlns:a16="http://schemas.microsoft.com/office/drawing/2014/main" val="1113421417"/>
                        </a:ext>
                      </a:extLst>
                    </a:gridCol>
                  </a:tblGrid>
                  <a:tr h="468000">
                    <a:tc>
                      <a:txBody>
                        <a:bodyPr/>
                        <a:lstStyle/>
                        <a:p>
                          <a:pPr marL="0" marR="0" algn="ctr">
                            <a:lnSpc>
                              <a:spcPct val="115000"/>
                            </a:lnSpc>
                            <a:spcBef>
                              <a:spcPts val="0"/>
                            </a:spcBef>
                            <a:spcAft>
                              <a:spcPts val="0"/>
                            </a:spcAft>
                          </a:pPr>
                          <a:r>
                            <a:rPr lang="en-US" sz="2000" b="1" dirty="0">
                              <a:solidFill>
                                <a:srgbClr val="000000"/>
                              </a:solidFill>
                              <a:effectLst/>
                              <a:latin typeface="Verdana" panose="020B0604030504040204" pitchFamily="34" charset="0"/>
                              <a:ea typeface="Verdana" pitchFamily="34" charset="0"/>
                              <a:cs typeface="Century Gothic" panose="020B0502020202020204" pitchFamily="34" charset="0"/>
                            </a:rPr>
                            <a:t>Don’s Work</a:t>
                          </a:r>
                          <a:endParaRPr lang="x-none" sz="2000">
                            <a:effectLst/>
                            <a:latin typeface="Verdana" pitchFamily="34" charset="0"/>
                            <a:ea typeface="Verdana" pitchFamily="34"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2907092211"/>
                      </a:ext>
                    </a:extLst>
                  </a:tr>
                  <a:tr h="3034919">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9"/>
                          <a:stretch>
                            <a:fillRect l="-431" t="-15833" r="-862" b="-3333"/>
                          </a:stretch>
                        </a:blipFill>
                      </a:tcPr>
                    </a:tc>
                    <a:extLst>
                      <a:ext uri="{0D108BD9-81ED-4DB2-BD59-A6C34878D82A}">
                        <a16:rowId xmlns:a16="http://schemas.microsoft.com/office/drawing/2014/main" val="977942156"/>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AE281112-0763-C941-9DB7-9B28C4EA4745}"/>
              </a:ext>
            </a:extLst>
          </p:cNvPr>
          <p:cNvSpPr/>
          <p:nvPr/>
        </p:nvSpPr>
        <p:spPr>
          <a:xfrm>
            <a:off x="1531917" y="951321"/>
            <a:ext cx="8521059" cy="3416320"/>
          </a:xfrm>
          <a:prstGeom prst="rect">
            <a:avLst/>
          </a:prstGeom>
        </p:spPr>
        <p:txBody>
          <a:bodyPr wrap="square">
            <a:spAutoFit/>
          </a:bodyPr>
          <a:lstStyle/>
          <a:p>
            <a:pPr marL="901700" indent="-43815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Don a note explaining what he did correctly and where he made an error.</a:t>
            </a: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17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area of the trapezoid?</a:t>
            </a:r>
          </a:p>
        </p:txBody>
      </p:sp>
    </p:spTree>
    <p:extLst>
      <p:ext uri="{BB962C8B-B14F-4D97-AF65-F5344CB8AC3E}">
        <p14:creationId xmlns:p14="http://schemas.microsoft.com/office/powerpoint/2010/main" val="396215262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383DBA63-C09D-45F1-87E7-9B682838BC78}"/>
</file>

<file path=customXml/itemProps2.xml><?xml version="1.0" encoding="utf-8"?>
<ds:datastoreItem xmlns:ds="http://schemas.openxmlformats.org/officeDocument/2006/customXml" ds:itemID="{8E8E2387-A837-484C-BA5F-1171E9251BD0}"/>
</file>

<file path=customXml/itemProps3.xml><?xml version="1.0" encoding="utf-8"?>
<ds:datastoreItem xmlns:ds="http://schemas.openxmlformats.org/officeDocument/2006/customXml" ds:itemID="{8F89CE83-08DF-4851-ABF3-657585DAAEB1}"/>
</file>

<file path=docProps/app.xml><?xml version="1.0" encoding="utf-8"?>
<Properties xmlns="http://schemas.openxmlformats.org/officeDocument/2006/extended-properties" xmlns:vt="http://schemas.openxmlformats.org/officeDocument/2006/docPropsVTypes">
  <TotalTime>3093</TotalTime>
  <Words>906</Words>
  <Application>Microsoft Macintosh PowerPoint</Application>
  <PresentationFormat>Widescreen</PresentationFormat>
  <Paragraphs>140</Paragraphs>
  <Slides>19</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Calibri</vt:lpstr>
      <vt:lpstr>Arial Black</vt:lpstr>
      <vt:lpstr>Cambria Math</vt:lpstr>
      <vt:lpstr>Wingdings</vt:lpstr>
      <vt:lpstr>Verdana</vt:lpstr>
      <vt:lpstr>Arial</vt:lpstr>
      <vt:lpstr>Cambria</vt:lpstr>
      <vt:lpstr>Century Gothic</vt:lpstr>
      <vt:lpstr>1_Office Theme</vt:lpstr>
      <vt:lpstr>7th Grade Math  Unit 4, Lesson 2  Finding the Area of Trapezoids, Parallelograms, and Rhombi  Volume 1, pg. 132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31</cp:revision>
  <dcterms:created xsi:type="dcterms:W3CDTF">2015-03-17T18:51:18Z</dcterms:created>
  <dcterms:modified xsi:type="dcterms:W3CDTF">2023-01-26T17:38:50Z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