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57" r:id="rId3"/>
    <p:sldId id="345" r:id="rId4"/>
    <p:sldId id="286" r:id="rId5"/>
    <p:sldId id="261" r:id="rId6"/>
    <p:sldId id="287" r:id="rId7"/>
    <p:sldId id="383" r:id="rId8"/>
    <p:sldId id="289" r:id="rId9"/>
    <p:sldId id="290" r:id="rId10"/>
    <p:sldId id="308" r:id="rId11"/>
    <p:sldId id="388" r:id="rId12"/>
    <p:sldId id="389" r:id="rId13"/>
    <p:sldId id="390" r:id="rId14"/>
    <p:sldId id="393" r:id="rId15"/>
    <p:sldId id="314" r:id="rId16"/>
    <p:sldId id="315" r:id="rId17"/>
    <p:sldId id="339" r:id="rId18"/>
    <p:sldId id="371" r:id="rId19"/>
    <p:sldId id="372" r:id="rId20"/>
    <p:sldId id="373" r:id="rId21"/>
    <p:sldId id="374" r:id="rId22"/>
    <p:sldId id="306" r:id="rId23"/>
    <p:sldId id="307" r:id="rId24"/>
    <p:sldId id="392" r:id="rId25"/>
  </p:sldIdLst>
  <p:sldSz cx="12192000" cy="6858000"/>
  <p:notesSz cx="6858000" cy="9144000"/>
  <p:embeddedFontLst>
    <p:embeddedFont>
      <p:font typeface="Arial Black" panose="020B0A04020102020204" pitchFamily="34" charset="0"/>
      <p:bold r:id="rId27"/>
    </p:embeddedFont>
    <p:embeddedFont>
      <p:font typeface="Calibri" panose="020F0502020204030204" pitchFamily="34" charset="0"/>
      <p:regular r:id="rId28"/>
      <p:bold r:id="rId29"/>
      <p:italic r:id="rId30"/>
      <p:boldItalic r:id="rId31"/>
    </p:embeddedFont>
    <p:embeddedFont>
      <p:font typeface="Cambria" panose="02040503050406030204" pitchFamily="18" charset="0"/>
      <p:regular r:id="rId32"/>
      <p:bold r:id="rId33"/>
      <p:italic r:id="rId34"/>
      <p:boldItalic r:id="rId35"/>
    </p:embeddedFont>
    <p:embeddedFont>
      <p:font typeface="Cambria Math" panose="02040503050406030204" pitchFamily="18" charset="0"/>
      <p:regular r:id="rId36"/>
    </p:embeddedFont>
    <p:embeddedFont>
      <p:font typeface="Century Gothic" panose="020B0502020202020204" pitchFamily="34" charset="0"/>
      <p:regular r:id="rId37"/>
      <p:bold r:id="rId38"/>
      <p:italic r:id="rId39"/>
      <p:boldItalic r:id="rId40"/>
    </p:embeddedFont>
    <p:embeddedFont>
      <p:font typeface="Cutive" panose="020B0604020202020204" charset="0"/>
      <p:regular r:id="rId41"/>
    </p:embeddedFont>
    <p:embeddedFont>
      <p:font typeface="Verdana" panose="020B0604030504040204" pitchFamily="34" charset="0"/>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9"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24E5F"/>
    <a:srgbClr val="26B7D4"/>
    <a:srgbClr val="BFBFBF"/>
    <a:srgbClr val="C9DF6F"/>
    <a:srgbClr val="417DBF"/>
    <a:srgbClr val="3F2A67"/>
    <a:srgbClr val="54B5D1"/>
    <a:srgbClr val="33BEA6"/>
    <a:srgbClr val="2DA48F"/>
    <a:srgbClr val="52BD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688"/>
    <p:restoredTop sz="94694"/>
  </p:normalViewPr>
  <p:slideViewPr>
    <p:cSldViewPr snapToGrid="0">
      <p:cViewPr varScale="1">
        <p:scale>
          <a:sx n="81" d="100"/>
          <a:sy n="81" d="100"/>
        </p:scale>
        <p:origin x="774"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font" Target="fonts/font13.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8.fntdata"/><Relationship Id="rId42" Type="http://schemas.openxmlformats.org/officeDocument/2006/relationships/font" Target="fonts/font16.fntdata"/><Relationship Id="rId63"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font" Target="fonts/font12.fntdata"/><Relationship Id="rId59"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41" Type="http://schemas.openxmlformats.org/officeDocument/2006/relationships/font" Target="fonts/font15.fntdata"/><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font" Target="fonts/font14.fntdata"/><Relationship Id="rId45" Type="http://schemas.openxmlformats.org/officeDocument/2006/relationships/font" Target="fonts/font19.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61"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4" Type="http://schemas.openxmlformats.org/officeDocument/2006/relationships/font" Target="fonts/font18.fntdata"/><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font" Target="fonts/font17.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3857175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Video Link: https://</a:t>
            </a:r>
            <a:r>
              <a:rPr lang="en-US" dirty="0" err="1"/>
              <a:t>algebranation.wistia.com</a:t>
            </a:r>
            <a:r>
              <a:rPr lang="en-US" dirty="0"/>
              <a:t>/medias/fi4fidi5y8</a:t>
            </a: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Video Link: https://</a:t>
            </a:r>
            <a:r>
              <a:rPr lang="en-US" dirty="0" err="1"/>
              <a:t>algebranation.wistia.com</a:t>
            </a:r>
            <a:r>
              <a:rPr lang="en-US" dirty="0"/>
              <a:t>/medias/fi4fidi5y8</a:t>
            </a: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23541589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3918865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8480710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31127488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10842181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5432584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5432584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2580380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25752346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19413163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11335488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42191853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27538053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130189515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8.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0.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3.png"/><Relationship Id="rId2" Type="http://schemas.openxmlformats.org/officeDocument/2006/relationships/notesSlide" Target="../notesSlides/notesSlide15.xml"/><Relationship Id="rId1" Type="http://schemas.openxmlformats.org/officeDocument/2006/relationships/slideLayout" Target="../slideLayouts/slideLayout8.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34.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5" Type="http://schemas.openxmlformats.org/officeDocument/2006/relationships/image" Target="../media/image35.jpeg"/><Relationship Id="rId4" Type="http://schemas.openxmlformats.org/officeDocument/2006/relationships/image" Target="../media/image340.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media/image36.tiff"/><Relationship Id="rId4" Type="http://schemas.openxmlformats.org/officeDocument/2006/relationships/image" Target="../media/image36.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38.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37.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42.png"/><Relationship Id="rId2" Type="http://schemas.openxmlformats.org/officeDocument/2006/relationships/notesSlide" Target="../notesSlides/notesSlide22.xml"/><Relationship Id="rId1" Type="http://schemas.openxmlformats.org/officeDocument/2006/relationships/slideLayout" Target="../slideLayouts/slideLayout8.xml"/><Relationship Id="rId6" Type="http://schemas.openxmlformats.org/officeDocument/2006/relationships/image" Target="../media/image39.png"/><Relationship Id="rId5" Type="http://schemas.openxmlformats.org/officeDocument/2006/relationships/image" Target="../media/image40.png"/><Relationship Id="rId4" Type="http://schemas.openxmlformats.org/officeDocument/2006/relationships/image" Target="../media/image37.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1" y="2212773"/>
            <a:ext cx="5077650"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7</a:t>
            </a:r>
            <a:r>
              <a:rPr lang="en-US" sz="3600" b="1" baseline="30000" dirty="0">
                <a:solidFill>
                  <a:srgbClr val="417DBF"/>
                </a:solidFill>
                <a:latin typeface="Verdana"/>
                <a:ea typeface="Verdana"/>
                <a:cs typeface="Verdana"/>
                <a:sym typeface="Verdana"/>
              </a:rPr>
              <a:t>th</a:t>
            </a:r>
            <a:r>
              <a:rPr lang="en-US" sz="3600" b="1" dirty="0">
                <a:solidFill>
                  <a:srgbClr val="417DBF"/>
                </a:solidFill>
                <a:latin typeface="Verdana"/>
                <a:ea typeface="Verdana"/>
                <a:cs typeface="Verdana"/>
                <a:sym typeface="Verdana"/>
              </a:rPr>
              <a:t> Grade Math</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4, Lesson 6</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Finding Circumference</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152</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480" y="1522577"/>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43000" y="-91440"/>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152</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914400" y="1307592"/>
            <a:ext cx="105156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3500" dirty="0">
                <a:latin typeface="Verdana" panose="020B0604030504040204" pitchFamily="34" charset="0"/>
                <a:ea typeface="Verdana" panose="020B0604030504040204" pitchFamily="34" charset="0"/>
                <a:cs typeface="Verdana" panose="020B0604030504040204" pitchFamily="34" charset="0"/>
              </a:rPr>
              <a:t>MA.7.GR.1.3</a:t>
            </a:r>
          </a:p>
          <a:p>
            <a:pPr marL="552450" lvl="1" indent="0">
              <a:buNone/>
            </a:pPr>
            <a:r>
              <a:rPr lang="en-US" sz="3500" dirty="0">
                <a:latin typeface="Verdana" panose="020B0604030504040204" pitchFamily="34" charset="0"/>
                <a:ea typeface="Verdana" panose="020B0604030504040204" pitchFamily="34" charset="0"/>
                <a:cs typeface="Verdana" panose="020B0604030504040204" pitchFamily="34" charset="0"/>
              </a:rPr>
              <a:t>Explore the proportional relationship between circumferences and diameters of circles. Apply a formula for the circumference of a circle to solve mathematical and real-world problems.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78;g104476d1465_1_17">
            <a:extLst>
              <a:ext uri="{FF2B5EF4-FFF2-40B4-BE49-F238E27FC236}">
                <a16:creationId xmlns:a16="http://schemas.microsoft.com/office/drawing/2014/main" id="{78632872-3F42-3447-924A-20A16C6976F7}"/>
              </a:ext>
            </a:extLst>
          </p:cNvPr>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3" name="Google Shape;281;g104476d1465_1_17">
            <a:extLst>
              <a:ext uri="{FF2B5EF4-FFF2-40B4-BE49-F238E27FC236}">
                <a16:creationId xmlns:a16="http://schemas.microsoft.com/office/drawing/2014/main" id="{D915A027-4791-D04E-90A8-9E6239ED88EB}"/>
              </a:ext>
            </a:extLst>
          </p:cNvPr>
          <p:cNvPicPr preferRelativeResize="0"/>
          <p:nvPr/>
        </p:nvPicPr>
        <p:blipFill>
          <a:blip r:embed="rId2">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pic>
        <p:nvPicPr>
          <p:cNvPr id="4" name="Google Shape;283;g104476d1465_1_17">
            <a:extLst>
              <a:ext uri="{FF2B5EF4-FFF2-40B4-BE49-F238E27FC236}">
                <a16:creationId xmlns:a16="http://schemas.microsoft.com/office/drawing/2014/main" id="{983DCB5F-2CE8-A74F-A579-F39E2E9337FB}"/>
              </a:ext>
            </a:extLst>
          </p:cNvPr>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5" name="Google Shape;295;g103996e1364_0_10">
            <a:extLst>
              <a:ext uri="{FF2B5EF4-FFF2-40B4-BE49-F238E27FC236}">
                <a16:creationId xmlns:a16="http://schemas.microsoft.com/office/drawing/2014/main" id="{73A67FE7-C13F-C24F-85E9-A4B96A1F42A8}"/>
              </a:ext>
            </a:extLst>
          </p:cNvPr>
          <p:cNvSpPr txBox="1">
            <a:spLocks/>
          </p:cNvSpPr>
          <p:nvPr/>
        </p:nvSpPr>
        <p:spPr>
          <a:xfrm>
            <a:off x="1143000" y="129667"/>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6" name="Google Shape;282;g104476d1465_1_17">
            <a:extLst>
              <a:ext uri="{FF2B5EF4-FFF2-40B4-BE49-F238E27FC236}">
                <a16:creationId xmlns:a16="http://schemas.microsoft.com/office/drawing/2014/main" id="{FD66E1D7-C8ED-8A4A-9EE6-BDBA39B99125}"/>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152</a:t>
            </a:r>
            <a:endParaRPr i="1" dirty="0">
              <a:latin typeface="Calibri"/>
              <a:ea typeface="Calibri"/>
              <a:cs typeface="Calibri"/>
              <a:sym typeface="Calibri"/>
            </a:endParaRPr>
          </a:p>
        </p:txBody>
      </p:sp>
      <p:sp>
        <p:nvSpPr>
          <p:cNvPr id="7" name="Google Shape;296;g103996e1364_0_10">
            <a:extLst>
              <a:ext uri="{FF2B5EF4-FFF2-40B4-BE49-F238E27FC236}">
                <a16:creationId xmlns:a16="http://schemas.microsoft.com/office/drawing/2014/main" id="{5BB4D65A-27E8-4F4F-9348-5380FE318E8D}"/>
              </a:ext>
            </a:extLst>
          </p:cNvPr>
          <p:cNvSpPr txBox="1">
            <a:spLocks/>
          </p:cNvSpPr>
          <p:nvPr/>
        </p:nvSpPr>
        <p:spPr>
          <a:xfrm>
            <a:off x="914400" y="1455367"/>
            <a:ext cx="10515600" cy="474523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p:txBody>
      </p:sp>
    </p:spTree>
    <p:extLst>
      <p:ext uri="{BB962C8B-B14F-4D97-AF65-F5344CB8AC3E}">
        <p14:creationId xmlns:p14="http://schemas.microsoft.com/office/powerpoint/2010/main" val="2342996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143000" y="3066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id="{3ECD2D46-55D5-C547-91DD-0801CE9D6AD7}"/>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152</a:t>
            </a:r>
            <a:endParaRPr i="1" dirty="0">
              <a:latin typeface="Calibri"/>
              <a:ea typeface="Calibri"/>
              <a:cs typeface="Calibri"/>
              <a:sym typeface="Calibri"/>
            </a:endParaRPr>
          </a:p>
        </p:txBody>
      </p:sp>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914400" y="1600200"/>
            <a:ext cx="105156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571500" indent="-571500">
              <a:buFont typeface="Wingdings" pitchFamily="2" charset="2"/>
              <a:buChar char="q"/>
            </a:pPr>
            <a:r>
              <a:rPr lang="en-US" sz="3500" dirty="0">
                <a:latin typeface="Verdana" panose="020B0604030504040204" pitchFamily="34" charset="0"/>
                <a:ea typeface="Verdana" panose="020B0604030504040204" pitchFamily="34" charset="0"/>
                <a:cs typeface="Verdana" panose="020B0604030504040204" pitchFamily="34" charset="0"/>
              </a:rPr>
              <a:t>I can find the circumference of a circle.</a:t>
            </a:r>
          </a:p>
        </p:txBody>
      </p:sp>
    </p:spTree>
    <p:extLst>
      <p:ext uri="{BB962C8B-B14F-4D97-AF65-F5344CB8AC3E}">
        <p14:creationId xmlns:p14="http://schemas.microsoft.com/office/powerpoint/2010/main" val="20714203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3054096" y="2770632"/>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087368"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153</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43000" y="60325"/>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4.6.1 Warm-Up: Circular Objects</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153</a:t>
            </a:r>
            <a:endParaRPr i="1" dirty="0">
              <a:latin typeface="Calibri"/>
              <a:ea typeface="Calibri"/>
              <a:cs typeface="Calibri"/>
              <a:sym typeface="Calibri"/>
            </a:endParaRPr>
          </a:p>
        </p:txBody>
      </p:sp>
      <p:sp>
        <p:nvSpPr>
          <p:cNvPr id="2" name="TextBox 1">
            <a:extLst>
              <a:ext uri="{FF2B5EF4-FFF2-40B4-BE49-F238E27FC236}">
                <a16:creationId xmlns:a16="http://schemas.microsoft.com/office/drawing/2014/main" id="{E1D7562E-134F-D14B-AF1A-DF40E11EF758}"/>
              </a:ext>
            </a:extLst>
          </p:cNvPr>
          <p:cNvSpPr txBox="1"/>
          <p:nvPr/>
        </p:nvSpPr>
        <p:spPr>
          <a:xfrm>
            <a:off x="914400" y="1403982"/>
            <a:ext cx="10515600" cy="1785104"/>
          </a:xfrm>
          <a:prstGeom prst="rect">
            <a:avLst/>
          </a:prstGeom>
          <a:noFill/>
        </p:spPr>
        <p:txBody>
          <a:bodyPr wrap="square" rtlCol="0">
            <a:spAutoFit/>
          </a:bodyPr>
          <a:lstStyle/>
          <a:p>
            <a:pPr>
              <a:spcAft>
                <a:spcPts val="1200"/>
              </a:spcAft>
            </a:pPr>
            <a:r>
              <a:rPr lang="en-US" sz="2000" dirty="0">
                <a:latin typeface="Verdana" panose="020B0604030504040204" pitchFamily="34" charset="0"/>
                <a:ea typeface="Verdana" panose="020B0604030504040204" pitchFamily="34" charset="0"/>
                <a:cs typeface="Verdana" panose="020B0604030504040204" pitchFamily="34" charset="0"/>
              </a:rPr>
              <a:t>Three pictures of circular objects, with measurement tools, are shown. The measurement tool on each picture reads as follows:</a:t>
            </a:r>
          </a:p>
          <a:p>
            <a:r>
              <a:rPr lang="en-US" sz="2000" dirty="0">
                <a:latin typeface="Verdana" panose="020B0604030504040204" pitchFamily="34" charset="0"/>
                <a:ea typeface="Verdana" panose="020B0604030504040204" pitchFamily="34" charset="0"/>
                <a:cs typeface="Verdana" panose="020B0604030504040204" pitchFamily="34" charset="0"/>
              </a:rPr>
              <a:t>Wagon wheel: 3 feet (ft)</a:t>
            </a:r>
          </a:p>
          <a:p>
            <a:r>
              <a:rPr lang="en-US" sz="2000" dirty="0">
                <a:latin typeface="Verdana" panose="020B0604030504040204" pitchFamily="34" charset="0"/>
                <a:ea typeface="Verdana" panose="020B0604030504040204" pitchFamily="34" charset="0"/>
                <a:cs typeface="Verdana" panose="020B0604030504040204" pitchFamily="34" charset="0"/>
              </a:rPr>
              <a:t>Plane propeller: 24 inches (in)</a:t>
            </a:r>
          </a:p>
          <a:p>
            <a:r>
              <a:rPr lang="en-US" sz="2000" dirty="0">
                <a:latin typeface="Verdana" panose="020B0604030504040204" pitchFamily="34" charset="0"/>
                <a:ea typeface="Verdana" panose="020B0604030504040204" pitchFamily="34" charset="0"/>
                <a:cs typeface="Verdana" panose="020B0604030504040204" pitchFamily="34" charset="0"/>
              </a:rPr>
              <a:t>Sliced Orange: 20 centimeters (cm)</a:t>
            </a:r>
          </a:p>
        </p:txBody>
      </p:sp>
      <p:sp>
        <p:nvSpPr>
          <p:cNvPr id="19" name="Rectangle 13">
            <a:extLst>
              <a:ext uri="{FF2B5EF4-FFF2-40B4-BE49-F238E27FC236}">
                <a16:creationId xmlns:a16="http://schemas.microsoft.com/office/drawing/2014/main" id="{F32FA606-312E-FE45-9E7F-5EB4EB578347}"/>
              </a:ext>
            </a:extLst>
          </p:cNvPr>
          <p:cNvSpPr>
            <a:spLocks noChangeArrowheads="1"/>
          </p:cNvSpPr>
          <p:nvPr/>
        </p:nvSpPr>
        <p:spPr bwMode="auto">
          <a:xfrm>
            <a:off x="1676401" y="1963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buClrTx/>
            </a:pPr>
            <a:endParaRPr lang="en-US" altLang="en-US" sz="1800">
              <a:solidFill>
                <a:schemeClr val="tx1"/>
              </a:solidFill>
              <a:latin typeface="Arial" panose="020B0604020202020204" pitchFamily="34" charset="0"/>
            </a:endParaRPr>
          </a:p>
        </p:txBody>
      </p:sp>
      <p:sp>
        <p:nvSpPr>
          <p:cNvPr id="20" name="Rectangle 15">
            <a:extLst>
              <a:ext uri="{FF2B5EF4-FFF2-40B4-BE49-F238E27FC236}">
                <a16:creationId xmlns:a16="http://schemas.microsoft.com/office/drawing/2014/main" id="{3F80061E-0FC7-534E-8F32-815F86902C26}"/>
              </a:ext>
            </a:extLst>
          </p:cNvPr>
          <p:cNvSpPr>
            <a:spLocks noChangeArrowheads="1"/>
          </p:cNvSpPr>
          <p:nvPr/>
        </p:nvSpPr>
        <p:spPr bwMode="auto">
          <a:xfrm>
            <a:off x="1676401" y="4557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1" name="Rectangle 16">
            <a:extLst>
              <a:ext uri="{FF2B5EF4-FFF2-40B4-BE49-F238E27FC236}">
                <a16:creationId xmlns:a16="http://schemas.microsoft.com/office/drawing/2014/main" id="{F0663C2D-D71E-9747-B131-91E050FC8DF5}"/>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2" name="Rectangle 18">
            <a:extLst>
              <a:ext uri="{FF2B5EF4-FFF2-40B4-BE49-F238E27FC236}">
                <a16:creationId xmlns:a16="http://schemas.microsoft.com/office/drawing/2014/main" id="{1EDB4A78-8756-D641-B2CF-25FE103BD06D}"/>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 name="Table 3">
            <a:extLst>
              <a:ext uri="{FF2B5EF4-FFF2-40B4-BE49-F238E27FC236}">
                <a16:creationId xmlns:a16="http://schemas.microsoft.com/office/drawing/2014/main" id="{08AE3ECE-54E4-364F-8B50-54422785014F}"/>
              </a:ext>
            </a:extLst>
          </p:cNvPr>
          <p:cNvGraphicFramePr>
            <a:graphicFrameLocks noGrp="1"/>
          </p:cNvGraphicFramePr>
          <p:nvPr>
            <p:extLst>
              <p:ext uri="{D42A27DB-BD31-4B8C-83A1-F6EECF244321}">
                <p14:modId xmlns:p14="http://schemas.microsoft.com/office/powerpoint/2010/main" val="2502514195"/>
              </p:ext>
            </p:extLst>
          </p:nvPr>
        </p:nvGraphicFramePr>
        <p:xfrm>
          <a:off x="2240280" y="3424825"/>
          <a:ext cx="8069580" cy="2590800"/>
        </p:xfrm>
        <a:graphic>
          <a:graphicData uri="http://schemas.openxmlformats.org/drawingml/2006/table">
            <a:tbl>
              <a:tblPr firstRow="1" firstCol="1" bandRow="1"/>
              <a:tblGrid>
                <a:gridCol w="2689860">
                  <a:extLst>
                    <a:ext uri="{9D8B030D-6E8A-4147-A177-3AD203B41FA5}">
                      <a16:colId xmlns:a16="http://schemas.microsoft.com/office/drawing/2014/main" val="3244193235"/>
                    </a:ext>
                  </a:extLst>
                </a:gridCol>
                <a:gridCol w="2689860">
                  <a:extLst>
                    <a:ext uri="{9D8B030D-6E8A-4147-A177-3AD203B41FA5}">
                      <a16:colId xmlns:a16="http://schemas.microsoft.com/office/drawing/2014/main" val="4079685267"/>
                    </a:ext>
                  </a:extLst>
                </a:gridCol>
                <a:gridCol w="2689860">
                  <a:extLst>
                    <a:ext uri="{9D8B030D-6E8A-4147-A177-3AD203B41FA5}">
                      <a16:colId xmlns:a16="http://schemas.microsoft.com/office/drawing/2014/main" val="3888915698"/>
                    </a:ext>
                  </a:extLst>
                </a:gridCol>
              </a:tblGrid>
              <a:tr h="457200">
                <a:tc>
                  <a:txBody>
                    <a:bodyPr/>
                    <a:lstStyle/>
                    <a:p>
                      <a:pPr marL="93345" marR="0" algn="ctr">
                        <a:spcBef>
                          <a:spcPts val="0"/>
                        </a:spcBef>
                        <a:spcAft>
                          <a:spcPts val="0"/>
                        </a:spcAft>
                      </a:pPr>
                      <a:r>
                        <a:rPr lang="en-US" sz="2000" b="1" dirty="0">
                          <a:effectLst/>
                          <a:latin typeface="Verdana" panose="020B0604030504040204" pitchFamily="34" charset="0"/>
                          <a:ea typeface="Times New Roman" panose="02020603050405020304" pitchFamily="18" charset="0"/>
                          <a:cs typeface="Times New Roman" panose="02020603050405020304" pitchFamily="18" charset="0"/>
                        </a:rPr>
                        <a:t>Wagon Wheel</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Plane Propeller</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Sliced Orange</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541809862"/>
                  </a:ext>
                </a:extLst>
              </a:tr>
              <a:tr h="457200">
                <a:tc>
                  <a:txBody>
                    <a:bodyPr/>
                    <a:lstStyle/>
                    <a:p>
                      <a:pPr marL="93345" marR="0" algn="ctr">
                        <a:spcBef>
                          <a:spcPts val="0"/>
                        </a:spcBef>
                        <a:spcAft>
                          <a:spcPts val="0"/>
                        </a:spcAft>
                      </a:pPr>
                      <a:endParaRPr lang="en-PH"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93345" marR="0" algn="ctr">
                        <a:spcBef>
                          <a:spcPts val="0"/>
                        </a:spcBef>
                        <a:spcAft>
                          <a:spcPts val="0"/>
                        </a:spcAft>
                      </a:pPr>
                      <a:endParaRPr lang="en-PH"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93345" marR="0" algn="ctr">
                        <a:spcBef>
                          <a:spcPts val="0"/>
                        </a:spcBef>
                        <a:spcAft>
                          <a:spcPts val="0"/>
                        </a:spcAft>
                      </a:pPr>
                      <a:endParaRPr lang="en-PH"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93345" marR="0" algn="ctr">
                        <a:spcBef>
                          <a:spcPts val="0"/>
                        </a:spcBef>
                        <a:spcAft>
                          <a:spcPts val="0"/>
                        </a:spcAft>
                      </a:pPr>
                      <a:endParaRPr lang="en-PH"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93345" marR="0" algn="ctr">
                        <a:spcBef>
                          <a:spcPts val="0"/>
                        </a:spcBef>
                        <a:spcAft>
                          <a:spcPts val="0"/>
                        </a:spcAft>
                      </a:pPr>
                      <a:endParaRPr lang="en-PH"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93345" marR="0" algn="ctr">
                        <a:spcBef>
                          <a:spcPts val="0"/>
                        </a:spcBef>
                        <a:spcAft>
                          <a:spcPts val="0"/>
                        </a:spcAft>
                      </a:pPr>
                      <a:endParaRPr lang="en-PH"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93345" marR="0" algn="ctr">
                        <a:spcBef>
                          <a:spcPts val="0"/>
                        </a:spcBef>
                        <a:spcAft>
                          <a:spcPts val="0"/>
                        </a:spcAft>
                      </a:pP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spcBef>
                          <a:spcPts val="0"/>
                        </a:spcBef>
                        <a:spcAft>
                          <a:spcPts val="0"/>
                        </a:spcAft>
                      </a:pP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spcBef>
                          <a:spcPts val="0"/>
                        </a:spcBef>
                        <a:spcAft>
                          <a:spcPts val="0"/>
                        </a:spcAft>
                      </a:pP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pic>
        <p:nvPicPr>
          <p:cNvPr id="1026" name="Picture 2"/>
          <p:cNvPicPr>
            <a:picLocks noChangeAspect="1" noChangeArrowheads="1"/>
          </p:cNvPicPr>
          <p:nvPr/>
        </p:nvPicPr>
        <p:blipFill rotWithShape="1">
          <a:blip r:embed="rId5">
            <a:extLst>
              <a:ext uri="{28A0092B-C50C-407E-A947-70E740481C1C}">
                <a14:useLocalDpi xmlns:a14="http://schemas.microsoft.com/office/drawing/2010/main"/>
              </a:ext>
            </a:extLst>
          </a:blip>
          <a:srcRect r="2000"/>
          <a:stretch/>
        </p:blipFill>
        <p:spPr bwMode="auto">
          <a:xfrm>
            <a:off x="2762250" y="4087814"/>
            <a:ext cx="1680210" cy="173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6">
            <a:extLst>
              <a:ext uri="{28A0092B-C50C-407E-A947-70E740481C1C}">
                <a14:useLocalDpi xmlns:a14="http://schemas.microsoft.com/office/drawing/2010/main"/>
              </a:ext>
            </a:extLst>
          </a:blip>
          <a:srcRect/>
          <a:stretch>
            <a:fillRect/>
          </a:stretch>
        </p:blipFill>
        <p:spPr bwMode="auto">
          <a:xfrm>
            <a:off x="8007280" y="4234657"/>
            <a:ext cx="1941470" cy="1436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rotWithShape="1">
          <a:blip r:embed="rId7">
            <a:extLst>
              <a:ext uri="{28A0092B-C50C-407E-A947-70E740481C1C}">
                <a14:useLocalDpi xmlns:a14="http://schemas.microsoft.com/office/drawing/2010/main"/>
              </a:ext>
            </a:extLst>
          </a:blip>
          <a:srcRect t="897" r="837" b="1261"/>
          <a:stretch/>
        </p:blipFill>
        <p:spPr bwMode="auto">
          <a:xfrm>
            <a:off x="5481456" y="4103370"/>
            <a:ext cx="1708015" cy="16992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153</a:t>
            </a:r>
            <a:endParaRPr i="1" dirty="0">
              <a:latin typeface="Calibri"/>
              <a:ea typeface="Calibri"/>
              <a:cs typeface="Calibri"/>
              <a:sym typeface="Calibri"/>
            </a:endParaRPr>
          </a:p>
        </p:txBody>
      </p:sp>
      <p:sp>
        <p:nvSpPr>
          <p:cNvPr id="2" name="TextBox 1">
            <a:extLst>
              <a:ext uri="{FF2B5EF4-FFF2-40B4-BE49-F238E27FC236}">
                <a16:creationId xmlns:a16="http://schemas.microsoft.com/office/drawing/2014/main" id="{E1D7562E-134F-D14B-AF1A-DF40E11EF758}"/>
              </a:ext>
            </a:extLst>
          </p:cNvPr>
          <p:cNvSpPr txBox="1"/>
          <p:nvPr/>
        </p:nvSpPr>
        <p:spPr>
          <a:xfrm>
            <a:off x="914400" y="354727"/>
            <a:ext cx="10515600" cy="3170099"/>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For each object, what does the measurement represent?</a:t>
            </a: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Choose one of the objects and explain why you think it would be helpful to know the measurement given. </a:t>
            </a:r>
          </a:p>
        </p:txBody>
      </p:sp>
      <p:sp>
        <p:nvSpPr>
          <p:cNvPr id="19" name="Rectangle 13">
            <a:extLst>
              <a:ext uri="{FF2B5EF4-FFF2-40B4-BE49-F238E27FC236}">
                <a16:creationId xmlns:a16="http://schemas.microsoft.com/office/drawing/2014/main" id="{F32FA606-312E-FE45-9E7F-5EB4EB578347}"/>
              </a:ext>
            </a:extLst>
          </p:cNvPr>
          <p:cNvSpPr>
            <a:spLocks noChangeArrowheads="1"/>
          </p:cNvSpPr>
          <p:nvPr/>
        </p:nvSpPr>
        <p:spPr bwMode="auto">
          <a:xfrm>
            <a:off x="1676401" y="1963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buClrTx/>
            </a:pPr>
            <a:endParaRPr lang="en-US" altLang="en-US" sz="1800">
              <a:solidFill>
                <a:schemeClr val="tx1"/>
              </a:solidFill>
              <a:latin typeface="Arial" panose="020B0604020202020204" pitchFamily="34" charset="0"/>
            </a:endParaRPr>
          </a:p>
        </p:txBody>
      </p:sp>
      <p:sp>
        <p:nvSpPr>
          <p:cNvPr id="21" name="Rectangle 16">
            <a:extLst>
              <a:ext uri="{FF2B5EF4-FFF2-40B4-BE49-F238E27FC236}">
                <a16:creationId xmlns:a16="http://schemas.microsoft.com/office/drawing/2014/main" id="{F0663C2D-D71E-9747-B131-91E050FC8DF5}"/>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2" name="Rectangle 18">
            <a:extLst>
              <a:ext uri="{FF2B5EF4-FFF2-40B4-BE49-F238E27FC236}">
                <a16:creationId xmlns:a16="http://schemas.microsoft.com/office/drawing/2014/main" id="{1EDB4A78-8756-D641-B2CF-25FE103BD06D}"/>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1" name="Table 10">
            <a:extLst>
              <a:ext uri="{FF2B5EF4-FFF2-40B4-BE49-F238E27FC236}">
                <a16:creationId xmlns:a16="http://schemas.microsoft.com/office/drawing/2014/main" id="{08AE3ECE-54E4-364F-8B50-54422785014F}"/>
              </a:ext>
            </a:extLst>
          </p:cNvPr>
          <p:cNvGraphicFramePr>
            <a:graphicFrameLocks noGrp="1"/>
          </p:cNvGraphicFramePr>
          <p:nvPr>
            <p:extLst>
              <p:ext uri="{D42A27DB-BD31-4B8C-83A1-F6EECF244321}">
                <p14:modId xmlns:p14="http://schemas.microsoft.com/office/powerpoint/2010/main" val="3324369585"/>
              </p:ext>
            </p:extLst>
          </p:nvPr>
        </p:nvGraphicFramePr>
        <p:xfrm>
          <a:off x="2598420" y="875570"/>
          <a:ext cx="7338060" cy="1554480"/>
        </p:xfrm>
        <a:graphic>
          <a:graphicData uri="http://schemas.openxmlformats.org/drawingml/2006/table">
            <a:tbl>
              <a:tblPr firstRow="1" firstCol="1" bandRow="1"/>
              <a:tblGrid>
                <a:gridCol w="2446020">
                  <a:extLst>
                    <a:ext uri="{9D8B030D-6E8A-4147-A177-3AD203B41FA5}">
                      <a16:colId xmlns:a16="http://schemas.microsoft.com/office/drawing/2014/main" val="3244193235"/>
                    </a:ext>
                  </a:extLst>
                </a:gridCol>
                <a:gridCol w="2446020">
                  <a:extLst>
                    <a:ext uri="{9D8B030D-6E8A-4147-A177-3AD203B41FA5}">
                      <a16:colId xmlns:a16="http://schemas.microsoft.com/office/drawing/2014/main" val="4079685267"/>
                    </a:ext>
                  </a:extLst>
                </a:gridCol>
                <a:gridCol w="2446020">
                  <a:extLst>
                    <a:ext uri="{9D8B030D-6E8A-4147-A177-3AD203B41FA5}">
                      <a16:colId xmlns:a16="http://schemas.microsoft.com/office/drawing/2014/main" val="3888915698"/>
                    </a:ext>
                  </a:extLst>
                </a:gridCol>
              </a:tblGrid>
              <a:tr h="457200">
                <a:tc>
                  <a:txBody>
                    <a:bodyPr/>
                    <a:lstStyle/>
                    <a:p>
                      <a:pPr marL="93345" marR="0" algn="ctr">
                        <a:spcBef>
                          <a:spcPts val="0"/>
                        </a:spcBef>
                        <a:spcAft>
                          <a:spcPts val="0"/>
                        </a:spcAft>
                      </a:pPr>
                      <a:r>
                        <a:rPr lang="en-US" sz="2000" b="1" dirty="0">
                          <a:effectLst/>
                          <a:latin typeface="Verdana" panose="020B0604030504040204" pitchFamily="34" charset="0"/>
                          <a:ea typeface="Times New Roman" panose="02020603050405020304" pitchFamily="18" charset="0"/>
                          <a:cs typeface="Times New Roman" panose="02020603050405020304" pitchFamily="18" charset="0"/>
                        </a:rPr>
                        <a:t>Wagon Wheel</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Plane Propeller</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Sliced Orange</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541809862"/>
                  </a:ext>
                </a:extLst>
              </a:tr>
              <a:tr h="457200">
                <a:tc>
                  <a:txBody>
                    <a:bodyPr/>
                    <a:lstStyle/>
                    <a:p>
                      <a:pPr marL="342900" marR="0" lvl="0" indent="-342900" algn="l" defTabSz="914400" rtl="0" eaLnBrk="1" fontAlgn="auto" latinLnBrk="0" hangingPunct="1">
                        <a:lnSpc>
                          <a:spcPct val="100000"/>
                        </a:lnSpc>
                        <a:spcBef>
                          <a:spcPts val="0"/>
                        </a:spcBef>
                        <a:spcAft>
                          <a:spcPts val="0"/>
                        </a:spcAft>
                        <a:buClr>
                          <a:srgbClr val="000000"/>
                        </a:buClr>
                        <a:buSzTx/>
                        <a:buFont typeface="Courier New" panose="02070309020205020404" pitchFamily="49" charset="0"/>
                        <a:buChar char="o"/>
                        <a:tabLst/>
                        <a:defRPr/>
                      </a:pPr>
                      <a:r>
                        <a:rPr kumimoji="0" lang="en-US" sz="2000" b="0" i="0" u="none" strike="noStrike" kern="0" cap="none" spc="0" normalizeH="0" baseline="0" noProof="0" dirty="0">
                          <a:ln>
                            <a:noFill/>
                          </a:ln>
                          <a:solidFill>
                            <a:srgbClr val="000000"/>
                          </a:solidFill>
                          <a:effectLst/>
                          <a:uLnTx/>
                          <a:uFillTx/>
                          <a:latin typeface="Verdana" panose="020B0604030504040204" pitchFamily="34" charset="0"/>
                          <a:ea typeface="Verdana" pitchFamily="34" charset="0"/>
                          <a:cs typeface="Times New Roman" panose="02020603050405020304" pitchFamily="18" charset="0"/>
                          <a:sym typeface="Arial"/>
                        </a:rPr>
                        <a:t>radius</a:t>
                      </a:r>
                      <a:endParaRPr kumimoji="0" lang="x-none" sz="2000" b="0" i="0" u="none" strike="noStrike" kern="0" cap="none" spc="0" normalizeH="0" baseline="0" noProof="0">
                        <a:ln>
                          <a:noFill/>
                        </a:ln>
                        <a:solidFill>
                          <a:srgbClr val="000000"/>
                        </a:solidFill>
                        <a:effectLst/>
                        <a:uLnTx/>
                        <a:uFillTx/>
                        <a:latin typeface="Verdana" pitchFamily="34" charset="0"/>
                        <a:ea typeface="Verdana" pitchFamily="34" charset="0"/>
                        <a:cs typeface="Times New Roman" panose="02020603050405020304" pitchFamily="18" charset="0"/>
                        <a:sym typeface="Arial"/>
                      </a:endParaRPr>
                    </a:p>
                    <a:p>
                      <a:pPr marL="342900" marR="0" lvl="0" indent="-342900" algn="l" defTabSz="914400" rtl="0" eaLnBrk="1" fontAlgn="auto" latinLnBrk="0" hangingPunct="1">
                        <a:lnSpc>
                          <a:spcPct val="100000"/>
                        </a:lnSpc>
                        <a:spcBef>
                          <a:spcPts val="0"/>
                        </a:spcBef>
                        <a:spcAft>
                          <a:spcPts val="0"/>
                        </a:spcAft>
                        <a:buClr>
                          <a:srgbClr val="000000"/>
                        </a:buClr>
                        <a:buSzTx/>
                        <a:buFont typeface="Courier New" panose="02070309020205020404" pitchFamily="49" charset="0"/>
                        <a:buChar char="o"/>
                        <a:tabLst/>
                        <a:defRPr/>
                      </a:pPr>
                      <a:r>
                        <a:rPr kumimoji="0" lang="en-US" sz="2000" b="0" i="0" u="none" strike="noStrike" kern="0" cap="none" spc="0" normalizeH="0" baseline="0" noProof="0" dirty="0">
                          <a:ln>
                            <a:noFill/>
                          </a:ln>
                          <a:solidFill>
                            <a:srgbClr val="000000"/>
                          </a:solidFill>
                          <a:effectLst/>
                          <a:uLnTx/>
                          <a:uFillTx/>
                          <a:latin typeface="Verdana" panose="020B0604030504040204" pitchFamily="34" charset="0"/>
                          <a:ea typeface="Verdana" pitchFamily="34" charset="0"/>
                          <a:cs typeface="Times New Roman" panose="02020603050405020304" pitchFamily="18" charset="0"/>
                          <a:sym typeface="Arial"/>
                        </a:rPr>
                        <a:t>diameter</a:t>
                      </a:r>
                      <a:endParaRPr kumimoji="0" lang="x-none" sz="2000" b="0" i="0" u="none" strike="noStrike" kern="0" cap="none" spc="0" normalizeH="0" baseline="0" noProof="0">
                        <a:ln>
                          <a:noFill/>
                        </a:ln>
                        <a:solidFill>
                          <a:srgbClr val="000000"/>
                        </a:solidFill>
                        <a:effectLst/>
                        <a:uLnTx/>
                        <a:uFillTx/>
                        <a:latin typeface="Verdana" pitchFamily="34" charset="0"/>
                        <a:ea typeface="Verdana" pitchFamily="34" charset="0"/>
                        <a:cs typeface="Times New Roman" panose="02020603050405020304" pitchFamily="18" charset="0"/>
                        <a:sym typeface="Arial"/>
                      </a:endParaRPr>
                    </a:p>
                    <a:p>
                      <a:pPr marL="342900" marR="0" lvl="0" indent="-342900" algn="l" defTabSz="914400" rtl="0" eaLnBrk="1" fontAlgn="auto" latinLnBrk="0" hangingPunct="1">
                        <a:lnSpc>
                          <a:spcPct val="100000"/>
                        </a:lnSpc>
                        <a:spcBef>
                          <a:spcPts val="0"/>
                        </a:spcBef>
                        <a:spcAft>
                          <a:spcPts val="0"/>
                        </a:spcAft>
                        <a:buClr>
                          <a:srgbClr val="000000"/>
                        </a:buClr>
                        <a:buSzTx/>
                        <a:buFont typeface="Courier New" panose="02070309020205020404" pitchFamily="49" charset="0"/>
                        <a:buChar char="o"/>
                        <a:tabLst/>
                        <a:defRPr/>
                      </a:pPr>
                      <a:r>
                        <a:rPr kumimoji="0" lang="en-US" sz="2000" b="0" i="0" u="none" strike="noStrike" kern="0" cap="none" spc="0" normalizeH="0" baseline="0" noProof="0" dirty="0">
                          <a:ln>
                            <a:noFill/>
                          </a:ln>
                          <a:solidFill>
                            <a:srgbClr val="000000"/>
                          </a:solidFill>
                          <a:effectLst/>
                          <a:uLnTx/>
                          <a:uFillTx/>
                          <a:latin typeface="Verdana" panose="020B0604030504040204" pitchFamily="34" charset="0"/>
                          <a:ea typeface="Verdana" pitchFamily="34" charset="0"/>
                          <a:cs typeface="Times New Roman" panose="02020603050405020304" pitchFamily="18" charset="0"/>
                          <a:sym typeface="Arial"/>
                        </a:rPr>
                        <a:t>circumference</a:t>
                      </a:r>
                      <a:endParaRPr lang="en-PH"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342900" marR="0" lvl="0" indent="-342900" algn="l" defTabSz="914400" rtl="0" eaLnBrk="1" fontAlgn="auto" latinLnBrk="0" hangingPunct="1">
                        <a:lnSpc>
                          <a:spcPct val="100000"/>
                        </a:lnSpc>
                        <a:spcBef>
                          <a:spcPts val="0"/>
                        </a:spcBef>
                        <a:spcAft>
                          <a:spcPts val="0"/>
                        </a:spcAft>
                        <a:buClr>
                          <a:srgbClr val="000000"/>
                        </a:buClr>
                        <a:buSzTx/>
                        <a:buFont typeface="Courier New" panose="02070309020205020404" pitchFamily="49" charset="0"/>
                        <a:buChar char="o"/>
                        <a:tabLst/>
                        <a:defRPr/>
                      </a:pPr>
                      <a:r>
                        <a:rPr kumimoji="0" lang="en-US" sz="2000" b="0" i="0" u="none" strike="noStrike" kern="0" cap="none" spc="0" normalizeH="0" baseline="0" noProof="0" dirty="0">
                          <a:ln>
                            <a:noFill/>
                          </a:ln>
                          <a:solidFill>
                            <a:srgbClr val="000000"/>
                          </a:solidFill>
                          <a:effectLst/>
                          <a:uLnTx/>
                          <a:uFillTx/>
                          <a:latin typeface="Verdana" panose="020B0604030504040204" pitchFamily="34" charset="0"/>
                          <a:ea typeface="Verdana" pitchFamily="34" charset="0"/>
                          <a:cs typeface="Times New Roman" panose="02020603050405020304" pitchFamily="18" charset="0"/>
                          <a:sym typeface="Arial"/>
                        </a:rPr>
                        <a:t>radius</a:t>
                      </a:r>
                      <a:endParaRPr kumimoji="0" lang="x-none" sz="2000" b="0" i="0" u="none" strike="noStrike" kern="0" cap="none" spc="0" normalizeH="0" baseline="0" noProof="0">
                        <a:ln>
                          <a:noFill/>
                        </a:ln>
                        <a:solidFill>
                          <a:srgbClr val="000000"/>
                        </a:solidFill>
                        <a:effectLst/>
                        <a:uLnTx/>
                        <a:uFillTx/>
                        <a:latin typeface="Verdana" pitchFamily="34" charset="0"/>
                        <a:ea typeface="Verdana" pitchFamily="34" charset="0"/>
                        <a:cs typeface="Times New Roman" panose="02020603050405020304" pitchFamily="18" charset="0"/>
                        <a:sym typeface="Arial"/>
                      </a:endParaRPr>
                    </a:p>
                    <a:p>
                      <a:pPr marL="342900" marR="0" lvl="0" indent="-342900" algn="l" defTabSz="914400" rtl="0" eaLnBrk="1" fontAlgn="auto" latinLnBrk="0" hangingPunct="1">
                        <a:lnSpc>
                          <a:spcPct val="100000"/>
                        </a:lnSpc>
                        <a:spcBef>
                          <a:spcPts val="0"/>
                        </a:spcBef>
                        <a:spcAft>
                          <a:spcPts val="0"/>
                        </a:spcAft>
                        <a:buClr>
                          <a:srgbClr val="000000"/>
                        </a:buClr>
                        <a:buSzTx/>
                        <a:buFont typeface="Courier New" panose="02070309020205020404" pitchFamily="49" charset="0"/>
                        <a:buChar char="o"/>
                        <a:tabLst/>
                        <a:defRPr/>
                      </a:pPr>
                      <a:r>
                        <a:rPr kumimoji="0" lang="en-US" sz="2000" b="0" i="0" u="none" strike="noStrike" kern="0" cap="none" spc="0" normalizeH="0" baseline="0" noProof="0" dirty="0">
                          <a:ln>
                            <a:noFill/>
                          </a:ln>
                          <a:solidFill>
                            <a:srgbClr val="000000"/>
                          </a:solidFill>
                          <a:effectLst/>
                          <a:uLnTx/>
                          <a:uFillTx/>
                          <a:latin typeface="Verdana" panose="020B0604030504040204" pitchFamily="34" charset="0"/>
                          <a:ea typeface="Verdana" pitchFamily="34" charset="0"/>
                          <a:cs typeface="Times New Roman" panose="02020603050405020304" pitchFamily="18" charset="0"/>
                          <a:sym typeface="Arial"/>
                        </a:rPr>
                        <a:t>diameter</a:t>
                      </a:r>
                      <a:endParaRPr kumimoji="0" lang="x-none" sz="2000" b="0" i="0" u="none" strike="noStrike" kern="0" cap="none" spc="0" normalizeH="0" baseline="0" noProof="0">
                        <a:ln>
                          <a:noFill/>
                        </a:ln>
                        <a:solidFill>
                          <a:srgbClr val="000000"/>
                        </a:solidFill>
                        <a:effectLst/>
                        <a:uLnTx/>
                        <a:uFillTx/>
                        <a:latin typeface="Verdana" pitchFamily="34" charset="0"/>
                        <a:ea typeface="Verdana" pitchFamily="34" charset="0"/>
                        <a:cs typeface="Times New Roman" panose="02020603050405020304" pitchFamily="18" charset="0"/>
                        <a:sym typeface="Arial"/>
                      </a:endParaRPr>
                    </a:p>
                    <a:p>
                      <a:pPr marL="342900" marR="0" lvl="0" indent="-342900" algn="l" defTabSz="914400" rtl="0" eaLnBrk="1" fontAlgn="auto" latinLnBrk="0" hangingPunct="1">
                        <a:lnSpc>
                          <a:spcPct val="100000"/>
                        </a:lnSpc>
                        <a:spcBef>
                          <a:spcPts val="0"/>
                        </a:spcBef>
                        <a:spcAft>
                          <a:spcPts val="0"/>
                        </a:spcAft>
                        <a:buClr>
                          <a:srgbClr val="000000"/>
                        </a:buClr>
                        <a:buSzTx/>
                        <a:buFont typeface="Courier New" panose="02070309020205020404" pitchFamily="49" charset="0"/>
                        <a:buChar char="o"/>
                        <a:tabLst/>
                        <a:defRPr/>
                      </a:pPr>
                      <a:r>
                        <a:rPr kumimoji="0" lang="en-US" sz="2000" b="0" i="0" u="none" strike="noStrike" kern="0" cap="none" spc="0" normalizeH="0" baseline="0" noProof="0" dirty="0">
                          <a:ln>
                            <a:noFill/>
                          </a:ln>
                          <a:solidFill>
                            <a:srgbClr val="000000"/>
                          </a:solidFill>
                          <a:effectLst/>
                          <a:uLnTx/>
                          <a:uFillTx/>
                          <a:latin typeface="Verdana" panose="020B0604030504040204" pitchFamily="34" charset="0"/>
                          <a:ea typeface="Verdana" pitchFamily="34" charset="0"/>
                          <a:cs typeface="Times New Roman" panose="02020603050405020304" pitchFamily="18" charset="0"/>
                          <a:sym typeface="Arial"/>
                        </a:rPr>
                        <a:t>circumference</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342900" marR="0" lvl="0" indent="-342900" algn="l" defTabSz="914400" rtl="0" eaLnBrk="1" fontAlgn="auto" latinLnBrk="0" hangingPunct="1">
                        <a:lnSpc>
                          <a:spcPct val="100000"/>
                        </a:lnSpc>
                        <a:spcBef>
                          <a:spcPts val="0"/>
                        </a:spcBef>
                        <a:spcAft>
                          <a:spcPts val="0"/>
                        </a:spcAft>
                        <a:buClr>
                          <a:srgbClr val="000000"/>
                        </a:buClr>
                        <a:buSzTx/>
                        <a:buFont typeface="Courier New" panose="02070309020205020404" pitchFamily="49" charset="0"/>
                        <a:buChar char="o"/>
                        <a:tabLst/>
                        <a:defRPr/>
                      </a:pPr>
                      <a:r>
                        <a:rPr kumimoji="0" lang="en-US" sz="2000" b="0" i="0" u="none" strike="noStrike" kern="0" cap="none" spc="0" normalizeH="0" baseline="0" noProof="0" dirty="0">
                          <a:ln>
                            <a:noFill/>
                          </a:ln>
                          <a:solidFill>
                            <a:srgbClr val="000000"/>
                          </a:solidFill>
                          <a:effectLst/>
                          <a:uLnTx/>
                          <a:uFillTx/>
                          <a:latin typeface="Verdana" panose="020B0604030504040204" pitchFamily="34" charset="0"/>
                          <a:ea typeface="Verdana" pitchFamily="34" charset="0"/>
                          <a:cs typeface="Times New Roman" panose="02020603050405020304" pitchFamily="18" charset="0"/>
                          <a:sym typeface="Arial"/>
                        </a:rPr>
                        <a:t>radius</a:t>
                      </a:r>
                      <a:endParaRPr kumimoji="0" lang="x-none" sz="2000" b="0" i="0" u="none" strike="noStrike" kern="0" cap="none" spc="0" normalizeH="0" baseline="0" noProof="0">
                        <a:ln>
                          <a:noFill/>
                        </a:ln>
                        <a:solidFill>
                          <a:srgbClr val="000000"/>
                        </a:solidFill>
                        <a:effectLst/>
                        <a:uLnTx/>
                        <a:uFillTx/>
                        <a:latin typeface="Verdana" pitchFamily="34" charset="0"/>
                        <a:ea typeface="Verdana" pitchFamily="34" charset="0"/>
                        <a:cs typeface="Times New Roman" panose="02020603050405020304" pitchFamily="18" charset="0"/>
                        <a:sym typeface="Arial"/>
                      </a:endParaRPr>
                    </a:p>
                    <a:p>
                      <a:pPr marL="342900" marR="0" lvl="0" indent="-342900" algn="l" defTabSz="914400" rtl="0" eaLnBrk="1" fontAlgn="auto" latinLnBrk="0" hangingPunct="1">
                        <a:lnSpc>
                          <a:spcPct val="100000"/>
                        </a:lnSpc>
                        <a:spcBef>
                          <a:spcPts val="0"/>
                        </a:spcBef>
                        <a:spcAft>
                          <a:spcPts val="0"/>
                        </a:spcAft>
                        <a:buClr>
                          <a:srgbClr val="000000"/>
                        </a:buClr>
                        <a:buSzTx/>
                        <a:buFont typeface="Courier New" panose="02070309020205020404" pitchFamily="49" charset="0"/>
                        <a:buChar char="o"/>
                        <a:tabLst/>
                        <a:defRPr/>
                      </a:pPr>
                      <a:r>
                        <a:rPr kumimoji="0" lang="en-US" sz="2000" b="0" i="0" u="none" strike="noStrike" kern="0" cap="none" spc="0" normalizeH="0" baseline="0" noProof="0" dirty="0">
                          <a:ln>
                            <a:noFill/>
                          </a:ln>
                          <a:solidFill>
                            <a:srgbClr val="000000"/>
                          </a:solidFill>
                          <a:effectLst/>
                          <a:uLnTx/>
                          <a:uFillTx/>
                          <a:latin typeface="Verdana" panose="020B0604030504040204" pitchFamily="34" charset="0"/>
                          <a:ea typeface="Verdana" pitchFamily="34" charset="0"/>
                          <a:cs typeface="Times New Roman" panose="02020603050405020304" pitchFamily="18" charset="0"/>
                          <a:sym typeface="Arial"/>
                        </a:rPr>
                        <a:t>diameter</a:t>
                      </a:r>
                      <a:endParaRPr kumimoji="0" lang="x-none" sz="2000" b="0" i="0" u="none" strike="noStrike" kern="0" cap="none" spc="0" normalizeH="0" baseline="0" noProof="0">
                        <a:ln>
                          <a:noFill/>
                        </a:ln>
                        <a:solidFill>
                          <a:srgbClr val="000000"/>
                        </a:solidFill>
                        <a:effectLst/>
                        <a:uLnTx/>
                        <a:uFillTx/>
                        <a:latin typeface="Verdana" pitchFamily="34" charset="0"/>
                        <a:ea typeface="Verdana" pitchFamily="34" charset="0"/>
                        <a:cs typeface="Times New Roman" panose="02020603050405020304" pitchFamily="18" charset="0"/>
                        <a:sym typeface="Arial"/>
                      </a:endParaRPr>
                    </a:p>
                    <a:p>
                      <a:pPr marL="342900" marR="0" lvl="0" indent="-342900" algn="l" defTabSz="914400" rtl="0" eaLnBrk="1" fontAlgn="auto" latinLnBrk="0" hangingPunct="1">
                        <a:lnSpc>
                          <a:spcPct val="100000"/>
                        </a:lnSpc>
                        <a:spcBef>
                          <a:spcPts val="0"/>
                        </a:spcBef>
                        <a:spcAft>
                          <a:spcPts val="0"/>
                        </a:spcAft>
                        <a:buClr>
                          <a:srgbClr val="000000"/>
                        </a:buClr>
                        <a:buSzTx/>
                        <a:buFont typeface="Courier New" panose="02070309020205020404" pitchFamily="49" charset="0"/>
                        <a:buChar char="o"/>
                        <a:tabLst/>
                        <a:defRPr/>
                      </a:pPr>
                      <a:r>
                        <a:rPr kumimoji="0" lang="en-US" sz="2000" b="0" i="0" u="none" strike="noStrike" kern="0" cap="none" spc="0" normalizeH="0" baseline="0" noProof="0" dirty="0">
                          <a:ln>
                            <a:noFill/>
                          </a:ln>
                          <a:solidFill>
                            <a:srgbClr val="000000"/>
                          </a:solidFill>
                          <a:effectLst/>
                          <a:uLnTx/>
                          <a:uFillTx/>
                          <a:latin typeface="Verdana" panose="020B0604030504040204" pitchFamily="34" charset="0"/>
                          <a:ea typeface="Verdana" pitchFamily="34" charset="0"/>
                          <a:cs typeface="Times New Roman" panose="02020603050405020304" pitchFamily="18" charset="0"/>
                          <a:sym typeface="Arial"/>
                        </a:rPr>
                        <a:t>circumference</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5091781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153</a:t>
            </a:r>
            <a:endParaRPr i="1" dirty="0">
              <a:latin typeface="Calibri"/>
              <a:ea typeface="Calibri"/>
              <a:cs typeface="Calibri"/>
              <a:sym typeface="Calibri"/>
            </a:endParaRPr>
          </a:p>
        </p:txBody>
      </p:sp>
      <p:pic>
        <p:nvPicPr>
          <p:cNvPr id="7" name="image8.png" descr="Icon&#10;&#10;Description automatically generated">
            <a:extLst>
              <a:ext uri="{FF2B5EF4-FFF2-40B4-BE49-F238E27FC236}">
                <a16:creationId xmlns:a16="http://schemas.microsoft.com/office/drawing/2014/main" id="{AB982B07-EA49-3F45-9358-4D1740D99680}"/>
              </a:ext>
            </a:extLst>
          </p:cNvPr>
          <p:cNvPicPr/>
          <p:nvPr/>
        </p:nvPicPr>
        <p:blipFill>
          <a:blip r:embed="rId4"/>
          <a:srcRect/>
          <a:stretch>
            <a:fillRect/>
          </a:stretch>
        </p:blipFill>
        <p:spPr>
          <a:xfrm>
            <a:off x="3054096" y="2852928"/>
            <a:ext cx="1148148" cy="1148148"/>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7026124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143000" y="-69547"/>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600" b="1" dirty="0">
                <a:solidFill>
                  <a:srgbClr val="54B5D1"/>
                </a:solidFill>
                <a:latin typeface="Verdana"/>
                <a:ea typeface="Verdana"/>
                <a:cs typeface="Verdana"/>
                <a:sym typeface="Verdana"/>
              </a:rPr>
              <a:t>4.6.2 Guided Instruction: Circumference</a:t>
            </a: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153</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FE208A00-51E7-C544-ABDE-AE9DC3DAAB4C}"/>
                  </a:ext>
                </a:extLst>
              </p:cNvPr>
              <p:cNvSpPr>
                <a:spLocks noChangeArrowheads="1"/>
              </p:cNvSpPr>
              <p:nvPr/>
            </p:nvSpPr>
            <p:spPr bwMode="auto">
              <a:xfrm>
                <a:off x="914400" y="1281638"/>
                <a:ext cx="10515600" cy="3945183"/>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lvl="0" eaLnBrk="0" fontAlgn="base" hangingPunct="0">
                  <a:spcBef>
                    <a:spcPct val="0"/>
                  </a:spcBef>
                  <a:spcAft>
                    <a:spcPct val="0"/>
                  </a:spcAft>
                  <a:buClrTx/>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The relationship between the diameter, 𝑑, and the circumference, 𝐶, of a circle is proportional because the ratio of </a:t>
                </a:r>
                <a14:m>
                  <m:oMath xmlns:m="http://schemas.openxmlformats.org/officeDocument/2006/math">
                    <m:r>
                      <a:rPr lang="en-US" altLang="en-US"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𝐶</m:t>
                    </m:r>
                    <m:r>
                      <a:rPr lang="en-US" altLang="en-US"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m:t>
                    </m:r>
                    <m:r>
                      <a:rPr lang="en-US" altLang="en-US"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𝑑</m:t>
                    </m:r>
                  </m:oMath>
                </a14:m>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is always the same. This ratio, </a:t>
                </a:r>
                <a14:m>
                  <m:oMath xmlns:m="http://schemas.openxmlformats.org/officeDocument/2006/math">
                    <m:f>
                      <m:fPr>
                        <m:ctrlPr>
                          <a:rPr lang="en-US" altLang="en-US" sz="2000" i="1">
                            <a:solidFill>
                              <a:schemeClr val="tx1"/>
                            </a:solidFill>
                            <a:latin typeface="Cambria Math" panose="02040503050406030204" pitchFamily="18" charset="0"/>
                            <a:cs typeface="Times New Roman" panose="02020603050405020304" pitchFamily="18" charset="0"/>
                          </a:rPr>
                        </m:ctrlPr>
                      </m:fPr>
                      <m:num>
                        <m:r>
                          <a:rPr lang="es-ES" altLang="en-US" sz="2000" i="1">
                            <a:solidFill>
                              <a:schemeClr val="tx1"/>
                            </a:solidFill>
                            <a:latin typeface="Cambria Math" panose="02040503050406030204" pitchFamily="18" charset="0"/>
                            <a:cs typeface="Times New Roman" panose="02020603050405020304" pitchFamily="18" charset="0"/>
                          </a:rPr>
                          <m:t>𝐶</m:t>
                        </m:r>
                      </m:num>
                      <m:den>
                        <m:r>
                          <a:rPr lang="es-ES" altLang="en-US" sz="2000" i="1">
                            <a:solidFill>
                              <a:schemeClr val="tx1"/>
                            </a:solidFill>
                            <a:latin typeface="Cambria Math" panose="02040503050406030204" pitchFamily="18" charset="0"/>
                            <a:cs typeface="Times New Roman" panose="02020603050405020304" pitchFamily="18" charset="0"/>
                          </a:rPr>
                          <m:t>𝑑</m:t>
                        </m:r>
                      </m:den>
                    </m:f>
                  </m:oMath>
                </a14:m>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is called pi. The Greek symbol 𝜋 is used to represent this value.</a:t>
                </a:r>
              </a:p>
              <a:p>
                <a:pPr lvl="0" eaLnBrk="0" fontAlgn="base" hangingPunct="0">
                  <a:spcBef>
                    <a:spcPct val="0"/>
                  </a:spcBef>
                  <a:spcAft>
                    <a:spcPct val="0"/>
                  </a:spcAft>
                  <a:buClrTx/>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a:t>
                </a:r>
              </a:p>
              <a:p>
                <a:pPr marL="457200" indent="-457200" eaLnBrk="0" fontAlgn="base" hangingPunct="0">
                  <a:spcBef>
                    <a:spcPct val="0"/>
                  </a:spcBef>
                  <a:spcAft>
                    <a:spcPts val="2000"/>
                  </a:spcAft>
                  <a:buClrTx/>
                  <a:buFont typeface="+mj-lt"/>
                  <a:buAutoNum type="arabicPeriod"/>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Rewrite the equation </a:t>
                </a:r>
                <a14:m>
                  <m:oMath xmlns:m="http://schemas.openxmlformats.org/officeDocument/2006/math">
                    <m:r>
                      <a:rPr lang="en-US" altLang="en-US"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𝜋</m:t>
                    </m:r>
                    <m:r>
                      <a:rPr lang="en-US" altLang="en-US"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m:t>
                    </m:r>
                    <m:f>
                      <m:fPr>
                        <m:ctrlPr>
                          <a:rPr lang="en-US" altLang="en-US" sz="2000" i="1" dirty="0">
                            <a:solidFill>
                              <a:schemeClr val="tx1"/>
                            </a:solidFill>
                            <a:latin typeface="Cambria Math" panose="02040503050406030204" pitchFamily="18" charset="0"/>
                            <a:cs typeface="Times New Roman" panose="02020603050405020304" pitchFamily="18" charset="0"/>
                          </a:rPr>
                        </m:ctrlPr>
                      </m:fPr>
                      <m:num>
                        <m:r>
                          <a:rPr lang="es-ES" altLang="en-US" sz="2000" i="1" dirty="0">
                            <a:solidFill>
                              <a:schemeClr val="tx1"/>
                            </a:solidFill>
                            <a:latin typeface="Cambria Math" panose="02040503050406030204" pitchFamily="18" charset="0"/>
                            <a:cs typeface="Times New Roman" panose="02020603050405020304" pitchFamily="18" charset="0"/>
                          </a:rPr>
                          <m:t>𝐶</m:t>
                        </m:r>
                      </m:num>
                      <m:den>
                        <m:r>
                          <a:rPr lang="es-ES" altLang="en-US" sz="2000" i="1" dirty="0">
                            <a:solidFill>
                              <a:schemeClr val="tx1"/>
                            </a:solidFill>
                            <a:latin typeface="Cambria Math" panose="02040503050406030204" pitchFamily="18" charset="0"/>
                            <a:cs typeface="Times New Roman" panose="02020603050405020304" pitchFamily="18" charset="0"/>
                          </a:rPr>
                          <m:t>𝑑</m:t>
                        </m:r>
                      </m:den>
                    </m:f>
                  </m:oMath>
                </a14:m>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so that circumference, 𝐶, is written in terms of diameter, 𝑑.</a:t>
                </a:r>
              </a:p>
              <a:p>
                <a:pPr algn="ctr" eaLnBrk="0" fontAlgn="base" hangingPunct="0">
                  <a:spcBef>
                    <a:spcPct val="0"/>
                  </a:spcBef>
                  <a:spcAft>
                    <a:spcPts val="2000"/>
                  </a:spcAft>
                  <a:buClrTx/>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altLang="en-US"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𝐶</m:t>
                    </m:r>
                    <m:r>
                      <a:rPr lang="en-US" altLang="en-US"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=_______________.</m:t>
                    </m:r>
                  </m:oMath>
                </a14:m>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rabicPeriod" startAt="2"/>
                </a:pPr>
                <a:r>
                  <a:rPr lang="en-US" altLang="en-US" sz="2000" dirty="0">
                    <a:latin typeface="Verdana" panose="020B0604030504040204" pitchFamily="34" charset="0"/>
                    <a:ea typeface="Times New Roman" panose="02020603050405020304" pitchFamily="18" charset="0"/>
                    <a:cs typeface="Times New Roman" panose="02020603050405020304" pitchFamily="18" charset="0"/>
                  </a:rPr>
                  <a:t>Describe the relationship between the radius and the diameter of a circle. </a:t>
                </a:r>
              </a:p>
            </p:txBody>
          </p:sp>
        </mc:Choice>
        <mc:Fallback xmlns="">
          <p:sp>
            <p:nvSpPr>
              <p:cNvPr id="4" name="Rectangle 3">
                <a:extLst>
                  <a:ext uri="{FF2B5EF4-FFF2-40B4-BE49-F238E27FC236}">
                    <a16:creationId xmlns:a16="http://schemas.microsoft.com/office/drawing/2014/main" id="{FE208A00-51E7-C544-ABDE-AE9DC3DAAB4C}"/>
                  </a:ext>
                </a:extLst>
              </p:cNvPr>
              <p:cNvSpPr>
                <a:spLocks noRot="1" noChangeAspect="1" noMove="1" noResize="1" noEditPoints="1" noAdjustHandles="1" noChangeArrowheads="1" noChangeShapeType="1" noTextEdit="1"/>
              </p:cNvSpPr>
              <p:nvPr/>
            </p:nvSpPr>
            <p:spPr bwMode="auto">
              <a:xfrm>
                <a:off x="914400" y="1281638"/>
                <a:ext cx="10515600" cy="3945183"/>
              </a:xfrm>
              <a:prstGeom prst="rect">
                <a:avLst/>
              </a:prstGeom>
              <a:blipFill>
                <a:blip r:embed="rId4"/>
                <a:stretch>
                  <a:fillRect l="-603" t="-962"/>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pic>
        <p:nvPicPr>
          <p:cNvPr id="11" name="image8.png" descr="Icon&#10;&#10;Description automatically generated">
            <a:extLst>
              <a:ext uri="{FF2B5EF4-FFF2-40B4-BE49-F238E27FC236}">
                <a16:creationId xmlns:a16="http://schemas.microsoft.com/office/drawing/2014/main" id="{7FE1B030-AC57-FE45-AE67-8F01F9AF0527}"/>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a:off x="356616" y="201168"/>
            <a:ext cx="747299" cy="747299"/>
          </a:xfrm>
          <a:prstGeom prst="rect">
            <a:avLst/>
          </a:prstGeom>
          <a:ln/>
        </p:spPr>
      </p:pic>
    </p:spTree>
    <p:extLst>
      <p:ext uri="{BB962C8B-B14F-4D97-AF65-F5344CB8AC3E}">
        <p14:creationId xmlns:p14="http://schemas.microsoft.com/office/powerpoint/2010/main" val="39024578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153</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8C57DA1A-1C97-3B4F-B122-2EDD1996ABB2}"/>
                  </a:ext>
                </a:extLst>
              </p:cNvPr>
              <p:cNvSpPr>
                <a:spLocks noChangeArrowheads="1"/>
              </p:cNvSpPr>
              <p:nvPr/>
            </p:nvSpPr>
            <p:spPr bwMode="auto">
              <a:xfrm>
                <a:off x="914400" y="339576"/>
                <a:ext cx="10515600" cy="157992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457200" indent="-457200" eaLnBrk="0" fontAlgn="base" hangingPunct="0">
                  <a:spcBef>
                    <a:spcPct val="0"/>
                  </a:spcBef>
                  <a:spcAft>
                    <a:spcPts val="2000"/>
                  </a:spcAft>
                  <a:buClrTx/>
                  <a:buFont typeface="+mj-lt"/>
                  <a:buAutoNum type="arabicPeriod" startAt="3"/>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Rewrite the equation from question 1 so that circumference, 𝐶, is written in terms of radius, 𝑟, by substituting how many radii make up the diameter, 𝑑.</a:t>
                </a:r>
              </a:p>
              <a:p>
                <a:pPr lvl="0" algn="ctr" eaLnBrk="0" fontAlgn="base" hangingPunct="0">
                  <a:spcBef>
                    <a:spcPct val="0"/>
                  </a:spcBef>
                  <a:spcAft>
                    <a:spcPct val="0"/>
                  </a:spcAft>
                  <a:buClrTx/>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altLang="en-US"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𝐶</m:t>
                    </m:r>
                    <m:r>
                      <a:rPr lang="en-US" altLang="en-US"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=_______________.</m:t>
                    </m:r>
                  </m:oMath>
                </a14:m>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p:txBody>
          </p:sp>
        </mc:Choice>
        <mc:Fallback xmlns="">
          <p:sp>
            <p:nvSpPr>
              <p:cNvPr id="17" name="Rectangle 16">
                <a:extLst>
                  <a:ext uri="{FF2B5EF4-FFF2-40B4-BE49-F238E27FC236}">
                    <a16:creationId xmlns:a16="http://schemas.microsoft.com/office/drawing/2014/main" id="{8C57DA1A-1C97-3B4F-B122-2EDD1996ABB2}"/>
                  </a:ext>
                </a:extLst>
              </p:cNvPr>
              <p:cNvSpPr>
                <a:spLocks noRot="1" noChangeAspect="1" noMove="1" noResize="1" noEditPoints="1" noAdjustHandles="1" noChangeArrowheads="1" noChangeShapeType="1" noTextEdit="1"/>
              </p:cNvSpPr>
              <p:nvPr/>
            </p:nvSpPr>
            <p:spPr bwMode="auto">
              <a:xfrm>
                <a:off x="914400" y="339576"/>
                <a:ext cx="10515600" cy="1579920"/>
              </a:xfrm>
              <a:prstGeom prst="rect">
                <a:avLst/>
              </a:prstGeom>
              <a:blipFill>
                <a:blip r:embed="rId4"/>
                <a:stretch>
                  <a:fillRect l="-603" t="-2381"/>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grpSp>
        <p:nvGrpSpPr>
          <p:cNvPr id="2" name="Group 1"/>
          <p:cNvGrpSpPr/>
          <p:nvPr/>
        </p:nvGrpSpPr>
        <p:grpSpPr>
          <a:xfrm>
            <a:off x="2772927" y="3803998"/>
            <a:ext cx="7561975" cy="1946752"/>
            <a:chOff x="1248926" y="2451448"/>
            <a:chExt cx="7561975" cy="1946752"/>
          </a:xfrm>
        </p:grpSpPr>
        <mc:AlternateContent xmlns:mc="http://schemas.openxmlformats.org/markup-compatibility/2006" xmlns:a14="http://schemas.microsoft.com/office/drawing/2010/main">
          <mc:Choice Requires="a14">
            <p:sp>
              <p:nvSpPr>
                <p:cNvPr id="11" name="Rounded Rectangle 10">
                  <a:extLst>
                    <a:ext uri="{FF2B5EF4-FFF2-40B4-BE49-F238E27FC236}">
                      <a16:creationId xmlns:a16="http://schemas.microsoft.com/office/drawing/2014/main" id="{71F88CCD-DFDE-5345-9B00-9C341D29706A}"/>
                    </a:ext>
                  </a:extLst>
                </p:cNvPr>
                <p:cNvSpPr/>
                <p:nvPr/>
              </p:nvSpPr>
              <p:spPr>
                <a:xfrm>
                  <a:off x="1248926" y="2451448"/>
                  <a:ext cx="7561975" cy="1946752"/>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91440" rIns="91425" bIns="0" anchor="ctr" anchorCtr="0">
                  <a:spAutoFit/>
                </a:bodyPr>
                <a:lstStyle/>
                <a:p>
                  <a:pPr marL="742950">
                    <a:spcAft>
                      <a:spcPts val="1000"/>
                    </a:spcAft>
                  </a:pPr>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Pi </a:t>
                  </a:r>
                  <a:r>
                    <a:rPr lang="en-US" sz="2000" b="1" dirty="0">
                      <a:solidFill>
                        <a:srgbClr val="6C993D"/>
                      </a:solidFill>
                      <a:latin typeface="Verdana" panose="020B0604030504040204" pitchFamily="34" charset="0"/>
                      <a:ea typeface="Verdana" panose="020B0604030504040204" pitchFamily="34" charset="0"/>
                      <a:cs typeface="Verdana" panose="020B0604030504040204" pitchFamily="34" charset="0"/>
                    </a:rPr>
                    <a:t>(</a:t>
                  </a:r>
                  <a14:m>
                    <m:oMath xmlns:m="http://schemas.openxmlformats.org/officeDocument/2006/math">
                      <m:r>
                        <a:rPr lang="en-US" sz="2000" b="1" i="1">
                          <a:solidFill>
                            <a:srgbClr val="6C993D"/>
                          </a:solidFill>
                          <a:latin typeface="Cambria Math" panose="02040503050406030204" pitchFamily="18" charset="0"/>
                          <a:ea typeface="Verdana" panose="020B0604030504040204" pitchFamily="34" charset="0"/>
                          <a:cs typeface="Verdana" panose="020B0604030504040204" pitchFamily="34" charset="0"/>
                        </a:rPr>
                        <m:t>𝝅</m:t>
                      </m:r>
                    </m:oMath>
                  </a14:m>
                  <a:r>
                    <a:rPr lang="en-US" sz="2000" b="1" dirty="0">
                      <a:solidFill>
                        <a:srgbClr val="6C993D"/>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is the symbol designating the ratio of the circumference of a circle to its diameter. It is an irrational number. </a:t>
                  </a:r>
                  <a:endParaRPr lang="x-none" sz="2000" dirty="0">
                    <a:latin typeface="Verdana" pitchFamily="34" charset="0"/>
                    <a:ea typeface="Verdana" pitchFamily="34" charset="0"/>
                    <a:cs typeface="Times New Roman" panose="02020603050405020304" pitchFamily="18" charset="0"/>
                  </a:endParaRPr>
                </a:p>
                <a:p>
                  <a:pPr marL="742950">
                    <a:spcAft>
                      <a:spcPts val="1000"/>
                    </a:spcAft>
                  </a:pP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Common approximations for pi are </a:t>
                  </a:r>
                  <a14:m>
                    <m:oMath xmlns:m="http://schemas.openxmlformats.org/officeDocument/2006/math">
                      <m:r>
                        <a:rPr lang="en-US" sz="2000" i="1">
                          <a:solidFill>
                            <a:srgbClr val="6C993D"/>
                          </a:solidFill>
                          <a:latin typeface="Cambria Math" panose="02040503050406030204" pitchFamily="18" charset="0"/>
                          <a:ea typeface="Verdana" panose="020B0604030504040204" pitchFamily="34" charset="0"/>
                          <a:cs typeface="Verdana" panose="020B0604030504040204" pitchFamily="34" charset="0"/>
                        </a:rPr>
                        <m:t>3.14</m:t>
                      </m:r>
                    </m:oMath>
                  </a14:m>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f>
                        <m:fPr>
                          <m:ctrlPr>
                            <a:rPr lang="x-none" sz="2000" i="1">
                              <a:solidFill>
                                <a:srgbClr val="6C993D"/>
                              </a:solidFill>
                              <a:latin typeface="Cambria Math" panose="02040503050406030204" pitchFamily="18" charset="0"/>
                              <a:ea typeface="Verdana" panose="020B0604030504040204" pitchFamily="34" charset="0"/>
                              <a:cs typeface="Verdana" panose="020B0604030504040204" pitchFamily="34" charset="0"/>
                            </a:rPr>
                          </m:ctrlPr>
                        </m:fPr>
                        <m:num>
                          <m:r>
                            <a:rPr lang="en-US" sz="2000" i="1">
                              <a:solidFill>
                                <a:srgbClr val="6C993D"/>
                              </a:solidFill>
                              <a:latin typeface="Cambria Math" panose="02040503050406030204" pitchFamily="18" charset="0"/>
                              <a:ea typeface="Verdana" panose="020B0604030504040204" pitchFamily="34" charset="0"/>
                              <a:cs typeface="Verdana" panose="020B0604030504040204" pitchFamily="34" charset="0"/>
                            </a:rPr>
                            <m:t>22</m:t>
                          </m:r>
                        </m:num>
                        <m:den>
                          <m:r>
                            <a:rPr lang="en-US" sz="2000" i="1">
                              <a:solidFill>
                                <a:srgbClr val="6C993D"/>
                              </a:solidFill>
                              <a:latin typeface="Cambria Math" panose="02040503050406030204" pitchFamily="18" charset="0"/>
                              <a:ea typeface="Verdana" panose="020B0604030504040204" pitchFamily="34" charset="0"/>
                              <a:cs typeface="Verdana" panose="020B0604030504040204" pitchFamily="34" charset="0"/>
                            </a:rPr>
                            <m:t>7</m:t>
                          </m:r>
                        </m:den>
                      </m:f>
                    </m:oMath>
                  </a14:m>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or </a:t>
                  </a:r>
                  <a14:m>
                    <m:oMath xmlns:m="http://schemas.openxmlformats.org/officeDocument/2006/math">
                      <m:f>
                        <m:fPr>
                          <m:ctrlPr>
                            <a:rPr lang="x-none" sz="2000" i="1">
                              <a:solidFill>
                                <a:srgbClr val="6C993D"/>
                              </a:solidFill>
                              <a:latin typeface="Cambria Math" panose="02040503050406030204" pitchFamily="18" charset="0"/>
                              <a:ea typeface="Verdana" panose="020B0604030504040204" pitchFamily="34" charset="0"/>
                              <a:cs typeface="Verdana" panose="020B0604030504040204" pitchFamily="34" charset="0"/>
                            </a:rPr>
                          </m:ctrlPr>
                        </m:fPr>
                        <m:num>
                          <m:r>
                            <a:rPr lang="en-US" sz="2000" i="1">
                              <a:solidFill>
                                <a:srgbClr val="6C993D"/>
                              </a:solidFill>
                              <a:latin typeface="Cambria Math" panose="02040503050406030204" pitchFamily="18" charset="0"/>
                              <a:ea typeface="Verdana" panose="020B0604030504040204" pitchFamily="34" charset="0"/>
                              <a:cs typeface="Verdana" panose="020B0604030504040204" pitchFamily="34" charset="0"/>
                            </a:rPr>
                            <m:t>355</m:t>
                          </m:r>
                        </m:num>
                        <m:den>
                          <m:r>
                            <a:rPr lang="en-US" sz="2000" i="1">
                              <a:solidFill>
                                <a:srgbClr val="6C993D"/>
                              </a:solidFill>
                              <a:latin typeface="Cambria Math" panose="02040503050406030204" pitchFamily="18" charset="0"/>
                              <a:ea typeface="Verdana" panose="020B0604030504040204" pitchFamily="34" charset="0"/>
                              <a:cs typeface="Verdana" panose="020B0604030504040204" pitchFamily="34" charset="0"/>
                            </a:rPr>
                            <m:t>113</m:t>
                          </m:r>
                        </m:den>
                      </m:f>
                    </m:oMath>
                  </a14:m>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a:t>
                  </a:r>
                  <a:endParaRPr lang="x-none" sz="2000" dirty="0">
                    <a:latin typeface="Verdana" pitchFamily="34" charset="0"/>
                    <a:ea typeface="Verdana" pitchFamily="34" charset="0"/>
                    <a:cs typeface="Times New Roman" panose="02020603050405020304" pitchFamily="18" charset="0"/>
                  </a:endParaRPr>
                </a:p>
              </p:txBody>
            </p:sp>
          </mc:Choice>
          <mc:Fallback xmlns="">
            <p:sp>
              <p:nvSpPr>
                <p:cNvPr id="11" name="Rounded Rectangle 10">
                  <a:extLst>
                    <a:ext uri="{FF2B5EF4-FFF2-40B4-BE49-F238E27FC236}">
                      <a16:creationId xmlns:a16="http://schemas.microsoft.com/office/drawing/2014/main" xmlns:a14="http://schemas.microsoft.com/office/drawing/2010/main" xmlns="" id="{71F88CCD-DFDE-5345-9B00-9C341D29706A}"/>
                    </a:ext>
                  </a:extLst>
                </p:cNvPr>
                <p:cNvSpPr>
                  <a:spLocks noRot="1" noChangeAspect="1" noMove="1" noResize="1" noEditPoints="1" noAdjustHandles="1" noChangeArrowheads="1" noChangeShapeType="1" noTextEdit="1"/>
                </p:cNvSpPr>
                <p:nvPr/>
              </p:nvSpPr>
              <p:spPr>
                <a:xfrm>
                  <a:off x="1248926" y="2451448"/>
                  <a:ext cx="7561975" cy="1946752"/>
                </a:xfrm>
                <a:prstGeom prst="roundRect">
                  <a:avLst>
                    <a:gd name="adj" fmla="val 16667"/>
                  </a:avLst>
                </a:prstGeom>
                <a:blipFill rotWithShape="1">
                  <a:blip r:embed="rId5"/>
                  <a:stretch>
                    <a:fillRect/>
                  </a:stretch>
                </a:blipFill>
                <a:ln>
                  <a:noFill/>
                </a:ln>
                <a:effectLst>
                  <a:outerShdw blurRad="50800" dist="38100" dir="2700000" algn="tl" rotWithShape="0">
                    <a:prstClr val="black">
                      <a:alpha val="40000"/>
                    </a:prstClr>
                  </a:outerShdw>
                </a:effectLst>
              </p:spPr>
              <p:txBody>
                <a:bodyPr/>
                <a:lstStyle/>
                <a:p>
                  <a:r>
                    <a:rPr lang="en-US">
                      <a:noFill/>
                    </a:rPr>
                    <a:t> </a:t>
                  </a:r>
                </a:p>
              </p:txBody>
            </p:sp>
          </mc:Fallback>
        </mc:AlternateContent>
        <p:pic>
          <p:nvPicPr>
            <p:cNvPr id="13" name="Shape 7" descr="Icon&#10;&#10;Description automatically generated">
              <a:extLst>
                <a:ext uri="{FF2B5EF4-FFF2-40B4-BE49-F238E27FC236}">
                  <a16:creationId xmlns:a16="http://schemas.microsoft.com/office/drawing/2014/main" id="{B0DA17AE-EF8F-024E-8B71-3112A97236BD}"/>
                </a:ext>
              </a:extLst>
            </p:cNvPr>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518139" y="2674018"/>
              <a:ext cx="548640" cy="548640"/>
            </a:xfrm>
            <a:prstGeom prst="rect">
              <a:avLst/>
            </a:prstGeom>
            <a:noFill/>
            <a:ln>
              <a:noFill/>
            </a:ln>
            <a:effectLst>
              <a:outerShdw blurRad="50800" dist="38100" dir="2700000" algn="tl" rotWithShape="0">
                <a:prstClr val="black">
                  <a:alpha val="40000"/>
                </a:prstClr>
              </a:outerShdw>
            </a:effectLst>
          </p:spPr>
        </p:pic>
      </p:grpSp>
    </p:spTree>
    <p:extLst>
      <p:ext uri="{BB962C8B-B14F-4D97-AF65-F5344CB8AC3E}">
        <p14:creationId xmlns:p14="http://schemas.microsoft.com/office/powerpoint/2010/main" val="33938133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154</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14426EBB-5E44-CF4D-848F-B55A448D8DE5}"/>
                  </a:ext>
                </a:extLst>
              </p:cNvPr>
              <p:cNvSpPr>
                <a:spLocks noChangeArrowheads="1"/>
              </p:cNvSpPr>
              <p:nvPr/>
            </p:nvSpPr>
            <p:spPr bwMode="auto">
              <a:xfrm>
                <a:off x="914400" y="379650"/>
                <a:ext cx="10515600" cy="391915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lvl="0" eaLnBrk="0" fontAlgn="base" hangingPunct="0">
                  <a:spcBef>
                    <a:spcPct val="0"/>
                  </a:spcBef>
                  <a:spcAft>
                    <a:spcPct val="0"/>
                  </a:spcAft>
                  <a:buClrTx/>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The symbol </a:t>
                </a:r>
                <a14:m>
                  <m:oMath xmlns:m="http://schemas.openxmlformats.org/officeDocument/2006/math">
                    <m:r>
                      <a:rPr lang="en-US" altLang="en-US"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m:t>
                    </m:r>
                  </m:oMath>
                </a14:m>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represents “is approximately.” It is used when a value has been rounded off or estimated.</a:t>
                </a:r>
              </a:p>
              <a:p>
                <a:pPr lvl="0" eaLnBrk="0" fontAlgn="base" hangingPunct="0">
                  <a:spcBef>
                    <a:spcPct val="0"/>
                  </a:spcBef>
                  <a:spcAft>
                    <a:spcPct val="0"/>
                  </a:spcAft>
                  <a:buClrTx/>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a:t>
                </a:r>
              </a:p>
              <a:p>
                <a:pPr lvl="0" eaLnBrk="0" fontAlgn="base" hangingPunct="0">
                  <a:spcBef>
                    <a:spcPct val="0"/>
                  </a:spcBef>
                  <a:spcAft>
                    <a:spcPct val="0"/>
                  </a:spcAft>
                  <a:buClrTx/>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The symbol 𝜋 is used to represent the exact value of pi. Approximations of this value are often used when solving problems since pi is irrational and, therefore, has an infinite number of digits. When </a:t>
                </a:r>
                <a14:m>
                  <m:oMath xmlns:m="http://schemas.openxmlformats.org/officeDocument/2006/math">
                    <m:r>
                      <a:rPr lang="en-US" altLang="en-US"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3.14</m:t>
                    </m:r>
                  </m:oMath>
                </a14:m>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f>
                      <m:fPr>
                        <m:ctrlPr>
                          <a:rPr lang="en-US" altLang="en-US" sz="2000" i="1" dirty="0">
                            <a:solidFill>
                              <a:schemeClr val="tx1"/>
                            </a:solidFill>
                            <a:latin typeface="Cambria Math" panose="02040503050406030204" pitchFamily="18" charset="0"/>
                            <a:cs typeface="Times New Roman" panose="02020603050405020304" pitchFamily="18" charset="0"/>
                          </a:rPr>
                        </m:ctrlPr>
                      </m:fPr>
                      <m:num>
                        <m:r>
                          <a:rPr lang="es-ES" altLang="en-US" sz="2000" i="1" dirty="0">
                            <a:solidFill>
                              <a:schemeClr val="tx1"/>
                            </a:solidFill>
                            <a:latin typeface="Cambria Math" panose="02040503050406030204" pitchFamily="18" charset="0"/>
                            <a:cs typeface="Times New Roman" panose="02020603050405020304" pitchFamily="18" charset="0"/>
                          </a:rPr>
                          <m:t>22</m:t>
                        </m:r>
                      </m:num>
                      <m:den>
                        <m:r>
                          <a:rPr lang="es-ES" altLang="en-US" sz="2000" i="1" dirty="0">
                            <a:solidFill>
                              <a:schemeClr val="tx1"/>
                            </a:solidFill>
                            <a:latin typeface="Cambria Math" panose="02040503050406030204" pitchFamily="18" charset="0"/>
                            <a:cs typeface="Times New Roman" panose="02020603050405020304" pitchFamily="18" charset="0"/>
                          </a:rPr>
                          <m:t>7</m:t>
                        </m:r>
                      </m:den>
                    </m:f>
                  </m:oMath>
                </a14:m>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or </a:t>
                </a:r>
                <a14:m>
                  <m:oMath xmlns:m="http://schemas.openxmlformats.org/officeDocument/2006/math">
                    <m:f>
                      <m:fPr>
                        <m:ctrlPr>
                          <a:rPr lang="en-US" altLang="en-US" sz="2000" i="1" dirty="0">
                            <a:solidFill>
                              <a:schemeClr val="tx1"/>
                            </a:solidFill>
                            <a:latin typeface="Cambria Math" panose="02040503050406030204" pitchFamily="18" charset="0"/>
                            <a:cs typeface="Times New Roman" panose="02020603050405020304" pitchFamily="18" charset="0"/>
                          </a:rPr>
                        </m:ctrlPr>
                      </m:fPr>
                      <m:num>
                        <m:r>
                          <a:rPr lang="es-ES" altLang="en-US" sz="2000" i="1" dirty="0">
                            <a:solidFill>
                              <a:schemeClr val="tx1"/>
                            </a:solidFill>
                            <a:latin typeface="Cambria Math" panose="02040503050406030204" pitchFamily="18" charset="0"/>
                            <a:cs typeface="Times New Roman" panose="02020603050405020304" pitchFamily="18" charset="0"/>
                          </a:rPr>
                          <m:t>355</m:t>
                        </m:r>
                      </m:num>
                      <m:den>
                        <m:r>
                          <a:rPr lang="es-ES" altLang="en-US" sz="2000" i="1" dirty="0">
                            <a:solidFill>
                              <a:schemeClr val="tx1"/>
                            </a:solidFill>
                            <a:latin typeface="Cambria Math" panose="02040503050406030204" pitchFamily="18" charset="0"/>
                            <a:cs typeface="Times New Roman" panose="02020603050405020304" pitchFamily="18" charset="0"/>
                          </a:rPr>
                          <m:t>113</m:t>
                        </m:r>
                      </m:den>
                    </m:f>
                  </m:oMath>
                </a14:m>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are used in place of 𝜋 to solve problems, the answers are considered approximate values. Using the 𝜋 button on a calculator will also result in an approximation because the result shown on the calculator does not include all the digits. Also, when using the value on the calculator, it is often rounded.</a:t>
                </a:r>
              </a:p>
            </p:txBody>
          </p:sp>
        </mc:Choice>
        <mc:Fallback xmlns="">
          <p:sp>
            <p:nvSpPr>
              <p:cNvPr id="14" name="Rectangle 13">
                <a:extLst>
                  <a:ext uri="{FF2B5EF4-FFF2-40B4-BE49-F238E27FC236}">
                    <a16:creationId xmlns:a16="http://schemas.microsoft.com/office/drawing/2014/main" id="{14426EBB-5E44-CF4D-848F-B55A448D8DE5}"/>
                  </a:ext>
                </a:extLst>
              </p:cNvPr>
              <p:cNvSpPr>
                <a:spLocks noRot="1" noChangeAspect="1" noMove="1" noResize="1" noEditPoints="1" noAdjustHandles="1" noChangeArrowheads="1" noChangeShapeType="1" noTextEdit="1"/>
              </p:cNvSpPr>
              <p:nvPr/>
            </p:nvSpPr>
            <p:spPr bwMode="auto">
              <a:xfrm>
                <a:off x="914400" y="379650"/>
                <a:ext cx="10515600" cy="3919150"/>
              </a:xfrm>
              <a:prstGeom prst="rect">
                <a:avLst/>
              </a:prstGeom>
              <a:blipFill>
                <a:blip r:embed="rId4"/>
                <a:stretch>
                  <a:fillRect l="-603" t="-645" r="-241"/>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Tree>
    <p:extLst>
      <p:ext uri="{BB962C8B-B14F-4D97-AF65-F5344CB8AC3E}">
        <p14:creationId xmlns:p14="http://schemas.microsoft.com/office/powerpoint/2010/main" val="13104418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154</a:t>
            </a:r>
            <a:endParaRPr i="1" dirty="0">
              <a:latin typeface="Calibri"/>
              <a:ea typeface="Calibri"/>
              <a:cs typeface="Calibri"/>
              <a:sym typeface="Calibri"/>
            </a:endParaRPr>
          </a:p>
        </p:txBody>
      </p:sp>
      <p:sp>
        <p:nvSpPr>
          <p:cNvPr id="14" name="Rectangle 13">
            <a:extLst>
              <a:ext uri="{FF2B5EF4-FFF2-40B4-BE49-F238E27FC236}">
                <a16:creationId xmlns:a16="http://schemas.microsoft.com/office/drawing/2014/main" id="{14426EBB-5E44-CF4D-848F-B55A448D8DE5}"/>
              </a:ext>
            </a:extLst>
          </p:cNvPr>
          <p:cNvSpPr>
            <a:spLocks noChangeArrowheads="1"/>
          </p:cNvSpPr>
          <p:nvPr/>
        </p:nvSpPr>
        <p:spPr bwMode="auto">
          <a:xfrm>
            <a:off x="914400" y="395230"/>
            <a:ext cx="105156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457200" indent="-457200" eaLnBrk="0" fontAlgn="base" hangingPunct="0">
              <a:spcBef>
                <a:spcPct val="0"/>
              </a:spcBef>
              <a:spcAft>
                <a:spcPct val="0"/>
              </a:spcAft>
              <a:buClrTx/>
              <a:buFont typeface="+mj-lt"/>
              <a:buAutoNum type="arabicPeriod" startAt="4"/>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Complete the table to rewrite the circumference formulas using the common approximations for 𝜋.</a:t>
            </a: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BAB29568-D953-C045-A7C8-3523076544A5}"/>
                  </a:ext>
                </a:extLst>
              </p:cNvPr>
              <p:cNvGraphicFramePr>
                <a:graphicFrameLocks noGrp="1"/>
              </p:cNvGraphicFramePr>
              <p:nvPr>
                <p:extLst>
                  <p:ext uri="{D42A27DB-BD31-4B8C-83A1-F6EECF244321}">
                    <p14:modId xmlns:p14="http://schemas.microsoft.com/office/powerpoint/2010/main" val="146228482"/>
                  </p:ext>
                </p:extLst>
              </p:nvPr>
            </p:nvGraphicFramePr>
            <p:xfrm>
              <a:off x="2726228" y="1270905"/>
              <a:ext cx="6858000" cy="2946400"/>
            </p:xfrm>
            <a:graphic>
              <a:graphicData uri="http://schemas.openxmlformats.org/drawingml/2006/table">
                <a:tbl>
                  <a:tblPr firstRow="1" firstCol="1" bandRow="1"/>
                  <a:tblGrid>
                    <a:gridCol w="2300605">
                      <a:extLst>
                        <a:ext uri="{9D8B030D-6E8A-4147-A177-3AD203B41FA5}">
                          <a16:colId xmlns:a16="http://schemas.microsoft.com/office/drawing/2014/main" val="2714557587"/>
                        </a:ext>
                      </a:extLst>
                    </a:gridCol>
                    <a:gridCol w="2300605">
                      <a:extLst>
                        <a:ext uri="{9D8B030D-6E8A-4147-A177-3AD203B41FA5}">
                          <a16:colId xmlns:a16="http://schemas.microsoft.com/office/drawing/2014/main" val="2718453409"/>
                        </a:ext>
                      </a:extLst>
                    </a:gridCol>
                    <a:gridCol w="2256790">
                      <a:extLst>
                        <a:ext uri="{9D8B030D-6E8A-4147-A177-3AD203B41FA5}">
                          <a16:colId xmlns:a16="http://schemas.microsoft.com/office/drawing/2014/main" val="3174587586"/>
                        </a:ext>
                      </a:extLst>
                    </a:gridCol>
                  </a:tblGrid>
                  <a:tr h="736600">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Approximate </a:t>
                          </a: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Value of pi (</a:t>
                          </a:r>
                          <a14:m>
                            <m:oMath xmlns:m="http://schemas.openxmlformats.org/officeDocument/2006/math">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𝝅</m:t>
                              </m:r>
                            </m:oMath>
                          </a14:m>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a:t>
                          </a:r>
                          <a:endParaRPr lang="x-none" sz="2000">
                            <a:effectLst/>
                            <a:latin typeface="Verdana" pitchFamily="34" charset="0"/>
                            <a:ea typeface="Verdana"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𝑪</m:t>
                                </m:r>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𝝅</m:t>
                                </m:r>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𝒅</m:t>
                                </m:r>
                              </m:oMath>
                            </m:oMathPara>
                          </a14:m>
                          <a:endParaRPr lang="x-none" sz="2000">
                            <a:effectLst/>
                            <a:latin typeface="Verdana" pitchFamily="34" charset="0"/>
                            <a:ea typeface="Verdana"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𝑪</m:t>
                                </m:r>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𝟐</m:t>
                                </m:r>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𝝅</m:t>
                                </m:r>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𝒓</m:t>
                                </m:r>
                              </m:oMath>
                            </m:oMathPara>
                          </a14:m>
                          <a:endParaRPr lang="x-none" sz="2000">
                            <a:effectLst/>
                            <a:latin typeface="Verdana" pitchFamily="34" charset="0"/>
                            <a:ea typeface="Verdana"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466696907"/>
                      </a:ext>
                    </a:extLst>
                  </a:tr>
                  <a:tr h="7366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𝜋</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≈3.14</m:t>
                                </m:r>
                              </m:oMath>
                            </m:oMathPara>
                          </a14:m>
                          <a:endParaRPr lang="x-none" sz="2000">
                            <a:effectLst/>
                            <a:latin typeface="Verdana" pitchFamily="34" charset="0"/>
                            <a:ea typeface="Verdana"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𝐶</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≈3.14</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𝑑</m:t>
                                </m:r>
                              </m:oMath>
                            </m:oMathPara>
                          </a14:m>
                          <a:endParaRPr lang="x-none" sz="2000">
                            <a:effectLst/>
                            <a:latin typeface="Verdana" pitchFamily="34" charset="0"/>
                            <a:ea typeface="Verdana"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24224445"/>
                      </a:ext>
                    </a:extLst>
                  </a:tr>
                  <a:tr h="736600">
                    <a:tc>
                      <a:txBody>
                        <a:bodyPr/>
                        <a:lstStyle/>
                        <a:p>
                          <a:pPr marL="0" marR="0" algn="ctr">
                            <a:spcBef>
                              <a:spcPts val="0"/>
                            </a:spcBef>
                            <a:spcAft>
                              <a:spcPts val="0"/>
                            </a:spcAft>
                          </a:pP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𝜋</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22</m:t>
                                  </m:r>
                                </m:num>
                                <m:den>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7</m:t>
                                  </m:r>
                                </m:den>
                              </m:f>
                            </m:oMath>
                          </a14:m>
                          <a:r>
                            <a:rPr lang="en-PH" sz="2000" dirty="0">
                              <a:effectLst/>
                              <a:latin typeface="Verdana"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58385333"/>
                      </a:ext>
                    </a:extLst>
                  </a:tr>
                  <a:tr h="736600">
                    <a:tc>
                      <a:txBody>
                        <a:bodyPr/>
                        <a:lstStyle/>
                        <a:p>
                          <a:pPr marL="0" marR="0" algn="ctr">
                            <a:spcBef>
                              <a:spcPts val="0"/>
                            </a:spcBef>
                            <a:spcAft>
                              <a:spcPts val="0"/>
                            </a:spcAft>
                          </a:pP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𝜋</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355</m:t>
                                  </m:r>
                                </m:num>
                                <m:den>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113</m:t>
                                  </m:r>
                                </m:den>
                              </m:f>
                            </m:oMath>
                          </a14:m>
                          <a:r>
                            <a:rPr lang="en-PH" sz="2000" dirty="0">
                              <a:effectLst/>
                              <a:latin typeface="Verdana"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dirty="0">
                            <a:effectLst/>
                            <a:latin typeface="Verdana" pitchFamily="34" charset="0"/>
                            <a:ea typeface="Verdana"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87451956"/>
                      </a:ext>
                    </a:extLst>
                  </a:tr>
                </a:tbl>
              </a:graphicData>
            </a:graphic>
          </p:graphicFrame>
        </mc:Choice>
        <mc:Fallback xmlns="">
          <p:graphicFrame>
            <p:nvGraphicFramePr>
              <p:cNvPr id="3" name="Table 2">
                <a:extLst>
                  <a:ext uri="{FF2B5EF4-FFF2-40B4-BE49-F238E27FC236}">
                    <a16:creationId xmlns:a16="http://schemas.microsoft.com/office/drawing/2014/main" id="{BAB29568-D953-C045-A7C8-3523076544A5}"/>
                  </a:ext>
                </a:extLst>
              </p:cNvPr>
              <p:cNvGraphicFramePr>
                <a:graphicFrameLocks noGrp="1"/>
              </p:cNvGraphicFramePr>
              <p:nvPr>
                <p:extLst>
                  <p:ext uri="{D42A27DB-BD31-4B8C-83A1-F6EECF244321}">
                    <p14:modId xmlns:p14="http://schemas.microsoft.com/office/powerpoint/2010/main" val="146228482"/>
                  </p:ext>
                </p:extLst>
              </p:nvPr>
            </p:nvGraphicFramePr>
            <p:xfrm>
              <a:off x="2726228" y="1270905"/>
              <a:ext cx="6858000" cy="2946400"/>
            </p:xfrm>
            <a:graphic>
              <a:graphicData uri="http://schemas.openxmlformats.org/drawingml/2006/table">
                <a:tbl>
                  <a:tblPr firstRow="1" firstCol="1" bandRow="1"/>
                  <a:tblGrid>
                    <a:gridCol w="2300605">
                      <a:extLst>
                        <a:ext uri="{9D8B030D-6E8A-4147-A177-3AD203B41FA5}">
                          <a16:colId xmlns:a16="http://schemas.microsoft.com/office/drawing/2014/main" val="2714557587"/>
                        </a:ext>
                      </a:extLst>
                    </a:gridCol>
                    <a:gridCol w="2300605">
                      <a:extLst>
                        <a:ext uri="{9D8B030D-6E8A-4147-A177-3AD203B41FA5}">
                          <a16:colId xmlns:a16="http://schemas.microsoft.com/office/drawing/2014/main" val="2718453409"/>
                        </a:ext>
                      </a:extLst>
                    </a:gridCol>
                    <a:gridCol w="2256790">
                      <a:extLst>
                        <a:ext uri="{9D8B030D-6E8A-4147-A177-3AD203B41FA5}">
                          <a16:colId xmlns:a16="http://schemas.microsoft.com/office/drawing/2014/main" val="3174587586"/>
                        </a:ext>
                      </a:extLst>
                    </a:gridCol>
                  </a:tblGrid>
                  <a:tr h="736600">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t="-3448" r="-199448" b="-303448"/>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99451" t="-3448" r="-98352" b="-303448"/>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03933" t="-3448" r="-562" b="-303448"/>
                          </a:stretch>
                        </a:blipFill>
                      </a:tcPr>
                    </a:tc>
                    <a:extLst>
                      <a:ext uri="{0D108BD9-81ED-4DB2-BD59-A6C34878D82A}">
                        <a16:rowId xmlns:a16="http://schemas.microsoft.com/office/drawing/2014/main" val="466696907"/>
                      </a:ext>
                    </a:extLst>
                  </a:tr>
                  <a:tr h="736600">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t="-101695" r="-199448" b="-198305"/>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99451" t="-101695" r="-98352" b="-198305"/>
                          </a:stretch>
                        </a:blipFill>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24224445"/>
                      </a:ext>
                    </a:extLst>
                  </a:tr>
                  <a:tr h="736600">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t="-205172" r="-199448" b="-101724"/>
                          </a:stretch>
                        </a:blipFill>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58385333"/>
                      </a:ext>
                    </a:extLst>
                  </a:tr>
                  <a:tr h="736600">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t="-305172" r="-199448" b="-1724"/>
                          </a:stretch>
                        </a:blipFill>
                      </a:tcPr>
                    </a:tc>
                    <a:tc>
                      <a:txBody>
                        <a:bodyPr/>
                        <a:lstStyle/>
                        <a:p>
                          <a:pPr marL="0" marR="0">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dirty="0">
                            <a:effectLst/>
                            <a:latin typeface="Verdana" pitchFamily="34" charset="0"/>
                            <a:ea typeface="Verdana"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87451956"/>
                      </a:ext>
                    </a:extLst>
                  </a:tr>
                </a:tbl>
              </a:graphicData>
            </a:graphic>
          </p:graphicFrame>
        </mc:Fallback>
      </mc:AlternateContent>
    </p:spTree>
    <p:extLst>
      <p:ext uri="{BB962C8B-B14F-4D97-AF65-F5344CB8AC3E}">
        <p14:creationId xmlns:p14="http://schemas.microsoft.com/office/powerpoint/2010/main" val="16949812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154</a:t>
            </a:r>
            <a:endParaRPr i="1" dirty="0">
              <a:latin typeface="Calibri"/>
              <a:ea typeface="Calibri"/>
              <a:cs typeface="Calibri"/>
              <a:sym typeface="Calibri"/>
            </a:endParaRPr>
          </a:p>
        </p:txBody>
      </p:sp>
      <p:sp>
        <p:nvSpPr>
          <p:cNvPr id="14" name="Rectangle 13">
            <a:extLst>
              <a:ext uri="{FF2B5EF4-FFF2-40B4-BE49-F238E27FC236}">
                <a16:creationId xmlns:a16="http://schemas.microsoft.com/office/drawing/2014/main" id="{14426EBB-5E44-CF4D-848F-B55A448D8DE5}"/>
              </a:ext>
            </a:extLst>
          </p:cNvPr>
          <p:cNvSpPr>
            <a:spLocks noChangeArrowheads="1"/>
          </p:cNvSpPr>
          <p:nvPr/>
        </p:nvSpPr>
        <p:spPr bwMode="auto">
          <a:xfrm>
            <a:off x="914400" y="339409"/>
            <a:ext cx="10515600"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457200" indent="-457200" eaLnBrk="0" fontAlgn="base" hangingPunct="0">
              <a:spcBef>
                <a:spcPct val="0"/>
              </a:spcBef>
              <a:spcAft>
                <a:spcPct val="0"/>
              </a:spcAft>
              <a:buClrTx/>
              <a:buFont typeface="+mj-lt"/>
              <a:buAutoNum type="arabicPeriod" startAt="5"/>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Determine the circumference of each circle, both in terms of 𝜋 and the approximation. For approximate values, use the approximation listed. Lengths are given in centimeters (cm). The circles are not drawn to scale.</a:t>
            </a: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1652240446"/>
                  </p:ext>
                </p:extLst>
              </p:nvPr>
            </p:nvGraphicFramePr>
            <p:xfrm>
              <a:off x="2692401" y="1833880"/>
              <a:ext cx="7081521" cy="4358640"/>
            </p:xfrm>
            <a:graphic>
              <a:graphicData uri="http://schemas.openxmlformats.org/drawingml/2006/table">
                <a:tbl>
                  <a:tblPr firstRow="1" bandRow="1">
                    <a:tableStyleId>{A91F0D33-8C57-4600-99A7-42BC86742BE1}</a:tableStyleId>
                  </a:tblPr>
                  <a:tblGrid>
                    <a:gridCol w="2360507">
                      <a:extLst>
                        <a:ext uri="{9D8B030D-6E8A-4147-A177-3AD203B41FA5}">
                          <a16:colId xmlns:a16="http://schemas.microsoft.com/office/drawing/2014/main" val="20000"/>
                        </a:ext>
                      </a:extLst>
                    </a:gridCol>
                    <a:gridCol w="2360507">
                      <a:extLst>
                        <a:ext uri="{9D8B030D-6E8A-4147-A177-3AD203B41FA5}">
                          <a16:colId xmlns:a16="http://schemas.microsoft.com/office/drawing/2014/main" val="20001"/>
                        </a:ext>
                      </a:extLst>
                    </a:gridCol>
                    <a:gridCol w="2360507">
                      <a:extLst>
                        <a:ext uri="{9D8B030D-6E8A-4147-A177-3AD203B41FA5}">
                          <a16:colId xmlns:a16="http://schemas.microsoft.com/office/drawing/2014/main" val="20002"/>
                        </a:ext>
                      </a:extLst>
                    </a:gridCol>
                  </a:tblGrid>
                  <a:tr h="457200">
                    <a:tc>
                      <a:txBody>
                        <a:bodyPr/>
                        <a:lstStyle/>
                        <a:p>
                          <a:pPr algn="ctr"/>
                          <a:endParaRPr lang="en-US" sz="20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spcBef>
                              <a:spcPts val="900"/>
                            </a:spcBef>
                            <a:spcAft>
                              <a:spcPts val="0"/>
                            </a:spcAft>
                          </a:pPr>
                          <a:r>
                            <a:rPr lang="en-US" sz="2000" b="1" dirty="0">
                              <a:effectLst/>
                              <a:latin typeface="Verdana"/>
                              <a:ea typeface="Times New Roman"/>
                              <a:cs typeface="Times New Roman"/>
                            </a:rPr>
                            <a:t>Terms of </a:t>
                          </a:r>
                          <a14:m>
                            <m:oMath xmlns:m="http://schemas.openxmlformats.org/officeDocument/2006/math">
                              <m:r>
                                <a:rPr lang="en-US" sz="2000" b="1" i="1">
                                  <a:effectLst/>
                                  <a:latin typeface="Cambria Math"/>
                                  <a:ea typeface="Times New Roman"/>
                                  <a:cs typeface="Times New Roman"/>
                                </a:rPr>
                                <m:t>𝝅</m:t>
                              </m:r>
                            </m:oMath>
                          </a14:m>
                          <a:endParaRPr lang="en-US" sz="20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r>
                            <a:rPr lang="en-US" sz="2000" b="1" dirty="0">
                              <a:effectLst/>
                              <a:latin typeface="Verdana"/>
                              <a:ea typeface="Times New Roman"/>
                              <a:cs typeface="Times New Roman"/>
                            </a:rPr>
                            <a:t>Approximate Value</a:t>
                          </a:r>
                          <a:endParaRPr lang="en-US" sz="20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10000"/>
                      </a:ext>
                    </a:extLst>
                  </a:tr>
                  <a:tr h="1828800">
                    <a:tc>
                      <a:txBody>
                        <a:bodyPr/>
                        <a:lstStyle/>
                        <a:p>
                          <a:pPr algn="ctr"/>
                          <a:endParaRPr lang="en-US" sz="20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effectLst/>
                              <a:latin typeface="Verdana"/>
                              <a:ea typeface="Times New Roman"/>
                              <a:cs typeface="Times New Roman"/>
                            </a:rPr>
                            <a:t>Use </a:t>
                          </a:r>
                          <a14:m>
                            <m:oMath xmlns:m="http://schemas.openxmlformats.org/officeDocument/2006/math">
                              <m:r>
                                <a:rPr lang="en-US" sz="2000" i="1">
                                  <a:effectLst/>
                                  <a:latin typeface="Cambria Math"/>
                                  <a:ea typeface="Times New Roman"/>
                                  <a:cs typeface="Times New Roman"/>
                                </a:rPr>
                                <m:t>𝜋</m:t>
                              </m:r>
                              <m:r>
                                <a:rPr lang="en-US" sz="2000" i="1">
                                  <a:effectLst/>
                                  <a:latin typeface="Cambria Math"/>
                                  <a:ea typeface="Times New Roman"/>
                                  <a:cs typeface="Times New Roman"/>
                                </a:rPr>
                                <m:t>=</m:t>
                              </m:r>
                              <m:f>
                                <m:fPr>
                                  <m:ctrlPr>
                                    <a:rPr lang="en-US" sz="2000" i="1">
                                      <a:effectLst/>
                                      <a:latin typeface="Cambria Math" panose="02040503050406030204" pitchFamily="18" charset="0"/>
                                    </a:rPr>
                                  </m:ctrlPr>
                                </m:fPr>
                                <m:num>
                                  <m:r>
                                    <a:rPr lang="en-US" sz="2000" i="1">
                                      <a:effectLst/>
                                      <a:latin typeface="Cambria Math"/>
                                      <a:ea typeface="Times New Roman"/>
                                      <a:cs typeface="Times New Roman"/>
                                    </a:rPr>
                                    <m:t>355</m:t>
                                  </m:r>
                                </m:num>
                                <m:den>
                                  <m:r>
                                    <a:rPr lang="en-US" sz="2000" i="1">
                                      <a:effectLst/>
                                      <a:latin typeface="Cambria Math"/>
                                      <a:ea typeface="Times New Roman"/>
                                      <a:cs typeface="Times New Roman"/>
                                    </a:rPr>
                                    <m:t>113</m:t>
                                  </m:r>
                                </m:den>
                              </m:f>
                            </m:oMath>
                          </a14:m>
                          <a:r>
                            <a:rPr lang="en-US" sz="2000" dirty="0">
                              <a:effectLst/>
                              <a:latin typeface="Verdana"/>
                              <a:ea typeface="Times New Roman"/>
                              <a:cs typeface="Times New Roman"/>
                            </a:rPr>
                            <a:t>.</a:t>
                          </a:r>
                          <a:endParaRPr lang="en-US" sz="2000" dirty="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1828800">
                    <a:tc>
                      <a:txBody>
                        <a:bodyPr/>
                        <a:lstStyle/>
                        <a:p>
                          <a:pPr algn="ctr"/>
                          <a:endParaRPr lang="en-US" sz="20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effectLst/>
                              <a:latin typeface="Verdana"/>
                              <a:ea typeface="Times New Roman"/>
                              <a:cs typeface="Times New Roman"/>
                            </a:rPr>
                            <a:t>Use </a:t>
                          </a:r>
                          <a14:m>
                            <m:oMath xmlns:m="http://schemas.openxmlformats.org/officeDocument/2006/math">
                              <m:r>
                                <a:rPr lang="en-US" sz="2000" i="1">
                                  <a:effectLst/>
                                  <a:latin typeface="Cambria Math"/>
                                  <a:ea typeface="Times New Roman"/>
                                  <a:cs typeface="Times New Roman"/>
                                </a:rPr>
                                <m:t>𝜋</m:t>
                              </m:r>
                              <m:r>
                                <a:rPr lang="en-US" sz="2000" i="1">
                                  <a:effectLst/>
                                  <a:latin typeface="Cambria Math"/>
                                  <a:ea typeface="Times New Roman"/>
                                  <a:cs typeface="Times New Roman"/>
                                </a:rPr>
                                <m:t>=3.14</m:t>
                              </m:r>
                            </m:oMath>
                          </a14:m>
                          <a:r>
                            <a:rPr lang="en-US" sz="2000" dirty="0">
                              <a:effectLst/>
                              <a:latin typeface="Verdana"/>
                              <a:ea typeface="Times New Roman"/>
                              <a:cs typeface="Times New Roman"/>
                            </a:rPr>
                            <a:t>.</a:t>
                          </a:r>
                          <a:endParaRPr lang="en-US" sz="2000" dirty="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1652240446"/>
                  </p:ext>
                </p:extLst>
              </p:nvPr>
            </p:nvGraphicFramePr>
            <p:xfrm>
              <a:off x="2692401" y="1833880"/>
              <a:ext cx="7081521" cy="4358640"/>
            </p:xfrm>
            <a:graphic>
              <a:graphicData uri="http://schemas.openxmlformats.org/drawingml/2006/table">
                <a:tbl>
                  <a:tblPr firstRow="1" bandRow="1">
                    <a:tableStyleId>{A91F0D33-8C57-4600-99A7-42BC86742BE1}</a:tableStyleId>
                  </a:tblPr>
                  <a:tblGrid>
                    <a:gridCol w="2360507">
                      <a:extLst>
                        <a:ext uri="{9D8B030D-6E8A-4147-A177-3AD203B41FA5}">
                          <a16:colId xmlns:a16="http://schemas.microsoft.com/office/drawing/2014/main" val="20000"/>
                        </a:ext>
                      </a:extLst>
                    </a:gridCol>
                    <a:gridCol w="2360507">
                      <a:extLst>
                        <a:ext uri="{9D8B030D-6E8A-4147-A177-3AD203B41FA5}">
                          <a16:colId xmlns:a16="http://schemas.microsoft.com/office/drawing/2014/main" val="20001"/>
                        </a:ext>
                      </a:extLst>
                    </a:gridCol>
                    <a:gridCol w="2360507">
                      <a:extLst>
                        <a:ext uri="{9D8B030D-6E8A-4147-A177-3AD203B41FA5}">
                          <a16:colId xmlns:a16="http://schemas.microsoft.com/office/drawing/2014/main" val="20002"/>
                        </a:ext>
                      </a:extLst>
                    </a:gridCol>
                  </a:tblGrid>
                  <a:tr h="701040">
                    <a:tc>
                      <a:txBody>
                        <a:bodyPr/>
                        <a:lstStyle/>
                        <a:p>
                          <a:pPr algn="ctr"/>
                          <a:endParaRPr lang="en-US" sz="20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100538" t="-5455" r="-100538" b="-527273"/>
                          </a:stretch>
                        </a:blipFill>
                      </a:tcPr>
                    </a:tc>
                    <a:tc>
                      <a:txBody>
                        <a:bodyPr/>
                        <a:lstStyle/>
                        <a:p>
                          <a:pPr algn="ctr"/>
                          <a:r>
                            <a:rPr lang="en-US" sz="2000" b="1" dirty="0">
                              <a:effectLst/>
                              <a:latin typeface="Verdana"/>
                              <a:ea typeface="Times New Roman"/>
                              <a:cs typeface="Times New Roman"/>
                            </a:rPr>
                            <a:t>Approximate Value</a:t>
                          </a:r>
                          <a:endParaRPr lang="en-US" sz="20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10000"/>
                      </a:ext>
                    </a:extLst>
                  </a:tr>
                  <a:tr h="1828800">
                    <a:tc>
                      <a:txBody>
                        <a:bodyPr/>
                        <a:lstStyle/>
                        <a:p>
                          <a:pPr algn="ctr"/>
                          <a:endParaRPr lang="en-US" sz="20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0538" t="-40000" r="-538" b="-100000"/>
                          </a:stretch>
                        </a:blipFill>
                      </a:tcPr>
                    </a:tc>
                    <a:extLst>
                      <a:ext uri="{0D108BD9-81ED-4DB2-BD59-A6C34878D82A}">
                        <a16:rowId xmlns:a16="http://schemas.microsoft.com/office/drawing/2014/main" val="10001"/>
                      </a:ext>
                    </a:extLst>
                  </a:tr>
                  <a:tr h="1828800">
                    <a:tc>
                      <a:txBody>
                        <a:bodyPr/>
                        <a:lstStyle/>
                        <a:p>
                          <a:pPr algn="ctr"/>
                          <a:endParaRPr lang="en-US" sz="20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0538" t="-140972" r="-538" b="-694"/>
                          </a:stretch>
                        </a:blipFill>
                      </a:tcPr>
                    </a:tc>
                    <a:extLst>
                      <a:ext uri="{0D108BD9-81ED-4DB2-BD59-A6C34878D82A}">
                        <a16:rowId xmlns:a16="http://schemas.microsoft.com/office/drawing/2014/main" val="10002"/>
                      </a:ext>
                    </a:extLst>
                  </a:tr>
                </a:tbl>
              </a:graphicData>
            </a:graphic>
          </p:graphicFrame>
        </mc:Fallback>
      </mc:AlternateContent>
      <p:pic>
        <p:nvPicPr>
          <p:cNvPr id="2051" name="Picture 3"/>
          <p:cNvPicPr>
            <a:picLocks noChangeAspect="1" noChangeArrowheads="1"/>
          </p:cNvPicPr>
          <p:nvPr/>
        </p:nvPicPr>
        <p:blipFill rotWithShape="1">
          <a:blip r:embed="rId5">
            <a:extLst>
              <a:ext uri="{28A0092B-C50C-407E-A947-70E740481C1C}">
                <a14:useLocalDpi xmlns:a14="http://schemas.microsoft.com/office/drawing/2010/main"/>
              </a:ext>
            </a:extLst>
          </a:blip>
          <a:srcRect t="2064" b="2738"/>
          <a:stretch/>
        </p:blipFill>
        <p:spPr bwMode="auto">
          <a:xfrm>
            <a:off x="2955925" y="2606945"/>
            <a:ext cx="1809750" cy="16865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rotWithShape="1">
          <a:blip r:embed="rId6">
            <a:extLst>
              <a:ext uri="{28A0092B-C50C-407E-A947-70E740481C1C}">
                <a14:useLocalDpi xmlns:a14="http://schemas.microsoft.com/office/drawing/2010/main"/>
              </a:ext>
            </a:extLst>
          </a:blip>
          <a:srcRect b="2490"/>
          <a:stretch/>
        </p:blipFill>
        <p:spPr bwMode="auto">
          <a:xfrm>
            <a:off x="3032126" y="4421330"/>
            <a:ext cx="1704975" cy="17089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526876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0052976"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7314750"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154</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1371353783"/>
                  </p:ext>
                </p:extLst>
              </p:nvPr>
            </p:nvGraphicFramePr>
            <p:xfrm>
              <a:off x="2692401" y="427625"/>
              <a:ext cx="7081521" cy="4358640"/>
            </p:xfrm>
            <a:graphic>
              <a:graphicData uri="http://schemas.openxmlformats.org/drawingml/2006/table">
                <a:tbl>
                  <a:tblPr firstRow="1" bandRow="1">
                    <a:tableStyleId>{A91F0D33-8C57-4600-99A7-42BC86742BE1}</a:tableStyleId>
                  </a:tblPr>
                  <a:tblGrid>
                    <a:gridCol w="2360507">
                      <a:extLst>
                        <a:ext uri="{9D8B030D-6E8A-4147-A177-3AD203B41FA5}">
                          <a16:colId xmlns:a16="http://schemas.microsoft.com/office/drawing/2014/main" val="20000"/>
                        </a:ext>
                      </a:extLst>
                    </a:gridCol>
                    <a:gridCol w="2360507">
                      <a:extLst>
                        <a:ext uri="{9D8B030D-6E8A-4147-A177-3AD203B41FA5}">
                          <a16:colId xmlns:a16="http://schemas.microsoft.com/office/drawing/2014/main" val="20001"/>
                        </a:ext>
                      </a:extLst>
                    </a:gridCol>
                    <a:gridCol w="2360507">
                      <a:extLst>
                        <a:ext uri="{9D8B030D-6E8A-4147-A177-3AD203B41FA5}">
                          <a16:colId xmlns:a16="http://schemas.microsoft.com/office/drawing/2014/main" val="20002"/>
                        </a:ext>
                      </a:extLst>
                    </a:gridCol>
                  </a:tblGrid>
                  <a:tr h="457200">
                    <a:tc>
                      <a:txBody>
                        <a:bodyPr/>
                        <a:lstStyle/>
                        <a:p>
                          <a:pPr algn="ctr"/>
                          <a:endParaRPr lang="en-US" sz="20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spcBef>
                              <a:spcPts val="900"/>
                            </a:spcBef>
                            <a:spcAft>
                              <a:spcPts val="0"/>
                            </a:spcAft>
                          </a:pPr>
                          <a:r>
                            <a:rPr lang="en-US" sz="2000" b="1" dirty="0">
                              <a:effectLst/>
                              <a:latin typeface="Verdana"/>
                              <a:ea typeface="Times New Roman"/>
                              <a:cs typeface="Times New Roman"/>
                            </a:rPr>
                            <a:t>Terms of </a:t>
                          </a:r>
                          <a14:m>
                            <m:oMath xmlns:m="http://schemas.openxmlformats.org/officeDocument/2006/math">
                              <m:r>
                                <a:rPr lang="en-US" sz="2000" b="1" i="1">
                                  <a:effectLst/>
                                  <a:latin typeface="Cambria Math"/>
                                  <a:ea typeface="Times New Roman"/>
                                  <a:cs typeface="Times New Roman"/>
                                </a:rPr>
                                <m:t>𝝅</m:t>
                              </m:r>
                            </m:oMath>
                          </a14:m>
                          <a:endParaRPr lang="en-US" sz="20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r>
                            <a:rPr lang="en-US" sz="2000" b="1" dirty="0">
                              <a:effectLst/>
                              <a:latin typeface="Verdana"/>
                              <a:ea typeface="Times New Roman"/>
                              <a:cs typeface="Times New Roman"/>
                            </a:rPr>
                            <a:t>Approximate Value</a:t>
                          </a:r>
                          <a:endParaRPr lang="en-US" sz="20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10000"/>
                      </a:ext>
                    </a:extLst>
                  </a:tr>
                  <a:tr h="1828800">
                    <a:tc>
                      <a:txBody>
                        <a:bodyPr/>
                        <a:lstStyle/>
                        <a:p>
                          <a:pPr algn="ctr"/>
                          <a:endParaRPr lang="en-US" sz="20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effectLst/>
                              <a:latin typeface="Verdana"/>
                              <a:ea typeface="Times New Roman"/>
                              <a:cs typeface="Times New Roman"/>
                            </a:rPr>
                            <a:t>Use </a:t>
                          </a:r>
                          <a14:m>
                            <m:oMath xmlns:m="http://schemas.openxmlformats.org/officeDocument/2006/math">
                              <m:r>
                                <a:rPr lang="en-US" sz="2000" i="1">
                                  <a:effectLst/>
                                  <a:latin typeface="Cambria Math"/>
                                  <a:ea typeface="Times New Roman"/>
                                  <a:cs typeface="Times New Roman"/>
                                </a:rPr>
                                <m:t>𝜋</m:t>
                              </m:r>
                              <m:r>
                                <a:rPr lang="en-US" sz="2000" i="1">
                                  <a:effectLst/>
                                  <a:latin typeface="Cambria Math"/>
                                  <a:ea typeface="Times New Roman"/>
                                  <a:cs typeface="Times New Roman"/>
                                </a:rPr>
                                <m:t>=</m:t>
                              </m:r>
                              <m:f>
                                <m:fPr>
                                  <m:ctrlPr>
                                    <a:rPr lang="en-US" sz="2000" i="1">
                                      <a:effectLst/>
                                      <a:latin typeface="Cambria Math" panose="02040503050406030204" pitchFamily="18" charset="0"/>
                                    </a:rPr>
                                  </m:ctrlPr>
                                </m:fPr>
                                <m:num>
                                  <m:r>
                                    <a:rPr lang="en-US" sz="2000" i="1">
                                      <a:effectLst/>
                                      <a:latin typeface="Cambria Math"/>
                                      <a:ea typeface="Times New Roman"/>
                                      <a:cs typeface="Times New Roman"/>
                                    </a:rPr>
                                    <m:t>22</m:t>
                                  </m:r>
                                </m:num>
                                <m:den>
                                  <m:r>
                                    <a:rPr lang="en-US" sz="2000" i="1">
                                      <a:effectLst/>
                                      <a:latin typeface="Cambria Math"/>
                                      <a:ea typeface="Times New Roman"/>
                                      <a:cs typeface="Times New Roman"/>
                                    </a:rPr>
                                    <m:t>7</m:t>
                                  </m:r>
                                </m:den>
                              </m:f>
                            </m:oMath>
                          </a14:m>
                          <a:r>
                            <a:rPr lang="en-US" sz="2000" dirty="0">
                              <a:effectLst/>
                              <a:latin typeface="Verdana"/>
                              <a:ea typeface="Times New Roman"/>
                              <a:cs typeface="Times New Roman"/>
                            </a:rPr>
                            <a:t>.</a:t>
                          </a:r>
                          <a:endParaRPr lang="en-US" sz="2000" dirty="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1828800">
                    <a:tc>
                      <a:txBody>
                        <a:bodyPr/>
                        <a:lstStyle/>
                        <a:p>
                          <a:pPr algn="ctr"/>
                          <a:endParaRPr lang="en-US" sz="20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effectLst/>
                              <a:latin typeface="Verdana"/>
                              <a:ea typeface="Times New Roman"/>
                              <a:cs typeface="Times New Roman"/>
                            </a:rPr>
                            <a:t>Use </a:t>
                          </a:r>
                          <a14:m>
                            <m:oMath xmlns:m="http://schemas.openxmlformats.org/officeDocument/2006/math">
                              <m:r>
                                <a:rPr lang="en-US" sz="2000" i="1">
                                  <a:effectLst/>
                                  <a:latin typeface="Cambria Math"/>
                                  <a:ea typeface="Times New Roman"/>
                                  <a:cs typeface="Times New Roman"/>
                                </a:rPr>
                                <m:t>𝜋</m:t>
                              </m:r>
                              <m:r>
                                <a:rPr lang="en-US" sz="2000" i="1">
                                  <a:effectLst/>
                                  <a:latin typeface="Cambria Math"/>
                                  <a:ea typeface="Times New Roman"/>
                                  <a:cs typeface="Times New Roman"/>
                                </a:rPr>
                                <m:t>=3.14</m:t>
                              </m:r>
                            </m:oMath>
                          </a14:m>
                          <a:r>
                            <a:rPr lang="en-US" sz="2000" dirty="0">
                              <a:effectLst/>
                              <a:latin typeface="Verdana"/>
                              <a:ea typeface="Times New Roman"/>
                              <a:cs typeface="Times New Roman"/>
                            </a:rPr>
                            <a:t>.</a:t>
                          </a:r>
                          <a:endParaRPr lang="en-US" sz="2000" dirty="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1371353783"/>
                  </p:ext>
                </p:extLst>
              </p:nvPr>
            </p:nvGraphicFramePr>
            <p:xfrm>
              <a:off x="2692401" y="427625"/>
              <a:ext cx="7081521" cy="4358640"/>
            </p:xfrm>
            <a:graphic>
              <a:graphicData uri="http://schemas.openxmlformats.org/drawingml/2006/table">
                <a:tbl>
                  <a:tblPr firstRow="1" bandRow="1">
                    <a:tableStyleId>{A91F0D33-8C57-4600-99A7-42BC86742BE1}</a:tableStyleId>
                  </a:tblPr>
                  <a:tblGrid>
                    <a:gridCol w="2360507">
                      <a:extLst>
                        <a:ext uri="{9D8B030D-6E8A-4147-A177-3AD203B41FA5}">
                          <a16:colId xmlns:a16="http://schemas.microsoft.com/office/drawing/2014/main" val="20000"/>
                        </a:ext>
                      </a:extLst>
                    </a:gridCol>
                    <a:gridCol w="2360507">
                      <a:extLst>
                        <a:ext uri="{9D8B030D-6E8A-4147-A177-3AD203B41FA5}">
                          <a16:colId xmlns:a16="http://schemas.microsoft.com/office/drawing/2014/main" val="20001"/>
                        </a:ext>
                      </a:extLst>
                    </a:gridCol>
                    <a:gridCol w="2360507">
                      <a:extLst>
                        <a:ext uri="{9D8B030D-6E8A-4147-A177-3AD203B41FA5}">
                          <a16:colId xmlns:a16="http://schemas.microsoft.com/office/drawing/2014/main" val="20002"/>
                        </a:ext>
                      </a:extLst>
                    </a:gridCol>
                  </a:tblGrid>
                  <a:tr h="701040">
                    <a:tc>
                      <a:txBody>
                        <a:bodyPr/>
                        <a:lstStyle/>
                        <a:p>
                          <a:pPr algn="ctr"/>
                          <a:endParaRPr lang="en-US" sz="20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100538" t="-3636" r="-100538" b="-529091"/>
                          </a:stretch>
                        </a:blipFill>
                      </a:tcPr>
                    </a:tc>
                    <a:tc>
                      <a:txBody>
                        <a:bodyPr/>
                        <a:lstStyle/>
                        <a:p>
                          <a:pPr algn="ctr"/>
                          <a:r>
                            <a:rPr lang="en-US" sz="2000" b="1" dirty="0">
                              <a:effectLst/>
                              <a:latin typeface="Verdana"/>
                              <a:ea typeface="Times New Roman"/>
                              <a:cs typeface="Times New Roman"/>
                            </a:rPr>
                            <a:t>Approximate Value</a:t>
                          </a:r>
                          <a:endParaRPr lang="en-US" sz="20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10000"/>
                      </a:ext>
                    </a:extLst>
                  </a:tr>
                  <a:tr h="1828800">
                    <a:tc>
                      <a:txBody>
                        <a:bodyPr/>
                        <a:lstStyle/>
                        <a:p>
                          <a:pPr algn="ctr"/>
                          <a:endParaRPr lang="en-US" sz="20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0538" t="-39310" r="-538" b="-100690"/>
                          </a:stretch>
                        </a:blipFill>
                      </a:tcPr>
                    </a:tc>
                    <a:extLst>
                      <a:ext uri="{0D108BD9-81ED-4DB2-BD59-A6C34878D82A}">
                        <a16:rowId xmlns:a16="http://schemas.microsoft.com/office/drawing/2014/main" val="10001"/>
                      </a:ext>
                    </a:extLst>
                  </a:tr>
                  <a:tr h="1828800">
                    <a:tc>
                      <a:txBody>
                        <a:bodyPr/>
                        <a:lstStyle/>
                        <a:p>
                          <a:pPr algn="ctr"/>
                          <a:endParaRPr lang="en-US" sz="20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0538" t="-140278" r="-538" b="-1389"/>
                          </a:stretch>
                        </a:blipFill>
                      </a:tcPr>
                    </a:tc>
                    <a:extLst>
                      <a:ext uri="{0D108BD9-81ED-4DB2-BD59-A6C34878D82A}">
                        <a16:rowId xmlns:a16="http://schemas.microsoft.com/office/drawing/2014/main" val="10002"/>
                      </a:ext>
                    </a:extLst>
                  </a:tr>
                </a:tbl>
              </a:graphicData>
            </a:graphic>
          </p:graphicFrame>
        </mc:Fallback>
      </mc:AlternateContent>
      <p:pic>
        <p:nvPicPr>
          <p:cNvPr id="3075" name="Picture 3"/>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3106293" y="3230118"/>
            <a:ext cx="1504950" cy="140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6" name="Picture 4"/>
          <p:cNvPicPr>
            <a:picLocks noChangeAspect="1" noChangeArrowheads="1"/>
          </p:cNvPicPr>
          <p:nvPr/>
        </p:nvPicPr>
        <p:blipFill>
          <a:blip r:embed="rId6">
            <a:extLst>
              <a:ext uri="{28A0092B-C50C-407E-A947-70E740481C1C}">
                <a14:useLocalDpi xmlns:a14="http://schemas.microsoft.com/office/drawing/2010/main"/>
              </a:ext>
            </a:extLst>
          </a:blip>
          <a:srcRect/>
          <a:stretch>
            <a:fillRect/>
          </a:stretch>
        </p:blipFill>
        <p:spPr bwMode="auto">
          <a:xfrm>
            <a:off x="2992838" y="1251966"/>
            <a:ext cx="1731859" cy="1655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033411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dirty="0"/>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66144"/>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26B7D4"/>
                </a:solidFill>
                <a:latin typeface="Verdana"/>
                <a:ea typeface="Verdana"/>
                <a:cs typeface="Verdana"/>
                <a:sym typeface="Verdana"/>
              </a:rPr>
              <a:t>Guided Practice</a:t>
            </a:r>
            <a:endParaRPr sz="5100" b="1" dirty="0">
              <a:solidFill>
                <a:srgbClr val="26B7D4"/>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155</a:t>
            </a:r>
            <a:endParaRPr i="1" dirty="0">
              <a:latin typeface="Calibri"/>
              <a:ea typeface="Calibri"/>
              <a:cs typeface="Calibri"/>
              <a:sym typeface="Calibri"/>
            </a:endParaRPr>
          </a:p>
        </p:txBody>
      </p:sp>
      <p:pic>
        <p:nvPicPr>
          <p:cNvPr id="8" name="image9.png" descr="Icon&#10;&#10;Description automatically generated">
            <a:extLst>
              <a:ext uri="{FF2B5EF4-FFF2-40B4-BE49-F238E27FC236}">
                <a16:creationId xmlns:a16="http://schemas.microsoft.com/office/drawing/2014/main" id="{14CE4B7D-EECF-1242-A54B-ED576B08BB1A}"/>
              </a:ext>
            </a:extLst>
          </p:cNvPr>
          <p:cNvPicPr/>
          <p:nvPr/>
        </p:nvPicPr>
        <p:blipFill>
          <a:blip r:embed="rId4"/>
          <a:srcRect/>
          <a:stretch>
            <a:fillRect/>
          </a:stretch>
        </p:blipFill>
        <p:spPr>
          <a:xfrm>
            <a:off x="3054096" y="2852928"/>
            <a:ext cx="1152149" cy="1152149"/>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5607887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14" name="Picture 13" descr="Text, letter&#10;&#10;Description automatically generated">
            <a:extLst>
              <a:ext uri="{FF2B5EF4-FFF2-40B4-BE49-F238E27FC236}">
                <a16:creationId xmlns:a16="http://schemas.microsoft.com/office/drawing/2014/main" id="{7B1B8A59-1994-3643-82AC-AB5F3656829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916506" y="3906079"/>
            <a:ext cx="2087370" cy="2428046"/>
          </a:xfrm>
          <a:prstGeom prst="rect">
            <a:avLst/>
          </a:prstGeom>
        </p:spPr>
      </p:pic>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43000" y="139837"/>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600" b="1" dirty="0">
                <a:solidFill>
                  <a:srgbClr val="26B7D4"/>
                </a:solidFill>
                <a:latin typeface="Verdana"/>
                <a:ea typeface="Verdana"/>
                <a:cs typeface="Verdana"/>
                <a:sym typeface="Verdana"/>
              </a:rPr>
              <a:t>4.6.3 Guided Practice: Error Analysis</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155</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44DF7DE-9172-3E4E-B74A-7A51585FB6EA}"/>
                  </a:ext>
                </a:extLst>
              </p:cNvPr>
              <p:cNvSpPr txBox="1"/>
              <p:nvPr/>
            </p:nvSpPr>
            <p:spPr>
              <a:xfrm>
                <a:off x="914400" y="1545336"/>
                <a:ext cx="10515600" cy="1759136"/>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Delanie used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𝜋</m:t>
                    </m:r>
                    <m:r>
                      <a:rPr lang="en-US" sz="2000" i="1" dirty="0">
                        <a:latin typeface="Cambria Math" panose="02040503050406030204" pitchFamily="18" charset="0"/>
                        <a:ea typeface="Verdana" panose="020B0604030504040204" pitchFamily="34" charset="0"/>
                        <a:cs typeface="Verdana" panose="020B0604030504040204" pitchFamily="34" charset="0"/>
                      </a:rPr>
                      <m:t>=</m:t>
                    </m:r>
                    <m:f>
                      <m:fPr>
                        <m:ctrlPr>
                          <a:rPr lang="en-US" sz="2000" i="1" dirty="0">
                            <a:latin typeface="Cambria Math" panose="02040503050406030204" pitchFamily="18" charset="0"/>
                            <a:ea typeface="Verdana" panose="020B0604030504040204" pitchFamily="34" charset="0"/>
                            <a:cs typeface="Verdana" panose="020B0604030504040204" pitchFamily="34" charset="0"/>
                          </a:rPr>
                        </m:ctrlPr>
                      </m:fPr>
                      <m:num>
                        <m:r>
                          <a:rPr lang="es-ES" sz="2000" i="1" dirty="0">
                            <a:latin typeface="Cambria Math" panose="02040503050406030204" pitchFamily="18" charset="0"/>
                            <a:ea typeface="Verdana" panose="020B0604030504040204" pitchFamily="34" charset="0"/>
                            <a:cs typeface="Verdana" panose="020B0604030504040204" pitchFamily="34" charset="0"/>
                          </a:rPr>
                          <m:t>22</m:t>
                        </m:r>
                      </m:num>
                      <m:den>
                        <m:r>
                          <a:rPr lang="es-ES" sz="2000" i="1" dirty="0">
                            <a:latin typeface="Cambria Math" panose="02040503050406030204" pitchFamily="18" charset="0"/>
                            <a:ea typeface="Verdana" panose="020B0604030504040204" pitchFamily="34" charset="0"/>
                            <a:cs typeface="Verdana" panose="020B0604030504040204" pitchFamily="34" charset="0"/>
                          </a:rPr>
                          <m:t>7</m:t>
                        </m:r>
                      </m:den>
                    </m:f>
                  </m:oMath>
                </a14:m>
                <a:r>
                  <a:rPr lang="en-US" sz="2000" dirty="0">
                    <a:latin typeface="Verdana" panose="020B0604030504040204" pitchFamily="34" charset="0"/>
                    <a:ea typeface="Verdana" panose="020B0604030504040204" pitchFamily="34" charset="0"/>
                    <a:cs typeface="Verdana" panose="020B0604030504040204" pitchFamily="34" charset="0"/>
                  </a:rPr>
                  <a:t> to find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the circumference of the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circle shown. </a:t>
                </a:r>
              </a:p>
              <a:p>
                <a:pPr lvl="0"/>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a:r>
                  <a:rPr lang="en-US" sz="2000" dirty="0">
                    <a:latin typeface="Verdana" panose="020B0604030504040204" pitchFamily="34" charset="0"/>
                    <a:ea typeface="Times New Roman" panose="02020603050405020304" pitchFamily="18" charset="0"/>
                    <a:cs typeface="Times New Roman" panose="02020603050405020304" pitchFamily="18" charset="0"/>
                  </a:rPr>
                  <a:t>Delanie’s work is shown.</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0" name="TextBox 9">
                <a:extLst>
                  <a:ext uri="{FF2B5EF4-FFF2-40B4-BE49-F238E27FC236}">
                    <a16:creationId xmlns:a16="http://schemas.microsoft.com/office/drawing/2014/main" id="{E44DF7DE-9172-3E4E-B74A-7A51585FB6EA}"/>
                  </a:ext>
                </a:extLst>
              </p:cNvPr>
              <p:cNvSpPr txBox="1">
                <a:spLocks noRot="1" noChangeAspect="1" noMove="1" noResize="1" noEditPoints="1" noAdjustHandles="1" noChangeArrowheads="1" noChangeShapeType="1" noTextEdit="1"/>
              </p:cNvSpPr>
              <p:nvPr/>
            </p:nvSpPr>
            <p:spPr>
              <a:xfrm>
                <a:off x="914400" y="1545336"/>
                <a:ext cx="10515600" cy="1759136"/>
              </a:xfrm>
              <a:prstGeom prst="rect">
                <a:avLst/>
              </a:prstGeom>
              <a:blipFill>
                <a:blip r:embed="rId5"/>
                <a:stretch>
                  <a:fillRect l="-603" b="-5000"/>
                </a:stretch>
              </a:blipFill>
            </p:spPr>
            <p:txBody>
              <a:bodyPr/>
              <a:lstStyle/>
              <a:p>
                <a:r>
                  <a:rPr lang="en-US">
                    <a:noFill/>
                  </a:rPr>
                  <a:t> </a:t>
                </a:r>
              </a:p>
            </p:txBody>
          </p:sp>
        </mc:Fallback>
      </mc:AlternateContent>
      <p:pic>
        <p:nvPicPr>
          <p:cNvPr id="27" name="image9.png" descr="Icon&#10;&#10;Description automatically generated">
            <a:extLst>
              <a:ext uri="{FF2B5EF4-FFF2-40B4-BE49-F238E27FC236}">
                <a16:creationId xmlns:a16="http://schemas.microsoft.com/office/drawing/2014/main" id="{92FCA778-1CFF-A743-81CC-9DFFC724E769}"/>
              </a:ext>
            </a:extLst>
          </p:cNvPr>
          <p:cNvPicPr/>
          <p:nvPr/>
        </p:nvPicPr>
        <p:blipFill>
          <a:blip r:embed="rId6" cstate="screen">
            <a:extLst>
              <a:ext uri="{28A0092B-C50C-407E-A947-70E740481C1C}">
                <a14:useLocalDpi xmlns:a14="http://schemas.microsoft.com/office/drawing/2010/main"/>
              </a:ext>
            </a:extLst>
          </a:blip>
          <a:srcRect/>
          <a:stretch>
            <a:fillRect/>
          </a:stretch>
        </p:blipFill>
        <p:spPr>
          <a:xfrm>
            <a:off x="356616" y="201168"/>
            <a:ext cx="755377" cy="755377"/>
          </a:xfrm>
          <a:prstGeom prst="rect">
            <a:avLst/>
          </a:prstGeom>
          <a:ln/>
        </p:spPr>
      </p:pic>
      <p:pic>
        <p:nvPicPr>
          <p:cNvPr id="4099" name="Picture 3"/>
          <p:cNvPicPr>
            <a:picLocks noChangeAspect="1" noChangeArrowheads="1"/>
          </p:cNvPicPr>
          <p:nvPr/>
        </p:nvPicPr>
        <p:blipFill>
          <a:blip r:embed="rId7">
            <a:extLst>
              <a:ext uri="{28A0092B-C50C-407E-A947-70E740481C1C}">
                <a14:useLocalDpi xmlns:a14="http://schemas.microsoft.com/office/drawing/2010/main"/>
              </a:ext>
            </a:extLst>
          </a:blip>
          <a:srcRect/>
          <a:stretch>
            <a:fillRect/>
          </a:stretch>
        </p:blipFill>
        <p:spPr bwMode="auto">
          <a:xfrm>
            <a:off x="6529501" y="1520343"/>
            <a:ext cx="3805401" cy="18836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13" name="Table 12">
            <a:extLst>
              <a:ext uri="{FF2B5EF4-FFF2-40B4-BE49-F238E27FC236}">
                <a16:creationId xmlns:a16="http://schemas.microsoft.com/office/drawing/2014/main" id="{92D94126-2408-F64C-92D2-F7C4A9250F0C}"/>
              </a:ext>
            </a:extLst>
          </p:cNvPr>
          <p:cNvGraphicFramePr>
            <a:graphicFrameLocks noGrp="1"/>
          </p:cNvGraphicFramePr>
          <p:nvPr>
            <p:extLst>
              <p:ext uri="{D42A27DB-BD31-4B8C-83A1-F6EECF244321}">
                <p14:modId xmlns:p14="http://schemas.microsoft.com/office/powerpoint/2010/main" val="528845206"/>
              </p:ext>
            </p:extLst>
          </p:nvPr>
        </p:nvGraphicFramePr>
        <p:xfrm>
          <a:off x="2579440" y="3433346"/>
          <a:ext cx="4572000" cy="3017520"/>
        </p:xfrm>
        <a:graphic>
          <a:graphicData uri="http://schemas.openxmlformats.org/drawingml/2006/table">
            <a:tbl>
              <a:tblPr firstRow="1" firstCol="1" bandRow="1"/>
              <a:tblGrid>
                <a:gridCol w="4572000">
                  <a:extLst>
                    <a:ext uri="{9D8B030D-6E8A-4147-A177-3AD203B41FA5}">
                      <a16:colId xmlns:a16="http://schemas.microsoft.com/office/drawing/2014/main" val="1053280777"/>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Times New Roman" panose="02020603050405020304" pitchFamily="18" charset="0"/>
                          <a:cs typeface="Times New Roman" panose="02020603050405020304" pitchFamily="18" charset="0"/>
                        </a:rPr>
                        <a:t>Delanie’s Work</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716866104"/>
                  </a:ext>
                </a:extLst>
              </a:tr>
              <a:tr h="2560320">
                <a:tc>
                  <a:txBody>
                    <a:bodyPr/>
                    <a:lstStyle/>
                    <a:p>
                      <a:pPr marL="0" marR="0" algn="ctr">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4674798"/>
                  </a:ext>
                </a:extLst>
              </a:tr>
            </a:tbl>
          </a:graphicData>
        </a:graphic>
      </p:graphicFrame>
    </p:spTree>
    <p:extLst>
      <p:ext uri="{BB962C8B-B14F-4D97-AF65-F5344CB8AC3E}">
        <p14:creationId xmlns:p14="http://schemas.microsoft.com/office/powerpoint/2010/main" val="16744370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155</a:t>
            </a:r>
            <a:endParaRPr i="1" dirty="0">
              <a:latin typeface="Calibri"/>
              <a:ea typeface="Calibri"/>
              <a:cs typeface="Calibri"/>
              <a:sym typeface="Calibri"/>
            </a:endParaRPr>
          </a:p>
        </p:txBody>
      </p:sp>
      <p:sp>
        <p:nvSpPr>
          <p:cNvPr id="2" name="Rectangle 1">
            <a:extLst>
              <a:ext uri="{FF2B5EF4-FFF2-40B4-BE49-F238E27FC236}">
                <a16:creationId xmlns:a16="http://schemas.microsoft.com/office/drawing/2014/main" id="{F54A4596-5923-6342-9500-70E8F702680A}"/>
              </a:ext>
            </a:extLst>
          </p:cNvPr>
          <p:cNvSpPr/>
          <p:nvPr/>
        </p:nvSpPr>
        <p:spPr>
          <a:xfrm>
            <a:off x="914400" y="298919"/>
            <a:ext cx="10515600" cy="2862322"/>
          </a:xfrm>
          <a:prstGeom prst="rect">
            <a:avLst/>
          </a:prstGeom>
        </p:spPr>
        <p:txBody>
          <a:bodyPr wrap="square">
            <a:spAutoFit/>
          </a:bodyPr>
          <a:lstStyle/>
          <a:p>
            <a:pPr marL="914400" indent="-457200">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Examine Delanie’s work and write an explanation to her of any errors.</a:t>
            </a:r>
          </a:p>
          <a:p>
            <a:pPr marL="914400"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What is the circumference of the circle?</a:t>
            </a:r>
          </a:p>
        </p:txBody>
      </p:sp>
    </p:spTree>
    <p:extLst>
      <p:ext uri="{BB962C8B-B14F-4D97-AF65-F5344CB8AC3E}">
        <p14:creationId xmlns:p14="http://schemas.microsoft.com/office/powerpoint/2010/main" val="23815530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155</a:t>
            </a:r>
            <a:endParaRPr i="1" dirty="0">
              <a:latin typeface="Calibri"/>
              <a:ea typeface="Calibri"/>
              <a:cs typeface="Calibri"/>
              <a:sym typeface="Calibri"/>
            </a:endParaRPr>
          </a:p>
        </p:txBody>
      </p:sp>
      <p:sp>
        <p:nvSpPr>
          <p:cNvPr id="9" name="Google Shape;313;g104476d1465_1_39">
            <a:extLst>
              <a:ext uri="{FF2B5EF4-FFF2-40B4-BE49-F238E27FC236}">
                <a16:creationId xmlns:a16="http://schemas.microsoft.com/office/drawing/2014/main" id="{FBE81C39-C116-3E43-8FD2-10F6C7887F5E}"/>
              </a:ext>
            </a:extLst>
          </p:cNvPr>
          <p:cNvSpPr txBox="1">
            <a:spLocks/>
          </p:cNvSpPr>
          <p:nvPr/>
        </p:nvSpPr>
        <p:spPr>
          <a:xfrm>
            <a:off x="4087368" y="2770632"/>
            <a:ext cx="5002742"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buFont typeface="Cutive"/>
              <a:buNone/>
            </a:pPr>
            <a:r>
              <a:rPr lang="en-US" sz="5500" b="1" dirty="0">
                <a:solidFill>
                  <a:srgbClr val="E24E5F"/>
                </a:solidFill>
                <a:latin typeface="Verdana"/>
                <a:ea typeface="Verdana"/>
                <a:cs typeface="Verdana"/>
                <a:sym typeface="Verdana"/>
              </a:rPr>
              <a:t>Your Turn</a:t>
            </a:r>
            <a:endParaRPr lang="en-US" sz="5100" b="1" dirty="0">
              <a:solidFill>
                <a:srgbClr val="E24E5F"/>
              </a:solidFill>
              <a:latin typeface="Verdana"/>
              <a:ea typeface="Verdana"/>
              <a:cs typeface="Verdana"/>
              <a:sym typeface="Verdana"/>
            </a:endParaRPr>
          </a:p>
        </p:txBody>
      </p:sp>
      <p:pic>
        <p:nvPicPr>
          <p:cNvPr id="8" name="image16.png" descr="Icon&#10;&#10;Description automatically generated">
            <a:extLst>
              <a:ext uri="{FF2B5EF4-FFF2-40B4-BE49-F238E27FC236}">
                <a16:creationId xmlns:a16="http://schemas.microsoft.com/office/drawing/2014/main" id="{A0111F4E-5854-8147-8D13-EE7161BF13F9}"/>
              </a:ext>
            </a:extLst>
          </p:cNvPr>
          <p:cNvPicPr/>
          <p:nvPr/>
        </p:nvPicPr>
        <p:blipFill>
          <a:blip r:embed="rId4"/>
          <a:srcRect/>
          <a:stretch>
            <a:fillRect/>
          </a:stretch>
        </p:blipFill>
        <p:spPr>
          <a:xfrm>
            <a:off x="3054096" y="2852928"/>
            <a:ext cx="1152150" cy="1152150"/>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990403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43000" y="-121612"/>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4000" b="1" dirty="0">
                <a:solidFill>
                  <a:srgbClr val="E24E5F"/>
                </a:solidFill>
                <a:latin typeface="Verdana"/>
                <a:ea typeface="Verdana"/>
                <a:cs typeface="Verdana"/>
                <a:sym typeface="Verdana"/>
              </a:rPr>
              <a:t>4.6.4 Your Turn!</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155</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44DF7DE-9172-3E4E-B74A-7A51585FB6EA}"/>
                  </a:ext>
                </a:extLst>
              </p:cNvPr>
              <p:cNvSpPr txBox="1"/>
              <p:nvPr/>
            </p:nvSpPr>
            <p:spPr>
              <a:xfrm>
                <a:off x="914400" y="1298448"/>
                <a:ext cx="10515600" cy="2862322"/>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Stephanie is putting a fence around a circular garden.</a:t>
                </a:r>
                <a:br>
                  <a:rPr lang="en-US" sz="2000" dirty="0">
                    <a:latin typeface="Verdana" panose="020B0604030504040204" pitchFamily="34" charset="0"/>
                    <a:ea typeface="Verdana" panose="020B0604030504040204" pitchFamily="34" charset="0"/>
                    <a:cs typeface="Verdana" panose="020B0604030504040204" pitchFamily="34" charset="0"/>
                  </a:rPr>
                </a:b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If the garden has a diameter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of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12.5</m:t>
                    </m:r>
                  </m:oMath>
                </a14:m>
                <a:r>
                  <a:rPr lang="en-US" sz="2000" dirty="0">
                    <a:latin typeface="Verdana" panose="020B0604030504040204" pitchFamily="34" charset="0"/>
                    <a:ea typeface="Verdana" panose="020B0604030504040204" pitchFamily="34" charset="0"/>
                    <a:cs typeface="Verdana" panose="020B0604030504040204" pitchFamily="34" charset="0"/>
                  </a:rPr>
                  <a:t> feet (ft), how many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linear feet (ft) of fencing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does Stephanie need to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purchase? Round your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answer to the nearest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foot.</a:t>
                </a:r>
              </a:p>
            </p:txBody>
          </p:sp>
        </mc:Choice>
        <mc:Fallback xmlns="">
          <p:sp>
            <p:nvSpPr>
              <p:cNvPr id="10" name="TextBox 9">
                <a:extLst>
                  <a:ext uri="{FF2B5EF4-FFF2-40B4-BE49-F238E27FC236}">
                    <a16:creationId xmlns:a16="http://schemas.microsoft.com/office/drawing/2014/main" id="{E44DF7DE-9172-3E4E-B74A-7A51585FB6EA}"/>
                  </a:ext>
                </a:extLst>
              </p:cNvPr>
              <p:cNvSpPr txBox="1">
                <a:spLocks noRot="1" noChangeAspect="1" noMove="1" noResize="1" noEditPoints="1" noAdjustHandles="1" noChangeArrowheads="1" noChangeShapeType="1" noTextEdit="1"/>
              </p:cNvSpPr>
              <p:nvPr/>
            </p:nvSpPr>
            <p:spPr>
              <a:xfrm>
                <a:off x="914400" y="1298448"/>
                <a:ext cx="10515600" cy="2862322"/>
              </a:xfrm>
              <a:prstGeom prst="rect">
                <a:avLst/>
              </a:prstGeom>
              <a:blipFill>
                <a:blip r:embed="rId4"/>
                <a:stretch>
                  <a:fillRect l="-603" t="-1327" b="-3097"/>
                </a:stretch>
              </a:blipFill>
            </p:spPr>
            <p:txBody>
              <a:bodyPr/>
              <a:lstStyle/>
              <a:p>
                <a:r>
                  <a:rPr lang="en-US">
                    <a:noFill/>
                  </a:rPr>
                  <a:t> </a:t>
                </a:r>
              </a:p>
            </p:txBody>
          </p:sp>
        </mc:Fallback>
      </mc:AlternateContent>
      <p:pic>
        <p:nvPicPr>
          <p:cNvPr id="23" name="image16.png" descr="Icon&#10;&#10;Description automatically generated">
            <a:extLst>
              <a:ext uri="{FF2B5EF4-FFF2-40B4-BE49-F238E27FC236}">
                <a16:creationId xmlns:a16="http://schemas.microsoft.com/office/drawing/2014/main" id="{DA689468-9124-3146-90E9-DC4A0AE14422}"/>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356616" y="201168"/>
            <a:ext cx="753520" cy="753520"/>
          </a:xfrm>
          <a:prstGeom prst="rect">
            <a:avLst/>
          </a:prstGeom>
          <a:ln/>
        </p:spPr>
      </p:pic>
      <p:pic>
        <p:nvPicPr>
          <p:cNvPr id="25" name="image2.jpg">
            <a:extLst>
              <a:ext uri="{FF2B5EF4-FFF2-40B4-BE49-F238E27FC236}">
                <a16:creationId xmlns:a16="http://schemas.microsoft.com/office/drawing/2014/main" id="{49E560B2-084B-D54B-A99C-94C3093B0D0F}"/>
              </a:ext>
            </a:extLst>
          </p:cNvPr>
          <p:cNvPicPr/>
          <p:nvPr/>
        </p:nvPicPr>
        <p:blipFill>
          <a:blip r:embed="rId5" cstate="screen">
            <a:extLst>
              <a:ext uri="{28A0092B-C50C-407E-A947-70E740481C1C}">
                <a14:useLocalDpi xmlns:a14="http://schemas.microsoft.com/office/drawing/2010/main"/>
              </a:ext>
            </a:extLst>
          </a:blip>
          <a:stretch>
            <a:fillRect/>
          </a:stretch>
        </p:blipFill>
        <p:spPr>
          <a:xfrm>
            <a:off x="6736251" y="2008535"/>
            <a:ext cx="3664585" cy="2268220"/>
          </a:xfrm>
          <a:prstGeom prst="rect">
            <a:avLst/>
          </a:prstGeom>
          <a:ln/>
        </p:spPr>
      </p:pic>
    </p:spTree>
    <p:extLst>
      <p:ext uri="{BB962C8B-B14F-4D97-AF65-F5344CB8AC3E}">
        <p14:creationId xmlns:p14="http://schemas.microsoft.com/office/powerpoint/2010/main" val="37919977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156</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F54A4596-5923-6342-9500-70E8F702680A}"/>
                  </a:ext>
                </a:extLst>
              </p:cNvPr>
              <p:cNvSpPr/>
              <p:nvPr/>
            </p:nvSpPr>
            <p:spPr>
              <a:xfrm>
                <a:off x="914400" y="417101"/>
                <a:ext cx="6032500" cy="1323439"/>
              </a:xfrm>
              <a:prstGeom prst="rect">
                <a:avLst/>
              </a:prstGeom>
            </p:spPr>
            <p:txBody>
              <a:bodyPr wrap="square">
                <a:spAutoFit/>
              </a:bodyPr>
              <a:lstStyle/>
              <a:p>
                <a:pPr marL="457200" indent="-457200">
                  <a:buFont typeface="+mj-lt"/>
                  <a:buAutoNum type="arabi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Rachel needs a new tube for her bicycle tire. The tire has a radius of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13</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inches (in.). What is the circumference of the tire tube that Rachel should buy?</a:t>
                </a:r>
              </a:p>
            </p:txBody>
          </p:sp>
        </mc:Choice>
        <mc:Fallback xmlns="">
          <p:sp>
            <p:nvSpPr>
              <p:cNvPr id="2" name="Rectangle 1">
                <a:extLst>
                  <a:ext uri="{FF2B5EF4-FFF2-40B4-BE49-F238E27FC236}">
                    <a16:creationId xmlns:a16="http://schemas.microsoft.com/office/drawing/2014/main" id="{F54A4596-5923-6342-9500-70E8F702680A}"/>
                  </a:ext>
                </a:extLst>
              </p:cNvPr>
              <p:cNvSpPr>
                <a:spLocks noRot="1" noChangeAspect="1" noMove="1" noResize="1" noEditPoints="1" noAdjustHandles="1" noChangeArrowheads="1" noChangeShapeType="1" noTextEdit="1"/>
              </p:cNvSpPr>
              <p:nvPr/>
            </p:nvSpPr>
            <p:spPr>
              <a:xfrm>
                <a:off x="914400" y="417101"/>
                <a:ext cx="6032500" cy="1323439"/>
              </a:xfrm>
              <a:prstGeom prst="rect">
                <a:avLst/>
              </a:prstGeom>
              <a:blipFill>
                <a:blip r:embed="rId4"/>
                <a:stretch>
                  <a:fillRect l="-1050" t="-1887" b="-6604"/>
                </a:stretch>
              </a:blipFill>
            </p:spPr>
            <p:txBody>
              <a:bodyPr/>
              <a:lstStyle/>
              <a:p>
                <a:r>
                  <a:rPr lang="en-US">
                    <a:noFill/>
                  </a:rPr>
                  <a:t> </a:t>
                </a:r>
              </a:p>
            </p:txBody>
          </p:sp>
        </mc:Fallback>
      </mc:AlternateContent>
      <p:pic>
        <p:nvPicPr>
          <p:cNvPr id="6" name="image21.png">
            <a:extLst>
              <a:ext uri="{FF2B5EF4-FFF2-40B4-BE49-F238E27FC236}">
                <a16:creationId xmlns:a16="http://schemas.microsoft.com/office/drawing/2014/main" id="{9E8DE8D2-E900-164C-BDF1-6ACF16BFC804}"/>
              </a:ext>
            </a:extLst>
          </p:cNvPr>
          <p:cNvPicPr/>
          <p:nvPr/>
        </p:nvPicPr>
        <p:blipFill rotWithShape="1">
          <a:blip r:embed="rId5" cstate="screen">
            <a:extLst>
              <a:ext uri="{28A0092B-C50C-407E-A947-70E740481C1C}">
                <a14:useLocalDpi xmlns:a14="http://schemas.microsoft.com/office/drawing/2010/main"/>
              </a:ext>
            </a:extLst>
          </a:blip>
          <a:srcRect l="9213" t="11849" r="8691" b="13066"/>
          <a:stretch/>
        </p:blipFill>
        <p:spPr bwMode="auto">
          <a:xfrm>
            <a:off x="7075714" y="417101"/>
            <a:ext cx="3362444" cy="2049966"/>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698398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156</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F54A4596-5923-6342-9500-70E8F702680A}"/>
                  </a:ext>
                </a:extLst>
              </p:cNvPr>
              <p:cNvSpPr/>
              <p:nvPr/>
            </p:nvSpPr>
            <p:spPr>
              <a:xfrm>
                <a:off x="914400" y="404936"/>
                <a:ext cx="10515600" cy="3477875"/>
              </a:xfrm>
              <a:prstGeom prst="rect">
                <a:avLst/>
              </a:prstGeom>
            </p:spPr>
            <p:txBody>
              <a:bodyPr wrap="square">
                <a:spAutoFit/>
              </a:bodyPr>
              <a:lstStyle/>
              <a:p>
                <a:pPr marL="457200" indent="-457200">
                  <a:buFont typeface="+mj-lt"/>
                  <a:buAutoNum type="arabicPeriod" startAt="3"/>
                </a:pPr>
                <a:r>
                  <a:rPr lang="en-US" sz="2000" dirty="0">
                    <a:latin typeface="Verdana" panose="020B0604030504040204" pitchFamily="34" charset="0"/>
                    <a:ea typeface="Times New Roman" panose="02020603050405020304" pitchFamily="18" charset="0"/>
                    <a:cs typeface="Times New Roman" panose="02020603050405020304" pitchFamily="18" charset="0"/>
                  </a:rPr>
                  <a:t>Natalia noticed that her hula-hoop is  smaller than Felix’s. </a:t>
                </a:r>
              </a:p>
              <a:p>
                <a:pPr marL="457200" indent="-457200">
                  <a:buFont typeface="+mj-lt"/>
                  <a:buAutoNum type="arabicPeriod" startAt="3"/>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854075" indent="-361950">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If Felix’s hula-hoop has a diameter of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28</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in., what is </a:t>
                </a:r>
                <a:br>
                  <a:rPr lang="en-US" sz="2000" dirty="0">
                    <a:latin typeface="Verdana" panose="020B0604030504040204" pitchFamily="34" charset="0"/>
                    <a:ea typeface="Times New Roman" panose="02020603050405020304" pitchFamily="18" charset="0"/>
                    <a:cs typeface="Times New Roman" panose="02020603050405020304" pitchFamily="18" charset="0"/>
                  </a:rPr>
                </a:br>
                <a:r>
                  <a:rPr lang="en-US" sz="2000" dirty="0">
                    <a:latin typeface="Verdana" panose="020B0604030504040204" pitchFamily="34" charset="0"/>
                    <a:ea typeface="Times New Roman" panose="02020603050405020304" pitchFamily="18" charset="0"/>
                    <a:cs typeface="Times New Roman" panose="02020603050405020304" pitchFamily="18" charset="0"/>
                  </a:rPr>
                  <a:t>the circumference of his hula-hoop?</a:t>
                </a:r>
              </a:p>
              <a:p>
                <a:pPr marL="854075" indent="-36195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854075" indent="-36195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854075" indent="-36195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854075" indent="-36195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854075" indent="-361950">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Natalia knows that her hula-hoop has a circumference of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81.64</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in. Approximately how much larger is the circumference of Felix’s hula-hoop than Natalia’s?</a:t>
                </a:r>
              </a:p>
            </p:txBody>
          </p:sp>
        </mc:Choice>
        <mc:Fallback xmlns="">
          <p:sp>
            <p:nvSpPr>
              <p:cNvPr id="2" name="Rectangle 1">
                <a:extLst>
                  <a:ext uri="{FF2B5EF4-FFF2-40B4-BE49-F238E27FC236}">
                    <a16:creationId xmlns:a16="http://schemas.microsoft.com/office/drawing/2014/main" id="{F54A4596-5923-6342-9500-70E8F702680A}"/>
                  </a:ext>
                </a:extLst>
              </p:cNvPr>
              <p:cNvSpPr>
                <a:spLocks noRot="1" noChangeAspect="1" noMove="1" noResize="1" noEditPoints="1" noAdjustHandles="1" noChangeArrowheads="1" noChangeShapeType="1" noTextEdit="1"/>
              </p:cNvSpPr>
              <p:nvPr/>
            </p:nvSpPr>
            <p:spPr>
              <a:xfrm>
                <a:off x="914400" y="404936"/>
                <a:ext cx="10515600" cy="3477875"/>
              </a:xfrm>
              <a:prstGeom prst="rect">
                <a:avLst/>
              </a:prstGeom>
              <a:blipFill>
                <a:blip r:embed="rId4"/>
                <a:stretch>
                  <a:fillRect l="-603" t="-727" b="-2182"/>
                </a:stretch>
              </a:blipFill>
            </p:spPr>
            <p:txBody>
              <a:bodyPr/>
              <a:lstStyle/>
              <a:p>
                <a:r>
                  <a:rPr lang="en-US">
                    <a:noFill/>
                  </a:rPr>
                  <a:t> </a:t>
                </a:r>
              </a:p>
            </p:txBody>
          </p:sp>
        </mc:Fallback>
      </mc:AlternateContent>
    </p:spTree>
    <p:extLst>
      <p:ext uri="{BB962C8B-B14F-4D97-AF65-F5344CB8AC3E}">
        <p14:creationId xmlns:p14="http://schemas.microsoft.com/office/powerpoint/2010/main" val="41670528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156</a:t>
            </a:r>
            <a:endParaRPr i="1" dirty="0">
              <a:latin typeface="Calibri"/>
              <a:ea typeface="Calibri"/>
              <a:cs typeface="Calibri"/>
              <a:sym typeface="Calibri"/>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3054096" y="2935224"/>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156</a:t>
            </a:r>
            <a:endParaRPr i="1" dirty="0">
              <a:latin typeface="Calibri"/>
              <a:ea typeface="Calibri"/>
              <a:cs typeface="Calibri"/>
              <a:sym typeface="Calibri"/>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143000" y="-19775"/>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4.6.5 Wrap-Up: </a:t>
            </a:r>
            <a:br>
              <a:rPr lang="en-US" sz="3600" b="1" dirty="0">
                <a:solidFill>
                  <a:srgbClr val="3F2A67"/>
                </a:solidFill>
                <a:latin typeface="Verdana"/>
                <a:ea typeface="Verdana"/>
                <a:cs typeface="Verdana"/>
                <a:sym typeface="Verdana"/>
              </a:rPr>
            </a:br>
            <a:r>
              <a:rPr lang="en-US" sz="3600" b="1" dirty="0">
                <a:solidFill>
                  <a:srgbClr val="3F2A67"/>
                </a:solidFill>
                <a:latin typeface="Verdana"/>
                <a:ea typeface="Verdana"/>
                <a:cs typeface="Verdana"/>
                <a:sym typeface="Verdana"/>
              </a:rPr>
              <a:t>Ticket Out the Door</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356616" y="201168"/>
            <a:ext cx="747300" cy="747300"/>
          </a:xfrm>
          <a:prstGeom prst="rect">
            <a:avLst/>
          </a:prstGeom>
          <a:noFill/>
          <a:ln>
            <a:noFill/>
          </a:ln>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AE281112-0763-C941-9DB7-9B28C4EA4745}"/>
                  </a:ext>
                </a:extLst>
              </p:cNvPr>
              <p:cNvSpPr/>
              <p:nvPr/>
            </p:nvSpPr>
            <p:spPr>
              <a:xfrm>
                <a:off x="914400" y="1346520"/>
                <a:ext cx="7213600" cy="1631216"/>
              </a:xfrm>
              <a:prstGeom prst="rect">
                <a:avLst/>
              </a:prstGeom>
            </p:spPr>
            <p:txBody>
              <a:bodyPr wrap="square">
                <a:spAutoFit/>
              </a:bodyPr>
              <a:lstStyle/>
              <a:p>
                <a:r>
                  <a:rPr lang="en-US" sz="2000" dirty="0" err="1">
                    <a:latin typeface="Verdana" panose="020B0604030504040204" pitchFamily="34" charset="0"/>
                    <a:ea typeface="Times New Roman" panose="02020603050405020304" pitchFamily="18" charset="0"/>
                    <a:cs typeface="Times New Roman" panose="02020603050405020304" pitchFamily="18" charset="0"/>
                  </a:rPr>
                  <a:t>Aziyia</a:t>
                </a:r>
                <a:r>
                  <a:rPr lang="en-US" sz="2000" dirty="0">
                    <a:latin typeface="Verdana" panose="020B0604030504040204" pitchFamily="34" charset="0"/>
                    <a:ea typeface="Times New Roman" panose="02020603050405020304" pitchFamily="18" charset="0"/>
                    <a:cs typeface="Times New Roman" panose="02020603050405020304" pitchFamily="18" charset="0"/>
                  </a:rPr>
                  <a:t> and Jamal are both finding the circumference of the circle shown. The radius </a:t>
                </a:r>
                <a:br>
                  <a:rPr lang="en-US" sz="2000" dirty="0">
                    <a:latin typeface="Verdana" panose="020B0604030504040204" pitchFamily="34" charset="0"/>
                    <a:ea typeface="Times New Roman" panose="02020603050405020304" pitchFamily="18" charset="0"/>
                    <a:cs typeface="Times New Roman" panose="02020603050405020304" pitchFamily="18" charset="0"/>
                  </a:rPr>
                </a:br>
                <a:r>
                  <a:rPr lang="en-US" sz="2000" dirty="0">
                    <a:latin typeface="Verdana" panose="020B0604030504040204" pitchFamily="34" charset="0"/>
                    <a:ea typeface="Times New Roman" panose="02020603050405020304" pitchFamily="18" charset="0"/>
                    <a:cs typeface="Times New Roman" panose="02020603050405020304" pitchFamily="18" charset="0"/>
                  </a:rPr>
                  <a:t>of the circle is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7.3</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inches (in.).</a:t>
                </a: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r>
                  <a:rPr lang="en-US" sz="2000" dirty="0">
                    <a:latin typeface="Verdana" panose="020B0604030504040204" pitchFamily="34" charset="0"/>
                    <a:ea typeface="Times New Roman" panose="02020603050405020304" pitchFamily="18" charset="0"/>
                    <a:cs typeface="Times New Roman" panose="02020603050405020304" pitchFamily="18" charset="0"/>
                  </a:rPr>
                  <a:t>Some of </a:t>
                </a:r>
                <a:r>
                  <a:rPr lang="en-US" sz="2000" dirty="0" err="1">
                    <a:latin typeface="Verdana" panose="020B0604030504040204" pitchFamily="34" charset="0"/>
                    <a:ea typeface="Times New Roman" panose="02020603050405020304" pitchFamily="18" charset="0"/>
                    <a:cs typeface="Times New Roman" panose="02020603050405020304" pitchFamily="18" charset="0"/>
                  </a:rPr>
                  <a:t>Aziyia’s</a:t>
                </a:r>
                <a:r>
                  <a:rPr lang="en-US" sz="2000" dirty="0">
                    <a:latin typeface="Verdana" panose="020B0604030504040204" pitchFamily="34" charset="0"/>
                    <a:ea typeface="Times New Roman" panose="02020603050405020304" pitchFamily="18" charset="0"/>
                    <a:cs typeface="Times New Roman" panose="02020603050405020304" pitchFamily="18" charset="0"/>
                  </a:rPr>
                  <a:t> and Jamal’s work is shown.</a:t>
                </a:r>
              </a:p>
            </p:txBody>
          </p:sp>
        </mc:Choice>
        <mc:Fallback xmlns="">
          <p:sp>
            <p:nvSpPr>
              <p:cNvPr id="2" name="Rectangle 1">
                <a:extLst>
                  <a:ext uri="{FF2B5EF4-FFF2-40B4-BE49-F238E27FC236}">
                    <a16:creationId xmlns:a16="http://schemas.microsoft.com/office/drawing/2014/main" id="{AE281112-0763-C941-9DB7-9B28C4EA4745}"/>
                  </a:ext>
                </a:extLst>
              </p:cNvPr>
              <p:cNvSpPr>
                <a:spLocks noRot="1" noChangeAspect="1" noMove="1" noResize="1" noEditPoints="1" noAdjustHandles="1" noChangeArrowheads="1" noChangeShapeType="1" noTextEdit="1"/>
              </p:cNvSpPr>
              <p:nvPr/>
            </p:nvSpPr>
            <p:spPr>
              <a:xfrm>
                <a:off x="914400" y="1346520"/>
                <a:ext cx="7213600" cy="1631216"/>
              </a:xfrm>
              <a:prstGeom prst="rect">
                <a:avLst/>
              </a:prstGeom>
              <a:blipFill>
                <a:blip r:embed="rId5"/>
                <a:stretch>
                  <a:fillRect l="-880" t="-2326" r="-1408" b="-5426"/>
                </a:stretch>
              </a:blipFill>
            </p:spPr>
            <p:txBody>
              <a:bodyPr/>
              <a:lstStyle/>
              <a:p>
                <a:r>
                  <a:rPr lang="en-US">
                    <a:noFill/>
                  </a:rPr>
                  <a:t> </a:t>
                </a:r>
              </a:p>
            </p:txBody>
          </p:sp>
        </mc:Fallback>
      </mc:AlternateContent>
      <p:pic>
        <p:nvPicPr>
          <p:cNvPr id="5122" name="Picture 2"/>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8237221" y="1138286"/>
            <a:ext cx="2097681" cy="2124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graphicFrame>
            <p:nvGraphicFramePr>
              <p:cNvPr id="12" name="Table 11">
                <a:extLst>
                  <a:ext uri="{FF2B5EF4-FFF2-40B4-BE49-F238E27FC236}">
                    <a16:creationId xmlns:a16="http://schemas.microsoft.com/office/drawing/2014/main" id="{A695FB2B-8DAE-BA44-A9EA-E6540022E777}"/>
                  </a:ext>
                </a:extLst>
              </p:cNvPr>
              <p:cNvGraphicFramePr>
                <a:graphicFrameLocks noGrp="1"/>
              </p:cNvGraphicFramePr>
              <p:nvPr>
                <p:extLst>
                  <p:ext uri="{D42A27DB-BD31-4B8C-83A1-F6EECF244321}">
                    <p14:modId xmlns:p14="http://schemas.microsoft.com/office/powerpoint/2010/main" val="2618404351"/>
                  </p:ext>
                </p:extLst>
              </p:nvPr>
            </p:nvGraphicFramePr>
            <p:xfrm>
              <a:off x="2037370" y="3120025"/>
              <a:ext cx="6224452" cy="2819400"/>
            </p:xfrm>
            <a:graphic>
              <a:graphicData uri="http://schemas.openxmlformats.org/drawingml/2006/table">
                <a:tbl>
                  <a:tblPr firstRow="1" firstCol="1" bandRow="1"/>
                  <a:tblGrid>
                    <a:gridCol w="3112226">
                      <a:extLst>
                        <a:ext uri="{9D8B030D-6E8A-4147-A177-3AD203B41FA5}">
                          <a16:colId xmlns:a16="http://schemas.microsoft.com/office/drawing/2014/main" val="3655617321"/>
                        </a:ext>
                      </a:extLst>
                    </a:gridCol>
                    <a:gridCol w="3112226">
                      <a:extLst>
                        <a:ext uri="{9D8B030D-6E8A-4147-A177-3AD203B41FA5}">
                          <a16:colId xmlns:a16="http://schemas.microsoft.com/office/drawing/2014/main" val="4277226498"/>
                        </a:ext>
                      </a:extLst>
                    </a:gridCol>
                  </a:tblGrid>
                  <a:tr h="457200">
                    <a:tc>
                      <a:txBody>
                        <a:bodyPr/>
                        <a:lstStyle/>
                        <a:p>
                          <a:pPr marL="0" marR="0" algn="ctr">
                            <a:spcBef>
                              <a:spcPts val="0"/>
                            </a:spcBef>
                            <a:spcAft>
                              <a:spcPts val="1200"/>
                            </a:spcAft>
                          </a:pPr>
                          <a:r>
                            <a:rPr lang="en-US" sz="2000" b="1" dirty="0" err="1">
                              <a:effectLst/>
                              <a:latin typeface="Verdana" panose="020B0604030504040204" pitchFamily="34" charset="0"/>
                              <a:ea typeface="Verdana" pitchFamily="34" charset="0"/>
                              <a:cs typeface="Times New Roman" panose="02020603050405020304" pitchFamily="18" charset="0"/>
                            </a:rPr>
                            <a:t>Aziyia’s</a:t>
                          </a:r>
                          <a:r>
                            <a:rPr lang="en-US" sz="2000" b="1" dirty="0">
                              <a:effectLst/>
                              <a:latin typeface="Verdana" panose="020B0604030504040204" pitchFamily="34" charset="0"/>
                              <a:ea typeface="Verdana" pitchFamily="34" charset="0"/>
                              <a:cs typeface="Times New Roman" panose="02020603050405020304" pitchFamily="18" charset="0"/>
                            </a:rPr>
                            <a:t> Work</a:t>
                          </a:r>
                          <a:endParaRPr lang="x-none" sz="2000" dirty="0">
                            <a:effectLst/>
                            <a:latin typeface="Verdana" pitchFamily="34" charset="0"/>
                            <a:ea typeface="Verdana" pitchFamily="34" charset="0"/>
                            <a:cs typeface="Times New Roman" panose="02020603050405020304" pitchFamily="18" charset="0"/>
                          </a:endParaRPr>
                        </a:p>
                      </a:txBody>
                      <a:tcPr marL="62245" marR="6224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1200"/>
                            </a:spcAft>
                          </a:pPr>
                          <a:r>
                            <a:rPr lang="en-US" sz="2000" b="1">
                              <a:solidFill>
                                <a:srgbClr val="000000"/>
                              </a:solidFill>
                              <a:effectLst/>
                              <a:latin typeface="Verdana" panose="020B0604030504040204" pitchFamily="34" charset="0"/>
                              <a:ea typeface="Verdana" pitchFamily="34" charset="0"/>
                              <a:cs typeface="Times New Roman" panose="02020603050405020304" pitchFamily="18" charset="0"/>
                            </a:rPr>
                            <a:t>Jamal’s Work</a:t>
                          </a:r>
                          <a:endParaRPr lang="x-none" sz="2000">
                            <a:effectLst/>
                            <a:latin typeface="Verdana" pitchFamily="34" charset="0"/>
                            <a:ea typeface="Verdana" pitchFamily="34" charset="0"/>
                            <a:cs typeface="Times New Roman" panose="02020603050405020304" pitchFamily="18" charset="0"/>
                          </a:endParaRPr>
                        </a:p>
                      </a:txBody>
                      <a:tcPr marL="62245" marR="6224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3378211742"/>
                      </a:ext>
                    </a:extLst>
                  </a:tr>
                  <a:tr h="457200">
                    <a:tc>
                      <a:txBody>
                        <a:bodyPr/>
                        <a:lstStyle/>
                        <a:p>
                          <a:pPr marL="0" marR="0" algn="ctr">
                            <a:spcBef>
                              <a:spcPts val="0"/>
                            </a:spcBef>
                            <a:spcAft>
                              <a:spcPts val="120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𝐶</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𝜋</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𝑟</m:t>
                                </m:r>
                              </m:oMath>
                            </m:oMathPara>
                          </a14:m>
                          <a:endParaRPr lang="x-none" sz="2000" dirty="0">
                            <a:effectLst/>
                            <a:latin typeface="Verdana" pitchFamily="34" charset="0"/>
                            <a:ea typeface="Verdana" pitchFamily="34" charset="0"/>
                            <a:cs typeface="Times New Roman" panose="02020603050405020304" pitchFamily="18" charset="0"/>
                          </a:endParaRPr>
                        </a:p>
                        <a:p>
                          <a:pPr marL="0" marR="0" algn="ctr">
                            <a:spcBef>
                              <a:spcPts val="0"/>
                            </a:spcBef>
                            <a:spcAft>
                              <a:spcPts val="1200"/>
                            </a:spcAft>
                          </a:pPr>
                          <a:r>
                            <a:rPr lang="en-US" sz="2000" dirty="0">
                              <a:solidFill>
                                <a:srgbClr val="000000"/>
                              </a:solidFill>
                              <a:effectLst/>
                              <a:latin typeface="Verdana" panose="020B0604030504040204" pitchFamily="34" charset="0"/>
                              <a:ea typeface="Verdana" pitchFamily="34" charset="0"/>
                              <a:cs typeface="Times New Roman" panose="02020603050405020304" pitchFamily="18" charset="0"/>
                            </a:rPr>
                            <a:t> </a:t>
                          </a:r>
                          <a14:m>
                            <m:oMath xmlns:m="http://schemas.openxmlformats.org/officeDocument/2006/math">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𝐶</m:t>
                              </m:r>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=(2)(________</m:t>
                              </m:r>
                              <m:r>
                                <a:rPr lang="en-US" sz="2000">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m:t>
                              </m:r>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𝑟</m:t>
                              </m:r>
                            </m:oMath>
                          </a14:m>
                          <a:endParaRPr lang="x-none" sz="2000" dirty="0">
                            <a:effectLst/>
                            <a:latin typeface="Verdana" pitchFamily="34" charset="0"/>
                            <a:ea typeface="Verdana" pitchFamily="34" charset="0"/>
                            <a:cs typeface="Times New Roman" panose="02020603050405020304" pitchFamily="18" charset="0"/>
                          </a:endParaRPr>
                        </a:p>
                        <a:p>
                          <a:pPr marL="0" marR="0" algn="ctr">
                            <a:spcBef>
                              <a:spcPts val="0"/>
                            </a:spcBef>
                            <a:spcAft>
                              <a:spcPts val="120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𝐶</m:t>
                                </m:r>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m:t>
                                </m:r>
                                <m:d>
                                  <m:dPr>
                                    <m:ctrlPr>
                                      <a:rPr lang="x-none"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ctrlPr>
                                  </m:dPr>
                                  <m:e>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2</m:t>
                                    </m:r>
                                  </m:e>
                                </m:d>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(________)</m:t>
                                </m:r>
                                <m:d>
                                  <m:dPr>
                                    <m:ctrlPr>
                                      <a:rPr lang="x-none"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ctrlPr>
                                  </m:dPr>
                                  <m:e>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________</m:t>
                                    </m:r>
                                  </m:e>
                                </m:d>
                              </m:oMath>
                            </m:oMathPara>
                          </a14:m>
                          <a:endParaRPr lang="x-none" sz="2000" dirty="0">
                            <a:effectLst/>
                            <a:latin typeface="Verdana" pitchFamily="34" charset="0"/>
                            <a:ea typeface="Verdana" pitchFamily="34" charset="0"/>
                            <a:cs typeface="Times New Roman" panose="02020603050405020304" pitchFamily="18" charset="0"/>
                          </a:endParaRPr>
                        </a:p>
                        <a:p>
                          <a:pPr marL="0" marR="0" algn="ctr">
                            <a:spcBef>
                              <a:spcPts val="0"/>
                            </a:spcBef>
                            <a:spcAft>
                              <a:spcPts val="120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𝐶</m:t>
                                </m:r>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=6.28</m:t>
                                </m:r>
                                <m:d>
                                  <m:dPr>
                                    <m:ctrlPr>
                                      <a:rPr lang="x-none"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ctrlPr>
                                  </m:dPr>
                                  <m:e>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7.3</m:t>
                                    </m:r>
                                  </m:e>
                                </m:d>
                              </m:oMath>
                            </m:oMathPara>
                          </a14:m>
                          <a:endParaRPr lang="x-none" sz="2000" dirty="0">
                            <a:effectLst/>
                            <a:latin typeface="Verdana" pitchFamily="34" charset="0"/>
                            <a:ea typeface="Verdana" pitchFamily="34" charset="0"/>
                            <a:cs typeface="Times New Roman" panose="02020603050405020304" pitchFamily="18" charset="0"/>
                          </a:endParaRPr>
                        </a:p>
                        <a:p>
                          <a:pPr marL="0" marR="0" algn="ctr">
                            <a:spcBef>
                              <a:spcPts val="0"/>
                            </a:spcBef>
                            <a:spcAft>
                              <a:spcPts val="1200"/>
                            </a:spcAft>
                          </a:pPr>
                          <a14:m>
                            <m:oMath xmlns:m="http://schemas.openxmlformats.org/officeDocument/2006/math">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𝐶</m:t>
                              </m:r>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=___________</m:t>
                              </m:r>
                            </m:oMath>
                          </a14:m>
                          <a:r>
                            <a:rPr lang="en-US" sz="2000" dirty="0">
                              <a:solidFill>
                                <a:srgbClr val="000000"/>
                              </a:solidFill>
                              <a:effectLst/>
                              <a:latin typeface="Verdana" panose="020B0604030504040204" pitchFamily="34" charset="0"/>
                              <a:ea typeface="Verdana" pitchFamily="34" charset="0"/>
                              <a:cs typeface="Times New Roman" panose="02020603050405020304" pitchFamily="18" charset="0"/>
                            </a:rPr>
                            <a:t> in.</a:t>
                          </a:r>
                          <a:endParaRPr lang="x-none" sz="2000" dirty="0">
                            <a:effectLst/>
                            <a:latin typeface="Verdana" pitchFamily="34" charset="0"/>
                            <a:ea typeface="Verdana" pitchFamily="34" charset="0"/>
                            <a:cs typeface="Times New Roman" panose="02020603050405020304" pitchFamily="18" charset="0"/>
                          </a:endParaRPr>
                        </a:p>
                      </a:txBody>
                      <a:tcPr marL="62245" marR="62245" marB="1828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120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𝐶</m:t>
                                </m:r>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m:t>
                                </m:r>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𝜋</m:t>
                                </m:r>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𝑑</m:t>
                                </m:r>
                              </m:oMath>
                            </m:oMathPara>
                          </a14:m>
                          <a:endParaRPr lang="x-none" sz="2000" dirty="0">
                            <a:effectLst/>
                            <a:latin typeface="Verdana" pitchFamily="34" charset="0"/>
                            <a:ea typeface="Verdana" pitchFamily="34" charset="0"/>
                            <a:cs typeface="Times New Roman" panose="02020603050405020304" pitchFamily="18" charset="0"/>
                          </a:endParaRPr>
                        </a:p>
                        <a:p>
                          <a:pPr marL="0" marR="0" algn="ctr">
                            <a:spcBef>
                              <a:spcPts val="0"/>
                            </a:spcBef>
                            <a:spcAft>
                              <a:spcPts val="120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𝐶</m:t>
                                </m:r>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m:t>
                                </m:r>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𝜋</m:t>
                                </m:r>
                                <m:d>
                                  <m:dPr>
                                    <m:ctrlPr>
                                      <a:rPr lang="x-none"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ctrlPr>
                                  </m:dPr>
                                  <m:e>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2∙________</m:t>
                                    </m:r>
                                  </m:e>
                                </m:d>
                              </m:oMath>
                            </m:oMathPara>
                          </a14:m>
                          <a:endParaRPr lang="x-none" sz="2000" dirty="0">
                            <a:effectLst/>
                            <a:latin typeface="Verdana" pitchFamily="34" charset="0"/>
                            <a:ea typeface="Verdana" pitchFamily="34" charset="0"/>
                            <a:cs typeface="Times New Roman" panose="02020603050405020304" pitchFamily="18" charset="0"/>
                          </a:endParaRPr>
                        </a:p>
                        <a:p>
                          <a:pPr marL="0" marR="0" algn="ctr">
                            <a:spcBef>
                              <a:spcPts val="0"/>
                            </a:spcBef>
                            <a:spcAft>
                              <a:spcPts val="1200"/>
                            </a:spcAft>
                          </a:pPr>
                          <a14:m>
                            <m:oMath xmlns:m="http://schemas.openxmlformats.org/officeDocument/2006/math">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𝐶</m:t>
                              </m:r>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=__________</m:t>
                              </m:r>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𝜋</m:t>
                              </m:r>
                            </m:oMath>
                          </a14:m>
                          <a:r>
                            <a:rPr lang="en-US" sz="2000" dirty="0">
                              <a:solidFill>
                                <a:srgbClr val="000000"/>
                              </a:solidFill>
                              <a:effectLst/>
                              <a:latin typeface="Verdana" panose="020B0604030504040204" pitchFamily="34" charset="0"/>
                              <a:ea typeface="Verdana" pitchFamily="34" charset="0"/>
                              <a:cs typeface="Times New Roman" panose="02020603050405020304" pitchFamily="18" charset="0"/>
                            </a:rPr>
                            <a:t> in.</a:t>
                          </a:r>
                          <a:endParaRPr lang="x-none" sz="2000" dirty="0">
                            <a:effectLst/>
                            <a:latin typeface="Verdana" pitchFamily="34" charset="0"/>
                            <a:ea typeface="Verdana" pitchFamily="34" charset="0"/>
                            <a:cs typeface="Times New Roman" panose="02020603050405020304" pitchFamily="18" charset="0"/>
                          </a:endParaRPr>
                        </a:p>
                      </a:txBody>
                      <a:tcPr marL="62245" marR="62245" marB="18288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89308286"/>
                      </a:ext>
                    </a:extLst>
                  </a:tr>
                </a:tbl>
              </a:graphicData>
            </a:graphic>
          </p:graphicFrame>
        </mc:Choice>
        <mc:Fallback xmlns="">
          <p:graphicFrame>
            <p:nvGraphicFramePr>
              <p:cNvPr id="12" name="Table 11">
                <a:extLst>
                  <a:ext uri="{FF2B5EF4-FFF2-40B4-BE49-F238E27FC236}">
                    <a16:creationId xmlns:a16="http://schemas.microsoft.com/office/drawing/2014/main" id="{A695FB2B-8DAE-BA44-A9EA-E6540022E777}"/>
                  </a:ext>
                </a:extLst>
              </p:cNvPr>
              <p:cNvGraphicFramePr>
                <a:graphicFrameLocks noGrp="1"/>
              </p:cNvGraphicFramePr>
              <p:nvPr>
                <p:extLst>
                  <p:ext uri="{D42A27DB-BD31-4B8C-83A1-F6EECF244321}">
                    <p14:modId xmlns:p14="http://schemas.microsoft.com/office/powerpoint/2010/main" val="2618404351"/>
                  </p:ext>
                </p:extLst>
              </p:nvPr>
            </p:nvGraphicFramePr>
            <p:xfrm>
              <a:off x="2037370" y="3120025"/>
              <a:ext cx="6224452" cy="2819400"/>
            </p:xfrm>
            <a:graphic>
              <a:graphicData uri="http://schemas.openxmlformats.org/drawingml/2006/table">
                <a:tbl>
                  <a:tblPr firstRow="1" firstCol="1" bandRow="1"/>
                  <a:tblGrid>
                    <a:gridCol w="3112226">
                      <a:extLst>
                        <a:ext uri="{9D8B030D-6E8A-4147-A177-3AD203B41FA5}">
                          <a16:colId xmlns:a16="http://schemas.microsoft.com/office/drawing/2014/main" val="3655617321"/>
                        </a:ext>
                      </a:extLst>
                    </a:gridCol>
                    <a:gridCol w="3112226">
                      <a:extLst>
                        <a:ext uri="{9D8B030D-6E8A-4147-A177-3AD203B41FA5}">
                          <a16:colId xmlns:a16="http://schemas.microsoft.com/office/drawing/2014/main" val="4277226498"/>
                        </a:ext>
                      </a:extLst>
                    </a:gridCol>
                  </a:tblGrid>
                  <a:tr h="457200">
                    <a:tc>
                      <a:txBody>
                        <a:bodyPr/>
                        <a:lstStyle/>
                        <a:p>
                          <a:pPr marL="0" marR="0" algn="ctr">
                            <a:spcBef>
                              <a:spcPts val="0"/>
                            </a:spcBef>
                            <a:spcAft>
                              <a:spcPts val="1200"/>
                            </a:spcAft>
                          </a:pPr>
                          <a:r>
                            <a:rPr lang="en-US" sz="2000" b="1" dirty="0" err="1">
                              <a:effectLst/>
                              <a:latin typeface="Verdana" panose="020B0604030504040204" pitchFamily="34" charset="0"/>
                              <a:ea typeface="Verdana" pitchFamily="34" charset="0"/>
                              <a:cs typeface="Times New Roman" panose="02020603050405020304" pitchFamily="18" charset="0"/>
                            </a:rPr>
                            <a:t>Aziyia’s</a:t>
                          </a:r>
                          <a:r>
                            <a:rPr lang="en-US" sz="2000" b="1" dirty="0">
                              <a:effectLst/>
                              <a:latin typeface="Verdana" panose="020B0604030504040204" pitchFamily="34" charset="0"/>
                              <a:ea typeface="Verdana" pitchFamily="34" charset="0"/>
                              <a:cs typeface="Times New Roman" panose="02020603050405020304" pitchFamily="18" charset="0"/>
                            </a:rPr>
                            <a:t> Work</a:t>
                          </a:r>
                          <a:endParaRPr lang="x-none" sz="2000">
                            <a:effectLst/>
                            <a:latin typeface="Verdana" pitchFamily="34" charset="0"/>
                            <a:ea typeface="Verdana" pitchFamily="34" charset="0"/>
                            <a:cs typeface="Times New Roman" panose="02020603050405020304" pitchFamily="18" charset="0"/>
                          </a:endParaRPr>
                        </a:p>
                      </a:txBody>
                      <a:tcPr marL="62245" marR="6224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1200"/>
                            </a:spcAft>
                          </a:pPr>
                          <a:r>
                            <a:rPr lang="en-US" sz="2000" b="1">
                              <a:solidFill>
                                <a:srgbClr val="000000"/>
                              </a:solidFill>
                              <a:effectLst/>
                              <a:latin typeface="Verdana" panose="020B0604030504040204" pitchFamily="34" charset="0"/>
                              <a:ea typeface="Verdana" pitchFamily="34" charset="0"/>
                              <a:cs typeface="Times New Roman" panose="02020603050405020304" pitchFamily="18" charset="0"/>
                            </a:rPr>
                            <a:t>Jamal’s Work</a:t>
                          </a:r>
                          <a:endParaRPr lang="x-none" sz="2000">
                            <a:effectLst/>
                            <a:latin typeface="Verdana" pitchFamily="34" charset="0"/>
                            <a:ea typeface="Verdana" pitchFamily="34" charset="0"/>
                            <a:cs typeface="Times New Roman" panose="02020603050405020304" pitchFamily="18" charset="0"/>
                          </a:endParaRPr>
                        </a:p>
                      </a:txBody>
                      <a:tcPr marL="62245" marR="6224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3378211742"/>
                      </a:ext>
                    </a:extLst>
                  </a:tr>
                  <a:tr h="2362200">
                    <a:tc>
                      <a:txBody>
                        <a:bodyPr/>
                        <a:lstStyle/>
                        <a:p>
                          <a:endParaRPr lang="en-US"/>
                        </a:p>
                      </a:txBody>
                      <a:tcPr marL="62245" marR="62245" marB="1828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7"/>
                          <a:stretch>
                            <a:fillRect l="-407" t="-19786" r="-100000" b="-535"/>
                          </a:stretch>
                        </a:blipFill>
                      </a:tcPr>
                    </a:tc>
                    <a:tc>
                      <a:txBody>
                        <a:bodyPr/>
                        <a:lstStyle/>
                        <a:p>
                          <a:endParaRPr lang="en-US"/>
                        </a:p>
                      </a:txBody>
                      <a:tcPr marL="62245" marR="62245" marB="18288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7"/>
                          <a:stretch>
                            <a:fillRect l="-100816" t="-19786" r="-408" b="-535"/>
                          </a:stretch>
                        </a:blipFill>
                      </a:tcPr>
                    </a:tc>
                    <a:extLst>
                      <a:ext uri="{0D108BD9-81ED-4DB2-BD59-A6C34878D82A}">
                        <a16:rowId xmlns:a16="http://schemas.microsoft.com/office/drawing/2014/main" val="2789308286"/>
                      </a:ext>
                    </a:extLst>
                  </a:tr>
                </a:tbl>
              </a:graphicData>
            </a:graphic>
          </p:graphicFrame>
        </mc:Fallback>
      </mc:AlternateContent>
    </p:spTree>
    <p:extLst>
      <p:ext uri="{BB962C8B-B14F-4D97-AF65-F5344CB8AC3E}">
        <p14:creationId xmlns:p14="http://schemas.microsoft.com/office/powerpoint/2010/main" val="5539956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156</a:t>
            </a:r>
            <a:endParaRPr i="1" dirty="0">
              <a:latin typeface="Calibri"/>
              <a:ea typeface="Calibri"/>
              <a:cs typeface="Calibri"/>
              <a:sym typeface="Calibri"/>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id="{AE281112-0763-C941-9DB7-9B28C4EA4745}"/>
              </a:ext>
            </a:extLst>
          </p:cNvPr>
          <p:cNvSpPr/>
          <p:nvPr/>
        </p:nvSpPr>
        <p:spPr>
          <a:xfrm>
            <a:off x="914400" y="438912"/>
            <a:ext cx="10515600" cy="1938992"/>
          </a:xfrm>
          <a:prstGeom prst="rect">
            <a:avLst/>
          </a:prstGeom>
        </p:spPr>
        <p:txBody>
          <a:bodyPr wrap="square">
            <a:spAutoFit/>
          </a:bodyPr>
          <a:lstStyle/>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Complete each person’s work.</a:t>
            </a:r>
          </a:p>
          <a:p>
            <a:pPr marL="457200" indent="-457200">
              <a:buFont typeface="+mj-lt"/>
              <a:buAutoNum type="arabi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Explain which answer is more accurate.</a:t>
            </a:r>
          </a:p>
        </p:txBody>
      </p:sp>
    </p:spTree>
    <p:extLst>
      <p:ext uri="{BB962C8B-B14F-4D97-AF65-F5344CB8AC3E}">
        <p14:creationId xmlns:p14="http://schemas.microsoft.com/office/powerpoint/2010/main" val="2682109178"/>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3114</TotalTime>
  <Words>1144</Words>
  <Application>Microsoft Office PowerPoint</Application>
  <PresentationFormat>Widescreen</PresentationFormat>
  <Paragraphs>180</Paragraphs>
  <Slides>24</Slides>
  <Notes>23</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24</vt:i4>
      </vt:variant>
    </vt:vector>
  </HeadingPairs>
  <TitlesOfParts>
    <vt:vector size="35" baseType="lpstr">
      <vt:lpstr>Cambria</vt:lpstr>
      <vt:lpstr>Cutive</vt:lpstr>
      <vt:lpstr>Verdana</vt:lpstr>
      <vt:lpstr>Wingdings</vt:lpstr>
      <vt:lpstr>Century Gothic</vt:lpstr>
      <vt:lpstr>Calibri</vt:lpstr>
      <vt:lpstr>Arial Black</vt:lpstr>
      <vt:lpstr>Courier New</vt:lpstr>
      <vt:lpstr>Cambria Math</vt:lpstr>
      <vt:lpstr>Arial</vt:lpstr>
      <vt:lpstr>1_Office Theme</vt:lpstr>
      <vt:lpstr>7th Grade Math  Unit 4, Lesson 6  Finding Circumference  Volume 1, pg. 152  </vt:lpstr>
      <vt:lpstr>Benchmark</vt:lpstr>
      <vt:lpstr>PowerPoint Presentation</vt:lpstr>
      <vt:lpstr>PowerPoint Presentation</vt:lpstr>
      <vt:lpstr>Warm-Up</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PowerPoint Presentation</vt:lpstr>
      <vt:lpstr>Guided Practice</vt:lpstr>
      <vt:lpstr>PowerPoint Presentation</vt:lpstr>
      <vt:lpstr>PowerPoint Presentation</vt:lpstr>
      <vt:lpstr>PowerPoint Presentation</vt:lpstr>
      <vt:lpstr>PowerPoint Presentation</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Natasha Dease</cp:lastModifiedBy>
  <cp:revision>43</cp:revision>
  <dcterms:created xsi:type="dcterms:W3CDTF">2015-03-17T18:51:18Z</dcterms:created>
  <dcterms:modified xsi:type="dcterms:W3CDTF">2022-06-07T18:34:29Z</dcterms:modified>
</cp:coreProperties>
</file>