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9"/>
  </p:notesMasterIdLst>
  <p:sldIdLst>
    <p:sldId id="256" r:id="rId5"/>
    <p:sldId id="257" r:id="rId6"/>
    <p:sldId id="345" r:id="rId7"/>
    <p:sldId id="286" r:id="rId8"/>
    <p:sldId id="261" r:id="rId9"/>
    <p:sldId id="287" r:id="rId10"/>
    <p:sldId id="289" r:id="rId11"/>
    <p:sldId id="290" r:id="rId12"/>
    <p:sldId id="308" r:id="rId13"/>
    <p:sldId id="390" r:id="rId14"/>
    <p:sldId id="392" r:id="rId15"/>
    <p:sldId id="394" r:id="rId16"/>
    <p:sldId id="314" r:id="rId17"/>
    <p:sldId id="315" r:id="rId18"/>
    <p:sldId id="316" r:id="rId19"/>
    <p:sldId id="339" r:id="rId20"/>
    <p:sldId id="340" r:id="rId21"/>
    <p:sldId id="377" r:id="rId22"/>
    <p:sldId id="378" r:id="rId23"/>
    <p:sldId id="379" r:id="rId24"/>
    <p:sldId id="380" r:id="rId25"/>
    <p:sldId id="381" r:id="rId26"/>
    <p:sldId id="306" r:id="rId27"/>
    <p:sldId id="307" r:id="rId28"/>
  </p:sldIdLst>
  <p:sldSz cx="12192000" cy="6858000"/>
  <p:notesSz cx="6858000" cy="9144000"/>
  <p:embeddedFontLst>
    <p:embeddedFont>
      <p:font typeface="Arial Black" panose="020B0A04020102020204" pitchFamily="34" charset="0"/>
      <p:bold r:id="rId30"/>
    </p:embeddedFont>
    <p:embeddedFont>
      <p:font typeface="Calibri" panose="020F0502020204030204" pitchFamily="34" charset="0"/>
      <p:regular r:id="rId31"/>
      <p:bold r:id="rId32"/>
      <p:italic r:id="rId33"/>
      <p:boldItalic r:id="rId34"/>
    </p:embeddedFont>
    <p:embeddedFont>
      <p:font typeface="Cambria" panose="02040503050406030204" pitchFamily="18" charset="0"/>
      <p:regular r:id="rId35"/>
      <p:bold r:id="rId36"/>
      <p:italic r:id="rId37"/>
      <p:boldItalic r:id="rId38"/>
    </p:embeddedFont>
    <p:embeddedFont>
      <p:font typeface="Cambria Math" panose="02040503050406030204" pitchFamily="18" charset="0"/>
      <p:regular r:id="rId39"/>
    </p:embeddedFont>
    <p:embeddedFont>
      <p:font typeface="Century Gothic" panose="020B0502020202020204" pitchFamily="34" charset="0"/>
      <p:regular r:id="rId40"/>
      <p:bold r:id="rId41"/>
      <p:italic r:id="rId42"/>
      <p:boldItalic r:id="rId43"/>
    </p:embeddedFont>
    <p:embeddedFont>
      <p:font typeface="Cutive" panose="020B0604020202020204" charset="0"/>
      <p:regular r:id="rId44"/>
    </p:embeddedFont>
    <p:embeddedFont>
      <p:font typeface="Verdana" panose="020B0604030504040204" pitchFamily="34"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9"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4E5F"/>
    <a:srgbClr val="BFBFBF"/>
    <a:srgbClr val="C9DF6F"/>
    <a:srgbClr val="417DBF"/>
    <a:srgbClr val="3F2A67"/>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809"/>
    <p:restoredTop sz="94694"/>
  </p:normalViewPr>
  <p:slideViewPr>
    <p:cSldViewPr snapToGrid="0">
      <p:cViewPr varScale="1">
        <p:scale>
          <a:sx n="54" d="100"/>
          <a:sy n="54" d="100"/>
        </p:scale>
        <p:origin x="102" y="45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10.fntdata"/><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font" Target="fonts/font5.fntdata"/><Relationship Id="rId42" Type="http://schemas.openxmlformats.org/officeDocument/2006/relationships/font" Target="fonts/font13.fntdata"/><Relationship Id="rId47" Type="http://schemas.openxmlformats.org/officeDocument/2006/relationships/font" Target="fonts/font18.fntdata"/><Relationship Id="rId63"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4.fntdata"/><Relationship Id="rId38" Type="http://schemas.openxmlformats.org/officeDocument/2006/relationships/font" Target="fonts/font9.fntdata"/><Relationship Id="rId46" Type="http://schemas.openxmlformats.org/officeDocument/2006/relationships/font" Target="fonts/font17.fntdata"/><Relationship Id="rId59" Type="http://customschemas.google.com/relationships/presentationmetadata" Target="meta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41" Type="http://schemas.openxmlformats.org/officeDocument/2006/relationships/font" Target="fonts/font12.fntdata"/><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font" Target="fonts/font16.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7.fntdata"/><Relationship Id="rId61"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2.fntdata"/><Relationship Id="rId44" Type="http://schemas.openxmlformats.org/officeDocument/2006/relationships/font" Target="fonts/font15.fntdata"/><Relationship Id="rId6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font" Target="fonts/font14.fntdata"/><Relationship Id="rId48" Type="http://schemas.openxmlformats.org/officeDocument/2006/relationships/font" Target="fonts/font19.fntdata"/><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4707739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Video Link: https://</a:t>
            </a:r>
            <a:r>
              <a:rPr lang="en-US" dirty="0" err="1"/>
              <a:t>algebranation.wistia.com</a:t>
            </a:r>
            <a:r>
              <a:rPr lang="en-US" dirty="0"/>
              <a:t>/medias/fi4fidi5y8</a:t>
            </a: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918865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8480710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6265039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7750495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7888404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25752346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26738162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11960363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35709044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36621280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38263563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26112723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80.png"/><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0.png"/><Relationship Id="rId7"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30.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3.png"/><Relationship Id="rId7"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330.png"/><Relationship Id="rId5" Type="http://schemas.openxmlformats.org/officeDocument/2006/relationships/image" Target="../media/image32.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37.png"/><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39.png"/><Relationship Id="rId4" Type="http://schemas.openxmlformats.org/officeDocument/2006/relationships/image" Target="../media/image38.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40.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1" y="2212773"/>
            <a:ext cx="5077650"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7</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Math</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4, Lesson 3</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Finding the Area of Polygons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136</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480" y="15225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43000" y="-9144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136</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914400" y="1307592"/>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3500" dirty="0">
                <a:latin typeface="Verdana" panose="020B0604030504040204" pitchFamily="34" charset="0"/>
                <a:ea typeface="Verdana" panose="020B0604030504040204" pitchFamily="34" charset="0"/>
                <a:cs typeface="Verdana" panose="020B0604030504040204" pitchFamily="34" charset="0"/>
              </a:rPr>
              <a:t>MA.7.GR.1.2</a:t>
            </a:r>
          </a:p>
          <a:p>
            <a:pPr marL="552450" lvl="1" indent="0">
              <a:buNone/>
            </a:pPr>
            <a:r>
              <a:rPr lang="en-US" sz="3500" dirty="0">
                <a:latin typeface="Verdana" panose="020B0604030504040204" pitchFamily="34" charset="0"/>
                <a:ea typeface="Verdana" panose="020B0604030504040204" pitchFamily="34" charset="0"/>
                <a:cs typeface="Verdana" panose="020B0604030504040204" pitchFamily="34" charset="0"/>
              </a:rPr>
              <a:t>Solve mathematical or real–world problems involving the area of polygons or composite figures by decomposing them into triangles or quadrilaterals.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78;g104476d1465_1_17">
            <a:extLst>
              <a:ext uri="{FF2B5EF4-FFF2-40B4-BE49-F238E27FC236}">
                <a16:creationId xmlns:a16="http://schemas.microsoft.com/office/drawing/2014/main" id="{78632872-3F42-3447-924A-20A16C6976F7}"/>
              </a:ext>
            </a:extLst>
          </p:cNvPr>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Google Shape;281;g104476d1465_1_17">
            <a:extLst>
              <a:ext uri="{FF2B5EF4-FFF2-40B4-BE49-F238E27FC236}">
                <a16:creationId xmlns:a16="http://schemas.microsoft.com/office/drawing/2014/main" id="{D915A027-4791-D04E-90A8-9E6239ED88EB}"/>
              </a:ext>
            </a:extLst>
          </p:cNvPr>
          <p:cNvPicPr preferRelativeResize="0"/>
          <p:nvPr/>
        </p:nvPicPr>
        <p:blipFill>
          <a:blip r:embed="rId2">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pic>
        <p:nvPicPr>
          <p:cNvPr id="4" name="Google Shape;283;g104476d1465_1_17">
            <a:extLst>
              <a:ext uri="{FF2B5EF4-FFF2-40B4-BE49-F238E27FC236}">
                <a16:creationId xmlns:a16="http://schemas.microsoft.com/office/drawing/2014/main" id="{983DCB5F-2CE8-A74F-A579-F39E2E9337FB}"/>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5" name="Google Shape;295;g103996e1364_0_10">
            <a:extLst>
              <a:ext uri="{FF2B5EF4-FFF2-40B4-BE49-F238E27FC236}">
                <a16:creationId xmlns:a16="http://schemas.microsoft.com/office/drawing/2014/main" id="{73A67FE7-C13F-C24F-85E9-A4B96A1F42A8}"/>
              </a:ext>
            </a:extLst>
          </p:cNvPr>
          <p:cNvSpPr txBox="1">
            <a:spLocks/>
          </p:cNvSpPr>
          <p:nvPr/>
        </p:nvSpPr>
        <p:spPr>
          <a:xfrm>
            <a:off x="1143000" y="128016"/>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6" name="Google Shape;282;g104476d1465_1_17">
            <a:extLst>
              <a:ext uri="{FF2B5EF4-FFF2-40B4-BE49-F238E27FC236}">
                <a16:creationId xmlns:a16="http://schemas.microsoft.com/office/drawing/2014/main" id="{FD66E1D7-C8ED-8A4A-9EE6-BDBA39B99125}"/>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136</a:t>
            </a:r>
            <a:endParaRPr i="1" dirty="0">
              <a:latin typeface="Calibri"/>
              <a:ea typeface="Calibri"/>
              <a:cs typeface="Calibri"/>
              <a:sym typeface="Calibri"/>
            </a:endParaRPr>
          </a:p>
        </p:txBody>
      </p:sp>
      <p:sp>
        <p:nvSpPr>
          <p:cNvPr id="7" name="Google Shape;296;g103996e1364_0_10">
            <a:extLst>
              <a:ext uri="{FF2B5EF4-FFF2-40B4-BE49-F238E27FC236}">
                <a16:creationId xmlns:a16="http://schemas.microsoft.com/office/drawing/2014/main" id="{5BB4D65A-27E8-4F4F-9348-5380FE318E8D}"/>
              </a:ext>
            </a:extLst>
          </p:cNvPr>
          <p:cNvSpPr txBox="1">
            <a:spLocks/>
          </p:cNvSpPr>
          <p:nvPr/>
        </p:nvSpPr>
        <p:spPr>
          <a:xfrm>
            <a:off x="914400" y="1455367"/>
            <a:ext cx="10515600" cy="474523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Tree>
    <p:extLst>
      <p:ext uri="{BB962C8B-B14F-4D97-AF65-F5344CB8AC3E}">
        <p14:creationId xmlns:p14="http://schemas.microsoft.com/office/powerpoint/2010/main" val="234299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43000"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136</a:t>
            </a:r>
            <a:endParaRPr i="1" dirty="0">
              <a:latin typeface="Calibri"/>
              <a:ea typeface="Calibri"/>
              <a:cs typeface="Calibri"/>
              <a:sym typeface="Calibri"/>
            </a:endParaRP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914400" y="1600200"/>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31813" indent="-531813">
              <a:buFont typeface="Wingdings"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decompose a regular polygon into triangles to find the area.</a:t>
            </a:r>
          </a:p>
          <a:p>
            <a:pPr marL="531813" indent="-531813">
              <a:buFont typeface="Wingdings" pitchFamily="2" charset="2"/>
              <a:buChar char="q"/>
            </a:pPr>
            <a:endParaRPr lang="en-US" sz="3500" dirty="0">
              <a:latin typeface="Verdana" panose="020B0604030504040204" pitchFamily="34" charset="0"/>
              <a:ea typeface="Verdana" panose="020B0604030504040204" pitchFamily="34" charset="0"/>
              <a:cs typeface="Verdana" panose="020B0604030504040204" pitchFamily="34" charset="0"/>
            </a:endParaRPr>
          </a:p>
          <a:p>
            <a:pPr marL="531813" indent="-531813">
              <a:buFont typeface="Wingdings"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decompose a regular polygon into triangles and quadrilaterals to find the area.</a:t>
            </a:r>
          </a:p>
        </p:txBody>
      </p:sp>
    </p:spTree>
    <p:extLst>
      <p:ext uri="{BB962C8B-B14F-4D97-AF65-F5344CB8AC3E}">
        <p14:creationId xmlns:p14="http://schemas.microsoft.com/office/powerpoint/2010/main" val="2071420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80360"/>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087368"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137</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275690"/>
            <a:ext cx="8019300"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4.3.1 Warm-Up: Which One?</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137</a:t>
            </a:r>
            <a:endParaRPr i="1" dirty="0">
              <a:latin typeface="Calibri"/>
              <a:ea typeface="Calibri"/>
              <a:cs typeface="Calibri"/>
              <a:sym typeface="Calibri"/>
            </a:endParaRPr>
          </a:p>
        </p:txBody>
      </p:sp>
      <p:sp>
        <p:nvSpPr>
          <p:cNvPr id="2" name="TextBox 1">
            <a:extLst>
              <a:ext uri="{FF2B5EF4-FFF2-40B4-BE49-F238E27FC236}">
                <a16:creationId xmlns:a16="http://schemas.microsoft.com/office/drawing/2014/main" id="{E1D7562E-134F-D14B-AF1A-DF40E11EF758}"/>
              </a:ext>
            </a:extLst>
          </p:cNvPr>
          <p:cNvSpPr txBox="1"/>
          <p:nvPr/>
        </p:nvSpPr>
        <p:spPr>
          <a:xfrm>
            <a:off x="1103916" y="1493369"/>
            <a:ext cx="9034140" cy="461665"/>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The dimensions of two rectangles are given.</a:t>
            </a:r>
          </a:p>
        </p:txBody>
      </p:sp>
      <p:sp>
        <p:nvSpPr>
          <p:cNvPr id="19" name="Rectangle 13">
            <a:extLst>
              <a:ext uri="{FF2B5EF4-FFF2-40B4-BE49-F238E27FC236}">
                <a16:creationId xmlns:a16="http://schemas.microsoft.com/office/drawing/2014/main" id="{F32FA606-312E-FE45-9E7F-5EB4EB578347}"/>
              </a:ext>
            </a:extLst>
          </p:cNvPr>
          <p:cNvSpPr>
            <a:spLocks noChangeArrowheads="1"/>
          </p:cNvSpPr>
          <p:nvPr/>
        </p:nvSpPr>
        <p:spPr bwMode="auto">
          <a:xfrm>
            <a:off x="1676401"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en-US" altLang="en-US" sz="1800">
              <a:solidFill>
                <a:schemeClr val="tx1"/>
              </a:solidFill>
              <a:latin typeface="Arial" panose="020B0604020202020204" pitchFamily="34" charset="0"/>
            </a:endParaRPr>
          </a:p>
        </p:txBody>
      </p:sp>
      <p:sp>
        <p:nvSpPr>
          <p:cNvPr id="20" name="Rectangle 15">
            <a:extLst>
              <a:ext uri="{FF2B5EF4-FFF2-40B4-BE49-F238E27FC236}">
                <a16:creationId xmlns:a16="http://schemas.microsoft.com/office/drawing/2014/main" id="{3F80061E-0FC7-534E-8F32-815F86902C26}"/>
              </a:ext>
            </a:extLst>
          </p:cNvPr>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a:extLst>
              <a:ext uri="{FF2B5EF4-FFF2-40B4-BE49-F238E27FC236}">
                <a16:creationId xmlns:a16="http://schemas.microsoft.com/office/drawing/2014/main" id="{F0663C2D-D71E-9747-B131-91E050FC8DF5}"/>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18">
            <a:extLst>
              <a:ext uri="{FF2B5EF4-FFF2-40B4-BE49-F238E27FC236}">
                <a16:creationId xmlns:a16="http://schemas.microsoft.com/office/drawing/2014/main" id="{1EDB4A78-8756-D641-B2CF-25FE103BD06D}"/>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 name="Table 3">
            <a:extLst>
              <a:ext uri="{FF2B5EF4-FFF2-40B4-BE49-F238E27FC236}">
                <a16:creationId xmlns:a16="http://schemas.microsoft.com/office/drawing/2014/main" id="{72A87B80-698F-5946-A2CB-C6FEB297116C}"/>
              </a:ext>
            </a:extLst>
          </p:cNvPr>
          <p:cNvGraphicFramePr>
            <a:graphicFrameLocks noGrp="1"/>
          </p:cNvGraphicFramePr>
          <p:nvPr>
            <p:extLst>
              <p:ext uri="{D42A27DB-BD31-4B8C-83A1-F6EECF244321}">
                <p14:modId xmlns:p14="http://schemas.microsoft.com/office/powerpoint/2010/main" val="2012750897"/>
              </p:ext>
            </p:extLst>
          </p:nvPr>
        </p:nvGraphicFramePr>
        <p:xfrm>
          <a:off x="1143000" y="2219918"/>
          <a:ext cx="8579255" cy="1191260"/>
        </p:xfrm>
        <a:graphic>
          <a:graphicData uri="http://schemas.openxmlformats.org/drawingml/2006/table">
            <a:tbl>
              <a:tblPr bandRow="1"/>
              <a:tblGrid>
                <a:gridCol w="4157595">
                  <a:extLst>
                    <a:ext uri="{9D8B030D-6E8A-4147-A177-3AD203B41FA5}">
                      <a16:colId xmlns:a16="http://schemas.microsoft.com/office/drawing/2014/main" val="1325200249"/>
                    </a:ext>
                  </a:extLst>
                </a:gridCol>
                <a:gridCol w="264065">
                  <a:extLst>
                    <a:ext uri="{9D8B030D-6E8A-4147-A177-3AD203B41FA5}">
                      <a16:colId xmlns:a16="http://schemas.microsoft.com/office/drawing/2014/main" val="2190341319"/>
                    </a:ext>
                  </a:extLst>
                </a:gridCol>
                <a:gridCol w="4157595">
                  <a:extLst>
                    <a:ext uri="{9D8B030D-6E8A-4147-A177-3AD203B41FA5}">
                      <a16:colId xmlns:a16="http://schemas.microsoft.com/office/drawing/2014/main" val="3676575354"/>
                    </a:ext>
                  </a:extLst>
                </a:gridCol>
              </a:tblGrid>
              <a:tr h="1191260">
                <a:tc>
                  <a:txBody>
                    <a:bodyPr/>
                    <a:lstStyle/>
                    <a:p>
                      <a:pPr marL="0" marR="0" algn="ctr">
                        <a:lnSpc>
                          <a:spcPct val="150000"/>
                        </a:lnSpc>
                        <a:spcBef>
                          <a:spcPts val="0"/>
                        </a:spcBef>
                        <a:spcAft>
                          <a:spcPts val="1000"/>
                        </a:spcAft>
                      </a:pPr>
                      <a:r>
                        <a:rPr lang="en-US" sz="24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Rectangle A</a:t>
                      </a:r>
                      <a:endParaRPr lang="x-none" sz="2400" dirty="0">
                        <a:effectLst/>
                        <a:latin typeface="Verdana" pitchFamily="34" charset="0"/>
                        <a:ea typeface="Verdana" pitchFamily="34" charset="0"/>
                        <a:cs typeface="Cambria" panose="02040503050406030204" pitchFamily="18" charset="0"/>
                      </a:endParaRPr>
                    </a:p>
                    <a:p>
                      <a:pPr marL="0" marR="0" algn="ctr">
                        <a:lnSpc>
                          <a:spcPct val="150000"/>
                        </a:lnSpc>
                        <a:spcBef>
                          <a:spcPts val="0"/>
                        </a:spcBef>
                        <a:spcAft>
                          <a:spcPts val="1000"/>
                        </a:spcAft>
                      </a:pPr>
                      <a:r>
                        <a:rPr lang="en-US" sz="2400" dirty="0">
                          <a:solidFill>
                            <a:srgbClr val="000000"/>
                          </a:solidFill>
                          <a:effectLst/>
                          <a:latin typeface="Verdana" pitchFamily="34" charset="0"/>
                          <a:ea typeface="Verdana" pitchFamily="34" charset="0"/>
                          <a:cs typeface="Cambria Math" panose="02040503050406030204" pitchFamily="18" charset="0"/>
                        </a:rPr>
                        <a:t>13</a:t>
                      </a:r>
                      <a:r>
                        <a:rPr lang="en-US" sz="24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units by </a:t>
                      </a:r>
                      <a:r>
                        <a:rPr lang="en-US" sz="2400" dirty="0">
                          <a:solidFill>
                            <a:srgbClr val="000000"/>
                          </a:solidFill>
                          <a:effectLst/>
                          <a:latin typeface="Verdana" pitchFamily="34" charset="0"/>
                          <a:ea typeface="Verdana" pitchFamily="34" charset="0"/>
                          <a:cs typeface="Cambria Math" panose="02040503050406030204" pitchFamily="18" charset="0"/>
                        </a:rPr>
                        <a:t>15</a:t>
                      </a:r>
                      <a:r>
                        <a:rPr lang="en-US" sz="24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units</a:t>
                      </a:r>
                      <a:endParaRPr lang="x-none" sz="2400" dirty="0">
                        <a:effectLst/>
                        <a:latin typeface="Verdana" pitchFamily="34" charset="0"/>
                        <a:ea typeface="Verdana" pitchFamily="34" charset="0"/>
                        <a:cs typeface="Cambria" panose="02040503050406030204" pitchFamily="18" charset="0"/>
                      </a:endParaRPr>
                    </a:p>
                  </a:txBody>
                  <a:tcPr marL="68580" marR="68580" marT="0" marB="0" anchor="ctr">
                    <a:lnL>
                      <a:noFill/>
                    </a:lnL>
                    <a:lnR>
                      <a:noFill/>
                    </a:lnR>
                    <a:lnT>
                      <a:noFill/>
                    </a:lnT>
                    <a:lnB>
                      <a:noFill/>
                    </a:lnB>
                  </a:tcPr>
                </a:tc>
                <a:tc>
                  <a:txBody>
                    <a:bodyPr/>
                    <a:lstStyle/>
                    <a:p>
                      <a:pPr marL="0" marR="0" algn="ctr">
                        <a:spcBef>
                          <a:spcPts val="0"/>
                        </a:spcBef>
                        <a:spcAft>
                          <a:spcPts val="1000"/>
                        </a:spcAft>
                      </a:pPr>
                      <a:r>
                        <a:rPr lang="en-US" sz="24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x-none" sz="2400">
                        <a:effectLst/>
                        <a:latin typeface="Verdana" pitchFamily="34" charset="0"/>
                        <a:ea typeface="Verdana" pitchFamily="34" charset="0"/>
                        <a:cs typeface="Cambria" panose="02040503050406030204" pitchFamily="18" charset="0"/>
                      </a:endParaRPr>
                    </a:p>
                  </a:txBody>
                  <a:tcPr marL="68580" marR="68580" marT="0" marB="0" anchor="ctr">
                    <a:lnL>
                      <a:noFill/>
                    </a:lnL>
                    <a:lnR>
                      <a:noFill/>
                    </a:lnR>
                    <a:lnT>
                      <a:noFill/>
                    </a:lnT>
                    <a:lnB>
                      <a:noFill/>
                    </a:lnB>
                  </a:tcPr>
                </a:tc>
                <a:tc>
                  <a:txBody>
                    <a:bodyPr/>
                    <a:lstStyle/>
                    <a:p>
                      <a:pPr marL="0" marR="0" algn="ctr">
                        <a:lnSpc>
                          <a:spcPct val="150000"/>
                        </a:lnSpc>
                        <a:spcBef>
                          <a:spcPts val="0"/>
                        </a:spcBef>
                        <a:spcAft>
                          <a:spcPts val="1000"/>
                        </a:spcAft>
                      </a:pPr>
                      <a:r>
                        <a:rPr lang="en-US" sz="24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Rectangle B</a:t>
                      </a:r>
                      <a:endParaRPr lang="x-none" sz="2400" dirty="0">
                        <a:effectLst/>
                        <a:latin typeface="Verdana" pitchFamily="34" charset="0"/>
                        <a:ea typeface="Verdana" pitchFamily="34" charset="0"/>
                        <a:cs typeface="Cambria" panose="02040503050406030204" pitchFamily="18" charset="0"/>
                      </a:endParaRPr>
                    </a:p>
                    <a:p>
                      <a:pPr marL="0" marR="0" algn="ctr">
                        <a:lnSpc>
                          <a:spcPct val="150000"/>
                        </a:lnSpc>
                        <a:spcBef>
                          <a:spcPts val="0"/>
                        </a:spcBef>
                        <a:spcAft>
                          <a:spcPts val="1000"/>
                        </a:spcAft>
                      </a:pPr>
                      <a:r>
                        <a:rPr lang="en-US" sz="2400" dirty="0">
                          <a:solidFill>
                            <a:srgbClr val="000000"/>
                          </a:solidFill>
                          <a:effectLst/>
                          <a:latin typeface="Verdana" pitchFamily="34" charset="0"/>
                          <a:ea typeface="Verdana" pitchFamily="34" charset="0"/>
                          <a:cs typeface="Cambria Math" panose="02040503050406030204" pitchFamily="18" charset="0"/>
                        </a:rPr>
                        <a:t>2</a:t>
                      </a:r>
                      <a:r>
                        <a:rPr lang="en-US" sz="24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units by </a:t>
                      </a:r>
                      <a:r>
                        <a:rPr lang="en-US" sz="2400" dirty="0">
                          <a:solidFill>
                            <a:srgbClr val="000000"/>
                          </a:solidFill>
                          <a:effectLst/>
                          <a:latin typeface="Verdana" pitchFamily="34" charset="0"/>
                          <a:ea typeface="Verdana" pitchFamily="34" charset="0"/>
                          <a:cs typeface="Cambria Math" panose="02040503050406030204" pitchFamily="18" charset="0"/>
                        </a:rPr>
                        <a:t>3</a:t>
                      </a:r>
                      <a:r>
                        <a:rPr lang="en-US" sz="24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units</a:t>
                      </a:r>
                      <a:endParaRPr lang="x-none" sz="2400" dirty="0">
                        <a:effectLst/>
                        <a:latin typeface="Verdana" pitchFamily="34" charset="0"/>
                        <a:ea typeface="Verdana" pitchFamily="34" charset="0"/>
                        <a:cs typeface="Cambria" panose="02040503050406030204" pitchFamily="18" charset="0"/>
                      </a:endParaRPr>
                    </a:p>
                  </a:txBody>
                  <a:tcPr marL="68580" marR="68580" marT="0" marB="0" anchor="ctr">
                    <a:lnL>
                      <a:noFill/>
                    </a:lnL>
                    <a:lnR>
                      <a:noFill/>
                    </a:lnR>
                    <a:lnT>
                      <a:noFill/>
                    </a:lnT>
                    <a:lnB>
                      <a:noFill/>
                    </a:lnB>
                  </a:tcPr>
                </a:tc>
                <a:extLst>
                  <a:ext uri="{0D108BD9-81ED-4DB2-BD59-A6C34878D82A}">
                    <a16:rowId xmlns:a16="http://schemas.microsoft.com/office/drawing/2014/main" val="2178563349"/>
                  </a:ext>
                </a:extLst>
              </a:tr>
            </a:tbl>
          </a:graphicData>
        </a:graphic>
      </p:graphicFrame>
      <p:sp>
        <p:nvSpPr>
          <p:cNvPr id="18" name="TextBox 17">
            <a:extLst>
              <a:ext uri="{FF2B5EF4-FFF2-40B4-BE49-F238E27FC236}">
                <a16:creationId xmlns:a16="http://schemas.microsoft.com/office/drawing/2014/main" id="{08419A14-28B4-C841-8705-0B5C3C6BBBDA}"/>
              </a:ext>
            </a:extLst>
          </p:cNvPr>
          <p:cNvSpPr txBox="1"/>
          <p:nvPr/>
        </p:nvSpPr>
        <p:spPr>
          <a:xfrm>
            <a:off x="1103916" y="3852256"/>
            <a:ext cx="9034812" cy="461665"/>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Explain which rectangle is more like a square.</a:t>
            </a: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97680"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137</a:t>
            </a:r>
            <a:endParaRPr i="1" dirty="0">
              <a:latin typeface="Calibri"/>
              <a:ea typeface="Calibri"/>
              <a:cs typeface="Calibri"/>
              <a:sym typeface="Calibri"/>
            </a:endParaRPr>
          </a:p>
        </p:txBody>
      </p:sp>
      <p:pic>
        <p:nvPicPr>
          <p:cNvPr id="10" name="image27.png" descr="Icon&#10;&#10;Description automatically generated">
            <a:extLst>
              <a:ext uri="{FF2B5EF4-FFF2-40B4-BE49-F238E27FC236}">
                <a16:creationId xmlns:a16="http://schemas.microsoft.com/office/drawing/2014/main" id="{28B30088-1999-8A41-9FB0-D2F1C7590196}"/>
              </a:ext>
            </a:extLst>
          </p:cNvPr>
          <p:cNvPicPr/>
          <p:nvPr/>
        </p:nvPicPr>
        <p:blipFill>
          <a:blip r:embed="rId4"/>
          <a:srcRect/>
          <a:stretch>
            <a:fillRect/>
          </a:stretch>
        </p:blipFill>
        <p:spPr>
          <a:xfrm>
            <a:off x="3054096" y="2852928"/>
            <a:ext cx="1148148" cy="1148148"/>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702612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3" name="image25.png">
            <a:extLst>
              <a:ext uri="{FF2B5EF4-FFF2-40B4-BE49-F238E27FC236}">
                <a16:creationId xmlns:a16="http://schemas.microsoft.com/office/drawing/2014/main" id="{E1C625C4-A3F3-3948-ACCB-1ED55F221058}"/>
              </a:ext>
            </a:extLst>
          </p:cNvPr>
          <p:cNvPicPr/>
          <p:nvPr/>
        </p:nvPicPr>
        <p:blipFill>
          <a:blip r:embed="rId3" cstate="screen">
            <a:extLst>
              <a:ext uri="{28A0092B-C50C-407E-A947-70E740481C1C}">
                <a14:useLocalDpi xmlns:a14="http://schemas.microsoft.com/office/drawing/2010/main"/>
              </a:ext>
            </a:extLst>
          </a:blip>
          <a:srcRect/>
          <a:stretch>
            <a:fillRect/>
          </a:stretch>
        </p:blipFill>
        <p:spPr>
          <a:xfrm>
            <a:off x="7097408" y="2585328"/>
            <a:ext cx="3436338" cy="3172065"/>
          </a:xfrm>
          <a:prstGeom prst="rect">
            <a:avLst/>
          </a:prstGeom>
          <a:ln/>
        </p:spPr>
      </p:pic>
      <p:sp>
        <p:nvSpPr>
          <p:cNvPr id="278" name="Google Shape;278;g104476d1465_1_17"/>
          <p:cNvSpPr/>
          <p:nvPr/>
        </p:nvSpPr>
        <p:spPr>
          <a:xfrm>
            <a:off x="0" y="-810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43000" y="-69423"/>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54B5D1"/>
                </a:solidFill>
                <a:latin typeface="Verdana"/>
                <a:ea typeface="Verdana"/>
                <a:cs typeface="Verdana"/>
                <a:sym typeface="Verdana"/>
              </a:rPr>
              <a:t>4.3.2 Guided Instruction: Decomposing Regular Polygons</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9711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137</a:t>
            </a:r>
            <a:endParaRPr i="1" dirty="0">
              <a:latin typeface="Calibri"/>
              <a:ea typeface="Calibri"/>
              <a:cs typeface="Calibri"/>
              <a:sym typeface="Calibri"/>
            </a:endParaRPr>
          </a:p>
        </p:txBody>
      </p:sp>
      <p:sp>
        <p:nvSpPr>
          <p:cNvPr id="4" name="Rectangle 3">
            <a:extLst>
              <a:ext uri="{FF2B5EF4-FFF2-40B4-BE49-F238E27FC236}">
                <a16:creationId xmlns:a16="http://schemas.microsoft.com/office/drawing/2014/main" id="{FE208A00-51E7-C544-ABDE-AE9DC3DAAB4C}"/>
              </a:ext>
            </a:extLst>
          </p:cNvPr>
          <p:cNvSpPr>
            <a:spLocks noChangeArrowheads="1"/>
          </p:cNvSpPr>
          <p:nvPr/>
        </p:nvSpPr>
        <p:spPr bwMode="auto">
          <a:xfrm>
            <a:off x="902526" y="2833811"/>
            <a:ext cx="790897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A regular octagon is shown.</a:t>
            </a:r>
          </a:p>
          <a:p>
            <a:pPr marL="906463" indent="-457200" eaLnBrk="0" fontAlgn="base" hangingPunct="0">
              <a:spcBef>
                <a:spcPct val="0"/>
              </a:spcBef>
              <a:spcAft>
                <a:spcPct val="0"/>
              </a:spcAft>
              <a:buClrTx/>
              <a:buFont typeface="+mj-lt"/>
              <a:buAutoNum type="alphaLcPeriod"/>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buFont typeface="+mj-lt"/>
              <a:buAutoNum type="alphaLcPeriod"/>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On the figure, mark all </a:t>
            </a:r>
            <a:b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b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congruent angles and all </a:t>
            </a:r>
            <a:b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b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congruent sides.</a:t>
            </a:r>
          </a:p>
          <a:p>
            <a:pPr marL="906463" indent="-457200" eaLnBrk="0" fontAlgn="base" hangingPunct="0">
              <a:spcBef>
                <a:spcPct val="0"/>
              </a:spcBef>
              <a:spcAft>
                <a:spcPct val="0"/>
              </a:spcAft>
              <a:buClrTx/>
              <a:buFont typeface="+mj-lt"/>
              <a:buAutoNum type="alphaLcPeriod"/>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buFont typeface="+mj-lt"/>
              <a:buAutoNum type="alphaLcPeriod"/>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buFont typeface="+mj-lt"/>
              <a:buAutoNum type="alphaLcPeriod"/>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Draw lines to decompose the regular octagon into congruent triangles. </a:t>
            </a:r>
          </a:p>
        </p:txBody>
      </p:sp>
      <p:pic>
        <p:nvPicPr>
          <p:cNvPr id="11" name="image27.png" descr="Icon&#10;&#10;Description automatically generated">
            <a:extLst>
              <a:ext uri="{FF2B5EF4-FFF2-40B4-BE49-F238E27FC236}">
                <a16:creationId xmlns:a16="http://schemas.microsoft.com/office/drawing/2014/main" id="{973B128D-4F93-DE49-9811-ADE5520F2BCD}"/>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356616" y="201168"/>
            <a:ext cx="747299" cy="747299"/>
          </a:xfrm>
          <a:prstGeom prst="rect">
            <a:avLst/>
          </a:prstGeom>
          <a:ln/>
        </p:spPr>
      </p:pic>
      <p:grpSp>
        <p:nvGrpSpPr>
          <p:cNvPr id="16" name="Group 15">
            <a:extLst>
              <a:ext uri="{FF2B5EF4-FFF2-40B4-BE49-F238E27FC236}">
                <a16:creationId xmlns:a16="http://schemas.microsoft.com/office/drawing/2014/main" id="{6F69D6BC-07C5-0045-970C-A0318C9DE380}"/>
              </a:ext>
            </a:extLst>
          </p:cNvPr>
          <p:cNvGrpSpPr/>
          <p:nvPr/>
        </p:nvGrpSpPr>
        <p:grpSpPr>
          <a:xfrm>
            <a:off x="2186177" y="1287687"/>
            <a:ext cx="7560000" cy="2676912"/>
            <a:chOff x="2031300" y="1698377"/>
            <a:chExt cx="7560000" cy="2676912"/>
          </a:xfrm>
        </p:grpSpPr>
        <p:grpSp>
          <p:nvGrpSpPr>
            <p:cNvPr id="17" name="Group 16">
              <a:extLst>
                <a:ext uri="{FF2B5EF4-FFF2-40B4-BE49-F238E27FC236}">
                  <a16:creationId xmlns:a16="http://schemas.microsoft.com/office/drawing/2014/main" id="{0A721F14-F137-834D-A4D7-58A188667DC2}"/>
                </a:ext>
              </a:extLst>
            </p:cNvPr>
            <p:cNvGrpSpPr/>
            <p:nvPr/>
          </p:nvGrpSpPr>
          <p:grpSpPr>
            <a:xfrm>
              <a:off x="2031300" y="1698377"/>
              <a:ext cx="7560000" cy="2676912"/>
              <a:chOff x="2031300" y="1948523"/>
              <a:chExt cx="7560000" cy="2566627"/>
            </a:xfrm>
          </p:grpSpPr>
          <p:sp>
            <p:nvSpPr>
              <p:cNvPr id="18" name="Rectangle 17">
                <a:extLst>
                  <a:ext uri="{FF2B5EF4-FFF2-40B4-BE49-F238E27FC236}">
                    <a16:creationId xmlns:a16="http://schemas.microsoft.com/office/drawing/2014/main" id="{65017607-E74D-E74C-985F-5A3A5CAB2CC4}"/>
                  </a:ext>
                </a:extLst>
              </p:cNvPr>
              <p:cNvSpPr/>
              <p:nvPr/>
            </p:nvSpPr>
            <p:spPr>
              <a:xfrm>
                <a:off x="2031300" y="3373600"/>
                <a:ext cx="6629400" cy="1141550"/>
              </a:xfrm>
              <a:prstGeom prst="rect">
                <a:avLst/>
              </a:prstGeom>
              <a:noFill/>
              <a:ln>
                <a:noFill/>
              </a:ln>
            </p:spPr>
            <p:txBody>
              <a:bodyPr spcFirstLastPara="1" wrap="square" lIns="91425" tIns="91425" rIns="91425" bIns="91425" anchor="ctr" anchorCtr="0">
                <a:noAutofit/>
              </a:bodyPr>
              <a:lstStyle/>
              <a:p>
                <a:r>
                  <a:rPr lang="en-US" sz="1200">
                    <a:latin typeface="Cambria" panose="02040503050406030204" pitchFamily="18" charset="0"/>
                    <a:ea typeface="Times New Roman" panose="02020603050405020304" pitchFamily="18" charset="0"/>
                    <a:cs typeface="Cambria" panose="02040503050406030204" pitchFamily="18" charset="0"/>
                  </a:rPr>
                  <a:t> </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p:grpSp>
            <p:nvGrpSpPr>
              <p:cNvPr id="19" name="Group 18">
                <a:extLst>
                  <a:ext uri="{FF2B5EF4-FFF2-40B4-BE49-F238E27FC236}">
                    <a16:creationId xmlns:a16="http://schemas.microsoft.com/office/drawing/2014/main" id="{90DA81B2-0539-0E4B-96AB-9674341AC617}"/>
                  </a:ext>
                </a:extLst>
              </p:cNvPr>
              <p:cNvGrpSpPr/>
              <p:nvPr/>
            </p:nvGrpSpPr>
            <p:grpSpPr>
              <a:xfrm>
                <a:off x="2031300" y="1948523"/>
                <a:ext cx="7560000" cy="2237877"/>
                <a:chOff x="0" y="-1425077"/>
                <a:chExt cx="7560000" cy="2237877"/>
              </a:xfrm>
            </p:grpSpPr>
            <p:sp>
              <p:nvSpPr>
                <p:cNvPr id="20" name="Rectangle 19">
                  <a:extLst>
                    <a:ext uri="{FF2B5EF4-FFF2-40B4-BE49-F238E27FC236}">
                      <a16:creationId xmlns:a16="http://schemas.microsoft.com/office/drawing/2014/main" id="{B3947CCB-E37C-3F46-BEAE-87DCD3F827E5}"/>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Cambria" panose="02040503050406030204" pitchFamily="18" charset="0"/>
                    </a:rPr>
                    <a:t> </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p:sp>
              <p:nvSpPr>
                <p:cNvPr id="21" name="Rounded Rectangle 20">
                  <a:extLst>
                    <a:ext uri="{FF2B5EF4-FFF2-40B4-BE49-F238E27FC236}">
                      <a16:creationId xmlns:a16="http://schemas.microsoft.com/office/drawing/2014/main" id="{A9EF902F-BD45-4C42-92CB-FC2397D4EEAF}"/>
                    </a:ext>
                  </a:extLst>
                </p:cNvPr>
                <p:cNvSpPr/>
                <p:nvPr/>
              </p:nvSpPr>
              <p:spPr>
                <a:xfrm>
                  <a:off x="0" y="-1425077"/>
                  <a:ext cx="7560000" cy="1192631"/>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72000" rIns="91425" bIns="0" anchor="ctr" anchorCtr="0">
                  <a:spAutoFit/>
                </a:bodyPr>
                <a:lstStyle/>
                <a:p>
                  <a:pPr marL="742950">
                    <a:spcAft>
                      <a:spcPts val="1000"/>
                    </a:spcAft>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regular polygon</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is a polygon that is both equilateral (all sides congruent) and equiangular </a:t>
                  </a:r>
                  <a:b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b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(all angles congruent).</a:t>
                  </a:r>
                  <a:r>
                    <a:rPr lang="en-US" sz="2000" dirty="0">
                      <a:latin typeface="Cambria" panose="02040503050406030204" pitchFamily="18" charset="0"/>
                      <a:ea typeface="Times New Roman" panose="02020603050405020304" pitchFamily="18" charset="0"/>
                      <a:cs typeface="Cambria" panose="02040503050406030204" pitchFamily="18" charset="0"/>
                    </a:rPr>
                    <a:t> </a:t>
                  </a:r>
                  <a:endParaRPr lang="x-none" sz="2000" dirty="0">
                    <a:latin typeface="Cambria" panose="02040503050406030204" pitchFamily="18" charset="0"/>
                    <a:ea typeface="Times New Roman" panose="02020603050405020304" pitchFamily="18" charset="0"/>
                    <a:cs typeface="Cambria" panose="02040503050406030204" pitchFamily="18" charset="0"/>
                  </a:endParaRPr>
                </a:p>
              </p:txBody>
            </p:sp>
            <p:pic>
              <p:nvPicPr>
                <p:cNvPr id="22" name="Shape 29" descr="Icon&#10;&#10;Description automatically generated">
                  <a:extLst>
                    <a:ext uri="{FF2B5EF4-FFF2-40B4-BE49-F238E27FC236}">
                      <a16:creationId xmlns:a16="http://schemas.microsoft.com/office/drawing/2014/main" id="{D8B9BD13-091A-2941-B9B8-A5E6101AF74B}"/>
                    </a:ext>
                  </a:extLst>
                </p:cNvPr>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214745" y="-1282308"/>
                  <a:ext cx="548640" cy="526037"/>
                </a:xfrm>
                <a:prstGeom prst="rect">
                  <a:avLst/>
                </a:prstGeom>
                <a:noFill/>
                <a:ln>
                  <a:noFill/>
                </a:ln>
                <a:effectLst>
                  <a:outerShdw blurRad="50800" dist="38100" dir="2700000" algn="tl" rotWithShape="0">
                    <a:prstClr val="black">
                      <a:alpha val="40000"/>
                    </a:prstClr>
                  </a:outerShdw>
                </a:effectLst>
              </p:spPr>
            </p:pic>
          </p:grpSp>
        </p:grpSp>
      </p:grpSp>
    </p:spTree>
    <p:extLst>
      <p:ext uri="{BB962C8B-B14F-4D97-AF65-F5344CB8AC3E}">
        <p14:creationId xmlns:p14="http://schemas.microsoft.com/office/powerpoint/2010/main" val="3902457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137</a:t>
            </a:r>
            <a:endParaRPr i="1" dirty="0">
              <a:latin typeface="Calibri"/>
              <a:ea typeface="Calibri"/>
              <a:cs typeface="Calibri"/>
              <a:sym typeface="Calibri"/>
            </a:endParaRPr>
          </a:p>
        </p:txBody>
      </p:sp>
      <p:sp>
        <p:nvSpPr>
          <p:cNvPr id="17" name="Rectangle 16">
            <a:extLst>
              <a:ext uri="{FF2B5EF4-FFF2-40B4-BE49-F238E27FC236}">
                <a16:creationId xmlns:a16="http://schemas.microsoft.com/office/drawing/2014/main" id="{95D1E807-1281-DE49-BD83-D88C94B836CC}"/>
              </a:ext>
            </a:extLst>
          </p:cNvPr>
          <p:cNvSpPr>
            <a:spLocks noChangeArrowheads="1"/>
          </p:cNvSpPr>
          <p:nvPr/>
        </p:nvSpPr>
        <p:spPr bwMode="auto">
          <a:xfrm>
            <a:off x="914400" y="400793"/>
            <a:ext cx="10515600"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906463" indent="-457200" eaLnBrk="0" fontAlgn="base" hangingPunct="0">
              <a:spcBef>
                <a:spcPct val="0"/>
              </a:spcBef>
              <a:spcAft>
                <a:spcPct val="0"/>
              </a:spcAft>
              <a:buClrTx/>
              <a:buFont typeface="+mj-lt"/>
              <a:buAutoNum type="alphaLcPeriod" startAt="3"/>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How many congruent triangles did you decompose the regular octagon into?</a:t>
            </a:r>
          </a:p>
          <a:p>
            <a:pPr marL="906463" indent="-457200" eaLnBrk="0" fontAlgn="base" hangingPunct="0">
              <a:spcBef>
                <a:spcPct val="0"/>
              </a:spcBef>
              <a:spcAft>
                <a:spcPct val="0"/>
              </a:spcAft>
              <a:buClrTx/>
              <a:buFont typeface="+mj-lt"/>
              <a:buAutoNum type="alphaLcPeriod" startAt="3"/>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buFont typeface="+mj-lt"/>
              <a:buAutoNum type="alphaLcPeriod" startAt="3"/>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buFont typeface="+mj-lt"/>
              <a:buAutoNum type="alphaLcPeriod" startAt="3"/>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buFont typeface="+mj-lt"/>
              <a:buAutoNum type="alphaLcPeriod" startAt="3"/>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buFont typeface="+mj-lt"/>
              <a:buAutoNum type="alphaLcPeriod" startAt="3"/>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buFont typeface="+mj-lt"/>
              <a:buAutoNum type="alphaLcPeriod" startAt="3"/>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buFont typeface="+mj-lt"/>
              <a:buAutoNum type="alphaLcPeriod" startAt="3"/>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buFont typeface="+mj-lt"/>
              <a:buAutoNum type="alphaLcPeriod" startAt="3"/>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Discuss with your partner how decomposing the octagon into congruent triangles is helpful in determining the area.</a:t>
            </a:r>
            <a:b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b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38133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138</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17" name="Rectangle 16">
                <a:extLst>
                  <a:ext uri="{FF2B5EF4-FFF2-40B4-BE49-F238E27FC236}">
                    <a16:creationId xmlns:a16="http://schemas.microsoft.com/office/drawing/2014/main" id="{95D1E807-1281-DE49-BD83-D88C94B836CC}"/>
                  </a:ext>
                </a:extLst>
              </p:cNvPr>
              <p:cNvSpPr>
                <a:spLocks noChangeArrowheads="1"/>
              </p:cNvSpPr>
              <p:nvPr/>
            </p:nvSpPr>
            <p:spPr bwMode="auto">
              <a:xfrm>
                <a:off x="914400" y="636027"/>
                <a:ext cx="10515600" cy="1015663"/>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startAt="2"/>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Some dimensions of an octagon are given in centimeters (cm). Each side of the octagon has a length of </a:t>
                </a:r>
                <a14:m>
                  <m:oMath xmlns:m="http://schemas.openxmlformats.org/officeDocument/2006/math">
                    <m:r>
                      <a:rPr lang="en-US" altLang="en-US" sz="2000" i="1" dirty="0"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24</m:t>
                    </m:r>
                  </m:oMath>
                </a14:m>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cm. The perpendicular distance from the center to the midpoint of a side is </a:t>
                </a:r>
                <a14:m>
                  <m:oMath xmlns:m="http://schemas.openxmlformats.org/officeDocument/2006/math">
                    <m:r>
                      <a:rPr lang="en-US" altLang="en-US" sz="2000" i="1" dirty="0"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28.97</m:t>
                    </m:r>
                  </m:oMath>
                </a14:m>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cm.</a:t>
                </a:r>
              </a:p>
            </p:txBody>
          </p:sp>
        </mc:Choice>
        <mc:Fallback>
          <p:sp>
            <p:nvSpPr>
              <p:cNvPr id="17" name="Rectangle 16">
                <a:extLst>
                  <a:ext uri="{FF2B5EF4-FFF2-40B4-BE49-F238E27FC236}">
                    <a16:creationId xmlns:a16="http://schemas.microsoft.com/office/drawing/2014/main" id="{95D1E807-1281-DE49-BD83-D88C94B836CC}"/>
                  </a:ext>
                </a:extLst>
              </p:cNvPr>
              <p:cNvSpPr>
                <a:spLocks noRot="1" noChangeAspect="1" noMove="1" noResize="1" noEditPoints="1" noAdjustHandles="1" noChangeArrowheads="1" noChangeShapeType="1" noTextEdit="1"/>
              </p:cNvSpPr>
              <p:nvPr/>
            </p:nvSpPr>
            <p:spPr bwMode="auto">
              <a:xfrm>
                <a:off x="914400" y="636027"/>
                <a:ext cx="10515600" cy="1015663"/>
              </a:xfrm>
              <a:prstGeom prst="rect">
                <a:avLst/>
              </a:prstGeom>
              <a:blipFill>
                <a:blip r:embed="rId4"/>
                <a:stretch>
                  <a:fillRect l="-638" t="-3593" b="-1018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PH">
                    <a:noFill/>
                  </a:rPr>
                  <a:t> </a:t>
                </a:r>
              </a:p>
            </p:txBody>
          </p:sp>
        </mc:Fallback>
      </mc:AlternateContent>
      <p:grpSp>
        <p:nvGrpSpPr>
          <p:cNvPr id="2" name="Group 1"/>
          <p:cNvGrpSpPr/>
          <p:nvPr/>
        </p:nvGrpSpPr>
        <p:grpSpPr>
          <a:xfrm>
            <a:off x="6622377" y="1651690"/>
            <a:ext cx="3591735" cy="3399324"/>
            <a:chOff x="2333767" y="2015127"/>
            <a:chExt cx="3591735" cy="3399324"/>
          </a:xfrm>
        </p:grpSpPr>
        <p:pic>
          <p:nvPicPr>
            <p:cNvPr id="6" name="image24.png">
              <a:extLst>
                <a:ext uri="{FF2B5EF4-FFF2-40B4-BE49-F238E27FC236}">
                  <a16:creationId xmlns:a16="http://schemas.microsoft.com/office/drawing/2014/main" id="{2AAC2BA7-AB69-6B4A-B6AB-69F57AD3C65F}"/>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2333767" y="2015127"/>
              <a:ext cx="3591735" cy="3162041"/>
            </a:xfrm>
            <a:prstGeom prst="rect">
              <a:avLst/>
            </a:prstGeom>
            <a:ln/>
          </p:spPr>
        </p:pic>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5C58856F-4B1A-854F-95C3-88B5C9E57998}"/>
                    </a:ext>
                  </a:extLst>
                </p:cNvPr>
                <p:cNvSpPr/>
                <p:nvPr/>
              </p:nvSpPr>
              <p:spPr>
                <a:xfrm>
                  <a:off x="3963618" y="3803867"/>
                  <a:ext cx="1460310" cy="419100"/>
                </a:xfrm>
                <a:prstGeom prst="rect">
                  <a:avLst/>
                </a:prstGeom>
                <a:noFill/>
                <a:ln>
                  <a:noFill/>
                </a:ln>
              </p:spPr>
              <p:txBody>
                <a:bodyPr spcFirstLastPara="1" wrap="square" lIns="91425" tIns="45700" rIns="91425" bIns="45700" anchor="ctr" anchorCtr="0">
                  <a:noAutofit/>
                </a:bodyPr>
                <a:lstStyle/>
                <a:p>
                  <a:pPr algn="ctr">
                    <a:spcAft>
                      <a:spcPts val="1000"/>
                    </a:spcAft>
                  </a:pPr>
                  <a14:m>
                    <m:oMath xmlns:m="http://schemas.openxmlformats.org/officeDocument/2006/math">
                      <m:r>
                        <a:rPr lang="en-US" sz="2000" i="1">
                          <a:latin typeface="Cambria Math" panose="02040503050406030204" pitchFamily="18" charset="0"/>
                          <a:ea typeface="Verdana" panose="020B0604030504040204" pitchFamily="34" charset="0"/>
                          <a:cs typeface="Verdana" panose="020B0604030504040204" pitchFamily="34" charset="0"/>
                        </a:rPr>
                        <m:t>28.97</m:t>
                      </m:r>
                    </m:oMath>
                  </a14:m>
                  <a:r>
                    <a:rPr lang="en-US" sz="2000" dirty="0">
                      <a:latin typeface="Verdana" panose="020B0604030504040204" pitchFamily="34" charset="0"/>
                      <a:ea typeface="Verdana" panose="020B0604030504040204" pitchFamily="34" charset="0"/>
                      <a:cs typeface="Verdana" panose="020B0604030504040204" pitchFamily="34" charset="0"/>
                    </a:rPr>
                    <a:t> cm</a:t>
                  </a:r>
                  <a:endParaRPr lang="x-none">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7" name="Rectangle 6">
                  <a:extLst>
                    <a:ext uri="{FF2B5EF4-FFF2-40B4-BE49-F238E27FC236}">
                      <a16:creationId xmlns:a16="http://schemas.microsoft.com/office/drawing/2014/main" xmlns:a14="http://schemas.microsoft.com/office/drawing/2010/main" xmlns="" id="{5C58856F-4B1A-854F-95C3-88B5C9E57998}"/>
                    </a:ext>
                  </a:extLst>
                </p:cNvPr>
                <p:cNvSpPr>
                  <a:spLocks noRot="1" noChangeAspect="1" noMove="1" noResize="1" noEditPoints="1" noAdjustHandles="1" noChangeArrowheads="1" noChangeShapeType="1" noTextEdit="1"/>
                </p:cNvSpPr>
                <p:nvPr/>
              </p:nvSpPr>
              <p:spPr>
                <a:xfrm>
                  <a:off x="3963618" y="3803867"/>
                  <a:ext cx="1460310" cy="419100"/>
                </a:xfrm>
                <a:prstGeom prst="rect">
                  <a:avLst/>
                </a:prstGeom>
                <a:blipFill rotWithShape="1">
                  <a:blip r:embed="rId6"/>
                  <a:stretch>
                    <a:fillRect t="-20290" b="-7246"/>
                  </a:stretch>
                </a:blipFill>
                <a:ln>
                  <a:noFill/>
                </a:ln>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0CD4CEC0-D1F7-0248-B162-6BE5515AAEAA}"/>
                    </a:ext>
                  </a:extLst>
                </p:cNvPr>
                <p:cNvSpPr/>
                <p:nvPr/>
              </p:nvSpPr>
              <p:spPr>
                <a:xfrm>
                  <a:off x="3620046" y="4995351"/>
                  <a:ext cx="1019175" cy="419100"/>
                </a:xfrm>
                <a:prstGeom prst="rect">
                  <a:avLst/>
                </a:prstGeom>
                <a:noFill/>
                <a:ln>
                  <a:noFill/>
                </a:ln>
              </p:spPr>
              <p:txBody>
                <a:bodyPr spcFirstLastPara="1" wrap="square" lIns="91425" tIns="45700" rIns="91425" bIns="45700" anchor="ctr" anchorCtr="0">
                  <a:noAutofit/>
                </a:bodyPr>
                <a:lstStyle/>
                <a:p>
                  <a:pPr algn="ctr">
                    <a:spcAft>
                      <a:spcPts val="1000"/>
                    </a:spcAft>
                  </a:pPr>
                  <a14:m>
                    <m:oMath xmlns:m="http://schemas.openxmlformats.org/officeDocument/2006/math">
                      <m:r>
                        <a:rPr lang="en-US" sz="2000" i="1">
                          <a:latin typeface="Cambria Math" panose="02040503050406030204" pitchFamily="18" charset="0"/>
                          <a:ea typeface="Verdana" panose="020B0604030504040204" pitchFamily="34" charset="0"/>
                          <a:cs typeface="Verdana" panose="020B0604030504040204" pitchFamily="34" charset="0"/>
                        </a:rPr>
                        <m:t>24</m:t>
                      </m:r>
                    </m:oMath>
                  </a14:m>
                  <a:r>
                    <a:rPr lang="en-US" sz="2000" dirty="0">
                      <a:latin typeface="Verdana" panose="020B0604030504040204" pitchFamily="34" charset="0"/>
                      <a:ea typeface="Verdana" panose="020B0604030504040204" pitchFamily="34" charset="0"/>
                      <a:cs typeface="Verdana" panose="020B0604030504040204" pitchFamily="34" charset="0"/>
                    </a:rPr>
                    <a:t> cm</a:t>
                  </a:r>
                  <a:endParaRPr lang="x-none">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8" name="Rectangle 7">
                  <a:extLst>
                    <a:ext uri="{FF2B5EF4-FFF2-40B4-BE49-F238E27FC236}">
                      <a16:creationId xmlns:a16="http://schemas.microsoft.com/office/drawing/2014/main" xmlns:a14="http://schemas.microsoft.com/office/drawing/2010/main" xmlns="" id="{0CD4CEC0-D1F7-0248-B162-6BE5515AAEAA}"/>
                    </a:ext>
                  </a:extLst>
                </p:cNvPr>
                <p:cNvSpPr>
                  <a:spLocks noRot="1" noChangeAspect="1" noMove="1" noResize="1" noEditPoints="1" noAdjustHandles="1" noChangeArrowheads="1" noChangeShapeType="1" noTextEdit="1"/>
                </p:cNvSpPr>
                <p:nvPr/>
              </p:nvSpPr>
              <p:spPr>
                <a:xfrm>
                  <a:off x="3620046" y="4995351"/>
                  <a:ext cx="1019175" cy="419100"/>
                </a:xfrm>
                <a:prstGeom prst="rect">
                  <a:avLst/>
                </a:prstGeom>
                <a:blipFill rotWithShape="1">
                  <a:blip r:embed="rId7"/>
                  <a:stretch>
                    <a:fillRect t="-18841" r="-2395" b="-8696"/>
                  </a:stretch>
                </a:blipFill>
                <a:ln>
                  <a:noFill/>
                </a:ln>
              </p:spPr>
              <p:txBody>
                <a:bodyPr/>
                <a:lstStyle/>
                <a:p>
                  <a:r>
                    <a:rPr lang="en-PH">
                      <a:noFill/>
                    </a:rPr>
                    <a:t> </a:t>
                  </a:r>
                </a:p>
              </p:txBody>
            </p:sp>
          </mc:Fallback>
        </mc:AlternateContent>
      </p:grpSp>
      <p:sp>
        <p:nvSpPr>
          <p:cNvPr id="10" name="Rectangle 9">
            <a:extLst>
              <a:ext uri="{FF2B5EF4-FFF2-40B4-BE49-F238E27FC236}">
                <a16:creationId xmlns:a16="http://schemas.microsoft.com/office/drawing/2014/main" id="{95D1E807-1281-DE49-BD83-D88C94B836CC}"/>
              </a:ext>
            </a:extLst>
          </p:cNvPr>
          <p:cNvSpPr>
            <a:spLocks noChangeArrowheads="1"/>
          </p:cNvSpPr>
          <p:nvPr/>
        </p:nvSpPr>
        <p:spPr bwMode="auto">
          <a:xfrm>
            <a:off x="914400" y="2040924"/>
            <a:ext cx="7897095"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906463" indent="-457200" eaLnBrk="0" fontAlgn="base" hangingPunct="0">
              <a:spcBef>
                <a:spcPct val="0"/>
              </a:spcBef>
              <a:spcAft>
                <a:spcPct val="0"/>
              </a:spcAft>
              <a:buClrTx/>
              <a:buFont typeface="+mj-lt"/>
              <a:buAutoNum type="alphaLcPeriod"/>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Find the area of one decomposed </a:t>
            </a:r>
            <a:b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b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triangle. Round your answer to the </a:t>
            </a:r>
            <a:b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b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nearest thousandth.</a:t>
            </a:r>
          </a:p>
          <a:p>
            <a:pPr marL="906463" indent="-457200" eaLnBrk="0" fontAlgn="base" hangingPunct="0">
              <a:spcBef>
                <a:spcPct val="0"/>
              </a:spcBef>
              <a:spcAft>
                <a:spcPct val="0"/>
              </a:spcAft>
              <a:buClrTx/>
              <a:buFont typeface="+mj-lt"/>
              <a:buAutoNum type="alphaLcPeriod"/>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buFont typeface="+mj-lt"/>
              <a:buAutoNum type="alphaLcPeriod"/>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buFont typeface="+mj-lt"/>
              <a:buAutoNum type="alphaLcPeriod"/>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buFont typeface="+mj-lt"/>
              <a:buAutoNum type="alphaLcPeriod"/>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buFont typeface="+mj-lt"/>
              <a:buAutoNum type="alphaLcPeriod"/>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Find the area of the regular octagon </a:t>
            </a:r>
            <a:b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b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rounded to the nearest thousandth </a:t>
            </a:r>
            <a:b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b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of a square centimeter (cm</a:t>
            </a:r>
            <a:r>
              <a:rPr lang="en-US" altLang="en-US" sz="2000" baseline="30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2</a:t>
            </a: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by </a:t>
            </a:r>
            <a:b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b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finding the sum of the areas of all </a:t>
            </a:r>
            <a:b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b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the decomposed triangles.</a:t>
            </a:r>
          </a:p>
        </p:txBody>
      </p:sp>
    </p:spTree>
    <p:extLst>
      <p:ext uri="{BB962C8B-B14F-4D97-AF65-F5344CB8AC3E}">
        <p14:creationId xmlns:p14="http://schemas.microsoft.com/office/powerpoint/2010/main" val="36427201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grpSp>
        <p:nvGrpSpPr>
          <p:cNvPr id="2" name="Group 1"/>
          <p:cNvGrpSpPr/>
          <p:nvPr/>
        </p:nvGrpSpPr>
        <p:grpSpPr>
          <a:xfrm>
            <a:off x="6403886" y="1299056"/>
            <a:ext cx="4455727" cy="3613685"/>
            <a:chOff x="4946173" y="1199412"/>
            <a:chExt cx="4455727" cy="3613685"/>
          </a:xfrm>
        </p:grpSpPr>
        <p:pic>
          <p:nvPicPr>
            <p:cNvPr id="11" name="image33.png">
              <a:extLst>
                <a:ext uri="{FF2B5EF4-FFF2-40B4-BE49-F238E27FC236}">
                  <a16:creationId xmlns:a16="http://schemas.microsoft.com/office/drawing/2014/main" id="{79209EE8-9772-424A-8947-7559D5AF8D0C}"/>
                </a:ext>
              </a:extLst>
            </p:cNvPr>
            <p:cNvPicPr/>
            <p:nvPr/>
          </p:nvPicPr>
          <p:blipFill>
            <a:blip r:embed="rId3" cstate="screen">
              <a:extLst>
                <a:ext uri="{28A0092B-C50C-407E-A947-70E740481C1C}">
                  <a14:useLocalDpi xmlns:a14="http://schemas.microsoft.com/office/drawing/2010/main"/>
                </a:ext>
              </a:extLst>
            </a:blip>
            <a:srcRect/>
            <a:stretch>
              <a:fillRect/>
            </a:stretch>
          </p:blipFill>
          <p:spPr>
            <a:xfrm>
              <a:off x="5634441" y="1199412"/>
              <a:ext cx="3767459" cy="3613685"/>
            </a:xfrm>
            <a:prstGeom prst="rect">
              <a:avLst/>
            </a:prstGeom>
            <a:ln/>
          </p:spPr>
        </p:pic>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381CCF1F-65C0-5447-808F-D060C2B75B92}"/>
                    </a:ext>
                  </a:extLst>
                </p:cNvPr>
                <p:cNvSpPr/>
                <p:nvPr/>
              </p:nvSpPr>
              <p:spPr>
                <a:xfrm rot="16200000">
                  <a:off x="6715498" y="3361996"/>
                  <a:ext cx="1369696" cy="408940"/>
                </a:xfrm>
                <a:prstGeom prst="rect">
                  <a:avLst/>
                </a:prstGeom>
                <a:noFill/>
                <a:ln>
                  <a:noFill/>
                </a:ln>
              </p:spPr>
              <p:txBody>
                <a:bodyPr spcFirstLastPara="1" wrap="square" lIns="91425" tIns="45700" rIns="91425" bIns="45700" anchor="ctr" anchorCtr="0">
                  <a:noAutofit/>
                </a:bodyPr>
                <a:lstStyle/>
                <a:p>
                  <a:pPr algn="ctr">
                    <a:spcAft>
                      <a:spcPts val="1000"/>
                    </a:spcAft>
                  </a:pPr>
                  <a14:m>
                    <m:oMath xmlns:m="http://schemas.openxmlformats.org/officeDocument/2006/math">
                      <m:r>
                        <a:rPr lang="en-US" sz="2000" i="1">
                          <a:latin typeface="Cambria Math" panose="02040503050406030204" pitchFamily="18" charset="0"/>
                          <a:ea typeface="Verdana" panose="020B0604030504040204" pitchFamily="34" charset="0"/>
                          <a:cs typeface="Verdana" panose="020B0604030504040204" pitchFamily="34" charset="0"/>
                        </a:rPr>
                        <m:t>28.97</m:t>
                      </m:r>
                    </m:oMath>
                  </a14:m>
                  <a:r>
                    <a:rPr lang="en-US" sz="2000" dirty="0">
                      <a:latin typeface="Verdana" panose="020B0604030504040204" pitchFamily="34" charset="0"/>
                      <a:ea typeface="Verdana" panose="020B0604030504040204" pitchFamily="34" charset="0"/>
                      <a:cs typeface="Verdana" panose="020B0604030504040204" pitchFamily="34" charset="0"/>
                    </a:rPr>
                    <a:t> cm</a:t>
                  </a:r>
                  <a:endParaRPr lang="x-none">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7" name="Rectangle 6">
                  <a:extLst>
                    <a:ext uri="{FF2B5EF4-FFF2-40B4-BE49-F238E27FC236}">
                      <a16:creationId xmlns:a16="http://schemas.microsoft.com/office/drawing/2014/main" xmlns:a14="http://schemas.microsoft.com/office/drawing/2010/main" xmlns="" id="{381CCF1F-65C0-5447-808F-D060C2B75B92}"/>
                    </a:ext>
                  </a:extLst>
                </p:cNvPr>
                <p:cNvSpPr>
                  <a:spLocks noRot="1" noChangeAspect="1" noMove="1" noResize="1" noEditPoints="1" noAdjustHandles="1" noChangeArrowheads="1" noChangeShapeType="1" noTextEdit="1"/>
                </p:cNvSpPr>
                <p:nvPr/>
              </p:nvSpPr>
              <p:spPr>
                <a:xfrm rot="16200000">
                  <a:off x="6715498" y="3361996"/>
                  <a:ext cx="1369696" cy="408940"/>
                </a:xfrm>
                <a:prstGeom prst="rect">
                  <a:avLst/>
                </a:prstGeom>
                <a:blipFill rotWithShape="1">
                  <a:blip r:embed="rId4"/>
                  <a:stretch>
                    <a:fillRect l="-20588" t="-1339" r="-8824"/>
                  </a:stretch>
                </a:blipFill>
                <a:ln>
                  <a:noFill/>
                </a:ln>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5ACF5E5A-FE62-CB4C-9577-4AF66F88B156}"/>
                    </a:ext>
                  </a:extLst>
                </p:cNvPr>
                <p:cNvSpPr/>
                <p:nvPr/>
              </p:nvSpPr>
              <p:spPr>
                <a:xfrm>
                  <a:off x="7008582" y="4394632"/>
                  <a:ext cx="1019175" cy="418465"/>
                </a:xfrm>
                <a:prstGeom prst="rect">
                  <a:avLst/>
                </a:prstGeom>
                <a:noFill/>
                <a:ln>
                  <a:noFill/>
                </a:ln>
              </p:spPr>
              <p:txBody>
                <a:bodyPr spcFirstLastPara="1" wrap="square" lIns="91425" tIns="45700" rIns="91425" bIns="45700" anchor="ctr" anchorCtr="0">
                  <a:noAutofit/>
                </a:bodyPr>
                <a:lstStyle/>
                <a:p>
                  <a:pPr algn="ctr">
                    <a:spcAft>
                      <a:spcPts val="1000"/>
                    </a:spcAft>
                  </a:pPr>
                  <a14:m>
                    <m:oMath xmlns:m="http://schemas.openxmlformats.org/officeDocument/2006/math">
                      <m:r>
                        <a:rPr lang="en-US" sz="2000" i="1">
                          <a:latin typeface="Cambria Math" panose="02040503050406030204" pitchFamily="18" charset="0"/>
                          <a:ea typeface="Verdana" panose="020B0604030504040204" pitchFamily="34" charset="0"/>
                          <a:cs typeface="Verdana" panose="020B0604030504040204" pitchFamily="34" charset="0"/>
                        </a:rPr>
                        <m:t>24 </m:t>
                      </m:r>
                    </m:oMath>
                  </a14:m>
                  <a:r>
                    <a:rPr lang="en-US" sz="2000" dirty="0">
                      <a:latin typeface="Verdana" panose="020B0604030504040204" pitchFamily="34" charset="0"/>
                      <a:ea typeface="Verdana" panose="020B0604030504040204" pitchFamily="34" charset="0"/>
                      <a:cs typeface="Verdana" panose="020B0604030504040204" pitchFamily="34" charset="0"/>
                    </a:rPr>
                    <a:t>cm</a:t>
                  </a:r>
                  <a:endParaRPr lang="x-none">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8" name="Rectangle 7">
                  <a:extLst>
                    <a:ext uri="{FF2B5EF4-FFF2-40B4-BE49-F238E27FC236}">
                      <a16:creationId xmlns:a16="http://schemas.microsoft.com/office/drawing/2014/main" xmlns:a14="http://schemas.microsoft.com/office/drawing/2010/main" xmlns="" id="{5ACF5E5A-FE62-CB4C-9577-4AF66F88B156}"/>
                    </a:ext>
                  </a:extLst>
                </p:cNvPr>
                <p:cNvSpPr>
                  <a:spLocks noRot="1" noChangeAspect="1" noMove="1" noResize="1" noEditPoints="1" noAdjustHandles="1" noChangeArrowheads="1" noChangeShapeType="1" noTextEdit="1"/>
                </p:cNvSpPr>
                <p:nvPr/>
              </p:nvSpPr>
              <p:spPr>
                <a:xfrm>
                  <a:off x="7008582" y="4394632"/>
                  <a:ext cx="1019175" cy="418465"/>
                </a:xfrm>
                <a:prstGeom prst="rect">
                  <a:avLst/>
                </a:prstGeom>
                <a:blipFill rotWithShape="1">
                  <a:blip r:embed="rId5"/>
                  <a:stretch>
                    <a:fillRect t="-20290" b="-7246"/>
                  </a:stretch>
                </a:blipFill>
                <a:ln>
                  <a:noFill/>
                </a:ln>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93964304-DAF6-5D4A-8FED-80AC29841783}"/>
                    </a:ext>
                  </a:extLst>
                </p:cNvPr>
                <p:cNvSpPr/>
                <p:nvPr/>
              </p:nvSpPr>
              <p:spPr>
                <a:xfrm>
                  <a:off x="4946173" y="2713330"/>
                  <a:ext cx="1447800" cy="418465"/>
                </a:xfrm>
                <a:prstGeom prst="rect">
                  <a:avLst/>
                </a:prstGeom>
                <a:noFill/>
                <a:ln>
                  <a:noFill/>
                </a:ln>
              </p:spPr>
              <p:txBody>
                <a:bodyPr spcFirstLastPara="1" wrap="square" lIns="91425" tIns="45700" rIns="91425" bIns="45700" anchor="ctr" anchorCtr="0">
                  <a:noAutofit/>
                </a:bodyPr>
                <a:lstStyle/>
                <a:p>
                  <a:pPr algn="ctr">
                    <a:spcAft>
                      <a:spcPts val="1000"/>
                    </a:spcAft>
                  </a:pPr>
                  <a14:m>
                    <m:oMath xmlns:m="http://schemas.openxmlformats.org/officeDocument/2006/math">
                      <m:r>
                        <a:rPr lang="en-US" sz="2000" i="1">
                          <a:latin typeface="Cambria Math" panose="02040503050406030204" pitchFamily="18" charset="0"/>
                          <a:ea typeface="Verdana" panose="020B0604030504040204" pitchFamily="34" charset="0"/>
                          <a:cs typeface="Verdana" panose="020B0604030504040204" pitchFamily="34" charset="0"/>
                        </a:rPr>
                        <m:t>16.97</m:t>
                      </m:r>
                    </m:oMath>
                  </a14:m>
                  <a:r>
                    <a:rPr lang="en-US" sz="2000" dirty="0">
                      <a:latin typeface="Verdana" panose="020B0604030504040204" pitchFamily="34" charset="0"/>
                      <a:ea typeface="Verdana" panose="020B0604030504040204" pitchFamily="34" charset="0"/>
                      <a:cs typeface="Verdana" panose="020B0604030504040204" pitchFamily="34" charset="0"/>
                    </a:rPr>
                    <a:t> cm</a:t>
                  </a:r>
                  <a:endParaRPr lang="x-none">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9" name="Rectangle 8">
                  <a:extLst>
                    <a:ext uri="{FF2B5EF4-FFF2-40B4-BE49-F238E27FC236}">
                      <a16:creationId xmlns:a16="http://schemas.microsoft.com/office/drawing/2014/main" xmlns:a14="http://schemas.microsoft.com/office/drawing/2010/main" xmlns="" id="{93964304-DAF6-5D4A-8FED-80AC29841783}"/>
                    </a:ext>
                  </a:extLst>
                </p:cNvPr>
                <p:cNvSpPr>
                  <a:spLocks noRot="1" noChangeAspect="1" noMove="1" noResize="1" noEditPoints="1" noAdjustHandles="1" noChangeArrowheads="1" noChangeShapeType="1" noTextEdit="1"/>
                </p:cNvSpPr>
                <p:nvPr/>
              </p:nvSpPr>
              <p:spPr>
                <a:xfrm>
                  <a:off x="4946173" y="2713330"/>
                  <a:ext cx="1447800" cy="418465"/>
                </a:xfrm>
                <a:prstGeom prst="rect">
                  <a:avLst/>
                </a:prstGeom>
                <a:blipFill rotWithShape="1">
                  <a:blip r:embed="rId6"/>
                  <a:stretch>
                    <a:fillRect t="-18841" b="-8696"/>
                  </a:stretch>
                </a:blipFill>
                <a:ln>
                  <a:noFill/>
                </a:ln>
              </p:spPr>
              <p:txBody>
                <a:bodyPr/>
                <a:lstStyle/>
                <a:p>
                  <a:r>
                    <a:rPr lang="en-PH">
                      <a:noFill/>
                    </a:rPr>
                    <a:t> </a:t>
                  </a:r>
                </a:p>
              </p:txBody>
            </p:sp>
          </mc:Fallback>
        </mc:AlternateContent>
        <p:cxnSp>
          <p:nvCxnSpPr>
            <p:cNvPr id="10" name="Straight Arrow Connector 9">
              <a:extLst>
                <a:ext uri="{FF2B5EF4-FFF2-40B4-BE49-F238E27FC236}">
                  <a16:creationId xmlns:a16="http://schemas.microsoft.com/office/drawing/2014/main" id="{95C3BD37-F83C-9B4D-B3F6-CD8DC425B2D9}"/>
                </a:ext>
              </a:extLst>
            </p:cNvPr>
            <p:cNvCxnSpPr/>
            <p:nvPr/>
          </p:nvCxnSpPr>
          <p:spPr>
            <a:xfrm rot="10800000" flipH="1">
              <a:off x="6138837" y="2478229"/>
              <a:ext cx="406400" cy="234950"/>
            </a:xfrm>
            <a:prstGeom prst="straightConnector1">
              <a:avLst/>
            </a:prstGeom>
            <a:noFill/>
            <a:ln w="25400" cap="flat" cmpd="sng">
              <a:solidFill>
                <a:schemeClr val="dk1"/>
              </a:solidFill>
              <a:prstDash val="solid"/>
              <a:round/>
              <a:headEnd type="none" w="sm" len="sm"/>
              <a:tailEnd type="triangle" w="med" len="med"/>
            </a:ln>
          </p:spPr>
        </p:cxnSp>
      </p:grpSp>
      <p:sp>
        <p:nvSpPr>
          <p:cNvPr id="278" name="Google Shape;278;g104476d1465_1_17"/>
          <p:cNvSpPr/>
          <p:nvPr/>
        </p:nvSpPr>
        <p:spPr>
          <a:xfrm>
            <a:off x="0" y="0"/>
            <a:ext cx="219456"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138</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17" name="Rectangle 16">
                <a:extLst>
                  <a:ext uri="{FF2B5EF4-FFF2-40B4-BE49-F238E27FC236}">
                    <a16:creationId xmlns:a16="http://schemas.microsoft.com/office/drawing/2014/main" id="{95D1E807-1281-DE49-BD83-D88C94B836CC}"/>
                  </a:ext>
                </a:extLst>
              </p:cNvPr>
              <p:cNvSpPr>
                <a:spLocks noChangeArrowheads="1"/>
              </p:cNvSpPr>
              <p:nvPr/>
            </p:nvSpPr>
            <p:spPr bwMode="auto">
              <a:xfrm>
                <a:off x="914400" y="637337"/>
                <a:ext cx="10515600" cy="1323439"/>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startAt="3"/>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An octagon is divided into two trapezoids and a rectangle. Each side of the octagon has a length of </a:t>
                </a:r>
                <a14:m>
                  <m:oMath xmlns:m="http://schemas.openxmlformats.org/officeDocument/2006/math">
                    <m:r>
                      <a:rPr lang="en-US" altLang="en-US" sz="2000" i="1" dirty="0"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24</m:t>
                    </m:r>
                  </m:oMath>
                </a14:m>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cm. The perpendicular distance from the center to the midpoint of a side is 28.97 cm. The height of each trapezoid is 16.97 cm.</a:t>
                </a:r>
              </a:p>
            </p:txBody>
          </p:sp>
        </mc:Choice>
        <mc:Fallback>
          <p:sp>
            <p:nvSpPr>
              <p:cNvPr id="17" name="Rectangle 16">
                <a:extLst>
                  <a:ext uri="{FF2B5EF4-FFF2-40B4-BE49-F238E27FC236}">
                    <a16:creationId xmlns:a16="http://schemas.microsoft.com/office/drawing/2014/main" id="{95D1E807-1281-DE49-BD83-D88C94B836CC}"/>
                  </a:ext>
                </a:extLst>
              </p:cNvPr>
              <p:cNvSpPr>
                <a:spLocks noRot="1" noChangeAspect="1" noMove="1" noResize="1" noEditPoints="1" noAdjustHandles="1" noChangeArrowheads="1" noChangeShapeType="1" noTextEdit="1"/>
              </p:cNvSpPr>
              <p:nvPr/>
            </p:nvSpPr>
            <p:spPr bwMode="auto">
              <a:xfrm>
                <a:off x="914400" y="637337"/>
                <a:ext cx="10515600" cy="1323439"/>
              </a:xfrm>
              <a:prstGeom prst="rect">
                <a:avLst/>
              </a:prstGeom>
              <a:blipFill>
                <a:blip r:embed="rId8"/>
                <a:stretch>
                  <a:fillRect l="-638" t="-2765" b="-783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PH">
                    <a:noFill/>
                  </a:rPr>
                  <a:t> </a:t>
                </a:r>
              </a:p>
            </p:txBody>
          </p:sp>
        </mc:Fallback>
      </mc:AlternateContent>
      <p:sp>
        <p:nvSpPr>
          <p:cNvPr id="13" name="Rectangle 12">
            <a:extLst>
              <a:ext uri="{FF2B5EF4-FFF2-40B4-BE49-F238E27FC236}">
                <a16:creationId xmlns:a16="http://schemas.microsoft.com/office/drawing/2014/main" id="{95D1E807-1281-DE49-BD83-D88C94B836CC}"/>
              </a:ext>
            </a:extLst>
          </p:cNvPr>
          <p:cNvSpPr>
            <a:spLocks noChangeArrowheads="1"/>
          </p:cNvSpPr>
          <p:nvPr/>
        </p:nvSpPr>
        <p:spPr bwMode="auto">
          <a:xfrm>
            <a:off x="914400" y="2290100"/>
            <a:ext cx="7897095"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906463" indent="-457200" eaLnBrk="0" fontAlgn="base" hangingPunct="0">
              <a:spcBef>
                <a:spcPct val="0"/>
              </a:spcBef>
              <a:spcAft>
                <a:spcPct val="0"/>
              </a:spcAft>
              <a:buClrTx/>
              <a:buFont typeface="+mj-lt"/>
              <a:buAutoNum type="alphaLcPeriod"/>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Find the area of each </a:t>
            </a:r>
            <a:b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b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decomposed quadrilateral. </a:t>
            </a:r>
            <a:b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b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Round to the nearest </a:t>
            </a:r>
            <a:b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b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hundredth.</a:t>
            </a:r>
          </a:p>
          <a:p>
            <a:pPr marL="906463" indent="-457200" eaLnBrk="0" fontAlgn="base" hangingPunct="0">
              <a:spcBef>
                <a:spcPct val="0"/>
              </a:spcBef>
              <a:spcAft>
                <a:spcPct val="0"/>
              </a:spcAft>
              <a:buClrTx/>
              <a:buFont typeface="+mj-lt"/>
              <a:buAutoNum type="alphaLcPeriod"/>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buFont typeface="+mj-lt"/>
              <a:buAutoNum type="alphaLcPeriod"/>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buFont typeface="+mj-lt"/>
              <a:buAutoNum type="alphaLcPeriod"/>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buFont typeface="+mj-lt"/>
              <a:buAutoNum type="alphaLcPeriod"/>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06463" indent="-457200" eaLnBrk="0" fontAlgn="base" hangingPunct="0">
              <a:spcBef>
                <a:spcPct val="0"/>
              </a:spcBef>
              <a:spcAft>
                <a:spcPct val="0"/>
              </a:spcAft>
              <a:buClrTx/>
              <a:buFont typeface="+mj-lt"/>
              <a:buAutoNum type="alphaLcPeriod"/>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Using the decomposed shapes, determine </a:t>
            </a:r>
            <a:b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b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the area of the octagon rounded to the nearest thousandth of a square centimeter (cm</a:t>
            </a:r>
            <a:r>
              <a:rPr lang="en-US" altLang="en-US" sz="2000" baseline="30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2</a:t>
            </a: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8209536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139</a:t>
            </a:r>
            <a:endParaRPr i="1" dirty="0">
              <a:latin typeface="Calibri"/>
              <a:ea typeface="Calibri"/>
              <a:cs typeface="Calibri"/>
              <a:sym typeface="Calibri"/>
            </a:endParaRPr>
          </a:p>
        </p:txBody>
      </p:sp>
      <p:sp>
        <p:nvSpPr>
          <p:cNvPr id="17" name="Rectangle 16">
            <a:extLst>
              <a:ext uri="{FF2B5EF4-FFF2-40B4-BE49-F238E27FC236}">
                <a16:creationId xmlns:a16="http://schemas.microsoft.com/office/drawing/2014/main" id="{95D1E807-1281-DE49-BD83-D88C94B836CC}"/>
              </a:ext>
            </a:extLst>
          </p:cNvPr>
          <p:cNvSpPr>
            <a:spLocks noChangeArrowheads="1"/>
          </p:cNvSpPr>
          <p:nvPr/>
        </p:nvSpPr>
        <p:spPr bwMode="auto">
          <a:xfrm>
            <a:off x="914400" y="325166"/>
            <a:ext cx="105156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startAt="4"/>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Complete the chart using the areas from question 2b and 3b.</a:t>
            </a:r>
          </a:p>
        </p:txBody>
      </p:sp>
      <p:graphicFrame>
        <p:nvGraphicFramePr>
          <p:cNvPr id="3" name="Table 2">
            <a:extLst>
              <a:ext uri="{FF2B5EF4-FFF2-40B4-BE49-F238E27FC236}">
                <a16:creationId xmlns:a16="http://schemas.microsoft.com/office/drawing/2014/main" id="{F76AA248-0DEC-1944-83C4-525035C09077}"/>
              </a:ext>
            </a:extLst>
          </p:cNvPr>
          <p:cNvGraphicFramePr>
            <a:graphicFrameLocks noGrp="1"/>
          </p:cNvGraphicFramePr>
          <p:nvPr>
            <p:extLst>
              <p:ext uri="{D42A27DB-BD31-4B8C-83A1-F6EECF244321}">
                <p14:modId xmlns:p14="http://schemas.microsoft.com/office/powerpoint/2010/main" val="420809362"/>
              </p:ext>
            </p:extLst>
          </p:nvPr>
        </p:nvGraphicFramePr>
        <p:xfrm>
          <a:off x="3219450" y="1506515"/>
          <a:ext cx="5753100" cy="1620000"/>
        </p:xfrm>
        <a:graphic>
          <a:graphicData uri="http://schemas.openxmlformats.org/drawingml/2006/table">
            <a:tbl>
              <a:tblPr bandRow="1"/>
              <a:tblGrid>
                <a:gridCol w="2975982">
                  <a:extLst>
                    <a:ext uri="{9D8B030D-6E8A-4147-A177-3AD203B41FA5}">
                      <a16:colId xmlns:a16="http://schemas.microsoft.com/office/drawing/2014/main" val="221544456"/>
                    </a:ext>
                  </a:extLst>
                </a:gridCol>
                <a:gridCol w="2777118">
                  <a:extLst>
                    <a:ext uri="{9D8B030D-6E8A-4147-A177-3AD203B41FA5}">
                      <a16:colId xmlns:a16="http://schemas.microsoft.com/office/drawing/2014/main" val="158438309"/>
                    </a:ext>
                  </a:extLst>
                </a:gridCol>
              </a:tblGrid>
              <a:tr h="540000">
                <a:tc>
                  <a:txBody>
                    <a:bodyPr/>
                    <a:lstStyle/>
                    <a:p>
                      <a:pPr marL="0" marR="0" algn="ctr">
                        <a:spcBef>
                          <a:spcPts val="0"/>
                        </a:spcBef>
                        <a:spcAft>
                          <a:spcPts val="1000"/>
                        </a:spcAft>
                      </a:pPr>
                      <a:r>
                        <a:rPr lang="en-US" sz="2000" b="1" dirty="0">
                          <a:effectLst/>
                          <a:latin typeface="Verdana" panose="020B0604030504040204" pitchFamily="34" charset="0"/>
                          <a:ea typeface="Times New Roman" panose="02020603050405020304" pitchFamily="18" charset="0"/>
                          <a:cs typeface="Cambria" panose="02040503050406030204" pitchFamily="18" charset="0"/>
                        </a:rPr>
                        <a:t>Decomposition</a:t>
                      </a:r>
                      <a:endParaRPr lang="x-none" sz="14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00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Area of Octagon</a:t>
                      </a:r>
                      <a:endParaRPr lang="x-none" sz="14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644358841"/>
                  </a:ext>
                </a:extLst>
              </a:tr>
              <a:tr h="540000">
                <a:tc>
                  <a:txBody>
                    <a:bodyPr/>
                    <a:lstStyle/>
                    <a:p>
                      <a:pPr marL="0" marR="0" algn="ctr">
                        <a:spcBef>
                          <a:spcPts val="0"/>
                        </a:spcBef>
                        <a:spcAft>
                          <a:spcPts val="100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triangles</a:t>
                      </a:r>
                      <a:endParaRPr lang="en-US" sz="14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100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x-none" sz="14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09304340"/>
                  </a:ext>
                </a:extLst>
              </a:tr>
              <a:tr h="540000">
                <a:tc>
                  <a:txBody>
                    <a:bodyPr/>
                    <a:lstStyle/>
                    <a:p>
                      <a:pPr marL="0" marR="0" algn="ctr">
                        <a:spcBef>
                          <a:spcPts val="0"/>
                        </a:spcBef>
                        <a:spcAft>
                          <a:spcPts val="1000"/>
                        </a:spcAft>
                      </a:pPr>
                      <a:r>
                        <a:rPr lang="en-US" sz="2000">
                          <a:solidFill>
                            <a:srgbClr val="000000"/>
                          </a:solidFill>
                          <a:effectLst/>
                          <a:latin typeface="Verdana" panose="020B0604030504040204" pitchFamily="34" charset="0"/>
                          <a:ea typeface="Verdana" panose="020B0604030504040204" pitchFamily="34" charset="0"/>
                          <a:cs typeface="Verdana" panose="020B0604030504040204" pitchFamily="34" charset="0"/>
                        </a:rPr>
                        <a:t>quadrilaterals</a:t>
                      </a:r>
                      <a:endParaRPr lang="x-none" sz="14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100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x-none" sz="14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98430723"/>
                  </a:ext>
                </a:extLst>
              </a:tr>
            </a:tbl>
          </a:graphicData>
        </a:graphic>
      </p:graphicFrame>
      <p:sp>
        <p:nvSpPr>
          <p:cNvPr id="8" name="Rectangle 7">
            <a:extLst>
              <a:ext uri="{FF2B5EF4-FFF2-40B4-BE49-F238E27FC236}">
                <a16:creationId xmlns:a16="http://schemas.microsoft.com/office/drawing/2014/main" id="{F863B8E6-7F2B-1B44-A320-0000EE8CAD8F}"/>
              </a:ext>
            </a:extLst>
          </p:cNvPr>
          <p:cNvSpPr>
            <a:spLocks noChangeArrowheads="1"/>
          </p:cNvSpPr>
          <p:nvPr/>
        </p:nvSpPr>
        <p:spPr bwMode="auto">
          <a:xfrm>
            <a:off x="914400" y="3763837"/>
            <a:ext cx="10515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startAt="5"/>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What do you notice about the areas?</a:t>
            </a:r>
          </a:p>
        </p:txBody>
      </p:sp>
    </p:spTree>
    <p:extLst>
      <p:ext uri="{BB962C8B-B14F-4D97-AF65-F5344CB8AC3E}">
        <p14:creationId xmlns:p14="http://schemas.microsoft.com/office/powerpoint/2010/main" val="34619364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83311" y="2766144"/>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139</a:t>
            </a:r>
            <a:endParaRPr i="1" dirty="0">
              <a:latin typeface="Calibri"/>
              <a:ea typeface="Calibri"/>
              <a:cs typeface="Calibri"/>
              <a:sym typeface="Calibri"/>
            </a:endParaRPr>
          </a:p>
        </p:txBody>
      </p:sp>
      <p:pic>
        <p:nvPicPr>
          <p:cNvPr id="8" name="image28.png" descr="A picture containing shape&#10;&#10;Description automatically generated">
            <a:extLst>
              <a:ext uri="{FF2B5EF4-FFF2-40B4-BE49-F238E27FC236}">
                <a16:creationId xmlns:a16="http://schemas.microsoft.com/office/drawing/2014/main" id="{3554486A-91D3-584E-8F1A-D9E2ACC3F1E8}"/>
              </a:ext>
            </a:extLst>
          </p:cNvPr>
          <p:cNvPicPr/>
          <p:nvPr/>
        </p:nvPicPr>
        <p:blipFill>
          <a:blip r:embed="rId4"/>
          <a:srcRect/>
          <a:stretch>
            <a:fillRect/>
          </a:stretch>
        </p:blipFill>
        <p:spPr>
          <a:xfrm>
            <a:off x="3054096" y="2852920"/>
            <a:ext cx="1152149" cy="1152149"/>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5607887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87883"/>
            <a:ext cx="10515600" cy="9786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33BEA6"/>
                </a:solidFill>
                <a:latin typeface="Verdana"/>
                <a:ea typeface="Verdana"/>
                <a:cs typeface="Verdana"/>
                <a:sym typeface="Verdana"/>
              </a:rPr>
              <a:t>4.3.3 Collaboration: Decomposing Regular Polygons to Find Area</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139</a:t>
            </a:r>
            <a:endParaRPr i="1" dirty="0">
              <a:latin typeface="Calibri"/>
              <a:ea typeface="Calibri"/>
              <a:cs typeface="Calibri"/>
              <a:sym typeface="Calibri"/>
            </a:endParaRPr>
          </a:p>
        </p:txBody>
      </p:sp>
      <p:sp>
        <p:nvSpPr>
          <p:cNvPr id="10" name="TextBox 9">
            <a:extLst>
              <a:ext uri="{FF2B5EF4-FFF2-40B4-BE49-F238E27FC236}">
                <a16:creationId xmlns:a16="http://schemas.microsoft.com/office/drawing/2014/main" id="{E44DF7DE-9172-3E4E-B74A-7A51585FB6EA}"/>
              </a:ext>
            </a:extLst>
          </p:cNvPr>
          <p:cNvSpPr txBox="1"/>
          <p:nvPr/>
        </p:nvSpPr>
        <p:spPr>
          <a:xfrm>
            <a:off x="914400" y="1527048"/>
            <a:ext cx="10515600" cy="830997"/>
          </a:xfrm>
          <a:prstGeom prst="rect">
            <a:avLst/>
          </a:prstGeom>
          <a:noFill/>
        </p:spPr>
        <p:txBody>
          <a:bodyPr wrap="square" rtlCol="0">
            <a:spAutoFit/>
          </a:bodyPr>
          <a:lstStyle/>
          <a:p>
            <a:pPr marL="457200" indent="-457200">
              <a:buFont typeface="+mj-lt"/>
              <a:buAutoNum type="arabicPeriod"/>
              <a:tabLst>
                <a:tab pos="1350963" algn="l"/>
              </a:tabLst>
            </a:pPr>
            <a:r>
              <a:rPr lang="en-US" sz="2400" dirty="0">
                <a:latin typeface="Verdana" panose="020B0604030504040204" pitchFamily="34" charset="0"/>
                <a:ea typeface="Verdana" panose="020B0604030504040204" pitchFamily="34" charset="0"/>
                <a:cs typeface="Verdana" panose="020B0604030504040204" pitchFamily="34" charset="0"/>
              </a:rPr>
              <a:t>Decompose each of the following regular polygons.</a:t>
            </a:r>
          </a:p>
        </p:txBody>
      </p:sp>
      <p:pic>
        <p:nvPicPr>
          <p:cNvPr id="27" name="image28.png" descr="A picture containing shape&#10;&#10;Description automatically generated">
            <a:extLst>
              <a:ext uri="{FF2B5EF4-FFF2-40B4-BE49-F238E27FC236}">
                <a16:creationId xmlns:a16="http://schemas.microsoft.com/office/drawing/2014/main" id="{B120F795-EBEC-024D-9BB6-7BC6A7F9B0A2}"/>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56616" y="201168"/>
            <a:ext cx="750164" cy="750164"/>
          </a:xfrm>
          <a:prstGeom prst="rect">
            <a:avLst/>
          </a:prstGeom>
          <a:ln/>
        </p:spPr>
      </p:pic>
      <p:grpSp>
        <p:nvGrpSpPr>
          <p:cNvPr id="2" name="Group 1"/>
          <p:cNvGrpSpPr/>
          <p:nvPr/>
        </p:nvGrpSpPr>
        <p:grpSpPr>
          <a:xfrm>
            <a:off x="3296564" y="2241871"/>
            <a:ext cx="5881409" cy="2796792"/>
            <a:chOff x="2098147" y="2293823"/>
            <a:chExt cx="5148708" cy="2448370"/>
          </a:xfrm>
        </p:grpSpPr>
        <p:pic>
          <p:nvPicPr>
            <p:cNvPr id="28" name="image34.png" descr="Shape&#10;&#10;Description automatically generated">
              <a:extLst>
                <a:ext uri="{FF2B5EF4-FFF2-40B4-BE49-F238E27FC236}">
                  <a16:creationId xmlns:a16="http://schemas.microsoft.com/office/drawing/2014/main" id="{86F1E895-C14A-FB45-B2A3-B8EADD0ABD31}"/>
                </a:ext>
              </a:extLst>
            </p:cNvPr>
            <p:cNvPicPr/>
            <p:nvPr/>
          </p:nvPicPr>
          <p:blipFill>
            <a:blip r:embed="rId5"/>
            <a:srcRect l="28498" t="4572" r="58654" b="60250"/>
            <a:stretch>
              <a:fillRect/>
            </a:stretch>
          </p:blipFill>
          <p:spPr>
            <a:xfrm>
              <a:off x="2098147" y="2619388"/>
              <a:ext cx="1760855" cy="2122805"/>
            </a:xfrm>
            <a:prstGeom prst="rect">
              <a:avLst/>
            </a:prstGeom>
            <a:ln/>
          </p:spPr>
        </p:pic>
        <p:pic>
          <p:nvPicPr>
            <p:cNvPr id="29" name="image42.png">
              <a:extLst>
                <a:ext uri="{FF2B5EF4-FFF2-40B4-BE49-F238E27FC236}">
                  <a16:creationId xmlns:a16="http://schemas.microsoft.com/office/drawing/2014/main" id="{8E3A4C82-F840-6449-9915-19BE3456BC79}"/>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rot="20831855">
              <a:off x="5143100" y="2293823"/>
              <a:ext cx="2103755" cy="1997075"/>
            </a:xfrm>
            <a:prstGeom prst="rect">
              <a:avLst/>
            </a:prstGeom>
            <a:ln/>
          </p:spPr>
        </p:pic>
      </p:grpSp>
    </p:spTree>
    <p:extLst>
      <p:ext uri="{BB962C8B-B14F-4D97-AF65-F5344CB8AC3E}">
        <p14:creationId xmlns:p14="http://schemas.microsoft.com/office/powerpoint/2010/main" val="16744370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139</a:t>
            </a:r>
            <a:endParaRPr i="1" dirty="0">
              <a:latin typeface="Calibri"/>
              <a:ea typeface="Calibri"/>
              <a:cs typeface="Calibri"/>
              <a:sym typeface="Calibri"/>
            </a:endParaRPr>
          </a:p>
        </p:txBody>
      </p:sp>
      <p:sp>
        <p:nvSpPr>
          <p:cNvPr id="2" name="Rectangle 1">
            <a:extLst>
              <a:ext uri="{FF2B5EF4-FFF2-40B4-BE49-F238E27FC236}">
                <a16:creationId xmlns:a16="http://schemas.microsoft.com/office/drawing/2014/main" id="{F54A4596-5923-6342-9500-70E8F702680A}"/>
              </a:ext>
            </a:extLst>
          </p:cNvPr>
          <p:cNvSpPr/>
          <p:nvPr/>
        </p:nvSpPr>
        <p:spPr>
          <a:xfrm>
            <a:off x="914400" y="411121"/>
            <a:ext cx="10515600" cy="2677656"/>
          </a:xfrm>
          <a:prstGeom prst="rect">
            <a:avLst/>
          </a:prstGeom>
        </p:spPr>
        <p:txBody>
          <a:bodyPr wrap="square">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Share with your partner how you decomposed your shapes. If your partner decomposed the shapes differently, draw on the blue shapes how they decomposed their shapes. If you decomposed the shapes in the same way, work together to create a different way to decompose the shapes. </a:t>
            </a:r>
          </a:p>
        </p:txBody>
      </p:sp>
      <p:grpSp>
        <p:nvGrpSpPr>
          <p:cNvPr id="3" name="Group 2"/>
          <p:cNvGrpSpPr/>
          <p:nvPr/>
        </p:nvGrpSpPr>
        <p:grpSpPr>
          <a:xfrm>
            <a:off x="2961375" y="3165119"/>
            <a:ext cx="6110557" cy="2653850"/>
            <a:chOff x="1802237" y="3214687"/>
            <a:chExt cx="5296709" cy="2300391"/>
          </a:xfrm>
        </p:grpSpPr>
        <p:pic>
          <p:nvPicPr>
            <p:cNvPr id="10" name="image39.png">
              <a:extLst>
                <a:ext uri="{FF2B5EF4-FFF2-40B4-BE49-F238E27FC236}">
                  <a16:creationId xmlns:a16="http://schemas.microsoft.com/office/drawing/2014/main" id="{3F3C5D4D-7623-774F-AD2A-6A276E7FEA4E}"/>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1802237" y="3214687"/>
              <a:ext cx="2352675" cy="2257425"/>
            </a:xfrm>
            <a:prstGeom prst="rect">
              <a:avLst/>
            </a:prstGeom>
            <a:ln/>
          </p:spPr>
        </p:pic>
        <p:pic>
          <p:nvPicPr>
            <p:cNvPr id="11" name="image26.png">
              <a:extLst>
                <a:ext uri="{FF2B5EF4-FFF2-40B4-BE49-F238E27FC236}">
                  <a16:creationId xmlns:a16="http://schemas.microsoft.com/office/drawing/2014/main" id="{9CB8AE50-E064-BA44-9A5C-B71EF4158BB7}"/>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rot="21180760">
              <a:off x="5101871" y="3538958"/>
              <a:ext cx="1997075" cy="1976120"/>
            </a:xfrm>
            <a:prstGeom prst="rect">
              <a:avLst/>
            </a:prstGeom>
            <a:ln/>
          </p:spPr>
        </p:pic>
      </p:grpSp>
    </p:spTree>
    <p:extLst>
      <p:ext uri="{BB962C8B-B14F-4D97-AF65-F5344CB8AC3E}">
        <p14:creationId xmlns:p14="http://schemas.microsoft.com/office/powerpoint/2010/main" val="12518468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140</a:t>
            </a:r>
            <a:endParaRPr i="1" dirty="0">
              <a:latin typeface="Calibri"/>
              <a:ea typeface="Calibri"/>
              <a:cs typeface="Calibri"/>
              <a:sym typeface="Calibri"/>
            </a:endParaRPr>
          </a:p>
        </p:txBody>
      </p:sp>
      <p:sp>
        <p:nvSpPr>
          <p:cNvPr id="2" name="Rectangle 1">
            <a:extLst>
              <a:ext uri="{FF2B5EF4-FFF2-40B4-BE49-F238E27FC236}">
                <a16:creationId xmlns:a16="http://schemas.microsoft.com/office/drawing/2014/main" id="{F54A4596-5923-6342-9500-70E8F702680A}"/>
              </a:ext>
            </a:extLst>
          </p:cNvPr>
          <p:cNvSpPr/>
          <p:nvPr/>
        </p:nvSpPr>
        <p:spPr>
          <a:xfrm>
            <a:off x="914400" y="411121"/>
            <a:ext cx="10515600" cy="1569660"/>
          </a:xfrm>
          <a:prstGeom prst="rect">
            <a:avLst/>
          </a:prstGeom>
        </p:spPr>
        <p:txBody>
          <a:bodyPr wrap="square">
            <a:spAutoFit/>
          </a:bodyPr>
          <a:lstStyle/>
          <a:p>
            <a:pPr marL="457200" indent="-457200">
              <a:buFont typeface="+mj-lt"/>
              <a:buAutoNum type="arabi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The table shows a pentagon and a hexagon. Given measurements in centimeters (cm). Work with your partner to determine the area rounded to the nearest hundredth. </a:t>
            </a:r>
          </a:p>
        </p:txBody>
      </p:sp>
      <p:pic>
        <p:nvPicPr>
          <p:cNvPr id="4" name="Picture 3" descr="Chart, radar chart, polygon&#10;&#10;Description automatically generated">
            <a:extLst>
              <a:ext uri="{FF2B5EF4-FFF2-40B4-BE49-F238E27FC236}">
                <a16:creationId xmlns:a16="http://schemas.microsoft.com/office/drawing/2014/main" id="{43134D18-2A19-3642-884A-DD71570AFE6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536340" y="2015309"/>
            <a:ext cx="6095411" cy="4529964"/>
          </a:xfrm>
          <a:prstGeom prst="rect">
            <a:avLst/>
          </a:prstGeom>
        </p:spPr>
      </p:pic>
    </p:spTree>
    <p:extLst>
      <p:ext uri="{BB962C8B-B14F-4D97-AF65-F5344CB8AC3E}">
        <p14:creationId xmlns:p14="http://schemas.microsoft.com/office/powerpoint/2010/main" val="23815530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140</a:t>
            </a:r>
            <a:endParaRPr i="1" dirty="0">
              <a:latin typeface="Calibri"/>
              <a:ea typeface="Calibri"/>
              <a:cs typeface="Calibri"/>
              <a:sym typeface="Calibri"/>
            </a:endParaRPr>
          </a:p>
        </p:txBody>
      </p:sp>
      <p:graphicFrame>
        <p:nvGraphicFramePr>
          <p:cNvPr id="4" name="Table 3">
            <a:extLst>
              <a:ext uri="{FF2B5EF4-FFF2-40B4-BE49-F238E27FC236}">
                <a16:creationId xmlns:a16="http://schemas.microsoft.com/office/drawing/2014/main" id="{FA1C3A76-2646-6149-8C57-CFC6932DCF5A}"/>
              </a:ext>
            </a:extLst>
          </p:cNvPr>
          <p:cNvGraphicFramePr>
            <a:graphicFrameLocks noGrp="1"/>
          </p:cNvGraphicFramePr>
          <p:nvPr>
            <p:extLst>
              <p:ext uri="{D42A27DB-BD31-4B8C-83A1-F6EECF244321}">
                <p14:modId xmlns:p14="http://schemas.microsoft.com/office/powerpoint/2010/main" val="3939717888"/>
              </p:ext>
            </p:extLst>
          </p:nvPr>
        </p:nvGraphicFramePr>
        <p:xfrm>
          <a:off x="2791423" y="1123259"/>
          <a:ext cx="6609154" cy="4351338"/>
        </p:xfrm>
        <a:graphic>
          <a:graphicData uri="http://schemas.openxmlformats.org/drawingml/2006/table">
            <a:tbl>
              <a:tblPr bandRow="1"/>
              <a:tblGrid>
                <a:gridCol w="3242003">
                  <a:extLst>
                    <a:ext uri="{9D8B030D-6E8A-4147-A177-3AD203B41FA5}">
                      <a16:colId xmlns:a16="http://schemas.microsoft.com/office/drawing/2014/main" val="931325647"/>
                    </a:ext>
                  </a:extLst>
                </a:gridCol>
                <a:gridCol w="3367151">
                  <a:extLst>
                    <a:ext uri="{9D8B030D-6E8A-4147-A177-3AD203B41FA5}">
                      <a16:colId xmlns:a16="http://schemas.microsoft.com/office/drawing/2014/main" val="3778867434"/>
                    </a:ext>
                  </a:extLst>
                </a:gridCol>
              </a:tblGrid>
              <a:tr h="4351338">
                <a:tc>
                  <a:txBody>
                    <a:bodyPr/>
                    <a:lstStyle/>
                    <a:p>
                      <a:pPr marL="0" marR="0" algn="ctr">
                        <a:spcBef>
                          <a:spcPts val="0"/>
                        </a:spcBef>
                        <a:spcAft>
                          <a:spcPts val="10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Area of Pentagon</a:t>
                      </a:r>
                      <a:endParaRPr lang="x-none" sz="1400">
                        <a:effectLst/>
                        <a:latin typeface="Cambria" panose="02040503050406030204" pitchFamily="18" charset="0"/>
                        <a:ea typeface="Times New Roman" panose="02020603050405020304" pitchFamily="18" charset="0"/>
                        <a:cs typeface="Cambria"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Area of Hexagon</a:t>
                      </a:r>
                      <a:endParaRPr lang="x-none" sz="1400" dirty="0">
                        <a:effectLst/>
                        <a:latin typeface="Cambria" panose="02040503050406030204" pitchFamily="18" charset="0"/>
                        <a:ea typeface="Times New Roman" panose="02020603050405020304" pitchFamily="18" charset="0"/>
                        <a:cs typeface="Cambria" panose="020405030504060302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2190716"/>
                  </a:ext>
                </a:extLst>
              </a:tr>
            </a:tbl>
          </a:graphicData>
        </a:graphic>
      </p:graphicFrame>
    </p:spTree>
    <p:extLst>
      <p:ext uri="{BB962C8B-B14F-4D97-AF65-F5344CB8AC3E}">
        <p14:creationId xmlns:p14="http://schemas.microsoft.com/office/powerpoint/2010/main" val="20427872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140</a:t>
            </a:r>
            <a:endParaRPr i="1" dirty="0">
              <a:latin typeface="Calibri"/>
              <a:ea typeface="Calibri"/>
              <a:cs typeface="Calibri"/>
              <a:sym typeface="Calibri"/>
            </a:endParaRPr>
          </a:p>
        </p:txBody>
      </p:sp>
      <p:sp>
        <p:nvSpPr>
          <p:cNvPr id="9" name="Google Shape;313;g104476d1465_1_39">
            <a:extLst>
              <a:ext uri="{FF2B5EF4-FFF2-40B4-BE49-F238E27FC236}">
                <a16:creationId xmlns:a16="http://schemas.microsoft.com/office/drawing/2014/main" id="{023CE51F-3080-7A4F-9345-CFF0AC9E83D0}"/>
              </a:ext>
            </a:extLst>
          </p:cNvPr>
          <p:cNvSpPr txBox="1">
            <a:spLocks/>
          </p:cNvSpPr>
          <p:nvPr/>
        </p:nvSpPr>
        <p:spPr>
          <a:xfrm>
            <a:off x="4087368" y="2766144"/>
            <a:ext cx="5002742"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buFont typeface="Cutive"/>
              <a:buNone/>
            </a:pPr>
            <a:r>
              <a:rPr lang="en-US" sz="5500" b="1" dirty="0">
                <a:solidFill>
                  <a:srgbClr val="E24E5F"/>
                </a:solidFill>
                <a:latin typeface="Verdana"/>
                <a:ea typeface="Verdana"/>
                <a:cs typeface="Verdana"/>
                <a:sym typeface="Verdana"/>
              </a:rPr>
              <a:t>Your Turn</a:t>
            </a:r>
            <a:endParaRPr lang="en-US" sz="5100" b="1" dirty="0">
              <a:solidFill>
                <a:srgbClr val="E24E5F"/>
              </a:solidFill>
              <a:latin typeface="Verdana"/>
              <a:ea typeface="Verdana"/>
              <a:cs typeface="Verdana"/>
              <a:sym typeface="Verdana"/>
            </a:endParaRPr>
          </a:p>
        </p:txBody>
      </p:sp>
      <p:pic>
        <p:nvPicPr>
          <p:cNvPr id="8" name="image41.png" descr="Icon&#10;&#10;Description automatically generated">
            <a:extLst>
              <a:ext uri="{FF2B5EF4-FFF2-40B4-BE49-F238E27FC236}">
                <a16:creationId xmlns:a16="http://schemas.microsoft.com/office/drawing/2014/main" id="{C6717E46-8AFE-BF4E-A3A8-8D7E060DD307}"/>
              </a:ext>
            </a:extLst>
          </p:cNvPr>
          <p:cNvPicPr/>
          <p:nvPr/>
        </p:nvPicPr>
        <p:blipFill>
          <a:blip r:embed="rId4"/>
          <a:srcRect/>
          <a:stretch>
            <a:fillRect/>
          </a:stretch>
        </p:blipFill>
        <p:spPr>
          <a:xfrm>
            <a:off x="3054096" y="2852928"/>
            <a:ext cx="1152155" cy="1152155"/>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5415991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 name="image52.png">
            <a:extLst>
              <a:ext uri="{FF2B5EF4-FFF2-40B4-BE49-F238E27FC236}">
                <a16:creationId xmlns:a16="http://schemas.microsoft.com/office/drawing/2014/main" id="{648D2EC4-3CD0-6445-B1C2-53C09293CB67}"/>
              </a:ext>
            </a:extLst>
          </p:cNvPr>
          <p:cNvPicPr/>
          <p:nvPr/>
        </p:nvPicPr>
        <p:blipFill>
          <a:blip r:embed="rId3" cstate="screen">
            <a:extLst>
              <a:ext uri="{28A0092B-C50C-407E-A947-70E740481C1C}">
                <a14:useLocalDpi xmlns:a14="http://schemas.microsoft.com/office/drawing/2010/main"/>
              </a:ext>
            </a:extLst>
          </a:blip>
          <a:srcRect/>
          <a:stretch>
            <a:fillRect/>
          </a:stretch>
        </p:blipFill>
        <p:spPr>
          <a:xfrm rot="18389965">
            <a:off x="4662488" y="2181225"/>
            <a:ext cx="2867025" cy="2495550"/>
          </a:xfrm>
          <a:prstGeom prst="rect">
            <a:avLst/>
          </a:prstGeom>
          <a:ln/>
        </p:spPr>
      </p:pic>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88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45693"/>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4400" b="1" dirty="0">
                <a:solidFill>
                  <a:srgbClr val="E24E5F"/>
                </a:solidFill>
                <a:latin typeface="Verdana"/>
                <a:ea typeface="Verdana"/>
                <a:cs typeface="Verdana"/>
                <a:sym typeface="Verdana"/>
              </a:rPr>
              <a:t>4.3.4 Your Turn!</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140</a:t>
            </a:r>
            <a:endParaRPr i="1" dirty="0">
              <a:latin typeface="Calibri"/>
              <a:ea typeface="Calibri"/>
              <a:cs typeface="Calibri"/>
              <a:sym typeface="Calibri"/>
            </a:endParaRPr>
          </a:p>
        </p:txBody>
      </p:sp>
      <p:sp>
        <p:nvSpPr>
          <p:cNvPr id="10" name="TextBox 9">
            <a:extLst>
              <a:ext uri="{FF2B5EF4-FFF2-40B4-BE49-F238E27FC236}">
                <a16:creationId xmlns:a16="http://schemas.microsoft.com/office/drawing/2014/main" id="{E44DF7DE-9172-3E4E-B74A-7A51585FB6EA}"/>
              </a:ext>
            </a:extLst>
          </p:cNvPr>
          <p:cNvSpPr txBox="1"/>
          <p:nvPr/>
        </p:nvSpPr>
        <p:spPr>
          <a:xfrm>
            <a:off x="914400" y="1343684"/>
            <a:ext cx="10515600" cy="461665"/>
          </a:xfrm>
          <a:prstGeom prst="rect">
            <a:avLst/>
          </a:prstGeom>
          <a:noFill/>
        </p:spPr>
        <p:txBody>
          <a:bodyPr wrap="square" rtlCol="0">
            <a:spAutoFit/>
          </a:bodyPr>
          <a:lstStyle/>
          <a:p>
            <a:pPr marL="457200" lvl="1"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A regular pentagon is shown with lengths in inches (in.).</a:t>
            </a:r>
          </a:p>
        </p:txBody>
      </p:sp>
      <p:sp>
        <p:nvSpPr>
          <p:cNvPr id="20" name="TextBox 19">
            <a:extLst>
              <a:ext uri="{FF2B5EF4-FFF2-40B4-BE49-F238E27FC236}">
                <a16:creationId xmlns:a16="http://schemas.microsoft.com/office/drawing/2014/main" id="{966F1FAA-099F-7442-BCF6-516EB6C8DA4D}"/>
              </a:ext>
            </a:extLst>
          </p:cNvPr>
          <p:cNvSpPr txBox="1"/>
          <p:nvPr/>
        </p:nvSpPr>
        <p:spPr>
          <a:xfrm>
            <a:off x="914400" y="5283485"/>
            <a:ext cx="10515600" cy="461665"/>
          </a:xfrm>
          <a:prstGeom prst="rect">
            <a:avLst/>
          </a:prstGeom>
          <a:noFill/>
        </p:spPr>
        <p:txBody>
          <a:bodyPr wrap="square" rtlCol="0">
            <a:spAutoFit/>
          </a:bodyPr>
          <a:lstStyle/>
          <a:p>
            <a:pPr indent="449263"/>
            <a:r>
              <a:rPr lang="en-US" sz="2400" dirty="0">
                <a:latin typeface="Verdana" panose="020B0604030504040204" pitchFamily="34" charset="0"/>
                <a:ea typeface="Verdana" panose="020B0604030504040204" pitchFamily="34" charset="0"/>
                <a:cs typeface="Verdana" panose="020B0604030504040204" pitchFamily="34" charset="0"/>
              </a:rPr>
              <a:t>What is the area of the pentagon?</a:t>
            </a:r>
          </a:p>
        </p:txBody>
      </p:sp>
      <p:pic>
        <p:nvPicPr>
          <p:cNvPr id="27" name="image41.png" descr="Icon&#10;&#10;Description automatically generated">
            <a:extLst>
              <a:ext uri="{FF2B5EF4-FFF2-40B4-BE49-F238E27FC236}">
                <a16:creationId xmlns:a16="http://schemas.microsoft.com/office/drawing/2014/main" id="{22E1D0DB-98AD-9A41-9A8E-3D407F924C79}"/>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356616" y="201168"/>
            <a:ext cx="750164" cy="750164"/>
          </a:xfrm>
          <a:prstGeom prst="rect">
            <a:avLst/>
          </a:prstGeom>
          <a:ln/>
        </p:spPr>
      </p:pic>
      <mc:AlternateContent xmlns:mc="http://schemas.openxmlformats.org/markup-compatibility/2006" xmlns:a14="http://schemas.microsoft.com/office/drawing/2010/main">
        <mc:Choice Requires="a14">
          <p:sp>
            <p:nvSpPr>
              <p:cNvPr id="29" name="Rectangle 28">
                <a:extLst>
                  <a:ext uri="{FF2B5EF4-FFF2-40B4-BE49-F238E27FC236}">
                    <a16:creationId xmlns:a16="http://schemas.microsoft.com/office/drawing/2014/main" id="{F655CF03-7F55-0C41-A1D9-2F2A27695A32}"/>
                  </a:ext>
                </a:extLst>
              </p:cNvPr>
              <p:cNvSpPr/>
              <p:nvPr/>
            </p:nvSpPr>
            <p:spPr>
              <a:xfrm rot="20399452">
                <a:off x="5410406" y="2066770"/>
                <a:ext cx="964565" cy="687705"/>
              </a:xfrm>
              <a:prstGeom prst="rect">
                <a:avLst/>
              </a:prstGeom>
              <a:noFill/>
              <a:ln>
                <a:noFill/>
              </a:ln>
            </p:spPr>
            <p:txBody>
              <a:bodyPr spcFirstLastPara="1" wrap="square" lIns="91425" tIns="45700" rIns="91425" bIns="45700" anchor="t" anchorCtr="0">
                <a:noAutofit/>
              </a:bodyPr>
              <a:lstStyle/>
              <a:p>
                <a:pPr>
                  <a:spcAft>
                    <a:spcPts val="1000"/>
                  </a:spcAft>
                </a:pPr>
                <a14:m>
                  <m:oMath xmlns:m="http://schemas.openxmlformats.org/officeDocument/2006/math">
                    <m:r>
                      <a:rPr lang="en-US" sz="2000" i="1">
                        <a:latin typeface="Cambria Math" panose="02040503050406030204" pitchFamily="18" charset="0"/>
                        <a:ea typeface="Verdana" panose="020B0604030504040204" pitchFamily="34" charset="0"/>
                        <a:cs typeface="Verdana" panose="020B0604030504040204" pitchFamily="34" charset="0"/>
                      </a:rPr>
                      <m:t>8</m:t>
                    </m:r>
                  </m:oMath>
                </a14:m>
                <a:r>
                  <a:rPr lang="en-US" sz="2000" dirty="0">
                    <a:latin typeface="Verdana" panose="020B0604030504040204" pitchFamily="34" charset="0"/>
                    <a:ea typeface="Verdana" panose="020B0604030504040204" pitchFamily="34" charset="0"/>
                    <a:cs typeface="Verdana" panose="020B0604030504040204" pitchFamily="34" charset="0"/>
                  </a:rPr>
                  <a:t> in.</a:t>
                </a:r>
                <a:endParaRPr lang="x-none" dirty="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29" name="Rectangle 28">
                <a:extLst>
                  <a:ext uri="{FF2B5EF4-FFF2-40B4-BE49-F238E27FC236}">
                    <a16:creationId xmlns:a16="http://schemas.microsoft.com/office/drawing/2014/main" id="{F655CF03-7F55-0C41-A1D9-2F2A27695A32}"/>
                  </a:ext>
                </a:extLst>
              </p:cNvPr>
              <p:cNvSpPr>
                <a:spLocks noRot="1" noChangeAspect="1" noMove="1" noResize="1" noEditPoints="1" noAdjustHandles="1" noChangeArrowheads="1" noChangeShapeType="1" noTextEdit="1"/>
              </p:cNvSpPr>
              <p:nvPr/>
            </p:nvSpPr>
            <p:spPr>
              <a:xfrm rot="20399452">
                <a:off x="5410406" y="2066770"/>
                <a:ext cx="964565" cy="687705"/>
              </a:xfrm>
              <a:prstGeom prst="rect">
                <a:avLst/>
              </a:prstGeom>
              <a:blipFill>
                <a:blip r:embed="rId6"/>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D44A96BA-588E-E74F-8FA4-A719E9209C4C}"/>
                  </a:ext>
                </a:extLst>
              </p:cNvPr>
              <p:cNvSpPr/>
              <p:nvPr/>
            </p:nvSpPr>
            <p:spPr>
              <a:xfrm rot="2295282">
                <a:off x="5942536" y="3374235"/>
                <a:ext cx="1077595" cy="973455"/>
              </a:xfrm>
              <a:prstGeom prst="rect">
                <a:avLst/>
              </a:prstGeom>
              <a:noFill/>
              <a:ln>
                <a:noFill/>
              </a:ln>
            </p:spPr>
            <p:txBody>
              <a:bodyPr spcFirstLastPara="1" wrap="square" lIns="91425" tIns="45700" rIns="91425" bIns="45700" anchor="t" anchorCtr="0">
                <a:noAutofit/>
              </a:bodyPr>
              <a:lstStyle/>
              <a:p>
                <a:pPr>
                  <a:spcAft>
                    <a:spcPts val="1000"/>
                  </a:spcAft>
                </a:pPr>
                <a:r>
                  <a:rPr lang="x-none" sz="200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latin typeface="Cambria Math" panose="02040503050406030204" pitchFamily="18" charset="0"/>
                        <a:ea typeface="Verdana" panose="020B0604030504040204" pitchFamily="34" charset="0"/>
                        <a:cs typeface="Verdana" panose="020B0604030504040204" pitchFamily="34" charset="0"/>
                      </a:rPr>
                      <m:t>5.5</m:t>
                    </m:r>
                  </m:oMath>
                </a14:m>
                <a:r>
                  <a:rPr lang="en-US" sz="2000" dirty="0">
                    <a:latin typeface="Verdana" panose="020B0604030504040204" pitchFamily="34" charset="0"/>
                    <a:ea typeface="Verdana" panose="020B0604030504040204" pitchFamily="34" charset="0"/>
                    <a:cs typeface="Verdana" panose="020B0604030504040204" pitchFamily="34" charset="0"/>
                  </a:rPr>
                  <a:t> in.</a:t>
                </a:r>
                <a:endParaRPr lang="x-none">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30" name="Rectangle 29">
                <a:extLst>
                  <a:ext uri="{FF2B5EF4-FFF2-40B4-BE49-F238E27FC236}">
                    <a16:creationId xmlns:a16="http://schemas.microsoft.com/office/drawing/2014/main" id="{D44A96BA-588E-E74F-8FA4-A719E9209C4C}"/>
                  </a:ext>
                </a:extLst>
              </p:cNvPr>
              <p:cNvSpPr>
                <a:spLocks noRot="1" noChangeAspect="1" noMove="1" noResize="1" noEditPoints="1" noAdjustHandles="1" noChangeArrowheads="1" noChangeShapeType="1" noTextEdit="1"/>
              </p:cNvSpPr>
              <p:nvPr/>
            </p:nvSpPr>
            <p:spPr>
              <a:xfrm rot="2295282">
                <a:off x="5942536" y="3374235"/>
                <a:ext cx="1077595" cy="973455"/>
              </a:xfrm>
              <a:prstGeom prst="rect">
                <a:avLst/>
              </a:prstGeom>
              <a:blipFill>
                <a:blip r:embed="rId7"/>
                <a:stretch>
                  <a:fillRect r="-1739"/>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E2A75386-EC00-9746-89E4-FA5AD74900FA}"/>
                  </a:ext>
                </a:extLst>
              </p:cNvPr>
              <p:cNvSpPr/>
              <p:nvPr/>
            </p:nvSpPr>
            <p:spPr>
              <a:xfrm rot="15072569">
                <a:off x="5570928" y="3846076"/>
                <a:ext cx="1033780" cy="441960"/>
              </a:xfrm>
              <a:prstGeom prst="rect">
                <a:avLst/>
              </a:prstGeom>
              <a:noFill/>
              <a:ln>
                <a:noFill/>
              </a:ln>
            </p:spPr>
            <p:txBody>
              <a:bodyPr spcFirstLastPara="1" wrap="square" lIns="91425" tIns="45700" rIns="91425" bIns="45700" anchor="t" anchorCtr="0">
                <a:noAutofit/>
              </a:bodyPr>
              <a:lstStyle/>
              <a:p>
                <a:pPr>
                  <a:spcAft>
                    <a:spcPts val="1000"/>
                  </a:spcAft>
                </a:pPr>
                <a:r>
                  <a:rPr lang="x-none"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latin typeface="Cambria Math" panose="02040503050406030204" pitchFamily="18" charset="0"/>
                        <a:ea typeface="Verdana" panose="020B0604030504040204" pitchFamily="34" charset="0"/>
                        <a:cs typeface="Verdana" panose="020B0604030504040204" pitchFamily="34" charset="0"/>
                      </a:rPr>
                      <m:t>6.8</m:t>
                    </m:r>
                  </m:oMath>
                </a14:m>
                <a:r>
                  <a:rPr lang="en-US" sz="2000" dirty="0">
                    <a:latin typeface="Verdana" panose="020B0604030504040204" pitchFamily="34" charset="0"/>
                    <a:ea typeface="Verdana" panose="020B0604030504040204" pitchFamily="34" charset="0"/>
                    <a:cs typeface="Verdana" panose="020B0604030504040204" pitchFamily="34" charset="0"/>
                  </a:rPr>
                  <a:t> in.</a:t>
                </a:r>
                <a:endParaRPr lang="x-none" dirty="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31" name="Rectangle 30">
                <a:extLst>
                  <a:ext uri="{FF2B5EF4-FFF2-40B4-BE49-F238E27FC236}">
                    <a16:creationId xmlns:a16="http://schemas.microsoft.com/office/drawing/2014/main" id="{E2A75386-EC00-9746-89E4-FA5AD74900FA}"/>
                  </a:ext>
                </a:extLst>
              </p:cNvPr>
              <p:cNvSpPr>
                <a:spLocks noRot="1" noChangeAspect="1" noMove="1" noResize="1" noEditPoints="1" noAdjustHandles="1" noChangeArrowheads="1" noChangeShapeType="1" noTextEdit="1"/>
              </p:cNvSpPr>
              <p:nvPr/>
            </p:nvSpPr>
            <p:spPr>
              <a:xfrm rot="15072569">
                <a:off x="5570928" y="3846076"/>
                <a:ext cx="1033780" cy="441960"/>
              </a:xfrm>
              <a:prstGeom prst="rect">
                <a:avLst/>
              </a:prstGeom>
              <a:blipFill>
                <a:blip r:embed="rId8"/>
                <a:stretch>
                  <a:fillRect l="-6557" t="-5618"/>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4681688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141</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F54A4596-5923-6342-9500-70E8F702680A}"/>
                  </a:ext>
                </a:extLst>
              </p:cNvPr>
              <p:cNvSpPr/>
              <p:nvPr/>
            </p:nvSpPr>
            <p:spPr>
              <a:xfrm>
                <a:off x="914400" y="417101"/>
                <a:ext cx="10515600" cy="1938992"/>
              </a:xfrm>
              <a:prstGeom prst="rect">
                <a:avLst/>
              </a:prstGeom>
            </p:spPr>
            <p:txBody>
              <a:bodyPr wrap="square">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Lin and Andre used different methods to find the area of a regular hexagon with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6</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in. sides. Lin decomposed the hexagon into six identical, equilateral triangles. Andre decomposed the hexagon into a rectangle and two triangles.</a:t>
                </a:r>
              </a:p>
            </p:txBody>
          </p:sp>
        </mc:Choice>
        <mc:Fallback xmlns="">
          <p:sp>
            <p:nvSpPr>
              <p:cNvPr id="2" name="Rectangle 1">
                <a:extLst>
                  <a:ext uri="{FF2B5EF4-FFF2-40B4-BE49-F238E27FC236}">
                    <a16:creationId xmlns:a16="http://schemas.microsoft.com/office/drawing/2014/main" id="{F54A4596-5923-6342-9500-70E8F702680A}"/>
                  </a:ext>
                </a:extLst>
              </p:cNvPr>
              <p:cNvSpPr>
                <a:spLocks noRot="1" noChangeAspect="1" noMove="1" noResize="1" noEditPoints="1" noAdjustHandles="1" noChangeArrowheads="1" noChangeShapeType="1" noTextEdit="1"/>
              </p:cNvSpPr>
              <p:nvPr/>
            </p:nvSpPr>
            <p:spPr>
              <a:xfrm>
                <a:off x="914400" y="417101"/>
                <a:ext cx="10515600" cy="1938992"/>
              </a:xfrm>
              <a:prstGeom prst="rect">
                <a:avLst/>
              </a:prstGeom>
              <a:blipFill>
                <a:blip r:embed="rId4"/>
                <a:stretch>
                  <a:fillRect l="-965" t="-2597"/>
                </a:stretch>
              </a:blipFill>
            </p:spPr>
            <p:txBody>
              <a:bodyPr/>
              <a:lstStyle/>
              <a:p>
                <a:r>
                  <a:rPr lang="en-US">
                    <a:noFill/>
                  </a:rPr>
                  <a:t> </a:t>
                </a:r>
              </a:p>
            </p:txBody>
          </p:sp>
        </mc:Fallback>
      </mc:AlternateContent>
      <p:pic>
        <p:nvPicPr>
          <p:cNvPr id="4" name="Picture 3" descr="Diagram&#10;&#10;Description automatically generated">
            <a:extLst>
              <a:ext uri="{FF2B5EF4-FFF2-40B4-BE49-F238E27FC236}">
                <a16:creationId xmlns:a16="http://schemas.microsoft.com/office/drawing/2014/main" id="{EDFF4388-572A-B945-AA4A-1F25859182C7}"/>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554037" y="2868574"/>
            <a:ext cx="7780864" cy="2531124"/>
          </a:xfrm>
          <a:prstGeom prst="rect">
            <a:avLst/>
          </a:prstGeom>
        </p:spPr>
      </p:pic>
    </p:spTree>
    <p:extLst>
      <p:ext uri="{BB962C8B-B14F-4D97-AF65-F5344CB8AC3E}">
        <p14:creationId xmlns:p14="http://schemas.microsoft.com/office/powerpoint/2010/main" val="1272721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141</a:t>
            </a:r>
            <a:endParaRPr i="1" dirty="0">
              <a:latin typeface="Calibri"/>
              <a:ea typeface="Calibri"/>
              <a:cs typeface="Calibri"/>
              <a:sym typeface="Calibri"/>
            </a:endParaRPr>
          </a:p>
        </p:txBody>
      </p:sp>
      <p:sp>
        <p:nvSpPr>
          <p:cNvPr id="2" name="Rectangle 1">
            <a:extLst>
              <a:ext uri="{FF2B5EF4-FFF2-40B4-BE49-F238E27FC236}">
                <a16:creationId xmlns:a16="http://schemas.microsoft.com/office/drawing/2014/main" id="{F54A4596-5923-6342-9500-70E8F702680A}"/>
              </a:ext>
            </a:extLst>
          </p:cNvPr>
          <p:cNvSpPr/>
          <p:nvPr/>
        </p:nvSpPr>
        <p:spPr>
          <a:xfrm>
            <a:off x="914400" y="400832"/>
            <a:ext cx="10515600" cy="3046988"/>
          </a:xfrm>
          <a:prstGeom prst="rect">
            <a:avLst/>
          </a:prstGeom>
        </p:spPr>
        <p:txBody>
          <a:bodyPr wrap="square">
            <a:spAutoFit/>
          </a:bodyPr>
          <a:lstStyle/>
          <a:p>
            <a:pPr marL="906463" indent="-45720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Explain why Lin and Andrea will find the same area of the hexagon.</a:t>
            </a:r>
          </a:p>
          <a:p>
            <a:pPr marL="906463"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06463"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06463"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06463"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06463" indent="-45720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Find the area of the hexagon using both Lin’s and Andre’s methods.</a:t>
            </a:r>
          </a:p>
        </p:txBody>
      </p:sp>
      <p:graphicFrame>
        <p:nvGraphicFramePr>
          <p:cNvPr id="4" name="Table 3">
            <a:extLst>
              <a:ext uri="{FF2B5EF4-FFF2-40B4-BE49-F238E27FC236}">
                <a16:creationId xmlns:a16="http://schemas.microsoft.com/office/drawing/2014/main" id="{6469AC86-3299-BB4C-BE5A-4DF821F93B48}"/>
              </a:ext>
            </a:extLst>
          </p:cNvPr>
          <p:cNvGraphicFramePr>
            <a:graphicFrameLocks noGrp="1"/>
          </p:cNvGraphicFramePr>
          <p:nvPr>
            <p:extLst>
              <p:ext uri="{D42A27DB-BD31-4B8C-83A1-F6EECF244321}">
                <p14:modId xmlns:p14="http://schemas.microsoft.com/office/powerpoint/2010/main" val="2499054358"/>
              </p:ext>
            </p:extLst>
          </p:nvPr>
        </p:nvGraphicFramePr>
        <p:xfrm>
          <a:off x="3084806" y="3636983"/>
          <a:ext cx="6648450" cy="2747390"/>
        </p:xfrm>
        <a:graphic>
          <a:graphicData uri="http://schemas.openxmlformats.org/drawingml/2006/table">
            <a:tbl>
              <a:tblPr bandRow="1"/>
              <a:tblGrid>
                <a:gridCol w="3324225">
                  <a:extLst>
                    <a:ext uri="{9D8B030D-6E8A-4147-A177-3AD203B41FA5}">
                      <a16:colId xmlns:a16="http://schemas.microsoft.com/office/drawing/2014/main" val="2811791339"/>
                    </a:ext>
                  </a:extLst>
                </a:gridCol>
                <a:gridCol w="3324225">
                  <a:extLst>
                    <a:ext uri="{9D8B030D-6E8A-4147-A177-3AD203B41FA5}">
                      <a16:colId xmlns:a16="http://schemas.microsoft.com/office/drawing/2014/main" val="559140119"/>
                    </a:ext>
                  </a:extLst>
                </a:gridCol>
              </a:tblGrid>
              <a:tr h="417195">
                <a:tc>
                  <a:txBody>
                    <a:bodyPr/>
                    <a:lstStyle/>
                    <a:p>
                      <a:pPr marL="0" marR="0" algn="ctr">
                        <a:spcBef>
                          <a:spcPts val="0"/>
                        </a:spcBef>
                        <a:spcAft>
                          <a:spcPts val="10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Lin’s Method</a:t>
                      </a:r>
                      <a:endParaRPr lang="x-none" sz="20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00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Andre’s Method</a:t>
                      </a:r>
                      <a:endParaRPr lang="x-none" sz="20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635388194"/>
                  </a:ext>
                </a:extLst>
              </a:tr>
              <a:tr h="2330195">
                <a:tc>
                  <a:txBody>
                    <a:bodyPr/>
                    <a:lstStyle/>
                    <a:p>
                      <a:pPr marL="0" marR="0">
                        <a:spcBef>
                          <a:spcPts val="0"/>
                        </a:spcBef>
                        <a:spcAft>
                          <a:spcPts val="100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100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8762256"/>
                  </a:ext>
                </a:extLst>
              </a:tr>
            </a:tbl>
          </a:graphicData>
        </a:graphic>
      </p:graphicFrame>
    </p:spTree>
    <p:extLst>
      <p:ext uri="{BB962C8B-B14F-4D97-AF65-F5344CB8AC3E}">
        <p14:creationId xmlns:p14="http://schemas.microsoft.com/office/powerpoint/2010/main" val="18292975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141</a:t>
            </a:r>
            <a:endParaRPr i="1" dirty="0">
              <a:latin typeface="Calibri"/>
              <a:ea typeface="Calibri"/>
              <a:cs typeface="Calibri"/>
              <a:sym typeface="Calibri"/>
            </a:endParaRPr>
          </a:p>
        </p:txBody>
      </p:sp>
      <p:sp>
        <p:nvSpPr>
          <p:cNvPr id="2" name="Rectangle 1">
            <a:extLst>
              <a:ext uri="{FF2B5EF4-FFF2-40B4-BE49-F238E27FC236}">
                <a16:creationId xmlns:a16="http://schemas.microsoft.com/office/drawing/2014/main" id="{F54A4596-5923-6342-9500-70E8F702680A}"/>
              </a:ext>
            </a:extLst>
          </p:cNvPr>
          <p:cNvSpPr/>
          <p:nvPr/>
        </p:nvSpPr>
        <p:spPr>
          <a:xfrm>
            <a:off x="914400" y="397919"/>
            <a:ext cx="10515600" cy="830997"/>
          </a:xfrm>
          <a:prstGeom prst="rect">
            <a:avLst/>
          </a:prstGeom>
        </p:spPr>
        <p:txBody>
          <a:bodyPr wrap="square">
            <a:spAutoFit/>
          </a:bodyPr>
          <a:lstStyle/>
          <a:p>
            <a:pPr marL="906463" indent="-457200">
              <a:buFont typeface="+mj-lt"/>
              <a:buAutoNum type="alphaL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Decompose the shape differently than Lin and Andre did.</a:t>
            </a:r>
          </a:p>
        </p:txBody>
      </p:sp>
      <p:pic>
        <p:nvPicPr>
          <p:cNvPr id="8" name="image46.png">
            <a:extLst>
              <a:ext uri="{FF2B5EF4-FFF2-40B4-BE49-F238E27FC236}">
                <a16:creationId xmlns:a16="http://schemas.microsoft.com/office/drawing/2014/main" id="{27AA50E5-EF56-3D46-AB56-3A0A4EF057FF}"/>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4101782" y="1228916"/>
            <a:ext cx="3778250" cy="3187700"/>
          </a:xfrm>
          <a:prstGeom prst="rect">
            <a:avLst/>
          </a:prstGeom>
          <a:ln/>
        </p:spPr>
      </p:pic>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EBFA8680-B2D6-764C-B12E-61529C2A49EF}"/>
                  </a:ext>
                </a:extLst>
              </p:cNvPr>
              <p:cNvSpPr/>
              <p:nvPr/>
            </p:nvSpPr>
            <p:spPr>
              <a:xfrm rot="17923046">
                <a:off x="6975213" y="3101961"/>
                <a:ext cx="964685" cy="513080"/>
              </a:xfrm>
              <a:prstGeom prst="rect">
                <a:avLst/>
              </a:prstGeom>
              <a:noFill/>
              <a:ln>
                <a:noFill/>
              </a:ln>
            </p:spPr>
            <p:txBody>
              <a:bodyPr spcFirstLastPara="1" wrap="square" lIns="91425" tIns="45700" rIns="91425" bIns="45700" anchor="t" anchorCtr="0">
                <a:noAutofit/>
              </a:bodyPr>
              <a:lstStyle/>
              <a:p>
                <a:pPr>
                  <a:spcAft>
                    <a:spcPts val="1000"/>
                  </a:spcAft>
                </a:pPr>
                <a14:m>
                  <m:oMath xmlns:m="http://schemas.openxmlformats.org/officeDocument/2006/math">
                    <m:r>
                      <a:rPr lang="en-US" sz="2000" i="1">
                        <a:latin typeface="Cambria Math" panose="02040503050406030204" pitchFamily="18" charset="0"/>
                        <a:ea typeface="Cambria" panose="02040503050406030204" pitchFamily="18" charset="0"/>
                        <a:cs typeface="Cambria" panose="02040503050406030204" pitchFamily="18" charset="0"/>
                      </a:rPr>
                      <m:t>12</m:t>
                    </m:r>
                  </m:oMath>
                </a14:m>
                <a:r>
                  <a:rPr lang="en-US" sz="2000" dirty="0">
                    <a:latin typeface="Cambria" panose="02040503050406030204" pitchFamily="18" charset="0"/>
                    <a:ea typeface="Cambria" panose="02040503050406030204" pitchFamily="18" charset="0"/>
                    <a:cs typeface="Cambria" panose="02040503050406030204" pitchFamily="18" charset="0"/>
                  </a:rPr>
                  <a:t> </a:t>
                </a:r>
                <a:r>
                  <a:rPr lang="en-US" sz="2000" dirty="0">
                    <a:latin typeface="Verdana" panose="020B0604030504040204" pitchFamily="34" charset="0"/>
                    <a:ea typeface="Verdana" panose="020B0604030504040204" pitchFamily="34" charset="0"/>
                    <a:cs typeface="Verdana" panose="020B0604030504040204" pitchFamily="34" charset="0"/>
                  </a:rPr>
                  <a:t>in.</a:t>
                </a:r>
                <a:endParaRPr lang="x-none" sz="20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9" name="Rectangle 8">
                <a:extLst>
                  <a:ext uri="{FF2B5EF4-FFF2-40B4-BE49-F238E27FC236}">
                    <a16:creationId xmlns:a16="http://schemas.microsoft.com/office/drawing/2014/main" id="{EBFA8680-B2D6-764C-B12E-61529C2A49EF}"/>
                  </a:ext>
                </a:extLst>
              </p:cNvPr>
              <p:cNvSpPr>
                <a:spLocks noRot="1" noChangeAspect="1" noMove="1" noResize="1" noEditPoints="1" noAdjustHandles="1" noChangeArrowheads="1" noChangeShapeType="1" noTextEdit="1"/>
              </p:cNvSpPr>
              <p:nvPr/>
            </p:nvSpPr>
            <p:spPr>
              <a:xfrm rot="17923046">
                <a:off x="6975213" y="3101961"/>
                <a:ext cx="964685" cy="513080"/>
              </a:xfrm>
              <a:prstGeom prst="rect">
                <a:avLst/>
              </a:prstGeom>
              <a:blipFill>
                <a:blip r:embed="rId5"/>
                <a:stretch>
                  <a:fillRect/>
                </a:stretch>
              </a:blipFill>
              <a:ln>
                <a:noFill/>
              </a:ln>
            </p:spPr>
            <p:txBody>
              <a:bodyPr/>
              <a:lstStyle/>
              <a:p>
                <a:r>
                  <a:rPr lang="en-US">
                    <a:noFill/>
                  </a:rPr>
                  <a:t> </a:t>
                </a:r>
              </a:p>
            </p:txBody>
          </p:sp>
        </mc:Fallback>
      </mc:AlternateContent>
      <p:sp>
        <p:nvSpPr>
          <p:cNvPr id="10" name="Rectangle 9">
            <a:extLst>
              <a:ext uri="{FF2B5EF4-FFF2-40B4-BE49-F238E27FC236}">
                <a16:creationId xmlns:a16="http://schemas.microsoft.com/office/drawing/2014/main" id="{071CA2F0-980B-C044-81A2-1ED0C6EF36A5}"/>
              </a:ext>
            </a:extLst>
          </p:cNvPr>
          <p:cNvSpPr/>
          <p:nvPr/>
        </p:nvSpPr>
        <p:spPr>
          <a:xfrm>
            <a:off x="914400" y="4731380"/>
            <a:ext cx="10515600" cy="1200329"/>
          </a:xfrm>
          <a:prstGeom prst="rect">
            <a:avLst/>
          </a:prstGeom>
        </p:spPr>
        <p:txBody>
          <a:bodyPr wrap="square">
            <a:spAutoFit/>
          </a:bodyPr>
          <a:lstStyle/>
          <a:p>
            <a:pPr marL="906463" indent="-457200">
              <a:buFont typeface="+mj-lt"/>
              <a:buAutoNum type="alphaLcPeriod" startAt="4"/>
            </a:pPr>
            <a:r>
              <a:rPr lang="en-US" sz="2400" dirty="0">
                <a:latin typeface="Verdana" panose="020B0604030504040204" pitchFamily="34" charset="0"/>
                <a:ea typeface="Times New Roman" panose="02020603050405020304" pitchFamily="18" charset="0"/>
                <a:cs typeface="Times New Roman" panose="02020603050405020304" pitchFamily="18" charset="0"/>
              </a:rPr>
              <a:t>Using the measurements given in all three figures, find the area by finding the sum of your decomposed parts.</a:t>
            </a:r>
          </a:p>
        </p:txBody>
      </p:sp>
    </p:spTree>
    <p:extLst>
      <p:ext uri="{BB962C8B-B14F-4D97-AF65-F5344CB8AC3E}">
        <p14:creationId xmlns:p14="http://schemas.microsoft.com/office/powerpoint/2010/main" val="15647707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142</a:t>
            </a:r>
            <a:endParaRPr i="1" dirty="0">
              <a:latin typeface="Calibri"/>
              <a:ea typeface="Calibri"/>
              <a:cs typeface="Calibri"/>
              <a:sym typeface="Calibri"/>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3054096" y="2935224"/>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142</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43000" y="138530"/>
            <a:ext cx="8019300"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4.3.5 Wrap-Up: Error Analysis</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56616" y="201168"/>
            <a:ext cx="747300" cy="747300"/>
          </a:xfrm>
          <a:prstGeom prst="rect">
            <a:avLst/>
          </a:prstGeom>
          <a:noFill/>
          <a:ln>
            <a:noFill/>
          </a:ln>
        </p:spPr>
      </p:pic>
      <p:sp>
        <p:nvSpPr>
          <p:cNvPr id="2" name="Rectangle 1">
            <a:extLst>
              <a:ext uri="{FF2B5EF4-FFF2-40B4-BE49-F238E27FC236}">
                <a16:creationId xmlns:a16="http://schemas.microsoft.com/office/drawing/2014/main" id="{AE281112-0763-C941-9DB7-9B28C4EA4745}"/>
              </a:ext>
            </a:extLst>
          </p:cNvPr>
          <p:cNvSpPr/>
          <p:nvPr/>
        </p:nvSpPr>
        <p:spPr>
          <a:xfrm>
            <a:off x="914400" y="1028468"/>
            <a:ext cx="8090064" cy="2862322"/>
          </a:xfrm>
          <a:prstGeom prst="rect">
            <a:avLst/>
          </a:prstGeom>
        </p:spPr>
        <p:txBody>
          <a:bodyPr wrap="square">
            <a:spAutoFit/>
          </a:bodyPr>
          <a:lstStyle/>
          <a:p>
            <a:pPr marL="457200" indent="-4572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Vernon found the area of the </a:t>
            </a:r>
            <a:br>
              <a:rPr lang="en-US" sz="2000" dirty="0">
                <a:latin typeface="Verdana" panose="020B0604030504040204" pitchFamily="34" charset="0"/>
                <a:ea typeface="Times New Roman" panose="02020603050405020304" pitchFamily="18" charset="0"/>
                <a:cs typeface="Times New Roman" panose="02020603050405020304" pitchFamily="18" charset="0"/>
              </a:rPr>
            </a:br>
            <a:r>
              <a:rPr lang="en-US" sz="2000" dirty="0">
                <a:latin typeface="Verdana" panose="020B0604030504040204" pitchFamily="34" charset="0"/>
                <a:ea typeface="Times New Roman" panose="02020603050405020304" pitchFamily="18" charset="0"/>
                <a:cs typeface="Times New Roman" panose="02020603050405020304" pitchFamily="18" charset="0"/>
              </a:rPr>
              <a:t>nonagon. His work is shown.</a:t>
            </a:r>
          </a:p>
          <a:p>
            <a:pPr marL="906463"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06463"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Explain to Vernon what </a:t>
            </a:r>
            <a:br>
              <a:rPr lang="en-US" sz="2000" dirty="0">
                <a:latin typeface="Verdana" panose="020B0604030504040204" pitchFamily="34" charset="0"/>
                <a:ea typeface="Times New Roman" panose="02020603050405020304" pitchFamily="18" charset="0"/>
                <a:cs typeface="Times New Roman" panose="02020603050405020304" pitchFamily="18" charset="0"/>
              </a:rPr>
            </a:br>
            <a:r>
              <a:rPr lang="en-US" sz="2000" dirty="0">
                <a:latin typeface="Verdana" panose="020B0604030504040204" pitchFamily="34" charset="0"/>
                <a:ea typeface="Times New Roman" panose="02020603050405020304" pitchFamily="18" charset="0"/>
                <a:cs typeface="Times New Roman" panose="02020603050405020304" pitchFamily="18" charset="0"/>
              </a:rPr>
              <a:t>error(s) he made in his work.</a:t>
            </a:r>
          </a:p>
          <a:p>
            <a:pPr marL="906463"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06463"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06463"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What is the area of the nonagon?</a:t>
            </a: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p:txBody>
      </p:sp>
      <p:pic>
        <p:nvPicPr>
          <p:cNvPr id="4" name="Picture 3" descr="Shape&#10;&#10;Description automatically generated">
            <a:extLst>
              <a:ext uri="{FF2B5EF4-FFF2-40B4-BE49-F238E27FC236}">
                <a16:creationId xmlns:a16="http://schemas.microsoft.com/office/drawing/2014/main" id="{B0B316A4-913A-C041-911F-91C93488692D}"/>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424512" y="903162"/>
            <a:ext cx="2628465" cy="2970985"/>
          </a:xfrm>
          <a:prstGeom prst="rect">
            <a:avLst/>
          </a:prstGeom>
        </p:spPr>
      </p:pic>
      <p:graphicFrame>
        <p:nvGraphicFramePr>
          <p:cNvPr id="6" name="Table 5">
            <a:extLst>
              <a:ext uri="{FF2B5EF4-FFF2-40B4-BE49-F238E27FC236}">
                <a16:creationId xmlns:a16="http://schemas.microsoft.com/office/drawing/2014/main" id="{640BDE05-B760-664C-8C98-8267ED81BD86}"/>
              </a:ext>
            </a:extLst>
          </p:cNvPr>
          <p:cNvGraphicFramePr>
            <a:graphicFrameLocks noGrp="1"/>
          </p:cNvGraphicFramePr>
          <p:nvPr>
            <p:extLst>
              <p:ext uri="{D42A27DB-BD31-4B8C-83A1-F6EECF244321}">
                <p14:modId xmlns:p14="http://schemas.microsoft.com/office/powerpoint/2010/main" val="850754542"/>
              </p:ext>
            </p:extLst>
          </p:nvPr>
        </p:nvGraphicFramePr>
        <p:xfrm>
          <a:off x="2519850" y="3956288"/>
          <a:ext cx="6743700" cy="2479181"/>
        </p:xfrm>
        <a:graphic>
          <a:graphicData uri="http://schemas.openxmlformats.org/drawingml/2006/table">
            <a:tbl>
              <a:tblPr bandRow="1"/>
              <a:tblGrid>
                <a:gridCol w="6743700">
                  <a:extLst>
                    <a:ext uri="{9D8B030D-6E8A-4147-A177-3AD203B41FA5}">
                      <a16:colId xmlns:a16="http://schemas.microsoft.com/office/drawing/2014/main" val="1919918782"/>
                    </a:ext>
                  </a:extLst>
                </a:gridCol>
              </a:tblGrid>
              <a:tr h="468000">
                <a:tc>
                  <a:txBody>
                    <a:bodyPr/>
                    <a:lstStyle/>
                    <a:p>
                      <a:pPr marL="93345" marR="0" indent="-93345" algn="ctr">
                        <a:spcBef>
                          <a:spcPts val="0"/>
                        </a:spcBef>
                        <a:spcAft>
                          <a:spcPts val="100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Vernon’s Work</a:t>
                      </a:r>
                      <a:endParaRPr lang="x-none" sz="2000" dirty="0">
                        <a:effectLst/>
                        <a:latin typeface="Cambria" panose="02040503050406030204" pitchFamily="18" charset="0"/>
                        <a:ea typeface="Times New Roman" panose="02020603050405020304" pitchFamily="18" charset="0"/>
                        <a:cs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3562571828"/>
                  </a:ext>
                </a:extLst>
              </a:tr>
              <a:tr h="2011181">
                <a:tc>
                  <a:txBody>
                    <a:bodyPr/>
                    <a:lstStyle/>
                    <a:p>
                      <a:pPr marL="93345" marR="0" indent="-93345" algn="ctr">
                        <a:spcBef>
                          <a:spcPts val="0"/>
                        </a:spcBef>
                        <a:spcAft>
                          <a:spcPts val="1000"/>
                        </a:spcAft>
                      </a:pPr>
                      <a:r>
                        <a:rPr lang="en-US" sz="2000" dirty="0">
                          <a:effectLst/>
                          <a:latin typeface="Cambria" panose="02040503050406030204" pitchFamily="18" charset="0"/>
                          <a:ea typeface="Times New Roman" panose="02020603050405020304" pitchFamily="18" charset="0"/>
                          <a:cs typeface="Cambria" panose="02040503050406030204" pitchFamily="18" charset="0"/>
                        </a:rPr>
                        <a:t>     </a:t>
                      </a:r>
                      <a:endParaRPr lang="x-none" sz="20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95273437"/>
                  </a:ext>
                </a:extLst>
              </a:tr>
            </a:tbl>
          </a:graphicData>
        </a:graphic>
      </p:graphicFrame>
      <p:pic>
        <p:nvPicPr>
          <p:cNvPr id="16" name="image2.png">
            <a:extLst>
              <a:ext uri="{FF2B5EF4-FFF2-40B4-BE49-F238E27FC236}">
                <a16:creationId xmlns:a16="http://schemas.microsoft.com/office/drawing/2014/main" id="{D3ECA968-7E8C-7143-A398-971532CAA7A5}"/>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3380541" y="4535474"/>
            <a:ext cx="5330273" cy="1883258"/>
          </a:xfrm>
          <a:prstGeom prst="rect">
            <a:avLst/>
          </a:prstGeom>
          <a:ln/>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8f36ed4-5234-49bf-a7f7-5f171c3a2f56">
      <Terms xmlns="http://schemas.microsoft.com/office/infopath/2007/PartnerControls"/>
    </lcf76f155ced4ddcb4097134ff3c332f>
    <TaxCatchAll xmlns="aecc3118-db6a-47b0-8115-3eb3ee12f27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5BA71AFB6E4EB4AB3FD645FC79B11BE" ma:contentTypeVersion="14" ma:contentTypeDescription="Create a new document." ma:contentTypeScope="" ma:versionID="c6de188039f2115276cd22936a35b493">
  <xsd:schema xmlns:xsd="http://www.w3.org/2001/XMLSchema" xmlns:xs="http://www.w3.org/2001/XMLSchema" xmlns:p="http://schemas.microsoft.com/office/2006/metadata/properties" xmlns:ns2="c8f36ed4-5234-49bf-a7f7-5f171c3a2f56" xmlns:ns3="aecc3118-db6a-47b0-8115-3eb3ee12f279" targetNamespace="http://schemas.microsoft.com/office/2006/metadata/properties" ma:root="true" ma:fieldsID="3d1530f6c55cd2fbfcc1e1abc0d9cffe" ns2:_="" ns3:_="">
    <xsd:import namespace="c8f36ed4-5234-49bf-a7f7-5f171c3a2f56"/>
    <xsd:import namespace="aecc3118-db6a-47b0-8115-3eb3ee12f27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f36ed4-5234-49bf-a7f7-5f171c3a2f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4125260-8dc9-4871-9a4d-e9e8d429e38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ecc3118-db6a-47b0-8115-3eb3ee12f27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d1b4dde3-b3bf-4934-b5d8-236f7d7596ba}" ma:internalName="TaxCatchAll" ma:showField="CatchAllData" ma:web="aecc3118-db6a-47b0-8115-3eb3ee12f2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11A29B7-65BC-43DE-BA16-B8AD379A025D}">
  <ds:schemaRefs>
    <ds:schemaRef ds:uri="http://schemas.microsoft.com/office/2006/metadata/properties"/>
    <ds:schemaRef ds:uri="http://schemas.microsoft.com/office/infopath/2007/PartnerControls"/>
    <ds:schemaRef ds:uri="c8f36ed4-5234-49bf-a7f7-5f171c3a2f56"/>
    <ds:schemaRef ds:uri="aecc3118-db6a-47b0-8115-3eb3ee12f279"/>
  </ds:schemaRefs>
</ds:datastoreItem>
</file>

<file path=customXml/itemProps2.xml><?xml version="1.0" encoding="utf-8"?>
<ds:datastoreItem xmlns:ds="http://schemas.openxmlformats.org/officeDocument/2006/customXml" ds:itemID="{0C0EFEC7-68D3-4CC2-8000-4C5CEAB44DC1}">
  <ds:schemaRefs>
    <ds:schemaRef ds:uri="http://schemas.microsoft.com/sharepoint/v3/contenttype/forms"/>
  </ds:schemaRefs>
</ds:datastoreItem>
</file>

<file path=customXml/itemProps3.xml><?xml version="1.0" encoding="utf-8"?>
<ds:datastoreItem xmlns:ds="http://schemas.openxmlformats.org/officeDocument/2006/customXml" ds:itemID="{5F2395F1-8DB2-4088-9B01-9DBE2BE4302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f36ed4-5234-49bf-a7f7-5f171c3a2f56"/>
    <ds:schemaRef ds:uri="aecc3118-db6a-47b0-8115-3eb3ee12f27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3185</TotalTime>
  <Words>992</Words>
  <Application>Microsoft Office PowerPoint</Application>
  <PresentationFormat>Widescreen</PresentationFormat>
  <Paragraphs>157</Paragraphs>
  <Slides>24</Slides>
  <Notes>23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24</vt:i4>
      </vt:variant>
    </vt:vector>
  </HeadingPairs>
  <TitlesOfParts>
    <vt:vector size="34" baseType="lpstr">
      <vt:lpstr>Cambria Math</vt:lpstr>
      <vt:lpstr>Arial Black</vt:lpstr>
      <vt:lpstr>Verdana</vt:lpstr>
      <vt:lpstr>Cambria</vt:lpstr>
      <vt:lpstr>Wingdings</vt:lpstr>
      <vt:lpstr>Cutive</vt:lpstr>
      <vt:lpstr>Calibri</vt:lpstr>
      <vt:lpstr>Arial</vt:lpstr>
      <vt:lpstr>Century Gothic</vt:lpstr>
      <vt:lpstr>1_Office Theme</vt:lpstr>
      <vt:lpstr>7th Grade Math  Unit 4, Lesson 3  Finding the Area of Polygons  Volume 1, pg. 136  </vt:lpstr>
      <vt:lpstr>Benchmark</vt:lpstr>
      <vt:lpstr>PowerPoint Presentation</vt:lpstr>
      <vt:lpstr>PowerPoint Presentation</vt:lpstr>
      <vt:lpstr>Warm-Up</vt:lpstr>
      <vt:lpstr>PowerPoint Presentation</vt:lpstr>
      <vt:lpstr>Guided Instruction</vt:lpstr>
      <vt:lpstr>PowerPoint Presentation</vt:lpstr>
      <vt:lpstr>PowerPoint Presentation</vt:lpstr>
      <vt:lpstr>PowerPoint Presentation</vt:lpstr>
      <vt:lpstr>PowerPoint Presentation</vt:lpstr>
      <vt:lpstr>PowerPoint Presentation</vt:lpstr>
      <vt:lpstr>Collaboration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vaanmx</cp:lastModifiedBy>
  <cp:revision>35</cp:revision>
  <dcterms:created xsi:type="dcterms:W3CDTF">2015-03-17T18:51:18Z</dcterms:created>
  <dcterms:modified xsi:type="dcterms:W3CDTF">2023-06-30T02:44:01Z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0x01010045BA71AFB6E4EB4AB3FD645FC79B11BE</vt:lpwstr>
  </property>
  <property fmtid="{D5CDD505-2E9C-101B-9397-08002B2CF9AE}" pid="3" name="MediaServiceImageTags">
    <vt:lpwstr/>
  </property>
</Properties>
</file>