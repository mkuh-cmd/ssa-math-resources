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345" r:id="rId4"/>
    <p:sldId id="286" r:id="rId5"/>
    <p:sldId id="261" r:id="rId6"/>
    <p:sldId id="287" r:id="rId7"/>
    <p:sldId id="314" r:id="rId8"/>
    <p:sldId id="315" r:id="rId9"/>
    <p:sldId id="316" r:id="rId10"/>
    <p:sldId id="390" r:id="rId11"/>
    <p:sldId id="391" r:id="rId12"/>
    <p:sldId id="392" r:id="rId13"/>
    <p:sldId id="377" r:id="rId14"/>
    <p:sldId id="378" r:id="rId15"/>
    <p:sldId id="379" r:id="rId16"/>
    <p:sldId id="306" r:id="rId17"/>
    <p:sldId id="307" r:id="rId18"/>
    <p:sldId id="393" r:id="rId19"/>
  </p:sldIdLst>
  <p:sldSz cx="12192000" cy="6858000"/>
  <p:notesSz cx="6858000" cy="9144000"/>
  <p:embeddedFontLst>
    <p:embeddedFont>
      <p:font typeface="Arial Black" panose="020B0A04020102020204" pitchFamily="34" charset="0"/>
      <p:bold r:id="rId21"/>
    </p:embeddedFont>
    <p:embeddedFont>
      <p:font typeface="Calibri" panose="020F0502020204030204" pitchFamily="34" charset="0"/>
      <p:regular r:id="rId22"/>
      <p:bold r:id="rId23"/>
      <p:italic r:id="rId24"/>
      <p:boldItalic r:id="rId25"/>
    </p:embeddedFont>
    <p:embeddedFont>
      <p:font typeface="Cambria" panose="02040503050406030204" pitchFamily="18" charset="0"/>
      <p:regular r:id="rId26"/>
      <p:bold r:id="rId27"/>
      <p:italic r:id="rId28"/>
      <p:boldItalic r:id="rId29"/>
    </p:embeddedFont>
    <p:embeddedFont>
      <p:font typeface="Cambria Math" panose="02040503050406030204" pitchFamily="18" charset="0"/>
      <p:regular r:id="rId30"/>
    </p:embeddedFont>
    <p:embeddedFont>
      <p:font typeface="Century Gothic" panose="020B0502020202020204" pitchFamily="34" charset="0"/>
      <p:regular r:id="rId31"/>
      <p:bold r:id="rId32"/>
      <p:italic r:id="rId33"/>
      <p:boldItalic r:id="rId34"/>
    </p:embeddedFont>
    <p:embeddedFont>
      <p:font typeface="Cutive" panose="020B0604020202020204" charset="0"/>
      <p:regular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72" autoAdjust="0"/>
    <p:restoredTop sz="94591" autoAdjust="0"/>
  </p:normalViewPr>
  <p:slideViewPr>
    <p:cSldViewPr snapToGrid="0">
      <p:cViewPr varScale="1">
        <p:scale>
          <a:sx n="86" d="100"/>
          <a:sy n="86" d="100"/>
        </p:scale>
        <p:origin x="612" y="78"/>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font" Target="fonts/font14.fntdata"/><Relationship Id="rId63"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59"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6257264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044549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259706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102038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196036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70904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662128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6621280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20.jpe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1.jpe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2.jpe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microsoft.com/office/2007/relationships/hdphoto" Target="../media/hdphoto1.wdp"/><Relationship Id="rId5" Type="http://schemas.openxmlformats.org/officeDocument/2006/relationships/image" Target="../media/image24.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7.tiff"/><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pixabay.com/en/man-person-climb-mountaineer-rock-373380/"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4, Lesson 10</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Using Circumference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and Area to Solve Problems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171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307592"/>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800" dirty="0">
                <a:latin typeface="Verdana" panose="020B0604030504040204" pitchFamily="34" charset="0"/>
                <a:ea typeface="Verdana" panose="020B0604030504040204" pitchFamily="34" charset="0"/>
                <a:cs typeface="Verdana" panose="020B0604030504040204" pitchFamily="34" charset="0"/>
              </a:rPr>
              <a:t>MA.7.GR.1.3</a:t>
            </a:r>
          </a:p>
          <a:p>
            <a:pPr marL="552450" lvl="1" indent="0">
              <a:buNone/>
            </a:pPr>
            <a:r>
              <a:rPr lang="en-US" sz="2800" dirty="0">
                <a:latin typeface="Verdana" panose="020B0604030504040204" pitchFamily="34" charset="0"/>
                <a:ea typeface="Verdana" panose="020B0604030504040204" pitchFamily="34" charset="0"/>
                <a:cs typeface="Verdana" panose="020B0604030504040204" pitchFamily="34" charset="0"/>
              </a:rPr>
              <a:t>Explore the proportional relationship between circumferences and diameters of circles. Apply a formula for the circumference of a circle to solve mathematical and real-world problems.</a:t>
            </a:r>
          </a:p>
          <a:p>
            <a:pPr marL="552450" lvl="1" indent="0">
              <a:buNone/>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2800" dirty="0">
                <a:latin typeface="Verdana" panose="020B0604030504040204" pitchFamily="34" charset="0"/>
                <a:ea typeface="Verdana" panose="020B0604030504040204" pitchFamily="34" charset="0"/>
                <a:cs typeface="Verdana" panose="020B0604030504040204" pitchFamily="34" charset="0"/>
              </a:rPr>
              <a:t>MA.7.GR.1.4</a:t>
            </a:r>
          </a:p>
          <a:p>
            <a:pPr marL="552450" lvl="1" indent="0">
              <a:buNone/>
            </a:pPr>
            <a:r>
              <a:rPr lang="en-US" sz="2800" dirty="0">
                <a:latin typeface="Verdana" panose="020B0604030504040204" pitchFamily="34" charset="0"/>
                <a:ea typeface="Verdana" panose="020B0604030504040204" pitchFamily="34" charset="0"/>
                <a:cs typeface="Verdana" panose="020B0604030504040204" pitchFamily="34" charset="0"/>
              </a:rPr>
              <a:t>Explore and apply a formula to find the area of a circle to solve mathematical and real-world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128016"/>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171</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914400" y="1455367"/>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171</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1813" indent="-531813">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use the circumference and area of a circle to solve problems.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770632"/>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4.10.1 Warm-Up: Would You Rather?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914400" y="1493369"/>
                <a:ext cx="10515600"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circle with a radius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meters (m), and a rectangle with a length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30</m:t>
                    </m:r>
                  </m:oMath>
                </a14:m>
                <a:r>
                  <a:rPr lang="en-US" sz="2400" dirty="0">
                    <a:latin typeface="Verdana" panose="020B0604030504040204" pitchFamily="34" charset="0"/>
                    <a:ea typeface="Verdana" panose="020B0604030504040204" pitchFamily="34" charset="0"/>
                    <a:cs typeface="Verdana" panose="020B0604030504040204" pitchFamily="34" charset="0"/>
                  </a:rPr>
                  <a:t> m and width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m are shown.</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914400" y="1493369"/>
                <a:ext cx="10515600" cy="1200329"/>
              </a:xfrm>
              <a:prstGeom prst="rect">
                <a:avLst/>
              </a:prstGeom>
              <a:blipFill>
                <a:blip r:embed="rId5"/>
                <a:stretch>
                  <a:fillRect l="-965" t="-4167"/>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id="{B4BF1F58-1771-BE4A-9AA4-4E18AE9205C1}"/>
              </a:ext>
            </a:extLst>
          </p:cNvPr>
          <p:cNvSpPr txBox="1"/>
          <p:nvPr/>
        </p:nvSpPr>
        <p:spPr>
          <a:xfrm>
            <a:off x="914400" y="5000272"/>
            <a:ext cx="105156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if you would rather run the circumference of the circle or the perimeter of the rectangle.</a:t>
            </a:r>
          </a:p>
        </p:txBody>
      </p:sp>
      <p:grpSp>
        <p:nvGrpSpPr>
          <p:cNvPr id="3" name="Group 2"/>
          <p:cNvGrpSpPr/>
          <p:nvPr/>
        </p:nvGrpSpPr>
        <p:grpSpPr>
          <a:xfrm>
            <a:off x="3975611" y="2613304"/>
            <a:ext cx="4333707" cy="2271055"/>
            <a:chOff x="2971072" y="2662517"/>
            <a:chExt cx="4333707" cy="2271055"/>
          </a:xfrm>
        </p:grpSpPr>
        <p:pic>
          <p:nvPicPr>
            <p:cNvPr id="18" name="Picture 17">
              <a:extLst>
                <a:ext uri="{FF2B5EF4-FFF2-40B4-BE49-F238E27FC236}">
                  <a16:creationId xmlns:a16="http://schemas.microsoft.com/office/drawing/2014/main" id="{DFB31EE1-0449-0A41-A273-5F5C3A4CDA0F}"/>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971072" y="2662517"/>
              <a:ext cx="3506655" cy="1938035"/>
            </a:xfrm>
            <a:prstGeom prst="rect">
              <a:avLst/>
            </a:prstGeom>
            <a:noFill/>
            <a:ln>
              <a:noFill/>
            </a:ln>
          </p:spPr>
        </p:pic>
        <mc:AlternateContent xmlns:mc="http://schemas.openxmlformats.org/markup-compatibility/2006" xmlns:a14="http://schemas.microsoft.com/office/drawing/2010/main">
          <mc:Choice Requires="a14">
            <p:sp>
              <p:nvSpPr>
                <p:cNvPr id="23" name="Text Box 2">
                  <a:extLst>
                    <a:ext uri="{FF2B5EF4-FFF2-40B4-BE49-F238E27FC236}">
                      <a16:creationId xmlns:a16="http://schemas.microsoft.com/office/drawing/2014/main" id="{94502158-A940-0941-BC3F-5E9B13D50450}"/>
                    </a:ext>
                  </a:extLst>
                </p:cNvPr>
                <p:cNvSpPr txBox="1"/>
                <p:nvPr/>
              </p:nvSpPr>
              <p:spPr>
                <a:xfrm>
                  <a:off x="3989497" y="3242280"/>
                  <a:ext cx="989330" cy="389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m</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3" name="Text Box 2">
                  <a:extLst>
                    <a:ext uri="{FF2B5EF4-FFF2-40B4-BE49-F238E27FC236}">
                      <a16:creationId xmlns:a16="http://schemas.microsoft.com/office/drawing/2014/main" xmlns:a14="http://schemas.microsoft.com/office/drawing/2010/main" xmlns="" id="{94502158-A940-0941-BC3F-5E9B13D50450}"/>
                    </a:ext>
                  </a:extLst>
                </p:cNvPr>
                <p:cNvSpPr txBox="1">
                  <a:spLocks noRot="1" noChangeAspect="1" noMove="1" noResize="1" noEditPoints="1" noAdjustHandles="1" noChangeArrowheads="1" noChangeShapeType="1" noTextEdit="1"/>
                </p:cNvSpPr>
                <p:nvPr/>
              </p:nvSpPr>
              <p:spPr>
                <a:xfrm>
                  <a:off x="3989497" y="3242280"/>
                  <a:ext cx="989330" cy="389255"/>
                </a:xfrm>
                <a:prstGeom prst="rect">
                  <a:avLst/>
                </a:prstGeom>
                <a:blipFill rotWithShape="1">
                  <a:blip r:embed="rId7"/>
                  <a:stretch>
                    <a:fillRect t="-7813" b="-29688"/>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4" name="Text Box 21">
                  <a:extLst>
                    <a:ext uri="{FF2B5EF4-FFF2-40B4-BE49-F238E27FC236}">
                      <a16:creationId xmlns:a16="http://schemas.microsoft.com/office/drawing/2014/main" id="{6DFC1C1F-0A90-9044-8182-4360DEC5272E}"/>
                    </a:ext>
                  </a:extLst>
                </p:cNvPr>
                <p:cNvSpPr txBox="1"/>
                <p:nvPr/>
              </p:nvSpPr>
              <p:spPr>
                <a:xfrm>
                  <a:off x="6315449" y="3436906"/>
                  <a:ext cx="989330" cy="389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m</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4" name="Text Box 21">
                  <a:extLst>
                    <a:ext uri="{FF2B5EF4-FFF2-40B4-BE49-F238E27FC236}">
                      <a16:creationId xmlns:a16="http://schemas.microsoft.com/office/drawing/2014/main" xmlns:a14="http://schemas.microsoft.com/office/drawing/2010/main" xmlns="" id="{6DFC1C1F-0A90-9044-8182-4360DEC5272E}"/>
                    </a:ext>
                  </a:extLst>
                </p:cNvPr>
                <p:cNvSpPr txBox="1">
                  <a:spLocks noRot="1" noChangeAspect="1" noMove="1" noResize="1" noEditPoints="1" noAdjustHandles="1" noChangeArrowheads="1" noChangeShapeType="1" noTextEdit="1"/>
                </p:cNvSpPr>
                <p:nvPr/>
              </p:nvSpPr>
              <p:spPr>
                <a:xfrm>
                  <a:off x="6315449" y="3436906"/>
                  <a:ext cx="989330" cy="389255"/>
                </a:xfrm>
                <a:prstGeom prst="rect">
                  <a:avLst/>
                </a:prstGeom>
                <a:blipFill rotWithShape="1">
                  <a:blip r:embed="rId8"/>
                  <a:stretch>
                    <a:fillRect t="-7813" b="-29688"/>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5" name="Text Box 22">
                  <a:extLst>
                    <a:ext uri="{FF2B5EF4-FFF2-40B4-BE49-F238E27FC236}">
                      <a16:creationId xmlns:a16="http://schemas.microsoft.com/office/drawing/2014/main" id="{388D883B-EE72-234F-B76A-0E2EC71E7C7A}"/>
                    </a:ext>
                  </a:extLst>
                </p:cNvPr>
                <p:cNvSpPr txBox="1"/>
                <p:nvPr/>
              </p:nvSpPr>
              <p:spPr>
                <a:xfrm>
                  <a:off x="5488397" y="4544317"/>
                  <a:ext cx="989330" cy="389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m</a:t>
                  </a:r>
                  <a:endParaRPr lang="x-none">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5" name="Text Box 22">
                  <a:extLst>
                    <a:ext uri="{FF2B5EF4-FFF2-40B4-BE49-F238E27FC236}">
                      <a16:creationId xmlns:a16="http://schemas.microsoft.com/office/drawing/2014/main" xmlns:a14="http://schemas.microsoft.com/office/drawing/2010/main" xmlns="" id="{388D883B-EE72-234F-B76A-0E2EC71E7C7A}"/>
                    </a:ext>
                  </a:extLst>
                </p:cNvPr>
                <p:cNvSpPr txBox="1">
                  <a:spLocks noRot="1" noChangeAspect="1" noMove="1" noResize="1" noEditPoints="1" noAdjustHandles="1" noChangeArrowheads="1" noChangeShapeType="1" noTextEdit="1"/>
                </p:cNvSpPr>
                <p:nvPr/>
              </p:nvSpPr>
              <p:spPr>
                <a:xfrm>
                  <a:off x="5488397" y="4544317"/>
                  <a:ext cx="989330" cy="389255"/>
                </a:xfrm>
                <a:prstGeom prst="rect">
                  <a:avLst/>
                </a:prstGeom>
                <a:blipFill rotWithShape="1">
                  <a:blip r:embed="rId9"/>
                  <a:stretch>
                    <a:fillRect t="-7813" b="-29688"/>
                  </a:stretch>
                </a:blipFill>
                <a:ln w="6350">
                  <a:noFill/>
                </a:ln>
              </p:spPr>
              <p:txBody>
                <a:bodyPr/>
                <a:lstStyle/>
                <a:p>
                  <a:r>
                    <a:rPr lang="en-PH">
                      <a:noFill/>
                    </a:rPr>
                    <a:t> </a:t>
                  </a:r>
                </a:p>
              </p:txBody>
            </p:sp>
          </mc:Fallback>
        </mc:AlternateContent>
      </p:gr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83280" y="276614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pic>
        <p:nvPicPr>
          <p:cNvPr id="9" name="image17.png" descr="Icon&#10;&#10;Description automatically generated">
            <a:extLst>
              <a:ext uri="{FF2B5EF4-FFF2-40B4-BE49-F238E27FC236}">
                <a16:creationId xmlns:a16="http://schemas.microsoft.com/office/drawing/2014/main" id="{58F00C27-F533-244E-B133-187DF89D9D90}"/>
              </a:ext>
            </a:extLst>
          </p:cNvPr>
          <p:cNvPicPr/>
          <p:nvPr/>
        </p:nvPicPr>
        <p:blipFill>
          <a:blip r:embed="rId4"/>
          <a:srcRect/>
          <a:stretch>
            <a:fillRect/>
          </a:stretch>
        </p:blipFill>
        <p:spPr>
          <a:xfrm>
            <a:off x="3054096" y="2852928"/>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415497"/>
            <a:ext cx="80193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4.10.2 Activity: Sage and Scribe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914400" y="1633860"/>
            <a:ext cx="10515600" cy="3416320"/>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For the first problem, decide who will be the Sage and who will be the Scribe.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While working a problem, the Sage is the only one who can talk. The Scribe must write down only what the Sage says to solve the problem.</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For each problem, swap who is the Sage and who is the Scribe.</a:t>
            </a:r>
          </a:p>
        </p:txBody>
      </p:sp>
      <p:pic>
        <p:nvPicPr>
          <p:cNvPr id="9" name="image17.png" descr="Icon&#10;&#10;Description automatically generated">
            <a:extLst>
              <a:ext uri="{FF2B5EF4-FFF2-40B4-BE49-F238E27FC236}">
                <a16:creationId xmlns:a16="http://schemas.microsoft.com/office/drawing/2014/main" id="{8D89BE07-05F7-7245-8DB6-5797AE3B222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0164" cy="750164"/>
          </a:xfrm>
          <a:prstGeom prst="rect">
            <a:avLst/>
          </a:prstGeom>
          <a:ln/>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D0EC7730-B096-4744-97BB-DF1AD60A5125}"/>
                  </a:ext>
                </a:extLst>
              </p:cNvPr>
              <p:cNvGraphicFramePr>
                <a:graphicFrameLocks noGrp="1"/>
              </p:cNvGraphicFramePr>
              <p:nvPr>
                <p:extLst>
                  <p:ext uri="{D42A27DB-BD31-4B8C-83A1-F6EECF244321}">
                    <p14:modId xmlns:p14="http://schemas.microsoft.com/office/powerpoint/2010/main" val="3381872420"/>
                  </p:ext>
                </p:extLst>
              </p:nvPr>
            </p:nvGraphicFramePr>
            <p:xfrm>
              <a:off x="2073700" y="553796"/>
              <a:ext cx="8280000" cy="5220000"/>
            </p:xfrm>
            <a:graphic>
              <a:graphicData uri="http://schemas.openxmlformats.org/drawingml/2006/table">
                <a:tbl>
                  <a:tblPr firstRow="1" firstCol="1" bandRow="1"/>
                  <a:tblGrid>
                    <a:gridCol w="3600000">
                      <a:extLst>
                        <a:ext uri="{9D8B030D-6E8A-4147-A177-3AD203B41FA5}">
                          <a16:colId xmlns:a16="http://schemas.microsoft.com/office/drawing/2014/main" val="633402122"/>
                        </a:ext>
                      </a:extLst>
                    </a:gridCol>
                    <a:gridCol w="4680000">
                      <a:extLst>
                        <a:ext uri="{9D8B030D-6E8A-4147-A177-3AD203B41FA5}">
                          <a16:colId xmlns:a16="http://schemas.microsoft.com/office/drawing/2014/main" val="1091673639"/>
                        </a:ext>
                      </a:extLst>
                    </a:gridCol>
                  </a:tblGrid>
                  <a:tr h="522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A</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 lawn sprinkler sprays water in a circle with a radius of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6.27</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feet (ft).</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How much of the lawn will be watered from the sprinkler? Use </a:t>
                          </a: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for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𝜋</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465182"/>
                      </a:ext>
                    </a:extLst>
                  </a:tr>
                </a:tbl>
              </a:graphicData>
            </a:graphic>
          </p:graphicFrame>
        </mc:Choice>
        <mc:Fallback xmlns="">
          <p:graphicFrame>
            <p:nvGraphicFramePr>
              <p:cNvPr id="7" name="Table 6">
                <a:extLst>
                  <a:ext uri="{FF2B5EF4-FFF2-40B4-BE49-F238E27FC236}">
                    <a16:creationId xmlns:a16="http://schemas.microsoft.com/office/drawing/2014/main" id="{D0EC7730-B096-4744-97BB-DF1AD60A5125}"/>
                  </a:ext>
                </a:extLst>
              </p:cNvPr>
              <p:cNvGraphicFramePr>
                <a:graphicFrameLocks noGrp="1"/>
              </p:cNvGraphicFramePr>
              <p:nvPr>
                <p:extLst>
                  <p:ext uri="{D42A27DB-BD31-4B8C-83A1-F6EECF244321}">
                    <p14:modId xmlns:p14="http://schemas.microsoft.com/office/powerpoint/2010/main" val="3381872420"/>
                  </p:ext>
                </p:extLst>
              </p:nvPr>
            </p:nvGraphicFramePr>
            <p:xfrm>
              <a:off x="2073700" y="553796"/>
              <a:ext cx="8280000" cy="5220000"/>
            </p:xfrm>
            <a:graphic>
              <a:graphicData uri="http://schemas.openxmlformats.org/drawingml/2006/table">
                <a:tbl>
                  <a:tblPr firstRow="1" firstCol="1" bandRow="1"/>
                  <a:tblGrid>
                    <a:gridCol w="3600000">
                      <a:extLst>
                        <a:ext uri="{9D8B030D-6E8A-4147-A177-3AD203B41FA5}">
                          <a16:colId xmlns:a16="http://schemas.microsoft.com/office/drawing/2014/main" val="633402122"/>
                        </a:ext>
                      </a:extLst>
                    </a:gridCol>
                    <a:gridCol w="4680000">
                      <a:extLst>
                        <a:ext uri="{9D8B030D-6E8A-4147-A177-3AD203B41FA5}">
                          <a16:colId xmlns:a16="http://schemas.microsoft.com/office/drawing/2014/main" val="1091673639"/>
                        </a:ext>
                      </a:extLst>
                    </a:gridCol>
                  </a:tblGrid>
                  <a:tr h="522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A</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77236" t="-728" r="-271" b="-485"/>
                          </a:stretch>
                        </a:blipFill>
                      </a:tcPr>
                    </a:tc>
                    <a:extLst>
                      <a:ext uri="{0D108BD9-81ED-4DB2-BD59-A6C34878D82A}">
                        <a16:rowId xmlns:a16="http://schemas.microsoft.com/office/drawing/2014/main" val="3872465182"/>
                      </a:ext>
                    </a:extLst>
                  </a:tr>
                </a:tbl>
              </a:graphicData>
            </a:graphic>
          </p:graphicFrame>
        </mc:Fallback>
      </mc:AlternateContent>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pic>
        <p:nvPicPr>
          <p:cNvPr id="13" name="Picture 12" descr="Garden Sprinkler">
            <a:extLst>
              <a:ext uri="{FF2B5EF4-FFF2-40B4-BE49-F238E27FC236}">
                <a16:creationId xmlns:a16="http://schemas.microsoft.com/office/drawing/2014/main" id="{06154976-AC4C-5A44-B51A-05D52B2BB872}"/>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bwMode="auto">
          <a:xfrm>
            <a:off x="5875704" y="1464260"/>
            <a:ext cx="4254853" cy="2829949"/>
          </a:xfrm>
          <a:prstGeom prst="rect">
            <a:avLst/>
          </a:prstGeom>
          <a:noFill/>
          <a:ln>
            <a:noFill/>
          </a:ln>
        </p:spPr>
      </p:pic>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363A363-8F14-1642-BC73-D3F99C15D6E2}"/>
                  </a:ext>
                </a:extLst>
              </p:cNvPr>
              <p:cNvGraphicFramePr>
                <a:graphicFrameLocks noGrp="1"/>
              </p:cNvGraphicFramePr>
              <p:nvPr>
                <p:extLst>
                  <p:ext uri="{D42A27DB-BD31-4B8C-83A1-F6EECF244321}">
                    <p14:modId xmlns:p14="http://schemas.microsoft.com/office/powerpoint/2010/main" val="3804190349"/>
                  </p:ext>
                </p:extLst>
              </p:nvPr>
            </p:nvGraphicFramePr>
            <p:xfrm>
              <a:off x="2076605" y="554360"/>
              <a:ext cx="8280000" cy="5400000"/>
            </p:xfrm>
            <a:graphic>
              <a:graphicData uri="http://schemas.openxmlformats.org/drawingml/2006/table">
                <a:tbl>
                  <a:tblPr firstRow="1" firstCol="1" bandRow="1"/>
                  <a:tblGrid>
                    <a:gridCol w="3600000">
                      <a:extLst>
                        <a:ext uri="{9D8B030D-6E8A-4147-A177-3AD203B41FA5}">
                          <a16:colId xmlns:a16="http://schemas.microsoft.com/office/drawing/2014/main" val="2446906024"/>
                        </a:ext>
                      </a:extLst>
                    </a:gridCol>
                    <a:gridCol w="4680000">
                      <a:extLst>
                        <a:ext uri="{9D8B030D-6E8A-4147-A177-3AD203B41FA5}">
                          <a16:colId xmlns:a16="http://schemas.microsoft.com/office/drawing/2014/main" val="266741638"/>
                        </a:ext>
                      </a:extLst>
                    </a:gridCol>
                  </a:tblGrid>
                  <a:tr h="540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B</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Felicia has a circular rug that measures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m:t>
                                  </m:r>
                                </m:den>
                              </m:f>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feet (ft) from the center to the edge of the rug.</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PH"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Felicia needs to replace the fringe on the edge of the rug after her dog chewed it. How much fringe does Felicia need to buy? Use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3.14</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for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𝜋</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7938501"/>
                      </a:ext>
                    </a:extLst>
                  </a:tr>
                </a:tbl>
              </a:graphicData>
            </a:graphic>
          </p:graphicFrame>
        </mc:Choice>
        <mc:Fallback xmlns="">
          <p:graphicFrame>
            <p:nvGraphicFramePr>
              <p:cNvPr id="3" name="Table 2">
                <a:extLst>
                  <a:ext uri="{FF2B5EF4-FFF2-40B4-BE49-F238E27FC236}">
                    <a16:creationId xmlns:a16="http://schemas.microsoft.com/office/drawing/2014/main" id="{0363A363-8F14-1642-BC73-D3F99C15D6E2}"/>
                  </a:ext>
                </a:extLst>
              </p:cNvPr>
              <p:cNvGraphicFramePr>
                <a:graphicFrameLocks noGrp="1"/>
              </p:cNvGraphicFramePr>
              <p:nvPr>
                <p:extLst>
                  <p:ext uri="{D42A27DB-BD31-4B8C-83A1-F6EECF244321}">
                    <p14:modId xmlns:p14="http://schemas.microsoft.com/office/powerpoint/2010/main" val="3804190349"/>
                  </p:ext>
                </p:extLst>
              </p:nvPr>
            </p:nvGraphicFramePr>
            <p:xfrm>
              <a:off x="2076605" y="554360"/>
              <a:ext cx="8280000" cy="5400000"/>
            </p:xfrm>
            <a:graphic>
              <a:graphicData uri="http://schemas.openxmlformats.org/drawingml/2006/table">
                <a:tbl>
                  <a:tblPr firstRow="1" firstCol="1" bandRow="1"/>
                  <a:tblGrid>
                    <a:gridCol w="3600000">
                      <a:extLst>
                        <a:ext uri="{9D8B030D-6E8A-4147-A177-3AD203B41FA5}">
                          <a16:colId xmlns:a16="http://schemas.microsoft.com/office/drawing/2014/main" val="2446906024"/>
                        </a:ext>
                      </a:extLst>
                    </a:gridCol>
                    <a:gridCol w="4680000">
                      <a:extLst>
                        <a:ext uri="{9D8B030D-6E8A-4147-A177-3AD203B41FA5}">
                          <a16:colId xmlns:a16="http://schemas.microsoft.com/office/drawing/2014/main" val="266741638"/>
                        </a:ext>
                      </a:extLst>
                    </a:gridCol>
                  </a:tblGrid>
                  <a:tr h="540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B</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7236" t="-704" r="-542" b="-1878"/>
                          </a:stretch>
                        </a:blipFill>
                      </a:tcPr>
                    </a:tc>
                    <a:extLst>
                      <a:ext uri="{0D108BD9-81ED-4DB2-BD59-A6C34878D82A}">
                        <a16:rowId xmlns:a16="http://schemas.microsoft.com/office/drawing/2014/main" val="3897938501"/>
                      </a:ext>
                    </a:extLst>
                  </a:tr>
                </a:tbl>
              </a:graphicData>
            </a:graphic>
          </p:graphicFrame>
        </mc:Fallback>
      </mc:AlternateContent>
      <p:pic>
        <p:nvPicPr>
          <p:cNvPr id="9" name="Picture 8">
            <a:extLst>
              <a:ext uri="{FF2B5EF4-FFF2-40B4-BE49-F238E27FC236}">
                <a16:creationId xmlns:a16="http://schemas.microsoft.com/office/drawing/2014/main" id="{84471709-F680-2345-87FB-541004879E0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auto">
          <a:xfrm>
            <a:off x="6336788" y="1763942"/>
            <a:ext cx="2826490" cy="2504787"/>
          </a:xfrm>
          <a:prstGeom prst="rect">
            <a:avLst/>
          </a:prstGeom>
          <a:noFill/>
          <a:ln>
            <a:noFill/>
          </a:ln>
        </p:spPr>
      </p:pic>
    </p:spTree>
    <p:extLst>
      <p:ext uri="{BB962C8B-B14F-4D97-AF65-F5344CB8AC3E}">
        <p14:creationId xmlns:p14="http://schemas.microsoft.com/office/powerpoint/2010/main" val="329633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797DC5B-802E-8E48-8CF2-D29F4777E55E}"/>
                  </a:ext>
                </a:extLst>
              </p:cNvPr>
              <p:cNvGraphicFramePr>
                <a:graphicFrameLocks noGrp="1"/>
              </p:cNvGraphicFramePr>
              <p:nvPr>
                <p:extLst>
                  <p:ext uri="{D42A27DB-BD31-4B8C-83A1-F6EECF244321}">
                    <p14:modId xmlns:p14="http://schemas.microsoft.com/office/powerpoint/2010/main" val="1652802286"/>
                  </p:ext>
                </p:extLst>
              </p:nvPr>
            </p:nvGraphicFramePr>
            <p:xfrm>
              <a:off x="2076605" y="552247"/>
              <a:ext cx="8280000" cy="5400000"/>
            </p:xfrm>
            <a:graphic>
              <a:graphicData uri="http://schemas.openxmlformats.org/drawingml/2006/table">
                <a:tbl>
                  <a:tblPr firstRow="1" firstCol="1" bandRow="1"/>
                  <a:tblGrid>
                    <a:gridCol w="3600000">
                      <a:extLst>
                        <a:ext uri="{9D8B030D-6E8A-4147-A177-3AD203B41FA5}">
                          <a16:colId xmlns:a16="http://schemas.microsoft.com/office/drawing/2014/main" val="4282462527"/>
                        </a:ext>
                      </a:extLst>
                    </a:gridCol>
                    <a:gridCol w="4680000">
                      <a:extLst>
                        <a:ext uri="{9D8B030D-6E8A-4147-A177-3AD203B41FA5}">
                          <a16:colId xmlns:a16="http://schemas.microsoft.com/office/drawing/2014/main" val="4247197724"/>
                        </a:ext>
                      </a:extLst>
                    </a:gridCol>
                  </a:tblGrid>
                  <a:tr h="540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C</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The Wheel at ICON Park is approximately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400</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feet (ft) tall.</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If a person takes one trip around the Ferris wheel, about how far will the person have traveled? Use </a:t>
                          </a: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for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𝜋</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9476062"/>
                      </a:ext>
                    </a:extLst>
                  </a:tr>
                </a:tbl>
              </a:graphicData>
            </a:graphic>
          </p:graphicFrame>
        </mc:Choice>
        <mc:Fallback xmlns="">
          <p:graphicFrame>
            <p:nvGraphicFramePr>
              <p:cNvPr id="4" name="Table 3">
                <a:extLst>
                  <a:ext uri="{FF2B5EF4-FFF2-40B4-BE49-F238E27FC236}">
                    <a16:creationId xmlns:a16="http://schemas.microsoft.com/office/drawing/2014/main" id="{9797DC5B-802E-8E48-8CF2-D29F4777E55E}"/>
                  </a:ext>
                </a:extLst>
              </p:cNvPr>
              <p:cNvGraphicFramePr>
                <a:graphicFrameLocks noGrp="1"/>
              </p:cNvGraphicFramePr>
              <p:nvPr>
                <p:extLst>
                  <p:ext uri="{D42A27DB-BD31-4B8C-83A1-F6EECF244321}">
                    <p14:modId xmlns:p14="http://schemas.microsoft.com/office/powerpoint/2010/main" val="1652802286"/>
                  </p:ext>
                </p:extLst>
              </p:nvPr>
            </p:nvGraphicFramePr>
            <p:xfrm>
              <a:off x="2076605" y="552247"/>
              <a:ext cx="8280000" cy="5400000"/>
            </p:xfrm>
            <a:graphic>
              <a:graphicData uri="http://schemas.openxmlformats.org/drawingml/2006/table">
                <a:tbl>
                  <a:tblPr firstRow="1" firstCol="1" bandRow="1"/>
                  <a:tblGrid>
                    <a:gridCol w="3600000">
                      <a:extLst>
                        <a:ext uri="{9D8B030D-6E8A-4147-A177-3AD203B41FA5}">
                          <a16:colId xmlns:a16="http://schemas.microsoft.com/office/drawing/2014/main" val="4282462527"/>
                        </a:ext>
                      </a:extLst>
                    </a:gridCol>
                    <a:gridCol w="4680000">
                      <a:extLst>
                        <a:ext uri="{9D8B030D-6E8A-4147-A177-3AD203B41FA5}">
                          <a16:colId xmlns:a16="http://schemas.microsoft.com/office/drawing/2014/main" val="4247197724"/>
                        </a:ext>
                      </a:extLst>
                    </a:gridCol>
                  </a:tblGrid>
                  <a:tr h="540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C</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7236" t="-704" r="-542" b="-704"/>
                          </a:stretch>
                        </a:blipFill>
                      </a:tcPr>
                    </a:tc>
                    <a:extLst>
                      <a:ext uri="{0D108BD9-81ED-4DB2-BD59-A6C34878D82A}">
                        <a16:rowId xmlns:a16="http://schemas.microsoft.com/office/drawing/2014/main" val="1009476062"/>
                      </a:ext>
                    </a:extLst>
                  </a:tr>
                </a:tbl>
              </a:graphicData>
            </a:graphic>
          </p:graphicFrame>
        </mc:Fallback>
      </mc:AlternateContent>
      <p:pic>
        <p:nvPicPr>
          <p:cNvPr id="10" name="Picture 9" descr="A ferris wheel against a cloudy sky&#10;&#10;Description automatically generated with medium confidence">
            <a:extLst>
              <a:ext uri="{FF2B5EF4-FFF2-40B4-BE49-F238E27FC236}">
                <a16:creationId xmlns:a16="http://schemas.microsoft.com/office/drawing/2014/main" id="{C982821B-6CDF-E745-BF6B-85CB661D021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25968" y="1407423"/>
            <a:ext cx="2979383" cy="2979383"/>
          </a:xfrm>
          <a:prstGeom prst="rect">
            <a:avLst/>
          </a:prstGeom>
        </p:spPr>
      </p:pic>
    </p:spTree>
    <p:extLst>
      <p:ext uri="{BB962C8B-B14F-4D97-AF65-F5344CB8AC3E}">
        <p14:creationId xmlns:p14="http://schemas.microsoft.com/office/powerpoint/2010/main" val="3132672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2FBEDB82-A903-504D-B3EC-EC25F0479C2A}"/>
                  </a:ext>
                </a:extLst>
              </p:cNvPr>
              <p:cNvGraphicFramePr>
                <a:graphicFrameLocks noGrp="1"/>
              </p:cNvGraphicFramePr>
              <p:nvPr>
                <p:extLst>
                  <p:ext uri="{D42A27DB-BD31-4B8C-83A1-F6EECF244321}">
                    <p14:modId xmlns:p14="http://schemas.microsoft.com/office/powerpoint/2010/main" val="2990107674"/>
                  </p:ext>
                </p:extLst>
              </p:nvPr>
            </p:nvGraphicFramePr>
            <p:xfrm>
              <a:off x="2076606" y="550330"/>
              <a:ext cx="8280000" cy="5577840"/>
            </p:xfrm>
            <a:graphic>
              <a:graphicData uri="http://schemas.openxmlformats.org/drawingml/2006/table">
                <a:tbl>
                  <a:tblPr firstRow="1" firstCol="1" bandRow="1"/>
                  <a:tblGrid>
                    <a:gridCol w="3600000">
                      <a:extLst>
                        <a:ext uri="{9D8B030D-6E8A-4147-A177-3AD203B41FA5}">
                          <a16:colId xmlns:a16="http://schemas.microsoft.com/office/drawing/2014/main" val="1664460429"/>
                        </a:ext>
                      </a:extLst>
                    </a:gridCol>
                    <a:gridCol w="4680000">
                      <a:extLst>
                        <a:ext uri="{9D8B030D-6E8A-4147-A177-3AD203B41FA5}">
                          <a16:colId xmlns:a16="http://schemas.microsoft.com/office/drawing/2014/main" val="4018026038"/>
                        </a:ext>
                      </a:extLst>
                    </a:gridCol>
                  </a:tblGrid>
                  <a:tr h="5400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D</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William is painting a large image of the full moon in the image below on his wall. He wants the painting of the full moon to cover his wall from the floor to the ceiling.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en-US" sz="2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If the wall is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3.048</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meters (m) tall, how much of the wall will be covered in paint. Use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3.14</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for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𝜋</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11026"/>
                      </a:ext>
                    </a:extLst>
                  </a:tr>
                </a:tbl>
              </a:graphicData>
            </a:graphic>
          </p:graphicFrame>
        </mc:Choice>
        <mc:Fallback xmlns="">
          <p:graphicFrame>
            <p:nvGraphicFramePr>
              <p:cNvPr id="3" name="Table 2">
                <a:extLst>
                  <a:ext uri="{FF2B5EF4-FFF2-40B4-BE49-F238E27FC236}">
                    <a16:creationId xmlns:a16="http://schemas.microsoft.com/office/drawing/2014/main" id="{2FBEDB82-A903-504D-B3EC-EC25F0479C2A}"/>
                  </a:ext>
                </a:extLst>
              </p:cNvPr>
              <p:cNvGraphicFramePr>
                <a:graphicFrameLocks noGrp="1"/>
              </p:cNvGraphicFramePr>
              <p:nvPr>
                <p:extLst>
                  <p:ext uri="{D42A27DB-BD31-4B8C-83A1-F6EECF244321}">
                    <p14:modId xmlns:p14="http://schemas.microsoft.com/office/powerpoint/2010/main" val="2990107674"/>
                  </p:ext>
                </p:extLst>
              </p:nvPr>
            </p:nvGraphicFramePr>
            <p:xfrm>
              <a:off x="2076606" y="550330"/>
              <a:ext cx="8280000" cy="5577840"/>
            </p:xfrm>
            <a:graphic>
              <a:graphicData uri="http://schemas.openxmlformats.org/drawingml/2006/table">
                <a:tbl>
                  <a:tblPr firstRow="1" firstCol="1" bandRow="1"/>
                  <a:tblGrid>
                    <a:gridCol w="3600000">
                      <a:extLst>
                        <a:ext uri="{9D8B030D-6E8A-4147-A177-3AD203B41FA5}">
                          <a16:colId xmlns:a16="http://schemas.microsoft.com/office/drawing/2014/main" val="1664460429"/>
                        </a:ext>
                      </a:extLst>
                    </a:gridCol>
                    <a:gridCol w="4680000">
                      <a:extLst>
                        <a:ext uri="{9D8B030D-6E8A-4147-A177-3AD203B41FA5}">
                          <a16:colId xmlns:a16="http://schemas.microsoft.com/office/drawing/2014/main" val="4018026038"/>
                        </a:ext>
                      </a:extLst>
                    </a:gridCol>
                  </a:tblGrid>
                  <a:tr h="557784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Problem D</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Sage: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Name of Scribe: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____________________</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7236" t="-682" r="-542" b="-2045"/>
                          </a:stretch>
                        </a:blipFill>
                      </a:tcPr>
                    </a:tc>
                    <a:extLst>
                      <a:ext uri="{0D108BD9-81ED-4DB2-BD59-A6C34878D82A}">
                        <a16:rowId xmlns:a16="http://schemas.microsoft.com/office/drawing/2014/main" val="3277911026"/>
                      </a:ext>
                    </a:extLst>
                  </a:tr>
                </a:tbl>
              </a:graphicData>
            </a:graphic>
          </p:graphicFrame>
        </mc:Fallback>
      </mc:AlternateContent>
      <p:pic>
        <p:nvPicPr>
          <p:cNvPr id="9" name="Picture 8">
            <a:extLst>
              <a:ext uri="{FF2B5EF4-FFF2-40B4-BE49-F238E27FC236}">
                <a16:creationId xmlns:a16="http://schemas.microsoft.com/office/drawing/2014/main" id="{3D42FD7F-36BE-5740-836C-53E4202196C0}"/>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rcRect l="19838" r="55857" b="36253"/>
          <a:stretch/>
        </p:blipFill>
        <p:spPr bwMode="auto">
          <a:xfrm>
            <a:off x="6714321" y="2470574"/>
            <a:ext cx="2733040" cy="259913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23335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174</a:t>
            </a:r>
            <a:endParaRPr i="1" dirty="0">
              <a:latin typeface="Calibri"/>
              <a:ea typeface="Calibri"/>
              <a:cs typeface="Calibri"/>
              <a:sym typeface="Calibri"/>
            </a:endParaRPr>
          </a:p>
        </p:txBody>
      </p:sp>
      <p:sp>
        <p:nvSpPr>
          <p:cNvPr id="9" name="Google Shape;313;g104476d1465_1_39">
            <a:extLst>
              <a:ext uri="{FF2B5EF4-FFF2-40B4-BE49-F238E27FC236}">
                <a16:creationId xmlns:a16="http://schemas.microsoft.com/office/drawing/2014/main" id="{023CE51F-3080-7A4F-9345-CFF0AC9E83D0}"/>
              </a:ext>
            </a:extLst>
          </p:cNvPr>
          <p:cNvSpPr txBox="1">
            <a:spLocks/>
          </p:cNvSpPr>
          <p:nvPr/>
        </p:nvSpPr>
        <p:spPr>
          <a:xfrm>
            <a:off x="4087368" y="2766144"/>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dirty="0">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8" name="image16.png" descr="Icon&#10;&#10;Description automatically generated">
            <a:extLst>
              <a:ext uri="{FF2B5EF4-FFF2-40B4-BE49-F238E27FC236}">
                <a16:creationId xmlns:a16="http://schemas.microsoft.com/office/drawing/2014/main" id="{AFCF8C54-C78F-0A4C-839C-DD5B82710E42}"/>
              </a:ext>
            </a:extLst>
          </p:cNvPr>
          <p:cNvPicPr/>
          <p:nvPr/>
        </p:nvPicPr>
        <p:blipFill>
          <a:blip r:embed="rId4"/>
          <a:srcRect/>
          <a:stretch>
            <a:fillRect/>
          </a:stretch>
        </p:blipFill>
        <p:spPr>
          <a:xfrm>
            <a:off x="3054096" y="2852920"/>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41599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9870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4.10.3 Your Turn!</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174</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914400" y="1632183"/>
            <a:ext cx="640035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Yvonne’s company wants to put their logo on frisbees to give away at a convention.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66F1FAA-099F-7442-BCF6-516EB6C8DA4D}"/>
                  </a:ext>
                </a:extLst>
              </p:cNvPr>
              <p:cNvSpPr txBox="1"/>
              <p:nvPr/>
            </p:nvSpPr>
            <p:spPr>
              <a:xfrm>
                <a:off x="914400" y="2925438"/>
                <a:ext cx="10515600" cy="1874103"/>
              </a:xfrm>
              <a:prstGeom prst="rect">
                <a:avLst/>
              </a:prstGeom>
              <a:noFill/>
            </p:spPr>
            <p:txBody>
              <a:bodyPr wrap="square" rtlCol="0">
                <a:spAutoFit/>
              </a:bodyPr>
              <a:lstStyle/>
              <a:p>
                <a:pPr marL="449263"/>
                <a:r>
                  <a:rPr lang="en-US" sz="2400" dirty="0">
                    <a:latin typeface="Verdana" panose="020B0604030504040204" pitchFamily="34" charset="0"/>
                    <a:ea typeface="Verdana" panose="020B0604030504040204" pitchFamily="34" charset="0"/>
                    <a:cs typeface="Verdana" panose="020B0604030504040204" pitchFamily="34" charset="0"/>
                  </a:rPr>
                  <a:t>If each frisbee has a diameter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m:t>
                        </m:r>
                      </m:num>
                      <m:den>
                        <m:r>
                          <a:rPr lang="es-ES" sz="24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centimeters (cm), and the logo can cover the entire top of a frisbee, how much space is available for the logo on each frisbee? Use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22</m:t>
                        </m:r>
                      </m:num>
                      <m:den>
                        <m:r>
                          <a:rPr lang="es-ES" sz="2400" i="1" dirty="0">
                            <a:latin typeface="Cambria Math" panose="02040503050406030204" pitchFamily="18" charset="0"/>
                            <a:ea typeface="Verdana" panose="020B0604030504040204" pitchFamily="34" charset="0"/>
                            <a:cs typeface="Verdana" panose="020B0604030504040204" pitchFamily="34" charset="0"/>
                          </a:rPr>
                          <m:t>7</m:t>
                        </m:r>
                      </m:den>
                    </m:f>
                  </m:oMath>
                </a14:m>
                <a:r>
                  <a:rPr lang="en-US" sz="2400" dirty="0">
                    <a:latin typeface="Verdana" panose="020B0604030504040204" pitchFamily="34" charset="0"/>
                    <a:ea typeface="Verdana" panose="020B0604030504040204" pitchFamily="34" charset="0"/>
                    <a:cs typeface="Verdana" panose="020B0604030504040204" pitchFamily="34" charset="0"/>
                  </a:rPr>
                  <a:t> for 𝜋.</a:t>
                </a:r>
              </a:p>
            </p:txBody>
          </p:sp>
        </mc:Choice>
        <mc:Fallback xmlns="">
          <p:sp>
            <p:nvSpPr>
              <p:cNvPr id="20" name="TextBox 19">
                <a:extLst>
                  <a:ext uri="{FF2B5EF4-FFF2-40B4-BE49-F238E27FC236}">
                    <a16:creationId xmlns:a16="http://schemas.microsoft.com/office/drawing/2014/main" id="{966F1FAA-099F-7442-BCF6-516EB6C8DA4D}"/>
                  </a:ext>
                </a:extLst>
              </p:cNvPr>
              <p:cNvSpPr txBox="1">
                <a:spLocks noRot="1" noChangeAspect="1" noMove="1" noResize="1" noEditPoints="1" noAdjustHandles="1" noChangeArrowheads="1" noChangeShapeType="1" noTextEdit="1"/>
              </p:cNvSpPr>
              <p:nvPr/>
            </p:nvSpPr>
            <p:spPr>
              <a:xfrm>
                <a:off x="914400" y="2925438"/>
                <a:ext cx="10515600" cy="1874103"/>
              </a:xfrm>
              <a:prstGeom prst="rect">
                <a:avLst/>
              </a:prstGeom>
              <a:blipFill>
                <a:blip r:embed="rId4"/>
                <a:stretch>
                  <a:fillRect r="-844"/>
                </a:stretch>
              </a:blipFill>
            </p:spPr>
            <p:txBody>
              <a:bodyPr/>
              <a:lstStyle/>
              <a:p>
                <a:r>
                  <a:rPr lang="en-US">
                    <a:noFill/>
                  </a:rPr>
                  <a:t> </a:t>
                </a:r>
              </a:p>
            </p:txBody>
          </p:sp>
        </mc:Fallback>
      </mc:AlternateContent>
      <p:pic>
        <p:nvPicPr>
          <p:cNvPr id="27" name="image16.png" descr="Icon&#10;&#10;Description automatically generated">
            <a:extLst>
              <a:ext uri="{FF2B5EF4-FFF2-40B4-BE49-F238E27FC236}">
                <a16:creationId xmlns:a16="http://schemas.microsoft.com/office/drawing/2014/main" id="{D2530749-B2EC-BD4C-80D4-0CEF5E1EF4AC}"/>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50164" cy="750164"/>
          </a:xfrm>
          <a:prstGeom prst="rect">
            <a:avLst/>
          </a:prstGeom>
          <a:ln/>
        </p:spPr>
      </p:pic>
      <p:sp>
        <p:nvSpPr>
          <p:cNvPr id="29" name="Oval 28">
            <a:extLst>
              <a:ext uri="{FF2B5EF4-FFF2-40B4-BE49-F238E27FC236}">
                <a16:creationId xmlns:a16="http://schemas.microsoft.com/office/drawing/2014/main" id="{BB00E8D2-ED04-AE43-8640-EBCD88C340B5}"/>
              </a:ext>
            </a:extLst>
          </p:cNvPr>
          <p:cNvSpPr>
            <a:spLocks noChangeAspect="1"/>
          </p:cNvSpPr>
          <p:nvPr/>
        </p:nvSpPr>
        <p:spPr>
          <a:xfrm>
            <a:off x="7823546" y="987744"/>
            <a:ext cx="1819275" cy="1817370"/>
          </a:xfrm>
          <a:prstGeom prst="ellipse">
            <a:avLst/>
          </a:prstGeom>
          <a:solidFill>
            <a:srgbClr val="1F497D">
              <a:lumMod val="20000"/>
              <a:lumOff val="80000"/>
            </a:srgbClr>
          </a:solid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buClrTx/>
              <a:defRPr/>
            </a:pPr>
            <a:r>
              <a:rPr lang="en-US" sz="2600" dirty="0">
                <a:latin typeface="Cambria"/>
                <a:ea typeface="Times New Roman" panose="02020603050405020304" pitchFamily="18" charset="0"/>
                <a:cs typeface="Times New Roman" panose="02020603050405020304" pitchFamily="18" charset="0"/>
              </a:rPr>
              <a:t>YOUR LOGO HERE</a:t>
            </a:r>
            <a:endParaRPr lang="x-none" sz="1200" dirty="0">
              <a:solidFill>
                <a:sysClr val="window" lastClr="FFFFFF"/>
              </a:solidFill>
              <a:latin typeface="Cambria"/>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168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914399" y="417101"/>
                <a:ext cx="7099443" cy="2461892"/>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 jeweler is asked to wrap a rare coin with gold braid to make a pendant.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9263"/>
                <a:r>
                  <a:rPr lang="en-US" sz="2400" dirty="0">
                    <a:latin typeface="Verdana" panose="020B0604030504040204" pitchFamily="34" charset="0"/>
                    <a:ea typeface="Times New Roman" panose="02020603050405020304" pitchFamily="18" charset="0"/>
                    <a:cs typeface="Times New Roman" panose="02020603050405020304" pitchFamily="18" charset="0"/>
                  </a:rPr>
                  <a:t>If the coin has a diameter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0.75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 (in.), what is the length of the gold braid the jeweler will need? Use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22</m:t>
                        </m:r>
                      </m:num>
                      <m:den>
                        <m:r>
                          <a:rPr lang="es-ES" sz="2400" i="1" dirty="0">
                            <a:latin typeface="Cambria Math" panose="02040503050406030204" pitchFamily="18" charset="0"/>
                            <a:ea typeface="Verdana" panose="020B0604030504040204" pitchFamily="34" charset="0"/>
                            <a:cs typeface="Verdana" panose="020B0604030504040204" pitchFamily="34" charset="0"/>
                          </a:rPr>
                          <m:t>7</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for 𝜋.</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914399" y="417101"/>
                <a:ext cx="7099443" cy="2461892"/>
              </a:xfrm>
              <a:prstGeom prst="rect">
                <a:avLst/>
              </a:prstGeom>
              <a:blipFill>
                <a:blip r:embed="rId4"/>
                <a:stretch>
                  <a:fillRect l="-1429" t="-2051" r="-536" b="-2051"/>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B804E030-FACB-A14C-905E-E5ED9F4D1C2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77186" y="417101"/>
            <a:ext cx="1875790" cy="1871980"/>
          </a:xfrm>
          <a:prstGeom prst="rect">
            <a:avLst/>
          </a:prstGeom>
        </p:spPr>
      </p:pic>
    </p:spTree>
    <p:extLst>
      <p:ext uri="{BB962C8B-B14F-4D97-AF65-F5344CB8AC3E}">
        <p14:creationId xmlns:p14="http://schemas.microsoft.com/office/powerpoint/2010/main" val="127272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175</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175</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7332" y="279372"/>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4.10.4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graphicFrame>
        <p:nvGraphicFramePr>
          <p:cNvPr id="4" name="Table 3">
            <a:extLst>
              <a:ext uri="{FF2B5EF4-FFF2-40B4-BE49-F238E27FC236}">
                <a16:creationId xmlns:a16="http://schemas.microsoft.com/office/drawing/2014/main" id="{250AA978-AA14-7B46-B2B1-EC77096AACAE}"/>
              </a:ext>
            </a:extLst>
          </p:cNvPr>
          <p:cNvGraphicFramePr>
            <a:graphicFrameLocks noGrp="1"/>
          </p:cNvGraphicFramePr>
          <p:nvPr>
            <p:extLst>
              <p:ext uri="{D42A27DB-BD31-4B8C-83A1-F6EECF244321}">
                <p14:modId xmlns:p14="http://schemas.microsoft.com/office/powerpoint/2010/main" val="1983323343"/>
              </p:ext>
            </p:extLst>
          </p:nvPr>
        </p:nvGraphicFramePr>
        <p:xfrm>
          <a:off x="2075583" y="1038657"/>
          <a:ext cx="8280000" cy="5110480"/>
        </p:xfrm>
        <a:graphic>
          <a:graphicData uri="http://schemas.openxmlformats.org/drawingml/2006/table">
            <a:tbl>
              <a:tblPr bandRow="1"/>
              <a:tblGrid>
                <a:gridCol w="4140000">
                  <a:extLst>
                    <a:ext uri="{9D8B030D-6E8A-4147-A177-3AD203B41FA5}">
                      <a16:colId xmlns:a16="http://schemas.microsoft.com/office/drawing/2014/main" val="229914995"/>
                    </a:ext>
                  </a:extLst>
                </a:gridCol>
                <a:gridCol w="4140000">
                  <a:extLst>
                    <a:ext uri="{9D8B030D-6E8A-4147-A177-3AD203B41FA5}">
                      <a16:colId xmlns:a16="http://schemas.microsoft.com/office/drawing/2014/main" val="4022386409"/>
                    </a:ext>
                  </a:extLst>
                </a:gridCol>
              </a:tblGrid>
              <a:tr h="1883735">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 deserve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for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9811373"/>
                  </a:ext>
                </a:extLst>
              </a:tr>
              <a:tr h="2110205">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by doing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4116595"/>
                  </a:ext>
                </a:extLst>
              </a:tr>
            </a:tbl>
          </a:graphicData>
        </a:graphic>
      </p:graphicFrame>
      <p:pic>
        <p:nvPicPr>
          <p:cNvPr id="11" name="Picture 10" descr="A picture containing person, person&#10;&#10;Description automatically generated">
            <a:extLst>
              <a:ext uri="{FF2B5EF4-FFF2-40B4-BE49-F238E27FC236}">
                <a16:creationId xmlns:a16="http://schemas.microsoft.com/office/drawing/2014/main" id="{C7191A5C-C718-B64D-A50B-5E4224529A1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62055" y="1459583"/>
            <a:ext cx="2484973" cy="1718754"/>
          </a:xfrm>
          <a:prstGeom prst="rect">
            <a:avLst/>
          </a:prstGeom>
        </p:spPr>
      </p:pic>
      <p:pic>
        <p:nvPicPr>
          <p:cNvPr id="12" name="Picture 11" descr="Man Person Climb · Free photo on Pixabay">
            <a:extLst>
              <a:ext uri="{FF2B5EF4-FFF2-40B4-BE49-F238E27FC236}">
                <a16:creationId xmlns:a16="http://schemas.microsoft.com/office/drawing/2014/main" id="{37CB0DC4-214A-9E4A-9DDC-21E824301A81}"/>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3459947" y="3998621"/>
            <a:ext cx="1289186" cy="1718754"/>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175</a:t>
            </a:r>
            <a:endParaRPr i="1" dirty="0">
              <a:latin typeface="Calibri"/>
              <a:ea typeface="Calibri"/>
              <a:cs typeface="Calibri"/>
              <a:sym typeface="Calibri"/>
            </a:endParaRPr>
          </a:p>
        </p:txBody>
      </p:sp>
      <p:graphicFrame>
        <p:nvGraphicFramePr>
          <p:cNvPr id="8" name="Table 7"/>
          <p:cNvGraphicFramePr>
            <a:graphicFrameLocks noGrp="1"/>
          </p:cNvGraphicFramePr>
          <p:nvPr>
            <p:extLst>
              <p:ext uri="{D42A27DB-BD31-4B8C-83A1-F6EECF244321}">
                <p14:modId xmlns:p14="http://schemas.microsoft.com/office/powerpoint/2010/main" val="4062844804"/>
              </p:ext>
            </p:extLst>
          </p:nvPr>
        </p:nvGraphicFramePr>
        <p:xfrm>
          <a:off x="2078051" y="417101"/>
          <a:ext cx="8280000" cy="2555240"/>
        </p:xfrm>
        <a:graphic>
          <a:graphicData uri="http://schemas.openxmlformats.org/drawingml/2006/table">
            <a:tbl>
              <a:tblPr bandRow="1"/>
              <a:tblGrid>
                <a:gridCol w="4140000">
                  <a:extLst>
                    <a:ext uri="{9D8B030D-6E8A-4147-A177-3AD203B41FA5}">
                      <a16:colId xmlns:a16="http://schemas.microsoft.com/office/drawing/2014/main" val="20000"/>
                    </a:ext>
                  </a:extLst>
                </a:gridCol>
                <a:gridCol w="4140000">
                  <a:extLst>
                    <a:ext uri="{9D8B030D-6E8A-4147-A177-3AD203B41FA5}">
                      <a16:colId xmlns:a16="http://schemas.microsoft.com/office/drawing/2014/main" val="20001"/>
                    </a:ext>
                  </a:extLst>
                </a:gridCol>
              </a:tblGrid>
              <a:tr h="1330768">
                <a:tc>
                  <a:txBody>
                    <a:bodyPr/>
                    <a:lstStyle/>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Today I was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1000"/>
                        </a:spcAft>
                      </a:pP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by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9" name="image25.png" descr="A picture containing text, sign, sky, outdoor&#10;&#10;Description automatically generated">
            <a:extLst>
              <a:ext uri="{FF2B5EF4-FFF2-40B4-BE49-F238E27FC236}">
                <a16:creationId xmlns:a16="http://schemas.microsoft.com/office/drawing/2014/main" id="{3D1BBAC5-267C-754E-89C3-FCBFDAFE5A7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826660" y="872437"/>
            <a:ext cx="2590631" cy="1718754"/>
          </a:xfrm>
          <a:prstGeom prst="rect">
            <a:avLst/>
          </a:prstGeom>
          <a:ln/>
        </p:spPr>
      </p:pic>
    </p:spTree>
    <p:extLst>
      <p:ext uri="{BB962C8B-B14F-4D97-AF65-F5344CB8AC3E}">
        <p14:creationId xmlns:p14="http://schemas.microsoft.com/office/powerpoint/2010/main" val="13268291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3084</TotalTime>
  <Words>863</Words>
  <Application>Microsoft Office PowerPoint</Application>
  <PresentationFormat>Widescreen</PresentationFormat>
  <Paragraphs>189</Paragraphs>
  <Slides>18</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Verdana</vt:lpstr>
      <vt:lpstr>Cutive</vt:lpstr>
      <vt:lpstr>Wingdings</vt:lpstr>
      <vt:lpstr>Century Gothic</vt:lpstr>
      <vt:lpstr>Calibri</vt:lpstr>
      <vt:lpstr>Arial Black</vt:lpstr>
      <vt:lpstr>Cambria Math</vt:lpstr>
      <vt:lpstr>Arial</vt:lpstr>
      <vt:lpstr>Cambria</vt:lpstr>
      <vt:lpstr>1_Office Theme</vt:lpstr>
      <vt:lpstr>7th Grade Math  Unit 4, Lesson 10  Using Circumference  and Area to Solve Problems  Volume 1, pg. 171  </vt:lpstr>
      <vt:lpstr>Benchmarks</vt:lpstr>
      <vt:lpstr>PowerPoint Presentation</vt:lpstr>
      <vt:lpstr>PowerPoint Presentation</vt:lpstr>
      <vt:lpstr>Warm-Up</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29</cp:revision>
  <dcterms:created xsi:type="dcterms:W3CDTF">2015-03-17T18:51:18Z</dcterms:created>
  <dcterms:modified xsi:type="dcterms:W3CDTF">2022-06-07T19:36:13Z</dcterms:modified>
</cp:coreProperties>
</file>