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7"/>
  </p:notesMasterIdLst>
  <p:sldIdLst>
    <p:sldId id="256" r:id="rId2"/>
    <p:sldId id="257" r:id="rId3"/>
    <p:sldId id="345" r:id="rId4"/>
    <p:sldId id="286" r:id="rId5"/>
    <p:sldId id="261" r:id="rId6"/>
    <p:sldId id="287" r:id="rId7"/>
    <p:sldId id="289" r:id="rId8"/>
    <p:sldId id="290" r:id="rId9"/>
    <p:sldId id="308" r:id="rId10"/>
    <p:sldId id="314" r:id="rId11"/>
    <p:sldId id="315" r:id="rId12"/>
    <p:sldId id="316" r:id="rId13"/>
    <p:sldId id="339" r:id="rId14"/>
    <p:sldId id="340" r:id="rId15"/>
    <p:sldId id="341" r:id="rId16"/>
    <p:sldId id="384" r:id="rId17"/>
    <p:sldId id="385" r:id="rId18"/>
    <p:sldId id="371" r:id="rId19"/>
    <p:sldId id="372" r:id="rId20"/>
    <p:sldId id="373" r:id="rId21"/>
    <p:sldId id="374" r:id="rId22"/>
    <p:sldId id="375" r:id="rId23"/>
    <p:sldId id="376" r:id="rId24"/>
    <p:sldId id="386" r:id="rId25"/>
    <p:sldId id="377" r:id="rId26"/>
    <p:sldId id="378" r:id="rId27"/>
    <p:sldId id="379" r:id="rId28"/>
    <p:sldId id="380" r:id="rId29"/>
    <p:sldId id="381" r:id="rId30"/>
    <p:sldId id="382" r:id="rId31"/>
    <p:sldId id="387" r:id="rId32"/>
    <p:sldId id="388" r:id="rId33"/>
    <p:sldId id="389" r:id="rId34"/>
    <p:sldId id="306" r:id="rId35"/>
    <p:sldId id="307" r:id="rId36"/>
  </p:sldIdLst>
  <p:sldSz cx="12192000" cy="6858000"/>
  <p:notesSz cx="6858000" cy="9144000"/>
  <p:embeddedFontLst>
    <p:embeddedFont>
      <p:font typeface="Arial Black" panose="020B0604020202020204" pitchFamily="34" charset="0"/>
      <p:bold r:id="rId38"/>
    </p:embeddedFont>
    <p:embeddedFont>
      <p:font typeface="Calibri" panose="020F0502020204030204" pitchFamily="34" charset="0"/>
      <p:regular r:id="rId39"/>
      <p:bold r:id="rId40"/>
      <p:italic r:id="rId41"/>
      <p:boldItalic r:id="rId42"/>
    </p:embeddedFont>
    <p:embeddedFont>
      <p:font typeface="Cambria" panose="02040503050406030204" pitchFamily="18" charset="0"/>
      <p:regular r:id="rId43"/>
      <p:bold r:id="rId44"/>
      <p:italic r:id="rId45"/>
      <p:boldItalic r:id="rId46"/>
    </p:embeddedFont>
    <p:embeddedFont>
      <p:font typeface="Cambria Math" panose="02040503050406030204" pitchFamily="18" charset="0"/>
      <p:regular r:id="rId47"/>
    </p:embeddedFont>
    <p:embeddedFont>
      <p:font typeface="Century Gothic" panose="020B0502020202020204" pitchFamily="34" charset="0"/>
      <p:regular r:id="rId48"/>
      <p:bold r:id="rId49"/>
      <p:italic r:id="rId50"/>
      <p:boldItalic r:id="rId51"/>
    </p:embeddedFont>
    <p:embeddedFont>
      <p:font typeface="Cutive" pitchFamily="2" charset="0"/>
      <p:regular r:id="rId52"/>
    </p:embeddedFont>
    <p:embeddedFont>
      <p:font typeface="Verdana" panose="020B0604030504040204" pitchFamily="34"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94558" autoAdjust="0"/>
  </p:normalViewPr>
  <p:slideViewPr>
    <p:cSldViewPr snapToGrid="0">
      <p:cViewPr varScale="1">
        <p:scale>
          <a:sx n="116" d="100"/>
          <a:sy n="116" d="100"/>
        </p:scale>
        <p:origin x="696"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font" Target="fonts/font18.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font" Target="fonts/font17.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1379815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73816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3683785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667963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9354881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941316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133548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2191853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7538053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554597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3676176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1399910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1960363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5709044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36621280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38263563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26112723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27006954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22649154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35966834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33329965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3.tiff"/><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0.png"/><Relationship Id="rId4" Type="http://schemas.openxmlformats.org/officeDocument/2006/relationships/image" Target="../media/image22.tiff"/></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5.tiff"/><Relationship Id="rId5" Type="http://schemas.openxmlformats.org/officeDocument/2006/relationships/image" Target="../media/image24.tiff"/><Relationship Id="rId4" Type="http://schemas.openxmlformats.org/officeDocument/2006/relationships/image" Target="../media/image23.tiff"/></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9.tiff"/><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0.tiff"/></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8" Type="http://schemas.openxmlformats.org/officeDocument/2006/relationships/image" Target="../media/image380.png"/><Relationship Id="rId3" Type="http://schemas.openxmlformats.org/officeDocument/2006/relationships/image" Target="../media/image10.png"/><Relationship Id="rId7" Type="http://schemas.openxmlformats.org/officeDocument/2006/relationships/image" Target="../media/image37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21.png"/><Relationship Id="rId10" Type="http://schemas.openxmlformats.org/officeDocument/2006/relationships/image" Target="../media/image40.png"/><Relationship Id="rId4" Type="http://schemas.openxmlformats.org/officeDocument/2006/relationships/image" Target="../media/image20.png"/><Relationship Id="rId9"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0.png"/><Relationship Id="rId7"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49.png"/><Relationship Id="rId5" Type="http://schemas.openxmlformats.org/officeDocument/2006/relationships/image" Target="../media/image46.png"/><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3" Type="http://schemas.openxmlformats.org/officeDocument/2006/relationships/image" Target="../media/image47.tiff"/><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48.tiff"/><Relationship Id="rId5" Type="http://schemas.openxmlformats.org/officeDocument/2006/relationships/image" Target="../media/image53.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8.xml"/><Relationship Id="rId5" Type="http://schemas.openxmlformats.org/officeDocument/2006/relationships/image" Target="../media/image54.png"/><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8.xml"/><Relationship Id="rId6" Type="http://schemas.openxmlformats.org/officeDocument/2006/relationships/hyperlink" Target="http://www.vecteezy.com/spills-splatters/6375-splatter-pack-2" TargetMode="External"/><Relationship Id="rId5" Type="http://schemas.openxmlformats.org/officeDocument/2006/relationships/image" Target="../media/image53.jp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4, Lesson 1</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Deriving Area Formulas for Trapezoids, Parallelograms, and Rhombi</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125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94381"/>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984134" y="136525"/>
            <a:ext cx="7764476"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1033575"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07225" y="1462225"/>
            <a:ext cx="880064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MA.7.GR.1.1</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Apply formulas to find the areas of trapezoids, parallelograms, and rhombi.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1034150" y="347617"/>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983179" y="129667"/>
            <a:ext cx="863364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1410159" y="1455367"/>
            <a:ext cx="9948231"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7006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983179" y="30660"/>
            <a:ext cx="822762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1046080"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271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377108" y="1600200"/>
            <a:ext cx="883369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3400" indent="-5334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use the formulas for the area of triangles and rectangles to derive formulas for the area of trapezoids, parallelograms, and rhombi. </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256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625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983178" y="192115"/>
            <a:ext cx="954074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4.1.1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973392" y="29092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4333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1531917" y="1590462"/>
            <a:ext cx="8606811" cy="46166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Two figures are shown.</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Text Box 3">
            <a:extLst>
              <a:ext uri="{FF2B5EF4-FFF2-40B4-BE49-F238E27FC236}">
                <a16:creationId xmlns:a16="http://schemas.microsoft.com/office/drawing/2014/main" id="{34843B86-BE24-B149-9281-B00158B91A81}"/>
              </a:ext>
            </a:extLst>
          </p:cNvPr>
          <p:cNvSpPr txBox="1"/>
          <p:nvPr/>
        </p:nvSpPr>
        <p:spPr>
          <a:xfrm>
            <a:off x="3389986" y="2205573"/>
            <a:ext cx="1400175" cy="4222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Figure 1</a:t>
            </a:r>
            <a:endParaRPr lang="x-none">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Text Box 6">
            <a:extLst>
              <a:ext uri="{FF2B5EF4-FFF2-40B4-BE49-F238E27FC236}">
                <a16:creationId xmlns:a16="http://schemas.microsoft.com/office/drawing/2014/main" id="{E9272765-B191-0747-BE30-727E58189F4E}"/>
              </a:ext>
            </a:extLst>
          </p:cNvPr>
          <p:cNvSpPr txBox="1"/>
          <p:nvPr/>
        </p:nvSpPr>
        <p:spPr>
          <a:xfrm>
            <a:off x="7292658" y="2194693"/>
            <a:ext cx="1400175" cy="4222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Figure 2</a:t>
            </a:r>
            <a:endParaRPr lang="x-none">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6" name="Picture 15" descr="Shape, rectangle&#10;&#10;Description automatically generated">
            <a:extLst>
              <a:ext uri="{FF2B5EF4-FFF2-40B4-BE49-F238E27FC236}">
                <a16:creationId xmlns:a16="http://schemas.microsoft.com/office/drawing/2014/main" id="{7ACF5384-185D-1042-A2F1-43C7373AAA5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14423" t="25316" r="2419" b="46073"/>
          <a:stretch/>
        </p:blipFill>
        <p:spPr bwMode="auto">
          <a:xfrm>
            <a:off x="2688908" y="2563012"/>
            <a:ext cx="6814185" cy="1784985"/>
          </a:xfrm>
          <a:prstGeom prst="rect">
            <a:avLst/>
          </a:prstGeom>
          <a:ln>
            <a:noFill/>
          </a:ln>
          <a:extLst>
            <a:ext uri="{53640926-AAD7-44D8-BBD7-CCE9431645EC}">
              <a14:shadowObscured xmlns:a14="http://schemas.microsoft.com/office/drawing/2010/main"/>
            </a:ext>
          </a:extLst>
        </p:spPr>
      </p:pic>
      <p:sp>
        <p:nvSpPr>
          <p:cNvPr id="17" name="TextBox 16">
            <a:extLst>
              <a:ext uri="{FF2B5EF4-FFF2-40B4-BE49-F238E27FC236}">
                <a16:creationId xmlns:a16="http://schemas.microsoft.com/office/drawing/2014/main" id="{B4BF1F58-1771-BE4A-9AA4-4E18AE9205C1}"/>
              </a:ext>
            </a:extLst>
          </p:cNvPr>
          <p:cNvSpPr txBox="1"/>
          <p:nvPr/>
        </p:nvSpPr>
        <p:spPr>
          <a:xfrm>
            <a:off x="1531917" y="4581124"/>
            <a:ext cx="8606811" cy="156966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these two figures?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do you wonder about the figures?</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p:pic>
        <p:nvPicPr>
          <p:cNvPr id="9" name="image12.png" descr="Icon&#10;&#10;Description automatically generated">
            <a:extLst>
              <a:ext uri="{FF2B5EF4-FFF2-40B4-BE49-F238E27FC236}">
                <a16:creationId xmlns:a16="http://schemas.microsoft.com/office/drawing/2014/main" id="{65A7B9EC-8CF4-4748-9CF5-7715C69B85DE}"/>
              </a:ext>
            </a:extLst>
          </p:cNvPr>
          <p:cNvPicPr/>
          <p:nvPr/>
        </p:nvPicPr>
        <p:blipFill>
          <a:blip r:embed="rId4"/>
          <a:srcRect/>
          <a:stretch>
            <a:fillRect/>
          </a:stretch>
        </p:blipFill>
        <p:spPr>
          <a:xfrm>
            <a:off x="4601427" y="2854926"/>
            <a:ext cx="1148148" cy="1148148"/>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995055" y="97526"/>
            <a:ext cx="881180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4.1.2 Refresher: Decomposing to Find the Area of a Triangle</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508167" y="1408488"/>
            <a:ext cx="854481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Figures can be decomposed into smaller pieces that are then rearranged and composed into other shapes. Decomposing is useful when finding the area of a figure. </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Complete the table. </a:t>
            </a:r>
          </a:p>
        </p:txBody>
      </p:sp>
      <p:pic>
        <p:nvPicPr>
          <p:cNvPr id="15" name="image12.png" descr="Icon&#10;&#10;Description automatically generated">
            <a:extLst>
              <a:ext uri="{FF2B5EF4-FFF2-40B4-BE49-F238E27FC236}">
                <a16:creationId xmlns:a16="http://schemas.microsoft.com/office/drawing/2014/main" id="{D1C62F14-C89D-2049-BB06-71ED29F83B04}"/>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1011487" y="303601"/>
            <a:ext cx="747299" cy="747299"/>
          </a:xfrm>
          <a:prstGeom prst="rect">
            <a:avLst/>
          </a:prstGeom>
          <a:ln/>
        </p:spPr>
      </p:pic>
      <p:graphicFrame>
        <p:nvGraphicFramePr>
          <p:cNvPr id="6" name="Table 5">
            <a:extLst>
              <a:ext uri="{FF2B5EF4-FFF2-40B4-BE49-F238E27FC236}">
                <a16:creationId xmlns:a16="http://schemas.microsoft.com/office/drawing/2014/main" id="{7901AE65-326A-2941-9F30-7007E4017473}"/>
              </a:ext>
            </a:extLst>
          </p:cNvPr>
          <p:cNvGraphicFramePr>
            <a:graphicFrameLocks noGrp="1"/>
          </p:cNvGraphicFramePr>
          <p:nvPr>
            <p:extLst>
              <p:ext uri="{D42A27DB-BD31-4B8C-83A1-F6EECF244321}">
                <p14:modId xmlns:p14="http://schemas.microsoft.com/office/powerpoint/2010/main" val="2450781350"/>
              </p:ext>
            </p:extLst>
          </p:nvPr>
        </p:nvGraphicFramePr>
        <p:xfrm>
          <a:off x="2010847" y="4001767"/>
          <a:ext cx="7560000" cy="2228215"/>
        </p:xfrm>
        <a:graphic>
          <a:graphicData uri="http://schemas.openxmlformats.org/drawingml/2006/table">
            <a:tbl>
              <a:tblPr firstRow="1" firstCol="1" bandRow="1"/>
              <a:tblGrid>
                <a:gridCol w="3960000">
                  <a:extLst>
                    <a:ext uri="{9D8B030D-6E8A-4147-A177-3AD203B41FA5}">
                      <a16:colId xmlns:a16="http://schemas.microsoft.com/office/drawing/2014/main" val="2451671957"/>
                    </a:ext>
                  </a:extLst>
                </a:gridCol>
                <a:gridCol w="3600000">
                  <a:extLst>
                    <a:ext uri="{9D8B030D-6E8A-4147-A177-3AD203B41FA5}">
                      <a16:colId xmlns:a16="http://schemas.microsoft.com/office/drawing/2014/main" val="2887227168"/>
                    </a:ext>
                  </a:extLst>
                </a:gridCol>
              </a:tblGrid>
              <a:tr h="2228215">
                <a:tc>
                  <a:txBody>
                    <a:bodyPr/>
                    <a:lstStyle/>
                    <a:p>
                      <a:pPr marL="0" marR="0">
                        <a:lnSpc>
                          <a:spcPct val="15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rectangle is divided into _____ triangles. The area of Triangle A is ____ of the area of the rectangle.</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7909647"/>
                  </a:ext>
                </a:extLst>
              </a:tr>
            </a:tbl>
          </a:graphicData>
        </a:graphic>
      </p:graphicFrame>
      <p:grpSp>
        <p:nvGrpSpPr>
          <p:cNvPr id="2" name="Group 1"/>
          <p:cNvGrpSpPr/>
          <p:nvPr/>
        </p:nvGrpSpPr>
        <p:grpSpPr>
          <a:xfrm>
            <a:off x="6096000" y="4068130"/>
            <a:ext cx="3267905" cy="2038350"/>
            <a:chOff x="4667534" y="4025286"/>
            <a:chExt cx="3267905" cy="2038350"/>
          </a:xfrm>
        </p:grpSpPr>
        <p:pic>
          <p:nvPicPr>
            <p:cNvPr id="14" name="Picture 13">
              <a:extLst>
                <a:ext uri="{FF2B5EF4-FFF2-40B4-BE49-F238E27FC236}">
                  <a16:creationId xmlns:a16="http://schemas.microsoft.com/office/drawing/2014/main" id="{BE92C753-3E87-DB44-97E9-A2F43C537BFD}"/>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667534" y="4025286"/>
              <a:ext cx="3265805" cy="2038350"/>
            </a:xfrm>
            <a:prstGeom prst="rect">
              <a:avLst/>
            </a:prstGeom>
          </p:spPr>
        </p:pic>
        <p:sp>
          <p:nvSpPr>
            <p:cNvPr id="13" name="Text Box 477">
              <a:extLst>
                <a:ext uri="{FF2B5EF4-FFF2-40B4-BE49-F238E27FC236}">
                  <a16:creationId xmlns:a16="http://schemas.microsoft.com/office/drawing/2014/main" id="{E26EB876-A666-7A42-9910-5C9B15FE7D5B}"/>
                </a:ext>
              </a:extLst>
            </p:cNvPr>
            <p:cNvSpPr txBox="1"/>
            <p:nvPr/>
          </p:nvSpPr>
          <p:spPr>
            <a:xfrm>
              <a:off x="6243164" y="5350056"/>
              <a:ext cx="1692275" cy="4286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dirty="0">
                  <a:latin typeface="Verdana" panose="020B0604030504040204" pitchFamily="34" charset="0"/>
                  <a:ea typeface="Times New Roman" panose="02020603050405020304" pitchFamily="18" charset="0"/>
                  <a:cs typeface="Times New Roman" panose="02020603050405020304" pitchFamily="18" charset="0"/>
                </a:rPr>
                <a:t>Triangle A</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DCF21704-D955-234E-9610-7201707D46CF}"/>
              </a:ext>
            </a:extLst>
          </p:cNvPr>
          <p:cNvGraphicFramePr>
            <a:graphicFrameLocks noGrp="1"/>
          </p:cNvGraphicFramePr>
          <p:nvPr>
            <p:extLst>
              <p:ext uri="{D42A27DB-BD31-4B8C-83A1-F6EECF244321}">
                <p14:modId xmlns:p14="http://schemas.microsoft.com/office/powerpoint/2010/main" val="2724089564"/>
              </p:ext>
            </p:extLst>
          </p:nvPr>
        </p:nvGraphicFramePr>
        <p:xfrm>
          <a:off x="2796339" y="617263"/>
          <a:ext cx="7560000" cy="5371466"/>
        </p:xfrm>
        <a:graphic>
          <a:graphicData uri="http://schemas.openxmlformats.org/drawingml/2006/table">
            <a:tbl>
              <a:tblPr firstRow="1" firstCol="1" bandRow="1"/>
              <a:tblGrid>
                <a:gridCol w="3960000">
                  <a:extLst>
                    <a:ext uri="{9D8B030D-6E8A-4147-A177-3AD203B41FA5}">
                      <a16:colId xmlns:a16="http://schemas.microsoft.com/office/drawing/2014/main" val="4280598227"/>
                    </a:ext>
                  </a:extLst>
                </a:gridCol>
                <a:gridCol w="3600000">
                  <a:extLst>
                    <a:ext uri="{9D8B030D-6E8A-4147-A177-3AD203B41FA5}">
                      <a16:colId xmlns:a16="http://schemas.microsoft.com/office/drawing/2014/main" val="2953403693"/>
                    </a:ext>
                  </a:extLst>
                </a:gridCol>
              </a:tblGrid>
              <a:tr h="2482247">
                <a:tc>
                  <a:txBody>
                    <a:bodyPr/>
                    <a:lstStyle/>
                    <a:p>
                      <a:pPr marL="0" marR="0">
                        <a:lnSpc>
                          <a:spcPct val="15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rectangle is divided into _____ triangles. The area of Triangle B is ____ of the area of the rectangle. The area of Triangle C is ____ of the area of the rectangle.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16" marR="59516"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16" marR="59516"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0607036"/>
                  </a:ext>
                </a:extLst>
              </a:tr>
              <a:tr h="2482247">
                <a:tc>
                  <a:txBody>
                    <a:bodyPr/>
                    <a:lstStyle/>
                    <a:p>
                      <a:pPr marL="0" marR="0">
                        <a:lnSpc>
                          <a:spcPct val="15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rectangle is divided into _____ triangles. The area of Triangle D is ____ of the area of the rectangle. The area of Triangle E is ____ of the area of the rectangle.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16" marR="59516"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9516" marR="59516"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79297"/>
                  </a:ext>
                </a:extLst>
              </a:tr>
            </a:tbl>
          </a:graphicData>
        </a:graphic>
      </p:graphicFrame>
      <p:grpSp>
        <p:nvGrpSpPr>
          <p:cNvPr id="4" name="Group 3"/>
          <p:cNvGrpSpPr/>
          <p:nvPr/>
        </p:nvGrpSpPr>
        <p:grpSpPr>
          <a:xfrm>
            <a:off x="6827846" y="3688984"/>
            <a:ext cx="3422650" cy="2196465"/>
            <a:chOff x="5384140" y="3296101"/>
            <a:chExt cx="3422650" cy="2196465"/>
          </a:xfrm>
        </p:grpSpPr>
        <p:pic>
          <p:nvPicPr>
            <p:cNvPr id="11" name="Picture 10">
              <a:extLst>
                <a:ext uri="{FF2B5EF4-FFF2-40B4-BE49-F238E27FC236}">
                  <a16:creationId xmlns:a16="http://schemas.microsoft.com/office/drawing/2014/main" id="{66DD8949-BF03-5E40-A45B-CB4B069C1753}"/>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384140" y="3296101"/>
              <a:ext cx="3422650" cy="2196465"/>
            </a:xfrm>
            <a:prstGeom prst="rect">
              <a:avLst/>
            </a:prstGeom>
          </p:spPr>
        </p:pic>
        <p:sp>
          <p:nvSpPr>
            <p:cNvPr id="10" name="Text Box 482">
              <a:extLst>
                <a:ext uri="{FF2B5EF4-FFF2-40B4-BE49-F238E27FC236}">
                  <a16:creationId xmlns:a16="http://schemas.microsoft.com/office/drawing/2014/main" id="{0C37EE5C-1520-1347-A988-A41A553BCCE6}"/>
                </a:ext>
              </a:extLst>
            </p:cNvPr>
            <p:cNvSpPr txBox="1"/>
            <p:nvPr/>
          </p:nvSpPr>
          <p:spPr>
            <a:xfrm>
              <a:off x="7350331" y="4466225"/>
              <a:ext cx="1456459" cy="64198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Triangle E</a:t>
              </a:r>
              <a:endParaRPr lang="x-none"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Text Box 37">
              <a:extLst>
                <a:ext uri="{FF2B5EF4-FFF2-40B4-BE49-F238E27FC236}">
                  <a16:creationId xmlns:a16="http://schemas.microsoft.com/office/drawing/2014/main" id="{72827759-59C5-1947-A16A-A252291CFB2F}"/>
                </a:ext>
              </a:extLst>
            </p:cNvPr>
            <p:cNvSpPr txBox="1"/>
            <p:nvPr/>
          </p:nvSpPr>
          <p:spPr>
            <a:xfrm>
              <a:off x="5607200" y="4953905"/>
              <a:ext cx="1957511" cy="3086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Triangle D</a:t>
              </a:r>
              <a:endParaRPr lang="x-none">
                <a:latin typeface="Cambria" panose="02040503050406030204" pitchFamily="18" charset="0"/>
                <a:ea typeface="Times New Roman" panose="02020603050405020304" pitchFamily="18" charset="0"/>
                <a:cs typeface="Times New Roman" panose="02020603050405020304" pitchFamily="18" charset="0"/>
              </a:endParaRPr>
            </a:p>
          </p:txBody>
        </p:sp>
      </p:grpSp>
      <p:grpSp>
        <p:nvGrpSpPr>
          <p:cNvPr id="3" name="Group 2"/>
          <p:cNvGrpSpPr/>
          <p:nvPr/>
        </p:nvGrpSpPr>
        <p:grpSpPr>
          <a:xfrm>
            <a:off x="6912466" y="1017598"/>
            <a:ext cx="3314700" cy="2066925"/>
            <a:chOff x="5450400" y="815741"/>
            <a:chExt cx="3314700" cy="2066925"/>
          </a:xfrm>
        </p:grpSpPr>
        <p:pic>
          <p:nvPicPr>
            <p:cNvPr id="16" name="Picture 15">
              <a:extLst>
                <a:ext uri="{FF2B5EF4-FFF2-40B4-BE49-F238E27FC236}">
                  <a16:creationId xmlns:a16="http://schemas.microsoft.com/office/drawing/2014/main" id="{CD8AE426-C4B5-F34E-9032-1DB711780BE7}"/>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450400" y="815741"/>
              <a:ext cx="3314700" cy="2066925"/>
            </a:xfrm>
            <a:prstGeom prst="rect">
              <a:avLst/>
            </a:prstGeom>
          </p:spPr>
        </p:pic>
        <p:sp>
          <p:nvSpPr>
            <p:cNvPr id="14" name="Text Box 479">
              <a:extLst>
                <a:ext uri="{FF2B5EF4-FFF2-40B4-BE49-F238E27FC236}">
                  <a16:creationId xmlns:a16="http://schemas.microsoft.com/office/drawing/2014/main" id="{773DD7F9-037D-BB46-BD1A-2010FC2F70C8}"/>
                </a:ext>
              </a:extLst>
            </p:cNvPr>
            <p:cNvSpPr txBox="1"/>
            <p:nvPr/>
          </p:nvSpPr>
          <p:spPr>
            <a:xfrm>
              <a:off x="5511666" y="1017597"/>
              <a:ext cx="1897003" cy="4286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Triangle B</a:t>
              </a:r>
              <a:endParaRPr lang="x-none"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5" name="Text Box 480">
              <a:extLst>
                <a:ext uri="{FF2B5EF4-FFF2-40B4-BE49-F238E27FC236}">
                  <a16:creationId xmlns:a16="http://schemas.microsoft.com/office/drawing/2014/main" id="{D25032C4-D7A6-BD4A-B02A-A6494A253B78}"/>
                </a:ext>
              </a:extLst>
            </p:cNvPr>
            <p:cNvSpPr txBox="1"/>
            <p:nvPr/>
          </p:nvSpPr>
          <p:spPr>
            <a:xfrm>
              <a:off x="6443334" y="2076704"/>
              <a:ext cx="1668145" cy="4286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Triangle C</a:t>
              </a:r>
              <a:endParaRPr lang="x-none">
                <a:latin typeface="Cambria" panose="02040503050406030204" pitchFamily="18" charset="0"/>
                <a:ea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3938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174928" y="2766144"/>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p:pic>
        <p:nvPicPr>
          <p:cNvPr id="9" name="image17.png" descr="Icon&#10;&#10;Description automatically generated">
            <a:extLst>
              <a:ext uri="{FF2B5EF4-FFF2-40B4-BE49-F238E27FC236}">
                <a16:creationId xmlns:a16="http://schemas.microsoft.com/office/drawing/2014/main" id="{58F00C27-F533-244E-B133-187DF89D9D90}"/>
              </a:ext>
            </a:extLst>
          </p:cNvPr>
          <p:cNvPicPr/>
          <p:nvPr/>
        </p:nvPicPr>
        <p:blipFill>
          <a:blip r:embed="rId4"/>
          <a:srcRect/>
          <a:stretch>
            <a:fillRect/>
          </a:stretch>
        </p:blipFill>
        <p:spPr>
          <a:xfrm>
            <a:off x="4844414" y="2852921"/>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245"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028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2073700" y="360182"/>
            <a:ext cx="929098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4.1.3 Activity: Deriving the Formula for the Area of a Parallelogram</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52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2073700" y="3232578"/>
            <a:ext cx="8327136" cy="1200329"/>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A parallelogram is a type of quadrilateral. Not only does a parallelogram have four sides and four vertices, but its opposite sides are also parallel. </a:t>
            </a:r>
          </a:p>
        </p:txBody>
      </p:sp>
      <p:pic>
        <p:nvPicPr>
          <p:cNvPr id="9" name="image17.png" descr="Icon&#10;&#10;Description automatically generated">
            <a:extLst>
              <a:ext uri="{FF2B5EF4-FFF2-40B4-BE49-F238E27FC236}">
                <a16:creationId xmlns:a16="http://schemas.microsoft.com/office/drawing/2014/main" id="{8D89BE07-05F7-7245-8DB6-5797AE3B222D}"/>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978451" y="427605"/>
            <a:ext cx="750164" cy="750164"/>
          </a:xfrm>
          <a:prstGeom prst="rect">
            <a:avLst/>
          </a:prstGeom>
          <a:ln/>
        </p:spPr>
      </p:pic>
      <p:grpSp>
        <p:nvGrpSpPr>
          <p:cNvPr id="11" name="Group 10">
            <a:extLst>
              <a:ext uri="{FF2B5EF4-FFF2-40B4-BE49-F238E27FC236}">
                <a16:creationId xmlns:a16="http://schemas.microsoft.com/office/drawing/2014/main" id="{A2541537-F3B6-D941-B539-EA7219C352FD}"/>
              </a:ext>
            </a:extLst>
          </p:cNvPr>
          <p:cNvGrpSpPr/>
          <p:nvPr/>
        </p:nvGrpSpPr>
        <p:grpSpPr>
          <a:xfrm>
            <a:off x="2781300" y="1982919"/>
            <a:ext cx="6629400" cy="908878"/>
            <a:chOff x="2031300" y="3373600"/>
            <a:chExt cx="6629400" cy="859134"/>
          </a:xfrm>
        </p:grpSpPr>
        <p:grpSp>
          <p:nvGrpSpPr>
            <p:cNvPr id="12" name="Group 11">
              <a:extLst>
                <a:ext uri="{FF2B5EF4-FFF2-40B4-BE49-F238E27FC236}">
                  <a16:creationId xmlns:a16="http://schemas.microsoft.com/office/drawing/2014/main" id="{C692012F-1DDD-FB45-ABAB-C5442BED4BC8}"/>
                </a:ext>
              </a:extLst>
            </p:cNvPr>
            <p:cNvGrpSpPr/>
            <p:nvPr/>
          </p:nvGrpSpPr>
          <p:grpSpPr>
            <a:xfrm>
              <a:off x="2031300" y="3373600"/>
              <a:ext cx="6629400" cy="859134"/>
              <a:chOff x="2031300" y="3373600"/>
              <a:chExt cx="6629400" cy="859134"/>
            </a:xfrm>
          </p:grpSpPr>
          <p:sp>
            <p:nvSpPr>
              <p:cNvPr id="13" name="Rectangle 12">
                <a:extLst>
                  <a:ext uri="{FF2B5EF4-FFF2-40B4-BE49-F238E27FC236}">
                    <a16:creationId xmlns:a16="http://schemas.microsoft.com/office/drawing/2014/main" id="{5F491BA9-82EC-904E-B084-A6CFD05021E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75C7F947-1DD1-EF47-95C0-002E4FB364BD}"/>
                  </a:ext>
                </a:extLst>
              </p:cNvPr>
              <p:cNvGrpSpPr/>
              <p:nvPr/>
            </p:nvGrpSpPr>
            <p:grpSpPr>
              <a:xfrm>
                <a:off x="2031300" y="3373600"/>
                <a:ext cx="6629400" cy="859134"/>
                <a:chOff x="0" y="0"/>
                <a:chExt cx="6629400" cy="859134"/>
              </a:xfrm>
            </p:grpSpPr>
            <p:sp>
              <p:nvSpPr>
                <p:cNvPr id="17" name="Rectangle 16">
                  <a:extLst>
                    <a:ext uri="{FF2B5EF4-FFF2-40B4-BE49-F238E27FC236}">
                      <a16:creationId xmlns:a16="http://schemas.microsoft.com/office/drawing/2014/main" id="{5360465B-F3A4-454B-8BE0-3071AA1F8C83}"/>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8" name="Rounded Rectangle 17">
                  <a:extLst>
                    <a:ext uri="{FF2B5EF4-FFF2-40B4-BE49-F238E27FC236}">
                      <a16:creationId xmlns:a16="http://schemas.microsoft.com/office/drawing/2014/main" id="{40E9311B-4CB1-724F-ABD4-A6FCDC601779}"/>
                    </a:ext>
                  </a:extLst>
                </p:cNvPr>
                <p:cNvSpPr/>
                <p:nvPr/>
              </p:nvSpPr>
              <p:spPr>
                <a:xfrm>
                  <a:off x="0" y="5218"/>
                  <a:ext cx="6480000" cy="85391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722313">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quadrilateral</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polygon with exactly four sides and four vertices. </a:t>
                  </a:r>
                  <a:endParaRPr lang="x-none"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9" name="Shape 7" descr="Icon&#10;&#10;Description automatically generated">
                  <a:extLst>
                    <a:ext uri="{FF2B5EF4-FFF2-40B4-BE49-F238E27FC236}">
                      <a16:creationId xmlns:a16="http://schemas.microsoft.com/office/drawing/2014/main" id="{59EE6F79-D616-C142-B0A7-CAD63A83EC67}"/>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38545" y="136524"/>
                  <a:ext cx="539750" cy="539750"/>
                </a:xfrm>
                <a:prstGeom prst="rect">
                  <a:avLst/>
                </a:prstGeom>
                <a:noFill/>
                <a:ln>
                  <a:noFill/>
                </a:ln>
                <a:effectLst>
                  <a:outerShdw blurRad="50800" dist="38100" dir="2700000" algn="tl" rotWithShape="0">
                    <a:prstClr val="black">
                      <a:alpha val="40000"/>
                    </a:prstClr>
                  </a:outerShdw>
                </a:effectLst>
              </p:spPr>
            </p:pic>
          </p:grpSp>
        </p:grpSp>
      </p:grpSp>
      <p:grpSp>
        <p:nvGrpSpPr>
          <p:cNvPr id="20" name="Group 19">
            <a:extLst>
              <a:ext uri="{FF2B5EF4-FFF2-40B4-BE49-F238E27FC236}">
                <a16:creationId xmlns:a16="http://schemas.microsoft.com/office/drawing/2014/main" id="{93337BA2-A5E6-9342-B311-81ED4C8389EA}"/>
              </a:ext>
            </a:extLst>
          </p:cNvPr>
          <p:cNvGrpSpPr/>
          <p:nvPr/>
        </p:nvGrpSpPr>
        <p:grpSpPr>
          <a:xfrm>
            <a:off x="2781300" y="4894539"/>
            <a:ext cx="6629400" cy="903358"/>
            <a:chOff x="2031300" y="3353007"/>
            <a:chExt cx="6629400" cy="853987"/>
          </a:xfrm>
        </p:grpSpPr>
        <p:grpSp>
          <p:nvGrpSpPr>
            <p:cNvPr id="21" name="Group 20">
              <a:extLst>
                <a:ext uri="{FF2B5EF4-FFF2-40B4-BE49-F238E27FC236}">
                  <a16:creationId xmlns:a16="http://schemas.microsoft.com/office/drawing/2014/main" id="{4475B2EB-A1CA-6D4F-8BA8-C872B8C80218}"/>
                </a:ext>
              </a:extLst>
            </p:cNvPr>
            <p:cNvGrpSpPr/>
            <p:nvPr/>
          </p:nvGrpSpPr>
          <p:grpSpPr>
            <a:xfrm>
              <a:off x="2031300" y="3353007"/>
              <a:ext cx="6629400" cy="853987"/>
              <a:chOff x="2031300" y="3353007"/>
              <a:chExt cx="6629400" cy="853987"/>
            </a:xfrm>
          </p:grpSpPr>
          <p:sp>
            <p:nvSpPr>
              <p:cNvPr id="22" name="Rectangle 21">
                <a:extLst>
                  <a:ext uri="{FF2B5EF4-FFF2-40B4-BE49-F238E27FC236}">
                    <a16:creationId xmlns:a16="http://schemas.microsoft.com/office/drawing/2014/main" id="{5671AEA0-50D2-9F45-9959-FC9BDA43EDEC}"/>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23" name="Group 22">
                <a:extLst>
                  <a:ext uri="{FF2B5EF4-FFF2-40B4-BE49-F238E27FC236}">
                    <a16:creationId xmlns:a16="http://schemas.microsoft.com/office/drawing/2014/main" id="{F79F0678-CB44-9546-AB3A-BD8A3A4EBA8C}"/>
                  </a:ext>
                </a:extLst>
              </p:cNvPr>
              <p:cNvGrpSpPr/>
              <p:nvPr/>
            </p:nvGrpSpPr>
            <p:grpSpPr>
              <a:xfrm>
                <a:off x="2031300" y="3353007"/>
                <a:ext cx="6629400" cy="853987"/>
                <a:chOff x="0" y="-20593"/>
                <a:chExt cx="6629400" cy="853987"/>
              </a:xfrm>
            </p:grpSpPr>
            <p:sp>
              <p:nvSpPr>
                <p:cNvPr id="24" name="Rectangle 23">
                  <a:extLst>
                    <a:ext uri="{FF2B5EF4-FFF2-40B4-BE49-F238E27FC236}">
                      <a16:creationId xmlns:a16="http://schemas.microsoft.com/office/drawing/2014/main" id="{D2140DA2-0E53-5F45-863D-B436E36661FB}"/>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5" name="Rounded Rectangle 24">
                  <a:extLst>
                    <a:ext uri="{FF2B5EF4-FFF2-40B4-BE49-F238E27FC236}">
                      <a16:creationId xmlns:a16="http://schemas.microsoft.com/office/drawing/2014/main" id="{4F7DA118-B09A-B34B-AC74-82B98B5735B0}"/>
                    </a:ext>
                  </a:extLst>
                </p:cNvPr>
                <p:cNvSpPr/>
                <p:nvPr/>
              </p:nvSpPr>
              <p:spPr>
                <a:xfrm>
                  <a:off x="0" y="-20593"/>
                  <a:ext cx="6480000" cy="853987"/>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722313">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parallelogram</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quadrilateral containing two pairs of parallel sides. </a:t>
                  </a:r>
                  <a:endParaRPr lang="x-none"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26" name="Shape 7" descr="Icon&#10;&#10;Description automatically generated">
                  <a:extLst>
                    <a:ext uri="{FF2B5EF4-FFF2-40B4-BE49-F238E27FC236}">
                      <a16:creationId xmlns:a16="http://schemas.microsoft.com/office/drawing/2014/main" id="{ED6AAC8C-23DE-5F45-8A0A-727AA927DA8C}"/>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38545" y="136526"/>
                  <a:ext cx="539750" cy="539750"/>
                </a:xfrm>
                <a:prstGeom prst="rect">
                  <a:avLst/>
                </a:prstGeom>
                <a:noFill/>
                <a:ln>
                  <a:noFill/>
                </a:ln>
                <a:effectLst>
                  <a:outerShdw blurRad="50800" dist="38100" dir="2700000" algn="tl" rotWithShape="0">
                    <a:prstClr val="black">
                      <a:alpha val="40000"/>
                    </a:prstClr>
                  </a:outerShdw>
                </a:effectLst>
              </p:spPr>
            </p:pic>
          </p:grpSp>
        </p:grpSp>
      </p:grpSp>
    </p:spTree>
    <p:extLst>
      <p:ext uri="{BB962C8B-B14F-4D97-AF65-F5344CB8AC3E}">
        <p14:creationId xmlns:p14="http://schemas.microsoft.com/office/powerpoint/2010/main" val="1674437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31917" y="411367"/>
            <a:ext cx="8516655" cy="83099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A parallelogram is shown on a grid with each gridline representing one unit.    </a:t>
            </a:r>
          </a:p>
        </p:txBody>
      </p:sp>
      <p:pic>
        <p:nvPicPr>
          <p:cNvPr id="6" name="Picture 5">
            <a:extLst>
              <a:ext uri="{FF2B5EF4-FFF2-40B4-BE49-F238E27FC236}">
                <a16:creationId xmlns:a16="http://schemas.microsoft.com/office/drawing/2014/main" id="{D9E6EEE5-918C-0045-8E2E-9C22E192741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auto">
          <a:xfrm>
            <a:off x="3570621" y="1308225"/>
            <a:ext cx="3696970" cy="2677795"/>
          </a:xfrm>
          <a:prstGeom prst="rect">
            <a:avLst/>
          </a:prstGeom>
          <a:noFill/>
          <a:ln>
            <a:noFill/>
          </a:ln>
        </p:spPr>
      </p:pic>
      <mc:AlternateContent xmlns:mc="http://schemas.openxmlformats.org/markup-compatibility/2006" xmlns:a14="http://schemas.microsoft.com/office/drawing/2010/main">
        <mc:Choice Requires="a14">
          <p:sp>
            <p:nvSpPr>
              <p:cNvPr id="7" name="Text Box 449">
                <a:extLst>
                  <a:ext uri="{FF2B5EF4-FFF2-40B4-BE49-F238E27FC236}">
                    <a16:creationId xmlns:a16="http://schemas.microsoft.com/office/drawing/2014/main" id="{616A291A-7591-E747-9CB8-7009A25EF5BF}"/>
                  </a:ext>
                </a:extLst>
              </p:cNvPr>
              <p:cNvSpPr txBox="1"/>
              <p:nvPr/>
            </p:nvSpPr>
            <p:spPr>
              <a:xfrm>
                <a:off x="5856811" y="3595495"/>
                <a:ext cx="419100" cy="3905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b="1" i="1">
                          <a:latin typeface="Cambria Math" panose="02040503050406030204" pitchFamily="18" charset="0"/>
                          <a:ea typeface="Times New Roman" panose="02020603050405020304" pitchFamily="18" charset="0"/>
                          <a:cs typeface="Times New Roman" panose="02020603050405020304" pitchFamily="18" charset="0"/>
                        </a:rPr>
                        <m:t>𝒃</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7" name="Text Box 449">
                <a:extLst>
                  <a:ext uri="{FF2B5EF4-FFF2-40B4-BE49-F238E27FC236}">
                    <a16:creationId xmlns:a16="http://schemas.microsoft.com/office/drawing/2014/main" id="{616A291A-7591-E747-9CB8-7009A25EF5BF}"/>
                  </a:ext>
                </a:extLst>
              </p:cNvPr>
              <p:cNvSpPr txBox="1">
                <a:spLocks noRot="1" noChangeAspect="1" noMove="1" noResize="1" noEditPoints="1" noAdjustHandles="1" noChangeArrowheads="1" noChangeShapeType="1" noTextEdit="1"/>
              </p:cNvSpPr>
              <p:nvPr/>
            </p:nvSpPr>
            <p:spPr>
              <a:xfrm>
                <a:off x="5856811" y="3595495"/>
                <a:ext cx="419100" cy="390525"/>
              </a:xfrm>
              <a:prstGeom prst="rect">
                <a:avLst/>
              </a:prstGeom>
              <a:blipFill>
                <a:blip r:embed="rId5"/>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54">
                <a:extLst>
                  <a:ext uri="{FF2B5EF4-FFF2-40B4-BE49-F238E27FC236}">
                    <a16:creationId xmlns:a16="http://schemas.microsoft.com/office/drawing/2014/main" id="{6E06A7CD-AAB5-364B-A78F-0A9339705193}"/>
                  </a:ext>
                </a:extLst>
              </p:cNvPr>
              <p:cNvSpPr txBox="1"/>
              <p:nvPr/>
            </p:nvSpPr>
            <p:spPr>
              <a:xfrm>
                <a:off x="6764226" y="2185795"/>
                <a:ext cx="419100" cy="4286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b="1" i="1">
                          <a:latin typeface="Cambria Math" panose="02040503050406030204" pitchFamily="18" charset="0"/>
                          <a:ea typeface="Times New Roman" panose="02020603050405020304" pitchFamily="18" charset="0"/>
                          <a:cs typeface="Times New Roman" panose="02020603050405020304" pitchFamily="18" charset="0"/>
                        </a:rPr>
                        <m:t>𝒉</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8" name="Text Box 454">
                <a:extLst>
                  <a:ext uri="{FF2B5EF4-FFF2-40B4-BE49-F238E27FC236}">
                    <a16:creationId xmlns:a16="http://schemas.microsoft.com/office/drawing/2014/main" id="{6E06A7CD-AAB5-364B-A78F-0A9339705193}"/>
                  </a:ext>
                </a:extLst>
              </p:cNvPr>
              <p:cNvSpPr txBox="1">
                <a:spLocks noRot="1" noChangeAspect="1" noMove="1" noResize="1" noEditPoints="1" noAdjustHandles="1" noChangeArrowheads="1" noChangeShapeType="1" noTextEdit="1"/>
              </p:cNvSpPr>
              <p:nvPr/>
            </p:nvSpPr>
            <p:spPr>
              <a:xfrm>
                <a:off x="6764226" y="2185795"/>
                <a:ext cx="419100" cy="428625"/>
              </a:xfrm>
              <a:prstGeom prst="rect">
                <a:avLst/>
              </a:prstGeom>
              <a:blipFill>
                <a:blip r:embed="rId6"/>
                <a:stretch>
                  <a:fillRect/>
                </a:stretch>
              </a:blipFill>
              <a:ln w="6350">
                <a:noFill/>
              </a:ln>
            </p:spPr>
            <p:txBody>
              <a:bodyPr/>
              <a:lstStyle/>
              <a:p>
                <a:r>
                  <a:rPr lang="en-US">
                    <a:noFill/>
                  </a:rPr>
                  <a:t> </a:t>
                </a:r>
              </a:p>
            </p:txBody>
          </p:sp>
        </mc:Fallback>
      </mc:AlternateContent>
      <p:sp>
        <p:nvSpPr>
          <p:cNvPr id="9" name="Rectangle 8">
            <a:extLst>
              <a:ext uri="{FF2B5EF4-FFF2-40B4-BE49-F238E27FC236}">
                <a16:creationId xmlns:a16="http://schemas.microsoft.com/office/drawing/2014/main" id="{886A3BEA-4648-0145-8884-BF689B613E58}"/>
              </a:ext>
            </a:extLst>
          </p:cNvPr>
          <p:cNvSpPr/>
          <p:nvPr/>
        </p:nvSpPr>
        <p:spPr>
          <a:xfrm>
            <a:off x="1531918" y="4352997"/>
            <a:ext cx="9288484" cy="1938992"/>
          </a:xfrm>
          <a:prstGeom prst="rect">
            <a:avLst/>
          </a:prstGeom>
        </p:spPr>
        <p:txBody>
          <a:bodyPr wrap="square">
            <a:spAutoFit/>
          </a:bodyPr>
          <a:lstStyle/>
          <a:p>
            <a:pPr indent="444500"/>
            <a:r>
              <a:rPr lang="en-US" sz="2400" dirty="0">
                <a:latin typeface="Verdana" panose="020B0604030504040204" pitchFamily="34" charset="0"/>
                <a:ea typeface="Times New Roman" panose="02020603050405020304" pitchFamily="18" charset="0"/>
                <a:cs typeface="Times New Roman" panose="02020603050405020304" pitchFamily="18" charset="0"/>
              </a:rPr>
              <a:t>Complete each statement.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8741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The base of the parallelogram is _____ units.</a:t>
            </a:r>
          </a:p>
          <a:p>
            <a:pPr marL="88741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8741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The height of the parallelogram is _____ units.</a:t>
            </a:r>
          </a:p>
        </p:txBody>
      </p:sp>
    </p:spTree>
    <p:extLst>
      <p:ext uri="{BB962C8B-B14F-4D97-AF65-F5344CB8AC3E}">
        <p14:creationId xmlns:p14="http://schemas.microsoft.com/office/powerpoint/2010/main" val="1251846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31917" y="411367"/>
            <a:ext cx="8359695" cy="1200329"/>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The images below show the same parallelogram being decomposed and then rearranged to form a rectangle.</a:t>
            </a:r>
          </a:p>
        </p:txBody>
      </p:sp>
      <p:graphicFrame>
        <p:nvGraphicFramePr>
          <p:cNvPr id="5" name="Table 4">
            <a:extLst>
              <a:ext uri="{FF2B5EF4-FFF2-40B4-BE49-F238E27FC236}">
                <a16:creationId xmlns:a16="http://schemas.microsoft.com/office/drawing/2014/main" id="{14FA6717-FD38-6A4E-B655-E0AA71E1A99E}"/>
              </a:ext>
            </a:extLst>
          </p:cNvPr>
          <p:cNvGraphicFramePr>
            <a:graphicFrameLocks noGrp="1"/>
          </p:cNvGraphicFramePr>
          <p:nvPr>
            <p:extLst>
              <p:ext uri="{D42A27DB-BD31-4B8C-83A1-F6EECF244321}">
                <p14:modId xmlns:p14="http://schemas.microsoft.com/office/powerpoint/2010/main" val="381605486"/>
              </p:ext>
            </p:extLst>
          </p:nvPr>
        </p:nvGraphicFramePr>
        <p:xfrm>
          <a:off x="2663508" y="1770602"/>
          <a:ext cx="6864985" cy="2132330"/>
        </p:xfrm>
        <a:graphic>
          <a:graphicData uri="http://schemas.openxmlformats.org/drawingml/2006/table">
            <a:tbl>
              <a:tblPr firstRow="1" firstCol="1" bandRow="1"/>
              <a:tblGrid>
                <a:gridCol w="2376805">
                  <a:extLst>
                    <a:ext uri="{9D8B030D-6E8A-4147-A177-3AD203B41FA5}">
                      <a16:colId xmlns:a16="http://schemas.microsoft.com/office/drawing/2014/main" val="2594155111"/>
                    </a:ext>
                  </a:extLst>
                </a:gridCol>
                <a:gridCol w="2427605">
                  <a:extLst>
                    <a:ext uri="{9D8B030D-6E8A-4147-A177-3AD203B41FA5}">
                      <a16:colId xmlns:a16="http://schemas.microsoft.com/office/drawing/2014/main" val="552167953"/>
                    </a:ext>
                  </a:extLst>
                </a:gridCol>
                <a:gridCol w="2060575">
                  <a:extLst>
                    <a:ext uri="{9D8B030D-6E8A-4147-A177-3AD203B41FA5}">
                      <a16:colId xmlns:a16="http://schemas.microsoft.com/office/drawing/2014/main" val="2977551357"/>
                    </a:ext>
                  </a:extLst>
                </a:gridCol>
              </a:tblGrid>
              <a:tr h="2132330">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1627101"/>
                  </a:ext>
                </a:extLst>
              </a:tr>
            </a:tbl>
          </a:graphicData>
        </a:graphic>
      </p:graphicFrame>
      <p:pic>
        <p:nvPicPr>
          <p:cNvPr id="11" name="Picture 10">
            <a:extLst>
              <a:ext uri="{FF2B5EF4-FFF2-40B4-BE49-F238E27FC236}">
                <a16:creationId xmlns:a16="http://schemas.microsoft.com/office/drawing/2014/main" id="{1B573371-80AA-A341-8032-A5AF3281DE5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9912" r="11348" b="6477"/>
          <a:stretch/>
        </p:blipFill>
        <p:spPr bwMode="auto">
          <a:xfrm>
            <a:off x="2723309" y="1855879"/>
            <a:ext cx="2239645" cy="1926590"/>
          </a:xfrm>
          <a:prstGeom prst="rect">
            <a:avLst/>
          </a:prstGeom>
          <a:noFill/>
          <a:ln>
            <a:noFill/>
          </a:ln>
          <a:extLst>
            <a:ext uri="{53640926-AAD7-44D8-BBD7-CCE9431645EC}">
              <a14:shadowObscured xmlns:a14="http://schemas.microsoft.com/office/drawing/2010/main"/>
            </a:ext>
          </a:extLst>
        </p:spPr>
      </p:pic>
      <p:pic>
        <p:nvPicPr>
          <p:cNvPr id="13" name="Picture 12">
            <a:extLst>
              <a:ext uri="{FF2B5EF4-FFF2-40B4-BE49-F238E27FC236}">
                <a16:creationId xmlns:a16="http://schemas.microsoft.com/office/drawing/2014/main" id="{F42EAE1C-0FBE-1743-8944-904AEC13BF57}"/>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11919" t="7480" r="10591"/>
          <a:stretch/>
        </p:blipFill>
        <p:spPr bwMode="auto">
          <a:xfrm>
            <a:off x="5102952" y="1855078"/>
            <a:ext cx="2290445" cy="1981200"/>
          </a:xfrm>
          <a:prstGeom prst="rect">
            <a:avLst/>
          </a:prstGeom>
          <a:noFill/>
          <a:ln>
            <a:noFill/>
          </a:ln>
          <a:extLst>
            <a:ext uri="{53640926-AAD7-44D8-BBD7-CCE9431645EC}">
              <a14:shadowObscured xmlns:a14="http://schemas.microsoft.com/office/drawing/2010/main"/>
            </a:ext>
          </a:extLst>
        </p:spPr>
      </p:pic>
      <p:pic>
        <p:nvPicPr>
          <p:cNvPr id="14" name="Picture 13">
            <a:extLst>
              <a:ext uri="{FF2B5EF4-FFF2-40B4-BE49-F238E27FC236}">
                <a16:creationId xmlns:a16="http://schemas.microsoft.com/office/drawing/2014/main" id="{DC37C9F6-72C8-E144-BA3B-D973BE2F298E}"/>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22570" t="7489" r="12335" b="-41"/>
          <a:stretch/>
        </p:blipFill>
        <p:spPr bwMode="auto">
          <a:xfrm>
            <a:off x="7533395" y="1836862"/>
            <a:ext cx="1923415" cy="1981200"/>
          </a:xfrm>
          <a:prstGeom prst="rect">
            <a:avLst/>
          </a:prstGeom>
          <a:noFill/>
          <a:ln>
            <a:noFill/>
          </a:ln>
          <a:extLst>
            <a:ext uri="{53640926-AAD7-44D8-BBD7-CCE9431645EC}">
              <a14:shadowObscured xmlns:a14="http://schemas.microsoft.com/office/drawing/2010/main"/>
            </a:ext>
          </a:extLst>
        </p:spPr>
      </p:pic>
      <p:cxnSp>
        <p:nvCxnSpPr>
          <p:cNvPr id="15" name="Straight Arrow Connector 14">
            <a:extLst>
              <a:ext uri="{FF2B5EF4-FFF2-40B4-BE49-F238E27FC236}">
                <a16:creationId xmlns:a16="http://schemas.microsoft.com/office/drawing/2014/main" id="{154084D2-7E74-CB49-BD71-A0C747DE5971}"/>
              </a:ext>
            </a:extLst>
          </p:cNvPr>
          <p:cNvCxnSpPr/>
          <p:nvPr/>
        </p:nvCxnSpPr>
        <p:spPr>
          <a:xfrm>
            <a:off x="5671063" y="2273687"/>
            <a:ext cx="1097280" cy="0"/>
          </a:xfrm>
          <a:prstGeom prst="straightConnector1">
            <a:avLst/>
          </a:prstGeom>
          <a:ln>
            <a:tailEnd type="triangle"/>
          </a:ln>
          <a:effectLst/>
        </p:spPr>
        <p:style>
          <a:lnRef idx="2">
            <a:schemeClr val="dk1"/>
          </a:lnRef>
          <a:fillRef idx="0">
            <a:schemeClr val="dk1"/>
          </a:fillRef>
          <a:effectRef idx="1">
            <a:schemeClr val="dk1"/>
          </a:effectRef>
          <a:fontRef idx="minor">
            <a:schemeClr val="tx1"/>
          </a:fontRef>
        </p:style>
      </p:cxnSp>
      <p:sp>
        <p:nvSpPr>
          <p:cNvPr id="17" name="Rectangle 16">
            <a:extLst>
              <a:ext uri="{FF2B5EF4-FFF2-40B4-BE49-F238E27FC236}">
                <a16:creationId xmlns:a16="http://schemas.microsoft.com/office/drawing/2014/main" id="{65C433DC-9ECC-CA41-B683-466D219422F9}"/>
              </a:ext>
            </a:extLst>
          </p:cNvPr>
          <p:cNvSpPr/>
          <p:nvPr/>
        </p:nvSpPr>
        <p:spPr>
          <a:xfrm>
            <a:off x="1531917" y="4174286"/>
            <a:ext cx="8521059" cy="1938992"/>
          </a:xfrm>
          <a:prstGeom prst="rect">
            <a:avLst/>
          </a:prstGeom>
        </p:spPr>
        <p:txBody>
          <a:bodyPr wrap="square">
            <a:spAutoFit/>
          </a:bodyPr>
          <a:lstStyle/>
          <a:p>
            <a:pPr indent="444500"/>
            <a:r>
              <a:rPr lang="en-US" sz="2400" dirty="0">
                <a:latin typeface="Verdana" panose="020B0604030504040204" pitchFamily="34" charset="0"/>
                <a:ea typeface="Times New Roman" panose="02020603050405020304" pitchFamily="18" charset="0"/>
                <a:cs typeface="Times New Roman" panose="02020603050405020304" pitchFamily="18" charset="0"/>
              </a:rPr>
              <a:t>Complete each statement.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8741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The base of the rectangle is _____ units.</a:t>
            </a:r>
          </a:p>
          <a:p>
            <a:pPr marL="88741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8741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The height of the rectangle is _____ units.</a:t>
            </a:r>
          </a:p>
        </p:txBody>
      </p:sp>
    </p:spTree>
    <p:extLst>
      <p:ext uri="{BB962C8B-B14F-4D97-AF65-F5344CB8AC3E}">
        <p14:creationId xmlns:p14="http://schemas.microsoft.com/office/powerpoint/2010/main" val="2381553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375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20042" y="1028310"/>
            <a:ext cx="8814859" cy="1200329"/>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Discuss with your partner the relationship between the area of the parallelogram and the area of the rectangle. Write a summary of your discussion.</a:t>
            </a:r>
          </a:p>
        </p:txBody>
      </p:sp>
    </p:spTree>
    <p:extLst>
      <p:ext uri="{BB962C8B-B14F-4D97-AF65-F5344CB8AC3E}">
        <p14:creationId xmlns:p14="http://schemas.microsoft.com/office/powerpoint/2010/main" val="2042787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2036"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20042" y="951192"/>
            <a:ext cx="8819372" cy="4339650"/>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statements.</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44500"/>
            <a:r>
              <a:rPr lang="en-US" sz="2400" dirty="0">
                <a:latin typeface="Verdana" panose="020B0604030504040204" pitchFamily="34" charset="0"/>
                <a:ea typeface="Times New Roman" panose="02020603050405020304" pitchFamily="18" charset="0"/>
                <a:cs typeface="Times New Roman" panose="02020603050405020304" pitchFamily="18" charset="0"/>
              </a:rPr>
              <a:t>A parallelogram can be decomposed and </a:t>
            </a:r>
          </a:p>
          <a:p>
            <a:pPr marL="4445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44500"/>
            <a:r>
              <a:rPr lang="en-US" sz="2400" dirty="0">
                <a:latin typeface="Verdana" panose="020B0604030504040204" pitchFamily="34" charset="0"/>
                <a:ea typeface="Times New Roman" panose="02020603050405020304" pitchFamily="18" charset="0"/>
                <a:cs typeface="Times New Roman" panose="02020603050405020304" pitchFamily="18" charset="0"/>
              </a:rPr>
              <a:t>rearranged into a                   with the same </a:t>
            </a:r>
          </a:p>
          <a:p>
            <a:pPr marL="4445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44500">
              <a:lnSpc>
                <a:spcPct val="1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base and height. The formula used to find the </a:t>
            </a:r>
          </a:p>
          <a:p>
            <a:pPr marL="4445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44500"/>
            <a:r>
              <a:rPr lang="en-US" sz="2400" dirty="0">
                <a:latin typeface="Verdana" panose="020B0604030504040204" pitchFamily="34" charset="0"/>
                <a:ea typeface="Times New Roman" panose="02020603050405020304" pitchFamily="18" charset="0"/>
                <a:cs typeface="Times New Roman" panose="02020603050405020304" pitchFamily="18" charset="0"/>
              </a:rPr>
              <a:t>area of a rectangle is                 Therefore, </a:t>
            </a:r>
            <a:br>
              <a:rPr lang="en-US" sz="2400" dirty="0">
                <a:latin typeface="Verdana" panose="020B0604030504040204" pitchFamily="34" charset="0"/>
                <a:ea typeface="Times New Roman" panose="02020603050405020304" pitchFamily="18" charset="0"/>
                <a:cs typeface="Times New Roman" panose="02020603050405020304" pitchFamily="18" charset="0"/>
              </a:rPr>
            </a:b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the area of the parallelogram is </a:t>
            </a:r>
          </a:p>
        </p:txBody>
      </p:sp>
      <p:pic>
        <p:nvPicPr>
          <p:cNvPr id="4" name="Picture 3" descr="A picture containing shape&#10;&#10;Description automatically generated">
            <a:extLst>
              <a:ext uri="{FF2B5EF4-FFF2-40B4-BE49-F238E27FC236}">
                <a16:creationId xmlns:a16="http://schemas.microsoft.com/office/drawing/2014/main" id="{CBF6EDA7-EE1C-894D-B400-FFD017A4915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88044" y="2205534"/>
            <a:ext cx="1790443" cy="900043"/>
          </a:xfrm>
          <a:prstGeom prst="rect">
            <a:avLst/>
          </a:prstGeom>
        </p:spPr>
      </p:pic>
      <p:pic>
        <p:nvPicPr>
          <p:cNvPr id="6" name="Picture 5" descr="Text&#10;&#10;Description automatically generated">
            <a:extLst>
              <a:ext uri="{FF2B5EF4-FFF2-40B4-BE49-F238E27FC236}">
                <a16:creationId xmlns:a16="http://schemas.microsoft.com/office/drawing/2014/main" id="{6AA91084-6E44-7F4E-B8CE-3480FAC1DA7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431816" y="3752424"/>
            <a:ext cx="1604005" cy="983618"/>
          </a:xfrm>
          <a:prstGeom prst="rect">
            <a:avLst/>
          </a:prstGeom>
        </p:spPr>
      </p:pic>
      <p:pic>
        <p:nvPicPr>
          <p:cNvPr id="10" name="Picture 9" descr="Text&#10;&#10;Description automatically generated">
            <a:extLst>
              <a:ext uri="{FF2B5EF4-FFF2-40B4-BE49-F238E27FC236}">
                <a16:creationId xmlns:a16="http://schemas.microsoft.com/office/drawing/2014/main" id="{043C1188-020F-ED4E-A00C-AA5BFC7D333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083612" y="4550177"/>
            <a:ext cx="1604005" cy="983618"/>
          </a:xfrm>
          <a:prstGeom prst="rect">
            <a:avLst/>
          </a:prstGeom>
        </p:spPr>
      </p:pic>
    </p:spTree>
    <p:extLst>
      <p:ext uri="{BB962C8B-B14F-4D97-AF65-F5344CB8AC3E}">
        <p14:creationId xmlns:p14="http://schemas.microsoft.com/office/powerpoint/2010/main" val="3252903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9" name="Picture 8">
            <a:extLst>
              <a:ext uri="{FF2B5EF4-FFF2-40B4-BE49-F238E27FC236}">
                <a16:creationId xmlns:a16="http://schemas.microsoft.com/office/drawing/2014/main" id="{F93BC948-02E7-B14F-9BF3-7B4420C23F15}"/>
              </a:ext>
            </a:extLst>
          </p:cNvPr>
          <p:cNvPicPr>
            <a:picLocks noChangeAspect="1"/>
          </p:cNvPicPr>
          <p:nvPr/>
        </p:nvPicPr>
        <p:blipFill rotWithShape="1">
          <a:blip r:embed="rId3"/>
          <a:srcRect t="10106" b="6864"/>
          <a:stretch/>
        </p:blipFill>
        <p:spPr>
          <a:xfrm>
            <a:off x="3291880" y="1033815"/>
            <a:ext cx="5445143" cy="2764972"/>
          </a:xfrm>
          <a:prstGeom prst="rect">
            <a:avLst/>
          </a:prstGeom>
        </p:spPr>
      </p:pic>
      <p:sp>
        <p:nvSpPr>
          <p:cNvPr id="278" name="Google Shape;278;g104476d1465_1_17"/>
          <p:cNvSpPr/>
          <p:nvPr/>
        </p:nvSpPr>
        <p:spPr>
          <a:xfrm>
            <a:off x="-2375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128</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31917" y="411367"/>
            <a:ext cx="8521059" cy="830997"/>
          </a:xfrm>
          <a:prstGeom prst="rect">
            <a:avLst/>
          </a:prstGeom>
        </p:spPr>
        <p:txBody>
          <a:bodyPr wrap="square">
            <a:spAutoFit/>
          </a:bodyPr>
          <a:lstStyle/>
          <a:p>
            <a:pPr marL="457200" indent="-457200">
              <a:buFont typeface="+mj-lt"/>
              <a:buAutoNum type="arabi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A parallelogram with its dimensions labeled is shown. </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1F8E8C5D-796F-8948-BE56-2D12F80DC2EB}"/>
                  </a:ext>
                </a:extLst>
              </p:cNvPr>
              <p:cNvSpPr/>
              <p:nvPr/>
            </p:nvSpPr>
            <p:spPr>
              <a:xfrm>
                <a:off x="1531917" y="3798787"/>
                <a:ext cx="8521059" cy="2858988"/>
              </a:xfrm>
              <a:prstGeom prst="rect">
                <a:avLst/>
              </a:prstGeom>
            </p:spPr>
            <p:txBody>
              <a:bodyPr wrap="square">
                <a:spAutoFit/>
              </a:bodyPr>
              <a:lstStyle/>
              <a:p>
                <a:pPr marL="941388" indent="-496888">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Fill in the blanks to find the area of the parallelogram.</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algn="ctr">
                  <a:lnSpc>
                    <a:spcPct val="1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Area of parallelogram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𝑏</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err="1">
                        <a:latin typeface="Cambria Math" panose="02040503050406030204" pitchFamily="18" charset="0"/>
                        <a:ea typeface="Times New Roman" panose="02020603050405020304" pitchFamily="18" charset="0"/>
                        <a:cs typeface="Times New Roman" panose="02020603050405020304" pitchFamily="18" charset="0"/>
                      </a:rPr>
                      <m:t>h</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algn="ctr">
                  <a:lnSpc>
                    <a:spcPct val="1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Area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 ________∙________ </m:t>
                    </m:r>
                  </m:oMath>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algn="ctr">
                  <a:lnSpc>
                    <a:spcPct val="1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Area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=__________</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units</a:t>
                </a:r>
                <a:r>
                  <a:rPr lang="en-US" sz="2400" baseline="30000" dirty="0">
                    <a:latin typeface="Verdana" panose="020B0604030504040204" pitchFamily="34" charset="0"/>
                    <a:ea typeface="Times New Roman" panose="02020603050405020304" pitchFamily="18" charset="0"/>
                    <a:cs typeface="Times New Roman" panose="02020603050405020304" pitchFamily="18" charset="0"/>
                  </a:rPr>
                  <a:t>2</a:t>
                </a: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11" name="Rectangle 10">
                <a:extLst>
                  <a:ext uri="{FF2B5EF4-FFF2-40B4-BE49-F238E27FC236}">
                    <a16:creationId xmlns:a16="http://schemas.microsoft.com/office/drawing/2014/main" id="{1F8E8C5D-796F-8948-BE56-2D12F80DC2EB}"/>
                  </a:ext>
                </a:extLst>
              </p:cNvPr>
              <p:cNvSpPr>
                <a:spLocks noRot="1" noChangeAspect="1" noMove="1" noResize="1" noEditPoints="1" noAdjustHandles="1" noChangeArrowheads="1" noChangeShapeType="1" noTextEdit="1"/>
              </p:cNvSpPr>
              <p:nvPr/>
            </p:nvSpPr>
            <p:spPr>
              <a:xfrm>
                <a:off x="1531917" y="3798787"/>
                <a:ext cx="8521059" cy="2858988"/>
              </a:xfrm>
              <a:prstGeom prst="rect">
                <a:avLst/>
              </a:prstGeom>
              <a:blipFill>
                <a:blip r:embed="rId5"/>
                <a:stretch>
                  <a:fillRect t="-1706" b="-1493"/>
                </a:stretch>
              </a:blipFill>
            </p:spPr>
            <p:txBody>
              <a:bodyPr/>
              <a:lstStyle/>
              <a:p>
                <a:r>
                  <a:rPr lang="en-US">
                    <a:noFill/>
                  </a:rPr>
                  <a:t> </a:t>
                </a:r>
              </a:p>
            </p:txBody>
          </p:sp>
        </mc:Fallback>
      </mc:AlternateContent>
    </p:spTree>
    <p:extLst>
      <p:ext uri="{BB962C8B-B14F-4D97-AF65-F5344CB8AC3E}">
        <p14:creationId xmlns:p14="http://schemas.microsoft.com/office/powerpoint/2010/main" val="1939889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375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128</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31917" y="796957"/>
            <a:ext cx="8602608" cy="1569660"/>
          </a:xfrm>
          <a:prstGeom prst="rect">
            <a:avLst/>
          </a:prstGeom>
        </p:spPr>
        <p:txBody>
          <a:bodyPr wrap="square">
            <a:spAutoFit/>
          </a:bodyPr>
          <a:lstStyle/>
          <a:p>
            <a:pPr marL="892175"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Three lengths are shown in the figure. With your partner, discuss the length that was not used to find the area of the parallelogram. Then, write an explanation for why this length was not used.</a:t>
            </a:r>
          </a:p>
        </p:txBody>
      </p:sp>
    </p:spTree>
    <p:extLst>
      <p:ext uri="{BB962C8B-B14F-4D97-AF65-F5344CB8AC3E}">
        <p14:creationId xmlns:p14="http://schemas.microsoft.com/office/powerpoint/2010/main" val="2711267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128</a:t>
            </a:r>
            <a:endParaRPr i="1" dirty="0">
              <a:latin typeface="Calibri"/>
              <a:ea typeface="Calibri"/>
              <a:cs typeface="Calibri"/>
              <a:sym typeface="Calibri"/>
            </a:endParaRPr>
          </a:p>
        </p:txBody>
      </p:sp>
      <p:sp>
        <p:nvSpPr>
          <p:cNvPr id="9" name="Google Shape;313;g104476d1465_1_39">
            <a:extLst>
              <a:ext uri="{FF2B5EF4-FFF2-40B4-BE49-F238E27FC236}">
                <a16:creationId xmlns:a16="http://schemas.microsoft.com/office/drawing/2014/main" id="{FBE81C39-C116-3E43-8FD2-10F6C7887F5E}"/>
              </a:ext>
            </a:extLst>
          </p:cNvPr>
          <p:cNvSpPr txBox="1">
            <a:spLocks/>
          </p:cNvSpPr>
          <p:nvPr/>
        </p:nvSpPr>
        <p:spPr>
          <a:xfrm>
            <a:off x="5174928" y="2766144"/>
            <a:ext cx="5002742"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buFont typeface="Cutive"/>
              <a:buNone/>
            </a:pPr>
            <a:r>
              <a:rPr lang="en-US" sz="5500" b="1">
                <a:solidFill>
                  <a:srgbClr val="33BEA6"/>
                </a:solidFill>
                <a:latin typeface="Verdana"/>
                <a:ea typeface="Verdana"/>
                <a:cs typeface="Verdana"/>
                <a:sym typeface="Verdana"/>
              </a:rPr>
              <a:t>Activity</a:t>
            </a:r>
            <a:endParaRPr lang="en-US" sz="5100" b="1" dirty="0">
              <a:solidFill>
                <a:srgbClr val="33BEA6"/>
              </a:solidFill>
              <a:latin typeface="Verdana"/>
              <a:ea typeface="Verdana"/>
              <a:cs typeface="Verdana"/>
              <a:sym typeface="Verdana"/>
            </a:endParaRPr>
          </a:p>
        </p:txBody>
      </p:sp>
      <p:pic>
        <p:nvPicPr>
          <p:cNvPr id="10" name="image17.png" descr="Icon&#10;&#10;Description automatically generated">
            <a:extLst>
              <a:ext uri="{FF2B5EF4-FFF2-40B4-BE49-F238E27FC236}">
                <a16:creationId xmlns:a16="http://schemas.microsoft.com/office/drawing/2014/main" id="{C36587AA-1480-B044-B981-F4072E80DA70}"/>
              </a:ext>
            </a:extLst>
          </p:cNvPr>
          <p:cNvPicPr/>
          <p:nvPr/>
        </p:nvPicPr>
        <p:blipFill>
          <a:blip r:embed="rId4"/>
          <a:srcRect/>
          <a:stretch>
            <a:fillRect/>
          </a:stretch>
        </p:blipFill>
        <p:spPr>
          <a:xfrm>
            <a:off x="4844414" y="2852921"/>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99040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6959" y="-2278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9484" y="618603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2073700" y="214524"/>
            <a:ext cx="897679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4.1.4 Activity: Deriving the Formula for the Area of a Trapezoid</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61258" y="644311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128</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2073700" y="1632183"/>
            <a:ext cx="8327136" cy="461665"/>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A trapezoid is another type of quadrilateral.</a:t>
            </a:r>
          </a:p>
        </p:txBody>
      </p:sp>
      <p:pic>
        <p:nvPicPr>
          <p:cNvPr id="9" name="image17.png" descr="Icon&#10;&#10;Description automatically generated">
            <a:extLst>
              <a:ext uri="{FF2B5EF4-FFF2-40B4-BE49-F238E27FC236}">
                <a16:creationId xmlns:a16="http://schemas.microsoft.com/office/drawing/2014/main" id="{2E71F11B-8858-AF41-9147-E6CC2104E9E6}"/>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1141501" y="414353"/>
            <a:ext cx="750164" cy="750164"/>
          </a:xfrm>
          <a:prstGeom prst="rect">
            <a:avLst/>
          </a:prstGeom>
          <a:ln/>
        </p:spPr>
      </p:pic>
      <p:grpSp>
        <p:nvGrpSpPr>
          <p:cNvPr id="11" name="Group 10">
            <a:extLst>
              <a:ext uri="{FF2B5EF4-FFF2-40B4-BE49-F238E27FC236}">
                <a16:creationId xmlns:a16="http://schemas.microsoft.com/office/drawing/2014/main" id="{CA9DDBA1-9D11-074D-B514-E8C2AC4F0907}"/>
              </a:ext>
            </a:extLst>
          </p:cNvPr>
          <p:cNvGrpSpPr/>
          <p:nvPr/>
        </p:nvGrpSpPr>
        <p:grpSpPr>
          <a:xfrm>
            <a:off x="2781300" y="2256475"/>
            <a:ext cx="6629400" cy="903358"/>
            <a:chOff x="2031300" y="3353007"/>
            <a:chExt cx="6629400" cy="853986"/>
          </a:xfrm>
        </p:grpSpPr>
        <p:grpSp>
          <p:nvGrpSpPr>
            <p:cNvPr id="12" name="Group 11">
              <a:extLst>
                <a:ext uri="{FF2B5EF4-FFF2-40B4-BE49-F238E27FC236}">
                  <a16:creationId xmlns:a16="http://schemas.microsoft.com/office/drawing/2014/main" id="{89AFD8C1-D5B2-8647-B73F-80F00333E7E6}"/>
                </a:ext>
              </a:extLst>
            </p:cNvPr>
            <p:cNvGrpSpPr/>
            <p:nvPr/>
          </p:nvGrpSpPr>
          <p:grpSpPr>
            <a:xfrm>
              <a:off x="2031300" y="3353007"/>
              <a:ext cx="6629400" cy="853986"/>
              <a:chOff x="2031300" y="3353007"/>
              <a:chExt cx="6629400" cy="853986"/>
            </a:xfrm>
          </p:grpSpPr>
          <p:sp>
            <p:nvSpPr>
              <p:cNvPr id="13" name="Rectangle 12">
                <a:extLst>
                  <a:ext uri="{FF2B5EF4-FFF2-40B4-BE49-F238E27FC236}">
                    <a16:creationId xmlns:a16="http://schemas.microsoft.com/office/drawing/2014/main" id="{51AA46A2-D3B0-6F44-AA4D-E328A4A3A2C3}"/>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259EC412-6733-8946-B31F-1F27B3E7BF25}"/>
                  </a:ext>
                </a:extLst>
              </p:cNvPr>
              <p:cNvGrpSpPr/>
              <p:nvPr/>
            </p:nvGrpSpPr>
            <p:grpSpPr>
              <a:xfrm>
                <a:off x="2031300" y="3353007"/>
                <a:ext cx="6629400" cy="853986"/>
                <a:chOff x="0" y="-20593"/>
                <a:chExt cx="6629400" cy="853986"/>
              </a:xfrm>
            </p:grpSpPr>
            <p:sp>
              <p:nvSpPr>
                <p:cNvPr id="17" name="Rectangle 16">
                  <a:extLst>
                    <a:ext uri="{FF2B5EF4-FFF2-40B4-BE49-F238E27FC236}">
                      <a16:creationId xmlns:a16="http://schemas.microsoft.com/office/drawing/2014/main" id="{C8B23F86-2716-6D42-A95A-5D4866A2A8E9}"/>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8" name="Rounded Rectangle 17">
                  <a:extLst>
                    <a:ext uri="{FF2B5EF4-FFF2-40B4-BE49-F238E27FC236}">
                      <a16:creationId xmlns:a16="http://schemas.microsoft.com/office/drawing/2014/main" id="{D1B693BE-6D75-F646-820B-5404E1CD6F57}"/>
                    </a:ext>
                  </a:extLst>
                </p:cNvPr>
                <p:cNvSpPr/>
                <p:nvPr/>
              </p:nvSpPr>
              <p:spPr>
                <a:xfrm>
                  <a:off x="0" y="-20593"/>
                  <a:ext cx="6629400" cy="85398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722313">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trapezoid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 a quadrilateral with at least one pair of parallel sides. </a:t>
                  </a:r>
                  <a:endParaRPr lang="x-none"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9" name="Shape 7" descr="Icon&#10;&#10;Description automatically generated">
                  <a:extLst>
                    <a:ext uri="{FF2B5EF4-FFF2-40B4-BE49-F238E27FC236}">
                      <a16:creationId xmlns:a16="http://schemas.microsoft.com/office/drawing/2014/main" id="{152EA435-E025-FE49-8DD6-9AF1932C529E}"/>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38545" y="92367"/>
                  <a:ext cx="539750" cy="539750"/>
                </a:xfrm>
                <a:prstGeom prst="rect">
                  <a:avLst/>
                </a:prstGeom>
                <a:noFill/>
                <a:ln>
                  <a:noFill/>
                </a:ln>
                <a:effectLst>
                  <a:outerShdw blurRad="50800" dist="38100" dir="2700000" algn="tl" rotWithShape="0">
                    <a:prstClr val="black">
                      <a:alpha val="40000"/>
                    </a:prstClr>
                  </a:outerShdw>
                </a:effectLst>
              </p:spPr>
            </p:pic>
          </p:grpSp>
        </p:grpSp>
      </p:grpSp>
      <p:sp>
        <p:nvSpPr>
          <p:cNvPr id="20" name="TextBox 19">
            <a:extLst>
              <a:ext uri="{FF2B5EF4-FFF2-40B4-BE49-F238E27FC236}">
                <a16:creationId xmlns:a16="http://schemas.microsoft.com/office/drawing/2014/main" id="{EFD572BB-29A8-CE4D-AF18-7C83CBAF5ED2}"/>
              </a:ext>
            </a:extLst>
          </p:cNvPr>
          <p:cNvSpPr txBox="1"/>
          <p:nvPr/>
        </p:nvSpPr>
        <p:spPr>
          <a:xfrm>
            <a:off x="2073700" y="3407974"/>
            <a:ext cx="8327136" cy="830997"/>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Trapezoid A is shown on a grid with each gridline representing one unit.</a:t>
            </a:r>
          </a:p>
        </p:txBody>
      </p:sp>
      <p:pic>
        <p:nvPicPr>
          <p:cNvPr id="21" name="Picture 20">
            <a:extLst>
              <a:ext uri="{FF2B5EF4-FFF2-40B4-BE49-F238E27FC236}">
                <a16:creationId xmlns:a16="http://schemas.microsoft.com/office/drawing/2014/main" id="{6F2E6553-79D8-C641-BE86-C78EE1B6839F}"/>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21810" b="20511"/>
          <a:stretch/>
        </p:blipFill>
        <p:spPr bwMode="auto">
          <a:xfrm>
            <a:off x="3742407" y="4448550"/>
            <a:ext cx="4707186" cy="1966662"/>
          </a:xfrm>
          <a:prstGeom prst="rect">
            <a:avLst/>
          </a:prstGeom>
          <a:noFill/>
          <a:ln>
            <a:noFill/>
          </a:ln>
          <a:extLst>
            <a:ext uri="{53640926-AAD7-44D8-BBD7-CCE9431645EC}">
              <a14:shadowObscured xmlns:a14="http://schemas.microsoft.com/office/drawing/2010/main"/>
            </a:ext>
          </a:extLst>
        </p:spPr>
      </p:pic>
      <p:sp>
        <p:nvSpPr>
          <p:cNvPr id="22" name="Text Box 60">
            <a:extLst>
              <a:ext uri="{FF2B5EF4-FFF2-40B4-BE49-F238E27FC236}">
                <a16:creationId xmlns:a16="http://schemas.microsoft.com/office/drawing/2014/main" id="{9E680F5E-817F-1946-BFB7-E972006CED1E}"/>
              </a:ext>
            </a:extLst>
          </p:cNvPr>
          <p:cNvSpPr txBox="1"/>
          <p:nvPr/>
        </p:nvSpPr>
        <p:spPr>
          <a:xfrm>
            <a:off x="4869229" y="4369502"/>
            <a:ext cx="2086741" cy="4000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Trapezoid A</a:t>
            </a:r>
            <a:endParaRPr lang="x-none">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1997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0488" y="-2375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1520042" y="417102"/>
                <a:ext cx="8814859" cy="6001643"/>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two parallel sides of a trapezoid are both called bases. To distinguish between the two bases, one is named base one, </a:t>
                </a:r>
                <a14:m>
                  <m:oMath xmlns:m="http://schemas.openxmlformats.org/officeDocument/2006/math">
                    <m:sSub>
                      <m:sSubPr>
                        <m:ctrlPr>
                          <a:rPr lang="en-US" sz="2400" i="1" dirty="0">
                            <a:latin typeface="Cambria Math" panose="02040503050406030204" pitchFamily="18" charset="0"/>
                            <a:cs typeface="Times New Roman" panose="02020603050405020304" pitchFamily="18" charset="0"/>
                          </a:rPr>
                        </m:ctrlPr>
                      </m:sSubPr>
                      <m:e>
                        <m:r>
                          <a:rPr lang="es-ES" sz="2400" i="1" dirty="0">
                            <a:latin typeface="Cambria Math" panose="02040503050406030204" pitchFamily="18" charset="0"/>
                            <a:cs typeface="Times New Roman" panose="02020603050405020304" pitchFamily="18" charset="0"/>
                          </a:rPr>
                          <m:t>𝑏</m:t>
                        </m:r>
                      </m:e>
                      <m:sub>
                        <m:r>
                          <a:rPr lang="es-ES" sz="2400" i="1" dirty="0">
                            <a:latin typeface="Cambria Math" panose="02040503050406030204" pitchFamily="18" charset="0"/>
                            <a:cs typeface="Times New Roman" panose="02020603050405020304" pitchFamily="18" charset="0"/>
                          </a:rPr>
                          <m:t>1</m:t>
                        </m:r>
                      </m:sub>
                    </m:sSub>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the other base two, </a:t>
                </a:r>
                <a14:m>
                  <m:oMath xmlns:m="http://schemas.openxmlformats.org/officeDocument/2006/math">
                    <m:sSub>
                      <m:sSubPr>
                        <m:ctrlPr>
                          <a:rPr lang="en-US" sz="2400" i="1" dirty="0">
                            <a:latin typeface="Cambria Math" panose="02040503050406030204" pitchFamily="18" charset="0"/>
                            <a:cs typeface="Times New Roman" panose="02020603050405020304" pitchFamily="18" charset="0"/>
                          </a:rPr>
                        </m:ctrlPr>
                      </m:sSubPr>
                      <m:e>
                        <m:r>
                          <a:rPr lang="es-ES" sz="2400" i="1" dirty="0">
                            <a:latin typeface="Cambria Math" panose="02040503050406030204" pitchFamily="18" charset="0"/>
                            <a:cs typeface="Times New Roman" panose="02020603050405020304" pitchFamily="18" charset="0"/>
                          </a:rPr>
                          <m:t>𝑏</m:t>
                        </m:r>
                      </m:e>
                      <m:sub>
                        <m:r>
                          <a:rPr lang="es-ES" sz="2400" i="1" dirty="0">
                            <a:latin typeface="Cambria Math" panose="02040503050406030204" pitchFamily="18" charset="0"/>
                            <a:cs typeface="Times New Roman" panose="02020603050405020304" pitchFamily="18" charset="0"/>
                          </a:rPr>
                          <m:t>2</m:t>
                        </m:r>
                      </m:sub>
                    </m:sSub>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On Trapezoid A, label one of the bases </a:t>
                </a:r>
                <a14:m>
                  <m:oMath xmlns:m="http://schemas.openxmlformats.org/officeDocument/2006/math">
                    <m:sSub>
                      <m:sSubPr>
                        <m:ctrlPr>
                          <a:rPr lang="en-US" sz="2400" i="1" dirty="0">
                            <a:latin typeface="Cambria Math" panose="02040503050406030204" pitchFamily="18" charset="0"/>
                            <a:cs typeface="Times New Roman" panose="02020603050405020304" pitchFamily="18" charset="0"/>
                          </a:rPr>
                        </m:ctrlPr>
                      </m:sSubPr>
                      <m:e>
                        <m:r>
                          <a:rPr lang="es-ES" sz="2400" i="1" dirty="0">
                            <a:latin typeface="Cambria Math" panose="02040503050406030204" pitchFamily="18" charset="0"/>
                            <a:cs typeface="Times New Roman" panose="02020603050405020304" pitchFamily="18" charset="0"/>
                          </a:rPr>
                          <m:t>𝑏</m:t>
                        </m:r>
                      </m:e>
                      <m:sub>
                        <m:r>
                          <a:rPr lang="es-ES" sz="2400" i="1" dirty="0">
                            <a:latin typeface="Cambria Math" panose="02040503050406030204" pitchFamily="18" charset="0"/>
                            <a:cs typeface="Times New Roman" panose="02020603050405020304" pitchFamily="18" charset="0"/>
                          </a:rPr>
                          <m:t>1</m:t>
                        </m:r>
                      </m:sub>
                    </m:sSub>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the other </a:t>
                </a:r>
                <a14:m>
                  <m:oMath xmlns:m="http://schemas.openxmlformats.org/officeDocument/2006/math">
                    <m:sSub>
                      <m:sSubPr>
                        <m:ctrlPr>
                          <a:rPr lang="en-US" sz="2400" i="1" dirty="0">
                            <a:latin typeface="Cambria Math" panose="02040503050406030204" pitchFamily="18" charset="0"/>
                            <a:cs typeface="Times New Roman" panose="02020603050405020304" pitchFamily="18" charset="0"/>
                          </a:rPr>
                        </m:ctrlPr>
                      </m:sSubPr>
                      <m:e>
                        <m:r>
                          <a:rPr lang="es-ES" sz="2400" i="1" dirty="0">
                            <a:latin typeface="Cambria Math" panose="02040503050406030204" pitchFamily="18" charset="0"/>
                            <a:cs typeface="Times New Roman" panose="02020603050405020304" pitchFamily="18" charset="0"/>
                          </a:rPr>
                          <m:t>𝑏</m:t>
                        </m:r>
                      </m:e>
                      <m:sub>
                        <m:r>
                          <a:rPr lang="es-ES" sz="2400" i="1" dirty="0">
                            <a:latin typeface="Cambria Math" panose="02040503050406030204" pitchFamily="18" charset="0"/>
                            <a:cs typeface="Times New Roman" panose="02020603050405020304" pitchFamily="18" charset="0"/>
                          </a:rPr>
                          <m:t>2</m:t>
                        </m:r>
                      </m:sub>
                    </m:sSub>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each statement.</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81075" indent="-484188">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The length of </a:t>
                </a:r>
                <a14:m>
                  <m:oMath xmlns:m="http://schemas.openxmlformats.org/officeDocument/2006/math">
                    <m:sSub>
                      <m:sSubPr>
                        <m:ctrlPr>
                          <a:rPr lang="en-US" sz="2400" i="1" dirty="0">
                            <a:latin typeface="Cambria Math" panose="02040503050406030204" pitchFamily="18" charset="0"/>
                            <a:cs typeface="Times New Roman" panose="02020603050405020304" pitchFamily="18" charset="0"/>
                          </a:rPr>
                        </m:ctrlPr>
                      </m:sSubPr>
                      <m:e>
                        <m:r>
                          <a:rPr lang="es-ES" sz="2400" i="1" dirty="0">
                            <a:latin typeface="Cambria Math" panose="02040503050406030204" pitchFamily="18" charset="0"/>
                            <a:cs typeface="Times New Roman" panose="02020603050405020304" pitchFamily="18" charset="0"/>
                          </a:rPr>
                          <m:t>𝑏</m:t>
                        </m:r>
                      </m:e>
                      <m:sub>
                        <m:r>
                          <a:rPr lang="es-ES" sz="2400" i="1" dirty="0">
                            <a:latin typeface="Cambria Math" panose="02040503050406030204" pitchFamily="18" charset="0"/>
                            <a:cs typeface="Times New Roman" panose="02020603050405020304" pitchFamily="18" charset="0"/>
                          </a:rPr>
                          <m:t>1</m:t>
                        </m:r>
                      </m:sub>
                    </m:sSub>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of Trapezoid A is _____ units.</a:t>
                </a:r>
              </a:p>
              <a:p>
                <a:pPr marL="981075" indent="-484188">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81075" indent="-484188">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The length of </a:t>
                </a:r>
                <a14:m>
                  <m:oMath xmlns:m="http://schemas.openxmlformats.org/officeDocument/2006/math">
                    <m:sSub>
                      <m:sSubPr>
                        <m:ctrlPr>
                          <a:rPr lang="en-US" sz="2400" i="1" dirty="0">
                            <a:latin typeface="Cambria Math" panose="02040503050406030204" pitchFamily="18" charset="0"/>
                            <a:cs typeface="Times New Roman" panose="02020603050405020304" pitchFamily="18" charset="0"/>
                          </a:rPr>
                        </m:ctrlPr>
                      </m:sSubPr>
                      <m:e>
                        <m:r>
                          <a:rPr lang="es-ES" sz="2400" i="1" dirty="0">
                            <a:latin typeface="Cambria Math" panose="02040503050406030204" pitchFamily="18" charset="0"/>
                            <a:cs typeface="Times New Roman" panose="02020603050405020304" pitchFamily="18" charset="0"/>
                          </a:rPr>
                          <m:t>𝑏</m:t>
                        </m:r>
                      </m:e>
                      <m:sub>
                        <m:r>
                          <a:rPr lang="es-ES" sz="2400" i="1" dirty="0">
                            <a:latin typeface="Cambria Math" panose="02040503050406030204" pitchFamily="18" charset="0"/>
                            <a:cs typeface="Times New Roman" panose="02020603050405020304" pitchFamily="18" charset="0"/>
                          </a:rPr>
                          <m:t>2</m:t>
                        </m:r>
                      </m:sub>
                    </m:sSub>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of Trapezoid A is _____ units.</a:t>
                </a:r>
              </a:p>
              <a:p>
                <a:pPr marL="981075" indent="-484188">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81075" indent="-484188">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The height of Trapezoid A is _____ units.</a:t>
                </a:r>
              </a:p>
            </p:txBody>
          </p:sp>
        </mc:Choice>
        <mc:Fallback xmlns="">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1520042" y="417102"/>
                <a:ext cx="8814859" cy="6001643"/>
              </a:xfrm>
              <a:prstGeom prst="rect">
                <a:avLst/>
              </a:prstGeom>
              <a:blipFill>
                <a:blip r:embed="rId4"/>
                <a:stretch>
                  <a:fillRect l="-1037" t="-812" b="-1320"/>
                </a:stretch>
              </a:blipFill>
            </p:spPr>
            <p:txBody>
              <a:bodyPr/>
              <a:lstStyle/>
              <a:p>
                <a:r>
                  <a:rPr lang="en-US">
                    <a:noFill/>
                  </a:rPr>
                  <a:t> </a:t>
                </a:r>
              </a:p>
            </p:txBody>
          </p:sp>
        </mc:Fallback>
      </mc:AlternateContent>
    </p:spTree>
    <p:extLst>
      <p:ext uri="{BB962C8B-B14F-4D97-AF65-F5344CB8AC3E}">
        <p14:creationId xmlns:p14="http://schemas.microsoft.com/office/powerpoint/2010/main" val="369839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1875"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129</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31917" y="411367"/>
            <a:ext cx="8359695" cy="830997"/>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Trapezoid A is decomposed into two triangles and labeled, as shown below.</a:t>
            </a:r>
          </a:p>
        </p:txBody>
      </p:sp>
      <p:pic>
        <p:nvPicPr>
          <p:cNvPr id="9" name="Picture 8">
            <a:extLst>
              <a:ext uri="{FF2B5EF4-FFF2-40B4-BE49-F238E27FC236}">
                <a16:creationId xmlns:a16="http://schemas.microsoft.com/office/drawing/2014/main" id="{ACBF2ED0-136D-DD43-9E80-DE8069E5099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auto">
          <a:xfrm>
            <a:off x="3340418" y="1804120"/>
            <a:ext cx="5511165" cy="2917190"/>
          </a:xfrm>
          <a:prstGeom prst="rect">
            <a:avLst/>
          </a:prstGeom>
          <a:noFill/>
          <a:ln>
            <a:noFill/>
          </a:ln>
        </p:spPr>
      </p:pic>
      <p:sp>
        <p:nvSpPr>
          <p:cNvPr id="11" name="Text Box 62">
            <a:extLst>
              <a:ext uri="{FF2B5EF4-FFF2-40B4-BE49-F238E27FC236}">
                <a16:creationId xmlns:a16="http://schemas.microsoft.com/office/drawing/2014/main" id="{494D227F-1267-0948-8D4C-7D559A3C3307}"/>
              </a:ext>
            </a:extLst>
          </p:cNvPr>
          <p:cNvSpPr txBox="1"/>
          <p:nvPr/>
        </p:nvSpPr>
        <p:spPr>
          <a:xfrm>
            <a:off x="4778469" y="1390155"/>
            <a:ext cx="2472690" cy="4572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Trapezoid A</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 Box 63">
                <a:extLst>
                  <a:ext uri="{FF2B5EF4-FFF2-40B4-BE49-F238E27FC236}">
                    <a16:creationId xmlns:a16="http://schemas.microsoft.com/office/drawing/2014/main" id="{169D7599-0516-684B-8A07-B8721BDA64AC}"/>
                  </a:ext>
                </a:extLst>
              </p:cNvPr>
              <p:cNvSpPr txBox="1"/>
              <p:nvPr/>
            </p:nvSpPr>
            <p:spPr>
              <a:xfrm>
                <a:off x="5541413" y="2109237"/>
                <a:ext cx="553720" cy="4787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sSub>
                        <m:sSub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latin typeface="Cambria Math" panose="02040503050406030204" pitchFamily="18" charset="0"/>
                              <a:ea typeface="Times New Roman" panose="02020603050405020304" pitchFamily="18" charset="0"/>
                              <a:cs typeface="Times New Roman" panose="02020603050405020304" pitchFamily="18" charset="0"/>
                            </a:rPr>
                            <m:t>𝑏</m:t>
                          </m:r>
                        </m:e>
                        <m:sub>
                          <m:r>
                            <a:rPr lang="en-US" sz="2000" i="1">
                              <a:latin typeface="Cambria Math" panose="02040503050406030204" pitchFamily="18" charset="0"/>
                              <a:ea typeface="Times New Roman" panose="02020603050405020304" pitchFamily="18" charset="0"/>
                              <a:cs typeface="Times New Roman" panose="02020603050405020304" pitchFamily="18" charset="0"/>
                            </a:rPr>
                            <m:t>1</m:t>
                          </m:r>
                        </m:sub>
                      </m:sSub>
                    </m:oMath>
                  </m:oMathPara>
                </a14:m>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3" name="Text Box 63">
                <a:extLst>
                  <a:ext uri="{FF2B5EF4-FFF2-40B4-BE49-F238E27FC236}">
                    <a16:creationId xmlns:a16="http://schemas.microsoft.com/office/drawing/2014/main" id="{169D7599-0516-684B-8A07-B8721BDA64AC}"/>
                  </a:ext>
                </a:extLst>
              </p:cNvPr>
              <p:cNvSpPr txBox="1">
                <a:spLocks noRot="1" noChangeAspect="1" noMove="1" noResize="1" noEditPoints="1" noAdjustHandles="1" noChangeArrowheads="1" noChangeShapeType="1" noTextEdit="1"/>
              </p:cNvSpPr>
              <p:nvPr/>
            </p:nvSpPr>
            <p:spPr>
              <a:xfrm>
                <a:off x="5541413" y="2109237"/>
                <a:ext cx="553720" cy="478790"/>
              </a:xfrm>
              <a:prstGeom prst="rect">
                <a:avLst/>
              </a:prstGeom>
              <a:blipFill>
                <a:blip r:embed="rId5"/>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 Box 448">
                <a:extLst>
                  <a:ext uri="{FF2B5EF4-FFF2-40B4-BE49-F238E27FC236}">
                    <a16:creationId xmlns:a16="http://schemas.microsoft.com/office/drawing/2014/main" id="{7CEA0962-1C8D-A547-A141-5352A451205E}"/>
                  </a:ext>
                </a:extLst>
              </p:cNvPr>
              <p:cNvSpPr txBox="1"/>
              <p:nvPr/>
            </p:nvSpPr>
            <p:spPr>
              <a:xfrm>
                <a:off x="5489146" y="4013494"/>
                <a:ext cx="553720" cy="4787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sSub>
                        <m:sSub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latin typeface="Cambria Math" panose="02040503050406030204" pitchFamily="18" charset="0"/>
                              <a:ea typeface="Times New Roman" panose="02020603050405020304" pitchFamily="18" charset="0"/>
                              <a:cs typeface="Times New Roman" panose="02020603050405020304" pitchFamily="18" charset="0"/>
                            </a:rPr>
                            <m:t>𝑏</m:t>
                          </m:r>
                        </m:e>
                        <m:sub>
                          <m:r>
                            <a:rPr lang="en-US" sz="2000" i="1">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 Box 448">
                <a:extLst>
                  <a:ext uri="{FF2B5EF4-FFF2-40B4-BE49-F238E27FC236}">
                    <a16:creationId xmlns:a16="http://schemas.microsoft.com/office/drawing/2014/main" id="{7CEA0962-1C8D-A547-A141-5352A451205E}"/>
                  </a:ext>
                </a:extLst>
              </p:cNvPr>
              <p:cNvSpPr txBox="1">
                <a:spLocks noRot="1" noChangeAspect="1" noMove="1" noResize="1" noEditPoints="1" noAdjustHandles="1" noChangeArrowheads="1" noChangeShapeType="1" noTextEdit="1"/>
              </p:cNvSpPr>
              <p:nvPr/>
            </p:nvSpPr>
            <p:spPr>
              <a:xfrm>
                <a:off x="5489146" y="4013494"/>
                <a:ext cx="553720" cy="478790"/>
              </a:xfrm>
              <a:prstGeom prst="rect">
                <a:avLst/>
              </a:prstGeom>
              <a:blipFill>
                <a:blip r:embed="rId6"/>
                <a:stretch>
                  <a:fillRect/>
                </a:stretch>
              </a:blipFill>
              <a:ln w="6350">
                <a:noFill/>
              </a:ln>
            </p:spPr>
            <p:txBody>
              <a:bodyPr/>
              <a:lstStyle/>
              <a:p>
                <a:r>
                  <a:rPr lang="en-US">
                    <a:noFill/>
                  </a:rPr>
                  <a:t> </a:t>
                </a:r>
              </a:p>
            </p:txBody>
          </p:sp>
        </mc:Fallback>
      </mc:AlternateContent>
      <p:sp>
        <p:nvSpPr>
          <p:cNvPr id="15" name="Text Box 450">
            <a:extLst>
              <a:ext uri="{FF2B5EF4-FFF2-40B4-BE49-F238E27FC236}">
                <a16:creationId xmlns:a16="http://schemas.microsoft.com/office/drawing/2014/main" id="{0E645845-3BAD-DB4F-985A-BA9C4043565D}"/>
              </a:ext>
            </a:extLst>
          </p:cNvPr>
          <p:cNvSpPr txBox="1"/>
          <p:nvPr/>
        </p:nvSpPr>
        <p:spPr>
          <a:xfrm>
            <a:off x="3577162" y="2685109"/>
            <a:ext cx="2188845" cy="4572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Triangle M</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6" name="Text Box 451">
            <a:extLst>
              <a:ext uri="{FF2B5EF4-FFF2-40B4-BE49-F238E27FC236}">
                <a16:creationId xmlns:a16="http://schemas.microsoft.com/office/drawing/2014/main" id="{62FF4245-8E3D-1F4B-A85F-8C8DC438F6B3}"/>
              </a:ext>
            </a:extLst>
          </p:cNvPr>
          <p:cNvSpPr txBox="1"/>
          <p:nvPr/>
        </p:nvSpPr>
        <p:spPr>
          <a:xfrm>
            <a:off x="5587223" y="3146119"/>
            <a:ext cx="1828800" cy="4572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Triangle T</a:t>
            </a:r>
            <a:endParaRPr lang="x-none" sz="200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052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1875"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302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7009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1520042" y="684358"/>
                <a:ext cx="8815726" cy="4708981"/>
              </a:xfrm>
              <a:prstGeom prst="rect">
                <a:avLst/>
              </a:prstGeom>
            </p:spPr>
            <p:txBody>
              <a:bodyPr wrap="square">
                <a:spAutoFit/>
              </a:bodyPr>
              <a:lstStyle/>
              <a:p>
                <a:pPr marL="914400" indent="-45085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statements.</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0588">
                  <a:lnSpc>
                    <a:spcPct val="1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The base of Triangle M, </a:t>
                </a:r>
                <a14:m>
                  <m:oMath xmlns:m="http://schemas.openxmlformats.org/officeDocument/2006/math">
                    <m:sSub>
                      <m:sSubPr>
                        <m:ctrlPr>
                          <a:rPr lang="en-US" sz="2400" i="1" dirty="0">
                            <a:latin typeface="Cambria Math" panose="02040503050406030204" pitchFamily="18" charset="0"/>
                            <a:cs typeface="Times New Roman" panose="02020603050405020304" pitchFamily="18" charset="0"/>
                          </a:rPr>
                        </m:ctrlPr>
                      </m:sSubPr>
                      <m:e>
                        <m:r>
                          <a:rPr lang="es-ES" sz="2400" i="1" dirty="0">
                            <a:latin typeface="Cambria Math" panose="02040503050406030204" pitchFamily="18" charset="0"/>
                            <a:cs typeface="Times New Roman" panose="02020603050405020304" pitchFamily="18" charset="0"/>
                          </a:rPr>
                          <m:t>𝑏</m:t>
                        </m:r>
                      </m:e>
                      <m:sub>
                        <m:r>
                          <a:rPr lang="es-ES" sz="2400" i="1" dirty="0">
                            <a:latin typeface="Cambria Math" panose="02040503050406030204" pitchFamily="18" charset="0"/>
                            <a:cs typeface="Times New Roman" panose="02020603050405020304" pitchFamily="18" charset="0"/>
                          </a:rPr>
                          <m:t>1</m:t>
                        </m:r>
                      </m:sub>
                    </m:sSub>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_____ units, and its corresponding height is _____ units.</a:t>
                </a:r>
              </a:p>
              <a:p>
                <a:pPr marL="890588">
                  <a:lnSpc>
                    <a:spcPct val="1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The base of Triangle T, </a:t>
                </a:r>
                <a14:m>
                  <m:oMath xmlns:m="http://schemas.openxmlformats.org/officeDocument/2006/math">
                    <m:sSub>
                      <m:sSubPr>
                        <m:ctrlPr>
                          <a:rPr lang="en-US" sz="2400" i="1" dirty="0">
                            <a:latin typeface="Cambria Math" panose="02040503050406030204" pitchFamily="18" charset="0"/>
                            <a:cs typeface="Times New Roman" panose="02020603050405020304" pitchFamily="18" charset="0"/>
                          </a:rPr>
                        </m:ctrlPr>
                      </m:sSubPr>
                      <m:e>
                        <m:r>
                          <a:rPr lang="es-ES" sz="2400" i="1" dirty="0">
                            <a:latin typeface="Cambria Math" panose="02040503050406030204" pitchFamily="18" charset="0"/>
                            <a:cs typeface="Times New Roman" panose="02020603050405020304" pitchFamily="18" charset="0"/>
                          </a:rPr>
                          <m:t>𝑏</m:t>
                        </m:r>
                      </m:e>
                      <m:sub>
                        <m:r>
                          <a:rPr lang="es-ES" sz="2400" i="1" dirty="0">
                            <a:latin typeface="Cambria Math" panose="02040503050406030204" pitchFamily="18" charset="0"/>
                            <a:cs typeface="Times New Roman" panose="02020603050405020304" pitchFamily="18" charset="0"/>
                          </a:rPr>
                          <m:t>2</m:t>
                        </m:r>
                      </m:sub>
                    </m:sSub>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_____ units, and its corresponding height is _____ units. When a trapezoid is decomposed into two triangles by drawing a diagonal, the height of both triangles will always be the same.</a:t>
                </a:r>
              </a:p>
            </p:txBody>
          </p:sp>
        </mc:Choice>
        <mc:Fallback xmlns="">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1520042" y="684358"/>
                <a:ext cx="8815726" cy="4708981"/>
              </a:xfrm>
              <a:prstGeom prst="rect">
                <a:avLst/>
              </a:prstGeom>
              <a:blipFill>
                <a:blip r:embed="rId4"/>
                <a:stretch>
                  <a:fillRect t="-1035" r="-1313" b="-388"/>
                </a:stretch>
              </a:blipFill>
            </p:spPr>
            <p:txBody>
              <a:bodyPr/>
              <a:lstStyle/>
              <a:p>
                <a:r>
                  <a:rPr lang="en-US">
                    <a:noFill/>
                  </a:rPr>
                  <a:t> </a:t>
                </a:r>
              </a:p>
            </p:txBody>
          </p:sp>
        </mc:Fallback>
      </mc:AlternateContent>
    </p:spTree>
    <p:extLst>
      <p:ext uri="{BB962C8B-B14F-4D97-AF65-F5344CB8AC3E}">
        <p14:creationId xmlns:p14="http://schemas.microsoft.com/office/powerpoint/2010/main" val="146898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9918"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6193"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796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129</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31917" y="841025"/>
            <a:ext cx="8416833" cy="830997"/>
          </a:xfrm>
          <a:prstGeom prst="rect">
            <a:avLst/>
          </a:prstGeom>
        </p:spPr>
        <p:txBody>
          <a:bodyPr wrap="square">
            <a:spAutoFit/>
          </a:bodyPr>
          <a:lstStyle/>
          <a:p>
            <a:pPr marL="914400" indent="-450850">
              <a:buFont typeface="+mj-lt"/>
              <a:buAutoNum type="alphaLcPeriod" startAt="2"/>
            </a:pPr>
            <a:r>
              <a:rPr lang="en-US" sz="2400" dirty="0" err="1">
                <a:latin typeface="Verdana" panose="020B0604030504040204" pitchFamily="34" charset="0"/>
                <a:ea typeface="Times New Roman" panose="02020603050405020304" pitchFamily="18" charset="0"/>
                <a:cs typeface="Times New Roman" panose="02020603050405020304" pitchFamily="18" charset="0"/>
              </a:rPr>
              <a:t>Davita</a:t>
            </a:r>
            <a:r>
              <a:rPr lang="en-US" sz="2400" dirty="0">
                <a:latin typeface="Verdana" panose="020B0604030504040204" pitchFamily="34" charset="0"/>
                <a:ea typeface="Times New Roman" panose="02020603050405020304" pitchFamily="18" charset="0"/>
                <a:cs typeface="Times New Roman" panose="02020603050405020304" pitchFamily="18" charset="0"/>
              </a:rPr>
              <a:t> wrote a formula for the area of Trapezoid A.</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3E240FA-73B3-1946-81DF-01D541C53285}"/>
                  </a:ext>
                </a:extLst>
              </p:cNvPr>
              <p:cNvGraphicFramePr>
                <a:graphicFrameLocks noGrp="1"/>
              </p:cNvGraphicFramePr>
              <p:nvPr>
                <p:extLst>
                  <p:ext uri="{D42A27DB-BD31-4B8C-83A1-F6EECF244321}">
                    <p14:modId xmlns:p14="http://schemas.microsoft.com/office/powerpoint/2010/main" val="3197018179"/>
                  </p:ext>
                </p:extLst>
              </p:nvPr>
            </p:nvGraphicFramePr>
            <p:xfrm>
              <a:off x="2580044" y="1871431"/>
              <a:ext cx="7368706" cy="1728000"/>
            </p:xfrm>
            <a:graphic>
              <a:graphicData uri="http://schemas.openxmlformats.org/drawingml/2006/table">
                <a:tbl>
                  <a:tblPr firstRow="1" firstCol="1" bandRow="1"/>
                  <a:tblGrid>
                    <a:gridCol w="7368706">
                      <a:extLst>
                        <a:ext uri="{9D8B030D-6E8A-4147-A177-3AD203B41FA5}">
                          <a16:colId xmlns:a16="http://schemas.microsoft.com/office/drawing/2014/main" val="685320816"/>
                        </a:ext>
                      </a:extLst>
                    </a:gridCol>
                  </a:tblGrid>
                  <a:tr h="468000">
                    <a:tc>
                      <a:txBody>
                        <a:bodyPr/>
                        <a:lstStyle/>
                        <a:p>
                          <a:pPr marL="0" marR="0" algn="ctr">
                            <a:spcBef>
                              <a:spcPts val="0"/>
                            </a:spcBef>
                            <a:spcAft>
                              <a:spcPts val="0"/>
                            </a:spcAft>
                          </a:pPr>
                          <a:r>
                            <a:rPr lang="x-none" sz="2000">
                              <a:effectLst/>
                              <a:latin typeface="Verdana" panose="020B0604030504040204" pitchFamily="34" charset="0"/>
                              <a:ea typeface="Verdana" panose="020B0604030504040204" pitchFamily="34" charset="0"/>
                              <a:cs typeface="Verdana" panose="020B0604030504040204" pitchFamily="34" charset="0"/>
                            </a:rPr>
                            <a:t> </a:t>
                          </a:r>
                          <a:r>
                            <a:rPr lang="en-US" sz="2000" b="1"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Davita’s</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Equation</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583795426"/>
                      </a:ext>
                    </a:extLst>
                  </a:tr>
                  <a:tr h="1260000">
                    <a:tc>
                      <a:txBody>
                        <a:bodyPr/>
                        <a:lstStyle/>
                        <a:p>
                          <a:pPr marL="0" marR="0" algn="ctr">
                            <a:spcBef>
                              <a:spcPts val="0"/>
                            </a:spcBef>
                            <a:spcAft>
                              <a:spcPts val="1800"/>
                            </a:spcAft>
                          </a:pPr>
                          <a:r>
                            <a:rPr lang="en-US" sz="2000" dirty="0">
                              <a:effectLst/>
                              <a:latin typeface="Verdana" panose="020B0604030504040204" pitchFamily="34" charset="0"/>
                              <a:ea typeface="Verdana" panose="020B0604030504040204" pitchFamily="34" charset="0"/>
                              <a:cs typeface="Verdana" panose="020B0604030504040204" pitchFamily="34" charset="0"/>
                            </a:rPr>
                            <a:t>Area Trapezoid A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Area Triangle M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Area Triangle T</a:t>
                          </a:r>
                          <a:endParaRPr lang="en-PH" sz="2000" dirty="0">
                            <a:effectLst/>
                            <a:latin typeface="Cambria" panose="02040503050406030204" pitchFamily="18" charset="0"/>
                            <a:ea typeface="Verdana" panose="020B0604030504040204" pitchFamily="34" charset="0"/>
                            <a:cs typeface="Times New Roman" panose="020206030504050203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𝐴</m:t>
                                </m:r>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sSub>
                                  <m:sSub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bPr>
                                  <m:e>
                                    <m:r>
                                      <a:rPr lang="en-US" sz="2000" i="1">
                                        <a:effectLst/>
                                        <a:latin typeface="Cambria Math" panose="02040503050406030204" pitchFamily="18" charset="0"/>
                                        <a:ea typeface="Verdana" panose="020B0604030504040204" pitchFamily="34" charset="0"/>
                                        <a:cs typeface="Verdana" panose="020B0604030504040204" pitchFamily="34" charset="0"/>
                                      </a:rPr>
                                      <m:t>𝑏</m:t>
                                    </m:r>
                                  </m:e>
                                  <m:sub>
                                    <m:r>
                                      <a:rPr lang="en-US" sz="2000" i="1">
                                        <a:effectLst/>
                                        <a:latin typeface="Cambria Math" panose="02040503050406030204" pitchFamily="18" charset="0"/>
                                        <a:ea typeface="Verdana" panose="020B0604030504040204" pitchFamily="34" charset="0"/>
                                        <a:cs typeface="Verdana" panose="020B0604030504040204" pitchFamily="34" charset="0"/>
                                      </a:rPr>
                                      <m:t>1</m:t>
                                    </m:r>
                                  </m:sub>
                                </m:sSub>
                                <m:r>
                                  <a:rPr lang="en-US" sz="2000" i="1">
                                    <a:effectLst/>
                                    <a:latin typeface="Cambria Math" panose="02040503050406030204" pitchFamily="18" charset="0"/>
                                    <a:ea typeface="Verdana" panose="020B0604030504040204" pitchFamily="34" charset="0"/>
                                    <a:cs typeface="Verdana" panose="020B0604030504040204" pitchFamily="34" charset="0"/>
                                  </a:rPr>
                                  <m:t>h</m:t>
                                </m:r>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sSub>
                                  <m:sSub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bPr>
                                  <m:e>
                                    <m:r>
                                      <a:rPr lang="en-US" sz="2000" i="1">
                                        <a:effectLst/>
                                        <a:latin typeface="Cambria Math" panose="02040503050406030204" pitchFamily="18" charset="0"/>
                                        <a:ea typeface="Verdana" panose="020B0604030504040204" pitchFamily="34" charset="0"/>
                                        <a:cs typeface="Verdana" panose="020B0604030504040204" pitchFamily="34" charset="0"/>
                                      </a:rPr>
                                      <m:t>𝑏</m:t>
                                    </m:r>
                                  </m:e>
                                  <m:sub>
                                    <m:r>
                                      <a:rPr lang="en-US" sz="2000" i="1">
                                        <a:effectLst/>
                                        <a:latin typeface="Cambria Math" panose="02040503050406030204" pitchFamily="18" charset="0"/>
                                        <a:ea typeface="Verdana" panose="020B0604030504040204" pitchFamily="34" charset="0"/>
                                        <a:cs typeface="Verdana" panose="020B0604030504040204" pitchFamily="34" charset="0"/>
                                      </a:rPr>
                                      <m:t>2</m:t>
                                    </m:r>
                                  </m:sub>
                                </m:sSub>
                                <m:r>
                                  <a:rPr lang="en-US" sz="2000" i="1">
                                    <a:effectLst/>
                                    <a:latin typeface="Cambria Math" panose="02040503050406030204" pitchFamily="18" charset="0"/>
                                    <a:ea typeface="Verdana" panose="020B0604030504040204" pitchFamily="34" charset="0"/>
                                    <a:cs typeface="Verdana" panose="020B0604030504040204" pitchFamily="34" charset="0"/>
                                  </a:rPr>
                                  <m:t>h</m:t>
                                </m:r>
                              </m:oMath>
                            </m:oMathPara>
                          </a14:m>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5847497"/>
                      </a:ext>
                    </a:extLst>
                  </a:tr>
                </a:tbl>
              </a:graphicData>
            </a:graphic>
          </p:graphicFrame>
        </mc:Choice>
        <mc:Fallback xmlns="">
          <p:graphicFrame>
            <p:nvGraphicFramePr>
              <p:cNvPr id="4" name="Table 3">
                <a:extLst>
                  <a:ext uri="{FF2B5EF4-FFF2-40B4-BE49-F238E27FC236}">
                    <a16:creationId xmlns:a16="http://schemas.microsoft.com/office/drawing/2014/main" id="{C3E240FA-73B3-1946-81DF-01D541C53285}"/>
                  </a:ext>
                </a:extLst>
              </p:cNvPr>
              <p:cNvGraphicFramePr>
                <a:graphicFrameLocks noGrp="1"/>
              </p:cNvGraphicFramePr>
              <p:nvPr>
                <p:extLst>
                  <p:ext uri="{D42A27DB-BD31-4B8C-83A1-F6EECF244321}">
                    <p14:modId xmlns:p14="http://schemas.microsoft.com/office/powerpoint/2010/main" val="3197018179"/>
                  </p:ext>
                </p:extLst>
              </p:nvPr>
            </p:nvGraphicFramePr>
            <p:xfrm>
              <a:off x="2580044" y="1871431"/>
              <a:ext cx="7368706" cy="1728000"/>
            </p:xfrm>
            <a:graphic>
              <a:graphicData uri="http://schemas.openxmlformats.org/drawingml/2006/table">
                <a:tbl>
                  <a:tblPr firstRow="1" firstCol="1" bandRow="1"/>
                  <a:tblGrid>
                    <a:gridCol w="7368706">
                      <a:extLst>
                        <a:ext uri="{9D8B030D-6E8A-4147-A177-3AD203B41FA5}">
                          <a16:colId xmlns:a16="http://schemas.microsoft.com/office/drawing/2014/main" val="685320816"/>
                        </a:ext>
                      </a:extLst>
                    </a:gridCol>
                  </a:tblGrid>
                  <a:tr h="468000">
                    <a:tc>
                      <a:txBody>
                        <a:bodyPr/>
                        <a:lstStyle/>
                        <a:p>
                          <a:pPr marL="0" marR="0" algn="ctr">
                            <a:spcBef>
                              <a:spcPts val="0"/>
                            </a:spcBef>
                            <a:spcAft>
                              <a:spcPts val="0"/>
                            </a:spcAft>
                          </a:pPr>
                          <a:r>
                            <a:rPr lang="x-none" sz="2000">
                              <a:effectLst/>
                              <a:latin typeface="Verdana" panose="020B0604030504040204" pitchFamily="34" charset="0"/>
                              <a:ea typeface="Verdana" panose="020B0604030504040204" pitchFamily="34" charset="0"/>
                              <a:cs typeface="Verdana" panose="020B0604030504040204" pitchFamily="34" charset="0"/>
                            </a:rPr>
                            <a:t> </a:t>
                          </a:r>
                          <a:r>
                            <a:rPr lang="en-US" sz="2000" b="1"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Davita’s</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Equation</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583795426"/>
                      </a:ext>
                    </a:extLst>
                  </a:tr>
                  <a:tr h="126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65" t="-37500" r="-248" b="-1442"/>
                          </a:stretch>
                        </a:blipFill>
                      </a:tcPr>
                    </a:tc>
                    <a:extLst>
                      <a:ext uri="{0D108BD9-81ED-4DB2-BD59-A6C34878D82A}">
                        <a16:rowId xmlns:a16="http://schemas.microsoft.com/office/drawing/2014/main" val="1775847497"/>
                      </a:ext>
                    </a:extLst>
                  </a:tr>
                </a:tbl>
              </a:graphicData>
            </a:graphic>
          </p:graphicFrame>
        </mc:Fallback>
      </mc:AlternateContent>
      <p:sp>
        <p:nvSpPr>
          <p:cNvPr id="8" name="Rectangle 7">
            <a:extLst>
              <a:ext uri="{FF2B5EF4-FFF2-40B4-BE49-F238E27FC236}">
                <a16:creationId xmlns:a16="http://schemas.microsoft.com/office/drawing/2014/main" id="{0599365C-7491-5A42-AC17-C9902F9892AF}"/>
              </a:ext>
            </a:extLst>
          </p:cNvPr>
          <p:cNvSpPr/>
          <p:nvPr/>
        </p:nvSpPr>
        <p:spPr>
          <a:xfrm>
            <a:off x="1871700" y="3822290"/>
            <a:ext cx="8077050" cy="461665"/>
          </a:xfrm>
          <a:prstGeom prst="rect">
            <a:avLst/>
          </a:prstGeom>
        </p:spPr>
        <p:txBody>
          <a:bodyPr wrap="square">
            <a:spAutoFit/>
          </a:bodyPr>
          <a:lstStyle/>
          <a:p>
            <a:pPr marL="569913"/>
            <a:r>
              <a:rPr lang="en-US" sz="2400" dirty="0">
                <a:latin typeface="Verdana" panose="020B0604030504040204" pitchFamily="34" charset="0"/>
                <a:ea typeface="Times New Roman" panose="02020603050405020304" pitchFamily="18" charset="0"/>
                <a:cs typeface="Times New Roman" panose="02020603050405020304" pitchFamily="18" charset="0"/>
              </a:rPr>
              <a:t>Explain how Davita determined this formula.</a:t>
            </a:r>
          </a:p>
        </p:txBody>
      </p:sp>
    </p:spTree>
    <p:extLst>
      <p:ext uri="{BB962C8B-B14F-4D97-AF65-F5344CB8AC3E}">
        <p14:creationId xmlns:p14="http://schemas.microsoft.com/office/powerpoint/2010/main" val="2981405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154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5940" y="61803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7714" y="643740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129</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31917" y="620686"/>
            <a:ext cx="8602608" cy="1200329"/>
          </a:xfrm>
          <a:prstGeom prst="rect">
            <a:avLst/>
          </a:prstGeom>
        </p:spPr>
        <p:txBody>
          <a:bodyPr wrap="square">
            <a:spAutoFit/>
          </a:bodyPr>
          <a:lstStyle/>
          <a:p>
            <a:pPr marL="914400" indent="-45085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The formula Davita wrote can be used to find the area of any trapezoid. Complete the steps described in the table to rewrite the formula.</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6056A047-207D-0444-989C-D3B933099369}"/>
                  </a:ext>
                </a:extLst>
              </p:cNvPr>
              <p:cNvGraphicFramePr>
                <a:graphicFrameLocks noGrp="1"/>
              </p:cNvGraphicFramePr>
              <p:nvPr>
                <p:extLst>
                  <p:ext uri="{D42A27DB-BD31-4B8C-83A1-F6EECF244321}">
                    <p14:modId xmlns:p14="http://schemas.microsoft.com/office/powerpoint/2010/main" val="1307970403"/>
                  </p:ext>
                </p:extLst>
              </p:nvPr>
            </p:nvGraphicFramePr>
            <p:xfrm>
              <a:off x="2587170" y="2337399"/>
              <a:ext cx="7017660" cy="3583623"/>
            </p:xfrm>
            <a:graphic>
              <a:graphicData uri="http://schemas.openxmlformats.org/drawingml/2006/table">
                <a:tbl>
                  <a:tblPr firstRow="1" firstCol="1" bandRow="1"/>
                  <a:tblGrid>
                    <a:gridCol w="4137660">
                      <a:extLst>
                        <a:ext uri="{9D8B030D-6E8A-4147-A177-3AD203B41FA5}">
                          <a16:colId xmlns:a16="http://schemas.microsoft.com/office/drawing/2014/main" val="621532327"/>
                        </a:ext>
                      </a:extLst>
                    </a:gridCol>
                    <a:gridCol w="2880000">
                      <a:extLst>
                        <a:ext uri="{9D8B030D-6E8A-4147-A177-3AD203B41FA5}">
                          <a16:colId xmlns:a16="http://schemas.microsoft.com/office/drawing/2014/main" val="4142657053"/>
                        </a:ext>
                      </a:extLst>
                    </a:gridCol>
                  </a:tblGrid>
                  <a:tr h="538480">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 of Trapezoid A</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val="381674124"/>
                      </a:ext>
                    </a:extLst>
                  </a:tr>
                  <a:tr h="75184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Davita’s formula</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𝐴</m:t>
                                </m:r>
                                <m:r>
                                  <a:rPr lang="en-US" sz="2000" i="1">
                                    <a:effectLst/>
                                    <a:latin typeface="Cambria Math" panose="02040503050406030204" pitchFamily="18" charset="0"/>
                                    <a:ea typeface="Verdana" panose="020B0604030504040204" pitchFamily="34" charset="0"/>
                                    <a:cs typeface="Verdana" panose="020B0604030504040204" pitchFamily="34" charset="0"/>
                                  </a:rPr>
                                  <m:t> = </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sSub>
                                  <m:sSub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bPr>
                                  <m:e>
                                    <m:r>
                                      <a:rPr lang="en-US" sz="2000" i="1">
                                        <a:effectLst/>
                                        <a:latin typeface="Cambria Math" panose="02040503050406030204" pitchFamily="18" charset="0"/>
                                        <a:ea typeface="Verdana" panose="020B0604030504040204" pitchFamily="34" charset="0"/>
                                        <a:cs typeface="Verdana" panose="020B0604030504040204" pitchFamily="34" charset="0"/>
                                      </a:rPr>
                                      <m:t>𝑏</m:t>
                                    </m:r>
                                  </m:e>
                                  <m:sub>
                                    <m:r>
                                      <a:rPr lang="en-US" sz="2000" i="1">
                                        <a:effectLst/>
                                        <a:latin typeface="Cambria Math" panose="02040503050406030204" pitchFamily="18" charset="0"/>
                                        <a:ea typeface="Verdana" panose="020B0604030504040204" pitchFamily="34" charset="0"/>
                                        <a:cs typeface="Verdana" panose="020B0604030504040204" pitchFamily="34" charset="0"/>
                                      </a:rPr>
                                      <m:t>1</m:t>
                                    </m:r>
                                  </m:sub>
                                </m:sSub>
                                <m:r>
                                  <a:rPr lang="en-US" sz="2000" i="1">
                                    <a:effectLst/>
                                    <a:latin typeface="Cambria Math" panose="02040503050406030204" pitchFamily="18" charset="0"/>
                                    <a:ea typeface="Verdana" panose="020B0604030504040204" pitchFamily="34" charset="0"/>
                                    <a:cs typeface="Verdana" panose="020B0604030504040204" pitchFamily="34" charset="0"/>
                                  </a:rPr>
                                  <m:t>h</m:t>
                                </m:r>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sSub>
                                  <m:sSub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bPr>
                                  <m:e>
                                    <m:r>
                                      <a:rPr lang="en-US" sz="2000" i="1">
                                        <a:effectLst/>
                                        <a:latin typeface="Cambria Math" panose="02040503050406030204" pitchFamily="18" charset="0"/>
                                        <a:ea typeface="Verdana" panose="020B0604030504040204" pitchFamily="34" charset="0"/>
                                        <a:cs typeface="Verdana" panose="020B0604030504040204" pitchFamily="34" charset="0"/>
                                      </a:rPr>
                                      <m:t>𝑏</m:t>
                                    </m:r>
                                  </m:e>
                                  <m:sub>
                                    <m:r>
                                      <a:rPr lang="en-US" sz="2000" i="1">
                                        <a:effectLst/>
                                        <a:latin typeface="Cambria Math" panose="02040503050406030204" pitchFamily="18" charset="0"/>
                                        <a:ea typeface="Verdana" panose="020B0604030504040204" pitchFamily="34" charset="0"/>
                                        <a:cs typeface="Verdana" panose="020B0604030504040204" pitchFamily="34" charset="0"/>
                                      </a:rPr>
                                      <m:t>2</m:t>
                                    </m:r>
                                  </m:sub>
                                </m:sSub>
                                <m:r>
                                  <a:rPr lang="en-US" sz="2000" i="1">
                                    <a:effectLst/>
                                    <a:latin typeface="Cambria Math" panose="02040503050406030204" pitchFamily="18" charset="0"/>
                                    <a:ea typeface="Verdana" panose="020B0604030504040204" pitchFamily="34" charset="0"/>
                                    <a:cs typeface="Verdana" panose="020B0604030504040204" pitchFamily="34" charset="0"/>
                                  </a:rPr>
                                  <m:t>h</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663898"/>
                      </a:ext>
                    </a:extLst>
                  </a:tr>
                  <a:tr h="75184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Use the distributive property to rewrite with a common factor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h</m:t>
                              </m:r>
                            </m:oMath>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𝐴</m:t>
                                </m:r>
                                <m:r>
                                  <a:rPr lang="en-US" sz="2000" i="1">
                                    <a:effectLst/>
                                    <a:latin typeface="Cambria Math" panose="02040503050406030204" pitchFamily="18" charset="0"/>
                                    <a:ea typeface="Verdana" panose="020B0604030504040204" pitchFamily="34" charset="0"/>
                                    <a:cs typeface="Verdana" panose="020B0604030504040204" pitchFamily="34" charset="0"/>
                                  </a:rPr>
                                  <m:t> = _____</m:t>
                                </m:r>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sSub>
                                      <m:sSub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bPr>
                                      <m:e>
                                        <m:r>
                                          <a:rPr lang="en-US" sz="2000" i="1">
                                            <a:effectLst/>
                                            <a:latin typeface="Cambria Math" panose="02040503050406030204" pitchFamily="18" charset="0"/>
                                            <a:ea typeface="Verdana" panose="020B0604030504040204" pitchFamily="34" charset="0"/>
                                            <a:cs typeface="Verdana" panose="020B0604030504040204" pitchFamily="34" charset="0"/>
                                          </a:rPr>
                                          <m:t>𝑏</m:t>
                                        </m:r>
                                      </m:e>
                                      <m:sub>
                                        <m:r>
                                          <a:rPr lang="en-US" sz="2000" i="1">
                                            <a:effectLst/>
                                            <a:latin typeface="Cambria Math" panose="02040503050406030204" pitchFamily="18" charset="0"/>
                                            <a:ea typeface="Verdana" panose="020B0604030504040204" pitchFamily="34" charset="0"/>
                                            <a:cs typeface="Verdana" panose="020B0604030504040204" pitchFamily="34" charset="0"/>
                                          </a:rPr>
                                          <m:t>1</m:t>
                                        </m:r>
                                      </m:sub>
                                    </m:sSub>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sSub>
                                      <m:sSub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bPr>
                                      <m:e>
                                        <m:r>
                                          <a:rPr lang="en-US" sz="2000" i="1">
                                            <a:effectLst/>
                                            <a:latin typeface="Cambria Math" panose="02040503050406030204" pitchFamily="18" charset="0"/>
                                            <a:ea typeface="Verdana" panose="020B0604030504040204" pitchFamily="34" charset="0"/>
                                            <a:cs typeface="Verdana" panose="020B0604030504040204" pitchFamily="34" charset="0"/>
                                          </a:rPr>
                                          <m:t>𝑏</m:t>
                                        </m:r>
                                      </m:e>
                                      <m:sub>
                                        <m:r>
                                          <a:rPr lang="en-US" sz="2000" i="1">
                                            <a:effectLst/>
                                            <a:latin typeface="Cambria Math" panose="02040503050406030204" pitchFamily="18" charset="0"/>
                                            <a:ea typeface="Verdana" panose="020B0604030504040204" pitchFamily="34" charset="0"/>
                                            <a:cs typeface="Verdana" panose="020B0604030504040204" pitchFamily="34" charset="0"/>
                                          </a:rPr>
                                          <m:t>2</m:t>
                                        </m:r>
                                      </m:sub>
                                    </m:sSub>
                                  </m:e>
                                </m:d>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470277"/>
                      </a:ext>
                    </a:extLst>
                  </a:tr>
                  <a:tr h="751840">
                    <a:tc>
                      <a:txBody>
                        <a:bodyPr/>
                        <a:lstStyle/>
                        <a:p>
                          <a:pPr marL="0" marR="0">
                            <a:lnSpc>
                              <a:spcPct val="115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Use the distributive property to rewrite with a common factor </a:t>
                          </a:r>
                          <a14:m>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oMath>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𝐴</m:t>
                                </m:r>
                                <m:r>
                                  <a:rPr lang="en-US" sz="2000" i="1">
                                    <a:effectLst/>
                                    <a:latin typeface="Cambria Math" panose="02040503050406030204" pitchFamily="18" charset="0"/>
                                    <a:ea typeface="Verdana" panose="020B0604030504040204" pitchFamily="34" charset="0"/>
                                    <a:cs typeface="Verdana" panose="020B0604030504040204" pitchFamily="34" charset="0"/>
                                  </a:rPr>
                                  <m:t> = ______</m:t>
                                </m:r>
                                <m:r>
                                  <a:rPr lang="en-US" sz="2000" i="1">
                                    <a:effectLst/>
                                    <a:latin typeface="Cambria Math" panose="02040503050406030204" pitchFamily="18" charset="0"/>
                                    <a:ea typeface="Verdana" panose="020B0604030504040204" pitchFamily="34" charset="0"/>
                                    <a:cs typeface="Verdana" panose="020B0604030504040204" pitchFamily="34" charset="0"/>
                                  </a:rPr>
                                  <m:t>h</m:t>
                                </m:r>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sSub>
                                      <m:sSub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bPr>
                                      <m:e>
                                        <m:r>
                                          <a:rPr lang="en-US" sz="2000" i="1">
                                            <a:effectLst/>
                                            <a:latin typeface="Cambria Math" panose="02040503050406030204" pitchFamily="18" charset="0"/>
                                            <a:ea typeface="Verdana" panose="020B0604030504040204" pitchFamily="34" charset="0"/>
                                            <a:cs typeface="Verdana" panose="020B0604030504040204" pitchFamily="34" charset="0"/>
                                          </a:rPr>
                                          <m:t>𝑏</m:t>
                                        </m:r>
                                      </m:e>
                                      <m:sub>
                                        <m:r>
                                          <a:rPr lang="en-US" sz="2000" i="1">
                                            <a:effectLst/>
                                            <a:latin typeface="Cambria Math" panose="02040503050406030204" pitchFamily="18" charset="0"/>
                                            <a:ea typeface="Verdana" panose="020B0604030504040204" pitchFamily="34" charset="0"/>
                                            <a:cs typeface="Verdana" panose="020B0604030504040204" pitchFamily="34" charset="0"/>
                                          </a:rPr>
                                          <m:t>1</m:t>
                                        </m:r>
                                      </m:sub>
                                    </m:sSub>
                                    <m:r>
                                      <a:rPr lang="en-US" sz="2000" i="1">
                                        <a:effectLst/>
                                        <a:latin typeface="Cambria Math" panose="02040503050406030204" pitchFamily="18" charset="0"/>
                                        <a:ea typeface="Verdana" panose="020B0604030504040204" pitchFamily="34" charset="0"/>
                                        <a:cs typeface="Verdana" panose="020B0604030504040204" pitchFamily="34" charset="0"/>
                                      </a:rPr>
                                      <m:t>+</m:t>
                                    </m:r>
                                    <m:sSub>
                                      <m:sSub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bPr>
                                      <m:e>
                                        <m:r>
                                          <a:rPr lang="en-US" sz="2000" i="1">
                                            <a:effectLst/>
                                            <a:latin typeface="Cambria Math" panose="02040503050406030204" pitchFamily="18" charset="0"/>
                                            <a:ea typeface="Verdana" panose="020B0604030504040204" pitchFamily="34" charset="0"/>
                                            <a:cs typeface="Verdana" panose="020B0604030504040204" pitchFamily="34" charset="0"/>
                                          </a:rPr>
                                          <m:t>𝑏</m:t>
                                        </m:r>
                                      </m:e>
                                      <m:sub>
                                        <m:r>
                                          <a:rPr lang="en-US" sz="2000" i="1">
                                            <a:effectLst/>
                                            <a:latin typeface="Cambria Math" panose="02040503050406030204" pitchFamily="18" charset="0"/>
                                            <a:ea typeface="Verdana" panose="020B0604030504040204" pitchFamily="34" charset="0"/>
                                            <a:cs typeface="Verdana" panose="020B0604030504040204" pitchFamily="34" charset="0"/>
                                          </a:rPr>
                                          <m:t>2</m:t>
                                        </m:r>
                                      </m:sub>
                                    </m:sSub>
                                  </m:e>
                                </m:d>
                              </m:oMath>
                            </m:oMathPara>
                          </a14:m>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848799"/>
                      </a:ext>
                    </a:extLst>
                  </a:tr>
                </a:tbl>
              </a:graphicData>
            </a:graphic>
          </p:graphicFrame>
        </mc:Choice>
        <mc:Fallback xmlns="">
          <p:graphicFrame>
            <p:nvGraphicFramePr>
              <p:cNvPr id="5" name="Table 4">
                <a:extLst>
                  <a:ext uri="{FF2B5EF4-FFF2-40B4-BE49-F238E27FC236}">
                    <a16:creationId xmlns:a16="http://schemas.microsoft.com/office/drawing/2014/main" id="{6056A047-207D-0444-989C-D3B933099369}"/>
                  </a:ext>
                </a:extLst>
              </p:cNvPr>
              <p:cNvGraphicFramePr>
                <a:graphicFrameLocks noGrp="1"/>
              </p:cNvGraphicFramePr>
              <p:nvPr>
                <p:extLst>
                  <p:ext uri="{D42A27DB-BD31-4B8C-83A1-F6EECF244321}">
                    <p14:modId xmlns:p14="http://schemas.microsoft.com/office/powerpoint/2010/main" val="1307970403"/>
                  </p:ext>
                </p:extLst>
              </p:nvPr>
            </p:nvGraphicFramePr>
            <p:xfrm>
              <a:off x="2587170" y="2337399"/>
              <a:ext cx="7017660" cy="3583623"/>
            </p:xfrm>
            <a:graphic>
              <a:graphicData uri="http://schemas.openxmlformats.org/drawingml/2006/table">
                <a:tbl>
                  <a:tblPr firstRow="1" firstCol="1" bandRow="1"/>
                  <a:tblGrid>
                    <a:gridCol w="4137660">
                      <a:extLst>
                        <a:ext uri="{9D8B030D-6E8A-4147-A177-3AD203B41FA5}">
                          <a16:colId xmlns:a16="http://schemas.microsoft.com/office/drawing/2014/main" val="621532327"/>
                        </a:ext>
                      </a:extLst>
                    </a:gridCol>
                    <a:gridCol w="2880000">
                      <a:extLst>
                        <a:ext uri="{9D8B030D-6E8A-4147-A177-3AD203B41FA5}">
                          <a16:colId xmlns:a16="http://schemas.microsoft.com/office/drawing/2014/main" val="4142657053"/>
                        </a:ext>
                      </a:extLst>
                    </a:gridCol>
                  </a:tblGrid>
                  <a:tr h="538480">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 of Trapezoid A</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val="381674124"/>
                      </a:ext>
                    </a:extLst>
                  </a:tr>
                  <a:tr h="75184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Davita’s formula</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43975" t="-73984" r="-634" b="-310569"/>
                          </a:stretch>
                        </a:blipFill>
                      </a:tcPr>
                    </a:tc>
                    <a:extLst>
                      <a:ext uri="{0D108BD9-81ED-4DB2-BD59-A6C34878D82A}">
                        <a16:rowId xmlns:a16="http://schemas.microsoft.com/office/drawing/2014/main" val="2446663898"/>
                      </a:ext>
                    </a:extLst>
                  </a:tr>
                  <a:tr h="10058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95" t="-129697" r="-70103" b="-13151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43975" t="-129697" r="-634" b="-131515"/>
                          </a:stretch>
                        </a:blipFill>
                      </a:tcPr>
                    </a:tc>
                    <a:extLst>
                      <a:ext uri="{0D108BD9-81ED-4DB2-BD59-A6C34878D82A}">
                        <a16:rowId xmlns:a16="http://schemas.microsoft.com/office/drawing/2014/main" val="383470277"/>
                      </a:ext>
                    </a:extLst>
                  </a:tr>
                  <a:tr h="1287463">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95" t="-178774" r="-70103" b="-2358"/>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43975" t="-178774" r="-634" b="-2358"/>
                          </a:stretch>
                        </a:blipFill>
                      </a:tcPr>
                    </a:tc>
                    <a:extLst>
                      <a:ext uri="{0D108BD9-81ED-4DB2-BD59-A6C34878D82A}">
                        <a16:rowId xmlns:a16="http://schemas.microsoft.com/office/drawing/2014/main" val="94848799"/>
                      </a:ext>
                    </a:extLst>
                  </a:tr>
                </a:tbl>
              </a:graphicData>
            </a:graphic>
          </p:graphicFrame>
        </mc:Fallback>
      </mc:AlternateContent>
    </p:spTree>
    <p:extLst>
      <p:ext uri="{BB962C8B-B14F-4D97-AF65-F5344CB8AC3E}">
        <p14:creationId xmlns:p14="http://schemas.microsoft.com/office/powerpoint/2010/main" val="3056215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130</a:t>
            </a:r>
            <a:endParaRPr i="1" dirty="0">
              <a:latin typeface="Calibri"/>
              <a:ea typeface="Calibri"/>
              <a:cs typeface="Calibri"/>
              <a:sym typeface="Calibri"/>
            </a:endParaRPr>
          </a:p>
        </p:txBody>
      </p:sp>
      <p:sp>
        <p:nvSpPr>
          <p:cNvPr id="9" name="Google Shape;313;g104476d1465_1_39">
            <a:extLst>
              <a:ext uri="{FF2B5EF4-FFF2-40B4-BE49-F238E27FC236}">
                <a16:creationId xmlns:a16="http://schemas.microsoft.com/office/drawing/2014/main" id="{023CE51F-3080-7A4F-9345-CFF0AC9E83D0}"/>
              </a:ext>
            </a:extLst>
          </p:cNvPr>
          <p:cNvSpPr txBox="1">
            <a:spLocks/>
          </p:cNvSpPr>
          <p:nvPr/>
        </p:nvSpPr>
        <p:spPr>
          <a:xfrm>
            <a:off x="5174928" y="2766144"/>
            <a:ext cx="5002742"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buFont typeface="Cutive"/>
              <a:buNone/>
            </a:pPr>
            <a:r>
              <a:rPr lang="en-US" sz="5500" b="1">
                <a:solidFill>
                  <a:srgbClr val="33BEA6"/>
                </a:solidFill>
                <a:latin typeface="Verdana"/>
                <a:ea typeface="Verdana"/>
                <a:cs typeface="Verdana"/>
                <a:sym typeface="Verdana"/>
              </a:rPr>
              <a:t>Activity</a:t>
            </a:r>
            <a:endParaRPr lang="en-US" sz="5100" b="1" dirty="0">
              <a:solidFill>
                <a:srgbClr val="33BEA6"/>
              </a:solidFill>
              <a:latin typeface="Verdana"/>
              <a:ea typeface="Verdana"/>
              <a:cs typeface="Verdana"/>
              <a:sym typeface="Verdana"/>
            </a:endParaRPr>
          </a:p>
        </p:txBody>
      </p:sp>
      <p:pic>
        <p:nvPicPr>
          <p:cNvPr id="10" name="image17.png" descr="Icon&#10;&#10;Description automatically generated">
            <a:extLst>
              <a:ext uri="{FF2B5EF4-FFF2-40B4-BE49-F238E27FC236}">
                <a16:creationId xmlns:a16="http://schemas.microsoft.com/office/drawing/2014/main" id="{7B1CE89C-47AD-374B-9EEE-96F1CD238669}"/>
              </a:ext>
            </a:extLst>
          </p:cNvPr>
          <p:cNvPicPr/>
          <p:nvPr/>
        </p:nvPicPr>
        <p:blipFill>
          <a:blip r:embed="rId4"/>
          <a:srcRect/>
          <a:stretch>
            <a:fillRect/>
          </a:stretch>
        </p:blipFill>
        <p:spPr>
          <a:xfrm>
            <a:off x="4844414" y="2852921"/>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415991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6186"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0586"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983180" y="167895"/>
            <a:ext cx="920359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4.1.5 Activity: Deriving the Formula for the Area of a Rhombus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7236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130</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1531917" y="1632183"/>
            <a:ext cx="8868919" cy="461665"/>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A rhombus is another type of quadrilateral.</a:t>
            </a:r>
          </a:p>
        </p:txBody>
      </p:sp>
      <p:pic>
        <p:nvPicPr>
          <p:cNvPr id="9" name="image17.png" descr="Icon&#10;&#10;Description automatically generated">
            <a:extLst>
              <a:ext uri="{FF2B5EF4-FFF2-40B4-BE49-F238E27FC236}">
                <a16:creationId xmlns:a16="http://schemas.microsoft.com/office/drawing/2014/main" id="{0162E390-8D08-644E-AFD0-039F4BB616CD}"/>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1005225" y="401101"/>
            <a:ext cx="750164" cy="750164"/>
          </a:xfrm>
          <a:prstGeom prst="rect">
            <a:avLst/>
          </a:prstGeom>
          <a:ln/>
        </p:spPr>
      </p:pic>
      <p:grpSp>
        <p:nvGrpSpPr>
          <p:cNvPr id="11" name="Group 10">
            <a:extLst>
              <a:ext uri="{FF2B5EF4-FFF2-40B4-BE49-F238E27FC236}">
                <a16:creationId xmlns:a16="http://schemas.microsoft.com/office/drawing/2014/main" id="{ED3CC272-3839-EE4B-A5E9-EB3921E1ED31}"/>
              </a:ext>
            </a:extLst>
          </p:cNvPr>
          <p:cNvGrpSpPr/>
          <p:nvPr/>
        </p:nvGrpSpPr>
        <p:grpSpPr>
          <a:xfrm>
            <a:off x="2781300" y="2286997"/>
            <a:ext cx="6629400" cy="904875"/>
            <a:chOff x="2031300" y="3373600"/>
            <a:chExt cx="6629400" cy="855350"/>
          </a:xfrm>
        </p:grpSpPr>
        <p:grpSp>
          <p:nvGrpSpPr>
            <p:cNvPr id="12" name="Group 11">
              <a:extLst>
                <a:ext uri="{FF2B5EF4-FFF2-40B4-BE49-F238E27FC236}">
                  <a16:creationId xmlns:a16="http://schemas.microsoft.com/office/drawing/2014/main" id="{409FCF6F-11C9-754C-8222-C402C40FBF15}"/>
                </a:ext>
              </a:extLst>
            </p:cNvPr>
            <p:cNvGrpSpPr/>
            <p:nvPr/>
          </p:nvGrpSpPr>
          <p:grpSpPr>
            <a:xfrm>
              <a:off x="2031300" y="3373600"/>
              <a:ext cx="6629400" cy="855350"/>
              <a:chOff x="2031300" y="3373600"/>
              <a:chExt cx="6629400" cy="855350"/>
            </a:xfrm>
          </p:grpSpPr>
          <p:sp>
            <p:nvSpPr>
              <p:cNvPr id="13" name="Rectangle 12">
                <a:extLst>
                  <a:ext uri="{FF2B5EF4-FFF2-40B4-BE49-F238E27FC236}">
                    <a16:creationId xmlns:a16="http://schemas.microsoft.com/office/drawing/2014/main" id="{27894FB5-941A-D64D-A2FF-9F5A7EF816F9}"/>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CE7D0CBD-D14F-374F-904B-6B3F68CFEA58}"/>
                  </a:ext>
                </a:extLst>
              </p:cNvPr>
              <p:cNvGrpSpPr/>
              <p:nvPr/>
            </p:nvGrpSpPr>
            <p:grpSpPr>
              <a:xfrm>
                <a:off x="2031300" y="3373600"/>
                <a:ext cx="6629400" cy="855350"/>
                <a:chOff x="0" y="0"/>
                <a:chExt cx="6629400" cy="855350"/>
              </a:xfrm>
            </p:grpSpPr>
            <p:sp>
              <p:nvSpPr>
                <p:cNvPr id="17" name="Rectangle 16">
                  <a:extLst>
                    <a:ext uri="{FF2B5EF4-FFF2-40B4-BE49-F238E27FC236}">
                      <a16:creationId xmlns:a16="http://schemas.microsoft.com/office/drawing/2014/main" id="{F0A71077-C392-E543-B5C0-94FFB040E0DB}"/>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8" name="Rounded Rectangle 17">
                  <a:extLst>
                    <a:ext uri="{FF2B5EF4-FFF2-40B4-BE49-F238E27FC236}">
                      <a16:creationId xmlns:a16="http://schemas.microsoft.com/office/drawing/2014/main" id="{596ABC4A-D8C9-0D48-AF36-5E26613AEF12}"/>
                    </a:ext>
                  </a:extLst>
                </p:cNvPr>
                <p:cNvSpPr/>
                <p:nvPr/>
              </p:nvSpPr>
              <p:spPr>
                <a:xfrm>
                  <a:off x="0" y="0"/>
                  <a:ext cx="6480000" cy="855350"/>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722313">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rhombus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 a quadrilateral containing four sides of equal length. </a:t>
                  </a:r>
                  <a:endParaRPr lang="x-none"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9" name="Shape 7" descr="Icon&#10;&#10;Description automatically generated">
                  <a:extLst>
                    <a:ext uri="{FF2B5EF4-FFF2-40B4-BE49-F238E27FC236}">
                      <a16:creationId xmlns:a16="http://schemas.microsoft.com/office/drawing/2014/main" id="{A78EE9D7-FBD7-3A46-9F88-83E660BF7A8E}"/>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38545" y="157799"/>
                  <a:ext cx="539750" cy="539750"/>
                </a:xfrm>
                <a:prstGeom prst="rect">
                  <a:avLst/>
                </a:prstGeom>
                <a:noFill/>
                <a:ln>
                  <a:noFill/>
                </a:ln>
                <a:effectLst>
                  <a:outerShdw blurRad="50800" dist="38100" dir="2700000" algn="tl" rotWithShape="0">
                    <a:prstClr val="black">
                      <a:alpha val="40000"/>
                    </a:prstClr>
                  </a:outerShdw>
                </a:effectLst>
              </p:spPr>
            </p:pic>
          </p:grpSp>
        </p:grpSp>
      </p:grpSp>
      <p:sp>
        <p:nvSpPr>
          <p:cNvPr id="20" name="TextBox 19">
            <a:extLst>
              <a:ext uri="{FF2B5EF4-FFF2-40B4-BE49-F238E27FC236}">
                <a16:creationId xmlns:a16="http://schemas.microsoft.com/office/drawing/2014/main" id="{966F1FAA-099F-7442-BCF6-516EB6C8DA4D}"/>
              </a:ext>
            </a:extLst>
          </p:cNvPr>
          <p:cNvSpPr txBox="1"/>
          <p:nvPr/>
        </p:nvSpPr>
        <p:spPr>
          <a:xfrm>
            <a:off x="1531917" y="3394722"/>
            <a:ext cx="8868919" cy="461665"/>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Rhombus F is shown with four congruent sides.</a:t>
            </a:r>
          </a:p>
        </p:txBody>
      </p:sp>
      <p:pic>
        <p:nvPicPr>
          <p:cNvPr id="21" name="Picture 20">
            <a:extLst>
              <a:ext uri="{FF2B5EF4-FFF2-40B4-BE49-F238E27FC236}">
                <a16:creationId xmlns:a16="http://schemas.microsoft.com/office/drawing/2014/main" id="{15FA195F-9D9F-D744-9F68-4B10F1388643}"/>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404520" y="4280895"/>
            <a:ext cx="3204594" cy="2377266"/>
          </a:xfrm>
          <a:prstGeom prst="rect">
            <a:avLst/>
          </a:prstGeom>
          <a:noFill/>
          <a:ln>
            <a:noFill/>
          </a:ln>
        </p:spPr>
      </p:pic>
      <p:grpSp>
        <p:nvGrpSpPr>
          <p:cNvPr id="2" name="Group 1"/>
          <p:cNvGrpSpPr/>
          <p:nvPr/>
        </p:nvGrpSpPr>
        <p:grpSpPr>
          <a:xfrm>
            <a:off x="4773513" y="3930729"/>
            <a:ext cx="2482130" cy="2707100"/>
            <a:chOff x="3249513" y="3930729"/>
            <a:chExt cx="2482130" cy="2707100"/>
          </a:xfrm>
        </p:grpSpPr>
        <p:sp>
          <p:nvSpPr>
            <p:cNvPr id="22" name="Text Box 472">
              <a:extLst>
                <a:ext uri="{FF2B5EF4-FFF2-40B4-BE49-F238E27FC236}">
                  <a16:creationId xmlns:a16="http://schemas.microsoft.com/office/drawing/2014/main" id="{B0FC3753-0346-F04F-AB1B-369DFE6C907E}"/>
                </a:ext>
              </a:extLst>
            </p:cNvPr>
            <p:cNvSpPr txBox="1"/>
            <p:nvPr/>
          </p:nvSpPr>
          <p:spPr>
            <a:xfrm>
              <a:off x="3798868" y="3930729"/>
              <a:ext cx="1828800" cy="4000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Rhombus</a:t>
              </a:r>
              <a:r>
                <a:rPr lang="en-US" sz="1800" b="1" dirty="0">
                  <a:latin typeface="Verdana" panose="020B0604030504040204" pitchFamily="34" charset="0"/>
                  <a:ea typeface="Times New Roman" panose="02020603050405020304" pitchFamily="18" charset="0"/>
                  <a:cs typeface="Times New Roman" panose="02020603050405020304" pitchFamily="18" charset="0"/>
                </a:rPr>
                <a:t> F</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Text Box 486">
                  <a:extLst>
                    <a:ext uri="{FF2B5EF4-FFF2-40B4-BE49-F238E27FC236}">
                      <a16:creationId xmlns:a16="http://schemas.microsoft.com/office/drawing/2014/main" id="{9583894F-278E-0C4C-ACF0-88ABC868508D}"/>
                    </a:ext>
                  </a:extLst>
                </p:cNvPr>
                <p:cNvSpPr txBox="1"/>
                <p:nvPr/>
              </p:nvSpPr>
              <p:spPr>
                <a:xfrm>
                  <a:off x="4422358" y="4186634"/>
                  <a:ext cx="257175"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𝑠</m:t>
                        </m:r>
                      </m:oMath>
                    </m:oMathPara>
                  </a14:m>
                  <a:endParaRPr lang="x-none">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3" name="Text Box 486">
                  <a:extLst>
                    <a:ext uri="{FF2B5EF4-FFF2-40B4-BE49-F238E27FC236}">
                      <a16:creationId xmlns:a16="http://schemas.microsoft.com/office/drawing/2014/main" xmlns:a14="http://schemas.microsoft.com/office/drawing/2010/main" xmlns="" id="{9583894F-278E-0C4C-ACF0-88ABC868508D}"/>
                    </a:ext>
                  </a:extLst>
                </p:cNvPr>
                <p:cNvSpPr txBox="1">
                  <a:spLocks noRot="1" noChangeAspect="1" noMove="1" noResize="1" noEditPoints="1" noAdjustHandles="1" noChangeArrowheads="1" noChangeShapeType="1" noTextEdit="1"/>
                </p:cNvSpPr>
                <p:nvPr/>
              </p:nvSpPr>
              <p:spPr>
                <a:xfrm>
                  <a:off x="4422358" y="4186634"/>
                  <a:ext cx="257175" cy="352425"/>
                </a:xfrm>
                <a:prstGeom prst="rect">
                  <a:avLst/>
                </a:prstGeom>
                <a:blipFill rotWithShape="1">
                  <a:blip r:embed="rId7"/>
                  <a:stretch>
                    <a:fillRect/>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4" name="Text Box 487">
                  <a:extLst>
                    <a:ext uri="{FF2B5EF4-FFF2-40B4-BE49-F238E27FC236}">
                      <a16:creationId xmlns:a16="http://schemas.microsoft.com/office/drawing/2014/main" id="{D640EDD3-940B-E142-A172-6EC772A31A84}"/>
                    </a:ext>
                  </a:extLst>
                </p:cNvPr>
                <p:cNvSpPr txBox="1"/>
                <p:nvPr/>
              </p:nvSpPr>
              <p:spPr>
                <a:xfrm>
                  <a:off x="5474468" y="5187394"/>
                  <a:ext cx="257175"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𝑠</m:t>
                        </m:r>
                      </m:oMath>
                    </m:oMathPara>
                  </a14:m>
                  <a:endParaRPr lang="x-none">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4" name="Text Box 487">
                  <a:extLst>
                    <a:ext uri="{FF2B5EF4-FFF2-40B4-BE49-F238E27FC236}">
                      <a16:creationId xmlns:a16="http://schemas.microsoft.com/office/drawing/2014/main" xmlns:a14="http://schemas.microsoft.com/office/drawing/2010/main" xmlns="" id="{D640EDD3-940B-E142-A172-6EC772A31A84}"/>
                    </a:ext>
                  </a:extLst>
                </p:cNvPr>
                <p:cNvSpPr txBox="1">
                  <a:spLocks noRot="1" noChangeAspect="1" noMove="1" noResize="1" noEditPoints="1" noAdjustHandles="1" noChangeArrowheads="1" noChangeShapeType="1" noTextEdit="1"/>
                </p:cNvSpPr>
                <p:nvPr/>
              </p:nvSpPr>
              <p:spPr>
                <a:xfrm>
                  <a:off x="5474468" y="5187394"/>
                  <a:ext cx="257175" cy="352425"/>
                </a:xfrm>
                <a:prstGeom prst="rect">
                  <a:avLst/>
                </a:prstGeom>
                <a:blipFill rotWithShape="1">
                  <a:blip r:embed="rId8"/>
                  <a:stretch>
                    <a:fillRect/>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5" name="Text Box 488">
                  <a:extLst>
                    <a:ext uri="{FF2B5EF4-FFF2-40B4-BE49-F238E27FC236}">
                      <a16:creationId xmlns:a16="http://schemas.microsoft.com/office/drawing/2014/main" id="{7FD4B7AA-3626-9847-9174-7517CC059158}"/>
                    </a:ext>
                  </a:extLst>
                </p:cNvPr>
                <p:cNvSpPr txBox="1"/>
                <p:nvPr/>
              </p:nvSpPr>
              <p:spPr>
                <a:xfrm>
                  <a:off x="3995003" y="6285404"/>
                  <a:ext cx="257175"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𝑠</m:t>
                        </m:r>
                      </m:oMath>
                    </m:oMathPara>
                  </a14:m>
                  <a:endParaRPr lang="x-none">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5" name="Text Box 488">
                  <a:extLst>
                    <a:ext uri="{FF2B5EF4-FFF2-40B4-BE49-F238E27FC236}">
                      <a16:creationId xmlns:a16="http://schemas.microsoft.com/office/drawing/2014/main" xmlns:a14="http://schemas.microsoft.com/office/drawing/2010/main" xmlns="" id="{7FD4B7AA-3626-9847-9174-7517CC059158}"/>
                    </a:ext>
                  </a:extLst>
                </p:cNvPr>
                <p:cNvSpPr txBox="1">
                  <a:spLocks noRot="1" noChangeAspect="1" noMove="1" noResize="1" noEditPoints="1" noAdjustHandles="1" noChangeArrowheads="1" noChangeShapeType="1" noTextEdit="1"/>
                </p:cNvSpPr>
                <p:nvPr/>
              </p:nvSpPr>
              <p:spPr>
                <a:xfrm>
                  <a:off x="3995003" y="6285404"/>
                  <a:ext cx="257175" cy="352425"/>
                </a:xfrm>
                <a:prstGeom prst="rect">
                  <a:avLst/>
                </a:prstGeom>
                <a:blipFill rotWithShape="1">
                  <a:blip r:embed="rId9"/>
                  <a:stretch>
                    <a:fillRect/>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6" name="Text Box 489">
                  <a:extLst>
                    <a:ext uri="{FF2B5EF4-FFF2-40B4-BE49-F238E27FC236}">
                      <a16:creationId xmlns:a16="http://schemas.microsoft.com/office/drawing/2014/main" id="{69800174-8002-834B-8C70-9E3E70683E3F}"/>
                    </a:ext>
                  </a:extLst>
                </p:cNvPr>
                <p:cNvSpPr txBox="1"/>
                <p:nvPr/>
              </p:nvSpPr>
              <p:spPr>
                <a:xfrm>
                  <a:off x="3249513" y="4980384"/>
                  <a:ext cx="257175"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𝑠</m:t>
                        </m:r>
                      </m:oMath>
                    </m:oMathPara>
                  </a14:m>
                  <a:endParaRPr lang="x-none">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6" name="Text Box 489">
                  <a:extLst>
                    <a:ext uri="{FF2B5EF4-FFF2-40B4-BE49-F238E27FC236}">
                      <a16:creationId xmlns:a16="http://schemas.microsoft.com/office/drawing/2014/main" xmlns:a14="http://schemas.microsoft.com/office/drawing/2010/main" xmlns="" id="{69800174-8002-834B-8C70-9E3E70683E3F}"/>
                    </a:ext>
                  </a:extLst>
                </p:cNvPr>
                <p:cNvSpPr txBox="1">
                  <a:spLocks noRot="1" noChangeAspect="1" noMove="1" noResize="1" noEditPoints="1" noAdjustHandles="1" noChangeArrowheads="1" noChangeShapeType="1" noTextEdit="1"/>
                </p:cNvSpPr>
                <p:nvPr/>
              </p:nvSpPr>
              <p:spPr>
                <a:xfrm>
                  <a:off x="3249513" y="4980384"/>
                  <a:ext cx="257175" cy="352425"/>
                </a:xfrm>
                <a:prstGeom prst="rect">
                  <a:avLst/>
                </a:prstGeom>
                <a:blipFill rotWithShape="1">
                  <a:blip r:embed="rId10"/>
                  <a:stretch>
                    <a:fillRect/>
                  </a:stretch>
                </a:blipFill>
                <a:ln w="6350">
                  <a:noFill/>
                </a:ln>
              </p:spPr>
              <p:txBody>
                <a:bodyPr/>
                <a:lstStyle/>
                <a:p>
                  <a:r>
                    <a:rPr lang="en-PH">
                      <a:noFill/>
                    </a:rPr>
                    <a:t> </a:t>
                  </a:r>
                </a:p>
              </p:txBody>
            </p:sp>
          </mc:Fallback>
        </mc:AlternateContent>
      </p:grpSp>
    </p:spTree>
    <p:extLst>
      <p:ext uri="{BB962C8B-B14F-4D97-AF65-F5344CB8AC3E}">
        <p14:creationId xmlns:p14="http://schemas.microsoft.com/office/powerpoint/2010/main" val="468168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130</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08166" y="417102"/>
            <a:ext cx="8544810" cy="830997"/>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Rhombus F is decomposed into two triangles, Triangle X and Triangle Y, as shown.</a:t>
            </a:r>
          </a:p>
        </p:txBody>
      </p:sp>
      <p:grpSp>
        <p:nvGrpSpPr>
          <p:cNvPr id="3" name="Group 2"/>
          <p:cNvGrpSpPr/>
          <p:nvPr/>
        </p:nvGrpSpPr>
        <p:grpSpPr>
          <a:xfrm>
            <a:off x="2763129" y="1690059"/>
            <a:ext cx="4559495" cy="3477881"/>
            <a:chOff x="2548254" y="1751286"/>
            <a:chExt cx="4559495" cy="3477881"/>
          </a:xfrm>
        </p:grpSpPr>
        <p:pic>
          <p:nvPicPr>
            <p:cNvPr id="6" name="Picture 5">
              <a:extLst>
                <a:ext uri="{FF2B5EF4-FFF2-40B4-BE49-F238E27FC236}">
                  <a16:creationId xmlns:a16="http://schemas.microsoft.com/office/drawing/2014/main" id="{437EBA09-18E7-3441-BF25-5ED7C89332B3}"/>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2548254" y="1992312"/>
              <a:ext cx="4559495" cy="3236855"/>
            </a:xfrm>
            <a:prstGeom prst="rect">
              <a:avLst/>
            </a:prstGeom>
            <a:noFill/>
            <a:ln>
              <a:noFill/>
            </a:ln>
          </p:spPr>
        </p:pic>
        <p:sp>
          <p:nvSpPr>
            <p:cNvPr id="7" name="Text Box 492">
              <a:extLst>
                <a:ext uri="{FF2B5EF4-FFF2-40B4-BE49-F238E27FC236}">
                  <a16:creationId xmlns:a16="http://schemas.microsoft.com/office/drawing/2014/main" id="{386C86DA-DF25-AF45-9785-B27F0E27BEE4}"/>
                </a:ext>
              </a:extLst>
            </p:cNvPr>
            <p:cNvSpPr txBox="1"/>
            <p:nvPr/>
          </p:nvSpPr>
          <p:spPr>
            <a:xfrm>
              <a:off x="3755248" y="2689816"/>
              <a:ext cx="1763361" cy="3810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Triangle X</a:t>
              </a:r>
              <a:endParaRPr lang="x-none" sz="20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Text Box 493">
              <a:extLst>
                <a:ext uri="{FF2B5EF4-FFF2-40B4-BE49-F238E27FC236}">
                  <a16:creationId xmlns:a16="http://schemas.microsoft.com/office/drawing/2014/main" id="{39F27438-CF71-DD4D-AA23-E6A7BBF9BCBF}"/>
                </a:ext>
              </a:extLst>
            </p:cNvPr>
            <p:cNvSpPr txBox="1"/>
            <p:nvPr/>
          </p:nvSpPr>
          <p:spPr>
            <a:xfrm>
              <a:off x="3898622" y="3964307"/>
              <a:ext cx="1778635" cy="3810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Triangle Y</a:t>
              </a:r>
              <a:endParaRPr lang="x-none" sz="200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Text Box 494">
                  <a:extLst>
                    <a:ext uri="{FF2B5EF4-FFF2-40B4-BE49-F238E27FC236}">
                      <a16:creationId xmlns:a16="http://schemas.microsoft.com/office/drawing/2014/main" id="{4462A481-2F49-7A42-8BA2-C6C5CE297D69}"/>
                    </a:ext>
                  </a:extLst>
                </p:cNvPr>
                <p:cNvSpPr txBox="1"/>
                <p:nvPr/>
              </p:nvSpPr>
              <p:spPr>
                <a:xfrm>
                  <a:off x="4542643" y="2151336"/>
                  <a:ext cx="304800" cy="3714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𝑠</m:t>
                        </m:r>
                      </m:oMath>
                    </m:oMathPara>
                  </a14:m>
                  <a:endParaRPr lang="x-none" sz="20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9" name="Text Box 494">
                  <a:extLst>
                    <a:ext uri="{FF2B5EF4-FFF2-40B4-BE49-F238E27FC236}">
                      <a16:creationId xmlns:a16="http://schemas.microsoft.com/office/drawing/2014/main" xmlns:a14="http://schemas.microsoft.com/office/drawing/2010/main" xmlns="" id="{4462A481-2F49-7A42-8BA2-C6C5CE297D69}"/>
                    </a:ext>
                  </a:extLst>
                </p:cNvPr>
                <p:cNvSpPr txBox="1">
                  <a:spLocks noRot="1" noChangeAspect="1" noMove="1" noResize="1" noEditPoints="1" noAdjustHandles="1" noChangeArrowheads="1" noChangeShapeType="1" noTextEdit="1"/>
                </p:cNvSpPr>
                <p:nvPr/>
              </p:nvSpPr>
              <p:spPr>
                <a:xfrm>
                  <a:off x="4542643" y="2151336"/>
                  <a:ext cx="304800" cy="371475"/>
                </a:xfrm>
                <a:prstGeom prst="rect">
                  <a:avLst/>
                </a:prstGeom>
                <a:blipFill rotWithShape="1">
                  <a:blip r:embed="rId5"/>
                  <a:stretch>
                    <a:fillRect/>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0" name="Text Box 495">
                  <a:extLst>
                    <a:ext uri="{FF2B5EF4-FFF2-40B4-BE49-F238E27FC236}">
                      <a16:creationId xmlns:a16="http://schemas.microsoft.com/office/drawing/2014/main" id="{E3642D7F-5C36-4047-B600-3D41A32AD639}"/>
                    </a:ext>
                  </a:extLst>
                </p:cNvPr>
                <p:cNvSpPr txBox="1"/>
                <p:nvPr/>
              </p:nvSpPr>
              <p:spPr>
                <a:xfrm>
                  <a:off x="4034643" y="4594863"/>
                  <a:ext cx="354965" cy="4711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𝑠</m:t>
                        </m:r>
                      </m:oMath>
                    </m:oMathPara>
                  </a14:m>
                  <a:endParaRPr lang="x-none" sz="20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0" name="Text Box 495">
                  <a:extLst>
                    <a:ext uri="{FF2B5EF4-FFF2-40B4-BE49-F238E27FC236}">
                      <a16:creationId xmlns:a16="http://schemas.microsoft.com/office/drawing/2014/main" xmlns:a14="http://schemas.microsoft.com/office/drawing/2010/main" xmlns="" id="{E3642D7F-5C36-4047-B600-3D41A32AD639}"/>
                    </a:ext>
                  </a:extLst>
                </p:cNvPr>
                <p:cNvSpPr txBox="1">
                  <a:spLocks noRot="1" noChangeAspect="1" noMove="1" noResize="1" noEditPoints="1" noAdjustHandles="1" noChangeArrowheads="1" noChangeShapeType="1" noTextEdit="1"/>
                </p:cNvSpPr>
                <p:nvPr/>
              </p:nvSpPr>
              <p:spPr>
                <a:xfrm>
                  <a:off x="4034643" y="4594863"/>
                  <a:ext cx="354965" cy="471170"/>
                </a:xfrm>
                <a:prstGeom prst="rect">
                  <a:avLst/>
                </a:prstGeom>
                <a:blipFill rotWithShape="1">
                  <a:blip r:embed="rId6"/>
                  <a:stretch>
                    <a:fillRect/>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1" name="Text Box 496">
                  <a:extLst>
                    <a:ext uri="{FF2B5EF4-FFF2-40B4-BE49-F238E27FC236}">
                      <a16:creationId xmlns:a16="http://schemas.microsoft.com/office/drawing/2014/main" id="{4F5409CF-2E06-6A47-8F73-31D78DD2353B}"/>
                    </a:ext>
                  </a:extLst>
                </p:cNvPr>
                <p:cNvSpPr txBox="1"/>
                <p:nvPr/>
              </p:nvSpPr>
              <p:spPr>
                <a:xfrm>
                  <a:off x="5994967" y="3071451"/>
                  <a:ext cx="257175"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h</m:t>
                        </m:r>
                      </m:oMath>
                    </m:oMathPara>
                  </a14:m>
                  <a:endParaRPr lang="x-none" sz="20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1" name="Text Box 496">
                  <a:extLst>
                    <a:ext uri="{FF2B5EF4-FFF2-40B4-BE49-F238E27FC236}">
                      <a16:creationId xmlns:a16="http://schemas.microsoft.com/office/drawing/2014/main" xmlns:a14="http://schemas.microsoft.com/office/drawing/2010/main" xmlns="" id="{4F5409CF-2E06-6A47-8F73-31D78DD2353B}"/>
                    </a:ext>
                  </a:extLst>
                </p:cNvPr>
                <p:cNvSpPr txBox="1">
                  <a:spLocks noRot="1" noChangeAspect="1" noMove="1" noResize="1" noEditPoints="1" noAdjustHandles="1" noChangeArrowheads="1" noChangeShapeType="1" noTextEdit="1"/>
                </p:cNvSpPr>
                <p:nvPr/>
              </p:nvSpPr>
              <p:spPr>
                <a:xfrm>
                  <a:off x="5994967" y="3071451"/>
                  <a:ext cx="257175" cy="352425"/>
                </a:xfrm>
                <a:prstGeom prst="rect">
                  <a:avLst/>
                </a:prstGeom>
                <a:blipFill rotWithShape="1">
                  <a:blip r:embed="rId7"/>
                  <a:stretch>
                    <a:fillRect/>
                  </a:stretch>
                </a:blipFill>
                <a:ln w="6350">
                  <a:noFill/>
                </a:ln>
              </p:spPr>
              <p:txBody>
                <a:bodyPr/>
                <a:lstStyle/>
                <a:p>
                  <a:r>
                    <a:rPr lang="en-PH">
                      <a:noFill/>
                    </a:rPr>
                    <a:t> </a:t>
                  </a:r>
                </a:p>
              </p:txBody>
            </p:sp>
          </mc:Fallback>
        </mc:AlternateContent>
        <p:sp>
          <p:nvSpPr>
            <p:cNvPr id="13" name="Text Box 521">
              <a:extLst>
                <a:ext uri="{FF2B5EF4-FFF2-40B4-BE49-F238E27FC236}">
                  <a16:creationId xmlns:a16="http://schemas.microsoft.com/office/drawing/2014/main" id="{EE7AFA07-FBA9-9C44-AD6F-1CE609CB45FD}"/>
                </a:ext>
              </a:extLst>
            </p:cNvPr>
            <p:cNvSpPr txBox="1"/>
            <p:nvPr/>
          </p:nvSpPr>
          <p:spPr>
            <a:xfrm>
              <a:off x="3961950" y="1751286"/>
              <a:ext cx="1828800" cy="4000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Rhombus F</a:t>
              </a:r>
              <a:endParaRPr lang="x-none" sz="2000">
                <a:latin typeface="Cambria" panose="02040503050406030204" pitchFamily="18" charset="0"/>
                <a:ea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272721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130</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08166" y="404936"/>
            <a:ext cx="8544810" cy="83099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Felicia wrote expressions to represent the areas of the two triangles.</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B6BBFFB3-8192-9441-B113-0D11A9B6B80F}"/>
                  </a:ext>
                </a:extLst>
              </p:cNvPr>
              <p:cNvGraphicFramePr>
                <a:graphicFrameLocks noGrp="1"/>
              </p:cNvGraphicFramePr>
              <p:nvPr>
                <p:extLst>
                  <p:ext uri="{D42A27DB-BD31-4B8C-83A1-F6EECF244321}">
                    <p14:modId xmlns:p14="http://schemas.microsoft.com/office/powerpoint/2010/main" val="1812352420"/>
                  </p:ext>
                </p:extLst>
              </p:nvPr>
            </p:nvGraphicFramePr>
            <p:xfrm>
              <a:off x="2390288" y="1561484"/>
              <a:ext cx="6200140" cy="1548000"/>
            </p:xfrm>
            <a:graphic>
              <a:graphicData uri="http://schemas.openxmlformats.org/drawingml/2006/table">
                <a:tbl>
                  <a:tblPr firstRow="1" firstCol="1" bandRow="1"/>
                  <a:tblGrid>
                    <a:gridCol w="3100070">
                      <a:extLst>
                        <a:ext uri="{9D8B030D-6E8A-4147-A177-3AD203B41FA5}">
                          <a16:colId xmlns:a16="http://schemas.microsoft.com/office/drawing/2014/main" val="2500709551"/>
                        </a:ext>
                      </a:extLst>
                    </a:gridCol>
                    <a:gridCol w="3100070">
                      <a:extLst>
                        <a:ext uri="{9D8B030D-6E8A-4147-A177-3AD203B41FA5}">
                          <a16:colId xmlns:a16="http://schemas.microsoft.com/office/drawing/2014/main" val="2449900843"/>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Area of Triangle X</a:t>
                          </a:r>
                          <a:endParaRPr lang="x-none" sz="14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Area of Triangle Y</a:t>
                          </a:r>
                          <a:endParaRPr lang="x-none" sz="14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39326007"/>
                      </a:ext>
                    </a:extLst>
                  </a:tr>
                  <a:tr h="108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𝑠</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h</m:t>
                                </m:r>
                              </m:oMath>
                            </m:oMathPara>
                          </a14:m>
                          <a:endParaRPr lang="x-none" sz="14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𝑠</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h</m:t>
                                </m:r>
                              </m:oMath>
                            </m:oMathPara>
                          </a14:m>
                          <a:endParaRPr lang="x-none" sz="14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1428792"/>
                      </a:ext>
                    </a:extLst>
                  </a:tr>
                </a:tbl>
              </a:graphicData>
            </a:graphic>
          </p:graphicFrame>
        </mc:Choice>
        <mc:Fallback xmlns="">
          <p:graphicFrame>
            <p:nvGraphicFramePr>
              <p:cNvPr id="5" name="Table 4">
                <a:extLst>
                  <a:ext uri="{FF2B5EF4-FFF2-40B4-BE49-F238E27FC236}">
                    <a16:creationId xmlns:a16="http://schemas.microsoft.com/office/drawing/2014/main" id="{B6BBFFB3-8192-9441-B113-0D11A9B6B80F}"/>
                  </a:ext>
                </a:extLst>
              </p:cNvPr>
              <p:cNvGraphicFramePr>
                <a:graphicFrameLocks noGrp="1"/>
              </p:cNvGraphicFramePr>
              <p:nvPr>
                <p:extLst>
                  <p:ext uri="{D42A27DB-BD31-4B8C-83A1-F6EECF244321}">
                    <p14:modId xmlns:p14="http://schemas.microsoft.com/office/powerpoint/2010/main" val="1812352420"/>
                  </p:ext>
                </p:extLst>
              </p:nvPr>
            </p:nvGraphicFramePr>
            <p:xfrm>
              <a:off x="2390288" y="1561484"/>
              <a:ext cx="6200140" cy="1548000"/>
            </p:xfrm>
            <a:graphic>
              <a:graphicData uri="http://schemas.openxmlformats.org/drawingml/2006/table">
                <a:tbl>
                  <a:tblPr firstRow="1" firstCol="1" bandRow="1"/>
                  <a:tblGrid>
                    <a:gridCol w="3100070">
                      <a:extLst>
                        <a:ext uri="{9D8B030D-6E8A-4147-A177-3AD203B41FA5}">
                          <a16:colId xmlns:a16="http://schemas.microsoft.com/office/drawing/2014/main" val="2500709551"/>
                        </a:ext>
                      </a:extLst>
                    </a:gridCol>
                    <a:gridCol w="3100070">
                      <a:extLst>
                        <a:ext uri="{9D8B030D-6E8A-4147-A177-3AD203B41FA5}">
                          <a16:colId xmlns:a16="http://schemas.microsoft.com/office/drawing/2014/main" val="2449900843"/>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Area of Triangle X</a:t>
                          </a:r>
                          <a:endParaRPr lang="x-none" sz="14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Area of Triangle Y</a:t>
                          </a:r>
                          <a:endParaRPr lang="x-none" sz="14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39326007"/>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93" t="-44382" r="-100589" b="-168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00393" t="-44382" r="-589" b="-1685"/>
                          </a:stretch>
                        </a:blipFill>
                      </a:tcPr>
                    </a:tc>
                    <a:extLst>
                      <a:ext uri="{0D108BD9-81ED-4DB2-BD59-A6C34878D82A}">
                        <a16:rowId xmlns:a16="http://schemas.microsoft.com/office/drawing/2014/main" val="2741428792"/>
                      </a:ext>
                    </a:extLst>
                  </a:tr>
                </a:tbl>
              </a:graphicData>
            </a:graphic>
          </p:graphicFrame>
        </mc:Fallback>
      </mc:AlternateContent>
      <p:sp>
        <p:nvSpPr>
          <p:cNvPr id="11" name="Rectangle 10">
            <a:extLst>
              <a:ext uri="{FF2B5EF4-FFF2-40B4-BE49-F238E27FC236}">
                <a16:creationId xmlns:a16="http://schemas.microsoft.com/office/drawing/2014/main" id="{77686DB3-3A62-D945-BF0C-97E9FE967414}"/>
              </a:ext>
            </a:extLst>
          </p:cNvPr>
          <p:cNvSpPr/>
          <p:nvPr/>
        </p:nvSpPr>
        <p:spPr>
          <a:xfrm>
            <a:off x="1508166" y="3435035"/>
            <a:ext cx="8544810" cy="1200329"/>
          </a:xfrm>
          <a:prstGeom prst="rect">
            <a:avLst/>
          </a:prstGeom>
        </p:spPr>
        <p:txBody>
          <a:bodyPr wrap="square">
            <a:spAutoFit/>
          </a:bodyPr>
          <a:lstStyle/>
          <a:p>
            <a:pPr marL="496888"/>
            <a:r>
              <a:rPr lang="en-US" sz="2400" dirty="0">
                <a:latin typeface="Verdana" panose="020B0604030504040204" pitchFamily="34" charset="0"/>
                <a:ea typeface="Times New Roman" panose="02020603050405020304" pitchFamily="18" charset="0"/>
                <a:cs typeface="Times New Roman" panose="02020603050405020304" pitchFamily="18" charset="0"/>
              </a:rPr>
              <a:t>Discuss with your partner whether you agree with the expressions Felicia wrote. Write a summary of your discussion.</a:t>
            </a:r>
          </a:p>
        </p:txBody>
      </p:sp>
    </p:spTree>
    <p:extLst>
      <p:ext uri="{BB962C8B-B14F-4D97-AF65-F5344CB8AC3E}">
        <p14:creationId xmlns:p14="http://schemas.microsoft.com/office/powerpoint/2010/main" val="18292975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130</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31917" y="397919"/>
            <a:ext cx="8521059" cy="1938992"/>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diagonals of a rhombus can also be used to find its area.</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The two diagonals of a rhombus are perpendicular to each other and divide each other in half.</a:t>
            </a:r>
          </a:p>
        </p:txBody>
      </p:sp>
      <p:pic>
        <p:nvPicPr>
          <p:cNvPr id="18" name="Picture 17">
            <a:extLst>
              <a:ext uri="{FF2B5EF4-FFF2-40B4-BE49-F238E27FC236}">
                <a16:creationId xmlns:a16="http://schemas.microsoft.com/office/drawing/2014/main" id="{D24BB8CD-F027-D140-ABA7-10BB9AAB8F01}"/>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2957884" y="2725764"/>
            <a:ext cx="4279443" cy="3526824"/>
          </a:xfrm>
          <a:prstGeom prst="rect">
            <a:avLst/>
          </a:prstGeom>
          <a:noFill/>
          <a:ln>
            <a:noFill/>
          </a:ln>
        </p:spPr>
      </p:pic>
      <p:sp>
        <p:nvSpPr>
          <p:cNvPr id="19" name="Rectangle 18">
            <a:extLst>
              <a:ext uri="{FF2B5EF4-FFF2-40B4-BE49-F238E27FC236}">
                <a16:creationId xmlns:a16="http://schemas.microsoft.com/office/drawing/2014/main" id="{BB6EF7E2-F1B9-6048-8BEF-4C6FFF71AB53}"/>
              </a:ext>
            </a:extLst>
          </p:cNvPr>
          <p:cNvSpPr/>
          <p:nvPr/>
        </p:nvSpPr>
        <p:spPr>
          <a:xfrm rot="19620537">
            <a:off x="4992829" y="4291867"/>
            <a:ext cx="209550" cy="21907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5647707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1520042" y="774924"/>
                <a:ext cx="8532934" cy="830997"/>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The two diagonals,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s-ES" sz="2400" i="1">
                            <a:latin typeface="Cambria Math" panose="02040503050406030204" pitchFamily="18" charset="0"/>
                            <a:cs typeface="Times New Roman" panose="02020603050405020304" pitchFamily="18" charset="0"/>
                          </a:rPr>
                          <m:t>𝑑</m:t>
                        </m:r>
                      </m:e>
                      <m:sub>
                        <m:r>
                          <a:rPr lang="es-ES" sz="2400" i="1">
                            <a:latin typeface="Cambria Math" panose="02040503050406030204" pitchFamily="18" charset="0"/>
                            <a:cs typeface="Times New Roman" panose="02020603050405020304" pitchFamily="18" charset="0"/>
                          </a:rPr>
                          <m:t>1</m:t>
                        </m:r>
                      </m:sub>
                    </m:sSub>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s-ES" sz="2400" i="1">
                            <a:latin typeface="Cambria Math" panose="02040503050406030204" pitchFamily="18" charset="0"/>
                            <a:cs typeface="Times New Roman" panose="02020603050405020304" pitchFamily="18" charset="0"/>
                          </a:rPr>
                          <m:t>𝑑</m:t>
                        </m:r>
                      </m:e>
                      <m:sub>
                        <m:r>
                          <a:rPr lang="es-ES" sz="2400" i="1">
                            <a:latin typeface="Cambria Math" panose="02040503050406030204" pitchFamily="18" charset="0"/>
                            <a:cs typeface="Times New Roman" panose="02020603050405020304" pitchFamily="18" charset="0"/>
                          </a:rPr>
                          <m:t>2</m:t>
                        </m:r>
                      </m:sub>
                    </m:sSub>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of Rhombus F are drawn and labeled below. </a:t>
                </a:r>
              </a:p>
            </p:txBody>
          </p:sp>
        </mc:Choice>
        <mc:Fallback xmlns="">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1520042" y="774924"/>
                <a:ext cx="8532934" cy="830997"/>
              </a:xfrm>
              <a:prstGeom prst="rect">
                <a:avLst/>
              </a:prstGeom>
              <a:blipFill>
                <a:blip r:embed="rId4"/>
                <a:stretch>
                  <a:fillRect l="-1071" t="-6618" b="-1617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3263EBBD-F653-884A-A6A5-74C38C702BB7}"/>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682808" y="1755858"/>
            <a:ext cx="2826385" cy="2329180"/>
          </a:xfrm>
          <a:prstGeom prst="rect">
            <a:avLst/>
          </a:prstGeom>
          <a:noFill/>
          <a:ln>
            <a:noFill/>
          </a:ln>
        </p:spPr>
      </p:pic>
      <mc:AlternateContent xmlns:mc="http://schemas.openxmlformats.org/markup-compatibility/2006" xmlns:a14="http://schemas.microsoft.com/office/drawing/2010/main">
        <mc:Choice Requires="a14">
          <p:sp>
            <p:nvSpPr>
              <p:cNvPr id="7" name="Text Box 510">
                <a:extLst>
                  <a:ext uri="{FF2B5EF4-FFF2-40B4-BE49-F238E27FC236}">
                    <a16:creationId xmlns:a16="http://schemas.microsoft.com/office/drawing/2014/main" id="{E6193B45-56F1-7946-9C14-050B0D7C8B71}"/>
                  </a:ext>
                </a:extLst>
              </p:cNvPr>
              <p:cNvSpPr txBox="1"/>
              <p:nvPr/>
            </p:nvSpPr>
            <p:spPr>
              <a:xfrm>
                <a:off x="4354899" y="1900536"/>
                <a:ext cx="419100" cy="5048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sSub>
                        <m:sSub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latin typeface="Cambria Math" panose="02040503050406030204" pitchFamily="18" charset="0"/>
                              <a:ea typeface="Times New Roman" panose="02020603050405020304" pitchFamily="18" charset="0"/>
                              <a:cs typeface="Times New Roman" panose="02020603050405020304" pitchFamily="18" charset="0"/>
                            </a:rPr>
                            <m:t>𝑑</m:t>
                          </m:r>
                        </m:e>
                        <m:sub>
                          <m:r>
                            <a:rPr lang="en-US" sz="2000" i="1">
                              <a:latin typeface="Cambria Math" panose="02040503050406030204" pitchFamily="18" charset="0"/>
                              <a:ea typeface="Times New Roman" panose="02020603050405020304" pitchFamily="18" charset="0"/>
                              <a:cs typeface="Times New Roman" panose="02020603050405020304" pitchFamily="18" charset="0"/>
                            </a:rPr>
                            <m:t>1</m:t>
                          </m:r>
                        </m:sub>
                      </m:sSub>
                    </m:oMath>
                  </m:oMathPara>
                </a14:m>
                <a:endParaRPr lang="x-none" sz="2000">
                  <a:latin typeface="Verdana" pitchFamily="34" charset="0"/>
                  <a:ea typeface="Verdana" pitchFamily="34" charset="0"/>
                  <a:cs typeface="Times New Roman" panose="02020603050405020304" pitchFamily="18" charset="0"/>
                </a:endParaRPr>
              </a:p>
            </p:txBody>
          </p:sp>
        </mc:Choice>
        <mc:Fallback xmlns="">
          <p:sp>
            <p:nvSpPr>
              <p:cNvPr id="7" name="Text Box 510">
                <a:extLst>
                  <a:ext uri="{FF2B5EF4-FFF2-40B4-BE49-F238E27FC236}">
                    <a16:creationId xmlns:a16="http://schemas.microsoft.com/office/drawing/2014/main" id="{E6193B45-56F1-7946-9C14-050B0D7C8B71}"/>
                  </a:ext>
                </a:extLst>
              </p:cNvPr>
              <p:cNvSpPr txBox="1">
                <a:spLocks noRot="1" noChangeAspect="1" noMove="1" noResize="1" noEditPoints="1" noAdjustHandles="1" noChangeArrowheads="1" noChangeShapeType="1" noTextEdit="1"/>
              </p:cNvSpPr>
              <p:nvPr/>
            </p:nvSpPr>
            <p:spPr>
              <a:xfrm>
                <a:off x="4354899" y="1900536"/>
                <a:ext cx="419100" cy="504825"/>
              </a:xfrm>
              <a:prstGeom prst="rect">
                <a:avLst/>
              </a:prstGeom>
              <a:blipFill>
                <a:blip r:embed="rId6"/>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511">
                <a:extLst>
                  <a:ext uri="{FF2B5EF4-FFF2-40B4-BE49-F238E27FC236}">
                    <a16:creationId xmlns:a16="http://schemas.microsoft.com/office/drawing/2014/main" id="{EDA750F1-0DBC-A746-8A0B-4E024C3A0852}"/>
                  </a:ext>
                </a:extLst>
              </p:cNvPr>
              <p:cNvSpPr txBox="1"/>
              <p:nvPr/>
            </p:nvSpPr>
            <p:spPr>
              <a:xfrm>
                <a:off x="7497514" y="1951336"/>
                <a:ext cx="419100" cy="5048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sSub>
                        <m:sSub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latin typeface="Cambria Math" panose="02040503050406030204" pitchFamily="18" charset="0"/>
                              <a:ea typeface="Times New Roman" panose="02020603050405020304" pitchFamily="18" charset="0"/>
                              <a:cs typeface="Times New Roman" panose="02020603050405020304" pitchFamily="18" charset="0"/>
                            </a:rPr>
                            <m:t>𝑑</m:t>
                          </m:r>
                        </m:e>
                        <m:sub>
                          <m:r>
                            <a:rPr lang="en-US" sz="2000" i="1">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x-none" sz="2000">
                  <a:latin typeface="Verdana" pitchFamily="34" charset="0"/>
                  <a:ea typeface="Verdana" pitchFamily="34" charset="0"/>
                  <a:cs typeface="Times New Roman" panose="02020603050405020304" pitchFamily="18" charset="0"/>
                </a:endParaRPr>
              </a:p>
            </p:txBody>
          </p:sp>
        </mc:Choice>
        <mc:Fallback xmlns="">
          <p:sp>
            <p:nvSpPr>
              <p:cNvPr id="8" name="Text Box 511">
                <a:extLst>
                  <a:ext uri="{FF2B5EF4-FFF2-40B4-BE49-F238E27FC236}">
                    <a16:creationId xmlns:a16="http://schemas.microsoft.com/office/drawing/2014/main" id="{EDA750F1-0DBC-A746-8A0B-4E024C3A0852}"/>
                  </a:ext>
                </a:extLst>
              </p:cNvPr>
              <p:cNvSpPr txBox="1">
                <a:spLocks noRot="1" noChangeAspect="1" noMove="1" noResize="1" noEditPoints="1" noAdjustHandles="1" noChangeArrowheads="1" noChangeShapeType="1" noTextEdit="1"/>
              </p:cNvSpPr>
              <p:nvPr/>
            </p:nvSpPr>
            <p:spPr>
              <a:xfrm>
                <a:off x="7497514" y="1951336"/>
                <a:ext cx="419100" cy="504825"/>
              </a:xfrm>
              <a:prstGeom prst="rect">
                <a:avLst/>
              </a:prstGeom>
              <a:blipFill>
                <a:blip r:embed="rId7"/>
                <a:stretch>
                  <a:fillRect/>
                </a:stretch>
              </a:blipFill>
              <a:ln w="6350">
                <a:noFill/>
              </a:ln>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DE9CC6B0-EE4B-734E-829B-9F6303638000}"/>
              </a:ext>
            </a:extLst>
          </p:cNvPr>
          <p:cNvCxnSpPr/>
          <p:nvPr/>
        </p:nvCxnSpPr>
        <p:spPr>
          <a:xfrm>
            <a:off x="4774635" y="2301221"/>
            <a:ext cx="904875" cy="276225"/>
          </a:xfrm>
          <a:prstGeom prst="straightConnector1">
            <a:avLst/>
          </a:prstGeom>
          <a:ln>
            <a:tailEnd type="triangle"/>
          </a:ln>
          <a:effectLst/>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F04B2EA3-5E7B-5A4A-8A8D-57ED5E8AEEEF}"/>
              </a:ext>
            </a:extLst>
          </p:cNvPr>
          <p:cNvCxnSpPr/>
          <p:nvPr/>
        </p:nvCxnSpPr>
        <p:spPr>
          <a:xfrm flipH="1">
            <a:off x="6769805" y="2230736"/>
            <a:ext cx="680085" cy="340995"/>
          </a:xfrm>
          <a:prstGeom prst="straightConnector1">
            <a:avLst/>
          </a:prstGeom>
          <a:ln>
            <a:tailEnd type="triangle"/>
          </a:ln>
          <a:effectLst/>
        </p:spPr>
        <p:style>
          <a:lnRef idx="2">
            <a:schemeClr val="dk1"/>
          </a:lnRef>
          <a:fillRef idx="0">
            <a:schemeClr val="dk1"/>
          </a:fillRef>
          <a:effectRef idx="1">
            <a:schemeClr val="dk1"/>
          </a:effectRef>
          <a:fontRef idx="minor">
            <a:schemeClr val="tx1"/>
          </a:fontRef>
        </p:style>
      </p:cxnSp>
      <p:sp>
        <p:nvSpPr>
          <p:cNvPr id="11" name="Text Box 522">
            <a:extLst>
              <a:ext uri="{FF2B5EF4-FFF2-40B4-BE49-F238E27FC236}">
                <a16:creationId xmlns:a16="http://schemas.microsoft.com/office/drawing/2014/main" id="{72EFCAB0-4C54-1549-9D16-CA242265470F}"/>
              </a:ext>
            </a:extLst>
          </p:cNvPr>
          <p:cNvSpPr txBox="1"/>
          <p:nvPr/>
        </p:nvSpPr>
        <p:spPr>
          <a:xfrm>
            <a:off x="5274379" y="1678285"/>
            <a:ext cx="1828800" cy="4000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Verdana" pitchFamily="34" charset="0"/>
                <a:cs typeface="Times New Roman" panose="02020603050405020304" pitchFamily="18" charset="0"/>
              </a:rPr>
              <a:t>Rhombus F</a:t>
            </a:r>
            <a:endParaRPr lang="x-none" sz="2000">
              <a:latin typeface="Verdana" pitchFamily="34" charset="0"/>
              <a:ea typeface="Verdana"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231625C9-FC81-B847-B0A9-0B336D6FB160}"/>
                  </a:ext>
                </a:extLst>
              </p:cNvPr>
              <p:cNvSpPr/>
              <p:nvPr/>
            </p:nvSpPr>
            <p:spPr>
              <a:xfrm>
                <a:off x="1520042" y="4101220"/>
                <a:ext cx="8532934" cy="983218"/>
              </a:xfrm>
              <a:prstGeom prst="rect">
                <a:avLst/>
              </a:prstGeom>
            </p:spPr>
            <p:txBody>
              <a:bodyPr wrap="square">
                <a:spAutoFit/>
              </a:bodyPr>
              <a:lstStyle/>
              <a:p>
                <a:pPr marL="444500"/>
                <a:r>
                  <a:rPr lang="en-US" sz="2400" dirty="0">
                    <a:latin typeface="Verdana" panose="020B0604030504040204" pitchFamily="34" charset="0"/>
                    <a:ea typeface="Times New Roman" panose="02020603050405020304" pitchFamily="18" charset="0"/>
                    <a:cs typeface="Times New Roman" panose="02020603050405020304" pitchFamily="18" charset="0"/>
                  </a:rPr>
                  <a:t>Mark on the figure the two lengths that are equal to </a:t>
                </a:r>
                <a14:m>
                  <m:oMath xmlns:m="http://schemas.openxmlformats.org/officeDocument/2006/math">
                    <m:f>
                      <m:fPr>
                        <m:ctrlPr>
                          <a:rPr lang="en-US" sz="2400" i="1">
                            <a:latin typeface="Cambria Math" panose="02040503050406030204" pitchFamily="18" charset="0"/>
                            <a:cs typeface="Times New Roman" panose="02020603050405020304" pitchFamily="18" charset="0"/>
                          </a:rPr>
                        </m:ctrlPr>
                      </m:fPr>
                      <m:num>
                        <m:r>
                          <a:rPr lang="es-ES" sz="2400" i="1">
                            <a:latin typeface="Cambria Math" panose="02040503050406030204" pitchFamily="18" charset="0"/>
                            <a:cs typeface="Times New Roman" panose="02020603050405020304" pitchFamily="18" charset="0"/>
                          </a:rPr>
                          <m:t>1</m:t>
                        </m:r>
                      </m:num>
                      <m:den>
                        <m:r>
                          <a:rPr lang="es-ES" sz="2400" i="1">
                            <a:latin typeface="Cambria Math" panose="02040503050406030204" pitchFamily="18" charset="0"/>
                            <a:cs typeface="Times New Roman" panose="02020603050405020304" pitchFamily="18" charset="0"/>
                          </a:rPr>
                          <m:t>2</m:t>
                        </m:r>
                      </m:den>
                    </m:f>
                    <m:sSub>
                      <m:sSubPr>
                        <m:ctrlPr>
                          <a:rPr lang="en-US" sz="2400" i="1">
                            <a:latin typeface="Cambria Math" panose="02040503050406030204" pitchFamily="18" charset="0"/>
                            <a:cs typeface="Times New Roman" panose="02020603050405020304" pitchFamily="18" charset="0"/>
                          </a:rPr>
                        </m:ctrlPr>
                      </m:sSubPr>
                      <m:e>
                        <m:r>
                          <a:rPr lang="es-ES" sz="2400" i="1">
                            <a:latin typeface="Cambria Math" panose="02040503050406030204" pitchFamily="18" charset="0"/>
                            <a:cs typeface="Times New Roman" panose="02020603050405020304" pitchFamily="18" charset="0"/>
                          </a:rPr>
                          <m:t>𝑑</m:t>
                        </m:r>
                      </m:e>
                      <m:sub>
                        <m:r>
                          <a:rPr lang="es-ES" sz="2400" i="1">
                            <a:latin typeface="Cambria Math" panose="02040503050406030204" pitchFamily="18" charset="0"/>
                            <a:cs typeface="Times New Roman" panose="02020603050405020304" pitchFamily="18" charset="0"/>
                          </a:rPr>
                          <m:t>1</m:t>
                        </m:r>
                      </m:sub>
                    </m:sSub>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the two lengths that are equal to </a:t>
                </a:r>
                <a14:m>
                  <m:oMath xmlns:m="http://schemas.openxmlformats.org/officeDocument/2006/math">
                    <m:f>
                      <m:fPr>
                        <m:ctrlPr>
                          <a:rPr lang="en-US" sz="2400" i="1">
                            <a:latin typeface="Cambria Math" panose="02040503050406030204" pitchFamily="18" charset="0"/>
                            <a:cs typeface="Times New Roman" panose="02020603050405020304" pitchFamily="18" charset="0"/>
                          </a:rPr>
                        </m:ctrlPr>
                      </m:fPr>
                      <m:num>
                        <m:r>
                          <a:rPr lang="es-ES" sz="2400" i="1">
                            <a:latin typeface="Cambria Math" panose="02040503050406030204" pitchFamily="18" charset="0"/>
                            <a:cs typeface="Times New Roman" panose="02020603050405020304" pitchFamily="18" charset="0"/>
                          </a:rPr>
                          <m:t>1</m:t>
                        </m:r>
                      </m:num>
                      <m:den>
                        <m:r>
                          <a:rPr lang="es-ES" sz="2400" i="1">
                            <a:latin typeface="Cambria Math" panose="02040503050406030204" pitchFamily="18" charset="0"/>
                            <a:cs typeface="Times New Roman" panose="02020603050405020304" pitchFamily="18" charset="0"/>
                          </a:rPr>
                          <m:t>2</m:t>
                        </m:r>
                      </m:den>
                    </m:f>
                    <m:sSub>
                      <m:sSubPr>
                        <m:ctrlPr>
                          <a:rPr lang="en-US" sz="2400" i="1">
                            <a:latin typeface="Cambria Math" panose="02040503050406030204" pitchFamily="18" charset="0"/>
                            <a:cs typeface="Times New Roman" panose="02020603050405020304" pitchFamily="18" charset="0"/>
                          </a:rPr>
                        </m:ctrlPr>
                      </m:sSubPr>
                      <m:e>
                        <m:r>
                          <a:rPr lang="es-ES" sz="2400" i="1">
                            <a:latin typeface="Cambria Math" panose="02040503050406030204" pitchFamily="18" charset="0"/>
                            <a:cs typeface="Times New Roman" panose="02020603050405020304" pitchFamily="18" charset="0"/>
                          </a:rPr>
                          <m:t>𝑑</m:t>
                        </m:r>
                      </m:e>
                      <m:sub>
                        <m:r>
                          <a:rPr lang="es-ES" sz="2400" i="1">
                            <a:latin typeface="Cambria Math" panose="02040503050406030204" pitchFamily="18" charset="0"/>
                            <a:cs typeface="Times New Roman" panose="02020603050405020304" pitchFamily="18" charset="0"/>
                          </a:rPr>
                          <m:t>2</m:t>
                        </m:r>
                      </m:sub>
                    </m:sSub>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13" name="Rectangle 12">
                <a:extLst>
                  <a:ext uri="{FF2B5EF4-FFF2-40B4-BE49-F238E27FC236}">
                    <a16:creationId xmlns:a16="http://schemas.microsoft.com/office/drawing/2014/main" id="{231625C9-FC81-B847-B0A9-0B336D6FB160}"/>
                  </a:ext>
                </a:extLst>
              </p:cNvPr>
              <p:cNvSpPr>
                <a:spLocks noRot="1" noChangeAspect="1" noMove="1" noResize="1" noEditPoints="1" noAdjustHandles="1" noChangeArrowheads="1" noChangeShapeType="1" noTextEdit="1"/>
              </p:cNvSpPr>
              <p:nvPr/>
            </p:nvSpPr>
            <p:spPr>
              <a:xfrm>
                <a:off x="1520042" y="4101220"/>
                <a:ext cx="8532934" cy="983218"/>
              </a:xfrm>
              <a:prstGeom prst="rect">
                <a:avLst/>
              </a:prstGeom>
              <a:blipFill>
                <a:blip r:embed="rId8"/>
                <a:stretch>
                  <a:fillRect t="-4969" b="-4348"/>
                </a:stretch>
              </a:blipFill>
            </p:spPr>
            <p:txBody>
              <a:bodyPr/>
              <a:lstStyle/>
              <a:p>
                <a:r>
                  <a:rPr lang="en-US">
                    <a:noFill/>
                  </a:rPr>
                  <a:t> </a:t>
                </a:r>
              </a:p>
            </p:txBody>
          </p:sp>
        </mc:Fallback>
      </mc:AlternateContent>
    </p:spTree>
    <p:extLst>
      <p:ext uri="{BB962C8B-B14F-4D97-AF65-F5344CB8AC3E}">
        <p14:creationId xmlns:p14="http://schemas.microsoft.com/office/powerpoint/2010/main" val="2849265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4" name="Group 3"/>
          <p:cNvGrpSpPr/>
          <p:nvPr/>
        </p:nvGrpSpPr>
        <p:grpSpPr>
          <a:xfrm>
            <a:off x="2776470" y="4447265"/>
            <a:ext cx="2532836" cy="2010410"/>
            <a:chOff x="1814852" y="4388971"/>
            <a:chExt cx="2532836" cy="2010410"/>
          </a:xfrm>
        </p:grpSpPr>
        <p:pic>
          <p:nvPicPr>
            <p:cNvPr id="18" name="Picture 17">
              <a:extLst>
                <a:ext uri="{FF2B5EF4-FFF2-40B4-BE49-F238E27FC236}">
                  <a16:creationId xmlns:a16="http://schemas.microsoft.com/office/drawing/2014/main" id="{C767D76D-79F7-8A4B-843B-0476298944A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4868" t="14125" r="13682" b="12896"/>
            <a:stretch/>
          </p:blipFill>
          <p:spPr bwMode="auto">
            <a:xfrm>
              <a:off x="1814852" y="4529746"/>
              <a:ext cx="2532836" cy="1869635"/>
            </a:xfrm>
            <a:prstGeom prst="rect">
              <a:avLst/>
            </a:prstGeom>
            <a:noFill/>
            <a:ln>
              <a:noFill/>
            </a:ln>
            <a:extLst>
              <a:ext uri="{53640926-AAD7-44D8-BBD7-CCE9431645EC}">
                <a14:shadowObscured xmlns:a14="http://schemas.microsoft.com/office/drawing/2010/main"/>
              </a:ext>
            </a:extLst>
          </p:spPr>
        </p:pic>
        <p:sp>
          <p:nvSpPr>
            <p:cNvPr id="19" name="Text Box 524">
              <a:extLst>
                <a:ext uri="{FF2B5EF4-FFF2-40B4-BE49-F238E27FC236}">
                  <a16:creationId xmlns:a16="http://schemas.microsoft.com/office/drawing/2014/main" id="{5A1DA466-8DB5-5E4F-9D39-6F7A90E9B962}"/>
                </a:ext>
              </a:extLst>
            </p:cNvPr>
            <p:cNvSpPr txBox="1"/>
            <p:nvPr/>
          </p:nvSpPr>
          <p:spPr>
            <a:xfrm>
              <a:off x="2518888" y="4388971"/>
              <a:ext cx="1828800" cy="4000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a:latin typeface="Verdana" panose="020B0604030504040204" pitchFamily="34" charset="0"/>
                  <a:ea typeface="Times New Roman" panose="02020603050405020304" pitchFamily="18" charset="0"/>
                  <a:cs typeface="Times New Roman" panose="02020603050405020304" pitchFamily="18" charset="0"/>
                </a:rPr>
                <a:t>Rhombus F</a:t>
              </a:r>
              <a:endParaRPr lang="x-none">
                <a:latin typeface="Cambria" panose="02040503050406030204" pitchFamily="18" charset="0"/>
                <a:ea typeface="Times New Roman" panose="02020603050405020304" pitchFamily="18" charset="0"/>
                <a:cs typeface="Times New Roman" panose="02020603050405020304" pitchFamily="18" charset="0"/>
              </a:endParaRPr>
            </a:p>
          </p:txBody>
        </p:sp>
      </p:grpSp>
      <p:sp>
        <p:nvSpPr>
          <p:cNvPr id="278" name="Google Shape;278;g104476d1465_1_17"/>
          <p:cNvSpPr/>
          <p:nvPr/>
        </p:nvSpPr>
        <p:spPr>
          <a:xfrm>
            <a:off x="-947"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05347" y="62143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121" y="647140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131</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20042" y="411367"/>
            <a:ext cx="8532934" cy="1323439"/>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The first column of the table shows Rhombus F with parts highlighted. Use the lengths marked on Rhombus F in the previous question to fill in the blanks to find the area of the triangles.</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46401C69-03B6-4E40-94D5-B379F9C688E6}"/>
                  </a:ext>
                </a:extLst>
              </p:cNvPr>
              <p:cNvGraphicFramePr>
                <a:graphicFrameLocks noGrp="1"/>
              </p:cNvGraphicFramePr>
              <p:nvPr>
                <p:extLst>
                  <p:ext uri="{D42A27DB-BD31-4B8C-83A1-F6EECF244321}">
                    <p14:modId xmlns:p14="http://schemas.microsoft.com/office/powerpoint/2010/main" val="3931178442"/>
                  </p:ext>
                </p:extLst>
              </p:nvPr>
            </p:nvGraphicFramePr>
            <p:xfrm>
              <a:off x="2602252" y="1879165"/>
              <a:ext cx="7346499" cy="4578510"/>
            </p:xfrm>
            <a:graphic>
              <a:graphicData uri="http://schemas.openxmlformats.org/drawingml/2006/table">
                <a:tbl>
                  <a:tblPr firstRow="1" firstCol="1" bandRow="1"/>
                  <a:tblGrid>
                    <a:gridCol w="3026499">
                      <a:extLst>
                        <a:ext uri="{9D8B030D-6E8A-4147-A177-3AD203B41FA5}">
                          <a16:colId xmlns:a16="http://schemas.microsoft.com/office/drawing/2014/main" val="850628173"/>
                        </a:ext>
                      </a:extLst>
                    </a:gridCol>
                    <a:gridCol w="4320000">
                      <a:extLst>
                        <a:ext uri="{9D8B030D-6E8A-4147-A177-3AD203B41FA5}">
                          <a16:colId xmlns:a16="http://schemas.microsoft.com/office/drawing/2014/main" val="4014630241"/>
                        </a:ext>
                      </a:extLst>
                    </a:gridCol>
                  </a:tblGrid>
                  <a:tr h="432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Triangle</a:t>
                          </a:r>
                          <a:endParaRPr lang="x-none" sz="2000">
                            <a:effectLst/>
                            <a:latin typeface="Verdana" pitchFamily="34" charset="0"/>
                            <a:ea typeface="Verdana" pitchFamily="34" charset="0"/>
                            <a:cs typeface="Times New Roman" panose="02020603050405020304" pitchFamily="18" charset="0"/>
                          </a:endParaRPr>
                        </a:p>
                      </a:txBody>
                      <a:tcPr marL="61383" marR="613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Area</a:t>
                          </a:r>
                          <a:endParaRPr lang="x-none" sz="2000">
                            <a:effectLst/>
                            <a:latin typeface="Verdana" pitchFamily="34" charset="0"/>
                            <a:ea typeface="Verdana" pitchFamily="34" charset="0"/>
                            <a:cs typeface="Times New Roman" panose="02020603050405020304" pitchFamily="18" charset="0"/>
                          </a:endParaRPr>
                        </a:p>
                      </a:txBody>
                      <a:tcPr marL="61383" marR="613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49278931"/>
                      </a:ext>
                    </a:extLst>
                  </a:tr>
                  <a:tr h="1921045">
                    <a:tc>
                      <a:txBody>
                        <a:bodyPr/>
                        <a:lstStyle/>
                        <a:p>
                          <a:pPr marL="0" marR="0">
                            <a:spcBef>
                              <a:spcPts val="0"/>
                            </a:spcBef>
                            <a:spcAft>
                              <a:spcPts val="0"/>
                            </a:spcAft>
                          </a:pPr>
                          <a:r>
                            <a:rPr lang="en-US" sz="2000" i="1"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p>
                          <a:pPr marL="0" marR="0">
                            <a:spcBef>
                              <a:spcPts val="0"/>
                            </a:spcBef>
                            <a:spcAft>
                              <a:spcPts val="0"/>
                            </a:spcAft>
                          </a:pPr>
                          <a:r>
                            <a:rPr lang="en-US" sz="2000" i="1"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1383" marR="613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600"/>
                            </a:spcAft>
                          </a:pPr>
                          <a:r>
                            <a:rPr lang="en-US" sz="2000" dirty="0">
                              <a:effectLst/>
                              <a:latin typeface="Verdana" panose="020B0604030504040204" pitchFamily="34" charset="0"/>
                              <a:ea typeface="Verdana" pitchFamily="34" charset="0"/>
                              <a:cs typeface="Times New Roman" panose="02020603050405020304" pitchFamily="18" charset="0"/>
                            </a:rPr>
                            <a:t>Area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𝑏</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h</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600"/>
                            </a:spcAft>
                          </a:pPr>
                          <a:r>
                            <a:rPr lang="en-US" sz="2000" dirty="0">
                              <a:effectLst/>
                              <a:latin typeface="Verdana" panose="020B0604030504040204" pitchFamily="34" charset="0"/>
                              <a:ea typeface="Verdana" pitchFamily="34" charset="0"/>
                              <a:cs typeface="Times New Roman" panose="02020603050405020304" pitchFamily="18" charset="0"/>
                            </a:rPr>
                            <a:t>Area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(_______)(_______)</m:t>
                              </m:r>
                            </m:oMath>
                          </a14:m>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600"/>
                            </a:spcAft>
                          </a:pPr>
                          <a:r>
                            <a:rPr lang="en-US" sz="2000" dirty="0">
                              <a:effectLst/>
                              <a:latin typeface="Verdana" panose="020B0604030504040204" pitchFamily="34" charset="0"/>
                              <a:ea typeface="Verdana" pitchFamily="34" charset="0"/>
                              <a:cs typeface="Times New Roman" panose="02020603050405020304" pitchFamily="18" charset="0"/>
                            </a:rPr>
                            <a:t>Rewrite the area by </a:t>
                          </a:r>
                          <a:br>
                            <a:rPr lang="en-US" sz="2000" dirty="0">
                              <a:effectLst/>
                              <a:latin typeface="Verdana" panose="020B0604030504040204" pitchFamily="34" charset="0"/>
                              <a:ea typeface="Verdana" pitchFamily="34" charset="0"/>
                              <a:cs typeface="Times New Roman" panose="02020603050405020304" pitchFamily="18" charset="0"/>
                            </a:rPr>
                          </a:br>
                          <a:r>
                            <a:rPr lang="en-US" sz="2000" dirty="0">
                              <a:effectLst/>
                              <a:latin typeface="Verdana" panose="020B0604030504040204" pitchFamily="34" charset="0"/>
                              <a:ea typeface="Verdana" pitchFamily="34" charset="0"/>
                              <a:cs typeface="Times New Roman" panose="02020603050405020304" pitchFamily="18" charset="0"/>
                            </a:rPr>
                            <a:t>multiplying any fractions.</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Area = ______________</a:t>
                          </a:r>
                          <a:endParaRPr lang="x-none" sz="2000">
                            <a:effectLst/>
                            <a:latin typeface="Verdana" pitchFamily="34" charset="0"/>
                            <a:ea typeface="Verdana" pitchFamily="34" charset="0"/>
                            <a:cs typeface="Times New Roman" panose="02020603050405020304" pitchFamily="18" charset="0"/>
                          </a:endParaRPr>
                        </a:p>
                      </a:txBody>
                      <a:tcPr marL="61383" marR="613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1154518"/>
                      </a:ext>
                    </a:extLst>
                  </a:tr>
                  <a:tr h="2142704">
                    <a:tc>
                      <a:txBody>
                        <a:bodyPr/>
                        <a:lstStyle/>
                        <a:p>
                          <a:pPr marL="0" marR="0" algn="ctr">
                            <a:spcBef>
                              <a:spcPts val="0"/>
                            </a:spcBef>
                            <a:spcAft>
                              <a:spcPts val="0"/>
                            </a:spcAft>
                          </a:pPr>
                          <a:r>
                            <a:rPr lang="en-US" sz="2000" i="1" dirty="0">
                              <a:effectLst/>
                              <a:latin typeface="Verdana"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61383" marR="613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600"/>
                            </a:spcAft>
                          </a:pPr>
                          <a:r>
                            <a:rPr lang="en-US" sz="2000" dirty="0">
                              <a:effectLst/>
                              <a:latin typeface="Verdana" panose="020B0604030504040204" pitchFamily="34" charset="0"/>
                              <a:ea typeface="Verdana" pitchFamily="34" charset="0"/>
                              <a:cs typeface="Times New Roman" panose="02020603050405020304" pitchFamily="18" charset="0"/>
                            </a:rPr>
                            <a:t>Area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𝑏</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h</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600"/>
                            </a:spcAft>
                          </a:pPr>
                          <a:r>
                            <a:rPr lang="en-US" sz="2000" dirty="0">
                              <a:effectLst/>
                              <a:latin typeface="Verdana" panose="020B0604030504040204" pitchFamily="34" charset="0"/>
                              <a:ea typeface="Verdana" pitchFamily="34" charset="0"/>
                              <a:cs typeface="Times New Roman" panose="02020603050405020304" pitchFamily="18" charset="0"/>
                            </a:rPr>
                            <a:t>Area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(_______)(_______)</m:t>
                              </m:r>
                            </m:oMath>
                          </a14:m>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600"/>
                            </a:spcAft>
                          </a:pPr>
                          <a:r>
                            <a:rPr lang="en-US" sz="2000" dirty="0">
                              <a:effectLst/>
                              <a:latin typeface="Verdana" panose="020B0604030504040204" pitchFamily="34" charset="0"/>
                              <a:ea typeface="Verdana" pitchFamily="34" charset="0"/>
                              <a:cs typeface="Times New Roman" panose="02020603050405020304" pitchFamily="18" charset="0"/>
                            </a:rPr>
                            <a:t>Rewrite the area by </a:t>
                          </a:r>
                          <a:br>
                            <a:rPr lang="en-US" sz="2000" dirty="0">
                              <a:effectLst/>
                              <a:latin typeface="Verdana" panose="020B0604030504040204" pitchFamily="34" charset="0"/>
                              <a:ea typeface="Verdana" pitchFamily="34" charset="0"/>
                              <a:cs typeface="Times New Roman" panose="02020603050405020304" pitchFamily="18" charset="0"/>
                            </a:rPr>
                          </a:br>
                          <a:r>
                            <a:rPr lang="en-US" sz="2000" dirty="0">
                              <a:effectLst/>
                              <a:latin typeface="Verdana" panose="020B0604030504040204" pitchFamily="34" charset="0"/>
                              <a:ea typeface="Verdana" pitchFamily="34" charset="0"/>
                              <a:cs typeface="Times New Roman" panose="02020603050405020304" pitchFamily="18" charset="0"/>
                            </a:rPr>
                            <a:t>multiplying any fractions.</a:t>
                          </a:r>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Area = ______________</a:t>
                          </a:r>
                          <a:endParaRPr lang="x-none" sz="2000" dirty="0">
                            <a:effectLst/>
                            <a:latin typeface="Verdana" pitchFamily="34" charset="0"/>
                            <a:ea typeface="Verdana" pitchFamily="34" charset="0"/>
                            <a:cs typeface="Times New Roman" panose="02020603050405020304" pitchFamily="18" charset="0"/>
                          </a:endParaRPr>
                        </a:p>
                      </a:txBody>
                      <a:tcPr marL="61383" marR="613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3623693"/>
                      </a:ext>
                    </a:extLst>
                  </a:tr>
                </a:tbl>
              </a:graphicData>
            </a:graphic>
          </p:graphicFrame>
        </mc:Choice>
        <mc:Fallback xmlns="">
          <p:graphicFrame>
            <p:nvGraphicFramePr>
              <p:cNvPr id="5" name="Table 4">
                <a:extLst>
                  <a:ext uri="{FF2B5EF4-FFF2-40B4-BE49-F238E27FC236}">
                    <a16:creationId xmlns:a16="http://schemas.microsoft.com/office/drawing/2014/main" id="{46401C69-03B6-4E40-94D5-B379F9C688E6}"/>
                  </a:ext>
                </a:extLst>
              </p:cNvPr>
              <p:cNvGraphicFramePr>
                <a:graphicFrameLocks noGrp="1"/>
              </p:cNvGraphicFramePr>
              <p:nvPr>
                <p:extLst>
                  <p:ext uri="{D42A27DB-BD31-4B8C-83A1-F6EECF244321}">
                    <p14:modId xmlns:p14="http://schemas.microsoft.com/office/powerpoint/2010/main" val="3931178442"/>
                  </p:ext>
                </p:extLst>
              </p:nvPr>
            </p:nvGraphicFramePr>
            <p:xfrm>
              <a:off x="2602252" y="1879165"/>
              <a:ext cx="7346499" cy="4578510"/>
            </p:xfrm>
            <a:graphic>
              <a:graphicData uri="http://schemas.openxmlformats.org/drawingml/2006/table">
                <a:tbl>
                  <a:tblPr firstRow="1" firstCol="1" bandRow="1"/>
                  <a:tblGrid>
                    <a:gridCol w="3026499">
                      <a:extLst>
                        <a:ext uri="{9D8B030D-6E8A-4147-A177-3AD203B41FA5}">
                          <a16:colId xmlns:a16="http://schemas.microsoft.com/office/drawing/2014/main" val="850628173"/>
                        </a:ext>
                      </a:extLst>
                    </a:gridCol>
                    <a:gridCol w="4320000">
                      <a:extLst>
                        <a:ext uri="{9D8B030D-6E8A-4147-A177-3AD203B41FA5}">
                          <a16:colId xmlns:a16="http://schemas.microsoft.com/office/drawing/2014/main" val="4014630241"/>
                        </a:ext>
                      </a:extLst>
                    </a:gridCol>
                  </a:tblGrid>
                  <a:tr h="432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Triangle</a:t>
                          </a:r>
                          <a:endParaRPr lang="x-none" sz="2000">
                            <a:effectLst/>
                            <a:latin typeface="Verdana" pitchFamily="34" charset="0"/>
                            <a:ea typeface="Verdana" pitchFamily="34" charset="0"/>
                            <a:cs typeface="Times New Roman" panose="02020603050405020304" pitchFamily="18" charset="0"/>
                          </a:endParaRPr>
                        </a:p>
                      </a:txBody>
                      <a:tcPr marL="61383" marR="613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Area</a:t>
                          </a:r>
                          <a:endParaRPr lang="x-none" sz="2000">
                            <a:effectLst/>
                            <a:latin typeface="Verdana" pitchFamily="34" charset="0"/>
                            <a:ea typeface="Verdana" pitchFamily="34" charset="0"/>
                            <a:cs typeface="Times New Roman" panose="02020603050405020304" pitchFamily="18" charset="0"/>
                          </a:endParaRPr>
                        </a:p>
                      </a:txBody>
                      <a:tcPr marL="61383" marR="613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49278931"/>
                      </a:ext>
                    </a:extLst>
                  </a:tr>
                  <a:tr h="2003806">
                    <a:tc>
                      <a:txBody>
                        <a:bodyPr/>
                        <a:lstStyle/>
                        <a:p>
                          <a:pPr marL="0" marR="0">
                            <a:spcBef>
                              <a:spcPts val="0"/>
                            </a:spcBef>
                            <a:spcAft>
                              <a:spcPts val="0"/>
                            </a:spcAft>
                          </a:pPr>
                          <a:r>
                            <a:rPr lang="en-US" sz="2000" i="1"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p>
                          <a:pPr marL="0" marR="0">
                            <a:spcBef>
                              <a:spcPts val="0"/>
                            </a:spcBef>
                            <a:spcAft>
                              <a:spcPts val="0"/>
                            </a:spcAft>
                          </a:pPr>
                          <a:r>
                            <a:rPr lang="en-US" sz="2000" i="1"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1383" marR="613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1383" marR="613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0088" t="-22013" r="-293" b="-110692"/>
                          </a:stretch>
                        </a:blipFill>
                      </a:tcPr>
                    </a:tc>
                    <a:extLst>
                      <a:ext uri="{0D108BD9-81ED-4DB2-BD59-A6C34878D82A}">
                        <a16:rowId xmlns:a16="http://schemas.microsoft.com/office/drawing/2014/main" val="691154518"/>
                      </a:ext>
                    </a:extLst>
                  </a:tr>
                  <a:tr h="2142704">
                    <a:tc>
                      <a:txBody>
                        <a:bodyPr/>
                        <a:lstStyle/>
                        <a:p>
                          <a:pPr marL="0" marR="0" algn="ctr">
                            <a:spcBef>
                              <a:spcPts val="0"/>
                            </a:spcBef>
                            <a:spcAft>
                              <a:spcPts val="0"/>
                            </a:spcAft>
                          </a:pPr>
                          <a:r>
                            <a:rPr lang="en-US" sz="2000" i="1"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1383" marR="613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1383" marR="613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0088" t="-114793" r="-293" b="-4142"/>
                          </a:stretch>
                        </a:blipFill>
                      </a:tcPr>
                    </a:tc>
                    <a:extLst>
                      <a:ext uri="{0D108BD9-81ED-4DB2-BD59-A6C34878D82A}">
                        <a16:rowId xmlns:a16="http://schemas.microsoft.com/office/drawing/2014/main" val="3303623693"/>
                      </a:ext>
                    </a:extLst>
                  </a:tr>
                </a:tbl>
              </a:graphicData>
            </a:graphic>
          </p:graphicFrame>
        </mc:Fallback>
      </mc:AlternateContent>
      <p:grpSp>
        <p:nvGrpSpPr>
          <p:cNvPr id="3" name="Group 2"/>
          <p:cNvGrpSpPr/>
          <p:nvPr/>
        </p:nvGrpSpPr>
        <p:grpSpPr>
          <a:xfrm>
            <a:off x="2880964" y="2334394"/>
            <a:ext cx="2286689" cy="1890552"/>
            <a:chOff x="2063595" y="2384148"/>
            <a:chExt cx="2286689" cy="1890552"/>
          </a:xfrm>
        </p:grpSpPr>
        <p:pic>
          <p:nvPicPr>
            <p:cNvPr id="20" name="Picture 19">
              <a:extLst>
                <a:ext uri="{FF2B5EF4-FFF2-40B4-BE49-F238E27FC236}">
                  <a16:creationId xmlns:a16="http://schemas.microsoft.com/office/drawing/2014/main" id="{7E2ECE1B-3850-FF49-92B3-0C677DAD1A83}"/>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18299" t="15157" r="19101" b="21270"/>
            <a:stretch/>
          </p:blipFill>
          <p:spPr bwMode="auto">
            <a:xfrm>
              <a:off x="2063595" y="2584173"/>
              <a:ext cx="2223806" cy="1690527"/>
            </a:xfrm>
            <a:prstGeom prst="rect">
              <a:avLst/>
            </a:prstGeom>
            <a:noFill/>
            <a:ln>
              <a:noFill/>
            </a:ln>
            <a:extLst>
              <a:ext uri="{53640926-AAD7-44D8-BBD7-CCE9431645EC}">
                <a14:shadowObscured xmlns:a14="http://schemas.microsoft.com/office/drawing/2010/main"/>
              </a:ext>
            </a:extLst>
          </p:spPr>
        </p:pic>
        <p:sp>
          <p:nvSpPr>
            <p:cNvPr id="21" name="Text Box 524">
              <a:extLst>
                <a:ext uri="{FF2B5EF4-FFF2-40B4-BE49-F238E27FC236}">
                  <a16:creationId xmlns:a16="http://schemas.microsoft.com/office/drawing/2014/main" id="{E2739ADF-7F36-384D-B470-4D28860E78DC}"/>
                </a:ext>
              </a:extLst>
            </p:cNvPr>
            <p:cNvSpPr txBox="1"/>
            <p:nvPr/>
          </p:nvSpPr>
          <p:spPr>
            <a:xfrm>
              <a:off x="2521484" y="2384148"/>
              <a:ext cx="1828800" cy="4000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Rhombus F</a:t>
              </a:r>
              <a:endParaRPr lang="x-none">
                <a:latin typeface="Cambria" panose="02040503050406030204" pitchFamily="18" charset="0"/>
                <a:ea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8446179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131</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20042" y="745867"/>
            <a:ext cx="8614483" cy="4154984"/>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Compare your work with your partner and resolve any differences, if necessary.</a:t>
            </a:r>
          </a:p>
          <a:p>
            <a:pPr marL="457200" indent="-457200">
              <a:buFont typeface="+mj-lt"/>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Work with your partner to express the area of Rhombus F as the sum of the area of the yellow triangle and the pink triangle found in the table.</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indent="444500"/>
            <a:r>
              <a:rPr lang="en-US" sz="2400" dirty="0">
                <a:latin typeface="Verdana" panose="020B0604030504040204" pitchFamily="34" charset="0"/>
                <a:ea typeface="Times New Roman" panose="02020603050405020304" pitchFamily="18" charset="0"/>
                <a:cs typeface="Times New Roman" panose="02020603050405020304" pitchFamily="18" charset="0"/>
              </a:rPr>
              <a:t>Area of Rhombus F = ___________________</a:t>
            </a:r>
          </a:p>
        </p:txBody>
      </p:sp>
    </p:spTree>
    <p:extLst>
      <p:ext uri="{BB962C8B-B14F-4D97-AF65-F5344CB8AC3E}">
        <p14:creationId xmlns:p14="http://schemas.microsoft.com/office/powerpoint/2010/main" val="4782786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30916"/>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8799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131</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31917" y="411366"/>
            <a:ext cx="8521059" cy="1107996"/>
          </a:xfrm>
          <a:prstGeom prst="rect">
            <a:avLst/>
          </a:prstGeom>
        </p:spPr>
        <p:txBody>
          <a:bodyPr wrap="square">
            <a:spAutoFit/>
          </a:bodyPr>
          <a:lstStyle/>
          <a:p>
            <a:pPr marL="457200" indent="-457200">
              <a:buFont typeface="+mj-lt"/>
              <a:buAutoNum type="arabicPeriod" startAt="6"/>
            </a:pPr>
            <a:r>
              <a:rPr lang="en-US" sz="2200" dirty="0">
                <a:latin typeface="Verdana" panose="020B0604030504040204" pitchFamily="34" charset="0"/>
                <a:ea typeface="Times New Roman" panose="02020603050405020304" pitchFamily="18" charset="0"/>
                <a:cs typeface="Times New Roman" panose="02020603050405020304" pitchFamily="18" charset="0"/>
              </a:rPr>
              <a:t>Use words, values, or expressions from the bank shown to complete the statements. Items from the bank may be used more than once.</a:t>
            </a:r>
          </a:p>
        </p:txBody>
      </p:sp>
      <mc:AlternateContent xmlns:mc="http://schemas.openxmlformats.org/markup-compatibility/2006" xmlns:a14="http://schemas.microsoft.com/office/drawing/2010/main">
        <mc:Choice Requires="a14">
          <p:sp>
            <p:nvSpPr>
              <p:cNvPr id="6" name="Rectangle: Rounded Corners 525">
                <a:extLst>
                  <a:ext uri="{FF2B5EF4-FFF2-40B4-BE49-F238E27FC236}">
                    <a16:creationId xmlns:a16="http://schemas.microsoft.com/office/drawing/2014/main" id="{1219AF0E-0B48-0F43-AB11-7764EC7EE494}"/>
                  </a:ext>
                </a:extLst>
              </p:cNvPr>
              <p:cNvSpPr/>
              <p:nvPr/>
            </p:nvSpPr>
            <p:spPr>
              <a:xfrm>
                <a:off x="2774451" y="1662278"/>
                <a:ext cx="6480000" cy="720000"/>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14:m>
                  <m:oMath xmlns:m="http://schemas.openxmlformats.org/officeDocument/2006/math">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sum          </a:t>
                </a:r>
                <a14:m>
                  <m:oMath xmlns:m="http://schemas.openxmlformats.org/officeDocument/2006/math">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4</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latin typeface="Cambria Math" panose="02040503050406030204" pitchFamily="18" charset="0"/>
                            <a:ea typeface="Times New Roman" panose="02020603050405020304" pitchFamily="18" charset="0"/>
                            <a:cs typeface="Times New Roman" panose="02020603050405020304" pitchFamily="18" charset="0"/>
                          </a:rPr>
                          <m:t>𝑑</m:t>
                        </m:r>
                      </m:e>
                      <m:sub>
                        <m:r>
                          <a:rPr lang="en-US" sz="2000" i="1">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0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latin typeface="Cambria Math" panose="02040503050406030204" pitchFamily="18" charset="0"/>
                            <a:ea typeface="Times New Roman" panose="02020603050405020304" pitchFamily="18" charset="0"/>
                            <a:cs typeface="Times New Roman" panose="02020603050405020304" pitchFamily="18" charset="0"/>
                          </a:rPr>
                          <m:t>𝑑</m:t>
                        </m:r>
                      </m:e>
                      <m:sub>
                        <m:r>
                          <a:rPr lang="en-US" sz="2000" i="1">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0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diagonal </a:t>
                </a:r>
                <a:endParaRPr lang="x-none" sz="2000">
                  <a:ea typeface="Times New Roman" panose="02020603050405020304" pitchFamily="18" charset="0"/>
                  <a:cs typeface="Times New Roman" panose="02020603050405020304" pitchFamily="18" charset="0"/>
                </a:endParaRPr>
              </a:p>
            </p:txBody>
          </p:sp>
        </mc:Choice>
        <mc:Fallback xmlns="">
          <p:sp>
            <p:nvSpPr>
              <p:cNvPr id="6" name="Rectangle: Rounded Corners 525">
                <a:extLst>
                  <a:ext uri="{FF2B5EF4-FFF2-40B4-BE49-F238E27FC236}">
                    <a16:creationId xmlns:a16="http://schemas.microsoft.com/office/drawing/2014/main" id="{1219AF0E-0B48-0F43-AB11-7764EC7EE494}"/>
                  </a:ext>
                </a:extLst>
              </p:cNvPr>
              <p:cNvSpPr>
                <a:spLocks noRot="1" noChangeAspect="1" noMove="1" noResize="1" noEditPoints="1" noAdjustHandles="1" noChangeArrowheads="1" noChangeShapeType="1" noTextEdit="1"/>
              </p:cNvSpPr>
              <p:nvPr/>
            </p:nvSpPr>
            <p:spPr>
              <a:xfrm>
                <a:off x="2774451" y="1662278"/>
                <a:ext cx="6480000" cy="720000"/>
              </a:xfrm>
              <a:prstGeom prst="roundRect">
                <a:avLst/>
              </a:prstGeom>
              <a:blipFill>
                <a:blip r:embed="rId4"/>
                <a:stretch>
                  <a:fillRect/>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DF4FF951-681B-4A49-A9A2-889A713460C6}"/>
                  </a:ext>
                </a:extLst>
              </p:cNvPr>
              <p:cNvSpPr/>
              <p:nvPr/>
            </p:nvSpPr>
            <p:spPr>
              <a:xfrm>
                <a:off x="1531917" y="2635840"/>
                <a:ext cx="9547761" cy="3582134"/>
              </a:xfrm>
              <a:prstGeom prst="rect">
                <a:avLst/>
              </a:prstGeom>
            </p:spPr>
            <p:txBody>
              <a:bodyPr wrap="square">
                <a:spAutoFit/>
              </a:bodyPr>
              <a:lstStyle/>
              <a:p>
                <a:pPr marL="444500">
                  <a:lnSpc>
                    <a:spcPct val="150000"/>
                  </a:lnSpc>
                </a:pPr>
                <a:r>
                  <a:rPr lang="en-US" sz="2200" dirty="0">
                    <a:latin typeface="Verdana" panose="020B0604030504040204" pitchFamily="34" charset="0"/>
                    <a:ea typeface="Times New Roman" panose="02020603050405020304" pitchFamily="18" charset="0"/>
                    <a:cs typeface="Times New Roman" panose="02020603050405020304" pitchFamily="18" charset="0"/>
                  </a:rPr>
                  <a:t>Drawing a ____________ of a rhombus divides the rhombus into two identical triangles. The area of the rhombus is equal to the ____________ of the areas of these two triangles. If one of these triangles is equal to ____________, then two of these triangles equal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____________. Therefore, the formula for the area of a rhombus using its diagonals can be written as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𝐴</m:t>
                    </m:r>
                    <m:r>
                      <a:rPr lang="en-US" sz="2200" i="1" dirty="0">
                        <a:latin typeface="Cambria Math" panose="02040503050406030204" pitchFamily="18" charset="0"/>
                        <a:ea typeface="Times New Roman" panose="02020603050405020304" pitchFamily="18" charset="0"/>
                        <a:cs typeface="Times New Roman" panose="02020603050405020304" pitchFamily="18" charset="0"/>
                      </a:rPr>
                      <m:t> = ___(</m:t>
                    </m:r>
                    <m:sSub>
                      <m:sSubPr>
                        <m:ctrlPr>
                          <a:rPr lang="en-US" sz="2200" i="1" dirty="0">
                            <a:latin typeface="Cambria Math" panose="02040503050406030204" pitchFamily="18" charset="0"/>
                            <a:cs typeface="Times New Roman" panose="02020603050405020304" pitchFamily="18" charset="0"/>
                          </a:rPr>
                        </m:ctrlPr>
                      </m:sSubPr>
                      <m:e>
                        <m:r>
                          <a:rPr lang="es-ES" sz="2200" i="1" dirty="0">
                            <a:latin typeface="Cambria Math" panose="02040503050406030204" pitchFamily="18" charset="0"/>
                            <a:cs typeface="Times New Roman" panose="02020603050405020304" pitchFamily="18" charset="0"/>
                          </a:rPr>
                          <m:t>𝑑</m:t>
                        </m:r>
                      </m:e>
                      <m:sub>
                        <m:r>
                          <a:rPr lang="es-ES" sz="2200" i="1" dirty="0">
                            <a:latin typeface="Cambria Math" panose="02040503050406030204" pitchFamily="18" charset="0"/>
                            <a:cs typeface="Times New Roman" panose="02020603050405020304" pitchFamily="18" charset="0"/>
                          </a:rPr>
                          <m:t>1</m:t>
                        </m:r>
                      </m:sub>
                    </m:sSub>
                    <m:r>
                      <a:rPr lang="en-US" sz="2200" i="1" dirty="0">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200" i="1" dirty="0">
                            <a:latin typeface="Cambria Math" panose="02040503050406030204" pitchFamily="18" charset="0"/>
                            <a:cs typeface="Times New Roman" panose="02020603050405020304" pitchFamily="18" charset="0"/>
                          </a:rPr>
                        </m:ctrlPr>
                      </m:sSubPr>
                      <m:e>
                        <m:r>
                          <a:rPr lang="es-ES" sz="2200" i="1" dirty="0">
                            <a:latin typeface="Cambria Math" panose="02040503050406030204" pitchFamily="18" charset="0"/>
                            <a:cs typeface="Times New Roman" panose="02020603050405020304" pitchFamily="18" charset="0"/>
                          </a:rPr>
                          <m:t>𝑑</m:t>
                        </m:r>
                      </m:e>
                      <m:sub>
                        <m:r>
                          <a:rPr lang="es-ES" sz="2200" i="1" dirty="0">
                            <a:latin typeface="Cambria Math" panose="02040503050406030204" pitchFamily="18" charset="0"/>
                            <a:cs typeface="Times New Roman" panose="02020603050405020304" pitchFamily="18" charset="0"/>
                          </a:rPr>
                          <m:t>2</m:t>
                        </m:r>
                      </m:sub>
                    </m:sSub>
                    <m:r>
                      <a:rPr lang="en-US" sz="2200" i="1" dirty="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7" name="Rectangle 6">
                <a:extLst>
                  <a:ext uri="{FF2B5EF4-FFF2-40B4-BE49-F238E27FC236}">
                    <a16:creationId xmlns:a16="http://schemas.microsoft.com/office/drawing/2014/main" id="{DF4FF951-681B-4A49-A9A2-889A713460C6}"/>
                  </a:ext>
                </a:extLst>
              </p:cNvPr>
              <p:cNvSpPr>
                <a:spLocks noRot="1" noChangeAspect="1" noMove="1" noResize="1" noEditPoints="1" noAdjustHandles="1" noChangeArrowheads="1" noChangeShapeType="1" noTextEdit="1"/>
              </p:cNvSpPr>
              <p:nvPr/>
            </p:nvSpPr>
            <p:spPr>
              <a:xfrm>
                <a:off x="1531917" y="2635840"/>
                <a:ext cx="9547761" cy="3582134"/>
              </a:xfrm>
              <a:prstGeom prst="rect">
                <a:avLst/>
              </a:prstGeom>
              <a:blipFill>
                <a:blip r:embed="rId5"/>
                <a:stretch>
                  <a:fillRect b="-2551"/>
                </a:stretch>
              </a:blipFill>
            </p:spPr>
            <p:txBody>
              <a:bodyPr/>
              <a:lstStyle/>
              <a:p>
                <a:r>
                  <a:rPr lang="en-US">
                    <a:noFill/>
                  </a:rPr>
                  <a:t> </a:t>
                </a:r>
              </a:p>
            </p:txBody>
          </p:sp>
        </mc:Fallback>
      </mc:AlternateContent>
    </p:spTree>
    <p:extLst>
      <p:ext uri="{BB962C8B-B14F-4D97-AF65-F5344CB8AC3E}">
        <p14:creationId xmlns:p14="http://schemas.microsoft.com/office/powerpoint/2010/main" val="30432631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132</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132</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962912" y="433975"/>
            <a:ext cx="8653914"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4.1.6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1036713" y="355771"/>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1575174" y="1346520"/>
            <a:ext cx="8477802" cy="156966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was the </a:t>
            </a:r>
            <a:r>
              <a:rPr lang="en-US" sz="2400" b="1" i="1" dirty="0">
                <a:latin typeface="Verdana" panose="020B0604030504040204" pitchFamily="34" charset="0"/>
                <a:ea typeface="Times New Roman" panose="02020603050405020304" pitchFamily="18" charset="0"/>
                <a:cs typeface="Times New Roman" panose="02020603050405020304" pitchFamily="18" charset="0"/>
              </a:rPr>
              <a:t>muddiest</a:t>
            </a:r>
            <a:r>
              <a:rPr lang="en-US" sz="2400" dirty="0">
                <a:latin typeface="Verdana" panose="020B0604030504040204" pitchFamily="34" charset="0"/>
                <a:ea typeface="Times New Roman" panose="02020603050405020304" pitchFamily="18" charset="0"/>
                <a:cs typeface="Times New Roman" panose="02020603050405020304" pitchFamily="18" charset="0"/>
              </a:rPr>
              <a:t> (most difficult or confusing) point for you in today’s lesson on deriving the formula of parallelograms, trapezoids, and rhombi?</a:t>
            </a:r>
          </a:p>
        </p:txBody>
      </p:sp>
      <p:pic>
        <p:nvPicPr>
          <p:cNvPr id="8" name="Picture 7" descr="Splatter pack 2 - Download Free Vector Art, Stock Graphics ...">
            <a:extLst>
              <a:ext uri="{FF2B5EF4-FFF2-40B4-BE49-F238E27FC236}">
                <a16:creationId xmlns:a16="http://schemas.microsoft.com/office/drawing/2014/main" id="{0F0BCB3C-3FDF-5349-911D-D88B000DB955}"/>
              </a:ext>
            </a:extLst>
          </p:cNvPr>
          <p:cNvPicPr>
            <a:picLocks noChangeAspect="1"/>
          </p:cNvPicPr>
          <p:nvPr/>
        </p:nvPicPr>
        <p:blipFill>
          <a:blip r:embed="rId5">
            <a:alphaModFix amt="35000"/>
            <a:extLst>
              <a:ext uri="{28A0092B-C50C-407E-A947-70E740481C1C}">
                <a14:useLocalDpi xmlns:a14="http://schemas.microsoft.com/office/drawing/2010/main"/>
              </a:ext>
              <a:ext uri="{837473B0-CC2E-450A-ABE3-18F120FF3D39}">
                <a1611:picAttrSrcUrl xmlns:a1611="http://schemas.microsoft.com/office/drawing/2016/11/main" r:id="rId6"/>
              </a:ext>
            </a:extLst>
          </a:blip>
          <a:stretch>
            <a:fillRect/>
          </a:stretch>
        </p:blipFill>
        <p:spPr>
          <a:xfrm>
            <a:off x="3778288" y="2671821"/>
            <a:ext cx="3632200" cy="2540000"/>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3120</TotalTime>
  <Words>1720</Words>
  <Application>Microsoft Macintosh PowerPoint</Application>
  <PresentationFormat>Widescreen</PresentationFormat>
  <Paragraphs>258</Paragraphs>
  <Slides>35</Slides>
  <Notes>34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Century Gothic</vt:lpstr>
      <vt:lpstr>Cambria</vt:lpstr>
      <vt:lpstr>Cutive</vt:lpstr>
      <vt:lpstr>Calibri</vt:lpstr>
      <vt:lpstr>Arial Black</vt:lpstr>
      <vt:lpstr>Cambria Math</vt:lpstr>
      <vt:lpstr>Arial</vt:lpstr>
      <vt:lpstr>Wingdings</vt:lpstr>
      <vt:lpstr>Verdana</vt:lpstr>
      <vt:lpstr>1_Office Theme</vt:lpstr>
      <vt:lpstr>7th Grade Math  Unit 4, Lesson 1  Deriving Area Formulas for Trapezoids, Parallelograms, and Rhombi  Volume 1, pg. 125  </vt:lpstr>
      <vt:lpstr>Benchmark</vt:lpstr>
      <vt:lpstr>PowerPoint Presentation</vt:lpstr>
      <vt:lpstr>PowerPoint Presentation</vt:lpstr>
      <vt:lpstr>Warm-Up</vt:lpstr>
      <vt:lpstr>PowerPoint Presentation</vt:lpstr>
      <vt:lpstr>Refresher</vt:lpstr>
      <vt:lpstr>PowerPoint Presentation</vt:lpstr>
      <vt:lpstr>PowerPoint Presentation</vt:lpstr>
      <vt:lpstr>Activity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Akarshna Iyer</cp:lastModifiedBy>
  <cp:revision>31</cp:revision>
  <dcterms:created xsi:type="dcterms:W3CDTF">2015-03-17T18:51:18Z</dcterms:created>
  <dcterms:modified xsi:type="dcterms:W3CDTF">2022-07-09T03:35:30Z</dcterms:modified>
</cp:coreProperties>
</file>