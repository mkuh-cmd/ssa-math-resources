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345" r:id="rId4"/>
    <p:sldId id="286" r:id="rId5"/>
    <p:sldId id="261" r:id="rId6"/>
    <p:sldId id="287" r:id="rId7"/>
    <p:sldId id="289" r:id="rId8"/>
    <p:sldId id="290" r:id="rId9"/>
    <p:sldId id="308" r:id="rId10"/>
    <p:sldId id="314" r:id="rId11"/>
    <p:sldId id="315" r:id="rId12"/>
    <p:sldId id="316" r:id="rId13"/>
    <p:sldId id="339" r:id="rId14"/>
    <p:sldId id="340" r:id="rId15"/>
    <p:sldId id="341" r:id="rId16"/>
    <p:sldId id="384" r:id="rId17"/>
    <p:sldId id="385" r:id="rId18"/>
    <p:sldId id="388" r:id="rId19"/>
    <p:sldId id="389" r:id="rId20"/>
    <p:sldId id="371" r:id="rId21"/>
    <p:sldId id="372" r:id="rId22"/>
    <p:sldId id="390" r:id="rId23"/>
    <p:sldId id="306" r:id="rId24"/>
    <p:sldId id="307" r:id="rId25"/>
  </p:sldIdLst>
  <p:sldSz cx="12192000" cy="6858000"/>
  <p:notesSz cx="6858000" cy="9144000"/>
  <p:embeddedFontLst>
    <p:embeddedFont>
      <p:font typeface="Arial Black" panose="020B0A04020102020204" pitchFamily="34" charset="0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Cambria Math" panose="02040503050406030204" pitchFamily="18" charset="0"/>
      <p:regular r:id="rId36"/>
    </p:embeddedFon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Cutive" panose="020B0604020202020204" charset="0"/>
      <p:regular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B7D4"/>
    <a:srgbClr val="BFBFBF"/>
    <a:srgbClr val="C9DF6F"/>
    <a:srgbClr val="417DBF"/>
    <a:srgbClr val="3F2A67"/>
    <a:srgbClr val="E24E5F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8"/>
    <p:restoredTop sz="94694"/>
  </p:normalViewPr>
  <p:slideViewPr>
    <p:cSldViewPr snapToGrid="0">
      <p:cViewPr varScale="1">
        <p:scale>
          <a:sx n="81" d="100"/>
          <a:sy n="81" d="100"/>
        </p:scale>
        <p:origin x="73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11124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5234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3816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83785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7963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54881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27124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32871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13163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35488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32871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8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Exploring the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Area of a Circle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162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307592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MA.7.GR.1.4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Explore and apply a formula to find the area of a circle to solve mathematical and real-world problems.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FD66E1D7-C8ED-8A4A-9EE6-BDBA39B9912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914400" y="1455367"/>
            <a:ext cx="10515600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274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69913" indent="-569913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the area of a rectangle to develop the formula for the area of a circle.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916936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4.8.1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914400" y="1493368"/>
                <a:ext cx="105156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Table A has a length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and a width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inches. Table B has a radius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table would you rather use for a large gathering? Explain your choice using mathematics or a picture.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493368"/>
                <a:ext cx="10515600" cy="2308324"/>
              </a:xfrm>
              <a:prstGeom prst="rect">
                <a:avLst/>
              </a:prstGeom>
              <a:blipFill>
                <a:blip r:embed="rId5"/>
                <a:stretch>
                  <a:fillRect l="-965" t="-2186" r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5.png">
            <a:extLst>
              <a:ext uri="{FF2B5EF4-FFF2-40B4-BE49-F238E27FC236}">
                <a16:creationId xmlns:a16="http://schemas.microsoft.com/office/drawing/2014/main" id="{47436F5C-2B52-924A-8DB0-ECA3B13AAEA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48148" cy="114814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1729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4.8.2 Guided Practice: Area of a Circle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473301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closed figure is an enclosed shape that occupies space. A circle is an example of a closed figure.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 a picture of a figure that is not closed.</a:t>
            </a:r>
          </a:p>
        </p:txBody>
      </p:sp>
      <p:pic>
        <p:nvPicPr>
          <p:cNvPr id="11" name="image5.png">
            <a:extLst>
              <a:ext uri="{FF2B5EF4-FFF2-40B4-BE49-F238E27FC236}">
                <a16:creationId xmlns:a16="http://schemas.microsoft.com/office/drawing/2014/main" id="{85B2079D-2AAA-704F-9B1E-35CAAC78159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299" cy="74729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7086105" y="4444041"/>
            <a:ext cx="2797946" cy="2200255"/>
            <a:chOff x="3509962" y="1957206"/>
            <a:chExt cx="2797946" cy="220025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9F355B6-CE37-FB43-B971-02FA9A6D6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9962" y="1957206"/>
              <a:ext cx="2124075" cy="22002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Text Box 251">
              <a:extLst>
                <a:ext uri="{FF2B5EF4-FFF2-40B4-BE49-F238E27FC236}">
                  <a16:creationId xmlns:a16="http://schemas.microsoft.com/office/drawing/2014/main" id="{C40B2A50-A9EA-B447-8B6E-2C1EB9BC5DBB}"/>
                </a:ext>
              </a:extLst>
            </p:cNvPr>
            <p:cNvSpPr txBox="1"/>
            <p:nvPr/>
          </p:nvSpPr>
          <p:spPr>
            <a:xfrm>
              <a:off x="5498283" y="2174875"/>
              <a:ext cx="809625" cy="39052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80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Area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55381B9-D6BB-A840-A3B4-4C94A02F3A14}"/>
                </a:ext>
              </a:extLst>
            </p:cNvPr>
            <p:cNvCxnSpPr/>
            <p:nvPr/>
          </p:nvCxnSpPr>
          <p:spPr>
            <a:xfrm flipH="1">
              <a:off x="4926148" y="2435225"/>
              <a:ext cx="619125" cy="41910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99C0F36-7369-F24F-8A65-8494A871F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" y="500199"/>
            <a:ext cx="105156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endParaRPr lang="en-US" alt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endParaRPr lang="en-US" alt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endParaRPr lang="en-US" alt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endParaRPr lang="en-US" alt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r>
              <a:rPr lang="en-US" alt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why a closed figure can have an area, but a figure that is open cannot have an area. Summarize your discussion.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endParaRPr lang="en-US" alt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endParaRPr lang="en-US" alt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endParaRPr lang="en-US" alt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endParaRPr lang="en-US" alt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endParaRPr lang="en-US" alt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endParaRPr lang="en-US" alt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measure of the space inside the</a:t>
            </a:r>
            <a:br>
              <a:rPr lang="en-US" alt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 is the circle’s area.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731F918-AC00-4246-821A-6748D0EC5299}"/>
              </a:ext>
            </a:extLst>
          </p:cNvPr>
          <p:cNvGrpSpPr/>
          <p:nvPr/>
        </p:nvGrpSpPr>
        <p:grpSpPr>
          <a:xfrm>
            <a:off x="2155882" y="500198"/>
            <a:ext cx="7897095" cy="925076"/>
            <a:chOff x="2031300" y="3363500"/>
            <a:chExt cx="7897095" cy="9250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2EFAB93-1AB8-A049-8329-D0025B2119C7}"/>
                </a:ext>
              </a:extLst>
            </p:cNvPr>
            <p:cNvGrpSpPr/>
            <p:nvPr/>
          </p:nvGrpSpPr>
          <p:grpSpPr>
            <a:xfrm>
              <a:off x="2031300" y="3363500"/>
              <a:ext cx="7897095" cy="925076"/>
              <a:chOff x="2031300" y="3363500"/>
              <a:chExt cx="7897095" cy="92507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AAF8580-4137-F842-8D25-B61446367C0E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217074DD-87DC-2C4C-BFC6-2739FA175F20}"/>
                  </a:ext>
                </a:extLst>
              </p:cNvPr>
              <p:cNvGrpSpPr/>
              <p:nvPr/>
            </p:nvGrpSpPr>
            <p:grpSpPr>
              <a:xfrm>
                <a:off x="2031300" y="3363500"/>
                <a:ext cx="7897095" cy="925076"/>
                <a:chOff x="0" y="-10100"/>
                <a:chExt cx="7897095" cy="925076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CCE02FF1-E66C-DB48-89A0-CB67CD4B8D6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C4F93DC0-B3DC-E746-8C27-E06B48A076AA}"/>
                    </a:ext>
                  </a:extLst>
                </p:cNvPr>
                <p:cNvSpPr/>
                <p:nvPr/>
              </p:nvSpPr>
              <p:spPr>
                <a:xfrm>
                  <a:off x="0" y="-10100"/>
                  <a:ext cx="7897095" cy="92507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</p:spPr>
              <p:txBody>
                <a:bodyPr spcFirstLastPara="1" wrap="square" lIns="91425" tIns="91440" rIns="91425" bIns="0" anchor="ctr" anchorCtr="0">
                  <a:sp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Area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the measure, in square units, of the inside region of a closed two-dimensional figure.</a:t>
                  </a:r>
                  <a:endParaRPr lang="x-none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23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id="{9BC88FA0-3E9E-1943-8E9C-0A47B794B549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73006" y="162267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594629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52743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17.png" descr="Icon&#10;&#10;Description automatically generated">
            <a:extLst>
              <a:ext uri="{FF2B5EF4-FFF2-40B4-BE49-F238E27FC236}">
                <a16:creationId xmlns:a16="http://schemas.microsoft.com/office/drawing/2014/main" id="{58F00C27-F533-244E-B133-187DF89D9D9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2149" cy="11521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1398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4.8.3 Activity: The Formula for the Area of a Circle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914400" y="1465537"/>
            <a:ext cx="105156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teacher will give you and your partners each a circle that is separated into four, eight, or sixteen sections.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08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an image of your circle and your partners' circles in the first column of the table. </a:t>
            </a:r>
          </a:p>
          <a:p>
            <a:pPr marL="914400" indent="-4508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Cut out each of the sections of your circle. </a:t>
            </a:r>
          </a:p>
          <a:p>
            <a:pPr marL="914400" indent="-4508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Rearrange your sections, side by side, to compose a figure that resembles a parallelogram. Paste this in the last column. </a:t>
            </a:r>
          </a:p>
          <a:p>
            <a:pPr marL="914400" indent="-4508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an image of both of your partners’ composed shapes in the last column.</a:t>
            </a:r>
          </a:p>
        </p:txBody>
      </p:sp>
      <p:pic>
        <p:nvPicPr>
          <p:cNvPr id="9" name="image17.png" descr="Icon&#10;&#10;Description automatically generated">
            <a:extLst>
              <a:ext uri="{FF2B5EF4-FFF2-40B4-BE49-F238E27FC236}">
                <a16:creationId xmlns:a16="http://schemas.microsoft.com/office/drawing/2014/main" id="{8D89BE07-05F7-7245-8DB6-5797AE3B222D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50164" cy="75016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49EE8DF-663D-1145-B8A8-B78D8AD2F4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727563"/>
                  </p:ext>
                </p:extLst>
              </p:nvPr>
            </p:nvGraphicFramePr>
            <p:xfrm>
              <a:off x="2725525" y="500198"/>
              <a:ext cx="6912616" cy="5974080"/>
            </p:xfrm>
            <a:graphic>
              <a:graphicData uri="http://schemas.openxmlformats.org/drawingml/2006/table">
                <a:tbl>
                  <a:tblPr firstRow="1" firstCol="1" lastRow="1" lastCol="1"/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3505145286"/>
                        </a:ext>
                      </a:extLst>
                    </a:gridCol>
                    <a:gridCol w="2541908">
                      <a:extLst>
                        <a:ext uri="{9D8B030D-6E8A-4147-A177-3AD203B41FA5}">
                          <a16:colId xmlns:a16="http://schemas.microsoft.com/office/drawing/2014/main" val="268627839"/>
                        </a:ext>
                      </a:extLst>
                    </a:gridCol>
                    <a:gridCol w="2541908">
                      <a:extLst>
                        <a:ext uri="{9D8B030D-6E8A-4147-A177-3AD203B41FA5}">
                          <a16:colId xmlns:a16="http://schemas.microsoft.com/office/drawing/2014/main" val="12303204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Circle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Parallelogram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2419855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Circle with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𝟒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Sections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45627686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Circle with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𝟖</m:t>
                              </m:r>
                            </m:oMath>
                          </a14:m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Sections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86201968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Circle with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𝟏𝟔</m:t>
                              </m:r>
                            </m:oMath>
                          </a14:m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Sections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339886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49EE8DF-663D-1145-B8A8-B78D8AD2F4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727563"/>
                  </p:ext>
                </p:extLst>
              </p:nvPr>
            </p:nvGraphicFramePr>
            <p:xfrm>
              <a:off x="2725525" y="500198"/>
              <a:ext cx="6912616" cy="5974080"/>
            </p:xfrm>
            <a:graphic>
              <a:graphicData uri="http://schemas.openxmlformats.org/drawingml/2006/table">
                <a:tbl>
                  <a:tblPr firstRow="1" firstCol="1" lastRow="1" lastCol="1"/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3505145286"/>
                        </a:ext>
                      </a:extLst>
                    </a:gridCol>
                    <a:gridCol w="2541908">
                      <a:extLst>
                        <a:ext uri="{9D8B030D-6E8A-4147-A177-3AD203B41FA5}">
                          <a16:colId xmlns:a16="http://schemas.microsoft.com/office/drawing/2014/main" val="268627839"/>
                        </a:ext>
                      </a:extLst>
                    </a:gridCol>
                    <a:gridCol w="2541908">
                      <a:extLst>
                        <a:ext uri="{9D8B030D-6E8A-4147-A177-3AD203B41FA5}">
                          <a16:colId xmlns:a16="http://schemas.microsoft.com/office/drawing/2014/main" val="1230320404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Circle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Parallelogram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2419855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6897" r="-27986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45627686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27778" r="-279861" b="-1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86201968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27778" r="-279861" b="-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339886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/>
              <p:nvPr/>
            </p:nvSpPr>
            <p:spPr>
              <a:xfrm>
                <a:off x="914400" y="298920"/>
                <a:ext cx="10515600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statements.</a:t>
                </a:r>
                <a:b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circle 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sections resembles a</a:t>
                </a:r>
                <a:b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452438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circle 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sections resembles a(n) </a:t>
                </a:r>
                <a:b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2438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2438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circle 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sections most closely resembles a 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98920"/>
                <a:ext cx="10515600" cy="4154984"/>
              </a:xfrm>
              <a:prstGeom prst="rect">
                <a:avLst/>
              </a:prstGeom>
              <a:blipFill>
                <a:blip r:embed="rId4"/>
                <a:stretch>
                  <a:fillRect l="-870" t="-1173" b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00"/>
          <p:cNvSpPr/>
          <p:nvPr/>
        </p:nvSpPr>
        <p:spPr>
          <a:xfrm>
            <a:off x="7379472" y="926769"/>
            <a:ext cx="2834640" cy="919401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Tx/>
              <a:buFont typeface="Courier New"/>
              <a:buChar char="o"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square.</a:t>
            </a:r>
          </a:p>
          <a:p>
            <a:pPr marL="342900" indent="-342900">
              <a:spcAft>
                <a:spcPts val="1000"/>
              </a:spcAft>
              <a:buClrTx/>
              <a:buFont typeface="Courier New"/>
              <a:buChar char="o"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parallelogram.</a:t>
            </a:r>
          </a:p>
        </p:txBody>
      </p:sp>
      <p:sp>
        <p:nvSpPr>
          <p:cNvPr id="13" name="Rectangle: Rounded Corners 100"/>
          <p:cNvSpPr/>
          <p:nvPr/>
        </p:nvSpPr>
        <p:spPr>
          <a:xfrm>
            <a:off x="7883537" y="2282245"/>
            <a:ext cx="2926080" cy="919401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Tx/>
              <a:buFont typeface="Courier New"/>
              <a:buChar char="o"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parallelogram.</a:t>
            </a:r>
          </a:p>
          <a:p>
            <a:pPr marL="342900" indent="-342900">
              <a:spcAft>
                <a:spcPts val="1000"/>
              </a:spcAft>
              <a:buClrTx/>
              <a:buFont typeface="Courier New"/>
              <a:buChar char="o"/>
              <a:defRPr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octagon.</a:t>
            </a:r>
            <a:endParaRPr lang="en-US" sz="24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15" name="Rectangle: Rounded Corners 225"/>
          <p:cNvSpPr/>
          <p:nvPr/>
        </p:nvSpPr>
        <p:spPr>
          <a:xfrm>
            <a:off x="9526509" y="3561956"/>
            <a:ext cx="2286000" cy="1328023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Tx/>
              <a:buFont typeface="Courier New"/>
              <a:buChar char="o"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kite.</a:t>
            </a:r>
          </a:p>
          <a:p>
            <a:pPr marL="342900" indent="-342900">
              <a:buClrTx/>
              <a:buFont typeface="Courier New"/>
              <a:buChar char="o"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square.</a:t>
            </a:r>
          </a:p>
          <a:p>
            <a:pPr marL="342900" indent="-342900">
              <a:spcAft>
                <a:spcPts val="1000"/>
              </a:spcAft>
              <a:buClrTx/>
              <a:buFont typeface="Courier New"/>
              <a:buChar char="o"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rectangle.</a:t>
            </a:r>
          </a:p>
        </p:txBody>
      </p:sp>
    </p:spTree>
    <p:extLst>
      <p:ext uri="{BB962C8B-B14F-4D97-AF65-F5344CB8AC3E}">
        <p14:creationId xmlns:p14="http://schemas.microsoft.com/office/powerpoint/2010/main" val="2381553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A4596-5923-6342-9500-70E8F702680A}"/>
              </a:ext>
            </a:extLst>
          </p:cNvPr>
          <p:cNvSpPr/>
          <p:nvPr/>
        </p:nvSpPr>
        <p:spPr>
          <a:xfrm>
            <a:off x="914400" y="397920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partners what shape you will see if the number of sectors continues to increase. Summarize your discussion.</a:t>
            </a:r>
          </a:p>
        </p:txBody>
      </p:sp>
    </p:spTree>
    <p:extLst>
      <p:ext uri="{BB962C8B-B14F-4D97-AF65-F5344CB8AC3E}">
        <p14:creationId xmlns:p14="http://schemas.microsoft.com/office/powerpoint/2010/main" val="2042787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/>
              <p:nvPr/>
            </p:nvSpPr>
            <p:spPr>
              <a:xfrm>
                <a:off x="914400" y="411367"/>
                <a:ext cx="105156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This circle has been divided into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equal sectors. The sectors were then separated in half and fit together to compose a figure as shown.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1367"/>
                <a:ext cx="10515600" cy="1200329"/>
              </a:xfrm>
              <a:prstGeom prst="rect">
                <a:avLst/>
              </a:prstGeom>
              <a:blipFill>
                <a:blip r:embed="rId4"/>
                <a:stretch>
                  <a:fillRect l="-965" t="-4211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E1A36F-AEAF-9F46-BF02-CAAA7F8C526A}"/>
              </a:ext>
            </a:extLst>
          </p:cNvPr>
          <p:cNvGraphicFramePr>
            <a:graphicFrameLocks noGrp="1"/>
          </p:cNvGraphicFramePr>
          <p:nvPr/>
        </p:nvGraphicFramePr>
        <p:xfrm>
          <a:off x="3038721" y="1825625"/>
          <a:ext cx="6114558" cy="4351338"/>
        </p:xfrm>
        <a:graphic>
          <a:graphicData uri="http://schemas.openxmlformats.org/drawingml/2006/table">
            <a:tbl>
              <a:tblPr firstRow="1" firstCol="1" bandRow="1"/>
              <a:tblGrid>
                <a:gridCol w="3057279">
                  <a:extLst>
                    <a:ext uri="{9D8B030D-6E8A-4147-A177-3AD203B41FA5}">
                      <a16:colId xmlns:a16="http://schemas.microsoft.com/office/drawing/2014/main" val="2286828952"/>
                    </a:ext>
                  </a:extLst>
                </a:gridCol>
                <a:gridCol w="3057279">
                  <a:extLst>
                    <a:ext uri="{9D8B030D-6E8A-4147-A177-3AD203B41FA5}">
                      <a16:colId xmlns:a16="http://schemas.microsoft.com/office/drawing/2014/main" val="3469365396"/>
                    </a:ext>
                  </a:extLst>
                </a:gridCol>
              </a:tblGrid>
              <a:tr h="221347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867" marR="618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867" marR="618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027716"/>
                  </a:ext>
                </a:extLst>
              </a:tr>
              <a:tr h="21378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867" marR="618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867" marR="618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212070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73676154-D56D-BA48-9B26-EC00AAB2C72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9623" y="2039247"/>
            <a:ext cx="1860550" cy="1866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7D1DD0-E3FE-4145-8FE6-701E04FA33F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1886" y="1925763"/>
            <a:ext cx="2933700" cy="20154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9F25C51-F47C-2442-ABD1-23578BCE9B2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8451" y="4335373"/>
            <a:ext cx="2842895" cy="16097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F63B1E-5AB1-1845-B7BF-6FB267449B1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7594" y="4615567"/>
            <a:ext cx="3002622" cy="112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03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1945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/>
              <p:nvPr/>
            </p:nvSpPr>
            <p:spPr>
              <a:xfrm>
                <a:off x="914400" y="411367"/>
                <a:ext cx="10515600" cy="48936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many sectors make up the base of the composed shape in the last figure?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Trace the base of the composed shape and its corresponding part of the original circle.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Trace the height of the shape composed with the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sections and the corresponding part of the circle.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1367"/>
                <a:ext cx="10515600" cy="4893647"/>
              </a:xfrm>
              <a:prstGeom prst="rect">
                <a:avLst/>
              </a:prstGeom>
              <a:blipFill>
                <a:blip r:embed="rId4"/>
                <a:stretch>
                  <a:fillRect l="-965" t="-1036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9889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A4596-5923-6342-9500-70E8F702680A}"/>
              </a:ext>
            </a:extLst>
          </p:cNvPr>
          <p:cNvSpPr/>
          <p:nvPr/>
        </p:nvSpPr>
        <p:spPr>
          <a:xfrm>
            <a:off x="914400" y="411367"/>
            <a:ext cx="105156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following statements.</a:t>
            </a:r>
          </a:p>
          <a:p>
            <a:pPr marL="452438"/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formula for the area of a rectangle is</a:t>
            </a: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dimension of the circle that corresponds to one</a:t>
            </a: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height of the rectangle is </a:t>
            </a: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dimension of the circle that corresponds to one </a:t>
            </a: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 of the rectangle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226"/>
              <p:cNvSpPr/>
              <p:nvPr/>
            </p:nvSpPr>
            <p:spPr>
              <a:xfrm>
                <a:off x="6916870" y="729516"/>
                <a:ext cx="1828800" cy="809625"/>
              </a:xfrm>
              <a:prstGeom prst="round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𝐴</m:t>
                    </m:r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=</m:t>
                    </m:r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𝑏</m:t>
                    </m:r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×</m:t>
                    </m:r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</a:p>
              <a:p>
                <a:pPr marL="342900" indent="-342900">
                  <a:spcAft>
                    <a:spcPts val="1000"/>
                  </a:spcAft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𝐴</m:t>
                    </m:r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=2</m:t>
                    </m:r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𝜋</m:t>
                    </m:r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𝑟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</a:p>
            </p:txBody>
          </p:sp>
        </mc:Choice>
        <mc:Fallback xmlns="">
          <p:sp>
            <p:nvSpPr>
              <p:cNvPr id="11" name="Rectangle: Rounded Corners 2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870" y="729516"/>
                <a:ext cx="1828800" cy="809625"/>
              </a:xfrm>
              <a:prstGeom prst="roundRect">
                <a:avLst/>
              </a:prstGeom>
              <a:blipFill>
                <a:blip r:embed="rId4"/>
                <a:stretch>
                  <a:fillRect b="-9091"/>
                </a:stretch>
              </a:blip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227"/>
          <p:cNvSpPr/>
          <p:nvPr/>
        </p:nvSpPr>
        <p:spPr>
          <a:xfrm>
            <a:off x="4763169" y="2604840"/>
            <a:ext cx="3657600" cy="809625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ourier New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the radius.</a:t>
            </a:r>
          </a:p>
          <a:p>
            <a:pPr marL="342900" indent="-342900">
              <a:spcAft>
                <a:spcPts val="1000"/>
              </a:spcAft>
              <a:buFont typeface="Courier New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half the circumference.</a:t>
            </a:r>
          </a:p>
        </p:txBody>
      </p:sp>
      <p:sp>
        <p:nvSpPr>
          <p:cNvPr id="15" name="Rectangle: Rounded Corners 227"/>
          <p:cNvSpPr/>
          <p:nvPr/>
        </p:nvSpPr>
        <p:spPr>
          <a:xfrm>
            <a:off x="4763169" y="4438760"/>
            <a:ext cx="3657600" cy="809625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ourier New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the radius.</a:t>
            </a:r>
          </a:p>
          <a:p>
            <a:pPr marL="342900" indent="-342900">
              <a:spcAft>
                <a:spcPts val="1000"/>
              </a:spcAft>
              <a:buFont typeface="Courier New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half the circumference.</a:t>
            </a:r>
          </a:p>
        </p:txBody>
      </p:sp>
    </p:spTree>
    <p:extLst>
      <p:ext uri="{BB962C8B-B14F-4D97-AF65-F5344CB8AC3E}">
        <p14:creationId xmlns:p14="http://schemas.microsoft.com/office/powerpoint/2010/main" val="2711267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/>
              <p:nvPr/>
            </p:nvSpPr>
            <p:spPr>
              <a:xfrm>
                <a:off x="914400" y="411366"/>
                <a:ext cx="105156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8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Given the formula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work with your partner to find the measure of half the distance around a circle.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1366"/>
                <a:ext cx="10515600" cy="707886"/>
              </a:xfrm>
              <a:prstGeom prst="rect">
                <a:avLst/>
              </a:prstGeom>
              <a:blipFill>
                <a:blip r:embed="rId4"/>
                <a:stretch>
                  <a:fillRect l="-603" t="-5263" b="-1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AC205DB1-9680-0149-9F08-A7C0446D602B}"/>
              </a:ext>
            </a:extLst>
          </p:cNvPr>
          <p:cNvGrpSpPr/>
          <p:nvPr/>
        </p:nvGrpSpPr>
        <p:grpSpPr>
          <a:xfrm>
            <a:off x="5557251" y="1285125"/>
            <a:ext cx="914400" cy="962025"/>
            <a:chOff x="0" y="0"/>
            <a:chExt cx="914400" cy="96202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A27A8BE-A96A-194A-AC8A-0174CE1D3287}"/>
                </a:ext>
              </a:extLst>
            </p:cNvPr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63B4735B-7C6D-7245-80ED-93A7A4075063}"/>
                  </a:ext>
                </a:extLst>
              </p:cNvPr>
              <p:cNvSpPr/>
              <p:nvPr/>
            </p:nvSpPr>
            <p:spPr>
              <a:xfrm rot="17209299">
                <a:off x="0" y="0"/>
                <a:ext cx="914400" cy="914400"/>
              </a:xfrm>
              <a:prstGeom prst="arc">
                <a:avLst>
                  <a:gd name="adj1" fmla="val 15565495"/>
                  <a:gd name="adj2" fmla="val 3941158"/>
                </a:avLst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EA59127-888C-FD4A-A86A-AFECCA94D0DB}"/>
                  </a:ext>
                </a:extLst>
              </p:cNvPr>
              <p:cNvCxnSpPr/>
              <p:nvPr/>
            </p:nvCxnSpPr>
            <p:spPr>
              <a:xfrm>
                <a:off x="19050" y="419100"/>
                <a:ext cx="895350" cy="0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E2BD15B-A40D-E544-9AFA-6309A286CAFF}"/>
                </a:ext>
              </a:extLst>
            </p:cNvPr>
            <p:cNvGrpSpPr/>
            <p:nvPr/>
          </p:nvGrpSpPr>
          <p:grpSpPr>
            <a:xfrm rot="10800000">
              <a:off x="0" y="47625"/>
              <a:ext cx="914400" cy="914400"/>
              <a:chOff x="0" y="0"/>
              <a:chExt cx="914400" cy="914400"/>
            </a:xfrm>
          </p:grpSpPr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014ACFBB-E369-E64F-A8BC-0B32E6FFC7A3}"/>
                  </a:ext>
                </a:extLst>
              </p:cNvPr>
              <p:cNvSpPr/>
              <p:nvPr/>
            </p:nvSpPr>
            <p:spPr>
              <a:xfrm rot="17209299">
                <a:off x="0" y="0"/>
                <a:ext cx="914400" cy="914400"/>
              </a:xfrm>
              <a:prstGeom prst="arc">
                <a:avLst>
                  <a:gd name="adj1" fmla="val 15565495"/>
                  <a:gd name="adj2" fmla="val 3941158"/>
                </a:avLst>
              </a:prstGeom>
              <a:noFill/>
              <a:ln w="2540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53546DE5-E56B-A043-863F-607963DC200C}"/>
                  </a:ext>
                </a:extLst>
              </p:cNvPr>
              <p:cNvCxnSpPr/>
              <p:nvPr/>
            </p:nvCxnSpPr>
            <p:spPr>
              <a:xfrm>
                <a:off x="19050" y="419100"/>
                <a:ext cx="895350" cy="0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" lastClr="FFFFFF">
                    <a:lumMod val="65000"/>
                  </a:sysClr>
                </a:solidFill>
                <a:prstDash val="sysDash"/>
                <a:miter lim="800000"/>
              </a:ln>
              <a:effectLst/>
            </p:spPr>
          </p:cxnSp>
        </p:grp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DD29907F-1330-DE46-9B9B-9817EBFF04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2556435"/>
                  </p:ext>
                </p:extLst>
              </p:nvPr>
            </p:nvGraphicFramePr>
            <p:xfrm>
              <a:off x="2320769" y="2470716"/>
              <a:ext cx="7406413" cy="35509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78965">
                      <a:extLst>
                        <a:ext uri="{9D8B030D-6E8A-4147-A177-3AD203B41FA5}">
                          <a16:colId xmlns:a16="http://schemas.microsoft.com/office/drawing/2014/main" val="688046463"/>
                        </a:ext>
                      </a:extLst>
                    </a:gridCol>
                    <a:gridCol w="5527448">
                      <a:extLst>
                        <a:ext uri="{9D8B030D-6E8A-4147-A177-3AD203B41FA5}">
                          <a16:colId xmlns:a16="http://schemas.microsoft.com/office/drawing/2014/main" val="3458081393"/>
                        </a:ext>
                      </a:extLst>
                    </a:gridCol>
                  </a:tblGrid>
                  <a:tr h="1183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𝐶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=2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𝜋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Formula for the circumference of a circle.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3083402"/>
                      </a:ext>
                    </a:extLst>
                  </a:tr>
                  <a:tr h="11836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𝐶</m:t>
                                </m:r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=2</m:t>
                                </m:r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𝜋</m:t>
                                </m:r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b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Divide both sides of the equation by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6098904"/>
                      </a:ext>
                    </a:extLst>
                  </a:tr>
                  <a:tr h="1183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= _________ </m:t>
                              </m:r>
                            </m:oMath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written in simplified form for half of the circumference.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29752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DD29907F-1330-DE46-9B9B-9817EBFF04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2556435"/>
                  </p:ext>
                </p:extLst>
              </p:nvPr>
            </p:nvGraphicFramePr>
            <p:xfrm>
              <a:off x="2320769" y="2470716"/>
              <a:ext cx="7406413" cy="35509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78965">
                      <a:extLst>
                        <a:ext uri="{9D8B030D-6E8A-4147-A177-3AD203B41FA5}">
                          <a16:colId xmlns:a16="http://schemas.microsoft.com/office/drawing/2014/main" val="688046463"/>
                        </a:ext>
                      </a:extLst>
                    </a:gridCol>
                    <a:gridCol w="5527448">
                      <a:extLst>
                        <a:ext uri="{9D8B030D-6E8A-4147-A177-3AD203B41FA5}">
                          <a16:colId xmlns:a16="http://schemas.microsoft.com/office/drawing/2014/main" val="3458081393"/>
                        </a:ext>
                      </a:extLst>
                    </a:gridCol>
                  </a:tblGrid>
                  <a:tr h="1183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5" t="-515" r="-295455" b="-2015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Formula for the circumference of a circle.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3083402"/>
                      </a:ext>
                    </a:extLst>
                  </a:tr>
                  <a:tr h="1183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5" t="-100000" r="-295455" b="-10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031" t="-100000" r="-220" b="-10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098904"/>
                      </a:ext>
                    </a:extLst>
                  </a:tr>
                  <a:tr h="1183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5" t="-201031" r="-295455" b="-10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written in simplified form for half of the circumference.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29752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A5F22E96-3DC4-3745-A00E-3FF223C8FA95}"/>
              </a:ext>
            </a:extLst>
          </p:cNvPr>
          <p:cNvSpPr/>
          <p:nvPr/>
        </p:nvSpPr>
        <p:spPr>
          <a:xfrm>
            <a:off x="2784784" y="4334880"/>
            <a:ext cx="457200" cy="457200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lgDash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0C346C-8857-D446-A9B4-09C38AEA0ED1}"/>
              </a:ext>
            </a:extLst>
          </p:cNvPr>
          <p:cNvSpPr/>
          <p:nvPr/>
        </p:nvSpPr>
        <p:spPr>
          <a:xfrm>
            <a:off x="3471854" y="4334880"/>
            <a:ext cx="457200" cy="457200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lgDash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2784784" y="4269926"/>
            <a:ext cx="448636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471854" y="4269926"/>
            <a:ext cx="448636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203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A4596-5923-6342-9500-70E8F702680A}"/>
              </a:ext>
            </a:extLst>
          </p:cNvPr>
          <p:cNvSpPr/>
          <p:nvPr/>
        </p:nvSpPr>
        <p:spPr>
          <a:xfrm>
            <a:off x="914400" y="411367"/>
            <a:ext cx="10515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9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Given the formula for the area of a rectangle, substitute the corresponding parts of the circle to discover the area of a circle.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12FE7BD-F9B1-464C-B45C-6745255765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770039"/>
                  </p:ext>
                </p:extLst>
              </p:nvPr>
            </p:nvGraphicFramePr>
            <p:xfrm>
              <a:off x="2569846" y="1664605"/>
              <a:ext cx="7346315" cy="26822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68625">
                      <a:extLst>
                        <a:ext uri="{9D8B030D-6E8A-4147-A177-3AD203B41FA5}">
                          <a16:colId xmlns:a16="http://schemas.microsoft.com/office/drawing/2014/main" val="2446676607"/>
                        </a:ext>
                      </a:extLst>
                    </a:gridCol>
                    <a:gridCol w="4377690">
                      <a:extLst>
                        <a:ext uri="{9D8B030D-6E8A-4147-A177-3AD203B41FA5}">
                          <a16:colId xmlns:a16="http://schemas.microsoft.com/office/drawing/2014/main" val="419887033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𝐴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=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𝑏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×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Formula for the area of a rectangle.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65429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𝐴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= _____________× _______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the parts of the circle that correspond with the base and height of the rectangle.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728969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𝐴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=            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Multiply like bases to write the simplified formula of a circle.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756663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12FE7BD-F9B1-464C-B45C-6745255765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770039"/>
                  </p:ext>
                </p:extLst>
              </p:nvPr>
            </p:nvGraphicFramePr>
            <p:xfrm>
              <a:off x="2569846" y="1664605"/>
              <a:ext cx="7346315" cy="26822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68625">
                      <a:extLst>
                        <a:ext uri="{9D8B030D-6E8A-4147-A177-3AD203B41FA5}">
                          <a16:colId xmlns:a16="http://schemas.microsoft.com/office/drawing/2014/main" val="2446676607"/>
                        </a:ext>
                      </a:extLst>
                    </a:gridCol>
                    <a:gridCol w="4377690">
                      <a:extLst>
                        <a:ext uri="{9D8B030D-6E8A-4147-A177-3AD203B41FA5}">
                          <a16:colId xmlns:a16="http://schemas.microsoft.com/office/drawing/2014/main" val="4198870336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27" t="-1587" r="-147863" b="-24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Formula for the area of a rectangle.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6542936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27" t="-74419" r="-147863" b="-7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the parts of the circle that correspond with the base and height of the rectangle.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72896999"/>
                      </a:ext>
                    </a:extLst>
                  </a:tr>
                  <a:tr h="792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27" t="-238095" r="-147863" b="-79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Multiply like bases to write the simplified formula of a circle.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756663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24551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>
            <a:extLst>
              <a:ext uri="{FF2B5EF4-FFF2-40B4-BE49-F238E27FC236}">
                <a16:creationId xmlns:a16="http://schemas.microsoft.com/office/drawing/2014/main" id="{63076560-D698-024B-9D8B-6CF75A1265BE}"/>
              </a:ext>
            </a:extLst>
          </p:cNvPr>
          <p:cNvSpPr txBox="1">
            <a:spLocks/>
          </p:cNvSpPr>
          <p:nvPr/>
        </p:nvSpPr>
        <p:spPr>
          <a:xfrm>
            <a:off x="3855625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image7.png" descr="Icon&#10;&#10;Description automatically generated">
            <a:extLst>
              <a:ext uri="{FF2B5EF4-FFF2-40B4-BE49-F238E27FC236}">
                <a16:creationId xmlns:a16="http://schemas.microsoft.com/office/drawing/2014/main" id="{11E4EBFF-55AF-5B47-B9C8-3B3CF3A3D20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2149" cy="11521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9040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901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4.8.4 Bring It Together: </a:t>
            </a:r>
            <a:br>
              <a:rPr lang="en-US" sz="36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Area of a Circle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143000" y="1334718"/>
            <a:ext cx="10515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words or phrases from the box to complete the sentences.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44500">
              <a:lnSpc>
                <a:spcPct val="20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formula for the area of a _________________ was used to discover the area of a ____________. When a circle is divided into sectors, the sectors can be arranged into a rectangle. </a:t>
            </a:r>
          </a:p>
        </p:txBody>
      </p:sp>
      <p:pic>
        <p:nvPicPr>
          <p:cNvPr id="23" name="image7.png" descr="Icon&#10;&#10;Description automatically generated">
            <a:extLst>
              <a:ext uri="{FF2B5EF4-FFF2-40B4-BE49-F238E27FC236}">
                <a16:creationId xmlns:a16="http://schemas.microsoft.com/office/drawing/2014/main" id="{A8A28477-B103-4849-8050-26DED253E8AE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53520" cy="753520"/>
          </a:xfrm>
          <a:prstGeom prst="rect">
            <a:avLst/>
          </a:prstGeom>
          <a:ln/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89FD4F1-9851-1642-9200-F42D4096DAD5}"/>
              </a:ext>
            </a:extLst>
          </p:cNvPr>
          <p:cNvSpPr/>
          <p:nvPr/>
        </p:nvSpPr>
        <p:spPr>
          <a:xfrm>
            <a:off x="2682781" y="2003918"/>
            <a:ext cx="6826437" cy="142508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200000"/>
              </a:lnSpc>
              <a:spcAft>
                <a:spcPts val="1000"/>
              </a:spcAft>
            </a:pPr>
            <a:endParaRPr lang="x-none" sz="12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371188"/>
              </p:ext>
            </p:extLst>
          </p:nvPr>
        </p:nvGraphicFramePr>
        <p:xfrm>
          <a:off x="2880359" y="2163556"/>
          <a:ext cx="6431280" cy="109728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height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Times New Roman"/>
                          <a:cs typeface="Times New Roman"/>
                        </a:rPr>
                      </a:b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rectangle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half of the circumference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circle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radius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sector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circumference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997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/>
              <p:nvPr/>
            </p:nvSpPr>
            <p:spPr>
              <a:xfrm>
                <a:off x="914400" y="411366"/>
                <a:ext cx="10515600" cy="19175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>
                  <a:lnSpc>
                    <a:spcPct val="15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base of the rectangle is _____________________ of the circle. The height of the rectangle is the ________________ of the circle. Using this method results in the formula,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𝐴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𝐶𝑟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1366"/>
                <a:ext cx="10515600" cy="1917513"/>
              </a:xfrm>
              <a:prstGeom prst="rect">
                <a:avLst/>
              </a:prstGeom>
              <a:blipFill>
                <a:blip r:embed="rId4"/>
                <a:stretch>
                  <a:fillRect r="-696" b="-1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830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855625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5224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64588DB-B3A3-1F45-A71E-8F28600E7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99679" y="2993965"/>
            <a:ext cx="4216531" cy="37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12427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4.8.5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914400" y="1054972"/>
            <a:ext cx="10515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 a point on the grid below to indicate your level of interest in today’s learning target and how much it made sense to you.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4450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can use the area of the rectangle to develop the formula for the area of a circle.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3228</TotalTime>
  <Words>1149</Words>
  <Application>Microsoft Office PowerPoint</Application>
  <PresentationFormat>Widescreen</PresentationFormat>
  <Paragraphs>175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Verdana</vt:lpstr>
      <vt:lpstr>Wingdings</vt:lpstr>
      <vt:lpstr>Century Gothic</vt:lpstr>
      <vt:lpstr>Calibri</vt:lpstr>
      <vt:lpstr>Arial Black</vt:lpstr>
      <vt:lpstr>Cambria Math</vt:lpstr>
      <vt:lpstr>Cutive</vt:lpstr>
      <vt:lpstr>Courier New</vt:lpstr>
      <vt:lpstr>Arial</vt:lpstr>
      <vt:lpstr>Cambria</vt:lpstr>
      <vt:lpstr>1_Office Theme</vt:lpstr>
      <vt:lpstr>7th Grade Math  Unit 4, Lesson 8  Exploring the Area of a Circle  Volume 1, pg. 162  </vt:lpstr>
      <vt:lpstr>Benchmark</vt:lpstr>
      <vt:lpstr>PowerPoint Presentation</vt:lpstr>
      <vt:lpstr>PowerPoint Presentation</vt:lpstr>
      <vt:lpstr>Warm-Up</vt:lpstr>
      <vt:lpstr>PowerPoint Presentation</vt:lpstr>
      <vt:lpstr>Guided Practice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38</cp:revision>
  <dcterms:created xsi:type="dcterms:W3CDTF">2015-03-17T18:51:18Z</dcterms:created>
  <dcterms:modified xsi:type="dcterms:W3CDTF">2022-06-07T19:14:29Z</dcterms:modified>
</cp:coreProperties>
</file>