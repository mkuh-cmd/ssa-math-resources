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345" r:id="rId4"/>
    <p:sldId id="286" r:id="rId5"/>
    <p:sldId id="261" r:id="rId6"/>
    <p:sldId id="287" r:id="rId7"/>
    <p:sldId id="289" r:id="rId8"/>
    <p:sldId id="290" r:id="rId9"/>
    <p:sldId id="308" r:id="rId10"/>
    <p:sldId id="390" r:id="rId11"/>
    <p:sldId id="391" r:id="rId12"/>
    <p:sldId id="393" r:id="rId13"/>
    <p:sldId id="392" r:id="rId14"/>
    <p:sldId id="314" r:id="rId15"/>
    <p:sldId id="315" r:id="rId16"/>
    <p:sldId id="316" r:id="rId17"/>
    <p:sldId id="339" r:id="rId18"/>
    <p:sldId id="340" r:id="rId19"/>
    <p:sldId id="371" r:id="rId20"/>
    <p:sldId id="372" r:id="rId21"/>
    <p:sldId id="373" r:id="rId22"/>
    <p:sldId id="377" r:id="rId23"/>
    <p:sldId id="378" r:id="rId24"/>
    <p:sldId id="306" r:id="rId25"/>
    <p:sldId id="307" r:id="rId26"/>
    <p:sldId id="394" r:id="rId27"/>
  </p:sldIdLst>
  <p:sldSz cx="12192000" cy="6858000"/>
  <p:notesSz cx="6858000" cy="9144000"/>
  <p:embeddedFontLst>
    <p:embeddedFont>
      <p:font typeface="Arial Black" panose="020B0A040201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Cutive" panose="020B0604020202020204" charset="0"/>
      <p:regular r:id="rId43"/>
    </p:embeddedFont>
    <p:embeddedFont>
      <p:font typeface="Verdana" panose="020B060403050404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26B7D4"/>
    <a:srgbClr val="BFBFBF"/>
    <a:srgbClr val="C9DF6F"/>
    <a:srgbClr val="417DBF"/>
    <a:srgbClr val="3F2A67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91"/>
    <p:restoredTop sz="94694"/>
  </p:normalViewPr>
  <p:slideViewPr>
    <p:cSldViewPr snapToGrid="0">
      <p:cViewPr varScale="1">
        <p:scale>
          <a:sx n="81" d="100"/>
          <a:sy n="81" d="100"/>
        </p:scale>
        <p:origin x="12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59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831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4767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0002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8025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4581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5234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816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13163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5488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9185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60363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09044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9504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0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4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Finding the Area of Composite Figures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142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307592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MA.7.GR.1.2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or </a:t>
            </a:r>
            <a:b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real–world problems involving the areas of polygons or composite figures by decomposing them into triangles or quadrilaterals.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D66E1D7-C8ED-8A4A-9EE6-BDBA39B9912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914400" y="1455367"/>
            <a:ext cx="10515600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274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4675" indent="-574675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decompose composite figures into triangles and quadrilaterals to find the area.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8036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181568"/>
            <a:ext cx="8019300" cy="77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4.4.1 Warm-Up: Math Fail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1192193"/>
            <a:ext cx="59544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advertisement below is for the sale of colored strands for braids to raise money for a Stop Drug Abuse campaign.</a:t>
            </a: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what the math fail is in the advertisement. 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CABED6-9CA6-FC48-873A-C74605890A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96513" y="1192192"/>
            <a:ext cx="3032454" cy="41825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.png" descr="Icon&#10;&#10;Description automatically generated">
            <a:extLst>
              <a:ext uri="{FF2B5EF4-FFF2-40B4-BE49-F238E27FC236}">
                <a16:creationId xmlns:a16="http://schemas.microsoft.com/office/drawing/2014/main" id="{5AE14C4D-AE5C-1441-8C2F-BD915AEA39C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4921"/>
            <a:ext cx="1148148" cy="114814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409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4.4.2 Guided Instruction: Finding the Area of Polygons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580939"/>
            <a:ext cx="10515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floorplan is shown. All segment lengths are in inches (in.).</a:t>
            </a:r>
          </a:p>
        </p:txBody>
      </p:sp>
      <p:pic>
        <p:nvPicPr>
          <p:cNvPr id="11" name="image1.png" descr="Icon&#10;&#10;Description automatically generated">
            <a:extLst>
              <a:ext uri="{FF2B5EF4-FFF2-40B4-BE49-F238E27FC236}">
                <a16:creationId xmlns:a16="http://schemas.microsoft.com/office/drawing/2014/main" id="{8BE19BF4-1F7A-A540-8183-B1CA747BAFDE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8029" cy="748029"/>
          </a:xfrm>
          <a:prstGeom prst="rect">
            <a:avLst/>
          </a:prstGeom>
          <a:ln/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32C4C2C-1B1F-3144-93BD-03ACF3DA9511}"/>
              </a:ext>
            </a:extLst>
          </p:cNvPr>
          <p:cNvGrpSpPr/>
          <p:nvPr/>
        </p:nvGrpSpPr>
        <p:grpSpPr>
          <a:xfrm>
            <a:off x="2156246" y="1297283"/>
            <a:ext cx="8103192" cy="1084273"/>
            <a:chOff x="2031300" y="3208133"/>
            <a:chExt cx="8103923" cy="97826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2CC758E-1A79-4E41-980A-E36F736BDEE4}"/>
                </a:ext>
              </a:extLst>
            </p:cNvPr>
            <p:cNvGrpSpPr/>
            <p:nvPr/>
          </p:nvGrpSpPr>
          <p:grpSpPr>
            <a:xfrm>
              <a:off x="2031300" y="3208133"/>
              <a:ext cx="8103923" cy="978267"/>
              <a:chOff x="0" y="-165467"/>
              <a:chExt cx="8103923" cy="978267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44F3C4A-1A84-1746-9C8C-6E869D67D18C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9EB2C110-0457-DC40-ABBF-A51727C49B16}"/>
                  </a:ext>
                </a:extLst>
              </p:cNvPr>
              <p:cNvSpPr/>
              <p:nvPr/>
            </p:nvSpPr>
            <p:spPr>
              <a:xfrm>
                <a:off x="12029" y="-165467"/>
                <a:ext cx="8091894" cy="943596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742950">
                  <a:spcAft>
                    <a:spcPts val="1000"/>
                  </a:spcAft>
                </a:pPr>
                <a:r>
                  <a:rPr lang="en-US" sz="20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Composite figures</a:t>
                </a: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two- or three-dimensional figures that can be decomposed into smaller figures.</a:t>
                </a:r>
                <a:endParaRPr lang="x-none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pic>
            <p:nvPicPr>
              <p:cNvPr id="20" name="Shape 7" descr="Icon&#10;&#10;Description automatically generated">
                <a:extLst>
                  <a:ext uri="{FF2B5EF4-FFF2-40B4-BE49-F238E27FC236}">
                    <a16:creationId xmlns:a16="http://schemas.microsoft.com/office/drawing/2014/main" id="{C31763FA-154D-C54D-AD2F-CEB3ED94A974}"/>
                  </a:ext>
                </a:extLst>
              </p:cNvPr>
              <p:cNvPicPr preferRelativeResize="0"/>
              <p:nvPr/>
            </p:nvPicPr>
            <p:blipFill rotWithShape="1">
              <a:blip r:embed="rId5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9989" y="-10135"/>
                <a:ext cx="539545" cy="48675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63346D28-2D3C-2045-8024-652CEB3E8B9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0214" y="3546543"/>
            <a:ext cx="4683600" cy="290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573188-CD6D-7A4A-B541-10622444B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00423"/>
            <a:ext cx="10515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decompose the floorplan into triangles and quadrilaterals. 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PH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PH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PH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PH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area of the floorplan. Show your work.</a:t>
            </a: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573188-CD6D-7A4A-B541-10622444B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82920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3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polygon inscribed inside a rectangle is shown on the grid. Each grid line is 1 unit.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2813" indent="-442913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77E9ED-69F3-F748-BA23-4945B27A1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06645"/>
              </p:ext>
            </p:extLst>
          </p:nvPr>
        </p:nvGraphicFramePr>
        <p:xfrm>
          <a:off x="3196501" y="2190174"/>
          <a:ext cx="6799580" cy="3813175"/>
        </p:xfrm>
        <a:graphic>
          <a:graphicData uri="http://schemas.openxmlformats.org/drawingml/2006/table">
            <a:tbl>
              <a:tblPr firstRow="1" firstCol="1" bandRow="1"/>
              <a:tblGrid>
                <a:gridCol w="6799580">
                  <a:extLst>
                    <a:ext uri="{9D8B030D-6E8A-4147-A177-3AD203B41FA5}">
                      <a16:colId xmlns:a16="http://schemas.microsoft.com/office/drawing/2014/main" val="24858769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Polygon Inscribed in a Rectangle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044795"/>
                  </a:ext>
                </a:extLst>
              </a:tr>
              <a:tr h="335597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083459"/>
                  </a:ext>
                </a:extLst>
              </a:tr>
            </a:tbl>
          </a:graphicData>
        </a:graphic>
      </p:graphicFrame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29806" y="2733471"/>
            <a:ext cx="3901944" cy="3184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987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12BCE8-BACC-9E4A-8148-C38D29F11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301364"/>
              </p:ext>
            </p:extLst>
          </p:nvPr>
        </p:nvGraphicFramePr>
        <p:xfrm>
          <a:off x="2924423" y="843552"/>
          <a:ext cx="6343155" cy="5029200"/>
        </p:xfrm>
        <a:graphic>
          <a:graphicData uri="http://schemas.openxmlformats.org/drawingml/2006/table">
            <a:tbl>
              <a:tblPr firstRow="1" firstCol="1" bandRow="1"/>
              <a:tblGrid>
                <a:gridCol w="6343155">
                  <a:extLst>
                    <a:ext uri="{9D8B030D-6E8A-4147-A177-3AD203B41FA5}">
                      <a16:colId xmlns:a16="http://schemas.microsoft.com/office/drawing/2014/main" val="196594812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Decomposition of Rectangle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L="63977" marR="639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2204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the large rectangle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07736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R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2872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S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95825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T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467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W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30767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Y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755474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the blue polygon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9144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365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087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9573188-CD6D-7A4A-B541-10622444B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2921"/>
                <a:ext cx="10515600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r>
                  <a:rPr lang="en-US" alt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same polygon is shown on the grid. Each grid line is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unit.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9573188-CD6D-7A4A-B541-10622444B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382921"/>
                <a:ext cx="10515600" cy="830997"/>
              </a:xfrm>
              <a:prstGeom prst="rect">
                <a:avLst/>
              </a:prstGeom>
              <a:blipFill>
                <a:blip r:embed="rId3"/>
                <a:stretch>
                  <a:fillRect t="-6061" b="-1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738F4E3-51EF-CF46-9B15-4F7AD4A0E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738541"/>
              </p:ext>
            </p:extLst>
          </p:nvPr>
        </p:nvGraphicFramePr>
        <p:xfrm>
          <a:off x="3177516" y="1363065"/>
          <a:ext cx="6790690" cy="3810000"/>
        </p:xfrm>
        <a:graphic>
          <a:graphicData uri="http://schemas.openxmlformats.org/drawingml/2006/table">
            <a:tbl>
              <a:tblPr firstRow="1" firstCol="1" bandRow="1"/>
              <a:tblGrid>
                <a:gridCol w="6790690">
                  <a:extLst>
                    <a:ext uri="{9D8B030D-6E8A-4147-A177-3AD203B41FA5}">
                      <a16:colId xmlns:a16="http://schemas.microsoft.com/office/drawing/2014/main" val="58911311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Polygon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46558"/>
                  </a:ext>
                </a:extLst>
              </a:tr>
              <a:tr h="30968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964957"/>
                  </a:ext>
                </a:extLst>
              </a:tr>
            </a:tbl>
          </a:graphicData>
        </a:graphic>
      </p:graphicFrame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2164" y="1918100"/>
            <a:ext cx="3904488" cy="315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8185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573188-CD6D-7A4A-B541-10622444B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115442"/>
            <a:ext cx="10515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3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the different possible methods of finding the area of the blue polygon. List one strength of each method.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12BCE8-BACC-9E4A-8148-C38D29F11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21087"/>
              </p:ext>
            </p:extLst>
          </p:nvPr>
        </p:nvGraphicFramePr>
        <p:xfrm>
          <a:off x="2728049" y="481951"/>
          <a:ext cx="6343155" cy="4343400"/>
        </p:xfrm>
        <a:graphic>
          <a:graphicData uri="http://schemas.openxmlformats.org/drawingml/2006/table">
            <a:tbl>
              <a:tblPr firstRow="1" firstCol="1" bandRow="1"/>
              <a:tblGrid>
                <a:gridCol w="6343155">
                  <a:extLst>
                    <a:ext uri="{9D8B030D-6E8A-4147-A177-3AD203B41FA5}">
                      <a16:colId xmlns:a16="http://schemas.microsoft.com/office/drawing/2014/main" val="196594812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Decomposition of Rectangle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L="63977" marR="639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2204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the large rectangle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07736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E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2872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F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95825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G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467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H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307678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Century Gothic" panose="020B0502020202020204" pitchFamily="34" charset="0"/>
                        </a:rPr>
                        <a:t>Area of the blue polygon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T="9144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365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001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6245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5.png" descr="A picture containing shape&#10;&#10;Description automatically generated">
            <a:extLst>
              <a:ext uri="{FF2B5EF4-FFF2-40B4-BE49-F238E27FC236}">
                <a16:creationId xmlns:a16="http://schemas.microsoft.com/office/drawing/2014/main" id="{521CECD5-9877-4342-B251-2E0AB5571E1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0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12554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0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4.4.3 Collaboration: Area of a Polygon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914400" y="1451250"/>
                <a:ext cx="10515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polygon is shown on grid paper. Each grid line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51250"/>
                <a:ext cx="10515600" cy="830997"/>
              </a:xfrm>
              <a:prstGeom prst="rect">
                <a:avLst/>
              </a:prstGeom>
              <a:blipFill>
                <a:blip r:embed="rId4"/>
                <a:stretch>
                  <a:fillRect l="-965" t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image5.png" descr="A picture containing shape&#10;&#10;Description automatically generated">
            <a:extLst>
              <a:ext uri="{FF2B5EF4-FFF2-40B4-BE49-F238E27FC236}">
                <a16:creationId xmlns:a16="http://schemas.microsoft.com/office/drawing/2014/main" id="{0DDC23C7-DBD4-2044-A437-CD0F30E2BF3B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64" cy="750164"/>
          </a:xfrm>
          <a:prstGeom prst="rect">
            <a:avLst/>
          </a:prstGeom>
          <a:ln/>
        </p:spPr>
      </p:pic>
      <p:pic>
        <p:nvPicPr>
          <p:cNvPr id="28" name="Picture 27" descr="A picture containing chart&#10;&#10;Description automatically generated">
            <a:extLst>
              <a:ext uri="{FF2B5EF4-FFF2-40B4-BE49-F238E27FC236}">
                <a16:creationId xmlns:a16="http://schemas.microsoft.com/office/drawing/2014/main" id="{FF32AD85-80AE-054A-94DB-936BC00E7CA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326"/>
          <a:stretch/>
        </p:blipFill>
        <p:spPr bwMode="auto">
          <a:xfrm>
            <a:off x="3906679" y="2428506"/>
            <a:ext cx="4378643" cy="38829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914400" y="417101"/>
            <a:ext cx="10515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Decompose the polygon into triangles and quadrilaterals. 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Share your decomposition with your partner. List at least one similarity and one difference. </a:t>
            </a: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914400" y="298920"/>
                <a:ext cx="105156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Taahira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decomposed the polygon into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pieces using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different shapes, as shown. Each grid line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98920"/>
                <a:ext cx="10515600" cy="1200329"/>
              </a:xfrm>
              <a:prstGeom prst="rect">
                <a:avLst/>
              </a:prstGeom>
              <a:blipFill>
                <a:blip r:embed="rId4"/>
                <a:stretch>
                  <a:fillRect l="-965" t="-4167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58CC8B6F-1493-C147-97C1-74BABF1693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5166" y="1708065"/>
            <a:ext cx="455993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553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52ABE8A-0459-4049-9A6B-67902FA360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7452026"/>
                  </p:ext>
                </p:extLst>
              </p:nvPr>
            </p:nvGraphicFramePr>
            <p:xfrm>
              <a:off x="2718092" y="1394045"/>
              <a:ext cx="7334885" cy="304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97280">
                      <a:extLst>
                        <a:ext uri="{9D8B030D-6E8A-4147-A177-3AD203B41FA5}">
                          <a16:colId xmlns:a16="http://schemas.microsoft.com/office/drawing/2014/main" val="506572645"/>
                        </a:ext>
                      </a:extLst>
                    </a:gridCol>
                    <a:gridCol w="1660525">
                      <a:extLst>
                        <a:ext uri="{9D8B030D-6E8A-4147-A177-3AD203B41FA5}">
                          <a16:colId xmlns:a16="http://schemas.microsoft.com/office/drawing/2014/main" val="680922661"/>
                        </a:ext>
                      </a:extLst>
                    </a:gridCol>
                    <a:gridCol w="1753870">
                      <a:extLst>
                        <a:ext uri="{9D8B030D-6E8A-4147-A177-3AD203B41FA5}">
                          <a16:colId xmlns:a16="http://schemas.microsoft.com/office/drawing/2014/main" val="793681668"/>
                        </a:ext>
                      </a:extLst>
                    </a:gridCol>
                    <a:gridCol w="1554480">
                      <a:extLst>
                        <a:ext uri="{9D8B030D-6E8A-4147-A177-3AD203B41FA5}">
                          <a16:colId xmlns:a16="http://schemas.microsoft.com/office/drawing/2014/main" val="2982652462"/>
                        </a:ext>
                      </a:extLst>
                    </a:gridCol>
                    <a:gridCol w="1268730">
                      <a:extLst>
                        <a:ext uri="{9D8B030D-6E8A-4147-A177-3AD203B41FA5}">
                          <a16:colId xmlns:a16="http://schemas.microsoft.com/office/drawing/2014/main" val="166312768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Shape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Type of Shape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Area of the Shape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Number of Shapes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Total Area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91855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entury Gothic" panose="020B0502020202020204" pitchFamily="34" charset="0"/>
                                    <a:cs typeface="Century Gothic" panose="020B0502020202020204" pitchFamily="34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entury Gothic" panose="020B0502020202020204" pitchFamily="34" charset="0"/>
                                    <a:cs typeface="Century Gothic" panose="020B0502020202020204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79606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entury Gothic" panose="020B0502020202020204" pitchFamily="34" charset="0"/>
                                    <a:cs typeface="Century Gothic" panose="020B0502020202020204" pitchFamily="34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599265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entury Gothic" panose="020B0502020202020204" pitchFamily="34" charset="0"/>
                                    <a:cs typeface="Century Gothic" panose="020B0502020202020204" pitchFamily="34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entury Gothic" panose="020B0502020202020204" pitchFamily="34" charset="0"/>
                                    <a:cs typeface="Century Gothic" panose="020B0502020202020204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5932778"/>
                      </a:ext>
                    </a:extLst>
                  </a:tr>
                  <a:tr h="457200"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Area of the Polygon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69432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52ABE8A-0459-4049-9A6B-67902FA360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7452026"/>
                  </p:ext>
                </p:extLst>
              </p:nvPr>
            </p:nvGraphicFramePr>
            <p:xfrm>
              <a:off x="2718092" y="1394045"/>
              <a:ext cx="7334885" cy="304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97280">
                      <a:extLst>
                        <a:ext uri="{9D8B030D-6E8A-4147-A177-3AD203B41FA5}">
                          <a16:colId xmlns:a16="http://schemas.microsoft.com/office/drawing/2014/main" val="506572645"/>
                        </a:ext>
                      </a:extLst>
                    </a:gridCol>
                    <a:gridCol w="1660525">
                      <a:extLst>
                        <a:ext uri="{9D8B030D-6E8A-4147-A177-3AD203B41FA5}">
                          <a16:colId xmlns:a16="http://schemas.microsoft.com/office/drawing/2014/main" val="680922661"/>
                        </a:ext>
                      </a:extLst>
                    </a:gridCol>
                    <a:gridCol w="1753870">
                      <a:extLst>
                        <a:ext uri="{9D8B030D-6E8A-4147-A177-3AD203B41FA5}">
                          <a16:colId xmlns:a16="http://schemas.microsoft.com/office/drawing/2014/main" val="793681668"/>
                        </a:ext>
                      </a:extLst>
                    </a:gridCol>
                    <a:gridCol w="1554480">
                      <a:extLst>
                        <a:ext uri="{9D8B030D-6E8A-4147-A177-3AD203B41FA5}">
                          <a16:colId xmlns:a16="http://schemas.microsoft.com/office/drawing/2014/main" val="2982652462"/>
                        </a:ext>
                      </a:extLst>
                    </a:gridCol>
                    <a:gridCol w="1268730">
                      <a:extLst>
                        <a:ext uri="{9D8B030D-6E8A-4147-A177-3AD203B41FA5}">
                          <a16:colId xmlns:a16="http://schemas.microsoft.com/office/drawing/2014/main" val="1663127681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Shape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Type of Shape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Area of the Shape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Number of Shapes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Total Area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918553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63" t="-112500" r="-573256" b="-3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2623" t="-112500" r="-82787" b="-3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79606006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63" t="-208163" r="-573256" b="-1979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599265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63" t="-314583" r="-573256" b="-10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2623" t="-314583" r="-82787" b="-10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5932778"/>
                      </a:ext>
                    </a:extLst>
                  </a:tr>
                  <a:tr h="609600"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Area of the Polygon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69432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914400" y="298920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find the area of each shape and the total area of the polygon.</a:t>
            </a:r>
          </a:p>
        </p:txBody>
      </p:sp>
    </p:spTree>
    <p:extLst>
      <p:ext uri="{BB962C8B-B14F-4D97-AF65-F5344CB8AC3E}">
        <p14:creationId xmlns:p14="http://schemas.microsoft.com/office/powerpoint/2010/main" val="2042787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>
            <a:extLst>
              <a:ext uri="{FF2B5EF4-FFF2-40B4-BE49-F238E27FC236}">
                <a16:creationId xmlns:a16="http://schemas.microsoft.com/office/drawing/2014/main" id="{FBE81C39-C116-3E43-8FD2-10F6C7887F5E}"/>
              </a:ext>
            </a:extLst>
          </p:cNvPr>
          <p:cNvSpPr txBox="1">
            <a:spLocks/>
          </p:cNvSpPr>
          <p:nvPr/>
        </p:nvSpPr>
        <p:spPr>
          <a:xfrm>
            <a:off x="4087368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4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48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3.png" descr="Icon&#10;&#10;Description automatically generated">
            <a:extLst>
              <a:ext uri="{FF2B5EF4-FFF2-40B4-BE49-F238E27FC236}">
                <a16:creationId xmlns:a16="http://schemas.microsoft.com/office/drawing/2014/main" id="{262BA819-CDB7-B64F-AABC-D95470684A2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70632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9040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12658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4.4.4 Guided Practice: Decomposing Composite Figures to Find Area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914400" y="1632183"/>
                <a:ext cx="10515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polygon is shown on a grid. Each grid line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32183"/>
                <a:ext cx="10515600" cy="830997"/>
              </a:xfrm>
              <a:prstGeom prst="rect">
                <a:avLst/>
              </a:prstGeom>
              <a:blipFill>
                <a:blip r:embed="rId4"/>
                <a:stretch>
                  <a:fillRect l="-965" t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FD572BB-29A8-CE4D-AF18-7C83CBAF5ED2}"/>
              </a:ext>
            </a:extLst>
          </p:cNvPr>
          <p:cNvSpPr txBox="1"/>
          <p:nvPr/>
        </p:nvSpPr>
        <p:spPr>
          <a:xfrm>
            <a:off x="2073700" y="5675385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561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the polygon. </a:t>
            </a:r>
          </a:p>
        </p:txBody>
      </p:sp>
      <p:pic>
        <p:nvPicPr>
          <p:cNvPr id="23" name="image3.png" descr="Icon&#10;&#10;Description automatically generated">
            <a:extLst>
              <a:ext uri="{FF2B5EF4-FFF2-40B4-BE49-F238E27FC236}">
                <a16:creationId xmlns:a16="http://schemas.microsoft.com/office/drawing/2014/main" id="{9E51257E-C329-9C4C-98BF-AA092A4A2097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53520" cy="753520"/>
          </a:xfrm>
          <a:prstGeom prst="rect">
            <a:avLst/>
          </a:prstGeom>
          <a:ln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367A8C4-0FAD-224D-9EAA-CF14A1626C8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9898" y="2643077"/>
            <a:ext cx="5712204" cy="2896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1997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914400" y="317090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polygon is shown with the given measurements in meters (m).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263CBE-2310-004D-9898-04F902D5B68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02188" y="1574165"/>
            <a:ext cx="2587625" cy="268097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43">
                <a:extLst>
                  <a:ext uri="{FF2B5EF4-FFF2-40B4-BE49-F238E27FC236}">
                    <a16:creationId xmlns:a16="http://schemas.microsoft.com/office/drawing/2014/main" id="{2B95787B-0333-924C-9259-04A036675E2F}"/>
                  </a:ext>
                </a:extLst>
              </p:cNvPr>
              <p:cNvSpPr txBox="1"/>
              <p:nvPr/>
            </p:nvSpPr>
            <p:spPr>
              <a:xfrm>
                <a:off x="6964363" y="2648901"/>
                <a:ext cx="723900" cy="4191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rPr>
                      <m:t>4</m:t>
                    </m:r>
                  </m:oMath>
                </a14:m>
                <a:r>
                  <a:rPr lang="en-US" sz="18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 </a:t>
                </a:r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m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 Box 243">
                <a:extLst>
                  <a:ext uri="{FF2B5EF4-FFF2-40B4-BE49-F238E27FC236}">
                    <a16:creationId xmlns:a16="http://schemas.microsoft.com/office/drawing/2014/main" id="{2B95787B-0333-924C-9259-04A036675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363" y="2648901"/>
                <a:ext cx="723900" cy="419100"/>
              </a:xfrm>
              <a:prstGeom prst="rect">
                <a:avLst/>
              </a:prstGeom>
              <a:blipFill>
                <a:blip r:embed="rId5"/>
                <a:stretch>
                  <a:fillRect t="-5882" b="-1176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44">
                <a:extLst>
                  <a:ext uri="{FF2B5EF4-FFF2-40B4-BE49-F238E27FC236}">
                    <a16:creationId xmlns:a16="http://schemas.microsoft.com/office/drawing/2014/main" id="{A8E0C982-1769-544F-93D9-29CE8EAC57E7}"/>
                  </a:ext>
                </a:extLst>
              </p:cNvPr>
              <p:cNvSpPr txBox="1"/>
              <p:nvPr/>
            </p:nvSpPr>
            <p:spPr>
              <a:xfrm>
                <a:off x="6446838" y="1321751"/>
                <a:ext cx="723900" cy="4191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rPr>
                      <m:t>1</m:t>
                    </m:r>
                  </m:oMath>
                </a14:m>
                <a:r>
                  <a:rPr lang="en-US" sz="18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 </a:t>
                </a:r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m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 Box 244">
                <a:extLst>
                  <a:ext uri="{FF2B5EF4-FFF2-40B4-BE49-F238E27FC236}">
                    <a16:creationId xmlns:a16="http://schemas.microsoft.com/office/drawing/2014/main" id="{A8E0C982-1769-544F-93D9-29CE8EAC5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838" y="1321751"/>
                <a:ext cx="723900" cy="419100"/>
              </a:xfrm>
              <a:prstGeom prst="rect">
                <a:avLst/>
              </a:prstGeom>
              <a:blipFill>
                <a:blip r:embed="rId6"/>
                <a:stretch>
                  <a:fillRect t="-8824" b="-1176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45">
                <a:extLst>
                  <a:ext uri="{FF2B5EF4-FFF2-40B4-BE49-F238E27FC236}">
                    <a16:creationId xmlns:a16="http://schemas.microsoft.com/office/drawing/2014/main" id="{6F949968-A5CB-7C44-AE04-CAFFAC84FC7A}"/>
                  </a:ext>
                </a:extLst>
              </p:cNvPr>
              <p:cNvSpPr txBox="1"/>
              <p:nvPr/>
            </p:nvSpPr>
            <p:spPr>
              <a:xfrm>
                <a:off x="5945188" y="4050346"/>
                <a:ext cx="723900" cy="4191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rPr>
                      <m:t>3</m:t>
                    </m:r>
                  </m:oMath>
                </a14:m>
                <a:r>
                  <a:rPr lang="en-US" sz="18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 </a:t>
                </a:r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m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 Box 245">
                <a:extLst>
                  <a:ext uri="{FF2B5EF4-FFF2-40B4-BE49-F238E27FC236}">
                    <a16:creationId xmlns:a16="http://schemas.microsoft.com/office/drawing/2014/main" id="{6F949968-A5CB-7C44-AE04-CAFFAC84F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188" y="4050346"/>
                <a:ext cx="723900" cy="419100"/>
              </a:xfrm>
              <a:prstGeom prst="rect">
                <a:avLst/>
              </a:prstGeom>
              <a:blipFill>
                <a:blip r:embed="rId7"/>
                <a:stretch>
                  <a:fillRect t="-5882" b="-1176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46">
                <a:extLst>
                  <a:ext uri="{FF2B5EF4-FFF2-40B4-BE49-F238E27FC236}">
                    <a16:creationId xmlns:a16="http://schemas.microsoft.com/office/drawing/2014/main" id="{E9AA84F9-0816-2E40-8168-198D65085165}"/>
                  </a:ext>
                </a:extLst>
              </p:cNvPr>
              <p:cNvSpPr txBox="1"/>
              <p:nvPr/>
            </p:nvSpPr>
            <p:spPr>
              <a:xfrm rot="16200000">
                <a:off x="5932488" y="1988501"/>
                <a:ext cx="723900" cy="4191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rPr>
                      <m:t>2</m:t>
                    </m:r>
                  </m:oMath>
                </a14:m>
                <a:r>
                  <a:rPr lang="en-US" sz="18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 </a:t>
                </a:r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m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 Box 246">
                <a:extLst>
                  <a:ext uri="{FF2B5EF4-FFF2-40B4-BE49-F238E27FC236}">
                    <a16:creationId xmlns:a16="http://schemas.microsoft.com/office/drawing/2014/main" id="{E9AA84F9-0816-2E40-8168-198D65085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32488" y="1988501"/>
                <a:ext cx="723900" cy="419100"/>
              </a:xfrm>
              <a:prstGeom prst="rect">
                <a:avLst/>
              </a:prstGeom>
              <a:blipFill>
                <a:blip r:embed="rId8"/>
                <a:stretch>
                  <a:fillRect l="-5882" r="-8824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77B41B2-9E15-EC4D-B8AA-0D4760DB282F}"/>
              </a:ext>
            </a:extLst>
          </p:cNvPr>
          <p:cNvSpPr/>
          <p:nvPr/>
        </p:nvSpPr>
        <p:spPr>
          <a:xfrm>
            <a:off x="2059677" y="4689065"/>
            <a:ext cx="80726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5613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area of the composite figure?</a:t>
            </a:r>
          </a:p>
        </p:txBody>
      </p:sp>
    </p:spTree>
    <p:extLst>
      <p:ext uri="{BB962C8B-B14F-4D97-AF65-F5344CB8AC3E}">
        <p14:creationId xmlns:p14="http://schemas.microsoft.com/office/powerpoint/2010/main" val="369839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>
            <a:extLst>
              <a:ext uri="{FF2B5EF4-FFF2-40B4-BE49-F238E27FC236}">
                <a16:creationId xmlns:a16="http://schemas.microsoft.com/office/drawing/2014/main" id="{023CE51F-3080-7A4F-9345-CFF0AC9E83D0}"/>
              </a:ext>
            </a:extLst>
          </p:cNvPr>
          <p:cNvSpPr txBox="1">
            <a:spLocks/>
          </p:cNvSpPr>
          <p:nvPr/>
        </p:nvSpPr>
        <p:spPr>
          <a:xfrm>
            <a:off x="4087368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12.png" descr="Icon&#10;&#10;Description automatically generated">
            <a:extLst>
              <a:ext uri="{FF2B5EF4-FFF2-40B4-BE49-F238E27FC236}">
                <a16:creationId xmlns:a16="http://schemas.microsoft.com/office/drawing/2014/main" id="{F6039FC7-5A6F-6D43-8F4E-F3C3058FBDCF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2155" cy="115215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1599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-96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4.4.5 Your Turn!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143000" y="139432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the polygon. Lengths are shown in millimeters (mm).</a:t>
            </a:r>
          </a:p>
        </p:txBody>
      </p:sp>
      <p:pic>
        <p:nvPicPr>
          <p:cNvPr id="27" name="image12.png" descr="Icon&#10;&#10;Description automatically generated">
            <a:extLst>
              <a:ext uri="{FF2B5EF4-FFF2-40B4-BE49-F238E27FC236}">
                <a16:creationId xmlns:a16="http://schemas.microsoft.com/office/drawing/2014/main" id="{71A43EA5-059F-0D4E-B62F-351DB078F08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50519" cy="750519"/>
          </a:xfrm>
          <a:prstGeom prst="rect">
            <a:avLst/>
          </a:prstGeom>
          <a:ln/>
        </p:spPr>
      </p:pic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7F200E52-C55B-B645-8083-06988F344D2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9990" y="2562365"/>
            <a:ext cx="6080276" cy="343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68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5224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12427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4.4.6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914400" y="1346520"/>
            <a:ext cx="10515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Place an </a:t>
            </a:r>
            <a:r>
              <a:rPr lang="en-US" sz="2400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the number in the emoji scale that indicates your understanding in relation to today’s learning target. 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5613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can decompose composite figures into triangles and quadrilaterals to find the area.</a:t>
            </a:r>
          </a:p>
        </p:txBody>
      </p:sp>
      <p:pic>
        <p:nvPicPr>
          <p:cNvPr id="10" name="image4.png" descr="Chart&#10;&#10;Description automatically generated">
            <a:extLst>
              <a:ext uri="{FF2B5EF4-FFF2-40B4-BE49-F238E27FC236}">
                <a16:creationId xmlns:a16="http://schemas.microsoft.com/office/drawing/2014/main" id="{E701C3CA-F24B-B143-87B2-3D9410A21075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060" b="42611"/>
          <a:stretch>
            <a:fillRect/>
          </a:stretch>
        </p:blipFill>
        <p:spPr>
          <a:xfrm>
            <a:off x="2678430" y="5035774"/>
            <a:ext cx="6835140" cy="506730"/>
          </a:xfrm>
          <a:prstGeom prst="rect">
            <a:avLst/>
          </a:prstGeom>
          <a:ln/>
        </p:spPr>
      </p:pic>
      <p:pic>
        <p:nvPicPr>
          <p:cNvPr id="4" name="Picture 3" descr="A group of yellow smiley faces&#10;&#10;Description automatically generated with medium confidence">
            <a:extLst>
              <a:ext uri="{FF2B5EF4-FFF2-40B4-BE49-F238E27FC236}">
                <a16:creationId xmlns:a16="http://schemas.microsoft.com/office/drawing/2014/main" id="{E9F8BFEF-7646-AD44-BB9A-FDF80E0C4E5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8430" y="3776279"/>
            <a:ext cx="6835140" cy="102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914400" y="532133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evidence to explain your self-assessment. </a:t>
            </a:r>
          </a:p>
        </p:txBody>
      </p:sp>
    </p:spTree>
    <p:extLst>
      <p:ext uri="{BB962C8B-B14F-4D97-AF65-F5344CB8AC3E}">
        <p14:creationId xmlns:p14="http://schemas.microsoft.com/office/powerpoint/2010/main" val="64355342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3163</TotalTime>
  <Words>823</Words>
  <Application>Microsoft Office PowerPoint</Application>
  <PresentationFormat>Widescreen</PresentationFormat>
  <Paragraphs>175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Calibri</vt:lpstr>
      <vt:lpstr>Arial Black</vt:lpstr>
      <vt:lpstr>Cambria Math</vt:lpstr>
      <vt:lpstr>Arial</vt:lpstr>
      <vt:lpstr>Cambria</vt:lpstr>
      <vt:lpstr>Cutive</vt:lpstr>
      <vt:lpstr>Verdana</vt:lpstr>
      <vt:lpstr>Wingdings</vt:lpstr>
      <vt:lpstr>Century Gothic</vt:lpstr>
      <vt:lpstr>1_Office Theme</vt:lpstr>
      <vt:lpstr>7th Grade Math  Unit 4, Lesson 4  Finding the Area of Composite Figures  Volume 1, pg. 142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34</cp:revision>
  <dcterms:created xsi:type="dcterms:W3CDTF">2015-03-17T18:51:18Z</dcterms:created>
  <dcterms:modified xsi:type="dcterms:W3CDTF">2022-06-07T17:39:56Z</dcterms:modified>
</cp:coreProperties>
</file>