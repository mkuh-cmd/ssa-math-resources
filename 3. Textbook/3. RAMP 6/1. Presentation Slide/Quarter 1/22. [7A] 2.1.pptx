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7" r:id="rId12"/>
    <p:sldId id="265" r:id="rId13"/>
    <p:sldId id="266" r:id="rId14"/>
    <p:sldId id="288" r:id="rId15"/>
    <p:sldId id="289" r:id="rId16"/>
    <p:sldId id="290" r:id="rId17"/>
    <p:sldId id="291" r:id="rId18"/>
    <p:sldId id="292" r:id="rId19"/>
    <p:sldId id="270" r:id="rId20"/>
    <p:sldId id="271" r:id="rId21"/>
    <p:sldId id="272" r:id="rId22"/>
    <p:sldId id="273" r:id="rId23"/>
    <p:sldId id="274" r:id="rId24"/>
    <p:sldId id="293" r:id="rId25"/>
    <p:sldId id="276" r:id="rId26"/>
    <p:sldId id="277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jb5dGwcNnekY+/LtZa0O/y6pGE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5"/>
    <p:restoredTop sz="94694"/>
  </p:normalViewPr>
  <p:slideViewPr>
    <p:cSldViewPr snapToGrid="0">
      <p:cViewPr varScale="1">
        <p:scale>
          <a:sx n="121" d="100"/>
          <a:sy n="121" d="100"/>
        </p:scale>
        <p:origin x="808" y="1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6376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0224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52514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4175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00980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75817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2473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0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1.tif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https://lh4.googleusercontent.com/bG1UVMbSC4SdYyLzuGQkvAhqqVTEWLwfYIEIpJp0B-K--Rnj0hA-wSKftSYYK6OfuiL2UuPnZTt0WCbEGKMALPhesEI7-HtOICwWif88YsGKTZvCoIputESI9ivPLmytxuAGoYkD" TargetMode="Externa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Square Values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63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640" y="1745080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399759" y="2004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259" y="2558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36;p1">
                <a:extLst>
                  <a:ext uri="{FF2B5EF4-FFF2-40B4-BE49-F238E27FC236}">
                    <a16:creationId xmlns:a16="http://schemas.microsoft.com/office/drawing/2014/main" id="{795195B8-A32F-6447-BCD1-60B4E12A6621}"/>
                  </a:ext>
                </a:extLst>
              </p:cNvPr>
              <p:cNvSpPr txBox="1"/>
              <p:nvPr/>
            </p:nvSpPr>
            <p:spPr>
              <a:xfrm>
                <a:off x="1551709" y="1600200"/>
                <a:ext cx="9088582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6350">
                  <a:buClr>
                    <a:srgbClr val="434343"/>
                  </a:buClr>
                  <a:buSzPts val="3500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MA.8.AR.2.3 </a:t>
                </a:r>
              </a:p>
              <a:p>
                <a:pPr marL="577850">
                  <a:buClr>
                    <a:srgbClr val="434343"/>
                  </a:buClr>
                  <a:buSzPts val="3500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an equation in the 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b="1" i="1">
                            <a:latin typeface="Cambria Math" charset="0"/>
                          </a:rPr>
                          <m:t>𝒙</m:t>
                        </m:r>
                      </m:e>
                      <m:sup>
                        <m:r>
                          <a:rPr lang="en-US" sz="3500" b="1" i="1">
                            <a:latin typeface="Cambria Math" charset="0"/>
                          </a:rPr>
                          <m:t>𝟐</m:t>
                        </m:r>
                      </m:sup>
                    </m:sSup>
                    <m:r>
                      <a:rPr lang="en-US" sz="3500" b="1" i="1">
                        <a:latin typeface="Cambria Math" charset="0"/>
                      </a:rPr>
                      <m:t>=</m:t>
                    </m:r>
                    <m:r>
                      <a:rPr lang="en-US" sz="3500" b="1" i="1">
                        <a:latin typeface="Cambria Math" charset="0"/>
                      </a:rPr>
                      <m:t>𝒑</m:t>
                    </m:r>
                  </m:oMath>
                </a14:m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b="1" i="1">
                            <a:latin typeface="Cambria Math" charset="0"/>
                          </a:rPr>
                          <m:t>𝒙</m:t>
                        </m:r>
                      </m:e>
                      <m:sup>
                        <m:r>
                          <a:rPr lang="en-US" sz="3500" b="1" i="1">
                            <a:latin typeface="Cambria Math" charset="0"/>
                          </a:rPr>
                          <m:t>𝟑</m:t>
                        </m:r>
                      </m:sup>
                    </m:sSup>
                    <m:r>
                      <a:rPr lang="en-US" sz="3500" b="1" i="1">
                        <a:latin typeface="Cambria Math" charset="0"/>
                      </a:rPr>
                      <m:t>=</m:t>
                    </m:r>
                    <m:r>
                      <a:rPr lang="en-US" sz="3500" b="1" i="1">
                        <a:latin typeface="Cambria Math" charset="0"/>
                      </a:rPr>
                      <m:t>𝒒</m:t>
                    </m:r>
                  </m:oMath>
                </a14:m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where 𝑝 is a whole number and 𝑞 is an integer, determine the real solutions.</a:t>
                </a:r>
                <a:endParaRPr lang="en-US" sz="35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50">
                  <a:buClr>
                    <a:srgbClr val="434343"/>
                  </a:buClr>
                  <a:buSzPts val="3500"/>
                </a:pPr>
                <a:endParaRPr sz="3500" dirty="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8" name="Google Shape;136;p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95195B8-A32F-6447-BCD1-60B4E12A6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709" y="1600200"/>
                <a:ext cx="9088582" cy="4205700"/>
              </a:xfrm>
              <a:prstGeom prst="rect">
                <a:avLst/>
              </a:prstGeom>
              <a:blipFill rotWithShape="0">
                <a:blip r:embed="rId5"/>
                <a:stretch>
                  <a:fillRect l="-1946" t="-2467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641" y="38615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650291" y="143522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650291" y="1596390"/>
            <a:ext cx="947917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783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/>
        </p:nvSpPr>
        <p:spPr>
          <a:xfrm>
            <a:off x="1502323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161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722942" y="1600200"/>
            <a:ext cx="874611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/>
              <a:t>I can use multiple representations to explore square values.</a:t>
            </a:r>
            <a:endParaRPr sz="35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46" name="Google Shape;146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7" name="Google Shape;147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/>
        </p:nvSpPr>
        <p:spPr>
          <a:xfrm>
            <a:off x="1454442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2.1.1 Warm-Up: Reflecting On Learning </a:t>
            </a:r>
            <a:endParaRPr dirty="0"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142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7" name="Google Shape;157;p2"/>
          <p:cNvSpPr txBox="1"/>
          <p:nvPr/>
        </p:nvSpPr>
        <p:spPr>
          <a:xfrm>
            <a:off x="1454442" y="1386025"/>
            <a:ext cx="9539148" cy="4508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Learning something new can sometimes be challenging, but the challenges are part of what leads to success.</a:t>
            </a:r>
            <a:endParaRPr dirty="0"/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“Failure is not the opposite of success. It is part of</a:t>
            </a:r>
            <a:endParaRPr dirty="0"/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success.” -Arianna Huffington</a:t>
            </a:r>
            <a:endParaRPr dirty="0"/>
          </a:p>
          <a:p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What would you want your teacher to say to you when they see you taking a risk, trying hard, or pushing through mistakes to learn something new?</a:t>
            </a:r>
          </a:p>
          <a:p>
            <a:pPr marL="457200" indent="-457200">
              <a:buFont typeface="+mj-lt"/>
              <a:buAutoNum type="arabicPeriod"/>
            </a:pPr>
            <a:endParaRPr lang="en-US" sz="21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ea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Describe how it feels when you learn or accomplish something that is really challenging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.</a:t>
            </a:r>
            <a:endParaRPr dirty="0"/>
          </a:p>
        </p:txBody>
      </p:sp>
      <p:sp>
        <p:nvSpPr>
          <p:cNvPr id="158" name="Google Shape;158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67" name="Google Shape;167;p4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8" name="Google Shape;168;p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/>
        </p:nvSpPr>
        <p:spPr>
          <a:xfrm>
            <a:off x="1453987" y="60326"/>
            <a:ext cx="1056214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2.1.2 Exploration: Area of Squares </a:t>
            </a:r>
            <a:endParaRPr/>
          </a:p>
        </p:txBody>
      </p:sp>
      <p:pic>
        <p:nvPicPr>
          <p:cNvPr id="177" name="Google Shape;177;p5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7689" y="308451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8" name="Google Shape;178;p5"/>
          <p:cNvSpPr txBox="1"/>
          <p:nvPr/>
        </p:nvSpPr>
        <p:spPr>
          <a:xfrm>
            <a:off x="1579418" y="1386026"/>
            <a:ext cx="9289196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Complete the following with your partner.</a:t>
            </a:r>
            <a:endParaRPr lang="en-US" dirty="0">
              <a:ea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Verdana"/>
                <a:ea typeface="Verdana"/>
                <a:cs typeface="Verdana"/>
                <a:sym typeface="Verdana"/>
              </a:rPr>
              <a:t>Four figures are shown on the grid, where each gridline is 1 unit.</a:t>
            </a:r>
            <a:endParaRPr dirty="0"/>
          </a:p>
        </p:txBody>
      </p:sp>
      <p:sp>
        <p:nvSpPr>
          <p:cNvPr id="179" name="Google Shape;179;p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0" name="Google Shape;180;p5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94822" y="3112517"/>
            <a:ext cx="7358154" cy="23978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/>
        </p:nvSpPr>
        <p:spPr>
          <a:xfrm>
            <a:off x="955964" y="410665"/>
            <a:ext cx="10430738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2338" indent="-514350">
              <a:buSzPts val="2800"/>
              <a:buFont typeface="Arial"/>
              <a:buAutoNum type="alphaLcPeriod"/>
            </a:pPr>
            <a:r>
              <a:rPr lang="en-US" sz="2800" dirty="0">
                <a:latin typeface="Verdana"/>
                <a:ea typeface="Verdana"/>
                <a:cs typeface="Verdana"/>
                <a:sym typeface="Verdana"/>
              </a:rPr>
              <a:t>Find the dimensions and area of each figure.</a:t>
            </a:r>
          </a:p>
          <a:p>
            <a:pPr marL="514350" indent="-514350">
              <a:buSzPts val="2800"/>
              <a:buFont typeface="Arial"/>
              <a:buAutoNum type="alphaLcPeriod"/>
            </a:pPr>
            <a:endParaRPr lang="en-US" sz="2800" dirty="0">
              <a:latin typeface="Verdana"/>
              <a:ea typeface="Verdana"/>
              <a:cs typeface="Verdana"/>
              <a:sym typeface="Verdana"/>
            </a:endParaRPr>
          </a:p>
          <a:p>
            <a:pPr marL="514350" indent="-514350">
              <a:buSzPts val="2800"/>
              <a:buFont typeface="Arial"/>
              <a:buAutoNum type="alphaLcPeriod"/>
            </a:pPr>
            <a:endParaRPr lang="en-US" sz="2800" dirty="0">
              <a:latin typeface="Verdana"/>
              <a:ea typeface="Verdana"/>
              <a:cs typeface="Verdana"/>
              <a:sym typeface="Verdana"/>
            </a:endParaRPr>
          </a:p>
          <a:p>
            <a:pPr marL="514350" indent="-514350">
              <a:buSzPts val="2800"/>
              <a:buFont typeface="Arial"/>
              <a:buAutoNum type="alphaLcPeriod"/>
            </a:pPr>
            <a:endParaRPr lang="en-US" sz="2800" dirty="0">
              <a:latin typeface="Verdana"/>
              <a:ea typeface="Verdana"/>
              <a:cs typeface="Verdana"/>
              <a:sym typeface="Verdana"/>
            </a:endParaRPr>
          </a:p>
          <a:p>
            <a:pPr marL="514350" indent="-514350">
              <a:buSzPts val="2800"/>
              <a:buFont typeface="Arial"/>
              <a:buAutoNum type="alphaLcPeriod"/>
            </a:pPr>
            <a:endParaRPr lang="en-US" sz="2800" dirty="0">
              <a:latin typeface="Verdana"/>
              <a:ea typeface="Verdana"/>
              <a:cs typeface="Verdana"/>
              <a:sym typeface="Verdana"/>
            </a:endParaRPr>
          </a:p>
          <a:p>
            <a:pPr marL="514350" indent="-514350">
              <a:buSzPts val="2800"/>
              <a:buFont typeface="Arial"/>
              <a:buAutoNum type="alphaLcPeriod"/>
            </a:pPr>
            <a:endParaRPr lang="en-US" sz="2800" dirty="0">
              <a:latin typeface="Verdana"/>
              <a:ea typeface="Verdana"/>
              <a:cs typeface="Verdana"/>
              <a:sym typeface="Verdana"/>
            </a:endParaRPr>
          </a:p>
          <a:p>
            <a:pPr marL="514350" indent="-514350">
              <a:buSzPts val="2800"/>
              <a:buFont typeface="Arial"/>
              <a:buAutoNum type="alphaLcPeriod"/>
            </a:pPr>
            <a:endParaRPr lang="en-US" sz="2800" dirty="0">
              <a:latin typeface="Verdana"/>
              <a:ea typeface="Verdana"/>
              <a:cs typeface="Verdana"/>
              <a:sym typeface="Verdana"/>
            </a:endParaRPr>
          </a:p>
          <a:p>
            <a:pPr marL="514350" indent="-514350">
              <a:buSzPts val="2800"/>
              <a:buFont typeface="Arial"/>
              <a:buAutoNum type="alphaLcPeriod"/>
            </a:pPr>
            <a:endParaRPr lang="en-US" sz="2800" dirty="0">
              <a:latin typeface="Verdana"/>
              <a:ea typeface="Verdana"/>
              <a:cs typeface="Verdana"/>
              <a:sym typeface="Verdana"/>
            </a:endParaRPr>
          </a:p>
          <a:p>
            <a:pPr marL="514350" indent="-514350">
              <a:buSzPts val="2800"/>
              <a:buFont typeface="Arial"/>
              <a:buAutoNum type="alphaLcPeriod"/>
            </a:pPr>
            <a:endParaRPr lang="en-US" sz="2800" dirty="0">
              <a:latin typeface="Verdana"/>
              <a:ea typeface="Verdana"/>
              <a:cs typeface="Verdana"/>
              <a:sym typeface="Verdana"/>
            </a:endParaRPr>
          </a:p>
          <a:p>
            <a:pPr marL="514350" indent="-514350">
              <a:buSzPts val="2800"/>
              <a:buFont typeface="Arial"/>
              <a:buAutoNum type="alphaLcPeriod"/>
            </a:pPr>
            <a:endParaRPr lang="en-US" dirty="0">
              <a:ea typeface="Verdana"/>
            </a:endParaRPr>
          </a:p>
          <a:p>
            <a:pPr marL="922338" indent="-514350">
              <a:buSzPts val="2800"/>
              <a:buFont typeface="Arial"/>
              <a:buAutoNum type="alphaLcPeriod"/>
            </a:pPr>
            <a:r>
              <a:rPr lang="en-US" sz="2800" dirty="0">
                <a:latin typeface="Verdana"/>
                <a:ea typeface="Verdana"/>
                <a:cs typeface="Verdana"/>
                <a:sym typeface="Verdana"/>
              </a:rPr>
              <a:t>All of the figures above are rectangles. Explain, using the dimensions, which of the shapes are also squares.</a:t>
            </a:r>
            <a:endParaRPr sz="28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90" name="Google Shape;19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0022" y="1611478"/>
            <a:ext cx="7298729" cy="23673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/>
          <p:nvPr/>
        </p:nvSpPr>
        <p:spPr>
          <a:xfrm>
            <a:off x="845127" y="204490"/>
            <a:ext cx="10772346" cy="612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With your partner, create squares whose areas range from 1 to 25 square units. Create as many as possible on the grid paper below. Each gridline has a length of 1 unit. </a:t>
            </a:r>
            <a:endParaRPr lang="en-US" dirty="0">
              <a:ea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49263">
              <a:buFont typeface="+mj-lt"/>
              <a:buAutoNum type="alphaLcPeriod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For each square, label the length and the width, along with the area inside. </a:t>
            </a:r>
          </a:p>
          <a:p>
            <a:pPr marL="914400" indent="-449263">
              <a:buFont typeface="+mj-lt"/>
              <a:buAutoNum type="alphaLcPeriod"/>
            </a:pPr>
            <a:endParaRPr lang="en-US"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49263">
              <a:buFont typeface="+mj-lt"/>
              <a:buAutoNum type="alphaLcPeriod"/>
            </a:pPr>
            <a:endParaRPr lang="en-US"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49263">
              <a:buFont typeface="+mj-lt"/>
              <a:buAutoNum type="alphaLcPeriod"/>
            </a:pPr>
            <a:endParaRPr lang="en-US"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49263">
              <a:buFont typeface="+mj-lt"/>
              <a:buAutoNum type="alphaLcPeriod"/>
            </a:pPr>
            <a:endParaRPr lang="en-US"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49263">
              <a:buFont typeface="+mj-lt"/>
              <a:buAutoNum type="alphaLcPeriod"/>
            </a:pPr>
            <a:endParaRPr lang="en-US"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49263">
              <a:buFont typeface="+mj-lt"/>
              <a:buAutoNum type="alphaLcPeriod"/>
            </a:pPr>
            <a:endParaRPr lang="en-US"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49263">
              <a:buFont typeface="+mj-lt"/>
              <a:buAutoNum type="alphaLcPeriod"/>
            </a:pPr>
            <a:endParaRPr lang="en-US"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49263">
              <a:buFont typeface="+mj-lt"/>
              <a:buAutoNum type="alphaLcPeriod"/>
            </a:pPr>
            <a:endParaRPr lang="en-US" dirty="0">
              <a:ea typeface="Verdana"/>
            </a:endParaRPr>
          </a:p>
          <a:p>
            <a:pPr marL="914400" indent="-449263">
              <a:buFont typeface="+mj-lt"/>
              <a:buAutoNum type="alphaLcPeriod"/>
            </a:pPr>
            <a:endParaRPr lang="en-US" dirty="0">
              <a:ea typeface="Verdana"/>
            </a:endParaRPr>
          </a:p>
          <a:p>
            <a:pPr marL="914400" indent="-449263">
              <a:buFont typeface="+mj-lt"/>
              <a:buAutoNum type="alphaLcPeriod"/>
            </a:pPr>
            <a:endParaRPr lang="en-US" dirty="0">
              <a:ea typeface="Verdana"/>
            </a:endParaRPr>
          </a:p>
          <a:p>
            <a:pPr marL="914400" indent="-449263">
              <a:buFont typeface="+mj-lt"/>
              <a:buAutoNum type="alphaLcPeriod"/>
            </a:pPr>
            <a:endParaRPr lang="en-US" dirty="0">
              <a:ea typeface="Verdana"/>
            </a:endParaRPr>
          </a:p>
          <a:p>
            <a:pPr marL="914400" indent="-449263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Form a group with another pair of partners.</a:t>
            </a:r>
            <a:endParaRPr dirty="0"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	Compare the squares each group created and, if</a:t>
            </a:r>
            <a:endParaRPr dirty="0"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	necessary, add any squares to your grid.</a:t>
            </a:r>
            <a:endParaRPr dirty="0"/>
          </a:p>
        </p:txBody>
      </p:sp>
      <p:sp>
        <p:nvSpPr>
          <p:cNvPr id="200" name="Google Shape;200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7840CF-430C-F04A-9430-BC5FF5ECE68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7857" y="2373309"/>
            <a:ext cx="6106886" cy="2806495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/>
          <p:nvPr/>
        </p:nvSpPr>
        <p:spPr>
          <a:xfrm>
            <a:off x="1794600" y="226911"/>
            <a:ext cx="8873400" cy="2446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Alicia says, “1 squared is 1 and 2 squared is 4.” Explain</a:t>
            </a:r>
            <a:r>
              <a:rPr lang="en-US" sz="2400" dirty="0">
                <a:ea typeface="Verdana"/>
              </a:rPr>
              <a:t>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what you think it means to square a number.</a:t>
            </a:r>
            <a:endParaRPr lang="en-US" sz="2400" dirty="0"/>
          </a:p>
          <a:p>
            <a:endParaRPr lang="en-US"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3692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09" name="Google Shape;209;p8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1" name="Google Shape;211;p8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5255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 txBox="1"/>
          <p:nvPr/>
        </p:nvSpPr>
        <p:spPr>
          <a:xfrm>
            <a:off x="1314505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2.1.3 Bring It Together: Area of Squares</a:t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2" name="Google Shape;222;p9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2783" y="297925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157;p2">
                <a:extLst>
                  <a:ext uri="{FF2B5EF4-FFF2-40B4-BE49-F238E27FC236}">
                    <a16:creationId xmlns:a16="http://schemas.microsoft.com/office/drawing/2014/main" id="{F5C9FFA9-E41D-274C-ABB8-3901E9954B95}"/>
                  </a:ext>
                </a:extLst>
              </p:cNvPr>
              <p:cNvSpPr txBox="1"/>
              <p:nvPr/>
            </p:nvSpPr>
            <p:spPr>
              <a:xfrm>
                <a:off x="1080655" y="1386026"/>
                <a:ext cx="5269345" cy="25237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area of the square shown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64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units.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7575" lvl="1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the length and the width of the square on the grid. 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10" name="Google Shape;157;p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C9FFA9-E41D-274C-ABB8-3901E9954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55" y="1386026"/>
                <a:ext cx="5269345" cy="2523727"/>
              </a:xfrm>
              <a:prstGeom prst="rect">
                <a:avLst/>
              </a:prstGeom>
              <a:blipFill rotWithShape="0">
                <a:blip r:embed="rId4"/>
                <a:stretch>
                  <a:fillRect l="-1734" t="-1932" r="-30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C85EB764-9A0B-8A4D-BDCC-96C8D707EC9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6049" y="1534606"/>
            <a:ext cx="3855437" cy="3788789"/>
          </a:xfrm>
          <a:prstGeom prst="rect">
            <a:avLst/>
          </a:prstGeom>
        </p:spPr>
      </p:pic>
      <p:sp>
        <p:nvSpPr>
          <p:cNvPr id="9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Google Shape;199;p7"/>
              <p:cNvSpPr txBox="1"/>
              <p:nvPr/>
            </p:nvSpPr>
            <p:spPr>
              <a:xfrm>
                <a:off x="997527" y="226910"/>
                <a:ext cx="10467546" cy="26776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17575" lvl="1" indent="-452438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length and width can be multiplied to find the area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units. Since the figure is a square, the area can also be found using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length of a side.</a:t>
                </a:r>
              </a:p>
              <a:p>
                <a:pPr marL="979488" lvl="1" indent="-4524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equations for the square shown.</a:t>
                </a:r>
              </a:p>
              <a:p>
                <a:pPr marL="917575" lvl="1" indent="-4524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28892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Area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_______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or      Area 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________×________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9" name="Google Shape;199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27" y="226910"/>
                <a:ext cx="10467546" cy="2677616"/>
              </a:xfrm>
              <a:prstGeom prst="rect">
                <a:avLst/>
              </a:prstGeom>
              <a:blipFill rotWithShape="0">
                <a:blip r:embed="rId3"/>
                <a:stretch>
                  <a:fillRect t="-2050" r="-175" b="-41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0133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Google Shape;199;p7"/>
              <p:cNvSpPr txBox="1"/>
              <p:nvPr/>
            </p:nvSpPr>
            <p:spPr>
              <a:xfrm>
                <a:off x="651164" y="226911"/>
                <a:ext cx="11160272" cy="4001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a square with an area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100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units</a:t>
                </a:r>
                <a:r>
                  <a:rPr lang="en-US" sz="24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7575" lvl="1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each side?</a:t>
                </a:r>
              </a:p>
              <a:p>
                <a:pPr marL="917575" lvl="1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how you determined the length.</a:t>
                </a:r>
              </a:p>
              <a:p>
                <a:r>
                  <a:rPr lang="en-US" dirty="0"/>
                  <a:t> </a:t>
                </a:r>
                <a:endParaRPr lang="en-US" sz="1050" dirty="0"/>
              </a:p>
            </p:txBody>
          </p:sp>
        </mc:Choice>
        <mc:Fallback xmlns="">
          <p:sp>
            <p:nvSpPr>
              <p:cNvPr id="199" name="Google Shape;199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64" y="226911"/>
                <a:ext cx="11160272" cy="4001055"/>
              </a:xfrm>
              <a:prstGeom prst="rect">
                <a:avLst/>
              </a:prstGeom>
              <a:blipFill rotWithShape="0">
                <a:blip r:embed="rId3"/>
                <a:stretch>
                  <a:fillRect l="-874" t="-13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7298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Google Shape;199;p7"/>
              <p:cNvSpPr txBox="1"/>
              <p:nvPr/>
            </p:nvSpPr>
            <p:spPr>
              <a:xfrm>
                <a:off x="1401042" y="199121"/>
                <a:ext cx="8873400" cy="6001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indent="-342900">
                  <a:buFont typeface="+mj-lt"/>
                  <a:buAutoNum type="arabicPeriod" startAt="3"/>
                </a:pPr>
                <a:r>
                  <a:rPr lang="en-US" sz="2400" dirty="0"/>
                  <a:t>Consider a rectangle with an area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8</m:t>
                    </m:r>
                  </m:oMath>
                </a14:m>
                <a:r>
                  <a:rPr lang="en-US" sz="2400" dirty="0"/>
                  <a:t> square units. </a:t>
                </a:r>
              </a:p>
              <a:p>
                <a:r>
                  <a:rPr lang="en-US" sz="2400" dirty="0"/>
                  <a:t> </a:t>
                </a:r>
              </a:p>
              <a:p>
                <a:pPr marL="917575" lvl="1" indent="-339725">
                  <a:buFont typeface="+mj-lt"/>
                  <a:buAutoNum type="alphaLcPeriod"/>
                </a:pPr>
                <a:r>
                  <a:rPr lang="en-US" sz="2400" dirty="0"/>
                  <a:t>Use the grid to draw all of the possible rectangles with an area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8</m:t>
                    </m:r>
                  </m:oMath>
                </a14:m>
                <a:r>
                  <a:rPr lang="en-US" sz="2400" dirty="0"/>
                  <a:t> square units.</a:t>
                </a:r>
              </a:p>
              <a:p>
                <a:pPr marL="917575" lvl="1" indent="-339725">
                  <a:buFont typeface="+mj-lt"/>
                  <a:buAutoNum type="alphaLcPeriod"/>
                </a:pPr>
                <a:endParaRPr lang="en-US" sz="2400" dirty="0"/>
              </a:p>
              <a:p>
                <a:pPr marL="917575" lvl="1" indent="-339725">
                  <a:buFont typeface="+mj-lt"/>
                  <a:buAutoNum type="alphaLcPeriod"/>
                </a:pPr>
                <a:endParaRPr lang="en-US" sz="2400" dirty="0"/>
              </a:p>
              <a:p>
                <a:pPr marL="917575" lvl="1" indent="-339725">
                  <a:buFont typeface="+mj-lt"/>
                  <a:buAutoNum type="alphaLcPeriod"/>
                </a:pPr>
                <a:endParaRPr lang="en-US" sz="2400" dirty="0"/>
              </a:p>
              <a:p>
                <a:pPr marL="917575" lvl="1" indent="-339725">
                  <a:buFont typeface="+mj-lt"/>
                  <a:buAutoNum type="alphaLcPeriod"/>
                </a:pPr>
                <a:endParaRPr lang="en-US" sz="2400" dirty="0"/>
              </a:p>
              <a:p>
                <a:pPr marL="917575" lvl="1" indent="-339725">
                  <a:buFont typeface="+mj-lt"/>
                  <a:buAutoNum type="alphaLcPeriod"/>
                </a:pPr>
                <a:endParaRPr lang="en-US" sz="2400" dirty="0"/>
              </a:p>
              <a:p>
                <a:pPr marL="917575" lvl="1" indent="-339725">
                  <a:buFont typeface="+mj-lt"/>
                  <a:buAutoNum type="alphaLcPeriod"/>
                </a:pPr>
                <a:endParaRPr lang="en-US" sz="2400" dirty="0"/>
              </a:p>
              <a:p>
                <a:pPr marL="917575" lvl="1" indent="-339725">
                  <a:buFont typeface="+mj-lt"/>
                  <a:buAutoNum type="alphaLcPeriod"/>
                </a:pPr>
                <a:endParaRPr lang="en-US" sz="2400" dirty="0"/>
              </a:p>
              <a:p>
                <a:pPr marL="917575" lvl="1" indent="-339725">
                  <a:buFont typeface="+mj-lt"/>
                  <a:buAutoNum type="alphaLcPeriod"/>
                </a:pPr>
                <a:endParaRPr lang="en-US" sz="2400" dirty="0"/>
              </a:p>
              <a:p>
                <a:pPr marL="917575" lvl="1" indent="-339725">
                  <a:buFont typeface="+mj-lt"/>
                  <a:buAutoNum type="alphaLcPeriod"/>
                </a:pPr>
                <a:endParaRPr lang="en-US" sz="2400" dirty="0"/>
              </a:p>
              <a:p>
                <a:pPr marL="917575" lvl="1" indent="-339725">
                  <a:buFont typeface="+mj-lt"/>
                  <a:buAutoNum type="alphaLcPeriod"/>
                </a:pPr>
                <a:endParaRPr lang="en-US" sz="2400" dirty="0"/>
              </a:p>
              <a:p>
                <a:pPr marL="917575" lvl="1" indent="-339725">
                  <a:buFont typeface="+mj-lt"/>
                  <a:buAutoNum type="alphaLcPeriod"/>
                </a:pPr>
                <a:r>
                  <a:rPr lang="en-US" sz="2400" dirty="0"/>
                  <a:t>Explain whether it is possible to have a square with an area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8</m:t>
                    </m:r>
                  </m:oMath>
                </a14:m>
                <a:r>
                  <a:rPr lang="en-US" sz="2400" dirty="0"/>
                  <a:t> square units. </a:t>
                </a:r>
              </a:p>
            </p:txBody>
          </p:sp>
        </mc:Choice>
        <mc:Fallback xmlns="">
          <p:sp>
            <p:nvSpPr>
              <p:cNvPr id="199" name="Google Shape;199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042" y="199121"/>
                <a:ext cx="8873400" cy="6001603"/>
              </a:xfrm>
              <a:prstGeom prst="rect">
                <a:avLst/>
              </a:prstGeom>
              <a:blipFill rotWithShape="0">
                <a:blip r:embed="rId3"/>
                <a:stretch>
                  <a:fillRect l="-962" t="-711" r="-1375" b="-1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7" name="Picture 6" descr="A picture containing table&#10;&#10;Description automatically generated">
            <a:extLst>
              <a:ext uri="{FF2B5EF4-FFF2-40B4-BE49-F238E27FC236}">
                <a16:creationId xmlns:a16="http://schemas.microsoft.com/office/drawing/2014/main" id="{75AE3AF0-F343-0747-BB25-0648BA8FD2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7295" y="1871615"/>
            <a:ext cx="5405120" cy="3411220"/>
          </a:xfrm>
          <a:prstGeom prst="rect">
            <a:avLst/>
          </a:prstGeom>
        </p:spPr>
      </p:pic>
      <p:sp>
        <p:nvSpPr>
          <p:cNvPr id="8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1800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99" name="Google Shape;199;p7"/>
              <p:cNvSpPr txBox="1"/>
              <p:nvPr/>
            </p:nvSpPr>
            <p:spPr>
              <a:xfrm>
                <a:off x="1163782" y="226911"/>
                <a:ext cx="10135036" cy="28930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04813" indent="-396875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numbers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1, 4, 16, 25, 64, 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100 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all examples of perfect squares. The numbers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3, 8,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200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nonexamples of perfect squares.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7575" lvl="1" indent="-33972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it means for a number to be a perfect square. Then, write your definition of a perfect square.</a:t>
                </a:r>
              </a:p>
              <a:p>
                <a:pPr lvl="0"/>
                <a:endParaRPr lang="en-US" dirty="0"/>
              </a:p>
            </p:txBody>
          </p:sp>
        </mc:Choice>
        <mc:Fallback>
          <p:sp>
            <p:nvSpPr>
              <p:cNvPr id="199" name="Google Shape;199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782" y="226911"/>
                <a:ext cx="10135036" cy="2893059"/>
              </a:xfrm>
              <a:prstGeom prst="rect">
                <a:avLst/>
              </a:prstGeom>
              <a:blipFill>
                <a:blip r:embed="rId3"/>
                <a:stretch>
                  <a:fillRect l="-876" t="-1747" r="-5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3743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/>
          <p:nvPr/>
        </p:nvSpPr>
        <p:spPr>
          <a:xfrm>
            <a:off x="1401042" y="226911"/>
            <a:ext cx="9660516" cy="616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1" indent="-3429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two other pairs of partners the definition they wrote. Listen to their definition and write a summary. </a:t>
            </a:r>
            <a:r>
              <a:rPr lang="en-US" sz="24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column of the table.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was accurate.</a:t>
            </a:r>
          </a:p>
          <a:p>
            <a:pPr marL="342900" lvl="1" indent="-3429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1" indent="-3429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1" indent="-3429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1" indent="-3429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1" indent="-3429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1" indent="-3429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1" indent="-3429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1" indent="-3429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1" indent="-3429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Review the definitions with your partner and make any necessary adjustments to your own definition.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1"/>
            <a:endParaRPr lang="en-US" sz="1050" dirty="0"/>
          </a:p>
        </p:txBody>
      </p:sp>
      <p:sp>
        <p:nvSpPr>
          <p:cNvPr id="200" name="Google Shape;200;p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987012-D365-F54B-B9D9-DA06C9778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678109"/>
              </p:ext>
            </p:extLst>
          </p:nvPr>
        </p:nvGraphicFramePr>
        <p:xfrm>
          <a:off x="1615440" y="2448180"/>
          <a:ext cx="9231720" cy="21710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732552">
                  <a:extLst>
                    <a:ext uri="{9D8B030D-6E8A-4147-A177-3AD203B41FA5}">
                      <a16:colId xmlns:a16="http://schemas.microsoft.com/office/drawing/2014/main" val="692192566"/>
                    </a:ext>
                  </a:extLst>
                </a:gridCol>
                <a:gridCol w="1499168">
                  <a:extLst>
                    <a:ext uri="{9D8B030D-6E8A-4147-A177-3AD203B41FA5}">
                      <a16:colId xmlns:a16="http://schemas.microsoft.com/office/drawing/2014/main" val="1919499930"/>
                    </a:ext>
                  </a:extLst>
                </a:gridCol>
              </a:tblGrid>
              <a:tr h="52514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 Definition of a Perfect Square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81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900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6896"/>
                  </a:ext>
                </a:extLst>
              </a:tr>
            </a:tbl>
          </a:graphicData>
        </a:graphic>
      </p:graphicFrame>
      <p:sp>
        <p:nvSpPr>
          <p:cNvPr id="7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7808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62" name="Google Shape;262;p13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3" name="Google Shape;263;p1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/>
          <p:nvPr/>
        </p:nvSpPr>
        <p:spPr>
          <a:xfrm>
            <a:off x="1453987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2.1.4 Exploration: Square Values on the Coordinate Plane</a:t>
            </a:r>
            <a:endParaRPr/>
          </a:p>
        </p:txBody>
      </p:sp>
      <p:pic>
        <p:nvPicPr>
          <p:cNvPr id="272" name="Google Shape;272;p14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7689" y="308450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74" name="Google Shape;274;p14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8;p5">
                <a:extLst>
                  <a:ext uri="{FF2B5EF4-FFF2-40B4-BE49-F238E27FC236}">
                    <a16:creationId xmlns:a16="http://schemas.microsoft.com/office/drawing/2014/main" id="{25DA7650-34CB-1540-8195-8CF68B3AC44C}"/>
                  </a:ext>
                </a:extLst>
              </p:cNvPr>
              <p:cNvSpPr txBox="1"/>
              <p:nvPr/>
            </p:nvSpPr>
            <p:spPr>
              <a:xfrm>
                <a:off x="1449943" y="1386025"/>
                <a:ext cx="9548146" cy="18466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complete the following with your partner.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of values for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substituting the given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solving for the corresponding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-value.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9" name="Google Shape;178;p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5DA7650-34CB-1540-8195-8CF68B3AC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943" y="1386025"/>
                <a:ext cx="9548146" cy="1846619"/>
              </a:xfrm>
              <a:prstGeom prst="rect">
                <a:avLst/>
              </a:prstGeom>
              <a:blipFill rotWithShape="0">
                <a:blip r:embed="rId4"/>
                <a:stretch>
                  <a:fillRect l="-702" t="-19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 txBox="1"/>
          <p:nvPr/>
        </p:nvSpPr>
        <p:spPr>
          <a:xfrm>
            <a:off x="1246909" y="5749829"/>
            <a:ext cx="984884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Discuss with your partner why the 𝑦-values are all perfect squares. Summarize your discussion.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CE549B4-ABB1-A042-9A48-6641126AB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747191"/>
              </p:ext>
            </p:extLst>
          </p:nvPr>
        </p:nvGraphicFramePr>
        <p:xfrm>
          <a:off x="3124200" y="84836"/>
          <a:ext cx="5943600" cy="571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3600" imgH="5715000" progId="Word.Document.12">
                  <p:embed/>
                </p:oleObj>
              </mc:Choice>
              <mc:Fallback>
                <p:oleObj name="Document" r:id="rId3" imgW="5943600" imgH="57150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84836"/>
                        <a:ext cx="5943600" cy="571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/>
        </p:nvSpPr>
        <p:spPr>
          <a:xfrm>
            <a:off x="1813739" y="300602"/>
            <a:ext cx="832713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the coordinates on the grid shown.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5" name="Google Shape;29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8752" y="1119575"/>
            <a:ext cx="5494496" cy="46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05" name="Google Shape;30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6827" y="1606944"/>
            <a:ext cx="7195658" cy="470630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1FAA6F8-2AB5-AE4B-BE06-D75E01194278}"/>
                  </a:ext>
                </a:extLst>
              </p:cNvPr>
              <p:cNvSpPr/>
              <p:nvPr/>
            </p:nvSpPr>
            <p:spPr>
              <a:xfrm>
                <a:off x="1965601" y="400326"/>
                <a:ext cx="83693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does not go below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-axis. Complete the statements. A positive number multiplied by itself results in a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1FAA6F8-2AB5-AE4B-BE06-D75E011942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01" y="400325"/>
                <a:ext cx="8369300" cy="1015663"/>
              </a:xfrm>
              <a:prstGeom prst="rect">
                <a:avLst/>
              </a:prstGeom>
              <a:blipFill>
                <a:blip r:embed="rId5"/>
                <a:stretch>
                  <a:fillRect t="-3704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Google Shape;199;p7"/>
              <p:cNvSpPr txBox="1"/>
              <p:nvPr/>
            </p:nvSpPr>
            <p:spPr>
              <a:xfrm>
                <a:off x="1205345" y="226910"/>
                <a:ext cx="10051910" cy="5632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indent="-3429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Four coordinate pairs are shown. The points represented are also on the graph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3365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Locate and plot the given points on the graph.</a:t>
                </a:r>
              </a:p>
              <a:p>
                <a:pPr marL="342900" lvl="1" indent="-3429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lvl="1" indent="-3429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3365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you notice about the given coordinate pairs. Then, summarize your discussion.</a:t>
                </a:r>
              </a:p>
              <a:p>
                <a:pPr marL="342900" lvl="1" indent="-3429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lvl="1" indent="-3429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3365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Choose one of the points and show how it satisfies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9" name="Google Shape;199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345" y="226910"/>
                <a:ext cx="10051910" cy="5632271"/>
              </a:xfrm>
              <a:prstGeom prst="rect">
                <a:avLst/>
              </a:prstGeom>
              <a:blipFill rotWithShape="0">
                <a:blip r:embed="rId3"/>
                <a:stretch>
                  <a:fillRect l="-667" t="-758" r="-10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59CE9C-724D-7D40-81A7-6A1945FB6E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4538681"/>
                  </p:ext>
                </p:extLst>
              </p:nvPr>
            </p:nvGraphicFramePr>
            <p:xfrm>
              <a:off x="2468880" y="1156415"/>
              <a:ext cx="7254240" cy="111688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13008">
                      <a:extLst>
                        <a:ext uri="{9D8B030D-6E8A-4147-A177-3AD203B41FA5}">
                          <a16:colId xmlns:a16="http://schemas.microsoft.com/office/drawing/2014/main" val="1127219447"/>
                        </a:ext>
                      </a:extLst>
                    </a:gridCol>
                    <a:gridCol w="1813744">
                      <a:extLst>
                        <a:ext uri="{9D8B030D-6E8A-4147-A177-3AD203B41FA5}">
                          <a16:colId xmlns:a16="http://schemas.microsoft.com/office/drawing/2014/main" val="1731527971"/>
                        </a:ext>
                      </a:extLst>
                    </a:gridCol>
                    <a:gridCol w="1813744">
                      <a:extLst>
                        <a:ext uri="{9D8B030D-6E8A-4147-A177-3AD203B41FA5}">
                          <a16:colId xmlns:a16="http://schemas.microsoft.com/office/drawing/2014/main" val="2616314738"/>
                        </a:ext>
                      </a:extLst>
                    </a:gridCol>
                    <a:gridCol w="1813744">
                      <a:extLst>
                        <a:ext uri="{9D8B030D-6E8A-4147-A177-3AD203B41FA5}">
                          <a16:colId xmlns:a16="http://schemas.microsoft.com/office/drawing/2014/main" val="2548244713"/>
                        </a:ext>
                      </a:extLst>
                    </a:gridCol>
                  </a:tblGrid>
                  <a:tr h="11168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charset="0"/>
                                  </a:rPr>
                                  <m:t>(1.5, 2.25)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charset="0"/>
                                  </a:rPr>
                                  <m:t>(−1.5, 2.25)</m:t>
                                </m:r>
                              </m:oMath>
                            </m:oMathPara>
                          </a14:m>
                          <a:endParaRPr lang="en-US" sz="240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charset="0"/>
                                    </a:rPr>
                                    <m:t>,</m:t>
                                  </m:r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charset="0"/>
                                        </a:rPr>
                                        <m:t>25</m:t>
                                      </m:r>
                                    </m:num>
                                    <m:den>
                                      <m: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charset="0"/>
                                    </a:rPr>
                                    <m:t>, </m:t>
                                  </m:r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charset="0"/>
                                        </a:rPr>
                                        <m:t>25</m:t>
                                      </m:r>
                                    </m:num>
                                    <m:den>
                                      <m: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77869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59CE9C-724D-7D40-81A7-6A1945FB6E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4538681"/>
                  </p:ext>
                </p:extLst>
              </p:nvPr>
            </p:nvGraphicFramePr>
            <p:xfrm>
              <a:off x="944880" y="1156414"/>
              <a:ext cx="7254240" cy="111688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13008">
                      <a:extLst>
                        <a:ext uri="{9D8B030D-6E8A-4147-A177-3AD203B41FA5}">
                          <a16:colId xmlns:a16="http://schemas.microsoft.com/office/drawing/2014/main" val="1127219447"/>
                        </a:ext>
                      </a:extLst>
                    </a:gridCol>
                    <a:gridCol w="1813744">
                      <a:extLst>
                        <a:ext uri="{9D8B030D-6E8A-4147-A177-3AD203B41FA5}">
                          <a16:colId xmlns:a16="http://schemas.microsoft.com/office/drawing/2014/main" val="1731527971"/>
                        </a:ext>
                      </a:extLst>
                    </a:gridCol>
                    <a:gridCol w="1813744">
                      <a:extLst>
                        <a:ext uri="{9D8B030D-6E8A-4147-A177-3AD203B41FA5}">
                          <a16:colId xmlns:a16="http://schemas.microsoft.com/office/drawing/2014/main" val="2616314738"/>
                        </a:ext>
                      </a:extLst>
                    </a:gridCol>
                    <a:gridCol w="1813744">
                      <a:extLst>
                        <a:ext uri="{9D8B030D-6E8A-4147-A177-3AD203B41FA5}">
                          <a16:colId xmlns:a16="http://schemas.microsoft.com/office/drawing/2014/main" val="2548244713"/>
                        </a:ext>
                      </a:extLst>
                    </a:gridCol>
                  </a:tblGrid>
                  <a:tr h="11168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699" t="-1136" r="-301399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00699" t="-1136" r="-201399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00699" t="-1136" r="-101399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300699" t="-1136" r="-1399" b="-34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77869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0854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24" name="Google Shape;324;p1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5" name="Google Shape;32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/>
        </p:nvSpPr>
        <p:spPr>
          <a:xfrm>
            <a:off x="1353627" y="-632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2.1.5 Wrap-Up: Reflection</a:t>
            </a:r>
            <a:endParaRPr/>
          </a:p>
        </p:txBody>
      </p:sp>
      <p:pic>
        <p:nvPicPr>
          <p:cNvPr id="334" name="Google Shape;33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6327" y="27157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35" name="Google Shape;335;p20"/>
          <p:cNvSpPr txBox="1"/>
          <p:nvPr/>
        </p:nvSpPr>
        <p:spPr>
          <a:xfrm>
            <a:off x="1353627" y="1018878"/>
            <a:ext cx="9164982" cy="566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 point on the grid below to indicate your level of interest and understanding of today’s learning targets.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one question you have about square values after today’s lesson.</a:t>
            </a:r>
          </a:p>
          <a:p>
            <a:pPr>
              <a:buSzPts val="2200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55A477B-7957-DE46-B931-E87F806CB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801" y="-3735289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99" name="Picture 17" descr="A close up of a flower&#10;&#10;Description automatically generated">
            <a:extLst>
              <a:ext uri="{FF2B5EF4-FFF2-40B4-BE49-F238E27FC236}">
                <a16:creationId xmlns:a16="http://schemas.microsoft.com/office/drawing/2014/main" id="{F79BEC18-7C4C-B14E-B7AA-8A00E483C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02518" y="1707871"/>
            <a:ext cx="4267200" cy="381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125;g104476d1465_1_17"/>
          <p:cNvSpPr txBox="1"/>
          <p:nvPr/>
        </p:nvSpPr>
        <p:spPr>
          <a:xfrm>
            <a:off x="871405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228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1117</Words>
  <Application>Microsoft Macintosh PowerPoint</Application>
  <PresentationFormat>Widescreen</PresentationFormat>
  <Paragraphs>214</Paragraphs>
  <Slides>26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Arial Black</vt:lpstr>
      <vt:lpstr>Calibri</vt:lpstr>
      <vt:lpstr>Cambria Math</vt:lpstr>
      <vt:lpstr>Century Gothic</vt:lpstr>
      <vt:lpstr>Times New Roman</vt:lpstr>
      <vt:lpstr>Verdana</vt:lpstr>
      <vt:lpstr>1_Office Theme</vt:lpstr>
      <vt:lpstr>Document</vt:lpstr>
      <vt:lpstr>7th Grade Accelerated Math   Unit 2, Lesson 1  Square Values   Volume 1, pg. 63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7th Grade Accelerated Math   Unit 2, Lesson 1  Square Values   Volume 1, pg. 63  </dc:title>
  <dc:creator>Karen McKenzie</dc:creator>
  <cp:lastModifiedBy>Diana Barnett</cp:lastModifiedBy>
  <cp:revision>7</cp:revision>
  <dcterms:created xsi:type="dcterms:W3CDTF">2015-03-17T18:51:18Z</dcterms:created>
  <dcterms:modified xsi:type="dcterms:W3CDTF">2023-02-13T13:51:23Z</dcterms:modified>
</cp:coreProperties>
</file>