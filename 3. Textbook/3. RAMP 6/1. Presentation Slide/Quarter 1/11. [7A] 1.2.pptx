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93" r:id="rId10"/>
    <p:sldId id="277" r:id="rId11"/>
    <p:sldId id="294" r:id="rId12"/>
    <p:sldId id="278" r:id="rId13"/>
    <p:sldId id="279" r:id="rId14"/>
    <p:sldId id="280" r:id="rId15"/>
    <p:sldId id="263" r:id="rId16"/>
    <p:sldId id="264" r:id="rId17"/>
    <p:sldId id="265" r:id="rId18"/>
    <p:sldId id="295" r:id="rId19"/>
    <p:sldId id="287" r:id="rId20"/>
    <p:sldId id="288" r:id="rId21"/>
    <p:sldId id="290" r:id="rId22"/>
    <p:sldId id="29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GNqAw0ce6kMhO2MM82zLCkyA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95"/>
  </p:normalViewPr>
  <p:slideViewPr>
    <p:cSldViewPr snapToGrid="0">
      <p:cViewPr varScale="1">
        <p:scale>
          <a:sx n="79" d="100"/>
          <a:sy n="79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23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915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645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9665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5834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0855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35423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ar-AE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ar-AE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Converting Between Repeating Decimals and Fractions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12</a:t>
            </a:r>
            <a:br>
              <a:rPr lang="en-US" sz="3200" dirty="0"/>
            </a:br>
            <a:b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72133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633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596788" y="1462225"/>
            <a:ext cx="92466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MA.7.NSO.1.2</a:t>
            </a:r>
            <a:endParaRPr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rational numbers in different but equivalent forms including fractions, mixed numbers, repeating decimals, and percentages to solve mathematical and real-world problems.</a:t>
            </a:r>
            <a:endParaRPr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350" y="38594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678000" y="14331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678000" y="1596390"/>
            <a:ext cx="94238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400"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400"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652527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365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617665" y="1600200"/>
            <a:ext cx="895667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rewrite rational numbers in different but equivalent forms, including repeating decimals. </a:t>
            </a:r>
            <a:endParaRPr dirty="0"/>
          </a:p>
        </p:txBody>
      </p:sp>
      <p:sp>
        <p:nvSpPr>
          <p:cNvPr id="149" name="Google Shape;149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3094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5082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1.2.1 Warm-Up: Error Analysis </a:t>
            </a:r>
            <a:endParaRPr sz="1200"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524" y="29290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1450824" y="1386026"/>
                <a:ext cx="9546384" cy="404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Isaiah used a scientific calculator to find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calculator screen displayed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2.666666667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”. Isaiah wrote the following equation on his paper:</a:t>
                </a:r>
              </a:p>
              <a:p>
                <a:pPr marL="457200"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=2.666666667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algn="ctr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Explain why Isaiah’s equation is incorrect. 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687388" lvl="1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What advice would you give Isaiah when using a calculator to find decimal equivalents in the future?</a:t>
                </a:r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24" y="1386026"/>
                <a:ext cx="9546384" cy="4044400"/>
              </a:xfrm>
              <a:prstGeom prst="rect">
                <a:avLst/>
              </a:prstGeom>
              <a:blipFill rotWithShape="0">
                <a:blip r:embed="rId4"/>
                <a:stretch>
                  <a:fillRect l="-702" b="-16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14508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1.2.2 Guided Instruction: Rewriting Repeating Decimals as Fractions</a:t>
            </a:r>
            <a:endParaRPr sz="1100" dirty="0"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524" y="2072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Google Shape;319;p19"/>
              <p:cNvSpPr txBox="1"/>
              <p:nvPr/>
            </p:nvSpPr>
            <p:spPr>
              <a:xfrm>
                <a:off x="1105469" y="1386026"/>
                <a:ext cx="10237094" cy="2993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given a repeating decimal, equations can be used to find its equivalent value represented as a fraction.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458788" indent="-458788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Some fraction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which can be represented by the equation, 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871538" indent="-412750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complete the step shown to determine what value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19" name="Google Shape;319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69" y="1386026"/>
                <a:ext cx="10237094" cy="2993343"/>
              </a:xfrm>
              <a:prstGeom prst="rect">
                <a:avLst/>
              </a:prstGeom>
              <a:blipFill rotWithShape="0">
                <a:blip r:embed="rId4"/>
                <a:stretch>
                  <a:fillRect l="-655" t="-1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Google Shape;320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135468-5E32-4842-851D-C39B58CCF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484" y="4379369"/>
            <a:ext cx="3041347" cy="1664971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764275" y="288745"/>
                <a:ext cx="10663450" cy="6068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Determine what value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These relationships can be used to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represented as a fraction. Complete the steps shown.</a:t>
                </a:r>
              </a:p>
              <a:p>
                <a:pPr marL="350838" indent="-350838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	Rewrite the solution as a fraction in simplest form. </a:t>
                </a: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75" y="288745"/>
                <a:ext cx="10663450" cy="6068288"/>
              </a:xfrm>
              <a:prstGeom prst="rect">
                <a:avLst/>
              </a:prstGeom>
              <a:blipFill rotWithShape="0">
                <a:blip r:embed="rId3"/>
                <a:stretch>
                  <a:fillRect l="-571" t="-5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465C9C-811A-5C40-B0C6-372D4A7B6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834" y="816783"/>
            <a:ext cx="3348917" cy="1525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3AF3D-4A52-7D45-80A7-C337EA86E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7350" y="3360920"/>
            <a:ext cx="4149796" cy="2264965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837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1310185" y="288745"/>
                <a:ext cx="9571630" cy="378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Consider the repeating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08038" lvl="1" indent="-457200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complete each equation.</a:t>
                </a: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8038" lvl="1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9625" lvl="1" indent="-458788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two values, when subtracted, would result in the repeating portion of the decimal being eliminated?</a:t>
                </a: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85" y="288745"/>
                <a:ext cx="9571630" cy="3787022"/>
              </a:xfrm>
              <a:prstGeom prst="rect">
                <a:avLst/>
              </a:prstGeom>
              <a:blipFill rotWithShape="0">
                <a:blip r:embed="rId3"/>
                <a:stretch>
                  <a:fillRect l="-701" t="-804" b="-19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6D4B7-7581-6B4B-885B-F6B458C1B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0" y="1359911"/>
            <a:ext cx="2850612" cy="1876800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1555845" y="288745"/>
                <a:ext cx="9080310" cy="3786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lvl="1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Use two of the relationships represented in the equations in Part A to complete the steps to find the fraction equivalent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Rewrite the solution as a fraction in simplest form, if possible.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845" y="288745"/>
                <a:ext cx="9080310" cy="3786317"/>
              </a:xfrm>
              <a:prstGeom prst="rect">
                <a:avLst/>
              </a:prstGeom>
              <a:blipFill rotWithShape="0">
                <a:blip r:embed="rId3"/>
                <a:stretch>
                  <a:fillRect l="-537" t="-805" r="-9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CA3460-9719-7F49-ABF8-1AAA17234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950" y="1305073"/>
            <a:ext cx="4492335" cy="2123927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494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1209665" y="-4523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1.2.3 Guided Practice: Rewriting Repeating Decimals as Fractions</a:t>
            </a:r>
            <a:endParaRPr sz="1100" dirty="0"/>
          </a:p>
        </p:txBody>
      </p:sp>
      <p:pic>
        <p:nvPicPr>
          <p:cNvPr id="348" name="Google Shape;3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857" y="12078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Google Shape;349;p22"/>
              <p:cNvSpPr txBox="1"/>
              <p:nvPr/>
            </p:nvSpPr>
            <p:spPr>
              <a:xfrm>
                <a:off x="1670556" y="1386026"/>
                <a:ext cx="9106920" cy="4402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repeating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0.3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50837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7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=0.3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complete each equation.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9625" indent="-3524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Which two values, when subtracted, would result in the repeating portion of the decimal being eliminated?</a:t>
                </a:r>
              </a:p>
            </p:txBody>
          </p:sp>
        </mc:Choice>
        <mc:Fallback xmlns="">
          <p:sp>
            <p:nvSpPr>
              <p:cNvPr id="349" name="Google Shape;3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556" y="1386026"/>
                <a:ext cx="9106920" cy="4402575"/>
              </a:xfrm>
              <a:prstGeom prst="rect">
                <a:avLst/>
              </a:prstGeom>
              <a:blipFill rotWithShape="0">
                <a:blip r:embed="rId4"/>
                <a:stretch>
                  <a:fillRect l="-736" t="-830" b="-15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0" name="Google Shape;350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A038BA-8BF5-074D-AD94-F8246D4D3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000" y="2500595"/>
            <a:ext cx="2670681" cy="2351543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1132764" y="386281"/>
                <a:ext cx="9926472" cy="53259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lvl="1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Use two of the relationships represented in the equations in Part A to complete the steps to find the fraction equivalent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0.3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lvl="1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Rewrite the solution as a fraction in simplest form, if possible.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e. Write the fraction or mixed number that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14.3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764" y="386281"/>
                <a:ext cx="9926472" cy="5325905"/>
              </a:xfrm>
              <a:prstGeom prst="rect">
                <a:avLst/>
              </a:prstGeom>
              <a:blipFill rotWithShape="0">
                <a:blip r:embed="rId3"/>
                <a:stretch>
                  <a:fillRect l="-676" t="-572" b="-1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8D608-3CF5-9249-BE9E-9F8AD439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938" y="1452104"/>
            <a:ext cx="3873500" cy="2349500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291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504113" y="2915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1.2.4 Collaboration: Fractions, Decimals, and Percentages</a:t>
            </a:r>
            <a:endParaRPr sz="1100" dirty="0"/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305" y="31710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1504113" y="1386026"/>
                <a:ext cx="9439806" cy="3170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 standard deck of Uno cards,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action cards that include “Skip,” “Draw Two,” and “Reverse.”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cards in an Uno deck.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10636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What fraction of the Uno cards are action cards?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87388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Express your answer to part a as a decimal and a percentage.</a:t>
                </a: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113" y="1386026"/>
                <a:ext cx="9439806" cy="3170058"/>
              </a:xfrm>
              <a:prstGeom prst="rect">
                <a:avLst/>
              </a:prstGeom>
              <a:blipFill rotWithShape="0">
                <a:blip r:embed="rId4"/>
                <a:stretch>
                  <a:fillRect l="-711" t="-962" r="-1098" b="-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01F8F1-DD76-2344-9D05-A059967D6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2321"/>
              </p:ext>
            </p:extLst>
          </p:nvPr>
        </p:nvGraphicFramePr>
        <p:xfrm>
          <a:off x="2668588" y="5060495"/>
          <a:ext cx="6854825" cy="853440"/>
        </p:xfrm>
        <a:graphic>
          <a:graphicData uri="http://schemas.openxmlformats.org/drawingml/2006/table">
            <a:tbl>
              <a:tblPr firstRow="1" firstCol="1" bandRow="1"/>
              <a:tblGrid>
                <a:gridCol w="3584575">
                  <a:extLst>
                    <a:ext uri="{9D8B030D-6E8A-4147-A177-3AD203B41FA5}">
                      <a16:colId xmlns:a16="http://schemas.microsoft.com/office/drawing/2014/main" val="2777642252"/>
                    </a:ext>
                  </a:extLst>
                </a:gridCol>
                <a:gridCol w="3270250">
                  <a:extLst>
                    <a:ext uri="{9D8B030D-6E8A-4147-A177-3AD203B41FA5}">
                      <a16:colId xmlns:a16="http://schemas.microsoft.com/office/drawing/2014/main" val="2894901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Decimal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05087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8100" marR="0" indent="-381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-381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47095"/>
                  </a:ext>
                </a:extLst>
              </a:tr>
            </a:tbl>
          </a:graphicData>
        </a:graphic>
      </p:graphicFrame>
      <p:sp>
        <p:nvSpPr>
          <p:cNvPr id="10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141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351128" y="410666"/>
                <a:ext cx="9640410" cy="3478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809625" lvl="1" indent="-3524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Discuss with your partner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22%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would be an incorrect equivalent value and summarize your discussion in the space below.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Aliyah played a game using one standard die. There is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33.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chance of winning the game on any roll.</a:t>
                </a: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87388" indent="-336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Express the chances of winning the game as a fraction and a decimal.</a:t>
                </a: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128" y="410666"/>
                <a:ext cx="9640410" cy="3478541"/>
              </a:xfrm>
              <a:prstGeom prst="rect">
                <a:avLst/>
              </a:prstGeom>
              <a:blipFill rotWithShape="0">
                <a:blip r:embed="rId3"/>
                <a:stretch>
                  <a:fillRect l="-696" t="-876" r="-380" b="-2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DC6289-7D16-014A-A2A4-5BBC3445B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6273"/>
              </p:ext>
            </p:extLst>
          </p:nvPr>
        </p:nvGraphicFramePr>
        <p:xfrm>
          <a:off x="2668588" y="4012917"/>
          <a:ext cx="6854825" cy="1402080"/>
        </p:xfrm>
        <a:graphic>
          <a:graphicData uri="http://schemas.openxmlformats.org/drawingml/2006/table">
            <a:tbl>
              <a:tblPr firstRow="1" firstCol="1" bandRow="1"/>
              <a:tblGrid>
                <a:gridCol w="3470275">
                  <a:extLst>
                    <a:ext uri="{9D8B030D-6E8A-4147-A177-3AD203B41FA5}">
                      <a16:colId xmlns:a16="http://schemas.microsoft.com/office/drawing/2014/main" val="1038747936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3402579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Decimal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Fraction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9930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143097"/>
                  </a:ext>
                </a:extLst>
              </a:tr>
            </a:tbl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833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255594" y="410666"/>
            <a:ext cx="9831478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0838" indent="-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b. Which representation – decimal, fraction, or percentage – is the easiest way to describe the chance of a winning roll?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c. What are the possible results in the sample space when rolling a standard six-sided die?</a:t>
            </a:r>
          </a:p>
          <a:p>
            <a:pPr marL="350838" indent="-350838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d.	Discuss with your partner what you think the rules of Aliyah’s game might be. Then, complete the statement with one possibility.</a:t>
            </a:r>
          </a:p>
          <a:p>
            <a:pPr marL="350838" indent="-350838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To win the game, Aliyah must roll ______________ </a:t>
            </a:r>
          </a:p>
          <a:p>
            <a:pPr marL="350838" indent="-350838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_________________________________________</a:t>
            </a:r>
          </a:p>
          <a:p>
            <a:pPr marL="350838" indent="-350838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________________________________________.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6579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632745" y="161062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1.2.5 Your Turn!</a:t>
            </a:r>
            <a:endParaRPr sz="1100"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445" y="161062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Google Shape;439;p31"/>
              <p:cNvSpPr txBox="1"/>
              <p:nvPr/>
            </p:nvSpPr>
            <p:spPr>
              <a:xfrm>
                <a:off x="1632745" y="1188250"/>
                <a:ext cx="9077176" cy="4709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In a package of Skittles, Carmela found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21%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them were red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0.1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were green.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342900" indent="793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What fraction of the Skittles was red?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971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971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71550"/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971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indent="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What fraction of the Skittles was green?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971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9715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71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9715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687388" indent="-336550"/>
                <a:r>
                  <a:rPr lang="en-US" sz="2000" dirty="0"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c. She found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skittles are purple. What percent of the Skittles are purple?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39" name="Google Shape;4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745" y="1188250"/>
                <a:ext cx="9077176" cy="4709647"/>
              </a:xfrm>
              <a:prstGeom prst="rect">
                <a:avLst/>
              </a:prstGeom>
              <a:blipFill rotWithShape="0">
                <a:blip r:embed="rId4"/>
                <a:stretch>
                  <a:fillRect l="-739" t="-776" b="-12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Google Shape;440;p3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504113" y="-5957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1.2.6 Wrap-Up: Ticket Out the Door</a:t>
            </a:r>
            <a:endParaRPr sz="1100"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663" y="1925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296537" y="1243130"/>
            <a:ext cx="90383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Complete the table.</a:t>
            </a:r>
            <a:endParaRPr sz="1200" dirty="0"/>
          </a:p>
        </p:txBody>
      </p:sp>
      <p:sp>
        <p:nvSpPr>
          <p:cNvPr id="470" name="Google Shape;470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FE8A0B9-611D-BA40-AF92-4621932B1B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2747333"/>
                  </p:ext>
                </p:extLst>
              </p:nvPr>
            </p:nvGraphicFramePr>
            <p:xfrm>
              <a:off x="2668588" y="1932334"/>
              <a:ext cx="6854825" cy="3474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34820">
                      <a:extLst>
                        <a:ext uri="{9D8B030D-6E8A-4147-A177-3AD203B41FA5}">
                          <a16:colId xmlns:a16="http://schemas.microsoft.com/office/drawing/2014/main" val="2859485937"/>
                        </a:ext>
                      </a:extLst>
                    </a:gridCol>
                    <a:gridCol w="1734820">
                      <a:extLst>
                        <a:ext uri="{9D8B030D-6E8A-4147-A177-3AD203B41FA5}">
                          <a16:colId xmlns:a16="http://schemas.microsoft.com/office/drawing/2014/main" val="1915016322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3656617165"/>
                        </a:ext>
                      </a:extLst>
                    </a:gridCol>
                    <a:gridCol w="1649730">
                      <a:extLst>
                        <a:ext uri="{9D8B030D-6E8A-4147-A177-3AD203B41FA5}">
                          <a16:colId xmlns:a16="http://schemas.microsoft.com/office/drawing/2014/main" val="299281028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Mixed Number, if Possible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903717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63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39276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12.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12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2235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98394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9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4715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FE8A0B9-611D-BA40-AF92-4621932B1B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2747333"/>
                  </p:ext>
                </p:extLst>
              </p:nvPr>
            </p:nvGraphicFramePr>
            <p:xfrm>
              <a:off x="1144587" y="1932334"/>
              <a:ext cx="6854825" cy="3474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34820">
                      <a:extLst>
                        <a:ext uri="{9D8B030D-6E8A-4147-A177-3AD203B41FA5}">
                          <a16:colId xmlns:a16="http://schemas.microsoft.com/office/drawing/2014/main" val="2859485937"/>
                        </a:ext>
                      </a:extLst>
                    </a:gridCol>
                    <a:gridCol w="1734820">
                      <a:extLst>
                        <a:ext uri="{9D8B030D-6E8A-4147-A177-3AD203B41FA5}">
                          <a16:colId xmlns:a16="http://schemas.microsoft.com/office/drawing/2014/main" val="1915016322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3656617165"/>
                        </a:ext>
                      </a:extLst>
                    </a:gridCol>
                    <a:gridCol w="1649730">
                      <a:extLst>
                        <a:ext uri="{9D8B030D-6E8A-4147-A177-3AD203B41FA5}">
                          <a16:colId xmlns:a16="http://schemas.microsoft.com/office/drawing/2014/main" val="299281028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Mixed Number, if Possible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903717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30" t="-154902" r="-29562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39276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471" t="-260000" r="-197794" b="-2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2235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352941" r="-96350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98394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6154" t="-462000" r="-1538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4715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70682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504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1032</Words>
  <Application>Microsoft Office PowerPoint</Application>
  <PresentationFormat>Widescreen</PresentationFormat>
  <Paragraphs>217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1_Office Theme</vt:lpstr>
      <vt:lpstr> 7th Grade Accelerated Math  Unit 1, Lesson 2  Converting Between Repeating Decimals and Fractions  Volume 1, pg. 12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  Unit 1, Lesson 2  Converting Between Repeating Decimals and Fractions  Volume 1, pg. 12  </dc:title>
  <dc:creator>Karen McKenzie</dc:creator>
  <cp:lastModifiedBy>Cassie O'Connor</cp:lastModifiedBy>
  <cp:revision>4</cp:revision>
  <dcterms:created xsi:type="dcterms:W3CDTF">2015-03-17T18:51:18Z</dcterms:created>
  <dcterms:modified xsi:type="dcterms:W3CDTF">2022-06-30T03:27:13Z</dcterms:modified>
</cp:coreProperties>
</file>