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5" r:id="rId9"/>
    <p:sldId id="276" r:id="rId10"/>
    <p:sldId id="277" r:id="rId11"/>
    <p:sldId id="293" r:id="rId12"/>
    <p:sldId id="294" r:id="rId13"/>
    <p:sldId id="272" r:id="rId14"/>
    <p:sldId id="273" r:id="rId15"/>
    <p:sldId id="274" r:id="rId16"/>
    <p:sldId id="278" r:id="rId17"/>
    <p:sldId id="279" r:id="rId18"/>
    <p:sldId id="280" r:id="rId19"/>
    <p:sldId id="290" r:id="rId20"/>
    <p:sldId id="291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iGNqAw0ce6kMhO2MM82zLCkyAo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35"/>
    <p:restoredTop sz="94767"/>
  </p:normalViewPr>
  <p:slideViewPr>
    <p:cSldViewPr snapToGrid="0">
      <p:cViewPr varScale="1">
        <p:scale>
          <a:sx n="95" d="100"/>
          <a:sy n="95" d="100"/>
        </p:scale>
        <p:origin x="216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48" Type="http://customschemas.google.com/relationships/presentationmetadata" Target="metadata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25121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3272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273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61954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11812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" name="Google Shape;453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3" name="Google Shape;463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5" Type="http://schemas.openxmlformats.org/officeDocument/2006/relationships/image" Target="../media/image120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200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20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6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Two-Step Equations </a:t>
            </a:r>
            <a:r>
              <a:rPr lang="en-US" sz="36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From 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Real-World Contexts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36</a:t>
            </a:r>
            <a:endParaRPr sz="3200"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2800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640" y="1745080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48250" y="8768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750" y="32346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372050" y="1600200"/>
            <a:ext cx="94479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MA.7.AR.2.2</a:t>
            </a:r>
            <a:endParaRPr sz="3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and solve two-step equations in one variable within a mathematical context or real-world context, where all terms are rational numbers.</a:t>
            </a:r>
            <a:endParaRPr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879" y="3361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5" name="Google Shape;135;p1"/>
          <p:cNvSpPr txBox="1"/>
          <p:nvPr/>
        </p:nvSpPr>
        <p:spPr>
          <a:xfrm>
            <a:off x="1456529" y="93516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7" name="Google Shape;137;p1"/>
          <p:cNvSpPr txBox="1"/>
          <p:nvPr/>
        </p:nvSpPr>
        <p:spPr>
          <a:xfrm>
            <a:off x="1640541" y="1596390"/>
            <a:ext cx="949873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dirty="0"/>
          </a:p>
          <a:p>
            <a:pPr marL="457200"/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/>
        </p:nvSpPr>
        <p:spPr>
          <a:xfrm>
            <a:off x="1468298" y="80951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 dirty="0"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136" y="3701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1433436" y="1547093"/>
            <a:ext cx="932512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write two-step equations to represent real-world contexts.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solve two-step equations within a real-world context.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/>
        </p:nvSpPr>
        <p:spPr>
          <a:xfrm>
            <a:off x="1420417" y="-810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1.6.1 Warm-Up: Bell Work</a:t>
            </a:r>
            <a:endParaRPr dirty="0"/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117" y="25123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Google Shape;169;p4"/>
              <p:cNvSpPr txBox="1"/>
              <p:nvPr/>
            </p:nvSpPr>
            <p:spPr>
              <a:xfrm>
                <a:off x="2060448" y="1386025"/>
                <a:ext cx="8327136" cy="7078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Tremaine solved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−10=−8.5+2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checked his solution. His work and check are shown.</a:t>
                </a:r>
                <a:endParaRPr lang="en-US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9" name="Google Shape;169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48" y="1386025"/>
                <a:ext cx="8327136" cy="707846"/>
              </a:xfrm>
              <a:prstGeom prst="rect">
                <a:avLst/>
              </a:prstGeom>
              <a:blipFill>
                <a:blip r:embed="rId5"/>
                <a:stretch>
                  <a:fillRect l="-915" t="-3509" b="-140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Google Shape;170;p4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" name="Picture 2" descr="Text&#10;&#10;Description automatically generated with low confidence">
            <a:extLst>
              <a:ext uri="{FF2B5EF4-FFF2-40B4-BE49-F238E27FC236}">
                <a16:creationId xmlns:a16="http://schemas.microsoft.com/office/drawing/2014/main" xmlns="" id="{853416B8-C569-D844-A239-0AFD802B31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2619" y="2248937"/>
            <a:ext cx="6838930" cy="3124495"/>
          </a:xfrm>
          <a:prstGeom prst="rect">
            <a:avLst/>
          </a:prstGeom>
        </p:spPr>
      </p:pic>
      <p:sp>
        <p:nvSpPr>
          <p:cNvPr id="9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Google Shape;178;p5"/>
              <p:cNvSpPr txBox="1"/>
              <p:nvPr/>
            </p:nvSpPr>
            <p:spPr>
              <a:xfrm>
                <a:off x="1371600" y="520394"/>
                <a:ext cx="9599466" cy="470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Tremaine knows his solution is incorrect, but he is not sure where he went wrong.</a:t>
                </a:r>
              </a:p>
              <a:p>
                <a:pPr algn="ctr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 Explain how Tremaine knows his solution is incorrect.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Describe the error he made.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3. Find the correct solution to the equation </a:t>
                </a:r>
              </a:p>
              <a:p>
                <a:pPr marL="45720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−10=−8.5+2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Show your work.</a:t>
                </a:r>
              </a:p>
            </p:txBody>
          </p:sp>
        </mc:Choice>
        <mc:Fallback xmlns="">
          <p:sp>
            <p:nvSpPr>
              <p:cNvPr id="178" name="Google Shape;178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20394"/>
                <a:ext cx="9599466" cy="4708941"/>
              </a:xfrm>
              <a:prstGeom prst="rect">
                <a:avLst/>
              </a:prstGeom>
              <a:blipFill rotWithShape="0">
                <a:blip r:embed="rId3"/>
                <a:stretch>
                  <a:fillRect l="-698" t="-647" b="-12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9" name="Google Shape;179;p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07" name="Google Shape;307;p18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8" name="Google Shape;3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/>
        </p:nvSpPr>
        <p:spPr>
          <a:xfrm>
            <a:off x="1269274" y="20484"/>
            <a:ext cx="92698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1.6.2 Guided Instruction: Writing Two-Step Equations </a:t>
            </a:r>
            <a:r>
              <a:rPr lang="en-US" sz="28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From </a:t>
            </a: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Real-World Contexts</a:t>
            </a:r>
            <a:endParaRPr sz="1100" dirty="0"/>
          </a:p>
        </p:txBody>
      </p:sp>
      <p:pic>
        <p:nvPicPr>
          <p:cNvPr id="317" name="Google Shape;3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1974" y="14176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Google Shape;319;p19"/>
              <p:cNvSpPr txBox="1"/>
              <p:nvPr/>
            </p:nvSpPr>
            <p:spPr>
              <a:xfrm>
                <a:off x="1269274" y="1219771"/>
                <a:ext cx="9933034" cy="34778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writing equations to represent a real-world context, it is helpful to start by considering the known and unknown quantities involved in the situation.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Amanda is draining her pool for resurfacing. The pool began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12,340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gallons of water and it is draining at a rate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780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gallons per hour. How long has the pool been draining if currently there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5,125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gallons in the pool?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687388" lvl="1" indent="-344488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to describe the known and unknown quantities in this situation.</a:t>
                </a:r>
              </a:p>
            </p:txBody>
          </p:sp>
        </mc:Choice>
        <mc:Fallback xmlns="">
          <p:sp>
            <p:nvSpPr>
              <p:cNvPr id="319" name="Google Shape;319;p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274" y="1219771"/>
                <a:ext cx="9933034" cy="3477835"/>
              </a:xfrm>
              <a:prstGeom prst="rect">
                <a:avLst/>
              </a:prstGeom>
              <a:blipFill rotWithShape="0">
                <a:blip r:embed="rId4"/>
                <a:stretch>
                  <a:fillRect l="-675" t="-876" r="-245" b="-21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0" name="Google Shape;320;p1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F6C91883-1118-5341-94F5-CEF24AD04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10534"/>
              </p:ext>
            </p:extLst>
          </p:nvPr>
        </p:nvGraphicFramePr>
        <p:xfrm>
          <a:off x="2805839" y="4780611"/>
          <a:ext cx="6859905" cy="1653882"/>
        </p:xfrm>
        <a:graphic>
          <a:graphicData uri="http://schemas.openxmlformats.org/drawingml/2006/table">
            <a:tbl>
              <a:tblPr firstRow="1" firstCol="1" bandRow="1"/>
              <a:tblGrid>
                <a:gridCol w="3471545">
                  <a:extLst>
                    <a:ext uri="{9D8B030D-6E8A-4147-A177-3AD203B41FA5}">
                      <a16:colId xmlns:a16="http://schemas.microsoft.com/office/drawing/2014/main" xmlns="" val="3713841102"/>
                    </a:ext>
                  </a:extLst>
                </a:gridCol>
                <a:gridCol w="3388360">
                  <a:extLst>
                    <a:ext uri="{9D8B030D-6E8A-4147-A177-3AD203B41FA5}">
                      <a16:colId xmlns:a16="http://schemas.microsoft.com/office/drawing/2014/main" xmlns="" val="3174001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Known Quantities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Unknown Quantities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40970089"/>
                  </a:ext>
                </a:extLst>
              </a:tr>
              <a:tr h="13490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66780389"/>
                  </a:ext>
                </a:extLst>
              </a:tr>
            </a:tbl>
          </a:graphicData>
        </a:graphic>
      </p:graphicFrame>
      <p:sp>
        <p:nvSpPr>
          <p:cNvPr id="10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"/>
          <p:cNvSpPr txBox="1"/>
          <p:nvPr/>
        </p:nvSpPr>
        <p:spPr>
          <a:xfrm>
            <a:off x="1129553" y="147025"/>
            <a:ext cx="9932892" cy="6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b. With your partner, discuss how the quantities are related in this situation.</a:t>
            </a: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c.	Define the unknown quantity using a variable.</a:t>
            </a: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d.	Write an equation that could be used to find the unknown quantity using the variable you defined.</a:t>
            </a: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e.	Solve the equation.</a:t>
            </a:r>
          </a:p>
        </p:txBody>
      </p:sp>
      <p:sp>
        <p:nvSpPr>
          <p:cNvPr id="329" name="Google Shape;329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E31AD5EF-9DD0-BA47-8644-445A5162AB94}"/>
              </a:ext>
            </a:extLst>
          </p:cNvPr>
          <p:cNvGrpSpPr/>
          <p:nvPr/>
        </p:nvGrpSpPr>
        <p:grpSpPr>
          <a:xfrm>
            <a:off x="2586100" y="2034809"/>
            <a:ext cx="7019801" cy="1390016"/>
            <a:chOff x="2031300" y="3275734"/>
            <a:chExt cx="6629400" cy="139059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xmlns="" id="{75BBFEFC-5D6B-F242-8809-B474133EBCC7}"/>
                </a:ext>
              </a:extLst>
            </p:cNvPr>
            <p:cNvGrpSpPr/>
            <p:nvPr/>
          </p:nvGrpSpPr>
          <p:grpSpPr>
            <a:xfrm>
              <a:off x="2031300" y="3275734"/>
              <a:ext cx="6629400" cy="1390596"/>
              <a:chOff x="2031300" y="3275734"/>
              <a:chExt cx="6629400" cy="1390596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id="{F4C5585C-67B7-B643-A6FF-6D875D00A1C4}"/>
                  </a:ext>
                </a:extLst>
              </p:cNvPr>
              <p:cNvSpPr/>
              <p:nvPr/>
            </p:nvSpPr>
            <p:spPr>
              <a:xfrm>
                <a:off x="2031300" y="3275735"/>
                <a:ext cx="6629400" cy="1008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20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xmlns="" id="{D68EF561-B5D7-6B4D-B7C6-785A7DB7E7C5}"/>
                  </a:ext>
                </a:extLst>
              </p:cNvPr>
              <p:cNvGrpSpPr/>
              <p:nvPr/>
            </p:nvGrpSpPr>
            <p:grpSpPr>
              <a:xfrm>
                <a:off x="2031300" y="3275734"/>
                <a:ext cx="6629400" cy="1390596"/>
                <a:chOff x="2031300" y="3275734"/>
                <a:chExt cx="6629400" cy="1390596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xmlns="" id="{DA18B123-97ED-F94A-9A61-827B635015E2}"/>
                    </a:ext>
                  </a:extLst>
                </p:cNvPr>
                <p:cNvSpPr/>
                <p:nvPr/>
              </p:nvSpPr>
              <p:spPr>
                <a:xfrm>
                  <a:off x="2031300" y="3275735"/>
                  <a:ext cx="6629400" cy="10085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2000"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 </a:t>
                  </a:r>
                </a:p>
              </p:txBody>
            </p: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xmlns="" id="{EB0A0935-4EB6-B947-9C15-C930E1DBC4CC}"/>
                    </a:ext>
                  </a:extLst>
                </p:cNvPr>
                <p:cNvGrpSpPr/>
                <p:nvPr/>
              </p:nvGrpSpPr>
              <p:grpSpPr>
                <a:xfrm>
                  <a:off x="2031300" y="3275734"/>
                  <a:ext cx="6629400" cy="1390596"/>
                  <a:chOff x="2031300" y="3275734"/>
                  <a:chExt cx="6629400" cy="1390596"/>
                </a:xfrm>
              </p:grpSpPr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xmlns="" id="{EADB0A85-3A67-FD45-8BA3-558F24CBB4E3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75735"/>
                    <a:ext cx="6629400" cy="1008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200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 </a:t>
                    </a:r>
                  </a:p>
                </p:txBody>
              </p:sp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xmlns="" id="{DDCFA735-7C71-7A4D-B845-0E60A7802A06}"/>
                      </a:ext>
                    </a:extLst>
                  </p:cNvPr>
                  <p:cNvGrpSpPr/>
                  <p:nvPr/>
                </p:nvGrpSpPr>
                <p:grpSpPr>
                  <a:xfrm>
                    <a:off x="2031300" y="3275734"/>
                    <a:ext cx="6629400" cy="1390596"/>
                    <a:chOff x="2031300" y="3275734"/>
                    <a:chExt cx="6629400" cy="1390596"/>
                  </a:xfrm>
                </p:grpSpPr>
                <p:sp>
                  <p:nvSpPr>
                    <p:cNvPr id="14" name="Rectangle 13">
                      <a:extLst>
                        <a:ext uri="{FF2B5EF4-FFF2-40B4-BE49-F238E27FC236}">
                          <a16:creationId xmlns:a16="http://schemas.microsoft.com/office/drawing/2014/main" xmlns="" id="{1063DAAA-152E-0E43-8A70-AF67E5BB7D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275735"/>
                      <a:ext cx="6629400" cy="10085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200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15" name="Group 14">
                      <a:extLst>
                        <a:ext uri="{FF2B5EF4-FFF2-40B4-BE49-F238E27FC236}">
                          <a16:creationId xmlns:a16="http://schemas.microsoft.com/office/drawing/2014/main" xmlns="" id="{2EA029ED-4D3C-804A-B555-249A7B7262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31300" y="3275734"/>
                      <a:ext cx="6629400" cy="1390596"/>
                      <a:chOff x="2031300" y="3275734"/>
                      <a:chExt cx="6629400" cy="1390596"/>
                    </a:xfrm>
                  </p:grpSpPr>
                  <p:sp>
                    <p:nvSpPr>
                      <p:cNvPr id="16" name="Rectangle 15">
                        <a:extLst>
                          <a:ext uri="{FF2B5EF4-FFF2-40B4-BE49-F238E27FC236}">
                            <a16:creationId xmlns:a16="http://schemas.microsoft.com/office/drawing/2014/main" xmlns="" id="{34DB5CD2-64CE-BB43-9DCB-CD1F702597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31300" y="3275735"/>
                        <a:ext cx="6629400" cy="100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200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17" name="Group 16">
                        <a:extLst>
                          <a:ext uri="{FF2B5EF4-FFF2-40B4-BE49-F238E27FC236}">
                            <a16:creationId xmlns:a16="http://schemas.microsoft.com/office/drawing/2014/main" xmlns="" id="{1AA84296-753B-7441-BA81-851C584A53B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31300" y="3275734"/>
                        <a:ext cx="6629400" cy="1390596"/>
                        <a:chOff x="0" y="-1"/>
                        <a:chExt cx="6629400" cy="1390596"/>
                      </a:xfrm>
                    </p:grpSpPr>
                    <p:sp>
                      <p:nvSpPr>
                        <p:cNvPr id="18" name="Rectangle 17">
                          <a:extLst>
                            <a:ext uri="{FF2B5EF4-FFF2-40B4-BE49-F238E27FC236}">
                              <a16:creationId xmlns:a16="http://schemas.microsoft.com/office/drawing/2014/main" xmlns="" id="{452DD56A-28CE-5F40-881D-B9ADCB3D1A5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0"/>
                          <a:ext cx="6629400" cy="1008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19" name="Group 18">
                          <a:extLst>
                            <a:ext uri="{FF2B5EF4-FFF2-40B4-BE49-F238E27FC236}">
                              <a16:creationId xmlns:a16="http://schemas.microsoft.com/office/drawing/2014/main" xmlns="" id="{B7A7ECFC-1DF5-8947-BAE3-6FF7B045ADD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0" y="-1"/>
                          <a:ext cx="6629400" cy="1390596"/>
                          <a:chOff x="0" y="-1"/>
                          <a:chExt cx="6629400" cy="1390596"/>
                        </a:xfrm>
                      </p:grpSpPr>
                      <p:sp>
                        <p:nvSpPr>
                          <p:cNvPr id="21" name="Rectangle 20">
                            <a:extLst>
                              <a:ext uri="{FF2B5EF4-FFF2-40B4-BE49-F238E27FC236}">
                                <a16:creationId xmlns:a16="http://schemas.microsoft.com/office/drawing/2014/main" xmlns="" id="{4B3F974B-FA84-CA40-B4C2-0BB814C3C12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0" y="0"/>
                            <a:ext cx="6629400" cy="786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2000">
                                <a:latin typeface="Verdana" panose="020B0604030504040204" pitchFamily="34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a:t> </a:t>
                            </a:r>
                          </a:p>
                        </p:txBody>
                      </p:sp>
                      <p:sp>
                        <p:nvSpPr>
                          <p:cNvPr id="22" name="Rectangle 21">
                            <a:extLst>
                              <a:ext uri="{FF2B5EF4-FFF2-40B4-BE49-F238E27FC236}">
                                <a16:creationId xmlns:a16="http://schemas.microsoft.com/office/drawing/2014/main" xmlns="" id="{BD38D063-30E8-934F-8078-C269BDEFF3C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0" y="0"/>
                            <a:ext cx="6629400" cy="7863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2000">
                                <a:latin typeface="Verdana" panose="020B0604030504040204" pitchFamily="34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a:t> </a:t>
                            </a:r>
                          </a:p>
                        </p:txBody>
                      </p:sp>
                      <p:sp>
                        <p:nvSpPr>
                          <p:cNvPr id="23" name="Rounded Rectangle 22">
                            <a:extLst>
                              <a:ext uri="{FF2B5EF4-FFF2-40B4-BE49-F238E27FC236}">
                                <a16:creationId xmlns:a16="http://schemas.microsoft.com/office/drawing/2014/main" xmlns="" id="{614ED116-0E3C-CB4C-9A84-21A1BB9B74B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0" y="-1"/>
                            <a:ext cx="6629400" cy="1390596"/>
                          </a:xfrm>
                          <a:prstGeom prst="roundRect">
                            <a:avLst>
                              <a:gd name="adj" fmla="val 16667"/>
                            </a:avLst>
                          </a:prstGeom>
                          <a:solidFill>
                            <a:srgbClr val="B8E6F5"/>
                          </a:solidFill>
                          <a:ln>
                            <a:noFill/>
                          </a:ln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p:spPr>
                        <p:txBody>
                          <a:bodyPr spcFirstLastPara="1" wrap="square" lIns="91425" tIns="45700" rIns="91425" bIns="45700" anchor="ctr" anchorCtr="0">
                            <a:noAutofit/>
                          </a:bodyPr>
                          <a:lstStyle/>
                          <a:p>
                            <a:pPr marL="742950">
                              <a:spcAft>
                                <a:spcPts val="1000"/>
                              </a:spcAft>
                            </a:pPr>
                            <a:r>
                              <a:rPr lang="en-US" sz="2000" dirty="0">
                                <a:solidFill>
                                  <a:srgbClr val="00619E"/>
                                </a:solidFill>
                                <a:latin typeface="Verdana" panose="020B0604030504040204" pitchFamily="34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a:t>When writing equations to represent real-world contexts, </a:t>
                            </a:r>
                            <a:r>
                              <a:rPr lang="en-US" sz="2000" b="1" dirty="0">
                                <a:solidFill>
                                  <a:srgbClr val="00619E"/>
                                </a:solidFill>
                                <a:latin typeface="Verdana" panose="020B0604030504040204" pitchFamily="34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a:t>any variables used must be defined</a:t>
                            </a:r>
                            <a:r>
                              <a:rPr lang="en-US" sz="2000" dirty="0">
                                <a:solidFill>
                                  <a:srgbClr val="00619E"/>
                                </a:solidFill>
                                <a:latin typeface="Verdana" panose="020B0604030504040204" pitchFamily="34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a:t> to identify which quantity each variable in the equation represents. </a:t>
                            </a:r>
                            <a:endParaRPr lang="en-US" sz="20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endParaRPr>
                          </a:p>
                        </p:txBody>
                      </p:sp>
                    </p:grpSp>
                    <p:pic>
                      <p:nvPicPr>
                        <p:cNvPr id="20" name="Shape 37" descr="Icon&#10;&#10;Description automatically generated">
                          <a:extLst>
                            <a:ext uri="{FF2B5EF4-FFF2-40B4-BE49-F238E27FC236}">
                              <a16:creationId xmlns:a16="http://schemas.microsoft.com/office/drawing/2014/main" xmlns="" id="{7361AC41-45C6-BE42-B681-C18AE2509141}"/>
                            </a:ext>
                          </a:extLst>
                        </p:cNvPr>
                        <p:cNvPicPr preferRelativeResize="0"/>
                        <p:nvPr/>
                      </p:nvPicPr>
                      <p:blipFill rotWithShape="1">
                        <a:blip r:embed="rId3" cstate="screen">
                          <a:alphaModFix/>
                          <a:extLst>
                            <a:ext uri="{28A0092B-C50C-407E-A947-70E740481C1C}">
                              <a14:useLocalDpi xmlns:a14="http://schemas.microsoft.com/office/drawing/2010/main"/>
                            </a:ext>
                          </a:extLst>
                        </a:blip>
                        <a:srcRect/>
                        <a:stretch/>
                      </p:blipFill>
                      <p:spPr>
                        <a:xfrm>
                          <a:off x="183914" y="140504"/>
                          <a:ext cx="539750" cy="539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</p:pic>
                  </p:grpSp>
                </p:grpSp>
              </p:grpSp>
            </p:grpSp>
          </p:grpSp>
        </p:grpSp>
      </p:grpSp>
      <p:sp>
        <p:nvSpPr>
          <p:cNvPr id="25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Google Shape;328;p20"/>
              <p:cNvSpPr txBox="1"/>
              <p:nvPr/>
            </p:nvSpPr>
            <p:spPr>
              <a:xfrm>
                <a:off x="1116106" y="288745"/>
                <a:ext cx="9959788" cy="3785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2900" lvl="1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f. Explain what the solution means in this context.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Six friends met for a book club at a local coffee shop. Each person ordered a small cup of coffee and a muffin. The total for the order, including taxes, was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$37.56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If the cost of a small coffee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$3.79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after taxes, find the cost of one muffin after taxes.</a:t>
                </a:r>
              </a:p>
              <a:p>
                <a:pPr marL="342900" indent="-3429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87388" indent="-34448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a. Complete the table to describe the known and unknown quantities in this situation.</a:t>
                </a:r>
              </a:p>
            </p:txBody>
          </p:sp>
        </mc:Choice>
        <mc:Fallback xmlns="">
          <p:sp>
            <p:nvSpPr>
              <p:cNvPr id="328" name="Google Shape;328;p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106" y="288745"/>
                <a:ext cx="9959788" cy="3785611"/>
              </a:xfrm>
              <a:prstGeom prst="rect">
                <a:avLst/>
              </a:prstGeom>
              <a:blipFill rotWithShape="0">
                <a:blip r:embed="rId3"/>
                <a:stretch>
                  <a:fillRect l="-612" t="-805" b="-19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Google Shape;329;p20"/>
          <p:cNvSpPr/>
          <p:nvPr/>
        </p:nvSpPr>
        <p:spPr>
          <a:xfrm>
            <a:off x="-3745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7D523520-D0DF-604A-8A5B-CFE907484B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925782"/>
              </p:ext>
            </p:extLst>
          </p:nvPr>
        </p:nvGraphicFramePr>
        <p:xfrm>
          <a:off x="2666048" y="4546718"/>
          <a:ext cx="6859905" cy="1653882"/>
        </p:xfrm>
        <a:graphic>
          <a:graphicData uri="http://schemas.openxmlformats.org/drawingml/2006/table">
            <a:tbl>
              <a:tblPr firstRow="1" firstCol="1" bandRow="1"/>
              <a:tblGrid>
                <a:gridCol w="3471545">
                  <a:extLst>
                    <a:ext uri="{9D8B030D-6E8A-4147-A177-3AD203B41FA5}">
                      <a16:colId xmlns:a16="http://schemas.microsoft.com/office/drawing/2014/main" xmlns="" val="3713841102"/>
                    </a:ext>
                  </a:extLst>
                </a:gridCol>
                <a:gridCol w="3388360">
                  <a:extLst>
                    <a:ext uri="{9D8B030D-6E8A-4147-A177-3AD203B41FA5}">
                      <a16:colId xmlns:a16="http://schemas.microsoft.com/office/drawing/2014/main" xmlns="" val="3174001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Known Quantities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Unknown Quantities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40970089"/>
                  </a:ext>
                </a:extLst>
              </a:tr>
              <a:tr h="13490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66780389"/>
                  </a:ext>
                </a:extLst>
              </a:tr>
            </a:tbl>
          </a:graphicData>
        </a:graphic>
      </p:graphicFrame>
      <p:sp>
        <p:nvSpPr>
          <p:cNvPr id="8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5552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"/>
          <p:cNvSpPr txBox="1"/>
          <p:nvPr/>
        </p:nvSpPr>
        <p:spPr>
          <a:xfrm>
            <a:off x="1290918" y="288746"/>
            <a:ext cx="9610164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b. Define the unknown quantity using a variable.</a:t>
            </a: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403225" indent="-403225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c. Write an equation that could be used to find the unknown quantity using the variable defined.</a:t>
            </a: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d. Solve the equation.</a:t>
            </a: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lvl="0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e. Explain what the solution means in this context.</a:t>
            </a:r>
          </a:p>
        </p:txBody>
      </p:sp>
      <p:sp>
        <p:nvSpPr>
          <p:cNvPr id="329" name="Google Shape;329;p20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7253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77" name="Google Shape;277;p15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9" name="Google Shape;27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3171" y="2852928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1794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"/>
          <p:cNvSpPr txBox="1"/>
          <p:nvPr/>
        </p:nvSpPr>
        <p:spPr>
          <a:xfrm>
            <a:off x="1323062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1.6.3 Try It: Writing Two-Step Equations </a:t>
            </a: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-US" sz="28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rom </a:t>
            </a: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Real-World Contexts</a:t>
            </a:r>
            <a:endParaRPr sz="1100" dirty="0"/>
          </a:p>
        </p:txBody>
      </p:sp>
      <p:pic>
        <p:nvPicPr>
          <p:cNvPr id="288" name="Google Shape;288;p1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254" y="348272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Google Shape;289;p16"/>
              <p:cNvSpPr txBox="1"/>
              <p:nvPr/>
            </p:nvSpPr>
            <p:spPr>
              <a:xfrm>
                <a:off x="1452282" y="1386026"/>
                <a:ext cx="9543468" cy="3785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average toddler’s height increases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 per month. Maurice’s youngest brother James, who is a toddler,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35.45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 tall. If he grows at the average rate, how long will it take James to reach a height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inches?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114300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Define the unknown quantity using a variable.</a:t>
                </a: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87388" indent="-34448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 Write an equation that could be used to find the unknown quantity using the variable defined.</a:t>
                </a:r>
              </a:p>
            </p:txBody>
          </p:sp>
        </mc:Choice>
        <mc:Fallback xmlns="">
          <p:sp>
            <p:nvSpPr>
              <p:cNvPr id="289" name="Google Shape;289;p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282" y="1386026"/>
                <a:ext cx="9543468" cy="3785611"/>
              </a:xfrm>
              <a:prstGeom prst="rect">
                <a:avLst/>
              </a:prstGeom>
              <a:blipFill rotWithShape="0">
                <a:blip r:embed="rId4"/>
                <a:stretch>
                  <a:fillRect l="-702" t="-966" b="-19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0" name="Google Shape;290;p1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5687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"/>
          <p:cNvSpPr txBox="1"/>
          <p:nvPr/>
        </p:nvSpPr>
        <p:spPr>
          <a:xfrm>
            <a:off x="1035424" y="349706"/>
            <a:ext cx="10121152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c. Solve the equation.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d. Explain what the solution means in this context.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6120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37" name="Google Shape;337;p21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39" name="Google Shape;339;p2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 txBox="1"/>
          <p:nvPr/>
        </p:nvSpPr>
        <p:spPr>
          <a:xfrm>
            <a:off x="1419162" y="-72269"/>
            <a:ext cx="1041424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1.6.4 Guided Practice: Writing Two-Step </a:t>
            </a:r>
            <a:r>
              <a:rPr lang="en-US" sz="28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Equations </a:t>
            </a:r>
            <a:r>
              <a:rPr lang="en-US" sz="28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From </a:t>
            </a: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Real-World Contexts Involving Percentages</a:t>
            </a:r>
            <a:endParaRPr sz="1100" dirty="0"/>
          </a:p>
        </p:txBody>
      </p:sp>
      <p:pic>
        <p:nvPicPr>
          <p:cNvPr id="348" name="Google Shape;348;p22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355" y="174439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Google Shape;349;p22"/>
              <p:cNvSpPr txBox="1"/>
              <p:nvPr/>
            </p:nvSpPr>
            <p:spPr>
              <a:xfrm>
                <a:off x="1419162" y="1288489"/>
                <a:ext cx="9353676" cy="470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Victoria works as a salesperson. She earns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$350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per week, plus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commission on her weekly sales. If Victoria needs to earn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$800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this week, determine how much she needs to sell this week.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7713" indent="-404813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Define the unknown quantity using a variable.</a:t>
                </a: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7713" indent="-404813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equation that could be used to find the unknown quantity using the variable defined.</a:t>
                </a: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7713" indent="-404813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the equation.</a:t>
                </a: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7713" indent="-404813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what the solution means in this context.</a:t>
                </a:r>
              </a:p>
            </p:txBody>
          </p:sp>
        </mc:Choice>
        <mc:Fallback xmlns="">
          <p:sp>
            <p:nvSpPr>
              <p:cNvPr id="349" name="Google Shape;349;p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162" y="1288489"/>
                <a:ext cx="9353676" cy="4708941"/>
              </a:xfrm>
              <a:prstGeom prst="rect">
                <a:avLst/>
              </a:prstGeom>
              <a:blipFill rotWithShape="0">
                <a:blip r:embed="rId4"/>
                <a:stretch>
                  <a:fillRect l="-717" t="-776" b="-14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0" name="Google Shape;350;p22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" name="Google Shape;358;p23"/>
              <p:cNvSpPr txBox="1"/>
              <p:nvPr/>
            </p:nvSpPr>
            <p:spPr>
              <a:xfrm>
                <a:off x="1062318" y="209851"/>
                <a:ext cx="10067364" cy="5632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2900" indent="-3429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Maddox has a coupon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off his purchase at Foot Zone. He found a pair of shoes he wants that is marked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off. If Maddox paid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$36.20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before taxes were applied, what was the original price of the shoes?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7713" indent="-404813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Define the unknown quantity using a variable. </a:t>
                </a:r>
              </a:p>
              <a:p>
                <a:pPr marL="747713" indent="-404813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7713" indent="-404813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7713" indent="-404813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percentage of the original price of the shoes did Maddox pay?</a:t>
                </a:r>
              </a:p>
              <a:p>
                <a:pPr marL="747713" indent="-404813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7713" indent="-404813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7713" indent="-404813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equation that can be used to find the unknown quantity using the variable defined.</a:t>
                </a:r>
              </a:p>
              <a:p>
                <a:pPr marL="747713" indent="-404813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7713" indent="-404813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7713" indent="-404813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the equation.</a:t>
                </a:r>
              </a:p>
              <a:p>
                <a:pPr marL="747713" indent="-404813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7713" indent="-404813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7713" indent="-404813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what the solution means in this context.</a:t>
                </a:r>
              </a:p>
            </p:txBody>
          </p:sp>
        </mc:Choice>
        <mc:Fallback xmlns="">
          <p:sp>
            <p:nvSpPr>
              <p:cNvPr id="358" name="Google Shape;358;p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318" y="209851"/>
                <a:ext cx="10067364" cy="5632271"/>
              </a:xfrm>
              <a:prstGeom prst="rect">
                <a:avLst/>
              </a:prstGeom>
              <a:blipFill rotWithShape="0">
                <a:blip r:embed="rId3"/>
                <a:stretch>
                  <a:fillRect l="-605" t="-541" r="-847" b="-10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9" name="Google Shape;359;p23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58" name="Google Shape;458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59" name="Google Shape;45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4"/>
          <p:cNvSpPr txBox="1"/>
          <p:nvPr/>
        </p:nvSpPr>
        <p:spPr>
          <a:xfrm>
            <a:off x="1297636" y="-810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1.6.5 Wrap-Up: Error Analysis</a:t>
            </a:r>
            <a:endParaRPr sz="1100" dirty="0"/>
          </a:p>
        </p:txBody>
      </p:sp>
      <p:pic>
        <p:nvPicPr>
          <p:cNvPr id="468" name="Google Shape;468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336" y="26809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9" name="Google Shape;469;p34"/>
              <p:cNvSpPr txBox="1"/>
              <p:nvPr/>
            </p:nvSpPr>
            <p:spPr>
              <a:xfrm>
                <a:off x="1297636" y="1386025"/>
                <a:ext cx="9852760" cy="2246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Mr. Humphries told his class he has some quarters and four dimes in his pocket, worth a total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$2.40.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Devin wrote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25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+40=2.40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represent the situation.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Mr. Humphries told Devin his equation did not correctly represent the situation. Write an equation that correctly represents the situation.</a:t>
                </a:r>
              </a:p>
            </p:txBody>
          </p:sp>
        </mc:Choice>
        <mc:Fallback xmlns="">
          <p:sp>
            <p:nvSpPr>
              <p:cNvPr id="469" name="Google Shape;469;p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636" y="1386025"/>
                <a:ext cx="9852760" cy="2246729"/>
              </a:xfrm>
              <a:prstGeom prst="rect">
                <a:avLst/>
              </a:prstGeom>
              <a:blipFill rotWithShape="0">
                <a:blip r:embed="rId4"/>
                <a:stretch>
                  <a:fillRect l="-681" t="-1355" b="-37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0" name="Google Shape;470;p34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460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42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728</Words>
  <Application>Microsoft Macintosh PowerPoint</Application>
  <PresentationFormat>Widescreen</PresentationFormat>
  <Paragraphs>198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 Black</vt:lpstr>
      <vt:lpstr>Calibri</vt:lpstr>
      <vt:lpstr>Cambria</vt:lpstr>
      <vt:lpstr>Cambria Math</vt:lpstr>
      <vt:lpstr>Century Gothic</vt:lpstr>
      <vt:lpstr>Times New Roman</vt:lpstr>
      <vt:lpstr>Verdana</vt:lpstr>
      <vt:lpstr>Arial</vt:lpstr>
      <vt:lpstr>1_Office Theme</vt:lpstr>
      <vt:lpstr>7th Grade Accelerated Math  Unit 1, Lesson 6  Writing Two-Step Equations From Real-World Contexts  Volume 1, pg. 36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Guided Practice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Name  Unit 1, Lesson #  Lesson Name  Volume x, pg. #  </dc:title>
  <dc:creator>Karen McKenzie</dc:creator>
  <cp:lastModifiedBy>jslater9816@gmail.com</cp:lastModifiedBy>
  <cp:revision>7</cp:revision>
  <dcterms:created xsi:type="dcterms:W3CDTF">2015-03-17T18:51:18Z</dcterms:created>
  <dcterms:modified xsi:type="dcterms:W3CDTF">2022-07-26T21:25:17Z</dcterms:modified>
</cp:coreProperties>
</file>