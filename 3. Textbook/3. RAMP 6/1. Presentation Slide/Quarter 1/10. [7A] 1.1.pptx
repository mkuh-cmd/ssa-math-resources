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82" r:id="rId9"/>
    <p:sldId id="293" r:id="rId10"/>
    <p:sldId id="294" r:id="rId11"/>
    <p:sldId id="283" r:id="rId12"/>
    <p:sldId id="275" r:id="rId13"/>
    <p:sldId id="276" r:id="rId14"/>
    <p:sldId id="277" r:id="rId15"/>
    <p:sldId id="295" r:id="rId16"/>
    <p:sldId id="296" r:id="rId17"/>
    <p:sldId id="266" r:id="rId18"/>
    <p:sldId id="267" r:id="rId19"/>
    <p:sldId id="268" r:id="rId20"/>
    <p:sldId id="297" r:id="rId21"/>
    <p:sldId id="299" r:id="rId22"/>
    <p:sldId id="298" r:id="rId23"/>
    <p:sldId id="284" r:id="rId24"/>
    <p:sldId id="285" r:id="rId25"/>
    <p:sldId id="286" r:id="rId26"/>
    <p:sldId id="290" r:id="rId27"/>
    <p:sldId id="29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GNqAw0ce6kMhO2MM82zLCkyA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95"/>
  </p:normalViewPr>
  <p:slideViewPr>
    <p:cSldViewPr snapToGrid="0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584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3384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1442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2975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3556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9191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418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973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6098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014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549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0467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5893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42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3270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9308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Rewriting Numbers in Equivalent Forms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8250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750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574800" y="1600200"/>
            <a:ext cx="90424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MA.7.NSO.1.2</a:t>
            </a:r>
            <a:endParaRPr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rational numbers in different but equivalent forms including fractions, mixed numbers, repeating decimals, and percentages to solve mathematical and real-world problems.</a:t>
            </a:r>
            <a:endParaRPr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050" y="23203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76700" y="-1059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399350" y="1596390"/>
            <a:ext cx="99811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400" dirty="0"/>
          </a:p>
          <a:p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4884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30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488469" y="1600200"/>
            <a:ext cx="921506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rewrite rational numbers in different but equivalent forms, including repeating decimals.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explore patterns in fractions whose decimal equivalent is repeating.</a:t>
            </a:r>
          </a:p>
        </p:txBody>
      </p:sp>
      <p:sp>
        <p:nvSpPr>
          <p:cNvPr id="149" name="Google Shape;149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40588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1.1.1 Warm-Up: Day in the Life of a Mushroom Farmer </a:t>
            </a:r>
            <a:endParaRPr sz="1100"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288" y="1974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1440588" y="1386026"/>
            <a:ext cx="956685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6075" indent="-34607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Alejandro, a mushroom-kit entrepreneur, says that when it comes to growing his business, “The most important thing is … adapting opportunities that come to you and still holding the same amount of passion.”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607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a. What is something you are passionate about?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607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b. How has a new interest or hobby surprised you?</a:t>
            </a:r>
          </a:p>
          <a:p>
            <a:pPr lvl="0"/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7" name="Google Shape;367;p24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9" name="Google Shape;369;p2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2434" y="279196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267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/>
        </p:nvSpPr>
        <p:spPr>
          <a:xfrm>
            <a:off x="1527535" y="728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1.1.2 Refresher: Rewriting Rational Numbers in Different Equivalent Forms</a:t>
            </a:r>
            <a:endParaRPr sz="1100" dirty="0"/>
          </a:p>
        </p:txBody>
      </p:sp>
      <p:pic>
        <p:nvPicPr>
          <p:cNvPr id="378" name="Google Shape;378;p25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906" y="22208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Google Shape;379;p25"/>
              <p:cNvSpPr txBox="1"/>
              <p:nvPr/>
            </p:nvSpPr>
            <p:spPr>
              <a:xfrm>
                <a:off x="1527535" y="1229088"/>
                <a:ext cx="9482316" cy="4663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Rational numbers can be expressed as fractions, decimals, or percentages. Probabilities can be expressed using these forms as well.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Andrés and Jolie are discussing how to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decimal.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Andrés says he can use long division to divide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get the decimal.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Jolie says she can write an equivalent fraction with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multiplying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writing the number of hundredths as a decimal.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693738" indent="-3476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Explain whether one, both, or neither of these strategies would work.</a:t>
                </a:r>
              </a:p>
            </p:txBody>
          </p:sp>
        </mc:Choice>
        <mc:Fallback xmlns="">
          <p:sp>
            <p:nvSpPr>
              <p:cNvPr id="379" name="Google Shape;379;p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535" y="1229088"/>
                <a:ext cx="9482316" cy="4663737"/>
              </a:xfrm>
              <a:prstGeom prst="rect">
                <a:avLst/>
              </a:prstGeom>
              <a:blipFill rotWithShape="0">
                <a:blip r:embed="rId4"/>
                <a:stretch>
                  <a:fillRect l="-707" t="-784" b="-14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Google Shape;380;p2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349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88" name="Google Shape;388;p26"/>
              <p:cNvSpPr txBox="1"/>
              <p:nvPr/>
            </p:nvSpPr>
            <p:spPr>
              <a:xfrm>
                <a:off x="1003300" y="422857"/>
                <a:ext cx="10185400" cy="4632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803275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17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its equivalent decimal form. Show your work.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Complete the statement.</a:t>
                </a:r>
              </a:p>
              <a:p>
                <a:pPr marL="346075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percentage is a ratio expressed as a fraction with a denominator of ______.</a:t>
                </a:r>
              </a:p>
            </p:txBody>
          </p:sp>
        </mc:Choice>
        <mc:Fallback xmlns="">
          <p:sp>
            <p:nvSpPr>
              <p:cNvPr id="388" name="Google Shape;38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422857"/>
                <a:ext cx="10185400" cy="4632510"/>
              </a:xfrm>
              <a:prstGeom prst="rect">
                <a:avLst/>
              </a:prstGeom>
              <a:blipFill rotWithShape="0">
                <a:blip r:embed="rId3"/>
                <a:stretch>
                  <a:fillRect l="-6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" name="Google Shape;389;p26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673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/>
          <p:nvPr/>
        </p:nvSpPr>
        <p:spPr>
          <a:xfrm>
            <a:off x="673100" y="147290"/>
            <a:ext cx="108458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6075" indent="-3460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There are many strategies that can be used to rewrite rational numbers in different forms. Some of them are included below.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693738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a. Work with your partner to match each phrase in the column on the left with a strategy in the column on the right. Draw arrows to make each match. </a:t>
            </a:r>
          </a:p>
        </p:txBody>
      </p:sp>
      <p:sp>
        <p:nvSpPr>
          <p:cNvPr id="389" name="Google Shape;389;p26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C7352E9-3F89-D848-85F3-F0C14CC05D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23798" y="1971307"/>
              <a:ext cx="7744404" cy="45809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89546">
                      <a:extLst>
                        <a:ext uri="{9D8B030D-6E8A-4147-A177-3AD203B41FA5}">
                          <a16:colId xmlns:a16="http://schemas.microsoft.com/office/drawing/2014/main" val="3528350796"/>
                        </a:ext>
                      </a:extLst>
                    </a:gridCol>
                    <a:gridCol w="154265">
                      <a:extLst>
                        <a:ext uri="{9D8B030D-6E8A-4147-A177-3AD203B41FA5}">
                          <a16:colId xmlns:a16="http://schemas.microsoft.com/office/drawing/2014/main" val="3762223736"/>
                        </a:ext>
                      </a:extLst>
                    </a:gridCol>
                    <a:gridCol w="4000593">
                      <a:extLst>
                        <a:ext uri="{9D8B030D-6E8A-4147-A177-3AD203B41FA5}">
                          <a16:colId xmlns:a16="http://schemas.microsoft.com/office/drawing/2014/main" val="4064789872"/>
                        </a:ext>
                      </a:extLst>
                    </a:gridCol>
                  </a:tblGrid>
                  <a:tr h="6440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Rewriting Numbers in Different Forms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Strategy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6305328"/>
                      </a:ext>
                    </a:extLst>
                  </a:tr>
                  <a:tr h="728315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fraction as a decimal, ...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find an equivalent fraction with a denominator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187525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decimal as a fraction, ...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express it as a fraction out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simplify, if necessary.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6787886"/>
                      </a:ext>
                    </a:extLst>
                  </a:tr>
                  <a:tr h="664028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fraction as a percentage, ...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divide the numerator by the denominator.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3965717"/>
                      </a:ext>
                    </a:extLst>
                  </a:tr>
                  <a:tr h="66402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percentage as a fraction, ... 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multiply or divide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6264839"/>
                      </a:ext>
                    </a:extLst>
                  </a:tr>
                  <a:tr h="966096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convert between decimals and percentages, ...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use the place value of the digits to express the decimal as a fraction.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5874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C7352E9-3F89-D848-85F3-F0C14CC05D0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9798" y="1971307"/>
              <a:ext cx="7744404" cy="45809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89546">
                      <a:extLst>
                        <a:ext uri="{9D8B030D-6E8A-4147-A177-3AD203B41FA5}">
                          <a16:colId xmlns:a16="http://schemas.microsoft.com/office/drawing/2014/main" val="3528350796"/>
                        </a:ext>
                      </a:extLst>
                    </a:gridCol>
                    <a:gridCol w="154265">
                      <a:extLst>
                        <a:ext uri="{9D8B030D-6E8A-4147-A177-3AD203B41FA5}">
                          <a16:colId xmlns:a16="http://schemas.microsoft.com/office/drawing/2014/main" val="3762223736"/>
                        </a:ext>
                      </a:extLst>
                    </a:gridCol>
                    <a:gridCol w="4000593">
                      <a:extLst>
                        <a:ext uri="{9D8B030D-6E8A-4147-A177-3AD203B41FA5}">
                          <a16:colId xmlns:a16="http://schemas.microsoft.com/office/drawing/2014/main" val="4064789872"/>
                        </a:ext>
                      </a:extLst>
                    </a:gridCol>
                  </a:tblGrid>
                  <a:tr h="6440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Rewriting Numbers in Different Forms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Strategy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6305328"/>
                      </a:ext>
                    </a:extLst>
                  </a:tr>
                  <a:tr h="728315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fraction as a decimal, ...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968" t="-98246" r="-635" b="-46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187525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decimal as a fraction, ...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968" t="-156944" r="-635" b="-2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6787886"/>
                      </a:ext>
                    </a:extLst>
                  </a:tr>
                  <a:tr h="664028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fraction as a percentage, ...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divide the numerator by the denominator.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3965717"/>
                      </a:ext>
                    </a:extLst>
                  </a:tr>
                  <a:tr h="66402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rewrite a percentage as a fraction, ... 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968" t="-457692" r="-635" b="-16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264839"/>
                      </a:ext>
                    </a:extLst>
                  </a:tr>
                  <a:tr h="966096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convert between decimals and percentages, ...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4445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... use the place value of the digits to express the decimal as a fraction.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55648" marR="55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5874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6681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/>
          <p:nvPr/>
        </p:nvSpPr>
        <p:spPr>
          <a:xfrm>
            <a:off x="1143000" y="564372"/>
            <a:ext cx="99060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6075" lvl="1" indent="-3460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 Choose one phrase from the list on the left and complete it using a different strategy than what you matched it with above. Your strategy can be different from those listed above.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497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802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1605450" y="-156004"/>
            <a:ext cx="102690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1.1.3 Guided Instruction: Repeating Decimals</a:t>
            </a:r>
            <a:endParaRPr sz="1100" dirty="0"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150" y="1147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Google Shape;319;p19"/>
              <p:cNvSpPr txBox="1"/>
              <p:nvPr/>
            </p:nvSpPr>
            <p:spPr>
              <a:xfrm>
                <a:off x="858150" y="2580657"/>
                <a:ext cx="10626366" cy="3287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Aft>
                    <a:spcPts val="100"/>
                  </a:spcAft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Rational numbers can be written as a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as a decimal. In decimal form, rational numbers either terminate or repeat. </a:t>
                </a:r>
              </a:p>
              <a:p>
                <a:pPr>
                  <a:tabLst>
                    <a:tab pos="5905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Consider the fractions in the table shown. 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1688" indent="-3444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Rewrite each fraction in its equivalent decimal form. Then, indicate whether each decimal is a terminating or repeating decimal. If a decimal repeats digits in a pattern, use an ellipse (...) to indicate that the pattern continues.</a:t>
                </a:r>
              </a:p>
            </p:txBody>
          </p:sp>
        </mc:Choice>
        <mc:Fallback xmlns="">
          <p:sp>
            <p:nvSpPr>
              <p:cNvPr id="319" name="Google Shape;319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50" y="2580657"/>
                <a:ext cx="10626366" cy="3287013"/>
              </a:xfrm>
              <a:prstGeom prst="rect">
                <a:avLst/>
              </a:prstGeom>
              <a:blipFill rotWithShape="0">
                <a:blip r:embed="rId4"/>
                <a:stretch>
                  <a:fillRect l="-631" b="-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Google Shape;320;p19"/>
          <p:cNvSpPr/>
          <p:nvPr/>
        </p:nvSpPr>
        <p:spPr>
          <a:xfrm>
            <a:off x="0" y="-24573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92C36-33C7-9740-BE8E-3EA8C2135D7D}"/>
              </a:ext>
            </a:extLst>
          </p:cNvPr>
          <p:cNvGrpSpPr/>
          <p:nvPr/>
        </p:nvGrpSpPr>
        <p:grpSpPr>
          <a:xfrm>
            <a:off x="2479836" y="1239723"/>
            <a:ext cx="7039617" cy="1064709"/>
            <a:chOff x="2031300" y="3331641"/>
            <a:chExt cx="7040056" cy="9911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77AA82F-AC8C-1341-9E0A-0C9F3676E80A}"/>
                </a:ext>
              </a:extLst>
            </p:cNvPr>
            <p:cNvGrpSpPr/>
            <p:nvPr/>
          </p:nvGrpSpPr>
          <p:grpSpPr>
            <a:xfrm>
              <a:off x="2031300" y="3331641"/>
              <a:ext cx="7040056" cy="991147"/>
              <a:chOff x="0" y="-41959"/>
              <a:chExt cx="7040056" cy="99114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DF04B9-5E18-5641-852C-08BBBC45F132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0A71C8C7-DA81-8E4A-B196-0DA24DB3BBD6}"/>
                  </a:ext>
                </a:extLst>
              </p:cNvPr>
              <p:cNvSpPr/>
              <p:nvPr/>
            </p:nvSpPr>
            <p:spPr>
              <a:xfrm>
                <a:off x="192725" y="-41959"/>
                <a:ext cx="6847331" cy="991147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74295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rational number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real number that can be expressed as a ratio of two integers.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pic>
            <p:nvPicPr>
              <p:cNvPr id="13" name="Shape 7" descr="Icon&#10;&#10;Description automatically generated">
                <a:extLst>
                  <a:ext uri="{FF2B5EF4-FFF2-40B4-BE49-F238E27FC236}">
                    <a16:creationId xmlns:a16="http://schemas.microsoft.com/office/drawing/2014/main" id="{D2CEEF5C-4F70-1642-88FE-4798624E727C}"/>
                  </a:ext>
                </a:extLst>
              </p:cNvPr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33506" y="141560"/>
                <a:ext cx="539750" cy="49295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15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477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1104900" y="5371608"/>
                <a:ext cx="10132866" cy="707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801688" lvl="1" indent="-3444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Circle the fractions in the table that are greater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rewrite each as a mixed number.</a:t>
                </a: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5371608"/>
                <a:ext cx="10132866" cy="707846"/>
              </a:xfrm>
              <a:prstGeom prst="rect">
                <a:avLst/>
              </a:prstGeom>
              <a:blipFill rotWithShape="0">
                <a:blip r:embed="rId3"/>
                <a:stretch>
                  <a:fillRect t="-4310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BEE07E9-41C3-F44B-9564-B724EC1285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47788" y="571073"/>
              <a:ext cx="7505189" cy="44947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71347">
                      <a:extLst>
                        <a:ext uri="{9D8B030D-6E8A-4147-A177-3AD203B41FA5}">
                          <a16:colId xmlns:a16="http://schemas.microsoft.com/office/drawing/2014/main" val="3059000487"/>
                        </a:ext>
                      </a:extLst>
                    </a:gridCol>
                    <a:gridCol w="2751412">
                      <a:extLst>
                        <a:ext uri="{9D8B030D-6E8A-4147-A177-3AD203B41FA5}">
                          <a16:colId xmlns:a16="http://schemas.microsoft.com/office/drawing/2014/main" val="2358368591"/>
                        </a:ext>
                      </a:extLst>
                    </a:gridCol>
                    <a:gridCol w="2282430">
                      <a:extLst>
                        <a:ext uri="{9D8B030D-6E8A-4147-A177-3AD203B41FA5}">
                          <a16:colId xmlns:a16="http://schemas.microsoft.com/office/drawing/2014/main" val="647167454"/>
                        </a:ext>
                      </a:extLst>
                    </a:gridCol>
                  </a:tblGrid>
                  <a:tr h="466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 Form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Form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 or Repeating?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6869202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6655212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1457945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8324109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7921511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0194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BEE07E9-41C3-F44B-9564-B724EC1285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23787" y="571072"/>
              <a:ext cx="7505189" cy="44947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471347">
                      <a:extLst>
                        <a:ext uri="{9D8B030D-6E8A-4147-A177-3AD203B41FA5}">
                          <a16:colId xmlns:a16="http://schemas.microsoft.com/office/drawing/2014/main" val="3059000487"/>
                        </a:ext>
                      </a:extLst>
                    </a:gridCol>
                    <a:gridCol w="2751412">
                      <a:extLst>
                        <a:ext uri="{9D8B030D-6E8A-4147-A177-3AD203B41FA5}">
                          <a16:colId xmlns:a16="http://schemas.microsoft.com/office/drawing/2014/main" val="2358368591"/>
                        </a:ext>
                      </a:extLst>
                    </a:gridCol>
                    <a:gridCol w="2282430">
                      <a:extLst>
                        <a:ext uri="{9D8B030D-6E8A-4147-A177-3AD203B41FA5}">
                          <a16:colId xmlns:a16="http://schemas.microsoft.com/office/drawing/2014/main" val="647167454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 Form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Form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 or Repeating?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6869202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3" t="-87097" r="-204103" b="-4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6655212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3" t="-190164" r="-204103" b="-3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1457945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3" t="-290164" r="-204103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8324109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3" t="-383871" r="-204103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7921511"/>
                      </a:ext>
                    </a:extLst>
                  </a:tr>
                  <a:tr h="777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3" t="-491803" r="-204103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terminating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repeating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277" marR="5827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0194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48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/>
          <p:nvPr/>
        </p:nvSpPr>
        <p:spPr>
          <a:xfrm>
            <a:off x="1003300" y="288745"/>
            <a:ext cx="101854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93738" lvl="1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 Based on your work in Part A, explain whether it is possible for a repeating decimal to ever terminate.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93738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d. Discuss with your partner any patterns you notice about the denominators of fractions whose decimal equivalent is repeating.</a:t>
            </a:r>
          </a:p>
        </p:txBody>
      </p:sp>
      <p:sp>
        <p:nvSpPr>
          <p:cNvPr id="329" name="Google Shape;329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3BC5723-BA31-2D41-A72D-3E6310DF0D3A}"/>
              </a:ext>
            </a:extLst>
          </p:cNvPr>
          <p:cNvGrpSpPr/>
          <p:nvPr/>
        </p:nvGrpSpPr>
        <p:grpSpPr>
          <a:xfrm>
            <a:off x="3005269" y="5094514"/>
            <a:ext cx="6629400" cy="1106087"/>
            <a:chOff x="0" y="-87548"/>
            <a:chExt cx="6629400" cy="11061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E84E298-8BBD-6E47-B9E3-BE5B366E67BE}"/>
                </a:ext>
              </a:extLst>
            </p:cNvPr>
            <p:cNvGrpSpPr/>
            <p:nvPr/>
          </p:nvGrpSpPr>
          <p:grpSpPr>
            <a:xfrm>
              <a:off x="0" y="-87548"/>
              <a:ext cx="6629400" cy="1106121"/>
              <a:chOff x="0" y="-87606"/>
              <a:chExt cx="6629400" cy="110685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2D87EC-A05C-8E4B-AC61-8B2A7BA21D95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B9107751-9FFD-674E-A8D1-9E5671453AB9}"/>
                  </a:ext>
                </a:extLst>
              </p:cNvPr>
              <p:cNvSpPr/>
              <p:nvPr/>
            </p:nvSpPr>
            <p:spPr>
              <a:xfrm>
                <a:off x="0" y="-87606"/>
                <a:ext cx="6629400" cy="1106856"/>
              </a:xfrm>
              <a:prstGeom prst="roundRect">
                <a:avLst>
                  <a:gd name="adj" fmla="val 16667"/>
                </a:avLst>
              </a:prstGeom>
              <a:solidFill>
                <a:srgbClr val="B8E6F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742950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with a decimal that never ends but has a pattern that repeats infinitely is called a </a:t>
                </a:r>
                <a:r>
                  <a:rPr lang="en-US" sz="2000" b="1" dirty="0">
                    <a:solidFill>
                      <a:srgbClr val="00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repeating decimal.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p:grp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505D654B-5CF2-DC49-BD01-94C1D5F73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5385" y="123050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6135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838200" y="288745"/>
                <a:ext cx="10515600" cy="2643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tabLst>
                    <a:tab pos="5905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Repeating decimals are written with a bar over the digits that repeat. For example,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expressed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2.1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when written as a decimal because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digit that repeats infinitely.</a:t>
                </a:r>
              </a:p>
              <a:p>
                <a:pPr>
                  <a:tabLst>
                    <a:tab pos="5905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Isabel divided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rewrite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99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decimal form. She found the resulting pattern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0.858585…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99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its equivalent decimal form.</a:t>
                </a: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8745"/>
                <a:ext cx="10515600" cy="2643247"/>
              </a:xfrm>
              <a:prstGeom prst="rect">
                <a:avLst/>
              </a:prstGeom>
              <a:blipFill rotWithShape="0">
                <a:blip r:embed="rId3"/>
                <a:stretch>
                  <a:fillRect l="-638" t="-1152" r="-174" b="-2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292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9" name="Google Shape;219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3639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/>
        </p:nvSpPr>
        <p:spPr>
          <a:xfrm>
            <a:off x="1643550" y="5340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1.1.4 Exploration: Patterns in Repeating Decimals</a:t>
            </a:r>
            <a:endParaRPr sz="1100" dirty="0"/>
          </a:p>
        </p:txBody>
      </p:sp>
      <p:pic>
        <p:nvPicPr>
          <p:cNvPr id="228" name="Google Shape;228;p1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7252" y="301527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29" name="Google Shape;229;p10"/>
          <p:cNvSpPr txBox="1"/>
          <p:nvPr/>
        </p:nvSpPr>
        <p:spPr>
          <a:xfrm>
            <a:off x="1485900" y="1386026"/>
            <a:ext cx="9476232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Work with your partner to complete the following.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693738" indent="-3476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a. Use a scientific calculator to find the decimal equivalent of each fraction. </a:t>
            </a:r>
          </a:p>
        </p:txBody>
      </p:sp>
      <p:sp>
        <p:nvSpPr>
          <p:cNvPr id="230" name="Google Shape;230;p1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FC8A5B-CF35-6D45-A890-9F1A3A9903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52850" y="2800469"/>
              <a:ext cx="4686300" cy="3596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28750">
                      <a:extLst>
                        <a:ext uri="{9D8B030D-6E8A-4147-A177-3AD203B41FA5}">
                          <a16:colId xmlns:a16="http://schemas.microsoft.com/office/drawing/2014/main" val="4034703041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val="36721722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794556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282993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14101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01708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5110545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211089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61737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FC8A5B-CF35-6D45-A890-9F1A3A9903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28850" y="2800469"/>
              <a:ext cx="4686300" cy="3596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28750">
                      <a:extLst>
                        <a:ext uri="{9D8B030D-6E8A-4147-A177-3AD203B41FA5}">
                          <a16:colId xmlns:a16="http://schemas.microsoft.com/office/drawing/2014/main" val="4034703041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val="367217221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794556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69767" r="-228319" b="-5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282993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165909" r="-228319" b="-3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14101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272093" r="-228319" b="-3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01708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372093" r="-228319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5110545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461364" r="-22831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211089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574419" r="-228319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617370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010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965200" y="374090"/>
                <a:ext cx="10412266" cy="5940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Describe the relationship observed between fractions with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their decimal equivalents.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Without performing any calculations, predict the decimal equivalent for each fraction in the table.</a:t>
                </a: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d. Verify your predictions using your calculator.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346075" indent="-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374090"/>
                <a:ext cx="10412266" cy="5940047"/>
              </a:xfrm>
              <a:prstGeom prst="rect">
                <a:avLst/>
              </a:prstGeom>
              <a:blipFill rotWithShape="0">
                <a:blip r:embed="rId3"/>
                <a:stretch>
                  <a:fillRect l="-585" t="-513" r="-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414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0B8ACC5-FB26-024D-9071-95E84CD0FF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52850" y="3041174"/>
              <a:ext cx="4686300" cy="1950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28750">
                      <a:extLst>
                        <a:ext uri="{9D8B030D-6E8A-4147-A177-3AD203B41FA5}">
                          <a16:colId xmlns:a16="http://schemas.microsoft.com/office/drawing/2014/main" val="3018407904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val="26754176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496126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12118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0182662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Verdana" panose="020B0604030504040204" pitchFamily="34" charset="0"/>
                                </a:rPr>
                                <m:t>17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55693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0B8ACC5-FB26-024D-9071-95E84CD0FF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28850" y="3041174"/>
              <a:ext cx="4686300" cy="19507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28750">
                      <a:extLst>
                        <a:ext uri="{9D8B030D-6E8A-4147-A177-3AD203B41FA5}">
                          <a16:colId xmlns:a16="http://schemas.microsoft.com/office/drawing/2014/main" val="3018407904"/>
                        </a:ext>
                      </a:extLst>
                    </a:gridCol>
                    <a:gridCol w="3257550">
                      <a:extLst>
                        <a:ext uri="{9D8B030D-6E8A-4147-A177-3AD203B41FA5}">
                          <a16:colId xmlns:a16="http://schemas.microsoft.com/office/drawing/2014/main" val="26754176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496126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68182" r="-2283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12118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172093" r="-228319" b="-1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0182662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265909" r="-22831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55693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9343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1257300" y="374090"/>
                <a:ext cx="9828066" cy="4222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values in the previous question could be used to determine the decimal equivalents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a. Complete the equations.</a:t>
                </a:r>
              </a:p>
              <a:p>
                <a:pPr marL="803275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b. Complete the table.</a:t>
                </a:r>
              </a:p>
              <a:p>
                <a:pPr marL="803275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60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374090"/>
                <a:ext cx="9828066" cy="4222462"/>
              </a:xfrm>
              <a:prstGeom prst="rect">
                <a:avLst/>
              </a:prstGeom>
              <a:blipFill rotWithShape="0">
                <a:blip r:embed="rId3"/>
                <a:stretch>
                  <a:fillRect l="-682" t="-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-858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715227CD-844E-D548-ACDA-208FB8113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412" y="2067063"/>
            <a:ext cx="1631843" cy="1958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73CBD0A-4F4F-CA49-8332-CB585DE4DF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00301" y="4375673"/>
              <a:ext cx="4542064" cy="22821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84776">
                      <a:extLst>
                        <a:ext uri="{9D8B030D-6E8A-4147-A177-3AD203B41FA5}">
                          <a16:colId xmlns:a16="http://schemas.microsoft.com/office/drawing/2014/main" val="2319793037"/>
                        </a:ext>
                      </a:extLst>
                    </a:gridCol>
                    <a:gridCol w="3157288">
                      <a:extLst>
                        <a:ext uri="{9D8B030D-6E8A-4147-A177-3AD203B41FA5}">
                          <a16:colId xmlns:a16="http://schemas.microsoft.com/office/drawing/2014/main" val="507972288"/>
                        </a:ext>
                      </a:extLst>
                    </a:gridCol>
                  </a:tblGrid>
                  <a:tr h="3323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7041556"/>
                      </a:ext>
                    </a:extLst>
                  </a:tr>
                  <a:tr h="5848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13987"/>
                      </a:ext>
                    </a:extLst>
                  </a:tr>
                  <a:tr h="66465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7151918"/>
                      </a:ext>
                    </a:extLst>
                  </a:tr>
                  <a:tr h="70026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Verdana" panose="020B0604030504040204" pitchFamily="34" charset="0"/>
                                </a:rPr>
                                <m:t>=      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        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6142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573CBD0A-4F4F-CA49-8332-CB585DE4DF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6301" y="4375673"/>
              <a:ext cx="4542064" cy="22821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84776">
                      <a:extLst>
                        <a:ext uri="{9D8B030D-6E8A-4147-A177-3AD203B41FA5}">
                          <a16:colId xmlns:a16="http://schemas.microsoft.com/office/drawing/2014/main" val="2319793037"/>
                        </a:ext>
                      </a:extLst>
                    </a:gridCol>
                    <a:gridCol w="3157288">
                      <a:extLst>
                        <a:ext uri="{9D8B030D-6E8A-4147-A177-3AD203B41FA5}">
                          <a16:colId xmlns:a16="http://schemas.microsoft.com/office/drawing/2014/main" val="507972288"/>
                        </a:ext>
                      </a:extLst>
                    </a:gridCol>
                  </a:tblGrid>
                  <a:tr h="3323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7041556"/>
                      </a:ext>
                    </a:extLst>
                  </a:tr>
                  <a:tr h="5848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17" t="-68085" r="-229358" b="-231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13987"/>
                      </a:ext>
                    </a:extLst>
                  </a:tr>
                  <a:tr h="6646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17" t="-151923" r="-229358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7151918"/>
                      </a:ext>
                    </a:extLst>
                  </a:tr>
                  <a:tr h="7002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17" t="-233929" r="-229358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61426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9846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1422400" y="374090"/>
                <a:ext cx="9497866" cy="5146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3. Three number lines are shown.</a:t>
                </a: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693738" indent="-3476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Explain what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 is using the number lines.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lvl="0"/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 </a:t>
                </a:r>
              </a:p>
              <a:p>
                <a:pPr lvl="0"/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00" y="374090"/>
                <a:ext cx="9497866" cy="5146112"/>
              </a:xfrm>
              <a:prstGeom prst="rect">
                <a:avLst/>
              </a:prstGeom>
              <a:blipFill rotWithShape="0">
                <a:blip r:embed="rId3"/>
                <a:stretch>
                  <a:fillRect l="-642" t="-592" r="-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F4EDD4EC-B02F-9943-B118-F787FA87D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062" y="1030022"/>
            <a:ext cx="7765876" cy="2980076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8446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1460500" y="345809"/>
                <a:ext cx="9798740" cy="49174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also a repeating decimal. Work with your partner to predict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based on the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Use a calculator to find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Write the value in decimal form.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6075" indent="-3460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Explain whether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Verdana" panose="020B060403050404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repeating or terminating decimal.</a:t>
                </a: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00" y="345809"/>
                <a:ext cx="9798740" cy="4917460"/>
              </a:xfrm>
              <a:prstGeom prst="rect">
                <a:avLst/>
              </a:prstGeom>
              <a:blipFill rotWithShape="0">
                <a:blip r:embed="rId3"/>
                <a:stretch>
                  <a:fillRect l="-685" b="-13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2834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97" name="Google Shape;397;p27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9" name="Google Shape;399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 txBox="1"/>
          <p:nvPr/>
        </p:nvSpPr>
        <p:spPr>
          <a:xfrm>
            <a:off x="1439334" y="-1282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1.1.5 Bring It Together: Patterns in Repeating Decimals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Google Shape;408;p28"/>
              <p:cNvSpPr txBox="1"/>
              <p:nvPr/>
            </p:nvSpPr>
            <p:spPr>
              <a:xfrm>
                <a:off x="1439334" y="1381471"/>
                <a:ext cx="9738360" cy="2246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In the Exploration, you observed most fractions with denominators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 have a decimal equivalent that repeats.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Verdana" panose="020B0604030504040204" pitchFamily="34" charset="0"/>
                  </a:rPr>
                  <a:t>Based on your observations, circle the fractions below that you predict also have repeating decimal equivalents.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08" name="Google Shape;408;p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334" y="1381471"/>
                <a:ext cx="9738360" cy="2246729"/>
              </a:xfrm>
              <a:prstGeom prst="rect">
                <a:avLst/>
              </a:prstGeom>
              <a:blipFill rotWithShape="0">
                <a:blip r:embed="rId3"/>
                <a:stretch>
                  <a:fillRect l="-688" t="-1630" r="-8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Google Shape;409;p28"/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10" name="Google Shape;410;p28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526" y="222460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7ED1C5A-F9E2-674F-8897-7E31CCCD6B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991063"/>
                  </p:ext>
                </p:extLst>
              </p:nvPr>
            </p:nvGraphicFramePr>
            <p:xfrm>
              <a:off x="2838239" y="3376756"/>
              <a:ext cx="6940550" cy="6400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56335">
                      <a:extLst>
                        <a:ext uri="{9D8B030D-6E8A-4147-A177-3AD203B41FA5}">
                          <a16:colId xmlns:a16="http://schemas.microsoft.com/office/drawing/2014/main" val="3959517673"/>
                        </a:ext>
                      </a:extLst>
                    </a:gridCol>
                    <a:gridCol w="1156335">
                      <a:extLst>
                        <a:ext uri="{9D8B030D-6E8A-4147-A177-3AD203B41FA5}">
                          <a16:colId xmlns:a16="http://schemas.microsoft.com/office/drawing/2014/main" val="1787239646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3842282134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1172979607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791333830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352160105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0385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7ED1C5A-F9E2-674F-8897-7E31CCCD6B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991063"/>
                  </p:ext>
                </p:extLst>
              </p:nvPr>
            </p:nvGraphicFramePr>
            <p:xfrm>
              <a:off x="1314239" y="3376756"/>
              <a:ext cx="6940550" cy="6400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56335">
                      <a:extLst>
                        <a:ext uri="{9D8B030D-6E8A-4147-A177-3AD203B41FA5}">
                          <a16:colId xmlns:a16="http://schemas.microsoft.com/office/drawing/2014/main" val="3959517673"/>
                        </a:ext>
                      </a:extLst>
                    </a:gridCol>
                    <a:gridCol w="1156335">
                      <a:extLst>
                        <a:ext uri="{9D8B030D-6E8A-4147-A177-3AD203B41FA5}">
                          <a16:colId xmlns:a16="http://schemas.microsoft.com/office/drawing/2014/main" val="1787239646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3842282134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1172979607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791333830"/>
                        </a:ext>
                      </a:extLst>
                    </a:gridCol>
                    <a:gridCol w="1156970">
                      <a:extLst>
                        <a:ext uri="{9D8B030D-6E8A-4147-A177-3AD203B41FA5}">
                          <a16:colId xmlns:a16="http://schemas.microsoft.com/office/drawing/2014/main" val="352160105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r="-502198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000" r="-402198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0000" r="-302198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96739" r="-198913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401099" r="-101099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501099" r="-1099" b="-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03850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/>
          <p:nvPr/>
        </p:nvSpPr>
        <p:spPr>
          <a:xfrm>
            <a:off x="1181100" y="435049"/>
            <a:ext cx="9829800" cy="584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6075" indent="-34607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2. Use a scientific calculator to verify your predictions. Write the decimal equivalent for each fraction in the table.</a:t>
            </a: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marL="346075" indent="-34607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3. Make a conjecture about which fractions have decimal expansions that are repeating.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  <a:p>
            <a:pPr marL="346075" indent="-346075"/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-7683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AF65777-F3CF-E44D-A01E-71A63035C0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7580626"/>
                  </p:ext>
                </p:extLst>
              </p:nvPr>
            </p:nvGraphicFramePr>
            <p:xfrm>
              <a:off x="3872548" y="1358243"/>
              <a:ext cx="4446905" cy="3596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3050">
                      <a:extLst>
                        <a:ext uri="{9D8B030D-6E8A-4147-A177-3AD203B41FA5}">
                          <a16:colId xmlns:a16="http://schemas.microsoft.com/office/drawing/2014/main" val="3991790769"/>
                        </a:ext>
                      </a:extLst>
                    </a:gridCol>
                    <a:gridCol w="2903855">
                      <a:extLst>
                        <a:ext uri="{9D8B030D-6E8A-4147-A177-3AD203B41FA5}">
                          <a16:colId xmlns:a16="http://schemas.microsoft.com/office/drawing/2014/main" val="10928796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3662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177458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95828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683901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3349783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363416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Verdana" panose="020B0604030504040204" pitchFamily="34" charset="0"/>
                                    </a:rPr>
                                    <m:t>99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1436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AF65777-F3CF-E44D-A01E-71A63035C0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7580626"/>
                  </p:ext>
                </p:extLst>
              </p:nvPr>
            </p:nvGraphicFramePr>
            <p:xfrm>
              <a:off x="2348547" y="1358243"/>
              <a:ext cx="4446905" cy="3596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3050">
                      <a:extLst>
                        <a:ext uri="{9D8B030D-6E8A-4147-A177-3AD203B41FA5}">
                          <a16:colId xmlns:a16="http://schemas.microsoft.com/office/drawing/2014/main" val="3991790769"/>
                        </a:ext>
                      </a:extLst>
                    </a:gridCol>
                    <a:gridCol w="2903855">
                      <a:extLst>
                        <a:ext uri="{9D8B030D-6E8A-4147-A177-3AD203B41FA5}">
                          <a16:colId xmlns:a16="http://schemas.microsoft.com/office/drawing/2014/main" val="10928796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Fraction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Decimal Equivalent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3662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8182" r="-189344" b="-4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177458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72093" r="-189344" b="-4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95828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65909" r="-189344" b="-2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683901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74419" r="-189344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3349783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63636" r="-1893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363416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76744" r="-189344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21436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438351" y="-9547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1.1.6 Wrap-Up: Reflection</a:t>
            </a:r>
            <a:endParaRPr sz="1100"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525" y="1937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257300" y="1101284"/>
            <a:ext cx="9828064" cy="519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6075" indent="-346075">
              <a:spcAft>
                <a:spcPts val="1000"/>
              </a:spcAft>
            </a:pPr>
            <a:r>
              <a:rPr lang="en-US" sz="2000" dirty="0"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Plot a point in one of the quadrants below to indicate where you are on today’s learning targets.</a:t>
            </a: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  <a:buAutoNum type="arabicPeriod"/>
            </a:pPr>
            <a:endParaRPr lang="en-US" sz="2000" dirty="0">
              <a:highlight>
                <a:srgbClr val="FFFFFF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6075" indent="-346075"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Write one question you still have about what you learned today.</a:t>
            </a:r>
          </a:p>
        </p:txBody>
      </p:sp>
      <p:sp>
        <p:nvSpPr>
          <p:cNvPr id="470" name="Google Shape;470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image49.png" descr="A close up of a flower&#10;&#10;Description automatically generated">
            <a:extLst>
              <a:ext uri="{FF2B5EF4-FFF2-40B4-BE49-F238E27FC236}">
                <a16:creationId xmlns:a16="http://schemas.microsoft.com/office/drawing/2014/main" id="{B0D7B0FC-C8EB-8445-A56D-F3B2C8E0441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979743" y="1820554"/>
            <a:ext cx="4383179" cy="3929879"/>
          </a:xfrm>
          <a:prstGeom prst="rect">
            <a:avLst/>
          </a:prstGeom>
          <a:ln/>
        </p:spPr>
      </p:pic>
      <p:sp>
        <p:nvSpPr>
          <p:cNvPr id="10" name="Google Shape;125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1456</Words>
  <Application>Microsoft Office PowerPoint</Application>
  <PresentationFormat>Widescreen</PresentationFormat>
  <Paragraphs>306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1_Office Theme</vt:lpstr>
      <vt:lpstr>7th Grade Accelerated Math  Unit 1, Lesson 1  Rewriting Numbers in Equivalent Forms  Volume 1, pg. 7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Accelerated Math  Unit 1, Lesson 1  Rewriting Numbers in Equivalent Forms  Volume 1, pg. 7  </dc:title>
  <dc:creator>Karen McKenzie</dc:creator>
  <cp:lastModifiedBy>Cassie O'Connor</cp:lastModifiedBy>
  <cp:revision>4</cp:revision>
  <dcterms:created xsi:type="dcterms:W3CDTF">2015-03-17T18:51:18Z</dcterms:created>
  <dcterms:modified xsi:type="dcterms:W3CDTF">2022-06-30T03:26:13Z</dcterms:modified>
</cp:coreProperties>
</file>