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6" r:id="rId8"/>
    <p:sldId id="267" r:id="rId9"/>
    <p:sldId id="268" r:id="rId10"/>
    <p:sldId id="294" r:id="rId11"/>
    <p:sldId id="293" r:id="rId12"/>
    <p:sldId id="295" r:id="rId13"/>
    <p:sldId id="296" r:id="rId14"/>
    <p:sldId id="284" r:id="rId15"/>
    <p:sldId id="285" r:id="rId16"/>
    <p:sldId id="286" r:id="rId17"/>
    <p:sldId id="297" r:id="rId18"/>
    <p:sldId id="298" r:id="rId19"/>
    <p:sldId id="299" r:id="rId20"/>
    <p:sldId id="300" r:id="rId21"/>
    <p:sldId id="301" r:id="rId22"/>
    <p:sldId id="302" r:id="rId23"/>
    <p:sldId id="303" r:id="rId24"/>
    <p:sldId id="304" r:id="rId25"/>
    <p:sldId id="275" r:id="rId26"/>
    <p:sldId id="276" r:id="rId27"/>
    <p:sldId id="277" r:id="rId28"/>
    <p:sldId id="305" r:id="rId29"/>
    <p:sldId id="306" r:id="rId30"/>
    <p:sldId id="307" r:id="rId31"/>
    <p:sldId id="308" r:id="rId32"/>
    <p:sldId id="309" r:id="rId33"/>
    <p:sldId id="310" r:id="rId34"/>
    <p:sldId id="290" r:id="rId35"/>
    <p:sldId id="291" r:id="rId3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1" roundtripDataSignature="AMtx7mhssq3OoqM7J6XYkDacLZ4V+KhzK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678"/>
    <p:restoredTop sz="94695"/>
  </p:normalViewPr>
  <p:slideViewPr>
    <p:cSldViewPr snapToGrid="0">
      <p:cViewPr varScale="1">
        <p:scale>
          <a:sx n="79" d="100"/>
          <a:sy n="79" d="100"/>
        </p:scale>
        <p:origin x="451"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61"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64"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extLst>
      <p:ext uri="{BB962C8B-B14F-4D97-AF65-F5344CB8AC3E}">
        <p14:creationId xmlns:p14="http://schemas.microsoft.com/office/powerpoint/2010/main" val="21943140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extLst>
      <p:ext uri="{BB962C8B-B14F-4D97-AF65-F5344CB8AC3E}">
        <p14:creationId xmlns:p14="http://schemas.microsoft.com/office/powerpoint/2010/main" val="40668130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extLst>
      <p:ext uri="{BB962C8B-B14F-4D97-AF65-F5344CB8AC3E}">
        <p14:creationId xmlns:p14="http://schemas.microsoft.com/office/powerpoint/2010/main" val="12164292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extLst>
      <p:ext uri="{BB962C8B-B14F-4D97-AF65-F5344CB8AC3E}">
        <p14:creationId xmlns:p14="http://schemas.microsoft.com/office/powerpoint/2010/main" val="6025882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3" name="Google Shape;393;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2" name="Google Shape;402;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3" name="Google Shape;403;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4" name="Google Shape;414;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4" name="Google Shape;414;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extLst>
      <p:ext uri="{BB962C8B-B14F-4D97-AF65-F5344CB8AC3E}">
        <p14:creationId xmlns:p14="http://schemas.microsoft.com/office/powerpoint/2010/main" val="2634694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4" name="Google Shape;414;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extLst>
      <p:ext uri="{BB962C8B-B14F-4D97-AF65-F5344CB8AC3E}">
        <p14:creationId xmlns:p14="http://schemas.microsoft.com/office/powerpoint/2010/main" val="3673261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4" name="Google Shape;414;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extLst>
      <p:ext uri="{BB962C8B-B14F-4D97-AF65-F5344CB8AC3E}">
        <p14:creationId xmlns:p14="http://schemas.microsoft.com/office/powerpoint/2010/main" val="36961149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extLst>
      <p:ext uri="{BB962C8B-B14F-4D97-AF65-F5344CB8AC3E}">
        <p14:creationId xmlns:p14="http://schemas.microsoft.com/office/powerpoint/2010/main" val="22042198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extLst>
      <p:ext uri="{BB962C8B-B14F-4D97-AF65-F5344CB8AC3E}">
        <p14:creationId xmlns:p14="http://schemas.microsoft.com/office/powerpoint/2010/main" val="13093332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extLst>
      <p:ext uri="{BB962C8B-B14F-4D97-AF65-F5344CB8AC3E}">
        <p14:creationId xmlns:p14="http://schemas.microsoft.com/office/powerpoint/2010/main" val="2724063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extLst>
      <p:ext uri="{BB962C8B-B14F-4D97-AF65-F5344CB8AC3E}">
        <p14:creationId xmlns:p14="http://schemas.microsoft.com/office/powerpoint/2010/main" val="12566159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24</a:t>
            </a:fld>
            <a:endParaRPr/>
          </a:p>
        </p:txBody>
      </p:sp>
    </p:spTree>
    <p:extLst>
      <p:ext uri="{BB962C8B-B14F-4D97-AF65-F5344CB8AC3E}">
        <p14:creationId xmlns:p14="http://schemas.microsoft.com/office/powerpoint/2010/main" val="15910283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28</a:t>
            </a:fld>
            <a:endParaRPr/>
          </a:p>
        </p:txBody>
      </p:sp>
    </p:spTree>
    <p:extLst>
      <p:ext uri="{BB962C8B-B14F-4D97-AF65-F5344CB8AC3E}">
        <p14:creationId xmlns:p14="http://schemas.microsoft.com/office/powerpoint/2010/main" val="27629528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29</a:t>
            </a:fld>
            <a:endParaRPr/>
          </a:p>
        </p:txBody>
      </p:sp>
    </p:spTree>
    <p:extLst>
      <p:ext uri="{BB962C8B-B14F-4D97-AF65-F5344CB8AC3E}">
        <p14:creationId xmlns:p14="http://schemas.microsoft.com/office/powerpoint/2010/main" val="8590015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30</a:t>
            </a:fld>
            <a:endParaRPr/>
          </a:p>
        </p:txBody>
      </p:sp>
    </p:spTree>
    <p:extLst>
      <p:ext uri="{BB962C8B-B14F-4D97-AF65-F5344CB8AC3E}">
        <p14:creationId xmlns:p14="http://schemas.microsoft.com/office/powerpoint/2010/main" val="31512389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31</a:t>
            </a:fld>
            <a:endParaRPr/>
          </a:p>
        </p:txBody>
      </p:sp>
    </p:spTree>
    <p:extLst>
      <p:ext uri="{BB962C8B-B14F-4D97-AF65-F5344CB8AC3E}">
        <p14:creationId xmlns:p14="http://schemas.microsoft.com/office/powerpoint/2010/main" val="1781043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32</a:t>
            </a:fld>
            <a:endParaRPr/>
          </a:p>
        </p:txBody>
      </p:sp>
    </p:spTree>
    <p:extLst>
      <p:ext uri="{BB962C8B-B14F-4D97-AF65-F5344CB8AC3E}">
        <p14:creationId xmlns:p14="http://schemas.microsoft.com/office/powerpoint/2010/main" val="17238032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33</a:t>
            </a:fld>
            <a:endParaRPr/>
          </a:p>
        </p:txBody>
      </p:sp>
    </p:spTree>
    <p:extLst>
      <p:ext uri="{BB962C8B-B14F-4D97-AF65-F5344CB8AC3E}">
        <p14:creationId xmlns:p14="http://schemas.microsoft.com/office/powerpoint/2010/main" val="31055272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50.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7"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10.png"/><Relationship Id="rId4" Type="http://schemas.openxmlformats.org/officeDocument/2006/relationships/image" Target="../media/image20.png"/><Relationship Id="rId9"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9.png"/><Relationship Id="rId7"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41.png"/><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7"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32.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50.png"/></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590352" y="2054277"/>
            <a:ext cx="5077649" cy="3194455"/>
          </a:xfrm>
          <a:prstGeom prst="rect">
            <a:avLst/>
          </a:prstGeom>
          <a:noFill/>
          <a:ln>
            <a:noFill/>
          </a:ln>
        </p:spPr>
        <p:txBody>
          <a:bodyPr spcFirstLastPara="1" wrap="square" lIns="91425" tIns="45700" rIns="91425" bIns="45700" anchor="ctr" anchorCtr="0">
            <a:noAutofit/>
          </a:bodyPr>
          <a:lstStyle/>
          <a:p>
            <a:pPr algn="ctr">
              <a:lnSpc>
                <a:spcPct val="100000"/>
              </a:lnSpc>
            </a:pPr>
            <a:endParaRPr sz="3600" b="1" dirty="0">
              <a:solidFill>
                <a:srgbClr val="417DBF"/>
              </a:solidFill>
              <a:latin typeface="Verdana"/>
              <a:ea typeface="Verdana"/>
              <a:cs typeface="Verdana"/>
              <a:sym typeface="Verdana"/>
            </a:endParaRPr>
          </a:p>
          <a:p>
            <a:pPr algn="ctr">
              <a:lnSpc>
                <a:spcPct val="100000"/>
              </a:lnSpc>
            </a:pPr>
            <a:endParaRPr sz="3600" b="1" dirty="0">
              <a:solidFill>
                <a:srgbClr val="417DBF"/>
              </a:solidFill>
              <a:latin typeface="Verdana"/>
              <a:ea typeface="Verdana"/>
              <a:cs typeface="Verdana"/>
              <a:sym typeface="Verdana"/>
            </a:endParaRPr>
          </a:p>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Accelerated Math</a:t>
            </a:r>
            <a:br>
              <a:rPr lang="en-US" sz="3600" b="1" dirty="0">
                <a:solidFill>
                  <a:srgbClr val="417DBF"/>
                </a:solidFill>
                <a:latin typeface="Verdana"/>
                <a:ea typeface="Verdana"/>
                <a:cs typeface="Verdana"/>
                <a:sym typeface="Verdana"/>
              </a:rPr>
            </a:br>
            <a:endParaRPr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14, Lesson 9</a:t>
            </a:r>
            <a:endParaRPr sz="3600" b="1" dirty="0">
              <a:solidFill>
                <a:srgbClr val="417DBF"/>
              </a:solidFill>
              <a:latin typeface="Verdana"/>
              <a:ea typeface="Verdana"/>
              <a:cs typeface="Verdana"/>
              <a:sym typeface="Verdana"/>
            </a:endParaRPr>
          </a:p>
          <a:p>
            <a:pPr algn="ctr">
              <a:lnSpc>
                <a:spcPct val="100000"/>
              </a:lnSpc>
              <a:buClr>
                <a:srgbClr val="000000"/>
              </a:buClr>
            </a:pPr>
            <a:endParaRPr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Solving One-Step Inequalities Using Addition and Subtraction</a:t>
            </a:r>
            <a:br>
              <a:rPr lang="en-US" sz="36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383</a:t>
            </a:r>
            <a:endParaRPr dirty="0"/>
          </a:p>
          <a:p>
            <a:pPr algn="ctr">
              <a:lnSpc>
                <a:spcPct val="100000"/>
              </a:lnSpc>
              <a:buClr>
                <a:srgbClr val="000000"/>
              </a:buClr>
            </a:pPr>
            <a:endParaRPr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8100"/>
            <a:ext cx="4094106"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Logo&#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83677" y="1829054"/>
            <a:ext cx="3126752" cy="3644900"/>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772074" y="-8302"/>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906371" y="265436"/>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383</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653671" y="1600200"/>
            <a:ext cx="8884658"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2400" dirty="0">
                <a:solidFill>
                  <a:schemeClr val="dk1"/>
                </a:solidFill>
                <a:latin typeface="Verdana"/>
                <a:ea typeface="Verdana"/>
                <a:cs typeface="Verdana"/>
                <a:sym typeface="Verdana"/>
              </a:rPr>
              <a:t>MA.7.AR.2.1</a:t>
            </a:r>
            <a:endParaRPr sz="2400" dirty="0">
              <a:solidFill>
                <a:schemeClr val="dk1"/>
              </a:solidFill>
              <a:latin typeface="Verdana"/>
              <a:ea typeface="Verdana"/>
              <a:cs typeface="Verdana"/>
              <a:sym typeface="Verdana"/>
            </a:endParaRPr>
          </a:p>
          <a:p>
            <a:pPr marL="457200">
              <a:lnSpc>
                <a:spcPct val="90000"/>
              </a:lnSpc>
              <a:spcBef>
                <a:spcPts val="750"/>
              </a:spcBef>
              <a:buClr>
                <a:schemeClr val="dk1"/>
              </a:buClr>
              <a:buSzPts val="2100"/>
            </a:pPr>
            <a:r>
              <a:rPr lang="en-US" sz="2400" dirty="0">
                <a:latin typeface="Verdana" panose="020B0604030504040204" pitchFamily="34" charset="0"/>
                <a:ea typeface="Verdana" panose="020B0604030504040204" pitchFamily="34" charset="0"/>
                <a:cs typeface="Verdana" panose="020B0604030504040204" pitchFamily="34" charset="0"/>
              </a:rPr>
              <a:t>Write and solve one-step inequalities in one variable within a mathematical context and represent solutions algebraically or graphically. </a:t>
            </a:r>
            <a:endParaRPr sz="2400" dirty="0">
              <a:solidFill>
                <a:schemeClr val="dk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1"/>
          <p:cNvPicPr preferRelativeResize="0"/>
          <p:nvPr/>
        </p:nvPicPr>
        <p:blipFill rotWithShape="1">
          <a:blip r:embed="rId3">
            <a:alphaModFix/>
          </a:blip>
          <a:srcRect/>
          <a:stretch/>
        </p:blipFill>
        <p:spPr>
          <a:xfrm>
            <a:off x="669634" y="325185"/>
            <a:ext cx="747300" cy="747300"/>
          </a:xfrm>
          <a:prstGeom prst="rect">
            <a:avLst/>
          </a:prstGeom>
          <a:noFill/>
          <a:ln>
            <a:noFill/>
          </a:ln>
          <a:effectLst>
            <a:outerShdw blurRad="57150" dist="19050" dir="5400000" algn="bl" rotWithShape="0">
              <a:srgbClr val="000000">
                <a:alpha val="49803"/>
              </a:srgbClr>
            </a:outerShdw>
          </a:effectLst>
        </p:spPr>
      </p:pic>
      <p:sp>
        <p:nvSpPr>
          <p:cNvPr id="135" name="Google Shape;135;p1"/>
          <p:cNvSpPr txBox="1"/>
          <p:nvPr/>
        </p:nvSpPr>
        <p:spPr>
          <a:xfrm>
            <a:off x="1494284" y="82552"/>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7" name="Google Shape;137;p1"/>
          <p:cNvSpPr txBox="1"/>
          <p:nvPr/>
        </p:nvSpPr>
        <p:spPr>
          <a:xfrm>
            <a:off x="1617785" y="1596390"/>
            <a:ext cx="9544190" cy="4205700"/>
          </a:xfrm>
          <a:prstGeom prst="rect">
            <a:avLst/>
          </a:prstGeom>
          <a:noFill/>
          <a:ln>
            <a:noFill/>
          </a:ln>
        </p:spPr>
        <p:txBody>
          <a:bodyPr spcFirstLastPara="1" wrap="square" lIns="91425" tIns="45700" rIns="91425" bIns="45700" anchor="t" anchorCtr="0">
            <a:noAutofit/>
          </a:bodyPr>
          <a:lstStyle/>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endParaRPr sz="2000" dirty="0">
              <a:latin typeface="Verdana" panose="020B0604030504040204" pitchFamily="34" charset="0"/>
              <a:ea typeface="Verdana" panose="020B0604030504040204" pitchFamily="34" charset="0"/>
              <a:cs typeface="Verdana" panose="020B0604030504040204" pitchFamily="34" charset="0"/>
            </a:endParaRPr>
          </a:p>
          <a:p>
            <a:pPr marL="457200"/>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endParaRPr sz="2000" dirty="0">
              <a:latin typeface="Verdana" panose="020B0604030504040204" pitchFamily="34" charset="0"/>
              <a:ea typeface="Verdana" panose="020B0604030504040204" pitchFamily="34" charset="0"/>
              <a:cs typeface="Verdana" panose="020B0604030504040204" pitchFamily="34" charset="0"/>
            </a:endParaRPr>
          </a:p>
          <a:p>
            <a:pPr marL="457200"/>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endParaRPr sz="2000" dirty="0">
              <a:latin typeface="Verdana" panose="020B0604030504040204" pitchFamily="34" charset="0"/>
              <a:ea typeface="Verdana" panose="020B0604030504040204" pitchFamily="34" charset="0"/>
              <a:cs typeface="Verdana" panose="020B0604030504040204" pitchFamily="34" charset="0"/>
            </a:endParaRPr>
          </a:p>
          <a:p>
            <a:pPr marL="457200"/>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endParaRPr sz="2000" dirty="0">
              <a:latin typeface="Verdana" panose="020B0604030504040204" pitchFamily="34" charset="0"/>
              <a:ea typeface="Verdana" panose="020B0604030504040204" pitchFamily="34" charset="0"/>
              <a:cs typeface="Verdana" panose="020B0604030504040204" pitchFamily="34" charset="0"/>
            </a:endParaRPr>
          </a:p>
          <a:p>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38" name="Google Shape;138;p1"/>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383</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5" name="Google Shape;145;p2"/>
          <p:cNvSpPr txBox="1"/>
          <p:nvPr/>
        </p:nvSpPr>
        <p:spPr>
          <a:xfrm>
            <a:off x="1506053" y="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Targets</a:t>
            </a:r>
            <a:endParaRPr dirty="0"/>
          </a:p>
        </p:txBody>
      </p:sp>
      <p:pic>
        <p:nvPicPr>
          <p:cNvPr id="146" name="Google Shape;146;p2"/>
          <p:cNvPicPr preferRelativeResize="0"/>
          <p:nvPr/>
        </p:nvPicPr>
        <p:blipFill rotWithShape="1">
          <a:blip r:embed="rId3">
            <a:alphaModFix/>
          </a:blip>
          <a:srcRect/>
          <a:stretch/>
        </p:blipFill>
        <p:spPr>
          <a:xfrm>
            <a:off x="723891" y="289200"/>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1506053" y="1600200"/>
            <a:ext cx="9179894"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ct val="125000"/>
              <a:buFont typeface="Verdana"/>
              <a:buChar char="❏"/>
            </a:pPr>
            <a:r>
              <a:rPr lang="en-US" sz="2000" dirty="0">
                <a:latin typeface="Verdana" panose="020B0604030504040204" pitchFamily="34" charset="0"/>
                <a:ea typeface="Verdana" panose="020B0604030504040204" pitchFamily="34" charset="0"/>
                <a:cs typeface="Verdana" panose="020B0604030504040204" pitchFamily="34" charset="0"/>
              </a:rPr>
              <a:t>I can relate the solution set of an inequality to its graph on a number line.</a:t>
            </a:r>
            <a:endParaRPr sz="2000" dirty="0">
              <a:latin typeface="Verdana" panose="020B0604030504040204" pitchFamily="34" charset="0"/>
              <a:ea typeface="Verdana" panose="020B0604030504040204" pitchFamily="34" charset="0"/>
              <a:cs typeface="Verdana" panose="020B0604030504040204" pitchFamily="34" charset="0"/>
            </a:endParaRPr>
          </a:p>
          <a:p>
            <a:pPr marL="457200" indent="-450850">
              <a:buClr>
                <a:srgbClr val="434343"/>
              </a:buClr>
              <a:buSzPct val="125000"/>
              <a:buFont typeface="Verdana"/>
              <a:buChar char="❏"/>
            </a:pPr>
            <a:r>
              <a:rPr lang="en-US" sz="2000" dirty="0">
                <a:latin typeface="Verdana" panose="020B0604030504040204" pitchFamily="34" charset="0"/>
                <a:ea typeface="Verdana" panose="020B0604030504040204" pitchFamily="34" charset="0"/>
                <a:cs typeface="Verdana" panose="020B0604030504040204" pitchFamily="34" charset="0"/>
              </a:rPr>
              <a:t>I can relate the solution set of an inequality to the context it represents.</a:t>
            </a:r>
          </a:p>
          <a:p>
            <a:pPr marL="457200" indent="-450850">
              <a:buClr>
                <a:srgbClr val="434343"/>
              </a:buClr>
              <a:buSzPct val="125000"/>
              <a:buFont typeface="Verdana"/>
              <a:buChar char="❏"/>
            </a:pPr>
            <a:r>
              <a:rPr lang="en-US" sz="2000" dirty="0">
                <a:latin typeface="Verdana" panose="020B0604030504040204" pitchFamily="34" charset="0"/>
                <a:ea typeface="Verdana" panose="020B0604030504040204" pitchFamily="34" charset="0"/>
                <a:cs typeface="Verdana" panose="020B0604030504040204" pitchFamily="34" charset="0"/>
              </a:rPr>
              <a:t>I can determine the minimum or maximum value that makes an inequality true.</a:t>
            </a:r>
          </a:p>
          <a:p>
            <a:pPr marL="457200" indent="-450850">
              <a:buClr>
                <a:srgbClr val="434343"/>
              </a:buClr>
              <a:buSzPct val="125000"/>
              <a:buFont typeface="Verdana"/>
              <a:buChar char="❏"/>
            </a:pPr>
            <a:r>
              <a:rPr lang="en-US" sz="2000" dirty="0">
                <a:latin typeface="Verdana" panose="020B0604030504040204" pitchFamily="34" charset="0"/>
                <a:ea typeface="Verdana" panose="020B0604030504040204" pitchFamily="34" charset="0"/>
                <a:cs typeface="Verdana" panose="020B0604030504040204" pitchFamily="34" charset="0"/>
              </a:rPr>
              <a:t>I can solve one-step inequalities in one variable using addition or subtraction.</a:t>
            </a:r>
          </a:p>
          <a:p>
            <a:pPr marL="457200" indent="-450850">
              <a:buClr>
                <a:srgbClr val="434343"/>
              </a:buClr>
              <a:buSzPct val="125000"/>
              <a:buFont typeface="Verdana"/>
              <a:buChar char="❏"/>
            </a:pPr>
            <a:r>
              <a:rPr lang="en-US" sz="2000" dirty="0">
                <a:latin typeface="Verdana" panose="020B0604030504040204" pitchFamily="34" charset="0"/>
                <a:ea typeface="Verdana" panose="020B0604030504040204" pitchFamily="34" charset="0"/>
                <a:cs typeface="Verdana" panose="020B0604030504040204" pitchFamily="34" charset="0"/>
              </a:rPr>
              <a:t>I can relate properties of inequality to solving one-step inequalities algebraically.</a:t>
            </a:r>
          </a:p>
          <a:p>
            <a:pPr marL="457200" indent="-450850">
              <a:buClr>
                <a:srgbClr val="434343"/>
              </a:buClr>
              <a:buSzPts val="3500"/>
              <a:buFont typeface="Verdana"/>
              <a:buChar char="❏"/>
            </a:pPr>
            <a:endParaRPr lang="en-US" sz="3200" dirty="0">
              <a:latin typeface="Verdana" panose="020B0604030504040204" pitchFamily="34" charset="0"/>
              <a:ea typeface="Verdana" panose="020B0604030504040204" pitchFamily="34" charset="0"/>
              <a:cs typeface="Verdana" panose="020B0604030504040204" pitchFamily="34" charset="0"/>
            </a:endParaRPr>
          </a:p>
          <a:p>
            <a:pPr marL="457200" indent="-450850">
              <a:buClr>
                <a:srgbClr val="434343"/>
              </a:buClr>
              <a:buSzPts val="3500"/>
              <a:buFont typeface="Verdana"/>
              <a:buChar char="❏"/>
            </a:pPr>
            <a:endParaRPr dirty="0"/>
          </a:p>
        </p:txBody>
      </p:sp>
      <p:sp>
        <p:nvSpPr>
          <p:cNvPr id="149" name="Google Shape;149;p2"/>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383</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7"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384</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6" name="Google Shape;166;p4"/>
          <p:cNvSpPr txBox="1"/>
          <p:nvPr/>
        </p:nvSpPr>
        <p:spPr>
          <a:xfrm>
            <a:off x="1361937" y="75985"/>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14.9.1 Warm-Up: Which One Doesn’t Belong?</a:t>
            </a:r>
            <a:endParaRPr dirty="0"/>
          </a:p>
        </p:txBody>
      </p:sp>
      <p:pic>
        <p:nvPicPr>
          <p:cNvPr id="167" name="Google Shape;167;p4"/>
          <p:cNvPicPr preferRelativeResize="0"/>
          <p:nvPr/>
        </p:nvPicPr>
        <p:blipFill rotWithShape="1">
          <a:blip r:embed="rId3">
            <a:alphaModFix/>
          </a:blip>
          <a:srcRect/>
          <a:stretch/>
        </p:blipFill>
        <p:spPr>
          <a:xfrm>
            <a:off x="614637" y="213145"/>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1125415" y="1386025"/>
            <a:ext cx="10197202" cy="4893607"/>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Four inequalities are shown.</a:t>
            </a:r>
          </a:p>
          <a:p>
            <a:endParaRPr lang="en-US" dirty="0"/>
          </a:p>
          <a:p>
            <a:endParaRPr lang="en-US" dirty="0"/>
          </a:p>
          <a:p>
            <a:endParaRPr lang="en-US" dirty="0"/>
          </a:p>
          <a:p>
            <a:endParaRPr lang="en-US" dirty="0"/>
          </a:p>
          <a:p>
            <a:endParaRPr lang="en-US" dirty="0"/>
          </a:p>
          <a:p>
            <a:endParaRPr lang="en-US" dirty="0"/>
          </a:p>
          <a:p>
            <a:endParaRPr lang="en-US" dirty="0"/>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Javier says that Inequality B does not belong with the others. What is one reason Javier might have said this?</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Select a different inequality and explain why it doesn’t belong.</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dirty="0"/>
          </a:p>
        </p:txBody>
      </p:sp>
      <p:sp>
        <p:nvSpPr>
          <p:cNvPr id="170" name="Google Shape;170;p4"/>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251EC94F-3171-7B4B-B7BB-817269EA815B}"/>
                  </a:ext>
                </a:extLst>
              </p:cNvPr>
              <p:cNvGraphicFramePr>
                <a:graphicFrameLocks noGrp="1"/>
              </p:cNvGraphicFramePr>
              <p:nvPr>
                <p:extLst>
                  <p:ext uri="{D42A27DB-BD31-4B8C-83A1-F6EECF244321}">
                    <p14:modId xmlns:p14="http://schemas.microsoft.com/office/powerpoint/2010/main" val="3172737354"/>
                  </p:ext>
                </p:extLst>
              </p:nvPr>
            </p:nvGraphicFramePr>
            <p:xfrm>
              <a:off x="2146201" y="1860565"/>
              <a:ext cx="6945549" cy="1046335"/>
            </p:xfrm>
            <a:graphic>
              <a:graphicData uri="http://schemas.openxmlformats.org/drawingml/2006/table">
                <a:tbl>
                  <a:tblPr firstRow="1" firstCol="1" bandRow="1">
                    <a:tableStyleId>{5C22544A-7EE6-4342-B048-85BDC9FD1C3A}</a:tableStyleId>
                  </a:tblPr>
                  <a:tblGrid>
                    <a:gridCol w="1772711">
                      <a:extLst>
                        <a:ext uri="{9D8B030D-6E8A-4147-A177-3AD203B41FA5}">
                          <a16:colId xmlns:a16="http://schemas.microsoft.com/office/drawing/2014/main" val="3358644457"/>
                        </a:ext>
                      </a:extLst>
                    </a:gridCol>
                    <a:gridCol w="1772711">
                      <a:extLst>
                        <a:ext uri="{9D8B030D-6E8A-4147-A177-3AD203B41FA5}">
                          <a16:colId xmlns:a16="http://schemas.microsoft.com/office/drawing/2014/main" val="1613512922"/>
                        </a:ext>
                      </a:extLst>
                    </a:gridCol>
                    <a:gridCol w="1773359">
                      <a:extLst>
                        <a:ext uri="{9D8B030D-6E8A-4147-A177-3AD203B41FA5}">
                          <a16:colId xmlns:a16="http://schemas.microsoft.com/office/drawing/2014/main" val="3778617057"/>
                        </a:ext>
                      </a:extLst>
                    </a:gridCol>
                    <a:gridCol w="1626768">
                      <a:extLst>
                        <a:ext uri="{9D8B030D-6E8A-4147-A177-3AD203B41FA5}">
                          <a16:colId xmlns:a16="http://schemas.microsoft.com/office/drawing/2014/main" val="3841456490"/>
                        </a:ext>
                      </a:extLst>
                    </a:gridCol>
                  </a:tblGrid>
                  <a:tr h="511105">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Inequality</a:t>
                          </a:r>
                        </a:p>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Inequality </a:t>
                          </a:r>
                        </a:p>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B</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Inequality </a:t>
                          </a:r>
                        </a:p>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Inequality </a:t>
                          </a:r>
                        </a:p>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D</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74590526"/>
                      </a:ext>
                    </a:extLst>
                  </a:tr>
                  <a:tr h="43673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ea typeface="Cambria Math" panose="02040503050406030204" pitchFamily="18" charset="0"/>
                                  </a:rPr>
                                  <m:t>𝑥</m:t>
                                </m:r>
                                <m:r>
                                  <a:rPr lang="en-US" sz="2000" smtClean="0">
                                    <a:solidFill>
                                      <a:schemeClr val="tx1"/>
                                    </a:solidFill>
                                    <a:effectLst/>
                                    <a:latin typeface="Cambria Math" panose="02040503050406030204" pitchFamily="18" charset="0"/>
                                    <a:ea typeface="Cambria Math" panose="02040503050406030204" pitchFamily="18" charset="0"/>
                                  </a:rPr>
                                  <m:t>≥5</m:t>
                                </m:r>
                              </m:oMath>
                            </m:oMathPara>
                          </a14:m>
                          <a:endParaRPr lang="en-US" sz="2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ea typeface="Cambria Math" panose="02040503050406030204" pitchFamily="18" charset="0"/>
                                  </a:rPr>
                                  <m:t>12≤7</m:t>
                                </m:r>
                              </m:oMath>
                            </m:oMathPara>
                          </a14:m>
                          <a:endParaRPr lang="en-US" sz="2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ea typeface="Cambria Math" panose="02040503050406030204" pitchFamily="18" charset="0"/>
                                  </a:rPr>
                                  <m:t>2&gt;</m:t>
                                </m:r>
                                <m:r>
                                  <a:rPr lang="en-US" sz="2000" smtClean="0">
                                    <a:solidFill>
                                      <a:schemeClr val="tx1"/>
                                    </a:solidFill>
                                    <a:effectLst/>
                                    <a:latin typeface="Cambria Math" panose="02040503050406030204" pitchFamily="18" charset="0"/>
                                    <a:ea typeface="Cambria Math" panose="02040503050406030204" pitchFamily="18" charset="0"/>
                                  </a:rPr>
                                  <m:t>𝑥</m:t>
                                </m:r>
                              </m:oMath>
                            </m:oMathPara>
                          </a14:m>
                          <a:endParaRPr lang="en-US" sz="2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ea typeface="Cambria Math" panose="02040503050406030204" pitchFamily="18" charset="0"/>
                                  </a:rPr>
                                  <m:t>𝑥</m:t>
                                </m:r>
                                <m:r>
                                  <a:rPr lang="en-US" sz="2000" smtClean="0">
                                    <a:solidFill>
                                      <a:schemeClr val="tx1"/>
                                    </a:solidFill>
                                    <a:effectLst/>
                                    <a:latin typeface="Cambria Math" panose="02040503050406030204" pitchFamily="18" charset="0"/>
                                    <a:ea typeface="Cambria Math" panose="02040503050406030204" pitchFamily="18" charset="0"/>
                                  </a:rPr>
                                  <m:t>&gt;1</m:t>
                                </m:r>
                              </m:oMath>
                            </m:oMathPara>
                          </a14:m>
                          <a:endParaRPr lang="en-US" sz="2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838092"/>
                      </a:ext>
                    </a:extLst>
                  </a:tr>
                </a:tbl>
              </a:graphicData>
            </a:graphic>
          </p:graphicFrame>
        </mc:Choice>
        <mc:Fallback xmlns="">
          <p:graphicFrame>
            <p:nvGraphicFramePr>
              <p:cNvPr id="2" name="Table 1">
                <a:extLst>
                  <a:ext uri="{FF2B5EF4-FFF2-40B4-BE49-F238E27FC236}">
                    <a16:creationId xmlns:a16="http://schemas.microsoft.com/office/drawing/2014/main" id="{251EC94F-3171-7B4B-B7BB-817269EA815B}"/>
                  </a:ext>
                </a:extLst>
              </p:cNvPr>
              <p:cNvGraphicFramePr>
                <a:graphicFrameLocks noGrp="1"/>
              </p:cNvGraphicFramePr>
              <p:nvPr>
                <p:extLst>
                  <p:ext uri="{D42A27DB-BD31-4B8C-83A1-F6EECF244321}">
                    <p14:modId xmlns:p14="http://schemas.microsoft.com/office/powerpoint/2010/main" val="3172737354"/>
                  </p:ext>
                </p:extLst>
              </p:nvPr>
            </p:nvGraphicFramePr>
            <p:xfrm>
              <a:off x="622200" y="1860564"/>
              <a:ext cx="6945549" cy="1046335"/>
            </p:xfrm>
            <a:graphic>
              <a:graphicData uri="http://schemas.openxmlformats.org/drawingml/2006/table">
                <a:tbl>
                  <a:tblPr firstRow="1" firstCol="1" bandRow="1">
                    <a:tableStyleId>{5C22544A-7EE6-4342-B048-85BDC9FD1C3A}</a:tableStyleId>
                  </a:tblPr>
                  <a:tblGrid>
                    <a:gridCol w="1772711">
                      <a:extLst>
                        <a:ext uri="{9D8B030D-6E8A-4147-A177-3AD203B41FA5}">
                          <a16:colId xmlns:a16="http://schemas.microsoft.com/office/drawing/2014/main" val="3358644457"/>
                        </a:ext>
                      </a:extLst>
                    </a:gridCol>
                    <a:gridCol w="1772711">
                      <a:extLst>
                        <a:ext uri="{9D8B030D-6E8A-4147-A177-3AD203B41FA5}">
                          <a16:colId xmlns:a16="http://schemas.microsoft.com/office/drawing/2014/main" val="1613512922"/>
                        </a:ext>
                      </a:extLst>
                    </a:gridCol>
                    <a:gridCol w="1773359">
                      <a:extLst>
                        <a:ext uri="{9D8B030D-6E8A-4147-A177-3AD203B41FA5}">
                          <a16:colId xmlns:a16="http://schemas.microsoft.com/office/drawing/2014/main" val="3778617057"/>
                        </a:ext>
                      </a:extLst>
                    </a:gridCol>
                    <a:gridCol w="1626768">
                      <a:extLst>
                        <a:ext uri="{9D8B030D-6E8A-4147-A177-3AD203B41FA5}">
                          <a16:colId xmlns:a16="http://schemas.microsoft.com/office/drawing/2014/main" val="3841456490"/>
                        </a:ext>
                      </a:extLst>
                    </a:gridCol>
                  </a:tblGrid>
                  <a:tr h="609600">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Inequality</a:t>
                          </a:r>
                        </a:p>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Inequality </a:t>
                          </a:r>
                        </a:p>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B</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Inequality </a:t>
                          </a:r>
                        </a:p>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C</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Inequality </a:t>
                          </a:r>
                        </a:p>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D</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74590526"/>
                      </a:ext>
                    </a:extLst>
                  </a:tr>
                  <a:tr h="43673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154286" r="-292857" b="-285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000" t="-154286" r="-192857" b="-285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154286" r="-92857" b="-285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28125" t="-154286" r="-1563" b="-2857"/>
                          </a:stretch>
                        </a:blipFill>
                      </a:tcPr>
                    </a:tc>
                    <a:extLst>
                      <a:ext uri="{0D108BD9-81ED-4DB2-BD59-A6C34878D82A}">
                        <a16:rowId xmlns:a16="http://schemas.microsoft.com/office/drawing/2014/main" val="397838092"/>
                      </a:ext>
                    </a:extLst>
                  </a:tr>
                </a:tbl>
              </a:graphicData>
            </a:graphic>
          </p:graphicFrame>
        </mc:Fallback>
      </mc:AlternateContent>
      <p:sp>
        <p:nvSpPr>
          <p:cNvPr id="9"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384</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9"/>
          <p:cNvSpPr/>
          <p:nvPr/>
        </p:nvSpPr>
        <p:spPr>
          <a:xfrm>
            <a:off x="0"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17" name="Google Shape;217;p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Exploration</a:t>
            </a:r>
            <a:endParaRPr sz="5100" b="1">
              <a:solidFill>
                <a:srgbClr val="33BEA6"/>
              </a:solidFill>
              <a:latin typeface="Verdana"/>
              <a:ea typeface="Verdana"/>
              <a:cs typeface="Verdana"/>
              <a:sym typeface="Verdana"/>
            </a:endParaRPr>
          </a:p>
        </p:txBody>
      </p:sp>
      <p:pic>
        <p:nvPicPr>
          <p:cNvPr id="219" name="Google Shape;219;p9" descr="Icon&#10;&#10;Description automatically generated"/>
          <p:cNvPicPr preferRelativeResize="0"/>
          <p:nvPr/>
        </p:nvPicPr>
        <p:blipFill rotWithShape="1">
          <a:blip r:embed="rId3">
            <a:alphaModFix/>
          </a:blip>
          <a:srcRect/>
          <a:stretch/>
        </p:blipFill>
        <p:spPr>
          <a:xfrm>
            <a:off x="4630950" y="2814305"/>
            <a:ext cx="1156228" cy="1156228"/>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384</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6" name="Google Shape;226;p10"/>
          <p:cNvSpPr txBox="1"/>
          <p:nvPr/>
        </p:nvSpPr>
        <p:spPr>
          <a:xfrm>
            <a:off x="1267826" y="55877"/>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300" b="1" dirty="0">
                <a:solidFill>
                  <a:srgbClr val="33BEA6"/>
                </a:solidFill>
                <a:latin typeface="Verdana"/>
                <a:ea typeface="Verdana"/>
                <a:cs typeface="Verdana"/>
                <a:sym typeface="Verdana"/>
              </a:rPr>
              <a:t>14.9.2 Exploration: Representing Inequalities in Context</a:t>
            </a:r>
            <a:endParaRPr sz="3300" dirty="0"/>
          </a:p>
        </p:txBody>
      </p:sp>
      <p:pic>
        <p:nvPicPr>
          <p:cNvPr id="228" name="Google Shape;228;p10"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11528" y="304002"/>
            <a:ext cx="752254" cy="752254"/>
          </a:xfrm>
          <a:prstGeom prst="rect">
            <a:avLst/>
          </a:prstGeom>
          <a:noFill/>
          <a:ln>
            <a:noFill/>
          </a:ln>
          <a:effectLst>
            <a:outerShdw blurRad="50800" dist="38100" dir="2700000" algn="tl" rotWithShape="0">
              <a:srgbClr val="000000">
                <a:alpha val="40000"/>
              </a:srgbClr>
            </a:outerShdw>
          </a:effectLst>
        </p:spPr>
      </p:pic>
      <p:sp>
        <p:nvSpPr>
          <p:cNvPr id="229" name="Google Shape;229;p10"/>
          <p:cNvSpPr txBox="1"/>
          <p:nvPr/>
        </p:nvSpPr>
        <p:spPr>
          <a:xfrm>
            <a:off x="1378634" y="1386026"/>
            <a:ext cx="9690764" cy="1015622"/>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Height restrictions are often in place for roller coasters and rides at amusement parks to keep guests safe. At Disney’s Typhoon Lagoon Water Park, the following height restrictions are in place.</a:t>
            </a:r>
          </a:p>
        </p:txBody>
      </p:sp>
      <p:sp>
        <p:nvSpPr>
          <p:cNvPr id="230" name="Google Shape;230;p10"/>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2C79481E-25BB-1643-8E67-A385C40D1047}"/>
                  </a:ext>
                </a:extLst>
              </p:cNvPr>
              <p:cNvGraphicFramePr>
                <a:graphicFrameLocks noGrp="1"/>
              </p:cNvGraphicFramePr>
              <p:nvPr>
                <p:extLst>
                  <p:ext uri="{D42A27DB-BD31-4B8C-83A1-F6EECF244321}">
                    <p14:modId xmlns:p14="http://schemas.microsoft.com/office/powerpoint/2010/main" val="3511625251"/>
                  </p:ext>
                </p:extLst>
              </p:nvPr>
            </p:nvGraphicFramePr>
            <p:xfrm>
              <a:off x="2139679" y="2795519"/>
              <a:ext cx="7882946" cy="2133533"/>
            </p:xfrm>
            <a:graphic>
              <a:graphicData uri="http://schemas.openxmlformats.org/drawingml/2006/table">
                <a:tbl>
                  <a:tblPr firstRow="1" firstCol="1" bandRow="1">
                    <a:tableStyleId>{5C22544A-7EE6-4342-B048-85BDC9FD1C3A}</a:tableStyleId>
                  </a:tblPr>
                  <a:tblGrid>
                    <a:gridCol w="2916268">
                      <a:extLst>
                        <a:ext uri="{9D8B030D-6E8A-4147-A177-3AD203B41FA5}">
                          <a16:colId xmlns:a16="http://schemas.microsoft.com/office/drawing/2014/main" val="4274939869"/>
                        </a:ext>
                      </a:extLst>
                    </a:gridCol>
                    <a:gridCol w="4966678">
                      <a:extLst>
                        <a:ext uri="{9D8B030D-6E8A-4147-A177-3AD203B41FA5}">
                          <a16:colId xmlns:a16="http://schemas.microsoft.com/office/drawing/2014/main" val="3567882151"/>
                        </a:ext>
                      </a:extLst>
                    </a:gridCol>
                  </a:tblGrid>
                  <a:tr h="431435">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Attraction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Height Restriction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71551900"/>
                      </a:ext>
                    </a:extLst>
                  </a:tr>
                  <a:tr h="567366">
                    <a:tc>
                      <a:txBody>
                        <a:bodyPr/>
                        <a:lstStyle/>
                        <a:p>
                          <a:pPr marL="0" marR="0" algn="ctr">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Bay Slides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Guests must be </a:t>
                          </a:r>
                          <a14:m>
                            <m:oMath xmlns:m="http://schemas.openxmlformats.org/officeDocument/2006/math">
                              <m:r>
                                <a:rPr lang="en-US" sz="2000">
                                  <a:solidFill>
                                    <a:schemeClr val="tx1"/>
                                  </a:solidFill>
                                  <a:effectLst/>
                                  <a:latin typeface="Cambria Math" panose="02040503050406030204" pitchFamily="18" charset="0"/>
                                  <a:ea typeface="Cambria Math" panose="02040503050406030204" pitchFamily="18" charset="0"/>
                                </a:rPr>
                                <m:t>60</m:t>
                              </m:r>
                            </m:oMath>
                          </a14:m>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inches or shorter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89171140"/>
                      </a:ext>
                    </a:extLst>
                  </a:tr>
                  <a:tr h="567366">
                    <a:tc>
                      <a:txBody>
                        <a:bodyPr/>
                        <a:lstStyle/>
                        <a:p>
                          <a:pPr marL="0" marR="0" algn="ctr">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Crush ‘n’ Gusher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Guests must be </a:t>
                          </a:r>
                          <a14:m>
                            <m:oMath xmlns:m="http://schemas.openxmlformats.org/officeDocument/2006/math">
                              <m:r>
                                <a:rPr lang="en-US" sz="2000">
                                  <a:solidFill>
                                    <a:schemeClr val="tx1"/>
                                  </a:solidFill>
                                  <a:effectLst/>
                                  <a:latin typeface="Cambria Math" panose="02040503050406030204" pitchFamily="18" charset="0"/>
                                  <a:ea typeface="Cambria Math" panose="02040503050406030204" pitchFamily="18" charset="0"/>
                                </a:rPr>
                                <m:t>48</m:t>
                              </m:r>
                            </m:oMath>
                          </a14:m>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inches or taller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44575562"/>
                      </a:ext>
                    </a:extLst>
                  </a:tr>
                  <a:tr h="567366">
                    <a:tc>
                      <a:txBody>
                        <a:bodyPr/>
                        <a:lstStyle/>
                        <a:p>
                          <a:pPr marL="0" marR="0" algn="ctr">
                            <a:spcBef>
                              <a:spcPts val="0"/>
                            </a:spcBef>
                            <a:spcAft>
                              <a:spcPts val="0"/>
                            </a:spcAft>
                          </a:pPr>
                          <a:r>
                            <a:rPr lang="en-US" sz="2000" b="0" dirty="0" err="1">
                              <a:solidFill>
                                <a:schemeClr val="tx1"/>
                              </a:solidFill>
                              <a:effectLst/>
                              <a:latin typeface="Verdana" panose="020B0604030504040204" pitchFamily="34" charset="0"/>
                              <a:ea typeface="Verdana" panose="020B0604030504040204" pitchFamily="34" charset="0"/>
                              <a:cs typeface="Verdana" panose="020B0604030504040204" pitchFamily="34" charset="0"/>
                            </a:rPr>
                            <a:t>Ketchakiddee</a:t>
                          </a: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Creek</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Guests must be </a:t>
                          </a:r>
                          <a14:m>
                            <m:oMath xmlns:m="http://schemas.openxmlformats.org/officeDocument/2006/math">
                              <m:r>
                                <a:rPr lang="en-US" sz="2000">
                                  <a:solidFill>
                                    <a:schemeClr val="tx1"/>
                                  </a:solidFill>
                                  <a:effectLst/>
                                  <a:latin typeface="Cambria Math" panose="02040503050406030204" pitchFamily="18" charset="0"/>
                                  <a:ea typeface="Cambria Math" panose="02040503050406030204" pitchFamily="18" charset="0"/>
                                </a:rPr>
                                <m:t>48</m:t>
                              </m:r>
                            </m:oMath>
                          </a14:m>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inches or shorter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9412145"/>
                      </a:ext>
                    </a:extLst>
                  </a:tr>
                </a:tbl>
              </a:graphicData>
            </a:graphic>
          </p:graphicFrame>
        </mc:Choice>
        <mc:Fallback xmlns="">
          <p:graphicFrame>
            <p:nvGraphicFramePr>
              <p:cNvPr id="2" name="Table 1">
                <a:extLst>
                  <a:ext uri="{FF2B5EF4-FFF2-40B4-BE49-F238E27FC236}">
                    <a16:creationId xmlns:a16="http://schemas.microsoft.com/office/drawing/2014/main" id="{2C79481E-25BB-1643-8E67-A385C40D1047}"/>
                  </a:ext>
                </a:extLst>
              </p:cNvPr>
              <p:cNvGraphicFramePr>
                <a:graphicFrameLocks noGrp="1"/>
              </p:cNvGraphicFramePr>
              <p:nvPr>
                <p:extLst>
                  <p:ext uri="{D42A27DB-BD31-4B8C-83A1-F6EECF244321}">
                    <p14:modId xmlns:p14="http://schemas.microsoft.com/office/powerpoint/2010/main" val="3511625251"/>
                  </p:ext>
                </p:extLst>
              </p:nvPr>
            </p:nvGraphicFramePr>
            <p:xfrm>
              <a:off x="615679" y="2795518"/>
              <a:ext cx="7882946" cy="2133533"/>
            </p:xfrm>
            <a:graphic>
              <a:graphicData uri="http://schemas.openxmlformats.org/drawingml/2006/table">
                <a:tbl>
                  <a:tblPr firstRow="1" firstCol="1" bandRow="1">
                    <a:tableStyleId>{5C22544A-7EE6-4342-B048-85BDC9FD1C3A}</a:tableStyleId>
                  </a:tblPr>
                  <a:tblGrid>
                    <a:gridCol w="2916268">
                      <a:extLst>
                        <a:ext uri="{9D8B030D-6E8A-4147-A177-3AD203B41FA5}">
                          <a16:colId xmlns:a16="http://schemas.microsoft.com/office/drawing/2014/main" val="4274939869"/>
                        </a:ext>
                      </a:extLst>
                    </a:gridCol>
                    <a:gridCol w="4966678">
                      <a:extLst>
                        <a:ext uri="{9D8B030D-6E8A-4147-A177-3AD203B41FA5}">
                          <a16:colId xmlns:a16="http://schemas.microsoft.com/office/drawing/2014/main" val="3567882151"/>
                        </a:ext>
                      </a:extLst>
                    </a:gridCol>
                  </a:tblGrid>
                  <a:tr h="431435">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Attraction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Height Restriction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71551900"/>
                      </a:ext>
                    </a:extLst>
                  </a:tr>
                  <a:tr h="567366">
                    <a:tc>
                      <a:txBody>
                        <a:bodyPr/>
                        <a:lstStyle/>
                        <a:p>
                          <a:pPr marL="0" marR="0" algn="ctr">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Bay Slides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8929" t="-80000" r="-255" b="-204444"/>
                          </a:stretch>
                        </a:blipFill>
                      </a:tcPr>
                    </a:tc>
                    <a:extLst>
                      <a:ext uri="{0D108BD9-81ED-4DB2-BD59-A6C34878D82A}">
                        <a16:rowId xmlns:a16="http://schemas.microsoft.com/office/drawing/2014/main" val="4289171140"/>
                      </a:ext>
                    </a:extLst>
                  </a:tr>
                  <a:tr h="567366">
                    <a:tc>
                      <a:txBody>
                        <a:bodyPr/>
                        <a:lstStyle/>
                        <a:p>
                          <a:pPr marL="0" marR="0" algn="ctr">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Crush ‘n’ Gusher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8929" t="-180000" r="-255" b="-104444"/>
                          </a:stretch>
                        </a:blipFill>
                      </a:tcPr>
                    </a:tc>
                    <a:extLst>
                      <a:ext uri="{0D108BD9-81ED-4DB2-BD59-A6C34878D82A}">
                        <a16:rowId xmlns:a16="http://schemas.microsoft.com/office/drawing/2014/main" val="3444575562"/>
                      </a:ext>
                    </a:extLst>
                  </a:tr>
                  <a:tr h="567366">
                    <a:tc>
                      <a:txBody>
                        <a:bodyPr/>
                        <a:lstStyle/>
                        <a:p>
                          <a:pPr marL="0" marR="0" algn="ctr">
                            <a:spcBef>
                              <a:spcPts val="0"/>
                            </a:spcBef>
                            <a:spcAft>
                              <a:spcPts val="0"/>
                            </a:spcAft>
                          </a:pPr>
                          <a:r>
                            <a:rPr lang="en-US" sz="2000" b="0" dirty="0" err="1">
                              <a:solidFill>
                                <a:schemeClr val="tx1"/>
                              </a:solidFill>
                              <a:effectLst/>
                              <a:latin typeface="Verdana" panose="020B0604030504040204" pitchFamily="34" charset="0"/>
                              <a:ea typeface="Verdana" panose="020B0604030504040204" pitchFamily="34" charset="0"/>
                              <a:cs typeface="Verdana" panose="020B0604030504040204" pitchFamily="34" charset="0"/>
                            </a:rPr>
                            <a:t>Ketchakiddee</a:t>
                          </a: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Creek</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8929" t="-280000" r="-255" b="-4444"/>
                          </a:stretch>
                        </a:blipFill>
                      </a:tcPr>
                    </a:tc>
                    <a:extLst>
                      <a:ext uri="{0D108BD9-81ED-4DB2-BD59-A6C34878D82A}">
                        <a16:rowId xmlns:a16="http://schemas.microsoft.com/office/drawing/2014/main" val="2989412145"/>
                      </a:ext>
                    </a:extLst>
                  </a:tr>
                </a:tbl>
              </a:graphicData>
            </a:graphic>
          </p:graphicFrame>
        </mc:Fallback>
      </mc:AlternateContent>
      <p:sp>
        <p:nvSpPr>
          <p:cNvPr id="9"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384</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8" name="Google Shape;238;p11"/>
          <p:cNvSpPr txBox="1"/>
          <p:nvPr/>
        </p:nvSpPr>
        <p:spPr>
          <a:xfrm>
            <a:off x="1181686" y="520394"/>
            <a:ext cx="9979294" cy="1015622"/>
          </a:xfrm>
          <a:prstGeom prst="rect">
            <a:avLst/>
          </a:prstGeom>
          <a:noFill/>
          <a:ln>
            <a:noFill/>
          </a:ln>
        </p:spPr>
        <p:txBody>
          <a:bodyPr spcFirstLastPara="1" wrap="square" lIns="91425" tIns="45700" rIns="91425" bIns="45700" anchor="t" anchorCtr="0">
            <a:spAutoFit/>
          </a:bodyPr>
          <a:lstStyle/>
          <a:p>
            <a:pPr marL="457200" lvl="1"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determine which graph represents the height restrictions of each attraction at Typhoon Lagoon. Then, draw an arrow from each attraction to its matching graph.</a:t>
            </a:r>
          </a:p>
        </p:txBody>
      </p:sp>
      <p:sp>
        <p:nvSpPr>
          <p:cNvPr id="239" name="Google Shape;239;p11"/>
          <p:cNvSpPr/>
          <p:nvPr/>
        </p:nvSpPr>
        <p:spPr>
          <a:xfrm>
            <a:off x="0" y="-8224"/>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3" name="Table 2">
            <a:extLst>
              <a:ext uri="{FF2B5EF4-FFF2-40B4-BE49-F238E27FC236}">
                <a16:creationId xmlns:a16="http://schemas.microsoft.com/office/drawing/2014/main" id="{1810906F-4BC1-8946-B5B6-108730B15E1B}"/>
              </a:ext>
            </a:extLst>
          </p:cNvPr>
          <p:cNvGraphicFramePr>
            <a:graphicFrameLocks noGrp="1"/>
          </p:cNvGraphicFramePr>
          <p:nvPr>
            <p:extLst>
              <p:ext uri="{D42A27DB-BD31-4B8C-83A1-F6EECF244321}">
                <p14:modId xmlns:p14="http://schemas.microsoft.com/office/powerpoint/2010/main" val="436964575"/>
              </p:ext>
            </p:extLst>
          </p:nvPr>
        </p:nvGraphicFramePr>
        <p:xfrm>
          <a:off x="2338690" y="2032326"/>
          <a:ext cx="1919801" cy="4418416"/>
        </p:xfrm>
        <a:graphic>
          <a:graphicData uri="http://schemas.openxmlformats.org/drawingml/2006/table">
            <a:tbl>
              <a:tblPr firstRow="1" firstCol="1" bandRow="1">
                <a:tableStyleId>{5C22544A-7EE6-4342-B048-85BDC9FD1C3A}</a:tableStyleId>
              </a:tblPr>
              <a:tblGrid>
                <a:gridCol w="1919801">
                  <a:extLst>
                    <a:ext uri="{9D8B030D-6E8A-4147-A177-3AD203B41FA5}">
                      <a16:colId xmlns:a16="http://schemas.microsoft.com/office/drawing/2014/main" val="4130381457"/>
                    </a:ext>
                  </a:extLst>
                </a:gridCol>
              </a:tblGrid>
              <a:tr h="588955">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Attraction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89623848"/>
                  </a:ext>
                </a:extLst>
              </a:tr>
              <a:tr h="1276487">
                <a:tc>
                  <a:txBody>
                    <a:bodyPr/>
                    <a:lstStyle/>
                    <a:p>
                      <a:pPr marL="0" marR="0" algn="ctr">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Bay Slides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86512576"/>
                  </a:ext>
                </a:extLst>
              </a:tr>
              <a:tr h="1276487">
                <a:tc>
                  <a:txBody>
                    <a:bodyPr/>
                    <a:lstStyle/>
                    <a:p>
                      <a:pPr marL="0" marR="0" algn="ctr">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Crush ‘n’ Gusher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1228686"/>
                  </a:ext>
                </a:extLst>
              </a:tr>
              <a:tr h="1276487">
                <a:tc>
                  <a:txBody>
                    <a:bodyPr/>
                    <a:lstStyle/>
                    <a:p>
                      <a:pPr marL="0" marR="0" algn="ctr">
                        <a:spcBef>
                          <a:spcPts val="0"/>
                        </a:spcBef>
                        <a:spcAft>
                          <a:spcPts val="0"/>
                        </a:spcAft>
                      </a:pPr>
                      <a:r>
                        <a:rPr lang="en-US" sz="2000" b="0" dirty="0" err="1">
                          <a:solidFill>
                            <a:schemeClr val="tx1"/>
                          </a:solidFill>
                          <a:effectLst/>
                          <a:latin typeface="Verdana" panose="020B0604030504040204" pitchFamily="34" charset="0"/>
                          <a:ea typeface="Verdana" panose="020B0604030504040204" pitchFamily="34" charset="0"/>
                          <a:cs typeface="Verdana" panose="020B0604030504040204" pitchFamily="34" charset="0"/>
                        </a:rPr>
                        <a:t>Ketchakiddee</a:t>
                      </a: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Creek</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33499125"/>
                  </a:ext>
                </a:extLst>
              </a:tr>
            </a:tbl>
          </a:graphicData>
        </a:graphic>
      </p:graphicFrame>
      <p:graphicFrame>
        <p:nvGraphicFramePr>
          <p:cNvPr id="4" name="Table 3">
            <a:extLst>
              <a:ext uri="{FF2B5EF4-FFF2-40B4-BE49-F238E27FC236}">
                <a16:creationId xmlns:a16="http://schemas.microsoft.com/office/drawing/2014/main" id="{4D0ADD84-13C5-B44C-80CE-3CACC2F8A9A3}"/>
              </a:ext>
            </a:extLst>
          </p:cNvPr>
          <p:cNvGraphicFramePr>
            <a:graphicFrameLocks noGrp="1"/>
          </p:cNvGraphicFramePr>
          <p:nvPr>
            <p:extLst>
              <p:ext uri="{D42A27DB-BD31-4B8C-83A1-F6EECF244321}">
                <p14:modId xmlns:p14="http://schemas.microsoft.com/office/powerpoint/2010/main" val="1067938127"/>
              </p:ext>
            </p:extLst>
          </p:nvPr>
        </p:nvGraphicFramePr>
        <p:xfrm>
          <a:off x="4502332" y="2032327"/>
          <a:ext cx="5446418" cy="4418417"/>
        </p:xfrm>
        <a:graphic>
          <a:graphicData uri="http://schemas.openxmlformats.org/drawingml/2006/table">
            <a:tbl>
              <a:tblPr firstRow="1" firstCol="1" bandRow="1">
                <a:tableStyleId>{5C22544A-7EE6-4342-B048-85BDC9FD1C3A}</a:tableStyleId>
              </a:tblPr>
              <a:tblGrid>
                <a:gridCol w="5446418">
                  <a:extLst>
                    <a:ext uri="{9D8B030D-6E8A-4147-A177-3AD203B41FA5}">
                      <a16:colId xmlns:a16="http://schemas.microsoft.com/office/drawing/2014/main" val="3828720109"/>
                    </a:ext>
                  </a:extLst>
                </a:gridCol>
              </a:tblGrid>
              <a:tr h="702160">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Graph Representing Safe Heights for the Attraction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643066234"/>
                  </a:ext>
                </a:extLst>
              </a:tr>
              <a:tr h="931544">
                <a:tc>
                  <a:txBody>
                    <a:bodyPr/>
                    <a:lstStyle/>
                    <a:p>
                      <a:pPr marL="0" marR="0">
                        <a:spcBef>
                          <a:spcPts val="0"/>
                        </a:spcBef>
                        <a:spcAft>
                          <a:spcPts val="0"/>
                        </a:spcAft>
                      </a:pPr>
                      <a:endParaRPr lang="en-US" sz="1800" dirty="0">
                        <a:solidFill>
                          <a:schemeClr val="tx1"/>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27290050"/>
                  </a:ext>
                </a:extLst>
              </a:tr>
              <a:tr h="901599">
                <a:tc>
                  <a:txBody>
                    <a:bodyPr/>
                    <a:lstStyle/>
                    <a:p>
                      <a:pPr marL="0" marR="0">
                        <a:spcBef>
                          <a:spcPts val="0"/>
                        </a:spcBef>
                        <a:spcAft>
                          <a:spcPts val="0"/>
                        </a:spcAft>
                      </a:pPr>
                      <a:endParaRPr lang="en-US" sz="1800" dirty="0">
                        <a:solidFill>
                          <a:schemeClr val="tx1"/>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2467302"/>
                  </a:ext>
                </a:extLst>
              </a:tr>
              <a:tr h="933769">
                <a:tc>
                  <a:txBody>
                    <a:bodyPr/>
                    <a:lstStyle/>
                    <a:p>
                      <a:pPr marL="0" marR="0">
                        <a:spcBef>
                          <a:spcPts val="0"/>
                        </a:spcBef>
                        <a:spcAft>
                          <a:spcPts val="0"/>
                        </a:spcAft>
                      </a:pPr>
                      <a:endParaRPr lang="en-US" sz="1800" dirty="0">
                        <a:solidFill>
                          <a:schemeClr val="tx1"/>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30116768"/>
                  </a:ext>
                </a:extLst>
              </a:tr>
              <a:tr h="949345">
                <a:tc>
                  <a:txBody>
                    <a:bodyPr/>
                    <a:lstStyle/>
                    <a:p>
                      <a:pPr marL="0" marR="0">
                        <a:spcBef>
                          <a:spcPts val="0"/>
                        </a:spcBef>
                        <a:spcAft>
                          <a:spcPts val="0"/>
                        </a:spcAft>
                      </a:pPr>
                      <a:endParaRPr lang="en-US" sz="1800" dirty="0">
                        <a:solidFill>
                          <a:schemeClr val="tx1"/>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6143450"/>
                  </a:ext>
                </a:extLst>
              </a:tr>
            </a:tbl>
          </a:graphicData>
        </a:graphic>
      </p:graphicFrame>
      <p:pic>
        <p:nvPicPr>
          <p:cNvPr id="17" name="Picture 16">
            <a:extLst>
              <a:ext uri="{FF2B5EF4-FFF2-40B4-BE49-F238E27FC236}">
                <a16:creationId xmlns:a16="http://schemas.microsoft.com/office/drawing/2014/main" id="{CD106FCB-8B04-BA49-A892-BBB4B834BB9C}"/>
              </a:ext>
            </a:extLst>
          </p:cNvPr>
          <p:cNvPicPr>
            <a:picLocks noChangeAspect="1"/>
          </p:cNvPicPr>
          <p:nvPr/>
        </p:nvPicPr>
        <p:blipFill>
          <a:blip r:embed="rId3"/>
          <a:stretch>
            <a:fillRect/>
          </a:stretch>
        </p:blipFill>
        <p:spPr>
          <a:xfrm>
            <a:off x="4779521" y="3021601"/>
            <a:ext cx="4892040" cy="403225"/>
          </a:xfrm>
          <a:prstGeom prst="rect">
            <a:avLst/>
          </a:prstGeom>
        </p:spPr>
      </p:pic>
      <p:pic>
        <p:nvPicPr>
          <p:cNvPr id="18" name="Picture 17">
            <a:extLst>
              <a:ext uri="{FF2B5EF4-FFF2-40B4-BE49-F238E27FC236}">
                <a16:creationId xmlns:a16="http://schemas.microsoft.com/office/drawing/2014/main" id="{8B6C5E7E-644A-F94A-90B6-B59F1E3CB0FC}"/>
              </a:ext>
            </a:extLst>
          </p:cNvPr>
          <p:cNvPicPr>
            <a:picLocks noChangeAspect="1"/>
          </p:cNvPicPr>
          <p:nvPr/>
        </p:nvPicPr>
        <p:blipFill>
          <a:blip r:embed="rId4"/>
          <a:stretch>
            <a:fillRect/>
          </a:stretch>
        </p:blipFill>
        <p:spPr>
          <a:xfrm>
            <a:off x="4779521" y="3980237"/>
            <a:ext cx="4892040" cy="340995"/>
          </a:xfrm>
          <a:prstGeom prst="rect">
            <a:avLst/>
          </a:prstGeom>
        </p:spPr>
      </p:pic>
      <p:pic>
        <p:nvPicPr>
          <p:cNvPr id="19" name="Picture 18">
            <a:extLst>
              <a:ext uri="{FF2B5EF4-FFF2-40B4-BE49-F238E27FC236}">
                <a16:creationId xmlns:a16="http://schemas.microsoft.com/office/drawing/2014/main" id="{86E6F7E7-9AB1-A547-97E6-78BB7FBCA6D2}"/>
              </a:ext>
            </a:extLst>
          </p:cNvPr>
          <p:cNvPicPr>
            <a:picLocks noChangeAspect="1"/>
          </p:cNvPicPr>
          <p:nvPr/>
        </p:nvPicPr>
        <p:blipFill>
          <a:blip r:embed="rId5"/>
          <a:stretch>
            <a:fillRect/>
          </a:stretch>
        </p:blipFill>
        <p:spPr>
          <a:xfrm>
            <a:off x="4779521" y="4872228"/>
            <a:ext cx="4892040" cy="374015"/>
          </a:xfrm>
          <a:prstGeom prst="rect">
            <a:avLst/>
          </a:prstGeom>
        </p:spPr>
      </p:pic>
      <p:pic>
        <p:nvPicPr>
          <p:cNvPr id="20" name="Picture 19">
            <a:extLst>
              <a:ext uri="{FF2B5EF4-FFF2-40B4-BE49-F238E27FC236}">
                <a16:creationId xmlns:a16="http://schemas.microsoft.com/office/drawing/2014/main" id="{D6F2D179-0A89-3540-9989-D1A8D827B027}"/>
              </a:ext>
            </a:extLst>
          </p:cNvPr>
          <p:cNvPicPr>
            <a:picLocks noChangeAspect="1"/>
          </p:cNvPicPr>
          <p:nvPr/>
        </p:nvPicPr>
        <p:blipFill>
          <a:blip r:embed="rId6"/>
          <a:stretch>
            <a:fillRect/>
          </a:stretch>
        </p:blipFill>
        <p:spPr>
          <a:xfrm>
            <a:off x="4779521" y="5797238"/>
            <a:ext cx="4892040" cy="317500"/>
          </a:xfrm>
          <a:prstGeom prst="rect">
            <a:avLst/>
          </a:prstGeom>
        </p:spPr>
      </p:pic>
      <p:sp>
        <p:nvSpPr>
          <p:cNvPr id="12"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384</a:t>
            </a:r>
            <a:endParaRPr i="1" dirty="0">
              <a:latin typeface="Calibri"/>
              <a:ea typeface="Calibri"/>
              <a:cs typeface="Calibri"/>
              <a:sym typeface="Calibri"/>
            </a:endParaRPr>
          </a:p>
        </p:txBody>
      </p:sp>
      <p:pic>
        <p:nvPicPr>
          <p:cNvPr id="13"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8" name="Google Shape;238;p11"/>
          <p:cNvSpPr txBox="1"/>
          <p:nvPr/>
        </p:nvSpPr>
        <p:spPr>
          <a:xfrm>
            <a:off x="1195754" y="520393"/>
            <a:ext cx="9951158" cy="2554505"/>
          </a:xfrm>
          <a:prstGeom prst="rect">
            <a:avLst/>
          </a:prstGeom>
          <a:noFill/>
          <a:ln>
            <a:noFill/>
          </a:ln>
        </p:spPr>
        <p:txBody>
          <a:bodyPr spcFirstLastPara="1" wrap="square" lIns="91425" tIns="45700" rIns="91425" bIns="45700" anchor="t" anchorCtr="0">
            <a:spAutoFit/>
          </a:bodyPr>
          <a:lstStyle/>
          <a:p>
            <a:pPr marL="457200" lvl="1"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Nick is happy to realize that he is tall enough to go on the Crush ‘n’ Gusher raft ride. Nick’s friend Matt is </a:t>
            </a:r>
            <a:r>
              <a:rPr lang="en-US" sz="2000" dirty="0">
                <a:latin typeface="Cambria Math" panose="02040503050406030204" pitchFamily="18" charset="0"/>
                <a:ea typeface="Cambria Math" panose="02040503050406030204" pitchFamily="18" charset="0"/>
                <a:cs typeface="Verdana" panose="020B0604030504040204" pitchFamily="34" charset="0"/>
              </a:rPr>
              <a:t>2</a:t>
            </a:r>
            <a:r>
              <a:rPr lang="en-US" sz="2000" dirty="0">
                <a:latin typeface="Verdana" panose="020B0604030504040204" pitchFamily="34" charset="0"/>
                <a:ea typeface="Verdana" panose="020B0604030504040204" pitchFamily="34" charset="0"/>
                <a:cs typeface="Verdana" panose="020B0604030504040204" pitchFamily="34" charset="0"/>
              </a:rPr>
              <a:t> inches shorter than Nick. Explain whether Matt is tall enough to go on the ride with Nick. </a:t>
            </a:r>
          </a:p>
          <a:p>
            <a:pPr marL="457200" lvl="1"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p:sp>
        <p:nvSpPr>
          <p:cNvPr id="239" name="Google Shape;239;p11"/>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385</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106782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8" name="Google Shape;238;p11"/>
              <p:cNvSpPr txBox="1"/>
              <p:nvPr/>
            </p:nvSpPr>
            <p:spPr>
              <a:xfrm>
                <a:off x="2007765" y="520394"/>
                <a:ext cx="8327136" cy="5940047"/>
              </a:xfrm>
              <a:prstGeom prst="rect">
                <a:avLst/>
              </a:prstGeom>
              <a:noFill/>
              <a:ln>
                <a:noFill/>
              </a:ln>
            </p:spPr>
            <p:txBody>
              <a:bodyPr spcFirstLastPara="1" wrap="square" lIns="91425" tIns="45700" rIns="91425" bIns="45700" anchor="t" anchorCtr="0">
                <a:spAutoFit/>
              </a:bodyPr>
              <a:lstStyle/>
              <a:p>
                <a:pPr marL="457200" lvl="1"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Complete the statements.</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If Nick is </a:t>
                </a:r>
                <a14:m>
                  <m:oMath xmlns:m="http://schemas.openxmlformats.org/officeDocument/2006/math">
                    <m:r>
                      <a:rPr lang="en-US" sz="2000" i="1">
                        <a:latin typeface="Cambria Math" panose="02040503050406030204" pitchFamily="18" charset="0"/>
                      </a:rPr>
                      <m:t>𝑛</m:t>
                    </m:r>
                  </m:oMath>
                </a14:m>
                <a:r>
                  <a:rPr lang="en-US" sz="2000" dirty="0">
                    <a:latin typeface="Verdana" panose="020B0604030504040204" pitchFamily="34" charset="0"/>
                    <a:ea typeface="Verdana" panose="020B0604030504040204" pitchFamily="34" charset="0"/>
                    <a:cs typeface="Verdana" panose="020B0604030504040204" pitchFamily="34" charset="0"/>
                  </a:rPr>
                  <a:t> inches tall, then Matt is                inches tall. </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For Matt to be tall enough to go on Crush ‘n’ Gusher, </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the value of                 must be                           or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equal to              Therefore, the solutions to the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inequality                                 represent Nick’s height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that mean Matt could also ride the Crush ‘n’ Gusher. </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238" name="Google Shape;238;p11"/>
              <p:cNvSpPr txBox="1">
                <a:spLocks noRot="1" noChangeAspect="1" noMove="1" noResize="1" noEditPoints="1" noAdjustHandles="1" noChangeArrowheads="1" noChangeShapeType="1" noTextEdit="1"/>
              </p:cNvSpPr>
              <p:nvPr/>
            </p:nvSpPr>
            <p:spPr>
              <a:xfrm>
                <a:off x="483765" y="520393"/>
                <a:ext cx="8327136" cy="5940047"/>
              </a:xfrm>
              <a:prstGeom prst="rect">
                <a:avLst/>
              </a:prstGeom>
              <a:blipFill>
                <a:blip r:embed="rId4"/>
                <a:stretch>
                  <a:fillRect l="-609" t="-426"/>
                </a:stretch>
              </a:blipFill>
              <a:ln>
                <a:noFill/>
              </a:ln>
            </p:spPr>
            <p:txBody>
              <a:bodyPr/>
              <a:lstStyle/>
              <a:p>
                <a:r>
                  <a:rPr lang="en-US">
                    <a:noFill/>
                  </a:rPr>
                  <a:t> </a:t>
                </a:r>
              </a:p>
            </p:txBody>
          </p:sp>
        </mc:Fallback>
      </mc:AlternateContent>
      <p:sp>
        <p:nvSpPr>
          <p:cNvPr id="239" name="Google Shape;239;p11"/>
          <p:cNvSpPr/>
          <p:nvPr/>
        </p:nvSpPr>
        <p:spPr>
          <a:xfrm>
            <a:off x="23334"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sp>
            <p:nvSpPr>
              <p:cNvPr id="12" name="Rounded Rectangle 11">
                <a:extLst>
                  <a:ext uri="{FF2B5EF4-FFF2-40B4-BE49-F238E27FC236}">
                    <a16:creationId xmlns:a16="http://schemas.microsoft.com/office/drawing/2014/main" id="{538F2132-5E6C-C147-8B48-BEEA535ABB93}"/>
                  </a:ext>
                </a:extLst>
              </p:cNvPr>
              <p:cNvSpPr/>
              <p:nvPr/>
            </p:nvSpPr>
            <p:spPr>
              <a:xfrm>
                <a:off x="7105258" y="993392"/>
                <a:ext cx="1220137" cy="620051"/>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𝑛</m:t>
                    </m:r>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spcAft>
                    <a:spcPts val="1000"/>
                  </a:spcAft>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𝑛</m:t>
                    </m:r>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2" name="Rounded Rectangle 11">
                <a:extLst>
                  <a:ext uri="{FF2B5EF4-FFF2-40B4-BE49-F238E27FC236}">
                    <a16:creationId xmlns:a16="http://schemas.microsoft.com/office/drawing/2014/main" id="{538F2132-5E6C-C147-8B48-BEEA535ABB93}"/>
                  </a:ext>
                </a:extLst>
              </p:cNvPr>
              <p:cNvSpPr>
                <a:spLocks noRot="1" noChangeAspect="1" noMove="1" noResize="1" noEditPoints="1" noAdjustHandles="1" noChangeArrowheads="1" noChangeShapeType="1" noTextEdit="1"/>
              </p:cNvSpPr>
              <p:nvPr/>
            </p:nvSpPr>
            <p:spPr>
              <a:xfrm>
                <a:off x="5581257" y="993391"/>
                <a:ext cx="1220137" cy="620051"/>
              </a:xfrm>
              <a:prstGeom prst="roundRect">
                <a:avLst/>
              </a:prstGeom>
              <a:blipFill>
                <a:blip r:embed="rId5"/>
                <a:stretch>
                  <a:fillRect l="-2041" t="-3922" b="-25490"/>
                </a:stretch>
              </a:blipFill>
              <a:ln>
                <a:solidFill>
                  <a:schemeClr val="tx1"/>
                </a:solidFill>
              </a:ln>
              <a:effectLst/>
            </p:spPr>
            <p:txBody>
              <a:bodyPr/>
              <a:lstStyle/>
              <a:p>
                <a:r>
                  <a:rPr lang="en-US">
                    <a:noFill/>
                  </a:rPr>
                  <a:t> </a:t>
                </a:r>
              </a:p>
            </p:txBody>
          </p:sp>
        </mc:Fallback>
      </mc:AlternateContent>
      <p:sp>
        <p:nvSpPr>
          <p:cNvPr id="13" name="Rounded Rectangle 12">
            <a:extLst>
              <a:ext uri="{FF2B5EF4-FFF2-40B4-BE49-F238E27FC236}">
                <a16:creationId xmlns:a16="http://schemas.microsoft.com/office/drawing/2014/main" id="{DB00D6A6-F230-3946-8CBF-155EC0691CEF}"/>
              </a:ext>
            </a:extLst>
          </p:cNvPr>
          <p:cNvSpPr/>
          <p:nvPr/>
        </p:nvSpPr>
        <p:spPr>
          <a:xfrm>
            <a:off x="6683888" y="2223429"/>
            <a:ext cx="2224980" cy="709426"/>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less than</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greater than</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sp>
            <p:nvSpPr>
              <p:cNvPr id="14" name="Rounded Rectangle 13">
                <a:extLst>
                  <a:ext uri="{FF2B5EF4-FFF2-40B4-BE49-F238E27FC236}">
                    <a16:creationId xmlns:a16="http://schemas.microsoft.com/office/drawing/2014/main" id="{7A6333B4-5684-0D47-9C3F-D00688ED5633}"/>
                  </a:ext>
                </a:extLst>
              </p:cNvPr>
              <p:cNvSpPr/>
              <p:nvPr/>
            </p:nvSpPr>
            <p:spPr>
              <a:xfrm>
                <a:off x="3715011" y="3132790"/>
                <a:ext cx="1007087" cy="715252"/>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48</m:t>
                    </m:r>
                  </m:oMath>
                </a14:m>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spcAft>
                    <a:spcPts val="1000"/>
                  </a:spcAft>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60</m:t>
                    </m:r>
                  </m:oMath>
                </a14:m>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Rounded Rectangle 13">
                <a:extLst>
                  <a:ext uri="{FF2B5EF4-FFF2-40B4-BE49-F238E27FC236}">
                    <a16:creationId xmlns:a16="http://schemas.microsoft.com/office/drawing/2014/main" id="{7A6333B4-5684-0D47-9C3F-D00688ED5633}"/>
                  </a:ext>
                </a:extLst>
              </p:cNvPr>
              <p:cNvSpPr>
                <a:spLocks noRot="1" noChangeAspect="1" noMove="1" noResize="1" noEditPoints="1" noAdjustHandles="1" noChangeArrowheads="1" noChangeShapeType="1" noTextEdit="1"/>
              </p:cNvSpPr>
              <p:nvPr/>
            </p:nvSpPr>
            <p:spPr>
              <a:xfrm>
                <a:off x="2191010" y="3132790"/>
                <a:ext cx="1007087" cy="715252"/>
              </a:xfrm>
              <a:prstGeom prst="roundRect">
                <a:avLst/>
              </a:prstGeom>
              <a:blipFill>
                <a:blip r:embed="rId6"/>
                <a:stretch>
                  <a:fillRect l="-1220" t="-3448" b="-15517"/>
                </a:stretch>
              </a:blipFill>
              <a:ln>
                <a:solidFill>
                  <a:schemeClr val="tx1"/>
                </a:solid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ounded Rectangle 14">
                <a:extLst>
                  <a:ext uri="{FF2B5EF4-FFF2-40B4-BE49-F238E27FC236}">
                    <a16:creationId xmlns:a16="http://schemas.microsoft.com/office/drawing/2014/main" id="{56CB71AD-65E2-E24A-9881-E376ECCD059A}"/>
                  </a:ext>
                </a:extLst>
              </p:cNvPr>
              <p:cNvSpPr/>
              <p:nvPr/>
            </p:nvSpPr>
            <p:spPr>
              <a:xfrm>
                <a:off x="3869775" y="3981830"/>
                <a:ext cx="1568916" cy="1539404"/>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𝑛</m:t>
                    </m:r>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+2≤</m:t>
                    </m:r>
                  </m:oMath>
                </a14:m>
                <a:endParaRPr lang="en-US" sz="2000" dirty="0">
                  <a:latin typeface="Cambria Math" panose="02040503050406030204" pitchFamily="18" charset="0"/>
                  <a:ea typeface="Cambria Math" panose="02040503050406030204" pitchFamily="18" charset="0"/>
                  <a:cs typeface="Verdana" panose="020B0604030504040204" pitchFamily="34" charset="0"/>
                </a:endParaRPr>
              </a:p>
              <a:p>
                <a:pPr marL="342900" indent="-342900">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𝑛</m:t>
                    </m:r>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+2≥</m:t>
                    </m:r>
                  </m:oMath>
                </a14:m>
                <a:endParaRPr lang="en-US" sz="2000" dirty="0">
                  <a:latin typeface="Cambria Math" panose="02040503050406030204" pitchFamily="18" charset="0"/>
                  <a:ea typeface="Cambria Math" panose="02040503050406030204" pitchFamily="18" charset="0"/>
                  <a:cs typeface="Verdana" panose="020B0604030504040204" pitchFamily="34" charset="0"/>
                </a:endParaRPr>
              </a:p>
              <a:p>
                <a:pPr marL="342900" indent="-342900">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𝑛</m:t>
                    </m:r>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−2≤</m:t>
                    </m:r>
                  </m:oMath>
                </a14:m>
                <a:endParaRPr lang="en-US" sz="2000" dirty="0">
                  <a:latin typeface="Cambria Math" panose="02040503050406030204" pitchFamily="18" charset="0"/>
                  <a:ea typeface="Cambria Math" panose="02040503050406030204" pitchFamily="18" charset="0"/>
                  <a:cs typeface="Verdana" panose="020B0604030504040204" pitchFamily="34" charset="0"/>
                </a:endParaRPr>
              </a:p>
              <a:p>
                <a:pPr marL="342900" indent="-342900">
                  <a:spcAft>
                    <a:spcPts val="1000"/>
                  </a:spcAft>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𝑛</m:t>
                    </m:r>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−2≥</m:t>
                    </m:r>
                  </m:oMath>
                </a14:m>
                <a:endParaRPr lang="en-US" sz="2000" dirty="0">
                  <a:latin typeface="Cambria Math" panose="02040503050406030204" pitchFamily="18" charset="0"/>
                  <a:ea typeface="Cambria Math" panose="02040503050406030204" pitchFamily="18" charset="0"/>
                  <a:cs typeface="Verdana" panose="020B0604030504040204" pitchFamily="34" charset="0"/>
                </a:endParaRPr>
              </a:p>
            </p:txBody>
          </p:sp>
        </mc:Choice>
        <mc:Fallback xmlns="">
          <p:sp>
            <p:nvSpPr>
              <p:cNvPr id="15" name="Rounded Rectangle 14">
                <a:extLst>
                  <a:ext uri="{FF2B5EF4-FFF2-40B4-BE49-F238E27FC236}">
                    <a16:creationId xmlns:a16="http://schemas.microsoft.com/office/drawing/2014/main" id="{56CB71AD-65E2-E24A-9881-E376ECCD059A}"/>
                  </a:ext>
                </a:extLst>
              </p:cNvPr>
              <p:cNvSpPr>
                <a:spLocks noRot="1" noChangeAspect="1" noMove="1" noResize="1" noEditPoints="1" noAdjustHandles="1" noChangeArrowheads="1" noChangeShapeType="1" noTextEdit="1"/>
              </p:cNvSpPr>
              <p:nvPr/>
            </p:nvSpPr>
            <p:spPr>
              <a:xfrm>
                <a:off x="2345775" y="3981830"/>
                <a:ext cx="1568916" cy="1539404"/>
              </a:xfrm>
              <a:prstGeom prst="roundRect">
                <a:avLst/>
              </a:prstGeom>
              <a:blipFill>
                <a:blip r:embed="rId7"/>
                <a:stretch>
                  <a:fillRect/>
                </a:stretch>
              </a:blipFill>
              <a:ln>
                <a:solidFill>
                  <a:schemeClr val="tx1"/>
                </a:solid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16782559-7D0C-1E49-BCF0-076BB4080DE3}"/>
                  </a:ext>
                </a:extLst>
              </p:cNvPr>
              <p:cNvSpPr/>
              <p:nvPr/>
            </p:nvSpPr>
            <p:spPr>
              <a:xfrm>
                <a:off x="4218555" y="2223430"/>
                <a:ext cx="1220137" cy="620051"/>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𝑛</m:t>
                    </m:r>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spcAft>
                    <a:spcPts val="1000"/>
                  </a:spcAft>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𝑛</m:t>
                    </m:r>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6" name="Rounded Rectangle 15">
                <a:extLst>
                  <a:ext uri="{FF2B5EF4-FFF2-40B4-BE49-F238E27FC236}">
                    <a16:creationId xmlns:a16="http://schemas.microsoft.com/office/drawing/2014/main" id="{16782559-7D0C-1E49-BCF0-076BB4080DE3}"/>
                  </a:ext>
                </a:extLst>
              </p:cNvPr>
              <p:cNvSpPr>
                <a:spLocks noRot="1" noChangeAspect="1" noMove="1" noResize="1" noEditPoints="1" noAdjustHandles="1" noChangeArrowheads="1" noChangeShapeType="1" noTextEdit="1"/>
              </p:cNvSpPr>
              <p:nvPr/>
            </p:nvSpPr>
            <p:spPr>
              <a:xfrm>
                <a:off x="2694554" y="2223429"/>
                <a:ext cx="1220137" cy="620051"/>
              </a:xfrm>
              <a:prstGeom prst="roundRect">
                <a:avLst/>
              </a:prstGeom>
              <a:blipFill>
                <a:blip r:embed="rId8"/>
                <a:stretch>
                  <a:fillRect l="-1020" t="-3922" b="-25490"/>
                </a:stretch>
              </a:blipFill>
              <a:ln>
                <a:solidFill>
                  <a:schemeClr val="tx1"/>
                </a:solid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ounded Rectangle 20">
                <a:extLst>
                  <a:ext uri="{FF2B5EF4-FFF2-40B4-BE49-F238E27FC236}">
                    <a16:creationId xmlns:a16="http://schemas.microsoft.com/office/drawing/2014/main" id="{448FDF89-8923-E04E-853D-FE4DE91B3C0F}"/>
                  </a:ext>
                </a:extLst>
              </p:cNvPr>
              <p:cNvSpPr/>
              <p:nvPr/>
            </p:nvSpPr>
            <p:spPr>
              <a:xfrm>
                <a:off x="5592457" y="4299167"/>
                <a:ext cx="1007087" cy="715252"/>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48</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spcAft>
                    <a:spcPts val="1000"/>
                  </a:spcAft>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60</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1" name="Rounded Rectangle 20">
                <a:extLst>
                  <a:ext uri="{FF2B5EF4-FFF2-40B4-BE49-F238E27FC236}">
                    <a16:creationId xmlns:a16="http://schemas.microsoft.com/office/drawing/2014/main" id="{448FDF89-8923-E04E-853D-FE4DE91B3C0F}"/>
                  </a:ext>
                </a:extLst>
              </p:cNvPr>
              <p:cNvSpPr>
                <a:spLocks noRot="1" noChangeAspect="1" noMove="1" noResize="1" noEditPoints="1" noAdjustHandles="1" noChangeArrowheads="1" noChangeShapeType="1" noTextEdit="1"/>
              </p:cNvSpPr>
              <p:nvPr/>
            </p:nvSpPr>
            <p:spPr>
              <a:xfrm>
                <a:off x="4068456" y="4299167"/>
                <a:ext cx="1007087" cy="715252"/>
              </a:xfrm>
              <a:prstGeom prst="roundRect">
                <a:avLst/>
              </a:prstGeom>
              <a:blipFill>
                <a:blip r:embed="rId9"/>
                <a:stretch>
                  <a:fillRect l="-1220" b="-15254"/>
                </a:stretch>
              </a:blipFill>
              <a:ln>
                <a:solidFill>
                  <a:schemeClr val="tx1"/>
                </a:solidFill>
              </a:ln>
              <a:effectLst/>
            </p:spPr>
            <p:txBody>
              <a:bodyPr/>
              <a:lstStyle/>
              <a:p>
                <a:r>
                  <a:rPr lang="en-US">
                    <a:noFill/>
                  </a:rPr>
                  <a:t> </a:t>
                </a:r>
              </a:p>
            </p:txBody>
          </p:sp>
        </mc:Fallback>
      </mc:AlternateContent>
      <p:sp>
        <p:nvSpPr>
          <p:cNvPr id="17"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385</a:t>
            </a:r>
            <a:endParaRPr i="1" dirty="0">
              <a:latin typeface="Calibri"/>
              <a:ea typeface="Calibri"/>
              <a:cs typeface="Calibri"/>
              <a:sym typeface="Calibri"/>
            </a:endParaRPr>
          </a:p>
        </p:txBody>
      </p:sp>
      <p:pic>
        <p:nvPicPr>
          <p:cNvPr id="18" name="Google Shape;126;g104476d1465_1_17"/>
          <p:cNvPicPr preferRelativeResize="0"/>
          <p:nvPr/>
        </p:nvPicPr>
        <p:blipFill rotWithShape="1">
          <a:blip r:embed="rId10"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720009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8" name="Google Shape;238;p11"/>
          <p:cNvSpPr txBox="1"/>
          <p:nvPr/>
        </p:nvSpPr>
        <p:spPr>
          <a:xfrm>
            <a:off x="1125415" y="520394"/>
            <a:ext cx="10091836" cy="5609187"/>
          </a:xfrm>
          <a:prstGeom prst="rect">
            <a:avLst/>
          </a:prstGeom>
          <a:noFill/>
          <a:ln>
            <a:noFill/>
          </a:ln>
        </p:spPr>
        <p:txBody>
          <a:bodyPr spcFirstLastPara="1" wrap="square" lIns="91425" tIns="45700" rIns="91425" bIns="45700" anchor="t" anchorCtr="0">
            <a:spAutoFit/>
          </a:bodyPr>
          <a:lstStyle/>
          <a:p>
            <a:pPr marL="457200" lvl="1"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On the number line, show all the possible heights that Nick could be if Matt is also tall enough to go on the ride.</a:t>
            </a:r>
          </a:p>
          <a:p>
            <a:pPr lvl="1"/>
            <a:endParaRPr lang="en-US" sz="2000" dirty="0">
              <a:latin typeface="Verdana" panose="020B0604030504040204" pitchFamily="34" charset="0"/>
              <a:ea typeface="Verdana" panose="020B0604030504040204" pitchFamily="34" charset="0"/>
              <a:cs typeface="Verdana" panose="020B0604030504040204" pitchFamily="34" charset="0"/>
            </a:endParaRPr>
          </a:p>
          <a:p>
            <a:pPr lvl="1"/>
            <a:endParaRPr lang="en-US" sz="2000" dirty="0">
              <a:latin typeface="Verdana" panose="020B0604030504040204" pitchFamily="34" charset="0"/>
              <a:ea typeface="Verdana" panose="020B0604030504040204" pitchFamily="34" charset="0"/>
              <a:cs typeface="Verdana" panose="020B0604030504040204" pitchFamily="34" charset="0"/>
            </a:endParaRPr>
          </a:p>
          <a:p>
            <a:pPr lvl="1"/>
            <a:endParaRPr lang="en-US" sz="2000" dirty="0">
              <a:latin typeface="Verdana" panose="020B0604030504040204" pitchFamily="34" charset="0"/>
              <a:ea typeface="Verdana" panose="020B0604030504040204" pitchFamily="34" charset="0"/>
              <a:cs typeface="Verdana" panose="020B0604030504040204" pitchFamily="34" charset="0"/>
            </a:endParaRPr>
          </a:p>
          <a:p>
            <a:pPr lvl="1"/>
            <a:endParaRPr lang="en-US" sz="2000" dirty="0">
              <a:latin typeface="Verdana" panose="020B0604030504040204" pitchFamily="34" charset="0"/>
              <a:ea typeface="Verdana" panose="020B0604030504040204" pitchFamily="34" charset="0"/>
              <a:cs typeface="Verdana" panose="020B0604030504040204" pitchFamily="34" charset="0"/>
            </a:endParaRPr>
          </a:p>
          <a:p>
            <a:pPr lvl="1"/>
            <a:endParaRPr lang="en-US" sz="2000" dirty="0">
              <a:latin typeface="Verdana" panose="020B0604030504040204" pitchFamily="34" charset="0"/>
              <a:ea typeface="Verdana" panose="020B0604030504040204" pitchFamily="34" charset="0"/>
              <a:cs typeface="Verdana" panose="020B0604030504040204" pitchFamily="34" charset="0"/>
            </a:endParaRPr>
          </a:p>
          <a:p>
            <a:pPr lvl="1"/>
            <a:endParaRPr lang="en-US" sz="2000" dirty="0">
              <a:latin typeface="Verdana" panose="020B0604030504040204" pitchFamily="34" charset="0"/>
              <a:ea typeface="Verdana" panose="020B0604030504040204" pitchFamily="34" charset="0"/>
              <a:cs typeface="Verdana" panose="020B0604030504040204" pitchFamily="34" charset="0"/>
            </a:endParaRPr>
          </a:p>
          <a:p>
            <a:pPr lvl="1"/>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What is the minimum height Nick must be in order for Matt to be able to go on the ride as well?</a:t>
            </a:r>
          </a:p>
          <a:p>
            <a:r>
              <a:rPr lang="en-US" dirty="0"/>
              <a:t> </a:t>
            </a:r>
            <a:endParaRPr lang="en-US" sz="1050" dirty="0"/>
          </a:p>
          <a:p>
            <a:pPr lvl="1"/>
            <a:endParaRPr lang="en-US" sz="1050" dirty="0"/>
          </a:p>
          <a:p>
            <a:r>
              <a:rPr lang="en-US" dirty="0"/>
              <a:t> </a:t>
            </a:r>
            <a:endParaRPr lang="en-US" sz="1050" dirty="0"/>
          </a:p>
          <a:p>
            <a:pPr marL="457200" lvl="1"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p:sp>
        <p:nvSpPr>
          <p:cNvPr id="239" name="Google Shape;239;p11"/>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6" name="Picture 5">
            <a:extLst>
              <a:ext uri="{FF2B5EF4-FFF2-40B4-BE49-F238E27FC236}">
                <a16:creationId xmlns:a16="http://schemas.microsoft.com/office/drawing/2014/main" id="{14298E22-1D7C-E24C-BFE2-8B1860C204F7}"/>
              </a:ext>
            </a:extLst>
          </p:cNvPr>
          <p:cNvPicPr>
            <a:picLocks noChangeAspect="1"/>
          </p:cNvPicPr>
          <p:nvPr/>
        </p:nvPicPr>
        <p:blipFill>
          <a:blip r:embed="rId3"/>
          <a:stretch>
            <a:fillRect/>
          </a:stretch>
        </p:blipFill>
        <p:spPr>
          <a:xfrm>
            <a:off x="2429691" y="2333308"/>
            <a:ext cx="6949440" cy="484505"/>
          </a:xfrm>
          <a:prstGeom prst="rect">
            <a:avLst/>
          </a:prstGeom>
        </p:spPr>
      </p:pic>
      <p:sp>
        <p:nvSpPr>
          <p:cNvPr id="7"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385</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29048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8" name="Google Shape;238;p11"/>
              <p:cNvSpPr txBox="1"/>
              <p:nvPr/>
            </p:nvSpPr>
            <p:spPr>
              <a:xfrm>
                <a:off x="1167618" y="520393"/>
                <a:ext cx="10007430" cy="3854861"/>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Julia noticed the graph also represents the solutions to the inequality </a:t>
                </a:r>
                <a14:m>
                  <m:oMath xmlns:m="http://schemas.openxmlformats.org/officeDocument/2006/math">
                    <m:r>
                      <a:rPr lang="en-US" sz="2000" i="1">
                        <a:latin typeface="Cambria Math" panose="02040503050406030204" pitchFamily="18" charset="0"/>
                        <a:ea typeface="Cambria Math" panose="02040503050406030204" pitchFamily="18" charset="0"/>
                      </a:rPr>
                      <m:t>𝑛</m:t>
                    </m:r>
                    <m:r>
                      <a:rPr lang="en-US" sz="2000" i="1">
                        <a:latin typeface="Cambria Math" panose="02040503050406030204" pitchFamily="18" charset="0"/>
                        <a:ea typeface="Cambria Math" panose="02040503050406030204" pitchFamily="18" charset="0"/>
                      </a:rPr>
                      <m:t>≥50</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lvl="1" indent="-457200">
                  <a:buFont typeface="+mj-lt"/>
                  <a:buAutoNum type="arabicPeriod" startAt="6"/>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explain why the solutions to the inequality </a:t>
                </a:r>
                <a14:m>
                  <m:oMath xmlns:m="http://schemas.openxmlformats.org/officeDocument/2006/math">
                    <m:r>
                      <a:rPr lang="en-US" sz="2000" i="1">
                        <a:latin typeface="Cambria Math" panose="02040503050406030204" pitchFamily="18" charset="0"/>
                        <a:ea typeface="Cambria Math" panose="02040503050406030204" pitchFamily="18" charset="0"/>
                      </a:rPr>
                      <m:t>𝑛</m:t>
                    </m:r>
                    <m:r>
                      <a:rPr lang="en-US" sz="2000" i="1">
                        <a:latin typeface="Cambria Math" panose="02040503050406030204" pitchFamily="18" charset="0"/>
                        <a:ea typeface="Cambria Math" panose="02040503050406030204" pitchFamily="18" charset="0"/>
                      </a:rPr>
                      <m:t>−2≥48</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can be represented the same way on a number line as </a:t>
                </a:r>
                <a14:m>
                  <m:oMath xmlns:m="http://schemas.openxmlformats.org/officeDocument/2006/math">
                    <m:r>
                      <a:rPr lang="en-US" sz="2000" i="1">
                        <a:latin typeface="Cambria Math" panose="02040503050406030204" pitchFamily="18" charset="0"/>
                        <a:ea typeface="Cambria Math" panose="02040503050406030204" pitchFamily="18" charset="0"/>
                      </a:rPr>
                      <m:t>𝑛</m:t>
                    </m:r>
                    <m:r>
                      <a:rPr lang="en-US" sz="2000" i="1">
                        <a:latin typeface="Cambria Math" panose="02040503050406030204" pitchFamily="18" charset="0"/>
                        <a:ea typeface="Cambria Math" panose="02040503050406030204" pitchFamily="18" charset="0"/>
                      </a:rPr>
                      <m:t>≥50</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lvl="1"/>
                <a:endParaRPr lang="en-US" sz="1050" dirty="0"/>
              </a:p>
              <a:p>
                <a:r>
                  <a:rPr lang="en-US" dirty="0"/>
                  <a:t> </a:t>
                </a:r>
                <a:endParaRPr lang="en-US" sz="1050" dirty="0"/>
              </a:p>
              <a:p>
                <a:pPr marL="457200" lvl="1"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lvl="1"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238" name="Google Shape;238;p11"/>
              <p:cNvSpPr txBox="1">
                <a:spLocks noRot="1" noChangeAspect="1" noMove="1" noResize="1" noEditPoints="1" noAdjustHandles="1" noChangeArrowheads="1" noChangeShapeType="1" noTextEdit="1"/>
              </p:cNvSpPr>
              <p:nvPr/>
            </p:nvSpPr>
            <p:spPr>
              <a:xfrm>
                <a:off x="1167618" y="520393"/>
                <a:ext cx="10007430" cy="3854861"/>
              </a:xfrm>
              <a:prstGeom prst="rect">
                <a:avLst/>
              </a:prstGeom>
              <a:blipFill rotWithShape="0">
                <a:blip r:embed="rId3"/>
                <a:stretch>
                  <a:fillRect l="-670" t="-790" r="-1158"/>
                </a:stretch>
              </a:blipFill>
              <a:ln>
                <a:noFill/>
              </a:ln>
            </p:spPr>
            <p:txBody>
              <a:bodyPr/>
              <a:lstStyle/>
              <a:p>
                <a:r>
                  <a:rPr lang="en-US">
                    <a:noFill/>
                  </a:rPr>
                  <a:t> </a:t>
                </a:r>
              </a:p>
            </p:txBody>
          </p:sp>
        </mc:Fallback>
      </mc:AlternateContent>
      <p:sp>
        <p:nvSpPr>
          <p:cNvPr id="239" name="Google Shape;239;p11"/>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385</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042386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27"/>
          <p:cNvSpPr/>
          <p:nvPr/>
        </p:nvSpPr>
        <p:spPr>
          <a:xfrm>
            <a:off x="0" y="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97" name="Google Shape;397;p27"/>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26B7D4"/>
                </a:solidFill>
                <a:latin typeface="Verdana"/>
                <a:ea typeface="Verdana"/>
                <a:cs typeface="Verdana"/>
                <a:sym typeface="Verdana"/>
              </a:rPr>
              <a:t>Bring It Together</a:t>
            </a:r>
            <a:endParaRPr sz="5100" b="1">
              <a:solidFill>
                <a:srgbClr val="26B7D4"/>
              </a:solidFill>
              <a:latin typeface="Verdana"/>
              <a:ea typeface="Verdana"/>
              <a:cs typeface="Verdana"/>
              <a:sym typeface="Verdana"/>
            </a:endParaRPr>
          </a:p>
        </p:txBody>
      </p:sp>
      <p:pic>
        <p:nvPicPr>
          <p:cNvPr id="399" name="Google Shape;399;p27" descr="Icon&#10;&#10;Description automatically generated"/>
          <p:cNvPicPr preferRelativeResize="0"/>
          <p:nvPr/>
        </p:nvPicPr>
        <p:blipFill rotWithShape="1">
          <a:blip r:embed="rId3">
            <a:alphaModFix/>
          </a:blip>
          <a:srcRect/>
          <a:stretch/>
        </p:blipFill>
        <p:spPr>
          <a:xfrm>
            <a:off x="4705255"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386</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6" name="Google Shape;406;p28"/>
          <p:cNvSpPr txBox="1"/>
          <p:nvPr/>
        </p:nvSpPr>
        <p:spPr>
          <a:xfrm>
            <a:off x="1246812" y="62593"/>
            <a:ext cx="9627514"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dirty="0">
                <a:solidFill>
                  <a:srgbClr val="54B5D1"/>
                </a:solidFill>
                <a:latin typeface="Verdana"/>
                <a:ea typeface="Verdana"/>
                <a:cs typeface="Verdana"/>
                <a:sym typeface="Verdana"/>
              </a:rPr>
              <a:t>14.9.3 Bring It Together: Inequalities in Mathematical and Real-World Contexts</a:t>
            </a:r>
            <a:endParaRPr sz="3000" dirty="0"/>
          </a:p>
        </p:txBody>
      </p:sp>
      <p:sp>
        <p:nvSpPr>
          <p:cNvPr id="408" name="Google Shape;408;p28"/>
          <p:cNvSpPr txBox="1"/>
          <p:nvPr/>
        </p:nvSpPr>
        <p:spPr>
          <a:xfrm>
            <a:off x="1244898" y="1386026"/>
            <a:ext cx="9958236" cy="4308831"/>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Inequalities have an infinite number of solutions. The set of all the solutions of an inequality is called the </a:t>
            </a:r>
            <a:r>
              <a:rPr lang="en-US" sz="2000" b="1" i="1" dirty="0">
                <a:latin typeface="Verdana" panose="020B0604030504040204" pitchFamily="34" charset="0"/>
                <a:ea typeface="Verdana" panose="020B0604030504040204" pitchFamily="34" charset="0"/>
                <a:cs typeface="Verdana" panose="020B0604030504040204" pitchFamily="34" charset="0"/>
              </a:rPr>
              <a:t>solution set</a:t>
            </a:r>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One way to represent the solution set of an inequality is by shading the values on the number line, beginning with the minimum or maximum value, and including all the values to the right or left of it that are included in the solutions set.</a:t>
            </a: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dirty="0"/>
          </a:p>
        </p:txBody>
      </p:sp>
      <p:sp>
        <p:nvSpPr>
          <p:cNvPr id="409" name="Google Shape;409;p28"/>
          <p:cNvSpPr/>
          <p:nvPr/>
        </p:nvSpPr>
        <p:spPr>
          <a:xfrm>
            <a:off x="0" y="-8248"/>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410" name="Google Shape;410;p28"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95090" y="288041"/>
            <a:ext cx="749808" cy="749808"/>
          </a:xfrm>
          <a:prstGeom prst="rect">
            <a:avLst/>
          </a:prstGeom>
          <a:noFill/>
          <a:ln>
            <a:noFill/>
          </a:ln>
          <a:effectLst>
            <a:outerShdw blurRad="50800" dist="38100" dir="2700000" algn="tl" rotWithShape="0">
              <a:srgbClr val="000000">
                <a:alpha val="40000"/>
              </a:srgbClr>
            </a:outerShdw>
          </a:effectLst>
        </p:spPr>
      </p:pic>
      <p:grpSp>
        <p:nvGrpSpPr>
          <p:cNvPr id="8" name="Group 7">
            <a:extLst>
              <a:ext uri="{FF2B5EF4-FFF2-40B4-BE49-F238E27FC236}">
                <a16:creationId xmlns:a16="http://schemas.microsoft.com/office/drawing/2014/main" id="{69642B23-CBF1-6B49-8E73-3DFC18C35319}"/>
              </a:ext>
            </a:extLst>
          </p:cNvPr>
          <p:cNvGrpSpPr/>
          <p:nvPr/>
        </p:nvGrpSpPr>
        <p:grpSpPr>
          <a:xfrm>
            <a:off x="2143033" y="2370725"/>
            <a:ext cx="7146471" cy="1054100"/>
            <a:chOff x="1514229" y="3252876"/>
            <a:chExt cx="7146471" cy="1054246"/>
          </a:xfrm>
        </p:grpSpPr>
        <p:sp>
          <p:nvSpPr>
            <p:cNvPr id="9" name="Rectangle 8">
              <a:extLst>
                <a:ext uri="{FF2B5EF4-FFF2-40B4-BE49-F238E27FC236}">
                  <a16:creationId xmlns:a16="http://schemas.microsoft.com/office/drawing/2014/main" id="{598C5CD8-D00C-5646-8D9D-7D5E374FF439}"/>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0" name="Group 9">
              <a:extLst>
                <a:ext uri="{FF2B5EF4-FFF2-40B4-BE49-F238E27FC236}">
                  <a16:creationId xmlns:a16="http://schemas.microsoft.com/office/drawing/2014/main" id="{570298EF-433E-AD49-936D-A4B95B41FC38}"/>
                </a:ext>
              </a:extLst>
            </p:cNvPr>
            <p:cNvGrpSpPr/>
            <p:nvPr/>
          </p:nvGrpSpPr>
          <p:grpSpPr>
            <a:xfrm>
              <a:off x="1514229" y="3252876"/>
              <a:ext cx="7146471" cy="1054246"/>
              <a:chOff x="1514229" y="3252876"/>
              <a:chExt cx="7146471" cy="1054246"/>
            </a:xfrm>
          </p:grpSpPr>
          <p:sp>
            <p:nvSpPr>
              <p:cNvPr id="11" name="Rectangle 10">
                <a:extLst>
                  <a:ext uri="{FF2B5EF4-FFF2-40B4-BE49-F238E27FC236}">
                    <a16:creationId xmlns:a16="http://schemas.microsoft.com/office/drawing/2014/main" id="{BE85833B-869A-AC42-9392-89FE64488C23}"/>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2" name="Group 11">
                <a:extLst>
                  <a:ext uri="{FF2B5EF4-FFF2-40B4-BE49-F238E27FC236}">
                    <a16:creationId xmlns:a16="http://schemas.microsoft.com/office/drawing/2014/main" id="{18E31171-4CC8-BC4A-A19C-7619916CDDCF}"/>
                  </a:ext>
                </a:extLst>
              </p:cNvPr>
              <p:cNvGrpSpPr/>
              <p:nvPr/>
            </p:nvGrpSpPr>
            <p:grpSpPr>
              <a:xfrm>
                <a:off x="1514229" y="3252876"/>
                <a:ext cx="7146471" cy="1054246"/>
                <a:chOff x="1514229" y="3252876"/>
                <a:chExt cx="7146471" cy="1054246"/>
              </a:xfrm>
            </p:grpSpPr>
            <p:sp>
              <p:nvSpPr>
                <p:cNvPr id="13" name="Rectangle 12">
                  <a:extLst>
                    <a:ext uri="{FF2B5EF4-FFF2-40B4-BE49-F238E27FC236}">
                      <a16:creationId xmlns:a16="http://schemas.microsoft.com/office/drawing/2014/main" id="{CB7D7BC4-255E-FA4E-8894-E93082679468}"/>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4" name="Group 13">
                  <a:extLst>
                    <a:ext uri="{FF2B5EF4-FFF2-40B4-BE49-F238E27FC236}">
                      <a16:creationId xmlns:a16="http://schemas.microsoft.com/office/drawing/2014/main" id="{8D3AC0A2-E0D7-254A-A283-E28A662CCFA4}"/>
                    </a:ext>
                  </a:extLst>
                </p:cNvPr>
                <p:cNvGrpSpPr/>
                <p:nvPr/>
              </p:nvGrpSpPr>
              <p:grpSpPr>
                <a:xfrm>
                  <a:off x="1514229" y="3252876"/>
                  <a:ext cx="7146471" cy="1054246"/>
                  <a:chOff x="1514229" y="3252876"/>
                  <a:chExt cx="7146471" cy="1054246"/>
                </a:xfrm>
              </p:grpSpPr>
              <p:sp>
                <p:nvSpPr>
                  <p:cNvPr id="15" name="Rectangle 14">
                    <a:extLst>
                      <a:ext uri="{FF2B5EF4-FFF2-40B4-BE49-F238E27FC236}">
                        <a16:creationId xmlns:a16="http://schemas.microsoft.com/office/drawing/2014/main" id="{E2DEA8F8-B655-B248-8730-230B44A1E130}"/>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6" name="Group 15">
                    <a:extLst>
                      <a:ext uri="{FF2B5EF4-FFF2-40B4-BE49-F238E27FC236}">
                        <a16:creationId xmlns:a16="http://schemas.microsoft.com/office/drawing/2014/main" id="{4EE71CAD-644D-C84C-81C3-C4226B7C4929}"/>
                      </a:ext>
                    </a:extLst>
                  </p:cNvPr>
                  <p:cNvGrpSpPr/>
                  <p:nvPr/>
                </p:nvGrpSpPr>
                <p:grpSpPr>
                  <a:xfrm>
                    <a:off x="1514229" y="3252876"/>
                    <a:ext cx="7146471" cy="1054246"/>
                    <a:chOff x="1514229" y="3262287"/>
                    <a:chExt cx="7146471" cy="1035424"/>
                  </a:xfrm>
                </p:grpSpPr>
                <p:sp>
                  <p:nvSpPr>
                    <p:cNvPr id="17" name="Rectangle 16">
                      <a:extLst>
                        <a:ext uri="{FF2B5EF4-FFF2-40B4-BE49-F238E27FC236}">
                          <a16:creationId xmlns:a16="http://schemas.microsoft.com/office/drawing/2014/main" id="{C8106E9F-ED2B-244D-A7C5-1BA5263A9376}"/>
                        </a:ext>
                      </a:extLst>
                    </p:cNvPr>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8" name="Group 17">
                      <a:extLst>
                        <a:ext uri="{FF2B5EF4-FFF2-40B4-BE49-F238E27FC236}">
                          <a16:creationId xmlns:a16="http://schemas.microsoft.com/office/drawing/2014/main" id="{64E09BC3-D42C-8846-B87B-53F42E46005E}"/>
                        </a:ext>
                      </a:extLst>
                    </p:cNvPr>
                    <p:cNvGrpSpPr/>
                    <p:nvPr/>
                  </p:nvGrpSpPr>
                  <p:grpSpPr>
                    <a:xfrm>
                      <a:off x="1514229" y="3262287"/>
                      <a:ext cx="7146471" cy="1035424"/>
                      <a:chOff x="1514229" y="3373599"/>
                      <a:chExt cx="7146471" cy="1035424"/>
                    </a:xfrm>
                  </p:grpSpPr>
                  <p:sp>
                    <p:nvSpPr>
                      <p:cNvPr id="19" name="Rectangle 18">
                        <a:extLst>
                          <a:ext uri="{FF2B5EF4-FFF2-40B4-BE49-F238E27FC236}">
                            <a16:creationId xmlns:a16="http://schemas.microsoft.com/office/drawing/2014/main" id="{7ECF6D82-D2D9-424A-A3B8-496B4608680F}"/>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0" name="Group 19">
                        <a:extLst>
                          <a:ext uri="{FF2B5EF4-FFF2-40B4-BE49-F238E27FC236}">
                            <a16:creationId xmlns:a16="http://schemas.microsoft.com/office/drawing/2014/main" id="{4EA0333E-5561-9D4F-A557-2CE13AC85BCA}"/>
                          </a:ext>
                        </a:extLst>
                      </p:cNvPr>
                      <p:cNvGrpSpPr/>
                      <p:nvPr/>
                    </p:nvGrpSpPr>
                    <p:grpSpPr>
                      <a:xfrm>
                        <a:off x="1514229" y="3373599"/>
                        <a:ext cx="7146471" cy="1035424"/>
                        <a:chOff x="1514229" y="3373599"/>
                        <a:chExt cx="7146471" cy="1035424"/>
                      </a:xfrm>
                    </p:grpSpPr>
                    <p:sp>
                      <p:nvSpPr>
                        <p:cNvPr id="21" name="Rectangle 20">
                          <a:extLst>
                            <a:ext uri="{FF2B5EF4-FFF2-40B4-BE49-F238E27FC236}">
                              <a16:creationId xmlns:a16="http://schemas.microsoft.com/office/drawing/2014/main" id="{03218AA4-E315-4442-813F-AD0FFB326382}"/>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2" name="Group 21">
                          <a:extLst>
                            <a:ext uri="{FF2B5EF4-FFF2-40B4-BE49-F238E27FC236}">
                              <a16:creationId xmlns:a16="http://schemas.microsoft.com/office/drawing/2014/main" id="{BA41A937-1A0E-B842-8D9D-A6D85CB780A0}"/>
                            </a:ext>
                          </a:extLst>
                        </p:cNvPr>
                        <p:cNvGrpSpPr/>
                        <p:nvPr/>
                      </p:nvGrpSpPr>
                      <p:grpSpPr>
                        <a:xfrm>
                          <a:off x="1514229" y="3373599"/>
                          <a:ext cx="7146471" cy="1035424"/>
                          <a:chOff x="-517071" y="-1"/>
                          <a:chExt cx="7146471" cy="1035424"/>
                        </a:xfrm>
                      </p:grpSpPr>
                      <p:sp>
                        <p:nvSpPr>
                          <p:cNvPr id="23" name="Rectangle 22">
                            <a:extLst>
                              <a:ext uri="{FF2B5EF4-FFF2-40B4-BE49-F238E27FC236}">
                                <a16:creationId xmlns:a16="http://schemas.microsoft.com/office/drawing/2014/main" id="{62755593-5116-104C-8CBC-E65ED7D2776C}"/>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24" name="Rounded Rectangle 23">
                            <a:extLst>
                              <a:ext uri="{FF2B5EF4-FFF2-40B4-BE49-F238E27FC236}">
                                <a16:creationId xmlns:a16="http://schemas.microsoft.com/office/drawing/2014/main" id="{9CDB7933-7EDF-4148-9CCF-A4488F01112A}"/>
                              </a:ext>
                            </a:extLst>
                          </p:cNvPr>
                          <p:cNvSpPr/>
                          <p:nvPr/>
                        </p:nvSpPr>
                        <p:spPr>
                          <a:xfrm>
                            <a:off x="-517071" y="-1"/>
                            <a:ext cx="7146471" cy="1035424"/>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a:spcAft>
                                <a:spcPts val="1000"/>
                              </a:spcAft>
                            </a:pPr>
                            <a:endParaRPr lang="en-US" sz="2000" dirty="0">
                              <a:solidFill>
                                <a:srgbClr val="6D983E"/>
                              </a:solidFill>
                              <a:latin typeface="Verdana" panose="020B0604030504040204" pitchFamily="34" charset="0"/>
                              <a:ea typeface="Verdana" panose="020B0604030504040204" pitchFamily="34" charset="0"/>
                              <a:cs typeface="Verdana" panose="020B0604030504040204" pitchFamily="34" charset="0"/>
                            </a:endParaRPr>
                          </a:p>
                          <a:p>
                            <a:pPr>
                              <a:spcAft>
                                <a:spcPts val="1000"/>
                              </a:spcAft>
                            </a:pPr>
                            <a:r>
                              <a:rPr lang="en-US" sz="2000" dirty="0">
                                <a:solidFill>
                                  <a:srgbClr val="6D983E"/>
                                </a:solidFill>
                                <a:latin typeface="Verdana" panose="020B0604030504040204" pitchFamily="34" charset="0"/>
                                <a:ea typeface="Verdana" panose="020B0604030504040204" pitchFamily="34" charset="0"/>
                                <a:cs typeface="Verdana" panose="020B0604030504040204" pitchFamily="34" charset="0"/>
                              </a:rPr>
                              <a:t>The </a:t>
                            </a:r>
                            <a:r>
                              <a:rPr lang="en-US" sz="2000" b="1" i="1" dirty="0">
                                <a:solidFill>
                                  <a:srgbClr val="6D983E"/>
                                </a:solidFill>
                                <a:latin typeface="Verdana" panose="020B0604030504040204" pitchFamily="34" charset="0"/>
                                <a:ea typeface="Verdana" panose="020B0604030504040204" pitchFamily="34" charset="0"/>
                                <a:cs typeface="Verdana" panose="020B0604030504040204" pitchFamily="34" charset="0"/>
                              </a:rPr>
                              <a:t>solution set</a:t>
                            </a:r>
                            <a:r>
                              <a:rPr lang="en-US" sz="2000" b="1" dirty="0">
                                <a:solidFill>
                                  <a:srgbClr val="6D983E"/>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6D983E"/>
                                </a:solidFill>
                                <a:latin typeface="Verdana" panose="020B0604030504040204" pitchFamily="34" charset="0"/>
                                <a:ea typeface="Verdana" panose="020B0604030504040204" pitchFamily="34" charset="0"/>
                                <a:cs typeface="Verdana" panose="020B0604030504040204" pitchFamily="34" charset="0"/>
                              </a:rPr>
                              <a:t>of an inequality includes the values that, when substituted for the variable, make the inequality true.</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685800" indent="4114800">
                              <a:spcAft>
                                <a:spcPts val="1000"/>
                              </a:spcAft>
                            </a:pPr>
                            <a:r>
                              <a:rPr lang="en-US" sz="1200" dirty="0">
                                <a:latin typeface="Cambria" panose="02040503050406030204" pitchFamily="18" charset="0"/>
                                <a:ea typeface="Times New Roman" panose="02020603050405020304" pitchFamily="18" charset="0"/>
                                <a:cs typeface="Times New Roman" panose="02020603050405020304" pitchFamily="18" charset="0"/>
                              </a:rPr>
                              <a:t> </a:t>
                            </a:r>
                          </a:p>
                        </p:txBody>
                      </p:sp>
                    </p:grpSp>
                  </p:grpSp>
                </p:grpSp>
              </p:grpSp>
            </p:grpSp>
          </p:grpSp>
        </p:grpSp>
      </p:grpSp>
      <p:sp>
        <p:nvSpPr>
          <p:cNvPr id="25"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386</a:t>
            </a:r>
            <a:endParaRPr i="1" dirty="0">
              <a:latin typeface="Calibri"/>
              <a:ea typeface="Calibri"/>
              <a:cs typeface="Calibri"/>
              <a:sym typeface="Calibri"/>
            </a:endParaRPr>
          </a:p>
        </p:txBody>
      </p:sp>
      <p:pic>
        <p:nvPicPr>
          <p:cNvPr id="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8" name="Google Shape;418;p29"/>
          <p:cNvSpPr txBox="1"/>
          <p:nvPr/>
        </p:nvSpPr>
        <p:spPr>
          <a:xfrm>
            <a:off x="2007765" y="520394"/>
            <a:ext cx="8327136" cy="5940047"/>
          </a:xfrm>
          <a:prstGeom prst="rect">
            <a:avLst/>
          </a:prstGeom>
          <a:noFill/>
          <a:ln>
            <a:noFill/>
          </a:ln>
        </p:spPr>
        <p:txBody>
          <a:bodyPr spcFirstLastPara="1" wrap="square" lIns="91425" tIns="45700" rIns="91425" bIns="45700" anchor="t" anchorCtr="0">
            <a:spAutoFit/>
          </a:bodyPr>
          <a:lstStyle/>
          <a:p>
            <a:pPr marL="457200" lvl="2"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each statement.</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A minimum or maximum value represented by an open </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circle means the value is                             the solution </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set. </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A minimum or maximum value represented by a closed </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circle means the value is                             the solution </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set.</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Graphs representing the solution set of inequalities are helpful when interpreting them in real-world contexts. However, sometimes there are parts of the solution set that may not make sense in a given context. </a:t>
            </a:r>
          </a:p>
        </p:txBody>
      </p:sp>
      <p:sp>
        <p:nvSpPr>
          <p:cNvPr id="419" name="Google Shape;419;p29"/>
          <p:cNvSpPr/>
          <p:nvPr/>
        </p:nvSpPr>
        <p:spPr>
          <a:xfrm>
            <a:off x="15356"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Rounded Rectangle 5">
            <a:extLst>
              <a:ext uri="{FF2B5EF4-FFF2-40B4-BE49-F238E27FC236}">
                <a16:creationId xmlns:a16="http://schemas.microsoft.com/office/drawing/2014/main" id="{36A5A11B-E4E8-8749-8B50-CEF5F5D1289B}"/>
              </a:ext>
            </a:extLst>
          </p:cNvPr>
          <p:cNvSpPr/>
          <p:nvPr/>
        </p:nvSpPr>
        <p:spPr>
          <a:xfrm>
            <a:off x="5769383" y="1565956"/>
            <a:ext cx="2442800" cy="736690"/>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included in</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excluded from</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7" name="Rounded Rectangle 6">
            <a:extLst>
              <a:ext uri="{FF2B5EF4-FFF2-40B4-BE49-F238E27FC236}">
                <a16:creationId xmlns:a16="http://schemas.microsoft.com/office/drawing/2014/main" id="{7C5754CB-5D0F-A14D-BB1C-4EB195B4B281}"/>
              </a:ext>
            </a:extLst>
          </p:cNvPr>
          <p:cNvSpPr/>
          <p:nvPr/>
        </p:nvSpPr>
        <p:spPr>
          <a:xfrm>
            <a:off x="5769383" y="3409850"/>
            <a:ext cx="2442800" cy="736690"/>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included in</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excluded from</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8"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386</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18" name="Google Shape;418;p29"/>
              <p:cNvSpPr txBox="1"/>
              <p:nvPr/>
            </p:nvSpPr>
            <p:spPr>
              <a:xfrm>
                <a:off x="1153551" y="520394"/>
                <a:ext cx="10035564" cy="5016718"/>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For example, to ride the Bay Slides at Typhoon Lagoon, guests must be </a:t>
                </a:r>
                <a14:m>
                  <m:oMath xmlns:m="http://schemas.openxmlformats.org/officeDocument/2006/math">
                    <m:r>
                      <a:rPr lang="en-US" sz="2000" i="1">
                        <a:latin typeface="Cambria Math" panose="02040503050406030204" pitchFamily="18" charset="0"/>
                        <a:ea typeface="Cambria Math" panose="02040503050406030204" pitchFamily="18" charset="0"/>
                      </a:rPr>
                      <m:t>60</m:t>
                    </m:r>
                  </m:oMath>
                </a14:m>
                <a:r>
                  <a:rPr lang="en-US" sz="2000" dirty="0">
                    <a:latin typeface="Verdana" panose="020B0604030504040204" pitchFamily="34" charset="0"/>
                    <a:ea typeface="Verdana" panose="020B0604030504040204" pitchFamily="34" charset="0"/>
                    <a:cs typeface="Verdana" panose="020B0604030504040204" pitchFamily="34" charset="0"/>
                  </a:rPr>
                  <a:t> inches or shorter. The graph below represents the graph of </a:t>
                </a:r>
                <a14:m>
                  <m:oMath xmlns:m="http://schemas.openxmlformats.org/officeDocument/2006/math">
                    <m:r>
                      <a:rPr lang="en-US" sz="2000" i="1">
                        <a:latin typeface="Cambria Math" panose="02040503050406030204" pitchFamily="18" charset="0"/>
                        <a:ea typeface="Cambria Math" panose="02040503050406030204" pitchFamily="18" charset="0"/>
                      </a:rPr>
                      <m:t>h</m:t>
                    </m:r>
                    <m:r>
                      <a:rPr lang="en-US" sz="2000" i="1">
                        <a:latin typeface="Cambria Math" panose="02040503050406030204" pitchFamily="18" charset="0"/>
                        <a:ea typeface="Cambria Math" panose="02040503050406030204" pitchFamily="18" charset="0"/>
                      </a:rPr>
                      <m:t>≤60</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in this situation, where </a:t>
                </a:r>
                <a14:m>
                  <m:oMath xmlns:m="http://schemas.openxmlformats.org/officeDocument/2006/math">
                    <m:r>
                      <a:rPr lang="en-US" sz="2000" i="1">
                        <a:latin typeface="Cambria Math" panose="02040503050406030204" pitchFamily="18" charset="0"/>
                        <a:ea typeface="Cambria Math" panose="02040503050406030204" pitchFamily="18" charset="0"/>
                      </a:rPr>
                      <m:t>h</m:t>
                    </m:r>
                  </m:oMath>
                </a14:m>
                <a:r>
                  <a:rPr lang="en-US" sz="2000" dirty="0">
                    <a:latin typeface="Verdana" panose="020B0604030504040204" pitchFamily="34" charset="0"/>
                    <a:ea typeface="Verdana" panose="020B0604030504040204" pitchFamily="34" charset="0"/>
                    <a:cs typeface="Verdana" panose="020B0604030504040204" pitchFamily="34" charset="0"/>
                  </a:rPr>
                  <a:t> is the height of guests that can ride the Bay Slides.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What does </a:t>
                </a:r>
                <a14:m>
                  <m:oMath xmlns:m="http://schemas.openxmlformats.org/officeDocument/2006/math">
                    <m:r>
                      <a:rPr lang="en-US" sz="2000" i="1">
                        <a:latin typeface="Cambria Math" panose="02040503050406030204" pitchFamily="18" charset="0"/>
                        <a:ea typeface="Cambria Math" panose="02040503050406030204" pitchFamily="18" charset="0"/>
                      </a:rPr>
                      <m:t>60</m:t>
                    </m:r>
                  </m:oMath>
                </a14:m>
                <a:r>
                  <a:rPr lang="en-US" sz="2000" dirty="0">
                    <a:latin typeface="Verdana" panose="020B0604030504040204" pitchFamily="34" charset="0"/>
                    <a:ea typeface="Verdana" panose="020B0604030504040204" pitchFamily="34" charset="0"/>
                    <a:cs typeface="Verdana" panose="020B0604030504040204" pitchFamily="34" charset="0"/>
                  </a:rPr>
                  <a:t> represent in this situation?</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lvl="2"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What does the arrow pointing to the left on the number line represent?</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418" name="Google Shape;418;p29"/>
              <p:cNvSpPr txBox="1">
                <a:spLocks noRot="1" noChangeAspect="1" noMove="1" noResize="1" noEditPoints="1" noAdjustHandles="1" noChangeArrowheads="1" noChangeShapeType="1" noTextEdit="1"/>
              </p:cNvSpPr>
              <p:nvPr/>
            </p:nvSpPr>
            <p:spPr>
              <a:xfrm>
                <a:off x="1153551" y="520394"/>
                <a:ext cx="10035564" cy="5016718"/>
              </a:xfrm>
              <a:prstGeom prst="rect">
                <a:avLst/>
              </a:prstGeom>
              <a:blipFill rotWithShape="0">
                <a:blip r:embed="rId3"/>
                <a:stretch>
                  <a:fillRect l="-668" t="-608"/>
                </a:stretch>
              </a:blipFill>
              <a:ln>
                <a:noFill/>
              </a:ln>
            </p:spPr>
            <p:txBody>
              <a:bodyPr/>
              <a:lstStyle/>
              <a:p>
                <a:r>
                  <a:rPr lang="en-US">
                    <a:noFill/>
                  </a:rPr>
                  <a:t> </a:t>
                </a:r>
              </a:p>
            </p:txBody>
          </p:sp>
        </mc:Fallback>
      </mc:AlternateContent>
      <p:sp>
        <p:nvSpPr>
          <p:cNvPr id="419" name="Google Shape;419;p29"/>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8" name="Picture 7">
            <a:extLst>
              <a:ext uri="{FF2B5EF4-FFF2-40B4-BE49-F238E27FC236}">
                <a16:creationId xmlns:a16="http://schemas.microsoft.com/office/drawing/2014/main" id="{AF553C5B-6775-6C41-82B4-B4A2F72773C5}"/>
              </a:ext>
            </a:extLst>
          </p:cNvPr>
          <p:cNvPicPr>
            <a:picLocks noChangeAspect="1"/>
          </p:cNvPicPr>
          <p:nvPr/>
        </p:nvPicPr>
        <p:blipFill>
          <a:blip r:embed="rId4"/>
          <a:stretch>
            <a:fillRect/>
          </a:stretch>
        </p:blipFill>
        <p:spPr>
          <a:xfrm>
            <a:off x="2007766" y="2045754"/>
            <a:ext cx="8045211" cy="521726"/>
          </a:xfrm>
          <a:prstGeom prst="rect">
            <a:avLst/>
          </a:prstGeom>
        </p:spPr>
      </p:pic>
      <p:sp>
        <p:nvSpPr>
          <p:cNvPr id="7"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386</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1742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18" name="Google Shape;418;p29"/>
              <p:cNvSpPr txBox="1"/>
              <p:nvPr/>
            </p:nvSpPr>
            <p:spPr>
              <a:xfrm>
                <a:off x="1378634" y="520393"/>
                <a:ext cx="9585398" cy="1015622"/>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Describe at least two values that are part of the solution set of </a:t>
                </a:r>
                <a14:m>
                  <m:oMath xmlns:m="http://schemas.openxmlformats.org/officeDocument/2006/math">
                    <m:r>
                      <a:rPr lang="en-US" sz="2000" i="1">
                        <a:latin typeface="Cambria Math" panose="02040503050406030204" pitchFamily="18" charset="0"/>
                        <a:ea typeface="Cambria Math" panose="02040503050406030204" pitchFamily="18" charset="0"/>
                      </a:rPr>
                      <m:t>h</m:t>
                    </m:r>
                    <m:r>
                      <a:rPr lang="en-US" sz="2000" i="1">
                        <a:latin typeface="Cambria Math" panose="02040503050406030204" pitchFamily="18" charset="0"/>
                        <a:ea typeface="Cambria Math" panose="02040503050406030204" pitchFamily="18" charset="0"/>
                      </a:rPr>
                      <m:t>≤60</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that do not make sense in this context.</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418" name="Google Shape;418;p29"/>
              <p:cNvSpPr txBox="1">
                <a:spLocks noRot="1" noChangeAspect="1" noMove="1" noResize="1" noEditPoints="1" noAdjustHandles="1" noChangeArrowheads="1" noChangeShapeType="1" noTextEdit="1"/>
              </p:cNvSpPr>
              <p:nvPr/>
            </p:nvSpPr>
            <p:spPr>
              <a:xfrm>
                <a:off x="1378634" y="520393"/>
                <a:ext cx="9585398" cy="1015622"/>
              </a:xfrm>
              <a:prstGeom prst="rect">
                <a:avLst/>
              </a:prstGeom>
              <a:blipFill rotWithShape="0">
                <a:blip r:embed="rId3"/>
                <a:stretch>
                  <a:fillRect l="-699" t="-3593"/>
                </a:stretch>
              </a:blipFill>
              <a:ln>
                <a:noFill/>
              </a:ln>
            </p:spPr>
            <p:txBody>
              <a:bodyPr/>
              <a:lstStyle/>
              <a:p>
                <a:r>
                  <a:rPr lang="en-US">
                    <a:noFill/>
                  </a:rPr>
                  <a:t> </a:t>
                </a:r>
              </a:p>
            </p:txBody>
          </p:sp>
        </mc:Fallback>
      </mc:AlternateContent>
      <p:sp>
        <p:nvSpPr>
          <p:cNvPr id="419" name="Google Shape;419;p29"/>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386</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017234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18" name="Google Shape;418;p29"/>
              <p:cNvSpPr txBox="1"/>
              <p:nvPr/>
            </p:nvSpPr>
            <p:spPr>
              <a:xfrm>
                <a:off x="1280160" y="520393"/>
                <a:ext cx="9782346" cy="4708941"/>
              </a:xfrm>
              <a:prstGeom prst="rect">
                <a:avLst/>
              </a:prstGeom>
              <a:noFill/>
              <a:ln>
                <a:noFill/>
              </a:ln>
            </p:spPr>
            <p:txBody>
              <a:bodyPr spcFirstLastPara="1" wrap="square" lIns="91425" tIns="45700" rIns="91425" bIns="45700" anchor="t" anchorCtr="0">
                <a:spAutoFit/>
              </a:bodyPr>
              <a:lstStyle/>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The Exploration demonstrated the inequalities </a:t>
                </a:r>
                <a14:m>
                  <m:oMath xmlns:m="http://schemas.openxmlformats.org/officeDocument/2006/math">
                    <m:r>
                      <a:rPr lang="en-US" sz="2000" i="1">
                        <a:latin typeface="Cambria Math" panose="02040503050406030204" pitchFamily="18" charset="0"/>
                        <a:ea typeface="Cambria Math" panose="02040503050406030204" pitchFamily="18" charset="0"/>
                      </a:rPr>
                      <m:t>𝑛</m:t>
                    </m:r>
                    <m:r>
                      <a:rPr lang="en-US" sz="2000" i="1">
                        <a:latin typeface="Cambria Math" panose="02040503050406030204" pitchFamily="18" charset="0"/>
                        <a:ea typeface="Cambria Math" panose="02040503050406030204" pitchFamily="18" charset="0"/>
                      </a:rPr>
                      <m:t>−2≥48</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and </a:t>
                </a:r>
                <a14:m>
                  <m:oMath xmlns:m="http://schemas.openxmlformats.org/officeDocument/2006/math">
                    <m:r>
                      <a:rPr lang="en-US" sz="2000" i="1">
                        <a:latin typeface="Cambria Math" panose="02040503050406030204" pitchFamily="18" charset="0"/>
                        <a:ea typeface="Cambria Math" panose="02040503050406030204" pitchFamily="18" charset="0"/>
                      </a:rPr>
                      <m:t>𝑛</m:t>
                    </m:r>
                    <m:r>
                      <a:rPr lang="en-US" sz="2000" i="1">
                        <a:latin typeface="Cambria Math" panose="02040503050406030204" pitchFamily="18" charset="0"/>
                        <a:ea typeface="Cambria Math" panose="02040503050406030204" pitchFamily="18" charset="0"/>
                      </a:rPr>
                      <m:t>≥50</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are equivalent</a:t>
                </a:r>
                <a:r>
                  <a:rPr lang="en-US" sz="2000" b="1" dirty="0">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because all of the same values of </a:t>
                </a:r>
                <a14:m>
                  <m:oMath xmlns:m="http://schemas.openxmlformats.org/officeDocument/2006/math">
                    <m:r>
                      <a:rPr lang="en-US" sz="2000" i="1">
                        <a:latin typeface="Cambria Math" panose="02040503050406030204" pitchFamily="18" charset="0"/>
                      </a:rPr>
                      <m:t>𝑛</m:t>
                    </m:r>
                  </m:oMath>
                </a14:m>
                <a:r>
                  <a:rPr lang="en-US" sz="2000" dirty="0">
                    <a:latin typeface="Verdana" panose="020B0604030504040204" pitchFamily="34" charset="0"/>
                    <a:ea typeface="Verdana" panose="020B0604030504040204" pitchFamily="34" charset="0"/>
                    <a:cs typeface="Verdana" panose="020B0604030504040204" pitchFamily="34" charset="0"/>
                  </a:rPr>
                  <a:t> make both inequalities true. Both inequalities were also represented using the same graph.</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Inequalities that have the same solution set are called equivalent inequalities.</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418" name="Google Shape;418;p29"/>
              <p:cNvSpPr txBox="1">
                <a:spLocks noRot="1" noChangeAspect="1" noMove="1" noResize="1" noEditPoints="1" noAdjustHandles="1" noChangeArrowheads="1" noChangeShapeType="1" noTextEdit="1"/>
              </p:cNvSpPr>
              <p:nvPr/>
            </p:nvSpPr>
            <p:spPr>
              <a:xfrm>
                <a:off x="1280160" y="520393"/>
                <a:ext cx="9782346" cy="4708941"/>
              </a:xfrm>
              <a:prstGeom prst="rect">
                <a:avLst/>
              </a:prstGeom>
              <a:blipFill rotWithShape="0">
                <a:blip r:embed="rId3"/>
                <a:stretch>
                  <a:fillRect l="-685" r="-1371"/>
                </a:stretch>
              </a:blipFill>
              <a:ln>
                <a:noFill/>
              </a:ln>
            </p:spPr>
            <p:txBody>
              <a:bodyPr/>
              <a:lstStyle/>
              <a:p>
                <a:r>
                  <a:rPr lang="en-US">
                    <a:noFill/>
                  </a:rPr>
                  <a:t> </a:t>
                </a:r>
              </a:p>
            </p:txBody>
          </p:sp>
        </mc:Fallback>
      </mc:AlternateContent>
      <p:sp>
        <p:nvSpPr>
          <p:cNvPr id="419" name="Google Shape;419;p29"/>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pSp>
        <p:nvGrpSpPr>
          <p:cNvPr id="6" name="Group 5">
            <a:extLst>
              <a:ext uri="{FF2B5EF4-FFF2-40B4-BE49-F238E27FC236}">
                <a16:creationId xmlns:a16="http://schemas.microsoft.com/office/drawing/2014/main" id="{4D3EA1A7-E912-1849-BF76-0ACA10F55479}"/>
              </a:ext>
            </a:extLst>
          </p:cNvPr>
          <p:cNvGrpSpPr/>
          <p:nvPr/>
        </p:nvGrpSpPr>
        <p:grpSpPr>
          <a:xfrm>
            <a:off x="2150534" y="316581"/>
            <a:ext cx="8184367" cy="2030094"/>
            <a:chOff x="2031300" y="3275735"/>
            <a:chExt cx="6629400" cy="2031057"/>
          </a:xfrm>
          <a:effectLst>
            <a:outerShdw blurRad="50800" dist="38100" dir="2700000" algn="tl" rotWithShape="0">
              <a:prstClr val="black">
                <a:alpha val="40000"/>
              </a:prstClr>
            </a:outerShdw>
          </a:effectLst>
        </p:grpSpPr>
        <p:grpSp>
          <p:nvGrpSpPr>
            <p:cNvPr id="7" name="Group 6">
              <a:extLst>
                <a:ext uri="{FF2B5EF4-FFF2-40B4-BE49-F238E27FC236}">
                  <a16:creationId xmlns:a16="http://schemas.microsoft.com/office/drawing/2014/main" id="{D37D087A-07C1-4943-9EE9-39E1E97F41EC}"/>
                </a:ext>
              </a:extLst>
            </p:cNvPr>
            <p:cNvGrpSpPr/>
            <p:nvPr/>
          </p:nvGrpSpPr>
          <p:grpSpPr>
            <a:xfrm>
              <a:off x="2031300" y="3275735"/>
              <a:ext cx="6629400" cy="2031057"/>
              <a:chOff x="2031300" y="3275735"/>
              <a:chExt cx="6629400" cy="2031057"/>
            </a:xfrm>
          </p:grpSpPr>
          <p:sp>
            <p:nvSpPr>
              <p:cNvPr id="8" name="Rectangle 7">
                <a:extLst>
                  <a:ext uri="{FF2B5EF4-FFF2-40B4-BE49-F238E27FC236}">
                    <a16:creationId xmlns:a16="http://schemas.microsoft.com/office/drawing/2014/main" id="{25C31E33-CB4F-6945-B9B1-0F38512370B6}"/>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9" name="Group 8">
                <a:extLst>
                  <a:ext uri="{FF2B5EF4-FFF2-40B4-BE49-F238E27FC236}">
                    <a16:creationId xmlns:a16="http://schemas.microsoft.com/office/drawing/2014/main" id="{7B05E2F0-54F3-C442-9B72-AC1093C719FD}"/>
                  </a:ext>
                </a:extLst>
              </p:cNvPr>
              <p:cNvGrpSpPr/>
              <p:nvPr/>
            </p:nvGrpSpPr>
            <p:grpSpPr>
              <a:xfrm>
                <a:off x="2031300" y="3275735"/>
                <a:ext cx="6629400" cy="2031057"/>
                <a:chOff x="2031300" y="3275735"/>
                <a:chExt cx="6629400" cy="2031057"/>
              </a:xfrm>
            </p:grpSpPr>
            <p:sp>
              <p:nvSpPr>
                <p:cNvPr id="10" name="Rectangle 9">
                  <a:extLst>
                    <a:ext uri="{FF2B5EF4-FFF2-40B4-BE49-F238E27FC236}">
                      <a16:creationId xmlns:a16="http://schemas.microsoft.com/office/drawing/2014/main" id="{D85267AA-CB92-764D-9E84-E1ED52043A41}"/>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1" name="Group 10">
                  <a:extLst>
                    <a:ext uri="{FF2B5EF4-FFF2-40B4-BE49-F238E27FC236}">
                      <a16:creationId xmlns:a16="http://schemas.microsoft.com/office/drawing/2014/main" id="{9AD045EF-D5C5-B342-B1E4-5E191F6A972C}"/>
                    </a:ext>
                  </a:extLst>
                </p:cNvPr>
                <p:cNvGrpSpPr/>
                <p:nvPr/>
              </p:nvGrpSpPr>
              <p:grpSpPr>
                <a:xfrm>
                  <a:off x="2031300" y="3275735"/>
                  <a:ext cx="6629400" cy="2031057"/>
                  <a:chOff x="2031300" y="3275735"/>
                  <a:chExt cx="6629400" cy="2031057"/>
                </a:xfrm>
              </p:grpSpPr>
              <p:sp>
                <p:nvSpPr>
                  <p:cNvPr id="12" name="Rectangle 11">
                    <a:extLst>
                      <a:ext uri="{FF2B5EF4-FFF2-40B4-BE49-F238E27FC236}">
                        <a16:creationId xmlns:a16="http://schemas.microsoft.com/office/drawing/2014/main" id="{59474834-26AC-254C-8950-98E03D4CA5CA}"/>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3" name="Group 12">
                    <a:extLst>
                      <a:ext uri="{FF2B5EF4-FFF2-40B4-BE49-F238E27FC236}">
                        <a16:creationId xmlns:a16="http://schemas.microsoft.com/office/drawing/2014/main" id="{0973B2E2-FACE-A94A-92B8-88CF0C9EE26D}"/>
                      </a:ext>
                    </a:extLst>
                  </p:cNvPr>
                  <p:cNvGrpSpPr/>
                  <p:nvPr/>
                </p:nvGrpSpPr>
                <p:grpSpPr>
                  <a:xfrm>
                    <a:off x="2031300" y="3275735"/>
                    <a:ext cx="6629400" cy="2031057"/>
                    <a:chOff x="2031300" y="3275735"/>
                    <a:chExt cx="6629400" cy="2031057"/>
                  </a:xfrm>
                </p:grpSpPr>
                <p:sp>
                  <p:nvSpPr>
                    <p:cNvPr id="14" name="Rectangle 13">
                      <a:extLst>
                        <a:ext uri="{FF2B5EF4-FFF2-40B4-BE49-F238E27FC236}">
                          <a16:creationId xmlns:a16="http://schemas.microsoft.com/office/drawing/2014/main" id="{F9C32C4B-FD4D-CF4F-9A0B-001D16F63497}"/>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5" name="Group 14">
                      <a:extLst>
                        <a:ext uri="{FF2B5EF4-FFF2-40B4-BE49-F238E27FC236}">
                          <a16:creationId xmlns:a16="http://schemas.microsoft.com/office/drawing/2014/main" id="{FE2F64CE-49C5-044B-A36C-09E285D55D7C}"/>
                        </a:ext>
                      </a:extLst>
                    </p:cNvPr>
                    <p:cNvGrpSpPr/>
                    <p:nvPr/>
                  </p:nvGrpSpPr>
                  <p:grpSpPr>
                    <a:xfrm>
                      <a:off x="2031300" y="3275735"/>
                      <a:ext cx="6629400" cy="2031057"/>
                      <a:chOff x="2031300" y="3275735"/>
                      <a:chExt cx="6629400" cy="2031057"/>
                    </a:xfrm>
                  </p:grpSpPr>
                  <p:sp>
                    <p:nvSpPr>
                      <p:cNvPr id="16" name="Rectangle 15">
                        <a:extLst>
                          <a:ext uri="{FF2B5EF4-FFF2-40B4-BE49-F238E27FC236}">
                            <a16:creationId xmlns:a16="http://schemas.microsoft.com/office/drawing/2014/main" id="{85A7C33C-BF58-FA4B-AF81-BB5C1A276D44}"/>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7" name="Group 16">
                        <a:extLst>
                          <a:ext uri="{FF2B5EF4-FFF2-40B4-BE49-F238E27FC236}">
                            <a16:creationId xmlns:a16="http://schemas.microsoft.com/office/drawing/2014/main" id="{1B44AA8A-9DD4-3D44-8741-004B9657DC2E}"/>
                          </a:ext>
                        </a:extLst>
                      </p:cNvPr>
                      <p:cNvGrpSpPr/>
                      <p:nvPr/>
                    </p:nvGrpSpPr>
                    <p:grpSpPr>
                      <a:xfrm>
                        <a:off x="2031300" y="3275735"/>
                        <a:ext cx="6629400" cy="2031057"/>
                        <a:chOff x="0" y="0"/>
                        <a:chExt cx="6629400" cy="2031057"/>
                      </a:xfrm>
                    </p:grpSpPr>
                    <p:sp>
                      <p:nvSpPr>
                        <p:cNvPr id="18" name="Rectangle 17">
                          <a:extLst>
                            <a:ext uri="{FF2B5EF4-FFF2-40B4-BE49-F238E27FC236}">
                              <a16:creationId xmlns:a16="http://schemas.microsoft.com/office/drawing/2014/main" id="{EBDC8F6E-9806-8145-BDF0-85078D909A40}"/>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9" name="Group 18">
                          <a:extLst>
                            <a:ext uri="{FF2B5EF4-FFF2-40B4-BE49-F238E27FC236}">
                              <a16:creationId xmlns:a16="http://schemas.microsoft.com/office/drawing/2014/main" id="{2ED90F29-8494-7744-B72D-A5742E4EA086}"/>
                            </a:ext>
                          </a:extLst>
                        </p:cNvPr>
                        <p:cNvGrpSpPr/>
                        <p:nvPr/>
                      </p:nvGrpSpPr>
                      <p:grpSpPr>
                        <a:xfrm>
                          <a:off x="0" y="0"/>
                          <a:ext cx="6629400" cy="2031057"/>
                          <a:chOff x="0" y="0"/>
                          <a:chExt cx="6629400" cy="2031057"/>
                        </a:xfrm>
                      </p:grpSpPr>
                      <p:sp>
                        <p:nvSpPr>
                          <p:cNvPr id="21" name="Rectangle 20">
                            <a:extLst>
                              <a:ext uri="{FF2B5EF4-FFF2-40B4-BE49-F238E27FC236}">
                                <a16:creationId xmlns:a16="http://schemas.microsoft.com/office/drawing/2014/main" id="{E6985C53-C211-684F-9510-43FC8AD32E56}"/>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22" name="Rectangle 21">
                            <a:extLst>
                              <a:ext uri="{FF2B5EF4-FFF2-40B4-BE49-F238E27FC236}">
                                <a16:creationId xmlns:a16="http://schemas.microsoft.com/office/drawing/2014/main" id="{2C2220E9-D6B6-8540-B3EF-D757852818C9}"/>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23" name="Rounded Rectangle 22">
                            <a:extLst>
                              <a:ext uri="{FF2B5EF4-FFF2-40B4-BE49-F238E27FC236}">
                                <a16:creationId xmlns:a16="http://schemas.microsoft.com/office/drawing/2014/main" id="{E795243F-10D9-9A47-8C28-0E95F1028273}"/>
                              </a:ext>
                            </a:extLst>
                          </p:cNvPr>
                          <p:cNvSpPr/>
                          <p:nvPr/>
                        </p:nvSpPr>
                        <p:spPr>
                          <a:xfrm>
                            <a:off x="0" y="0"/>
                            <a:ext cx="6629400" cy="2031057"/>
                          </a:xfrm>
                          <a:prstGeom prst="roundRect">
                            <a:avLst>
                              <a:gd name="adj" fmla="val 16667"/>
                            </a:avLst>
                          </a:prstGeom>
                          <a:solidFill>
                            <a:srgbClr val="B8E6F5"/>
                          </a:solidFill>
                          <a:ln>
                            <a:noFill/>
                          </a:ln>
                        </p:spPr>
                        <p:txBody>
                          <a:bodyPr spcFirstLastPara="1" wrap="square" lIns="91425" tIns="45700" rIns="91425" bIns="45700" anchor="ctr" anchorCtr="0">
                            <a:noAutofit/>
                          </a:bodyPr>
                          <a:lstStyle/>
                          <a:p>
                            <a:pPr marL="685800"/>
                            <a:endPar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endParaRPr>
                          </a:p>
                          <a:p>
                            <a:pPr marL="685800"/>
                            <a:endPar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endParaRPr>
                          </a:p>
                          <a:p>
                            <a:pPr marL="685800"/>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Sometimes there are values that are part of the mathematical solution set that do not make sense in the context. In those cases, the variable may have a </a:t>
                            </a:r>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constraint </a:t>
                            </a: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(restriction or limitation) placed on it so that the mathematical model is realistic.</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685800" indent="4114800">
                              <a:spcAft>
                                <a:spcPts val="1000"/>
                              </a:spcAft>
                            </a:pPr>
                            <a:r>
                              <a:rPr lang="en-US" sz="1200" dirty="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a:p>
                            <a:pPr marL="685800" indent="4457700">
                              <a:spcAft>
                                <a:spcPts val="1000"/>
                              </a:spcAft>
                            </a:pPr>
                            <a:r>
                              <a:rPr lang="en-US" sz="1200" dirty="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p:grpSp>
                  </p:grpSp>
                </p:grpSp>
              </p:grpSp>
            </p:grpSp>
          </p:grpSp>
        </p:grpSp>
      </p:grpSp>
      <p:pic>
        <p:nvPicPr>
          <p:cNvPr id="24" name="Shape 37" descr="Icon&#10;&#10;Description automatically generated">
            <a:extLst>
              <a:ext uri="{FF2B5EF4-FFF2-40B4-BE49-F238E27FC236}">
                <a16:creationId xmlns:a16="http://schemas.microsoft.com/office/drawing/2014/main" id="{55B3F167-DCC3-094B-ABDD-8C79203FE22F}"/>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2314299" y="579933"/>
            <a:ext cx="539750" cy="539494"/>
          </a:xfrm>
          <a:prstGeom prst="rect">
            <a:avLst/>
          </a:prstGeom>
          <a:noFill/>
          <a:ln>
            <a:noFill/>
          </a:ln>
          <a:effectLst>
            <a:outerShdw blurRad="50800" dist="38100" dir="2700000" algn="tl" rotWithShape="0">
              <a:prstClr val="black">
                <a:alpha val="40000"/>
              </a:prstClr>
            </a:outerShdw>
          </a:effectLst>
        </p:spPr>
      </p:pic>
      <p:sp>
        <p:nvSpPr>
          <p:cNvPr id="25"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387</a:t>
            </a:r>
            <a:endParaRPr i="1" dirty="0">
              <a:latin typeface="Calibri"/>
              <a:ea typeface="Calibri"/>
              <a:cs typeface="Calibri"/>
              <a:sym typeface="Calibri"/>
            </a:endParaRPr>
          </a:p>
        </p:txBody>
      </p:sp>
      <p:pic>
        <p:nvPicPr>
          <p:cNvPr id="26"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5603391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9"/>
          <p:cNvSpPr/>
          <p:nvPr/>
        </p:nvSpPr>
        <p:spPr>
          <a:xfrm>
            <a:off x="0" y="-8101"/>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17" name="Google Shape;217;p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Exploration</a:t>
            </a:r>
            <a:endParaRPr sz="5100" b="1">
              <a:solidFill>
                <a:srgbClr val="33BEA6"/>
              </a:solidFill>
              <a:latin typeface="Verdana"/>
              <a:ea typeface="Verdana"/>
              <a:cs typeface="Verdana"/>
              <a:sym typeface="Verdana"/>
            </a:endParaRPr>
          </a:p>
        </p:txBody>
      </p:sp>
      <p:pic>
        <p:nvPicPr>
          <p:cNvPr id="219" name="Google Shape;219;p9" descr="Icon&#10;&#10;Description automatically generated"/>
          <p:cNvPicPr preferRelativeResize="0"/>
          <p:nvPr/>
        </p:nvPicPr>
        <p:blipFill rotWithShape="1">
          <a:blip r:embed="rId3">
            <a:alphaModFix/>
          </a:blip>
          <a:srcRect/>
          <a:stretch/>
        </p:blipFill>
        <p:spPr>
          <a:xfrm>
            <a:off x="4630950" y="2814305"/>
            <a:ext cx="1156228" cy="1156228"/>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387</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856662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6" name="Google Shape;226;p10"/>
          <p:cNvSpPr txBox="1"/>
          <p:nvPr/>
        </p:nvSpPr>
        <p:spPr>
          <a:xfrm>
            <a:off x="1368458" y="6032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300" b="1" dirty="0">
                <a:solidFill>
                  <a:srgbClr val="33BEA6"/>
                </a:solidFill>
                <a:latin typeface="Verdana"/>
                <a:ea typeface="Verdana"/>
                <a:cs typeface="Verdana"/>
                <a:sym typeface="Verdana"/>
              </a:rPr>
              <a:t>14.9.4 Exploration: Properties of Inequality</a:t>
            </a:r>
            <a:endParaRPr sz="3300" dirty="0"/>
          </a:p>
        </p:txBody>
      </p:sp>
      <p:pic>
        <p:nvPicPr>
          <p:cNvPr id="228" name="Google Shape;228;p10"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12160" y="308451"/>
            <a:ext cx="752254" cy="752254"/>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229" name="Google Shape;229;p10"/>
              <p:cNvSpPr txBox="1"/>
              <p:nvPr/>
            </p:nvSpPr>
            <p:spPr>
              <a:xfrm>
                <a:off x="1364414" y="1386026"/>
                <a:ext cx="9719204" cy="5232161"/>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Three inequalities are shown.</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Circle the inequalities that represent the same solution set.</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Complete the statement.</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For both inequalities, all the values of </a:t>
                </a:r>
                <a14:m>
                  <m:oMath xmlns:m="http://schemas.openxmlformats.org/officeDocument/2006/math">
                    <m:r>
                      <a:rPr lang="en-US" sz="2000" i="1">
                        <a:latin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 that are ____________ than _____ make both inequalities true.</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These two inequalities are equivalent by the </a:t>
                </a:r>
                <a:r>
                  <a:rPr lang="en-US" sz="2000" b="1" i="1" dirty="0">
                    <a:latin typeface="Verdana" panose="020B0604030504040204" pitchFamily="34" charset="0"/>
                    <a:ea typeface="Verdana" panose="020B0604030504040204" pitchFamily="34" charset="0"/>
                    <a:cs typeface="Verdana" panose="020B0604030504040204" pitchFamily="34" charset="0"/>
                  </a:rPr>
                  <a:t>asymmetric property of inequality</a:t>
                </a:r>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dirty="0"/>
              </a:p>
            </p:txBody>
          </p:sp>
        </mc:Choice>
        <mc:Fallback xmlns="">
          <p:sp>
            <p:nvSpPr>
              <p:cNvPr id="229" name="Google Shape;229;p10"/>
              <p:cNvSpPr txBox="1">
                <a:spLocks noRot="1" noChangeAspect="1" noMove="1" noResize="1" noEditPoints="1" noAdjustHandles="1" noChangeArrowheads="1" noChangeShapeType="1" noTextEdit="1"/>
              </p:cNvSpPr>
              <p:nvPr/>
            </p:nvSpPr>
            <p:spPr>
              <a:xfrm>
                <a:off x="1364414" y="1386026"/>
                <a:ext cx="9719204" cy="5232161"/>
              </a:xfrm>
              <a:prstGeom prst="rect">
                <a:avLst/>
              </a:prstGeom>
              <a:blipFill rotWithShape="0">
                <a:blip r:embed="rId4"/>
                <a:stretch>
                  <a:fillRect l="-690" t="-582"/>
                </a:stretch>
              </a:blipFill>
              <a:ln>
                <a:noFill/>
              </a:ln>
            </p:spPr>
            <p:txBody>
              <a:bodyPr/>
              <a:lstStyle/>
              <a:p>
                <a:r>
                  <a:rPr lang="en-US">
                    <a:noFill/>
                  </a:rPr>
                  <a:t> </a:t>
                </a:r>
              </a:p>
            </p:txBody>
          </p:sp>
        </mc:Fallback>
      </mc:AlternateContent>
      <p:sp>
        <p:nvSpPr>
          <p:cNvPr id="230" name="Google Shape;230;p10"/>
          <p:cNvSpPr/>
          <p:nvPr/>
        </p:nvSpPr>
        <p:spPr>
          <a:xfrm>
            <a:off x="5821"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0A43C765-6554-7740-A7C0-7EDCA181CE11}"/>
                  </a:ext>
                </a:extLst>
              </p:cNvPr>
              <p:cNvGraphicFramePr>
                <a:graphicFrameLocks noGrp="1"/>
              </p:cNvGraphicFramePr>
              <p:nvPr>
                <p:extLst>
                  <p:ext uri="{D42A27DB-BD31-4B8C-83A1-F6EECF244321}">
                    <p14:modId xmlns:p14="http://schemas.microsoft.com/office/powerpoint/2010/main" val="1684956675"/>
                  </p:ext>
                </p:extLst>
              </p:nvPr>
            </p:nvGraphicFramePr>
            <p:xfrm>
              <a:off x="3559556" y="1950425"/>
              <a:ext cx="5207000" cy="548640"/>
            </p:xfrm>
            <a:graphic>
              <a:graphicData uri="http://schemas.openxmlformats.org/drawingml/2006/table">
                <a:tbl>
                  <a:tblPr firstRow="1" firstCol="1" bandRow="1">
                    <a:tableStyleId>{5C22544A-7EE6-4342-B048-85BDC9FD1C3A}</a:tableStyleId>
                  </a:tblPr>
                  <a:tblGrid>
                    <a:gridCol w="1735455">
                      <a:extLst>
                        <a:ext uri="{9D8B030D-6E8A-4147-A177-3AD203B41FA5}">
                          <a16:colId xmlns:a16="http://schemas.microsoft.com/office/drawing/2014/main" val="3517130804"/>
                        </a:ext>
                      </a:extLst>
                    </a:gridCol>
                    <a:gridCol w="1735455">
                      <a:extLst>
                        <a:ext uri="{9D8B030D-6E8A-4147-A177-3AD203B41FA5}">
                          <a16:colId xmlns:a16="http://schemas.microsoft.com/office/drawing/2014/main" val="576897994"/>
                        </a:ext>
                      </a:extLst>
                    </a:gridCol>
                    <a:gridCol w="1736090">
                      <a:extLst>
                        <a:ext uri="{9D8B030D-6E8A-4147-A177-3AD203B41FA5}">
                          <a16:colId xmlns:a16="http://schemas.microsoft.com/office/drawing/2014/main" val="17774550"/>
                        </a:ext>
                      </a:extLst>
                    </a:gridCol>
                  </a:tblGrid>
                  <a:tr h="54864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𝑥</m:t>
                                </m:r>
                                <m:r>
                                  <a:rPr lang="en-US" sz="2000">
                                    <a:solidFill>
                                      <a:schemeClr val="tx1"/>
                                    </a:solidFill>
                                    <a:effectLst/>
                                    <a:latin typeface="Cambria Math" panose="02040503050406030204" pitchFamily="18" charset="0"/>
                                  </a:rPr>
                                  <m:t>&gt;</m:t>
                                </m:r>
                                <m:sPre>
                                  <m:sPrePr>
                                    <m:ctrlPr>
                                      <a:rPr lang="en-US" sz="2000" i="1">
                                        <a:solidFill>
                                          <a:schemeClr val="tx1"/>
                                        </a:solidFill>
                                        <a:effectLst/>
                                        <a:latin typeface="Cambria Math" panose="02040503050406030204" pitchFamily="18" charset="0"/>
                                      </a:rPr>
                                    </m:ctrlPr>
                                  </m:sPrePr>
                                  <m:sub/>
                                  <m:sup>
                                    <m:r>
                                      <a:rPr lang="en-US" sz="2000">
                                        <a:solidFill>
                                          <a:schemeClr val="tx1"/>
                                        </a:solidFill>
                                        <a:effectLst/>
                                        <a:latin typeface="Cambria Math" panose="02040503050406030204" pitchFamily="18" charset="0"/>
                                      </a:rPr>
                                      <m:t>−</m:t>
                                    </m:r>
                                  </m:sup>
                                  <m:e>
                                    <m:r>
                                      <a:rPr lang="en-US" sz="2000">
                                        <a:solidFill>
                                          <a:schemeClr val="tx1"/>
                                        </a:solidFill>
                                        <a:effectLst/>
                                        <a:latin typeface="Cambria Math" panose="02040503050406030204" pitchFamily="18" charset="0"/>
                                      </a:rPr>
                                      <m:t>2.3</m:t>
                                    </m:r>
                                  </m:e>
                                </m:sPre>
                              </m:oMath>
                            </m:oMathPara>
                          </a14:m>
                          <a:endPar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Pre>
                                  <m:sPrePr>
                                    <m:ctrlPr>
                                      <a:rPr lang="en-US" sz="2000" i="1" smtClean="0">
                                        <a:solidFill>
                                          <a:schemeClr val="tx1"/>
                                        </a:solidFill>
                                        <a:effectLst/>
                                        <a:latin typeface="Cambria Math" panose="02040503050406030204" pitchFamily="18" charset="0"/>
                                      </a:rPr>
                                    </m:ctrlPr>
                                  </m:sPrePr>
                                  <m:sub/>
                                  <m:sup>
                                    <m:r>
                                      <a:rPr lang="en-US" sz="2000">
                                        <a:solidFill>
                                          <a:schemeClr val="tx1"/>
                                        </a:solidFill>
                                        <a:effectLst/>
                                        <a:latin typeface="Cambria Math" panose="02040503050406030204" pitchFamily="18" charset="0"/>
                                      </a:rPr>
                                      <m:t>−</m:t>
                                    </m:r>
                                  </m:sup>
                                  <m:e>
                                    <m:r>
                                      <a:rPr lang="en-US" sz="2000">
                                        <a:solidFill>
                                          <a:schemeClr val="tx1"/>
                                        </a:solidFill>
                                        <a:effectLst/>
                                        <a:latin typeface="Cambria Math" panose="02040503050406030204" pitchFamily="18" charset="0"/>
                                      </a:rPr>
                                      <m:t>2.3</m:t>
                                    </m:r>
                                  </m:e>
                                </m:sPre>
                                <m:r>
                                  <a:rPr lang="en-US" sz="2000">
                                    <a:solidFill>
                                      <a:schemeClr val="tx1"/>
                                    </a:solidFill>
                                    <a:effectLst/>
                                    <a:latin typeface="Cambria Math" panose="02040503050406030204" pitchFamily="18" charset="0"/>
                                  </a:rPr>
                                  <m:t>&gt;</m:t>
                                </m:r>
                                <m:r>
                                  <a:rPr lang="en-US" sz="2000">
                                    <a:solidFill>
                                      <a:schemeClr val="tx1"/>
                                    </a:solidFill>
                                    <a:effectLst/>
                                    <a:latin typeface="Cambria Math" panose="02040503050406030204" pitchFamily="18" charset="0"/>
                                  </a:rPr>
                                  <m:t>𝑥</m:t>
                                </m:r>
                              </m:oMath>
                            </m:oMathPara>
                          </a14:m>
                          <a:endPar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Pre>
                                  <m:sPrePr>
                                    <m:ctrlPr>
                                      <a:rPr lang="en-US" sz="2000" i="1" smtClean="0">
                                        <a:solidFill>
                                          <a:schemeClr val="tx1"/>
                                        </a:solidFill>
                                        <a:effectLst/>
                                        <a:latin typeface="Cambria Math" panose="02040503050406030204" pitchFamily="18" charset="0"/>
                                      </a:rPr>
                                    </m:ctrlPr>
                                  </m:sPrePr>
                                  <m:sub/>
                                  <m:sup>
                                    <m:r>
                                      <a:rPr lang="en-US" sz="2000">
                                        <a:solidFill>
                                          <a:schemeClr val="tx1"/>
                                        </a:solidFill>
                                        <a:effectLst/>
                                        <a:latin typeface="Cambria Math" panose="02040503050406030204" pitchFamily="18" charset="0"/>
                                      </a:rPr>
                                      <m:t>−</m:t>
                                    </m:r>
                                  </m:sup>
                                  <m:e>
                                    <m:r>
                                      <a:rPr lang="en-US" sz="2000">
                                        <a:solidFill>
                                          <a:schemeClr val="tx1"/>
                                        </a:solidFill>
                                        <a:effectLst/>
                                        <a:latin typeface="Cambria Math" panose="02040503050406030204" pitchFamily="18" charset="0"/>
                                      </a:rPr>
                                      <m:t>2.3</m:t>
                                    </m:r>
                                  </m:e>
                                </m:sPre>
                                <m:r>
                                  <a:rPr lang="en-US" sz="2000">
                                    <a:solidFill>
                                      <a:schemeClr val="tx1"/>
                                    </a:solidFill>
                                    <a:effectLst/>
                                    <a:latin typeface="Cambria Math" panose="02040503050406030204" pitchFamily="18" charset="0"/>
                                  </a:rPr>
                                  <m:t>&lt;</m:t>
                                </m:r>
                                <m:r>
                                  <a:rPr lang="en-US" sz="2000">
                                    <a:solidFill>
                                      <a:schemeClr val="tx1"/>
                                    </a:solidFill>
                                    <a:effectLst/>
                                    <a:latin typeface="Cambria Math" panose="02040503050406030204" pitchFamily="18" charset="0"/>
                                  </a:rPr>
                                  <m:t>𝑥</m:t>
                                </m:r>
                              </m:oMath>
                            </m:oMathPara>
                          </a14:m>
                          <a:endPar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solidFill>
                          <a:schemeClr val="bg1"/>
                        </a:solidFill>
                      </a:tcPr>
                    </a:tc>
                    <a:extLst>
                      <a:ext uri="{0D108BD9-81ED-4DB2-BD59-A6C34878D82A}">
                        <a16:rowId xmlns:a16="http://schemas.microsoft.com/office/drawing/2014/main" val="2517343409"/>
                      </a:ext>
                    </a:extLst>
                  </a:tr>
                </a:tbl>
              </a:graphicData>
            </a:graphic>
          </p:graphicFrame>
        </mc:Choice>
        <mc:Fallback xmlns="">
          <p:graphicFrame>
            <p:nvGraphicFramePr>
              <p:cNvPr id="3" name="Table 2">
                <a:extLst>
                  <a:ext uri="{FF2B5EF4-FFF2-40B4-BE49-F238E27FC236}">
                    <a16:creationId xmlns:a16="http://schemas.microsoft.com/office/drawing/2014/main" id="{0A43C765-6554-7740-A7C0-7EDCA181CE11}"/>
                  </a:ext>
                </a:extLst>
              </p:cNvPr>
              <p:cNvGraphicFramePr>
                <a:graphicFrameLocks noGrp="1"/>
              </p:cNvGraphicFramePr>
              <p:nvPr>
                <p:extLst>
                  <p:ext uri="{D42A27DB-BD31-4B8C-83A1-F6EECF244321}">
                    <p14:modId xmlns:p14="http://schemas.microsoft.com/office/powerpoint/2010/main" val="1684956675"/>
                  </p:ext>
                </p:extLst>
              </p:nvPr>
            </p:nvGraphicFramePr>
            <p:xfrm>
              <a:off x="2035556" y="1950425"/>
              <a:ext cx="5207000" cy="548640"/>
            </p:xfrm>
            <a:graphic>
              <a:graphicData uri="http://schemas.openxmlformats.org/drawingml/2006/table">
                <a:tbl>
                  <a:tblPr firstRow="1" firstCol="1" bandRow="1">
                    <a:tableStyleId>{5C22544A-7EE6-4342-B048-85BDC9FD1C3A}</a:tableStyleId>
                  </a:tblPr>
                  <a:tblGrid>
                    <a:gridCol w="1735455">
                      <a:extLst>
                        <a:ext uri="{9D8B030D-6E8A-4147-A177-3AD203B41FA5}">
                          <a16:colId xmlns:a16="http://schemas.microsoft.com/office/drawing/2014/main" val="3517130804"/>
                        </a:ext>
                      </a:extLst>
                    </a:gridCol>
                    <a:gridCol w="1735455">
                      <a:extLst>
                        <a:ext uri="{9D8B030D-6E8A-4147-A177-3AD203B41FA5}">
                          <a16:colId xmlns:a16="http://schemas.microsoft.com/office/drawing/2014/main" val="576897994"/>
                        </a:ext>
                      </a:extLst>
                    </a:gridCol>
                    <a:gridCol w="1736090">
                      <a:extLst>
                        <a:ext uri="{9D8B030D-6E8A-4147-A177-3AD203B41FA5}">
                          <a16:colId xmlns:a16="http://schemas.microsoft.com/office/drawing/2014/main" val="17774550"/>
                        </a:ext>
                      </a:extLst>
                    </a:gridCol>
                  </a:tblGrid>
                  <a:tr h="548640">
                    <a:tc>
                      <a:txBody>
                        <a:bodyPr/>
                        <a:lstStyle/>
                        <a:p>
                          <a:endParaRPr lang="en-US"/>
                        </a:p>
                      </a:txBody>
                      <a:tcPr marL="68580" marR="68580" marT="0" marB="0" anchor="ctr">
                        <a:blipFill>
                          <a:blip r:embed="rId6"/>
                          <a:stretch>
                            <a:fillRect l="-730" t="-2273" r="-201460" b="-6818"/>
                          </a:stretch>
                        </a:blipFill>
                      </a:tcPr>
                    </a:tc>
                    <a:tc>
                      <a:txBody>
                        <a:bodyPr/>
                        <a:lstStyle/>
                        <a:p>
                          <a:endParaRPr lang="en-US"/>
                        </a:p>
                      </a:txBody>
                      <a:tcPr marL="68580" marR="68580" marT="0" marB="0" anchor="ctr">
                        <a:blipFill>
                          <a:blip r:embed="rId6"/>
                          <a:stretch>
                            <a:fillRect l="-100730" t="-2273" r="-101460" b="-6818"/>
                          </a:stretch>
                        </a:blipFill>
                      </a:tcPr>
                    </a:tc>
                    <a:tc>
                      <a:txBody>
                        <a:bodyPr/>
                        <a:lstStyle/>
                        <a:p>
                          <a:endParaRPr lang="en-US"/>
                        </a:p>
                      </a:txBody>
                      <a:tcPr marL="68580" marR="68580" marT="0" marB="0" anchor="ctr">
                        <a:blipFill>
                          <a:blip r:embed="rId6"/>
                          <a:stretch>
                            <a:fillRect l="-200730" t="-2273" r="-1460" b="-6818"/>
                          </a:stretch>
                        </a:blipFill>
                      </a:tcPr>
                    </a:tc>
                    <a:extLst>
                      <a:ext uri="{0D108BD9-81ED-4DB2-BD59-A6C34878D82A}">
                        <a16:rowId xmlns:a16="http://schemas.microsoft.com/office/drawing/2014/main" val="2517343409"/>
                      </a:ext>
                    </a:extLst>
                  </a:tr>
                </a:tbl>
              </a:graphicData>
            </a:graphic>
          </p:graphicFrame>
        </mc:Fallback>
      </mc:AlternateContent>
      <p:sp>
        <p:nvSpPr>
          <p:cNvPr id="9"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387</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5916353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8" name="Google Shape;208;p8"/>
              <p:cNvSpPr txBox="1"/>
              <p:nvPr/>
            </p:nvSpPr>
            <p:spPr>
              <a:xfrm>
                <a:off x="1209822" y="520393"/>
                <a:ext cx="9923022" cy="2068346"/>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Use the asymmetric property of inequality to write an inequality equivalent to </a:t>
                </a:r>
                <a14:m>
                  <m:oMath xmlns:m="http://schemas.openxmlformats.org/officeDocument/2006/math">
                    <m:r>
                      <a:rPr lang="en-US" sz="2000" i="1">
                        <a:latin typeface="Cambria Math" panose="02040503050406030204" pitchFamily="18" charset="0"/>
                        <a:ea typeface="Cambria Math" panose="02040503050406030204" pitchFamily="18" charset="0"/>
                      </a:rPr>
                      <m:t>𝑞</m:t>
                    </m:r>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2</m:t>
                        </m:r>
                      </m:num>
                      <m:den>
                        <m:r>
                          <a:rPr lang="en-US" sz="2000" i="1">
                            <a:latin typeface="Cambria Math" panose="02040503050406030204" pitchFamily="18" charset="0"/>
                            <a:ea typeface="Cambria Math" panose="02040503050406030204" pitchFamily="18" charset="0"/>
                          </a:rPr>
                          <m:t>5</m:t>
                        </m:r>
                      </m:den>
                    </m:f>
                    <m:r>
                      <a:rPr lang="en-US" sz="2000" i="1">
                        <a:latin typeface="Cambria Math" panose="02040503050406030204" pitchFamily="18" charset="0"/>
                        <a:ea typeface="Cambria Math" panose="02040503050406030204" pitchFamily="18" charset="0"/>
                      </a:rPr>
                      <m:t> ≤ </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7</m:t>
                        </m:r>
                      </m:num>
                      <m:den>
                        <m:r>
                          <a:rPr lang="en-US" sz="2000" i="1">
                            <a:latin typeface="Cambria Math" panose="02040503050406030204" pitchFamily="18" charset="0"/>
                            <a:ea typeface="Cambria Math" panose="02040503050406030204" pitchFamily="18" charset="0"/>
                          </a:rPr>
                          <m:t>10</m:t>
                        </m:r>
                      </m:den>
                    </m:f>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208" name="Google Shape;208;p8"/>
              <p:cNvSpPr txBox="1">
                <a:spLocks noRot="1" noChangeAspect="1" noMove="1" noResize="1" noEditPoints="1" noAdjustHandles="1" noChangeArrowheads="1" noChangeShapeType="1" noTextEdit="1"/>
              </p:cNvSpPr>
              <p:nvPr/>
            </p:nvSpPr>
            <p:spPr>
              <a:xfrm>
                <a:off x="1209822" y="520393"/>
                <a:ext cx="9923022" cy="2068346"/>
              </a:xfrm>
              <a:prstGeom prst="rect">
                <a:avLst/>
              </a:prstGeom>
              <a:blipFill rotWithShape="0">
                <a:blip r:embed="rId3"/>
                <a:stretch>
                  <a:fillRect l="-676" b="-588"/>
                </a:stretch>
              </a:blipFill>
              <a:ln>
                <a:noFill/>
              </a:ln>
            </p:spPr>
            <p:txBody>
              <a:bodyPr/>
              <a:lstStyle/>
              <a:p>
                <a:r>
                  <a:rPr lang="en-US">
                    <a:noFill/>
                  </a:rPr>
                  <a:t> </a:t>
                </a:r>
              </a:p>
            </p:txBody>
          </p:sp>
        </mc:Fallback>
      </mc:AlternateContent>
      <p:sp>
        <p:nvSpPr>
          <p:cNvPr id="209" name="Google Shape;209;p8"/>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pSp>
        <p:nvGrpSpPr>
          <p:cNvPr id="6" name="Group 5">
            <a:extLst>
              <a:ext uri="{FF2B5EF4-FFF2-40B4-BE49-F238E27FC236}">
                <a16:creationId xmlns:a16="http://schemas.microsoft.com/office/drawing/2014/main" id="{533E8791-0BEC-BD49-926E-160D8ABB86E4}"/>
              </a:ext>
            </a:extLst>
          </p:cNvPr>
          <p:cNvGrpSpPr/>
          <p:nvPr/>
        </p:nvGrpSpPr>
        <p:grpSpPr>
          <a:xfrm>
            <a:off x="2781300" y="483227"/>
            <a:ext cx="6629400" cy="835331"/>
            <a:chOff x="2031300" y="3252876"/>
            <a:chExt cx="6629400" cy="1064345"/>
          </a:xfrm>
        </p:grpSpPr>
        <p:grpSp>
          <p:nvGrpSpPr>
            <p:cNvPr id="7" name="Group 6">
              <a:extLst>
                <a:ext uri="{FF2B5EF4-FFF2-40B4-BE49-F238E27FC236}">
                  <a16:creationId xmlns:a16="http://schemas.microsoft.com/office/drawing/2014/main" id="{345464E7-1AC0-0540-8D86-AE1739F9D179}"/>
                </a:ext>
              </a:extLst>
            </p:cNvPr>
            <p:cNvGrpSpPr/>
            <p:nvPr/>
          </p:nvGrpSpPr>
          <p:grpSpPr>
            <a:xfrm>
              <a:off x="2031300" y="3252876"/>
              <a:ext cx="6629400" cy="1064345"/>
              <a:chOff x="2031300" y="3252876"/>
              <a:chExt cx="6629400" cy="1064345"/>
            </a:xfrm>
          </p:grpSpPr>
          <p:sp>
            <p:nvSpPr>
              <p:cNvPr id="8" name="Rectangle 7">
                <a:extLst>
                  <a:ext uri="{FF2B5EF4-FFF2-40B4-BE49-F238E27FC236}">
                    <a16:creationId xmlns:a16="http://schemas.microsoft.com/office/drawing/2014/main" id="{F8BB28EF-63BF-0E4F-8FCA-6E9E22A5EDF0}"/>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9" name="Group 8">
                <a:extLst>
                  <a:ext uri="{FF2B5EF4-FFF2-40B4-BE49-F238E27FC236}">
                    <a16:creationId xmlns:a16="http://schemas.microsoft.com/office/drawing/2014/main" id="{F88648D9-54B1-C04D-B96D-7F459073A98C}"/>
                  </a:ext>
                </a:extLst>
              </p:cNvPr>
              <p:cNvGrpSpPr/>
              <p:nvPr/>
            </p:nvGrpSpPr>
            <p:grpSpPr>
              <a:xfrm>
                <a:off x="2031300" y="3252876"/>
                <a:ext cx="6629400" cy="1064345"/>
                <a:chOff x="2031300" y="3252876"/>
                <a:chExt cx="6629400" cy="1064345"/>
              </a:xfrm>
            </p:grpSpPr>
            <p:sp>
              <p:nvSpPr>
                <p:cNvPr id="10" name="Rectangle 9">
                  <a:extLst>
                    <a:ext uri="{FF2B5EF4-FFF2-40B4-BE49-F238E27FC236}">
                      <a16:creationId xmlns:a16="http://schemas.microsoft.com/office/drawing/2014/main" id="{DF5461E9-0966-9443-B568-C350411832E2}"/>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1" name="Group 10">
                  <a:extLst>
                    <a:ext uri="{FF2B5EF4-FFF2-40B4-BE49-F238E27FC236}">
                      <a16:creationId xmlns:a16="http://schemas.microsoft.com/office/drawing/2014/main" id="{E55C0166-E46F-D945-B7E0-17021AFCCC3A}"/>
                    </a:ext>
                  </a:extLst>
                </p:cNvPr>
                <p:cNvGrpSpPr/>
                <p:nvPr/>
              </p:nvGrpSpPr>
              <p:grpSpPr>
                <a:xfrm>
                  <a:off x="2031300" y="3252876"/>
                  <a:ext cx="6629400" cy="1064345"/>
                  <a:chOff x="2031300" y="3252876"/>
                  <a:chExt cx="6629400" cy="1064345"/>
                </a:xfrm>
              </p:grpSpPr>
              <p:sp>
                <p:nvSpPr>
                  <p:cNvPr id="12" name="Rectangle 11">
                    <a:extLst>
                      <a:ext uri="{FF2B5EF4-FFF2-40B4-BE49-F238E27FC236}">
                        <a16:creationId xmlns:a16="http://schemas.microsoft.com/office/drawing/2014/main" id="{2863EED1-D5E4-BC4A-923A-DEFECAF4860B}"/>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3" name="Group 12">
                    <a:extLst>
                      <a:ext uri="{FF2B5EF4-FFF2-40B4-BE49-F238E27FC236}">
                        <a16:creationId xmlns:a16="http://schemas.microsoft.com/office/drawing/2014/main" id="{A08928AA-1E2B-1F49-9D62-D3B56C52016E}"/>
                      </a:ext>
                    </a:extLst>
                  </p:cNvPr>
                  <p:cNvGrpSpPr/>
                  <p:nvPr/>
                </p:nvGrpSpPr>
                <p:grpSpPr>
                  <a:xfrm>
                    <a:off x="2031300" y="3252876"/>
                    <a:ext cx="6629400" cy="1064345"/>
                    <a:chOff x="2031300" y="3252876"/>
                    <a:chExt cx="6629400" cy="1064345"/>
                  </a:xfrm>
                </p:grpSpPr>
                <p:sp>
                  <p:nvSpPr>
                    <p:cNvPr id="14" name="Rectangle 13">
                      <a:extLst>
                        <a:ext uri="{FF2B5EF4-FFF2-40B4-BE49-F238E27FC236}">
                          <a16:creationId xmlns:a16="http://schemas.microsoft.com/office/drawing/2014/main" id="{29673E34-0BC8-A249-A47A-0789B5B98075}"/>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5" name="Group 14">
                      <a:extLst>
                        <a:ext uri="{FF2B5EF4-FFF2-40B4-BE49-F238E27FC236}">
                          <a16:creationId xmlns:a16="http://schemas.microsoft.com/office/drawing/2014/main" id="{EC0128A7-C019-8645-9965-4B27376EA9AC}"/>
                        </a:ext>
                      </a:extLst>
                    </p:cNvPr>
                    <p:cNvGrpSpPr/>
                    <p:nvPr/>
                  </p:nvGrpSpPr>
                  <p:grpSpPr>
                    <a:xfrm>
                      <a:off x="2031300" y="3252876"/>
                      <a:ext cx="6629400" cy="1064345"/>
                      <a:chOff x="2031300" y="3262288"/>
                      <a:chExt cx="6629400" cy="1045343"/>
                    </a:xfrm>
                  </p:grpSpPr>
                  <p:sp>
                    <p:nvSpPr>
                      <p:cNvPr id="16" name="Rectangle 15">
                        <a:extLst>
                          <a:ext uri="{FF2B5EF4-FFF2-40B4-BE49-F238E27FC236}">
                            <a16:creationId xmlns:a16="http://schemas.microsoft.com/office/drawing/2014/main" id="{6C95E5F5-5055-5B43-B886-88CFC224FBE9}"/>
                          </a:ext>
                        </a:extLst>
                      </p:cNvPr>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7" name="Group 16">
                        <a:extLst>
                          <a:ext uri="{FF2B5EF4-FFF2-40B4-BE49-F238E27FC236}">
                            <a16:creationId xmlns:a16="http://schemas.microsoft.com/office/drawing/2014/main" id="{AB02F813-74DF-7542-96DE-523EC39F1D4F}"/>
                          </a:ext>
                        </a:extLst>
                      </p:cNvPr>
                      <p:cNvGrpSpPr/>
                      <p:nvPr/>
                    </p:nvGrpSpPr>
                    <p:grpSpPr>
                      <a:xfrm>
                        <a:off x="2031300" y="3262288"/>
                        <a:ext cx="6629400" cy="1045343"/>
                        <a:chOff x="2031300" y="3373600"/>
                        <a:chExt cx="6629400" cy="1045343"/>
                      </a:xfrm>
                    </p:grpSpPr>
                    <p:sp>
                      <p:nvSpPr>
                        <p:cNvPr id="18" name="Rectangle 17">
                          <a:extLst>
                            <a:ext uri="{FF2B5EF4-FFF2-40B4-BE49-F238E27FC236}">
                              <a16:creationId xmlns:a16="http://schemas.microsoft.com/office/drawing/2014/main" id="{29693B8B-6833-3346-8BB1-D3386425A220}"/>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9" name="Group 18">
                          <a:extLst>
                            <a:ext uri="{FF2B5EF4-FFF2-40B4-BE49-F238E27FC236}">
                              <a16:creationId xmlns:a16="http://schemas.microsoft.com/office/drawing/2014/main" id="{A072CDA9-9F4B-A247-98EE-10380E48BDBB}"/>
                            </a:ext>
                          </a:extLst>
                        </p:cNvPr>
                        <p:cNvGrpSpPr/>
                        <p:nvPr/>
                      </p:nvGrpSpPr>
                      <p:grpSpPr>
                        <a:xfrm>
                          <a:off x="2031300" y="3373600"/>
                          <a:ext cx="6629400" cy="1045343"/>
                          <a:chOff x="2031300" y="3373600"/>
                          <a:chExt cx="6629400" cy="1045343"/>
                        </a:xfrm>
                      </p:grpSpPr>
                      <p:sp>
                        <p:nvSpPr>
                          <p:cNvPr id="20" name="Rectangle 19">
                            <a:extLst>
                              <a:ext uri="{FF2B5EF4-FFF2-40B4-BE49-F238E27FC236}">
                                <a16:creationId xmlns:a16="http://schemas.microsoft.com/office/drawing/2014/main" id="{85B333AD-BB3D-3948-8263-1B9B333602F3}"/>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1" name="Group 20">
                            <a:extLst>
                              <a:ext uri="{FF2B5EF4-FFF2-40B4-BE49-F238E27FC236}">
                                <a16:creationId xmlns:a16="http://schemas.microsoft.com/office/drawing/2014/main" id="{B02F9970-1764-D14F-944D-D3EFBFA31120}"/>
                              </a:ext>
                            </a:extLst>
                          </p:cNvPr>
                          <p:cNvGrpSpPr/>
                          <p:nvPr/>
                        </p:nvGrpSpPr>
                        <p:grpSpPr>
                          <a:xfrm>
                            <a:off x="2031300" y="3373600"/>
                            <a:ext cx="6629400" cy="1045343"/>
                            <a:chOff x="0" y="0"/>
                            <a:chExt cx="6629400" cy="1045343"/>
                          </a:xfrm>
                        </p:grpSpPr>
                        <p:sp>
                          <p:nvSpPr>
                            <p:cNvPr id="22" name="Rectangle 21">
                              <a:extLst>
                                <a:ext uri="{FF2B5EF4-FFF2-40B4-BE49-F238E27FC236}">
                                  <a16:creationId xmlns:a16="http://schemas.microsoft.com/office/drawing/2014/main" id="{7A5EA99A-C74C-EF47-94A2-85CD3965DD10}"/>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23" name="Rounded Rectangle 22">
                                  <a:extLst>
                                    <a:ext uri="{FF2B5EF4-FFF2-40B4-BE49-F238E27FC236}">
                                      <a16:creationId xmlns:a16="http://schemas.microsoft.com/office/drawing/2014/main" id="{11F1BDF8-F548-3446-AE6C-077D5C4DB5E4}"/>
                                    </a:ext>
                                  </a:extLst>
                                </p:cNvPr>
                                <p:cNvSpPr/>
                                <p:nvPr/>
                              </p:nvSpPr>
                              <p:spPr>
                                <a:xfrm>
                                  <a:off x="0" y="9919"/>
                                  <a:ext cx="6629400" cy="1035424"/>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spcAft>
                                      <a:spcPts val="1000"/>
                                    </a:spcAft>
                                  </a:pPr>
                                  <a:endPar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endParaRPr>
                                </a:p>
                                <a:p>
                                  <a:pPr marL="685800">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The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asymmetric property of inequality</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states that if </a:t>
                                  </a:r>
                                  <a14:m>
                                    <m:oMath xmlns:m="http://schemas.openxmlformats.org/officeDocument/2006/math">
                                      <m:r>
                                        <a:rPr lang="en-US" sz="2000" i="1">
                                          <a:solidFill>
                                            <a:srgbClr val="6C993D"/>
                                          </a:solidFill>
                                          <a:latin typeface="Cambria Math" panose="02040503050406030204" pitchFamily="18" charset="0"/>
                                          <a:ea typeface="Times New Roman" panose="02020603050405020304" pitchFamily="18" charset="0"/>
                                          <a:cs typeface="Arial" panose="020B0604020202020204" pitchFamily="34" charset="0"/>
                                        </a:rPr>
                                        <m:t>𝑎</m:t>
                                      </m:r>
                                      <m:r>
                                        <a:rPr lang="en-US" sz="2000" i="1">
                                          <a:solidFill>
                                            <a:srgbClr val="6C993D"/>
                                          </a:solidFill>
                                          <a:latin typeface="Cambria Math" panose="02040503050406030204" pitchFamily="18" charset="0"/>
                                          <a:ea typeface="Times New Roman" panose="02020603050405020304" pitchFamily="18" charset="0"/>
                                          <a:cs typeface="Arial" panose="020B0604020202020204" pitchFamily="34" charset="0"/>
                                        </a:rPr>
                                        <m:t>&gt;</m:t>
                                      </m:r>
                                      <m:r>
                                        <a:rPr lang="en-US" sz="2000" i="1">
                                          <a:solidFill>
                                            <a:srgbClr val="6C993D"/>
                                          </a:solidFill>
                                          <a:latin typeface="Cambria Math" panose="02040503050406030204" pitchFamily="18" charset="0"/>
                                          <a:ea typeface="Times New Roman" panose="02020603050405020304" pitchFamily="18" charset="0"/>
                                          <a:cs typeface="Arial" panose="020B0604020202020204" pitchFamily="34" charset="0"/>
                                        </a:rPr>
                                        <m:t>𝑏</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then </a:t>
                                  </a:r>
                                  <a14:m>
                                    <m:oMath xmlns:m="http://schemas.openxmlformats.org/officeDocument/2006/math">
                                      <m:r>
                                        <a:rPr lang="en-US" sz="2000" i="1">
                                          <a:solidFill>
                                            <a:srgbClr val="6C993D"/>
                                          </a:solidFill>
                                          <a:latin typeface="Cambria Math" panose="02040503050406030204" pitchFamily="18" charset="0"/>
                                          <a:ea typeface="Times New Roman" panose="02020603050405020304" pitchFamily="18" charset="0"/>
                                          <a:cs typeface="Arial" panose="020B0604020202020204" pitchFamily="34" charset="0"/>
                                        </a:rPr>
                                        <m:t>𝑏</m:t>
                                      </m:r>
                                      <m:r>
                                        <a:rPr lang="en-US" sz="2000" i="1">
                                          <a:solidFill>
                                            <a:srgbClr val="6C993D"/>
                                          </a:solidFill>
                                          <a:latin typeface="Cambria Math" panose="02040503050406030204" pitchFamily="18" charset="0"/>
                                          <a:ea typeface="Times New Roman" panose="02020603050405020304" pitchFamily="18" charset="0"/>
                                          <a:cs typeface="Arial" panose="020B0604020202020204" pitchFamily="34" charset="0"/>
                                        </a:rPr>
                                        <m:t>&lt;</m:t>
                                      </m:r>
                                      <m:r>
                                        <a:rPr lang="en-US" sz="2000" i="1">
                                          <a:solidFill>
                                            <a:srgbClr val="6C993D"/>
                                          </a:solidFill>
                                          <a:latin typeface="Cambria Math" panose="02040503050406030204" pitchFamily="18" charset="0"/>
                                          <a:ea typeface="Times New Roman" panose="02020603050405020304" pitchFamily="18" charset="0"/>
                                          <a:cs typeface="Arial" panose="020B0604020202020204" pitchFamily="34" charset="0"/>
                                        </a:rPr>
                                        <m:t>𝑎</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685800" indent="4114800">
                                    <a:spcAft>
                                      <a:spcPts val="1000"/>
                                    </a:spcAft>
                                  </a:pPr>
                                  <a:r>
                                    <a:rPr lang="en-US" sz="1200" dirty="0">
                                      <a:solidFill>
                                        <a:srgbClr val="6C993D"/>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3" name="Rounded Rectangle 22">
                                  <a:extLst>
                                    <a:ext uri="{FF2B5EF4-FFF2-40B4-BE49-F238E27FC236}">
                                      <a16:creationId xmlns:a16="http://schemas.microsoft.com/office/drawing/2014/main" id="{11F1BDF8-F548-3446-AE6C-077D5C4DB5E4}"/>
                                    </a:ext>
                                  </a:extLst>
                                </p:cNvPr>
                                <p:cNvSpPr>
                                  <a:spLocks noRot="1" noChangeAspect="1" noMove="1" noResize="1" noEditPoints="1" noAdjustHandles="1" noChangeArrowheads="1" noChangeShapeType="1" noTextEdit="1"/>
                                </p:cNvSpPr>
                                <p:nvPr/>
                              </p:nvSpPr>
                              <p:spPr>
                                <a:xfrm>
                                  <a:off x="0" y="9919"/>
                                  <a:ext cx="6629400" cy="1035424"/>
                                </a:xfrm>
                                <a:prstGeom prst="roundRect">
                                  <a:avLst>
                                    <a:gd name="adj" fmla="val 16667"/>
                                  </a:avLst>
                                </a:prstGeom>
                                <a:blipFill>
                                  <a:blip r:embed="rId5"/>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24" name="Shape 19" descr="Icon&#10;&#10;Description automatically generated">
                              <a:extLst>
                                <a:ext uri="{FF2B5EF4-FFF2-40B4-BE49-F238E27FC236}">
                                  <a16:creationId xmlns:a16="http://schemas.microsoft.com/office/drawing/2014/main" id="{EB4DAE20-889A-3D42-B8A3-EFB76911E386}"/>
                                </a:ext>
                              </a:extLst>
                            </p:cNvPr>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38545" y="93714"/>
                              <a:ext cx="539750" cy="719031"/>
                            </a:xfrm>
                            <a:prstGeom prst="rect">
                              <a:avLst/>
                            </a:prstGeom>
                            <a:noFill/>
                            <a:ln>
                              <a:noFill/>
                            </a:ln>
                            <a:effectLst>
                              <a:outerShdw blurRad="50800" dist="38100" dir="2700000" algn="tl" rotWithShape="0">
                                <a:prstClr val="black">
                                  <a:alpha val="40000"/>
                                </a:prstClr>
                              </a:outerShdw>
                            </a:effectLst>
                          </p:spPr>
                        </p:pic>
                      </p:grpSp>
                    </p:grpSp>
                  </p:grpSp>
                </p:grpSp>
              </p:grpSp>
            </p:grpSp>
          </p:grpSp>
        </p:grpSp>
      </p:grpSp>
      <p:sp>
        <p:nvSpPr>
          <p:cNvPr id="25"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387</a:t>
            </a:r>
            <a:endParaRPr i="1" dirty="0">
              <a:latin typeface="Calibri"/>
              <a:ea typeface="Calibri"/>
              <a:cs typeface="Calibri"/>
              <a:sym typeface="Calibri"/>
            </a:endParaRPr>
          </a:p>
        </p:txBody>
      </p:sp>
      <p:pic>
        <p:nvPicPr>
          <p:cNvPr id="26"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0896780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1139483" y="520394"/>
            <a:ext cx="10063700" cy="1015622"/>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Four true inequalities are given in the table. Work with your partner to complete the table by following the steps indicated for each inequality and then answering the questions.</a:t>
            </a:r>
          </a:p>
        </p:txBody>
      </p:sp>
      <p:sp>
        <p:nvSpPr>
          <p:cNvPr id="209" name="Google Shape;209;p8"/>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374342C9-8F69-6842-B1BB-5E0847A9905C}"/>
                  </a:ext>
                </a:extLst>
              </p:cNvPr>
              <p:cNvGraphicFramePr>
                <a:graphicFrameLocks noGrp="1"/>
              </p:cNvGraphicFramePr>
              <p:nvPr>
                <p:extLst>
                  <p:ext uri="{D42A27DB-BD31-4B8C-83A1-F6EECF244321}">
                    <p14:modId xmlns:p14="http://schemas.microsoft.com/office/powerpoint/2010/main" val="3707765881"/>
                  </p:ext>
                </p:extLst>
              </p:nvPr>
            </p:nvGraphicFramePr>
            <p:xfrm>
              <a:off x="2007766" y="1890293"/>
              <a:ext cx="7893103" cy="4567383"/>
            </p:xfrm>
            <a:graphic>
              <a:graphicData uri="http://schemas.openxmlformats.org/drawingml/2006/table">
                <a:tbl>
                  <a:tblPr firstRow="1" firstCol="1" bandRow="1">
                    <a:tableStyleId>{5C22544A-7EE6-4342-B048-85BDC9FD1C3A}</a:tableStyleId>
                  </a:tblPr>
                  <a:tblGrid>
                    <a:gridCol w="1665325">
                      <a:extLst>
                        <a:ext uri="{9D8B030D-6E8A-4147-A177-3AD203B41FA5}">
                          <a16:colId xmlns:a16="http://schemas.microsoft.com/office/drawing/2014/main" val="57018955"/>
                        </a:ext>
                      </a:extLst>
                    </a:gridCol>
                    <a:gridCol w="2456646">
                      <a:extLst>
                        <a:ext uri="{9D8B030D-6E8A-4147-A177-3AD203B41FA5}">
                          <a16:colId xmlns:a16="http://schemas.microsoft.com/office/drawing/2014/main" val="3422788524"/>
                        </a:ext>
                      </a:extLst>
                    </a:gridCol>
                    <a:gridCol w="1946615">
                      <a:extLst>
                        <a:ext uri="{9D8B030D-6E8A-4147-A177-3AD203B41FA5}">
                          <a16:colId xmlns:a16="http://schemas.microsoft.com/office/drawing/2014/main" val="137905058"/>
                        </a:ext>
                      </a:extLst>
                    </a:gridCol>
                    <a:gridCol w="1824517">
                      <a:extLst>
                        <a:ext uri="{9D8B030D-6E8A-4147-A177-3AD203B41FA5}">
                          <a16:colId xmlns:a16="http://schemas.microsoft.com/office/drawing/2014/main" val="257230995"/>
                        </a:ext>
                      </a:extLst>
                    </a:gridCol>
                  </a:tblGrid>
                  <a:tr h="1199090">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Given Inequality</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Step</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What is the new inequality?</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Is the new inequality true?</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14247570"/>
                      </a:ext>
                    </a:extLst>
                  </a:tr>
                  <a:tr h="822992">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−6&lt;−2</m:t>
                                </m:r>
                              </m:oMath>
                            </m:oMathPara>
                          </a14:m>
                          <a:endPar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Add </a:t>
                          </a:r>
                          <a14:m>
                            <m:oMath xmlns:m="http://schemas.openxmlformats.org/officeDocument/2006/math">
                              <m:r>
                                <a:rPr lang="en-US" sz="2000">
                                  <a:solidFill>
                                    <a:schemeClr val="tx1"/>
                                  </a:solidFill>
                                  <a:effectLst/>
                                  <a:latin typeface="Cambria Math" panose="02040503050406030204" pitchFamily="18" charset="0"/>
                                </a:rPr>
                                <m:t>8.1</m:t>
                              </m:r>
                            </m:oMath>
                          </a14:m>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to both sides</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39448546"/>
                      </a:ext>
                    </a:extLst>
                  </a:tr>
                  <a:tr h="899317">
                    <a:tc>
                      <a:txBody>
                        <a:bodyPr/>
                        <a:lstStyle/>
                        <a:p>
                          <a:pPr marL="0" marR="0" algn="ctr">
                            <a:spcBef>
                              <a:spcPts val="0"/>
                            </a:spcBef>
                            <a:spcAft>
                              <a:spcPts val="0"/>
                            </a:spcAft>
                          </a:pPr>
                          <a14:m>
                            <m:oMath xmlns:m="http://schemas.openxmlformats.org/officeDocument/2006/math">
                              <m:r>
                                <a:rPr lang="en-US" sz="2000" smtClean="0">
                                  <a:solidFill>
                                    <a:schemeClr val="tx1"/>
                                  </a:solidFill>
                                  <a:effectLst/>
                                  <a:latin typeface="Cambria Math" panose="02040503050406030204" pitchFamily="18" charset="0"/>
                                </a:rPr>
                                <m:t>−5&lt;</m:t>
                              </m:r>
                              <m:f>
                                <m:fPr>
                                  <m:ctrlPr>
                                    <a:rPr lang="en-US" sz="2000" i="1">
                                      <a:solidFill>
                                        <a:schemeClr val="tx1"/>
                                      </a:solidFill>
                                      <a:effectLst/>
                                      <a:latin typeface="Cambria Math" panose="02040503050406030204" pitchFamily="18" charset="0"/>
                                    </a:rPr>
                                  </m:ctrlPr>
                                </m:fPr>
                                <m:num>
                                  <m:r>
                                    <a:rPr lang="en-US" sz="2000">
                                      <a:solidFill>
                                        <a:schemeClr val="tx1"/>
                                      </a:solidFill>
                                      <a:effectLst/>
                                      <a:latin typeface="Cambria Math" panose="02040503050406030204" pitchFamily="18" charset="0"/>
                                    </a:rPr>
                                    <m:t>3</m:t>
                                  </m:r>
                                </m:num>
                                <m:den>
                                  <m:r>
                                    <a:rPr lang="en-US" sz="2000">
                                      <a:solidFill>
                                        <a:schemeClr val="tx1"/>
                                      </a:solidFill>
                                      <a:effectLst/>
                                      <a:latin typeface="Cambria Math" panose="02040503050406030204" pitchFamily="18" charset="0"/>
                                    </a:rPr>
                                    <m:t>4</m:t>
                                  </m:r>
                                </m:den>
                              </m:f>
                            </m:oMath>
                          </a14:m>
                          <a:r>
                            <a:rPr lang="en-US" sz="200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a:solidFill>
                                <a:schemeClr val="tx1"/>
                              </a:solidFill>
                              <a:effectLst/>
                              <a:latin typeface="Verdana" panose="020B0604030504040204" pitchFamily="34" charset="0"/>
                              <a:ea typeface="Verdana" panose="020B0604030504040204" pitchFamily="34" charset="0"/>
                              <a:cs typeface="Verdana" panose="020B0604030504040204" pitchFamily="34" charset="0"/>
                            </a:rPr>
                            <a:t>Subtract </a:t>
                          </a:r>
                          <a14:m>
                            <m:oMath xmlns:m="http://schemas.openxmlformats.org/officeDocument/2006/math">
                              <m:r>
                                <a:rPr lang="en-US" sz="2000">
                                  <a:solidFill>
                                    <a:schemeClr val="tx1"/>
                                  </a:solidFill>
                                  <a:effectLst/>
                                  <a:latin typeface="Cambria Math" panose="02040503050406030204" pitchFamily="18" charset="0"/>
                                </a:rPr>
                                <m:t>2</m:t>
                              </m:r>
                            </m:oMath>
                          </a14:m>
                          <a:r>
                            <a:rPr lang="en-US" sz="2000">
                              <a:solidFill>
                                <a:schemeClr val="tx1"/>
                              </a:solidFill>
                              <a:effectLst/>
                              <a:latin typeface="Verdana" panose="020B0604030504040204" pitchFamily="34" charset="0"/>
                              <a:ea typeface="Verdana" panose="020B0604030504040204" pitchFamily="34" charset="0"/>
                              <a:cs typeface="Verdana" panose="020B0604030504040204" pitchFamily="34" charset="0"/>
                            </a:rPr>
                            <a:t> from both sides</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90133097"/>
                      </a:ext>
                    </a:extLst>
                  </a:tr>
                  <a:tr h="822992">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7.45&gt;7</m:t>
                                </m:r>
                              </m:oMath>
                            </m:oMathPara>
                          </a14:m>
                          <a:endParaRPr lang="en-US" sz="20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a:solidFill>
                                <a:schemeClr val="tx1"/>
                              </a:solidFill>
                              <a:effectLst/>
                              <a:latin typeface="Verdana" panose="020B0604030504040204" pitchFamily="34" charset="0"/>
                              <a:ea typeface="Verdana" panose="020B0604030504040204" pitchFamily="34" charset="0"/>
                              <a:cs typeface="Verdana" panose="020B0604030504040204" pitchFamily="34" charset="0"/>
                            </a:rPr>
                            <a:t>Add </a:t>
                          </a:r>
                          <a14:m>
                            <m:oMath xmlns:m="http://schemas.openxmlformats.org/officeDocument/2006/math">
                              <m:r>
                                <a:rPr lang="en-US" sz="2000">
                                  <a:solidFill>
                                    <a:schemeClr val="tx1"/>
                                  </a:solidFill>
                                  <a:effectLst/>
                                  <a:latin typeface="Cambria Math" panose="02040503050406030204" pitchFamily="18" charset="0"/>
                                </a:rPr>
                                <m:t>3</m:t>
                              </m:r>
                              <m:f>
                                <m:fPr>
                                  <m:ctrlPr>
                                    <a:rPr lang="en-US" sz="2000" i="1">
                                      <a:solidFill>
                                        <a:schemeClr val="tx1"/>
                                      </a:solidFill>
                                      <a:effectLst/>
                                      <a:latin typeface="Cambria Math" panose="02040503050406030204" pitchFamily="18" charset="0"/>
                                    </a:rPr>
                                  </m:ctrlPr>
                                </m:fPr>
                                <m:num>
                                  <m:r>
                                    <a:rPr lang="en-US" sz="2000">
                                      <a:solidFill>
                                        <a:schemeClr val="tx1"/>
                                      </a:solidFill>
                                      <a:effectLst/>
                                      <a:latin typeface="Cambria Math" panose="02040503050406030204" pitchFamily="18" charset="0"/>
                                    </a:rPr>
                                    <m:t>1</m:t>
                                  </m:r>
                                </m:num>
                                <m:den>
                                  <m:r>
                                    <a:rPr lang="en-US" sz="2000">
                                      <a:solidFill>
                                        <a:schemeClr val="tx1"/>
                                      </a:solidFill>
                                      <a:effectLst/>
                                      <a:latin typeface="Cambria Math" panose="02040503050406030204" pitchFamily="18" charset="0"/>
                                    </a:rPr>
                                    <m:t>5</m:t>
                                  </m:r>
                                </m:den>
                              </m:f>
                            </m:oMath>
                          </a14:m>
                          <a:r>
                            <a:rPr lang="en-US" sz="2000">
                              <a:solidFill>
                                <a:schemeClr val="tx1"/>
                              </a:solidFill>
                              <a:effectLst/>
                              <a:latin typeface="Verdana" panose="020B0604030504040204" pitchFamily="34" charset="0"/>
                              <a:ea typeface="Verdana" panose="020B0604030504040204" pitchFamily="34" charset="0"/>
                              <a:cs typeface="Verdana" panose="020B0604030504040204" pitchFamily="34" charset="0"/>
                            </a:rPr>
                            <a:t> to both sides</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91687839"/>
                      </a:ext>
                    </a:extLst>
                  </a:tr>
                  <a:tr h="822992">
                    <a:tc>
                      <a:txBody>
                        <a:bodyPr/>
                        <a:lstStyle/>
                        <a:p>
                          <a:pPr marL="0" marR="0" algn="ctr">
                            <a:spcBef>
                              <a:spcPts val="0"/>
                            </a:spcBef>
                            <a:spcAft>
                              <a:spcPts val="0"/>
                            </a:spcAft>
                          </a:pPr>
                          <a14:m>
                            <m:oMath xmlns:m="http://schemas.openxmlformats.org/officeDocument/2006/math">
                              <m:r>
                                <a:rPr lang="en-US" sz="2000" smtClean="0">
                                  <a:solidFill>
                                    <a:schemeClr val="tx1"/>
                                  </a:solidFill>
                                  <a:effectLst/>
                                  <a:latin typeface="Cambria Math" panose="02040503050406030204" pitchFamily="18" charset="0"/>
                                </a:rPr>
                                <m:t>0&gt;−</m:t>
                              </m:r>
                              <m:f>
                                <m:fPr>
                                  <m:ctrlPr>
                                    <a:rPr lang="en-US" sz="2000" i="1">
                                      <a:solidFill>
                                        <a:schemeClr val="tx1"/>
                                      </a:solidFill>
                                      <a:effectLst/>
                                      <a:latin typeface="Cambria Math" panose="02040503050406030204" pitchFamily="18" charset="0"/>
                                    </a:rPr>
                                  </m:ctrlPr>
                                </m:fPr>
                                <m:num>
                                  <m:r>
                                    <a:rPr lang="en-US" sz="2000">
                                      <a:solidFill>
                                        <a:schemeClr val="tx1"/>
                                      </a:solidFill>
                                      <a:effectLst/>
                                      <a:latin typeface="Cambria Math" panose="02040503050406030204" pitchFamily="18" charset="0"/>
                                    </a:rPr>
                                    <m:t>2</m:t>
                                  </m:r>
                                </m:num>
                                <m:den>
                                  <m:r>
                                    <a:rPr lang="en-US" sz="2000">
                                      <a:solidFill>
                                        <a:schemeClr val="tx1"/>
                                      </a:solidFill>
                                      <a:effectLst/>
                                      <a:latin typeface="Cambria Math" panose="02040503050406030204" pitchFamily="18" charset="0"/>
                                    </a:rPr>
                                    <m:t>3</m:t>
                                  </m:r>
                                </m:den>
                              </m:f>
                            </m:oMath>
                          </a14:m>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a:solidFill>
                                <a:schemeClr val="tx1"/>
                              </a:solidFill>
                              <a:effectLst/>
                              <a:latin typeface="Verdana" panose="020B0604030504040204" pitchFamily="34" charset="0"/>
                              <a:ea typeface="Verdana" panose="020B0604030504040204" pitchFamily="34" charset="0"/>
                              <a:cs typeface="Verdana" panose="020B0604030504040204" pitchFamily="34" charset="0"/>
                            </a:rPr>
                            <a:t>Subtract </a:t>
                          </a:r>
                          <a14:m>
                            <m:oMath xmlns:m="http://schemas.openxmlformats.org/officeDocument/2006/math">
                              <m:f>
                                <m:fPr>
                                  <m:ctrlPr>
                                    <a:rPr lang="en-US" sz="2000" i="1">
                                      <a:solidFill>
                                        <a:schemeClr val="tx1"/>
                                      </a:solidFill>
                                      <a:effectLst/>
                                      <a:latin typeface="Cambria Math" panose="02040503050406030204" pitchFamily="18" charset="0"/>
                                    </a:rPr>
                                  </m:ctrlPr>
                                </m:fPr>
                                <m:num>
                                  <m:r>
                                    <a:rPr lang="en-US" sz="2000">
                                      <a:solidFill>
                                        <a:schemeClr val="tx1"/>
                                      </a:solidFill>
                                      <a:effectLst/>
                                      <a:latin typeface="Cambria Math" panose="02040503050406030204" pitchFamily="18" charset="0"/>
                                    </a:rPr>
                                    <m:t>5</m:t>
                                  </m:r>
                                </m:num>
                                <m:den>
                                  <m:r>
                                    <a:rPr lang="en-US" sz="2000">
                                      <a:solidFill>
                                        <a:schemeClr val="tx1"/>
                                      </a:solidFill>
                                      <a:effectLst/>
                                      <a:latin typeface="Cambria Math" panose="02040503050406030204" pitchFamily="18" charset="0"/>
                                    </a:rPr>
                                    <m:t>6</m:t>
                                  </m:r>
                                </m:den>
                              </m:f>
                            </m:oMath>
                          </a14:m>
                          <a:r>
                            <a:rPr lang="en-US" sz="2000">
                              <a:solidFill>
                                <a:schemeClr val="tx1"/>
                              </a:solidFill>
                              <a:effectLst/>
                              <a:latin typeface="Verdana" panose="020B0604030504040204" pitchFamily="34" charset="0"/>
                              <a:ea typeface="Verdana" panose="020B0604030504040204" pitchFamily="34" charset="0"/>
                              <a:cs typeface="Verdana" panose="020B0604030504040204" pitchFamily="34" charset="0"/>
                            </a:rPr>
                            <a:t> from both sides</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87754847"/>
                      </a:ext>
                    </a:extLst>
                  </a:tr>
                </a:tbl>
              </a:graphicData>
            </a:graphic>
          </p:graphicFrame>
        </mc:Choice>
        <mc:Fallback xmlns="">
          <p:graphicFrame>
            <p:nvGraphicFramePr>
              <p:cNvPr id="2" name="Table 1">
                <a:extLst>
                  <a:ext uri="{FF2B5EF4-FFF2-40B4-BE49-F238E27FC236}">
                    <a16:creationId xmlns:a16="http://schemas.microsoft.com/office/drawing/2014/main" id="{374342C9-8F69-6842-B1BB-5E0847A9905C}"/>
                  </a:ext>
                </a:extLst>
              </p:cNvPr>
              <p:cNvGraphicFramePr>
                <a:graphicFrameLocks noGrp="1"/>
              </p:cNvGraphicFramePr>
              <p:nvPr>
                <p:extLst>
                  <p:ext uri="{D42A27DB-BD31-4B8C-83A1-F6EECF244321}">
                    <p14:modId xmlns:p14="http://schemas.microsoft.com/office/powerpoint/2010/main" val="3707765881"/>
                  </p:ext>
                </p:extLst>
              </p:nvPr>
            </p:nvGraphicFramePr>
            <p:xfrm>
              <a:off x="483765" y="1890292"/>
              <a:ext cx="7893103" cy="4567383"/>
            </p:xfrm>
            <a:graphic>
              <a:graphicData uri="http://schemas.openxmlformats.org/drawingml/2006/table">
                <a:tbl>
                  <a:tblPr firstRow="1" firstCol="1" bandRow="1">
                    <a:tableStyleId>{5C22544A-7EE6-4342-B048-85BDC9FD1C3A}</a:tableStyleId>
                  </a:tblPr>
                  <a:tblGrid>
                    <a:gridCol w="1665325">
                      <a:extLst>
                        <a:ext uri="{9D8B030D-6E8A-4147-A177-3AD203B41FA5}">
                          <a16:colId xmlns:a16="http://schemas.microsoft.com/office/drawing/2014/main" val="57018955"/>
                        </a:ext>
                      </a:extLst>
                    </a:gridCol>
                    <a:gridCol w="2456646">
                      <a:extLst>
                        <a:ext uri="{9D8B030D-6E8A-4147-A177-3AD203B41FA5}">
                          <a16:colId xmlns:a16="http://schemas.microsoft.com/office/drawing/2014/main" val="3422788524"/>
                        </a:ext>
                      </a:extLst>
                    </a:gridCol>
                    <a:gridCol w="1946615">
                      <a:extLst>
                        <a:ext uri="{9D8B030D-6E8A-4147-A177-3AD203B41FA5}">
                          <a16:colId xmlns:a16="http://schemas.microsoft.com/office/drawing/2014/main" val="137905058"/>
                        </a:ext>
                      </a:extLst>
                    </a:gridCol>
                    <a:gridCol w="1824517">
                      <a:extLst>
                        <a:ext uri="{9D8B030D-6E8A-4147-A177-3AD203B41FA5}">
                          <a16:colId xmlns:a16="http://schemas.microsoft.com/office/drawing/2014/main" val="257230995"/>
                        </a:ext>
                      </a:extLst>
                    </a:gridCol>
                  </a:tblGrid>
                  <a:tr h="1199090">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Given Inequality</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Step</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What is the new inequality?</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Is the new inequality true?</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14247570"/>
                      </a:ext>
                    </a:extLst>
                  </a:tr>
                  <a:tr h="822992">
                    <a:tc>
                      <a:txBody>
                        <a:bodyPr/>
                        <a:lstStyle/>
                        <a:p>
                          <a:endParaRPr lang="en-US"/>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63" t="-146154" r="-375573" b="-321538"/>
                          </a:stretch>
                        </a:blipFill>
                      </a:tcPr>
                    </a:tc>
                    <a:tc>
                      <a:txBody>
                        <a:bodyPr/>
                        <a:lstStyle/>
                        <a:p>
                          <a:endParaRPr lang="en-US"/>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8041" t="-146154" r="-153608" b="-321538"/>
                          </a:stretch>
                        </a:blip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39448546"/>
                      </a:ext>
                    </a:extLst>
                  </a:tr>
                  <a:tr h="899317">
                    <a:tc>
                      <a:txBody>
                        <a:bodyPr/>
                        <a:lstStyle/>
                        <a:p>
                          <a:endParaRPr lang="en-US"/>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63" t="-225352" r="-375573" b="-194366"/>
                          </a:stretch>
                        </a:blipFill>
                      </a:tcPr>
                    </a:tc>
                    <a:tc>
                      <a:txBody>
                        <a:bodyPr/>
                        <a:lstStyle/>
                        <a:p>
                          <a:endParaRPr lang="en-US"/>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8041" t="-225352" r="-153608" b="-194366"/>
                          </a:stretch>
                        </a:blip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90133097"/>
                      </a:ext>
                    </a:extLst>
                  </a:tr>
                  <a:tr h="822992">
                    <a:tc>
                      <a:txBody>
                        <a:bodyPr/>
                        <a:lstStyle/>
                        <a:p>
                          <a:endParaRPr lang="en-US"/>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63" t="-355385" r="-375573" b="-112308"/>
                          </a:stretch>
                        </a:blipFill>
                      </a:tcPr>
                    </a:tc>
                    <a:tc>
                      <a:txBody>
                        <a:bodyPr/>
                        <a:lstStyle/>
                        <a:p>
                          <a:endParaRPr lang="en-US"/>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8041" t="-355385" r="-153608" b="-112308"/>
                          </a:stretch>
                        </a:blip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91687839"/>
                      </a:ext>
                    </a:extLst>
                  </a:tr>
                  <a:tr h="822992">
                    <a:tc>
                      <a:txBody>
                        <a:bodyPr/>
                        <a:lstStyle/>
                        <a:p>
                          <a:endParaRPr lang="en-US"/>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63" t="-455385" r="-375573" b="-12308"/>
                          </a:stretch>
                        </a:blipFill>
                      </a:tcPr>
                    </a:tc>
                    <a:tc>
                      <a:txBody>
                        <a:bodyPr/>
                        <a:lstStyle/>
                        <a:p>
                          <a:endParaRPr lang="en-US"/>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8041" t="-455385" r="-153608" b="-12308"/>
                          </a:stretch>
                        </a:blipFill>
                      </a:tcPr>
                    </a:tc>
                    <a:tc>
                      <a:txBody>
                        <a:bodyPr/>
                        <a:lstStyle/>
                        <a:p>
                          <a:pPr marL="0" marR="0" algn="ctr">
                            <a:spcBef>
                              <a:spcPts val="0"/>
                            </a:spcBef>
                            <a:spcAft>
                              <a:spcPts val="0"/>
                            </a:spcAft>
                          </a:pPr>
                          <a:r>
                            <a:rPr lang="en-US" sz="200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87754847"/>
                      </a:ext>
                    </a:extLst>
                  </a:tr>
                </a:tbl>
              </a:graphicData>
            </a:graphic>
          </p:graphicFrame>
        </mc:Fallback>
      </mc:AlternateContent>
      <p:sp>
        <p:nvSpPr>
          <p:cNvPr id="7"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388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726052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970671" y="520393"/>
            <a:ext cx="9364230" cy="707846"/>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Use your work on the previous problem to complete the description of each property.</a:t>
            </a:r>
          </a:p>
        </p:txBody>
      </p:sp>
      <p:sp>
        <p:nvSpPr>
          <p:cNvPr id="209" name="Google Shape;209;p8"/>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3" name="Table 2">
            <a:extLst>
              <a:ext uri="{FF2B5EF4-FFF2-40B4-BE49-F238E27FC236}">
                <a16:creationId xmlns:a16="http://schemas.microsoft.com/office/drawing/2014/main" id="{063E968A-1AA4-FB47-95F0-706BCB463D25}"/>
              </a:ext>
            </a:extLst>
          </p:cNvPr>
          <p:cNvGraphicFramePr>
            <a:graphicFrameLocks noGrp="1"/>
          </p:cNvGraphicFramePr>
          <p:nvPr>
            <p:extLst>
              <p:ext uri="{D42A27DB-BD31-4B8C-83A1-F6EECF244321}">
                <p14:modId xmlns:p14="http://schemas.microsoft.com/office/powerpoint/2010/main" val="4247279686"/>
              </p:ext>
            </p:extLst>
          </p:nvPr>
        </p:nvGraphicFramePr>
        <p:xfrm>
          <a:off x="2271727" y="1445624"/>
          <a:ext cx="7199922" cy="3145191"/>
        </p:xfrm>
        <a:graphic>
          <a:graphicData uri="http://schemas.openxmlformats.org/drawingml/2006/table">
            <a:tbl>
              <a:tblPr firstRow="1" firstCol="1" bandRow="1">
                <a:tableStyleId>{5C22544A-7EE6-4342-B048-85BDC9FD1C3A}</a:tableStyleId>
              </a:tblPr>
              <a:tblGrid>
                <a:gridCol w="3041675">
                  <a:extLst>
                    <a:ext uri="{9D8B030D-6E8A-4147-A177-3AD203B41FA5}">
                      <a16:colId xmlns:a16="http://schemas.microsoft.com/office/drawing/2014/main" val="2069608699"/>
                    </a:ext>
                  </a:extLst>
                </a:gridCol>
                <a:gridCol w="4158247">
                  <a:extLst>
                    <a:ext uri="{9D8B030D-6E8A-4147-A177-3AD203B41FA5}">
                      <a16:colId xmlns:a16="http://schemas.microsoft.com/office/drawing/2014/main" val="3746571992"/>
                    </a:ext>
                  </a:extLst>
                </a:gridCol>
              </a:tblGrid>
              <a:tr h="631314">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Property of Inequality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Description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274450307"/>
                  </a:ext>
                </a:extLst>
              </a:tr>
              <a:tr h="1188777">
                <a:tc>
                  <a:txBody>
                    <a:bodyPr/>
                    <a:lstStyle/>
                    <a:p>
                      <a:pPr marL="0" marR="0" algn="ctr">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Addition property of inequality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When the same value is added to both sides of a true inequality,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81153738"/>
                  </a:ext>
                </a:extLst>
              </a:tr>
              <a:tr h="1325100">
                <a:tc>
                  <a:txBody>
                    <a:bodyPr/>
                    <a:lstStyle/>
                    <a:p>
                      <a:pPr marL="0" marR="0" algn="ctr">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Subtraction property of inequality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When the same value is subtracted from both sides of a true inequality,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41887271"/>
                  </a:ext>
                </a:extLst>
              </a:tr>
            </a:tbl>
          </a:graphicData>
        </a:graphic>
      </p:graphicFrame>
      <p:sp>
        <p:nvSpPr>
          <p:cNvPr id="7"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388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1938406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8"/>
          <p:cNvSpPr/>
          <p:nvPr/>
        </p:nvSpPr>
        <p:spPr>
          <a:xfrm>
            <a:off x="0" y="-8101"/>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07" name="Google Shape;307;p18"/>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308" name="Google Shape;308;p18"/>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388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6" name="Google Shape;316;p19"/>
          <p:cNvSpPr txBox="1"/>
          <p:nvPr/>
        </p:nvSpPr>
        <p:spPr>
          <a:xfrm>
            <a:off x="1225621" y="-79955"/>
            <a:ext cx="9536163"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2700" b="1" dirty="0">
                <a:solidFill>
                  <a:srgbClr val="54B5D1"/>
                </a:solidFill>
                <a:latin typeface="Verdana"/>
                <a:ea typeface="Verdana"/>
                <a:cs typeface="Verdana"/>
                <a:sym typeface="Verdana"/>
              </a:rPr>
              <a:t>14.9.5 Guided Instruction: Solving One-Step Inequalities with Addition and Subtraction</a:t>
            </a:r>
            <a:endParaRPr sz="2700" dirty="0"/>
          </a:p>
        </p:txBody>
      </p:sp>
      <p:pic>
        <p:nvPicPr>
          <p:cNvPr id="317" name="Google Shape;317;p19"/>
          <p:cNvPicPr preferRelativeResize="0"/>
          <p:nvPr/>
        </p:nvPicPr>
        <p:blipFill rotWithShape="1">
          <a:blip r:embed="rId3">
            <a:alphaModFix/>
          </a:blip>
          <a:srcRect/>
          <a:stretch/>
        </p:blipFill>
        <p:spPr>
          <a:xfrm>
            <a:off x="478322" y="181842"/>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319" name="Google Shape;319;p19"/>
              <p:cNvSpPr txBox="1"/>
              <p:nvPr/>
            </p:nvSpPr>
            <p:spPr>
              <a:xfrm>
                <a:off x="1012874" y="1386025"/>
                <a:ext cx="10422284" cy="4093388"/>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the table to determine the value of </a:t>
                </a:r>
                <a14:m>
                  <m:oMath xmlns:m="http://schemas.openxmlformats.org/officeDocument/2006/math">
                    <m:r>
                      <a:rPr lang="en-US" sz="2000" i="1">
                        <a:latin typeface="Cambria Math" panose="02040503050406030204" pitchFamily="18" charset="0"/>
                      </a:rPr>
                      <m:t>𝑥</m:t>
                    </m:r>
                    <m:r>
                      <a:rPr lang="en-US" sz="2000" i="1">
                        <a:latin typeface="Cambria Math" panose="02040503050406030204" pitchFamily="18"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for each value of </a:t>
                </a:r>
                <a14:m>
                  <m:oMath xmlns:m="http://schemas.openxmlformats.org/officeDocument/2006/math">
                    <m:r>
                      <a:rPr lang="en-US" sz="2000" i="1">
                        <a:latin typeface="Cambria Math" panose="02040503050406030204" pitchFamily="18" charset="0"/>
                        <a:ea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For which value of </a:t>
                </a:r>
                <a14:m>
                  <m:oMath xmlns:m="http://schemas.openxmlformats.org/officeDocument/2006/math">
                    <m:r>
                      <a:rPr lang="en-US" sz="2000" i="1">
                        <a:latin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 is the equation </a:t>
                </a:r>
                <a14:m>
                  <m:oMath xmlns:m="http://schemas.openxmlformats.org/officeDocument/2006/math">
                    <m:r>
                      <a:rPr lang="en-US" sz="2000" i="1">
                        <a:latin typeface="Cambria Math" panose="02040503050406030204" pitchFamily="18" charset="0"/>
                      </a:rPr>
                      <m:t>𝑥</m:t>
                    </m:r>
                    <m:r>
                      <a:rPr lang="en-US" sz="2000" i="1">
                        <a:latin typeface="Cambria Math" panose="02040503050406030204" pitchFamily="18" charset="0"/>
                      </a:rPr>
                      <m:t>−3=−2</m:t>
                    </m:r>
                  </m:oMath>
                </a14:m>
                <a:r>
                  <a:rPr lang="en-US" sz="2000" dirty="0">
                    <a:latin typeface="Verdana" panose="020B0604030504040204" pitchFamily="34" charset="0"/>
                    <a:ea typeface="Verdana" panose="020B0604030504040204" pitchFamily="34" charset="0"/>
                    <a:cs typeface="Verdana" panose="020B0604030504040204" pitchFamily="34" charset="0"/>
                  </a:rPr>
                  <a:t> true?</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Represent the solution to the equation </a:t>
                </a:r>
                <a14:m>
                  <m:oMath xmlns:m="http://schemas.openxmlformats.org/officeDocument/2006/math">
                    <m:r>
                      <a:rPr lang="en-US" sz="2000" i="1">
                        <a:latin typeface="Cambria Math" panose="02040503050406030204" pitchFamily="18" charset="0"/>
                      </a:rPr>
                      <m:t>𝑥</m:t>
                    </m:r>
                    <m:r>
                      <a:rPr lang="en-US" sz="2000" i="1">
                        <a:latin typeface="Cambria Math" panose="02040503050406030204" pitchFamily="18" charset="0"/>
                      </a:rPr>
                      <m:t>−3=−2</m:t>
                    </m:r>
                  </m:oMath>
                </a14:m>
                <a:r>
                  <a:rPr lang="en-US" sz="2000" dirty="0">
                    <a:latin typeface="Verdana" panose="020B0604030504040204" pitchFamily="34" charset="0"/>
                    <a:ea typeface="Verdana" panose="020B0604030504040204" pitchFamily="34" charset="0"/>
                    <a:cs typeface="Verdana" panose="020B0604030504040204" pitchFamily="34" charset="0"/>
                  </a:rPr>
                  <a:t> on the number line. </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319" name="Google Shape;319;p19"/>
              <p:cNvSpPr txBox="1">
                <a:spLocks noRot="1" noChangeAspect="1" noMove="1" noResize="1" noEditPoints="1" noAdjustHandles="1" noChangeArrowheads="1" noChangeShapeType="1" noTextEdit="1"/>
              </p:cNvSpPr>
              <p:nvPr/>
            </p:nvSpPr>
            <p:spPr>
              <a:xfrm>
                <a:off x="1012874" y="1386025"/>
                <a:ext cx="10422284" cy="4093388"/>
              </a:xfrm>
              <a:prstGeom prst="rect">
                <a:avLst/>
              </a:prstGeom>
              <a:blipFill rotWithShape="0">
                <a:blip r:embed="rId4"/>
                <a:stretch>
                  <a:fillRect l="-643" t="-893"/>
                </a:stretch>
              </a:blipFill>
              <a:ln>
                <a:noFill/>
              </a:ln>
            </p:spPr>
            <p:txBody>
              <a:bodyPr/>
              <a:lstStyle/>
              <a:p>
                <a:r>
                  <a:rPr lang="en-US">
                    <a:noFill/>
                  </a:rPr>
                  <a:t> </a:t>
                </a:r>
              </a:p>
            </p:txBody>
          </p:sp>
        </mc:Fallback>
      </mc:AlternateContent>
      <p:sp>
        <p:nvSpPr>
          <p:cNvPr id="320" name="Google Shape;320;p19"/>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48283C42-F3F7-ED46-BEBB-E8C87778DE72}"/>
                  </a:ext>
                </a:extLst>
              </p:cNvPr>
              <p:cNvGraphicFramePr>
                <a:graphicFrameLocks noGrp="1"/>
              </p:cNvGraphicFramePr>
              <p:nvPr>
                <p:extLst>
                  <p:ext uri="{D42A27DB-BD31-4B8C-83A1-F6EECF244321}">
                    <p14:modId xmlns:p14="http://schemas.microsoft.com/office/powerpoint/2010/main" val="269010914"/>
                  </p:ext>
                </p:extLst>
              </p:nvPr>
            </p:nvGraphicFramePr>
            <p:xfrm>
              <a:off x="2173278" y="2240175"/>
              <a:ext cx="7845445" cy="1064738"/>
            </p:xfrm>
            <a:graphic>
              <a:graphicData uri="http://schemas.openxmlformats.org/drawingml/2006/table">
                <a:tbl>
                  <a:tblPr firstRow="1" firstCol="1" bandRow="1">
                    <a:tableStyleId>{5C22544A-7EE6-4342-B048-85BDC9FD1C3A}</a:tableStyleId>
                  </a:tblPr>
                  <a:tblGrid>
                    <a:gridCol w="918192">
                      <a:extLst>
                        <a:ext uri="{9D8B030D-6E8A-4147-A177-3AD203B41FA5}">
                          <a16:colId xmlns:a16="http://schemas.microsoft.com/office/drawing/2014/main" val="2367162149"/>
                        </a:ext>
                      </a:extLst>
                    </a:gridCol>
                    <a:gridCol w="769533">
                      <a:extLst>
                        <a:ext uri="{9D8B030D-6E8A-4147-A177-3AD203B41FA5}">
                          <a16:colId xmlns:a16="http://schemas.microsoft.com/office/drawing/2014/main" val="3417487060"/>
                        </a:ext>
                      </a:extLst>
                    </a:gridCol>
                    <a:gridCol w="769533">
                      <a:extLst>
                        <a:ext uri="{9D8B030D-6E8A-4147-A177-3AD203B41FA5}">
                          <a16:colId xmlns:a16="http://schemas.microsoft.com/office/drawing/2014/main" val="2245141938"/>
                        </a:ext>
                      </a:extLst>
                    </a:gridCol>
                    <a:gridCol w="769533">
                      <a:extLst>
                        <a:ext uri="{9D8B030D-6E8A-4147-A177-3AD203B41FA5}">
                          <a16:colId xmlns:a16="http://schemas.microsoft.com/office/drawing/2014/main" val="3656546372"/>
                        </a:ext>
                      </a:extLst>
                    </a:gridCol>
                    <a:gridCol w="769533">
                      <a:extLst>
                        <a:ext uri="{9D8B030D-6E8A-4147-A177-3AD203B41FA5}">
                          <a16:colId xmlns:a16="http://schemas.microsoft.com/office/drawing/2014/main" val="616606680"/>
                        </a:ext>
                      </a:extLst>
                    </a:gridCol>
                    <a:gridCol w="770261">
                      <a:extLst>
                        <a:ext uri="{9D8B030D-6E8A-4147-A177-3AD203B41FA5}">
                          <a16:colId xmlns:a16="http://schemas.microsoft.com/office/drawing/2014/main" val="846310172"/>
                        </a:ext>
                      </a:extLst>
                    </a:gridCol>
                    <a:gridCol w="769533">
                      <a:extLst>
                        <a:ext uri="{9D8B030D-6E8A-4147-A177-3AD203B41FA5}">
                          <a16:colId xmlns:a16="http://schemas.microsoft.com/office/drawing/2014/main" val="3701101992"/>
                        </a:ext>
                      </a:extLst>
                    </a:gridCol>
                    <a:gridCol w="769533">
                      <a:extLst>
                        <a:ext uri="{9D8B030D-6E8A-4147-A177-3AD203B41FA5}">
                          <a16:colId xmlns:a16="http://schemas.microsoft.com/office/drawing/2014/main" val="3244756372"/>
                        </a:ext>
                      </a:extLst>
                    </a:gridCol>
                    <a:gridCol w="769533">
                      <a:extLst>
                        <a:ext uri="{9D8B030D-6E8A-4147-A177-3AD203B41FA5}">
                          <a16:colId xmlns:a16="http://schemas.microsoft.com/office/drawing/2014/main" val="2556114131"/>
                        </a:ext>
                      </a:extLst>
                    </a:gridCol>
                    <a:gridCol w="770261">
                      <a:extLst>
                        <a:ext uri="{9D8B030D-6E8A-4147-A177-3AD203B41FA5}">
                          <a16:colId xmlns:a16="http://schemas.microsoft.com/office/drawing/2014/main" val="1287028114"/>
                        </a:ext>
                      </a:extLst>
                    </a:gridCol>
                  </a:tblGrid>
                  <a:tr h="56801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ea typeface="Cambria Math" panose="02040503050406030204" pitchFamily="18" charset="0"/>
                                  </a:rPr>
                                  <m:t>𝒙</m:t>
                                </m:r>
                              </m:oMath>
                            </m:oMathPara>
                          </a14:m>
                          <a:endParaRPr lang="en-US" sz="2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ea typeface="Cambria Math" panose="02040503050406030204" pitchFamily="18" charset="0"/>
                                  </a:rPr>
                                  <m:t>−4</m:t>
                                </m:r>
                              </m:oMath>
                            </m:oMathPara>
                          </a14:m>
                          <a:endParaRPr lang="en-US" sz="2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ea typeface="Cambria Math" panose="02040503050406030204" pitchFamily="18" charset="0"/>
                                  </a:rPr>
                                  <m:t>−3.2</m:t>
                                </m:r>
                              </m:oMath>
                            </m:oMathPara>
                          </a14:m>
                          <a:endParaRPr lang="en-US" sz="2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ea typeface="Cambria Math" panose="02040503050406030204" pitchFamily="18" charset="0"/>
                                  </a:rPr>
                                  <m:t>−2</m:t>
                                </m:r>
                              </m:oMath>
                            </m:oMathPara>
                          </a14:m>
                          <a:endParaRPr lang="en-US" sz="2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14:m>
                            <m:oMath xmlns:m="http://schemas.openxmlformats.org/officeDocument/2006/math">
                              <m:r>
                                <a:rPr lang="en-US" sz="2000" smtClean="0">
                                  <a:solidFill>
                                    <a:schemeClr val="tx1"/>
                                  </a:solidFill>
                                  <a:effectLst/>
                                  <a:latin typeface="Cambria Math" panose="02040503050406030204" pitchFamily="18" charset="0"/>
                                  <a:ea typeface="Cambria Math" panose="02040503050406030204" pitchFamily="18" charset="0"/>
                                </a:rPr>
                                <m:t>−</m:t>
                              </m:r>
                              <m:f>
                                <m:fPr>
                                  <m:ctrlPr>
                                    <a:rPr lang="en-US" sz="2000" i="1">
                                      <a:solidFill>
                                        <a:schemeClr val="tx1"/>
                                      </a:solidFill>
                                      <a:effectLst/>
                                      <a:latin typeface="Cambria Math" panose="02040503050406030204" pitchFamily="18" charset="0"/>
                                      <a:ea typeface="Cambria Math" panose="02040503050406030204" pitchFamily="18" charset="0"/>
                                    </a:rPr>
                                  </m:ctrlPr>
                                </m:fPr>
                                <m:num>
                                  <m:r>
                                    <a:rPr lang="en-US" sz="2000">
                                      <a:solidFill>
                                        <a:schemeClr val="tx1"/>
                                      </a:solidFill>
                                      <a:effectLst/>
                                      <a:latin typeface="Cambria Math" panose="02040503050406030204" pitchFamily="18" charset="0"/>
                                      <a:ea typeface="Cambria Math" panose="02040503050406030204" pitchFamily="18" charset="0"/>
                                    </a:rPr>
                                    <m:t>1</m:t>
                                  </m:r>
                                </m:num>
                                <m:den>
                                  <m:r>
                                    <a:rPr lang="en-US" sz="2000">
                                      <a:solidFill>
                                        <a:schemeClr val="tx1"/>
                                      </a:solidFill>
                                      <a:effectLst/>
                                      <a:latin typeface="Cambria Math" panose="02040503050406030204" pitchFamily="18" charset="0"/>
                                      <a:ea typeface="Cambria Math" panose="02040503050406030204" pitchFamily="18" charset="0"/>
                                    </a:rPr>
                                    <m:t>2</m:t>
                                  </m:r>
                                </m:den>
                              </m:f>
                            </m:oMath>
                          </a14:m>
                          <a:r>
                            <a:rPr lang="en-US" sz="2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ea typeface="Cambria Math" panose="02040503050406030204" pitchFamily="18" charset="0"/>
                                  </a:rPr>
                                  <m:t>0</m:t>
                                </m:r>
                              </m:oMath>
                            </m:oMathPara>
                          </a14:m>
                          <a:endParaRPr lang="en-US" sz="2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ea typeface="Cambria Math" panose="02040503050406030204" pitchFamily="18" charset="0"/>
                                  </a:rPr>
                                  <m:t>1</m:t>
                                </m:r>
                              </m:oMath>
                            </m:oMathPara>
                          </a14:m>
                          <a:endParaRPr lang="en-US" sz="2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ea typeface="Cambria Math" panose="02040503050406030204" pitchFamily="18" charset="0"/>
                                  </a:rPr>
                                  <m:t>2</m:t>
                                </m:r>
                              </m:oMath>
                            </m:oMathPara>
                          </a14:m>
                          <a:endParaRPr lang="en-US" sz="2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14:m>
                            <m:oMath xmlns:m="http://schemas.openxmlformats.org/officeDocument/2006/math">
                              <m:r>
                                <a:rPr lang="en-US" sz="2000" smtClean="0">
                                  <a:solidFill>
                                    <a:schemeClr val="tx1"/>
                                  </a:solidFill>
                                  <a:effectLst/>
                                  <a:latin typeface="Cambria Math" panose="02040503050406030204" pitchFamily="18" charset="0"/>
                                  <a:ea typeface="Cambria Math" panose="02040503050406030204" pitchFamily="18" charset="0"/>
                                </a:rPr>
                                <m:t>3</m:t>
                              </m:r>
                              <m:f>
                                <m:fPr>
                                  <m:ctrlPr>
                                    <a:rPr lang="en-US" sz="2000" i="1">
                                      <a:solidFill>
                                        <a:schemeClr val="tx1"/>
                                      </a:solidFill>
                                      <a:effectLst/>
                                      <a:latin typeface="Cambria Math" panose="02040503050406030204" pitchFamily="18" charset="0"/>
                                      <a:ea typeface="Cambria Math" panose="02040503050406030204" pitchFamily="18" charset="0"/>
                                    </a:rPr>
                                  </m:ctrlPr>
                                </m:fPr>
                                <m:num>
                                  <m:r>
                                    <a:rPr lang="en-US" sz="2000">
                                      <a:solidFill>
                                        <a:schemeClr val="tx1"/>
                                      </a:solidFill>
                                      <a:effectLst/>
                                      <a:latin typeface="Cambria Math" panose="02040503050406030204" pitchFamily="18" charset="0"/>
                                      <a:ea typeface="Cambria Math" panose="02040503050406030204" pitchFamily="18" charset="0"/>
                                    </a:rPr>
                                    <m:t>6</m:t>
                                  </m:r>
                                </m:num>
                                <m:den>
                                  <m:r>
                                    <a:rPr lang="en-US" sz="2000">
                                      <a:solidFill>
                                        <a:schemeClr val="tx1"/>
                                      </a:solidFill>
                                      <a:effectLst/>
                                      <a:latin typeface="Cambria Math" panose="02040503050406030204" pitchFamily="18" charset="0"/>
                                      <a:ea typeface="Cambria Math" panose="02040503050406030204" pitchFamily="18" charset="0"/>
                                    </a:rPr>
                                    <m:t>7</m:t>
                                  </m:r>
                                </m:den>
                              </m:f>
                            </m:oMath>
                          </a14:m>
                          <a:r>
                            <a:rPr lang="en-US" sz="2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ea typeface="Cambria Math" panose="02040503050406030204" pitchFamily="18" charset="0"/>
                                  </a:rPr>
                                  <m:t>4</m:t>
                                </m:r>
                              </m:oMath>
                            </m:oMathPara>
                          </a14:m>
                          <a:endParaRPr lang="en-US" sz="200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8770163"/>
                      </a:ext>
                    </a:extLst>
                  </a:tr>
                  <a:tr h="496728">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ea typeface="Cambria Math" panose="02040503050406030204" pitchFamily="18" charset="0"/>
                                  </a:rPr>
                                  <m:t>𝒙</m:t>
                                </m:r>
                                <m:r>
                                  <a:rPr lang="en-US" sz="2000" smtClean="0">
                                    <a:solidFill>
                                      <a:schemeClr val="tx1"/>
                                    </a:solidFill>
                                    <a:effectLst/>
                                    <a:latin typeface="Cambria Math" panose="02040503050406030204" pitchFamily="18" charset="0"/>
                                    <a:ea typeface="Cambria Math" panose="02040503050406030204" pitchFamily="18" charset="0"/>
                                  </a:rPr>
                                  <m:t>−</m:t>
                                </m:r>
                                <m:r>
                                  <a:rPr lang="en-US" sz="2000" smtClean="0">
                                    <a:solidFill>
                                      <a:schemeClr val="tx1"/>
                                    </a:solidFill>
                                    <a:effectLst/>
                                    <a:latin typeface="Cambria Math" panose="02040503050406030204" pitchFamily="18" charset="0"/>
                                    <a:ea typeface="Cambria Math" panose="02040503050406030204" pitchFamily="18" charset="0"/>
                                  </a:rPr>
                                  <m:t>𝟑</m:t>
                                </m:r>
                              </m:oMath>
                            </m:oMathPara>
                          </a14:m>
                          <a:endParaRPr lang="en-US" sz="2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ea typeface="Cambria Math" panose="02040503050406030204" pitchFamily="18" charset="0"/>
                                  </a:rPr>
                                  <m:t>−7</m:t>
                                </m:r>
                              </m:oMath>
                            </m:oMathPara>
                          </a14:m>
                          <a:endParaRPr lang="en-US" sz="200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ea typeface="Cambria Math" panose="02040503050406030204" pitchFamily="18" charset="0"/>
                                  </a:rPr>
                                  <m:t>−5</m:t>
                                </m:r>
                              </m:oMath>
                            </m:oMathPara>
                          </a14:m>
                          <a:endParaRPr lang="en-US" sz="200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ea typeface="Cambria Math" panose="02040503050406030204" pitchFamily="18" charset="0"/>
                                  </a:rPr>
                                  <m:t>−1</m:t>
                                </m:r>
                              </m:oMath>
                            </m:oMathPara>
                          </a14:m>
                          <a:endParaRPr lang="en-US" sz="2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ea typeface="Cambria Math" panose="02040503050406030204" pitchFamily="18" charset="0"/>
                                  </a:rPr>
                                  <m:t>1</m:t>
                                </m:r>
                              </m:oMath>
                            </m:oMathPara>
                          </a14:m>
                          <a:endParaRPr lang="en-US" sz="2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9865798"/>
                      </a:ext>
                    </a:extLst>
                  </a:tr>
                </a:tbl>
              </a:graphicData>
            </a:graphic>
          </p:graphicFrame>
        </mc:Choice>
        <mc:Fallback xmlns="">
          <p:graphicFrame>
            <p:nvGraphicFramePr>
              <p:cNvPr id="2" name="Table 1">
                <a:extLst>
                  <a:ext uri="{FF2B5EF4-FFF2-40B4-BE49-F238E27FC236}">
                    <a16:creationId xmlns:a16="http://schemas.microsoft.com/office/drawing/2014/main" id="{48283C42-F3F7-ED46-BEBB-E8C87778DE72}"/>
                  </a:ext>
                </a:extLst>
              </p:cNvPr>
              <p:cNvGraphicFramePr>
                <a:graphicFrameLocks noGrp="1"/>
              </p:cNvGraphicFramePr>
              <p:nvPr>
                <p:extLst>
                  <p:ext uri="{D42A27DB-BD31-4B8C-83A1-F6EECF244321}">
                    <p14:modId xmlns:p14="http://schemas.microsoft.com/office/powerpoint/2010/main" val="269010914"/>
                  </p:ext>
                </p:extLst>
              </p:nvPr>
            </p:nvGraphicFramePr>
            <p:xfrm>
              <a:off x="649277" y="2240175"/>
              <a:ext cx="7845445" cy="1064738"/>
            </p:xfrm>
            <a:graphic>
              <a:graphicData uri="http://schemas.openxmlformats.org/drawingml/2006/table">
                <a:tbl>
                  <a:tblPr firstRow="1" firstCol="1" bandRow="1">
                    <a:tableStyleId>{5C22544A-7EE6-4342-B048-85BDC9FD1C3A}</a:tableStyleId>
                  </a:tblPr>
                  <a:tblGrid>
                    <a:gridCol w="918192">
                      <a:extLst>
                        <a:ext uri="{9D8B030D-6E8A-4147-A177-3AD203B41FA5}">
                          <a16:colId xmlns:a16="http://schemas.microsoft.com/office/drawing/2014/main" val="2367162149"/>
                        </a:ext>
                      </a:extLst>
                    </a:gridCol>
                    <a:gridCol w="769533">
                      <a:extLst>
                        <a:ext uri="{9D8B030D-6E8A-4147-A177-3AD203B41FA5}">
                          <a16:colId xmlns:a16="http://schemas.microsoft.com/office/drawing/2014/main" val="3417487060"/>
                        </a:ext>
                      </a:extLst>
                    </a:gridCol>
                    <a:gridCol w="769533">
                      <a:extLst>
                        <a:ext uri="{9D8B030D-6E8A-4147-A177-3AD203B41FA5}">
                          <a16:colId xmlns:a16="http://schemas.microsoft.com/office/drawing/2014/main" val="2245141938"/>
                        </a:ext>
                      </a:extLst>
                    </a:gridCol>
                    <a:gridCol w="769533">
                      <a:extLst>
                        <a:ext uri="{9D8B030D-6E8A-4147-A177-3AD203B41FA5}">
                          <a16:colId xmlns:a16="http://schemas.microsoft.com/office/drawing/2014/main" val="3656546372"/>
                        </a:ext>
                      </a:extLst>
                    </a:gridCol>
                    <a:gridCol w="769533">
                      <a:extLst>
                        <a:ext uri="{9D8B030D-6E8A-4147-A177-3AD203B41FA5}">
                          <a16:colId xmlns:a16="http://schemas.microsoft.com/office/drawing/2014/main" val="616606680"/>
                        </a:ext>
                      </a:extLst>
                    </a:gridCol>
                    <a:gridCol w="770261">
                      <a:extLst>
                        <a:ext uri="{9D8B030D-6E8A-4147-A177-3AD203B41FA5}">
                          <a16:colId xmlns:a16="http://schemas.microsoft.com/office/drawing/2014/main" val="846310172"/>
                        </a:ext>
                      </a:extLst>
                    </a:gridCol>
                    <a:gridCol w="769533">
                      <a:extLst>
                        <a:ext uri="{9D8B030D-6E8A-4147-A177-3AD203B41FA5}">
                          <a16:colId xmlns:a16="http://schemas.microsoft.com/office/drawing/2014/main" val="3701101992"/>
                        </a:ext>
                      </a:extLst>
                    </a:gridCol>
                    <a:gridCol w="769533">
                      <a:extLst>
                        <a:ext uri="{9D8B030D-6E8A-4147-A177-3AD203B41FA5}">
                          <a16:colId xmlns:a16="http://schemas.microsoft.com/office/drawing/2014/main" val="3244756372"/>
                        </a:ext>
                      </a:extLst>
                    </a:gridCol>
                    <a:gridCol w="769533">
                      <a:extLst>
                        <a:ext uri="{9D8B030D-6E8A-4147-A177-3AD203B41FA5}">
                          <a16:colId xmlns:a16="http://schemas.microsoft.com/office/drawing/2014/main" val="2556114131"/>
                        </a:ext>
                      </a:extLst>
                    </a:gridCol>
                    <a:gridCol w="770261">
                      <a:extLst>
                        <a:ext uri="{9D8B030D-6E8A-4147-A177-3AD203B41FA5}">
                          <a16:colId xmlns:a16="http://schemas.microsoft.com/office/drawing/2014/main" val="1287028114"/>
                        </a:ext>
                      </a:extLst>
                    </a:gridCol>
                  </a:tblGrid>
                  <a:tr h="56801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389" t="-2222" r="-761111" b="-911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19672" t="-2222" r="-798361" b="-911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19672" t="-2222" r="-698361" b="-911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25000" t="-2222" r="-610000" b="-911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18033" t="-2222" r="-500000" b="-911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526667" t="-2222" r="-408333" b="-911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616393" t="-2222" r="-301639" b="-911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716393" t="-2222" r="-201639" b="-911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30000" t="-2222" r="-105000" b="-911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914754" t="-2222" r="-3279" b="-91111"/>
                          </a:stretch>
                        </a:blipFill>
                      </a:tcPr>
                    </a:tc>
                    <a:extLst>
                      <a:ext uri="{0D108BD9-81ED-4DB2-BD59-A6C34878D82A}">
                        <a16:rowId xmlns:a16="http://schemas.microsoft.com/office/drawing/2014/main" val="2438770163"/>
                      </a:ext>
                    </a:extLst>
                  </a:tr>
                  <a:tr h="496728">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389" t="-115000" r="-761111" b="-25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19672" t="-115000" r="-798361" b="-2500"/>
                          </a:stretch>
                        </a:blipFill>
                      </a:tcPr>
                    </a:tc>
                    <a:tc>
                      <a:txBody>
                        <a:bodyPr/>
                        <a:lstStyle/>
                        <a:p>
                          <a:pPr marL="0" marR="0" algn="ctr">
                            <a:spcBef>
                              <a:spcPts val="0"/>
                            </a:spcBef>
                            <a:spcAft>
                              <a:spcPts val="0"/>
                            </a:spcAft>
                          </a:pPr>
                          <a:r>
                            <a:rPr lang="en-US" sz="200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25000" t="-115000" r="-610000" b="-2500"/>
                          </a:stretch>
                        </a:blipFill>
                      </a:tcPr>
                    </a:tc>
                    <a:tc>
                      <a:txBody>
                        <a:bodyPr/>
                        <a:lstStyle/>
                        <a:p>
                          <a:pPr marL="0" marR="0" algn="ctr">
                            <a:spcBef>
                              <a:spcPts val="0"/>
                            </a:spcBef>
                            <a:spcAft>
                              <a:spcPts val="0"/>
                            </a:spcAft>
                          </a:pPr>
                          <a:r>
                            <a:rPr lang="en-US" sz="200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716393" t="-115000" r="-201639" b="-2500"/>
                          </a:stretch>
                        </a:blipFill>
                      </a:tcPr>
                    </a:tc>
                    <a:tc>
                      <a:txBody>
                        <a:bodyPr/>
                        <a:lstStyle/>
                        <a:p>
                          <a:pPr marL="0" marR="0" algn="ctr">
                            <a:spcBef>
                              <a:spcPts val="0"/>
                            </a:spcBef>
                            <a:spcAft>
                              <a:spcPts val="0"/>
                            </a:spcAft>
                          </a:pPr>
                          <a:r>
                            <a:rPr lang="en-US" sz="2000"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914754" t="-115000" r="-3279" b="-2500"/>
                          </a:stretch>
                        </a:blipFill>
                      </a:tcPr>
                    </a:tc>
                    <a:extLst>
                      <a:ext uri="{0D108BD9-81ED-4DB2-BD59-A6C34878D82A}">
                        <a16:rowId xmlns:a16="http://schemas.microsoft.com/office/drawing/2014/main" val="2329865798"/>
                      </a:ext>
                    </a:extLst>
                  </a:tr>
                </a:tbl>
              </a:graphicData>
            </a:graphic>
          </p:graphicFrame>
        </mc:Fallback>
      </mc:AlternateContent>
      <p:pic>
        <p:nvPicPr>
          <p:cNvPr id="9" name="Picture 8">
            <a:extLst>
              <a:ext uri="{FF2B5EF4-FFF2-40B4-BE49-F238E27FC236}">
                <a16:creationId xmlns:a16="http://schemas.microsoft.com/office/drawing/2014/main" id="{D39C8304-23D5-7C41-B690-4527A80ED06D}"/>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2663218" y="5629900"/>
            <a:ext cx="7121596" cy="492532"/>
          </a:xfrm>
          <a:prstGeom prst="rect">
            <a:avLst/>
          </a:prstGeom>
        </p:spPr>
      </p:pic>
      <p:sp>
        <p:nvSpPr>
          <p:cNvPr id="10"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388</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1280160" y="520393"/>
                <a:ext cx="9782346" cy="707846"/>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For which values of </a:t>
                </a:r>
                <a14:m>
                  <m:oMath xmlns:m="http://schemas.openxmlformats.org/officeDocument/2006/math">
                    <m:r>
                      <a:rPr lang="en-US" sz="2000" i="1">
                        <a:latin typeface="Cambria Math" panose="02040503050406030204" pitchFamily="18" charset="0"/>
                        <a:ea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 in the table is the inequality </a:t>
                </a:r>
                <a14:m>
                  <m:oMath xmlns:m="http://schemas.openxmlformats.org/officeDocument/2006/math">
                    <m:r>
                      <a:rPr lang="en-US" sz="2000" i="1">
                        <a:latin typeface="Cambria Math" panose="02040503050406030204" pitchFamily="18" charset="0"/>
                        <a:ea typeface="Cambria Math" panose="02040503050406030204" pitchFamily="18" charset="0"/>
                      </a:rPr>
                      <m:t>𝑥</m:t>
                    </m:r>
                    <m:r>
                      <a:rPr lang="en-US" sz="2000" i="1">
                        <a:latin typeface="Cambria Math" panose="02040503050406030204" pitchFamily="18" charset="0"/>
                        <a:ea typeface="Cambria Math" panose="02040503050406030204" pitchFamily="18" charset="0"/>
                      </a:rPr>
                      <m:t>−3&gt;−2</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true?</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1280160" y="520393"/>
                <a:ext cx="9782346" cy="707846"/>
              </a:xfrm>
              <a:prstGeom prst="rect">
                <a:avLst/>
              </a:prstGeom>
              <a:blipFill rotWithShape="0">
                <a:blip r:embed="rId3"/>
                <a:stretch>
                  <a:fillRect l="-685" t="-5172"/>
                </a:stretch>
              </a:blipFill>
              <a:ln>
                <a:noFill/>
              </a:ln>
            </p:spPr>
            <p:txBody>
              <a:bodyPr/>
              <a:lstStyle/>
              <a:p>
                <a:r>
                  <a:rPr lang="en-US">
                    <a:noFill/>
                  </a:rPr>
                  <a:t> </a:t>
                </a:r>
              </a:p>
            </p:txBody>
          </p:sp>
        </mc:Fallback>
      </mc:AlternateContent>
      <p:sp>
        <p:nvSpPr>
          <p:cNvPr id="329" name="Google Shape;329;p20"/>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388</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900332" y="520393"/>
                <a:ext cx="10542002" cy="5324494"/>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Represent the values from the table that are part of the solution set of </a:t>
                </a:r>
                <a14:m>
                  <m:oMath xmlns:m="http://schemas.openxmlformats.org/officeDocument/2006/math">
                    <m:r>
                      <a:rPr lang="en-US" sz="2000" i="1">
                        <a:latin typeface="Cambria Math" panose="02040503050406030204" pitchFamily="18" charset="0"/>
                        <a:ea typeface="Cambria Math" panose="02040503050406030204" pitchFamily="18" charset="0"/>
                      </a:rPr>
                      <m:t>𝑥</m:t>
                    </m:r>
                    <m:r>
                      <a:rPr lang="en-US" sz="2000" i="1">
                        <a:latin typeface="Cambria Math" panose="02040503050406030204" pitchFamily="18" charset="0"/>
                        <a:ea typeface="Cambria Math" panose="02040503050406030204" pitchFamily="18" charset="0"/>
                      </a:rPr>
                      <m:t>−3&gt;−2</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on the number line.</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The solution set of </a:t>
                </a:r>
                <a14:m>
                  <m:oMath xmlns:m="http://schemas.openxmlformats.org/officeDocument/2006/math">
                    <m:r>
                      <a:rPr lang="en-US" sz="2000" i="1">
                        <a:latin typeface="Cambria Math" panose="02040503050406030204" pitchFamily="18" charset="0"/>
                        <a:ea typeface="Cambria Math" panose="02040503050406030204" pitchFamily="18" charset="0"/>
                      </a:rPr>
                      <m:t>𝑥</m:t>
                    </m:r>
                    <m:r>
                      <a:rPr lang="en-US" sz="2000" i="1">
                        <a:latin typeface="Cambria Math" panose="02040503050406030204" pitchFamily="18" charset="0"/>
                        <a:ea typeface="Cambria Math" panose="02040503050406030204" pitchFamily="18" charset="0"/>
                      </a:rPr>
                      <m:t>−3&gt;−2</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includes more values than shown on the previous number line.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r>
                  <a:rPr lang="en-US" sz="2000" dirty="0">
                    <a:latin typeface="Verdana" panose="020B0604030504040204" pitchFamily="34" charset="0"/>
                    <a:ea typeface="Verdana" panose="020B0604030504040204" pitchFamily="34" charset="0"/>
                    <a:cs typeface="Verdana" panose="020B0604030504040204" pitchFamily="34" charset="0"/>
                  </a:rPr>
                  <a:t>Graph the solution set for the inequality.</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pPr lvl="0"/>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900332" y="520393"/>
                <a:ext cx="10542002" cy="5324494"/>
              </a:xfrm>
              <a:prstGeom prst="rect">
                <a:avLst/>
              </a:prstGeom>
              <a:blipFill rotWithShape="0">
                <a:blip r:embed="rId3"/>
                <a:stretch>
                  <a:fillRect l="-636" t="-686"/>
                </a:stretch>
              </a:blipFill>
              <a:ln>
                <a:noFill/>
              </a:ln>
            </p:spPr>
            <p:txBody>
              <a:bodyPr/>
              <a:lstStyle/>
              <a:p>
                <a:r>
                  <a:rPr lang="en-US">
                    <a:noFill/>
                  </a:rPr>
                  <a:t> </a:t>
                </a:r>
              </a:p>
            </p:txBody>
          </p:sp>
        </mc:Fallback>
      </mc:AlternateContent>
      <p:sp>
        <p:nvSpPr>
          <p:cNvPr id="329" name="Google Shape;329;p20"/>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6" name="Picture 5">
            <a:extLst>
              <a:ext uri="{FF2B5EF4-FFF2-40B4-BE49-F238E27FC236}">
                <a16:creationId xmlns:a16="http://schemas.microsoft.com/office/drawing/2014/main" id="{2421EE73-1AFB-8E4A-9F77-59BAF94DFD6E}"/>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654618" y="1621768"/>
            <a:ext cx="6882765" cy="475615"/>
          </a:xfrm>
          <a:prstGeom prst="rect">
            <a:avLst/>
          </a:prstGeom>
        </p:spPr>
      </p:pic>
      <p:pic>
        <p:nvPicPr>
          <p:cNvPr id="7" name="Picture 6">
            <a:extLst>
              <a:ext uri="{FF2B5EF4-FFF2-40B4-BE49-F238E27FC236}">
                <a16:creationId xmlns:a16="http://schemas.microsoft.com/office/drawing/2014/main" id="{C5B891C8-C832-614C-B27C-EE9AB9C20379}"/>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654617" y="4998426"/>
            <a:ext cx="6882765" cy="475615"/>
          </a:xfrm>
          <a:prstGeom prst="rect">
            <a:avLst/>
          </a:prstGeom>
        </p:spPr>
      </p:pic>
      <p:sp>
        <p:nvSpPr>
          <p:cNvPr id="8"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389</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3096690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1167618" y="520394"/>
                <a:ext cx="10007430" cy="5940047"/>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7"/>
                </a:pPr>
                <a:r>
                  <a:rPr lang="en-US" sz="2000" dirty="0">
                    <a:latin typeface="Verdana" panose="020B0604030504040204" pitchFamily="34" charset="0"/>
                    <a:ea typeface="Verdana" panose="020B0604030504040204" pitchFamily="34" charset="0"/>
                    <a:cs typeface="Verdana" panose="020B0604030504040204" pitchFamily="34" charset="0"/>
                  </a:rPr>
                  <a:t>Write a value on the line to show an equivalent inequality represented by the graph above.</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rPr>
                        <m:t>𝑥</m:t>
                      </m:r>
                      <m:r>
                        <a:rPr lang="en-US" sz="2000" i="1">
                          <a:latin typeface="Cambria Math" panose="02040503050406030204" pitchFamily="18" charset="0"/>
                          <a:ea typeface="Cambria Math" panose="02040503050406030204" pitchFamily="18" charset="0"/>
                        </a:rPr>
                        <m:t> &gt; ______</m:t>
                      </m:r>
                    </m:oMath>
                  </m:oMathPara>
                </a14:m>
                <a:endParaRPr lang="en-US" sz="2000" dirty="0">
                  <a:latin typeface="Cambria Math" panose="02040503050406030204" pitchFamily="18" charset="0"/>
                  <a:ea typeface="Cambria Math" panose="02040503050406030204" pitchFamily="18" charset="0"/>
                  <a:cs typeface="Verdana" panose="020B0604030504040204" pitchFamily="34" charset="0"/>
                </a:endParaRPr>
              </a:p>
              <a:p>
                <a:r>
                  <a:rPr lang="en-US" sz="2000" dirty="0">
                    <a:latin typeface="Cambria Math" panose="02040503050406030204" pitchFamily="18" charset="0"/>
                    <a:ea typeface="Cambria Math" panose="02040503050406030204" pitchFamily="18"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The solution set of the inequality </a:t>
                </a:r>
                <a14:m>
                  <m:oMath xmlns:m="http://schemas.openxmlformats.org/officeDocument/2006/math">
                    <m:r>
                      <a:rPr lang="en-US" sz="2000" i="1">
                        <a:latin typeface="Cambria Math" panose="02040503050406030204" pitchFamily="18" charset="0"/>
                        <a:ea typeface="Cambria Math" panose="02040503050406030204" pitchFamily="18" charset="0"/>
                      </a:rPr>
                      <m:t>𝑥</m:t>
                    </m:r>
                    <m:r>
                      <a:rPr lang="en-US" sz="2000" i="1">
                        <a:latin typeface="Cambria Math" panose="02040503050406030204" pitchFamily="18" charset="0"/>
                        <a:ea typeface="Cambria Math" panose="02040503050406030204" pitchFamily="18" charset="0"/>
                      </a:rPr>
                      <m:t>−3&gt;−2</m:t>
                    </m:r>
                  </m:oMath>
                </a14:m>
                <a:r>
                  <a:rPr lang="en-US" sz="2000" dirty="0">
                    <a:latin typeface="Verdana" panose="020B0604030504040204" pitchFamily="34" charset="0"/>
                    <a:ea typeface="Verdana" panose="020B0604030504040204" pitchFamily="34" charset="0"/>
                    <a:cs typeface="Verdana" panose="020B0604030504040204" pitchFamily="34" charset="0"/>
                  </a:rPr>
                  <a:t> is all the values of </a:t>
                </a:r>
                <a14:m>
                  <m:oMath xmlns:m="http://schemas.openxmlformats.org/officeDocument/2006/math">
                    <m:r>
                      <a:rPr lang="en-US" sz="2000" i="1">
                        <a:latin typeface="Cambria Math" panose="02040503050406030204" pitchFamily="18" charset="0"/>
                        <a:ea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 that are greater than </a:t>
                </a:r>
                <a14:m>
                  <m:oMath xmlns:m="http://schemas.openxmlformats.org/officeDocument/2006/math">
                    <m:r>
                      <a:rPr lang="en-US" sz="2000" i="1">
                        <a:latin typeface="Cambria Math" panose="02040503050406030204" pitchFamily="18" charset="0"/>
                        <a:ea typeface="Cambria Math" panose="02040503050406030204" pitchFamily="18" charset="0"/>
                      </a:rPr>
                      <m:t>1</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or </a:t>
                </a:r>
                <a14:m>
                  <m:oMath xmlns:m="http://schemas.openxmlformats.org/officeDocument/2006/math">
                    <m:r>
                      <a:rPr lang="en-US" sz="2000" i="1">
                        <a:latin typeface="Cambria Math" panose="02040503050406030204" pitchFamily="18" charset="0"/>
                        <a:ea typeface="Cambria Math" panose="02040503050406030204" pitchFamily="18" charset="0"/>
                      </a:rPr>
                      <m:t>𝑥</m:t>
                    </m:r>
                    <m:r>
                      <a:rPr lang="en-US" sz="2000" i="1">
                        <a:latin typeface="Cambria Math" panose="02040503050406030204" pitchFamily="18" charset="0"/>
                        <a:ea typeface="Cambria Math" panose="02040503050406030204" pitchFamily="18" charset="0"/>
                      </a:rPr>
                      <m:t>&gt;1</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1167618" y="520394"/>
                <a:ext cx="10007430" cy="5940047"/>
              </a:xfrm>
              <a:prstGeom prst="rect">
                <a:avLst/>
              </a:prstGeom>
              <a:blipFill rotWithShape="0">
                <a:blip r:embed="rId3"/>
                <a:stretch>
                  <a:fillRect l="-670" t="-615"/>
                </a:stretch>
              </a:blipFill>
              <a:ln>
                <a:noFill/>
              </a:ln>
            </p:spPr>
            <p:txBody>
              <a:bodyPr/>
              <a:lstStyle/>
              <a:p>
                <a:r>
                  <a:rPr lang="en-US">
                    <a:noFill/>
                  </a:rPr>
                  <a:t> </a:t>
                </a:r>
              </a:p>
            </p:txBody>
          </p:sp>
        </mc:Fallback>
      </mc:AlternateContent>
      <p:sp>
        <p:nvSpPr>
          <p:cNvPr id="329" name="Google Shape;329;p20"/>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389</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2511496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1294228" y="520394"/>
                <a:ext cx="9754210" cy="5324494"/>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This solution set can be determined algebraically by adding the same value to both sides of the inequality.</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8"/>
                </a:pPr>
                <a:r>
                  <a:rPr lang="en-US" sz="2000" dirty="0">
                    <a:latin typeface="Verdana" panose="020B0604030504040204" pitchFamily="34" charset="0"/>
                    <a:ea typeface="Verdana" panose="020B0604030504040204" pitchFamily="34" charset="0"/>
                    <a:cs typeface="Verdana" panose="020B0604030504040204" pitchFamily="34" charset="0"/>
                  </a:rPr>
                  <a:t>What value can be added to both sides of the inequality </a:t>
                </a:r>
                <a14:m>
                  <m:oMath xmlns:m="http://schemas.openxmlformats.org/officeDocument/2006/math">
                    <m:r>
                      <a:rPr lang="en-US" sz="2000" i="1">
                        <a:latin typeface="Cambria Math" panose="02040503050406030204" pitchFamily="18" charset="0"/>
                      </a:rPr>
                      <m:t>𝑥</m:t>
                    </m:r>
                    <m:r>
                      <a:rPr lang="en-US" sz="2000" i="1">
                        <a:latin typeface="Cambria Math" panose="02040503050406030204" pitchFamily="18" charset="0"/>
                      </a:rPr>
                      <m:t>−3&gt;−2</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to isolate </a:t>
                </a:r>
                <a14:m>
                  <m:oMath xmlns:m="http://schemas.openxmlformats.org/officeDocument/2006/math">
                    <m:r>
                      <a:rPr lang="en-US" sz="2000" i="1">
                        <a:latin typeface="Cambria Math" panose="02040503050406030204" pitchFamily="18" charset="0"/>
                        <a:ea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Adding the same value to both sides of an inequality can be used to solve an inequality by the </a:t>
                </a:r>
                <a:r>
                  <a:rPr lang="en-US" sz="2000" b="1" i="1" dirty="0">
                    <a:latin typeface="Verdana" panose="020B0604030504040204" pitchFamily="34" charset="0"/>
                    <a:ea typeface="Verdana" panose="020B0604030504040204" pitchFamily="34" charset="0"/>
                    <a:cs typeface="Verdana" panose="020B0604030504040204" pitchFamily="34" charset="0"/>
                  </a:rPr>
                  <a:t>addition property of inequality</a:t>
                </a:r>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1294228" y="520394"/>
                <a:ext cx="9754210" cy="5324494"/>
              </a:xfrm>
              <a:prstGeom prst="rect">
                <a:avLst/>
              </a:prstGeom>
              <a:blipFill rotWithShape="0">
                <a:blip r:embed="rId3"/>
                <a:stretch>
                  <a:fillRect l="-688" t="-572" r="-250"/>
                </a:stretch>
              </a:blipFill>
              <a:ln>
                <a:noFill/>
              </a:ln>
            </p:spPr>
            <p:txBody>
              <a:bodyPr/>
              <a:lstStyle/>
              <a:p>
                <a:r>
                  <a:rPr lang="en-US">
                    <a:noFill/>
                  </a:rPr>
                  <a:t> </a:t>
                </a:r>
              </a:p>
            </p:txBody>
          </p:sp>
        </mc:Fallback>
      </mc:AlternateContent>
      <p:sp>
        <p:nvSpPr>
          <p:cNvPr id="329" name="Google Shape;329;p20"/>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389</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8575308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8" name="Google Shape;328;p20"/>
          <p:cNvSpPr txBox="1"/>
          <p:nvPr/>
        </p:nvSpPr>
        <p:spPr>
          <a:xfrm>
            <a:off x="661182" y="520394"/>
            <a:ext cx="11020302" cy="3477835"/>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 </a:t>
            </a:r>
            <a:r>
              <a:rPr lang="en-US" dirty="0"/>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The </a:t>
            </a:r>
            <a:r>
              <a:rPr lang="en-US" sz="2000" b="1" i="1" dirty="0">
                <a:latin typeface="Verdana" panose="020B0604030504040204" pitchFamily="34" charset="0"/>
                <a:ea typeface="Verdana" panose="020B0604030504040204" pitchFamily="34" charset="0"/>
                <a:cs typeface="Verdana" panose="020B0604030504040204" pitchFamily="34" charset="0"/>
              </a:rPr>
              <a:t>subtraction property of inequality</a:t>
            </a:r>
            <a:r>
              <a:rPr lang="en-US" sz="2000" b="1" dirty="0">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can also be used to solve an inequality.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p:sp>
        <p:nvSpPr>
          <p:cNvPr id="329" name="Google Shape;329;p20"/>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pSp>
        <p:nvGrpSpPr>
          <p:cNvPr id="6" name="Group 5">
            <a:extLst>
              <a:ext uri="{FF2B5EF4-FFF2-40B4-BE49-F238E27FC236}">
                <a16:creationId xmlns:a16="http://schemas.microsoft.com/office/drawing/2014/main" id="{51C87FF7-4955-CF4A-A228-203A9B362AEE}"/>
              </a:ext>
            </a:extLst>
          </p:cNvPr>
          <p:cNvGrpSpPr/>
          <p:nvPr/>
        </p:nvGrpSpPr>
        <p:grpSpPr>
          <a:xfrm>
            <a:off x="2075906" y="300992"/>
            <a:ext cx="7741958" cy="2307670"/>
            <a:chOff x="2031300" y="3252876"/>
            <a:chExt cx="6895002" cy="2308798"/>
          </a:xfrm>
        </p:grpSpPr>
        <p:grpSp>
          <p:nvGrpSpPr>
            <p:cNvPr id="7" name="Group 6">
              <a:extLst>
                <a:ext uri="{FF2B5EF4-FFF2-40B4-BE49-F238E27FC236}">
                  <a16:creationId xmlns:a16="http://schemas.microsoft.com/office/drawing/2014/main" id="{3BF2B335-6D39-1149-83E9-36E323196779}"/>
                </a:ext>
              </a:extLst>
            </p:cNvPr>
            <p:cNvGrpSpPr/>
            <p:nvPr/>
          </p:nvGrpSpPr>
          <p:grpSpPr>
            <a:xfrm>
              <a:off x="2031300" y="3252876"/>
              <a:ext cx="6895002" cy="2308798"/>
              <a:chOff x="2031300" y="3252876"/>
              <a:chExt cx="6895002" cy="2308798"/>
            </a:xfrm>
          </p:grpSpPr>
          <p:sp>
            <p:nvSpPr>
              <p:cNvPr id="8" name="Rectangle 7">
                <a:extLst>
                  <a:ext uri="{FF2B5EF4-FFF2-40B4-BE49-F238E27FC236}">
                    <a16:creationId xmlns:a16="http://schemas.microsoft.com/office/drawing/2014/main" id="{6F9237C3-F506-EF41-B0B6-DB4EF4885AE6}"/>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9" name="Group 8">
                <a:extLst>
                  <a:ext uri="{FF2B5EF4-FFF2-40B4-BE49-F238E27FC236}">
                    <a16:creationId xmlns:a16="http://schemas.microsoft.com/office/drawing/2014/main" id="{C11D6410-DF57-7949-A9B0-E5521FDEC23F}"/>
                  </a:ext>
                </a:extLst>
              </p:cNvPr>
              <p:cNvGrpSpPr/>
              <p:nvPr/>
            </p:nvGrpSpPr>
            <p:grpSpPr>
              <a:xfrm>
                <a:off x="2031300" y="3252876"/>
                <a:ext cx="6895002" cy="2308798"/>
                <a:chOff x="2031300" y="3252876"/>
                <a:chExt cx="6895002" cy="2308798"/>
              </a:xfrm>
            </p:grpSpPr>
            <p:sp>
              <p:nvSpPr>
                <p:cNvPr id="10" name="Rectangle 9">
                  <a:extLst>
                    <a:ext uri="{FF2B5EF4-FFF2-40B4-BE49-F238E27FC236}">
                      <a16:creationId xmlns:a16="http://schemas.microsoft.com/office/drawing/2014/main" id="{863347FF-478B-AF45-A68C-C5BE49595CE3}"/>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1" name="Group 10">
                  <a:extLst>
                    <a:ext uri="{FF2B5EF4-FFF2-40B4-BE49-F238E27FC236}">
                      <a16:creationId xmlns:a16="http://schemas.microsoft.com/office/drawing/2014/main" id="{31B8A476-3FC9-BB4F-8A7C-7754BC204DA1}"/>
                    </a:ext>
                  </a:extLst>
                </p:cNvPr>
                <p:cNvGrpSpPr/>
                <p:nvPr/>
              </p:nvGrpSpPr>
              <p:grpSpPr>
                <a:xfrm>
                  <a:off x="2031300" y="3252876"/>
                  <a:ext cx="6895002" cy="2308798"/>
                  <a:chOff x="2031300" y="3252876"/>
                  <a:chExt cx="6895002" cy="2308798"/>
                </a:xfrm>
              </p:grpSpPr>
              <p:sp>
                <p:nvSpPr>
                  <p:cNvPr id="12" name="Rectangle 11">
                    <a:extLst>
                      <a:ext uri="{FF2B5EF4-FFF2-40B4-BE49-F238E27FC236}">
                        <a16:creationId xmlns:a16="http://schemas.microsoft.com/office/drawing/2014/main" id="{9234024F-1CE1-6749-9D66-B862A459BC89}"/>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3" name="Group 12">
                    <a:extLst>
                      <a:ext uri="{FF2B5EF4-FFF2-40B4-BE49-F238E27FC236}">
                        <a16:creationId xmlns:a16="http://schemas.microsoft.com/office/drawing/2014/main" id="{3D2C3500-0A49-D64C-8F67-14BDFE95A6D7}"/>
                      </a:ext>
                    </a:extLst>
                  </p:cNvPr>
                  <p:cNvGrpSpPr/>
                  <p:nvPr/>
                </p:nvGrpSpPr>
                <p:grpSpPr>
                  <a:xfrm>
                    <a:off x="2031300" y="3252876"/>
                    <a:ext cx="6895002" cy="2308798"/>
                    <a:chOff x="2031300" y="3252876"/>
                    <a:chExt cx="6895002" cy="2308798"/>
                  </a:xfrm>
                </p:grpSpPr>
                <p:sp>
                  <p:nvSpPr>
                    <p:cNvPr id="14" name="Rectangle 13">
                      <a:extLst>
                        <a:ext uri="{FF2B5EF4-FFF2-40B4-BE49-F238E27FC236}">
                          <a16:creationId xmlns:a16="http://schemas.microsoft.com/office/drawing/2014/main" id="{96CA29AF-850E-B740-ABBD-F90C1F6D6D75}"/>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5" name="Group 14">
                      <a:extLst>
                        <a:ext uri="{FF2B5EF4-FFF2-40B4-BE49-F238E27FC236}">
                          <a16:creationId xmlns:a16="http://schemas.microsoft.com/office/drawing/2014/main" id="{8E0522CF-D324-2546-BB1D-DB4C35FA42A2}"/>
                        </a:ext>
                      </a:extLst>
                    </p:cNvPr>
                    <p:cNvGrpSpPr/>
                    <p:nvPr/>
                  </p:nvGrpSpPr>
                  <p:grpSpPr>
                    <a:xfrm>
                      <a:off x="2031300" y="3252876"/>
                      <a:ext cx="6895002" cy="2308798"/>
                      <a:chOff x="2031300" y="3262288"/>
                      <a:chExt cx="6895002" cy="2267579"/>
                    </a:xfrm>
                  </p:grpSpPr>
                  <p:sp>
                    <p:nvSpPr>
                      <p:cNvPr id="16" name="Rectangle 15">
                        <a:extLst>
                          <a:ext uri="{FF2B5EF4-FFF2-40B4-BE49-F238E27FC236}">
                            <a16:creationId xmlns:a16="http://schemas.microsoft.com/office/drawing/2014/main" id="{DC216651-29A5-CE4D-BC2D-A3179AB2E46F}"/>
                          </a:ext>
                        </a:extLst>
                      </p:cNvPr>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7" name="Group 16">
                        <a:extLst>
                          <a:ext uri="{FF2B5EF4-FFF2-40B4-BE49-F238E27FC236}">
                            <a16:creationId xmlns:a16="http://schemas.microsoft.com/office/drawing/2014/main" id="{8C21A45C-F00D-7E4D-B0DD-142C7C3D4FFB}"/>
                          </a:ext>
                        </a:extLst>
                      </p:cNvPr>
                      <p:cNvGrpSpPr/>
                      <p:nvPr/>
                    </p:nvGrpSpPr>
                    <p:grpSpPr>
                      <a:xfrm>
                        <a:off x="2031300" y="3262288"/>
                        <a:ext cx="6895002" cy="2267579"/>
                        <a:chOff x="2031300" y="3373600"/>
                        <a:chExt cx="6895002" cy="2267579"/>
                      </a:xfrm>
                    </p:grpSpPr>
                    <p:sp>
                      <p:nvSpPr>
                        <p:cNvPr id="18" name="Rectangle 17">
                          <a:extLst>
                            <a:ext uri="{FF2B5EF4-FFF2-40B4-BE49-F238E27FC236}">
                              <a16:creationId xmlns:a16="http://schemas.microsoft.com/office/drawing/2014/main" id="{B1DCF621-1B04-1042-8D25-CCFD934E7FDE}"/>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9" name="Group 18">
                          <a:extLst>
                            <a:ext uri="{FF2B5EF4-FFF2-40B4-BE49-F238E27FC236}">
                              <a16:creationId xmlns:a16="http://schemas.microsoft.com/office/drawing/2014/main" id="{12EC7743-67F2-DF49-9419-F615BA82C5A2}"/>
                            </a:ext>
                          </a:extLst>
                        </p:cNvPr>
                        <p:cNvGrpSpPr/>
                        <p:nvPr/>
                      </p:nvGrpSpPr>
                      <p:grpSpPr>
                        <a:xfrm>
                          <a:off x="2031300" y="3373600"/>
                          <a:ext cx="6895002" cy="2267579"/>
                          <a:chOff x="2031300" y="3373600"/>
                          <a:chExt cx="6895002" cy="2267579"/>
                        </a:xfrm>
                      </p:grpSpPr>
                      <p:sp>
                        <p:nvSpPr>
                          <p:cNvPr id="20" name="Rectangle 19">
                            <a:extLst>
                              <a:ext uri="{FF2B5EF4-FFF2-40B4-BE49-F238E27FC236}">
                                <a16:creationId xmlns:a16="http://schemas.microsoft.com/office/drawing/2014/main" id="{A1F06F6E-CD65-814A-865B-DD0A07197525}"/>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1" name="Group 20">
                            <a:extLst>
                              <a:ext uri="{FF2B5EF4-FFF2-40B4-BE49-F238E27FC236}">
                                <a16:creationId xmlns:a16="http://schemas.microsoft.com/office/drawing/2014/main" id="{DDA654C3-9FDB-0F47-AB5C-3EB9B19B00E2}"/>
                              </a:ext>
                            </a:extLst>
                          </p:cNvPr>
                          <p:cNvGrpSpPr/>
                          <p:nvPr/>
                        </p:nvGrpSpPr>
                        <p:grpSpPr>
                          <a:xfrm>
                            <a:off x="2031300" y="3373600"/>
                            <a:ext cx="6895002" cy="2267579"/>
                            <a:chOff x="0" y="0"/>
                            <a:chExt cx="6895002" cy="2267579"/>
                          </a:xfrm>
                        </p:grpSpPr>
                        <p:sp>
                          <p:nvSpPr>
                            <p:cNvPr id="22" name="Rectangle 21">
                              <a:extLst>
                                <a:ext uri="{FF2B5EF4-FFF2-40B4-BE49-F238E27FC236}">
                                  <a16:creationId xmlns:a16="http://schemas.microsoft.com/office/drawing/2014/main" id="{B8BEE4E1-475F-3A4F-AFC3-59849616F513}"/>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23" name="Rounded Rectangle 22">
                                  <a:extLst>
                                    <a:ext uri="{FF2B5EF4-FFF2-40B4-BE49-F238E27FC236}">
                                      <a16:creationId xmlns:a16="http://schemas.microsoft.com/office/drawing/2014/main" id="{02343D17-C0A8-6B42-80C1-440AA45A5204}"/>
                                    </a:ext>
                                  </a:extLst>
                                </p:cNvPr>
                                <p:cNvSpPr/>
                                <p:nvPr/>
                              </p:nvSpPr>
                              <p:spPr>
                                <a:xfrm>
                                  <a:off x="266015" y="21827"/>
                                  <a:ext cx="6628987" cy="2245752"/>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spcAft>
                                      <a:spcPts val="1000"/>
                                    </a:spcAft>
                                  </a:pPr>
                                  <a:endParaRPr lang="en-US" sz="1800" b="1" i="1" dirty="0">
                                    <a:solidFill>
                                      <a:srgbClr val="6C993D"/>
                                    </a:solidFill>
                                    <a:latin typeface="Verdana" panose="020B0604030504040204" pitchFamily="34" charset="0"/>
                                    <a:ea typeface="Times New Roman" panose="02020603050405020304" pitchFamily="18" charset="0"/>
                                    <a:cs typeface="Times New Roman" panose="02020603050405020304" pitchFamily="18" charset="0"/>
                                  </a:endParaRPr>
                                </a:p>
                                <a:p>
                                  <a:pPr marL="685800">
                                    <a:spcAft>
                                      <a:spcPts val="1000"/>
                                    </a:spcAft>
                                  </a:pPr>
                                  <a:endParaRPr lang="en-US" sz="2000" b="1" i="1" dirty="0">
                                    <a:solidFill>
                                      <a:srgbClr val="6C993D"/>
                                    </a:solidFill>
                                    <a:latin typeface="Verdana" panose="020B0604030504040204" pitchFamily="34" charset="0"/>
                                    <a:ea typeface="Times New Roman" panose="02020603050405020304" pitchFamily="18" charset="0"/>
                                    <a:cs typeface="Times New Roman" panose="02020603050405020304" pitchFamily="18" charset="0"/>
                                  </a:endParaRPr>
                                </a:p>
                                <a:p>
                                  <a:pPr marL="685800">
                                    <a:spcAft>
                                      <a:spcPts val="1000"/>
                                    </a:spcAft>
                                  </a:pPr>
                                  <a:r>
                                    <a:rPr lang="en-US" sz="2000" b="1" i="1"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Addition Property of Inequality</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685800">
                                    <a:spcAft>
                                      <a:spcPts val="1000"/>
                                    </a:spcAft>
                                  </a:pPr>
                                  <a:r>
                                    <a:rPr lang="en-US" sz="20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If </a:t>
                                  </a:r>
                                  <a14:m>
                                    <m:oMath xmlns:m="http://schemas.openxmlformats.org/officeDocument/2006/math">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𝑎</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&gt;</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𝑏</m:t>
                                      </m:r>
                                    </m:oMath>
                                  </a14:m>
                                  <a:r>
                                    <a:rPr lang="en-US" sz="20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then </a:t>
                                  </a:r>
                                  <a14:m>
                                    <m:oMath xmlns:m="http://schemas.openxmlformats.org/officeDocument/2006/math">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𝑎</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𝑐</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&gt;</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𝑏</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𝑐</m:t>
                                      </m:r>
                                    </m:oMath>
                                  </a14:m>
                                  <a:r>
                                    <a:rPr lang="en-US" sz="20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685800">
                                    <a:spcAft>
                                      <a:spcPts val="1000"/>
                                    </a:spcAft>
                                  </a:pPr>
                                  <a:r>
                                    <a:rPr lang="en-US" sz="20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The </a:t>
                                  </a:r>
                                  <a:r>
                                    <a:rPr lang="en-US" sz="2000" b="1" i="1"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addition property of inequality</a:t>
                                  </a:r>
                                  <a:r>
                                    <a:rPr lang="en-US" sz="20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a:t>
                                  </a:r>
                                  <a:r>
                                    <a:rPr lang="en-US" sz="2000" dirty="0">
                                      <a:solidFill>
                                        <a:srgbClr val="6C993D"/>
                                      </a:solidFill>
                                      <a:latin typeface="Verdana" panose="020B0604030504040204" pitchFamily="34" charset="0"/>
                                      <a:ea typeface="Times New Roman" panose="02020603050405020304" pitchFamily="18" charset="0"/>
                                      <a:cs typeface="Arial" panose="020B0604020202020204" pitchFamily="34" charset="0"/>
                                    </a:rPr>
                                    <a:t>states that </a:t>
                                  </a:r>
                                  <a:r>
                                    <a:rPr lang="en-US" sz="20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if the same value is added to both sides of an inequality, the result will be an equivalent inequality that is also true.</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685800">
                                    <a:spcAft>
                                      <a:spcPts val="1000"/>
                                    </a:spcAft>
                                  </a:pPr>
                                  <a:r>
                                    <a:rPr lang="en-US" sz="2000" dirty="0">
                                      <a:solidFill>
                                        <a:srgbClr val="6C993D"/>
                                      </a:solidFill>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a:p>
                                  <a:pPr marL="685800" indent="4114800">
                                    <a:spcAft>
                                      <a:spcPts val="1000"/>
                                    </a:spcAft>
                                  </a:pPr>
                                  <a:r>
                                    <a:rPr lang="en-US" sz="1200" dirty="0">
                                      <a:solidFill>
                                        <a:srgbClr val="6C993D"/>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3" name="Rounded Rectangle 22">
                                  <a:extLst>
                                    <a:ext uri="{FF2B5EF4-FFF2-40B4-BE49-F238E27FC236}">
                                      <a16:creationId xmlns:a16="http://schemas.microsoft.com/office/drawing/2014/main" id="{02343D17-C0A8-6B42-80C1-440AA45A5204}"/>
                                    </a:ext>
                                  </a:extLst>
                                </p:cNvPr>
                                <p:cNvSpPr>
                                  <a:spLocks noRot="1" noChangeAspect="1" noMove="1" noResize="1" noEditPoints="1" noAdjustHandles="1" noChangeArrowheads="1" noChangeShapeType="1" noTextEdit="1"/>
                                </p:cNvSpPr>
                                <p:nvPr/>
                              </p:nvSpPr>
                              <p:spPr>
                                <a:xfrm>
                                  <a:off x="266015" y="21827"/>
                                  <a:ext cx="6628987" cy="2245752"/>
                                </a:xfrm>
                                <a:prstGeom prst="roundRect">
                                  <a:avLst>
                                    <a:gd name="adj" fmla="val 16667"/>
                                  </a:avLst>
                                </a:prstGeom>
                                <a:blipFill>
                                  <a:blip r:embed="rId4"/>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grpSp>
                    </p:grpSp>
                  </p:grpSp>
                </p:grpSp>
              </p:grpSp>
            </p:grpSp>
          </p:grpSp>
        </p:grpSp>
      </p:grpSp>
      <p:grpSp>
        <p:nvGrpSpPr>
          <p:cNvPr id="25" name="Group 24">
            <a:extLst>
              <a:ext uri="{FF2B5EF4-FFF2-40B4-BE49-F238E27FC236}">
                <a16:creationId xmlns:a16="http://schemas.microsoft.com/office/drawing/2014/main" id="{D1E84465-0756-8C46-B38A-C33D47414798}"/>
              </a:ext>
            </a:extLst>
          </p:cNvPr>
          <p:cNvGrpSpPr/>
          <p:nvPr/>
        </p:nvGrpSpPr>
        <p:grpSpPr>
          <a:xfrm>
            <a:off x="2374135" y="2038673"/>
            <a:ext cx="7443730" cy="4419003"/>
            <a:chOff x="1624135" y="3252876"/>
            <a:chExt cx="7443730" cy="4420753"/>
          </a:xfrm>
        </p:grpSpPr>
        <p:grpSp>
          <p:nvGrpSpPr>
            <p:cNvPr id="26" name="Group 25">
              <a:extLst>
                <a:ext uri="{FF2B5EF4-FFF2-40B4-BE49-F238E27FC236}">
                  <a16:creationId xmlns:a16="http://schemas.microsoft.com/office/drawing/2014/main" id="{29613E69-6B07-2C48-A723-48AFBCE1BA63}"/>
                </a:ext>
              </a:extLst>
            </p:cNvPr>
            <p:cNvGrpSpPr/>
            <p:nvPr/>
          </p:nvGrpSpPr>
          <p:grpSpPr>
            <a:xfrm>
              <a:off x="1624135" y="3252876"/>
              <a:ext cx="7443730" cy="4420753"/>
              <a:chOff x="1624135" y="3252876"/>
              <a:chExt cx="7443730" cy="4420753"/>
            </a:xfrm>
          </p:grpSpPr>
          <p:sp>
            <p:nvSpPr>
              <p:cNvPr id="27" name="Rectangle 26">
                <a:extLst>
                  <a:ext uri="{FF2B5EF4-FFF2-40B4-BE49-F238E27FC236}">
                    <a16:creationId xmlns:a16="http://schemas.microsoft.com/office/drawing/2014/main" id="{533206E1-691A-204D-8B33-F3938E2368F3}"/>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8" name="Group 27">
                <a:extLst>
                  <a:ext uri="{FF2B5EF4-FFF2-40B4-BE49-F238E27FC236}">
                    <a16:creationId xmlns:a16="http://schemas.microsoft.com/office/drawing/2014/main" id="{D7CAEDDE-DF83-244D-B242-1B5B9607256D}"/>
                  </a:ext>
                </a:extLst>
              </p:cNvPr>
              <p:cNvGrpSpPr/>
              <p:nvPr/>
            </p:nvGrpSpPr>
            <p:grpSpPr>
              <a:xfrm>
                <a:off x="1624135" y="3252876"/>
                <a:ext cx="7443730" cy="4420753"/>
                <a:chOff x="1624135" y="3252876"/>
                <a:chExt cx="7443730" cy="4420753"/>
              </a:xfrm>
            </p:grpSpPr>
            <p:sp>
              <p:nvSpPr>
                <p:cNvPr id="29" name="Rectangle 28">
                  <a:extLst>
                    <a:ext uri="{FF2B5EF4-FFF2-40B4-BE49-F238E27FC236}">
                      <a16:creationId xmlns:a16="http://schemas.microsoft.com/office/drawing/2014/main" id="{06806D59-2499-9E42-8EBC-E9F98A529249}"/>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30" name="Group 29">
                  <a:extLst>
                    <a:ext uri="{FF2B5EF4-FFF2-40B4-BE49-F238E27FC236}">
                      <a16:creationId xmlns:a16="http://schemas.microsoft.com/office/drawing/2014/main" id="{85728DF1-558E-8643-BDBB-0D618CE3B13B}"/>
                    </a:ext>
                  </a:extLst>
                </p:cNvPr>
                <p:cNvGrpSpPr/>
                <p:nvPr/>
              </p:nvGrpSpPr>
              <p:grpSpPr>
                <a:xfrm>
                  <a:off x="1624135" y="3252876"/>
                  <a:ext cx="7443730" cy="4420753"/>
                  <a:chOff x="1624135" y="3252876"/>
                  <a:chExt cx="7443730" cy="4420753"/>
                </a:xfrm>
              </p:grpSpPr>
              <p:sp>
                <p:nvSpPr>
                  <p:cNvPr id="31" name="Rectangle 30">
                    <a:extLst>
                      <a:ext uri="{FF2B5EF4-FFF2-40B4-BE49-F238E27FC236}">
                        <a16:creationId xmlns:a16="http://schemas.microsoft.com/office/drawing/2014/main" id="{D8A34D98-EE63-9742-9664-D31FC067FE17}"/>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32" name="Group 31">
                    <a:extLst>
                      <a:ext uri="{FF2B5EF4-FFF2-40B4-BE49-F238E27FC236}">
                        <a16:creationId xmlns:a16="http://schemas.microsoft.com/office/drawing/2014/main" id="{5188B44B-A9E1-E849-A041-72D822DB6499}"/>
                      </a:ext>
                    </a:extLst>
                  </p:cNvPr>
                  <p:cNvGrpSpPr/>
                  <p:nvPr/>
                </p:nvGrpSpPr>
                <p:grpSpPr>
                  <a:xfrm>
                    <a:off x="1624135" y="3252876"/>
                    <a:ext cx="7443730" cy="4420753"/>
                    <a:chOff x="1624135" y="3252876"/>
                    <a:chExt cx="7443730" cy="4420753"/>
                  </a:xfrm>
                </p:grpSpPr>
                <p:sp>
                  <p:nvSpPr>
                    <p:cNvPr id="33" name="Rectangle 32">
                      <a:extLst>
                        <a:ext uri="{FF2B5EF4-FFF2-40B4-BE49-F238E27FC236}">
                          <a16:creationId xmlns:a16="http://schemas.microsoft.com/office/drawing/2014/main" id="{0AC9F8D4-7297-CC46-97B2-B2817E982214}"/>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34" name="Group 33">
                      <a:extLst>
                        <a:ext uri="{FF2B5EF4-FFF2-40B4-BE49-F238E27FC236}">
                          <a16:creationId xmlns:a16="http://schemas.microsoft.com/office/drawing/2014/main" id="{13213783-F8FD-E344-BF36-44927244283F}"/>
                        </a:ext>
                      </a:extLst>
                    </p:cNvPr>
                    <p:cNvGrpSpPr/>
                    <p:nvPr/>
                  </p:nvGrpSpPr>
                  <p:grpSpPr>
                    <a:xfrm>
                      <a:off x="1624135" y="3252876"/>
                      <a:ext cx="7443730" cy="4420753"/>
                      <a:chOff x="1624135" y="3262288"/>
                      <a:chExt cx="7443730" cy="4341830"/>
                    </a:xfrm>
                  </p:grpSpPr>
                  <p:sp>
                    <p:nvSpPr>
                      <p:cNvPr id="35" name="Rectangle 34">
                        <a:extLst>
                          <a:ext uri="{FF2B5EF4-FFF2-40B4-BE49-F238E27FC236}">
                            <a16:creationId xmlns:a16="http://schemas.microsoft.com/office/drawing/2014/main" id="{95D05A9E-28C5-E64D-8C4F-B26BD848E5EB}"/>
                          </a:ext>
                        </a:extLst>
                      </p:cNvPr>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36" name="Group 35">
                        <a:extLst>
                          <a:ext uri="{FF2B5EF4-FFF2-40B4-BE49-F238E27FC236}">
                            <a16:creationId xmlns:a16="http://schemas.microsoft.com/office/drawing/2014/main" id="{415C0E95-A40F-224A-BE56-10F935502F3C}"/>
                          </a:ext>
                        </a:extLst>
                      </p:cNvPr>
                      <p:cNvGrpSpPr/>
                      <p:nvPr/>
                    </p:nvGrpSpPr>
                    <p:grpSpPr>
                      <a:xfrm>
                        <a:off x="1624135" y="3262288"/>
                        <a:ext cx="7443730" cy="4341830"/>
                        <a:chOff x="1624135" y="3373600"/>
                        <a:chExt cx="7443730" cy="4341830"/>
                      </a:xfrm>
                    </p:grpSpPr>
                    <p:sp>
                      <p:nvSpPr>
                        <p:cNvPr id="37" name="Rectangle 36">
                          <a:extLst>
                            <a:ext uri="{FF2B5EF4-FFF2-40B4-BE49-F238E27FC236}">
                              <a16:creationId xmlns:a16="http://schemas.microsoft.com/office/drawing/2014/main" id="{AB3CC2AD-EAC7-DC4B-B03E-BC653D4B8110}"/>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38" name="Group 37">
                          <a:extLst>
                            <a:ext uri="{FF2B5EF4-FFF2-40B4-BE49-F238E27FC236}">
                              <a16:creationId xmlns:a16="http://schemas.microsoft.com/office/drawing/2014/main" id="{AC42CE6D-747A-8145-B98F-21100491DE6B}"/>
                            </a:ext>
                          </a:extLst>
                        </p:cNvPr>
                        <p:cNvGrpSpPr/>
                        <p:nvPr/>
                      </p:nvGrpSpPr>
                      <p:grpSpPr>
                        <a:xfrm>
                          <a:off x="1624135" y="3373600"/>
                          <a:ext cx="7443730" cy="4341830"/>
                          <a:chOff x="1624135" y="3373600"/>
                          <a:chExt cx="7443730" cy="4341830"/>
                        </a:xfrm>
                      </p:grpSpPr>
                      <p:sp>
                        <p:nvSpPr>
                          <p:cNvPr id="39" name="Rectangle 38">
                            <a:extLst>
                              <a:ext uri="{FF2B5EF4-FFF2-40B4-BE49-F238E27FC236}">
                                <a16:creationId xmlns:a16="http://schemas.microsoft.com/office/drawing/2014/main" id="{A12D90DD-D7E8-CB4A-B90A-902751E4464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40" name="Group 39">
                            <a:extLst>
                              <a:ext uri="{FF2B5EF4-FFF2-40B4-BE49-F238E27FC236}">
                                <a16:creationId xmlns:a16="http://schemas.microsoft.com/office/drawing/2014/main" id="{C30C4C24-9F44-4F46-AED8-4CAE8EA0B2B2}"/>
                              </a:ext>
                            </a:extLst>
                          </p:cNvPr>
                          <p:cNvGrpSpPr/>
                          <p:nvPr/>
                        </p:nvGrpSpPr>
                        <p:grpSpPr>
                          <a:xfrm>
                            <a:off x="1624135" y="3373600"/>
                            <a:ext cx="7443730" cy="4341830"/>
                            <a:chOff x="-407165" y="0"/>
                            <a:chExt cx="7443730" cy="4341830"/>
                          </a:xfrm>
                        </p:grpSpPr>
                        <p:sp>
                          <p:nvSpPr>
                            <p:cNvPr id="41" name="Rectangle 40">
                              <a:extLst>
                                <a:ext uri="{FF2B5EF4-FFF2-40B4-BE49-F238E27FC236}">
                                  <a16:creationId xmlns:a16="http://schemas.microsoft.com/office/drawing/2014/main" id="{44E81995-06FA-DF44-9CE8-48B21A52179E}"/>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42" name="Rounded Rectangle 41">
                                  <a:extLst>
                                    <a:ext uri="{FF2B5EF4-FFF2-40B4-BE49-F238E27FC236}">
                                      <a16:creationId xmlns:a16="http://schemas.microsoft.com/office/drawing/2014/main" id="{44B068A6-E583-6A40-876F-32881A3AE0B9}"/>
                                    </a:ext>
                                  </a:extLst>
                                </p:cNvPr>
                                <p:cNvSpPr/>
                                <p:nvPr/>
                              </p:nvSpPr>
                              <p:spPr>
                                <a:xfrm>
                                  <a:off x="-407165" y="1576106"/>
                                  <a:ext cx="7443730" cy="2765724"/>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spcAft>
                                      <a:spcPts val="1000"/>
                                    </a:spcAft>
                                  </a:pPr>
                                  <a:endPar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endParaRPr>
                                </a:p>
                                <a:p>
                                  <a:pPr marL="685800">
                                    <a:spcAft>
                                      <a:spcPts val="1000"/>
                                    </a:spcAft>
                                  </a:pPr>
                                  <a:endPar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endParaRPr>
                                </a:p>
                                <a:p>
                                  <a:pPr marL="685800">
                                    <a:spcAft>
                                      <a:spcPts val="1000"/>
                                    </a:spcAft>
                                  </a:pP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Subtraction Property of Inequality</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685800">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𝑎</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&gt;</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𝑏</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then </a:t>
                                  </a:r>
                                  <a14:m>
                                    <m:oMath xmlns:m="http://schemas.openxmlformats.org/officeDocument/2006/math">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𝑎</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𝑐</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&gt;</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𝑏</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t>𝑐</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685800"/>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The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subtraction property of inequality</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states that if the same value is subtracted from both sides of an inequality, the result will be an ______________ inequality that is also _________.</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685800">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685800" indent="4114800">
                                    <a:spcAft>
                                      <a:spcPts val="1000"/>
                                    </a:spcAft>
                                  </a:pPr>
                                  <a:r>
                                    <a:rPr lang="en-US" sz="1200" dirty="0">
                                      <a:solidFill>
                                        <a:srgbClr val="6C993D"/>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42" name="Rounded Rectangle 41">
                                  <a:extLst>
                                    <a:ext uri="{FF2B5EF4-FFF2-40B4-BE49-F238E27FC236}">
                                      <a16:creationId xmlns:a16="http://schemas.microsoft.com/office/drawing/2014/main" id="{44B068A6-E583-6A40-876F-32881A3AE0B9}"/>
                                    </a:ext>
                                  </a:extLst>
                                </p:cNvPr>
                                <p:cNvSpPr>
                                  <a:spLocks noRot="1" noChangeAspect="1" noMove="1" noResize="1" noEditPoints="1" noAdjustHandles="1" noChangeArrowheads="1" noChangeShapeType="1" noTextEdit="1"/>
                                </p:cNvSpPr>
                                <p:nvPr/>
                              </p:nvSpPr>
                              <p:spPr>
                                <a:xfrm>
                                  <a:off x="-407165" y="1576106"/>
                                  <a:ext cx="7443730" cy="2765724"/>
                                </a:xfrm>
                                <a:prstGeom prst="roundRect">
                                  <a:avLst>
                                    <a:gd name="adj" fmla="val 16667"/>
                                  </a:avLst>
                                </a:prstGeom>
                                <a:blipFill>
                                  <a:blip r:embed="rId5"/>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grpSp>
                    </p:grpSp>
                  </p:grpSp>
                </p:grpSp>
              </p:grpSp>
            </p:grpSp>
          </p:grpSp>
        </p:grpSp>
      </p:grpSp>
      <p:pic>
        <p:nvPicPr>
          <p:cNvPr id="44" name="Shape 19" descr="Icon&#10;&#10;Description automatically generated">
            <a:extLst>
              <a:ext uri="{FF2B5EF4-FFF2-40B4-BE49-F238E27FC236}">
                <a16:creationId xmlns:a16="http://schemas.microsoft.com/office/drawing/2014/main" id="{4A19F58F-40B9-1F4A-AFD6-5E2E9F163807}"/>
              </a:ext>
            </a:extLst>
          </p:cNvPr>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2511425" y="553199"/>
            <a:ext cx="539750" cy="549293"/>
          </a:xfrm>
          <a:prstGeom prst="rect">
            <a:avLst/>
          </a:prstGeom>
          <a:noFill/>
          <a:ln>
            <a:noFill/>
          </a:ln>
          <a:effectLst>
            <a:outerShdw blurRad="50800" dist="38100" dir="2700000" algn="tl" rotWithShape="0">
              <a:prstClr val="black">
                <a:alpha val="40000"/>
              </a:prstClr>
            </a:outerShdw>
          </a:effectLst>
        </p:spPr>
      </p:pic>
      <p:pic>
        <p:nvPicPr>
          <p:cNvPr id="45" name="Shape 19" descr="Icon&#10;&#10;Description automatically generated">
            <a:extLst>
              <a:ext uri="{FF2B5EF4-FFF2-40B4-BE49-F238E27FC236}">
                <a16:creationId xmlns:a16="http://schemas.microsoft.com/office/drawing/2014/main" id="{EF72DB5D-B20F-404D-9574-7D654ADD7F85}"/>
              </a:ext>
            </a:extLst>
          </p:cNvPr>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2511425" y="3979182"/>
            <a:ext cx="539750" cy="549293"/>
          </a:xfrm>
          <a:prstGeom prst="rect">
            <a:avLst/>
          </a:prstGeom>
          <a:noFill/>
          <a:ln>
            <a:noFill/>
          </a:ln>
          <a:effectLst>
            <a:outerShdw blurRad="50800" dist="38100" dir="2700000" algn="tl" rotWithShape="0">
              <a:prstClr val="black">
                <a:alpha val="40000"/>
              </a:prstClr>
            </a:outerShdw>
          </a:effectLst>
        </p:spPr>
      </p:pic>
      <p:sp>
        <p:nvSpPr>
          <p:cNvPr id="46"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389</a:t>
            </a:r>
            <a:endParaRPr i="1" dirty="0">
              <a:latin typeface="Calibri"/>
              <a:ea typeface="Calibri"/>
              <a:cs typeface="Calibri"/>
              <a:sym typeface="Calibri"/>
            </a:endParaRPr>
          </a:p>
        </p:txBody>
      </p:sp>
      <p:pic>
        <p:nvPicPr>
          <p:cNvPr id="47"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7023152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1252025" y="520393"/>
                <a:ext cx="9838616" cy="4093388"/>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These properties can be used to solve one-step inequalities algebraically.</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9"/>
                </a:pPr>
                <a:r>
                  <a:rPr lang="en-US" sz="2000" dirty="0">
                    <a:latin typeface="Verdana" panose="020B0604030504040204" pitchFamily="34" charset="0"/>
                    <a:ea typeface="Verdana" panose="020B0604030504040204" pitchFamily="34" charset="0"/>
                    <a:cs typeface="Verdana" panose="020B0604030504040204" pitchFamily="34" charset="0"/>
                  </a:rPr>
                  <a:t>Use the inequality </a:t>
                </a:r>
                <a14:m>
                  <m:oMath xmlns:m="http://schemas.openxmlformats.org/officeDocument/2006/math">
                    <m:r>
                      <a:rPr lang="en-US" sz="2000" i="1">
                        <a:latin typeface="Cambria Math" panose="02040503050406030204" pitchFamily="18" charset="0"/>
                        <a:ea typeface="Cambria Math" panose="02040503050406030204" pitchFamily="18" charset="0"/>
                      </a:rPr>
                      <m:t>−12.25&gt;</m:t>
                    </m:r>
                    <m:r>
                      <a:rPr lang="en-US" sz="2000" i="1">
                        <a:latin typeface="Cambria Math" panose="02040503050406030204" pitchFamily="18" charset="0"/>
                        <a:ea typeface="Cambria Math" panose="02040503050406030204" pitchFamily="18" charset="0"/>
                      </a:rPr>
                      <m:t>𝑦</m:t>
                    </m:r>
                    <m:r>
                      <a:rPr lang="en-US" sz="2000" i="1">
                        <a:latin typeface="Cambria Math" panose="02040503050406030204" pitchFamily="18" charset="0"/>
                        <a:ea typeface="Cambria Math" panose="02040503050406030204" pitchFamily="18" charset="0"/>
                      </a:rPr>
                      <m:t>−2.4</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to complete the following.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lvl="1"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Find the solution set by isolating the variable. Show your work.</a:t>
                </a:r>
              </a:p>
              <a:p>
                <a:pPr marL="914400" lvl="1"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Graph the solution set on the number line.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1252025" y="520393"/>
                <a:ext cx="9838616" cy="4093388"/>
              </a:xfrm>
              <a:prstGeom prst="rect">
                <a:avLst/>
              </a:prstGeom>
              <a:blipFill rotWithShape="0">
                <a:blip r:embed="rId3"/>
                <a:stretch>
                  <a:fillRect l="-682" t="-744"/>
                </a:stretch>
              </a:blipFill>
              <a:ln>
                <a:noFill/>
              </a:ln>
            </p:spPr>
            <p:txBody>
              <a:bodyPr/>
              <a:lstStyle/>
              <a:p>
                <a:r>
                  <a:rPr lang="en-US">
                    <a:noFill/>
                  </a:rPr>
                  <a:t> </a:t>
                </a:r>
              </a:p>
            </p:txBody>
          </p:sp>
        </mc:Fallback>
      </mc:AlternateContent>
      <p:sp>
        <p:nvSpPr>
          <p:cNvPr id="329" name="Google Shape;329;p20"/>
          <p:cNvSpPr/>
          <p:nvPr/>
        </p:nvSpPr>
        <p:spPr>
          <a:xfrm>
            <a:off x="0" y="0"/>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44" name="Picture 43">
            <a:extLst>
              <a:ext uri="{FF2B5EF4-FFF2-40B4-BE49-F238E27FC236}">
                <a16:creationId xmlns:a16="http://schemas.microsoft.com/office/drawing/2014/main" id="{32FDA2B1-928B-244C-925F-B221908E69D2}"/>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746778" y="5036097"/>
            <a:ext cx="6849110" cy="501015"/>
          </a:xfrm>
          <a:prstGeom prst="rect">
            <a:avLst/>
          </a:prstGeom>
        </p:spPr>
      </p:pic>
      <p:sp>
        <p:nvSpPr>
          <p:cNvPr id="7"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390</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336626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8" name="Google Shape;328;p20"/>
          <p:cNvSpPr txBox="1"/>
          <p:nvPr/>
        </p:nvSpPr>
        <p:spPr>
          <a:xfrm>
            <a:off x="1153551" y="520394"/>
            <a:ext cx="10035564" cy="1323399"/>
          </a:xfrm>
          <a:prstGeom prst="rect">
            <a:avLst/>
          </a:prstGeom>
          <a:noFill/>
          <a:ln>
            <a:noFill/>
          </a:ln>
        </p:spPr>
        <p:txBody>
          <a:bodyPr spcFirstLastPara="1" wrap="square" lIns="91425" tIns="45700" rIns="91425" bIns="45700" anchor="t" anchorCtr="0">
            <a:spAutoFit/>
          </a:bodyPr>
          <a:lstStyle/>
          <a:p>
            <a:pPr marL="914400" lvl="1" indent="-449263">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Use substitution to test a value or values in order to verify that the solution and the graph are correct.</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p:sp>
        <p:nvSpPr>
          <p:cNvPr id="329" name="Google Shape;329;p20"/>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390</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7906095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3"/>
          <p:cNvSpPr/>
          <p:nvPr/>
        </p:nvSpPr>
        <p:spPr>
          <a:xfrm>
            <a:off x="0" y="-8101"/>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58" name="Google Shape;458;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459" name="Google Shape;459;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390</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7" name="Google Shape;467;p34"/>
          <p:cNvSpPr txBox="1"/>
          <p:nvPr/>
        </p:nvSpPr>
        <p:spPr>
          <a:xfrm>
            <a:off x="1499247" y="-56822"/>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14.9.6 Wrap-Up: Cool Down</a:t>
            </a:r>
            <a:endParaRPr dirty="0"/>
          </a:p>
        </p:txBody>
      </p:sp>
      <p:pic>
        <p:nvPicPr>
          <p:cNvPr id="468" name="Google Shape;468;p34"/>
          <p:cNvPicPr preferRelativeResize="0"/>
          <p:nvPr/>
        </p:nvPicPr>
        <p:blipFill rotWithShape="1">
          <a:blip r:embed="rId3">
            <a:alphaModFix/>
          </a:blip>
          <a:srcRect/>
          <a:stretch/>
        </p:blipFill>
        <p:spPr>
          <a:xfrm>
            <a:off x="669797" y="86074"/>
            <a:ext cx="747300" cy="747300"/>
          </a:xfrm>
          <a:prstGeom prst="rect">
            <a:avLst/>
          </a:prstGeom>
          <a:noFill/>
          <a:ln>
            <a:noFill/>
          </a:ln>
          <a:effectLst>
            <a:outerShdw blurRad="50800" dist="38100" dir="2700000" algn="tl" rotWithShape="0">
              <a:srgbClr val="000000">
                <a:alpha val="40000"/>
              </a:srgbClr>
            </a:outerShdw>
          </a:effectLst>
        </p:spPr>
      </p:pic>
      <p:sp>
        <p:nvSpPr>
          <p:cNvPr id="469" name="Google Shape;469;p34"/>
          <p:cNvSpPr txBox="1"/>
          <p:nvPr/>
        </p:nvSpPr>
        <p:spPr>
          <a:xfrm>
            <a:off x="2060448" y="1386026"/>
            <a:ext cx="8327136" cy="400069"/>
          </a:xfrm>
          <a:prstGeom prst="rect">
            <a:avLst/>
          </a:prstGeom>
          <a:noFill/>
          <a:ln>
            <a:noFill/>
          </a:ln>
        </p:spPr>
        <p:txBody>
          <a:bodyPr spcFirstLastPara="1" wrap="square" lIns="91425" tIns="45700" rIns="91425" bIns="45700" anchor="t" anchorCtr="0">
            <a:spAutoFit/>
          </a:bodyPr>
          <a:lstStyle/>
          <a:p>
            <a:pPr marL="457200" lvl="3"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the table.</a:t>
            </a:r>
          </a:p>
        </p:txBody>
      </p:sp>
      <p:sp>
        <p:nvSpPr>
          <p:cNvPr id="470" name="Google Shape;470;p34"/>
          <p:cNvSpPr/>
          <p:nvPr/>
        </p:nvSpPr>
        <p:spPr>
          <a:xfrm>
            <a:off x="0" y="-8101"/>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2" name="Table 1">
            <a:extLst>
              <a:ext uri="{FF2B5EF4-FFF2-40B4-BE49-F238E27FC236}">
                <a16:creationId xmlns:a16="http://schemas.microsoft.com/office/drawing/2014/main" id="{5B3EB22F-13DA-884B-A475-0EE9DC39CF66}"/>
              </a:ext>
            </a:extLst>
          </p:cNvPr>
          <p:cNvGraphicFramePr>
            <a:graphicFrameLocks noGrp="1"/>
          </p:cNvGraphicFramePr>
          <p:nvPr>
            <p:extLst>
              <p:ext uri="{D42A27DB-BD31-4B8C-83A1-F6EECF244321}">
                <p14:modId xmlns:p14="http://schemas.microsoft.com/office/powerpoint/2010/main" val="1954937255"/>
              </p:ext>
            </p:extLst>
          </p:nvPr>
        </p:nvGraphicFramePr>
        <p:xfrm>
          <a:off x="2146201" y="1849786"/>
          <a:ext cx="7358773" cy="4599057"/>
        </p:xfrm>
        <a:graphic>
          <a:graphicData uri="http://schemas.openxmlformats.org/drawingml/2006/table">
            <a:tbl>
              <a:tblPr bandRow="1">
                <a:tableStyleId>{5C22544A-7EE6-4342-B048-85BDC9FD1C3A}</a:tableStyleId>
              </a:tblPr>
              <a:tblGrid>
                <a:gridCol w="2474046">
                  <a:extLst>
                    <a:ext uri="{9D8B030D-6E8A-4147-A177-3AD203B41FA5}">
                      <a16:colId xmlns:a16="http://schemas.microsoft.com/office/drawing/2014/main" val="1203900978"/>
                    </a:ext>
                  </a:extLst>
                </a:gridCol>
                <a:gridCol w="2474729">
                  <a:extLst>
                    <a:ext uri="{9D8B030D-6E8A-4147-A177-3AD203B41FA5}">
                      <a16:colId xmlns:a16="http://schemas.microsoft.com/office/drawing/2014/main" val="3667114090"/>
                    </a:ext>
                  </a:extLst>
                </a:gridCol>
                <a:gridCol w="2409998">
                  <a:extLst>
                    <a:ext uri="{9D8B030D-6E8A-4147-A177-3AD203B41FA5}">
                      <a16:colId xmlns:a16="http://schemas.microsoft.com/office/drawing/2014/main" val="139933708"/>
                    </a:ext>
                  </a:extLst>
                </a:gridCol>
              </a:tblGrid>
              <a:tr h="1372386">
                <a:tc>
                  <a:txBody>
                    <a:bodyPr/>
                    <a:lstStyle/>
                    <a:p>
                      <a:pPr marL="0" marR="0" algn="ctr">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The terms and information used in today’s lesson that I knew were…</a:t>
                      </a:r>
                    </a:p>
                  </a:txBody>
                  <a:tcPr marL="45370" marR="453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Something I wondered during today’s lesson was…</a:t>
                      </a:r>
                    </a:p>
                  </a:txBody>
                  <a:tcPr marL="45370" marR="453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Something I learned during today’s lesson was…</a:t>
                      </a:r>
                    </a:p>
                  </a:txBody>
                  <a:tcPr marL="45370" marR="453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816364672"/>
                  </a:ext>
                </a:extLst>
              </a:tr>
              <a:tr h="3075057">
                <a:tc>
                  <a:txBody>
                    <a:bodyPr/>
                    <a:lstStyle/>
                    <a:p>
                      <a:pPr marL="0" marR="0">
                        <a:spcBef>
                          <a:spcPts val="0"/>
                        </a:spcBef>
                        <a:spcAft>
                          <a:spcPts val="0"/>
                        </a:spcAft>
                      </a:pPr>
                      <a:r>
                        <a:rPr lang="en-US" sz="1200" dirty="0">
                          <a:solidFill>
                            <a:schemeClr val="tx1"/>
                          </a:solidFill>
                          <a:effectLst/>
                        </a:rPr>
                        <a:t> </a:t>
                      </a:r>
                      <a:endParaRPr lang="en-US" sz="800" dirty="0">
                        <a:solidFill>
                          <a:schemeClr val="tx1"/>
                        </a:solidFill>
                        <a:effectLst/>
                      </a:endParaRPr>
                    </a:p>
                    <a:p>
                      <a:pPr marL="0" marR="0">
                        <a:spcBef>
                          <a:spcPts val="0"/>
                        </a:spcBef>
                        <a:spcAft>
                          <a:spcPts val="0"/>
                        </a:spcAft>
                      </a:pPr>
                      <a:r>
                        <a:rPr lang="en-US" sz="1200" dirty="0">
                          <a:solidFill>
                            <a:schemeClr val="tx1"/>
                          </a:solidFill>
                          <a:effectLst/>
                        </a:rPr>
                        <a:t> </a:t>
                      </a:r>
                      <a:endParaRPr lang="en-US" sz="800" dirty="0">
                        <a:solidFill>
                          <a:schemeClr val="tx1"/>
                        </a:solidFill>
                        <a:effectLst/>
                      </a:endParaRPr>
                    </a:p>
                    <a:p>
                      <a:pPr marL="0" marR="0">
                        <a:spcBef>
                          <a:spcPts val="0"/>
                        </a:spcBef>
                        <a:spcAft>
                          <a:spcPts val="0"/>
                        </a:spcAft>
                      </a:pPr>
                      <a:r>
                        <a:rPr lang="en-US" sz="1200" dirty="0">
                          <a:solidFill>
                            <a:schemeClr val="tx1"/>
                          </a:solidFill>
                          <a:effectLst/>
                        </a:rPr>
                        <a:t> </a:t>
                      </a:r>
                      <a:endParaRPr lang="en-US" sz="800" dirty="0">
                        <a:solidFill>
                          <a:schemeClr val="tx1"/>
                        </a:solidFill>
                        <a:effectLst/>
                      </a:endParaRPr>
                    </a:p>
                    <a:p>
                      <a:pPr marL="0" marR="0">
                        <a:spcBef>
                          <a:spcPts val="0"/>
                        </a:spcBef>
                        <a:spcAft>
                          <a:spcPts val="0"/>
                        </a:spcAft>
                      </a:pPr>
                      <a:r>
                        <a:rPr lang="en-US" sz="1200" dirty="0">
                          <a:solidFill>
                            <a:schemeClr val="tx1"/>
                          </a:solidFill>
                          <a:effectLst/>
                        </a:rPr>
                        <a:t> </a:t>
                      </a:r>
                      <a:endParaRPr lang="en-US" sz="800" dirty="0">
                        <a:solidFill>
                          <a:schemeClr val="tx1"/>
                        </a:solidFill>
                        <a:effectLst/>
                      </a:endParaRPr>
                    </a:p>
                    <a:p>
                      <a:pPr marL="0" marR="0">
                        <a:spcBef>
                          <a:spcPts val="0"/>
                        </a:spcBef>
                        <a:spcAft>
                          <a:spcPts val="0"/>
                        </a:spcAft>
                      </a:pPr>
                      <a:r>
                        <a:rPr lang="en-US" sz="1200" dirty="0">
                          <a:solidFill>
                            <a:schemeClr val="tx1"/>
                          </a:solidFill>
                          <a:effectLst/>
                        </a:rPr>
                        <a:t> </a:t>
                      </a:r>
                      <a:endParaRPr lang="en-US" sz="800" dirty="0">
                        <a:solidFill>
                          <a:schemeClr val="tx1"/>
                        </a:solidFill>
                        <a:effectLst/>
                      </a:endParaRPr>
                    </a:p>
                    <a:p>
                      <a:pPr marL="0" marR="0">
                        <a:spcBef>
                          <a:spcPts val="0"/>
                        </a:spcBef>
                        <a:spcAft>
                          <a:spcPts val="0"/>
                        </a:spcAft>
                      </a:pPr>
                      <a:r>
                        <a:rPr lang="en-US" sz="1200" dirty="0">
                          <a:solidFill>
                            <a:schemeClr val="tx1"/>
                          </a:solidFill>
                          <a:effectLst/>
                        </a:rPr>
                        <a:t> </a:t>
                      </a:r>
                      <a:endParaRPr lang="en-US" sz="800" dirty="0">
                        <a:solidFill>
                          <a:schemeClr val="tx1"/>
                        </a:solidFill>
                        <a:effectLst/>
                      </a:endParaRPr>
                    </a:p>
                    <a:p>
                      <a:pPr marL="0" marR="0">
                        <a:spcBef>
                          <a:spcPts val="0"/>
                        </a:spcBef>
                        <a:spcAft>
                          <a:spcPts val="0"/>
                        </a:spcAft>
                      </a:pPr>
                      <a:r>
                        <a:rPr lang="en-US" sz="1200" dirty="0">
                          <a:solidFill>
                            <a:schemeClr val="tx1"/>
                          </a:solidFill>
                          <a:effectLst/>
                        </a:rPr>
                        <a:t> </a:t>
                      </a:r>
                      <a:endParaRPr lang="en-US" sz="80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45370" marR="453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200" dirty="0">
                          <a:solidFill>
                            <a:schemeClr val="tx1"/>
                          </a:solidFill>
                          <a:effectLst/>
                        </a:rPr>
                        <a:t> </a:t>
                      </a:r>
                      <a:endParaRPr lang="en-US" sz="80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45370" marR="453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200" dirty="0">
                          <a:solidFill>
                            <a:schemeClr val="tx1"/>
                          </a:solidFill>
                          <a:effectLst/>
                        </a:rPr>
                        <a:t> </a:t>
                      </a:r>
                      <a:endParaRPr lang="en-US" sz="80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45370" marR="4537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93877158"/>
                  </a:ext>
                </a:extLst>
              </a:tr>
            </a:tbl>
          </a:graphicData>
        </a:graphic>
      </p:graphicFrame>
      <p:sp>
        <p:nvSpPr>
          <p:cNvPr id="9" name="Google Shape;125;g104476d1465_1_17"/>
          <p:cNvSpPr txBox="1"/>
          <p:nvPr/>
        </p:nvSpPr>
        <p:spPr>
          <a:xfrm>
            <a:off x="8721519"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390</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9745"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411</TotalTime>
  <Words>2142</Words>
  <Application>Microsoft Office PowerPoint</Application>
  <PresentationFormat>Widescreen</PresentationFormat>
  <Paragraphs>505</Paragraphs>
  <Slides>35</Slides>
  <Notes>35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Arial Black</vt:lpstr>
      <vt:lpstr>Calibri</vt:lpstr>
      <vt:lpstr>Cambria</vt:lpstr>
      <vt:lpstr>Cambria Math</vt:lpstr>
      <vt:lpstr>Courier New</vt:lpstr>
      <vt:lpstr>Verdana</vt:lpstr>
      <vt:lpstr>1_Office Theme</vt:lpstr>
      <vt:lpstr>  6th Grade Accelerated Math  Unit 14, Lesson 9  Solving One-Step Inequalities Using Addition and Subtraction  Volume 2, pg. 383  </vt:lpstr>
      <vt:lpstr>Benchmark</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PowerPoint Presentation</vt:lpstr>
      <vt:lpstr>PowerPoint Presentation</vt:lpstr>
      <vt:lpstr>PowerPoint Presentation</vt:lpstr>
      <vt:lpstr>Exploration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Course Name  Unit 14, Lesson #  Lesson Name    Volume x, pg. #  </dc:title>
  <dc:creator>Karen McKenzie</dc:creator>
  <cp:lastModifiedBy>Cassie O'Connor</cp:lastModifiedBy>
  <cp:revision>6</cp:revision>
  <dcterms:created xsi:type="dcterms:W3CDTF">2015-03-17T18:51:18Z</dcterms:created>
  <dcterms:modified xsi:type="dcterms:W3CDTF">2022-07-02T05:03:56Z</dcterms:modified>
</cp:coreProperties>
</file>