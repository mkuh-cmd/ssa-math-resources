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288" r:id="rId8"/>
    <p:sldId id="289" r:id="rId9"/>
    <p:sldId id="290" r:id="rId10"/>
    <p:sldId id="308" r:id="rId11"/>
    <p:sldId id="317" r:id="rId12"/>
    <p:sldId id="318" r:id="rId13"/>
    <p:sldId id="320" r:id="rId14"/>
    <p:sldId id="319" r:id="rId15"/>
    <p:sldId id="321" r:id="rId16"/>
    <p:sldId id="314" r:id="rId17"/>
    <p:sldId id="315" r:id="rId18"/>
    <p:sldId id="316" r:id="rId19"/>
    <p:sldId id="311" r:id="rId20"/>
    <p:sldId id="312" r:id="rId21"/>
    <p:sldId id="313" r:id="rId22"/>
    <p:sldId id="322" r:id="rId23"/>
    <p:sldId id="302" r:id="rId24"/>
    <p:sldId id="303" r:id="rId25"/>
    <p:sldId id="309" r:id="rId26"/>
    <p:sldId id="306" r:id="rId27"/>
    <p:sldId id="307"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99C8"/>
    <a:srgbClr val="1F3165"/>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74" autoAdjust="0"/>
    <p:restoredTop sz="94695"/>
  </p:normalViewPr>
  <p:slideViewPr>
    <p:cSldViewPr snapToGrid="0">
      <p:cViewPr varScale="1">
        <p:scale>
          <a:sx n="81" d="100"/>
          <a:sy n="81" d="100"/>
        </p:scale>
        <p:origin x="666"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62"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61"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60"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3848672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25403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41890007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5537914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8036880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4097951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4157787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548025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5507812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6768991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540458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7"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29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2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49901" y="2054277"/>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11, Lesson 8</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Evaluating Numeric Expressions – Part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199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70701"/>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AB08A17F-C082-CD48-B100-6B09C860CC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1762" y="1850136"/>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55758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73408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481380" y="1600200"/>
            <a:ext cx="872942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MA.7.NSO.2.1</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Solve mathematical problems using multi‑step order of operations with rational numbers including grouping symbols, whole-number exponents, and absolute value.</a:t>
            </a:r>
          </a:p>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MA.7.NSO.2.2</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Add, subtract, multiply, and divide rational numbers with procedural fluency.</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75241" y="308671"/>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99891" y="66038"/>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499891" y="1596390"/>
            <a:ext cx="977997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sp>
        <p:nvSpPr>
          <p:cNvPr id="10"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199</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511660"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729498" y="28920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511660" y="1600200"/>
            <a:ext cx="916868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ct val="125000"/>
              <a:buFont typeface="Verdana"/>
              <a:buChar char="❏"/>
            </a:pPr>
            <a:r>
              <a:rPr lang="en-US" sz="2400" dirty="0">
                <a:latin typeface="Verdana" panose="020B0604030504040204" pitchFamily="34" charset="0"/>
                <a:ea typeface="Verdana" panose="020B0604030504040204" pitchFamily="34" charset="0"/>
                <a:cs typeface="Verdana" panose="020B0604030504040204" pitchFamily="34" charset="0"/>
              </a:rPr>
              <a:t>I can evaluate numeric expressions with up to four operations.</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indent="-450850">
              <a:buClr>
                <a:srgbClr val="434343"/>
              </a:buClr>
              <a:buSzPts val="3500"/>
              <a:buFont typeface="Verdana"/>
              <a:buChar char="❏"/>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199</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200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63779" y="-72194"/>
            <a:ext cx="880665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11.8.1 Warm-Up: Math Symbols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716479" y="197486"/>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1311965" y="1386026"/>
            <a:ext cx="9824102" cy="2800767"/>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In the 18</a:t>
            </a:r>
            <a:r>
              <a:rPr lang="en-US" sz="2200" baseline="30000" dirty="0">
                <a:latin typeface="Verdana" panose="020B0604030504040204" pitchFamily="34" charset="0"/>
                <a:ea typeface="Verdana" panose="020B0604030504040204" pitchFamily="34" charset="0"/>
                <a:cs typeface="Verdana" panose="020B0604030504040204" pitchFamily="34" charset="0"/>
              </a:rPr>
              <a:t>th</a:t>
            </a:r>
            <a:r>
              <a:rPr lang="en-US" sz="2200" dirty="0">
                <a:latin typeface="Verdana" panose="020B0604030504040204" pitchFamily="34" charset="0"/>
                <a:ea typeface="Verdana" panose="020B0604030504040204" pitchFamily="34" charset="0"/>
                <a:cs typeface="Verdana" panose="020B0604030504040204" pitchFamily="34" charset="0"/>
              </a:rPr>
              <a:t> century, Robert </a:t>
            </a:r>
            <a:r>
              <a:rPr lang="en-US" sz="2200" dirty="0" err="1">
                <a:latin typeface="Verdana" panose="020B0604030504040204" pitchFamily="34" charset="0"/>
                <a:ea typeface="Verdana" panose="020B0604030504040204" pitchFamily="34" charset="0"/>
                <a:cs typeface="Verdana" panose="020B0604030504040204" pitchFamily="34" charset="0"/>
              </a:rPr>
              <a:t>Recorde</a:t>
            </a:r>
            <a:r>
              <a:rPr lang="en-US" sz="2200" dirty="0">
                <a:latin typeface="Verdana" panose="020B0604030504040204" pitchFamily="34" charset="0"/>
                <a:ea typeface="Verdana" panose="020B0604030504040204" pitchFamily="34" charset="0"/>
                <a:cs typeface="Verdana" panose="020B0604030504040204" pitchFamily="34" charset="0"/>
              </a:rPr>
              <a:t> decided to use a symbol for the idea of “is equal to” so he would not have to write the words over and over. As more mathematicians also began to use the symbol, the “=” became accepted as the standard symbol for equality. Math is full of symbols that shorten lengthy words and calculations. But just like symbols you use when communicating with others, like “LOL” in texting, once you learn their meaning, understanding the mathematics is not so challenging.</a:t>
            </a:r>
            <a:endParaRPr lang="en-US" sz="2200" i="1" dirty="0">
              <a:latin typeface="Verdana" panose="020B0604030504040204" pitchFamily="34" charset="0"/>
              <a:ea typeface="Verdana" panose="020B0604030504040204" pitchFamily="34" charset="0"/>
              <a:cs typeface="Verdana" panose="020B0604030504040204" pitchFamily="34" charset="0"/>
            </a:endParaRPr>
          </a:p>
        </p:txBody>
      </p:sp>
      <p:sp>
        <p:nvSpPr>
          <p:cNvPr id="10"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200</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166191" y="520394"/>
            <a:ext cx="10010284" cy="3477875"/>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List math symbols that you are familiar with and what they represent.</a:t>
            </a:r>
            <a:endParaRPr lang="en-US" sz="22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List other math symbols you have seen before, but you are unfamiliar with. </a:t>
            </a:r>
          </a:p>
        </p:txBody>
      </p:sp>
      <p:sp>
        <p:nvSpPr>
          <p:cNvPr id="7"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200</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1431" y="-4055"/>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200</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71013" y="-8101"/>
            <a:ext cx="1026439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11.8.2 Guided Instruction: Applying the Order of Operations for Expressions Including Exponents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623714" y="199163"/>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1537252" y="1386026"/>
                <a:ext cx="9373528" cy="2800767"/>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Recall from 5</a:t>
                </a:r>
                <a:r>
                  <a:rPr lang="en-US" sz="2200" baseline="30000" dirty="0">
                    <a:latin typeface="Verdana" panose="020B0604030504040204" pitchFamily="34" charset="0"/>
                    <a:ea typeface="Verdana" panose="020B0604030504040204" pitchFamily="34" charset="0"/>
                    <a:cs typeface="Verdana" panose="020B0604030504040204" pitchFamily="34" charset="0"/>
                  </a:rPr>
                  <a:t>th</a:t>
                </a:r>
                <a:r>
                  <a:rPr lang="en-US" sz="2200" dirty="0">
                    <a:latin typeface="Verdana" panose="020B0604030504040204" pitchFamily="34" charset="0"/>
                    <a:ea typeface="Verdana" panose="020B0604030504040204" pitchFamily="34" charset="0"/>
                    <a:cs typeface="Verdana" panose="020B0604030504040204" pitchFamily="34" charset="0"/>
                  </a:rPr>
                  <a:t> grade that an order of operations</a:t>
                </a:r>
                <a:r>
                  <a:rPr lang="en-US" sz="2200" b="1" dirty="0">
                    <a:latin typeface="Verdana" panose="020B0604030504040204" pitchFamily="34" charset="0"/>
                    <a:ea typeface="Verdana" panose="020B0604030504040204" pitchFamily="34" charset="0"/>
                    <a:cs typeface="Verdana" panose="020B0604030504040204" pitchFamily="34" charset="0"/>
                  </a:rPr>
                  <a:t> </a:t>
                </a:r>
                <a:r>
                  <a:rPr lang="en-US" sz="2200" dirty="0">
                    <a:latin typeface="Verdana" panose="020B0604030504040204" pitchFamily="34" charset="0"/>
                    <a:ea typeface="Verdana" panose="020B0604030504040204" pitchFamily="34" charset="0"/>
                    <a:cs typeface="Verdana" panose="020B0604030504040204" pitchFamily="34" charset="0"/>
                  </a:rPr>
                  <a:t>is used to evaluate numeric expressions with multiple operations.</a:t>
                </a:r>
                <a:endParaRPr lang="en-US" sz="2200" i="1" dirty="0">
                  <a:latin typeface="Verdana" panose="020B0604030504040204" pitchFamily="34" charset="0"/>
                  <a:ea typeface="Verdana" panose="020B0604030504040204" pitchFamily="34" charset="0"/>
                  <a:cs typeface="Verdana" panose="020B0604030504040204" pitchFamily="34" charset="0"/>
                </a:endParaRPr>
              </a:p>
              <a:p>
                <a:r>
                  <a:rPr lang="en-US" sz="2200" dirty="0">
                    <a:latin typeface="Verdana" panose="020B0604030504040204" pitchFamily="34" charset="0"/>
                    <a:ea typeface="Verdana" panose="020B0604030504040204" pitchFamily="34" charset="0"/>
                    <a:cs typeface="Verdana" panose="020B0604030504040204" pitchFamily="34" charset="0"/>
                  </a:rPr>
                  <a:t> </a:t>
                </a:r>
                <a:endParaRPr lang="en-US" sz="2200" i="1" dirty="0">
                  <a:latin typeface="Verdana" panose="020B0604030504040204" pitchFamily="34" charset="0"/>
                  <a:ea typeface="Verdana" panose="020B0604030504040204" pitchFamily="34" charset="0"/>
                  <a:cs typeface="Verdana" panose="020B0604030504040204" pitchFamily="34" charset="0"/>
                </a:endParaRPr>
              </a:p>
              <a:p>
                <a:r>
                  <a:rPr lang="en-US" sz="2200" dirty="0">
                    <a:latin typeface="Verdana" panose="020B0604030504040204" pitchFamily="34" charset="0"/>
                    <a:ea typeface="Verdana" panose="020B0604030504040204" pitchFamily="34" charset="0"/>
                    <a:cs typeface="Verdana" panose="020B0604030504040204" pitchFamily="34" charset="0"/>
                  </a:rPr>
                  <a:t>Step 1: Perform operations within grouping symbols.</a:t>
                </a:r>
                <a:endParaRPr lang="en-US" sz="2200" i="1" dirty="0">
                  <a:latin typeface="Verdana" panose="020B0604030504040204" pitchFamily="34" charset="0"/>
                  <a:ea typeface="Verdana" panose="020B0604030504040204" pitchFamily="34" charset="0"/>
                  <a:cs typeface="Verdana" panose="020B0604030504040204" pitchFamily="34" charset="0"/>
                </a:endParaRPr>
              </a:p>
              <a:p>
                <a:r>
                  <a:rPr lang="en-US" sz="2200" dirty="0">
                    <a:latin typeface="Verdana" panose="020B0604030504040204" pitchFamily="34" charset="0"/>
                    <a:ea typeface="Verdana" panose="020B0604030504040204" pitchFamily="34" charset="0"/>
                    <a:cs typeface="Verdana" panose="020B0604030504040204" pitchFamily="34" charset="0"/>
                  </a:rPr>
                  <a:t>Step 2: Multiply and divide in order from left to right </a:t>
                </a:r>
                <a14:m>
                  <m:oMath xmlns:m="http://schemas.openxmlformats.org/officeDocument/2006/math">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e>
                    </m:d>
                  </m:oMath>
                </a14:m>
                <a:r>
                  <a:rPr lang="en-US" sz="2200" dirty="0">
                    <a:latin typeface="Verdana" panose="020B0604030504040204" pitchFamily="34" charset="0"/>
                    <a:ea typeface="Verdana" panose="020B0604030504040204" pitchFamily="34" charset="0"/>
                    <a:cs typeface="Verdana" panose="020B0604030504040204" pitchFamily="34" charset="0"/>
                  </a:rPr>
                  <a:t>. </a:t>
                </a:r>
                <a:endParaRPr lang="en-US" sz="2200" i="1" dirty="0">
                  <a:latin typeface="Verdana" panose="020B0604030504040204" pitchFamily="34" charset="0"/>
                  <a:ea typeface="Verdana" panose="020B0604030504040204" pitchFamily="34" charset="0"/>
                  <a:cs typeface="Verdana" panose="020B0604030504040204" pitchFamily="34" charset="0"/>
                </a:endParaRPr>
              </a:p>
              <a:p>
                <a:r>
                  <a:rPr lang="en-US" sz="2200" dirty="0">
                    <a:latin typeface="Verdana" panose="020B0604030504040204" pitchFamily="34" charset="0"/>
                    <a:ea typeface="Verdana" panose="020B0604030504040204" pitchFamily="34" charset="0"/>
                    <a:cs typeface="Verdana" panose="020B0604030504040204" pitchFamily="34" charset="0"/>
                  </a:rPr>
                  <a:t>Step 3: Add and subtract in order from left to right </a:t>
                </a:r>
                <a14:m>
                  <m:oMath xmlns:m="http://schemas.openxmlformats.org/officeDocument/2006/math">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e>
                    </m:d>
                  </m:oMath>
                </a14:m>
                <a:r>
                  <a:rPr lang="en-US" sz="2200" i="1" dirty="0">
                    <a:latin typeface="Verdana" panose="020B0604030504040204" pitchFamily="34" charset="0"/>
                    <a:ea typeface="Verdana" panose="020B0604030504040204" pitchFamily="34" charset="0"/>
                    <a:cs typeface="Verdana" panose="020B0604030504040204" pitchFamily="34" charset="0"/>
                  </a:rPr>
                  <a:t>.</a:t>
                </a:r>
                <a:r>
                  <a:rPr lang="en-US" sz="2200" dirty="0">
                    <a:latin typeface="Verdana" panose="020B0604030504040204" pitchFamily="34" charset="0"/>
                    <a:ea typeface="Verdana" panose="020B0604030504040204" pitchFamily="34" charset="0"/>
                    <a:cs typeface="Verdana" panose="020B0604030504040204" pitchFamily="34" charset="0"/>
                  </a:rPr>
                  <a:t>  </a:t>
                </a:r>
                <a:endParaRPr lang="en-US" sz="2200" i="1" dirty="0">
                  <a:latin typeface="Verdana" panose="020B0604030504040204" pitchFamily="34" charset="0"/>
                  <a:ea typeface="Verdana" panose="020B0604030504040204" pitchFamily="34" charset="0"/>
                  <a:cs typeface="Verdana" panose="020B0604030504040204" pitchFamily="34" charset="0"/>
                </a:endParaRPr>
              </a:p>
              <a:p>
                <a:r>
                  <a:rPr lang="en-US" sz="2200" dirty="0">
                    <a:latin typeface="Verdana" panose="020B0604030504040204" pitchFamily="34" charset="0"/>
                    <a:ea typeface="Verdana" panose="020B0604030504040204" pitchFamily="34" charset="0"/>
                    <a:cs typeface="Verdana" panose="020B0604030504040204" pitchFamily="34" charset="0"/>
                  </a:rPr>
                  <a:t> </a:t>
                </a:r>
                <a:endParaRPr lang="en-US" sz="2200" i="1" dirty="0">
                  <a:latin typeface="Verdana" panose="020B0604030504040204" pitchFamily="34" charset="0"/>
                  <a:ea typeface="Verdana" panose="020B0604030504040204" pitchFamily="34" charset="0"/>
                  <a:cs typeface="Verdana" panose="020B0604030504040204" pitchFamily="34" charset="0"/>
                </a:endParaRPr>
              </a:p>
              <a:p>
                <a:r>
                  <a:rPr lang="en-US" sz="2200" dirty="0">
                    <a:latin typeface="Verdana" panose="020B0604030504040204" pitchFamily="34" charset="0"/>
                    <a:ea typeface="Verdana" panose="020B0604030504040204" pitchFamily="34" charset="0"/>
                    <a:cs typeface="Verdana" panose="020B0604030504040204" pitchFamily="34" charset="0"/>
                  </a:rPr>
                  <a:t>Numerical expressions can also include exponents. </a:t>
                </a:r>
                <a:endParaRPr lang="en-US" sz="22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1537252" y="1386026"/>
                <a:ext cx="9373528" cy="2800767"/>
              </a:xfrm>
              <a:prstGeom prst="rect">
                <a:avLst/>
              </a:prstGeom>
              <a:blipFill rotWithShape="0">
                <a:blip r:embed="rId4"/>
                <a:stretch>
                  <a:fillRect l="-845" t="-1087" b="-3696"/>
                </a:stretch>
              </a:blipFill>
            </p:spPr>
            <p:txBody>
              <a:bodyPr/>
              <a:lstStyle/>
              <a:p>
                <a:r>
                  <a:rPr lang="en-US">
                    <a:noFill/>
                  </a:rPr>
                  <a:t> </a:t>
                </a:r>
              </a:p>
            </p:txBody>
          </p:sp>
        </mc:Fallback>
      </mc:AlternateContent>
      <p:sp>
        <p:nvSpPr>
          <p:cNvPr id="10"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200</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AE5E1E0-A54D-BE42-84B5-F917038ADE99}"/>
                  </a:ext>
                </a:extLst>
              </p:cNvPr>
              <p:cNvSpPr txBox="1"/>
              <p:nvPr/>
            </p:nvSpPr>
            <p:spPr>
              <a:xfrm>
                <a:off x="1073426" y="288746"/>
                <a:ext cx="10397532" cy="5020990"/>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The expression </a:t>
                </a:r>
                <a14:m>
                  <m:oMath xmlns:m="http://schemas.openxmlformats.org/officeDocument/2006/math">
                    <m:sSup>
                      <m:sSupPr>
                        <m:ctrlPr>
                          <a:rPr lang="en-US" sz="2200" i="1">
                            <a:latin typeface="Cambria Math" panose="02040503050406030204" pitchFamily="18"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4×(−2)</m:t>
                        </m:r>
                      </m:e>
                      <m:sup>
                        <m:r>
                          <a:rPr lang="en-US" sz="2200" i="1">
                            <a:latin typeface="Cambria Math" panose="02040503050406030204" pitchFamily="18" charset="0"/>
                            <a:ea typeface="Cambria Math" panose="02040503050406030204" pitchFamily="18" charset="0"/>
                          </a:rPr>
                          <m:t>3</m:t>
                        </m:r>
                      </m:sup>
                    </m:sSup>
                    <m:r>
                      <a:rPr lang="en-US" sz="2200" i="1">
                        <a:latin typeface="Cambria Math" panose="02040503050406030204" pitchFamily="18" charset="0"/>
                        <a:ea typeface="Cambria Math" panose="02040503050406030204" pitchFamily="18" charset="0"/>
                      </a:rPr>
                      <m:t>−8÷(−3+1)</m:t>
                    </m:r>
                  </m:oMath>
                </a14:m>
                <a:r>
                  <a:rPr lang="en-US" sz="2200" dirty="0">
                    <a:latin typeface="Verdana" panose="020B0604030504040204" pitchFamily="34" charset="0"/>
                    <a:ea typeface="Verdana" panose="020B0604030504040204" pitchFamily="34" charset="0"/>
                    <a:cs typeface="Verdana" panose="020B0604030504040204" pitchFamily="34" charset="0"/>
                  </a:rPr>
                  <a:t> can be rewritten by expanding the exponential expression as</a:t>
                </a:r>
                <a:r>
                  <a:rPr lang="en-US" sz="2200" i="1"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200" i="1">
                        <a:latin typeface="Cambria Math" panose="02040503050406030204" pitchFamily="18" charset="0"/>
                        <a:ea typeface="Cambria Math" panose="02040503050406030204" pitchFamily="18" charset="0"/>
                      </a:rPr>
                      <m:t>4×(−2∙−2∙−2)−8÷(−3+1)</m:t>
                    </m:r>
                  </m:oMath>
                </a14:m>
                <a:r>
                  <a:rPr lang="en-US" sz="2200" dirty="0">
                    <a:latin typeface="Verdana" panose="020B0604030504040204" pitchFamily="34" charset="0"/>
                    <a:ea typeface="Verdana" panose="020B0604030504040204" pitchFamily="34" charset="0"/>
                    <a:cs typeface="Verdana" panose="020B0604030504040204" pitchFamily="34" charset="0"/>
                  </a:rPr>
                  <a:t>.</a:t>
                </a:r>
                <a:endParaRPr lang="en-US" sz="2200" i="1" dirty="0">
                  <a:latin typeface="Verdana" panose="020B0604030504040204" pitchFamily="34" charset="0"/>
                  <a:ea typeface="Verdana" panose="020B0604030504040204" pitchFamily="34" charset="0"/>
                  <a:cs typeface="Verdana" panose="020B0604030504040204" pitchFamily="34" charset="0"/>
                </a:endParaRPr>
              </a:p>
              <a:p>
                <a:r>
                  <a:rPr lang="en-US" sz="2200" dirty="0">
                    <a:latin typeface="Verdana" panose="020B0604030504040204" pitchFamily="34" charset="0"/>
                    <a:ea typeface="Verdana" panose="020B0604030504040204" pitchFamily="34" charset="0"/>
                    <a:cs typeface="Verdana" panose="020B0604030504040204" pitchFamily="34" charset="0"/>
                  </a:rPr>
                  <a:t> </a:t>
                </a:r>
                <a:endParaRPr lang="en-US" sz="2200" i="1"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According to the order of operations, which expressions should be evaluated first?</a:t>
                </a:r>
                <a:endParaRPr lang="en-US" sz="2200" i="1"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When </a:t>
                </a:r>
                <a14:m>
                  <m:oMath xmlns:m="http://schemas.openxmlformats.org/officeDocument/2006/math">
                    <m:sSup>
                      <m:sSupPr>
                        <m:ctrlPr>
                          <a:rPr lang="en-US" sz="2200" i="1">
                            <a:latin typeface="Cambria Math" panose="02040503050406030204" pitchFamily="18" charset="0"/>
                            <a:ea typeface="Cambria Math" panose="02040503050406030204" pitchFamily="18" charset="0"/>
                          </a:rPr>
                        </m:ctrlPr>
                      </m:sSupPr>
                      <m:e>
                        <m:r>
                          <a:rPr lang="en-US" sz="2200">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m:t>
                        </m:r>
                        <m:r>
                          <a:rPr lang="en-US" sz="2200">
                            <a:latin typeface="Cambria Math" panose="02040503050406030204" pitchFamily="18" charset="0"/>
                            <a:ea typeface="Cambria Math" panose="02040503050406030204" pitchFamily="18" charset="0"/>
                          </a:rPr>
                          <m:t>2)</m:t>
                        </m:r>
                      </m:e>
                      <m:sup>
                        <m:r>
                          <a:rPr lang="en-US" sz="2200">
                            <a:latin typeface="Cambria Math" panose="02040503050406030204" pitchFamily="18" charset="0"/>
                            <a:ea typeface="Cambria Math" panose="02040503050406030204" pitchFamily="18" charset="0"/>
                          </a:rPr>
                          <m:t>3</m:t>
                        </m:r>
                      </m:sup>
                    </m:sSup>
                  </m:oMath>
                </a14:m>
                <a:r>
                  <a:rPr lang="en-US" sz="2200" dirty="0">
                    <a:latin typeface="Verdana" panose="020B0604030504040204" pitchFamily="34" charset="0"/>
                    <a:ea typeface="Verdana" panose="020B0604030504040204" pitchFamily="34" charset="0"/>
                    <a:cs typeface="Verdana" panose="020B0604030504040204" pitchFamily="34" charset="0"/>
                  </a:rPr>
                  <a:t> is rewritten using multiplication, the resulting expression is in parentheses. Complete the statement.</a:t>
                </a:r>
              </a:p>
              <a:p>
                <a:pPr marL="914400" lvl="1">
                  <a:lnSpc>
                    <a:spcPct val="250000"/>
                  </a:lnSpc>
                </a:pPr>
                <a:r>
                  <a:rPr lang="en-US" sz="2200" dirty="0">
                    <a:latin typeface="Verdana" panose="020B0604030504040204" pitchFamily="34" charset="0"/>
                    <a:ea typeface="Verdana" panose="020B0604030504040204" pitchFamily="34" charset="0"/>
                    <a:cs typeface="Verdana" panose="020B0604030504040204" pitchFamily="34" charset="0"/>
                  </a:rPr>
                  <a:t>According to the order of operations, </a:t>
                </a:r>
                <a14:m>
                  <m:oMath xmlns:m="http://schemas.openxmlformats.org/officeDocument/2006/math">
                    <m:sSup>
                      <m:sSupPr>
                        <m:ctrlPr>
                          <a:rPr lang="en-US" sz="2200" i="1">
                            <a:latin typeface="Cambria Math" panose="02040503050406030204" pitchFamily="18" charset="0"/>
                            <a:ea typeface="Cambria Math" panose="02040503050406030204" pitchFamily="18" charset="0"/>
                          </a:rPr>
                        </m:ctrlPr>
                      </m:sSupPr>
                      <m:e>
                        <m:r>
                          <a:rPr lang="en-US" sz="2200">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m:t>
                        </m:r>
                        <m:r>
                          <a:rPr lang="en-US" sz="2200">
                            <a:latin typeface="Cambria Math" panose="02040503050406030204" pitchFamily="18" charset="0"/>
                            <a:ea typeface="Cambria Math" panose="02040503050406030204" pitchFamily="18" charset="0"/>
                          </a:rPr>
                          <m:t>2)</m:t>
                        </m:r>
                      </m:e>
                      <m:sup>
                        <m:r>
                          <a:rPr lang="en-US" sz="2200">
                            <a:latin typeface="Cambria Math" panose="02040503050406030204" pitchFamily="18" charset="0"/>
                            <a:ea typeface="Cambria Math" panose="02040503050406030204" pitchFamily="18" charset="0"/>
                          </a:rPr>
                          <m:t>3</m:t>
                        </m:r>
                      </m:sup>
                    </m:sSup>
                  </m:oMath>
                </a14:m>
                <a:r>
                  <a:rPr lang="en-US" sz="2200" dirty="0">
                    <a:latin typeface="Verdana" panose="020B0604030504040204" pitchFamily="34" charset="0"/>
                    <a:ea typeface="Verdana" panose="020B0604030504040204" pitchFamily="34" charset="0"/>
                    <a:cs typeface="Verdana" panose="020B0604030504040204" pitchFamily="34" charset="0"/>
                  </a:rPr>
                  <a:t> should be evaluated		     multiplying by </a:t>
                </a:r>
                <a14:m>
                  <m:oMath xmlns:m="http://schemas.openxmlformats.org/officeDocument/2006/math">
                    <m:r>
                      <a:rPr lang="en-US" sz="2200" i="1">
                        <a:latin typeface="Cambria Math" panose="02040503050406030204" pitchFamily="18" charset="0"/>
                        <a:ea typeface="Verdana" panose="020B0604030504040204" pitchFamily="34" charset="0"/>
                        <a:cs typeface="Verdana" panose="020B0604030504040204" pitchFamily="34" charset="0"/>
                      </a:rPr>
                      <m:t>4</m:t>
                    </m:r>
                  </m:oMath>
                </a14:m>
                <a:r>
                  <a:rPr lang="en-US" sz="22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1073426" y="288746"/>
                <a:ext cx="10397532" cy="5020990"/>
              </a:xfrm>
              <a:prstGeom prst="rect">
                <a:avLst/>
              </a:prstGeom>
              <a:blipFill>
                <a:blip r:embed="rId3"/>
                <a:stretch>
                  <a:fillRect l="-762" t="-971" r="-1172" b="-1578"/>
                </a:stretch>
              </a:blipFill>
            </p:spPr>
            <p:txBody>
              <a:bodyPr/>
              <a:lstStyle/>
              <a:p>
                <a:r>
                  <a:rPr lang="en-US">
                    <a:noFill/>
                  </a:rPr>
                  <a:t> </a:t>
                </a:r>
              </a:p>
            </p:txBody>
          </p:sp>
        </mc:Fallback>
      </mc:AlternateContent>
      <p:pic>
        <p:nvPicPr>
          <p:cNvPr id="2"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011024" y="4634332"/>
            <a:ext cx="1320158" cy="832957"/>
          </a:xfrm>
          <a:prstGeom prst="rect">
            <a:avLst/>
          </a:prstGeom>
        </p:spPr>
      </p:pic>
      <p:sp>
        <p:nvSpPr>
          <p:cNvPr id="8"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200</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3813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980661" y="288745"/>
            <a:ext cx="10230678" cy="769441"/>
          </a:xfrm>
          <a:prstGeom prst="rect">
            <a:avLst/>
          </a:prstGeom>
          <a:noFill/>
        </p:spPr>
        <p:txBody>
          <a:bodyPr wrap="square" rtlCol="0">
            <a:spAutoFit/>
          </a:bodyPr>
          <a:lstStyle/>
          <a:p>
            <a:pPr marL="914400" indent="-457200">
              <a:buFont typeface="+mj-lt"/>
              <a:buAutoNum type="alphaLcPeriod" startAt="3"/>
            </a:pPr>
            <a:r>
              <a:rPr lang="en-US" sz="2200" dirty="0">
                <a:latin typeface="Verdana" panose="020B0604030504040204" pitchFamily="34" charset="0"/>
                <a:ea typeface="Verdana" panose="020B0604030504040204" pitchFamily="34" charset="0"/>
                <a:cs typeface="Verdana" panose="020B0604030504040204" pitchFamily="34" charset="0"/>
              </a:rPr>
              <a:t>Work with your partner to number each operation so that the order of operations is in the correct order. </a:t>
            </a:r>
          </a:p>
        </p:txBody>
      </p:sp>
      <p:pic>
        <p:nvPicPr>
          <p:cNvPr id="2" name="Picture 1"/>
          <p:cNvPicPr>
            <a:picLocks noChangeAspect="1"/>
          </p:cNvPicPr>
          <p:nvPr/>
        </p:nvPicPr>
        <p:blipFill>
          <a:blip r:embed="rId3"/>
          <a:stretch>
            <a:fillRect/>
          </a:stretch>
        </p:blipFill>
        <p:spPr>
          <a:xfrm>
            <a:off x="2844892" y="1637429"/>
            <a:ext cx="6614795" cy="3867767"/>
          </a:xfrm>
          <a:prstGeom prst="rect">
            <a:avLst/>
          </a:prstGeom>
        </p:spPr>
      </p:pic>
      <p:sp>
        <p:nvSpPr>
          <p:cNvPr id="8"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699386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940904" y="288746"/>
            <a:ext cx="10310192" cy="5847755"/>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Use order of operations to evaluate one of the expressions shown in the table below while your partner evaluates the other expression.</a:t>
            </a: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How are the problems similar?</a:t>
            </a: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How are the problems different?</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682512173"/>
                  </p:ext>
                </p:extLst>
              </p:nvPr>
            </p:nvGraphicFramePr>
            <p:xfrm>
              <a:off x="2857343" y="1799024"/>
              <a:ext cx="6028690" cy="2876809"/>
            </p:xfrm>
            <a:graphic>
              <a:graphicData uri="http://schemas.openxmlformats.org/drawingml/2006/table">
                <a:tbl>
                  <a:tblPr firstRow="1" firstCol="1" bandRow="1">
                    <a:tableStyleId>{5940675A-B579-460E-94D1-54222C63F5DA}</a:tableStyleId>
                  </a:tblPr>
                  <a:tblGrid>
                    <a:gridCol w="3014345">
                      <a:extLst>
                        <a:ext uri="{9D8B030D-6E8A-4147-A177-3AD203B41FA5}">
                          <a16:colId xmlns:a16="http://schemas.microsoft.com/office/drawing/2014/main" val="20000"/>
                        </a:ext>
                      </a:extLst>
                    </a:gridCol>
                    <a:gridCol w="3014345">
                      <a:extLst>
                        <a:ext uri="{9D8B030D-6E8A-4147-A177-3AD203B41FA5}">
                          <a16:colId xmlns:a16="http://schemas.microsoft.com/office/drawing/2014/main" val="20001"/>
                        </a:ext>
                      </a:extLst>
                    </a:gridCol>
                  </a:tblGrid>
                  <a:tr h="293085">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 A</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 B</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extLst>
                      <a:ext uri="{0D108BD9-81ED-4DB2-BD59-A6C34878D82A}">
                        <a16:rowId xmlns:a16="http://schemas.microsoft.com/office/drawing/2014/main" val="10000"/>
                      </a:ext>
                    </a:extLst>
                  </a:tr>
                  <a:tr h="32154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200" i="1">
                                        <a:effectLst/>
                                        <a:latin typeface="Cambria Math" panose="02040503050406030204" pitchFamily="18" charset="0"/>
                                        <a:ea typeface="Cambria Math" panose="02040503050406030204" pitchFamily="18" charset="0"/>
                                      </a:rPr>
                                    </m:ctrlPr>
                                  </m:sSupPr>
                                  <m:e>
                                    <m:d>
                                      <m:dPr>
                                        <m:ctrlPr>
                                          <a:rPr lang="en-US" sz="2200" i="1">
                                            <a:effectLst/>
                                            <a:latin typeface="Cambria Math" panose="02040503050406030204" pitchFamily="18" charset="0"/>
                                            <a:ea typeface="Cambria Math" panose="02040503050406030204" pitchFamily="18" charset="0"/>
                                          </a:rPr>
                                        </m:ctrlPr>
                                      </m:dPr>
                                      <m:e>
                                        <m:r>
                                          <a:rPr lang="en-US" sz="2200">
                                            <a:effectLst/>
                                            <a:latin typeface="Cambria Math" panose="02040503050406030204" pitchFamily="18" charset="0"/>
                                            <a:ea typeface="Cambria Math" panose="02040503050406030204" pitchFamily="18" charset="0"/>
                                          </a:rPr>
                                          <m:t>6+0.5</m:t>
                                        </m:r>
                                      </m:e>
                                    </m:d>
                                  </m:e>
                                  <m:sup>
                                    <m:r>
                                      <a:rPr lang="en-US" sz="2200">
                                        <a:effectLst/>
                                        <a:latin typeface="Cambria Math" panose="02040503050406030204" pitchFamily="18" charset="0"/>
                                        <a:ea typeface="Cambria Math" panose="02040503050406030204" pitchFamily="18" charset="0"/>
                                      </a:rPr>
                                      <m:t>2</m:t>
                                    </m:r>
                                  </m:sup>
                                </m:sSup>
                                <m:r>
                                  <a:rPr lang="en-US" sz="2200">
                                    <a:effectLst/>
                                    <a:latin typeface="Cambria Math" panose="02040503050406030204" pitchFamily="18" charset="0"/>
                                    <a:ea typeface="Cambria Math" panose="02040503050406030204" pitchFamily="18" charset="0"/>
                                  </a:rPr>
                                  <m:t>÷0.25</m:t>
                                </m:r>
                              </m:oMath>
                            </m:oMathPara>
                          </a14:m>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200" i="1">
                                        <a:effectLst/>
                                        <a:latin typeface="Cambria Math" panose="02040503050406030204" pitchFamily="18" charset="0"/>
                                        <a:ea typeface="Cambria Math" panose="02040503050406030204" pitchFamily="18" charset="0"/>
                                      </a:rPr>
                                    </m:ctrlPr>
                                  </m:dPr>
                                  <m:e>
                                    <m:sSup>
                                      <m:sSupPr>
                                        <m:ctrlPr>
                                          <a:rPr lang="en-US" sz="2200" i="1">
                                            <a:effectLst/>
                                            <a:latin typeface="Cambria Math" panose="02040503050406030204" pitchFamily="18" charset="0"/>
                                            <a:ea typeface="Cambria Math" panose="02040503050406030204" pitchFamily="18" charset="0"/>
                                          </a:rPr>
                                        </m:ctrlPr>
                                      </m:sSupPr>
                                      <m:e>
                                        <m:r>
                                          <a:rPr lang="en-US" sz="2200">
                                            <a:effectLst/>
                                            <a:latin typeface="Cambria Math" panose="02040503050406030204" pitchFamily="18" charset="0"/>
                                            <a:ea typeface="Cambria Math" panose="02040503050406030204" pitchFamily="18" charset="0"/>
                                          </a:rPr>
                                          <m:t>6</m:t>
                                        </m:r>
                                      </m:e>
                                      <m:sup>
                                        <m:r>
                                          <a:rPr lang="en-US" sz="2200">
                                            <a:effectLst/>
                                            <a:latin typeface="Cambria Math" panose="02040503050406030204" pitchFamily="18" charset="0"/>
                                            <a:ea typeface="Cambria Math" panose="02040503050406030204" pitchFamily="18" charset="0"/>
                                          </a:rPr>
                                          <m:t>2</m:t>
                                        </m:r>
                                      </m:sup>
                                    </m:sSup>
                                    <m:r>
                                      <a:rPr lang="en-US" sz="2200">
                                        <a:effectLst/>
                                        <a:latin typeface="Cambria Math" panose="02040503050406030204" pitchFamily="18" charset="0"/>
                                        <a:ea typeface="Cambria Math" panose="02040503050406030204" pitchFamily="18" charset="0"/>
                                      </a:rPr>
                                      <m:t>+</m:t>
                                    </m:r>
                                    <m:sSup>
                                      <m:sSupPr>
                                        <m:ctrlPr>
                                          <a:rPr lang="en-US" sz="2200" i="1">
                                            <a:effectLst/>
                                            <a:latin typeface="Cambria Math" panose="02040503050406030204" pitchFamily="18" charset="0"/>
                                            <a:ea typeface="Cambria Math" panose="02040503050406030204" pitchFamily="18" charset="0"/>
                                          </a:rPr>
                                        </m:ctrlPr>
                                      </m:sSupPr>
                                      <m:e>
                                        <m:r>
                                          <a:rPr lang="en-US" sz="2200">
                                            <a:effectLst/>
                                            <a:latin typeface="Cambria Math" panose="02040503050406030204" pitchFamily="18" charset="0"/>
                                            <a:ea typeface="Cambria Math" panose="02040503050406030204" pitchFamily="18" charset="0"/>
                                          </a:rPr>
                                          <m:t>0.5</m:t>
                                        </m:r>
                                      </m:e>
                                      <m:sup>
                                        <m:r>
                                          <a:rPr lang="en-US" sz="2200">
                                            <a:effectLst/>
                                            <a:latin typeface="Cambria Math" panose="02040503050406030204" pitchFamily="18" charset="0"/>
                                            <a:ea typeface="Cambria Math" panose="02040503050406030204" pitchFamily="18" charset="0"/>
                                          </a:rPr>
                                          <m:t>2</m:t>
                                        </m:r>
                                      </m:sup>
                                    </m:sSup>
                                  </m:e>
                                </m:d>
                                <m:r>
                                  <a:rPr lang="en-US" sz="2200">
                                    <a:effectLst/>
                                    <a:latin typeface="Cambria Math" panose="02040503050406030204" pitchFamily="18" charset="0"/>
                                    <a:ea typeface="Cambria Math" panose="02040503050406030204" pitchFamily="18" charset="0"/>
                                  </a:rPr>
                                  <m:t>÷0.25</m:t>
                                </m:r>
                              </m:oMath>
                            </m:oMathPara>
                          </a14:m>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extLst>
                      <a:ext uri="{0D108BD9-81ED-4DB2-BD59-A6C34878D82A}">
                        <a16:rowId xmlns:a16="http://schemas.microsoft.com/office/drawing/2014/main" val="10001"/>
                      </a:ext>
                    </a:extLst>
                  </a:tr>
                  <a:tr h="2191009">
                    <a:tc>
                      <a:txBody>
                        <a:bodyPr/>
                        <a:lstStyle/>
                        <a:p>
                          <a:pPr marL="0" marR="0">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682512173"/>
                  </p:ext>
                </p:extLst>
              </p:nvPr>
            </p:nvGraphicFramePr>
            <p:xfrm>
              <a:off x="1333343" y="1799023"/>
              <a:ext cx="6028690" cy="2876809"/>
            </p:xfrm>
            <a:graphic>
              <a:graphicData uri="http://schemas.openxmlformats.org/drawingml/2006/table">
                <a:tbl>
                  <a:tblPr firstRow="1" firstCol="1" bandRow="1">
                    <a:tableStyleId>{5940675A-B579-460E-94D1-54222C63F5DA}</a:tableStyleId>
                  </a:tblPr>
                  <a:tblGrid>
                    <a:gridCol w="3014345"/>
                    <a:gridCol w="3014345"/>
                  </a:tblGrid>
                  <a:tr h="327025">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 A</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 B</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r>
                  <a:tr h="358775">
                    <a:tc>
                      <a:txBody>
                        <a:bodyPr/>
                        <a:lstStyle/>
                        <a:p>
                          <a:endParaRPr lang="en-US"/>
                        </a:p>
                      </a:txBody>
                      <a:tcPr marL="68580" marR="68580" marT="0" marB="0" anchor="ctr">
                        <a:blipFill rotWithShape="0">
                          <a:blip r:embed="rId4"/>
                          <a:stretch>
                            <a:fillRect l="-202" t="-116949" r="-100404" b="-613559"/>
                          </a:stretch>
                        </a:blipFill>
                      </a:tcPr>
                    </a:tc>
                    <a:tc>
                      <a:txBody>
                        <a:bodyPr/>
                        <a:lstStyle/>
                        <a:p>
                          <a:endParaRPr lang="en-US"/>
                        </a:p>
                      </a:txBody>
                      <a:tcPr marL="68580" marR="68580" marT="0" marB="0" anchor="ctr">
                        <a:blipFill rotWithShape="0">
                          <a:blip r:embed="rId4"/>
                          <a:stretch>
                            <a:fillRect l="-100202" t="-116949" r="-404" b="-613559"/>
                          </a:stretch>
                        </a:blipFill>
                      </a:tcPr>
                    </a:tc>
                  </a:tr>
                  <a:tr h="2191009">
                    <a:tc>
                      <a:txBody>
                        <a:bodyPr/>
                        <a:lstStyle/>
                        <a:p>
                          <a:pPr marL="0" marR="0">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r>
                </a:tbl>
              </a:graphicData>
            </a:graphic>
          </p:graphicFrame>
        </mc:Fallback>
      </mc:AlternateContent>
      <p:sp>
        <p:nvSpPr>
          <p:cNvPr id="8"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201</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32260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4"/>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1932432" y="288745"/>
            <a:ext cx="8327136" cy="6093976"/>
          </a:xfrm>
          <a:prstGeom prst="rect">
            <a:avLst/>
          </a:prstGeom>
          <a:noFill/>
        </p:spPr>
        <p:txBody>
          <a:bodyPr wrap="square" rtlCol="0">
            <a:spAutoFit/>
          </a:bodyPr>
          <a:lstStyle/>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Complete the statements about the expressions.</a:t>
            </a:r>
          </a:p>
          <a:p>
            <a:pPr marL="457200">
              <a:lnSpc>
                <a:spcPct val="250000"/>
              </a:lnSpc>
            </a:pPr>
            <a:r>
              <a:rPr lang="en-US" sz="2000" dirty="0">
                <a:latin typeface="Verdana" panose="020B0604030504040204" pitchFamily="34" charset="0"/>
                <a:ea typeface="Verdana" panose="020B0604030504040204" pitchFamily="34" charset="0"/>
                <a:cs typeface="Verdana" panose="020B0604030504040204" pitchFamily="34" charset="0"/>
              </a:rPr>
              <a:t>The two expressions are		         because they</a:t>
            </a:r>
          </a:p>
          <a:p>
            <a:pPr marL="457200">
              <a:lnSpc>
                <a:spcPct val="250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lnSpc>
                <a:spcPct val="250000"/>
              </a:lnSpc>
            </a:pPr>
            <a:r>
              <a:rPr lang="en-US" sz="2000" dirty="0">
                <a:latin typeface="Verdana" panose="020B0604030504040204" pitchFamily="34" charset="0"/>
                <a:ea typeface="Verdana" panose="020B0604030504040204" pitchFamily="34" charset="0"/>
                <a:cs typeface="Verdana" panose="020B0604030504040204" pitchFamily="34" charset="0"/>
              </a:rPr>
              <a:t>For Expression A, first</a:t>
            </a:r>
          </a:p>
          <a:p>
            <a:pPr marL="457200">
              <a:lnSpc>
                <a:spcPct val="250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lnSpc>
                <a:spcPct val="250000"/>
              </a:lnSpc>
            </a:pPr>
            <a:r>
              <a:rPr lang="en-US" sz="2000" dirty="0">
                <a:latin typeface="Verdana" panose="020B0604030504040204" pitchFamily="34" charset="0"/>
                <a:ea typeface="Verdana" panose="020B0604030504040204" pitchFamily="34" charset="0"/>
                <a:cs typeface="Verdana" panose="020B0604030504040204" pitchFamily="34" charset="0"/>
              </a:rPr>
              <a:t>For Expression B, first</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lnSpc>
                <a:spcPct val="250000"/>
              </a:lnSpc>
            </a:pPr>
            <a:r>
              <a:rPr lang="en-US" sz="2000" dirty="0">
                <a:latin typeface="Verdana" panose="020B0604030504040204" pitchFamily="34" charset="0"/>
                <a:ea typeface="Verdana" panose="020B0604030504040204" pitchFamily="34" charset="0"/>
                <a:cs typeface="Verdana" panose="020B0604030504040204" pitchFamily="34" charset="0"/>
              </a:rPr>
              <a:t>For both expressions, addition was done before division because</a:t>
            </a:r>
          </a:p>
        </p:txBody>
      </p:sp>
      <p:pic>
        <p:nvPicPr>
          <p:cNvPr id="2" name="Pictur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41522" y="774269"/>
            <a:ext cx="1673228" cy="681512"/>
          </a:xfrm>
          <a:prstGeom prst="rect">
            <a:avLst/>
          </a:prstGeom>
        </p:spPr>
      </p:pic>
      <p:pic>
        <p:nvPicPr>
          <p:cNvPr id="3" name="Picture 2"/>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383740" y="1455781"/>
            <a:ext cx="3164343" cy="666178"/>
          </a:xfrm>
          <a:prstGeom prst="rect">
            <a:avLst/>
          </a:prstGeom>
        </p:spPr>
      </p:pic>
      <p:pic>
        <p:nvPicPr>
          <p:cNvPr id="4" name="Picture 3"/>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328558" y="2150937"/>
            <a:ext cx="4931011" cy="1273889"/>
          </a:xfrm>
          <a:prstGeom prst="rect">
            <a:avLst/>
          </a:prstGeom>
        </p:spPr>
      </p:pic>
      <p:pic>
        <p:nvPicPr>
          <p:cNvPr id="9" name="Picture 8"/>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328557" y="3612750"/>
            <a:ext cx="4931011" cy="1273889"/>
          </a:xfrm>
          <a:prstGeom prst="rect">
            <a:avLst/>
          </a:prstGeom>
        </p:spPr>
      </p:pic>
      <p:pic>
        <p:nvPicPr>
          <p:cNvPr id="6" name="Picture 5"/>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600450" y="5510040"/>
            <a:ext cx="5238750" cy="813506"/>
          </a:xfrm>
          <a:prstGeom prst="rect">
            <a:avLst/>
          </a:prstGeom>
        </p:spPr>
      </p:pic>
      <p:sp>
        <p:nvSpPr>
          <p:cNvPr id="12"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201</a:t>
            </a:r>
            <a:endParaRPr i="1" dirty="0">
              <a:latin typeface="Calibri"/>
              <a:ea typeface="Calibri"/>
              <a:cs typeface="Calibri"/>
              <a:sym typeface="Calibri"/>
            </a:endParaRPr>
          </a:p>
        </p:txBody>
      </p:sp>
      <p:pic>
        <p:nvPicPr>
          <p:cNvPr id="13"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68869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1060174" y="223429"/>
            <a:ext cx="10071652" cy="4154984"/>
          </a:xfrm>
          <a:prstGeom prst="rect">
            <a:avLst/>
          </a:prstGeom>
          <a:noFill/>
        </p:spPr>
        <p:txBody>
          <a:bodyPr wrap="square" rtlCol="0">
            <a:spAutoFit/>
          </a:bodyPr>
          <a:lstStyle/>
          <a:p>
            <a:pPr marL="457200" indent="-457200">
              <a:buFont typeface="+mj-lt"/>
              <a:buAutoNum type="arabicPeriod" startAt="6"/>
            </a:pPr>
            <a:r>
              <a:rPr lang="en-US" sz="2200" dirty="0">
                <a:latin typeface="Verdana" panose="020B0604030504040204" pitchFamily="34" charset="0"/>
                <a:ea typeface="Verdana" panose="020B0604030504040204" pitchFamily="34" charset="0"/>
                <a:cs typeface="Verdana" panose="020B0604030504040204" pitchFamily="34" charset="0"/>
              </a:rPr>
              <a:t>Anna evaluated Expression A and Expression B. Her work is shown.</a:t>
            </a:r>
          </a:p>
          <a:p>
            <a:pPr marL="457200" indent="-457200">
              <a:buFont typeface="+mj-lt"/>
              <a:buAutoNum type="arabicPeriod" startAt="6"/>
            </a:pPr>
            <a:endParaRPr lang="en-US" sz="22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endParaRPr lang="en-US" sz="22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endParaRPr lang="en-US" sz="2200" i="1" dirty="0">
              <a:latin typeface="Verdana" panose="020B0604030504040204" pitchFamily="34" charset="0"/>
              <a:ea typeface="Verdana" panose="020B0604030504040204" pitchFamily="34" charset="0"/>
              <a:cs typeface="Verdana" panose="020B0604030504040204" pitchFamily="34" charset="0"/>
            </a:endParaRPr>
          </a:p>
          <a:p>
            <a:pPr lvl="0"/>
            <a:endParaRPr lang="en-US" sz="2200" i="1" dirty="0">
              <a:latin typeface="Verdana" panose="020B0604030504040204" pitchFamily="34" charset="0"/>
              <a:ea typeface="Verdana" panose="020B0604030504040204" pitchFamily="34" charset="0"/>
              <a:cs typeface="Verdana" panose="020B0604030504040204" pitchFamily="34" charset="0"/>
            </a:endParaRPr>
          </a:p>
          <a:p>
            <a:pPr lvl="0"/>
            <a:endParaRPr lang="en-US" sz="2200" i="1" dirty="0">
              <a:latin typeface="Verdana" panose="020B0604030504040204" pitchFamily="34" charset="0"/>
              <a:ea typeface="Verdana" panose="020B0604030504040204" pitchFamily="34" charset="0"/>
              <a:cs typeface="Verdana" panose="020B0604030504040204" pitchFamily="34" charset="0"/>
            </a:endParaRPr>
          </a:p>
          <a:p>
            <a:pPr lvl="0"/>
            <a:endParaRPr lang="en-US" sz="2200" i="1" dirty="0">
              <a:latin typeface="Verdana" panose="020B0604030504040204" pitchFamily="34" charset="0"/>
              <a:ea typeface="Verdana" panose="020B0604030504040204" pitchFamily="34" charset="0"/>
              <a:cs typeface="Verdana" panose="020B0604030504040204" pitchFamily="34" charset="0"/>
            </a:endParaRPr>
          </a:p>
          <a:p>
            <a:pPr lvl="0"/>
            <a:endParaRPr lang="en-US" sz="2200" i="1" dirty="0">
              <a:latin typeface="Verdana" panose="020B0604030504040204" pitchFamily="34" charset="0"/>
              <a:ea typeface="Verdana" panose="020B0604030504040204" pitchFamily="34" charset="0"/>
              <a:cs typeface="Verdana" panose="020B0604030504040204" pitchFamily="34" charset="0"/>
            </a:endParaRPr>
          </a:p>
          <a:p>
            <a:pPr marL="457200"/>
            <a:r>
              <a:rPr lang="en-US" sz="2200" dirty="0">
                <a:latin typeface="Verdana" panose="020B0604030504040204" pitchFamily="34" charset="0"/>
                <a:ea typeface="Verdana" panose="020B0604030504040204" pitchFamily="34" charset="0"/>
                <a:cs typeface="Verdana" panose="020B0604030504040204" pitchFamily="34" charset="0"/>
              </a:rPr>
              <a:t>Anna’s partner gave her a     on both of her answers. Why did Anna arrive at two different values when evaluating these similar looking expressions?</a:t>
            </a:r>
            <a:endParaRPr lang="en-US" sz="2200" i="1"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993612185"/>
                  </p:ext>
                </p:extLst>
              </p:nvPr>
            </p:nvGraphicFramePr>
            <p:xfrm>
              <a:off x="2857343" y="1036358"/>
              <a:ext cx="6028690" cy="2120900"/>
            </p:xfrm>
            <a:graphic>
              <a:graphicData uri="http://schemas.openxmlformats.org/drawingml/2006/table">
                <a:tbl>
                  <a:tblPr firstRow="1" firstCol="1" bandRow="1">
                    <a:tableStyleId>{5940675A-B579-460E-94D1-54222C63F5DA}</a:tableStyleId>
                  </a:tblPr>
                  <a:tblGrid>
                    <a:gridCol w="3014345">
                      <a:extLst>
                        <a:ext uri="{9D8B030D-6E8A-4147-A177-3AD203B41FA5}">
                          <a16:colId xmlns:a16="http://schemas.microsoft.com/office/drawing/2014/main" val="20000"/>
                        </a:ext>
                      </a:extLst>
                    </a:gridCol>
                    <a:gridCol w="3014345">
                      <a:extLst>
                        <a:ext uri="{9D8B030D-6E8A-4147-A177-3AD203B41FA5}">
                          <a16:colId xmlns:a16="http://schemas.microsoft.com/office/drawing/2014/main" val="20001"/>
                        </a:ext>
                      </a:extLst>
                    </a:gridCol>
                  </a:tblGrid>
                  <a:tr h="0">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 A</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 B</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extLst>
                      <a:ext uri="{0D108BD9-81ED-4DB2-BD59-A6C34878D82A}">
                        <a16:rowId xmlns:a16="http://schemas.microsoft.com/office/drawing/2014/main" val="10000"/>
                      </a:ext>
                    </a:extLst>
                  </a:tr>
                  <a:tr h="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200" i="1">
                                        <a:effectLst/>
                                        <a:latin typeface="Cambria Math" panose="02040503050406030204" pitchFamily="18" charset="0"/>
                                        <a:ea typeface="Cambria Math" panose="02040503050406030204" pitchFamily="18" charset="0"/>
                                      </a:rPr>
                                    </m:ctrlPr>
                                  </m:sSupPr>
                                  <m:e>
                                    <m:d>
                                      <m:dPr>
                                        <m:begChr m:val="|"/>
                                        <m:endChr m:val="|"/>
                                        <m:ctrlPr>
                                          <a:rPr lang="en-US" sz="2200" i="1">
                                            <a:effectLst/>
                                            <a:latin typeface="Cambria Math" panose="02040503050406030204" pitchFamily="18" charset="0"/>
                                            <a:ea typeface="Cambria Math" panose="02040503050406030204" pitchFamily="18" charset="0"/>
                                          </a:rPr>
                                        </m:ctrlPr>
                                      </m:dPr>
                                      <m:e>
                                        <m:r>
                                          <a:rPr lang="en-US" sz="2200">
                                            <a:effectLst/>
                                            <a:latin typeface="Cambria Math" panose="02040503050406030204" pitchFamily="18" charset="0"/>
                                            <a:ea typeface="Cambria Math" panose="02040503050406030204" pitchFamily="18" charset="0"/>
                                          </a:rPr>
                                          <m:t>−10</m:t>
                                        </m:r>
                                      </m:e>
                                    </m:d>
                                    <m:r>
                                      <a:rPr lang="en-US" sz="2200">
                                        <a:effectLst/>
                                        <a:latin typeface="Cambria Math" panose="02040503050406030204" pitchFamily="18" charset="0"/>
                                        <a:ea typeface="Cambria Math" panose="02040503050406030204" pitchFamily="18" charset="0"/>
                                      </a:rPr>
                                      <m:t>÷2+10</m:t>
                                    </m:r>
                                  </m:e>
                                  <m:sup>
                                    <m:r>
                                      <a:rPr lang="en-US" sz="2200">
                                        <a:effectLst/>
                                        <a:latin typeface="Cambria Math" panose="02040503050406030204" pitchFamily="18" charset="0"/>
                                        <a:ea typeface="Cambria Math" panose="02040503050406030204" pitchFamily="18" charset="0"/>
                                      </a:rPr>
                                      <m:t>2</m:t>
                                    </m:r>
                                  </m:sup>
                                </m:sSup>
                              </m:oMath>
                            </m:oMathPara>
                          </a14:m>
                          <a:endParaRPr lang="en-US" sz="2200" dirty="0">
                            <a:effectLst/>
                            <a:latin typeface="Cambria Math" panose="02040503050406030204" pitchFamily="18" charset="0"/>
                            <a:ea typeface="Cambria Math" panose="02040503050406030204" pitchFamily="18" charset="0"/>
                          </a:endParaRPr>
                        </a:p>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200" i="1">
                                        <a:effectLst/>
                                        <a:latin typeface="Cambria Math" panose="02040503050406030204" pitchFamily="18" charset="0"/>
                                        <a:ea typeface="Cambria Math" panose="02040503050406030204" pitchFamily="18" charset="0"/>
                                      </a:rPr>
                                    </m:ctrlPr>
                                  </m:sSupPr>
                                  <m:e>
                                    <m:r>
                                      <a:rPr lang="en-US" sz="2200">
                                        <a:effectLst/>
                                        <a:latin typeface="Cambria Math" panose="02040503050406030204" pitchFamily="18" charset="0"/>
                                        <a:ea typeface="Cambria Math" panose="02040503050406030204" pitchFamily="18" charset="0"/>
                                      </a:rPr>
                                      <m:t>10÷2+10</m:t>
                                    </m:r>
                                  </m:e>
                                  <m:sup>
                                    <m:r>
                                      <a:rPr lang="en-US" sz="2200">
                                        <a:effectLst/>
                                        <a:latin typeface="Cambria Math" panose="02040503050406030204" pitchFamily="18" charset="0"/>
                                        <a:ea typeface="Cambria Math" panose="02040503050406030204" pitchFamily="18" charset="0"/>
                                      </a:rPr>
                                      <m:t>2</m:t>
                                    </m:r>
                                  </m:sup>
                                </m:sSup>
                              </m:oMath>
                            </m:oMathPara>
                          </a14:m>
                          <a:endParaRPr lang="en-US" sz="2200" dirty="0">
                            <a:effectLst/>
                            <a:latin typeface="Cambria Math" panose="02040503050406030204" pitchFamily="18" charset="0"/>
                            <a:ea typeface="Cambria Math" panose="02040503050406030204" pitchFamily="18" charset="0"/>
                          </a:endParaRPr>
                        </a:p>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200">
                                    <a:effectLst/>
                                    <a:latin typeface="Cambria Math" panose="02040503050406030204" pitchFamily="18" charset="0"/>
                                    <a:ea typeface="Cambria Math" panose="02040503050406030204" pitchFamily="18" charset="0"/>
                                  </a:rPr>
                                  <m:t>10÷2+100</m:t>
                                </m:r>
                              </m:oMath>
                            </m:oMathPara>
                          </a14:m>
                          <a:endParaRPr lang="en-US" sz="2200" dirty="0">
                            <a:effectLst/>
                            <a:latin typeface="Cambria Math" panose="02040503050406030204" pitchFamily="18" charset="0"/>
                            <a:ea typeface="Cambria Math" panose="02040503050406030204" pitchFamily="18" charset="0"/>
                          </a:endParaRPr>
                        </a:p>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200">
                                    <a:effectLst/>
                                    <a:latin typeface="Cambria Math" panose="02040503050406030204" pitchFamily="18" charset="0"/>
                                    <a:ea typeface="Cambria Math" panose="02040503050406030204" pitchFamily="18" charset="0"/>
                                  </a:rPr>
                                  <m:t>5+100</m:t>
                                </m:r>
                              </m:oMath>
                            </m:oMathPara>
                          </a14:m>
                          <a:endParaRPr lang="en-US" sz="2200" dirty="0">
                            <a:effectLst/>
                            <a:latin typeface="Cambria Math" panose="02040503050406030204" pitchFamily="18" charset="0"/>
                            <a:ea typeface="Cambria Math" panose="02040503050406030204" pitchFamily="18" charset="0"/>
                          </a:endParaRPr>
                        </a:p>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200">
                                    <a:effectLst/>
                                    <a:latin typeface="Cambria Math" panose="02040503050406030204" pitchFamily="18" charset="0"/>
                                    <a:ea typeface="Cambria Math" panose="02040503050406030204" pitchFamily="18" charset="0"/>
                                  </a:rPr>
                                  <m:t>105</m:t>
                                </m:r>
                              </m:oMath>
                            </m:oMathPara>
                          </a14:m>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200" i="1">
                                        <a:effectLst/>
                                        <a:latin typeface="Cambria Math" panose="02040503050406030204" pitchFamily="18" charset="0"/>
                                        <a:ea typeface="Cambria Math" panose="02040503050406030204" pitchFamily="18" charset="0"/>
                                      </a:rPr>
                                    </m:ctrlPr>
                                  </m:sSupPr>
                                  <m:e>
                                    <m:r>
                                      <a:rPr lang="en-US" sz="2200">
                                        <a:effectLst/>
                                        <a:latin typeface="Cambria Math" panose="02040503050406030204" pitchFamily="18" charset="0"/>
                                        <a:ea typeface="Cambria Math" panose="02040503050406030204" pitchFamily="18" charset="0"/>
                                      </a:rPr>
                                      <m:t>−10÷2+10</m:t>
                                    </m:r>
                                  </m:e>
                                  <m:sup>
                                    <m:r>
                                      <a:rPr lang="en-US" sz="2200">
                                        <a:effectLst/>
                                        <a:latin typeface="Cambria Math" panose="02040503050406030204" pitchFamily="18" charset="0"/>
                                        <a:ea typeface="Cambria Math" panose="02040503050406030204" pitchFamily="18" charset="0"/>
                                      </a:rPr>
                                      <m:t>2</m:t>
                                    </m:r>
                                  </m:sup>
                                </m:sSup>
                              </m:oMath>
                            </m:oMathPara>
                          </a14:m>
                          <a:endParaRPr lang="en-US" sz="2200" dirty="0">
                            <a:effectLst/>
                            <a:latin typeface="Cambria Math" panose="02040503050406030204" pitchFamily="18" charset="0"/>
                            <a:ea typeface="Cambria Math" panose="02040503050406030204" pitchFamily="18" charset="0"/>
                          </a:endParaRPr>
                        </a:p>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200">
                                    <a:effectLst/>
                                    <a:latin typeface="Cambria Math" panose="02040503050406030204" pitchFamily="18" charset="0"/>
                                    <a:ea typeface="Cambria Math" panose="02040503050406030204" pitchFamily="18" charset="0"/>
                                  </a:rPr>
                                  <m:t>−10÷2+100</m:t>
                                </m:r>
                              </m:oMath>
                            </m:oMathPara>
                          </a14:m>
                          <a:endParaRPr lang="en-US" sz="2200" dirty="0">
                            <a:effectLst/>
                            <a:latin typeface="Cambria Math" panose="02040503050406030204" pitchFamily="18" charset="0"/>
                            <a:ea typeface="Cambria Math" panose="02040503050406030204" pitchFamily="18" charset="0"/>
                          </a:endParaRPr>
                        </a:p>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200">
                                    <a:effectLst/>
                                    <a:latin typeface="Cambria Math" panose="02040503050406030204" pitchFamily="18" charset="0"/>
                                    <a:ea typeface="Cambria Math" panose="02040503050406030204" pitchFamily="18" charset="0"/>
                                  </a:rPr>
                                  <m:t>−5+100</m:t>
                                </m:r>
                              </m:oMath>
                            </m:oMathPara>
                          </a14:m>
                          <a:endParaRPr lang="en-US" sz="2200" dirty="0">
                            <a:effectLst/>
                            <a:latin typeface="Cambria Math" panose="02040503050406030204" pitchFamily="18" charset="0"/>
                            <a:ea typeface="Cambria Math" panose="02040503050406030204" pitchFamily="18" charset="0"/>
                          </a:endParaRPr>
                        </a:p>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200">
                                    <a:effectLst/>
                                    <a:latin typeface="Cambria Math" panose="02040503050406030204" pitchFamily="18" charset="0"/>
                                    <a:ea typeface="Cambria Math" panose="02040503050406030204" pitchFamily="18" charset="0"/>
                                  </a:rPr>
                                  <m:t>95</m:t>
                                </m:r>
                              </m:oMath>
                            </m:oMathPara>
                          </a14:m>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993612185"/>
                  </p:ext>
                </p:extLst>
              </p:nvPr>
            </p:nvGraphicFramePr>
            <p:xfrm>
              <a:off x="1333343" y="1036358"/>
              <a:ext cx="6028690" cy="2120900"/>
            </p:xfrm>
            <a:graphic>
              <a:graphicData uri="http://schemas.openxmlformats.org/drawingml/2006/table">
                <a:tbl>
                  <a:tblPr firstRow="1" firstCol="1" bandRow="1">
                    <a:tableStyleId>{5940675A-B579-460E-94D1-54222C63F5DA}</a:tableStyleId>
                  </a:tblPr>
                  <a:tblGrid>
                    <a:gridCol w="3014345"/>
                    <a:gridCol w="3014345"/>
                  </a:tblGrid>
                  <a:tr h="327025">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 A</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 B</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r>
                  <a:tr h="1793875">
                    <a:tc>
                      <a:txBody>
                        <a:bodyPr/>
                        <a:lstStyle/>
                        <a:p>
                          <a:endParaRPr lang="en-US"/>
                        </a:p>
                      </a:txBody>
                      <a:tcPr marL="68580" marR="68580" marT="0" marB="0" anchor="ctr">
                        <a:blipFill rotWithShape="0">
                          <a:blip r:embed="rId4"/>
                          <a:stretch>
                            <a:fillRect l="-202" t="-23469" r="-100404" b="-1020"/>
                          </a:stretch>
                        </a:blipFill>
                      </a:tcPr>
                    </a:tc>
                    <a:tc>
                      <a:txBody>
                        <a:bodyPr/>
                        <a:lstStyle/>
                        <a:p>
                          <a:endParaRPr lang="en-US"/>
                        </a:p>
                      </a:txBody>
                      <a:tcPr marL="68580" marR="68580" marT="0" marB="0" anchor="ctr">
                        <a:blipFill rotWithShape="0">
                          <a:blip r:embed="rId4"/>
                          <a:stretch>
                            <a:fillRect l="-100202" t="-23469" r="-404" b="-1020"/>
                          </a:stretch>
                        </a:blipFill>
                      </a:tcPr>
                    </a:tc>
                  </a:tr>
                </a:tbl>
              </a:graphicData>
            </a:graphic>
          </p:graphicFrame>
        </mc:Fallback>
      </mc:AlternateContent>
      <p:pic>
        <p:nvPicPr>
          <p:cNvPr id="7" name="Graphic 30" descr="Thumbs up sign"/>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357221" y="3314925"/>
            <a:ext cx="326572" cy="289448"/>
          </a:xfrm>
          <a:prstGeom prst="rect">
            <a:avLst/>
          </a:prstGeom>
        </p:spPr>
      </p:pic>
      <p:sp>
        <p:nvSpPr>
          <p:cNvPr id="8" name="Rectangle: Rounded Corners 69"/>
          <p:cNvSpPr/>
          <p:nvPr/>
        </p:nvSpPr>
        <p:spPr>
          <a:xfrm>
            <a:off x="2748712" y="5127980"/>
            <a:ext cx="6654151" cy="1260237"/>
          </a:xfrm>
          <a:prstGeom prst="roundRect">
            <a:avLst/>
          </a:prstGeom>
          <a:solidFill>
            <a:srgbClr val="BAE6F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685800">
              <a:lnSpc>
                <a:spcPct val="107000"/>
              </a:lnSpc>
              <a:spcAft>
                <a:spcPts val="800"/>
              </a:spcAft>
            </a:pPr>
            <a:r>
              <a:rPr lang="en-US" sz="2000" dirty="0">
                <a:solidFill>
                  <a:srgbClr val="00629D"/>
                </a:solidFill>
                <a:latin typeface="Verdana" panose="020B0604030504040204" pitchFamily="34" charset="0"/>
                <a:ea typeface="Cambria Math" panose="02040503050406030204" pitchFamily="18" charset="0"/>
                <a:cs typeface="Cambria Math" panose="02040503050406030204" pitchFamily="18" charset="0"/>
              </a:rPr>
              <a:t>Absolute value notation should be treated the same as grouping symbols when following the order of operations.</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pic>
        <p:nvPicPr>
          <p:cNvPr id="9" name="Shape 19" descr="Icon&#10;&#10;Description automatically generated"/>
          <p:cNvPicPr/>
          <p:nvPr/>
        </p:nvPicPr>
        <p:blipFill rotWithShape="1">
          <a:blip r:embed="rId7" cstate="screen">
            <a:alphaModFix/>
            <a:extLst>
              <a:ext uri="{28A0092B-C50C-407E-A947-70E740481C1C}">
                <a14:useLocalDpi xmlns:a14="http://schemas.microsoft.com/office/drawing/2010/main"/>
              </a:ext>
            </a:extLst>
          </a:blip>
          <a:srcRect/>
          <a:stretch/>
        </p:blipFill>
        <p:spPr>
          <a:xfrm>
            <a:off x="2857343" y="5253781"/>
            <a:ext cx="539750" cy="539115"/>
          </a:xfrm>
          <a:prstGeom prst="rect">
            <a:avLst/>
          </a:prstGeom>
          <a:noFill/>
          <a:ln>
            <a:noFill/>
          </a:ln>
          <a:effectLst>
            <a:outerShdw blurRad="50800" dist="38100" dir="2700000" algn="tl" rotWithShape="0">
              <a:prstClr val="black">
                <a:alpha val="40000"/>
              </a:prstClr>
            </a:outerShdw>
          </a:effectLst>
        </p:spPr>
      </p:pic>
      <p:sp>
        <p:nvSpPr>
          <p:cNvPr id="11"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202</a:t>
            </a:r>
            <a:endParaRPr i="1" dirty="0">
              <a:latin typeface="Calibri"/>
              <a:ea typeface="Calibri"/>
              <a:cs typeface="Calibri"/>
              <a:sym typeface="Calibri"/>
            </a:endParaRPr>
          </a:p>
        </p:txBody>
      </p:sp>
      <p:pic>
        <p:nvPicPr>
          <p:cNvPr id="12"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7761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821635" y="288746"/>
                <a:ext cx="10548730" cy="3139321"/>
              </a:xfrm>
              <a:prstGeom prst="rect">
                <a:avLst/>
              </a:prstGeom>
              <a:noFill/>
            </p:spPr>
            <p:txBody>
              <a:bodyPr wrap="square" rtlCol="0">
                <a:spAutoFit/>
              </a:bodyPr>
              <a:lstStyle/>
              <a:p>
                <a:pPr marL="457200" indent="-457200">
                  <a:buFont typeface="+mj-lt"/>
                  <a:buAutoNum type="arabicPeriod" startAt="7"/>
                </a:pPr>
                <a:r>
                  <a:rPr lang="en-US" sz="2200" dirty="0">
                    <a:latin typeface="Verdana" panose="020B0604030504040204" pitchFamily="34" charset="0"/>
                    <a:ea typeface="Verdana" panose="020B0604030504040204" pitchFamily="34" charset="0"/>
                    <a:cs typeface="Verdana" panose="020B0604030504040204" pitchFamily="34" charset="0"/>
                  </a:rPr>
                  <a:t>Zion says since multiplication is commutative and the order does not matter, he thinks he can evaluate the expression </a:t>
                </a:r>
                <a14:m>
                  <m:oMath xmlns:m="http://schemas.openxmlformats.org/officeDocument/2006/math">
                    <m:sSup>
                      <m:sSupPr>
                        <m:ctrlPr>
                          <a:rPr lang="en-US" sz="2200" i="1">
                            <a:latin typeface="Cambria Math" panose="02040503050406030204" pitchFamily="18" charset="0"/>
                            <a:ea typeface="Cambria Math" panose="02040503050406030204" pitchFamily="18" charset="0"/>
                          </a:rPr>
                        </m:ctrlPr>
                      </m:sSupPr>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0.05×</m:t>
                            </m:r>
                            <m:sSup>
                              <m:sSupPr>
                                <m:ctrlPr>
                                  <a:rPr lang="en-US" sz="2200" i="1">
                                    <a:latin typeface="Cambria Math" panose="02040503050406030204" pitchFamily="18" charset="0"/>
                                    <a:ea typeface="Cambria Math" panose="02040503050406030204" pitchFamily="18" charset="0"/>
                                  </a:rPr>
                                </m:ctrlPr>
                              </m:sSupPr>
                              <m:e>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3×2</m:t>
                                    </m:r>
                                  </m:e>
                                </m:d>
                              </m:e>
                              <m:sup>
                                <m:r>
                                  <a:rPr lang="en-US" sz="2200" i="1">
                                    <a:latin typeface="Cambria Math" panose="02040503050406030204" pitchFamily="18" charset="0"/>
                                    <a:ea typeface="Cambria Math" panose="02040503050406030204" pitchFamily="18" charset="0"/>
                                  </a:rPr>
                                  <m:t>4</m:t>
                                </m:r>
                              </m:sup>
                            </m:sSup>
                          </m:e>
                        </m:d>
                      </m:e>
                      <m:sup>
                        <m:r>
                          <a:rPr lang="en-US" sz="2200" i="1">
                            <a:latin typeface="Cambria Math" panose="02040503050406030204" pitchFamily="18" charset="0"/>
                            <a:ea typeface="Cambria Math" panose="02040503050406030204" pitchFamily="18" charset="0"/>
                          </a:rPr>
                          <m:t>2</m:t>
                        </m:r>
                      </m:sup>
                    </m:sSup>
                  </m:oMath>
                </a14:m>
                <a:r>
                  <a:rPr lang="en-US" sz="2200" dirty="0">
                    <a:latin typeface="Verdana" panose="020B0604030504040204" pitchFamily="34" charset="0"/>
                    <a:ea typeface="Verdana" panose="020B0604030504040204" pitchFamily="34" charset="0"/>
                    <a:cs typeface="Verdana" panose="020B0604030504040204" pitchFamily="34" charset="0"/>
                  </a:rPr>
                  <a:t> by either multiplying </a:t>
                </a:r>
                <a14:m>
                  <m:oMath xmlns:m="http://schemas.openxmlformats.org/officeDocument/2006/math">
                    <m:r>
                      <a:rPr lang="en-US" sz="2200" i="1">
                        <a:latin typeface="Cambria Math" panose="02040503050406030204" pitchFamily="18" charset="0"/>
                        <a:ea typeface="Cambria Math" panose="02040503050406030204" pitchFamily="18" charset="0"/>
                      </a:rPr>
                      <m:t>0.05 × 3</m:t>
                    </m:r>
                  </m:oMath>
                </a14:m>
                <a:r>
                  <a:rPr lang="en-US" sz="2200" dirty="0">
                    <a:latin typeface="Verdana" panose="020B0604030504040204" pitchFamily="34" charset="0"/>
                    <a:ea typeface="Verdana" panose="020B0604030504040204" pitchFamily="34" charset="0"/>
                    <a:cs typeface="Verdana" panose="020B0604030504040204" pitchFamily="34" charset="0"/>
                  </a:rPr>
                  <a:t> first or by multiplying </a:t>
                </a:r>
                <a14:m>
                  <m:oMath xmlns:m="http://schemas.openxmlformats.org/officeDocument/2006/math">
                    <m:r>
                      <a:rPr lang="en-US" sz="2200" i="1">
                        <a:latin typeface="Cambria Math" panose="02040503050406030204" pitchFamily="18" charset="0"/>
                        <a:ea typeface="Cambria Math" panose="02040503050406030204" pitchFamily="18" charset="0"/>
                      </a:rPr>
                      <m:t>3 × 2</m:t>
                    </m:r>
                  </m:oMath>
                </a14:m>
                <a:r>
                  <a:rPr lang="en-US" sz="2200" dirty="0">
                    <a:latin typeface="Verdana" panose="020B0604030504040204" pitchFamily="34" charset="0"/>
                    <a:ea typeface="Verdana" panose="020B0604030504040204" pitchFamily="34" charset="0"/>
                    <a:cs typeface="Verdana" panose="020B0604030504040204" pitchFamily="34" charset="0"/>
                  </a:rPr>
                  <a:t> first. </a:t>
                </a:r>
                <a:endParaRPr lang="en-US" sz="2200" i="1" dirty="0">
                  <a:latin typeface="Verdana" panose="020B0604030504040204" pitchFamily="34" charset="0"/>
                  <a:ea typeface="Verdana" panose="020B0604030504040204" pitchFamily="34" charset="0"/>
                  <a:cs typeface="Verdana" panose="020B0604030504040204" pitchFamily="34" charset="0"/>
                </a:endParaRPr>
              </a:p>
              <a:p>
                <a:r>
                  <a:rPr lang="en-US" sz="2200" dirty="0">
                    <a:latin typeface="Verdana" panose="020B0604030504040204" pitchFamily="34" charset="0"/>
                    <a:ea typeface="Verdana" panose="020B0604030504040204" pitchFamily="34" charset="0"/>
                    <a:cs typeface="Verdana" panose="020B0604030504040204" pitchFamily="34" charset="0"/>
                  </a:rPr>
                  <a:t> </a:t>
                </a:r>
                <a:endParaRPr lang="en-US" sz="2200" i="1"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Discuss with your partner if Zion is correct when he stated that both would work. </a:t>
                </a:r>
                <a:endParaRPr lang="en-US" sz="2200" i="1"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Evaluate the expression </a:t>
                </a:r>
                <a14:m>
                  <m:oMath xmlns:m="http://schemas.openxmlformats.org/officeDocument/2006/math">
                    <m:sSup>
                      <m:sSupPr>
                        <m:ctrlPr>
                          <a:rPr lang="en-US" sz="2200" i="1">
                            <a:latin typeface="Cambria Math" panose="02040503050406030204" pitchFamily="18" charset="0"/>
                            <a:ea typeface="Cambria Math" panose="02040503050406030204" pitchFamily="18" charset="0"/>
                          </a:rPr>
                        </m:ctrlPr>
                      </m:sSupPr>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0.05×</m:t>
                            </m:r>
                            <m:sSup>
                              <m:sSupPr>
                                <m:ctrlPr>
                                  <a:rPr lang="en-US" sz="2200" i="1">
                                    <a:latin typeface="Cambria Math" panose="02040503050406030204" pitchFamily="18" charset="0"/>
                                    <a:ea typeface="Cambria Math" panose="02040503050406030204" pitchFamily="18" charset="0"/>
                                  </a:rPr>
                                </m:ctrlPr>
                              </m:sSupPr>
                              <m:e>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3×2</m:t>
                                    </m:r>
                                  </m:e>
                                </m:d>
                              </m:e>
                              <m:sup>
                                <m:r>
                                  <a:rPr lang="en-US" sz="2200" i="1">
                                    <a:latin typeface="Cambria Math" panose="02040503050406030204" pitchFamily="18" charset="0"/>
                                    <a:ea typeface="Cambria Math" panose="02040503050406030204" pitchFamily="18" charset="0"/>
                                  </a:rPr>
                                  <m:t>4</m:t>
                                </m:r>
                              </m:sup>
                            </m:sSup>
                          </m:e>
                        </m:d>
                      </m:e>
                      <m:sup>
                        <m:r>
                          <a:rPr lang="en-US" sz="2200" i="1">
                            <a:latin typeface="Cambria Math" panose="02040503050406030204" pitchFamily="18" charset="0"/>
                            <a:ea typeface="Cambria Math" panose="02040503050406030204" pitchFamily="18" charset="0"/>
                          </a:rPr>
                          <m:t>2</m:t>
                        </m:r>
                      </m:sup>
                    </m:sSup>
                  </m:oMath>
                </a14:m>
                <a:r>
                  <a:rPr lang="en-US" sz="2200" dirty="0">
                    <a:latin typeface="Verdana" panose="020B0604030504040204" pitchFamily="34" charset="0"/>
                    <a:ea typeface="Verdana" panose="020B0604030504040204" pitchFamily="34" charset="0"/>
                    <a:cs typeface="Verdana" panose="020B0604030504040204" pitchFamily="34" charset="0"/>
                  </a:rPr>
                  <a:t>.</a:t>
                </a:r>
                <a:endParaRPr lang="en-US" sz="22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821635" y="288746"/>
                <a:ext cx="10548730" cy="3139321"/>
              </a:xfrm>
              <a:prstGeom prst="rect">
                <a:avLst/>
              </a:prstGeom>
              <a:blipFill rotWithShape="0">
                <a:blip r:embed="rId3"/>
                <a:stretch>
                  <a:fillRect l="-809" t="-1359" b="-3107"/>
                </a:stretch>
              </a:blipFill>
            </p:spPr>
            <p:txBody>
              <a:bodyPr/>
              <a:lstStyle/>
              <a:p>
                <a:r>
                  <a:rPr lang="en-US">
                    <a:noFill/>
                  </a:rPr>
                  <a:t> </a:t>
                </a:r>
              </a:p>
            </p:txBody>
          </p:sp>
        </mc:Fallback>
      </mc:AlternateContent>
      <p:sp>
        <p:nvSpPr>
          <p:cNvPr id="6" name="Rectangle: Rounded Corners 69"/>
          <p:cNvSpPr/>
          <p:nvPr/>
        </p:nvSpPr>
        <p:spPr>
          <a:xfrm>
            <a:off x="2496718" y="4686296"/>
            <a:ext cx="7198565" cy="1608089"/>
          </a:xfrm>
          <a:prstGeom prst="roundRect">
            <a:avLst/>
          </a:prstGeom>
          <a:solidFill>
            <a:srgbClr val="BAE6F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685800">
              <a:lnSpc>
                <a:spcPct val="107000"/>
              </a:lnSpc>
              <a:spcAft>
                <a:spcPts val="800"/>
              </a:spcAft>
            </a:pPr>
            <a:r>
              <a:rPr lang="en-US" sz="2000" dirty="0">
                <a:solidFill>
                  <a:srgbClr val="00629D"/>
                </a:solidFill>
                <a:latin typeface="Verdana" panose="020B0604030504040204" pitchFamily="34" charset="0"/>
                <a:ea typeface="Cambria Math" panose="02040503050406030204" pitchFamily="18" charset="0"/>
                <a:cs typeface="Cambria Math" panose="02040503050406030204" pitchFamily="18" charset="0"/>
              </a:rPr>
              <a:t>When using the order of operations to evaluate an expression with nested grouping symbols, apply the order of operations inside the inner grouping symbols first.</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9"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202</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pic>
        <p:nvPicPr>
          <p:cNvPr id="11" name="Shape 19" descr="Icon&#10;&#10;Description automatically generated">
            <a:extLst>
              <a:ext uri="{FF2B5EF4-FFF2-40B4-BE49-F238E27FC236}">
                <a16:creationId xmlns:a16="http://schemas.microsoft.com/office/drawing/2014/main" id="{8AA27C0F-CEA7-2052-E481-30A817F3B3EC}"/>
              </a:ext>
            </a:extLst>
          </p:cNvPr>
          <p:cNvPicPr/>
          <p:nvPr/>
        </p:nvPicPr>
        <p:blipFill rotWithShape="1">
          <a:blip r:embed="rId5" cstate="screen">
            <a:alphaModFix/>
            <a:extLst>
              <a:ext uri="{28A0092B-C50C-407E-A947-70E740481C1C}">
                <a14:useLocalDpi xmlns:a14="http://schemas.microsoft.com/office/drawing/2010/main"/>
              </a:ext>
            </a:extLst>
          </a:blip>
          <a:srcRect/>
          <a:stretch/>
        </p:blipFill>
        <p:spPr>
          <a:xfrm>
            <a:off x="2614275" y="4825517"/>
            <a:ext cx="539750" cy="539115"/>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56255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203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62425"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87398" y="0"/>
            <a:ext cx="1090460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11.8.3 Collaboration: Determining Equivalent Expressions</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37590" y="28794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1099930" y="1386026"/>
                <a:ext cx="10248172" cy="2462213"/>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Answer the questions with your partner. </a:t>
                </a:r>
                <a:endParaRPr lang="en-US" sz="2200" i="1" dirty="0">
                  <a:latin typeface="Verdana" panose="020B0604030504040204" pitchFamily="34" charset="0"/>
                  <a:ea typeface="Verdana" panose="020B0604030504040204" pitchFamily="34" charset="0"/>
                  <a:cs typeface="Verdana" panose="020B0604030504040204" pitchFamily="34" charset="0"/>
                </a:endParaRPr>
              </a:p>
              <a:p>
                <a:r>
                  <a:rPr lang="en-US" sz="2200" dirty="0">
                    <a:latin typeface="Verdana" panose="020B0604030504040204" pitchFamily="34" charset="0"/>
                    <a:ea typeface="Verdana" panose="020B0604030504040204" pitchFamily="34" charset="0"/>
                    <a:cs typeface="Verdana" panose="020B0604030504040204" pitchFamily="34" charset="0"/>
                  </a:rPr>
                  <a:t> </a:t>
                </a:r>
                <a:endParaRPr lang="en-US" sz="2200" i="1" dirty="0">
                  <a:latin typeface="Verdana" panose="020B0604030504040204" pitchFamily="34" charset="0"/>
                  <a:ea typeface="Verdana" panose="020B0604030504040204" pitchFamily="34" charset="0"/>
                  <a:cs typeface="Verdana" panose="020B0604030504040204" pitchFamily="34" charset="0"/>
                </a:endParaRPr>
              </a:p>
              <a:p>
                <a:r>
                  <a:rPr lang="en-US" sz="2200" dirty="0">
                    <a:latin typeface="Verdana" panose="020B0604030504040204" pitchFamily="34" charset="0"/>
                    <a:ea typeface="Verdana" panose="020B0604030504040204" pitchFamily="34" charset="0"/>
                    <a:cs typeface="Verdana" panose="020B0604030504040204" pitchFamily="34" charset="0"/>
                  </a:rPr>
                  <a:t>Tanisha says that when she evaluated an expression, the result was </a:t>
                </a:r>
                <a14:m>
                  <m:oMath xmlns:m="http://schemas.openxmlformats.org/officeDocument/2006/math">
                    <m:r>
                      <a:rPr lang="en-US" sz="2200" i="1">
                        <a:latin typeface="Cambria Math" panose="02040503050406030204" pitchFamily="18" charset="0"/>
                        <a:ea typeface="Cambria Math" panose="02040503050406030204" pitchFamily="18" charset="0"/>
                      </a:rPr>
                      <m:t>7.25</m:t>
                    </m:r>
                  </m:oMath>
                </a14:m>
                <a:r>
                  <a:rPr lang="en-US" sz="2200" dirty="0">
                    <a:latin typeface="Verdana" panose="020B0604030504040204" pitchFamily="34" charset="0"/>
                    <a:ea typeface="Verdana" panose="020B0604030504040204" pitchFamily="34" charset="0"/>
                    <a:cs typeface="Verdana" panose="020B0604030504040204" pitchFamily="34" charset="0"/>
                  </a:rPr>
                  <a:t>. </a:t>
                </a:r>
                <a:endParaRPr lang="en-US" sz="2200" i="1" dirty="0">
                  <a:latin typeface="Verdana" panose="020B0604030504040204" pitchFamily="34" charset="0"/>
                  <a:ea typeface="Verdana" panose="020B0604030504040204" pitchFamily="34" charset="0"/>
                  <a:cs typeface="Verdana" panose="020B0604030504040204" pitchFamily="34" charset="0"/>
                </a:endParaRPr>
              </a:p>
              <a:p>
                <a:r>
                  <a:rPr lang="en-US" sz="2200" dirty="0">
                    <a:latin typeface="Verdana" panose="020B0604030504040204" pitchFamily="34" charset="0"/>
                    <a:ea typeface="Verdana" panose="020B0604030504040204" pitchFamily="34" charset="0"/>
                    <a:cs typeface="Verdana" panose="020B0604030504040204" pitchFamily="34" charset="0"/>
                  </a:rPr>
                  <a:t> </a:t>
                </a:r>
                <a:endParaRPr lang="en-US" sz="22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Use mental math to estimate each value. Then, circle which of the following expressions could have been Tanisha’s expression. </a:t>
                </a:r>
                <a:endParaRPr lang="en-US" sz="22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1099930" y="1386026"/>
                <a:ext cx="10248172" cy="2462213"/>
              </a:xfrm>
              <a:prstGeom prst="rect">
                <a:avLst/>
              </a:prstGeom>
              <a:blipFill rotWithShape="0">
                <a:blip r:embed="rId4"/>
                <a:stretch>
                  <a:fillRect l="-773" t="-1238" b="-4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45103222"/>
                  </p:ext>
                </p:extLst>
              </p:nvPr>
            </p:nvGraphicFramePr>
            <p:xfrm>
              <a:off x="2713911" y="4474738"/>
              <a:ext cx="6745774" cy="1795096"/>
            </p:xfrm>
            <a:graphic>
              <a:graphicData uri="http://schemas.openxmlformats.org/drawingml/2006/table">
                <a:tbl>
                  <a:tblPr firstRow="1" firstCol="1" bandRow="1">
                    <a:tableStyleId>{2D5ABB26-0587-4C30-8999-92F81FD0307C}</a:tableStyleId>
                  </a:tblPr>
                  <a:tblGrid>
                    <a:gridCol w="3372887">
                      <a:extLst>
                        <a:ext uri="{9D8B030D-6E8A-4147-A177-3AD203B41FA5}">
                          <a16:colId xmlns:a16="http://schemas.microsoft.com/office/drawing/2014/main" val="20000"/>
                        </a:ext>
                      </a:extLst>
                    </a:gridCol>
                    <a:gridCol w="3372887">
                      <a:extLst>
                        <a:ext uri="{9D8B030D-6E8A-4147-A177-3AD203B41FA5}">
                          <a16:colId xmlns:a16="http://schemas.microsoft.com/office/drawing/2014/main" val="20001"/>
                        </a:ext>
                      </a:extLst>
                    </a:gridCol>
                  </a:tblGrid>
                  <a:tr h="897548">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200" i="1">
                                        <a:effectLst/>
                                        <a:latin typeface="Cambria Math" panose="02040503050406030204" pitchFamily="18" charset="0"/>
                                        <a:ea typeface="Cambria Math" panose="02040503050406030204" pitchFamily="18" charset="0"/>
                                      </a:rPr>
                                    </m:ctrlPr>
                                  </m:sSupPr>
                                  <m:e>
                                    <m:d>
                                      <m:dPr>
                                        <m:ctrlPr>
                                          <a:rPr lang="en-US" sz="2200" i="1">
                                            <a:effectLst/>
                                            <a:latin typeface="Cambria Math" panose="02040503050406030204" pitchFamily="18" charset="0"/>
                                            <a:ea typeface="Cambria Math" panose="02040503050406030204" pitchFamily="18" charset="0"/>
                                          </a:rPr>
                                        </m:ctrlPr>
                                      </m:dPr>
                                      <m:e>
                                        <m:r>
                                          <a:rPr lang="en-US" sz="2200">
                                            <a:effectLst/>
                                            <a:latin typeface="Cambria Math" panose="02040503050406030204" pitchFamily="18" charset="0"/>
                                            <a:ea typeface="Cambria Math" panose="02040503050406030204" pitchFamily="18" charset="0"/>
                                          </a:rPr>
                                          <m:t>6−0.5</m:t>
                                        </m:r>
                                      </m:e>
                                    </m:d>
                                  </m:e>
                                  <m:sup>
                                    <m:r>
                                      <a:rPr lang="en-US" sz="2200">
                                        <a:effectLst/>
                                        <a:latin typeface="Cambria Math" panose="02040503050406030204" pitchFamily="18" charset="0"/>
                                        <a:ea typeface="Cambria Math" panose="02040503050406030204" pitchFamily="18" charset="0"/>
                                      </a:rPr>
                                      <m:t>2</m:t>
                                    </m:r>
                                  </m:sup>
                                </m:sSup>
                                <m:r>
                                  <a:rPr lang="en-US" sz="2200">
                                    <a:effectLst/>
                                    <a:latin typeface="Cambria Math" panose="02040503050406030204" pitchFamily="18" charset="0"/>
                                    <a:ea typeface="Cambria Math" panose="02040503050406030204" pitchFamily="18" charset="0"/>
                                  </a:rPr>
                                  <m:t>×5</m:t>
                                </m:r>
                              </m:oMath>
                            </m:oMathPara>
                          </a14:m>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200" i="1">
                                        <a:effectLst/>
                                        <a:latin typeface="Cambria Math" panose="02040503050406030204" pitchFamily="18" charset="0"/>
                                        <a:ea typeface="Cambria Math" panose="02040503050406030204" pitchFamily="18" charset="0"/>
                                      </a:rPr>
                                    </m:ctrlPr>
                                  </m:sSupPr>
                                  <m:e>
                                    <m:r>
                                      <a:rPr lang="en-US" sz="2200">
                                        <a:effectLst/>
                                        <a:latin typeface="Cambria Math" panose="02040503050406030204" pitchFamily="18" charset="0"/>
                                        <a:ea typeface="Cambria Math" panose="02040503050406030204" pitchFamily="18" charset="0"/>
                                      </a:rPr>
                                      <m:t>6−0.5</m:t>
                                    </m:r>
                                  </m:e>
                                  <m:sup>
                                    <m:r>
                                      <a:rPr lang="en-US" sz="2200">
                                        <a:effectLst/>
                                        <a:latin typeface="Cambria Math" panose="02040503050406030204" pitchFamily="18" charset="0"/>
                                        <a:ea typeface="Cambria Math" panose="02040503050406030204" pitchFamily="18" charset="0"/>
                                      </a:rPr>
                                      <m:t>2</m:t>
                                    </m:r>
                                  </m:sup>
                                </m:sSup>
                                <m:r>
                                  <a:rPr lang="en-US" sz="2200">
                                    <a:effectLst/>
                                    <a:latin typeface="Cambria Math" panose="02040503050406030204" pitchFamily="18" charset="0"/>
                                    <a:ea typeface="Cambria Math" panose="02040503050406030204" pitchFamily="18" charset="0"/>
                                  </a:rPr>
                                  <m:t>×5</m:t>
                                </m:r>
                              </m:oMath>
                            </m:oMathPara>
                          </a14:m>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extLst>
                      <a:ext uri="{0D108BD9-81ED-4DB2-BD59-A6C34878D82A}">
                        <a16:rowId xmlns:a16="http://schemas.microsoft.com/office/drawing/2014/main" val="10000"/>
                      </a:ext>
                    </a:extLst>
                  </a:tr>
                  <a:tr h="897548">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200" i="1">
                                        <a:effectLst/>
                                        <a:latin typeface="Cambria Math" panose="02040503050406030204" pitchFamily="18" charset="0"/>
                                        <a:ea typeface="Cambria Math" panose="02040503050406030204" pitchFamily="18" charset="0"/>
                                      </a:rPr>
                                    </m:ctrlPr>
                                  </m:sSupPr>
                                  <m:e>
                                    <m:r>
                                      <a:rPr lang="en-US" sz="2200">
                                        <a:effectLst/>
                                        <a:latin typeface="Cambria Math" panose="02040503050406030204" pitchFamily="18" charset="0"/>
                                        <a:ea typeface="Cambria Math" panose="02040503050406030204" pitchFamily="18" charset="0"/>
                                      </a:rPr>
                                      <m:t>6+</m:t>
                                    </m:r>
                                    <m:d>
                                      <m:dPr>
                                        <m:ctrlPr>
                                          <a:rPr lang="en-US" sz="2200" i="1">
                                            <a:effectLst/>
                                            <a:latin typeface="Cambria Math" panose="02040503050406030204" pitchFamily="18" charset="0"/>
                                            <a:ea typeface="Cambria Math" panose="02040503050406030204" pitchFamily="18" charset="0"/>
                                          </a:rPr>
                                        </m:ctrlPr>
                                      </m:dPr>
                                      <m:e>
                                        <m:r>
                                          <a:rPr lang="en-US" sz="2200">
                                            <a:effectLst/>
                                            <a:latin typeface="Cambria Math" panose="02040503050406030204" pitchFamily="18" charset="0"/>
                                            <a:ea typeface="Cambria Math" panose="02040503050406030204" pitchFamily="18" charset="0"/>
                                          </a:rPr>
                                          <m:t>−0.5</m:t>
                                        </m:r>
                                      </m:e>
                                    </m:d>
                                  </m:e>
                                  <m:sup>
                                    <m:r>
                                      <a:rPr lang="en-US" sz="2200">
                                        <a:effectLst/>
                                        <a:latin typeface="Cambria Math" panose="02040503050406030204" pitchFamily="18" charset="0"/>
                                        <a:ea typeface="Cambria Math" panose="02040503050406030204" pitchFamily="18" charset="0"/>
                                      </a:rPr>
                                      <m:t>2</m:t>
                                    </m:r>
                                  </m:sup>
                                </m:sSup>
                                <m:r>
                                  <a:rPr lang="en-US" sz="2200">
                                    <a:effectLst/>
                                    <a:latin typeface="Cambria Math" panose="02040503050406030204" pitchFamily="18" charset="0"/>
                                    <a:ea typeface="Cambria Math" panose="02040503050406030204" pitchFamily="18" charset="0"/>
                                  </a:rPr>
                                  <m:t>×5</m:t>
                                </m:r>
                              </m:oMath>
                            </m:oMathPara>
                          </a14:m>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200">
                                    <a:effectLst/>
                                    <a:latin typeface="Cambria Math" panose="02040503050406030204" pitchFamily="18" charset="0"/>
                                    <a:ea typeface="Cambria Math" panose="02040503050406030204" pitchFamily="18" charset="0"/>
                                  </a:rPr>
                                  <m:t>5×6−</m:t>
                                </m:r>
                                <m:sSup>
                                  <m:sSupPr>
                                    <m:ctrlPr>
                                      <a:rPr lang="en-US" sz="2200" i="1">
                                        <a:effectLst/>
                                        <a:latin typeface="Cambria Math" panose="02040503050406030204" pitchFamily="18" charset="0"/>
                                        <a:ea typeface="Cambria Math" panose="02040503050406030204" pitchFamily="18" charset="0"/>
                                      </a:rPr>
                                    </m:ctrlPr>
                                  </m:sSupPr>
                                  <m:e>
                                    <m:r>
                                      <a:rPr lang="en-US" sz="2200">
                                        <a:effectLst/>
                                        <a:latin typeface="Cambria Math" panose="02040503050406030204" pitchFamily="18" charset="0"/>
                                        <a:ea typeface="Cambria Math" panose="02040503050406030204" pitchFamily="18" charset="0"/>
                                      </a:rPr>
                                      <m:t>0.5</m:t>
                                    </m:r>
                                  </m:e>
                                  <m:sup>
                                    <m:r>
                                      <a:rPr lang="en-US" sz="2200">
                                        <a:effectLst/>
                                        <a:latin typeface="Cambria Math" panose="02040503050406030204" pitchFamily="18" charset="0"/>
                                        <a:ea typeface="Cambria Math" panose="02040503050406030204" pitchFamily="18" charset="0"/>
                                      </a:rPr>
                                      <m:t>2</m:t>
                                    </m:r>
                                  </m:sup>
                                </m:sSup>
                              </m:oMath>
                            </m:oMathPara>
                          </a14:m>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45103222"/>
                  </p:ext>
                </p:extLst>
              </p:nvPr>
            </p:nvGraphicFramePr>
            <p:xfrm>
              <a:off x="1189911" y="4474738"/>
              <a:ext cx="6745774" cy="1795096"/>
            </p:xfrm>
            <a:graphic>
              <a:graphicData uri="http://schemas.openxmlformats.org/drawingml/2006/table">
                <a:tbl>
                  <a:tblPr firstRow="1" firstCol="1" bandRow="1">
                    <a:tableStyleId>{2D5ABB26-0587-4C30-8999-92F81FD0307C}</a:tableStyleId>
                  </a:tblPr>
                  <a:tblGrid>
                    <a:gridCol w="3372887"/>
                    <a:gridCol w="3372887"/>
                  </a:tblGrid>
                  <a:tr h="897548">
                    <a:tc>
                      <a:txBody>
                        <a:bodyPr/>
                        <a:lstStyle/>
                        <a:p>
                          <a:endParaRPr lang="en-US"/>
                        </a:p>
                      </a:txBody>
                      <a:tcPr marL="68580" marR="68580" marT="0" marB="0">
                        <a:blipFill rotWithShape="0">
                          <a:blip r:embed="rId6"/>
                          <a:stretch>
                            <a:fillRect t="-676" r="-99819" b="-99324"/>
                          </a:stretch>
                        </a:blipFill>
                      </a:tcPr>
                    </a:tc>
                    <a:tc>
                      <a:txBody>
                        <a:bodyPr/>
                        <a:lstStyle/>
                        <a:p>
                          <a:endParaRPr lang="en-US"/>
                        </a:p>
                      </a:txBody>
                      <a:tcPr marL="68580" marR="68580" marT="0" marB="0">
                        <a:blipFill rotWithShape="0">
                          <a:blip r:embed="rId6"/>
                          <a:stretch>
                            <a:fillRect l="-100181" t="-676" b="-99324"/>
                          </a:stretch>
                        </a:blipFill>
                      </a:tcPr>
                    </a:tc>
                  </a:tr>
                  <a:tr h="897548">
                    <a:tc>
                      <a:txBody>
                        <a:bodyPr/>
                        <a:lstStyle/>
                        <a:p>
                          <a:endParaRPr lang="en-US"/>
                        </a:p>
                      </a:txBody>
                      <a:tcPr marL="68580" marR="68580" marT="0" marB="0">
                        <a:blipFill rotWithShape="0">
                          <a:blip r:embed="rId6"/>
                          <a:stretch>
                            <a:fillRect t="-101361" r="-99819"/>
                          </a:stretch>
                        </a:blipFill>
                      </a:tcPr>
                    </a:tc>
                    <a:tc>
                      <a:txBody>
                        <a:bodyPr/>
                        <a:lstStyle/>
                        <a:p>
                          <a:endParaRPr lang="en-US"/>
                        </a:p>
                      </a:txBody>
                      <a:tcPr marL="68580" marR="68580" marT="0" marB="0">
                        <a:blipFill rotWithShape="0">
                          <a:blip r:embed="rId6"/>
                          <a:stretch>
                            <a:fillRect l="-100181" t="-101361"/>
                          </a:stretch>
                        </a:blipFill>
                      </a:tcPr>
                    </a:tc>
                  </a:tr>
                </a:tbl>
              </a:graphicData>
            </a:graphic>
          </p:graphicFrame>
        </mc:Fallback>
      </mc:AlternateContent>
      <p:sp>
        <p:nvSpPr>
          <p:cNvPr id="12"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203</a:t>
            </a:r>
            <a:endParaRPr i="1" dirty="0">
              <a:latin typeface="Calibri"/>
              <a:ea typeface="Calibri"/>
              <a:cs typeface="Calibri"/>
              <a:sym typeface="Calibri"/>
            </a:endParaRPr>
          </a:p>
        </p:txBody>
      </p:sp>
      <p:pic>
        <p:nvPicPr>
          <p:cNvPr id="13"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1020417" y="410666"/>
            <a:ext cx="10301832" cy="430887"/>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Find the values of the expressions to verify your choice.</a:t>
            </a:r>
            <a:endParaRPr lang="en-US" sz="2200" i="1"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941536278"/>
                  </p:ext>
                </p:extLst>
              </p:nvPr>
            </p:nvGraphicFramePr>
            <p:xfrm>
              <a:off x="2758603" y="1368426"/>
              <a:ext cx="6226170" cy="4351339"/>
            </p:xfrm>
            <a:graphic>
              <a:graphicData uri="http://schemas.openxmlformats.org/drawingml/2006/table">
                <a:tbl>
                  <a:tblPr firstRow="1" firstCol="1" bandRow="1">
                    <a:tableStyleId>{5940675A-B579-460E-94D1-54222C63F5DA}</a:tableStyleId>
                  </a:tblPr>
                  <a:tblGrid>
                    <a:gridCol w="3884216">
                      <a:extLst>
                        <a:ext uri="{9D8B030D-6E8A-4147-A177-3AD203B41FA5}">
                          <a16:colId xmlns:a16="http://schemas.microsoft.com/office/drawing/2014/main" val="20000"/>
                        </a:ext>
                      </a:extLst>
                    </a:gridCol>
                    <a:gridCol w="2341954">
                      <a:extLst>
                        <a:ext uri="{9D8B030D-6E8A-4147-A177-3AD203B41FA5}">
                          <a16:colId xmlns:a16="http://schemas.microsoft.com/office/drawing/2014/main" val="20001"/>
                        </a:ext>
                      </a:extLst>
                    </a:gridCol>
                  </a:tblGrid>
                  <a:tr h="330031">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8545" marR="68545" marT="0" marB="0">
                        <a:solidFill>
                          <a:schemeClr val="bg1">
                            <a:lumMod val="75000"/>
                          </a:schemeClr>
                        </a:solidFill>
                      </a:tcPr>
                    </a:tc>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Value</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8545" marR="68545" marT="0" marB="0">
                        <a:solidFill>
                          <a:schemeClr val="bg1">
                            <a:lumMod val="75000"/>
                          </a:schemeClr>
                        </a:solidFill>
                      </a:tcPr>
                    </a:tc>
                    <a:extLst>
                      <a:ext uri="{0D108BD9-81ED-4DB2-BD59-A6C34878D82A}">
                        <a16:rowId xmlns:a16="http://schemas.microsoft.com/office/drawing/2014/main" val="10000"/>
                      </a:ext>
                    </a:extLst>
                  </a:tr>
                  <a:tr h="1005327">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200" i="1">
                                        <a:effectLst/>
                                        <a:latin typeface="Cambria Math" panose="02040503050406030204" pitchFamily="18" charset="0"/>
                                        <a:ea typeface="Cambria Math" panose="02040503050406030204" pitchFamily="18" charset="0"/>
                                      </a:rPr>
                                    </m:ctrlPr>
                                  </m:sSupPr>
                                  <m:e>
                                    <m:d>
                                      <m:dPr>
                                        <m:ctrlPr>
                                          <a:rPr lang="en-US" sz="2200" i="1">
                                            <a:effectLst/>
                                            <a:latin typeface="Cambria Math" panose="02040503050406030204" pitchFamily="18" charset="0"/>
                                            <a:ea typeface="Cambria Math" panose="02040503050406030204" pitchFamily="18" charset="0"/>
                                          </a:rPr>
                                        </m:ctrlPr>
                                      </m:dPr>
                                      <m:e>
                                        <m:r>
                                          <a:rPr lang="en-US" sz="2200">
                                            <a:effectLst/>
                                            <a:latin typeface="Cambria Math" panose="02040503050406030204" pitchFamily="18" charset="0"/>
                                            <a:ea typeface="Cambria Math" panose="02040503050406030204" pitchFamily="18" charset="0"/>
                                          </a:rPr>
                                          <m:t>6−0.5</m:t>
                                        </m:r>
                                      </m:e>
                                    </m:d>
                                  </m:e>
                                  <m:sup>
                                    <m:r>
                                      <a:rPr lang="en-US" sz="2200">
                                        <a:effectLst/>
                                        <a:latin typeface="Cambria Math" panose="02040503050406030204" pitchFamily="18" charset="0"/>
                                        <a:ea typeface="Cambria Math" panose="02040503050406030204" pitchFamily="18" charset="0"/>
                                      </a:rPr>
                                      <m:t>2</m:t>
                                    </m:r>
                                  </m:sup>
                                </m:sSup>
                                <m:r>
                                  <a:rPr lang="en-US" sz="2200">
                                    <a:effectLst/>
                                    <a:latin typeface="Cambria Math" panose="02040503050406030204" pitchFamily="18" charset="0"/>
                                    <a:ea typeface="Cambria Math" panose="02040503050406030204" pitchFamily="18" charset="0"/>
                                  </a:rPr>
                                  <m:t>×5</m:t>
                                </m:r>
                              </m:oMath>
                            </m:oMathPara>
                          </a14:m>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45" marR="68545" marT="0" marB="0" anchor="ctr"/>
                    </a:tc>
                    <a:tc>
                      <a:txBody>
                        <a:bodyPr/>
                        <a:lstStyle/>
                        <a:p>
                          <a:pPr marL="0" marR="0" algn="ctr">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45" marR="68545" marT="0" marB="0"/>
                    </a:tc>
                    <a:extLst>
                      <a:ext uri="{0D108BD9-81ED-4DB2-BD59-A6C34878D82A}">
                        <a16:rowId xmlns:a16="http://schemas.microsoft.com/office/drawing/2014/main" val="10001"/>
                      </a:ext>
                    </a:extLst>
                  </a:tr>
                  <a:tr h="1005327">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200" i="1">
                                        <a:effectLst/>
                                        <a:latin typeface="Cambria Math" panose="02040503050406030204" pitchFamily="18" charset="0"/>
                                        <a:ea typeface="Cambria Math" panose="02040503050406030204" pitchFamily="18" charset="0"/>
                                      </a:rPr>
                                    </m:ctrlPr>
                                  </m:sSupPr>
                                  <m:e>
                                    <m:r>
                                      <a:rPr lang="en-US" sz="2200">
                                        <a:effectLst/>
                                        <a:latin typeface="Cambria Math" panose="02040503050406030204" pitchFamily="18" charset="0"/>
                                        <a:ea typeface="Cambria Math" panose="02040503050406030204" pitchFamily="18" charset="0"/>
                                      </a:rPr>
                                      <m:t>6−0.5</m:t>
                                    </m:r>
                                  </m:e>
                                  <m:sup>
                                    <m:r>
                                      <a:rPr lang="en-US" sz="2200">
                                        <a:effectLst/>
                                        <a:latin typeface="Cambria Math" panose="02040503050406030204" pitchFamily="18" charset="0"/>
                                        <a:ea typeface="Cambria Math" panose="02040503050406030204" pitchFamily="18" charset="0"/>
                                      </a:rPr>
                                      <m:t>2</m:t>
                                    </m:r>
                                  </m:sup>
                                </m:sSup>
                                <m:r>
                                  <a:rPr lang="en-US" sz="2200">
                                    <a:effectLst/>
                                    <a:latin typeface="Cambria Math" panose="02040503050406030204" pitchFamily="18" charset="0"/>
                                    <a:ea typeface="Cambria Math" panose="02040503050406030204" pitchFamily="18" charset="0"/>
                                  </a:rPr>
                                  <m:t>×5</m:t>
                                </m:r>
                              </m:oMath>
                            </m:oMathPara>
                          </a14:m>
                          <a:endParaRPr lang="en-US" sz="22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45" marR="68545" marT="0" marB="0" anchor="ctr"/>
                    </a:tc>
                    <a:tc>
                      <a:txBody>
                        <a:bodyPr/>
                        <a:lstStyle/>
                        <a:p>
                          <a:pPr marL="0" marR="0" algn="ctr">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45" marR="68545" marT="0" marB="0"/>
                    </a:tc>
                    <a:extLst>
                      <a:ext uri="{0D108BD9-81ED-4DB2-BD59-A6C34878D82A}">
                        <a16:rowId xmlns:a16="http://schemas.microsoft.com/office/drawing/2014/main" val="10002"/>
                      </a:ext>
                    </a:extLst>
                  </a:tr>
                  <a:tr h="1005327">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200" i="1">
                                        <a:effectLst/>
                                        <a:latin typeface="Cambria Math" panose="02040503050406030204" pitchFamily="18" charset="0"/>
                                        <a:ea typeface="Cambria Math" panose="02040503050406030204" pitchFamily="18" charset="0"/>
                                      </a:rPr>
                                    </m:ctrlPr>
                                  </m:sSupPr>
                                  <m:e>
                                    <m:r>
                                      <a:rPr lang="en-US" sz="2200">
                                        <a:effectLst/>
                                        <a:latin typeface="Cambria Math" panose="02040503050406030204" pitchFamily="18" charset="0"/>
                                        <a:ea typeface="Cambria Math" panose="02040503050406030204" pitchFamily="18" charset="0"/>
                                      </a:rPr>
                                      <m:t>6+</m:t>
                                    </m:r>
                                    <m:d>
                                      <m:dPr>
                                        <m:ctrlPr>
                                          <a:rPr lang="en-US" sz="2200" i="1">
                                            <a:effectLst/>
                                            <a:latin typeface="Cambria Math" panose="02040503050406030204" pitchFamily="18" charset="0"/>
                                            <a:ea typeface="Cambria Math" panose="02040503050406030204" pitchFamily="18" charset="0"/>
                                          </a:rPr>
                                        </m:ctrlPr>
                                      </m:dPr>
                                      <m:e>
                                        <m:r>
                                          <a:rPr lang="en-US" sz="2200">
                                            <a:effectLst/>
                                            <a:latin typeface="Cambria Math" panose="02040503050406030204" pitchFamily="18" charset="0"/>
                                            <a:ea typeface="Cambria Math" panose="02040503050406030204" pitchFamily="18" charset="0"/>
                                          </a:rPr>
                                          <m:t>−0.5</m:t>
                                        </m:r>
                                      </m:e>
                                    </m:d>
                                  </m:e>
                                  <m:sup>
                                    <m:r>
                                      <a:rPr lang="en-US" sz="2200">
                                        <a:effectLst/>
                                        <a:latin typeface="Cambria Math" panose="02040503050406030204" pitchFamily="18" charset="0"/>
                                        <a:ea typeface="Cambria Math" panose="02040503050406030204" pitchFamily="18" charset="0"/>
                                      </a:rPr>
                                      <m:t>2</m:t>
                                    </m:r>
                                  </m:sup>
                                </m:sSup>
                                <m:r>
                                  <a:rPr lang="en-US" sz="2200">
                                    <a:effectLst/>
                                    <a:latin typeface="Cambria Math" panose="02040503050406030204" pitchFamily="18" charset="0"/>
                                    <a:ea typeface="Cambria Math" panose="02040503050406030204" pitchFamily="18" charset="0"/>
                                  </a:rPr>
                                  <m:t>×5</m:t>
                                </m:r>
                              </m:oMath>
                            </m:oMathPara>
                          </a14:m>
                          <a:endParaRPr lang="en-US" sz="22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45" marR="68545" marT="0" marB="0" anchor="ctr"/>
                    </a:tc>
                    <a:tc>
                      <a:txBody>
                        <a:bodyPr/>
                        <a:lstStyle/>
                        <a:p>
                          <a:pPr marL="0" marR="0" algn="ctr">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45" marR="68545" marT="0" marB="0"/>
                    </a:tc>
                    <a:extLst>
                      <a:ext uri="{0D108BD9-81ED-4DB2-BD59-A6C34878D82A}">
                        <a16:rowId xmlns:a16="http://schemas.microsoft.com/office/drawing/2014/main" val="10003"/>
                      </a:ext>
                    </a:extLst>
                  </a:tr>
                  <a:tr h="1005327">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200">
                                    <a:effectLst/>
                                    <a:latin typeface="Cambria Math" panose="02040503050406030204" pitchFamily="18" charset="0"/>
                                    <a:ea typeface="Cambria Math" panose="02040503050406030204" pitchFamily="18" charset="0"/>
                                  </a:rPr>
                                  <m:t>5×6−</m:t>
                                </m:r>
                                <m:sSup>
                                  <m:sSupPr>
                                    <m:ctrlPr>
                                      <a:rPr lang="en-US" sz="2200" i="1">
                                        <a:effectLst/>
                                        <a:latin typeface="Cambria Math" panose="02040503050406030204" pitchFamily="18" charset="0"/>
                                        <a:ea typeface="Cambria Math" panose="02040503050406030204" pitchFamily="18" charset="0"/>
                                      </a:rPr>
                                    </m:ctrlPr>
                                  </m:sSupPr>
                                  <m:e>
                                    <m:r>
                                      <a:rPr lang="en-US" sz="2200">
                                        <a:effectLst/>
                                        <a:latin typeface="Cambria Math" panose="02040503050406030204" pitchFamily="18" charset="0"/>
                                        <a:ea typeface="Cambria Math" panose="02040503050406030204" pitchFamily="18" charset="0"/>
                                      </a:rPr>
                                      <m:t>0.5</m:t>
                                    </m:r>
                                  </m:e>
                                  <m:sup>
                                    <m:r>
                                      <a:rPr lang="en-US" sz="2200">
                                        <a:effectLst/>
                                        <a:latin typeface="Cambria Math" panose="02040503050406030204" pitchFamily="18" charset="0"/>
                                        <a:ea typeface="Cambria Math" panose="02040503050406030204" pitchFamily="18" charset="0"/>
                                      </a:rPr>
                                      <m:t>2</m:t>
                                    </m:r>
                                  </m:sup>
                                </m:sSup>
                              </m:oMath>
                            </m:oMathPara>
                          </a14:m>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45" marR="68545" marT="0" marB="0" anchor="ctr"/>
                    </a:tc>
                    <a:tc>
                      <a:txBody>
                        <a:bodyPr/>
                        <a:lstStyle/>
                        <a:p>
                          <a:pPr marL="0" marR="0" algn="ctr">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45" marR="68545" marT="0" marB="0"/>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941536278"/>
                  </p:ext>
                </p:extLst>
              </p:nvPr>
            </p:nvGraphicFramePr>
            <p:xfrm>
              <a:off x="1234603" y="1368425"/>
              <a:ext cx="6226170" cy="4351339"/>
            </p:xfrm>
            <a:graphic>
              <a:graphicData uri="http://schemas.openxmlformats.org/drawingml/2006/table">
                <a:tbl>
                  <a:tblPr firstRow="1" firstCol="1" bandRow="1">
                    <a:tableStyleId>{5940675A-B579-460E-94D1-54222C63F5DA}</a:tableStyleId>
                  </a:tblPr>
                  <a:tblGrid>
                    <a:gridCol w="3884216"/>
                    <a:gridCol w="2341954"/>
                  </a:tblGrid>
                  <a:tr h="330031">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8545" marR="68545" marT="0" marB="0">
                        <a:solidFill>
                          <a:schemeClr val="bg1">
                            <a:lumMod val="75000"/>
                          </a:schemeClr>
                        </a:solidFill>
                      </a:tcPr>
                    </a:tc>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Value</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8545" marR="68545" marT="0" marB="0">
                        <a:solidFill>
                          <a:schemeClr val="bg1">
                            <a:lumMod val="75000"/>
                          </a:schemeClr>
                        </a:solidFill>
                      </a:tcPr>
                    </a:tc>
                  </a:tr>
                  <a:tr h="1005327">
                    <a:tc>
                      <a:txBody>
                        <a:bodyPr/>
                        <a:lstStyle/>
                        <a:p>
                          <a:endParaRPr lang="en-US"/>
                        </a:p>
                      </a:txBody>
                      <a:tcPr marL="68545" marR="68545" marT="0" marB="0" anchor="ctr">
                        <a:blipFill rotWithShape="0">
                          <a:blip r:embed="rId4"/>
                          <a:stretch>
                            <a:fillRect l="-157" t="-41818" r="-60502" b="-301818"/>
                          </a:stretch>
                        </a:blipFill>
                      </a:tcPr>
                    </a:tc>
                    <a:tc>
                      <a:txBody>
                        <a:bodyPr/>
                        <a:lstStyle/>
                        <a:p>
                          <a:pPr marL="0" marR="0" algn="ctr">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45" marR="68545" marT="0" marB="0"/>
                    </a:tc>
                  </a:tr>
                  <a:tr h="1005327">
                    <a:tc>
                      <a:txBody>
                        <a:bodyPr/>
                        <a:lstStyle/>
                        <a:p>
                          <a:endParaRPr lang="en-US"/>
                        </a:p>
                      </a:txBody>
                      <a:tcPr marL="68545" marR="68545" marT="0" marB="0" anchor="ctr">
                        <a:blipFill rotWithShape="0">
                          <a:blip r:embed="rId4"/>
                          <a:stretch>
                            <a:fillRect l="-157" t="-140964" r="-60502" b="-200000"/>
                          </a:stretch>
                        </a:blipFill>
                      </a:tcPr>
                    </a:tc>
                    <a:tc>
                      <a:txBody>
                        <a:bodyPr/>
                        <a:lstStyle/>
                        <a:p>
                          <a:pPr marL="0" marR="0" algn="ctr">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45" marR="68545" marT="0" marB="0"/>
                    </a:tc>
                  </a:tr>
                  <a:tr h="1005327">
                    <a:tc>
                      <a:txBody>
                        <a:bodyPr/>
                        <a:lstStyle/>
                        <a:p>
                          <a:endParaRPr lang="en-US"/>
                        </a:p>
                      </a:txBody>
                      <a:tcPr marL="68545" marR="68545" marT="0" marB="0" anchor="ctr">
                        <a:blipFill rotWithShape="0">
                          <a:blip r:embed="rId4"/>
                          <a:stretch>
                            <a:fillRect l="-157" t="-242424" r="-60502" b="-101212"/>
                          </a:stretch>
                        </a:blipFill>
                      </a:tcPr>
                    </a:tc>
                    <a:tc>
                      <a:txBody>
                        <a:bodyPr/>
                        <a:lstStyle/>
                        <a:p>
                          <a:pPr marL="0" marR="0" algn="ctr">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45" marR="68545" marT="0" marB="0"/>
                    </a:tc>
                  </a:tr>
                  <a:tr h="1005327">
                    <a:tc>
                      <a:txBody>
                        <a:bodyPr/>
                        <a:lstStyle/>
                        <a:p>
                          <a:endParaRPr lang="en-US"/>
                        </a:p>
                      </a:txBody>
                      <a:tcPr marL="68545" marR="68545" marT="0" marB="0" anchor="ctr">
                        <a:blipFill rotWithShape="0">
                          <a:blip r:embed="rId4"/>
                          <a:stretch>
                            <a:fillRect l="-157" t="-342424" r="-60502" b="-1212"/>
                          </a:stretch>
                        </a:blipFill>
                      </a:tcPr>
                    </a:tc>
                    <a:tc>
                      <a:txBody>
                        <a:bodyPr/>
                        <a:lstStyle/>
                        <a:p>
                          <a:pPr marL="0" marR="0" algn="ctr">
                            <a:lnSpc>
                              <a:spcPct val="107000"/>
                            </a:lnSpc>
                            <a:spcBef>
                              <a:spcPts val="0"/>
                            </a:spcBef>
                            <a:spcAft>
                              <a:spcPts val="0"/>
                            </a:spcAft>
                          </a:pPr>
                          <a:r>
                            <a:rPr lang="en-US" sz="2200" dirty="0">
                              <a:effectLst/>
                              <a:latin typeface="Cambria Math" panose="02040503050406030204" pitchFamily="18" charset="0"/>
                              <a:ea typeface="Cambria Math" panose="02040503050406030204" pitchFamily="18" charset="0"/>
                            </a:rPr>
                            <a:t> </a:t>
                          </a:r>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45" marR="68545" marT="0" marB="0"/>
                    </a:tc>
                  </a:tr>
                </a:tbl>
              </a:graphicData>
            </a:graphic>
          </p:graphicFrame>
        </mc:Fallback>
      </mc:AlternateContent>
      <p:sp>
        <p:nvSpPr>
          <p:cNvPr id="8"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203</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518468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203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63323" y="33821"/>
            <a:ext cx="1018533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11.8.4 Exploration: Grouping Symbols</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07026" y="308450"/>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2D1D4D-DCB8-A246-B186-D40316579D77}"/>
              </a:ext>
            </a:extLst>
          </p:cNvPr>
          <p:cNvSpPr txBox="1"/>
          <p:nvPr/>
        </p:nvSpPr>
        <p:spPr>
          <a:xfrm>
            <a:off x="1459280" y="1386025"/>
            <a:ext cx="9529472" cy="1107996"/>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Without working the problems, discuss with your partner which expression in the table you expect to have the largest value.</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663632981"/>
                  </p:ext>
                </p:extLst>
              </p:nvPr>
            </p:nvGraphicFramePr>
            <p:xfrm>
              <a:off x="2883698" y="2687442"/>
              <a:ext cx="6269895" cy="3319738"/>
            </p:xfrm>
            <a:graphic>
              <a:graphicData uri="http://schemas.openxmlformats.org/drawingml/2006/table">
                <a:tbl>
                  <a:tblPr firstRow="1" firstCol="1" bandRow="1">
                    <a:tableStyleId>{5940675A-B579-460E-94D1-54222C63F5DA}</a:tableStyleId>
                  </a:tblPr>
                  <a:tblGrid>
                    <a:gridCol w="3055567">
                      <a:extLst>
                        <a:ext uri="{9D8B030D-6E8A-4147-A177-3AD203B41FA5}">
                          <a16:colId xmlns:a16="http://schemas.microsoft.com/office/drawing/2014/main" val="20000"/>
                        </a:ext>
                      </a:extLst>
                    </a:gridCol>
                    <a:gridCol w="3214328">
                      <a:extLst>
                        <a:ext uri="{9D8B030D-6E8A-4147-A177-3AD203B41FA5}">
                          <a16:colId xmlns:a16="http://schemas.microsoft.com/office/drawing/2014/main" val="20001"/>
                        </a:ext>
                      </a:extLst>
                    </a:gridCol>
                  </a:tblGrid>
                  <a:tr h="386838">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 A</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3037" marR="63037" marT="0" marB="0" anchor="ctr">
                        <a:solidFill>
                          <a:schemeClr val="bg1">
                            <a:lumMod val="75000"/>
                          </a:schemeClr>
                        </a:solidFill>
                      </a:tcPr>
                    </a:tc>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 B</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3037" marR="63037" marT="0" marB="0" anchor="ctr">
                        <a:solidFill>
                          <a:schemeClr val="bg1">
                            <a:lumMod val="75000"/>
                          </a:schemeClr>
                        </a:solidFill>
                      </a:tcPr>
                    </a:tc>
                    <a:extLst>
                      <a:ext uri="{0D108BD9-81ED-4DB2-BD59-A6C34878D82A}">
                        <a16:rowId xmlns:a16="http://schemas.microsoft.com/office/drawing/2014/main" val="10000"/>
                      </a:ext>
                    </a:extLst>
                  </a:tr>
                  <a:tr h="1300568">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200">
                                    <a:effectLst/>
                                    <a:latin typeface="Cambria Math" panose="02040503050406030204" pitchFamily="18" charset="0"/>
                                    <a:ea typeface="Cambria Math" panose="02040503050406030204" pitchFamily="18" charset="0"/>
                                  </a:rPr>
                                  <m:t>10−</m:t>
                                </m:r>
                                <m:d>
                                  <m:dPr>
                                    <m:ctrlPr>
                                      <a:rPr lang="en-US" sz="2200" i="1">
                                        <a:effectLst/>
                                        <a:latin typeface="Cambria Math" panose="02040503050406030204" pitchFamily="18" charset="0"/>
                                        <a:ea typeface="Cambria Math" panose="02040503050406030204" pitchFamily="18" charset="0"/>
                                      </a:rPr>
                                    </m:ctrlPr>
                                  </m:dPr>
                                  <m:e>
                                    <m:r>
                                      <a:rPr lang="en-US" sz="2200">
                                        <a:effectLst/>
                                        <a:latin typeface="Cambria Math" panose="02040503050406030204" pitchFamily="18" charset="0"/>
                                        <a:ea typeface="Cambria Math" panose="02040503050406030204" pitchFamily="18" charset="0"/>
                                      </a:rPr>
                                      <m:t>0.75×12</m:t>
                                    </m:r>
                                  </m:e>
                                </m:d>
                                <m:r>
                                  <a:rPr lang="en-US" sz="2200">
                                    <a:effectLst/>
                                    <a:latin typeface="Cambria Math" panose="02040503050406030204" pitchFamily="18" charset="0"/>
                                    <a:ea typeface="Cambria Math" panose="02040503050406030204" pitchFamily="18" charset="0"/>
                                  </a:rPr>
                                  <m:t>+</m:t>
                                </m:r>
                                <m:sSup>
                                  <m:sSupPr>
                                    <m:ctrlPr>
                                      <a:rPr lang="en-US" sz="2200" i="1">
                                        <a:effectLst/>
                                        <a:latin typeface="Cambria Math" panose="02040503050406030204" pitchFamily="18" charset="0"/>
                                        <a:ea typeface="Cambria Math" panose="02040503050406030204" pitchFamily="18" charset="0"/>
                                      </a:rPr>
                                    </m:ctrlPr>
                                  </m:sSupPr>
                                  <m:e>
                                    <m:r>
                                      <a:rPr lang="en-US" sz="2200">
                                        <a:effectLst/>
                                        <a:latin typeface="Cambria Math" panose="02040503050406030204" pitchFamily="18" charset="0"/>
                                        <a:ea typeface="Cambria Math" panose="02040503050406030204" pitchFamily="18" charset="0"/>
                                      </a:rPr>
                                      <m:t>4</m:t>
                                    </m:r>
                                  </m:e>
                                  <m:sup>
                                    <m:r>
                                      <a:rPr lang="en-US" sz="2200">
                                        <a:effectLst/>
                                        <a:latin typeface="Cambria Math" panose="02040503050406030204" pitchFamily="18" charset="0"/>
                                        <a:ea typeface="Cambria Math" panose="02040503050406030204" pitchFamily="18" charset="0"/>
                                      </a:rPr>
                                      <m:t>2</m:t>
                                    </m:r>
                                  </m:sup>
                                </m:sSup>
                              </m:oMath>
                            </m:oMathPara>
                          </a14:m>
                          <a:endParaRPr lang="en-US" sz="2200" i="1">
                            <a:effectLst/>
                            <a:latin typeface="Verdana" panose="020B0604030504040204" pitchFamily="34" charset="0"/>
                            <a:ea typeface="Verdana" panose="020B0604030504040204" pitchFamily="34" charset="0"/>
                            <a:cs typeface="Verdana" panose="020B0604030504040204" pitchFamily="34" charset="0"/>
                          </a:endParaRPr>
                        </a:p>
                      </a:txBody>
                      <a:tcPr marL="63037" marR="63037" marT="0" marB="0"/>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200" i="1">
                                        <a:effectLst/>
                                        <a:latin typeface="Cambria Math" panose="02040503050406030204" pitchFamily="18" charset="0"/>
                                        <a:ea typeface="Cambria Math" panose="02040503050406030204" pitchFamily="18" charset="0"/>
                                      </a:rPr>
                                    </m:ctrlPr>
                                  </m:dPr>
                                  <m:e>
                                    <m:r>
                                      <a:rPr lang="en-US" sz="2200">
                                        <a:effectLst/>
                                        <a:latin typeface="Cambria Math" panose="02040503050406030204" pitchFamily="18" charset="0"/>
                                        <a:ea typeface="Cambria Math" panose="02040503050406030204" pitchFamily="18" charset="0"/>
                                      </a:rPr>
                                      <m:t>10−0.75</m:t>
                                    </m:r>
                                  </m:e>
                                </m:d>
                                <m:r>
                                  <a:rPr lang="en-US" sz="2200">
                                    <a:effectLst/>
                                    <a:latin typeface="Cambria Math" panose="02040503050406030204" pitchFamily="18" charset="0"/>
                                    <a:ea typeface="Cambria Math" panose="02040503050406030204" pitchFamily="18" charset="0"/>
                                  </a:rPr>
                                  <m:t>×</m:t>
                                </m:r>
                                <m:d>
                                  <m:dPr>
                                    <m:ctrlPr>
                                      <a:rPr lang="en-US" sz="2200" i="1">
                                        <a:effectLst/>
                                        <a:latin typeface="Cambria Math" panose="02040503050406030204" pitchFamily="18" charset="0"/>
                                        <a:ea typeface="Cambria Math" panose="02040503050406030204" pitchFamily="18" charset="0"/>
                                      </a:rPr>
                                    </m:ctrlPr>
                                  </m:dPr>
                                  <m:e>
                                    <m:r>
                                      <a:rPr lang="en-US" sz="2200">
                                        <a:effectLst/>
                                        <a:latin typeface="Cambria Math" panose="02040503050406030204" pitchFamily="18" charset="0"/>
                                        <a:ea typeface="Cambria Math" panose="02040503050406030204" pitchFamily="18" charset="0"/>
                                      </a:rPr>
                                      <m:t>12+</m:t>
                                    </m:r>
                                    <m:sSup>
                                      <m:sSupPr>
                                        <m:ctrlPr>
                                          <a:rPr lang="en-US" sz="2200" i="1">
                                            <a:effectLst/>
                                            <a:latin typeface="Cambria Math" panose="02040503050406030204" pitchFamily="18" charset="0"/>
                                            <a:ea typeface="Cambria Math" panose="02040503050406030204" pitchFamily="18" charset="0"/>
                                          </a:rPr>
                                        </m:ctrlPr>
                                      </m:sSupPr>
                                      <m:e>
                                        <m:r>
                                          <a:rPr lang="en-US" sz="2200">
                                            <a:effectLst/>
                                            <a:latin typeface="Cambria Math" panose="02040503050406030204" pitchFamily="18" charset="0"/>
                                            <a:ea typeface="Cambria Math" panose="02040503050406030204" pitchFamily="18" charset="0"/>
                                          </a:rPr>
                                          <m:t>4</m:t>
                                        </m:r>
                                      </m:e>
                                      <m:sup>
                                        <m:r>
                                          <a:rPr lang="en-US" sz="2200">
                                            <a:effectLst/>
                                            <a:latin typeface="Cambria Math" panose="02040503050406030204" pitchFamily="18" charset="0"/>
                                            <a:ea typeface="Cambria Math" panose="02040503050406030204" pitchFamily="18" charset="0"/>
                                          </a:rPr>
                                          <m:t>2</m:t>
                                        </m:r>
                                      </m:sup>
                                    </m:sSup>
                                  </m:e>
                                </m:d>
                              </m:oMath>
                            </m:oMathPara>
                          </a14:m>
                          <a:endParaRPr lang="en-US" sz="2200" i="1" dirty="0">
                            <a:effectLst/>
                            <a:latin typeface="Verdana" panose="020B0604030504040204" pitchFamily="34" charset="0"/>
                            <a:ea typeface="Verdana" panose="020B0604030504040204" pitchFamily="34" charset="0"/>
                            <a:cs typeface="Verdana" panose="020B0604030504040204" pitchFamily="34" charset="0"/>
                          </a:endParaRPr>
                        </a:p>
                      </a:txBody>
                      <a:tcPr marL="63037" marR="63037" marT="0" marB="0"/>
                    </a:tc>
                    <a:extLst>
                      <a:ext uri="{0D108BD9-81ED-4DB2-BD59-A6C34878D82A}">
                        <a16:rowId xmlns:a16="http://schemas.microsoft.com/office/drawing/2014/main" val="10001"/>
                      </a:ext>
                    </a:extLst>
                  </a:tr>
                  <a:tr h="331764">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 C</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3037" marR="63037" marT="0" marB="0" anchor="ctr">
                        <a:solidFill>
                          <a:schemeClr val="bg1">
                            <a:lumMod val="75000"/>
                          </a:schemeClr>
                        </a:solidFill>
                      </a:tcPr>
                    </a:tc>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 D</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3037" marR="63037" marT="0" marB="0" anchor="ctr">
                        <a:solidFill>
                          <a:schemeClr val="bg1">
                            <a:lumMod val="75000"/>
                          </a:schemeClr>
                        </a:solidFill>
                      </a:tcPr>
                    </a:tc>
                    <a:extLst>
                      <a:ext uri="{0D108BD9-81ED-4DB2-BD59-A6C34878D82A}">
                        <a16:rowId xmlns:a16="http://schemas.microsoft.com/office/drawing/2014/main" val="10002"/>
                      </a:ext>
                    </a:extLst>
                  </a:tr>
                  <a:tr h="1300568">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200">
                                    <a:effectLst/>
                                    <a:latin typeface="Cambria Math" panose="02040503050406030204" pitchFamily="18" charset="0"/>
                                    <a:ea typeface="Cambria Math" panose="02040503050406030204" pitchFamily="18" charset="0"/>
                                  </a:rPr>
                                  <m:t>10−0.75×12+</m:t>
                                </m:r>
                                <m:sSup>
                                  <m:sSupPr>
                                    <m:ctrlPr>
                                      <a:rPr lang="en-US" sz="2200" i="1">
                                        <a:effectLst/>
                                        <a:latin typeface="Cambria Math" panose="02040503050406030204" pitchFamily="18" charset="0"/>
                                        <a:ea typeface="Cambria Math" panose="02040503050406030204" pitchFamily="18" charset="0"/>
                                      </a:rPr>
                                    </m:ctrlPr>
                                  </m:sSupPr>
                                  <m:e>
                                    <m:r>
                                      <a:rPr lang="en-US" sz="2200">
                                        <a:effectLst/>
                                        <a:latin typeface="Cambria Math" panose="02040503050406030204" pitchFamily="18" charset="0"/>
                                        <a:ea typeface="Cambria Math" panose="02040503050406030204" pitchFamily="18" charset="0"/>
                                      </a:rPr>
                                      <m:t>4</m:t>
                                    </m:r>
                                  </m:e>
                                  <m:sup>
                                    <m:r>
                                      <a:rPr lang="en-US" sz="2200">
                                        <a:effectLst/>
                                        <a:latin typeface="Cambria Math" panose="02040503050406030204" pitchFamily="18" charset="0"/>
                                        <a:ea typeface="Cambria Math" panose="02040503050406030204" pitchFamily="18" charset="0"/>
                                      </a:rPr>
                                      <m:t>2</m:t>
                                    </m:r>
                                  </m:sup>
                                </m:sSup>
                              </m:oMath>
                            </m:oMathPara>
                          </a14:m>
                          <a:endParaRPr lang="en-US" sz="2200" i="1">
                            <a:effectLst/>
                            <a:latin typeface="Verdana" panose="020B0604030504040204" pitchFamily="34" charset="0"/>
                            <a:ea typeface="Verdana" panose="020B0604030504040204" pitchFamily="34" charset="0"/>
                            <a:cs typeface="Verdana" panose="020B0604030504040204" pitchFamily="34" charset="0"/>
                          </a:endParaRPr>
                        </a:p>
                      </a:txBody>
                      <a:tcPr marL="63037" marR="63037" marT="0" marB="0"/>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200">
                                    <a:effectLst/>
                                    <a:latin typeface="Cambria Math" panose="02040503050406030204" pitchFamily="18" charset="0"/>
                                    <a:ea typeface="Cambria Math" panose="02040503050406030204" pitchFamily="18" charset="0"/>
                                  </a:rPr>
                                  <m:t>10−0.75×</m:t>
                                </m:r>
                                <m:sSup>
                                  <m:sSupPr>
                                    <m:ctrlPr>
                                      <a:rPr lang="en-US" sz="2200" i="1">
                                        <a:effectLst/>
                                        <a:latin typeface="Cambria Math" panose="02040503050406030204" pitchFamily="18" charset="0"/>
                                        <a:ea typeface="Cambria Math" panose="02040503050406030204" pitchFamily="18" charset="0"/>
                                      </a:rPr>
                                    </m:ctrlPr>
                                  </m:sSupPr>
                                  <m:e>
                                    <m:d>
                                      <m:dPr>
                                        <m:ctrlPr>
                                          <a:rPr lang="en-US" sz="2200" i="1">
                                            <a:effectLst/>
                                            <a:latin typeface="Cambria Math" panose="02040503050406030204" pitchFamily="18" charset="0"/>
                                            <a:ea typeface="Cambria Math" panose="02040503050406030204" pitchFamily="18" charset="0"/>
                                          </a:rPr>
                                        </m:ctrlPr>
                                      </m:dPr>
                                      <m:e>
                                        <m:r>
                                          <a:rPr lang="en-US" sz="2200">
                                            <a:effectLst/>
                                            <a:latin typeface="Cambria Math" panose="02040503050406030204" pitchFamily="18" charset="0"/>
                                            <a:ea typeface="Cambria Math" panose="02040503050406030204" pitchFamily="18" charset="0"/>
                                          </a:rPr>
                                          <m:t>12+4</m:t>
                                        </m:r>
                                      </m:e>
                                    </m:d>
                                  </m:e>
                                  <m:sup>
                                    <m:r>
                                      <a:rPr lang="en-US" sz="2200">
                                        <a:effectLst/>
                                        <a:latin typeface="Cambria Math" panose="02040503050406030204" pitchFamily="18" charset="0"/>
                                        <a:ea typeface="Cambria Math" panose="02040503050406030204" pitchFamily="18" charset="0"/>
                                      </a:rPr>
                                      <m:t>2</m:t>
                                    </m:r>
                                  </m:sup>
                                </m:sSup>
                              </m:oMath>
                            </m:oMathPara>
                          </a14:m>
                          <a:endParaRPr lang="en-US" sz="2200" i="1" dirty="0">
                            <a:effectLst/>
                            <a:latin typeface="Verdana" panose="020B0604030504040204" pitchFamily="34" charset="0"/>
                            <a:ea typeface="Verdana" panose="020B0604030504040204" pitchFamily="34" charset="0"/>
                            <a:cs typeface="Verdana" panose="020B0604030504040204" pitchFamily="34" charset="0"/>
                          </a:endParaRPr>
                        </a:p>
                      </a:txBody>
                      <a:tcPr marL="63037" marR="63037" marT="0" marB="0"/>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663632981"/>
                  </p:ext>
                </p:extLst>
              </p:nvPr>
            </p:nvGraphicFramePr>
            <p:xfrm>
              <a:off x="1359697" y="2687441"/>
              <a:ext cx="6269895" cy="3319738"/>
            </p:xfrm>
            <a:graphic>
              <a:graphicData uri="http://schemas.openxmlformats.org/drawingml/2006/table">
                <a:tbl>
                  <a:tblPr firstRow="1" firstCol="1" bandRow="1">
                    <a:tableStyleId>{5940675A-B579-460E-94D1-54222C63F5DA}</a:tableStyleId>
                  </a:tblPr>
                  <a:tblGrid>
                    <a:gridCol w="3055567"/>
                    <a:gridCol w="3214328"/>
                  </a:tblGrid>
                  <a:tr h="386838">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 A</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3037" marR="63037" marT="0" marB="0" anchor="ctr">
                        <a:solidFill>
                          <a:schemeClr val="bg1">
                            <a:lumMod val="75000"/>
                          </a:schemeClr>
                        </a:solidFill>
                      </a:tcPr>
                    </a:tc>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 B</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3037" marR="63037" marT="0" marB="0" anchor="ctr">
                        <a:solidFill>
                          <a:schemeClr val="bg1">
                            <a:lumMod val="75000"/>
                          </a:schemeClr>
                        </a:solidFill>
                      </a:tcPr>
                    </a:tc>
                  </a:tr>
                  <a:tr h="1300568">
                    <a:tc>
                      <a:txBody>
                        <a:bodyPr/>
                        <a:lstStyle/>
                        <a:p>
                          <a:endParaRPr lang="en-US"/>
                        </a:p>
                      </a:txBody>
                      <a:tcPr marL="63037" marR="63037" marT="0" marB="0">
                        <a:blipFill rotWithShape="0">
                          <a:blip r:embed="rId5"/>
                          <a:stretch>
                            <a:fillRect l="-200" t="-34112" r="-105788" b="-126168"/>
                          </a:stretch>
                        </a:blipFill>
                      </a:tcPr>
                    </a:tc>
                    <a:tc>
                      <a:txBody>
                        <a:bodyPr/>
                        <a:lstStyle/>
                        <a:p>
                          <a:endParaRPr lang="en-US"/>
                        </a:p>
                      </a:txBody>
                      <a:tcPr marL="63037" marR="63037" marT="0" marB="0">
                        <a:blipFill rotWithShape="0">
                          <a:blip r:embed="rId5"/>
                          <a:stretch>
                            <a:fillRect l="-95076" t="-34112" r="-379" b="-126168"/>
                          </a:stretch>
                        </a:blipFill>
                      </a:tcPr>
                    </a:tc>
                  </a:tr>
                  <a:tr h="331764">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 C</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3037" marR="63037" marT="0" marB="0" anchor="ctr">
                        <a:solidFill>
                          <a:schemeClr val="bg1">
                            <a:lumMod val="75000"/>
                          </a:schemeClr>
                        </a:solidFill>
                      </a:tcPr>
                    </a:tc>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 D</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3037" marR="63037" marT="0" marB="0" anchor="ctr">
                        <a:solidFill>
                          <a:schemeClr val="bg1">
                            <a:lumMod val="75000"/>
                          </a:schemeClr>
                        </a:solidFill>
                      </a:tcPr>
                    </a:tc>
                  </a:tr>
                  <a:tr h="1300568">
                    <a:tc>
                      <a:txBody>
                        <a:bodyPr/>
                        <a:lstStyle/>
                        <a:p>
                          <a:endParaRPr lang="en-US"/>
                        </a:p>
                      </a:txBody>
                      <a:tcPr marL="63037" marR="63037" marT="0" marB="0">
                        <a:blipFill rotWithShape="0">
                          <a:blip r:embed="rId5"/>
                          <a:stretch>
                            <a:fillRect l="-200" t="-159346" r="-105788" b="-935"/>
                          </a:stretch>
                        </a:blipFill>
                      </a:tcPr>
                    </a:tc>
                    <a:tc>
                      <a:txBody>
                        <a:bodyPr/>
                        <a:lstStyle/>
                        <a:p>
                          <a:endParaRPr lang="en-US"/>
                        </a:p>
                      </a:txBody>
                      <a:tcPr marL="63037" marR="63037" marT="0" marB="0">
                        <a:blipFill rotWithShape="0">
                          <a:blip r:embed="rId5"/>
                          <a:stretch>
                            <a:fillRect l="-95076" t="-159346" r="-379" b="-935"/>
                          </a:stretch>
                        </a:blipFill>
                      </a:tcPr>
                    </a:tc>
                  </a:tr>
                </a:tbl>
              </a:graphicData>
            </a:graphic>
          </p:graphicFrame>
        </mc:Fallback>
      </mc:AlternateContent>
      <p:sp>
        <p:nvSpPr>
          <p:cNvPr id="11"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203</a:t>
            </a:r>
            <a:endParaRPr i="1" dirty="0">
              <a:latin typeface="Calibri"/>
              <a:ea typeface="Calibri"/>
              <a:cs typeface="Calibri"/>
              <a:sym typeface="Calibri"/>
            </a:endParaRP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35248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B74EB5C6-2FDE-474B-866F-02AD6706D73C}"/>
              </a:ext>
            </a:extLst>
          </p:cNvPr>
          <p:cNvSpPr txBox="1"/>
          <p:nvPr/>
        </p:nvSpPr>
        <p:spPr>
          <a:xfrm>
            <a:off x="1232452" y="374090"/>
            <a:ext cx="9877762" cy="2800767"/>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Put an asterisk (*) next to the expression you expect will have the largest value. Write your explanation here.</a:t>
            </a:r>
            <a:endParaRPr lang="en-US" sz="22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Evaluate each of the expressions in the table with your partner.</a:t>
            </a:r>
          </a:p>
        </p:txBody>
      </p:sp>
      <p:sp>
        <p:nvSpPr>
          <p:cNvPr id="7"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203</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878348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B74EB5C6-2FDE-474B-866F-02AD6706D73C}"/>
              </a:ext>
            </a:extLst>
          </p:cNvPr>
          <p:cNvSpPr txBox="1"/>
          <p:nvPr/>
        </p:nvSpPr>
        <p:spPr>
          <a:xfrm>
            <a:off x="1099930" y="374089"/>
            <a:ext cx="10142806" cy="3477875"/>
          </a:xfrm>
          <a:prstGeom prst="rect">
            <a:avLst/>
          </a:prstGeom>
          <a:noFill/>
        </p:spPr>
        <p:txBody>
          <a:bodyPr wrap="square" rtlCol="0">
            <a:spAutoFit/>
          </a:bodyPr>
          <a:lstStyle/>
          <a:p>
            <a:pPr marL="457200" indent="-457200">
              <a:buFont typeface="+mj-lt"/>
              <a:buAutoNum type="arabicPeriod" startAt="4"/>
            </a:pPr>
            <a:r>
              <a:rPr lang="en-US" sz="2200" dirty="0">
                <a:latin typeface="Verdana" panose="020B0604030504040204" pitchFamily="34" charset="0"/>
                <a:ea typeface="Verdana" panose="020B0604030504040204" pitchFamily="34" charset="0"/>
                <a:cs typeface="Verdana" panose="020B0604030504040204" pitchFamily="34" charset="0"/>
              </a:rPr>
              <a:t>With another set of partners, share if your guess was or was not correct. Discuss how the order of operations affected the value of your guesses. Summarize your discussion. </a:t>
            </a:r>
            <a:endParaRPr lang="en-US" sz="22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200" dirty="0">
                <a:latin typeface="Verdana" panose="020B0604030504040204" pitchFamily="34" charset="0"/>
                <a:ea typeface="Verdana" panose="020B0604030504040204" pitchFamily="34" charset="0"/>
                <a:cs typeface="Verdana" panose="020B0604030504040204" pitchFamily="34" charset="0"/>
              </a:rPr>
              <a:t>For the two expressions in the table that resulted in the same value, explain why they have the same value.</a:t>
            </a:r>
          </a:p>
        </p:txBody>
      </p:sp>
      <p:sp>
        <p:nvSpPr>
          <p:cNvPr id="7"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204</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6364504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1178"/>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204</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684963" y="134530"/>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11.8.5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937663" y="134530"/>
            <a:ext cx="747300" cy="747300"/>
          </a:xfrm>
          <a:prstGeom prst="rect">
            <a:avLst/>
          </a:prstGeom>
          <a:noFill/>
          <a:ln>
            <a:noFill/>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1232452" y="1386026"/>
                <a:ext cx="9983128" cy="3820277"/>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Evaluate each expression without using a calculator.</a:t>
                </a:r>
                <a:endParaRPr lang="en-US" sz="2200" i="1" dirty="0">
                  <a:latin typeface="Verdana" panose="020B0604030504040204" pitchFamily="34" charset="0"/>
                  <a:ea typeface="Verdana" panose="020B0604030504040204" pitchFamily="34" charset="0"/>
                  <a:cs typeface="Verdana" panose="020B0604030504040204" pitchFamily="34" charset="0"/>
                </a:endParaRPr>
              </a:p>
              <a:p>
                <a:r>
                  <a:rPr lang="en-US" sz="2200" dirty="0">
                    <a:latin typeface="Verdana" panose="020B0604030504040204" pitchFamily="34" charset="0"/>
                    <a:ea typeface="Verdana" panose="020B0604030504040204" pitchFamily="34" charset="0"/>
                    <a:cs typeface="Verdana" panose="020B0604030504040204" pitchFamily="34" charset="0"/>
                  </a:rPr>
                  <a:t> </a:t>
                </a:r>
                <a:endParaRPr lang="en-US" sz="2200" i="1"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sz="2200" i="1">
                            <a:latin typeface="Cambria Math" panose="02040503050406030204" pitchFamily="18" charset="0"/>
                            <a:ea typeface="Cambria Math" panose="02040503050406030204" pitchFamily="18" charset="0"/>
                          </a:rPr>
                        </m:ctrlPr>
                      </m:sSupPr>
                      <m:e>
                        <m:d>
                          <m:dPr>
                            <m:begChr m:val="["/>
                            <m:endChr m:val="]"/>
                            <m:ctrlPr>
                              <a:rPr lang="en-US" sz="2200" i="1">
                                <a:latin typeface="Cambria Math" panose="02040503050406030204" pitchFamily="18" charset="0"/>
                                <a:ea typeface="Cambria Math" panose="02040503050406030204" pitchFamily="18" charset="0"/>
                              </a:rPr>
                            </m:ctrlPr>
                          </m:dPr>
                          <m:e>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10−15</m:t>
                                </m:r>
                              </m:e>
                            </m:d>
                            <m:r>
                              <a:rPr lang="en-US" sz="2200" i="1">
                                <a:latin typeface="Cambria Math" panose="02040503050406030204" pitchFamily="18" charset="0"/>
                                <a:ea typeface="Cambria Math" panose="02040503050406030204" pitchFamily="18" charset="0"/>
                              </a:rPr>
                              <m:t>×2</m:t>
                            </m:r>
                          </m:e>
                        </m:d>
                      </m:e>
                      <m:sup>
                        <m:r>
                          <a:rPr lang="en-US" sz="2200" i="1">
                            <a:latin typeface="Cambria Math" panose="02040503050406030204" pitchFamily="18" charset="0"/>
                            <a:ea typeface="Cambria Math" panose="02040503050406030204" pitchFamily="18" charset="0"/>
                          </a:rPr>
                          <m:t>3</m:t>
                        </m:r>
                      </m:sup>
                    </m:sSup>
                    <m:r>
                      <a:rPr lang="en-US" sz="2200" i="1">
                        <a:latin typeface="Cambria Math" panose="02040503050406030204" pitchFamily="18" charset="0"/>
                        <a:ea typeface="Cambria Math" panose="02040503050406030204" pitchFamily="18" charset="0"/>
                      </a:rPr>
                      <m:t>+50</m:t>
                    </m:r>
                  </m:oMath>
                </a14:m>
                <a:r>
                  <a:rPr lang="en-US" sz="2200" dirty="0">
                    <a:latin typeface="Verdana" panose="020B0604030504040204" pitchFamily="34" charset="0"/>
                    <a:ea typeface="Verdana" panose="020B0604030504040204" pitchFamily="34" charset="0"/>
                    <a:cs typeface="Verdana" panose="020B0604030504040204" pitchFamily="34" charset="0"/>
                  </a:rPr>
                  <a:t> </a:t>
                </a:r>
                <a:endParaRPr lang="en-US" sz="2200" i="1"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sz="2200" i="1">
                            <a:latin typeface="Cambria Math" panose="02040503050406030204" pitchFamily="18" charset="0"/>
                            <a:ea typeface="Cambria Math" panose="02040503050406030204" pitchFamily="18" charset="0"/>
                          </a:rPr>
                        </m:ctrlPr>
                      </m:sSupPr>
                      <m:e>
                        <m:d>
                          <m:dPr>
                            <m:ctrlPr>
                              <a:rPr lang="en-US" sz="2200" i="1">
                                <a:latin typeface="Cambria Math" panose="02040503050406030204" pitchFamily="18" charset="0"/>
                                <a:ea typeface="Cambria Math" panose="02040503050406030204" pitchFamily="18" charset="0"/>
                              </a:rPr>
                            </m:ctrlPr>
                          </m:dPr>
                          <m:e>
                            <m:sSup>
                              <m:sSupPr>
                                <m:ctrlPr>
                                  <a:rPr lang="en-US" sz="2200" i="1">
                                    <a:latin typeface="Cambria Math" panose="02040503050406030204" pitchFamily="18"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2</m:t>
                                </m:r>
                              </m:e>
                              <m:sup>
                                <m:r>
                                  <a:rPr lang="en-US" sz="2200" i="1">
                                    <a:latin typeface="Cambria Math" panose="02040503050406030204" pitchFamily="18" charset="0"/>
                                    <a:ea typeface="Cambria Math" panose="02040503050406030204" pitchFamily="18" charset="0"/>
                                  </a:rPr>
                                  <m:t>4</m:t>
                                </m:r>
                              </m:sup>
                            </m:sSup>
                            <m:r>
                              <a:rPr lang="en-US" sz="2200" i="1">
                                <a:latin typeface="Cambria Math" panose="02040503050406030204" pitchFamily="18" charset="0"/>
                                <a:ea typeface="Cambria Math" panose="02040503050406030204" pitchFamily="18" charset="0"/>
                              </a:rPr>
                              <m:t>−3×6</m:t>
                            </m:r>
                          </m:e>
                        </m:d>
                      </m:e>
                      <m:sup>
                        <m:r>
                          <a:rPr lang="en-US" sz="2200" i="1">
                            <a:latin typeface="Cambria Math" panose="02040503050406030204" pitchFamily="18" charset="0"/>
                            <a:ea typeface="Cambria Math" panose="02040503050406030204" pitchFamily="18" charset="0"/>
                          </a:rPr>
                          <m:t>2</m:t>
                        </m:r>
                      </m:sup>
                    </m:sSup>
                  </m:oMath>
                </a14:m>
                <a:r>
                  <a:rPr lang="en-US" sz="2200" dirty="0">
                    <a:latin typeface="Verdana" panose="020B0604030504040204" pitchFamily="34" charset="0"/>
                    <a:ea typeface="Verdana" panose="020B0604030504040204" pitchFamily="34" charset="0"/>
                    <a:cs typeface="Verdana" panose="020B0604030504040204" pitchFamily="34" charset="0"/>
                  </a:rPr>
                  <a:t> </a:t>
                </a:r>
                <a:endParaRPr lang="en-US" sz="2200" i="1"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sz="2200" i="1">
                            <a:latin typeface="Cambria Math" panose="02040503050406030204" pitchFamily="18" charset="0"/>
                            <a:ea typeface="Cambria Math" panose="02040503050406030204" pitchFamily="18" charset="0"/>
                          </a:rPr>
                        </m:ctrlPr>
                      </m:sSupPr>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18+</m:t>
                            </m:r>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−2</m:t>
                                </m:r>
                              </m:e>
                            </m:d>
                            <m:r>
                              <a:rPr lang="en-US" sz="2200" i="1">
                                <a:latin typeface="Cambria Math" panose="02040503050406030204" pitchFamily="18" charset="0"/>
                                <a:ea typeface="Cambria Math" panose="02040503050406030204" pitchFamily="18" charset="0"/>
                              </a:rPr>
                              <m:t>×14</m:t>
                            </m:r>
                          </m:e>
                        </m:d>
                      </m:e>
                      <m:sup>
                        <m:r>
                          <a:rPr lang="en-US" sz="2200" i="1">
                            <a:latin typeface="Cambria Math" panose="02040503050406030204" pitchFamily="18" charset="0"/>
                            <a:ea typeface="Cambria Math" panose="02040503050406030204" pitchFamily="18" charset="0"/>
                          </a:rPr>
                          <m:t>5</m:t>
                        </m:r>
                      </m:sup>
                    </m:sSup>
                  </m:oMath>
                </a14:m>
                <a:endParaRPr lang="en-US" sz="22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1232452" y="1386026"/>
                <a:ext cx="9983128" cy="3820277"/>
              </a:xfrm>
              <a:prstGeom prst="rect">
                <a:avLst/>
              </a:prstGeom>
              <a:blipFill rotWithShape="0">
                <a:blip r:embed="rId4"/>
                <a:stretch>
                  <a:fillRect l="-794" t="-1116" b="-2233"/>
                </a:stretch>
              </a:blipFill>
            </p:spPr>
            <p:txBody>
              <a:bodyPr/>
              <a:lstStyle/>
              <a:p>
                <a:r>
                  <a:rPr lang="en-US">
                    <a:noFill/>
                  </a:rPr>
                  <a:t> </a:t>
                </a:r>
              </a:p>
            </p:txBody>
          </p:sp>
        </mc:Fallback>
      </mc:AlternateContent>
      <p:sp>
        <p:nvSpPr>
          <p:cNvPr id="10"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204</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C67FCF-92C3-654A-BF40-5BDF7A4F9271}"/>
                  </a:ext>
                </a:extLst>
              </p:cNvPr>
              <p:cNvSpPr txBox="1"/>
              <p:nvPr/>
            </p:nvSpPr>
            <p:spPr>
              <a:xfrm>
                <a:off x="1139687" y="398474"/>
                <a:ext cx="9912626" cy="3860031"/>
              </a:xfrm>
              <a:prstGeom prst="rect">
                <a:avLst/>
              </a:prstGeom>
              <a:noFill/>
            </p:spPr>
            <p:txBody>
              <a:bodyPr wrap="square" rtlCol="0">
                <a:spAutoFit/>
              </a:bodyPr>
              <a:lstStyle/>
              <a:p>
                <a:pPr marL="914400" indent="-457200">
                  <a:buFont typeface="+mj-lt"/>
                  <a:buAutoNum type="alphaLcPeriod" startAt="4"/>
                </a:pPr>
                <a:r>
                  <a:rPr lang="en-US" sz="22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sz="2200" i="1">
                            <a:latin typeface="Cambria Math" panose="02040503050406030204" pitchFamily="18" charset="0"/>
                            <a:ea typeface="Cambria Math" panose="02040503050406030204" pitchFamily="18" charset="0"/>
                          </a:rPr>
                        </m:ctrlPr>
                      </m:sSupPr>
                      <m:e>
                        <m:d>
                          <m:dPr>
                            <m:begChr m:val="["/>
                            <m:endChr m:val="]"/>
                            <m:ctrlPr>
                              <a:rPr lang="en-US" sz="2200" i="1">
                                <a:latin typeface="Cambria Math" panose="02040503050406030204" pitchFamily="18" charset="0"/>
                                <a:ea typeface="Cambria Math" panose="02040503050406030204" pitchFamily="18" charset="0"/>
                              </a:rPr>
                            </m:ctrlPr>
                          </m:dPr>
                          <m:e>
                            <m:sSup>
                              <m:sSupPr>
                                <m:ctrlPr>
                                  <a:rPr lang="en-US" sz="2200" i="1">
                                    <a:latin typeface="Cambria Math" panose="02040503050406030204" pitchFamily="18"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0.8×</m:t>
                                </m:r>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1.2+2.8</m:t>
                                    </m:r>
                                  </m:e>
                                </m:d>
                              </m:e>
                              <m:sup>
                                <m:r>
                                  <a:rPr lang="en-US" sz="2200" i="1">
                                    <a:latin typeface="Cambria Math" panose="02040503050406030204" pitchFamily="18" charset="0"/>
                                    <a:ea typeface="Cambria Math" panose="02040503050406030204" pitchFamily="18" charset="0"/>
                                  </a:rPr>
                                  <m:t>2</m:t>
                                </m:r>
                              </m:sup>
                            </m:sSup>
                          </m:e>
                        </m:d>
                      </m:e>
                      <m:sup>
                        <m:r>
                          <a:rPr lang="en-US" sz="2200" i="1">
                            <a:latin typeface="Cambria Math" panose="02040503050406030204" pitchFamily="18" charset="0"/>
                            <a:ea typeface="Cambria Math" panose="02040503050406030204" pitchFamily="18" charset="0"/>
                          </a:rPr>
                          <m:t>2</m:t>
                        </m:r>
                      </m:sup>
                    </m:sSup>
                  </m:oMath>
                </a14:m>
                <a:r>
                  <a:rPr lang="en-US" sz="2200" dirty="0">
                    <a:latin typeface="Cambria Math" panose="02040503050406030204" pitchFamily="18" charset="0"/>
                    <a:ea typeface="Cambria Math" panose="02040503050406030204" pitchFamily="18" charset="0"/>
                  </a:rPr>
                  <a:t> </a:t>
                </a:r>
                <a:endParaRPr lang="en-US" sz="2200" i="1" dirty="0">
                  <a:latin typeface="Cambria Math" panose="02040503050406030204" pitchFamily="18" charset="0"/>
                  <a:ea typeface="Cambria Math" panose="02040503050406030204" pitchFamily="18" charset="0"/>
                </a:endParaRPr>
              </a:p>
              <a:p>
                <a:pPr marL="914400" indent="-457200">
                  <a:buFont typeface="+mj-lt"/>
                  <a:buAutoNum type="alphaLcPeriod" startAt="4"/>
                </a:pPr>
                <a:endParaRPr lang="en-US" sz="2200" i="1" dirty="0">
                  <a:latin typeface="Cambria Math" panose="02040503050406030204" pitchFamily="18" charset="0"/>
                  <a:ea typeface="Cambria Math" panose="02040503050406030204" pitchFamily="18" charset="0"/>
                </a:endParaRPr>
              </a:p>
              <a:p>
                <a:pPr marL="914400" indent="-457200">
                  <a:buFont typeface="+mj-lt"/>
                  <a:buAutoNum type="alphaL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r>
                  <a:rPr lang="en-US" sz="22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d>
                      <m:dPr>
                        <m:begChr m:val="["/>
                        <m:endChr m:val="]"/>
                        <m:ctrlPr>
                          <a:rPr lang="en-US" sz="2200" i="1">
                            <a:latin typeface="Cambria Math" panose="02040503050406030204" pitchFamily="18" charset="0"/>
                            <a:ea typeface="Cambria Math" panose="02040503050406030204" pitchFamily="18" charset="0"/>
                          </a:rPr>
                        </m:ctrlPr>
                      </m:dPr>
                      <m:e>
                        <m:sSup>
                          <m:sSupPr>
                            <m:ctrlPr>
                              <a:rPr lang="en-US" sz="2200" i="1">
                                <a:latin typeface="Cambria Math" panose="02040503050406030204" pitchFamily="18" charset="0"/>
                                <a:ea typeface="Cambria Math" panose="02040503050406030204" pitchFamily="18" charset="0"/>
                              </a:rPr>
                            </m:ctrlPr>
                          </m:sSupPr>
                          <m:e>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0.8×10</m:t>
                                </m:r>
                              </m:e>
                            </m:d>
                          </m:e>
                          <m:sup>
                            <m:r>
                              <a:rPr lang="en-US" sz="2200" i="1">
                                <a:latin typeface="Cambria Math" panose="02040503050406030204" pitchFamily="18" charset="0"/>
                                <a:ea typeface="Cambria Math" panose="02040503050406030204" pitchFamily="18" charset="0"/>
                              </a:rPr>
                              <m:t>2</m:t>
                            </m:r>
                          </m:sup>
                        </m:sSup>
                        <m:r>
                          <a:rPr lang="en-US" sz="2200" i="1">
                            <a:latin typeface="Cambria Math" panose="02040503050406030204" pitchFamily="18" charset="0"/>
                            <a:ea typeface="Cambria Math" panose="02040503050406030204" pitchFamily="18" charset="0"/>
                          </a:rPr>
                          <m:t>+4.5</m:t>
                        </m:r>
                      </m:e>
                    </m:d>
                    <m:r>
                      <a:rPr lang="en-US" sz="2200" i="1">
                        <a:latin typeface="Cambria Math" panose="02040503050406030204" pitchFamily="18" charset="0"/>
                        <a:ea typeface="Cambria Math" panose="02040503050406030204" pitchFamily="18" charset="0"/>
                      </a:rPr>
                      <m:t>÷0.5</m:t>
                    </m:r>
                  </m:oMath>
                </a14:m>
                <a:r>
                  <a:rPr lang="en-US" sz="2200" dirty="0">
                    <a:latin typeface="Cambria Math" panose="02040503050406030204" pitchFamily="18" charset="0"/>
                    <a:ea typeface="Cambria Math" panose="02040503050406030204" pitchFamily="18" charset="0"/>
                  </a:rPr>
                  <a:t> </a:t>
                </a:r>
                <a:endParaRPr lang="en-US" sz="2200" i="1" dirty="0">
                  <a:latin typeface="Cambria Math" panose="02040503050406030204" pitchFamily="18" charset="0"/>
                  <a:ea typeface="Cambria Math" panose="02040503050406030204" pitchFamily="18" charset="0"/>
                </a:endParaRPr>
              </a:p>
              <a:p>
                <a:pPr marL="914400" indent="-457200">
                  <a:buFont typeface="+mj-lt"/>
                  <a:buAutoNum type="alphaLcPeriod" startAt="4"/>
                </a:pPr>
                <a:endParaRPr lang="en-US" sz="2200" i="1" dirty="0">
                  <a:latin typeface="Cambria Math" panose="02040503050406030204" pitchFamily="18" charset="0"/>
                  <a:ea typeface="Cambria Math" panose="02040503050406030204" pitchFamily="18" charset="0"/>
                </a:endParaRPr>
              </a:p>
              <a:p>
                <a:pPr marL="914400" indent="-457200">
                  <a:buFont typeface="+mj-lt"/>
                  <a:buAutoNum type="alphaL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r>
                  <a:rPr lang="en-US" sz="22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sz="2200" i="1">
                            <a:latin typeface="Cambria Math" panose="02040503050406030204" pitchFamily="18" charset="0"/>
                            <a:ea typeface="Cambria Math" panose="02040503050406030204" pitchFamily="18" charset="0"/>
                          </a:rPr>
                        </m:ctrlPr>
                      </m:sSupPr>
                      <m:e>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10×0.4</m:t>
                            </m:r>
                          </m:e>
                        </m:d>
                      </m:e>
                      <m:sup>
                        <m:r>
                          <a:rPr lang="en-US" sz="2200" i="1">
                            <a:latin typeface="Cambria Math" panose="02040503050406030204" pitchFamily="18" charset="0"/>
                            <a:ea typeface="Cambria Math" panose="02040503050406030204" pitchFamily="18" charset="0"/>
                          </a:rPr>
                          <m:t>2</m:t>
                        </m:r>
                      </m:sup>
                    </m:sSup>
                    <m:r>
                      <a:rPr lang="en-US" sz="2200" i="1">
                        <a:latin typeface="Cambria Math" panose="02040503050406030204" pitchFamily="18" charset="0"/>
                        <a:ea typeface="Cambria Math" panose="02040503050406030204" pitchFamily="18" charset="0"/>
                      </a:rPr>
                      <m:t>+</m:t>
                    </m:r>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28.4÷</m:t>
                        </m:r>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−4</m:t>
                            </m:r>
                          </m:e>
                        </m:d>
                      </m:e>
                    </m:d>
                  </m:oMath>
                </a14:m>
                <a:endParaRPr lang="en-US" sz="2200" i="1" dirty="0">
                  <a:latin typeface="Cambria Math" panose="02040503050406030204" pitchFamily="18" charset="0"/>
                  <a:ea typeface="Cambria Math" panose="02040503050406030204" pitchFamily="18" charset="0"/>
                </a:endParaRPr>
              </a:p>
            </p:txBody>
          </p:sp>
        </mc:Choice>
        <mc:Fallback xmlns="">
          <p:sp>
            <p:nvSpPr>
              <p:cNvPr id="5" name="TextBox 4">
                <a:extLst>
                  <a:ext uri="{FF2B5EF4-FFF2-40B4-BE49-F238E27FC236}">
                    <a16:creationId xmlns:a16="http://schemas.microsoft.com/office/drawing/2014/main" xmlns:a14="http://schemas.microsoft.com/office/drawing/2010/main" xmlns="" id="{08C67FCF-92C3-654A-BF40-5BDF7A4F9271}"/>
                  </a:ext>
                </a:extLst>
              </p:cNvPr>
              <p:cNvSpPr txBox="1">
                <a:spLocks noRot="1" noChangeAspect="1" noMove="1" noResize="1" noEditPoints="1" noAdjustHandles="1" noChangeArrowheads="1" noChangeShapeType="1" noTextEdit="1"/>
              </p:cNvSpPr>
              <p:nvPr/>
            </p:nvSpPr>
            <p:spPr>
              <a:xfrm>
                <a:off x="1139687" y="398474"/>
                <a:ext cx="9912626" cy="3860031"/>
              </a:xfrm>
              <a:prstGeom prst="rect">
                <a:avLst/>
              </a:prstGeom>
              <a:blipFill rotWithShape="0">
                <a:blip r:embed="rId3"/>
                <a:stretch>
                  <a:fillRect t="-1262" b="-1420"/>
                </a:stretch>
              </a:blipFill>
            </p:spPr>
            <p:txBody>
              <a:bodyPr/>
              <a:lstStyle/>
              <a:p>
                <a:r>
                  <a:rPr lang="en-US">
                    <a:noFill/>
                  </a:rPr>
                  <a:t> </a:t>
                </a:r>
              </a:p>
            </p:txBody>
          </p:sp>
        </mc:Fallback>
      </mc:AlternateContent>
      <p:sp>
        <p:nvSpPr>
          <p:cNvPr id="7"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204</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436146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205</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63779" y="-810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11.8.6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716479" y="268097"/>
            <a:ext cx="747300" cy="747300"/>
          </a:xfrm>
          <a:prstGeom prst="rect">
            <a:avLst/>
          </a:prstGeom>
          <a:noFill/>
          <a:ln>
            <a:noFill/>
          </a:ln>
        </p:spPr>
      </p:pic>
      <p:sp>
        <p:nvSpPr>
          <p:cNvPr id="12" name="TextBox 11">
            <a:extLst>
              <a:ext uri="{FF2B5EF4-FFF2-40B4-BE49-F238E27FC236}">
                <a16:creationId xmlns:a16="http://schemas.microsoft.com/office/drawing/2014/main" id="{0370EDB7-6994-3D43-ABF9-E04CBAFB9CD9}"/>
              </a:ext>
            </a:extLst>
          </p:cNvPr>
          <p:cNvSpPr txBox="1"/>
          <p:nvPr/>
        </p:nvSpPr>
        <p:spPr>
          <a:xfrm>
            <a:off x="1463779" y="1386025"/>
            <a:ext cx="9520474" cy="4154984"/>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Complete each statement based on your learning today. </a:t>
            </a:r>
            <a:endParaRPr lang="en-US" sz="2200" i="1" dirty="0">
              <a:latin typeface="Verdana" panose="020B0604030504040204" pitchFamily="34" charset="0"/>
              <a:ea typeface="Verdana" panose="020B0604030504040204" pitchFamily="34" charset="0"/>
              <a:cs typeface="Verdana" panose="020B0604030504040204" pitchFamily="34" charset="0"/>
            </a:endParaRPr>
          </a:p>
          <a:p>
            <a:r>
              <a:rPr lang="en-US" sz="2200" dirty="0">
                <a:latin typeface="Verdana" panose="020B0604030504040204" pitchFamily="34" charset="0"/>
                <a:ea typeface="Verdana" panose="020B0604030504040204" pitchFamily="34" charset="0"/>
                <a:cs typeface="Verdana" panose="020B0604030504040204" pitchFamily="34" charset="0"/>
              </a:rPr>
              <a:t> </a:t>
            </a:r>
            <a:endParaRPr lang="en-US" sz="2200" i="1"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Arial" panose="020B0604020202020204" pitchFamily="34" charset="0"/>
              <a:buChar char="•"/>
            </a:pPr>
            <a:r>
              <a:rPr lang="en-US" sz="2200" dirty="0">
                <a:latin typeface="Verdana" panose="020B0604030504040204" pitchFamily="34" charset="0"/>
                <a:ea typeface="Verdana" panose="020B0604030504040204" pitchFamily="34" charset="0"/>
                <a:cs typeface="Verdana" panose="020B0604030504040204" pitchFamily="34" charset="0"/>
              </a:rPr>
              <a:t>A barrier to my learning was … </a:t>
            </a:r>
            <a:endParaRPr lang="en-US" sz="2200" i="1"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Arial" panose="020B0604020202020204" pitchFamily="34" charset="0"/>
              <a:buChar char="•"/>
            </a:pPr>
            <a:endParaRPr lang="en-US" sz="2200" i="1"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Arial" panose="020B0604020202020204" pitchFamily="34" charset="0"/>
              <a:buChar char="•"/>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Arial" panose="020B0604020202020204" pitchFamily="34" charset="0"/>
              <a:buChar char="•"/>
            </a:pPr>
            <a:r>
              <a:rPr lang="en-US" sz="2200" dirty="0">
                <a:latin typeface="Verdana" panose="020B0604030504040204" pitchFamily="34" charset="0"/>
                <a:ea typeface="Verdana" panose="020B0604030504040204" pitchFamily="34" charset="0"/>
                <a:cs typeface="Verdana" panose="020B0604030504040204" pitchFamily="34" charset="0"/>
              </a:rPr>
              <a:t>I will try to overcome this by …</a:t>
            </a:r>
            <a:endParaRPr lang="en-US" sz="2200" i="1"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Arial" panose="020B0604020202020204" pitchFamily="34" charset="0"/>
              <a:buChar char="•"/>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Arial" panose="020B0604020202020204" pitchFamily="34" charset="0"/>
              <a:buChar char="•"/>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Arial" panose="020B0604020202020204" pitchFamily="34" charset="0"/>
              <a:buChar char="•"/>
            </a:pPr>
            <a:r>
              <a:rPr lang="en-US" sz="2200" dirty="0">
                <a:latin typeface="Verdana" panose="020B0604030504040204" pitchFamily="34" charset="0"/>
                <a:ea typeface="Verdana" panose="020B0604030504040204" pitchFamily="34" charset="0"/>
                <a:cs typeface="Verdana" panose="020B0604030504040204" pitchFamily="34" charset="0"/>
              </a:rPr>
              <a:t>Today I am still unsure about …</a:t>
            </a:r>
            <a:endParaRPr lang="en-US" sz="2200" i="1"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Arial" panose="020B0604020202020204" pitchFamily="34" charset="0"/>
              <a:buChar char="•"/>
            </a:pPr>
            <a:endParaRPr lang="en-US" sz="2200" i="1"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Arial" panose="020B0604020202020204" pitchFamily="34" charset="0"/>
              <a:buChar char="•"/>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Arial" panose="020B0604020202020204" pitchFamily="34" charset="0"/>
              <a:buChar char="•"/>
            </a:pPr>
            <a:r>
              <a:rPr lang="en-US" sz="2200" dirty="0">
                <a:latin typeface="Verdana" panose="020B0604030504040204" pitchFamily="34" charset="0"/>
                <a:ea typeface="Verdana" panose="020B0604030504040204" pitchFamily="34" charset="0"/>
                <a:cs typeface="Verdana" panose="020B0604030504040204" pitchFamily="34" charset="0"/>
              </a:rPr>
              <a:t>To fill in this gap I intend to …</a:t>
            </a:r>
            <a:endParaRPr lang="en-US" sz="2200" i="1" dirty="0">
              <a:latin typeface="Verdana" panose="020B0604030504040204" pitchFamily="34" charset="0"/>
              <a:ea typeface="Verdana" panose="020B0604030504040204" pitchFamily="34" charset="0"/>
              <a:cs typeface="Verdana" panose="020B0604030504040204" pitchFamily="34" charset="0"/>
            </a:endParaRPr>
          </a:p>
        </p:txBody>
      </p:sp>
      <p:sp>
        <p:nvSpPr>
          <p:cNvPr id="10" name="Google Shape;282;g104476d1465_1_17"/>
          <p:cNvSpPr txBox="1"/>
          <p:nvPr/>
        </p:nvSpPr>
        <p:spPr>
          <a:xfrm>
            <a:off x="87327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205</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09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Props1.xml><?xml version="1.0" encoding="utf-8"?>
<ds:datastoreItem xmlns:ds="http://schemas.openxmlformats.org/officeDocument/2006/customXml" ds:itemID="{B51165CA-2EF2-444A-89C4-342573611678}"/>
</file>

<file path=customXml/itemProps2.xml><?xml version="1.0" encoding="utf-8"?>
<ds:datastoreItem xmlns:ds="http://schemas.openxmlformats.org/officeDocument/2006/customXml" ds:itemID="{70565CAD-AEC9-4DD3-BEBB-EAFA4C815933}"/>
</file>

<file path=customXml/itemProps3.xml><?xml version="1.0" encoding="utf-8"?>
<ds:datastoreItem xmlns:ds="http://schemas.openxmlformats.org/officeDocument/2006/customXml" ds:itemID="{B91AC8AD-36BE-40C6-B67B-10F85421EE3D}"/>
</file>

<file path=docProps/app.xml><?xml version="1.0" encoding="utf-8"?>
<Properties xmlns="http://schemas.openxmlformats.org/officeDocument/2006/extended-properties" xmlns:vt="http://schemas.openxmlformats.org/officeDocument/2006/docPropsVTypes">
  <TotalTime>1365</TotalTime>
  <Words>1239</Words>
  <Application>Microsoft Office PowerPoint</Application>
  <PresentationFormat>Widescreen</PresentationFormat>
  <Paragraphs>248</Paragraphs>
  <Slides>27</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Arial Black</vt:lpstr>
      <vt:lpstr>Calibri</vt:lpstr>
      <vt:lpstr>Cambria Math</vt:lpstr>
      <vt:lpstr>Century Gothic</vt:lpstr>
      <vt:lpstr>Verdana</vt:lpstr>
      <vt:lpstr>1_Office Theme</vt:lpstr>
      <vt:lpstr>6th Grade Accelerated Math  Unit 11, Lesson 8  Evaluating Numeric Expressions – Part 1  Volume 2, pg. 199  </vt:lpstr>
      <vt:lpstr>Benchmarks</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Exploration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33</cp:revision>
  <dcterms:created xsi:type="dcterms:W3CDTF">2015-03-17T18:51:18Z</dcterms:created>
  <dcterms:modified xsi:type="dcterms:W3CDTF">2022-10-05T23:55:55Z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ies>
</file>