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87" r:id="rId10"/>
    <p:sldId id="288" r:id="rId11"/>
    <p:sldId id="263" r:id="rId12"/>
    <p:sldId id="264" r:id="rId13"/>
    <p:sldId id="265" r:id="rId14"/>
    <p:sldId id="293" r:id="rId15"/>
    <p:sldId id="290" r:id="rId16"/>
    <p:sldId id="29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iGNqAw0ce6kMhO2MM82zLCkyAo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767"/>
  </p:normalViewPr>
  <p:slideViewPr>
    <p:cSldViewPr snapToGrid="0">
      <p:cViewPr varScale="1">
        <p:scale>
          <a:sx n="101" d="100"/>
          <a:sy n="101" d="100"/>
        </p:scale>
        <p:origin x="208" y="3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4" Type="http://customschemas.google.com/relationships/presentationmetadata" Target="metadata"/><Relationship Id="rId55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4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8686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0917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0356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20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190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Grade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10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Inequalities – Part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55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745080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11750" y="8470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50" y="32047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990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715438" y="1600200"/>
            <a:ext cx="87611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MA.8.AR.2.2</a:t>
            </a:r>
            <a:endParaRPr sz="3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Solve two-step linear inequalities in one variable and represent solutions algebraically and graphically.</a:t>
            </a:r>
            <a:endParaRPr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400" y="29431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483050" y="51681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1483050" y="1596390"/>
            <a:ext cx="98137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dirty="0"/>
          </a:p>
          <a:p>
            <a:endParaRPr lang="en-US"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dirty="0"/>
          </a:p>
        </p:txBody>
      </p:sp>
      <p:sp>
        <p:nvSpPr>
          <p:cNvPr id="138" name="Google Shape;138;p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990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386775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613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351913" y="1547093"/>
            <a:ext cx="948817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solve inequalities and represent the solutions on a number line.</a:t>
            </a:r>
            <a:endParaRPr dirty="0"/>
          </a:p>
        </p:txBody>
      </p:sp>
      <p:sp>
        <p:nvSpPr>
          <p:cNvPr id="149" name="Google Shape;149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990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446938" y="-13358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1.10.1 Warm-Up: Creating Inequalities </a:t>
            </a:r>
            <a:endParaRPr sz="1100" dirty="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638" y="1556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Google Shape;169;p4"/>
              <p:cNvSpPr txBox="1"/>
              <p:nvPr/>
            </p:nvSpPr>
            <p:spPr>
              <a:xfrm>
                <a:off x="1666670" y="1363448"/>
                <a:ext cx="9009326" cy="11446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7663" indent="-347663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 Using the integers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 most one time each, create an inequality with solutions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&gt;</m:t>
                    </m:r>
                    <m:f>
                      <m:fPr>
                        <m:ctrlPr>
                          <a:rPr lang="en-US" sz="2000" i="1">
                            <a:latin typeface="Cambria Math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There is more than one solution. 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9" name="Google Shape;169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670" y="1363448"/>
                <a:ext cx="9009326" cy="1144697"/>
              </a:xfrm>
              <a:prstGeom prst="rect">
                <a:avLst/>
              </a:prstGeom>
              <a:blipFill rotWithShape="0">
                <a:blip r:embed="rId4"/>
                <a:stretch>
                  <a:fillRect l="-677" t="-3209" b="-112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Google Shape;170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xmlns="" id="{776F3C19-F738-1047-8692-AA4F69CB8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200" y="2508144"/>
            <a:ext cx="3600615" cy="1330078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7" name="Google Shape;277;p15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3171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 txBox="1"/>
          <p:nvPr/>
        </p:nvSpPr>
        <p:spPr>
          <a:xfrm>
            <a:off x="1354993" y="-18089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1.10.2 Try It: Card Match</a:t>
            </a:r>
            <a:endParaRPr sz="1100" dirty="0"/>
          </a:p>
        </p:txBody>
      </p:sp>
      <p:pic>
        <p:nvPicPr>
          <p:cNvPr id="288" name="Google Shape;288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3750" y="124634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89" name="Google Shape;289;p16"/>
          <p:cNvSpPr txBox="1"/>
          <p:nvPr/>
        </p:nvSpPr>
        <p:spPr>
          <a:xfrm>
            <a:off x="745018" y="1239138"/>
            <a:ext cx="4144482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7663" indent="-347663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1. Work with your partner to match the provided inequality and solution cards to each graph in the table.</a:t>
            </a:r>
            <a:endParaRPr sz="1200" dirty="0"/>
          </a:p>
        </p:txBody>
      </p:sp>
      <p:sp>
        <p:nvSpPr>
          <p:cNvPr id="290" name="Google Shape;290;p16"/>
          <p:cNvSpPr/>
          <p:nvPr/>
        </p:nvSpPr>
        <p:spPr>
          <a:xfrm>
            <a:off x="-8129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" name="Picture 16" descr="Table&#10;&#10;Description automatically generated with medium confidence">
            <a:extLst>
              <a:ext uri="{FF2B5EF4-FFF2-40B4-BE49-F238E27FC236}">
                <a16:creationId xmlns:a16="http://schemas.microsoft.com/office/drawing/2014/main" xmlns="" id="{E0B292E1-205C-4C47-AC7A-4F0C483D8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0" y="874442"/>
            <a:ext cx="5582311" cy="5284090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27" name="Google Shape;427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8" name="Google Shape;4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/>
        </p:nvSpPr>
        <p:spPr>
          <a:xfrm>
            <a:off x="1389550" y="86249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1.10.3 Your Turn!</a:t>
            </a:r>
            <a:endParaRPr sz="1050" dirty="0"/>
          </a:p>
        </p:txBody>
      </p:sp>
      <p:pic>
        <p:nvPicPr>
          <p:cNvPr id="437" name="Google Shape;4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250" y="86249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1"/>
          <p:cNvSpPr txBox="1"/>
          <p:nvPr/>
        </p:nvSpPr>
        <p:spPr>
          <a:xfrm>
            <a:off x="938661" y="833549"/>
            <a:ext cx="103146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7663" indent="-347663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1. Solve each inequality and represent the solutions on the number line.</a:t>
            </a:r>
            <a:endParaRPr sz="1200" dirty="0"/>
          </a:p>
        </p:txBody>
      </p:sp>
      <p:sp>
        <p:nvSpPr>
          <p:cNvPr id="440" name="Google Shape;440;p31"/>
          <p:cNvSpPr/>
          <p:nvPr/>
        </p:nvSpPr>
        <p:spPr>
          <a:xfrm>
            <a:off x="-31839" y="-810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F17EB179-1640-CE45-9F0D-B1611D039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572" y="1355155"/>
            <a:ext cx="5643365" cy="5310844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1394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/>
        </p:nvSpPr>
        <p:spPr>
          <a:xfrm>
            <a:off x="1445684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1.10.4 Collaboration: Solving Real-World Inequalities</a:t>
            </a:r>
            <a:endParaRPr sz="1100" dirty="0"/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876" y="28794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Google Shape;199;p7"/>
              <p:cNvSpPr txBox="1"/>
              <p:nvPr/>
            </p:nvSpPr>
            <p:spPr>
              <a:xfrm>
                <a:off x="1445684" y="1386025"/>
                <a:ext cx="9556664" cy="34265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>
                  <a:spcBef>
                    <a:spcPts val="180"/>
                  </a:spcBef>
                  <a:spcAft>
                    <a:spcPts val="18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determine the meaning of each inequality in terms of the given situation.</a:t>
                </a:r>
              </a:p>
              <a:p>
                <a:pPr>
                  <a:spcBef>
                    <a:spcPts val="180"/>
                  </a:spcBef>
                  <a:spcAft>
                    <a:spcPts val="18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2900" indent="-342900">
                  <a:spcBef>
                    <a:spcPts val="180"/>
                  </a:spcBef>
                  <a:spcAft>
                    <a:spcPts val="18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Sasha wants to save at least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$300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purchase a new gaming system. She asked Victor to help her figure out how much she would need to save each month if she has already saved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would like to buy a system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months. Victor wrote the inequality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+50≥300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dollar amount Sasha must save each month. </a:t>
                </a:r>
              </a:p>
              <a:p>
                <a:pPr>
                  <a:spcBef>
                    <a:spcPts val="180"/>
                  </a:spcBef>
                  <a:spcAft>
                    <a:spcPts val="18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752475" indent="-404813">
                  <a:spcBef>
                    <a:spcPts val="180"/>
                  </a:spcBef>
                  <a:spcAft>
                    <a:spcPts val="18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what the values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 in the inequality.</a:t>
                </a:r>
              </a:p>
            </p:txBody>
          </p:sp>
        </mc:Choice>
        <mc:Fallback xmlns="">
          <p:sp>
            <p:nvSpPr>
              <p:cNvPr id="199" name="Google Shape;199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684" y="1386025"/>
                <a:ext cx="9556664" cy="3426539"/>
              </a:xfrm>
              <a:prstGeom prst="rect">
                <a:avLst/>
              </a:prstGeom>
              <a:blipFill rotWithShape="0">
                <a:blip r:embed="rId4"/>
                <a:stretch>
                  <a:fillRect l="-702" r="-574" b="-16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5997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Google Shape;208;p8"/>
              <p:cNvSpPr txBox="1"/>
              <p:nvPr/>
            </p:nvSpPr>
            <p:spPr>
              <a:xfrm>
                <a:off x="1219200" y="410665"/>
                <a:ext cx="9904266" cy="3990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7663" indent="-347663">
                  <a:spcBef>
                    <a:spcPts val="180"/>
                  </a:spcBef>
                  <a:spcAft>
                    <a:spcPts val="18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In terms of the situation, what are the limitations on the possible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</a:t>
                </a:r>
              </a:p>
              <a:p>
                <a:pPr>
                  <a:spcBef>
                    <a:spcPts val="180"/>
                  </a:spcBef>
                  <a:spcAft>
                    <a:spcPts val="18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Bef>
                    <a:spcPts val="180"/>
                  </a:spcBef>
                  <a:spcAft>
                    <a:spcPts val="18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Bef>
                    <a:spcPts val="180"/>
                  </a:spcBef>
                  <a:spcAft>
                    <a:spcPts val="180"/>
                  </a:spcAf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Bef>
                    <a:spcPts val="180"/>
                  </a:spcBef>
                  <a:spcAft>
                    <a:spcPts val="18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Solve the inequality.</a:t>
                </a:r>
              </a:p>
              <a:p>
                <a:pPr marL="914400">
                  <a:spcBef>
                    <a:spcPts val="180"/>
                  </a:spcBef>
                  <a:spcAft>
                    <a:spcPts val="18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>
                  <a:spcBef>
                    <a:spcPts val="180"/>
                  </a:spcBef>
                  <a:spcAft>
                    <a:spcPts val="18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>
                  <a:spcBef>
                    <a:spcPts val="180"/>
                  </a:spcBef>
                  <a:spcAft>
                    <a:spcPts val="18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>
                  <a:spcBef>
                    <a:spcPts val="180"/>
                  </a:spcBef>
                  <a:spcAft>
                    <a:spcPts val="18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>
                  <a:spcBef>
                    <a:spcPts val="180"/>
                  </a:spcBef>
                  <a:spcAft>
                    <a:spcPts val="18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d. Explain what the solution means in terms of the situation.</a:t>
                </a:r>
              </a:p>
            </p:txBody>
          </p:sp>
        </mc:Choice>
        <mc:Fallback xmlns="">
          <p:sp>
            <p:nvSpPr>
              <p:cNvPr id="208" name="Google Shape;208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10665"/>
                <a:ext cx="9904266" cy="3990796"/>
              </a:xfrm>
              <a:prstGeom prst="rect">
                <a:avLst/>
              </a:prstGeom>
              <a:blipFill rotWithShape="0">
                <a:blip r:embed="rId3"/>
                <a:stretch>
                  <a:fillRect l="-677" r="-185" b="-12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Google Shape;209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7647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952500" y="102175"/>
            <a:ext cx="10287000" cy="594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7663" indent="-3476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2. Sasha received $100 for her birthday and hopes to buy 4 video games for her gaming system. Each game usually costs $40, but she’s hoping she can find the games on sale this week. She writes the inequality 4(40-d)≤100, where d represents the dollar amount of the discount on the video games.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3476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a. What does the expression 40-d represent?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3476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b. Solve the inequality.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3476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c. Explain what the solution means in terms of the situation.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695325" indent="-33655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d. Do you think it is likely that Sasha will be able to purchase the 4 video games she wants?</a:t>
            </a:r>
          </a:p>
        </p:txBody>
      </p:sp>
      <p:sp>
        <p:nvSpPr>
          <p:cNvPr id="209" name="Google Shape;209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494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/>
        </p:nvSpPr>
        <p:spPr>
          <a:xfrm>
            <a:off x="1485776" y="-4558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1.10.5 Wrap-Up: </a:t>
            </a:r>
            <a:r>
              <a:rPr lang="en-US" sz="28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Cool Down</a:t>
            </a:r>
            <a:endParaRPr sz="1100" dirty="0"/>
          </a:p>
        </p:txBody>
      </p:sp>
      <p:pic>
        <p:nvPicPr>
          <p:cNvPr id="468" name="Google Shape;46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800" y="24361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69" name="Google Shape;469;p34"/>
          <p:cNvSpPr txBox="1"/>
          <p:nvPr/>
        </p:nvSpPr>
        <p:spPr>
          <a:xfrm>
            <a:off x="1270000" y="990915"/>
            <a:ext cx="980266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an explanation to a classmate who might have missed today’s lesson, in your own words, about how the process for solving an inequality is 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different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than solving an equation.</a:t>
            </a:r>
          </a:p>
        </p:txBody>
      </p:sp>
      <p:sp>
        <p:nvSpPr>
          <p:cNvPr id="470" name="Google Shape;470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1" name="Google Shape;125;g104476d1465_1_17"/>
          <p:cNvSpPr txBox="1"/>
          <p:nvPr/>
        </p:nvSpPr>
        <p:spPr>
          <a:xfrm>
            <a:off x="86990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494</Words>
  <Application>Microsoft Macintosh PowerPoint</Application>
  <PresentationFormat>Widescreen</PresentationFormat>
  <Paragraphs>91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Arial</vt:lpstr>
      <vt:lpstr>1_Office Theme</vt:lpstr>
      <vt:lpstr>7th Grade Accelerated Grade  Unit 1, Lesson 10  Solving Inequalities – Part 2  Volume 1, pg. 55  </vt:lpstr>
      <vt:lpstr>Benchmark</vt:lpstr>
      <vt:lpstr>PowerPoint Presentation</vt:lpstr>
      <vt:lpstr>PowerPoint Presentation</vt:lpstr>
      <vt:lpstr>Warm-Up</vt:lpstr>
      <vt:lpstr>PowerPoint Presentation</vt:lpstr>
      <vt:lpstr>Try It</vt:lpstr>
      <vt:lpstr>PowerPoint Presentation</vt:lpstr>
      <vt:lpstr>Your Turn</vt:lpstr>
      <vt:lpstr>PowerPoint Presentation</vt:lpstr>
      <vt:lpstr>Collaboration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  Unit 1, Lesson #  Lesson Name  Volume x, pg. #  </dc:title>
  <dc:creator>Karen McKenzie</dc:creator>
  <cp:lastModifiedBy>jslater9816@gmail.com</cp:lastModifiedBy>
  <cp:revision>6</cp:revision>
  <dcterms:created xsi:type="dcterms:W3CDTF">2015-03-17T18:51:18Z</dcterms:created>
  <dcterms:modified xsi:type="dcterms:W3CDTF">2022-07-26T21:57:39Z</dcterms:modified>
</cp:coreProperties>
</file>