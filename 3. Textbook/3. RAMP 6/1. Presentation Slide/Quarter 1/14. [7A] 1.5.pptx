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81" r:id="rId8"/>
    <p:sldId id="282" r:id="rId9"/>
    <p:sldId id="283" r:id="rId10"/>
    <p:sldId id="299" r:id="rId11"/>
    <p:sldId id="279" r:id="rId12"/>
    <p:sldId id="280" r:id="rId13"/>
    <p:sldId id="293" r:id="rId14"/>
    <p:sldId id="294" r:id="rId15"/>
    <p:sldId id="295" r:id="rId16"/>
    <p:sldId id="263" r:id="rId17"/>
    <p:sldId id="264" r:id="rId18"/>
    <p:sldId id="265" r:id="rId19"/>
    <p:sldId id="296" r:id="rId20"/>
    <p:sldId id="297" r:id="rId21"/>
    <p:sldId id="298" r:id="rId22"/>
    <p:sldId id="275" r:id="rId23"/>
    <p:sldId id="276" r:id="rId24"/>
    <p:sldId id="277" r:id="rId25"/>
    <p:sldId id="272" r:id="rId26"/>
    <p:sldId id="273" r:id="rId27"/>
    <p:sldId id="274" r:id="rId28"/>
    <p:sldId id="290" r:id="rId29"/>
    <p:sldId id="291" r:id="rId3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1" roundtripDataSignature="AMtx7miGNqAw0ce6kMhO2MM82zLCkyAoc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58"/>
    <p:restoredTop sz="94729"/>
  </p:normalViewPr>
  <p:slideViewPr>
    <p:cSldViewPr snapToGrid="0">
      <p:cViewPr varScale="1">
        <p:scale>
          <a:sx n="103" d="100"/>
          <a:sy n="103" d="100"/>
        </p:scale>
        <p:origin x="184"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51" Type="http://customschemas.google.com/relationships/presentationmetadata" Target="metadata"/><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notesMaster" Target="notesMasters/notesMaster1.xml"/><Relationship Id="rId6" Type="http://schemas.openxmlformats.org/officeDocument/2006/relationships/slide" Target="slides/slide5.xml"/><Relationship Id="rId9" Type="http://schemas.openxmlformats.org/officeDocument/2006/relationships/slide" Target="slides/slide8.xml"/><Relationship Id="rId7" Type="http://schemas.openxmlformats.org/officeDocument/2006/relationships/slide" Target="slides/slide6.xml"/><Relationship Id="rId8" Type="http://schemas.openxmlformats.org/officeDocument/2006/relationships/slide" Target="slides/slide7.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g104476d146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g104476d1465_1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g104476d1465_1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104476d1465_1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104476d1465_1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2" name="Google Shape;362;p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3" name="Google Shape;363;p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2" name="Google Shape;372;p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3" name="Google Shape;373;p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3" name="Google Shape;383;p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4" name="Google Shape;384;p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2" name="Google Shape;302;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3" name="Google Shape;303;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extLst>
      <p:ext uri="{BB962C8B-B14F-4D97-AF65-F5344CB8AC3E}">
        <p14:creationId xmlns:p14="http://schemas.microsoft.com/office/powerpoint/2010/main" val="33812556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2" name="Google Shape;342;p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3" name="Google Shape;343;p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a:t>
            </a:fld>
            <a:endParaRPr/>
          </a:p>
        </p:txBody>
      </p:sp>
    </p:spTree>
    <p:extLst>
      <p:ext uri="{BB962C8B-B14F-4D97-AF65-F5344CB8AC3E}">
        <p14:creationId xmlns:p14="http://schemas.microsoft.com/office/powerpoint/2010/main" val="21074390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3" name="Google Shape;353;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4" name="Google Shape;354;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12</a:t>
            </a:fld>
            <a:endParaRPr/>
          </a:p>
        </p:txBody>
      </p:sp>
    </p:spTree>
    <p:extLst>
      <p:ext uri="{BB962C8B-B14F-4D97-AF65-F5344CB8AC3E}">
        <p14:creationId xmlns:p14="http://schemas.microsoft.com/office/powerpoint/2010/main" val="26915321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3" name="Google Shape;353;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4" name="Google Shape;354;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a:t>
            </a:fld>
            <a:endParaRPr/>
          </a:p>
        </p:txBody>
      </p:sp>
    </p:spTree>
    <p:extLst>
      <p:ext uri="{BB962C8B-B14F-4D97-AF65-F5344CB8AC3E}">
        <p14:creationId xmlns:p14="http://schemas.microsoft.com/office/powerpoint/2010/main" val="41183661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3" name="Google Shape;353;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4" name="Google Shape;354;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14</a:t>
            </a:fld>
            <a:endParaRPr/>
          </a:p>
        </p:txBody>
      </p:sp>
    </p:spTree>
    <p:extLst>
      <p:ext uri="{BB962C8B-B14F-4D97-AF65-F5344CB8AC3E}">
        <p14:creationId xmlns:p14="http://schemas.microsoft.com/office/powerpoint/2010/main" val="24975093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3" name="Google Shape;353;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4" name="Google Shape;354;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15</a:t>
            </a:fld>
            <a:endParaRPr/>
          </a:p>
        </p:txBody>
      </p:sp>
    </p:spTree>
    <p:extLst>
      <p:ext uri="{BB962C8B-B14F-4D97-AF65-F5344CB8AC3E}">
        <p14:creationId xmlns:p14="http://schemas.microsoft.com/office/powerpoint/2010/main" val="18986213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2" name="Google Shape;182;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3" name="Google Shape;183;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extLst>
      <p:ext uri="{BB962C8B-B14F-4D97-AF65-F5344CB8AC3E}">
        <p14:creationId xmlns:p14="http://schemas.microsoft.com/office/powerpoint/2010/main" val="16081726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2" name="Google Shape;192;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3" name="Google Shape;193;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17</a:t>
            </a:fld>
            <a:endParaRPr/>
          </a:p>
        </p:txBody>
      </p:sp>
    </p:spTree>
    <p:extLst>
      <p:ext uri="{BB962C8B-B14F-4D97-AF65-F5344CB8AC3E}">
        <p14:creationId xmlns:p14="http://schemas.microsoft.com/office/powerpoint/2010/main" val="31761531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18</a:t>
            </a:fld>
            <a:endParaRPr/>
          </a:p>
        </p:txBody>
      </p:sp>
    </p:spTree>
    <p:extLst>
      <p:ext uri="{BB962C8B-B14F-4D97-AF65-F5344CB8AC3E}">
        <p14:creationId xmlns:p14="http://schemas.microsoft.com/office/powerpoint/2010/main" val="13762635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19</a:t>
            </a:fld>
            <a:endParaRPr/>
          </a:p>
        </p:txBody>
      </p:sp>
    </p:spTree>
    <p:extLst>
      <p:ext uri="{BB962C8B-B14F-4D97-AF65-F5344CB8AC3E}">
        <p14:creationId xmlns:p14="http://schemas.microsoft.com/office/powerpoint/2010/main" val="19148309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20</a:t>
            </a:fld>
            <a:endParaRPr/>
          </a:p>
        </p:txBody>
      </p:sp>
    </p:spTree>
    <p:extLst>
      <p:ext uri="{BB962C8B-B14F-4D97-AF65-F5344CB8AC3E}">
        <p14:creationId xmlns:p14="http://schemas.microsoft.com/office/powerpoint/2010/main" val="9790091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21</a:t>
            </a:fld>
            <a:endParaRPr/>
          </a:p>
        </p:txBody>
      </p:sp>
    </p:spTree>
    <p:extLst>
      <p:ext uri="{BB962C8B-B14F-4D97-AF65-F5344CB8AC3E}">
        <p14:creationId xmlns:p14="http://schemas.microsoft.com/office/powerpoint/2010/main" val="38755496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2" name="Google Shape;302;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3" name="Google Shape;303;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extLst>
      <p:ext uri="{BB962C8B-B14F-4D97-AF65-F5344CB8AC3E}">
        <p14:creationId xmlns:p14="http://schemas.microsoft.com/office/powerpoint/2010/main" val="42670422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2" name="Google Shape;312;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3" name="Google Shape;313;p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23</a:t>
            </a:fld>
            <a:endParaRPr/>
          </a:p>
        </p:txBody>
      </p:sp>
    </p:spTree>
    <p:extLst>
      <p:ext uri="{BB962C8B-B14F-4D97-AF65-F5344CB8AC3E}">
        <p14:creationId xmlns:p14="http://schemas.microsoft.com/office/powerpoint/2010/main" val="13195733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24</a:t>
            </a:fld>
            <a:endParaRPr/>
          </a:p>
        </p:txBody>
      </p:sp>
    </p:spTree>
    <p:extLst>
      <p:ext uri="{BB962C8B-B14F-4D97-AF65-F5344CB8AC3E}">
        <p14:creationId xmlns:p14="http://schemas.microsoft.com/office/powerpoint/2010/main" val="400589196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2" name="Google Shape;272;p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3" name="Google Shape;273;p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25</a:t>
            </a:fld>
            <a:endParaRPr/>
          </a:p>
        </p:txBody>
      </p:sp>
    </p:spTree>
    <p:extLst>
      <p:ext uri="{BB962C8B-B14F-4D97-AF65-F5344CB8AC3E}">
        <p14:creationId xmlns:p14="http://schemas.microsoft.com/office/powerpoint/2010/main" val="19386393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2" name="Google Shape;282;p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3" name="Google Shape;283;p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26</a:t>
            </a:fld>
            <a:endParaRPr/>
          </a:p>
        </p:txBody>
      </p:sp>
    </p:spTree>
    <p:extLst>
      <p:ext uri="{BB962C8B-B14F-4D97-AF65-F5344CB8AC3E}">
        <p14:creationId xmlns:p14="http://schemas.microsoft.com/office/powerpoint/2010/main" val="17715696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3" name="Google Shape;293;p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4" name="Google Shape;294;p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27</a:t>
            </a:fld>
            <a:endParaRPr/>
          </a:p>
        </p:txBody>
      </p:sp>
    </p:spTree>
    <p:extLst>
      <p:ext uri="{BB962C8B-B14F-4D97-AF65-F5344CB8AC3E}">
        <p14:creationId xmlns:p14="http://schemas.microsoft.com/office/powerpoint/2010/main" val="9775556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2" name="Google Shape;452;p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3" name="Google Shape;453;p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2" name="Google Shape;462;p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3" name="Google Shape;463;p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9"/>
        <p:cNvGrpSpPr/>
        <p:nvPr/>
      </p:nvGrpSpPr>
      <p:grpSpPr>
        <a:xfrm>
          <a:off x="0" y="0"/>
          <a:ext cx="0" cy="0"/>
          <a:chOff x="0" y="0"/>
          <a:chExt cx="0" cy="0"/>
        </a:xfrm>
      </p:grpSpPr>
      <p:sp>
        <p:nvSpPr>
          <p:cNvPr id="20" name="Google Shape;20;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algn="l">
              <a:lnSpc>
                <a:spcPct val="100000"/>
              </a:lnSpc>
              <a:spcBef>
                <a:spcPts val="0"/>
              </a:spcBef>
              <a:spcAft>
                <a:spcPts val="0"/>
              </a:spcAft>
              <a:buSzPts val="1400"/>
              <a:buNone/>
              <a:defRPr sz="7200"/>
            </a:lvl2pPr>
            <a:lvl3pPr lvl="2" algn="l">
              <a:lnSpc>
                <a:spcPct val="100000"/>
              </a:lnSpc>
              <a:spcBef>
                <a:spcPts val="0"/>
              </a:spcBef>
              <a:spcAft>
                <a:spcPts val="0"/>
              </a:spcAft>
              <a:buSzPts val="1400"/>
              <a:buNone/>
              <a:defRPr sz="7200"/>
            </a:lvl3pPr>
            <a:lvl4pPr lvl="3" algn="l">
              <a:lnSpc>
                <a:spcPct val="100000"/>
              </a:lnSpc>
              <a:spcBef>
                <a:spcPts val="0"/>
              </a:spcBef>
              <a:spcAft>
                <a:spcPts val="0"/>
              </a:spcAft>
              <a:buSzPts val="1400"/>
              <a:buNone/>
              <a:defRPr sz="7200"/>
            </a:lvl4pPr>
            <a:lvl5pPr lvl="4" algn="l">
              <a:lnSpc>
                <a:spcPct val="100000"/>
              </a:lnSpc>
              <a:spcBef>
                <a:spcPts val="0"/>
              </a:spcBef>
              <a:spcAft>
                <a:spcPts val="0"/>
              </a:spcAft>
              <a:buSzPts val="1400"/>
              <a:buNone/>
              <a:defRPr sz="7200"/>
            </a:lvl5pPr>
            <a:lvl6pPr lvl="5" algn="l">
              <a:lnSpc>
                <a:spcPct val="100000"/>
              </a:lnSpc>
              <a:spcBef>
                <a:spcPts val="0"/>
              </a:spcBef>
              <a:spcAft>
                <a:spcPts val="0"/>
              </a:spcAft>
              <a:buSzPts val="1400"/>
              <a:buNone/>
              <a:defRPr sz="7200"/>
            </a:lvl6pPr>
            <a:lvl7pPr lvl="6" algn="l">
              <a:lnSpc>
                <a:spcPct val="100000"/>
              </a:lnSpc>
              <a:spcBef>
                <a:spcPts val="0"/>
              </a:spcBef>
              <a:spcAft>
                <a:spcPts val="0"/>
              </a:spcAft>
              <a:buSzPts val="1400"/>
              <a:buNone/>
              <a:defRPr sz="7200"/>
            </a:lvl7pPr>
            <a:lvl8pPr lvl="7" algn="l">
              <a:lnSpc>
                <a:spcPct val="100000"/>
              </a:lnSpc>
              <a:spcBef>
                <a:spcPts val="0"/>
              </a:spcBef>
              <a:spcAft>
                <a:spcPts val="0"/>
              </a:spcAft>
              <a:buSzPts val="1400"/>
              <a:buNone/>
              <a:defRPr sz="7200"/>
            </a:lvl8pPr>
            <a:lvl9pPr lvl="8" algn="l">
              <a:lnSpc>
                <a:spcPct val="100000"/>
              </a:lnSpc>
              <a:spcBef>
                <a:spcPts val="0"/>
              </a:spcBef>
              <a:spcAft>
                <a:spcPts val="0"/>
              </a:spcAft>
              <a:buSzPts val="1400"/>
              <a:buNone/>
              <a:defRPr sz="72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4" name="Google Shape;24;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0" name="Google Shape;30;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6" name="Google Shape;36;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3" name="Google Shape;43;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9" name="Google Shape;49;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0" name="Google Shape;50;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1" name="Google Shape;51;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2" name="Google Shape;52;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4" Type="http://schemas.openxmlformats.org/officeDocument/2006/relationships/image" Target="../media/image140.png"/><Relationship Id="rId6" Type="http://schemas.openxmlformats.org/officeDocument/2006/relationships/image" Target="../media/image150.png"/><Relationship Id="rId7"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17.png"/><Relationship Id="rId7"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4" Type="http://schemas.openxmlformats.org/officeDocument/2006/relationships/image" Target="../media/image25.png"/><Relationship Id="rId6" Type="http://schemas.openxmlformats.org/officeDocument/2006/relationships/image" Target="../media/image250.png"/><Relationship Id="rId7"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4" Type="http://schemas.openxmlformats.org/officeDocument/2006/relationships/image" Target="../media/image27.png"/><Relationship Id="rId5"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4" Type="http://schemas.openxmlformats.org/officeDocument/2006/relationships/image" Target="../media/image28.png"/><Relationship Id="rId5"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5" Type="http://schemas.openxmlformats.org/officeDocument/2006/relationships/image" Target="../media/image31.png"/><Relationship Id="rId6"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5" Type="http://schemas.openxmlformats.org/officeDocument/2006/relationships/image" Target="../media/image340.png"/><Relationship Id="rId6"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g104476d1465_0_0"/>
          <p:cNvSpPr txBox="1">
            <a:spLocks noGrp="1"/>
          </p:cNvSpPr>
          <p:nvPr>
            <p:ph type="ctrTitle" idx="4294967295"/>
          </p:nvPr>
        </p:nvSpPr>
        <p:spPr>
          <a:xfrm>
            <a:off x="5742834" y="2140969"/>
            <a:ext cx="4925167" cy="3194455"/>
          </a:xfrm>
          <a:prstGeom prst="rect">
            <a:avLst/>
          </a:prstGeom>
          <a:noFill/>
          <a:ln>
            <a:noFill/>
          </a:ln>
        </p:spPr>
        <p:txBody>
          <a:bodyPr spcFirstLastPara="1" wrap="square" lIns="91425" tIns="45700" rIns="91425" bIns="45700" anchor="ctr" anchorCtr="0">
            <a:noAutofit/>
          </a:bodyPr>
          <a:lstStyle/>
          <a:p>
            <a:pPr algn="ctr">
              <a:lnSpc>
                <a:spcPct val="100000"/>
              </a:lnSpc>
            </a:pPr>
            <a:r>
              <a:rPr lang="en-US" sz="3200" b="1" dirty="0">
                <a:solidFill>
                  <a:srgbClr val="417DBF"/>
                </a:solidFill>
                <a:latin typeface="Verdana"/>
                <a:ea typeface="Verdana"/>
                <a:cs typeface="Verdana"/>
                <a:sym typeface="Verdana"/>
              </a:rPr>
              <a:t>7</a:t>
            </a:r>
            <a:r>
              <a:rPr lang="en-US" sz="3200" b="1" baseline="30000" dirty="0">
                <a:solidFill>
                  <a:srgbClr val="417DBF"/>
                </a:solidFill>
                <a:latin typeface="Verdana"/>
                <a:ea typeface="Verdana"/>
                <a:cs typeface="Verdana"/>
                <a:sym typeface="Verdana"/>
              </a:rPr>
              <a:t>th</a:t>
            </a:r>
            <a:r>
              <a:rPr lang="en-US" sz="3200" b="1" dirty="0">
                <a:solidFill>
                  <a:srgbClr val="417DBF"/>
                </a:solidFill>
                <a:latin typeface="Verdana"/>
                <a:ea typeface="Verdana"/>
                <a:cs typeface="Verdana"/>
                <a:sym typeface="Verdana"/>
              </a:rPr>
              <a:t> Grade Accelerated Grade</a:t>
            </a:r>
            <a:br>
              <a:rPr lang="en-US" sz="3200" b="1" dirty="0">
                <a:solidFill>
                  <a:srgbClr val="417DBF"/>
                </a:solidFill>
                <a:latin typeface="Verdana"/>
                <a:ea typeface="Verdana"/>
                <a:cs typeface="Verdana"/>
                <a:sym typeface="Verdana"/>
              </a:rPr>
            </a:br>
            <a:endParaRPr sz="3200" b="1" dirty="0">
              <a:solidFill>
                <a:srgbClr val="417DBF"/>
              </a:solidFill>
              <a:latin typeface="Verdana"/>
              <a:ea typeface="Verdana"/>
              <a:cs typeface="Verdana"/>
              <a:sym typeface="Verdana"/>
            </a:endParaRPr>
          </a:p>
          <a:p>
            <a:pPr lvl="0" algn="ctr">
              <a:lnSpc>
                <a:spcPct val="100000"/>
              </a:lnSpc>
              <a:buClr>
                <a:srgbClr val="000000"/>
              </a:buClr>
            </a:pPr>
            <a:r>
              <a:rPr lang="en-US" sz="3200" b="1" dirty="0">
                <a:solidFill>
                  <a:srgbClr val="417DBF"/>
                </a:solidFill>
                <a:latin typeface="Verdana"/>
                <a:ea typeface="Verdana"/>
                <a:cs typeface="Verdana"/>
                <a:sym typeface="Verdana"/>
              </a:rPr>
              <a:t>Unit 1, Lesson 5</a:t>
            </a:r>
            <a:br>
              <a:rPr lang="en-US" sz="3200" b="1" dirty="0">
                <a:solidFill>
                  <a:srgbClr val="417DBF"/>
                </a:solidFill>
                <a:latin typeface="Verdana"/>
                <a:ea typeface="Verdana"/>
                <a:cs typeface="Verdana"/>
                <a:sym typeface="Verdana"/>
              </a:rPr>
            </a:br>
            <a:r>
              <a:rPr lang="en-US" sz="3200" b="1" dirty="0">
                <a:solidFill>
                  <a:srgbClr val="417DBF"/>
                </a:solidFill>
                <a:latin typeface="Verdana"/>
                <a:ea typeface="Verdana"/>
                <a:cs typeface="Verdana"/>
                <a:sym typeface="Verdana"/>
              </a:rPr>
              <a:t/>
            </a:r>
            <a:br>
              <a:rPr lang="en-US" sz="3200" b="1" dirty="0">
                <a:solidFill>
                  <a:srgbClr val="417DBF"/>
                </a:solidFill>
                <a:latin typeface="Verdana"/>
                <a:ea typeface="Verdana"/>
                <a:cs typeface="Verdana"/>
                <a:sym typeface="Verdana"/>
              </a:rPr>
            </a:br>
            <a:r>
              <a:rPr lang="en-US" sz="3200" b="1" dirty="0">
                <a:solidFill>
                  <a:srgbClr val="417DBF"/>
                </a:solidFill>
                <a:latin typeface="Verdana"/>
                <a:ea typeface="Verdana"/>
                <a:cs typeface="Verdana"/>
                <a:sym typeface="Verdana"/>
              </a:rPr>
              <a:t>Solving Mathematical and Real-World Problems </a:t>
            </a:r>
            <a:r>
              <a:rPr lang="en-US" sz="3200" b="1" dirty="0" smtClean="0">
                <a:solidFill>
                  <a:srgbClr val="417DBF"/>
                </a:solidFill>
                <a:latin typeface="Verdana"/>
                <a:ea typeface="Verdana"/>
                <a:cs typeface="Verdana"/>
                <a:sym typeface="Verdana"/>
              </a:rPr>
              <a:t>With </a:t>
            </a:r>
            <a:r>
              <a:rPr lang="en-US" sz="3200" b="1" dirty="0">
                <a:solidFill>
                  <a:srgbClr val="417DBF"/>
                </a:solidFill>
                <a:latin typeface="Verdana"/>
                <a:ea typeface="Verdana"/>
                <a:cs typeface="Verdana"/>
                <a:sym typeface="Verdana"/>
              </a:rPr>
              <a:t>Equations</a:t>
            </a:r>
            <a:br>
              <a:rPr lang="en-US" sz="3200" b="1" dirty="0">
                <a:solidFill>
                  <a:srgbClr val="417DBF"/>
                </a:solidFill>
                <a:latin typeface="Verdana"/>
                <a:ea typeface="Verdana"/>
                <a:cs typeface="Verdana"/>
                <a:sym typeface="Verdana"/>
              </a:rPr>
            </a:br>
            <a:r>
              <a:rPr lang="en-US" sz="3200" b="1" dirty="0">
                <a:solidFill>
                  <a:srgbClr val="417DBF"/>
                </a:solidFill>
                <a:latin typeface="Verdana"/>
                <a:ea typeface="Verdana"/>
                <a:cs typeface="Verdana"/>
                <a:sym typeface="Verdana"/>
              </a:rPr>
              <a:t/>
            </a:r>
            <a:br>
              <a:rPr lang="en-US" sz="3200" b="1" dirty="0">
                <a:solidFill>
                  <a:srgbClr val="417DBF"/>
                </a:solidFill>
                <a:latin typeface="Verdana"/>
                <a:ea typeface="Verdana"/>
                <a:cs typeface="Verdana"/>
                <a:sym typeface="Verdana"/>
              </a:rPr>
            </a:br>
            <a:r>
              <a:rPr lang="en-US" sz="2000" b="1" dirty="0">
                <a:solidFill>
                  <a:srgbClr val="417DBF"/>
                </a:solidFill>
                <a:latin typeface="Verdana"/>
                <a:ea typeface="Verdana"/>
                <a:cs typeface="Verdana"/>
                <a:sym typeface="Verdana"/>
              </a:rPr>
              <a:t>Volume 1, pg. 29</a:t>
            </a:r>
            <a:endParaRPr sz="2800" dirty="0"/>
          </a:p>
          <a:p>
            <a:pPr algn="ctr">
              <a:lnSpc>
                <a:spcPct val="100000"/>
              </a:lnSpc>
              <a:buClr>
                <a:srgbClr val="000000"/>
              </a:buClr>
            </a:pPr>
            <a:endParaRPr sz="3200" b="1" dirty="0">
              <a:solidFill>
                <a:srgbClr val="417DBF"/>
              </a:solidFill>
              <a:latin typeface="Verdana"/>
              <a:ea typeface="Verdana"/>
              <a:cs typeface="Verdana"/>
              <a:sym typeface="Verdana"/>
            </a:endParaRPr>
          </a:p>
          <a:p>
            <a:pPr algn="ctr">
              <a:lnSpc>
                <a:spcPct val="75000"/>
              </a:lnSpc>
            </a:pPr>
            <a:endParaRPr sz="2800" dirty="0">
              <a:solidFill>
                <a:srgbClr val="417DBF"/>
              </a:solidFill>
            </a:endParaRPr>
          </a:p>
        </p:txBody>
      </p:sp>
      <p:cxnSp>
        <p:nvCxnSpPr>
          <p:cNvPr id="114" name="Google Shape;114;g104476d1465_0_0"/>
          <p:cNvCxnSpPr/>
          <p:nvPr/>
        </p:nvCxnSpPr>
        <p:spPr>
          <a:xfrm>
            <a:off x="-1573225" y="3938167"/>
            <a:ext cx="1152600" cy="0"/>
          </a:xfrm>
          <a:prstGeom prst="straightConnector1">
            <a:avLst/>
          </a:prstGeom>
          <a:noFill/>
          <a:ln w="9525" cap="flat" cmpd="sng">
            <a:solidFill>
              <a:schemeClr val="lt1"/>
            </a:solidFill>
            <a:prstDash val="solid"/>
            <a:round/>
            <a:headEnd type="none" w="sm" len="sm"/>
            <a:tailEnd type="none" w="sm" len="sm"/>
          </a:ln>
        </p:spPr>
      </p:cxnSp>
      <p:sp>
        <p:nvSpPr>
          <p:cNvPr id="115" name="Google Shape;115;g104476d1465_0_0"/>
          <p:cNvSpPr/>
          <p:nvPr/>
        </p:nvSpPr>
        <p:spPr>
          <a:xfrm>
            <a:off x="0" y="0"/>
            <a:ext cx="4094106"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16" name="Google Shape;116;g104476d1465_0_0" descr="A blue sign with white text&#10;&#10;Description automatically generated with medium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411640" y="1575254"/>
            <a:ext cx="3270825" cy="3812847"/>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104476d1465_1_17"/>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23" name="Google Shape;123;g104476d1465_1_17"/>
          <p:cNvSpPr txBox="1">
            <a:spLocks noGrp="1"/>
          </p:cNvSpPr>
          <p:nvPr>
            <p:ph type="title" idx="4294967295"/>
          </p:nvPr>
        </p:nvSpPr>
        <p:spPr>
          <a:xfrm>
            <a:off x="1455481" y="46383"/>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124" name="Google Shape;124;g104476d1465_1_17"/>
          <p:cNvPicPr preferRelativeResize="0"/>
          <p:nvPr/>
        </p:nvPicPr>
        <p:blipFill rotWithShape="1">
          <a:blip r:embed="rId3">
            <a:alphaModFix/>
          </a:blip>
          <a:srcRect/>
          <a:stretch/>
        </p:blipFill>
        <p:spPr>
          <a:xfrm>
            <a:off x="631981" y="282158"/>
            <a:ext cx="747300" cy="747300"/>
          </a:xfrm>
          <a:prstGeom prst="rect">
            <a:avLst/>
          </a:prstGeom>
          <a:noFill/>
          <a:ln>
            <a:noFill/>
          </a:ln>
          <a:effectLst>
            <a:outerShdw blurRad="57150" dist="19050" dir="5400000" algn="bl" rotWithShape="0">
              <a:srgbClr val="000000">
                <a:alpha val="49803"/>
              </a:srgbClr>
            </a:outerShdw>
          </a:effectLst>
        </p:spPr>
      </p:pic>
      <p:sp>
        <p:nvSpPr>
          <p:cNvPr id="125" name="Google Shape;125;g104476d1465_1_17"/>
          <p:cNvSpPr txBox="1"/>
          <p:nvPr/>
        </p:nvSpPr>
        <p:spPr>
          <a:xfrm>
            <a:off x="8711062"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29</a:t>
            </a:r>
            <a:endParaRPr i="1" dirty="0">
              <a:latin typeface="Calibri"/>
              <a:ea typeface="Calibri"/>
              <a:cs typeface="Calibri"/>
              <a:sym typeface="Calibri"/>
            </a:endParaRPr>
          </a:p>
        </p:txBody>
      </p:sp>
      <p:pic>
        <p:nvPicPr>
          <p:cNvPr id="126"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288" y="6200599"/>
            <a:ext cx="563850" cy="657276"/>
          </a:xfrm>
          <a:prstGeom prst="rect">
            <a:avLst/>
          </a:prstGeom>
          <a:noFill/>
          <a:ln>
            <a:noFill/>
          </a:ln>
          <a:effectLst>
            <a:outerShdw blurRad="57150" dist="19050" dir="5400000" algn="bl" rotWithShape="0">
              <a:srgbClr val="000000">
                <a:alpha val="49803"/>
              </a:srgbClr>
            </a:outerShdw>
          </a:effectLst>
        </p:spPr>
      </p:pic>
      <p:sp>
        <p:nvSpPr>
          <p:cNvPr id="127" name="Google Shape;127;g104476d1465_1_17"/>
          <p:cNvSpPr txBox="1"/>
          <p:nvPr/>
        </p:nvSpPr>
        <p:spPr>
          <a:xfrm>
            <a:off x="1455481" y="1600200"/>
            <a:ext cx="9281038" cy="4205700"/>
          </a:xfrm>
          <a:prstGeom prst="rect">
            <a:avLst/>
          </a:prstGeom>
          <a:noFill/>
          <a:ln>
            <a:noFill/>
          </a:ln>
        </p:spPr>
        <p:txBody>
          <a:bodyPr spcFirstLastPara="1" wrap="square" lIns="91425" tIns="45700" rIns="91425" bIns="45700" anchor="t" anchorCtr="0">
            <a:normAutofit/>
          </a:bodyPr>
          <a:lstStyle/>
          <a:p>
            <a:pPr>
              <a:lnSpc>
                <a:spcPct val="90000"/>
              </a:lnSpc>
              <a:spcBef>
                <a:spcPts val="750"/>
              </a:spcBef>
              <a:buClr>
                <a:schemeClr val="dk1"/>
              </a:buClr>
              <a:buSzPts val="1100"/>
            </a:pPr>
            <a:r>
              <a:rPr lang="en-US" sz="3200" dirty="0">
                <a:solidFill>
                  <a:schemeClr val="dk1"/>
                </a:solidFill>
                <a:latin typeface="Verdana"/>
                <a:ea typeface="Verdana"/>
                <a:cs typeface="Verdana"/>
                <a:sym typeface="Verdana"/>
              </a:rPr>
              <a:t>MA.7.AR.2.2</a:t>
            </a:r>
            <a:endParaRPr sz="3200" dirty="0">
              <a:solidFill>
                <a:schemeClr val="dk1"/>
              </a:solidFill>
              <a:latin typeface="Verdana"/>
              <a:ea typeface="Verdana"/>
              <a:cs typeface="Verdana"/>
              <a:sym typeface="Verdana"/>
            </a:endParaRPr>
          </a:p>
          <a:p>
            <a:pPr marL="457200">
              <a:lnSpc>
                <a:spcPct val="90000"/>
              </a:lnSpc>
              <a:spcBef>
                <a:spcPts val="750"/>
              </a:spcBef>
              <a:buClr>
                <a:schemeClr val="dk1"/>
              </a:buClr>
              <a:buSzPts val="2100"/>
            </a:pPr>
            <a:r>
              <a:rPr lang="en-US" sz="3200" dirty="0">
                <a:latin typeface="Verdana" panose="020B0604030504040204" pitchFamily="34" charset="0"/>
                <a:ea typeface="Calibri" panose="020F0502020204030204" pitchFamily="34" charset="0"/>
                <a:cs typeface="Calibri" panose="020F0502020204030204" pitchFamily="34" charset="0"/>
              </a:rPr>
              <a:t>Write and solve two-step equations in one variable within a mathematical context or real-world context, where all terms are rational numbers.</a:t>
            </a:r>
            <a:r>
              <a:rPr lang="en-US" sz="3200" dirty="0"/>
              <a:t> </a:t>
            </a:r>
            <a:endParaRPr sz="2000" dirty="0">
              <a:solidFill>
                <a:schemeClr val="dk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pic>
        <p:nvPicPr>
          <p:cNvPr id="133" name="Google Shape;133;p1"/>
          <p:cNvPicPr preferRelativeResize="0"/>
          <p:nvPr/>
        </p:nvPicPr>
        <p:blipFill rotWithShape="1">
          <a:blip r:embed="rId3">
            <a:alphaModFix/>
          </a:blip>
          <a:srcRect/>
          <a:stretch/>
        </p:blipFill>
        <p:spPr>
          <a:xfrm>
            <a:off x="664406" y="242633"/>
            <a:ext cx="747300" cy="747300"/>
          </a:xfrm>
          <a:prstGeom prst="rect">
            <a:avLst/>
          </a:prstGeom>
          <a:noFill/>
          <a:ln>
            <a:noFill/>
          </a:ln>
          <a:effectLst>
            <a:outerShdw blurRad="57150" dist="19050" dir="5400000" algn="bl" rotWithShape="0">
              <a:srgbClr val="000000">
                <a:alpha val="49803"/>
              </a:srgbClr>
            </a:outerShdw>
          </a:effectLst>
        </p:spPr>
      </p:pic>
      <p:sp>
        <p:nvSpPr>
          <p:cNvPr id="135" name="Google Shape;135;p1"/>
          <p:cNvSpPr txBox="1"/>
          <p:nvPr/>
        </p:nvSpPr>
        <p:spPr>
          <a:xfrm>
            <a:off x="1489056" y="0"/>
            <a:ext cx="8024426"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000" b="1">
                <a:solidFill>
                  <a:srgbClr val="54B5D1"/>
                </a:solidFill>
                <a:latin typeface="Verdana"/>
                <a:ea typeface="Verdana"/>
                <a:cs typeface="Verdana"/>
                <a:sym typeface="Verdana"/>
              </a:rPr>
              <a:t>Integrated Mathematical Thinking and Reasoning Standards</a:t>
            </a:r>
            <a:endParaRPr/>
          </a:p>
        </p:txBody>
      </p:sp>
      <p:sp>
        <p:nvSpPr>
          <p:cNvPr id="137" name="Google Shape;137;p1"/>
          <p:cNvSpPr txBox="1"/>
          <p:nvPr/>
        </p:nvSpPr>
        <p:spPr>
          <a:xfrm>
            <a:off x="1489056" y="1596390"/>
            <a:ext cx="9801708" cy="4205700"/>
          </a:xfrm>
          <a:prstGeom prst="rect">
            <a:avLst/>
          </a:prstGeom>
          <a:noFill/>
          <a:ln>
            <a:noFill/>
          </a:ln>
        </p:spPr>
        <p:txBody>
          <a:bodyPr spcFirstLastPara="1" wrap="square" lIns="91425" tIns="45700" rIns="91425" bIns="45700" anchor="t" anchorCtr="0">
            <a:noAutofit/>
          </a:bodyPr>
          <a:lstStyle/>
          <a:p>
            <a:r>
              <a:rPr lang="en-US" sz="1800" dirty="0">
                <a:solidFill>
                  <a:schemeClr val="dk1"/>
                </a:solidFill>
                <a:latin typeface="Verdana"/>
                <a:ea typeface="Verdana"/>
                <a:cs typeface="Verdana"/>
                <a:sym typeface="Verdana"/>
              </a:rPr>
              <a:t>MA.K12.MTR.1.1 Actively participate in effortful learning both individually and collectively.</a:t>
            </a:r>
            <a:endParaRPr dirty="0"/>
          </a:p>
          <a:p>
            <a:pPr marL="457200"/>
            <a:endParaRPr sz="1800" dirty="0">
              <a:solidFill>
                <a:schemeClr val="dk1"/>
              </a:solidFill>
              <a:latin typeface="Verdana"/>
              <a:ea typeface="Verdana"/>
              <a:cs typeface="Verdana"/>
              <a:sym typeface="Verdana"/>
            </a:endParaRPr>
          </a:p>
          <a:p>
            <a:r>
              <a:rPr lang="en-US" sz="1800" dirty="0">
                <a:solidFill>
                  <a:schemeClr val="dk1"/>
                </a:solidFill>
                <a:latin typeface="Verdana"/>
                <a:ea typeface="Verdana"/>
                <a:cs typeface="Verdana"/>
                <a:sym typeface="Verdana"/>
              </a:rPr>
              <a:t>MA.K12.MTR.2.1 Demonstrate understanding by representing problems in multiple ways.</a:t>
            </a:r>
            <a:endParaRPr dirty="0"/>
          </a:p>
          <a:p>
            <a:pPr marL="457200"/>
            <a:endParaRPr sz="1800" dirty="0">
              <a:solidFill>
                <a:schemeClr val="dk1"/>
              </a:solidFill>
              <a:latin typeface="Verdana"/>
              <a:ea typeface="Verdana"/>
              <a:cs typeface="Verdana"/>
              <a:sym typeface="Verdana"/>
            </a:endParaRPr>
          </a:p>
          <a:p>
            <a:r>
              <a:rPr lang="en-US" sz="1800" dirty="0">
                <a:solidFill>
                  <a:schemeClr val="dk1"/>
                </a:solidFill>
                <a:latin typeface="Verdana"/>
                <a:ea typeface="Verdana"/>
                <a:cs typeface="Verdana"/>
                <a:sym typeface="Verdana"/>
              </a:rPr>
              <a:t>MA.K12.MTR.3.1 Complete tasks with mathematical fluency.</a:t>
            </a:r>
            <a:endParaRPr dirty="0"/>
          </a:p>
          <a:p>
            <a:pPr marL="457200"/>
            <a:endParaRPr sz="1800" dirty="0">
              <a:solidFill>
                <a:schemeClr val="dk1"/>
              </a:solidFill>
              <a:latin typeface="Verdana"/>
              <a:ea typeface="Verdana"/>
              <a:cs typeface="Verdana"/>
              <a:sym typeface="Verdana"/>
            </a:endParaRPr>
          </a:p>
          <a:p>
            <a:r>
              <a:rPr lang="en-US" sz="1800" dirty="0">
                <a:solidFill>
                  <a:schemeClr val="dk1"/>
                </a:solidFill>
                <a:latin typeface="Verdana"/>
                <a:ea typeface="Verdana"/>
                <a:cs typeface="Verdana"/>
                <a:sym typeface="Verdana"/>
              </a:rPr>
              <a:t>MA.K12.MTR.4.1 Engage in discussions that reflect on the mathematical thinking of self and others.</a:t>
            </a:r>
            <a:endParaRPr dirty="0"/>
          </a:p>
          <a:p>
            <a:pPr marL="457200"/>
            <a:endParaRPr sz="1800" dirty="0">
              <a:solidFill>
                <a:schemeClr val="dk1"/>
              </a:solidFill>
              <a:latin typeface="Verdana"/>
              <a:ea typeface="Verdana"/>
              <a:cs typeface="Verdana"/>
              <a:sym typeface="Verdana"/>
            </a:endParaRPr>
          </a:p>
          <a:p>
            <a:r>
              <a:rPr lang="en-US" sz="1800" dirty="0">
                <a:solidFill>
                  <a:schemeClr val="dk1"/>
                </a:solidFill>
                <a:latin typeface="Verdana"/>
                <a:ea typeface="Verdana"/>
                <a:cs typeface="Verdana"/>
                <a:sym typeface="Verdana"/>
              </a:rPr>
              <a:t>MA.K12.MTR.5.1 Use patterns and structure to help understand and connect mathematical concepts.</a:t>
            </a:r>
            <a:endParaRPr dirty="0"/>
          </a:p>
          <a:p>
            <a:endParaRPr sz="1800" dirty="0">
              <a:solidFill>
                <a:schemeClr val="dk1"/>
              </a:solidFill>
              <a:latin typeface="Verdana"/>
              <a:ea typeface="Verdana"/>
              <a:cs typeface="Verdana"/>
              <a:sym typeface="Verdana"/>
            </a:endParaRPr>
          </a:p>
          <a:p>
            <a:r>
              <a:rPr lang="en-US" sz="1800" dirty="0">
                <a:solidFill>
                  <a:schemeClr val="dk1"/>
                </a:solidFill>
                <a:latin typeface="Verdana"/>
                <a:ea typeface="Verdana"/>
                <a:cs typeface="Verdana"/>
                <a:sym typeface="Verdana"/>
              </a:rPr>
              <a:t>MA.K12.MTR.6.1 Assess the reasonableness of solutions.</a:t>
            </a:r>
            <a:endParaRPr dirty="0"/>
          </a:p>
          <a:p>
            <a:endParaRPr sz="1800" dirty="0">
              <a:solidFill>
                <a:schemeClr val="dk1"/>
              </a:solidFill>
              <a:latin typeface="Verdana"/>
              <a:ea typeface="Verdana"/>
              <a:cs typeface="Verdana"/>
              <a:sym typeface="Verdana"/>
            </a:endParaRPr>
          </a:p>
        </p:txBody>
      </p:sp>
      <p:sp>
        <p:nvSpPr>
          <p:cNvPr id="138" name="Google Shape;138;p1"/>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125;g104476d1465_1_17"/>
          <p:cNvSpPr txBox="1"/>
          <p:nvPr/>
        </p:nvSpPr>
        <p:spPr>
          <a:xfrm>
            <a:off x="8711062"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29</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288"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7">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7">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5" name="Google Shape;145;p2"/>
          <p:cNvSpPr txBox="1"/>
          <p:nvPr/>
        </p:nvSpPr>
        <p:spPr>
          <a:xfrm>
            <a:off x="1394327" y="0"/>
            <a:ext cx="79584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700" b="1" dirty="0">
                <a:solidFill>
                  <a:srgbClr val="52BDA6"/>
                </a:solidFill>
                <a:latin typeface="Verdana"/>
                <a:ea typeface="Verdana"/>
                <a:cs typeface="Verdana"/>
                <a:sym typeface="Verdana"/>
              </a:rPr>
              <a:t>Learning Targets</a:t>
            </a:r>
            <a:endParaRPr dirty="0"/>
          </a:p>
        </p:txBody>
      </p:sp>
      <p:pic>
        <p:nvPicPr>
          <p:cNvPr id="146" name="Google Shape;146;p2"/>
          <p:cNvPicPr preferRelativeResize="0"/>
          <p:nvPr/>
        </p:nvPicPr>
        <p:blipFill rotWithShape="1">
          <a:blip r:embed="rId3">
            <a:alphaModFix/>
          </a:blip>
          <a:srcRect/>
          <a:stretch/>
        </p:blipFill>
        <p:spPr>
          <a:xfrm>
            <a:off x="612165" y="289200"/>
            <a:ext cx="747300" cy="747300"/>
          </a:xfrm>
          <a:prstGeom prst="rect">
            <a:avLst/>
          </a:prstGeom>
          <a:noFill/>
          <a:ln>
            <a:noFill/>
          </a:ln>
          <a:effectLst>
            <a:outerShdw blurRad="50800" dist="38100" dir="2700000" algn="tl" rotWithShape="0">
              <a:srgbClr val="000000">
                <a:alpha val="40000"/>
              </a:srgbClr>
            </a:outerShdw>
          </a:effectLst>
        </p:spPr>
      </p:pic>
      <p:sp>
        <p:nvSpPr>
          <p:cNvPr id="148" name="Google Shape;148;p2"/>
          <p:cNvSpPr txBox="1"/>
          <p:nvPr/>
        </p:nvSpPr>
        <p:spPr>
          <a:xfrm>
            <a:off x="1394327" y="1600200"/>
            <a:ext cx="9403346" cy="4205700"/>
          </a:xfrm>
          <a:prstGeom prst="rect">
            <a:avLst/>
          </a:prstGeom>
          <a:noFill/>
          <a:ln>
            <a:noFill/>
          </a:ln>
        </p:spPr>
        <p:txBody>
          <a:bodyPr spcFirstLastPara="1" wrap="square" lIns="91425" tIns="45700" rIns="91425" bIns="45700" anchor="t" anchorCtr="0">
            <a:noAutofit/>
          </a:bodyPr>
          <a:lstStyle/>
          <a:p>
            <a:pPr marL="457200" indent="-450850">
              <a:buClr>
                <a:srgbClr val="434343"/>
              </a:buClr>
              <a:buSzPts val="3500"/>
              <a:buFont typeface="Verdana"/>
              <a:buChar char="❏"/>
            </a:pPr>
            <a:r>
              <a:rPr lang="en-US" sz="3200" dirty="0">
                <a:solidFill>
                  <a:schemeClr val="dk1"/>
                </a:solidFill>
                <a:latin typeface="Verdana"/>
                <a:ea typeface="Verdana"/>
                <a:cs typeface="Verdana"/>
                <a:sym typeface="Verdana"/>
              </a:rPr>
              <a:t>I can solve two-step equations involving the distributive property.</a:t>
            </a:r>
          </a:p>
          <a:p>
            <a:pPr marL="457200" indent="-450850">
              <a:buClr>
                <a:srgbClr val="434343"/>
              </a:buClr>
              <a:buSzPts val="3500"/>
              <a:buFont typeface="Verdana"/>
              <a:buChar char="❏"/>
            </a:pPr>
            <a:r>
              <a:rPr lang="en-US" sz="3200" dirty="0">
                <a:solidFill>
                  <a:schemeClr val="dk1"/>
                </a:solidFill>
                <a:latin typeface="Verdana"/>
                <a:ea typeface="Verdana"/>
                <a:cs typeface="Verdana"/>
                <a:sym typeface="Verdana"/>
              </a:rPr>
              <a:t>I can solve two-step equations within a real-world context.</a:t>
            </a:r>
          </a:p>
          <a:p>
            <a:pPr marL="457200" indent="-450850">
              <a:buClr>
                <a:srgbClr val="434343"/>
              </a:buClr>
              <a:buSzPts val="3500"/>
              <a:buFont typeface="Verdana"/>
              <a:buChar char="❏"/>
            </a:pPr>
            <a:r>
              <a:rPr lang="en-US" sz="3200" dirty="0">
                <a:solidFill>
                  <a:schemeClr val="dk1"/>
                </a:solidFill>
                <a:latin typeface="Verdana"/>
                <a:ea typeface="Verdana"/>
                <a:cs typeface="Verdana"/>
                <a:sym typeface="Verdana"/>
              </a:rPr>
              <a:t>I can relate the solution of an equation representing a real-world context to the context.</a:t>
            </a:r>
          </a:p>
          <a:p>
            <a:pPr marL="457200" indent="-450850">
              <a:buClr>
                <a:srgbClr val="434343"/>
              </a:buClr>
              <a:buSzPts val="3500"/>
              <a:buFont typeface="Verdana"/>
              <a:buChar char="❏"/>
            </a:pPr>
            <a:endParaRPr lang="en-US" sz="3200" dirty="0">
              <a:solidFill>
                <a:schemeClr val="dk1"/>
              </a:solidFill>
              <a:latin typeface="Verdana"/>
              <a:ea typeface="Verdana"/>
              <a:cs typeface="Verdana"/>
              <a:sym typeface="Verdana"/>
            </a:endParaRPr>
          </a:p>
        </p:txBody>
      </p:sp>
      <p:sp>
        <p:nvSpPr>
          <p:cNvPr id="149" name="Google Shape;149;p2"/>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125;g104476d1465_1_17"/>
          <p:cNvSpPr txBox="1"/>
          <p:nvPr/>
        </p:nvSpPr>
        <p:spPr>
          <a:xfrm>
            <a:off x="8711062"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29</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288"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104476d1465_1_39"/>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57" name="Google Shape;157;g104476d1465_1_39"/>
          <p:cNvPicPr preferRelativeResize="0"/>
          <p:nvPr/>
        </p:nvPicPr>
        <p:blipFill rotWithShape="1">
          <a:blip r:embed="rId3">
            <a:alphaModFix/>
          </a:blip>
          <a:srcRect/>
          <a:stretch/>
        </p:blipFill>
        <p:spPr>
          <a:xfrm>
            <a:off x="4635550" y="2879325"/>
            <a:ext cx="1031750" cy="1031750"/>
          </a:xfrm>
          <a:prstGeom prst="rect">
            <a:avLst/>
          </a:prstGeom>
          <a:noFill/>
          <a:ln>
            <a:noFill/>
          </a:ln>
          <a:effectLst>
            <a:outerShdw blurRad="50800" dist="38100" dir="2700000" algn="tl" rotWithShape="0">
              <a:srgbClr val="000000">
                <a:alpha val="40000"/>
              </a:srgbClr>
            </a:outerShdw>
          </a:effectLst>
        </p:spPr>
      </p:pic>
      <p:sp>
        <p:nvSpPr>
          <p:cNvPr id="158" name="Google Shape;158;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Warm-Up</a:t>
            </a:r>
            <a:endParaRPr sz="5100" b="1">
              <a:solidFill>
                <a:srgbClr val="3F2A67"/>
              </a:solidFill>
              <a:latin typeface="Verdana"/>
              <a:ea typeface="Verdana"/>
              <a:cs typeface="Verdana"/>
              <a:sym typeface="Verdana"/>
            </a:endParaRPr>
          </a:p>
        </p:txBody>
      </p:sp>
      <p:sp>
        <p:nvSpPr>
          <p:cNvPr id="8" name="Google Shape;125;g104476d1465_1_17"/>
          <p:cNvSpPr txBox="1"/>
          <p:nvPr/>
        </p:nvSpPr>
        <p:spPr>
          <a:xfrm>
            <a:off x="8711062"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30</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288"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6" name="Google Shape;166;p4"/>
          <p:cNvSpPr txBox="1"/>
          <p:nvPr/>
        </p:nvSpPr>
        <p:spPr>
          <a:xfrm>
            <a:off x="1308887" y="-47522"/>
            <a:ext cx="8019300" cy="1325700"/>
          </a:xfrm>
          <a:prstGeom prst="rect">
            <a:avLst/>
          </a:prstGeom>
          <a:noFill/>
          <a:ln>
            <a:noFill/>
          </a:ln>
        </p:spPr>
        <p:txBody>
          <a:bodyPr spcFirstLastPara="1" wrap="square" lIns="91425" tIns="45700" rIns="91425" bIns="45700" anchor="ctr" anchorCtr="0">
            <a:noAutofit/>
          </a:bodyPr>
          <a:lstStyle/>
          <a:p>
            <a:pPr lvl="0">
              <a:lnSpc>
                <a:spcPct val="90000"/>
              </a:lnSpc>
              <a:buClr>
                <a:schemeClr val="dk1"/>
              </a:buClr>
              <a:buSzPts val="5400"/>
            </a:pPr>
            <a:r>
              <a:rPr lang="en-US" sz="3200" b="1" dirty="0">
                <a:solidFill>
                  <a:srgbClr val="3F2A67"/>
                </a:solidFill>
                <a:latin typeface="Verdana"/>
                <a:ea typeface="Verdana"/>
                <a:cs typeface="Verdana"/>
                <a:sym typeface="Verdana"/>
              </a:rPr>
              <a:t>1.5.1 Warm-Up: Number Patterns</a:t>
            </a:r>
            <a:endParaRPr sz="1200" dirty="0"/>
          </a:p>
        </p:txBody>
      </p:sp>
      <p:pic>
        <p:nvPicPr>
          <p:cNvPr id="167" name="Google Shape;167;p4"/>
          <p:cNvPicPr preferRelativeResize="0"/>
          <p:nvPr/>
        </p:nvPicPr>
        <p:blipFill rotWithShape="1">
          <a:blip r:embed="rId3">
            <a:alphaModFix/>
          </a:blip>
          <a:srcRect/>
          <a:stretch/>
        </p:blipFill>
        <p:spPr>
          <a:xfrm>
            <a:off x="561587" y="168172"/>
            <a:ext cx="747300" cy="747300"/>
          </a:xfrm>
          <a:prstGeom prst="rect">
            <a:avLst/>
          </a:prstGeom>
          <a:noFill/>
          <a:ln>
            <a:noFill/>
          </a:ln>
          <a:effectLst>
            <a:outerShdw blurRad="50800" dist="38100" dir="2700000" algn="tl" rotWithShape="0">
              <a:srgbClr val="000000">
                <a:alpha val="40000"/>
              </a:srgbClr>
            </a:outerShdw>
          </a:effectLst>
        </p:spPr>
      </p:pic>
      <p:sp>
        <p:nvSpPr>
          <p:cNvPr id="169" name="Google Shape;169;p4"/>
          <p:cNvSpPr txBox="1"/>
          <p:nvPr/>
        </p:nvSpPr>
        <p:spPr>
          <a:xfrm>
            <a:off x="1308887" y="1278178"/>
            <a:ext cx="9830258" cy="4708941"/>
          </a:xfrm>
          <a:prstGeom prst="rect">
            <a:avLst/>
          </a:prstGeom>
          <a:noFill/>
          <a:ln>
            <a:noFill/>
          </a:ln>
        </p:spPr>
        <p:txBody>
          <a:bodyPr spcFirstLastPara="1" wrap="square" lIns="91425" tIns="45700" rIns="91425" bIns="45700" anchor="t" anchorCtr="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A pattern is shown.</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lvl="0"/>
            <a:r>
              <a:rPr lang="en-US" sz="2000" dirty="0">
                <a:latin typeface="Verdana" panose="020B0604030504040204" pitchFamily="34" charset="0"/>
                <a:ea typeface="Verdana" panose="020B0604030504040204" pitchFamily="34" charset="0"/>
                <a:cs typeface="Verdana" panose="020B0604030504040204" pitchFamily="34" charset="0"/>
              </a:rPr>
              <a:t>1. Describe how the pattern is changing in each step.</a:t>
            </a:r>
          </a:p>
          <a:p>
            <a:pPr marL="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a:r>
              <a:rPr lang="en-US" sz="2000" dirty="0">
                <a:latin typeface="Verdana" panose="020B0604030504040204" pitchFamily="34" charset="0"/>
                <a:ea typeface="Verdana" panose="020B0604030504040204" pitchFamily="34" charset="0"/>
                <a:cs typeface="Verdana" panose="020B0604030504040204" pitchFamily="34" charset="0"/>
              </a:rPr>
              <a:t> </a:t>
            </a:r>
          </a:p>
          <a:p>
            <a:pPr lvl="0"/>
            <a:r>
              <a:rPr lang="en-US" sz="2000" dirty="0">
                <a:latin typeface="Verdana" panose="020B0604030504040204" pitchFamily="34" charset="0"/>
                <a:ea typeface="Verdana" panose="020B0604030504040204" pitchFamily="34" charset="0"/>
                <a:cs typeface="Verdana" panose="020B0604030504040204" pitchFamily="34" charset="0"/>
              </a:rPr>
              <a:t>2. How many circles will be in the next step?</a:t>
            </a:r>
          </a:p>
        </p:txBody>
      </p:sp>
      <p:sp>
        <p:nvSpPr>
          <p:cNvPr id="170" name="Google Shape;170;p4"/>
          <p:cNvSpPr/>
          <p:nvPr/>
        </p:nvSpPr>
        <p:spPr>
          <a:xfrm>
            <a:off x="0" y="-810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8" name="image9.png" descr="A close up of a logo&#10;&#10;Description automatically generated">
            <a:extLst>
              <a:ext uri="{FF2B5EF4-FFF2-40B4-BE49-F238E27FC236}">
                <a16:creationId xmlns:a16="http://schemas.microsoft.com/office/drawing/2014/main" xmlns="" id="{6F7982D5-D347-7A4D-8604-259F1B48A393}"/>
              </a:ext>
            </a:extLst>
          </p:cNvPr>
          <p:cNvPicPr/>
          <p:nvPr/>
        </p:nvPicPr>
        <p:blipFill>
          <a:blip r:embed="rId4"/>
          <a:srcRect/>
          <a:stretch>
            <a:fillRect/>
          </a:stretch>
        </p:blipFill>
        <p:spPr>
          <a:xfrm>
            <a:off x="2625925" y="1748735"/>
            <a:ext cx="7196183" cy="2338705"/>
          </a:xfrm>
          <a:prstGeom prst="rect">
            <a:avLst/>
          </a:prstGeom>
          <a:ln/>
        </p:spPr>
      </p:pic>
      <p:sp>
        <p:nvSpPr>
          <p:cNvPr id="10" name="Google Shape;125;g104476d1465_1_17"/>
          <p:cNvSpPr txBox="1"/>
          <p:nvPr/>
        </p:nvSpPr>
        <p:spPr>
          <a:xfrm>
            <a:off x="8711062"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30</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288"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24"/>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67" name="Google Shape;367;p24"/>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54B5D1"/>
                </a:solidFill>
                <a:latin typeface="Verdana"/>
                <a:ea typeface="Verdana"/>
                <a:cs typeface="Verdana"/>
                <a:sym typeface="Verdana"/>
              </a:rPr>
              <a:t>Refresher</a:t>
            </a:r>
            <a:endParaRPr sz="5100" b="1">
              <a:solidFill>
                <a:srgbClr val="54B5D1"/>
              </a:solidFill>
              <a:latin typeface="Verdana"/>
              <a:ea typeface="Verdana"/>
              <a:cs typeface="Verdana"/>
              <a:sym typeface="Verdana"/>
            </a:endParaRPr>
          </a:p>
        </p:txBody>
      </p:sp>
      <p:pic>
        <p:nvPicPr>
          <p:cNvPr id="369" name="Google Shape;369;p24" descr="Icon&#10;&#10;Description automatically generated"/>
          <p:cNvPicPr preferRelativeResize="0"/>
          <p:nvPr/>
        </p:nvPicPr>
        <p:blipFill rotWithShape="1">
          <a:blip r:embed="rId3">
            <a:alphaModFix/>
          </a:blip>
          <a:srcRect/>
          <a:stretch/>
        </p:blipFill>
        <p:spPr>
          <a:xfrm>
            <a:off x="4492434" y="2791963"/>
            <a:ext cx="1152144" cy="1152144"/>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711062"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30</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288"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6" name="Google Shape;376;p25"/>
          <p:cNvSpPr txBox="1"/>
          <p:nvPr/>
        </p:nvSpPr>
        <p:spPr>
          <a:xfrm>
            <a:off x="1493937" y="-77725"/>
            <a:ext cx="10109057" cy="1325700"/>
          </a:xfrm>
          <a:prstGeom prst="rect">
            <a:avLst/>
          </a:prstGeom>
          <a:noFill/>
          <a:ln>
            <a:noFill/>
          </a:ln>
        </p:spPr>
        <p:txBody>
          <a:bodyPr spcFirstLastPara="1" wrap="square" lIns="91425" tIns="45700" rIns="91425" bIns="45700" anchor="ctr" anchorCtr="0">
            <a:noAutofit/>
          </a:bodyPr>
          <a:lstStyle/>
          <a:p>
            <a:pPr lvl="0">
              <a:lnSpc>
                <a:spcPct val="90000"/>
              </a:lnSpc>
              <a:buClr>
                <a:schemeClr val="dk1"/>
              </a:buClr>
              <a:buSzPts val="5400"/>
            </a:pPr>
            <a:r>
              <a:rPr lang="en-US" sz="2800" b="1" dirty="0">
                <a:solidFill>
                  <a:srgbClr val="54B5D1"/>
                </a:solidFill>
                <a:latin typeface="Verdana"/>
                <a:ea typeface="Verdana"/>
                <a:cs typeface="Verdana"/>
                <a:sym typeface="Verdana"/>
              </a:rPr>
              <a:t>1.5.2 Refresher: The Distributive Property</a:t>
            </a:r>
            <a:endParaRPr sz="1100" dirty="0"/>
          </a:p>
        </p:txBody>
      </p:sp>
      <p:pic>
        <p:nvPicPr>
          <p:cNvPr id="378" name="Google Shape;378;p25"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59634" y="182619"/>
            <a:ext cx="749808" cy="749808"/>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xmlns:a14="http://schemas.microsoft.com/office/drawing/2010/main">
        <mc:Choice Requires="a14">
          <p:sp>
            <p:nvSpPr>
              <p:cNvPr id="379" name="Google Shape;379;p25"/>
              <p:cNvSpPr txBox="1"/>
              <p:nvPr/>
            </p:nvSpPr>
            <p:spPr>
              <a:xfrm>
                <a:off x="1136822" y="1317476"/>
                <a:ext cx="10069022" cy="3785611"/>
              </a:xfrm>
              <a:prstGeom prst="rect">
                <a:avLst/>
              </a:prstGeom>
              <a:noFill/>
              <a:ln>
                <a:noFill/>
              </a:ln>
            </p:spPr>
            <p:txBody>
              <a:bodyPr spcFirstLastPara="1" wrap="square" lIns="91425" tIns="45700" rIns="91425" bIns="45700" anchor="t" anchorCtr="0">
                <a:spAutoFit/>
              </a:bodyPr>
              <a:lstStyle/>
              <a:p>
                <a:pPr marL="457200" indent="-457200">
                  <a:buAutoNum type="arabicPeriod"/>
                </a:pPr>
                <a:r>
                  <a:rPr lang="en-US" sz="2000" dirty="0">
                    <a:latin typeface="Verdana" panose="020B0604030504040204" pitchFamily="34" charset="0"/>
                    <a:ea typeface="Verdana" panose="020B0604030504040204" pitchFamily="34" charset="0"/>
                    <a:cs typeface="Verdana" panose="020B0604030504040204" pitchFamily="34" charset="0"/>
                    <a:sym typeface="Verdana"/>
                  </a:rPr>
                  <a:t>Several expressions are shown.</a:t>
                </a: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sym typeface="Verdana"/>
                </a:endParaRPr>
              </a:p>
              <a:p>
                <a:pPr marL="228600" indent="-2286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sym typeface="Verdana"/>
                </a:endParaRPr>
              </a:p>
              <a:p>
                <a:pPr marL="228600" indent="-2286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sym typeface="Verdana"/>
                </a:endParaRPr>
              </a:p>
              <a:p>
                <a:pPr marL="228600" indent="-2286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sym typeface="Verdana"/>
                </a:endParaRPr>
              </a:p>
              <a:p>
                <a:pPr marL="228600" indent="-2286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sym typeface="Verdana"/>
                </a:endParaRPr>
              </a:p>
              <a:p>
                <a:pPr marL="460375" lvl="1"/>
                <a:r>
                  <a:rPr lang="en-US" sz="2000" dirty="0">
                    <a:latin typeface="Verdana" panose="020B0604030504040204" pitchFamily="34" charset="0"/>
                    <a:ea typeface="Verdana" panose="020B0604030504040204" pitchFamily="34" charset="0"/>
                    <a:cs typeface="Verdana" panose="020B0604030504040204" pitchFamily="34" charset="0"/>
                  </a:rPr>
                  <a:t>a. Circle the expressions that are equivalent to </a:t>
                </a:r>
              </a:p>
              <a:p>
                <a:pPr marL="914400"/>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−2(</m:t>
                    </m:r>
                    <m:r>
                      <a:rPr lang="en-US" sz="2000" i="1">
                        <a:latin typeface="Cambria Math" panose="02040503050406030204" pitchFamily="18" charset="0"/>
                        <a:ea typeface="Times New Roman" panose="02020603050405020304" pitchFamily="18" charset="0"/>
                        <a:cs typeface="Times New Roman" panose="02020603050405020304" pitchFamily="18" charset="0"/>
                      </a:rPr>
                      <m:t>𝑥</m:t>
                    </m:r>
                    <m:r>
                      <a:rPr lang="en-US" sz="2000" i="1">
                        <a:latin typeface="Cambria Math" panose="02040503050406030204" pitchFamily="18" charset="0"/>
                        <a:ea typeface="Times New Roman" panose="02020603050405020304" pitchFamily="18" charset="0"/>
                        <a:cs typeface="Times New Roman" panose="02020603050405020304" pitchFamily="18" charset="0"/>
                      </a:rPr>
                      <m:t> + 3)</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808038" lvl="1" indent="-350838"/>
                <a:r>
                  <a:rPr lang="en-US" sz="2000" dirty="0">
                    <a:latin typeface="Verdana" panose="020B0604030504040204" pitchFamily="34" charset="0"/>
                    <a:ea typeface="Verdana" panose="020B0604030504040204" pitchFamily="34" charset="0"/>
                    <a:cs typeface="Verdana" panose="020B0604030504040204" pitchFamily="34" charset="0"/>
                  </a:rPr>
                  <a:t>b. Use substitution to show that each of the expressions chosen is equivalent to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−2(</m:t>
                    </m:r>
                    <m:r>
                      <a:rPr lang="en-US" sz="2000" i="1">
                        <a:latin typeface="Cambria Math" panose="02040503050406030204" pitchFamily="18" charset="0"/>
                        <a:ea typeface="Times New Roman" panose="02020603050405020304" pitchFamily="18" charset="0"/>
                        <a:cs typeface="Times New Roman" panose="02020603050405020304" pitchFamily="18" charset="0"/>
                      </a:rPr>
                      <m:t>𝑥</m:t>
                    </m:r>
                    <m:r>
                      <a:rPr lang="en-US" sz="2000" i="1">
                        <a:latin typeface="Cambria Math" panose="02040503050406030204" pitchFamily="18" charset="0"/>
                        <a:ea typeface="Times New Roman" panose="02020603050405020304" pitchFamily="18" charset="0"/>
                        <a:cs typeface="Times New Roman" panose="02020603050405020304" pitchFamily="18" charset="0"/>
                      </a:rPr>
                      <m:t> + 3)</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228600" indent="-228600">
                  <a:buAutoNum type="arabicPeriod"/>
                </a:pPr>
                <a:endParaRPr lang="en-US" sz="2000" dirty="0">
                  <a:latin typeface="Verdana"/>
                  <a:ea typeface="Verdana"/>
                  <a:cs typeface="Verdana"/>
                  <a:sym typeface="Verdana"/>
                </a:endParaRPr>
              </a:p>
            </p:txBody>
          </p:sp>
        </mc:Choice>
        <mc:Fallback xmlns="">
          <p:sp>
            <p:nvSpPr>
              <p:cNvPr id="379" name="Google Shape;379;p25"/>
              <p:cNvSpPr txBox="1">
                <a:spLocks noRot="1" noChangeAspect="1" noMove="1" noResize="1" noEditPoints="1" noAdjustHandles="1" noChangeArrowheads="1" noChangeShapeType="1" noTextEdit="1"/>
              </p:cNvSpPr>
              <p:nvPr/>
            </p:nvSpPr>
            <p:spPr>
              <a:xfrm>
                <a:off x="1136822" y="1317476"/>
                <a:ext cx="10069022" cy="3785611"/>
              </a:xfrm>
              <a:prstGeom prst="rect">
                <a:avLst/>
              </a:prstGeom>
              <a:blipFill rotWithShape="0">
                <a:blip r:embed="rId4"/>
                <a:stretch>
                  <a:fillRect l="-666" t="-1127" b="-4670"/>
                </a:stretch>
              </a:blipFill>
              <a:ln>
                <a:noFill/>
              </a:ln>
            </p:spPr>
            <p:txBody>
              <a:bodyPr/>
              <a:lstStyle/>
              <a:p>
                <a:r>
                  <a:rPr lang="en-US">
                    <a:noFill/>
                  </a:rPr>
                  <a:t> </a:t>
                </a:r>
              </a:p>
            </p:txBody>
          </p:sp>
        </mc:Fallback>
      </mc:AlternateContent>
      <p:sp>
        <p:nvSpPr>
          <p:cNvPr id="380" name="Google Shape;380;p25"/>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xmlns="" id="{5187379B-163C-E745-92F0-0C41FDE2DFD8}"/>
                  </a:ext>
                </a:extLst>
              </p:cNvPr>
              <p:cNvGraphicFramePr>
                <a:graphicFrameLocks noGrp="1"/>
              </p:cNvGraphicFramePr>
              <p:nvPr>
                <p:extLst>
                  <p:ext uri="{D42A27DB-BD31-4B8C-83A1-F6EECF244321}">
                    <p14:modId xmlns:p14="http://schemas.microsoft.com/office/powerpoint/2010/main" val="383088893"/>
                  </p:ext>
                </p:extLst>
              </p:nvPr>
            </p:nvGraphicFramePr>
            <p:xfrm>
              <a:off x="2060450" y="1897666"/>
              <a:ext cx="8099553" cy="914400"/>
            </p:xfrm>
            <a:graphic>
              <a:graphicData uri="http://schemas.openxmlformats.org/drawingml/2006/table">
                <a:tbl>
                  <a:tblPr firstRow="1" firstCol="1" bandRow="1"/>
                  <a:tblGrid>
                    <a:gridCol w="2830865">
                      <a:extLst>
                        <a:ext uri="{9D8B030D-6E8A-4147-A177-3AD203B41FA5}">
                          <a16:colId xmlns:a16="http://schemas.microsoft.com/office/drawing/2014/main" xmlns="" val="2411512324"/>
                        </a:ext>
                      </a:extLst>
                    </a:gridCol>
                    <a:gridCol w="1231676">
                      <a:extLst>
                        <a:ext uri="{9D8B030D-6E8A-4147-A177-3AD203B41FA5}">
                          <a16:colId xmlns:a16="http://schemas.microsoft.com/office/drawing/2014/main" xmlns="" val="3570322523"/>
                        </a:ext>
                      </a:extLst>
                    </a:gridCol>
                    <a:gridCol w="756781">
                      <a:extLst>
                        <a:ext uri="{9D8B030D-6E8A-4147-A177-3AD203B41FA5}">
                          <a16:colId xmlns:a16="http://schemas.microsoft.com/office/drawing/2014/main" xmlns="" val="4228589905"/>
                        </a:ext>
                      </a:extLst>
                    </a:gridCol>
                    <a:gridCol w="3280231">
                      <a:extLst>
                        <a:ext uri="{9D8B030D-6E8A-4147-A177-3AD203B41FA5}">
                          <a16:colId xmlns:a16="http://schemas.microsoft.com/office/drawing/2014/main" xmlns="" val="4117705937"/>
                        </a:ext>
                      </a:extLst>
                    </a:gridCol>
                  </a:tblGrid>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𝑥</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oMath>
                            </m:oMathPara>
                          </a14:m>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a:noFill/>
                        </a:lnL>
                        <a:lnR>
                          <a:noFill/>
                        </a:lnR>
                        <a:lnT>
                          <a:noFill/>
                        </a:lnT>
                        <a:lnB>
                          <a:noFill/>
                        </a:lnB>
                      </a:tcPr>
                    </a:tc>
                    <a:tc gridSpan="2">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d>
                                  <m:dPr>
                                    <m:ctrlPr>
                                      <a:rPr lang="en-US" sz="2000" i="1">
                                        <a:effectLst/>
                                        <a:latin typeface="Cambria Math" charset="0"/>
                                        <a:ea typeface="Times New Roman" panose="02020603050405020304" pitchFamily="18" charset="0"/>
                                        <a:cs typeface="Times New Roman" panose="02020603050405020304" pitchFamily="18" charset="0"/>
                                      </a:rPr>
                                    </m:ctrlPr>
                                  </m:d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𝑥</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e>
                                </m:d>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oMath>
                            </m:oMathPara>
                          </a14:m>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a:noFill/>
                        </a:lnL>
                        <a:lnR>
                          <a:noFill/>
                        </a:lnR>
                        <a:lnT>
                          <a:noFill/>
                        </a:lnT>
                        <a:lnB>
                          <a:noFill/>
                        </a:lnB>
                      </a:tcPr>
                    </a:tc>
                    <a:tc hMerge="1">
                      <a:txBody>
                        <a:bodyPr/>
                        <a:lstStyle/>
                        <a:p>
                          <a:endParaRPr lang="en-US"/>
                        </a:p>
                      </a:txBody>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𝑥</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−6</m:t>
                                </m:r>
                              </m:oMath>
                            </m:oMathPara>
                          </a14:m>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a:noFill/>
                        </a:lnL>
                        <a:lnR>
                          <a:noFill/>
                        </a:lnR>
                        <a:lnT>
                          <a:noFill/>
                        </a:lnT>
                        <a:lnB>
                          <a:noFill/>
                        </a:lnB>
                      </a:tcPr>
                    </a:tc>
                    <a:extLst>
                      <a:ext uri="{0D108BD9-81ED-4DB2-BD59-A6C34878D82A}">
                        <a16:rowId xmlns:a16="http://schemas.microsoft.com/office/drawing/2014/main" xmlns="" val="2982807319"/>
                      </a:ext>
                    </a:extLst>
                  </a:tr>
                  <a:tr h="457200">
                    <a:tc gridSpan="2">
                      <a:txBody>
                        <a:bodyPr/>
                        <a:lstStyle/>
                        <a:p>
                          <a:pPr marL="91440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𝑥</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+(−2)∙3</m:t>
                                </m:r>
                              </m:oMath>
                            </m:oMathPara>
                          </a14:m>
                          <a:endParaRPr lang="en-US"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a:noFill/>
                        </a:lnL>
                        <a:lnR>
                          <a:noFill/>
                        </a:lnR>
                        <a:lnT>
                          <a:noFill/>
                        </a:lnT>
                        <a:lnB>
                          <a:noFill/>
                        </a:lnB>
                      </a:tcPr>
                    </a:tc>
                    <a:tc hMerge="1">
                      <a:txBody>
                        <a:bodyPr/>
                        <a:lstStyle/>
                        <a:p>
                          <a:endParaRPr lang="en-US"/>
                        </a:p>
                      </a:txBody>
                      <a:tcPr/>
                    </a:tc>
                    <a:tc gridSpan="2">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d>
                                  <m:dPr>
                                    <m:ctrlPr>
                                      <a:rPr lang="en-US" sz="2000" i="1">
                                        <a:effectLst/>
                                        <a:latin typeface="Cambria Math" charset="0"/>
                                        <a:ea typeface="Times New Roman" panose="02020603050405020304" pitchFamily="18" charset="0"/>
                                        <a:cs typeface="Times New Roman" panose="02020603050405020304" pitchFamily="18" charset="0"/>
                                      </a:rPr>
                                    </m:ctrlPr>
                                  </m:d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𝑥</m:t>
                                    </m:r>
                                  </m:e>
                                </m:d>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oMath>
                            </m:oMathPara>
                          </a14:m>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a:noFill/>
                        </a:lnL>
                        <a:lnR>
                          <a:noFill/>
                        </a:lnR>
                        <a:lnT>
                          <a:noFill/>
                        </a:lnT>
                        <a:lnB>
                          <a:noFill/>
                        </a:lnB>
                      </a:tcPr>
                    </a:tc>
                    <a:tc hMerge="1">
                      <a:txBody>
                        <a:bodyPr/>
                        <a:lstStyle/>
                        <a:p>
                          <a:endParaRPr lang="en-US"/>
                        </a:p>
                      </a:txBody>
                      <a:tcPr/>
                    </a:tc>
                    <a:extLst>
                      <a:ext uri="{0D108BD9-81ED-4DB2-BD59-A6C34878D82A}">
                        <a16:rowId xmlns:a16="http://schemas.microsoft.com/office/drawing/2014/main" xmlns="" val="297386296"/>
                      </a:ext>
                    </a:extLst>
                  </a:tr>
                </a:tbl>
              </a:graphicData>
            </a:graphic>
          </p:graphicFrame>
        </mc:Choice>
        <mc:Fallback xmlns="">
          <p:graphicFrame>
            <p:nvGraphicFramePr>
              <p:cNvPr id="4" name="Table 3">
                <a:extLst>
                  <a:ext uri="{FF2B5EF4-FFF2-40B4-BE49-F238E27FC236}">
                    <a16:creationId xmlns:a16="http://schemas.microsoft.com/office/drawing/2014/main" id="{5187379B-163C-E745-92F0-0C41FDE2DFD8}"/>
                  </a:ext>
                </a:extLst>
              </p:cNvPr>
              <p:cNvGraphicFramePr>
                <a:graphicFrameLocks noGrp="1"/>
              </p:cNvGraphicFramePr>
              <p:nvPr>
                <p:extLst>
                  <p:ext uri="{D42A27DB-BD31-4B8C-83A1-F6EECF244321}">
                    <p14:modId xmlns:p14="http://schemas.microsoft.com/office/powerpoint/2010/main" val="383088893"/>
                  </p:ext>
                </p:extLst>
              </p:nvPr>
            </p:nvGraphicFramePr>
            <p:xfrm>
              <a:off x="536449" y="1897666"/>
              <a:ext cx="8099553" cy="914400"/>
            </p:xfrm>
            <a:graphic>
              <a:graphicData uri="http://schemas.openxmlformats.org/drawingml/2006/table">
                <a:tbl>
                  <a:tblPr firstRow="1" firstCol="1" bandRow="1"/>
                  <a:tblGrid>
                    <a:gridCol w="2830865">
                      <a:extLst>
                        <a:ext uri="{9D8B030D-6E8A-4147-A177-3AD203B41FA5}">
                          <a16:colId xmlns:a16="http://schemas.microsoft.com/office/drawing/2014/main" val="2411512324"/>
                        </a:ext>
                      </a:extLst>
                    </a:gridCol>
                    <a:gridCol w="1231676">
                      <a:extLst>
                        <a:ext uri="{9D8B030D-6E8A-4147-A177-3AD203B41FA5}">
                          <a16:colId xmlns:a16="http://schemas.microsoft.com/office/drawing/2014/main" val="3570322523"/>
                        </a:ext>
                      </a:extLst>
                    </a:gridCol>
                    <a:gridCol w="756781">
                      <a:extLst>
                        <a:ext uri="{9D8B030D-6E8A-4147-A177-3AD203B41FA5}">
                          <a16:colId xmlns:a16="http://schemas.microsoft.com/office/drawing/2014/main" val="4228589905"/>
                        </a:ext>
                      </a:extLst>
                    </a:gridCol>
                    <a:gridCol w="3280231">
                      <a:extLst>
                        <a:ext uri="{9D8B030D-6E8A-4147-A177-3AD203B41FA5}">
                          <a16:colId xmlns:a16="http://schemas.microsoft.com/office/drawing/2014/main" val="4117705937"/>
                        </a:ext>
                      </a:extLst>
                    </a:gridCol>
                  </a:tblGrid>
                  <a:tr h="457200">
                    <a:tc>
                      <a:txBody>
                        <a:bodyPr/>
                        <a:lstStyle/>
                        <a:p>
                          <a:endParaRPr lang="en-US"/>
                        </a:p>
                      </a:txBody>
                      <a:tcPr marL="68580" marR="68580" marT="0" marB="0" anchor="ctr">
                        <a:lnL>
                          <a:noFill/>
                        </a:lnL>
                        <a:lnR>
                          <a:noFill/>
                        </a:lnR>
                        <a:lnT>
                          <a:noFill/>
                        </a:lnT>
                        <a:lnB>
                          <a:noFill/>
                        </a:lnB>
                        <a:blipFill>
                          <a:blip r:embed="rId6"/>
                          <a:stretch>
                            <a:fillRect r="-186547" b="-105405"/>
                          </a:stretch>
                        </a:blipFill>
                      </a:tcPr>
                    </a:tc>
                    <a:tc gridSpan="2">
                      <a:txBody>
                        <a:bodyPr/>
                        <a:lstStyle/>
                        <a:p>
                          <a:endParaRPr lang="en-US"/>
                        </a:p>
                      </a:txBody>
                      <a:tcPr marL="68580" marR="68580" marT="0" marB="0" anchor="ctr">
                        <a:lnL>
                          <a:noFill/>
                        </a:lnL>
                        <a:lnR>
                          <a:noFill/>
                        </a:lnR>
                        <a:lnT>
                          <a:noFill/>
                        </a:lnT>
                        <a:lnB>
                          <a:noFill/>
                        </a:lnB>
                        <a:blipFill>
                          <a:blip r:embed="rId6"/>
                          <a:stretch>
                            <a:fillRect l="-142038" r="-164968" b="-105405"/>
                          </a:stretch>
                        </a:blipFill>
                      </a:tcPr>
                    </a:tc>
                    <a:tc hMerge="1">
                      <a:txBody>
                        <a:bodyPr/>
                        <a:lstStyle/>
                        <a:p>
                          <a:endParaRPr lang="en-US"/>
                        </a:p>
                      </a:txBody>
                      <a:tcPr/>
                    </a:tc>
                    <a:tc>
                      <a:txBody>
                        <a:bodyPr/>
                        <a:lstStyle/>
                        <a:p>
                          <a:endParaRPr lang="en-US"/>
                        </a:p>
                      </a:txBody>
                      <a:tcPr marL="68580" marR="68580" marT="0" marB="0" anchor="ctr">
                        <a:lnL>
                          <a:noFill/>
                        </a:lnL>
                        <a:lnR>
                          <a:noFill/>
                        </a:lnR>
                        <a:lnT>
                          <a:noFill/>
                        </a:lnT>
                        <a:lnB>
                          <a:noFill/>
                        </a:lnB>
                        <a:blipFill>
                          <a:blip r:embed="rId6"/>
                          <a:stretch>
                            <a:fillRect l="-146718" b="-105405"/>
                          </a:stretch>
                        </a:blipFill>
                      </a:tcPr>
                    </a:tc>
                    <a:extLst>
                      <a:ext uri="{0D108BD9-81ED-4DB2-BD59-A6C34878D82A}">
                        <a16:rowId xmlns:a16="http://schemas.microsoft.com/office/drawing/2014/main" val="2982807319"/>
                      </a:ext>
                    </a:extLst>
                  </a:tr>
                  <a:tr h="457200">
                    <a:tc gridSpan="2">
                      <a:txBody>
                        <a:bodyPr/>
                        <a:lstStyle/>
                        <a:p>
                          <a:endParaRPr lang="en-US"/>
                        </a:p>
                      </a:txBody>
                      <a:tcPr marL="68580" marR="68580" marT="0" marB="0" anchor="ctr">
                        <a:lnL>
                          <a:noFill/>
                        </a:lnL>
                        <a:lnR>
                          <a:noFill/>
                        </a:lnR>
                        <a:lnT>
                          <a:noFill/>
                        </a:lnT>
                        <a:lnB>
                          <a:noFill/>
                        </a:lnB>
                        <a:blipFill>
                          <a:blip r:embed="rId6"/>
                          <a:stretch>
                            <a:fillRect t="-102778" r="-99065" b="-8333"/>
                          </a:stretch>
                        </a:blipFill>
                      </a:tcPr>
                    </a:tc>
                    <a:tc hMerge="1">
                      <a:txBody>
                        <a:bodyPr/>
                        <a:lstStyle/>
                        <a:p>
                          <a:endParaRPr lang="en-US"/>
                        </a:p>
                      </a:txBody>
                      <a:tcPr/>
                    </a:tc>
                    <a:tc gridSpan="2">
                      <a:txBody>
                        <a:bodyPr/>
                        <a:lstStyle/>
                        <a:p>
                          <a:endParaRPr lang="en-US"/>
                        </a:p>
                      </a:txBody>
                      <a:tcPr marL="68580" marR="68580" marT="0" marB="0" anchor="ctr">
                        <a:lnL>
                          <a:noFill/>
                        </a:lnL>
                        <a:lnR>
                          <a:noFill/>
                        </a:lnR>
                        <a:lnT>
                          <a:noFill/>
                        </a:lnT>
                        <a:lnB>
                          <a:noFill/>
                        </a:lnB>
                        <a:blipFill>
                          <a:blip r:embed="rId6"/>
                          <a:stretch>
                            <a:fillRect l="-100943" t="-102778" b="-8333"/>
                          </a:stretch>
                        </a:blipFill>
                      </a:tcPr>
                    </a:tc>
                    <a:tc hMerge="1">
                      <a:txBody>
                        <a:bodyPr/>
                        <a:lstStyle/>
                        <a:p>
                          <a:endParaRPr lang="en-US"/>
                        </a:p>
                      </a:txBody>
                      <a:tcPr/>
                    </a:tc>
                    <a:extLst>
                      <a:ext uri="{0D108BD9-81ED-4DB2-BD59-A6C34878D82A}">
                        <a16:rowId xmlns:a16="http://schemas.microsoft.com/office/drawing/2014/main" val="297386296"/>
                      </a:ext>
                    </a:extLst>
                  </a:tr>
                </a:tbl>
              </a:graphicData>
            </a:graphic>
          </p:graphicFrame>
        </mc:Fallback>
      </mc:AlternateContent>
      <p:sp>
        <p:nvSpPr>
          <p:cNvPr id="9" name="Google Shape;125;g104476d1465_1_17"/>
          <p:cNvSpPr txBox="1"/>
          <p:nvPr/>
        </p:nvSpPr>
        <p:spPr>
          <a:xfrm>
            <a:off x="8711062"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30</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7" cstate="screen">
            <a:alphaModFix/>
            <a:extLst>
              <a:ext uri="{28A0092B-C50C-407E-A947-70E740481C1C}">
                <a14:useLocalDpi xmlns:a14="http://schemas.microsoft.com/office/drawing/2010/main"/>
              </a:ext>
            </a:extLst>
          </a:blip>
          <a:srcRect/>
          <a:stretch/>
        </p:blipFill>
        <p:spPr>
          <a:xfrm>
            <a:off x="11449288"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88" name="Google Shape;388;p26"/>
              <p:cNvSpPr txBox="1"/>
              <p:nvPr/>
            </p:nvSpPr>
            <p:spPr>
              <a:xfrm>
                <a:off x="1322173" y="422857"/>
                <a:ext cx="9547654" cy="4861803"/>
              </a:xfrm>
              <a:prstGeom prst="rect">
                <a:avLst/>
              </a:prstGeom>
              <a:noFill/>
              <a:ln>
                <a:noFill/>
              </a:ln>
            </p:spPr>
            <p:txBody>
              <a:bodyPr spcFirstLastPara="1" wrap="square" lIns="91425" tIns="45700" rIns="91425" bIns="45700" anchor="t" anchorCtr="0">
                <a:spAutoFit/>
              </a:bodyPr>
              <a:lstStyle/>
              <a:p>
                <a:pPr marL="346075" indent="-346075"/>
                <a:r>
                  <a:rPr lang="en-US" sz="2000" dirty="0">
                    <a:latin typeface="Verdana" panose="020B0604030504040204" pitchFamily="34" charset="0"/>
                    <a:ea typeface="Verdana" panose="020B0604030504040204" pitchFamily="34" charset="0"/>
                    <a:cs typeface="Verdana" panose="020B0604030504040204" pitchFamily="34" charset="0"/>
                  </a:rPr>
                  <a:t>2. Rewrite each expression by applying the distributive property.</a:t>
                </a:r>
              </a:p>
              <a:p>
                <a:pPr lvl="0"/>
                <a:endParaRPr lang="en-US" sz="2000" i="1" dirty="0">
                  <a:latin typeface="Verdana" panose="020B0604030504040204" pitchFamily="34" charset="0"/>
                  <a:ea typeface="Verdana" panose="020B0604030504040204" pitchFamily="34" charset="0"/>
                  <a:cs typeface="Verdana" panose="020B0604030504040204" pitchFamily="34" charset="0"/>
                </a:endParaRPr>
              </a:p>
              <a:p>
                <a:pPr marL="346075"/>
                <a:r>
                  <a:rPr lang="en-US" sz="2000" dirty="0">
                    <a:latin typeface="Verdana" panose="020B0604030504040204" pitchFamily="34" charset="0"/>
                    <a:ea typeface="Verdana" panose="020B0604030504040204" pitchFamily="34" charset="0"/>
                    <a:cs typeface="Verdana" panose="020B0604030504040204" pitchFamily="34" charset="0"/>
                  </a:rPr>
                  <a:t>a. </a:t>
                </a:r>
                <a14:m>
                  <m:oMath xmlns:m="http://schemas.openxmlformats.org/officeDocument/2006/math">
                    <m:d>
                      <m:dPr>
                        <m:ctrlPr>
                          <a:rPr lang="en-US" sz="2000" i="1">
                            <a:latin typeface="Cambria Math" charset="0"/>
                            <a:ea typeface="Times New Roman" panose="02020603050405020304" pitchFamily="18" charset="0"/>
                            <a:cs typeface="Times New Roman" panose="02020603050405020304" pitchFamily="18" charset="0"/>
                          </a:rPr>
                        </m:ctrlPr>
                      </m:dPr>
                      <m:e>
                        <m:r>
                          <a:rPr lang="en-US" sz="2000" i="1">
                            <a:latin typeface="Cambria Math" panose="02040503050406030204" pitchFamily="18" charset="0"/>
                            <a:ea typeface="Times New Roman" panose="02020603050405020304" pitchFamily="18" charset="0"/>
                            <a:cs typeface="Times New Roman" panose="02020603050405020304" pitchFamily="18" charset="0"/>
                          </a:rPr>
                          <m:t>−</m:t>
                        </m:r>
                        <m:r>
                          <a:rPr lang="en-US" sz="2000" i="1">
                            <a:latin typeface="Cambria Math" panose="02040503050406030204" pitchFamily="18" charset="0"/>
                            <a:ea typeface="Times New Roman" panose="02020603050405020304" pitchFamily="18" charset="0"/>
                            <a:cs typeface="Times New Roman" panose="02020603050405020304" pitchFamily="18" charset="0"/>
                          </a:rPr>
                          <m:t>𝑥</m:t>
                        </m:r>
                        <m:r>
                          <a:rPr lang="en-US" sz="2000" i="1">
                            <a:latin typeface="Cambria Math" panose="02040503050406030204" pitchFamily="18" charset="0"/>
                            <a:ea typeface="Times New Roman" panose="02020603050405020304" pitchFamily="18" charset="0"/>
                            <a:cs typeface="Times New Roman" panose="02020603050405020304" pitchFamily="18" charset="0"/>
                          </a:rPr>
                          <m:t> + 6</m:t>
                        </m:r>
                      </m:e>
                    </m:d>
                    <m:r>
                      <a:rPr lang="en-US" sz="2000" i="1">
                        <a:latin typeface="Cambria Math" panose="02040503050406030204" pitchFamily="18" charset="0"/>
                        <a:ea typeface="Times New Roman" panose="02020603050405020304" pitchFamily="18" charset="0"/>
                        <a:cs typeface="Times New Roman" panose="02020603050405020304" pitchFamily="18" charset="0"/>
                      </a:rPr>
                      <m:t>4</m:t>
                    </m:r>
                  </m:oMath>
                </a14:m>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marL="346075" lvl="1"/>
                <a:r>
                  <a:rPr lang="en-US" sz="2000" dirty="0">
                    <a:latin typeface="Verdana" panose="020B0604030504040204" pitchFamily="34" charset="0"/>
                    <a:ea typeface="Verdana" panose="020B0604030504040204" pitchFamily="34" charset="0"/>
                    <a:cs typeface="Verdana" panose="020B0604030504040204" pitchFamily="34" charset="0"/>
                  </a:rPr>
                  <a:t>b.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−3.5</m:t>
                    </m:r>
                    <m:d>
                      <m:dPr>
                        <m:ctrlPr>
                          <a:rPr lang="en-US" sz="2000" i="1">
                            <a:latin typeface="Cambria Math" charset="0"/>
                            <a:ea typeface="Times New Roman" panose="02020603050405020304" pitchFamily="18" charset="0"/>
                            <a:cs typeface="Times New Roman" panose="02020603050405020304" pitchFamily="18" charset="0"/>
                          </a:rPr>
                        </m:ctrlPr>
                      </m:dPr>
                      <m:e>
                        <m:r>
                          <a:rPr lang="en-US" sz="2000" i="1">
                            <a:latin typeface="Cambria Math" panose="02040503050406030204" pitchFamily="18" charset="0"/>
                            <a:ea typeface="Times New Roman" panose="02020603050405020304" pitchFamily="18" charset="0"/>
                            <a:cs typeface="Times New Roman" panose="02020603050405020304" pitchFamily="18" charset="0"/>
                          </a:rPr>
                          <m:t>−7 + 2</m:t>
                        </m:r>
                        <m:r>
                          <a:rPr lang="en-US" sz="2000" i="1">
                            <a:latin typeface="Cambria Math" panose="02040503050406030204" pitchFamily="18" charset="0"/>
                            <a:ea typeface="Times New Roman" panose="02020603050405020304" pitchFamily="18" charset="0"/>
                            <a:cs typeface="Times New Roman" panose="02020603050405020304" pitchFamily="18" charset="0"/>
                          </a:rPr>
                          <m:t>𝑦</m:t>
                        </m:r>
                      </m:e>
                    </m:d>
                  </m:oMath>
                </a14:m>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346075"/>
                <a:r>
                  <a:rPr lang="en-US" sz="2000" dirty="0">
                    <a:latin typeface="Verdana" panose="020B0604030504040204" pitchFamily="34" charset="0"/>
                    <a:ea typeface="Verdana" panose="020B0604030504040204" pitchFamily="34" charset="0"/>
                    <a:cs typeface="Verdana" panose="020B0604030504040204" pitchFamily="34" charset="0"/>
                  </a:rPr>
                  <a:t> c. </a:t>
                </a:r>
                <a14:m>
                  <m:oMath xmlns:m="http://schemas.openxmlformats.org/officeDocument/2006/math">
                    <m:f>
                      <m:fPr>
                        <m:ctrlPr>
                          <a:rPr lang="en-US" sz="2000" i="1">
                            <a:latin typeface="Cambria Math"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7</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8</m:t>
                        </m:r>
                      </m:den>
                    </m:f>
                    <m:d>
                      <m:dPr>
                        <m:ctrlPr>
                          <a:rPr lang="en-US" sz="2000" i="1">
                            <a:latin typeface="Cambria Math" charset="0"/>
                            <a:ea typeface="Times New Roman" panose="02020603050405020304" pitchFamily="18" charset="0"/>
                            <a:cs typeface="Times New Roman" panose="02020603050405020304" pitchFamily="18" charset="0"/>
                          </a:rPr>
                        </m:ctrlPr>
                      </m:dPr>
                      <m:e>
                        <m:r>
                          <a:rPr lang="en-US" sz="2000" i="1">
                            <a:latin typeface="Cambria Math" panose="02040503050406030204" pitchFamily="18" charset="0"/>
                            <a:ea typeface="Times New Roman" panose="02020603050405020304" pitchFamily="18" charset="0"/>
                            <a:cs typeface="Times New Roman" panose="02020603050405020304" pitchFamily="18" charset="0"/>
                          </a:rPr>
                          <m:t>16</m:t>
                        </m:r>
                        <m:r>
                          <a:rPr lang="en-US" sz="2000" i="1">
                            <a:latin typeface="Cambria Math" panose="02040503050406030204" pitchFamily="18" charset="0"/>
                            <a:ea typeface="Times New Roman" panose="02020603050405020304" pitchFamily="18" charset="0"/>
                            <a:cs typeface="Times New Roman" panose="02020603050405020304" pitchFamily="18" charset="0"/>
                          </a:rPr>
                          <m:t>𝑚</m:t>
                        </m:r>
                        <m:r>
                          <a:rPr lang="en-US" sz="2000" i="1">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2000" i="1">
                                <a:latin typeface="Cambria Math"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4</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5</m:t>
                            </m:r>
                          </m:den>
                        </m:f>
                      </m:e>
                    </m:d>
                  </m:oMath>
                </a14:m>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388" name="Google Shape;388;p26"/>
              <p:cNvSpPr txBox="1">
                <a:spLocks noRot="1" noChangeAspect="1" noMove="1" noResize="1" noEditPoints="1" noAdjustHandles="1" noChangeArrowheads="1" noChangeShapeType="1" noTextEdit="1"/>
              </p:cNvSpPr>
              <p:nvPr/>
            </p:nvSpPr>
            <p:spPr>
              <a:xfrm>
                <a:off x="1322173" y="422857"/>
                <a:ext cx="9547654" cy="4861803"/>
              </a:xfrm>
              <a:prstGeom prst="rect">
                <a:avLst/>
              </a:prstGeom>
              <a:blipFill rotWithShape="0">
                <a:blip r:embed="rId3"/>
                <a:stretch>
                  <a:fillRect l="-702" t="-627"/>
                </a:stretch>
              </a:blipFill>
              <a:ln>
                <a:noFill/>
              </a:ln>
            </p:spPr>
            <p:txBody>
              <a:bodyPr/>
              <a:lstStyle/>
              <a:p>
                <a:r>
                  <a:rPr lang="en-US">
                    <a:noFill/>
                  </a:rPr>
                  <a:t> </a:t>
                </a:r>
              </a:p>
            </p:txBody>
          </p:sp>
        </mc:Fallback>
      </mc:AlternateContent>
      <p:sp>
        <p:nvSpPr>
          <p:cNvPr id="389" name="Google Shape;389;p26"/>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7" name="Google Shape;125;g104476d1465_1_17"/>
          <p:cNvSpPr txBox="1"/>
          <p:nvPr/>
        </p:nvSpPr>
        <p:spPr>
          <a:xfrm>
            <a:off x="8711062"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30</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288"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18"/>
          <p:cNvSpPr/>
          <p:nvPr/>
        </p:nvSpPr>
        <p:spPr>
          <a:xfrm>
            <a:off x="0" y="-8226"/>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07" name="Google Shape;307;p18"/>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54B5D1"/>
                </a:solidFill>
                <a:latin typeface="Verdana"/>
                <a:ea typeface="Verdana"/>
                <a:cs typeface="Verdana"/>
                <a:sym typeface="Verdana"/>
              </a:rPr>
              <a:t>Guided Instruction</a:t>
            </a:r>
            <a:endParaRPr sz="5100" b="1">
              <a:solidFill>
                <a:srgbClr val="54B5D1"/>
              </a:solidFill>
              <a:latin typeface="Verdana"/>
              <a:ea typeface="Verdana"/>
              <a:cs typeface="Verdana"/>
              <a:sym typeface="Verdana"/>
            </a:endParaRPr>
          </a:p>
        </p:txBody>
      </p:sp>
      <p:pic>
        <p:nvPicPr>
          <p:cNvPr id="308" name="Google Shape;308;p18"/>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711062"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31</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288"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7263045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6" name="Google Shape;346;p22"/>
          <p:cNvSpPr txBox="1"/>
          <p:nvPr/>
        </p:nvSpPr>
        <p:spPr>
          <a:xfrm>
            <a:off x="1247103" y="150642"/>
            <a:ext cx="9898691" cy="1325700"/>
          </a:xfrm>
          <a:prstGeom prst="rect">
            <a:avLst/>
          </a:prstGeom>
          <a:noFill/>
          <a:ln>
            <a:noFill/>
          </a:ln>
        </p:spPr>
        <p:txBody>
          <a:bodyPr spcFirstLastPara="1" wrap="square" lIns="91425" tIns="45700" rIns="91425" bIns="45700" anchor="ctr" anchorCtr="0">
            <a:noAutofit/>
          </a:bodyPr>
          <a:lstStyle/>
          <a:p>
            <a:pPr lvl="0">
              <a:lnSpc>
                <a:spcPct val="90000"/>
              </a:lnSpc>
              <a:buClr>
                <a:schemeClr val="dk1"/>
              </a:buClr>
              <a:buSzPts val="5400"/>
            </a:pPr>
            <a:r>
              <a:rPr lang="en-US" sz="2800" b="1" dirty="0">
                <a:solidFill>
                  <a:srgbClr val="54B5D1"/>
                </a:solidFill>
                <a:latin typeface="Verdana"/>
                <a:ea typeface="Verdana"/>
                <a:cs typeface="Verdana"/>
                <a:sym typeface="Verdana"/>
              </a:rPr>
              <a:t>1.5.3 Guided Instruction: Solving Equations Involving the Distributive Property</a:t>
            </a:r>
            <a:endParaRPr sz="1100" dirty="0"/>
          </a:p>
        </p:txBody>
      </p:sp>
      <mc:AlternateContent xmlns:mc="http://schemas.openxmlformats.org/markup-compatibility/2006" xmlns:a14="http://schemas.microsoft.com/office/drawing/2010/main">
        <mc:Choice Requires="a14">
          <p:sp>
            <p:nvSpPr>
              <p:cNvPr id="349" name="Google Shape;349;p22"/>
              <p:cNvSpPr txBox="1"/>
              <p:nvPr/>
            </p:nvSpPr>
            <p:spPr>
              <a:xfrm>
                <a:off x="1247103" y="1288490"/>
                <a:ext cx="9952930" cy="2246729"/>
              </a:xfrm>
              <a:prstGeom prst="rect">
                <a:avLst/>
              </a:prstGeom>
              <a:noFill/>
              <a:ln>
                <a:noFill/>
              </a:ln>
            </p:spPr>
            <p:txBody>
              <a:bodyPr spcFirstLastPara="1" wrap="square" lIns="91425" tIns="45700" rIns="91425" bIns="45700" anchor="t" anchorCtr="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Equations can be solved in more than one way. When an equation is written in the form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𝑎</m:t>
                    </m:r>
                    <m:r>
                      <a:rPr lang="en-US" sz="2000" i="1">
                        <a:latin typeface="Cambria Math" panose="02040503050406030204" pitchFamily="18" charset="0"/>
                        <a:ea typeface="Times New Roman" panose="02020603050405020304" pitchFamily="18" charset="0"/>
                        <a:cs typeface="Times New Roman" panose="02020603050405020304" pitchFamily="18" charset="0"/>
                      </a:rPr>
                      <m:t>(</m:t>
                    </m:r>
                    <m:r>
                      <a:rPr lang="en-US" sz="2000" i="1">
                        <a:latin typeface="Cambria Math" panose="02040503050406030204" pitchFamily="18" charset="0"/>
                        <a:ea typeface="Times New Roman" panose="02020603050405020304" pitchFamily="18" charset="0"/>
                        <a:cs typeface="Times New Roman" panose="02020603050405020304" pitchFamily="18" charset="0"/>
                      </a:rPr>
                      <m:t>𝑏</m:t>
                    </m:r>
                    <m:r>
                      <a:rPr lang="en-US" sz="2000" i="1">
                        <a:latin typeface="Cambria Math" panose="02040503050406030204" pitchFamily="18" charset="0"/>
                        <a:ea typeface="Times New Roman" panose="02020603050405020304" pitchFamily="18" charset="0"/>
                        <a:cs typeface="Times New Roman" panose="02020603050405020304" pitchFamily="18" charset="0"/>
                      </a:rPr>
                      <m:t>+</m:t>
                    </m:r>
                    <m:r>
                      <a:rPr lang="en-US" sz="2000" i="1">
                        <a:latin typeface="Cambria Math" panose="02040503050406030204" pitchFamily="18" charset="0"/>
                        <a:ea typeface="Times New Roman" panose="02020603050405020304" pitchFamily="18" charset="0"/>
                        <a:cs typeface="Times New Roman" panose="02020603050405020304" pitchFamily="18" charset="0"/>
                      </a:rPr>
                      <m:t>𝑐</m:t>
                    </m:r>
                    <m:r>
                      <a:rPr lang="en-US" sz="2000" i="1">
                        <a:latin typeface="Cambria Math" panose="02040503050406030204" pitchFamily="18" charset="0"/>
                        <a:ea typeface="Times New Roman" panose="02020603050405020304" pitchFamily="18" charset="0"/>
                        <a:cs typeface="Times New Roman" panose="02020603050405020304" pitchFamily="18" charset="0"/>
                      </a:rPr>
                      <m:t>)=</m:t>
                    </m:r>
                    <m:r>
                      <a:rPr lang="en-US" sz="2000" i="1">
                        <a:latin typeface="Cambria Math" panose="02040503050406030204" pitchFamily="18" charset="0"/>
                        <a:ea typeface="Times New Roman" panose="02020603050405020304" pitchFamily="18" charset="0"/>
                        <a:cs typeface="Times New Roman" panose="02020603050405020304" pitchFamily="18" charset="0"/>
                      </a:rPr>
                      <m:t>𝑑</m:t>
                    </m:r>
                  </m:oMath>
                </a14:m>
                <a:r>
                  <a:rPr lang="en-US" sz="2000" dirty="0">
                    <a:latin typeface="Verdana" panose="020B0604030504040204" pitchFamily="34" charset="0"/>
                    <a:ea typeface="Verdana" panose="020B0604030504040204" pitchFamily="34" charset="0"/>
                    <a:cs typeface="Verdana" panose="020B0604030504040204" pitchFamily="34" charset="0"/>
                  </a:rPr>
                  <a:t>, it can be solved by either distributing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𝑎</m:t>
                    </m:r>
                  </m:oMath>
                </a14:m>
                <a:r>
                  <a:rPr lang="en-US" sz="2000" dirty="0">
                    <a:latin typeface="Verdana" panose="020B0604030504040204" pitchFamily="34" charset="0"/>
                    <a:ea typeface="Verdana" panose="020B0604030504040204" pitchFamily="34" charset="0"/>
                    <a:cs typeface="Verdana" panose="020B0604030504040204" pitchFamily="34" charset="0"/>
                  </a:rPr>
                  <a:t> first or by dividing both sides of the equation by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𝑎</m:t>
                    </m:r>
                  </m:oMath>
                </a14:m>
                <a:r>
                  <a:rPr lang="en-US" sz="2000" dirty="0">
                    <a:latin typeface="Verdana" panose="020B0604030504040204" pitchFamily="34" charset="0"/>
                    <a:ea typeface="Verdana" panose="020B0604030504040204" pitchFamily="34" charset="0"/>
                    <a:cs typeface="Verdana" panose="020B0604030504040204" pitchFamily="34" charset="0"/>
                  </a:rPr>
                  <a:t> first.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The equation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65=8(9−</m:t>
                    </m:r>
                    <m:r>
                      <a:rPr lang="en-US" sz="2000" i="1">
                        <a:latin typeface="Cambria Math" panose="02040503050406030204" pitchFamily="18" charset="0"/>
                        <a:ea typeface="Times New Roman" panose="02020603050405020304" pitchFamily="18" charset="0"/>
                        <a:cs typeface="Times New Roman" panose="02020603050405020304" pitchFamily="18" charset="0"/>
                      </a:rPr>
                      <m:t>𝑝</m:t>
                    </m:r>
                    <m:r>
                      <a:rPr lang="en-US" sz="2000" i="1">
                        <a:latin typeface="Cambria Math" panose="02040503050406030204" pitchFamily="18" charset="0"/>
                        <a:ea typeface="Times New Roman" panose="02020603050405020304" pitchFamily="18" charset="0"/>
                        <a:cs typeface="Times New Roman" panose="02020603050405020304" pitchFamily="18"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 can be solved using either method.</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460375"/>
                <a:r>
                  <a:rPr lang="en-US" sz="2000" dirty="0">
                    <a:latin typeface="Verdana" panose="020B0604030504040204" pitchFamily="34" charset="0"/>
                    <a:ea typeface="Verdana" panose="020B0604030504040204" pitchFamily="34" charset="0"/>
                    <a:cs typeface="Verdana" panose="020B0604030504040204" pitchFamily="34" charset="0"/>
                  </a:rPr>
                  <a:t>a. Solve the equation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65=8(9−</m:t>
                    </m:r>
                    <m:r>
                      <a:rPr lang="en-US" sz="2000" i="1">
                        <a:latin typeface="Cambria Math" panose="02040503050406030204" pitchFamily="18" charset="0"/>
                        <a:ea typeface="Times New Roman" panose="02020603050405020304" pitchFamily="18" charset="0"/>
                        <a:cs typeface="Times New Roman" panose="02020603050405020304" pitchFamily="18" charset="0"/>
                      </a:rPr>
                      <m:t>𝑝</m:t>
                    </m:r>
                    <m:r>
                      <a:rPr lang="en-US" sz="2000" i="1">
                        <a:latin typeface="Cambria Math" panose="02040503050406030204" pitchFamily="18" charset="0"/>
                        <a:ea typeface="Times New Roman" panose="02020603050405020304" pitchFamily="18" charset="0"/>
                        <a:cs typeface="Times New Roman" panose="02020603050405020304" pitchFamily="18"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 using each method.</a:t>
                </a:r>
              </a:p>
            </p:txBody>
          </p:sp>
        </mc:Choice>
        <mc:Fallback xmlns="">
          <p:sp>
            <p:nvSpPr>
              <p:cNvPr id="349" name="Google Shape;349;p22"/>
              <p:cNvSpPr txBox="1">
                <a:spLocks noRot="1" noChangeAspect="1" noMove="1" noResize="1" noEditPoints="1" noAdjustHandles="1" noChangeArrowheads="1" noChangeShapeType="1" noTextEdit="1"/>
              </p:cNvSpPr>
              <p:nvPr/>
            </p:nvSpPr>
            <p:spPr>
              <a:xfrm>
                <a:off x="1247103" y="1288490"/>
                <a:ext cx="9952930" cy="2246729"/>
              </a:xfrm>
              <a:prstGeom prst="rect">
                <a:avLst/>
              </a:prstGeom>
              <a:blipFill>
                <a:blip r:embed="rId3"/>
                <a:stretch>
                  <a:fillRect l="-674" t="-1355" r="-1287" b="-3794"/>
                </a:stretch>
              </a:blipFill>
              <a:ln>
                <a:noFill/>
              </a:ln>
            </p:spPr>
            <p:txBody>
              <a:bodyPr/>
              <a:lstStyle/>
              <a:p>
                <a:r>
                  <a:rPr lang="en-IN">
                    <a:noFill/>
                  </a:rPr>
                  <a:t> </a:t>
                </a:r>
              </a:p>
            </p:txBody>
          </p:sp>
        </mc:Fallback>
      </mc:AlternateContent>
      <p:sp>
        <p:nvSpPr>
          <p:cNvPr id="350" name="Google Shape;350;p22"/>
          <p:cNvSpPr/>
          <p:nvPr/>
        </p:nvSpPr>
        <p:spPr>
          <a:xfrm>
            <a:off x="-11942"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xmlns="" id="{4C3FAA23-64B4-4B40-BCEE-6BF861BFAA2F}"/>
                  </a:ext>
                </a:extLst>
              </p:cNvPr>
              <p:cNvGraphicFramePr>
                <a:graphicFrameLocks noGrp="1"/>
              </p:cNvGraphicFramePr>
              <p:nvPr>
                <p:extLst>
                  <p:ext uri="{D42A27DB-BD31-4B8C-83A1-F6EECF244321}">
                    <p14:modId xmlns:p14="http://schemas.microsoft.com/office/powerpoint/2010/main" val="2120498931"/>
                  </p:ext>
                </p:extLst>
              </p:nvPr>
            </p:nvGraphicFramePr>
            <p:xfrm>
              <a:off x="2243250" y="3600419"/>
              <a:ext cx="7611702" cy="2857256"/>
            </p:xfrm>
            <a:graphic>
              <a:graphicData uri="http://schemas.openxmlformats.org/drawingml/2006/table">
                <a:tbl>
                  <a:tblPr firstRow="1" firstCol="1" bandRow="1"/>
                  <a:tblGrid>
                    <a:gridCol w="3847783">
                      <a:extLst>
                        <a:ext uri="{9D8B030D-6E8A-4147-A177-3AD203B41FA5}">
                          <a16:colId xmlns:a16="http://schemas.microsoft.com/office/drawing/2014/main" xmlns="" val="3465710126"/>
                        </a:ext>
                      </a:extLst>
                    </a:gridCol>
                    <a:gridCol w="3763919">
                      <a:extLst>
                        <a:ext uri="{9D8B030D-6E8A-4147-A177-3AD203B41FA5}">
                          <a16:colId xmlns:a16="http://schemas.microsoft.com/office/drawing/2014/main" xmlns="" val="2844584909"/>
                        </a:ext>
                      </a:extLst>
                    </a:gridCol>
                  </a:tblGrid>
                  <a:tr h="479826">
                    <a:tc>
                      <a:txBody>
                        <a:bodyPr/>
                        <a:lstStyle/>
                        <a:p>
                          <a:pPr marL="0" marR="0" algn="ctr">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Method 1</a:t>
                          </a:r>
                          <a:endParaRPr lang="en-US" sz="20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2000">
                              <a:solidFill>
                                <a:srgbClr val="000000"/>
                              </a:solidFill>
                              <a:effectLst/>
                              <a:latin typeface="Verdana" panose="020B0604030504040204" pitchFamily="34" charset="0"/>
                              <a:ea typeface="Verdana" panose="020B0604030504040204" pitchFamily="34" charset="0"/>
                              <a:cs typeface="Verdana" panose="020B0604030504040204" pitchFamily="34" charset="0"/>
                            </a:rPr>
                            <a:t>Apply the distributive property first</a:t>
                          </a:r>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42808" marR="428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Method 2</a:t>
                          </a:r>
                          <a:endParaRPr lang="en-US" sz="20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Divide both sides by the factor being distributed first</a:t>
                          </a: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42808" marR="428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 val="1207135882"/>
                      </a:ext>
                    </a:extLst>
                  </a:tr>
                  <a:tr h="1942856">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65=8(9−</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𝑝</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42808" marR="428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65=8(9−</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𝑝</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42808" marR="428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892801276"/>
                      </a:ext>
                    </a:extLst>
                  </a:tr>
                </a:tbl>
              </a:graphicData>
            </a:graphic>
          </p:graphicFrame>
        </mc:Choice>
        <mc:Fallback xmlns="">
          <p:graphicFrame>
            <p:nvGraphicFramePr>
              <p:cNvPr id="2" name="Table 1">
                <a:extLst>
                  <a:ext uri="{FF2B5EF4-FFF2-40B4-BE49-F238E27FC236}">
                    <a16:creationId xmlns:a16="http://schemas.microsoft.com/office/drawing/2014/main" id="{4C3FAA23-64B4-4B40-BCEE-6BF861BFAA2F}"/>
                  </a:ext>
                </a:extLst>
              </p:cNvPr>
              <p:cNvGraphicFramePr>
                <a:graphicFrameLocks noGrp="1"/>
              </p:cNvGraphicFramePr>
              <p:nvPr>
                <p:extLst>
                  <p:ext uri="{D42A27DB-BD31-4B8C-83A1-F6EECF244321}">
                    <p14:modId xmlns:p14="http://schemas.microsoft.com/office/powerpoint/2010/main" val="2120498931"/>
                  </p:ext>
                </p:extLst>
              </p:nvPr>
            </p:nvGraphicFramePr>
            <p:xfrm>
              <a:off x="719250" y="3600419"/>
              <a:ext cx="7611702" cy="2857256"/>
            </p:xfrm>
            <a:graphic>
              <a:graphicData uri="http://schemas.openxmlformats.org/drawingml/2006/table">
                <a:tbl>
                  <a:tblPr firstRow="1" firstCol="1" bandRow="1"/>
                  <a:tblGrid>
                    <a:gridCol w="3847783">
                      <a:extLst>
                        <a:ext uri="{9D8B030D-6E8A-4147-A177-3AD203B41FA5}">
                          <a16:colId xmlns:a16="http://schemas.microsoft.com/office/drawing/2014/main" val="3465710126"/>
                        </a:ext>
                      </a:extLst>
                    </a:gridCol>
                    <a:gridCol w="3763919">
                      <a:extLst>
                        <a:ext uri="{9D8B030D-6E8A-4147-A177-3AD203B41FA5}">
                          <a16:colId xmlns:a16="http://schemas.microsoft.com/office/drawing/2014/main" val="2844584909"/>
                        </a:ext>
                      </a:extLst>
                    </a:gridCol>
                  </a:tblGrid>
                  <a:tr h="914400">
                    <a:tc>
                      <a:txBody>
                        <a:bodyPr/>
                        <a:lstStyle/>
                        <a:p>
                          <a:pPr marL="0" marR="0" algn="ctr">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Method 1</a:t>
                          </a:r>
                          <a:endParaRPr lang="en-US" sz="20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2000">
                              <a:solidFill>
                                <a:srgbClr val="000000"/>
                              </a:solidFill>
                              <a:effectLst/>
                              <a:latin typeface="Verdana" panose="020B0604030504040204" pitchFamily="34" charset="0"/>
                              <a:ea typeface="Verdana" panose="020B0604030504040204" pitchFamily="34" charset="0"/>
                              <a:cs typeface="Verdana" panose="020B0604030504040204" pitchFamily="34" charset="0"/>
                            </a:rPr>
                            <a:t>Apply the distributive property first</a:t>
                          </a:r>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42808" marR="428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Method 2</a:t>
                          </a:r>
                          <a:endParaRPr lang="en-US" sz="20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Divide both sides by the factor being distributed first</a:t>
                          </a: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42808" marR="428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207135882"/>
                      </a:ext>
                    </a:extLst>
                  </a:tr>
                  <a:tr h="1942856">
                    <a:tc>
                      <a:txBody>
                        <a:bodyPr/>
                        <a:lstStyle/>
                        <a:p>
                          <a:endParaRPr lang="en-US"/>
                        </a:p>
                      </a:txBody>
                      <a:tcPr marL="42808" marR="428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330" t="-50649" r="-98680" b="-649"/>
                          </a:stretch>
                        </a:blipFill>
                      </a:tcPr>
                    </a:tc>
                    <a:tc>
                      <a:txBody>
                        <a:bodyPr/>
                        <a:lstStyle/>
                        <a:p>
                          <a:endParaRPr lang="en-US"/>
                        </a:p>
                      </a:txBody>
                      <a:tcPr marL="42808" marR="428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02357" t="-50649" r="-673" b="-649"/>
                          </a:stretch>
                        </a:blipFill>
                      </a:tcPr>
                    </a:tc>
                    <a:extLst>
                      <a:ext uri="{0D108BD9-81ED-4DB2-BD59-A6C34878D82A}">
                        <a16:rowId xmlns:a16="http://schemas.microsoft.com/office/drawing/2014/main" val="1892801276"/>
                      </a:ext>
                    </a:extLst>
                  </a:tr>
                </a:tbl>
              </a:graphicData>
            </a:graphic>
          </p:graphicFrame>
        </mc:Fallback>
      </mc:AlternateContent>
      <p:pic>
        <p:nvPicPr>
          <p:cNvPr id="9" name="Google Shape;317;p19">
            <a:extLst>
              <a:ext uri="{FF2B5EF4-FFF2-40B4-BE49-F238E27FC236}">
                <a16:creationId xmlns:a16="http://schemas.microsoft.com/office/drawing/2014/main" xmlns="" id="{9692F763-34CC-614B-8BB6-B7004BC37067}"/>
              </a:ext>
            </a:extLst>
          </p:cNvPr>
          <p:cNvPicPr preferRelativeResize="0"/>
          <p:nvPr/>
        </p:nvPicPr>
        <p:blipFill rotWithShape="1">
          <a:blip r:embed="rId6">
            <a:alphaModFix/>
          </a:blip>
          <a:srcRect/>
          <a:stretch/>
        </p:blipFill>
        <p:spPr>
          <a:xfrm>
            <a:off x="499804" y="355393"/>
            <a:ext cx="747300" cy="747300"/>
          </a:xfrm>
          <a:prstGeom prst="rect">
            <a:avLst/>
          </a:prstGeom>
          <a:noFill/>
          <a:ln>
            <a:noFill/>
          </a:ln>
          <a:effectLst>
            <a:outerShdw blurRad="50800" dist="38100" dir="2700000" algn="tl" rotWithShape="0">
              <a:srgbClr val="000000">
                <a:alpha val="40000"/>
              </a:srgbClr>
            </a:outerShdw>
          </a:effectLst>
        </p:spPr>
      </p:pic>
      <p:sp>
        <p:nvSpPr>
          <p:cNvPr id="11" name="Google Shape;125;g104476d1465_1_17"/>
          <p:cNvSpPr txBox="1"/>
          <p:nvPr/>
        </p:nvSpPr>
        <p:spPr>
          <a:xfrm>
            <a:off x="8711062"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31</a:t>
            </a:r>
            <a:endParaRPr i="1" dirty="0">
              <a:latin typeface="Calibri"/>
              <a:ea typeface="Calibri"/>
              <a:cs typeface="Calibri"/>
              <a:sym typeface="Calibri"/>
            </a:endParaRPr>
          </a:p>
        </p:txBody>
      </p:sp>
      <p:pic>
        <p:nvPicPr>
          <p:cNvPr id="12" name="Google Shape;126;g104476d1465_1_17"/>
          <p:cNvPicPr preferRelativeResize="0"/>
          <p:nvPr/>
        </p:nvPicPr>
        <p:blipFill rotWithShape="1">
          <a:blip r:embed="rId7" cstate="screen">
            <a:alphaModFix/>
            <a:extLst>
              <a:ext uri="{28A0092B-C50C-407E-A947-70E740481C1C}">
                <a14:useLocalDpi xmlns:a14="http://schemas.microsoft.com/office/drawing/2010/main"/>
              </a:ext>
            </a:extLst>
          </a:blip>
          <a:srcRect/>
          <a:stretch/>
        </p:blipFill>
        <p:spPr>
          <a:xfrm>
            <a:off x="11449288"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3363571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8" name="Google Shape;358;p23"/>
          <p:cNvSpPr txBox="1"/>
          <p:nvPr/>
        </p:nvSpPr>
        <p:spPr>
          <a:xfrm>
            <a:off x="1062681" y="386281"/>
            <a:ext cx="10066638" cy="3785611"/>
          </a:xfrm>
          <a:prstGeom prst="rect">
            <a:avLst/>
          </a:prstGeom>
          <a:noFill/>
          <a:ln>
            <a:noFill/>
          </a:ln>
        </p:spPr>
        <p:txBody>
          <a:bodyPr spcFirstLastPara="1" wrap="square" lIns="91425" tIns="45700" rIns="91425" bIns="45700" anchor="t" anchorCtr="0">
            <a:spAutoFit/>
          </a:bodyPr>
          <a:lstStyle/>
          <a:p>
            <a:pPr marL="14288" lvl="1"/>
            <a:r>
              <a:rPr lang="en-US" sz="2000" dirty="0">
                <a:latin typeface="Verdana" panose="020B0604030504040204" pitchFamily="34" charset="0"/>
                <a:ea typeface="Verdana" panose="020B0604030504040204" pitchFamily="34" charset="0"/>
                <a:cs typeface="Verdana" panose="020B0604030504040204" pitchFamily="34" charset="0"/>
              </a:rPr>
              <a:t>b. Verify the solution is correct using substitution.</a:t>
            </a: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marL="346075" lvl="1" indent="-331788"/>
            <a:r>
              <a:rPr lang="en-US" sz="2000" dirty="0">
                <a:latin typeface="Verdana" panose="020B0604030504040204" pitchFamily="34" charset="0"/>
                <a:ea typeface="Verdana" panose="020B0604030504040204" pitchFamily="34" charset="0"/>
                <a:cs typeface="Verdana" panose="020B0604030504040204" pitchFamily="34" charset="0"/>
              </a:rPr>
              <a:t>c. Discuss each method of solving the equation with your partner. Then, explain which method you preferred for solving this equation.</a:t>
            </a:r>
          </a:p>
        </p:txBody>
      </p:sp>
      <p:sp>
        <p:nvSpPr>
          <p:cNvPr id="359" name="Google Shape;359;p23"/>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7" name="Google Shape;125;g104476d1465_1_17"/>
          <p:cNvSpPr txBox="1"/>
          <p:nvPr/>
        </p:nvSpPr>
        <p:spPr>
          <a:xfrm>
            <a:off x="8711062"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31</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49288"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42005059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58" name="Google Shape;358;p23"/>
              <p:cNvSpPr txBox="1"/>
              <p:nvPr/>
            </p:nvSpPr>
            <p:spPr>
              <a:xfrm>
                <a:off x="1309816" y="386281"/>
                <a:ext cx="9690514" cy="1144697"/>
              </a:xfrm>
              <a:prstGeom prst="rect">
                <a:avLst/>
              </a:prstGeom>
              <a:noFill/>
              <a:ln>
                <a:noFill/>
              </a:ln>
            </p:spPr>
            <p:txBody>
              <a:bodyPr spcFirstLastPara="1" wrap="square" lIns="91425" tIns="45700" rIns="91425" bIns="45700" anchor="t" anchorCtr="0">
                <a:spAutoFit/>
              </a:bodyPr>
              <a:lstStyle/>
              <a:p>
                <a:pPr marL="346075" indent="-346075"/>
                <a:r>
                  <a:rPr lang="en-US" sz="2000" dirty="0">
                    <a:latin typeface="Verdana" panose="020B0604030504040204" pitchFamily="34" charset="0"/>
                    <a:ea typeface="Verdana" panose="020B0604030504040204" pitchFamily="34" charset="0"/>
                    <a:cs typeface="Verdana" panose="020B0604030504040204" pitchFamily="34" charset="0"/>
                  </a:rPr>
                  <a:t>2. With your partner, decide who is Partner A and who is Partner B. </a:t>
                </a:r>
              </a:p>
              <a:p>
                <a:pPr marL="346075" indent="-346075"/>
                <a:endParaRPr lang="en-US" sz="2000" dirty="0">
                  <a:latin typeface="Verdana" panose="020B0604030504040204" pitchFamily="34" charset="0"/>
                  <a:ea typeface="Verdana" panose="020B0604030504040204" pitchFamily="34" charset="0"/>
                  <a:cs typeface="Verdana" panose="020B0604030504040204" pitchFamily="34" charset="0"/>
                </a:endParaRPr>
              </a:p>
              <a:p>
                <a:pPr marL="692150" indent="-346075"/>
                <a:r>
                  <a:rPr lang="en-US" sz="2000" dirty="0">
                    <a:latin typeface="Verdana" panose="020B0604030504040204" pitchFamily="34" charset="0"/>
                    <a:ea typeface="Verdana" panose="020B0604030504040204" pitchFamily="34" charset="0"/>
                    <a:cs typeface="Verdana" panose="020B0604030504040204" pitchFamily="34" charset="0"/>
                  </a:rPr>
                  <a:t>a. Solve the equation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8</m:t>
                    </m:r>
                    <m:f>
                      <m:fPr>
                        <m:ctrlPr>
                          <a:rPr lang="en-US" sz="2000" i="1">
                            <a:latin typeface="Cambria Math"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2</m:t>
                        </m:r>
                      </m:den>
                    </m:f>
                    <m:r>
                      <a:rPr lang="en-US" sz="2000" i="1">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2000" i="1">
                            <a:latin typeface="Cambria Math"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2</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3</m:t>
                        </m:r>
                      </m:den>
                    </m:f>
                    <m:r>
                      <a:rPr lang="en-US" sz="2000" i="1">
                        <a:latin typeface="Cambria Math" panose="02040503050406030204" pitchFamily="18" charset="0"/>
                        <a:ea typeface="Times New Roman" panose="02020603050405020304" pitchFamily="18" charset="0"/>
                        <a:cs typeface="Times New Roman" panose="02020603050405020304" pitchFamily="18" charset="0"/>
                      </a:rPr>
                      <m:t>(</m:t>
                    </m:r>
                    <m:r>
                      <a:rPr lang="en-US" sz="2000" i="1">
                        <a:latin typeface="Cambria Math" panose="02040503050406030204" pitchFamily="18" charset="0"/>
                        <a:ea typeface="Times New Roman" panose="02020603050405020304" pitchFamily="18" charset="0"/>
                        <a:cs typeface="Times New Roman" panose="02020603050405020304" pitchFamily="18" charset="0"/>
                      </a:rPr>
                      <m:t>𝑥</m:t>
                    </m:r>
                    <m:r>
                      <a:rPr lang="en-US" sz="2000" i="1">
                        <a:latin typeface="Cambria Math" panose="02040503050406030204" pitchFamily="18" charset="0"/>
                        <a:ea typeface="Times New Roman" panose="02020603050405020304" pitchFamily="18" charset="0"/>
                        <a:cs typeface="Times New Roman" panose="02020603050405020304" pitchFamily="18" charset="0"/>
                      </a:rPr>
                      <m:t>+6)</m:t>
                    </m:r>
                  </m:oMath>
                </a14:m>
                <a:r>
                  <a:rPr lang="en-US" sz="2000" dirty="0">
                    <a:latin typeface="Verdana" panose="020B0604030504040204" pitchFamily="34" charset="0"/>
                    <a:ea typeface="Verdana" panose="020B0604030504040204" pitchFamily="34" charset="0"/>
                    <a:cs typeface="Verdana" panose="020B0604030504040204" pitchFamily="34" charset="0"/>
                  </a:rPr>
                  <a:t> using the method indicated.</a:t>
                </a:r>
              </a:p>
            </p:txBody>
          </p:sp>
        </mc:Choice>
        <mc:Fallback xmlns="">
          <p:sp>
            <p:nvSpPr>
              <p:cNvPr id="358" name="Google Shape;358;p23"/>
              <p:cNvSpPr txBox="1">
                <a:spLocks noRot="1" noChangeAspect="1" noMove="1" noResize="1" noEditPoints="1" noAdjustHandles="1" noChangeArrowheads="1" noChangeShapeType="1" noTextEdit="1"/>
              </p:cNvSpPr>
              <p:nvPr/>
            </p:nvSpPr>
            <p:spPr>
              <a:xfrm>
                <a:off x="1309816" y="386281"/>
                <a:ext cx="9690514" cy="1144697"/>
              </a:xfrm>
              <a:prstGeom prst="rect">
                <a:avLst/>
              </a:prstGeom>
              <a:blipFill rotWithShape="0">
                <a:blip r:embed="rId3"/>
                <a:stretch>
                  <a:fillRect l="-692" t="-2660" b="-2128"/>
                </a:stretch>
              </a:blipFill>
              <a:ln>
                <a:noFill/>
              </a:ln>
            </p:spPr>
            <p:txBody>
              <a:bodyPr/>
              <a:lstStyle/>
              <a:p>
                <a:r>
                  <a:rPr lang="en-US">
                    <a:noFill/>
                  </a:rPr>
                  <a:t> </a:t>
                </a:r>
              </a:p>
            </p:txBody>
          </p:sp>
        </mc:Fallback>
      </mc:AlternateContent>
      <p:sp>
        <p:nvSpPr>
          <p:cNvPr id="359" name="Google Shape;359;p23"/>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xmlns="" id="{51C9F21C-542B-E046-99AC-A4C73FD0BBB0}"/>
                  </a:ext>
                </a:extLst>
              </p:cNvPr>
              <p:cNvGraphicFramePr>
                <a:graphicFrameLocks noGrp="1"/>
              </p:cNvGraphicFramePr>
              <p:nvPr>
                <p:extLst>
                  <p:ext uri="{D42A27DB-BD31-4B8C-83A1-F6EECF244321}">
                    <p14:modId xmlns:p14="http://schemas.microsoft.com/office/powerpoint/2010/main" val="2726653446"/>
                  </p:ext>
                </p:extLst>
              </p:nvPr>
            </p:nvGraphicFramePr>
            <p:xfrm>
              <a:off x="2517991" y="2171202"/>
              <a:ext cx="7156019" cy="4306494"/>
            </p:xfrm>
            <a:graphic>
              <a:graphicData uri="http://schemas.openxmlformats.org/drawingml/2006/table">
                <a:tbl>
                  <a:tblPr firstRow="1" firstCol="1" bandRow="1"/>
                  <a:tblGrid>
                    <a:gridCol w="3653526">
                      <a:extLst>
                        <a:ext uri="{9D8B030D-6E8A-4147-A177-3AD203B41FA5}">
                          <a16:colId xmlns:a16="http://schemas.microsoft.com/office/drawing/2014/main" xmlns="" val="4151738605"/>
                        </a:ext>
                      </a:extLst>
                    </a:gridCol>
                    <a:gridCol w="3502493">
                      <a:extLst>
                        <a:ext uri="{9D8B030D-6E8A-4147-A177-3AD203B41FA5}">
                          <a16:colId xmlns:a16="http://schemas.microsoft.com/office/drawing/2014/main" xmlns="" val="768838555"/>
                        </a:ext>
                      </a:extLst>
                    </a:gridCol>
                  </a:tblGrid>
                  <a:tr h="1199180">
                    <a:tc>
                      <a:txBody>
                        <a:bodyPr/>
                        <a:lstStyle/>
                        <a:p>
                          <a:pPr marL="0" marR="0" algn="ctr">
                            <a:spcBef>
                              <a:spcPts val="0"/>
                            </a:spcBef>
                            <a:spcAft>
                              <a:spcPts val="0"/>
                            </a:spcAft>
                          </a:pPr>
                          <a:r>
                            <a:rPr lang="en-US" sz="2000" b="1">
                              <a:effectLst/>
                              <a:latin typeface="Verdana" panose="020B0604030504040204" pitchFamily="34" charset="0"/>
                              <a:ea typeface="Times New Roman" panose="02020603050405020304" pitchFamily="18" charset="0"/>
                              <a:cs typeface="Times New Roman" panose="02020603050405020304" pitchFamily="18" charset="0"/>
                            </a:rPr>
                            <a:t>Partner A</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ctr">
                            <a:spcBef>
                              <a:spcPts val="0"/>
                            </a:spcBef>
                            <a:spcAft>
                              <a:spcPts val="0"/>
                            </a:spcAft>
                          </a:pPr>
                          <a:r>
                            <a:rPr lang="en-US" sz="20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Apply the distributive property first</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4874" marR="648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Partner B</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ctr">
                            <a:spcBef>
                              <a:spcPts val="0"/>
                            </a:spcBef>
                            <a:spcAft>
                              <a:spcPts val="0"/>
                            </a:spcAft>
                          </a:pPr>
                          <a:r>
                            <a:rPr lang="en-US" sz="20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Divide both sides by the factor being distributed first</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4874" marR="648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 val="3399890128"/>
                      </a:ext>
                    </a:extLst>
                  </a:tr>
                  <a:tr h="3087294">
                    <a:tc>
                      <a:txBody>
                        <a:bodyPr/>
                        <a:lstStyle/>
                        <a:p>
                          <a:pPr marL="0" marR="0" algn="ctr">
                            <a:spcBef>
                              <a:spcPts val="0"/>
                            </a:spcBef>
                            <a:spcAft>
                              <a:spcPts val="0"/>
                            </a:spcAft>
                          </a:pP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8</m:t>
                              </m:r>
                              <m:f>
                                <m:fPr>
                                  <m:ctrlPr>
                                    <a:rPr lang="en-US" sz="2000" i="1">
                                      <a:effectLst/>
                                      <a:latin typeface="Cambria Math"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den>
                              </m:f>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2000" i="1">
                                      <a:effectLst/>
                                      <a:latin typeface="Cambria Math"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den>
                              </m:f>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𝑥</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+6)</m:t>
                              </m:r>
                            </m:oMath>
                          </a14:m>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4874" marR="648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8</m:t>
                              </m:r>
                              <m:f>
                                <m:fPr>
                                  <m:ctrlPr>
                                    <a:rPr lang="en-US" sz="2000" i="1">
                                      <a:effectLst/>
                                      <a:latin typeface="Cambria Math"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den>
                              </m:f>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2000" i="1">
                                      <a:effectLst/>
                                      <a:latin typeface="Cambria Math"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den>
                              </m:f>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𝑥</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+6)</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4874" marR="648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523959949"/>
                      </a:ext>
                    </a:extLst>
                  </a:tr>
                </a:tbl>
              </a:graphicData>
            </a:graphic>
          </p:graphicFrame>
        </mc:Choice>
        <mc:Fallback xmlns="">
          <p:graphicFrame>
            <p:nvGraphicFramePr>
              <p:cNvPr id="2" name="Table 1">
                <a:extLst>
                  <a:ext uri="{FF2B5EF4-FFF2-40B4-BE49-F238E27FC236}">
                    <a16:creationId xmlns:a16="http://schemas.microsoft.com/office/drawing/2014/main" id="{51C9F21C-542B-E046-99AC-A4C73FD0BBB0}"/>
                  </a:ext>
                </a:extLst>
              </p:cNvPr>
              <p:cNvGraphicFramePr>
                <a:graphicFrameLocks noGrp="1"/>
              </p:cNvGraphicFramePr>
              <p:nvPr>
                <p:extLst>
                  <p:ext uri="{D42A27DB-BD31-4B8C-83A1-F6EECF244321}">
                    <p14:modId xmlns:p14="http://schemas.microsoft.com/office/powerpoint/2010/main" val="2726653446"/>
                  </p:ext>
                </p:extLst>
              </p:nvPr>
            </p:nvGraphicFramePr>
            <p:xfrm>
              <a:off x="993990" y="2171202"/>
              <a:ext cx="7156019" cy="4306494"/>
            </p:xfrm>
            <a:graphic>
              <a:graphicData uri="http://schemas.openxmlformats.org/drawingml/2006/table">
                <a:tbl>
                  <a:tblPr firstRow="1" firstCol="1" bandRow="1"/>
                  <a:tblGrid>
                    <a:gridCol w="3653526">
                      <a:extLst>
                        <a:ext uri="{9D8B030D-6E8A-4147-A177-3AD203B41FA5}">
                          <a16:colId xmlns:a16="http://schemas.microsoft.com/office/drawing/2014/main" val="4151738605"/>
                        </a:ext>
                      </a:extLst>
                    </a:gridCol>
                    <a:gridCol w="3502493">
                      <a:extLst>
                        <a:ext uri="{9D8B030D-6E8A-4147-A177-3AD203B41FA5}">
                          <a16:colId xmlns:a16="http://schemas.microsoft.com/office/drawing/2014/main" val="768838555"/>
                        </a:ext>
                      </a:extLst>
                    </a:gridCol>
                  </a:tblGrid>
                  <a:tr h="1219200">
                    <a:tc>
                      <a:txBody>
                        <a:bodyPr/>
                        <a:lstStyle/>
                        <a:p>
                          <a:pPr marL="0" marR="0" algn="ctr">
                            <a:spcBef>
                              <a:spcPts val="0"/>
                            </a:spcBef>
                            <a:spcAft>
                              <a:spcPts val="0"/>
                            </a:spcAft>
                          </a:pPr>
                          <a:r>
                            <a:rPr lang="en-US" sz="2000" b="1">
                              <a:effectLst/>
                              <a:latin typeface="Verdana" panose="020B0604030504040204" pitchFamily="34" charset="0"/>
                              <a:ea typeface="Times New Roman" panose="02020603050405020304" pitchFamily="18" charset="0"/>
                              <a:cs typeface="Times New Roman" panose="02020603050405020304" pitchFamily="18" charset="0"/>
                            </a:rPr>
                            <a:t>Partner A</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ctr">
                            <a:spcBef>
                              <a:spcPts val="0"/>
                            </a:spcBef>
                            <a:spcAft>
                              <a:spcPts val="0"/>
                            </a:spcAft>
                          </a:pPr>
                          <a:r>
                            <a:rPr lang="en-US" sz="20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Apply the distributive property first</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4874" marR="648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Partner B</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ctr">
                            <a:spcBef>
                              <a:spcPts val="0"/>
                            </a:spcBef>
                            <a:spcAft>
                              <a:spcPts val="0"/>
                            </a:spcAft>
                          </a:pPr>
                          <a:r>
                            <a:rPr lang="en-US" sz="20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Divide both sides by the factor being distributed first</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4874" marR="648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3399890128"/>
                      </a:ext>
                    </a:extLst>
                  </a:tr>
                  <a:tr h="3087294">
                    <a:tc>
                      <a:txBody>
                        <a:bodyPr/>
                        <a:lstStyle/>
                        <a:p>
                          <a:endParaRPr lang="en-US"/>
                        </a:p>
                      </a:txBody>
                      <a:tcPr marL="64874" marR="648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347" t="-42213" r="-96528" b="-410"/>
                          </a:stretch>
                        </a:blipFill>
                      </a:tcPr>
                    </a:tc>
                    <a:tc>
                      <a:txBody>
                        <a:bodyPr/>
                        <a:lstStyle/>
                        <a:p>
                          <a:endParaRPr lang="en-US"/>
                        </a:p>
                      </a:txBody>
                      <a:tcPr marL="64874" marR="648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04710" t="-42213" r="-725" b="-410"/>
                          </a:stretch>
                        </a:blipFill>
                      </a:tcPr>
                    </a:tc>
                    <a:extLst>
                      <a:ext uri="{0D108BD9-81ED-4DB2-BD59-A6C34878D82A}">
                        <a16:rowId xmlns:a16="http://schemas.microsoft.com/office/drawing/2014/main" val="3523959949"/>
                      </a:ext>
                    </a:extLst>
                  </a:tr>
                </a:tbl>
              </a:graphicData>
            </a:graphic>
          </p:graphicFrame>
        </mc:Fallback>
      </mc:AlternateContent>
      <p:sp>
        <p:nvSpPr>
          <p:cNvPr id="8" name="Google Shape;125;g104476d1465_1_17"/>
          <p:cNvSpPr txBox="1"/>
          <p:nvPr/>
        </p:nvSpPr>
        <p:spPr>
          <a:xfrm>
            <a:off x="8711062"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32</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49288"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9028246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8" name="Google Shape;358;p23"/>
          <p:cNvSpPr txBox="1"/>
          <p:nvPr/>
        </p:nvSpPr>
        <p:spPr>
          <a:xfrm>
            <a:off x="926757" y="386281"/>
            <a:ext cx="10338486" cy="2616060"/>
          </a:xfrm>
          <a:prstGeom prst="rect">
            <a:avLst/>
          </a:prstGeom>
          <a:noFill/>
          <a:ln>
            <a:noFill/>
          </a:ln>
        </p:spPr>
        <p:txBody>
          <a:bodyPr spcFirstLastPara="1" wrap="square" lIns="91425" tIns="45700" rIns="91425" bIns="45700" anchor="t" anchorCtr="0">
            <a:spAutoFit/>
          </a:bodyPr>
          <a:lstStyle/>
          <a:p>
            <a:pPr marL="346075" indent="-346075"/>
            <a:r>
              <a:rPr lang="en-US" sz="2000" dirty="0">
                <a:latin typeface="Verdana"/>
                <a:ea typeface="Verdana"/>
                <a:cs typeface="Verdana"/>
                <a:sym typeface="Verdana"/>
              </a:rPr>
              <a:t>b. Share your solution and your work with your partner. Correct any errors, if necessary. Then, write your partner’s method in the space provided once both partners agree the work is correct.</a:t>
            </a:r>
          </a:p>
          <a:p>
            <a:pPr lvl="0"/>
            <a:endParaRPr lang="en-US" sz="2000" dirty="0">
              <a:latin typeface="Verdana"/>
              <a:ea typeface="Verdana"/>
              <a:cs typeface="Verdana"/>
              <a:sym typeface="Verdana"/>
            </a:endParaRPr>
          </a:p>
          <a:p>
            <a:pPr lvl="0"/>
            <a:endParaRPr lang="en-US" sz="2000" dirty="0">
              <a:latin typeface="Verdana"/>
              <a:ea typeface="Verdana"/>
              <a:cs typeface="Verdana"/>
              <a:sym typeface="Verdana"/>
            </a:endParaRPr>
          </a:p>
          <a:p>
            <a:pPr lvl="0"/>
            <a:endParaRPr lang="en-US" sz="2000" dirty="0">
              <a:latin typeface="Verdana"/>
              <a:ea typeface="Verdana"/>
              <a:cs typeface="Verdana"/>
              <a:sym typeface="Verdana"/>
            </a:endParaRPr>
          </a:p>
          <a:p>
            <a:pPr marL="346075" indent="-346075"/>
            <a:r>
              <a:rPr lang="en-US" sz="2000" dirty="0">
                <a:latin typeface="Verdana"/>
                <a:ea typeface="Verdana"/>
                <a:cs typeface="Verdana"/>
                <a:sym typeface="Verdana"/>
              </a:rPr>
              <a:t>c. Explain which method you preferred for solving this equation.</a:t>
            </a:r>
          </a:p>
          <a:p>
            <a:pPr lvl="0"/>
            <a:endParaRPr lang="en-US" sz="2400" dirty="0">
              <a:latin typeface="Verdana"/>
              <a:ea typeface="Verdana"/>
              <a:cs typeface="Verdana"/>
              <a:sym typeface="Verdana"/>
            </a:endParaRPr>
          </a:p>
        </p:txBody>
      </p:sp>
      <p:sp>
        <p:nvSpPr>
          <p:cNvPr id="359" name="Google Shape;359;p23"/>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7" name="Google Shape;125;g104476d1465_1_17"/>
          <p:cNvSpPr txBox="1"/>
          <p:nvPr/>
        </p:nvSpPr>
        <p:spPr>
          <a:xfrm>
            <a:off x="8711062"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32</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49288"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1035743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58" name="Google Shape;358;p23"/>
              <p:cNvSpPr txBox="1"/>
              <p:nvPr/>
            </p:nvSpPr>
            <p:spPr>
              <a:xfrm>
                <a:off x="1223319" y="386281"/>
                <a:ext cx="9745362" cy="4093388"/>
              </a:xfrm>
              <a:prstGeom prst="rect">
                <a:avLst/>
              </a:prstGeom>
              <a:noFill/>
              <a:ln>
                <a:noFill/>
              </a:ln>
            </p:spPr>
            <p:txBody>
              <a:bodyPr spcFirstLastPara="1" wrap="square" lIns="91425" tIns="45700" rIns="91425" bIns="45700" anchor="t" anchorCtr="0">
                <a:spAutoFit/>
              </a:bodyPr>
              <a:lstStyle/>
              <a:p>
                <a:pPr marL="346075" indent="-346075"/>
                <a:r>
                  <a:rPr lang="en-US" sz="2000" dirty="0">
                    <a:latin typeface="Verdana" panose="020B0604030504040204" pitchFamily="34" charset="0"/>
                    <a:ea typeface="Verdana" panose="020B0604030504040204" pitchFamily="34" charset="0"/>
                    <a:cs typeface="Verdana" panose="020B0604030504040204" pitchFamily="34" charset="0"/>
                  </a:rPr>
                  <a:t>3. The perimeter of an equilateral triangle is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41.46</m:t>
                    </m:r>
                  </m:oMath>
                </a14:m>
                <a:r>
                  <a:rPr lang="en-US" sz="2000" dirty="0">
                    <a:latin typeface="Verdana" panose="020B0604030504040204" pitchFamily="34" charset="0"/>
                    <a:ea typeface="Verdana" panose="020B0604030504040204" pitchFamily="34" charset="0"/>
                    <a:cs typeface="Verdana" panose="020B0604030504040204" pitchFamily="34" charset="0"/>
                  </a:rPr>
                  <a:t> inches. If the length of each side is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m:t>
                    </m:r>
                    <m:r>
                      <a:rPr lang="en-US" sz="2000" i="1">
                        <a:latin typeface="Cambria Math" panose="02040503050406030204" pitchFamily="18" charset="0"/>
                        <a:ea typeface="Times New Roman" panose="02020603050405020304" pitchFamily="18" charset="0"/>
                        <a:cs typeface="Times New Roman" panose="02020603050405020304" pitchFamily="18" charset="0"/>
                      </a:rPr>
                      <m:t>𝑞</m:t>
                    </m:r>
                    <m:r>
                      <a:rPr lang="en-US" sz="2000" i="1">
                        <a:latin typeface="Cambria Math" panose="02040503050406030204" pitchFamily="18" charset="0"/>
                        <a:ea typeface="Times New Roman" panose="02020603050405020304" pitchFamily="18" charset="0"/>
                        <a:cs typeface="Times New Roman" panose="02020603050405020304" pitchFamily="18" charset="0"/>
                      </a:rPr>
                      <m:t>−5.7)</m:t>
                    </m:r>
                  </m:oMath>
                </a14:m>
                <a:r>
                  <a:rPr lang="en-US" sz="2000" dirty="0">
                    <a:latin typeface="Verdana" panose="020B0604030504040204" pitchFamily="34" charset="0"/>
                    <a:ea typeface="Verdana" panose="020B0604030504040204" pitchFamily="34" charset="0"/>
                    <a:cs typeface="Verdana" panose="020B0604030504040204" pitchFamily="34" charset="0"/>
                  </a:rPr>
                  <a:t>, the equation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3(</m:t>
                    </m:r>
                    <m:r>
                      <a:rPr lang="en-US" sz="2000" i="1">
                        <a:latin typeface="Cambria Math" panose="02040503050406030204" pitchFamily="18" charset="0"/>
                        <a:ea typeface="Times New Roman" panose="02020603050405020304" pitchFamily="18" charset="0"/>
                        <a:cs typeface="Times New Roman" panose="02020603050405020304" pitchFamily="18" charset="0"/>
                      </a:rPr>
                      <m:t>𝑞</m:t>
                    </m:r>
                    <m:r>
                      <a:rPr lang="en-US" sz="2000" i="1">
                        <a:latin typeface="Cambria Math" panose="02040503050406030204" pitchFamily="18" charset="0"/>
                        <a:ea typeface="Times New Roman" panose="02020603050405020304" pitchFamily="18" charset="0"/>
                        <a:cs typeface="Times New Roman" panose="02020603050405020304" pitchFamily="18" charset="0"/>
                      </a:rPr>
                      <m:t>−5.7)=41.46</m:t>
                    </m:r>
                  </m:oMath>
                </a14:m>
                <a:r>
                  <a:rPr lang="en-US" sz="2000" dirty="0">
                    <a:latin typeface="Verdana" panose="020B0604030504040204" pitchFamily="34" charset="0"/>
                    <a:ea typeface="Verdana" panose="020B0604030504040204" pitchFamily="34" charset="0"/>
                    <a:cs typeface="Verdana" panose="020B0604030504040204" pitchFamily="34" charset="0"/>
                  </a:rPr>
                  <a:t> can be used to find the value of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𝑞</m:t>
                    </m:r>
                  </m:oMath>
                </a14:m>
                <a:r>
                  <a:rPr lang="en-US" sz="2000" dirty="0">
                    <a:latin typeface="Verdana" panose="020B0604030504040204" pitchFamily="34" charset="0"/>
                    <a:ea typeface="Verdana" panose="020B0604030504040204" pitchFamily="34" charset="0"/>
                    <a:cs typeface="Verdana" panose="020B0604030504040204" pitchFamily="34" charset="0"/>
                  </a:rPr>
                  <a:t>. </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346075"/>
                <a:r>
                  <a:rPr lang="en-US" sz="2000" dirty="0">
                    <a:latin typeface="Verdana" panose="020B0604030504040204" pitchFamily="34" charset="0"/>
                    <a:ea typeface="Verdana" panose="020B0604030504040204" pitchFamily="34" charset="0"/>
                    <a:cs typeface="Verdana" panose="020B0604030504040204" pitchFamily="34" charset="0"/>
                  </a:rPr>
                  <a:t>a. What is the value of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𝑞</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a:endParaRPr lang="en-US" sz="2000" dirty="0">
                  <a:latin typeface="Verdana" panose="020B0604030504040204" pitchFamily="34" charset="0"/>
                  <a:ea typeface="Verdana" panose="020B0604030504040204" pitchFamily="34" charset="0"/>
                  <a:cs typeface="Verdana" panose="020B0604030504040204" pitchFamily="34" charset="0"/>
                </a:endParaRPr>
              </a:p>
              <a:p>
                <a:pPr marL="692150" lvl="1" indent="-346075"/>
                <a:r>
                  <a:rPr lang="en-US" sz="2000" dirty="0">
                    <a:latin typeface="Verdana" panose="020B0604030504040204" pitchFamily="34" charset="0"/>
                    <a:ea typeface="Verdana" panose="020B0604030504040204" pitchFamily="34" charset="0"/>
                    <a:cs typeface="Verdana" panose="020B0604030504040204" pitchFamily="34" charset="0"/>
                  </a:rPr>
                  <a:t>b. The length of each side of the triangle is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13.82</m:t>
                    </m:r>
                  </m:oMath>
                </a14:m>
                <a:r>
                  <a:rPr lang="en-US" sz="2000" dirty="0">
                    <a:latin typeface="Verdana" panose="020B0604030504040204" pitchFamily="34" charset="0"/>
                    <a:ea typeface="Verdana" panose="020B0604030504040204" pitchFamily="34" charset="0"/>
                    <a:cs typeface="Verdana" panose="020B0604030504040204" pitchFamily="34" charset="0"/>
                  </a:rPr>
                  <a:t> inches because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41.46÷3=13.82</m:t>
                    </m:r>
                  </m:oMath>
                </a14:m>
                <a:r>
                  <a:rPr lang="en-US" sz="2000" dirty="0">
                    <a:latin typeface="Verdana" panose="020B0604030504040204" pitchFamily="34" charset="0"/>
                    <a:ea typeface="Verdana" panose="020B0604030504040204" pitchFamily="34" charset="0"/>
                    <a:cs typeface="Verdana" panose="020B0604030504040204" pitchFamily="34" charset="0"/>
                  </a:rPr>
                  <a:t>. Explain how the solution to the equation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3(</m:t>
                    </m:r>
                    <m:r>
                      <a:rPr lang="en-US" sz="2000" i="1">
                        <a:latin typeface="Cambria Math" panose="02040503050406030204" pitchFamily="18" charset="0"/>
                        <a:ea typeface="Times New Roman" panose="02020603050405020304" pitchFamily="18" charset="0"/>
                        <a:cs typeface="Times New Roman" panose="02020603050405020304" pitchFamily="18" charset="0"/>
                      </a:rPr>
                      <m:t>𝑞</m:t>
                    </m:r>
                    <m:r>
                      <a:rPr lang="en-US" sz="2000" i="1">
                        <a:latin typeface="Cambria Math" panose="02040503050406030204" pitchFamily="18" charset="0"/>
                        <a:ea typeface="Times New Roman" panose="02020603050405020304" pitchFamily="18" charset="0"/>
                        <a:cs typeface="Times New Roman" panose="02020603050405020304" pitchFamily="18" charset="0"/>
                      </a:rPr>
                      <m:t>−5.7)=41.46</m:t>
                    </m:r>
                  </m:oMath>
                </a14:m>
                <a:r>
                  <a:rPr lang="en-US" sz="2000" dirty="0">
                    <a:latin typeface="Verdana" panose="020B0604030504040204" pitchFamily="34" charset="0"/>
                    <a:ea typeface="Verdana" panose="020B0604030504040204" pitchFamily="34" charset="0"/>
                    <a:cs typeface="Verdana" panose="020B0604030504040204" pitchFamily="34" charset="0"/>
                  </a:rPr>
                  <a:t> can be used to show this as well.</a:t>
                </a:r>
              </a:p>
            </p:txBody>
          </p:sp>
        </mc:Choice>
        <mc:Fallback xmlns="">
          <p:sp>
            <p:nvSpPr>
              <p:cNvPr id="358" name="Google Shape;358;p23"/>
              <p:cNvSpPr txBox="1">
                <a:spLocks noRot="1" noChangeAspect="1" noMove="1" noResize="1" noEditPoints="1" noAdjustHandles="1" noChangeArrowheads="1" noChangeShapeType="1" noTextEdit="1"/>
              </p:cNvSpPr>
              <p:nvPr/>
            </p:nvSpPr>
            <p:spPr>
              <a:xfrm>
                <a:off x="1223319" y="386281"/>
                <a:ext cx="9745362" cy="4093388"/>
              </a:xfrm>
              <a:prstGeom prst="rect">
                <a:avLst/>
              </a:prstGeom>
              <a:blipFill rotWithShape="0">
                <a:blip r:embed="rId3"/>
                <a:stretch>
                  <a:fillRect l="-688" t="-744" b="-1637"/>
                </a:stretch>
              </a:blipFill>
              <a:ln>
                <a:noFill/>
              </a:ln>
            </p:spPr>
            <p:txBody>
              <a:bodyPr/>
              <a:lstStyle/>
              <a:p>
                <a:r>
                  <a:rPr lang="en-US">
                    <a:noFill/>
                  </a:rPr>
                  <a:t> </a:t>
                </a:r>
              </a:p>
            </p:txBody>
          </p:sp>
        </mc:Fallback>
      </mc:AlternateContent>
      <p:sp>
        <p:nvSpPr>
          <p:cNvPr id="359" name="Google Shape;359;p23"/>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7" name="Google Shape;125;g104476d1465_1_17"/>
          <p:cNvSpPr txBox="1"/>
          <p:nvPr/>
        </p:nvSpPr>
        <p:spPr>
          <a:xfrm>
            <a:off x="8711062"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32</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288"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5245105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6"/>
          <p:cNvSpPr/>
          <p:nvPr/>
        </p:nvSpPr>
        <p:spPr>
          <a:xfrm>
            <a:off x="0" y="-8226"/>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187" name="Google Shape;187;p6"/>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33BEA6"/>
                </a:solidFill>
                <a:latin typeface="Verdana"/>
                <a:ea typeface="Verdana"/>
                <a:cs typeface="Verdana"/>
                <a:sym typeface="Verdana"/>
              </a:rPr>
              <a:t>Collaboration</a:t>
            </a:r>
            <a:endParaRPr sz="5100" b="1">
              <a:solidFill>
                <a:srgbClr val="33BEA6"/>
              </a:solidFill>
              <a:latin typeface="Verdana"/>
              <a:ea typeface="Verdana"/>
              <a:cs typeface="Verdana"/>
              <a:sym typeface="Verdana"/>
            </a:endParaRPr>
          </a:p>
        </p:txBody>
      </p:sp>
      <p:pic>
        <p:nvPicPr>
          <p:cNvPr id="189" name="Google Shape;189;p6"/>
          <p:cNvPicPr preferRelativeResize="0"/>
          <p:nvPr/>
        </p:nvPicPr>
        <p:blipFill rotWithShape="1">
          <a:blip r:embed="rId3">
            <a:alphaModFix/>
          </a:blip>
          <a:srcRect/>
          <a:stretch/>
        </p:blipFill>
        <p:spPr>
          <a:xfrm>
            <a:off x="4513114" y="2852923"/>
            <a:ext cx="1152144" cy="1152144"/>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711062"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33</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288"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8927517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6" name="Google Shape;196;p7"/>
          <p:cNvSpPr txBox="1"/>
          <p:nvPr/>
        </p:nvSpPr>
        <p:spPr>
          <a:xfrm>
            <a:off x="1420099" y="60326"/>
            <a:ext cx="8019300" cy="1325700"/>
          </a:xfrm>
          <a:prstGeom prst="rect">
            <a:avLst/>
          </a:prstGeom>
          <a:noFill/>
          <a:ln>
            <a:noFill/>
          </a:ln>
        </p:spPr>
        <p:txBody>
          <a:bodyPr spcFirstLastPara="1" wrap="square" lIns="91425" tIns="45700" rIns="91425" bIns="45700" anchor="ctr" anchorCtr="0">
            <a:noAutofit/>
          </a:bodyPr>
          <a:lstStyle/>
          <a:p>
            <a:pPr lvl="0">
              <a:lnSpc>
                <a:spcPct val="90000"/>
              </a:lnSpc>
              <a:buClr>
                <a:schemeClr val="dk1"/>
              </a:buClr>
              <a:buSzPts val="5400"/>
            </a:pPr>
            <a:r>
              <a:rPr lang="en-US" sz="2800" b="1" dirty="0">
                <a:solidFill>
                  <a:srgbClr val="33BEA6"/>
                </a:solidFill>
                <a:latin typeface="Verdana"/>
                <a:ea typeface="Verdana"/>
                <a:cs typeface="Verdana"/>
                <a:sym typeface="Verdana"/>
              </a:rPr>
              <a:t>1.5.4 Collaboration: Matching Equations to Diagrams and Contexts </a:t>
            </a:r>
            <a:endParaRPr sz="1100" dirty="0"/>
          </a:p>
        </p:txBody>
      </p:sp>
      <p:pic>
        <p:nvPicPr>
          <p:cNvPr id="198" name="Google Shape;198;p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70291" y="348272"/>
            <a:ext cx="749808" cy="749808"/>
          </a:xfrm>
          <a:prstGeom prst="rect">
            <a:avLst/>
          </a:prstGeom>
          <a:noFill/>
          <a:ln>
            <a:noFill/>
          </a:ln>
          <a:effectLst>
            <a:outerShdw blurRad="50800" dist="38100" dir="2700000" algn="tl" rotWithShape="0">
              <a:srgbClr val="000000">
                <a:alpha val="40000"/>
              </a:srgbClr>
            </a:outerShdw>
          </a:effectLst>
        </p:spPr>
      </p:pic>
      <p:sp>
        <p:nvSpPr>
          <p:cNvPr id="199" name="Google Shape;199;p7"/>
          <p:cNvSpPr txBox="1"/>
          <p:nvPr/>
        </p:nvSpPr>
        <p:spPr>
          <a:xfrm>
            <a:off x="1198605" y="1386026"/>
            <a:ext cx="10050822" cy="3785611"/>
          </a:xfrm>
          <a:prstGeom prst="rect">
            <a:avLst/>
          </a:prstGeom>
          <a:noFill/>
          <a:ln>
            <a:noFill/>
          </a:ln>
        </p:spPr>
        <p:txBody>
          <a:bodyPr spcFirstLastPara="1" wrap="square" lIns="91425" tIns="45700" rIns="91425" bIns="45700" anchor="t" anchorCtr="0">
            <a:spAutoFit/>
          </a:bodyPr>
          <a:lstStyle/>
          <a:p>
            <a:pPr lvl="0"/>
            <a:r>
              <a:rPr lang="en-US" sz="2000" dirty="0">
                <a:latin typeface="Verdana"/>
                <a:ea typeface="Verdana"/>
                <a:cs typeface="Verdana"/>
                <a:sym typeface="Verdana"/>
              </a:rPr>
              <a:t>Equations can be represented using bar diagrams.</a:t>
            </a:r>
          </a:p>
          <a:p>
            <a:pPr lvl="0"/>
            <a:endParaRPr lang="en-US" sz="2000" dirty="0">
              <a:latin typeface="Verdana"/>
              <a:ea typeface="Verdana"/>
              <a:cs typeface="Verdana"/>
              <a:sym typeface="Verdana"/>
            </a:endParaRPr>
          </a:p>
          <a:p>
            <a:pPr marL="457200" indent="-457200">
              <a:buAutoNum type="arabicPeriod"/>
            </a:pPr>
            <a:r>
              <a:rPr lang="en-US" sz="2000" dirty="0">
                <a:latin typeface="Verdana"/>
                <a:ea typeface="Verdana"/>
                <a:cs typeface="Verdana"/>
                <a:sym typeface="Verdana"/>
              </a:rPr>
              <a:t>A bar diagram is shown.</a:t>
            </a:r>
          </a:p>
          <a:p>
            <a:pPr marL="457200" indent="-457200">
              <a:buAutoNum type="arabicPeriod"/>
            </a:pPr>
            <a:endParaRPr lang="en-US" sz="2000" dirty="0">
              <a:latin typeface="Verdana"/>
              <a:ea typeface="Verdana"/>
              <a:cs typeface="Verdana"/>
              <a:sym typeface="Verdana"/>
            </a:endParaRPr>
          </a:p>
          <a:p>
            <a:pPr marL="457200" indent="-457200">
              <a:buAutoNum type="arabicPeriod"/>
            </a:pPr>
            <a:endParaRPr lang="en-US" sz="2000" dirty="0">
              <a:latin typeface="Verdana"/>
              <a:ea typeface="Verdana"/>
              <a:cs typeface="Verdana"/>
              <a:sym typeface="Verdana"/>
            </a:endParaRPr>
          </a:p>
          <a:p>
            <a:pPr marL="457200" indent="-457200">
              <a:buAutoNum type="arabicPeriod"/>
            </a:pPr>
            <a:endParaRPr lang="en-US" sz="2000" dirty="0">
              <a:latin typeface="Verdana"/>
              <a:ea typeface="Verdana"/>
              <a:cs typeface="Verdana"/>
              <a:sym typeface="Verdana"/>
            </a:endParaRPr>
          </a:p>
          <a:p>
            <a:pPr marL="457200" indent="-457200">
              <a:buAutoNum type="arabicPeriod"/>
            </a:pPr>
            <a:endParaRPr lang="en-US" sz="2000" dirty="0">
              <a:latin typeface="Verdana"/>
              <a:ea typeface="Verdana"/>
              <a:cs typeface="Verdana"/>
              <a:sym typeface="Verdana"/>
            </a:endParaRPr>
          </a:p>
          <a:p>
            <a:pPr marL="457200" indent="-457200">
              <a:buAutoNum type="arabicPeriod"/>
            </a:pPr>
            <a:endParaRPr lang="en-US" sz="2000" dirty="0">
              <a:latin typeface="Verdana"/>
              <a:ea typeface="Verdana"/>
              <a:cs typeface="Verdana"/>
              <a:sym typeface="Verdana"/>
            </a:endParaRPr>
          </a:p>
          <a:p>
            <a:pPr marL="457200" indent="-457200">
              <a:buAutoNum type="arabicPeriod"/>
            </a:pPr>
            <a:endParaRPr lang="en-US" sz="2000" dirty="0">
              <a:latin typeface="Verdana"/>
              <a:ea typeface="Verdana"/>
              <a:cs typeface="Verdana"/>
              <a:sym typeface="Verdana"/>
            </a:endParaRPr>
          </a:p>
          <a:p>
            <a:pPr marL="457200" indent="-457200">
              <a:buAutoNum type="arabicPeriod"/>
            </a:pPr>
            <a:endParaRPr lang="en-US" sz="2000" dirty="0">
              <a:latin typeface="Verdana"/>
              <a:ea typeface="Verdana"/>
              <a:cs typeface="Verdana"/>
              <a:sym typeface="Verdana"/>
            </a:endParaRPr>
          </a:p>
          <a:p>
            <a:pPr marL="460375"/>
            <a:r>
              <a:rPr lang="en-US" sz="2000" dirty="0">
                <a:latin typeface="Verdana"/>
                <a:ea typeface="Verdana"/>
                <a:cs typeface="Verdana"/>
                <a:sym typeface="Verdana"/>
              </a:rPr>
              <a:t>a. Select all the equations that match the diagram.</a:t>
            </a:r>
          </a:p>
          <a:p>
            <a:pPr lvl="0"/>
            <a:endParaRPr lang="en-US" sz="2000" dirty="0">
              <a:latin typeface="Verdana"/>
              <a:ea typeface="Verdana"/>
              <a:cs typeface="Verdana"/>
              <a:sym typeface="Verdana"/>
            </a:endParaRPr>
          </a:p>
        </p:txBody>
      </p:sp>
      <p:sp>
        <p:nvSpPr>
          <p:cNvPr id="200" name="Google Shape;200;p7"/>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 name="Picture 2">
            <a:extLst>
              <a:ext uri="{FF2B5EF4-FFF2-40B4-BE49-F238E27FC236}">
                <a16:creationId xmlns:a16="http://schemas.microsoft.com/office/drawing/2014/main" xmlns="" id="{88463BEA-821A-7941-9427-5E808CE9FD7F}"/>
              </a:ext>
            </a:extLst>
          </p:cNvPr>
          <p:cNvPicPr>
            <a:picLocks noChangeAspect="1"/>
          </p:cNvPicPr>
          <p:nvPr/>
        </p:nvPicPr>
        <p:blipFill>
          <a:blip r:embed="rId4"/>
          <a:stretch>
            <a:fillRect/>
          </a:stretch>
        </p:blipFill>
        <p:spPr>
          <a:xfrm>
            <a:off x="3746050" y="2555300"/>
            <a:ext cx="4686750" cy="1851350"/>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xmlns="" id="{7394595C-D9C7-2148-A8C3-C14806C7F0BD}"/>
                  </a:ext>
                </a:extLst>
              </p:cNvPr>
              <p:cNvSpPr txBox="1"/>
              <p:nvPr/>
            </p:nvSpPr>
            <p:spPr>
              <a:xfrm>
                <a:off x="2492412" y="4941644"/>
                <a:ext cx="4637314" cy="1759649"/>
              </a:xfrm>
              <a:prstGeom prst="rect">
                <a:avLst/>
              </a:prstGeom>
              <a:noFill/>
            </p:spPr>
            <p:txBody>
              <a:bodyPr wrap="square">
                <a:spAutoFit/>
              </a:bodyPr>
              <a:lstStyle/>
              <a:p>
                <a:pPr marL="742950" lvl="1" indent="-285750">
                  <a:buFont typeface="Wingdings" pitchFamily="2" charset="2"/>
                  <a:buChar char="o"/>
                </a:pP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  </m:t>
                    </m:r>
                    <m:r>
                      <a:rPr lang="en-US" sz="2000" i="1">
                        <a:latin typeface="Cambria Math" panose="02040503050406030204" pitchFamily="18" charset="0"/>
                        <a:ea typeface="Cambria Math" panose="02040503050406030204" pitchFamily="18" charset="0"/>
                        <a:cs typeface="Cambria Math" panose="02040503050406030204" pitchFamily="18" charset="0"/>
                      </a:rPr>
                      <m:t>𝑥</m:t>
                    </m:r>
                    <m:r>
                      <a:rPr lang="en-US" sz="2000" i="1">
                        <a:latin typeface="Cambria Math" panose="02040503050406030204" pitchFamily="18" charset="0"/>
                        <a:ea typeface="Cambria Math" panose="02040503050406030204" pitchFamily="18" charset="0"/>
                        <a:cs typeface="Cambria Math" panose="02040503050406030204" pitchFamily="18" charset="0"/>
                      </a:rPr>
                      <m:t>+5=18</m:t>
                    </m:r>
                  </m:oMath>
                </a14:m>
                <a:endParaRPr lang="en-US" sz="2000" dirty="0">
                  <a:latin typeface="Verdana" panose="020B0604030504040204" pitchFamily="34" charset="0"/>
                  <a:ea typeface="Verdana" panose="020B0604030504040204" pitchFamily="34" charset="0"/>
                  <a:cs typeface="Verdana" panose="020B0604030504040204" pitchFamily="34" charset="0"/>
                </a:endParaRPr>
              </a:p>
              <a:p>
                <a:pPr marL="742950" lvl="1" indent="-285750">
                  <a:buFont typeface="Wingdings" pitchFamily="2" charset="2"/>
                  <a:buChar char="o"/>
                </a:pP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  18÷3=</m:t>
                    </m:r>
                    <m:r>
                      <a:rPr lang="en-US" sz="2000" i="1">
                        <a:latin typeface="Cambria Math" panose="02040503050406030204" pitchFamily="18" charset="0"/>
                        <a:ea typeface="Cambria Math" panose="02040503050406030204" pitchFamily="18" charset="0"/>
                        <a:cs typeface="Cambria Math" panose="02040503050406030204" pitchFamily="18" charset="0"/>
                      </a:rPr>
                      <m:t>𝑥</m:t>
                    </m:r>
                    <m:r>
                      <a:rPr lang="en-US" sz="2000" i="1">
                        <a:latin typeface="Cambria Math" panose="02040503050406030204" pitchFamily="18" charset="0"/>
                        <a:ea typeface="Cambria Math" panose="02040503050406030204" pitchFamily="18" charset="0"/>
                        <a:cs typeface="Cambria Math" panose="02040503050406030204" pitchFamily="18" charset="0"/>
                      </a:rPr>
                      <m:t>+5</m:t>
                    </m:r>
                  </m:oMath>
                </a14:m>
                <a:endParaRPr lang="en-US" sz="2000" dirty="0">
                  <a:latin typeface="Verdana" panose="020B0604030504040204" pitchFamily="34" charset="0"/>
                  <a:ea typeface="Verdana" panose="020B0604030504040204" pitchFamily="34" charset="0"/>
                  <a:cs typeface="Verdana" panose="020B0604030504040204" pitchFamily="34" charset="0"/>
                </a:endParaRPr>
              </a:p>
              <a:p>
                <a:pPr marL="742950" lvl="1" indent="-285750">
                  <a:buFont typeface="Wingdings" pitchFamily="2" charset="2"/>
                  <a:buChar char="o"/>
                </a:pPr>
                <a:r>
                  <a:rPr lang="en-US" sz="2000" dirty="0">
                    <a:ea typeface="Cambria Math" panose="02040503050406030204" pitchFamily="18" charset="0"/>
                    <a:cs typeface="Cambria Math" panose="02040503050406030204" pitchFamily="18" charset="0"/>
                  </a:rPr>
                  <a:t>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3(</m:t>
                    </m:r>
                    <m:r>
                      <a:rPr lang="en-US" sz="2000" i="1">
                        <a:latin typeface="Cambria Math" panose="02040503050406030204" pitchFamily="18" charset="0"/>
                        <a:ea typeface="Cambria Math" panose="02040503050406030204" pitchFamily="18" charset="0"/>
                        <a:cs typeface="Cambria Math" panose="02040503050406030204" pitchFamily="18" charset="0"/>
                      </a:rPr>
                      <m:t>𝑥</m:t>
                    </m:r>
                    <m:r>
                      <a:rPr lang="en-US" sz="2000" i="1">
                        <a:latin typeface="Cambria Math" panose="02040503050406030204" pitchFamily="18" charset="0"/>
                        <a:ea typeface="Cambria Math" panose="02040503050406030204" pitchFamily="18" charset="0"/>
                        <a:cs typeface="Cambria Math" panose="02040503050406030204" pitchFamily="18" charset="0"/>
                      </a:rPr>
                      <m:t>+5)=18</m:t>
                    </m:r>
                  </m:oMath>
                </a14:m>
                <a:endParaRPr lang="en-US" sz="2000" dirty="0">
                  <a:latin typeface="Verdana" panose="020B0604030504040204" pitchFamily="34" charset="0"/>
                  <a:ea typeface="Verdana" panose="020B0604030504040204" pitchFamily="34" charset="0"/>
                  <a:cs typeface="Verdana" panose="020B0604030504040204" pitchFamily="34" charset="0"/>
                </a:endParaRPr>
              </a:p>
              <a:p>
                <a:pPr marL="742950" lvl="1" indent="-285750">
                  <a:buFont typeface="Wingdings" pitchFamily="2" charset="2"/>
                  <a:buChar char="o"/>
                </a:pPr>
                <a:r>
                  <a:rPr lang="en-US" sz="2000" dirty="0">
                    <a:ea typeface="Cambria Math" panose="02040503050406030204" pitchFamily="18" charset="0"/>
                    <a:cs typeface="Cambria Math" panose="02040503050406030204" pitchFamily="18" charset="0"/>
                  </a:rPr>
                  <a:t>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𝑥</m:t>
                    </m:r>
                    <m:r>
                      <a:rPr lang="en-US" sz="2000" i="1">
                        <a:latin typeface="Cambria Math" panose="02040503050406030204" pitchFamily="18" charset="0"/>
                        <a:ea typeface="Cambria Math" panose="02040503050406030204" pitchFamily="18" charset="0"/>
                        <a:cs typeface="Cambria Math" panose="02040503050406030204" pitchFamily="18" charset="0"/>
                      </a:rPr>
                      <m:t>+5=</m:t>
                    </m:r>
                    <m:f>
                      <m:fPr>
                        <m:ctrlPr>
                          <a:rPr lang="en-US" sz="2000" i="1">
                            <a:latin typeface="Cambria Math" charset="0"/>
                            <a:ea typeface="Cambria Math" panose="02040503050406030204" pitchFamily="18" charset="0"/>
                            <a:cs typeface="Cambria Math" panose="02040503050406030204" pitchFamily="18" charset="0"/>
                          </a:rPr>
                        </m:ctrlPr>
                      </m:fPr>
                      <m:num>
                        <m:r>
                          <a:rPr lang="en-US" sz="2000" i="1">
                            <a:latin typeface="Cambria Math" panose="02040503050406030204" pitchFamily="18" charset="0"/>
                            <a:ea typeface="Cambria Math" panose="02040503050406030204" pitchFamily="18" charset="0"/>
                            <a:cs typeface="Cambria Math" panose="02040503050406030204" pitchFamily="18" charset="0"/>
                          </a:rPr>
                          <m:t>1</m:t>
                        </m:r>
                      </m:num>
                      <m:den>
                        <m:r>
                          <a:rPr lang="en-US" sz="2000" i="1">
                            <a:latin typeface="Cambria Math" panose="02040503050406030204" pitchFamily="18" charset="0"/>
                            <a:ea typeface="Cambria Math" panose="02040503050406030204" pitchFamily="18" charset="0"/>
                            <a:cs typeface="Cambria Math" panose="02040503050406030204" pitchFamily="18" charset="0"/>
                          </a:rPr>
                          <m:t>3</m:t>
                        </m:r>
                      </m:den>
                    </m:f>
                    <m:r>
                      <a:rPr lang="en-US" sz="2000" i="1">
                        <a:latin typeface="Cambria Math" panose="02040503050406030204" pitchFamily="18" charset="0"/>
                        <a:ea typeface="Cambria Math" panose="02040503050406030204" pitchFamily="18" charset="0"/>
                        <a:cs typeface="Cambria Math" panose="02040503050406030204" pitchFamily="18" charset="0"/>
                      </a:rPr>
                      <m:t>⋅18</m:t>
                    </m:r>
                  </m:oMath>
                </a14:m>
                <a:endParaRPr lang="en-US" sz="2000" dirty="0">
                  <a:latin typeface="Verdana" panose="020B0604030504040204" pitchFamily="34" charset="0"/>
                  <a:ea typeface="Verdana" panose="020B0604030504040204" pitchFamily="34" charset="0"/>
                  <a:cs typeface="Verdana" panose="020B0604030504040204" pitchFamily="34" charset="0"/>
                </a:endParaRPr>
              </a:p>
              <a:p>
                <a:pPr marL="742950" lvl="1" indent="-285750">
                  <a:buFont typeface="Wingdings" pitchFamily="2" charset="2"/>
                  <a:buChar char="o"/>
                </a:pPr>
                <a:r>
                  <a:rPr lang="en-US" sz="2000" dirty="0">
                    <a:ea typeface="Cambria Math" panose="02040503050406030204" pitchFamily="18" charset="0"/>
                    <a:cs typeface="Cambria Math" panose="02040503050406030204" pitchFamily="18" charset="0"/>
                  </a:rPr>
                  <a:t>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3</m:t>
                    </m:r>
                    <m:r>
                      <a:rPr lang="en-US" sz="2000" i="1">
                        <a:latin typeface="Cambria Math" panose="02040503050406030204" pitchFamily="18" charset="0"/>
                        <a:ea typeface="Cambria Math" panose="02040503050406030204" pitchFamily="18" charset="0"/>
                        <a:cs typeface="Cambria Math" panose="02040503050406030204" pitchFamily="18" charset="0"/>
                      </a:rPr>
                      <m:t>𝑥</m:t>
                    </m:r>
                    <m:r>
                      <a:rPr lang="en-US" sz="2000" i="1">
                        <a:latin typeface="Cambria Math" panose="02040503050406030204" pitchFamily="18" charset="0"/>
                        <a:ea typeface="Cambria Math" panose="02040503050406030204" pitchFamily="18" charset="0"/>
                        <a:cs typeface="Cambria Math" panose="02040503050406030204" pitchFamily="18" charset="0"/>
                      </a:rPr>
                      <m:t>+5=18</m:t>
                    </m:r>
                  </m:oMath>
                </a14:m>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1" name="TextBox 10">
                <a:extLst>
                  <a:ext uri="{FF2B5EF4-FFF2-40B4-BE49-F238E27FC236}">
                    <a16:creationId xmlns:a16="http://schemas.microsoft.com/office/drawing/2014/main" id="{7394595C-D9C7-2148-A8C3-C14806C7F0BD}"/>
                  </a:ext>
                </a:extLst>
              </p:cNvPr>
              <p:cNvSpPr txBox="1">
                <a:spLocks noRot="1" noChangeAspect="1" noMove="1" noResize="1" noEditPoints="1" noAdjustHandles="1" noChangeArrowheads="1" noChangeShapeType="1" noTextEdit="1"/>
              </p:cNvSpPr>
              <p:nvPr/>
            </p:nvSpPr>
            <p:spPr>
              <a:xfrm>
                <a:off x="968412" y="4941643"/>
                <a:ext cx="4637314" cy="1759649"/>
              </a:xfrm>
              <a:prstGeom prst="rect">
                <a:avLst/>
              </a:prstGeom>
              <a:blipFill>
                <a:blip r:embed="rId6"/>
                <a:stretch>
                  <a:fillRect t="-719" b="-4317"/>
                </a:stretch>
              </a:blipFill>
            </p:spPr>
            <p:txBody>
              <a:bodyPr/>
              <a:lstStyle/>
              <a:p>
                <a:r>
                  <a:rPr lang="en-US">
                    <a:noFill/>
                  </a:rPr>
                  <a:t> </a:t>
                </a:r>
              </a:p>
            </p:txBody>
          </p:sp>
        </mc:Fallback>
      </mc:AlternateContent>
      <p:sp>
        <p:nvSpPr>
          <p:cNvPr id="10" name="Google Shape;125;g104476d1465_1_17"/>
          <p:cNvSpPr txBox="1"/>
          <p:nvPr/>
        </p:nvSpPr>
        <p:spPr>
          <a:xfrm>
            <a:off x="8711062"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33</a:t>
            </a:r>
            <a:endParaRPr i="1" dirty="0">
              <a:latin typeface="Calibri"/>
              <a:ea typeface="Calibri"/>
              <a:cs typeface="Calibri"/>
              <a:sym typeface="Calibri"/>
            </a:endParaRPr>
          </a:p>
        </p:txBody>
      </p:sp>
      <p:pic>
        <p:nvPicPr>
          <p:cNvPr id="13" name="Google Shape;126;g104476d1465_1_17"/>
          <p:cNvPicPr preferRelativeResize="0"/>
          <p:nvPr/>
        </p:nvPicPr>
        <p:blipFill rotWithShape="1">
          <a:blip r:embed="rId7" cstate="screen">
            <a:alphaModFix/>
            <a:extLst>
              <a:ext uri="{28A0092B-C50C-407E-A947-70E740481C1C}">
                <a14:useLocalDpi xmlns:a14="http://schemas.microsoft.com/office/drawing/2010/main"/>
              </a:ext>
            </a:extLst>
          </a:blip>
          <a:srcRect/>
          <a:stretch/>
        </p:blipFill>
        <p:spPr>
          <a:xfrm>
            <a:off x="11449288"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5129157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08" name="Google Shape;208;p8"/>
              <p:cNvSpPr txBox="1"/>
              <p:nvPr/>
            </p:nvSpPr>
            <p:spPr>
              <a:xfrm>
                <a:off x="1297459" y="410666"/>
                <a:ext cx="9747748" cy="5632271"/>
              </a:xfrm>
              <a:prstGeom prst="rect">
                <a:avLst/>
              </a:prstGeom>
              <a:noFill/>
              <a:ln>
                <a:noFill/>
              </a:ln>
            </p:spPr>
            <p:txBody>
              <a:bodyPr spcFirstLastPara="1" wrap="square" lIns="91425" tIns="45700" rIns="91425" bIns="45700" anchor="t" anchorCtr="0">
                <a:spAutoFit/>
              </a:bodyPr>
              <a:lstStyle/>
              <a:p>
                <a:pPr marL="346075" indent="-346075"/>
                <a:r>
                  <a:rPr lang="en-US" sz="2000" dirty="0">
                    <a:latin typeface="Verdana"/>
                    <a:ea typeface="Verdana"/>
                    <a:cs typeface="Verdana"/>
                    <a:sym typeface="Verdana"/>
                  </a:rPr>
                  <a:t>b. Compare your selections with your partner. Resolve any differences if necessary.</a:t>
                </a:r>
              </a:p>
              <a:p>
                <a:pPr lvl="0"/>
                <a:endParaRPr lang="en-US" sz="2000" dirty="0">
                  <a:latin typeface="Verdana"/>
                  <a:ea typeface="Verdana"/>
                  <a:cs typeface="Verdana"/>
                  <a:sym typeface="Verdana"/>
                </a:endParaRPr>
              </a:p>
              <a:p>
                <a:pPr lvl="0"/>
                <a:endParaRPr lang="en-US" sz="2000" dirty="0">
                  <a:latin typeface="Verdana"/>
                  <a:ea typeface="Verdana"/>
                  <a:cs typeface="Verdana"/>
                  <a:sym typeface="Verdana"/>
                </a:endParaRPr>
              </a:p>
              <a:p>
                <a:pPr lvl="0"/>
                <a:endParaRPr lang="en-US" sz="2000" dirty="0">
                  <a:latin typeface="Verdana"/>
                  <a:ea typeface="Verdana"/>
                  <a:cs typeface="Verdana"/>
                  <a:sym typeface="Verdana"/>
                </a:endParaRPr>
              </a:p>
              <a:p>
                <a:pPr lvl="0"/>
                <a:endParaRPr lang="en-US" sz="2000" dirty="0">
                  <a:latin typeface="Verdana"/>
                  <a:ea typeface="Verdana"/>
                  <a:cs typeface="Verdana"/>
                  <a:sym typeface="Verdana"/>
                </a:endParaRPr>
              </a:p>
              <a:p>
                <a:pPr lvl="0"/>
                <a:endParaRPr lang="en-US" sz="2000" dirty="0">
                  <a:latin typeface="Verdana"/>
                  <a:ea typeface="Verdana"/>
                  <a:cs typeface="Verdana"/>
                  <a:sym typeface="Verdana"/>
                </a:endParaRPr>
              </a:p>
              <a:p>
                <a:pPr lvl="0"/>
                <a:endParaRPr lang="en-US" sz="2000" dirty="0">
                  <a:latin typeface="Verdana"/>
                  <a:ea typeface="Verdana"/>
                  <a:cs typeface="Verdana"/>
                  <a:sym typeface="Verdana"/>
                </a:endParaRPr>
              </a:p>
              <a:p>
                <a:pPr marL="346075" indent="-346075"/>
                <a:r>
                  <a:rPr lang="en-US" sz="2000" dirty="0">
                    <a:latin typeface="Verdana"/>
                    <a:ea typeface="Verdana"/>
                    <a:cs typeface="Verdana"/>
                    <a:sym typeface="Verdana"/>
                  </a:rPr>
                  <a:t>c. With your partner, choose one of the equations that can be modeled by the bar diagram and explain why it matches the diagram.</a:t>
                </a:r>
              </a:p>
              <a:p>
                <a:pPr marL="346075" indent="-346075"/>
                <a:endParaRPr lang="en-US" sz="2000" dirty="0">
                  <a:latin typeface="Verdana"/>
                  <a:ea typeface="Verdana"/>
                  <a:cs typeface="Verdana"/>
                  <a:sym typeface="Verdana"/>
                </a:endParaRPr>
              </a:p>
              <a:p>
                <a:pPr marL="346075" indent="-346075"/>
                <a:endParaRPr lang="en-US" sz="2000" dirty="0">
                  <a:latin typeface="Verdana"/>
                  <a:ea typeface="Verdana"/>
                  <a:cs typeface="Verdana"/>
                  <a:sym typeface="Verdana"/>
                </a:endParaRPr>
              </a:p>
              <a:p>
                <a:pPr marL="346075" indent="-346075"/>
                <a:endParaRPr lang="en-US" sz="2000" dirty="0">
                  <a:latin typeface="Verdana"/>
                  <a:ea typeface="Verdana"/>
                  <a:cs typeface="Verdana"/>
                  <a:sym typeface="Verdana"/>
                </a:endParaRPr>
              </a:p>
              <a:p>
                <a:pPr marL="346075" indent="-346075"/>
                <a:endParaRPr lang="en-US" sz="2000" dirty="0">
                  <a:latin typeface="Verdana"/>
                  <a:ea typeface="Verdana"/>
                  <a:cs typeface="Verdana"/>
                  <a:sym typeface="Verdana"/>
                </a:endParaRPr>
              </a:p>
              <a:p>
                <a:pPr marL="346075" indent="-346075"/>
                <a:endParaRPr lang="en-US" sz="2000" dirty="0">
                  <a:latin typeface="Verdana"/>
                  <a:ea typeface="Verdana"/>
                  <a:cs typeface="Verdana"/>
                  <a:sym typeface="Verdana"/>
                </a:endParaRPr>
              </a:p>
              <a:p>
                <a:pPr lvl="0"/>
                <a:r>
                  <a:rPr lang="en-US" sz="2000" dirty="0">
                    <a:latin typeface="Verdana"/>
                    <a:ea typeface="Verdana"/>
                    <a:cs typeface="Verdana"/>
                    <a:sym typeface="Verdana"/>
                  </a:rPr>
                  <a:t>d. </a:t>
                </a:r>
                <a:r>
                  <a:rPr lang="en-US" sz="2000" dirty="0">
                    <a:latin typeface="Verdana" panose="020B0604030504040204" pitchFamily="34" charset="0"/>
                    <a:ea typeface="Verdana" panose="020B0604030504040204" pitchFamily="34" charset="0"/>
                    <a:cs typeface="Verdana" panose="020B0604030504040204" pitchFamily="34" charset="0"/>
                  </a:rPr>
                  <a:t>Explain why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𝑥</m:t>
                    </m:r>
                    <m:r>
                      <a:rPr lang="en-US" sz="2000" i="1">
                        <a:latin typeface="Cambria Math" panose="02040503050406030204" pitchFamily="18" charset="0"/>
                        <a:ea typeface="Cambria Math" panose="02040503050406030204" pitchFamily="18" charset="0"/>
                        <a:cs typeface="Cambria Math" panose="02040503050406030204" pitchFamily="18" charset="0"/>
                      </a:rPr>
                      <m:t>+5=18</m:t>
                    </m:r>
                  </m:oMath>
                </a14:m>
                <a:r>
                  <a:rPr lang="en-US" sz="2000" dirty="0">
                    <a:latin typeface="Verdana" panose="020B0604030504040204" pitchFamily="34" charset="0"/>
                    <a:ea typeface="Verdana" panose="020B0604030504040204" pitchFamily="34" charset="0"/>
                    <a:cs typeface="Verdana" panose="020B0604030504040204" pitchFamily="34" charset="0"/>
                  </a:rPr>
                  <a:t> does not match the bar diagram.</a:t>
                </a:r>
                <a:endParaRPr lang="en-US" dirty="0">
                  <a:latin typeface="Cambria" panose="02040503050406030204" pitchFamily="18" charset="0"/>
                  <a:ea typeface="Times New Roman" panose="02020603050405020304" pitchFamily="18" charset="0"/>
                  <a:cs typeface="Times New Roman" panose="02020603050405020304" pitchFamily="18" charset="0"/>
                </a:endParaRPr>
              </a:p>
              <a:p>
                <a:pPr marL="346075" indent="-346075"/>
                <a:endParaRPr lang="en-US" sz="2000" dirty="0">
                  <a:latin typeface="Verdana"/>
                  <a:ea typeface="Verdana"/>
                  <a:cs typeface="Verdana"/>
                  <a:sym typeface="Verdana"/>
                </a:endParaRPr>
              </a:p>
              <a:p>
                <a:pPr lvl="0"/>
                <a:endParaRPr lang="en-US" sz="2000" dirty="0">
                  <a:latin typeface="Verdana"/>
                  <a:ea typeface="Verdana"/>
                  <a:cs typeface="Verdana"/>
                  <a:sym typeface="Verdana"/>
                </a:endParaRPr>
              </a:p>
            </p:txBody>
          </p:sp>
        </mc:Choice>
        <mc:Fallback xmlns="">
          <p:sp>
            <p:nvSpPr>
              <p:cNvPr id="208" name="Google Shape;208;p8"/>
              <p:cNvSpPr txBox="1">
                <a:spLocks noRot="1" noChangeAspect="1" noMove="1" noResize="1" noEditPoints="1" noAdjustHandles="1" noChangeArrowheads="1" noChangeShapeType="1" noTextEdit="1"/>
              </p:cNvSpPr>
              <p:nvPr/>
            </p:nvSpPr>
            <p:spPr>
              <a:xfrm>
                <a:off x="1297459" y="410666"/>
                <a:ext cx="9747748" cy="5632271"/>
              </a:xfrm>
              <a:prstGeom prst="rect">
                <a:avLst/>
              </a:prstGeom>
              <a:blipFill rotWithShape="0">
                <a:blip r:embed="rId3"/>
                <a:stretch>
                  <a:fillRect l="-688" t="-541" r="-563"/>
                </a:stretch>
              </a:blipFill>
              <a:ln>
                <a:noFill/>
              </a:ln>
            </p:spPr>
            <p:txBody>
              <a:bodyPr/>
              <a:lstStyle/>
              <a:p>
                <a:r>
                  <a:rPr lang="en-US">
                    <a:noFill/>
                  </a:rPr>
                  <a:t> </a:t>
                </a:r>
              </a:p>
            </p:txBody>
          </p:sp>
        </mc:Fallback>
      </mc:AlternateContent>
      <p:sp>
        <p:nvSpPr>
          <p:cNvPr id="209" name="Google Shape;209;p8"/>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7" name="Google Shape;125;g104476d1465_1_17"/>
          <p:cNvSpPr txBox="1"/>
          <p:nvPr/>
        </p:nvSpPr>
        <p:spPr>
          <a:xfrm>
            <a:off x="8711062"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33</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288"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4051570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8" name="Google Shape;208;p8"/>
          <p:cNvSpPr txBox="1"/>
          <p:nvPr/>
        </p:nvSpPr>
        <p:spPr>
          <a:xfrm>
            <a:off x="1272746" y="422820"/>
            <a:ext cx="9646508" cy="2554505"/>
          </a:xfrm>
          <a:prstGeom prst="rect">
            <a:avLst/>
          </a:prstGeom>
          <a:noFill/>
          <a:ln>
            <a:noFill/>
          </a:ln>
        </p:spPr>
        <p:txBody>
          <a:bodyPr spcFirstLastPara="1" wrap="square" lIns="91425" tIns="45700" rIns="91425" bIns="45700" anchor="t" anchorCtr="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Equations can be used to represent real-world contexts.</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lvl="0"/>
            <a:r>
              <a:rPr lang="en-US" sz="2000" dirty="0">
                <a:latin typeface="Verdana" panose="020B0604030504040204" pitchFamily="34" charset="0"/>
                <a:ea typeface="Verdana" panose="020B0604030504040204" pitchFamily="34" charset="0"/>
                <a:cs typeface="Verdana" panose="020B0604030504040204" pitchFamily="34" charset="0"/>
              </a:rPr>
              <a:t>2. Three equations are shown.</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209" name="Google Shape;209;p8"/>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xmlns="" id="{A101F2CD-B8C9-F942-8FE7-671AE760BEAD}"/>
                  </a:ext>
                </a:extLst>
              </p:cNvPr>
              <p:cNvGraphicFramePr>
                <a:graphicFrameLocks noGrp="1"/>
              </p:cNvGraphicFramePr>
              <p:nvPr>
                <p:extLst>
                  <p:ext uri="{D42A27DB-BD31-4B8C-83A1-F6EECF244321}">
                    <p14:modId xmlns:p14="http://schemas.microsoft.com/office/powerpoint/2010/main" val="764380222"/>
                  </p:ext>
                </p:extLst>
              </p:nvPr>
            </p:nvGraphicFramePr>
            <p:xfrm>
              <a:off x="2695802" y="1700073"/>
              <a:ext cx="6800396" cy="1304385"/>
            </p:xfrm>
            <a:graphic>
              <a:graphicData uri="http://schemas.openxmlformats.org/drawingml/2006/table">
                <a:tbl>
                  <a:tblPr bandRow="1"/>
                  <a:tblGrid>
                    <a:gridCol w="2318332">
                      <a:extLst>
                        <a:ext uri="{9D8B030D-6E8A-4147-A177-3AD203B41FA5}">
                          <a16:colId xmlns:a16="http://schemas.microsoft.com/office/drawing/2014/main" xmlns="" val="111201382"/>
                        </a:ext>
                      </a:extLst>
                    </a:gridCol>
                    <a:gridCol w="2319014">
                      <a:extLst>
                        <a:ext uri="{9D8B030D-6E8A-4147-A177-3AD203B41FA5}">
                          <a16:colId xmlns:a16="http://schemas.microsoft.com/office/drawing/2014/main" xmlns="" val="3910679420"/>
                        </a:ext>
                      </a:extLst>
                    </a:gridCol>
                    <a:gridCol w="2163050">
                      <a:extLst>
                        <a:ext uri="{9D8B030D-6E8A-4147-A177-3AD203B41FA5}">
                          <a16:colId xmlns:a16="http://schemas.microsoft.com/office/drawing/2014/main" xmlns="" val="1640646707"/>
                        </a:ext>
                      </a:extLst>
                    </a:gridCol>
                  </a:tblGrid>
                  <a:tr h="462497">
                    <a:tc>
                      <a:txBody>
                        <a:bodyPr/>
                        <a:lstStyle/>
                        <a:p>
                          <a:pPr marL="0" marR="0" algn="ctr">
                            <a:spcBef>
                              <a:spcPts val="0"/>
                            </a:spcBef>
                            <a:spcAft>
                              <a:spcPts val="100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Equation A</a:t>
                          </a: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100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Equation B</a:t>
                          </a:r>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100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Equation C</a:t>
                          </a:r>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 val="2073594211"/>
                      </a:ext>
                    </a:extLst>
                  </a:tr>
                  <a:tr h="841888">
                    <a:tc>
                      <a:txBody>
                        <a:bodyPr/>
                        <a:lstStyle/>
                        <a:p>
                          <a:pPr marL="0" marR="0" algn="ctr">
                            <a:lnSpc>
                              <a:spcPct val="150000"/>
                            </a:lnSpc>
                            <a:spcBef>
                              <a:spcPts val="600"/>
                            </a:spcBef>
                            <a:spcAft>
                              <a:spcPts val="1000"/>
                            </a:spcAft>
                          </a:pPr>
                          <a14:m>
                            <m:oMath xmlns:m="http://schemas.openxmlformats.org/officeDocument/2006/math">
                              <m:f>
                                <m:fPr>
                                  <m:ctrlPr>
                                    <a:rPr lang="en-US" sz="2000" i="1">
                                      <a:solidFill>
                                        <a:srgbClr val="000000"/>
                                      </a:solidFill>
                                      <a:effectLst/>
                                      <a:latin typeface="Cambria Math" charset="0"/>
                                      <a:ea typeface="Cambria Math" panose="02040503050406030204" pitchFamily="18" charset="0"/>
                                      <a:cs typeface="Cambria Math" panose="02040503050406030204" pitchFamily="18" charset="0"/>
                                    </a:rPr>
                                  </m:ctrlPr>
                                </m:fPr>
                                <m:num>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1</m:t>
                                  </m:r>
                                </m:num>
                                <m:den>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4</m:t>
                                  </m:r>
                                </m:den>
                              </m:f>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+4</m:t>
                              </m:r>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𝑥</m:t>
                              </m:r>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=8</m:t>
                              </m:r>
                            </m:oMath>
                          </a14:m>
                          <a:r>
                            <a:rPr lang="en-US" sz="200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50000"/>
                            </a:lnSpc>
                            <a:spcBef>
                              <a:spcPts val="600"/>
                            </a:spcBef>
                            <a:spcAft>
                              <a:spcPts val="1000"/>
                            </a:spcAft>
                          </a:pPr>
                          <a14:m>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4+</m:t>
                              </m:r>
                              <m:f>
                                <m:fPr>
                                  <m:ctrlPr>
                                    <a:rPr lang="en-US" sz="2000" i="1">
                                      <a:solidFill>
                                        <a:srgbClr val="000000"/>
                                      </a:solidFill>
                                      <a:effectLst/>
                                      <a:latin typeface="Cambria Math" charset="0"/>
                                      <a:ea typeface="Cambria Math" panose="02040503050406030204" pitchFamily="18" charset="0"/>
                                      <a:cs typeface="Cambria Math" panose="02040503050406030204" pitchFamily="18" charset="0"/>
                                    </a:rPr>
                                  </m:ctrlPr>
                                </m:fPr>
                                <m:num>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1</m:t>
                                  </m:r>
                                </m:num>
                                <m:den>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4</m:t>
                                  </m:r>
                                </m:den>
                              </m:f>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𝑥</m:t>
                              </m:r>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=8</m:t>
                              </m:r>
                            </m:oMath>
                          </a14:m>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50000"/>
                            </a:lnSpc>
                            <a:spcBef>
                              <a:spcPts val="600"/>
                            </a:spcBef>
                            <a:spcAft>
                              <a:spcPts val="1000"/>
                            </a:spcAft>
                          </a:pPr>
                          <a14:m>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8</m:t>
                              </m:r>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𝑥</m:t>
                              </m:r>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m:t>
                              </m:r>
                              <m:f>
                                <m:fPr>
                                  <m:ctrlPr>
                                    <a:rPr lang="en-US" sz="2000" i="1">
                                      <a:solidFill>
                                        <a:srgbClr val="000000"/>
                                      </a:solidFill>
                                      <a:effectLst/>
                                      <a:latin typeface="Cambria Math" charset="0"/>
                                      <a:ea typeface="Cambria Math" panose="02040503050406030204" pitchFamily="18" charset="0"/>
                                      <a:cs typeface="Cambria Math" panose="02040503050406030204" pitchFamily="18" charset="0"/>
                                    </a:rPr>
                                  </m:ctrlPr>
                                </m:fPr>
                                <m:num>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1</m:t>
                                  </m:r>
                                </m:num>
                                <m:den>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4</m:t>
                                  </m:r>
                                </m:den>
                              </m:f>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=4</m:t>
                              </m:r>
                            </m:oMath>
                          </a14:m>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969054567"/>
                      </a:ext>
                    </a:extLst>
                  </a:tr>
                </a:tbl>
              </a:graphicData>
            </a:graphic>
          </p:graphicFrame>
        </mc:Choice>
        <mc:Fallback xmlns="">
          <p:graphicFrame>
            <p:nvGraphicFramePr>
              <p:cNvPr id="2" name="Table 1">
                <a:extLst>
                  <a:ext uri="{FF2B5EF4-FFF2-40B4-BE49-F238E27FC236}">
                    <a16:creationId xmlns:a16="http://schemas.microsoft.com/office/drawing/2014/main" id="{A101F2CD-B8C9-F942-8FE7-671AE760BEAD}"/>
                  </a:ext>
                </a:extLst>
              </p:cNvPr>
              <p:cNvGraphicFramePr>
                <a:graphicFrameLocks noGrp="1"/>
              </p:cNvGraphicFramePr>
              <p:nvPr>
                <p:extLst>
                  <p:ext uri="{D42A27DB-BD31-4B8C-83A1-F6EECF244321}">
                    <p14:modId xmlns:p14="http://schemas.microsoft.com/office/powerpoint/2010/main" val="764380222"/>
                  </p:ext>
                </p:extLst>
              </p:nvPr>
            </p:nvGraphicFramePr>
            <p:xfrm>
              <a:off x="1171802" y="1700072"/>
              <a:ext cx="6800396" cy="1304385"/>
            </p:xfrm>
            <a:graphic>
              <a:graphicData uri="http://schemas.openxmlformats.org/drawingml/2006/table">
                <a:tbl>
                  <a:tblPr bandRow="1"/>
                  <a:tblGrid>
                    <a:gridCol w="2318332">
                      <a:extLst>
                        <a:ext uri="{9D8B030D-6E8A-4147-A177-3AD203B41FA5}">
                          <a16:colId xmlns:a16="http://schemas.microsoft.com/office/drawing/2014/main" val="111201382"/>
                        </a:ext>
                      </a:extLst>
                    </a:gridCol>
                    <a:gridCol w="2319014">
                      <a:extLst>
                        <a:ext uri="{9D8B030D-6E8A-4147-A177-3AD203B41FA5}">
                          <a16:colId xmlns:a16="http://schemas.microsoft.com/office/drawing/2014/main" val="3910679420"/>
                        </a:ext>
                      </a:extLst>
                    </a:gridCol>
                    <a:gridCol w="2163050">
                      <a:extLst>
                        <a:ext uri="{9D8B030D-6E8A-4147-A177-3AD203B41FA5}">
                          <a16:colId xmlns:a16="http://schemas.microsoft.com/office/drawing/2014/main" val="1640646707"/>
                        </a:ext>
                      </a:extLst>
                    </a:gridCol>
                  </a:tblGrid>
                  <a:tr h="462497">
                    <a:tc>
                      <a:txBody>
                        <a:bodyPr/>
                        <a:lstStyle/>
                        <a:p>
                          <a:pPr marL="0" marR="0" algn="ctr">
                            <a:spcBef>
                              <a:spcPts val="0"/>
                            </a:spcBef>
                            <a:spcAft>
                              <a:spcPts val="100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Equation A</a:t>
                          </a: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100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Equation B</a:t>
                          </a:r>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100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Equation C</a:t>
                          </a:r>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073594211"/>
                      </a:ext>
                    </a:extLst>
                  </a:tr>
                  <a:tr h="841888">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546" t="-56716" r="-193443" b="-1493"/>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00546" t="-56716" r="-93443" b="-1493"/>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15882" t="-56716" r="-588" b="-1493"/>
                          </a:stretch>
                        </a:blipFill>
                      </a:tcPr>
                    </a:tc>
                    <a:extLst>
                      <a:ext uri="{0D108BD9-81ED-4DB2-BD59-A6C34878D82A}">
                        <a16:rowId xmlns:a16="http://schemas.microsoft.com/office/drawing/2014/main" val="2969054567"/>
                      </a:ext>
                    </a:extLst>
                  </a:tr>
                </a:tbl>
              </a:graphicData>
            </a:graphic>
          </p:graphicFrame>
        </mc:Fallback>
      </mc:AlternateContent>
      <p:sp>
        <p:nvSpPr>
          <p:cNvPr id="7" name="Google Shape;125;g104476d1465_1_17"/>
          <p:cNvSpPr txBox="1"/>
          <p:nvPr/>
        </p:nvSpPr>
        <p:spPr>
          <a:xfrm>
            <a:off x="8711062"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33</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288"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7676312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9" name="Google Shape;209;p8"/>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xmlns="" id="{9C9D32A3-7DDF-FE40-B61B-C03A4D6B1AA3}"/>
                  </a:ext>
                </a:extLst>
              </p:cNvPr>
              <p:cNvGraphicFramePr>
                <a:graphicFrameLocks noGrp="1"/>
              </p:cNvGraphicFramePr>
              <p:nvPr>
                <p:extLst>
                  <p:ext uri="{D42A27DB-BD31-4B8C-83A1-F6EECF244321}">
                    <p14:modId xmlns:p14="http://schemas.microsoft.com/office/powerpoint/2010/main" val="1309192833"/>
                  </p:ext>
                </p:extLst>
              </p:nvPr>
            </p:nvGraphicFramePr>
            <p:xfrm>
              <a:off x="2083594" y="1193727"/>
              <a:ext cx="7865157" cy="5253609"/>
            </p:xfrm>
            <a:graphic>
              <a:graphicData uri="http://schemas.openxmlformats.org/drawingml/2006/table">
                <a:tbl>
                  <a:tblPr bandRow="1"/>
                  <a:tblGrid>
                    <a:gridCol w="4522466">
                      <a:extLst>
                        <a:ext uri="{9D8B030D-6E8A-4147-A177-3AD203B41FA5}">
                          <a16:colId xmlns:a16="http://schemas.microsoft.com/office/drawing/2014/main" xmlns="" val="2580060180"/>
                        </a:ext>
                      </a:extLst>
                    </a:gridCol>
                    <a:gridCol w="3342691">
                      <a:extLst>
                        <a:ext uri="{9D8B030D-6E8A-4147-A177-3AD203B41FA5}">
                          <a16:colId xmlns:a16="http://schemas.microsoft.com/office/drawing/2014/main" xmlns="" val="1709628380"/>
                        </a:ext>
                      </a:extLst>
                    </a:gridCol>
                  </a:tblGrid>
                  <a:tr h="252455">
                    <a:tc>
                      <a:txBody>
                        <a:bodyPr/>
                        <a:lstStyle/>
                        <a:p>
                          <a:pPr marL="0" marR="0" algn="ctr">
                            <a:spcBef>
                              <a:spcPts val="0"/>
                            </a:spcBef>
                            <a:spcAft>
                              <a:spcPts val="100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Context</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3114" marR="631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100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Equation</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3114" marR="631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 val="3533488420"/>
                      </a:ext>
                    </a:extLst>
                  </a:tr>
                  <a:tr h="1366294">
                    <a:tc>
                      <a:txBody>
                        <a:bodyPr/>
                        <a:lstStyle/>
                        <a:p>
                          <a:pPr marL="0" marR="0">
                            <a:spcBef>
                              <a:spcPts val="0"/>
                            </a:spcBef>
                            <a:spcAft>
                              <a:spcPts val="100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 stack of nested paper cups is </a:t>
                          </a:r>
                          <a14:m>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8</m:t>
                              </m:r>
                            </m:oMath>
                          </a14:m>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inches tall. The first cup is </a:t>
                          </a:r>
                          <a14:m>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4</m:t>
                              </m:r>
                            </m:oMath>
                          </a14:m>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inches tall and each of the rest of the cups in the stack adds </a:t>
                          </a:r>
                          <a14:m>
                            <m:oMath xmlns:m="http://schemas.openxmlformats.org/officeDocument/2006/math">
                              <m:f>
                                <m:fPr>
                                  <m:ctrlPr>
                                    <a:rPr lang="en-US" sz="2000" i="1">
                                      <a:solidFill>
                                        <a:srgbClr val="000000"/>
                                      </a:solidFill>
                                      <a:effectLst/>
                                      <a:latin typeface="Cambria Math" charset="0"/>
                                      <a:ea typeface="Cambria Math" panose="02040503050406030204" pitchFamily="18" charset="0"/>
                                      <a:cs typeface="Cambria Math" panose="02040503050406030204" pitchFamily="18" charset="0"/>
                                    </a:rPr>
                                  </m:ctrlPr>
                                </m:fPr>
                                <m:num>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1</m:t>
                                  </m:r>
                                </m:num>
                                <m:den>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4</m:t>
                                  </m:r>
                                </m:den>
                              </m:f>
                            </m:oMath>
                          </a14:m>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inch to the height of the stack.</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3114" marR="631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1000"/>
                            </a:spcAft>
                          </a:pPr>
                          <a:r>
                            <a:rPr lang="en-US" sz="200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3114" marR="631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1487223"/>
                      </a:ext>
                    </a:extLst>
                  </a:tr>
                  <a:tr h="1366294">
                    <a:tc>
                      <a:txBody>
                        <a:bodyPr/>
                        <a:lstStyle/>
                        <a:p>
                          <a:pPr marL="0" marR="0">
                            <a:spcBef>
                              <a:spcPts val="0"/>
                            </a:spcBef>
                            <a:spcAft>
                              <a:spcPts val="1000"/>
                            </a:spcAft>
                          </a:pPr>
                          <a:r>
                            <a:rPr lang="en-US" sz="2000">
                              <a:solidFill>
                                <a:srgbClr val="000000"/>
                              </a:solidFill>
                              <a:effectLst/>
                              <a:latin typeface="Verdana" panose="020B0604030504040204" pitchFamily="34" charset="0"/>
                              <a:ea typeface="Verdana" panose="020B0604030504040204" pitchFamily="34" charset="0"/>
                              <a:cs typeface="Verdana" panose="020B0604030504040204" pitchFamily="34" charset="0"/>
                            </a:rPr>
                            <a:t>A baker uses </a:t>
                          </a:r>
                          <a14:m>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4</m:t>
                              </m:r>
                            </m:oMath>
                          </a14:m>
                          <a:r>
                            <a:rPr lang="en-US" sz="2000">
                              <a:solidFill>
                                <a:srgbClr val="000000"/>
                              </a:solidFill>
                              <a:effectLst/>
                              <a:latin typeface="Verdana" panose="020B0604030504040204" pitchFamily="34" charset="0"/>
                              <a:ea typeface="Verdana" panose="020B0604030504040204" pitchFamily="34" charset="0"/>
                              <a:cs typeface="Verdana" panose="020B0604030504040204" pitchFamily="34" charset="0"/>
                            </a:rPr>
                            <a:t> cups of flour. She uses </a:t>
                          </a:r>
                          <a14:m>
                            <m:oMath xmlns:m="http://schemas.openxmlformats.org/officeDocument/2006/math">
                              <m:f>
                                <m:fPr>
                                  <m:ctrlPr>
                                    <a:rPr lang="en-US" sz="2000" i="1">
                                      <a:solidFill>
                                        <a:srgbClr val="000000"/>
                                      </a:solidFill>
                                      <a:effectLst/>
                                      <a:latin typeface="Cambria Math" charset="0"/>
                                      <a:ea typeface="Cambria Math" panose="02040503050406030204" pitchFamily="18" charset="0"/>
                                      <a:cs typeface="Cambria Math" panose="02040503050406030204" pitchFamily="18" charset="0"/>
                                    </a:rPr>
                                  </m:ctrlPr>
                                </m:fPr>
                                <m:num>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1</m:t>
                                  </m:r>
                                </m:num>
                                <m:den>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4</m:t>
                                  </m:r>
                                </m:den>
                              </m:f>
                            </m:oMath>
                          </a14:m>
                          <a:r>
                            <a:rPr lang="en-US" sz="2000">
                              <a:solidFill>
                                <a:srgbClr val="000000"/>
                              </a:solidFill>
                              <a:effectLst/>
                              <a:latin typeface="Verdana" panose="020B0604030504040204" pitchFamily="34" charset="0"/>
                              <a:ea typeface="Verdana" panose="020B0604030504040204" pitchFamily="34" charset="0"/>
                              <a:cs typeface="Verdana" panose="020B0604030504040204" pitchFamily="34" charset="0"/>
                            </a:rPr>
                            <a:t> cup to cover the counter with flour so the dough doesn’t stick, and the rest to make </a:t>
                          </a:r>
                          <a14:m>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8</m:t>
                              </m:r>
                            </m:oMath>
                          </a14:m>
                          <a:r>
                            <a:rPr lang="en-US" sz="2000">
                              <a:solidFill>
                                <a:srgbClr val="000000"/>
                              </a:solidFill>
                              <a:effectLst/>
                              <a:latin typeface="Verdana" panose="020B0604030504040204" pitchFamily="34" charset="0"/>
                              <a:ea typeface="Verdana" panose="020B0604030504040204" pitchFamily="34" charset="0"/>
                              <a:cs typeface="Verdana" panose="020B0604030504040204" pitchFamily="34" charset="0"/>
                            </a:rPr>
                            <a:t> identical loaves of bread.</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3114" marR="631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1000"/>
                            </a:spcAft>
                          </a:pPr>
                          <a:r>
                            <a:rPr lang="en-US" sz="200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3114" marR="631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844307638"/>
                      </a:ext>
                    </a:extLst>
                  </a:tr>
                  <a:tr h="1366294">
                    <a:tc>
                      <a:txBody>
                        <a:bodyPr/>
                        <a:lstStyle/>
                        <a:p>
                          <a:pPr marL="0" marR="0">
                            <a:spcBef>
                              <a:spcPts val="0"/>
                            </a:spcBef>
                            <a:spcAft>
                              <a:spcPts val="1000"/>
                            </a:spcAft>
                          </a:pPr>
                          <a:r>
                            <a:rPr lang="en-US" sz="2000">
                              <a:solidFill>
                                <a:srgbClr val="000000"/>
                              </a:solidFill>
                              <a:effectLst/>
                              <a:latin typeface="Verdana" panose="020B0604030504040204" pitchFamily="34" charset="0"/>
                              <a:ea typeface="Verdana" panose="020B0604030504040204" pitchFamily="34" charset="0"/>
                              <a:cs typeface="Verdana" panose="020B0604030504040204" pitchFamily="34" charset="0"/>
                            </a:rPr>
                            <a:t>Elena has an </a:t>
                          </a:r>
                          <a14:m>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8</m:t>
                              </m:r>
                            </m:oMath>
                          </a14:m>
                          <a:r>
                            <a:rPr lang="en-US" sz="2000">
                              <a:solidFill>
                                <a:srgbClr val="000000"/>
                              </a:solidFill>
                              <a:effectLst/>
                              <a:latin typeface="Verdana" panose="020B0604030504040204" pitchFamily="34" charset="0"/>
                              <a:ea typeface="Verdana" panose="020B0604030504040204" pitchFamily="34" charset="0"/>
                              <a:cs typeface="Verdana" panose="020B0604030504040204" pitchFamily="34" charset="0"/>
                            </a:rPr>
                            <a:t>-foot piece of ribbon. She cuts off a piece that is </a:t>
                          </a:r>
                          <a14:m>
                            <m:oMath xmlns:m="http://schemas.openxmlformats.org/officeDocument/2006/math">
                              <m:f>
                                <m:fPr>
                                  <m:ctrlPr>
                                    <a:rPr lang="en-US" sz="2000" i="1">
                                      <a:solidFill>
                                        <a:srgbClr val="000000"/>
                                      </a:solidFill>
                                      <a:effectLst/>
                                      <a:latin typeface="Cambria Math" charset="0"/>
                                      <a:ea typeface="Cambria Math" panose="02040503050406030204" pitchFamily="18" charset="0"/>
                                      <a:cs typeface="Cambria Math" panose="02040503050406030204" pitchFamily="18" charset="0"/>
                                    </a:rPr>
                                  </m:ctrlPr>
                                </m:fPr>
                                <m:num>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1</m:t>
                                  </m:r>
                                </m:num>
                                <m:den>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4</m:t>
                                  </m:r>
                                </m:den>
                              </m:f>
                            </m:oMath>
                          </a14:m>
                          <a:r>
                            <a:rPr lang="en-US" sz="2000">
                              <a:solidFill>
                                <a:srgbClr val="000000"/>
                              </a:solidFill>
                              <a:effectLst/>
                              <a:latin typeface="Verdana" panose="020B0604030504040204" pitchFamily="34" charset="0"/>
                              <a:ea typeface="Verdana" panose="020B0604030504040204" pitchFamily="34" charset="0"/>
                              <a:cs typeface="Verdana" panose="020B0604030504040204" pitchFamily="34" charset="0"/>
                            </a:rPr>
                            <a:t> of a foot long and cuts the remainder into four pieces of equal length.</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3114" marR="631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100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3114" marR="631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836262529"/>
                      </a:ext>
                    </a:extLst>
                  </a:tr>
                </a:tbl>
              </a:graphicData>
            </a:graphic>
          </p:graphicFrame>
        </mc:Choice>
        <mc:Fallback xmlns="">
          <p:graphicFrame>
            <p:nvGraphicFramePr>
              <p:cNvPr id="6" name="Table 5">
                <a:extLst>
                  <a:ext uri="{FF2B5EF4-FFF2-40B4-BE49-F238E27FC236}">
                    <a16:creationId xmlns:a16="http://schemas.microsoft.com/office/drawing/2014/main" id="{9C9D32A3-7DDF-FE40-B61B-C03A4D6B1AA3}"/>
                  </a:ext>
                </a:extLst>
              </p:cNvPr>
              <p:cNvGraphicFramePr>
                <a:graphicFrameLocks noGrp="1"/>
              </p:cNvGraphicFramePr>
              <p:nvPr>
                <p:extLst>
                  <p:ext uri="{D42A27DB-BD31-4B8C-83A1-F6EECF244321}">
                    <p14:modId xmlns:p14="http://schemas.microsoft.com/office/powerpoint/2010/main" val="1309192833"/>
                  </p:ext>
                </p:extLst>
              </p:nvPr>
            </p:nvGraphicFramePr>
            <p:xfrm>
              <a:off x="559593" y="1193726"/>
              <a:ext cx="7865157" cy="5253609"/>
            </p:xfrm>
            <a:graphic>
              <a:graphicData uri="http://schemas.openxmlformats.org/drawingml/2006/table">
                <a:tbl>
                  <a:tblPr bandRow="1"/>
                  <a:tblGrid>
                    <a:gridCol w="4522466">
                      <a:extLst>
                        <a:ext uri="{9D8B030D-6E8A-4147-A177-3AD203B41FA5}">
                          <a16:colId xmlns:a16="http://schemas.microsoft.com/office/drawing/2014/main" val="2580060180"/>
                        </a:ext>
                      </a:extLst>
                    </a:gridCol>
                    <a:gridCol w="3342691">
                      <a:extLst>
                        <a:ext uri="{9D8B030D-6E8A-4147-A177-3AD203B41FA5}">
                          <a16:colId xmlns:a16="http://schemas.microsoft.com/office/drawing/2014/main" val="1709628380"/>
                        </a:ext>
                      </a:extLst>
                    </a:gridCol>
                  </a:tblGrid>
                  <a:tr h="304800">
                    <a:tc>
                      <a:txBody>
                        <a:bodyPr/>
                        <a:lstStyle/>
                        <a:p>
                          <a:pPr marL="0" marR="0" algn="ctr">
                            <a:spcBef>
                              <a:spcPts val="0"/>
                            </a:spcBef>
                            <a:spcAft>
                              <a:spcPts val="100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Context</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3114" marR="631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100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Equation</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3114" marR="631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3533488420"/>
                      </a:ext>
                    </a:extLst>
                  </a:tr>
                  <a:tr h="1649603">
                    <a:tc>
                      <a:txBody>
                        <a:bodyPr/>
                        <a:lstStyle/>
                        <a:p>
                          <a:endParaRPr lang="en-US"/>
                        </a:p>
                      </a:txBody>
                      <a:tcPr marL="63114" marR="631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80" t="-23077" r="-73950" b="-209231"/>
                          </a:stretch>
                        </a:blipFill>
                      </a:tcPr>
                    </a:tc>
                    <a:tc>
                      <a:txBody>
                        <a:bodyPr/>
                        <a:lstStyle/>
                        <a:p>
                          <a:pPr marL="0" marR="0">
                            <a:spcBef>
                              <a:spcPts val="0"/>
                            </a:spcBef>
                            <a:spcAft>
                              <a:spcPts val="1000"/>
                            </a:spcAft>
                          </a:pPr>
                          <a:r>
                            <a:rPr lang="en-US" sz="200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3114" marR="631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87223"/>
                      </a:ext>
                    </a:extLst>
                  </a:tr>
                  <a:tr h="1649603">
                    <a:tc>
                      <a:txBody>
                        <a:bodyPr/>
                        <a:lstStyle/>
                        <a:p>
                          <a:endParaRPr lang="en-US"/>
                        </a:p>
                      </a:txBody>
                      <a:tcPr marL="63114" marR="631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80" t="-122137" r="-73950" b="-107634"/>
                          </a:stretch>
                        </a:blipFill>
                      </a:tcPr>
                    </a:tc>
                    <a:tc>
                      <a:txBody>
                        <a:bodyPr/>
                        <a:lstStyle/>
                        <a:p>
                          <a:pPr marL="0" marR="0">
                            <a:spcBef>
                              <a:spcPts val="0"/>
                            </a:spcBef>
                            <a:spcAft>
                              <a:spcPts val="1000"/>
                            </a:spcAft>
                          </a:pPr>
                          <a:r>
                            <a:rPr lang="en-US" sz="200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3114" marR="631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44307638"/>
                      </a:ext>
                    </a:extLst>
                  </a:tr>
                  <a:tr h="1649603">
                    <a:tc>
                      <a:txBody>
                        <a:bodyPr/>
                        <a:lstStyle/>
                        <a:p>
                          <a:endParaRPr lang="en-US"/>
                        </a:p>
                      </a:txBody>
                      <a:tcPr marL="63114" marR="631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80" t="-223846" r="-73950" b="-8462"/>
                          </a:stretch>
                        </a:blipFill>
                      </a:tcPr>
                    </a:tc>
                    <a:tc>
                      <a:txBody>
                        <a:bodyPr/>
                        <a:lstStyle/>
                        <a:p>
                          <a:pPr marL="0" marR="0">
                            <a:spcBef>
                              <a:spcPts val="0"/>
                            </a:spcBef>
                            <a:spcAft>
                              <a:spcPts val="100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3114" marR="631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36262529"/>
                      </a:ext>
                    </a:extLst>
                  </a:tr>
                </a:tbl>
              </a:graphicData>
            </a:graphic>
          </p:graphicFrame>
        </mc:Fallback>
      </mc:AlternateContent>
      <p:sp>
        <p:nvSpPr>
          <p:cNvPr id="8" name="TextBox 7">
            <a:extLst>
              <a:ext uri="{FF2B5EF4-FFF2-40B4-BE49-F238E27FC236}">
                <a16:creationId xmlns:a16="http://schemas.microsoft.com/office/drawing/2014/main" xmlns="" id="{7C185E7E-9EC1-4047-9D46-40584BDDD36D}"/>
              </a:ext>
            </a:extLst>
          </p:cNvPr>
          <p:cNvSpPr txBox="1"/>
          <p:nvPr/>
        </p:nvSpPr>
        <p:spPr>
          <a:xfrm>
            <a:off x="784154" y="334246"/>
            <a:ext cx="10560908" cy="707886"/>
          </a:xfrm>
          <a:prstGeom prst="rect">
            <a:avLst/>
          </a:prstGeom>
          <a:noFill/>
        </p:spPr>
        <p:txBody>
          <a:bodyPr wrap="square">
            <a:spAutoFit/>
          </a:bodyPr>
          <a:lstStyle/>
          <a:p>
            <a:pPr marL="346075" indent="-346075"/>
            <a:r>
              <a:rPr lang="en-US" sz="2000" dirty="0">
                <a:latin typeface="Verdana" panose="020B0604030504040204" pitchFamily="34" charset="0"/>
                <a:ea typeface="Verdana" panose="020B0604030504040204" pitchFamily="34" charset="0"/>
                <a:cs typeface="Verdana" panose="020B0604030504040204" pitchFamily="34" charset="0"/>
              </a:rPr>
              <a:t>a. Work with your partner to determine which equation matches each context. Then, write each equation in the appropriate row.</a:t>
            </a:r>
          </a:p>
        </p:txBody>
      </p:sp>
      <p:sp>
        <p:nvSpPr>
          <p:cNvPr id="7" name="Google Shape;125;g104476d1465_1_17"/>
          <p:cNvSpPr txBox="1"/>
          <p:nvPr/>
        </p:nvSpPr>
        <p:spPr>
          <a:xfrm>
            <a:off x="8711062"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33</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288"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3657577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08" name="Google Shape;208;p8"/>
              <p:cNvSpPr txBox="1"/>
              <p:nvPr/>
            </p:nvSpPr>
            <p:spPr>
              <a:xfrm>
                <a:off x="1223319" y="410665"/>
                <a:ext cx="9798908" cy="1015622"/>
              </a:xfrm>
              <a:prstGeom prst="rect">
                <a:avLst/>
              </a:prstGeom>
              <a:noFill/>
              <a:ln>
                <a:noFill/>
              </a:ln>
            </p:spPr>
            <p:txBody>
              <a:bodyPr spcFirstLastPara="1" wrap="square" lIns="91425" tIns="45700" rIns="91425" bIns="45700" anchor="t" anchorCtr="0">
                <a:spAutoFit/>
              </a:bodyPr>
              <a:lstStyle/>
              <a:p>
                <a:pPr marL="346075" lvl="1" indent="-331788"/>
                <a:r>
                  <a:rPr lang="en-US" sz="2000" dirty="0">
                    <a:latin typeface="Verdana" panose="020B0604030504040204" pitchFamily="34" charset="0"/>
                    <a:ea typeface="Verdana" panose="020B0604030504040204" pitchFamily="34" charset="0"/>
                    <a:cs typeface="Verdana" panose="020B0604030504040204" pitchFamily="34" charset="0"/>
                  </a:rPr>
                  <a:t>b. With your partner, discuss what the variable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𝑥</m:t>
                    </m:r>
                  </m:oMath>
                </a14:m>
                <a:r>
                  <a:rPr lang="en-US" sz="2000" dirty="0">
                    <a:latin typeface="Verdana" panose="020B0604030504040204" pitchFamily="34" charset="0"/>
                    <a:ea typeface="Verdana" panose="020B0604030504040204" pitchFamily="34" charset="0"/>
                    <a:cs typeface="Verdana" panose="020B0604030504040204" pitchFamily="34" charset="0"/>
                  </a:rPr>
                  <a:t> represents in each of the equations. Then, write the meaning of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𝑥</m:t>
                    </m:r>
                  </m:oMath>
                </a14:m>
                <a:r>
                  <a:rPr lang="en-US" sz="2000" dirty="0">
                    <a:latin typeface="Verdana" panose="020B0604030504040204" pitchFamily="34" charset="0"/>
                    <a:ea typeface="Verdana" panose="020B0604030504040204" pitchFamily="34" charset="0"/>
                    <a:cs typeface="Verdana" panose="020B0604030504040204" pitchFamily="34" charset="0"/>
                  </a:rPr>
                  <a:t> in each equation based on the context it matches.</a:t>
                </a:r>
              </a:p>
            </p:txBody>
          </p:sp>
        </mc:Choice>
        <mc:Fallback xmlns="">
          <p:sp>
            <p:nvSpPr>
              <p:cNvPr id="208" name="Google Shape;208;p8"/>
              <p:cNvSpPr txBox="1">
                <a:spLocks noRot="1" noChangeAspect="1" noMove="1" noResize="1" noEditPoints="1" noAdjustHandles="1" noChangeArrowheads="1" noChangeShapeType="1" noTextEdit="1"/>
              </p:cNvSpPr>
              <p:nvPr/>
            </p:nvSpPr>
            <p:spPr>
              <a:xfrm>
                <a:off x="1223319" y="410665"/>
                <a:ext cx="9798908" cy="1015622"/>
              </a:xfrm>
              <a:prstGeom prst="rect">
                <a:avLst/>
              </a:prstGeom>
              <a:blipFill rotWithShape="0">
                <a:blip r:embed="rId3"/>
                <a:stretch>
                  <a:fillRect l="-560" t="-2994" r="-747" b="-9581"/>
                </a:stretch>
              </a:blipFill>
              <a:ln>
                <a:noFill/>
              </a:ln>
            </p:spPr>
            <p:txBody>
              <a:bodyPr/>
              <a:lstStyle/>
              <a:p>
                <a:r>
                  <a:rPr lang="en-US">
                    <a:noFill/>
                  </a:rPr>
                  <a:t> </a:t>
                </a:r>
              </a:p>
            </p:txBody>
          </p:sp>
        </mc:Fallback>
      </mc:AlternateContent>
      <p:sp>
        <p:nvSpPr>
          <p:cNvPr id="209" name="Google Shape;209;p8"/>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xmlns="" id="{8BE4EE08-0636-7342-B549-5437954AB3FD}"/>
                  </a:ext>
                </a:extLst>
              </p:cNvPr>
              <p:cNvGraphicFramePr>
                <a:graphicFrameLocks noGrp="1"/>
              </p:cNvGraphicFramePr>
              <p:nvPr>
                <p:extLst>
                  <p:ext uri="{D42A27DB-BD31-4B8C-83A1-F6EECF244321}">
                    <p14:modId xmlns:p14="http://schemas.microsoft.com/office/powerpoint/2010/main" val="3903813800"/>
                  </p:ext>
                </p:extLst>
              </p:nvPr>
            </p:nvGraphicFramePr>
            <p:xfrm>
              <a:off x="2453602" y="1766311"/>
              <a:ext cx="7495148" cy="4383186"/>
            </p:xfrm>
            <a:graphic>
              <a:graphicData uri="http://schemas.openxmlformats.org/drawingml/2006/table">
                <a:tbl>
                  <a:tblPr bandRow="1"/>
                  <a:tblGrid>
                    <a:gridCol w="3134398">
                      <a:extLst>
                        <a:ext uri="{9D8B030D-6E8A-4147-A177-3AD203B41FA5}">
                          <a16:colId xmlns:a16="http://schemas.microsoft.com/office/drawing/2014/main" xmlns="" val="3059063029"/>
                        </a:ext>
                      </a:extLst>
                    </a:gridCol>
                    <a:gridCol w="4360750">
                      <a:extLst>
                        <a:ext uri="{9D8B030D-6E8A-4147-A177-3AD203B41FA5}">
                          <a16:colId xmlns:a16="http://schemas.microsoft.com/office/drawing/2014/main" xmlns="" val="472004589"/>
                        </a:ext>
                      </a:extLst>
                    </a:gridCol>
                  </a:tblGrid>
                  <a:tr h="272953">
                    <a:tc>
                      <a:txBody>
                        <a:bodyPr/>
                        <a:lstStyle/>
                        <a:p>
                          <a:pPr marL="0" marR="0" algn="ctr">
                            <a:spcBef>
                              <a:spcPts val="0"/>
                            </a:spcBef>
                            <a:spcAft>
                              <a:spcPts val="100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Equation</a:t>
                          </a:r>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44064" marR="440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100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Meaning of </a:t>
                          </a:r>
                          <a14:m>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𝑥</m:t>
                              </m:r>
                            </m:oMath>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44064" marR="440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 val="3828740646"/>
                      </a:ext>
                    </a:extLst>
                  </a:tr>
                  <a:tr h="1359462">
                    <a:tc>
                      <a:txBody>
                        <a:bodyPr/>
                        <a:lstStyle/>
                        <a:p>
                          <a:pPr marL="0" marR="0" algn="ctr">
                            <a:spcBef>
                              <a:spcPts val="0"/>
                            </a:spcBef>
                            <a:spcAft>
                              <a:spcPts val="1000"/>
                            </a:spcAft>
                          </a:pPr>
                          <a:r>
                            <a:rPr lang="en-US" sz="2000">
                              <a:solidFill>
                                <a:srgbClr val="000000"/>
                              </a:solidFill>
                              <a:effectLst/>
                              <a:latin typeface="Verdana" panose="020B0604030504040204" pitchFamily="34" charset="0"/>
                              <a:ea typeface="Verdana" panose="020B0604030504040204" pitchFamily="34" charset="0"/>
                              <a:cs typeface="Verdana" panose="020B0604030504040204" pitchFamily="34" charset="0"/>
                            </a:rPr>
                            <a:t>A: </a:t>
                          </a:r>
                          <a14:m>
                            <m:oMath xmlns:m="http://schemas.openxmlformats.org/officeDocument/2006/math">
                              <m:f>
                                <m:fPr>
                                  <m:ctrlPr>
                                    <a:rPr lang="en-US" sz="2000" i="1">
                                      <a:solidFill>
                                        <a:srgbClr val="000000"/>
                                      </a:solidFill>
                                      <a:effectLst/>
                                      <a:latin typeface="Cambria Math" charset="0"/>
                                      <a:ea typeface="Cambria Math" panose="02040503050406030204" pitchFamily="18" charset="0"/>
                                      <a:cs typeface="Cambria Math" panose="02040503050406030204" pitchFamily="18" charset="0"/>
                                    </a:rPr>
                                  </m:ctrlPr>
                                </m:fPr>
                                <m:num>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1</m:t>
                                  </m:r>
                                </m:num>
                                <m:den>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4</m:t>
                                  </m:r>
                                </m:den>
                              </m:f>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+4</m:t>
                              </m:r>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𝑥</m:t>
                              </m:r>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=8</m:t>
                              </m:r>
                            </m:oMath>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44064" marR="440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1000"/>
                            </a:spcAft>
                          </a:pPr>
                          <a:r>
                            <a:rPr lang="en-US" sz="200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44064" marR="440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10311605"/>
                      </a:ext>
                    </a:extLst>
                  </a:tr>
                  <a:tr h="1359462">
                    <a:tc>
                      <a:txBody>
                        <a:bodyPr/>
                        <a:lstStyle/>
                        <a:p>
                          <a:pPr marL="0" marR="0" algn="ctr">
                            <a:spcBef>
                              <a:spcPts val="0"/>
                            </a:spcBef>
                            <a:spcAft>
                              <a:spcPts val="1000"/>
                            </a:spcAft>
                          </a:pPr>
                          <a:r>
                            <a:rPr lang="en-US" sz="2000">
                              <a:solidFill>
                                <a:srgbClr val="000000"/>
                              </a:solidFill>
                              <a:effectLst/>
                              <a:latin typeface="Verdana" panose="020B0604030504040204" pitchFamily="34" charset="0"/>
                              <a:ea typeface="Verdana" panose="020B0604030504040204" pitchFamily="34" charset="0"/>
                              <a:cs typeface="Verdana" panose="020B0604030504040204" pitchFamily="34" charset="0"/>
                            </a:rPr>
                            <a:t>B: </a:t>
                          </a:r>
                          <a14:m>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4+</m:t>
                              </m:r>
                              <m:f>
                                <m:fPr>
                                  <m:ctrlPr>
                                    <a:rPr lang="en-US" sz="2000" i="1">
                                      <a:solidFill>
                                        <a:srgbClr val="000000"/>
                                      </a:solidFill>
                                      <a:effectLst/>
                                      <a:latin typeface="Cambria Math" charset="0"/>
                                      <a:ea typeface="Cambria Math" panose="02040503050406030204" pitchFamily="18" charset="0"/>
                                      <a:cs typeface="Cambria Math" panose="02040503050406030204" pitchFamily="18" charset="0"/>
                                    </a:rPr>
                                  </m:ctrlPr>
                                </m:fPr>
                                <m:num>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1</m:t>
                                  </m:r>
                                </m:num>
                                <m:den>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4</m:t>
                                  </m:r>
                                </m:den>
                              </m:f>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𝑥</m:t>
                              </m:r>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=8</m:t>
                              </m:r>
                            </m:oMath>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44064" marR="440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1000"/>
                            </a:spcAft>
                          </a:pPr>
                          <a:r>
                            <a:rPr lang="en-US" sz="200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44064" marR="440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512601873"/>
                      </a:ext>
                    </a:extLst>
                  </a:tr>
                  <a:tr h="1359462">
                    <a:tc>
                      <a:txBody>
                        <a:bodyPr/>
                        <a:lstStyle/>
                        <a:p>
                          <a:pPr marL="0" marR="0" algn="ctr">
                            <a:spcBef>
                              <a:spcPts val="0"/>
                            </a:spcBef>
                            <a:spcAft>
                              <a:spcPts val="1000"/>
                            </a:spcAft>
                          </a:pPr>
                          <a:r>
                            <a:rPr lang="en-US" sz="2000">
                              <a:solidFill>
                                <a:srgbClr val="000000"/>
                              </a:solidFill>
                              <a:effectLst/>
                              <a:latin typeface="Verdana" panose="020B0604030504040204" pitchFamily="34" charset="0"/>
                              <a:ea typeface="Verdana" panose="020B0604030504040204" pitchFamily="34" charset="0"/>
                              <a:cs typeface="Verdana" panose="020B0604030504040204" pitchFamily="34" charset="0"/>
                            </a:rPr>
                            <a:t>C: </a:t>
                          </a:r>
                          <a14:m>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8</m:t>
                              </m:r>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𝑥</m:t>
                              </m:r>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m:t>
                              </m:r>
                              <m:f>
                                <m:fPr>
                                  <m:ctrlPr>
                                    <a:rPr lang="en-US" sz="2000" i="1">
                                      <a:solidFill>
                                        <a:srgbClr val="000000"/>
                                      </a:solidFill>
                                      <a:effectLst/>
                                      <a:latin typeface="Cambria Math" charset="0"/>
                                      <a:ea typeface="Cambria Math" panose="02040503050406030204" pitchFamily="18" charset="0"/>
                                      <a:cs typeface="Cambria Math" panose="02040503050406030204" pitchFamily="18" charset="0"/>
                                    </a:rPr>
                                  </m:ctrlPr>
                                </m:fPr>
                                <m:num>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1</m:t>
                                  </m:r>
                                </m:num>
                                <m:den>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4</m:t>
                                  </m:r>
                                </m:den>
                              </m:f>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=4</m:t>
                              </m:r>
                            </m:oMath>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44064" marR="440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100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44064" marR="440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607095950"/>
                      </a:ext>
                    </a:extLst>
                  </a:tr>
                </a:tbl>
              </a:graphicData>
            </a:graphic>
          </p:graphicFrame>
        </mc:Choice>
        <mc:Fallback xmlns="">
          <p:graphicFrame>
            <p:nvGraphicFramePr>
              <p:cNvPr id="2" name="Table 1">
                <a:extLst>
                  <a:ext uri="{FF2B5EF4-FFF2-40B4-BE49-F238E27FC236}">
                    <a16:creationId xmlns:a16="http://schemas.microsoft.com/office/drawing/2014/main" id="{8BE4EE08-0636-7342-B549-5437954AB3FD}"/>
                  </a:ext>
                </a:extLst>
              </p:cNvPr>
              <p:cNvGraphicFramePr>
                <a:graphicFrameLocks noGrp="1"/>
              </p:cNvGraphicFramePr>
              <p:nvPr>
                <p:extLst>
                  <p:ext uri="{D42A27DB-BD31-4B8C-83A1-F6EECF244321}">
                    <p14:modId xmlns:p14="http://schemas.microsoft.com/office/powerpoint/2010/main" val="3903813800"/>
                  </p:ext>
                </p:extLst>
              </p:nvPr>
            </p:nvGraphicFramePr>
            <p:xfrm>
              <a:off x="929602" y="1766311"/>
              <a:ext cx="7495148" cy="4383186"/>
            </p:xfrm>
            <a:graphic>
              <a:graphicData uri="http://schemas.openxmlformats.org/drawingml/2006/table">
                <a:tbl>
                  <a:tblPr bandRow="1"/>
                  <a:tblGrid>
                    <a:gridCol w="3134398">
                      <a:extLst>
                        <a:ext uri="{9D8B030D-6E8A-4147-A177-3AD203B41FA5}">
                          <a16:colId xmlns:a16="http://schemas.microsoft.com/office/drawing/2014/main" val="3059063029"/>
                        </a:ext>
                      </a:extLst>
                    </a:gridCol>
                    <a:gridCol w="4360750">
                      <a:extLst>
                        <a:ext uri="{9D8B030D-6E8A-4147-A177-3AD203B41FA5}">
                          <a16:colId xmlns:a16="http://schemas.microsoft.com/office/drawing/2014/main" val="472004589"/>
                        </a:ext>
                      </a:extLst>
                    </a:gridCol>
                  </a:tblGrid>
                  <a:tr h="304800">
                    <a:tc>
                      <a:txBody>
                        <a:bodyPr/>
                        <a:lstStyle/>
                        <a:p>
                          <a:pPr marL="0" marR="0" algn="ctr">
                            <a:spcBef>
                              <a:spcPts val="0"/>
                            </a:spcBef>
                            <a:spcAft>
                              <a:spcPts val="100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Equation</a:t>
                          </a:r>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44064" marR="440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44064" marR="440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72093" t="-29167" r="-291" b="-1345833"/>
                          </a:stretch>
                        </a:blipFill>
                      </a:tcPr>
                    </a:tc>
                    <a:extLst>
                      <a:ext uri="{0D108BD9-81ED-4DB2-BD59-A6C34878D82A}">
                        <a16:rowId xmlns:a16="http://schemas.microsoft.com/office/drawing/2014/main" val="3828740646"/>
                      </a:ext>
                    </a:extLst>
                  </a:tr>
                  <a:tr h="1359462">
                    <a:tc>
                      <a:txBody>
                        <a:bodyPr/>
                        <a:lstStyle/>
                        <a:p>
                          <a:endParaRPr lang="en-US"/>
                        </a:p>
                      </a:txBody>
                      <a:tcPr marL="44064" marR="440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405" t="-28972" r="-139676" b="-201869"/>
                          </a:stretch>
                        </a:blipFill>
                      </a:tcPr>
                    </a:tc>
                    <a:tc>
                      <a:txBody>
                        <a:bodyPr/>
                        <a:lstStyle/>
                        <a:p>
                          <a:pPr marL="0" marR="0">
                            <a:spcBef>
                              <a:spcPts val="0"/>
                            </a:spcBef>
                            <a:spcAft>
                              <a:spcPts val="1000"/>
                            </a:spcAft>
                          </a:pPr>
                          <a:r>
                            <a:rPr lang="en-US" sz="200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44064" marR="440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0311605"/>
                      </a:ext>
                    </a:extLst>
                  </a:tr>
                  <a:tr h="1359462">
                    <a:tc>
                      <a:txBody>
                        <a:bodyPr/>
                        <a:lstStyle/>
                        <a:p>
                          <a:endParaRPr lang="en-US"/>
                        </a:p>
                      </a:txBody>
                      <a:tcPr marL="44064" marR="440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405" t="-127778" r="-139676" b="-100000"/>
                          </a:stretch>
                        </a:blipFill>
                      </a:tcPr>
                    </a:tc>
                    <a:tc>
                      <a:txBody>
                        <a:bodyPr/>
                        <a:lstStyle/>
                        <a:p>
                          <a:pPr marL="0" marR="0">
                            <a:spcBef>
                              <a:spcPts val="0"/>
                            </a:spcBef>
                            <a:spcAft>
                              <a:spcPts val="1000"/>
                            </a:spcAft>
                          </a:pPr>
                          <a:r>
                            <a:rPr lang="en-US" sz="200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44064" marR="440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12601873"/>
                      </a:ext>
                    </a:extLst>
                  </a:tr>
                  <a:tr h="1359462">
                    <a:tc>
                      <a:txBody>
                        <a:bodyPr/>
                        <a:lstStyle/>
                        <a:p>
                          <a:endParaRPr lang="en-US"/>
                        </a:p>
                      </a:txBody>
                      <a:tcPr marL="44064" marR="440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405" t="-229907" r="-139676" b="-935"/>
                          </a:stretch>
                        </a:blipFill>
                      </a:tcPr>
                    </a:tc>
                    <a:tc>
                      <a:txBody>
                        <a:bodyPr/>
                        <a:lstStyle/>
                        <a:p>
                          <a:pPr marL="0" marR="0">
                            <a:spcBef>
                              <a:spcPts val="0"/>
                            </a:spcBef>
                            <a:spcAft>
                              <a:spcPts val="100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44064" marR="440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07095950"/>
                      </a:ext>
                    </a:extLst>
                  </a:tr>
                </a:tbl>
              </a:graphicData>
            </a:graphic>
          </p:graphicFrame>
        </mc:Fallback>
      </mc:AlternateContent>
      <p:sp>
        <p:nvSpPr>
          <p:cNvPr id="8" name="Google Shape;125;g104476d1465_1_17"/>
          <p:cNvSpPr txBox="1"/>
          <p:nvPr/>
        </p:nvSpPr>
        <p:spPr>
          <a:xfrm>
            <a:off x="8711062"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34</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49288"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5834233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18"/>
          <p:cNvSpPr/>
          <p:nvPr/>
        </p:nvSpPr>
        <p:spPr>
          <a:xfrm>
            <a:off x="0" y="-8226"/>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07" name="Google Shape;307;p18"/>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54B5D1"/>
                </a:solidFill>
                <a:latin typeface="Verdana"/>
                <a:ea typeface="Verdana"/>
                <a:cs typeface="Verdana"/>
                <a:sym typeface="Verdana"/>
              </a:rPr>
              <a:t>Guided Instruction</a:t>
            </a:r>
            <a:endParaRPr sz="5100" b="1">
              <a:solidFill>
                <a:srgbClr val="54B5D1"/>
              </a:solidFill>
              <a:latin typeface="Verdana"/>
              <a:ea typeface="Verdana"/>
              <a:cs typeface="Verdana"/>
              <a:sym typeface="Verdana"/>
            </a:endParaRPr>
          </a:p>
        </p:txBody>
      </p:sp>
      <p:pic>
        <p:nvPicPr>
          <p:cNvPr id="308" name="Google Shape;308;p18"/>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11062"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34</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288"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8881671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6" name="Google Shape;316;p19"/>
          <p:cNvSpPr txBox="1"/>
          <p:nvPr/>
        </p:nvSpPr>
        <p:spPr>
          <a:xfrm>
            <a:off x="1358315" y="-109730"/>
            <a:ext cx="8019300" cy="1325700"/>
          </a:xfrm>
          <a:prstGeom prst="rect">
            <a:avLst/>
          </a:prstGeom>
          <a:noFill/>
          <a:ln>
            <a:noFill/>
          </a:ln>
        </p:spPr>
        <p:txBody>
          <a:bodyPr spcFirstLastPara="1" wrap="square" lIns="91425" tIns="45700" rIns="91425" bIns="45700" anchor="ctr" anchorCtr="0">
            <a:noAutofit/>
          </a:bodyPr>
          <a:lstStyle/>
          <a:p>
            <a:pPr lvl="0">
              <a:lnSpc>
                <a:spcPct val="90000"/>
              </a:lnSpc>
              <a:buClr>
                <a:schemeClr val="dk1"/>
              </a:buClr>
              <a:buSzPts val="5400"/>
            </a:pPr>
            <a:r>
              <a:rPr lang="en-US" sz="2800" b="1" dirty="0">
                <a:solidFill>
                  <a:srgbClr val="54B5D1"/>
                </a:solidFill>
                <a:latin typeface="Verdana"/>
                <a:ea typeface="Verdana"/>
                <a:cs typeface="Verdana"/>
                <a:sym typeface="Verdana"/>
              </a:rPr>
              <a:t>1.5.5 Guided Instruction: Relating Equations to Their Contexts </a:t>
            </a:r>
            <a:endParaRPr sz="1100" dirty="0"/>
          </a:p>
        </p:txBody>
      </p:sp>
      <p:pic>
        <p:nvPicPr>
          <p:cNvPr id="317" name="Google Shape;317;p19"/>
          <p:cNvPicPr preferRelativeResize="0"/>
          <p:nvPr/>
        </p:nvPicPr>
        <p:blipFill rotWithShape="1">
          <a:blip r:embed="rId3">
            <a:alphaModFix/>
          </a:blip>
          <a:srcRect/>
          <a:stretch/>
        </p:blipFill>
        <p:spPr>
          <a:xfrm>
            <a:off x="611015" y="168173"/>
            <a:ext cx="747300" cy="747300"/>
          </a:xfrm>
          <a:prstGeom prst="rect">
            <a:avLst/>
          </a:prstGeom>
          <a:noFill/>
          <a:ln>
            <a:noFill/>
          </a:ln>
          <a:effectLst>
            <a:outerShdw blurRad="50800" dist="38100" dir="2700000" algn="tl" rotWithShape="0">
              <a:srgbClr val="000000">
                <a:alpha val="40000"/>
              </a:srgbClr>
            </a:outerShdw>
          </a:effectLst>
        </p:spPr>
      </p:pic>
      <p:sp>
        <p:nvSpPr>
          <p:cNvPr id="319" name="Google Shape;319;p19"/>
          <p:cNvSpPr txBox="1"/>
          <p:nvPr/>
        </p:nvSpPr>
        <p:spPr>
          <a:xfrm>
            <a:off x="1210962" y="1386026"/>
            <a:ext cx="10026108" cy="4708941"/>
          </a:xfrm>
          <a:prstGeom prst="rect">
            <a:avLst/>
          </a:prstGeom>
          <a:noFill/>
          <a:ln>
            <a:noFill/>
          </a:ln>
        </p:spPr>
        <p:txBody>
          <a:bodyPr spcFirstLastPara="1" wrap="square" lIns="91425" tIns="45700" rIns="91425" bIns="45700" anchor="t" anchorCtr="0">
            <a:spAutoFit/>
          </a:bodyPr>
          <a:lstStyle/>
          <a:p>
            <a:pPr marL="346075" indent="-346075"/>
            <a:r>
              <a:rPr lang="en-US" sz="2000" dirty="0">
                <a:latin typeface="Verdana"/>
                <a:ea typeface="Verdana"/>
                <a:cs typeface="Verdana"/>
                <a:sym typeface="Verdana"/>
              </a:rPr>
              <a:t>1. Franco is saving money to take a trip to Cocoa Beach, Florida with his friends. Every week, he sets aside the same portion of his paycheck after taking out the $325 he needs for his weekly expenses. After 11 weeks, Franco has $489.94 saved for his trip.</a:t>
            </a:r>
          </a:p>
          <a:p>
            <a:pPr lvl="0"/>
            <a:endParaRPr lang="en-US" sz="2000" dirty="0">
              <a:latin typeface="Verdana"/>
              <a:ea typeface="Verdana"/>
              <a:cs typeface="Verdana"/>
              <a:sym typeface="Verdana"/>
            </a:endParaRPr>
          </a:p>
          <a:p>
            <a:pPr marL="803275" indent="-457200">
              <a:buAutoNum type="alphaLcPeriod"/>
            </a:pPr>
            <a:r>
              <a:rPr lang="en-US" sz="2000" dirty="0">
                <a:latin typeface="Verdana"/>
                <a:ea typeface="Verdana"/>
                <a:cs typeface="Verdana"/>
                <a:sym typeface="Verdana"/>
              </a:rPr>
              <a:t>An equation can be created relating these quantities as described below.</a:t>
            </a:r>
          </a:p>
          <a:p>
            <a:pPr marL="803275" indent="-457200">
              <a:buAutoNum type="alphaLcPeriod"/>
            </a:pPr>
            <a:endParaRPr lang="en-US" sz="2000" dirty="0">
              <a:latin typeface="Verdana"/>
              <a:ea typeface="Verdana"/>
              <a:cs typeface="Verdana"/>
              <a:sym typeface="Verdana"/>
            </a:endParaRPr>
          </a:p>
          <a:p>
            <a:pPr marL="803275" indent="-457200">
              <a:buAutoNum type="alphaLcPeriod"/>
            </a:pPr>
            <a:endParaRPr lang="en-US" sz="2000" dirty="0">
              <a:latin typeface="Verdana"/>
              <a:ea typeface="Verdana"/>
              <a:cs typeface="Verdana"/>
              <a:sym typeface="Verdana"/>
            </a:endParaRPr>
          </a:p>
          <a:p>
            <a:pPr marL="803275" indent="-457200">
              <a:buAutoNum type="alphaLcPeriod"/>
            </a:pPr>
            <a:endParaRPr lang="en-US" sz="2000" dirty="0">
              <a:latin typeface="Verdana"/>
              <a:ea typeface="Verdana"/>
              <a:cs typeface="Verdana"/>
              <a:sym typeface="Verdana"/>
            </a:endParaRPr>
          </a:p>
          <a:p>
            <a:pPr marL="803275" indent="-457200">
              <a:buAutoNum type="alphaLcPeriod"/>
            </a:pPr>
            <a:endParaRPr lang="en-US" sz="2000" dirty="0">
              <a:latin typeface="Verdana"/>
              <a:ea typeface="Verdana"/>
              <a:cs typeface="Verdana"/>
              <a:sym typeface="Verdana"/>
            </a:endParaRPr>
          </a:p>
          <a:p>
            <a:pPr marL="803275" indent="-457200">
              <a:buAutoNum type="alphaLcPeriod"/>
            </a:pPr>
            <a:endParaRPr lang="en-US" sz="2000" dirty="0">
              <a:latin typeface="Verdana"/>
              <a:ea typeface="Verdana"/>
              <a:cs typeface="Verdana"/>
              <a:sym typeface="Verdana"/>
            </a:endParaRPr>
          </a:p>
          <a:p>
            <a:pPr marL="803275" indent="-457200">
              <a:buAutoNum type="alphaLcPeriod"/>
            </a:pPr>
            <a:endParaRPr lang="en-US" sz="2000" dirty="0">
              <a:latin typeface="Verdana"/>
              <a:ea typeface="Verdana"/>
              <a:cs typeface="Verdana"/>
              <a:sym typeface="Verdana"/>
            </a:endParaRPr>
          </a:p>
          <a:p>
            <a:pPr marL="808038"/>
            <a:endParaRPr lang="en-US" sz="2000" dirty="0">
              <a:latin typeface="Verdana"/>
              <a:ea typeface="Verdana"/>
              <a:cs typeface="Verdana"/>
              <a:sym typeface="Verdana"/>
            </a:endParaRPr>
          </a:p>
          <a:p>
            <a:pPr marL="808038"/>
            <a:r>
              <a:rPr lang="en-US" sz="2000" dirty="0">
                <a:latin typeface="Verdana"/>
                <a:ea typeface="Verdana"/>
                <a:cs typeface="Verdana"/>
                <a:sym typeface="Verdana"/>
              </a:rPr>
              <a:t>Which of these quantities is unknown? </a:t>
            </a:r>
          </a:p>
        </p:txBody>
      </p:sp>
      <p:sp>
        <p:nvSpPr>
          <p:cNvPr id="320" name="Google Shape;320;p19"/>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xmlns="" id="{3FE5A201-98C0-D440-AE04-4BA9777482D8}"/>
                  </a:ext>
                </a:extLst>
              </p:cNvPr>
              <p:cNvGraphicFramePr>
                <a:graphicFrameLocks noGrp="1"/>
              </p:cNvGraphicFramePr>
              <p:nvPr>
                <p:extLst>
                  <p:ext uri="{D42A27DB-BD31-4B8C-83A1-F6EECF244321}">
                    <p14:modId xmlns:p14="http://schemas.microsoft.com/office/powerpoint/2010/main" val="3277099499"/>
                  </p:ext>
                </p:extLst>
              </p:nvPr>
            </p:nvGraphicFramePr>
            <p:xfrm>
              <a:off x="2336800" y="3960653"/>
              <a:ext cx="7611950" cy="1511322"/>
            </p:xfrm>
            <a:graphic>
              <a:graphicData uri="http://schemas.openxmlformats.org/drawingml/2006/table">
                <a:tbl>
                  <a:tblPr bandRow="1"/>
                  <a:tblGrid>
                    <a:gridCol w="406420">
                      <a:extLst>
                        <a:ext uri="{9D8B030D-6E8A-4147-A177-3AD203B41FA5}">
                          <a16:colId xmlns:a16="http://schemas.microsoft.com/office/drawing/2014/main" xmlns="" val="1922882154"/>
                        </a:ext>
                      </a:extLst>
                    </a:gridCol>
                    <a:gridCol w="1239467">
                      <a:extLst>
                        <a:ext uri="{9D8B030D-6E8A-4147-A177-3AD203B41FA5}">
                          <a16:colId xmlns:a16="http://schemas.microsoft.com/office/drawing/2014/main" xmlns="" val="818458518"/>
                        </a:ext>
                      </a:extLst>
                    </a:gridCol>
                    <a:gridCol w="406420">
                      <a:extLst>
                        <a:ext uri="{9D8B030D-6E8A-4147-A177-3AD203B41FA5}">
                          <a16:colId xmlns:a16="http://schemas.microsoft.com/office/drawing/2014/main" xmlns="" val="2337108880"/>
                        </a:ext>
                      </a:extLst>
                    </a:gridCol>
                    <a:gridCol w="406420">
                      <a:extLst>
                        <a:ext uri="{9D8B030D-6E8A-4147-A177-3AD203B41FA5}">
                          <a16:colId xmlns:a16="http://schemas.microsoft.com/office/drawing/2014/main" xmlns="" val="3886719977"/>
                        </a:ext>
                      </a:extLst>
                    </a:gridCol>
                    <a:gridCol w="1422095">
                      <a:extLst>
                        <a:ext uri="{9D8B030D-6E8A-4147-A177-3AD203B41FA5}">
                          <a16:colId xmlns:a16="http://schemas.microsoft.com/office/drawing/2014/main" xmlns="" val="2654557947"/>
                        </a:ext>
                      </a:extLst>
                    </a:gridCol>
                    <a:gridCol w="430371">
                      <a:extLst>
                        <a:ext uri="{9D8B030D-6E8A-4147-A177-3AD203B41FA5}">
                          <a16:colId xmlns:a16="http://schemas.microsoft.com/office/drawing/2014/main" xmlns="" val="2651337324"/>
                        </a:ext>
                      </a:extLst>
                    </a:gridCol>
                    <a:gridCol w="1467003">
                      <a:extLst>
                        <a:ext uri="{9D8B030D-6E8A-4147-A177-3AD203B41FA5}">
                          <a16:colId xmlns:a16="http://schemas.microsoft.com/office/drawing/2014/main" xmlns="" val="3096456022"/>
                        </a:ext>
                      </a:extLst>
                    </a:gridCol>
                    <a:gridCol w="351781">
                      <a:extLst>
                        <a:ext uri="{9D8B030D-6E8A-4147-A177-3AD203B41FA5}">
                          <a16:colId xmlns:a16="http://schemas.microsoft.com/office/drawing/2014/main" xmlns="" val="3998182774"/>
                        </a:ext>
                      </a:extLst>
                    </a:gridCol>
                    <a:gridCol w="471537">
                      <a:extLst>
                        <a:ext uri="{9D8B030D-6E8A-4147-A177-3AD203B41FA5}">
                          <a16:colId xmlns:a16="http://schemas.microsoft.com/office/drawing/2014/main" xmlns="" val="1557119777"/>
                        </a:ext>
                      </a:extLst>
                    </a:gridCol>
                    <a:gridCol w="1010436">
                      <a:extLst>
                        <a:ext uri="{9D8B030D-6E8A-4147-A177-3AD203B41FA5}">
                          <a16:colId xmlns:a16="http://schemas.microsoft.com/office/drawing/2014/main" xmlns="" val="85912503"/>
                        </a:ext>
                      </a:extLst>
                    </a:gridCol>
                  </a:tblGrid>
                  <a:tr h="1511322">
                    <a:tc>
                      <a:txBody>
                        <a:bodyPr/>
                        <a:lstStyle/>
                        <a:p>
                          <a:pPr marL="0" marR="0" algn="ctr">
                            <a:spcBef>
                              <a:spcPts val="0"/>
                            </a:spcBef>
                            <a:spcAft>
                              <a:spcPts val="1000"/>
                            </a:spcAft>
                          </a:pPr>
                          <a:r>
                            <a:rPr lang="en-US" sz="4800">
                              <a:solidFill>
                                <a:srgbClr val="000000"/>
                              </a:solidFill>
                              <a:effectLst/>
                              <a:latin typeface="Verdana" panose="020B0604030504040204" pitchFamily="34" charset="0"/>
                              <a:ea typeface="Verdana" panose="020B0604030504040204" pitchFamily="34" charset="0"/>
                              <a:cs typeface="Verdana" panose="020B0604030504040204" pitchFamily="34" charset="0"/>
                            </a:rPr>
                            <a:t>(</a:t>
                          </a:r>
                          <a:endParaRPr lang="en-US"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tcPr>
                    </a:tc>
                    <a:tc>
                      <a:txBody>
                        <a:bodyPr/>
                        <a:lstStyle/>
                        <a:p>
                          <a:pPr marL="0" marR="0" algn="ctr">
                            <a:spcBef>
                              <a:spcPts val="0"/>
                            </a:spcBef>
                            <a:spcAft>
                              <a:spcPts val="100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Number of weeks</a:t>
                          </a:r>
                          <a:endParaRPr lang="en-US"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tcPr>
                    </a:tc>
                    <a:tc>
                      <a:txBody>
                        <a:bodyPr/>
                        <a:lstStyle/>
                        <a:p>
                          <a:pPr marL="0" marR="0" algn="ctr">
                            <a:spcBef>
                              <a:spcPts val="0"/>
                            </a:spcBef>
                            <a:spcAft>
                              <a:spcPts val="1000"/>
                            </a:spcAft>
                          </a:pPr>
                          <a:r>
                            <a:rPr lang="en-US" sz="4800">
                              <a:solidFill>
                                <a:srgbClr val="000000"/>
                              </a:solidFill>
                              <a:effectLst/>
                              <a:latin typeface="Verdana" panose="020B0604030504040204" pitchFamily="34" charset="0"/>
                              <a:ea typeface="Verdana" panose="020B0604030504040204" pitchFamily="34" charset="0"/>
                              <a:cs typeface="Verdana" panose="020B0604030504040204" pitchFamily="34" charset="0"/>
                            </a:rPr>
                            <a:t>)</a:t>
                          </a:r>
                          <a:endParaRPr lang="en-US"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tcPr>
                    </a:tc>
                    <a:tc>
                      <a:txBody>
                        <a:bodyPr/>
                        <a:lstStyle/>
                        <a:p>
                          <a:pPr marL="0" marR="0" algn="ctr">
                            <a:spcBef>
                              <a:spcPts val="0"/>
                            </a:spcBef>
                            <a:spcAft>
                              <a:spcPts val="1000"/>
                            </a:spcAft>
                          </a:pPr>
                          <a:r>
                            <a:rPr lang="en-US" sz="48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tcPr>
                    </a:tc>
                    <a:tc>
                      <a:txBody>
                        <a:bodyPr/>
                        <a:lstStyle/>
                        <a:p>
                          <a:pPr marL="0" marR="0" algn="ctr">
                            <a:spcBef>
                              <a:spcPts val="0"/>
                            </a:spcBef>
                            <a:spcAft>
                              <a:spcPts val="100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Amount of weekly paycheck</a:t>
                          </a:r>
                          <a:endParaRPr lang="en-US"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tcP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6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m:t>
                                </m:r>
                              </m:oMath>
                            </m:oMathPara>
                          </a14:m>
                          <a:endParaRPr lang="en-US"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tcPr>
                    </a:tc>
                    <a:tc>
                      <a:txBody>
                        <a:bodyPr/>
                        <a:lstStyle/>
                        <a:p>
                          <a:pPr marL="0" marR="0" algn="ctr">
                            <a:spcBef>
                              <a:spcPts val="0"/>
                            </a:spcBef>
                            <a:spcAft>
                              <a:spcPts val="100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Amount of weekly expenses</a:t>
                          </a:r>
                          <a:endParaRPr lang="en-US"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tcPr>
                    </a:tc>
                    <a:tc>
                      <a:txBody>
                        <a:bodyPr/>
                        <a:lstStyle/>
                        <a:p>
                          <a:pPr marL="0" marR="0" algn="ctr">
                            <a:spcBef>
                              <a:spcPts val="0"/>
                            </a:spcBef>
                            <a:spcAft>
                              <a:spcPts val="1000"/>
                            </a:spcAft>
                          </a:pPr>
                          <a:r>
                            <a:rPr lang="en-US" sz="4800">
                              <a:solidFill>
                                <a:srgbClr val="000000"/>
                              </a:solidFill>
                              <a:effectLst/>
                              <a:latin typeface="Verdana" panose="020B0604030504040204" pitchFamily="34" charset="0"/>
                              <a:ea typeface="Verdana" panose="020B0604030504040204" pitchFamily="34" charset="0"/>
                              <a:cs typeface="Verdana" panose="020B0604030504040204" pitchFamily="34" charset="0"/>
                            </a:rPr>
                            <a:t>)</a:t>
                          </a:r>
                          <a:endParaRPr lang="en-US"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tcP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8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m:t>
                                </m:r>
                              </m:oMath>
                            </m:oMathPara>
                          </a14:m>
                          <a:endParaRPr lang="en-US"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tcPr>
                    </a:tc>
                    <a:tc>
                      <a:txBody>
                        <a:bodyPr/>
                        <a:lstStyle/>
                        <a:p>
                          <a:pPr marL="0" marR="0" algn="ctr">
                            <a:spcBef>
                              <a:spcPts val="0"/>
                            </a:spcBef>
                            <a:spcAft>
                              <a:spcPts val="100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Total Saved</a:t>
                          </a:r>
                          <a:endParaRPr lang="en-US"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tcPr>
                    </a:tc>
                    <a:extLst>
                      <a:ext uri="{0D108BD9-81ED-4DB2-BD59-A6C34878D82A}">
                        <a16:rowId xmlns:a16="http://schemas.microsoft.com/office/drawing/2014/main" xmlns="" val="2313307671"/>
                      </a:ext>
                    </a:extLst>
                  </a:tr>
                </a:tbl>
              </a:graphicData>
            </a:graphic>
          </p:graphicFrame>
        </mc:Choice>
        <mc:Fallback xmlns="">
          <p:graphicFrame>
            <p:nvGraphicFramePr>
              <p:cNvPr id="2" name="Table 1">
                <a:extLst>
                  <a:ext uri="{FF2B5EF4-FFF2-40B4-BE49-F238E27FC236}">
                    <a16:creationId xmlns:a16="http://schemas.microsoft.com/office/drawing/2014/main" id="{3FE5A201-98C0-D440-AE04-4BA9777482D8}"/>
                  </a:ext>
                </a:extLst>
              </p:cNvPr>
              <p:cNvGraphicFramePr>
                <a:graphicFrameLocks noGrp="1"/>
              </p:cNvGraphicFramePr>
              <p:nvPr>
                <p:extLst>
                  <p:ext uri="{D42A27DB-BD31-4B8C-83A1-F6EECF244321}">
                    <p14:modId xmlns:p14="http://schemas.microsoft.com/office/powerpoint/2010/main" val="3277099499"/>
                  </p:ext>
                </p:extLst>
              </p:nvPr>
            </p:nvGraphicFramePr>
            <p:xfrm>
              <a:off x="812800" y="3960653"/>
              <a:ext cx="7611950" cy="1511322"/>
            </p:xfrm>
            <a:graphic>
              <a:graphicData uri="http://schemas.openxmlformats.org/drawingml/2006/table">
                <a:tbl>
                  <a:tblPr bandRow="1"/>
                  <a:tblGrid>
                    <a:gridCol w="406420">
                      <a:extLst>
                        <a:ext uri="{9D8B030D-6E8A-4147-A177-3AD203B41FA5}">
                          <a16:colId xmlns:a16="http://schemas.microsoft.com/office/drawing/2014/main" val="1922882154"/>
                        </a:ext>
                      </a:extLst>
                    </a:gridCol>
                    <a:gridCol w="1239467">
                      <a:extLst>
                        <a:ext uri="{9D8B030D-6E8A-4147-A177-3AD203B41FA5}">
                          <a16:colId xmlns:a16="http://schemas.microsoft.com/office/drawing/2014/main" val="818458518"/>
                        </a:ext>
                      </a:extLst>
                    </a:gridCol>
                    <a:gridCol w="406420">
                      <a:extLst>
                        <a:ext uri="{9D8B030D-6E8A-4147-A177-3AD203B41FA5}">
                          <a16:colId xmlns:a16="http://schemas.microsoft.com/office/drawing/2014/main" val="2337108880"/>
                        </a:ext>
                      </a:extLst>
                    </a:gridCol>
                    <a:gridCol w="406420">
                      <a:extLst>
                        <a:ext uri="{9D8B030D-6E8A-4147-A177-3AD203B41FA5}">
                          <a16:colId xmlns:a16="http://schemas.microsoft.com/office/drawing/2014/main" val="3886719977"/>
                        </a:ext>
                      </a:extLst>
                    </a:gridCol>
                    <a:gridCol w="1422095">
                      <a:extLst>
                        <a:ext uri="{9D8B030D-6E8A-4147-A177-3AD203B41FA5}">
                          <a16:colId xmlns:a16="http://schemas.microsoft.com/office/drawing/2014/main" val="2654557947"/>
                        </a:ext>
                      </a:extLst>
                    </a:gridCol>
                    <a:gridCol w="430371">
                      <a:extLst>
                        <a:ext uri="{9D8B030D-6E8A-4147-A177-3AD203B41FA5}">
                          <a16:colId xmlns:a16="http://schemas.microsoft.com/office/drawing/2014/main" val="2651337324"/>
                        </a:ext>
                      </a:extLst>
                    </a:gridCol>
                    <a:gridCol w="1467003">
                      <a:extLst>
                        <a:ext uri="{9D8B030D-6E8A-4147-A177-3AD203B41FA5}">
                          <a16:colId xmlns:a16="http://schemas.microsoft.com/office/drawing/2014/main" val="3096456022"/>
                        </a:ext>
                      </a:extLst>
                    </a:gridCol>
                    <a:gridCol w="351781">
                      <a:extLst>
                        <a:ext uri="{9D8B030D-6E8A-4147-A177-3AD203B41FA5}">
                          <a16:colId xmlns:a16="http://schemas.microsoft.com/office/drawing/2014/main" val="3998182774"/>
                        </a:ext>
                      </a:extLst>
                    </a:gridCol>
                    <a:gridCol w="471537">
                      <a:extLst>
                        <a:ext uri="{9D8B030D-6E8A-4147-A177-3AD203B41FA5}">
                          <a16:colId xmlns:a16="http://schemas.microsoft.com/office/drawing/2014/main" val="1557119777"/>
                        </a:ext>
                      </a:extLst>
                    </a:gridCol>
                    <a:gridCol w="1010436">
                      <a:extLst>
                        <a:ext uri="{9D8B030D-6E8A-4147-A177-3AD203B41FA5}">
                          <a16:colId xmlns:a16="http://schemas.microsoft.com/office/drawing/2014/main" val="85912503"/>
                        </a:ext>
                      </a:extLst>
                    </a:gridCol>
                  </a:tblGrid>
                  <a:tr h="1511322">
                    <a:tc>
                      <a:txBody>
                        <a:bodyPr/>
                        <a:lstStyle/>
                        <a:p>
                          <a:pPr marL="0" marR="0" algn="ctr">
                            <a:spcBef>
                              <a:spcPts val="0"/>
                            </a:spcBef>
                            <a:spcAft>
                              <a:spcPts val="1000"/>
                            </a:spcAft>
                          </a:pPr>
                          <a:r>
                            <a:rPr lang="en-US" sz="4800">
                              <a:solidFill>
                                <a:srgbClr val="000000"/>
                              </a:solidFill>
                              <a:effectLst/>
                              <a:latin typeface="Verdana" panose="020B0604030504040204" pitchFamily="34" charset="0"/>
                              <a:ea typeface="Verdana" panose="020B0604030504040204" pitchFamily="34" charset="0"/>
                              <a:cs typeface="Verdana" panose="020B0604030504040204" pitchFamily="34" charset="0"/>
                            </a:rPr>
                            <a:t>(</a:t>
                          </a:r>
                          <a:endParaRPr lang="en-US"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tcPr>
                    </a:tc>
                    <a:tc>
                      <a:txBody>
                        <a:bodyPr/>
                        <a:lstStyle/>
                        <a:p>
                          <a:pPr marL="0" marR="0" algn="ctr">
                            <a:spcBef>
                              <a:spcPts val="0"/>
                            </a:spcBef>
                            <a:spcAft>
                              <a:spcPts val="100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Number of weeks</a:t>
                          </a:r>
                          <a:endParaRPr lang="en-US"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tcPr>
                    </a:tc>
                    <a:tc>
                      <a:txBody>
                        <a:bodyPr/>
                        <a:lstStyle/>
                        <a:p>
                          <a:pPr marL="0" marR="0" algn="ctr">
                            <a:spcBef>
                              <a:spcPts val="0"/>
                            </a:spcBef>
                            <a:spcAft>
                              <a:spcPts val="1000"/>
                            </a:spcAft>
                          </a:pPr>
                          <a:r>
                            <a:rPr lang="en-US" sz="4800">
                              <a:solidFill>
                                <a:srgbClr val="000000"/>
                              </a:solidFill>
                              <a:effectLst/>
                              <a:latin typeface="Verdana" panose="020B0604030504040204" pitchFamily="34" charset="0"/>
                              <a:ea typeface="Verdana" panose="020B0604030504040204" pitchFamily="34" charset="0"/>
                              <a:cs typeface="Verdana" panose="020B0604030504040204" pitchFamily="34" charset="0"/>
                            </a:rPr>
                            <a:t>)</a:t>
                          </a:r>
                          <a:endParaRPr lang="en-US"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tcPr>
                    </a:tc>
                    <a:tc>
                      <a:txBody>
                        <a:bodyPr/>
                        <a:lstStyle/>
                        <a:p>
                          <a:pPr marL="0" marR="0" algn="ctr">
                            <a:spcBef>
                              <a:spcPts val="0"/>
                            </a:spcBef>
                            <a:spcAft>
                              <a:spcPts val="1000"/>
                            </a:spcAft>
                          </a:pPr>
                          <a:r>
                            <a:rPr lang="en-US" sz="48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tcPr>
                    </a:tc>
                    <a:tc>
                      <a:txBody>
                        <a:bodyPr/>
                        <a:lstStyle/>
                        <a:p>
                          <a:pPr marL="0" marR="0" algn="ctr">
                            <a:spcBef>
                              <a:spcPts val="0"/>
                            </a:spcBef>
                            <a:spcAft>
                              <a:spcPts val="100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Amount of weekly paycheck</a:t>
                          </a:r>
                          <a:endParaRPr lang="en-US"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tcPr>
                    </a:tc>
                    <a:tc>
                      <a:txBody>
                        <a:bodyPr/>
                        <a:lstStyle/>
                        <a:p>
                          <a:endParaRPr lang="en-US"/>
                        </a:p>
                      </a:txBody>
                      <a:tcPr marL="68580" marR="68580" marT="0" marB="0" anchor="ctr">
                        <a:lnL>
                          <a:noFill/>
                        </a:lnL>
                        <a:lnR>
                          <a:noFill/>
                        </a:lnR>
                        <a:lnT>
                          <a:noFill/>
                        </a:lnT>
                        <a:lnB>
                          <a:noFill/>
                        </a:lnB>
                        <a:blipFill>
                          <a:blip r:embed="rId5"/>
                          <a:stretch>
                            <a:fillRect l="-902941" r="-764706" b="-833"/>
                          </a:stretch>
                        </a:blipFill>
                      </a:tcPr>
                    </a:tc>
                    <a:tc>
                      <a:txBody>
                        <a:bodyPr/>
                        <a:lstStyle/>
                        <a:p>
                          <a:pPr marL="0" marR="0" algn="ctr">
                            <a:spcBef>
                              <a:spcPts val="0"/>
                            </a:spcBef>
                            <a:spcAft>
                              <a:spcPts val="100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Amount of weekly expenses</a:t>
                          </a:r>
                          <a:endParaRPr lang="en-US"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tcPr>
                    </a:tc>
                    <a:tc>
                      <a:txBody>
                        <a:bodyPr/>
                        <a:lstStyle/>
                        <a:p>
                          <a:pPr marL="0" marR="0" algn="ctr">
                            <a:spcBef>
                              <a:spcPts val="0"/>
                            </a:spcBef>
                            <a:spcAft>
                              <a:spcPts val="1000"/>
                            </a:spcAft>
                          </a:pPr>
                          <a:r>
                            <a:rPr lang="en-US" sz="4800">
                              <a:solidFill>
                                <a:srgbClr val="000000"/>
                              </a:solidFill>
                              <a:effectLst/>
                              <a:latin typeface="Verdana" panose="020B0604030504040204" pitchFamily="34" charset="0"/>
                              <a:ea typeface="Verdana" panose="020B0604030504040204" pitchFamily="34" charset="0"/>
                              <a:cs typeface="Verdana" panose="020B0604030504040204" pitchFamily="34" charset="0"/>
                            </a:rPr>
                            <a:t>)</a:t>
                          </a:r>
                          <a:endParaRPr lang="en-US"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tcPr>
                    </a:tc>
                    <a:tc>
                      <a:txBody>
                        <a:bodyPr/>
                        <a:lstStyle/>
                        <a:p>
                          <a:endParaRPr lang="en-US"/>
                        </a:p>
                      </a:txBody>
                      <a:tcPr marL="68580" marR="68580" marT="0" marB="0" anchor="ctr">
                        <a:lnL>
                          <a:noFill/>
                        </a:lnL>
                        <a:lnR>
                          <a:noFill/>
                        </a:lnR>
                        <a:lnT>
                          <a:noFill/>
                        </a:lnT>
                        <a:lnB>
                          <a:noFill/>
                        </a:lnB>
                        <a:blipFill>
                          <a:blip r:embed="rId5"/>
                          <a:stretch>
                            <a:fillRect l="-1308108" r="-216216" b="-833"/>
                          </a:stretch>
                        </a:blipFill>
                      </a:tcPr>
                    </a:tc>
                    <a:tc>
                      <a:txBody>
                        <a:bodyPr/>
                        <a:lstStyle/>
                        <a:p>
                          <a:pPr marL="0" marR="0" algn="ctr">
                            <a:spcBef>
                              <a:spcPts val="0"/>
                            </a:spcBef>
                            <a:spcAft>
                              <a:spcPts val="100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Total Saved</a:t>
                          </a:r>
                          <a:endParaRPr lang="en-US"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tcPr>
                    </a:tc>
                    <a:extLst>
                      <a:ext uri="{0D108BD9-81ED-4DB2-BD59-A6C34878D82A}">
                        <a16:rowId xmlns:a16="http://schemas.microsoft.com/office/drawing/2014/main" val="2313307671"/>
                      </a:ext>
                    </a:extLst>
                  </a:tr>
                </a:tbl>
              </a:graphicData>
            </a:graphic>
          </p:graphicFrame>
        </mc:Fallback>
      </mc:AlternateContent>
      <p:sp>
        <p:nvSpPr>
          <p:cNvPr id="9" name="Google Shape;125;g104476d1465_1_17"/>
          <p:cNvSpPr txBox="1"/>
          <p:nvPr/>
        </p:nvSpPr>
        <p:spPr>
          <a:xfrm>
            <a:off x="8711062"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34</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49288"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9507295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28" name="Google Shape;328;p20"/>
              <p:cNvSpPr txBox="1"/>
              <p:nvPr/>
            </p:nvSpPr>
            <p:spPr>
              <a:xfrm>
                <a:off x="1322173" y="301102"/>
                <a:ext cx="9473514" cy="5324494"/>
              </a:xfrm>
              <a:prstGeom prst="rect">
                <a:avLst/>
              </a:prstGeom>
              <a:noFill/>
              <a:ln>
                <a:noFill/>
              </a:ln>
            </p:spPr>
            <p:txBody>
              <a:bodyPr spcFirstLastPara="1" wrap="square" lIns="91425" tIns="45700" rIns="91425" bIns="45700" anchor="t" anchorCtr="0">
                <a:spAutoFit/>
              </a:bodyPr>
              <a:lstStyle/>
              <a:p>
                <a:pPr marL="346075" indent="-346075"/>
                <a:r>
                  <a:rPr lang="en-US" sz="2000" dirty="0">
                    <a:latin typeface="Verdana" panose="020B0604030504040204" pitchFamily="34" charset="0"/>
                    <a:ea typeface="Verdana" panose="020B0604030504040204" pitchFamily="34" charset="0"/>
                    <a:cs typeface="Verdana" panose="020B0604030504040204" pitchFamily="34" charset="0"/>
                  </a:rPr>
                  <a:t>b. Write the equation that represents this situation using the variable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𝑝</m:t>
                    </m:r>
                  </m:oMath>
                </a14:m>
                <a:r>
                  <a:rPr lang="en-US" sz="2000" dirty="0">
                    <a:latin typeface="Verdana" panose="020B0604030504040204" pitchFamily="34" charset="0"/>
                    <a:ea typeface="Verdana" panose="020B0604030504040204" pitchFamily="34" charset="0"/>
                    <a:cs typeface="Verdana" panose="020B0604030504040204" pitchFamily="34" charset="0"/>
                  </a:rPr>
                  <a:t> for the unknown quantity.</a:t>
                </a:r>
              </a:p>
              <a:p>
                <a:r>
                  <a:rPr lang="en-US" sz="2000" dirty="0">
                    <a:latin typeface="Verdana" panose="020B0604030504040204" pitchFamily="34" charset="0"/>
                    <a:ea typeface="Verdana" panose="020B0604030504040204" pitchFamily="34" charset="0"/>
                    <a:cs typeface="Verdana" panose="020B0604030504040204" pitchFamily="34" charset="0"/>
                  </a:rPr>
                  <a:t>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p>
              <a:p>
                <a:pPr lvl="0"/>
                <a:r>
                  <a:rPr lang="en-US" sz="2000" dirty="0">
                    <a:latin typeface="Verdana" panose="020B0604030504040204" pitchFamily="34" charset="0"/>
                    <a:ea typeface="Verdana" panose="020B0604030504040204" pitchFamily="34" charset="0"/>
                    <a:cs typeface="Verdana" panose="020B0604030504040204" pitchFamily="34" charset="0"/>
                  </a:rPr>
                  <a:t>c. What does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m:t>
                    </m:r>
                    <m:r>
                      <a:rPr lang="en-US" sz="2000" i="1">
                        <a:latin typeface="Cambria Math" panose="02040503050406030204" pitchFamily="18" charset="0"/>
                        <a:ea typeface="Cambria Math" panose="02040503050406030204" pitchFamily="18" charset="0"/>
                        <a:cs typeface="Cambria Math" panose="02040503050406030204" pitchFamily="18" charset="0"/>
                      </a:rPr>
                      <m:t>𝑝</m:t>
                    </m:r>
                    <m:r>
                      <a:rPr lang="en-US" sz="2000" i="1">
                        <a:latin typeface="Cambria Math" panose="02040503050406030204" pitchFamily="18" charset="0"/>
                        <a:ea typeface="Cambria Math" panose="02040503050406030204" pitchFamily="18" charset="0"/>
                        <a:cs typeface="Cambria Math" panose="02040503050406030204" pitchFamily="18" charset="0"/>
                      </a:rPr>
                      <m:t>−325)</m:t>
                    </m:r>
                  </m:oMath>
                </a14:m>
                <a:r>
                  <a:rPr lang="en-US" sz="2000" dirty="0">
                    <a:latin typeface="Verdana" panose="020B0604030504040204" pitchFamily="34" charset="0"/>
                    <a:ea typeface="Verdana" panose="020B0604030504040204" pitchFamily="34" charset="0"/>
                    <a:cs typeface="Verdana" panose="020B0604030504040204" pitchFamily="34" charset="0"/>
                  </a:rPr>
                  <a:t> represent in the equation?</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r>
                  <a:rPr lang="en-US" sz="2000" dirty="0">
                    <a:latin typeface="Verdana" panose="020B0604030504040204" pitchFamily="34" charset="0"/>
                    <a:ea typeface="Verdana" panose="020B0604030504040204" pitchFamily="34" charset="0"/>
                    <a:cs typeface="Verdana" panose="020B0604030504040204" pitchFamily="34" charset="0"/>
                  </a:rPr>
                  <a:t>d. Solve the equation.</a:t>
                </a: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lvl="0"/>
                <a:r>
                  <a:rPr lang="en-US" sz="2000" dirty="0">
                    <a:latin typeface="Verdana" panose="020B0604030504040204" pitchFamily="34" charset="0"/>
                    <a:ea typeface="Verdana" panose="020B0604030504040204" pitchFamily="34" charset="0"/>
                    <a:cs typeface="Verdana" panose="020B0604030504040204" pitchFamily="34" charset="0"/>
                  </a:rPr>
                  <a:t>e. Explain what the solution means in this context.</a:t>
                </a:r>
              </a:p>
            </p:txBody>
          </p:sp>
        </mc:Choice>
        <mc:Fallback xmlns="">
          <p:sp>
            <p:nvSpPr>
              <p:cNvPr id="328" name="Google Shape;328;p20"/>
              <p:cNvSpPr txBox="1">
                <a:spLocks noRot="1" noChangeAspect="1" noMove="1" noResize="1" noEditPoints="1" noAdjustHandles="1" noChangeArrowheads="1" noChangeShapeType="1" noTextEdit="1"/>
              </p:cNvSpPr>
              <p:nvPr/>
            </p:nvSpPr>
            <p:spPr>
              <a:xfrm>
                <a:off x="1322173" y="301102"/>
                <a:ext cx="9473514" cy="5324494"/>
              </a:xfrm>
              <a:prstGeom prst="rect">
                <a:avLst/>
              </a:prstGeom>
              <a:blipFill rotWithShape="0">
                <a:blip r:embed="rId3"/>
                <a:stretch>
                  <a:fillRect l="-708" t="-572" b="-1030"/>
                </a:stretch>
              </a:blipFill>
              <a:ln>
                <a:noFill/>
              </a:ln>
            </p:spPr>
            <p:txBody>
              <a:bodyPr/>
              <a:lstStyle/>
              <a:p>
                <a:r>
                  <a:rPr lang="en-US">
                    <a:noFill/>
                  </a:rPr>
                  <a:t> </a:t>
                </a:r>
              </a:p>
            </p:txBody>
          </p:sp>
        </mc:Fallback>
      </mc:AlternateContent>
      <p:sp>
        <p:nvSpPr>
          <p:cNvPr id="329" name="Google Shape;329;p20"/>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6" name="Google Shape;125;g104476d1465_1_17"/>
          <p:cNvSpPr txBox="1"/>
          <p:nvPr/>
        </p:nvSpPr>
        <p:spPr>
          <a:xfrm>
            <a:off x="8711062"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34</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288"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0402579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15"/>
          <p:cNvSpPr/>
          <p:nvPr/>
        </p:nvSpPr>
        <p:spPr>
          <a:xfrm>
            <a:off x="0" y="-8226"/>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277" name="Google Shape;277;p15"/>
          <p:cNvSpPr txBox="1">
            <a:spLocks noGrp="1"/>
          </p:cNvSpPr>
          <p:nvPr>
            <p:ph type="title" idx="4294967295"/>
          </p:nvPr>
        </p:nvSpPr>
        <p:spPr>
          <a:xfrm>
            <a:off x="5116285"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3BEA6"/>
                </a:solidFill>
                <a:latin typeface="Verdana"/>
                <a:ea typeface="Verdana"/>
                <a:cs typeface="Verdana"/>
                <a:sym typeface="Verdana"/>
              </a:rPr>
              <a:t>Try It</a:t>
            </a:r>
            <a:endParaRPr sz="5100" b="1">
              <a:solidFill>
                <a:srgbClr val="33BEA6"/>
              </a:solidFill>
              <a:latin typeface="Verdana"/>
              <a:ea typeface="Verdana"/>
              <a:cs typeface="Verdana"/>
              <a:sym typeface="Verdana"/>
            </a:endParaRPr>
          </a:p>
        </p:txBody>
      </p:sp>
      <p:pic>
        <p:nvPicPr>
          <p:cNvPr id="279" name="Google Shape;279;p15"/>
          <p:cNvPicPr preferRelativeResize="0"/>
          <p:nvPr/>
        </p:nvPicPr>
        <p:blipFill rotWithShape="1">
          <a:blip r:embed="rId3">
            <a:alphaModFix/>
          </a:blip>
          <a:srcRect/>
          <a:stretch/>
        </p:blipFill>
        <p:spPr>
          <a:xfrm>
            <a:off x="4813171" y="2852928"/>
            <a:ext cx="1152144" cy="1152144"/>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711062"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35</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288"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2492112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6" name="Google Shape;286;p16"/>
          <p:cNvSpPr txBox="1"/>
          <p:nvPr/>
        </p:nvSpPr>
        <p:spPr>
          <a:xfrm>
            <a:off x="1568379" y="60325"/>
            <a:ext cx="8019300" cy="1325700"/>
          </a:xfrm>
          <a:prstGeom prst="rect">
            <a:avLst/>
          </a:prstGeom>
          <a:noFill/>
          <a:ln>
            <a:noFill/>
          </a:ln>
        </p:spPr>
        <p:txBody>
          <a:bodyPr spcFirstLastPara="1" wrap="square" lIns="91425" tIns="45700" rIns="91425" bIns="45700" anchor="ctr" anchorCtr="0">
            <a:noAutofit/>
          </a:bodyPr>
          <a:lstStyle/>
          <a:p>
            <a:pPr lvl="0">
              <a:lnSpc>
                <a:spcPct val="90000"/>
              </a:lnSpc>
              <a:buClr>
                <a:schemeClr val="dk1"/>
              </a:buClr>
              <a:buSzPts val="5400"/>
            </a:pPr>
            <a:r>
              <a:rPr lang="en-US" sz="2800" b="1" dirty="0">
                <a:solidFill>
                  <a:srgbClr val="33BEA6"/>
                </a:solidFill>
                <a:latin typeface="Verdana"/>
                <a:ea typeface="Verdana"/>
                <a:cs typeface="Verdana"/>
                <a:sym typeface="Verdana"/>
              </a:rPr>
              <a:t>1.5.6 Try It: Relating Equations to Their Contexts </a:t>
            </a:r>
            <a:endParaRPr sz="1100" dirty="0"/>
          </a:p>
        </p:txBody>
      </p:sp>
      <p:pic>
        <p:nvPicPr>
          <p:cNvPr id="288" name="Google Shape;288;p16"/>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18571" y="348271"/>
            <a:ext cx="749808" cy="749808"/>
          </a:xfrm>
          <a:prstGeom prst="rect">
            <a:avLst/>
          </a:prstGeom>
          <a:noFill/>
          <a:ln>
            <a:noFill/>
          </a:ln>
          <a:effectLst>
            <a:outerShdw blurRad="50800" dist="38100" dir="2700000" algn="tl" rotWithShape="0">
              <a:srgbClr val="000000">
                <a:alpha val="40000"/>
              </a:srgbClr>
            </a:outerShdw>
          </a:effectLst>
        </p:spPr>
      </p:pic>
      <p:sp>
        <p:nvSpPr>
          <p:cNvPr id="289" name="Google Shape;289;p16"/>
          <p:cNvSpPr txBox="1"/>
          <p:nvPr/>
        </p:nvSpPr>
        <p:spPr>
          <a:xfrm>
            <a:off x="1568379" y="1386025"/>
            <a:ext cx="9311274" cy="1938952"/>
          </a:xfrm>
          <a:prstGeom prst="rect">
            <a:avLst/>
          </a:prstGeom>
          <a:noFill/>
          <a:ln>
            <a:noFill/>
          </a:ln>
        </p:spPr>
        <p:txBody>
          <a:bodyPr spcFirstLastPara="1" wrap="square" lIns="91425" tIns="45700" rIns="91425" bIns="45700" anchor="t" anchorCtr="0">
            <a:spAutoFit/>
          </a:bodyPr>
          <a:lstStyle/>
          <a:p>
            <a:pPr lvl="0"/>
            <a:r>
              <a:rPr lang="en-US" sz="2000" dirty="0">
                <a:latin typeface="Verdana"/>
                <a:ea typeface="Verdana"/>
                <a:cs typeface="Verdana"/>
                <a:sym typeface="Verdana"/>
              </a:rPr>
              <a:t>Work with your partner to complete the following.</a:t>
            </a:r>
          </a:p>
          <a:p>
            <a:pPr lvl="0"/>
            <a:endParaRPr lang="en-US" sz="2000" dirty="0">
              <a:latin typeface="Verdana"/>
              <a:ea typeface="Verdana"/>
              <a:cs typeface="Verdana"/>
              <a:sym typeface="Verdana"/>
            </a:endParaRPr>
          </a:p>
          <a:p>
            <a:pPr lvl="0"/>
            <a:r>
              <a:rPr lang="en-US" sz="2000" dirty="0">
                <a:latin typeface="Verdana"/>
                <a:ea typeface="Verdana"/>
                <a:cs typeface="Verdana"/>
                <a:sym typeface="Verdana"/>
              </a:rPr>
              <a:t>1. Two equations are shown. </a:t>
            </a:r>
          </a:p>
          <a:p>
            <a:pPr lvl="0"/>
            <a:endParaRPr lang="en-US" sz="2000" dirty="0">
              <a:latin typeface="Verdana"/>
              <a:ea typeface="Verdana"/>
              <a:cs typeface="Verdana"/>
              <a:sym typeface="Verdana"/>
            </a:endParaRPr>
          </a:p>
          <a:p>
            <a:pPr marL="403225"/>
            <a:r>
              <a:rPr lang="en-US" sz="2000" dirty="0">
                <a:latin typeface="Verdana"/>
                <a:ea typeface="Verdana"/>
                <a:cs typeface="Verdana"/>
                <a:sym typeface="Verdana"/>
              </a:rPr>
              <a:t>a. Solve both equations. Show your work.</a:t>
            </a:r>
          </a:p>
          <a:p>
            <a:pPr lvl="0"/>
            <a:endParaRPr lang="en-US" sz="2000" dirty="0">
              <a:latin typeface="Verdana"/>
              <a:ea typeface="Verdana"/>
              <a:cs typeface="Verdana"/>
              <a:sym typeface="Verdana"/>
            </a:endParaRPr>
          </a:p>
        </p:txBody>
      </p:sp>
      <p:sp>
        <p:nvSpPr>
          <p:cNvPr id="290" name="Google Shape;290;p16"/>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xmlns="" id="{87405417-6338-A84E-989D-23728741CA51}"/>
                  </a:ext>
                </a:extLst>
              </p:cNvPr>
              <p:cNvGraphicFramePr>
                <a:graphicFrameLocks noGrp="1"/>
              </p:cNvGraphicFramePr>
              <p:nvPr>
                <p:extLst>
                  <p:ext uri="{D42A27DB-BD31-4B8C-83A1-F6EECF244321}">
                    <p14:modId xmlns:p14="http://schemas.microsoft.com/office/powerpoint/2010/main" val="2117493681"/>
                  </p:ext>
                </p:extLst>
              </p:nvPr>
            </p:nvGraphicFramePr>
            <p:xfrm>
              <a:off x="2519850" y="3238563"/>
              <a:ext cx="6486526" cy="2590800"/>
            </p:xfrm>
            <a:graphic>
              <a:graphicData uri="http://schemas.openxmlformats.org/drawingml/2006/table">
                <a:tbl>
                  <a:tblPr bandRow="1"/>
                  <a:tblGrid>
                    <a:gridCol w="3243263">
                      <a:extLst>
                        <a:ext uri="{9D8B030D-6E8A-4147-A177-3AD203B41FA5}">
                          <a16:colId xmlns:a16="http://schemas.microsoft.com/office/drawing/2014/main" xmlns="" val="7963286"/>
                        </a:ext>
                      </a:extLst>
                    </a:gridCol>
                    <a:gridCol w="3243263">
                      <a:extLst>
                        <a:ext uri="{9D8B030D-6E8A-4147-A177-3AD203B41FA5}">
                          <a16:colId xmlns:a16="http://schemas.microsoft.com/office/drawing/2014/main" xmlns="" val="1026175454"/>
                        </a:ext>
                      </a:extLst>
                    </a:gridCol>
                  </a:tblGrid>
                  <a:tr h="0">
                    <a:tc>
                      <a:txBody>
                        <a:bodyPr/>
                        <a:lstStyle/>
                        <a:p>
                          <a:pPr marL="0" marR="0" algn="ctr">
                            <a:spcBef>
                              <a:spcPts val="0"/>
                            </a:spcBef>
                            <a:spcAft>
                              <a:spcPts val="100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Equation A</a:t>
                          </a:r>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100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Equation B</a:t>
                          </a:r>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 val="4044028743"/>
                      </a:ext>
                    </a:extLst>
                  </a:tr>
                  <a:tr h="2286000">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000" i="1">
                                    <a:solidFill>
                                      <a:srgbClr val="000000"/>
                                    </a:solidFill>
                                    <a:effectLst/>
                                    <a:highlight>
                                      <a:srgbClr val="FFFFFF"/>
                                    </a:highlight>
                                    <a:latin typeface="Cambria Math" panose="02040503050406030204" pitchFamily="18" charset="0"/>
                                    <a:ea typeface="Cambria Math" panose="02040503050406030204" pitchFamily="18" charset="0"/>
                                    <a:cs typeface="Cambria Math" panose="02040503050406030204" pitchFamily="18" charset="0"/>
                                  </a:rPr>
                                  <m:t>46.92=6(</m:t>
                                </m:r>
                                <m:r>
                                  <a:rPr lang="en-US" sz="2000" i="1">
                                    <a:solidFill>
                                      <a:srgbClr val="000000"/>
                                    </a:solidFill>
                                    <a:effectLst/>
                                    <a:highlight>
                                      <a:srgbClr val="FFFFFF"/>
                                    </a:highlight>
                                    <a:latin typeface="Cambria Math" panose="02040503050406030204" pitchFamily="18" charset="0"/>
                                    <a:ea typeface="Cambria Math" panose="02040503050406030204" pitchFamily="18" charset="0"/>
                                    <a:cs typeface="Cambria Math" panose="02040503050406030204" pitchFamily="18" charset="0"/>
                                  </a:rPr>
                                  <m:t>𝑦</m:t>
                                </m:r>
                                <m:r>
                                  <a:rPr lang="en-US" sz="2000" i="1">
                                    <a:solidFill>
                                      <a:srgbClr val="000000"/>
                                    </a:solidFill>
                                    <a:effectLst/>
                                    <a:highlight>
                                      <a:srgbClr val="FFFFFF"/>
                                    </a:highlight>
                                    <a:latin typeface="Cambria Math" panose="02040503050406030204" pitchFamily="18" charset="0"/>
                                    <a:ea typeface="Cambria Math" panose="02040503050406030204" pitchFamily="18" charset="0"/>
                                    <a:cs typeface="Cambria Math" panose="02040503050406030204" pitchFamily="18" charset="0"/>
                                  </a:rPr>
                                  <m:t>−1.75)</m:t>
                                </m:r>
                              </m:oMath>
                            </m:oMathPara>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000" i="1">
                                    <a:solidFill>
                                      <a:srgbClr val="000000"/>
                                    </a:solidFill>
                                    <a:effectLst/>
                                    <a:highlight>
                                      <a:srgbClr val="FFFFFF"/>
                                    </a:highlight>
                                    <a:latin typeface="Cambria Math" panose="02040503050406030204" pitchFamily="18" charset="0"/>
                                    <a:ea typeface="Cambria Math" panose="02040503050406030204" pitchFamily="18" charset="0"/>
                                    <a:cs typeface="Cambria Math" panose="02040503050406030204" pitchFamily="18" charset="0"/>
                                  </a:rPr>
                                  <m:t>6</m:t>
                                </m:r>
                                <m:r>
                                  <a:rPr lang="en-US" sz="2000" i="1">
                                    <a:solidFill>
                                      <a:srgbClr val="000000"/>
                                    </a:solidFill>
                                    <a:effectLst/>
                                    <a:highlight>
                                      <a:srgbClr val="FFFFFF"/>
                                    </a:highlight>
                                    <a:latin typeface="Cambria Math" panose="02040503050406030204" pitchFamily="18" charset="0"/>
                                    <a:ea typeface="Cambria Math" panose="02040503050406030204" pitchFamily="18" charset="0"/>
                                    <a:cs typeface="Cambria Math" panose="02040503050406030204" pitchFamily="18" charset="0"/>
                                  </a:rPr>
                                  <m:t>𝑦</m:t>
                                </m:r>
                                <m:r>
                                  <a:rPr lang="en-US" sz="2000" i="1">
                                    <a:solidFill>
                                      <a:srgbClr val="000000"/>
                                    </a:solidFill>
                                    <a:effectLst/>
                                    <a:highlight>
                                      <a:srgbClr val="FFFFFF"/>
                                    </a:highlight>
                                    <a:latin typeface="Cambria Math" panose="02040503050406030204" pitchFamily="18" charset="0"/>
                                    <a:ea typeface="Cambria Math" panose="02040503050406030204" pitchFamily="18" charset="0"/>
                                    <a:cs typeface="Cambria Math" panose="02040503050406030204" pitchFamily="18" charset="0"/>
                                  </a:rPr>
                                  <m:t>−1.75=46.92</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792054863"/>
                      </a:ext>
                    </a:extLst>
                  </a:tr>
                </a:tbl>
              </a:graphicData>
            </a:graphic>
          </p:graphicFrame>
        </mc:Choice>
        <mc:Fallback xmlns="">
          <p:graphicFrame>
            <p:nvGraphicFramePr>
              <p:cNvPr id="3" name="Table 2">
                <a:extLst>
                  <a:ext uri="{FF2B5EF4-FFF2-40B4-BE49-F238E27FC236}">
                    <a16:creationId xmlns:a16="http://schemas.microsoft.com/office/drawing/2014/main" id="{87405417-6338-A84E-989D-23728741CA51}"/>
                  </a:ext>
                </a:extLst>
              </p:cNvPr>
              <p:cNvGraphicFramePr>
                <a:graphicFrameLocks noGrp="1"/>
              </p:cNvGraphicFramePr>
              <p:nvPr>
                <p:extLst>
                  <p:ext uri="{D42A27DB-BD31-4B8C-83A1-F6EECF244321}">
                    <p14:modId xmlns:p14="http://schemas.microsoft.com/office/powerpoint/2010/main" val="2117493681"/>
                  </p:ext>
                </p:extLst>
              </p:nvPr>
            </p:nvGraphicFramePr>
            <p:xfrm>
              <a:off x="995850" y="3238563"/>
              <a:ext cx="6486526" cy="2590800"/>
            </p:xfrm>
            <a:graphic>
              <a:graphicData uri="http://schemas.openxmlformats.org/drawingml/2006/table">
                <a:tbl>
                  <a:tblPr bandRow="1"/>
                  <a:tblGrid>
                    <a:gridCol w="3243263">
                      <a:extLst>
                        <a:ext uri="{9D8B030D-6E8A-4147-A177-3AD203B41FA5}">
                          <a16:colId xmlns:a16="http://schemas.microsoft.com/office/drawing/2014/main" val="7963286"/>
                        </a:ext>
                      </a:extLst>
                    </a:gridCol>
                    <a:gridCol w="3243263">
                      <a:extLst>
                        <a:ext uri="{9D8B030D-6E8A-4147-A177-3AD203B41FA5}">
                          <a16:colId xmlns:a16="http://schemas.microsoft.com/office/drawing/2014/main" val="1026175454"/>
                        </a:ext>
                      </a:extLst>
                    </a:gridCol>
                  </a:tblGrid>
                  <a:tr h="304800">
                    <a:tc>
                      <a:txBody>
                        <a:bodyPr/>
                        <a:lstStyle/>
                        <a:p>
                          <a:pPr marL="0" marR="0" algn="ctr">
                            <a:spcBef>
                              <a:spcPts val="0"/>
                            </a:spcBef>
                            <a:spcAft>
                              <a:spcPts val="100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Equation A</a:t>
                          </a:r>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100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Equation B</a:t>
                          </a:r>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4044028743"/>
                      </a:ext>
                    </a:extLst>
                  </a:tr>
                  <a:tr h="2286000">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391" t="-17127" r="-100391" b="-552"/>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00391" t="-17127" r="-391" b="-552"/>
                          </a:stretch>
                        </a:blipFill>
                      </a:tcPr>
                    </a:tc>
                    <a:extLst>
                      <a:ext uri="{0D108BD9-81ED-4DB2-BD59-A6C34878D82A}">
                        <a16:rowId xmlns:a16="http://schemas.microsoft.com/office/drawing/2014/main" val="792054863"/>
                      </a:ext>
                    </a:extLst>
                  </a:tr>
                </a:tbl>
              </a:graphicData>
            </a:graphic>
          </p:graphicFrame>
        </mc:Fallback>
      </mc:AlternateContent>
      <p:sp>
        <p:nvSpPr>
          <p:cNvPr id="9" name="Google Shape;125;g104476d1465_1_17"/>
          <p:cNvSpPr txBox="1"/>
          <p:nvPr/>
        </p:nvSpPr>
        <p:spPr>
          <a:xfrm>
            <a:off x="8711062"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35</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49288"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037358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98" name="Google Shape;298;p17"/>
              <p:cNvSpPr txBox="1"/>
              <p:nvPr/>
            </p:nvSpPr>
            <p:spPr>
              <a:xfrm>
                <a:off x="1672676" y="349706"/>
                <a:ext cx="8846648" cy="3477835"/>
              </a:xfrm>
              <a:prstGeom prst="rect">
                <a:avLst/>
              </a:prstGeom>
              <a:noFill/>
              <a:ln>
                <a:noFill/>
              </a:ln>
            </p:spPr>
            <p:txBody>
              <a:bodyPr spcFirstLastPara="1" wrap="square" lIns="91425" tIns="45700" rIns="91425" bIns="45700" anchor="t" anchorCtr="0">
                <a:spAutoFit/>
              </a:bodyPr>
              <a:lstStyle/>
              <a:p>
                <a:pPr marL="346075" lvl="1" indent="-346075"/>
                <a:r>
                  <a:rPr lang="en-US" sz="2000" dirty="0">
                    <a:latin typeface="Verdana" panose="020B0604030504040204" pitchFamily="34" charset="0"/>
                    <a:ea typeface="Verdana" panose="020B0604030504040204" pitchFamily="34" charset="0"/>
                    <a:cs typeface="Verdana" panose="020B0604030504040204" pitchFamily="34" charset="0"/>
                  </a:rPr>
                  <a:t>b. A family of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6</m:t>
                    </m:r>
                  </m:oMath>
                </a14:m>
                <a:r>
                  <a:rPr lang="en-US" sz="2000" dirty="0">
                    <a:latin typeface="Verdana" panose="020B0604030504040204" pitchFamily="34" charset="0"/>
                    <a:ea typeface="Verdana" panose="020B0604030504040204" pitchFamily="34" charset="0"/>
                    <a:cs typeface="Verdana" panose="020B0604030504040204" pitchFamily="34" charset="0"/>
                  </a:rPr>
                  <a:t> is going to the local fair. They have a coupon for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$1.75 </m:t>
                    </m:r>
                  </m:oMath>
                </a14:m>
                <a:r>
                  <a:rPr lang="en-US" sz="2000" dirty="0">
                    <a:latin typeface="Verdana" panose="020B0604030504040204" pitchFamily="34" charset="0"/>
                    <a:ea typeface="Verdana" panose="020B0604030504040204" pitchFamily="34" charset="0"/>
                    <a:cs typeface="Verdana" panose="020B0604030504040204" pitchFamily="34" charset="0"/>
                  </a:rPr>
                  <a:t>off of each ticket. They pay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$46.92</m:t>
                    </m:r>
                  </m:oMath>
                </a14:m>
                <a:r>
                  <a:rPr lang="en-US" sz="2000" dirty="0">
                    <a:latin typeface="Verdana" panose="020B0604030504040204" pitchFamily="34" charset="0"/>
                    <a:ea typeface="Verdana" panose="020B0604030504040204" pitchFamily="34" charset="0"/>
                    <a:cs typeface="Verdana" panose="020B0604030504040204" pitchFamily="34" charset="0"/>
                  </a:rPr>
                  <a:t> for all their tickets. Explain which equation represents this situation.</a:t>
                </a: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346075" lvl="1" indent="-331788"/>
                <a:r>
                  <a:rPr lang="en-US" sz="2000" dirty="0">
                    <a:latin typeface="Verdana" panose="020B0604030504040204" pitchFamily="34" charset="0"/>
                    <a:ea typeface="Verdana" panose="020B0604030504040204" pitchFamily="34" charset="0"/>
                    <a:cs typeface="Verdana" panose="020B0604030504040204" pitchFamily="34" charset="0"/>
                  </a:rPr>
                  <a:t>c. Explain what the solution to the equation that correctly models this situation means.</a:t>
                </a:r>
              </a:p>
            </p:txBody>
          </p:sp>
        </mc:Choice>
        <mc:Fallback xmlns="">
          <p:sp>
            <p:nvSpPr>
              <p:cNvPr id="298" name="Google Shape;298;p17"/>
              <p:cNvSpPr txBox="1">
                <a:spLocks noRot="1" noChangeAspect="1" noMove="1" noResize="1" noEditPoints="1" noAdjustHandles="1" noChangeArrowheads="1" noChangeShapeType="1" noTextEdit="1"/>
              </p:cNvSpPr>
              <p:nvPr/>
            </p:nvSpPr>
            <p:spPr>
              <a:xfrm>
                <a:off x="1672676" y="349706"/>
                <a:ext cx="8846648" cy="3477835"/>
              </a:xfrm>
              <a:prstGeom prst="rect">
                <a:avLst/>
              </a:prstGeom>
              <a:blipFill rotWithShape="0">
                <a:blip r:embed="rId3"/>
                <a:stretch>
                  <a:fillRect l="-689" t="-2277" b="-2102"/>
                </a:stretch>
              </a:blipFill>
              <a:ln>
                <a:noFill/>
              </a:ln>
            </p:spPr>
            <p:txBody>
              <a:bodyPr/>
              <a:lstStyle/>
              <a:p>
                <a:r>
                  <a:rPr lang="en-US">
                    <a:noFill/>
                  </a:rPr>
                  <a:t> </a:t>
                </a:r>
              </a:p>
            </p:txBody>
          </p:sp>
        </mc:Fallback>
      </mc:AlternateContent>
      <p:sp>
        <p:nvSpPr>
          <p:cNvPr id="299" name="Google Shape;299;p17"/>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7" name="Google Shape;125;g104476d1465_1_17"/>
          <p:cNvSpPr txBox="1"/>
          <p:nvPr/>
        </p:nvSpPr>
        <p:spPr>
          <a:xfrm>
            <a:off x="8711062"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35</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288"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3219234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33"/>
          <p:cNvSpPr/>
          <p:nvPr/>
        </p:nvSpPr>
        <p:spPr>
          <a:xfrm>
            <a:off x="0" y="-8226"/>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458" name="Google Shape;458;p33"/>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Wrap-Up</a:t>
            </a:r>
            <a:endParaRPr sz="5100" b="1">
              <a:solidFill>
                <a:srgbClr val="3F2A67"/>
              </a:solidFill>
              <a:latin typeface="Verdana"/>
              <a:ea typeface="Verdana"/>
              <a:cs typeface="Verdana"/>
              <a:sym typeface="Verdana"/>
            </a:endParaRPr>
          </a:p>
        </p:txBody>
      </p:sp>
      <p:pic>
        <p:nvPicPr>
          <p:cNvPr id="459" name="Google Shape;459;p33"/>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711062"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36</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288"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7" name="Google Shape;467;p34"/>
          <p:cNvSpPr txBox="1"/>
          <p:nvPr/>
        </p:nvSpPr>
        <p:spPr>
          <a:xfrm>
            <a:off x="1479795" y="-71993"/>
            <a:ext cx="8019300" cy="1325700"/>
          </a:xfrm>
          <a:prstGeom prst="rect">
            <a:avLst/>
          </a:prstGeom>
          <a:noFill/>
          <a:ln>
            <a:noFill/>
          </a:ln>
        </p:spPr>
        <p:txBody>
          <a:bodyPr spcFirstLastPara="1" wrap="square" lIns="91425" tIns="45700" rIns="91425" bIns="45700" anchor="ctr" anchorCtr="0">
            <a:noAutofit/>
          </a:bodyPr>
          <a:lstStyle/>
          <a:p>
            <a:pPr lvl="0">
              <a:lnSpc>
                <a:spcPct val="90000"/>
              </a:lnSpc>
              <a:buClr>
                <a:schemeClr val="dk1"/>
              </a:buClr>
              <a:buSzPts val="5400"/>
            </a:pPr>
            <a:r>
              <a:rPr lang="en-US" sz="3200" b="1" dirty="0">
                <a:solidFill>
                  <a:srgbClr val="3F2A67"/>
                </a:solidFill>
                <a:latin typeface="Verdana"/>
                <a:ea typeface="Verdana"/>
                <a:cs typeface="Verdana"/>
                <a:sym typeface="Verdana"/>
              </a:rPr>
              <a:t>1.5.7 Wrap-Up: </a:t>
            </a:r>
            <a:r>
              <a:rPr lang="en-US" sz="3200" b="1" dirty="0" smtClean="0">
                <a:solidFill>
                  <a:srgbClr val="3F2A67"/>
                </a:solidFill>
                <a:latin typeface="Verdana"/>
                <a:ea typeface="Verdana"/>
                <a:cs typeface="Verdana"/>
                <a:sym typeface="Verdana"/>
              </a:rPr>
              <a:t>Cool Down </a:t>
            </a:r>
            <a:endParaRPr sz="1200" dirty="0"/>
          </a:p>
        </p:txBody>
      </p:sp>
      <p:pic>
        <p:nvPicPr>
          <p:cNvPr id="468" name="Google Shape;468;p34"/>
          <p:cNvPicPr preferRelativeResize="0"/>
          <p:nvPr/>
        </p:nvPicPr>
        <p:blipFill rotWithShape="1">
          <a:blip r:embed="rId3">
            <a:alphaModFix/>
          </a:blip>
          <a:srcRect/>
          <a:stretch/>
        </p:blipFill>
        <p:spPr>
          <a:xfrm>
            <a:off x="678793" y="204205"/>
            <a:ext cx="747300" cy="747300"/>
          </a:xfrm>
          <a:prstGeom prst="rect">
            <a:avLst/>
          </a:prstGeom>
          <a:noFill/>
          <a:ln>
            <a:noFill/>
          </a:ln>
          <a:effectLst>
            <a:outerShdw blurRad="50800" dist="38100" dir="2700000" algn="tl" rotWithShape="0">
              <a:srgbClr val="000000">
                <a:alpha val="40000"/>
              </a:srgbClr>
            </a:outerShdw>
          </a:effectLst>
        </p:spPr>
      </p:pic>
      <p:sp>
        <p:nvSpPr>
          <p:cNvPr id="469" name="Google Shape;469;p34"/>
          <p:cNvSpPr txBox="1"/>
          <p:nvPr/>
        </p:nvSpPr>
        <p:spPr>
          <a:xfrm>
            <a:off x="1087395" y="1243130"/>
            <a:ext cx="10017210" cy="400069"/>
          </a:xfrm>
          <a:prstGeom prst="rect">
            <a:avLst/>
          </a:prstGeom>
          <a:noFill/>
          <a:ln>
            <a:noFill/>
          </a:ln>
        </p:spPr>
        <p:txBody>
          <a:bodyPr spcFirstLastPara="1" wrap="square" lIns="91425" tIns="45700" rIns="91425" bIns="45700" anchor="t" anchorCtr="0">
            <a:spAutoFit/>
          </a:bodyPr>
          <a:lstStyle/>
          <a:p>
            <a:pPr marL="457200" indent="-457200" fontAlgn="base">
              <a:buFont typeface="+mj-lt"/>
              <a:buAutoNum type="arabicPeriod"/>
            </a:pPr>
            <a:r>
              <a:rPr lang="en-US" sz="2000" dirty="0">
                <a:latin typeface="Verdana" charset="0"/>
                <a:ea typeface="Verdana" charset="0"/>
                <a:cs typeface="Verdana" charset="0"/>
              </a:rPr>
              <a:t>Write a summary of what you learned in this lesson.</a:t>
            </a:r>
          </a:p>
        </p:txBody>
      </p:sp>
      <p:sp>
        <p:nvSpPr>
          <p:cNvPr id="470" name="Google Shape;470;p34"/>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6" name="Google Shape;125;g104476d1465_1_17"/>
          <p:cNvSpPr txBox="1"/>
          <p:nvPr/>
        </p:nvSpPr>
        <p:spPr>
          <a:xfrm>
            <a:off x="8711062"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36</a:t>
            </a:r>
            <a:endParaRPr i="1" dirty="0">
              <a:latin typeface="Calibri"/>
              <a:ea typeface="Calibri"/>
              <a:cs typeface="Calibri"/>
              <a:sym typeface="Calibri"/>
            </a:endParaRPr>
          </a:p>
        </p:txBody>
      </p:sp>
      <p:pic>
        <p:nvPicPr>
          <p:cNvPr id="17"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288"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91</TotalTime>
  <Words>1305</Words>
  <Application>Microsoft Macintosh PowerPoint</Application>
  <PresentationFormat>Widescreen</PresentationFormat>
  <Paragraphs>296</Paragraphs>
  <Slides>29</Slides>
  <Notes>29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29</vt:i4>
      </vt:variant>
    </vt:vector>
  </HeadingPairs>
  <TitlesOfParts>
    <vt:vector size="39" baseType="lpstr">
      <vt:lpstr>Arial Black</vt:lpstr>
      <vt:lpstr>Calibri</vt:lpstr>
      <vt:lpstr>Cambria</vt:lpstr>
      <vt:lpstr>Cambria Math</vt:lpstr>
      <vt:lpstr>Century Gothic</vt:lpstr>
      <vt:lpstr>Times New Roman</vt:lpstr>
      <vt:lpstr>Verdana</vt:lpstr>
      <vt:lpstr>Wingdings</vt:lpstr>
      <vt:lpstr>Arial</vt:lpstr>
      <vt:lpstr>1_Office Theme</vt:lpstr>
      <vt:lpstr>7th Grade Accelerated Grade  Unit 1, Lesson 5  Solving Mathematical and Real-World Problems With Equations  Volume 1, pg. 29  </vt:lpstr>
      <vt:lpstr>Benchmark</vt:lpstr>
      <vt:lpstr>PowerPoint Presentation</vt:lpstr>
      <vt:lpstr>PowerPoint Presentation</vt:lpstr>
      <vt:lpstr>Warm-Up</vt:lpstr>
      <vt:lpstr>PowerPoint Presentation</vt:lpstr>
      <vt:lpstr>Refresher</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Collaboration</vt:lpstr>
      <vt:lpstr>PowerPoint Presentation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Try It</vt:lpstr>
      <vt:lpstr>PowerPoint Presentation</vt:lpstr>
      <vt:lpstr>PowerPoint Presentation</vt:lpstr>
      <vt:lpstr>Wrap-Up</vt:lpstr>
      <vt:lpstr>PowerPoint Presentation</vt:lpstr>
    </vt:vector>
  </TitlesOfParts>
  <LinksUpToDate>false</LinksUpToDate>
  <SharedDoc>false</SharedDoc>
  <HyperlinksChanged>false</HyperlinksChanged>
  <AppVersion>15.0032</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7th Grade Accelerated  Unit 1, Lesson 5  Solving Mathematical and Real-World Problems with Equations  Volume 1, pg. 29  </dc:title>
  <dc:creator>Karen McKenzie</dc:creator>
  <cp:lastModifiedBy>jslater9816@gmail.com</cp:lastModifiedBy>
  <cp:revision>10</cp:revision>
  <dcterms:created xsi:type="dcterms:W3CDTF">2015-03-17T18:51:18Z</dcterms:created>
  <dcterms:modified xsi:type="dcterms:W3CDTF">2022-07-26T21:05:39Z</dcterms:modified>
</cp:coreProperties>
</file>