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35" r:id="rId11"/>
    <p:sldId id="341" r:id="rId12"/>
    <p:sldId id="342" r:id="rId13"/>
    <p:sldId id="343" r:id="rId14"/>
    <p:sldId id="344" r:id="rId15"/>
    <p:sldId id="345" r:id="rId16"/>
    <p:sldId id="346" r:id="rId17"/>
    <p:sldId id="311" r:id="rId18"/>
    <p:sldId id="312" r:id="rId19"/>
    <p:sldId id="337" r:id="rId20"/>
    <p:sldId id="347" r:id="rId21"/>
    <p:sldId id="333" r:id="rId22"/>
    <p:sldId id="340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06" r:id="rId32"/>
    <p:sldId id="30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9" autoAdjust="0"/>
    <p:restoredTop sz="94707" autoAdjust="0"/>
  </p:normalViewPr>
  <p:slideViewPr>
    <p:cSldViewPr snapToGrid="0">
      <p:cViewPr varScale="1">
        <p:scale>
          <a:sx n="128" d="100"/>
          <a:sy n="128" d="100"/>
        </p:scale>
        <p:origin x="4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7891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779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05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412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696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7413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8181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5191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5191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745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6494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2465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5824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160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310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36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0.png"/><Relationship Id="rId4" Type="http://schemas.openxmlformats.org/officeDocument/2006/relationships/image" Target="../media/image15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3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10" Type="http://schemas.openxmlformats.org/officeDocument/2006/relationships/image" Target="../media/image10.png"/><Relationship Id="rId9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Approximating Irrational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13350" y="1560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50" y="3918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09700" y="1321975"/>
            <a:ext cx="892520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MA.8.NSO.1.1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 previous understanding of rational numbers to define irrational numbers within the real number system. Locate an approximate value of a numerical expression involving irrational numbers on a number line.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MA.8.NSO.1.2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Plot, order, and compare rational and irrational numbers represented in </a:t>
            </a:r>
            <a:b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various forms.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02" y="34759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12348" y="7391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12348" y="1424331"/>
            <a:ext cx="854062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751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35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12900" y="1600200"/>
            <a:ext cx="8597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spcAft>
                <a:spcPts val="2000"/>
              </a:spcAft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whether a number is rational or irrational.</a:t>
            </a:r>
          </a:p>
          <a:p>
            <a:pPr marL="536575" indent="-536575">
              <a:spcAft>
                <a:spcPts val="2000"/>
              </a:spcAft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approximate the values of irrational numbers.</a:t>
            </a:r>
          </a:p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irrational numbers on a number line.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9638" y="31609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2.4.1 Warm-Up: Number Pattern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38" y="2101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59638" y="1386026"/>
            <a:ext cx="8927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pattern is shown with one value missing.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value of the empty cell in the pattern. 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determined the missing value.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6456" y="1827265"/>
            <a:ext cx="6675120" cy="2270152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80050" y="141006"/>
            <a:ext cx="80193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2.4.2 Collaboration: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Square Roots vs. Cube Roots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0242" y="2554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155700" y="1226809"/>
                <a:ext cx="917920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Damion knows that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 says this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means the following equations are all true.</a:t>
                </a: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whether or not you agree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all of the equations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Damion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wrote are true.</a:t>
                </a: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1700" indent="-4445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Damion wrote any false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equation(s), explain what makes them false.</a:t>
                </a:r>
              </a:p>
              <a:p>
                <a:pPr marL="901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all of Damion’s equations are true, explain how you know.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700" y="1226809"/>
                <a:ext cx="9179201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731" t="-647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-20318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728578"/>
                  </p:ext>
                </p:extLst>
              </p:nvPr>
            </p:nvGraphicFramePr>
            <p:xfrm>
              <a:off x="6590901" y="2797364"/>
              <a:ext cx="3744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7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D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5143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728578"/>
                  </p:ext>
                </p:extLst>
              </p:nvPr>
            </p:nvGraphicFramePr>
            <p:xfrm>
              <a:off x="5066901" y="2797364"/>
              <a:ext cx="3744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72000"/>
                    <a:gridCol w="1872000"/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1124" r="-326" b="-304494"/>
                          </a:stretch>
                        </a:blipFill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102273" r="-326" b="-207955"/>
                          </a:stretch>
                        </a:blipFill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C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200000" r="-326" b="-105618"/>
                          </a:stretch>
                        </a:blipFill>
                      </a:tcPr>
                    </a:tc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D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303409" r="-326" b="-681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5" y="406094"/>
                <a:ext cx="8327136" cy="3992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12800" indent="-3556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			      because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12800" indent="-3556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			      because </a:t>
                </a: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" y="406093"/>
                <a:ext cx="8327136" cy="3992631"/>
              </a:xfrm>
              <a:prstGeom prst="rect">
                <a:avLst/>
              </a:prstGeom>
              <a:blipFill rotWithShape="1">
                <a:blip r:embed="rId4"/>
                <a:stretch>
                  <a:fillRect l="-1098" t="-12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16718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3466" y="859536"/>
            <a:ext cx="3034284" cy="987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400" y="1963672"/>
            <a:ext cx="7171635" cy="136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1774" y="3449768"/>
            <a:ext cx="3034284" cy="9870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398" y="4525723"/>
            <a:ext cx="7171634" cy="13680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04900" y="409911"/>
                <a:ext cx="9230001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table by choosing a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based on the inequality. Then, determine if the result is real or non-real.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short explanation of when a non-real result will occur.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409911"/>
                <a:ext cx="9230001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727" t="-758" b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10591"/>
                  </p:ext>
                </p:extLst>
              </p:nvPr>
            </p:nvGraphicFramePr>
            <p:xfrm>
              <a:off x="2600152" y="1561116"/>
              <a:ext cx="7247462" cy="3869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33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570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570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29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Example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 or Non-Real Result(s)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10591"/>
                  </p:ext>
                </p:extLst>
              </p:nvPr>
            </p:nvGraphicFramePr>
            <p:xfrm>
              <a:off x="1076152" y="1561116"/>
              <a:ext cx="7247462" cy="3869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33326"/>
                    <a:gridCol w="2457068"/>
                    <a:gridCol w="2457068"/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Example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 or Non-Real Result(s)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2" t="-92308" r="-211257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2" t="-192308" r="-211257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2" t="-292308" r="-211257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2" t="-392308" r="-211257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real</a:t>
                          </a:r>
                        </a:p>
                        <a:p>
                          <a:pPr marL="536575" marR="0" lvl="0" indent="-2571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non-real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566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2475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703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6267" y="-763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2.4.3 Guided Instruction: Rational and Irrational Numbers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709" y="14057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204912" y="1444005"/>
                <a:ext cx="9966094" cy="5043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800"/>
                  </a:spcAft>
                </a:pPr>
                <a:r>
                  <a:rPr lang="en-US" sz="200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The real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number system includes both </a:t>
                </a:r>
                <a:r>
                  <a:rPr lang="en-US" sz="2000" b="1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rational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and </a:t>
                </a:r>
                <a:r>
                  <a:rPr lang="en-US" sz="2000" b="1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irrational</a:t>
                </a:r>
                <a:r>
                  <a:rPr lang="en-US" sz="2000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000" b="1" i="1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numbers</a:t>
                </a:r>
                <a:r>
                  <a:rPr lang="en-US" sz="200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>
                  <a:spcAft>
                    <a:spcPts val="102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Rational numbers can be written as a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as a decimal. In decimal form, rational numbers either terminate or repeat.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expressed as decimals, irrational numbers do not terminate or repeat. Therefore, any decimal expansion is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only an approximate value.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912" y="1444005"/>
                <a:ext cx="9966094" cy="5043945"/>
              </a:xfrm>
              <a:prstGeom prst="rect">
                <a:avLst/>
              </a:prstGeom>
              <a:blipFill rotWithShape="0">
                <a:blip r:embed="rId4"/>
                <a:stretch>
                  <a:fillRect l="-673" t="-726" r="-979" b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059148" y="2087575"/>
            <a:ext cx="8261380" cy="987504"/>
            <a:chOff x="1321688" y="1992325"/>
            <a:chExt cx="8261380" cy="987504"/>
          </a:xfrm>
        </p:grpSpPr>
        <p:sp>
          <p:nvSpPr>
            <p:cNvPr id="15" name="Rounded Rectangle 14"/>
            <p:cNvSpPr/>
            <p:nvPr/>
          </p:nvSpPr>
          <p:spPr>
            <a:xfrm>
              <a:off x="1321688" y="1992325"/>
              <a:ext cx="8261380" cy="987504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91440" anchor="ctr" anchorCtr="0">
              <a:spAutoFit/>
            </a:bodyPr>
            <a:lstStyle/>
            <a:p>
              <a:pPr marL="742950">
                <a:lnSpc>
                  <a:spcPct val="115000"/>
                </a:lnSpc>
              </a:pPr>
              <a:r>
                <a:rPr lang="en-US" sz="2000" spc="-60" dirty="0">
                  <a:solidFill>
                    <a:srgbClr val="6C993D"/>
                  </a:solidFill>
                  <a:latin typeface="Verdana" panose="020B0604030504040204" pitchFamily="34" charset="0"/>
                  <a:ea typeface="Calibri" panose="020F0502020204030204" pitchFamily="34" charset="0"/>
                </a:rPr>
                <a:t>A </a:t>
              </a:r>
              <a:r>
                <a:rPr lang="en-US" sz="2000" b="1" i="1" spc="-60" dirty="0">
                  <a:solidFill>
                    <a:srgbClr val="6C993D"/>
                  </a:solidFill>
                  <a:latin typeface="Verdana" panose="020B0604030504040204" pitchFamily="34" charset="0"/>
                  <a:ea typeface="Calibri" panose="020F0502020204030204" pitchFamily="34" charset="0"/>
                </a:rPr>
                <a:t>rational number</a:t>
              </a:r>
              <a:r>
                <a:rPr lang="en-US" sz="2000" spc="-60" dirty="0">
                  <a:solidFill>
                    <a:srgbClr val="6C993D"/>
                  </a:solidFill>
                  <a:latin typeface="Verdana" panose="020B0604030504040204" pitchFamily="34" charset="0"/>
                  <a:ea typeface="Calibri" panose="020F0502020204030204" pitchFamily="34" charset="0"/>
                </a:rPr>
                <a:t> is a real number that can be expressed as a ratio of two integers.</a:t>
              </a:r>
              <a:endParaRPr lang="en-US" sz="2000" spc="-6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6" name="Shape 7" descr="Icon&#10;&#10;Description automatically generated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3049" y="2210015"/>
              <a:ext cx="539716" cy="52954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/>
          <p:cNvGrpSpPr/>
          <p:nvPr/>
        </p:nvGrpSpPr>
        <p:grpSpPr>
          <a:xfrm>
            <a:off x="2055390" y="4364869"/>
            <a:ext cx="8265138" cy="1019235"/>
            <a:chOff x="2027542" y="3373600"/>
            <a:chExt cx="8265138" cy="1020032"/>
          </a:xfrm>
        </p:grpSpPr>
        <p:grpSp>
          <p:nvGrpSpPr>
            <p:cNvPr id="18" name="Group 17"/>
            <p:cNvGrpSpPr/>
            <p:nvPr/>
          </p:nvGrpSpPr>
          <p:grpSpPr>
            <a:xfrm>
              <a:off x="2027542" y="3373600"/>
              <a:ext cx="8265138" cy="1020032"/>
              <a:chOff x="-3758" y="0"/>
              <a:chExt cx="8265138" cy="102003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-3758" y="133991"/>
                <a:ext cx="8265138" cy="886041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40" rIns="91425" bIns="91440" anchor="ctr" anchorCtr="0">
                <a:spAutoFit/>
              </a:bodyPr>
              <a:lstStyle/>
              <a:p>
                <a:pPr marL="742950"/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irrational number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real number that cannot be expressed as a ratio of two integers.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pic>
            <p:nvPicPr>
              <p:cNvPr id="21" name="Shape 7" descr="Icon&#10;&#10;Description automatically generated"/>
              <p:cNvPicPr preferRelativeResize="0"/>
              <p:nvPr/>
            </p:nvPicPr>
            <p:blipFill rotWithShape="1">
              <a:blip r:embed="rId6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77569" y="297422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23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621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473200" y="373248"/>
                <a:ext cx="939626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The relationship between the circumference and diameter of any circle is represented by pi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remember about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00" y="373248"/>
                <a:ext cx="9396266" cy="1938992"/>
              </a:xfrm>
              <a:prstGeom prst="rect">
                <a:avLst/>
              </a:prstGeom>
              <a:blipFill rotWithShape="0">
                <a:blip r:embed="rId3"/>
                <a:stretch>
                  <a:fillRect l="-1038" t="-2516" r="-454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164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2007765" y="379136"/>
                <a:ext cx="8513091" cy="5416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ratio of the circumference of a circle to its </a:t>
                </a:r>
              </a:p>
              <a:p>
                <a:pPr marL="9144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diameter is expressed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						     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exact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   be expressed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a fraction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two integers or a decimal.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		   	 number.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4" y="379135"/>
                <a:ext cx="8513091" cy="5416547"/>
              </a:xfrm>
              <a:prstGeom prst="rect">
                <a:avLst/>
              </a:prstGeom>
              <a:blipFill rotWithShape="1">
                <a:blip r:embed="rId4"/>
                <a:stretch>
                  <a:fillRect t="-900" r="-1718" b="-14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232" y="2354298"/>
            <a:ext cx="5291518" cy="9879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9156" y="3617843"/>
            <a:ext cx="1563888" cy="9169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586" y="5103535"/>
            <a:ext cx="2235899" cy="90016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038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168400" y="377794"/>
            <a:ext cx="993928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Enter each of the following values into a calculator.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values that can be expressed as a ratio of two integers.</a:t>
            </a: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you would describe the values that are not circled.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078933"/>
                  </p:ext>
                </p:extLst>
              </p:nvPr>
            </p:nvGraphicFramePr>
            <p:xfrm>
              <a:off x="2557714" y="1671102"/>
              <a:ext cx="6943090" cy="42900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5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078933"/>
                  </p:ext>
                </p:extLst>
              </p:nvPr>
            </p:nvGraphicFramePr>
            <p:xfrm>
              <a:off x="1033714" y="1671102"/>
              <a:ext cx="6943090" cy="42900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5455"/>
                    <a:gridCol w="1735455"/>
                    <a:gridCol w="1736090"/>
                    <a:gridCol w="1736090"/>
                  </a:tblGrid>
                  <a:tr h="429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4"/>
                          <a:stretch>
                            <a:fillRect l="-351" r="-299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4"/>
                          <a:stretch>
                            <a:fillRect l="-100704" r="-200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4"/>
                          <a:stretch>
                            <a:fillRect l="-2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4"/>
                          <a:stretch>
                            <a:fillRect l="-300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4847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932432" y="411350"/>
            <a:ext cx="832713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Square roots of perfect squares and cube 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roots of perfect cubes	        be expressed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a ratio of two integers. Therefore, they are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Square roots of non-perfect squares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cube roots of non-perfect cubes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 expressed as a ratio of two integers. Therefore, 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they are 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-9612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0420" y="1430647"/>
            <a:ext cx="1387262" cy="792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751" y="2656369"/>
            <a:ext cx="1767224" cy="82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9959" y="3263649"/>
            <a:ext cx="1387262" cy="79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196" y="4464148"/>
            <a:ext cx="1767224" cy="8280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617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9471" y="67191"/>
            <a:ext cx="8096976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2.4.4 Exploration: Roots of Non-Perfect Squares and Non-Perfect Cubes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3173" y="125009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-1748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054100" y="1278865"/>
                <a:ext cx="9280801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decimal expansions of irrational numbers do not terminate nor repeat. Therefore, the values of a square root of a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non-perfect square can only be approximated.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evaluating the square root of a number, the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principal square root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assumed when the radical symbol is used.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negative symbol,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placed in front of the radical to indicate the negative square root. Perfect squares can be used to estimate the value of the principal square root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non-perfect squares.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278865"/>
                <a:ext cx="9280801" cy="4401205"/>
              </a:xfrm>
              <a:prstGeom prst="rect">
                <a:avLst/>
              </a:prstGeom>
              <a:blipFill rotWithShape="0">
                <a:blip r:embed="rId4"/>
                <a:stretch>
                  <a:fillRect l="-723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007765" y="2627054"/>
            <a:ext cx="8280000" cy="783149"/>
            <a:chOff x="483765" y="3230956"/>
            <a:chExt cx="8280000" cy="783149"/>
          </a:xfrm>
        </p:grpSpPr>
        <p:sp>
          <p:nvSpPr>
            <p:cNvPr id="16" name="Rounded Rectangle 15"/>
            <p:cNvSpPr/>
            <p:nvPr/>
          </p:nvSpPr>
          <p:spPr>
            <a:xfrm>
              <a:off x="483765" y="3230956"/>
              <a:ext cx="8280000" cy="783149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717550"/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principal square root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the positive square root of a positive real number. 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7" name="Shape 7" descr="Icon&#10;&#10;Description automatically generated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4321" y="3359941"/>
              <a:ext cx="539750" cy="53342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3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066800" y="379135"/>
                <a:ext cx="10209066" cy="50015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Work with your partner to complete the following to approximate the principal square root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</a:t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</a:rPr>
                </a:b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inequality to show which two perfect squares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14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lies between.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14400" algn="ctr"/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________ &lt;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________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Use your answers to Part A to indicate which two square roots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lies between.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47675" algn="ctr">
                  <a:spcAft>
                    <a:spcPts val="1200"/>
                  </a:spcAft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________ &lt;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&lt; ________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79135"/>
                <a:ext cx="10209066" cy="5001562"/>
              </a:xfrm>
              <a:prstGeom prst="rect">
                <a:avLst/>
              </a:prstGeom>
              <a:blipFill rotWithShape="0">
                <a:blip r:embed="rId3"/>
                <a:stretch>
                  <a:fillRect l="-896" t="-974" r="-1851" b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213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346200" y="379136"/>
                <a:ext cx="9650266" cy="3642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200"/>
                  </a:spcAft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square root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closer to.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 to indicate its approximate value based on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200" y="379136"/>
                <a:ext cx="9650266" cy="3642151"/>
              </a:xfrm>
              <a:prstGeom prst="rect">
                <a:avLst/>
              </a:prstGeom>
              <a:blipFill rotWithShape="0">
                <a:blip r:embed="rId3"/>
                <a:stretch>
                  <a:fillRect t="-1338" r="-1263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9533" y="4295934"/>
            <a:ext cx="5943600" cy="68961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4006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485900" y="387542"/>
                <a:ext cx="9476232" cy="5020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Similar to the square roots of non-perfect squares, the cube roots of some numbers are irrational.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values of such cube roots can be approximated using the cube roots of perfect cubes.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line is shown with values indicated at specific points.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placed in the same location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387542"/>
                <a:ext cx="9476232" cy="5020798"/>
              </a:xfrm>
              <a:prstGeom prst="rect">
                <a:avLst/>
              </a:prstGeom>
              <a:blipFill rotWithShape="0">
                <a:blip r:embed="rId3"/>
                <a:stretch>
                  <a:fillRect l="-1030" t="-972" r="-1802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3252216" y="3209242"/>
            <a:ext cx="5943600" cy="1076731"/>
            <a:chOff x="0" y="-63928"/>
            <a:chExt cx="5943600" cy="10770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45"/>
                <p:cNvSpPr txBox="1"/>
                <p:nvPr/>
              </p:nvSpPr>
              <p:spPr>
                <a:xfrm>
                  <a:off x="1491175" y="-49860"/>
                  <a:ext cx="531251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8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175" y="-49860"/>
                  <a:ext cx="531251" cy="37973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23557"/>
              <a:ext cx="5943600" cy="689610"/>
            </a:xfrm>
            <a:prstGeom prst="rect">
              <a:avLst/>
            </a:prstGeom>
          </p:spPr>
        </p:pic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2518116" y="464234"/>
              <a:ext cx="109220" cy="1092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3334043" y="464234"/>
              <a:ext cx="109220" cy="1092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1716258" y="464234"/>
              <a:ext cx="109728" cy="109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50"/>
                <p:cNvSpPr txBox="1"/>
                <p:nvPr/>
              </p:nvSpPr>
              <p:spPr>
                <a:xfrm>
                  <a:off x="2222695" y="-49860"/>
                  <a:ext cx="633046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27</m:t>
                            </m:r>
                          </m:e>
                        </m:rad>
                      </m:oMath>
                    </m:oMathPara>
                  </a14:m>
                  <a:endPara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695" y="-49860"/>
                  <a:ext cx="633046" cy="37973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4808" b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51"/>
                <p:cNvSpPr txBox="1"/>
                <p:nvPr/>
              </p:nvSpPr>
              <p:spPr>
                <a:xfrm>
                  <a:off x="3038621" y="-63928"/>
                  <a:ext cx="632460" cy="37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64</m:t>
                            </m:r>
                          </m:e>
                        </m:rad>
                      </m:oMath>
                    </m:oMathPara>
                  </a14:m>
                  <a:endParaRPr lang="en-US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8621" y="-63928"/>
                  <a:ext cx="632460" cy="37973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4808" b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975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371600" y="374090"/>
                <a:ext cx="9599466" cy="5705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Label the locations of the following cube roots on the number line.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e>
                    </m:rad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rad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the approximate locations of the following cube roots on the number line.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140</m:t>
                        </m:r>
                      </m:e>
                    </m:rad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answers to your partner’s. Discuss any differences and make revisions to your work as needed.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74090"/>
                <a:ext cx="9599466" cy="5705665"/>
              </a:xfrm>
              <a:prstGeom prst="rect">
                <a:avLst/>
              </a:prstGeom>
              <a:blipFill>
                <a:blip r:embed="rId3"/>
                <a:stretch>
                  <a:fillRect t="-889" b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3265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886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35420" y="342263"/>
            <a:ext cx="10491105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2.4.5 Guided Instruction: </a:t>
            </a:r>
            <a:r>
              <a:rPr lang="en-US" sz="2800" b="1" dirty="0">
                <a:solidFill>
                  <a:srgbClr val="26B6D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Approximating Irrational Numbers and Locating Them on a Number Line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121" y="40255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422400" y="1542833"/>
                <a:ext cx="9603232" cy="3890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values of irrational numbers and expressions involving irrational numbers can be approximated.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 which two whole numbers does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a number line?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whole number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closer to?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00" y="1542833"/>
                <a:ext cx="9603232" cy="3890104"/>
              </a:xfrm>
              <a:prstGeom prst="rect">
                <a:avLst/>
              </a:prstGeom>
              <a:blipFill rotWithShape="0">
                <a:blip r:embed="rId4"/>
                <a:stretch>
                  <a:fillRect l="-952" t="-1254" b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3627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155700" y="379135"/>
                <a:ext cx="9968206" cy="3872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Faith thinks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be close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3.6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3.7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Discuss with your partner why Faith may have made these estimates. </a:t>
                </a: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Faith’s estimates to determine if either estimate is close to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your work in Part D, complete the statement. </a:t>
                </a:r>
              </a:p>
              <a:p>
                <a:pPr lvl="1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approximate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to the nearest tenth,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______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⋅</m:t>
                    </m:r>
                    <m:r>
                      <a:rPr lang="en-US" sz="2000" i="1">
                        <a:latin typeface="Cambria Math"/>
                      </a:rPr>
                      <m:t>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700" y="379135"/>
                <a:ext cx="9968206" cy="3872599"/>
              </a:xfrm>
              <a:prstGeom prst="rect">
                <a:avLst/>
              </a:prstGeom>
              <a:blipFill rotWithShape="0">
                <a:blip r:embed="rId3"/>
                <a:stretch>
                  <a:fillRect t="-5827" b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883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0900" y="383339"/>
                <a:ext cx="10574280" cy="2920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 to indicate its approximate location.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approximation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from the previous question to complete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Approximate the value of each expression.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383339"/>
                <a:ext cx="10574280" cy="2920287"/>
              </a:xfrm>
              <a:prstGeom prst="rect">
                <a:avLst/>
              </a:prstGeom>
              <a:blipFill rotWithShape="0">
                <a:blip r:embed="rId3"/>
                <a:stretch>
                  <a:fillRect l="-634" t="-7724" r="-577" b="-2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3835345"/>
                  </p:ext>
                </p:extLst>
              </p:nvPr>
            </p:nvGraphicFramePr>
            <p:xfrm>
              <a:off x="3004380" y="3699082"/>
              <a:ext cx="6840000" cy="266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Approximate Value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3835345"/>
                  </p:ext>
                </p:extLst>
              </p:nvPr>
            </p:nvGraphicFramePr>
            <p:xfrm>
              <a:off x="1480380" y="3699082"/>
              <a:ext cx="6840000" cy="266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20000"/>
                    <a:gridCol w="3420000"/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Approximate Value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78" t="-73585" r="-100000" b="-239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78" t="-124324" r="-100000" b="-7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4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78" t="-313208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1320" y="1330641"/>
            <a:ext cx="5943600" cy="572135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1849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143000" y="383338"/>
            <a:ext cx="99900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the approximate location of each expression from part a on the number line.</a:t>
            </a: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approximate the value of expressions involving irrational numbers, first approximate the value of the irrational number. Then, use that approximation to perform any operations indicated.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6215" y="1875451"/>
            <a:ext cx="5943600" cy="572135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147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37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5348" y="307326"/>
            <a:ext cx="10027328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2.4.6 Guided Practice: </a:t>
            </a:r>
            <a:r>
              <a:rPr lang="en-US" sz="2800" b="1" dirty="0">
                <a:solidFill>
                  <a:srgbClr val="26B6D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Approximating Irrational Numbers and Locating Them on a Number Line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540" y="36636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2060448" y="1451082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Approximate the value of each expression.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-46071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876788"/>
                  </p:ext>
                </p:extLst>
              </p:nvPr>
            </p:nvGraphicFramePr>
            <p:xfrm>
              <a:off x="2633811" y="2015126"/>
              <a:ext cx="7180410" cy="434313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843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960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Approximate Value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750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50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50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50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2∙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50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876788"/>
                  </p:ext>
                </p:extLst>
              </p:nvPr>
            </p:nvGraphicFramePr>
            <p:xfrm>
              <a:off x="1109811" y="2015125"/>
              <a:ext cx="7180410" cy="434313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84328"/>
                    <a:gridCol w="4696082"/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Approximate Value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750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61417" r="-188725" b="-4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750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61417" r="-188725" b="-3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750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61417" r="-188725" b="-2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750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61417" r="-188725" b="-1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750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61417" r="-188725" b="-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288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244600" y="386282"/>
            <a:ext cx="970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the approximate location of each expression from the previous question on the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1280" y="1929402"/>
            <a:ext cx="6949440" cy="54356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027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13413" y="21703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63" y="1305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05863" y="1091736"/>
            <a:ext cx="9977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the process for approximating an irrational number. Include each step in your process.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1610</Words>
  <Application>Microsoft Macintosh PowerPoint</Application>
  <PresentationFormat>Widescreen</PresentationFormat>
  <Paragraphs>313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Arial Black</vt:lpstr>
      <vt:lpstr>Calibri</vt:lpstr>
      <vt:lpstr>Cambria Math</vt:lpstr>
      <vt:lpstr>Century Gothic</vt:lpstr>
      <vt:lpstr>Courier New</vt:lpstr>
      <vt:lpstr>Times New Roman</vt:lpstr>
      <vt:lpstr>Verdana</vt:lpstr>
      <vt:lpstr>Wingdings</vt:lpstr>
      <vt:lpstr>1_Office Theme</vt:lpstr>
      <vt:lpstr>7th Grade Accelerated Math  Unit 2, Lesson 4  Approximating Irrational Numbers  Volume 1, pg. 79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56</cp:revision>
  <dcterms:created xsi:type="dcterms:W3CDTF">2015-03-17T18:51:18Z</dcterms:created>
  <dcterms:modified xsi:type="dcterms:W3CDTF">2023-02-02T15:23:54Z</dcterms:modified>
</cp:coreProperties>
</file>