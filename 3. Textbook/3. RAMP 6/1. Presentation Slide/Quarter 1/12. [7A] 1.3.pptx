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93" r:id="rId12"/>
    <p:sldId id="294" r:id="rId13"/>
    <p:sldId id="296" r:id="rId14"/>
    <p:sldId id="295" r:id="rId15"/>
    <p:sldId id="284" r:id="rId16"/>
    <p:sldId id="285" r:id="rId17"/>
    <p:sldId id="286" r:id="rId18"/>
    <p:sldId id="275" r:id="rId19"/>
    <p:sldId id="276" r:id="rId20"/>
    <p:sldId id="277" r:id="rId21"/>
    <p:sldId id="297" r:id="rId22"/>
    <p:sldId id="298" r:id="rId23"/>
    <p:sldId id="299" r:id="rId24"/>
    <p:sldId id="300" r:id="rId25"/>
    <p:sldId id="272" r:id="rId26"/>
    <p:sldId id="273" r:id="rId27"/>
    <p:sldId id="274" r:id="rId28"/>
    <p:sldId id="290" r:id="rId29"/>
    <p:sldId id="291"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GNqAw0ce6kMhO2MM82zLCkyAo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76"/>
    <p:restoredTop sz="94558"/>
  </p:normalViewPr>
  <p:slideViewPr>
    <p:cSldViewPr snapToGrid="0">
      <p:cViewPr varScale="1">
        <p:scale>
          <a:sx n="121" d="100"/>
          <a:sy n="121" d="100"/>
        </p:scale>
        <p:origin x="704"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7302425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363211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3328792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1856520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extLst>
      <p:ext uri="{BB962C8B-B14F-4D97-AF65-F5344CB8AC3E}">
        <p14:creationId xmlns:p14="http://schemas.microsoft.com/office/powerpoint/2010/main" val="28590745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extLst>
      <p:ext uri="{BB962C8B-B14F-4D97-AF65-F5344CB8AC3E}">
        <p14:creationId xmlns:p14="http://schemas.microsoft.com/office/powerpoint/2010/main" val="245631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extLst>
      <p:ext uri="{BB962C8B-B14F-4D97-AF65-F5344CB8AC3E}">
        <p14:creationId xmlns:p14="http://schemas.microsoft.com/office/powerpoint/2010/main" val="42480297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24401495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32342491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10406953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extLst>
      <p:ext uri="{BB962C8B-B14F-4D97-AF65-F5344CB8AC3E}">
        <p14:creationId xmlns:p14="http://schemas.microsoft.com/office/powerpoint/2010/main" val="19699272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extLst>
      <p:ext uri="{BB962C8B-B14F-4D97-AF65-F5344CB8AC3E}">
        <p14:creationId xmlns:p14="http://schemas.microsoft.com/office/powerpoint/2010/main" val="10190858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extLst>
      <p:ext uri="{BB962C8B-B14F-4D97-AF65-F5344CB8AC3E}">
        <p14:creationId xmlns:p14="http://schemas.microsoft.com/office/powerpoint/2010/main" val="7234231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extLst>
      <p:ext uri="{BB962C8B-B14F-4D97-AF65-F5344CB8AC3E}">
        <p14:creationId xmlns:p14="http://schemas.microsoft.com/office/powerpoint/2010/main" val="23449384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40.png"/></Relationships>
</file>

<file path=ppt/slides/_rels/slide1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50.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1, Lesson 3</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Solving Two Step Equations Using Properties of Equality</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400" b="1" dirty="0">
                <a:solidFill>
                  <a:srgbClr val="417DBF"/>
                </a:solidFill>
                <a:latin typeface="Verdana"/>
                <a:ea typeface="Verdana"/>
                <a:cs typeface="Verdana"/>
                <a:sym typeface="Verdana"/>
              </a:rPr>
              <a:t>Volume 1, pg. 17</a:t>
            </a:r>
            <a:endParaRPr sz="3200" dirty="0"/>
          </a:p>
          <a:p>
            <a:pPr algn="ctr">
              <a:lnSpc>
                <a:spcPct val="100000"/>
              </a:lnSpc>
              <a:buClr>
                <a:srgbClr val="000000"/>
              </a:buClr>
            </a:pPr>
            <a:endParaRPr sz="3200" b="1" dirty="0">
              <a:solidFill>
                <a:srgbClr val="417DBF"/>
              </a:solidFill>
              <a:latin typeface="Verdana"/>
              <a:ea typeface="Verdana"/>
              <a:cs typeface="Verdana"/>
              <a:sym typeface="Verdana"/>
            </a:endParaRPr>
          </a:p>
          <a:p>
            <a:pPr algn="ctr">
              <a:lnSpc>
                <a:spcPct val="75000"/>
              </a:lnSpc>
            </a:pPr>
            <a:endParaRPr sz="28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810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745080"/>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746088" y="1111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897188" y="358738"/>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17</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644488" y="1600200"/>
            <a:ext cx="8903024"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200" dirty="0">
                <a:solidFill>
                  <a:schemeClr val="dk1"/>
                </a:solidFill>
                <a:latin typeface="Verdana"/>
                <a:ea typeface="Verdana"/>
                <a:cs typeface="Verdana"/>
                <a:sym typeface="Verdana"/>
              </a:rPr>
              <a:t>MA.7.AR.2.2</a:t>
            </a:r>
            <a:endParaRPr sz="32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200" dirty="0">
                <a:solidFill>
                  <a:schemeClr val="dk1"/>
                </a:solidFill>
                <a:latin typeface="Verdana"/>
                <a:ea typeface="Verdana"/>
                <a:cs typeface="Verdana"/>
                <a:sym typeface="Verdana"/>
              </a:rPr>
              <a:t>Write and solve two-step equations in one variable within a mathematical context or real-world context, where all terms are rational numbers.</a:t>
            </a:r>
            <a:endParaRPr sz="20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764450" y="385000"/>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589100" y="1423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689100" y="1596390"/>
            <a:ext cx="9401620" cy="4205700"/>
          </a:xfrm>
          <a:prstGeom prst="rect">
            <a:avLst/>
          </a:prstGeom>
          <a:noFill/>
          <a:ln>
            <a:noFill/>
          </a:ln>
        </p:spPr>
        <p:txBody>
          <a:bodyPr spcFirstLastPara="1" wrap="square" lIns="91425" tIns="45700" rIns="91425" bIns="45700" anchor="t" anchorCtr="0">
            <a:noAutofit/>
          </a:bodyPr>
          <a:lstStyle/>
          <a:p>
            <a:r>
              <a:rPr lang="en-US" sz="2400" dirty="0">
                <a:solidFill>
                  <a:schemeClr val="dk1"/>
                </a:solidFill>
                <a:latin typeface="Verdana"/>
                <a:ea typeface="Verdana"/>
                <a:cs typeface="Verdana"/>
                <a:sym typeface="Verdana"/>
              </a:rPr>
              <a:t>MA.K12.MTR.1.1 Actively participate in effortful learning both individually and collectively.</a:t>
            </a:r>
            <a:endParaRPr sz="2400"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MA.K12.MTR.4.1 Engage in discussions that reflect on the mathematical thinking of self and others.</a:t>
            </a:r>
            <a:endParaRPr sz="2400"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MA.K12.MTR.5.1 Use patterns and structure to help understand and connect mathematical concepts.</a:t>
            </a:r>
            <a:endParaRPr sz="2400" dirty="0"/>
          </a:p>
        </p:txBody>
      </p:sp>
      <p:sp>
        <p:nvSpPr>
          <p:cNvPr id="138" name="Google Shape;138;p1"/>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488469"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706307" y="2892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488469" y="1600200"/>
            <a:ext cx="9215062"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200" dirty="0">
                <a:solidFill>
                  <a:schemeClr val="dk1"/>
                </a:solidFill>
                <a:latin typeface="Verdana"/>
                <a:ea typeface="Verdana"/>
                <a:cs typeface="Verdana"/>
                <a:sym typeface="Verdana"/>
              </a:rPr>
              <a:t>I can relate properties of equality to solving two-step equations.</a:t>
            </a:r>
          </a:p>
          <a:p>
            <a:pPr marL="457200" indent="-450850">
              <a:buClr>
                <a:srgbClr val="434343"/>
              </a:buClr>
              <a:buSzPts val="3500"/>
              <a:buFont typeface="Verdana"/>
              <a:buChar char="❏"/>
            </a:pPr>
            <a:r>
              <a:rPr lang="en-US" sz="3200" dirty="0">
                <a:solidFill>
                  <a:schemeClr val="dk1"/>
                </a:solidFill>
                <a:latin typeface="Verdana"/>
                <a:ea typeface="Verdana"/>
                <a:cs typeface="Verdana"/>
                <a:sym typeface="Verdana"/>
              </a:rPr>
              <a:t>I can solve two-step equations in one variable.</a:t>
            </a:r>
          </a:p>
          <a:p>
            <a:pPr marL="457200" indent="-450850">
              <a:buClr>
                <a:srgbClr val="434343"/>
              </a:buClr>
              <a:buSzPts val="3500"/>
              <a:buFont typeface="Verdana"/>
              <a:buChar char="❏"/>
            </a:pPr>
            <a:endParaRPr lang="en-US" sz="3200" dirty="0">
              <a:solidFill>
                <a:schemeClr val="dk1"/>
              </a:solidFill>
              <a:latin typeface="Verdana"/>
              <a:ea typeface="Verdana"/>
              <a:cs typeface="Verdana"/>
              <a:sym typeface="Verdana"/>
            </a:endParaRPr>
          </a:p>
        </p:txBody>
      </p:sp>
      <p:sp>
        <p:nvSpPr>
          <p:cNvPr id="149" name="Google Shape;149;p2"/>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300650" y="-34782"/>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F2A67"/>
                </a:solidFill>
                <a:latin typeface="Verdana"/>
                <a:ea typeface="Verdana"/>
                <a:cs typeface="Verdana"/>
                <a:sym typeface="Verdana"/>
              </a:rPr>
              <a:t>1.3.1 Warm-Up: Notice and Wonder</a:t>
            </a:r>
            <a:endParaRPr sz="1100" dirty="0"/>
          </a:p>
        </p:txBody>
      </p:sp>
      <p:pic>
        <p:nvPicPr>
          <p:cNvPr id="167" name="Google Shape;167;p4"/>
          <p:cNvPicPr preferRelativeResize="0"/>
          <p:nvPr/>
        </p:nvPicPr>
        <p:blipFill rotWithShape="1">
          <a:blip r:embed="rId3">
            <a:alphaModFix/>
          </a:blip>
          <a:srcRect/>
          <a:stretch/>
        </p:blipFill>
        <p:spPr>
          <a:xfrm>
            <a:off x="553350" y="201319"/>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652950" y="1184720"/>
            <a:ext cx="5468450" cy="3477835"/>
          </a:xfrm>
          <a:prstGeom prst="rect">
            <a:avLst/>
          </a:prstGeom>
          <a:noFill/>
          <a:ln>
            <a:noFill/>
          </a:ln>
        </p:spPr>
        <p:txBody>
          <a:bodyPr spcFirstLastPara="1" wrap="square" lIns="91425" tIns="45700" rIns="91425" bIns="45700" anchor="t" anchorCtr="0">
            <a:spAutoFit/>
          </a:bodyPr>
          <a:lstStyle/>
          <a:p>
            <a:pPr lvl="0"/>
            <a:r>
              <a:rPr lang="en-US" sz="2000" dirty="0">
                <a:latin typeface="Verdana"/>
                <a:ea typeface="Verdana"/>
                <a:cs typeface="Verdana"/>
                <a:sym typeface="Verdana"/>
              </a:rPr>
              <a:t>A math teacher and her daughter experimented with a seesaw at her local park. Their goal was to determine how the daughter could play on the seesaw on her own. She placed a crate on the other side of the seesaw and began adding bricks to it one at a time. Each time she added a brick, she tried to seesaw with the crate. A series of screenshots of her experiment are shown.</a:t>
            </a:r>
            <a:endParaRPr sz="1200" dirty="0"/>
          </a:p>
        </p:txBody>
      </p:sp>
      <p:sp>
        <p:nvSpPr>
          <p:cNvPr id="170" name="Google Shape;170;p4"/>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 name="Picture 4" descr="Diagram&#10;&#10;Description automatically generated">
            <a:extLst>
              <a:ext uri="{FF2B5EF4-FFF2-40B4-BE49-F238E27FC236}">
                <a16:creationId xmlns:a16="http://schemas.microsoft.com/office/drawing/2014/main" id="{61AD5A67-A120-6448-8AEF-737D4AD9EB0B}"/>
              </a:ext>
            </a:extLst>
          </p:cNvPr>
          <p:cNvPicPr>
            <a:picLocks noChangeAspect="1"/>
          </p:cNvPicPr>
          <p:nvPr/>
        </p:nvPicPr>
        <p:blipFill>
          <a:blip r:embed="rId4"/>
          <a:stretch>
            <a:fillRect/>
          </a:stretch>
        </p:blipFill>
        <p:spPr>
          <a:xfrm>
            <a:off x="6687466" y="1290918"/>
            <a:ext cx="5019035" cy="4094255"/>
          </a:xfrm>
          <a:prstGeom prst="rect">
            <a:avLst/>
          </a:prstGeom>
        </p:spPr>
      </p:pic>
      <p:sp>
        <p:nvSpPr>
          <p:cNvPr id="9"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8" name="Google Shape;178;p5"/>
          <p:cNvSpPr txBox="1"/>
          <p:nvPr/>
        </p:nvSpPr>
        <p:spPr>
          <a:xfrm>
            <a:off x="1333500" y="337514"/>
            <a:ext cx="9525000" cy="4708941"/>
          </a:xfrm>
          <a:prstGeom prst="rect">
            <a:avLst/>
          </a:prstGeom>
          <a:noFill/>
          <a:ln>
            <a:noFill/>
          </a:ln>
        </p:spPr>
        <p:txBody>
          <a:bodyPr spcFirstLastPara="1" wrap="square" lIns="91425" tIns="45700" rIns="91425" bIns="45700" anchor="t" anchorCtr="0">
            <a:spAutoFit/>
          </a:bodyPr>
          <a:lstStyle/>
          <a:p>
            <a:pPr marL="350838" indent="-350838"/>
            <a:r>
              <a:rPr lang="en-US" sz="2000" dirty="0">
                <a:latin typeface="Verdana"/>
                <a:ea typeface="Verdana"/>
                <a:cs typeface="Verdana"/>
                <a:sym typeface="Verdana"/>
              </a:rPr>
              <a:t>1. Complete the table to indicate one thing you notice and one thing you wonder when looking at this situation.</a:t>
            </a:r>
          </a:p>
          <a:p>
            <a:pPr marL="350838" indent="-350838">
              <a:buAutoNum type="arabicPeriod"/>
            </a:pPr>
            <a:endParaRPr lang="en-US" sz="2000" dirty="0">
              <a:latin typeface="Verdana"/>
              <a:ea typeface="Verdana"/>
              <a:cs typeface="Verdana"/>
              <a:sym typeface="Verdana"/>
            </a:endParaRPr>
          </a:p>
          <a:p>
            <a:pPr marL="350838" indent="-350838">
              <a:buAutoNum type="arabicPeriod"/>
            </a:pPr>
            <a:endParaRPr lang="en-US" sz="2000" dirty="0">
              <a:latin typeface="Verdana"/>
              <a:ea typeface="Verdana"/>
              <a:cs typeface="Verdana"/>
              <a:sym typeface="Verdana"/>
            </a:endParaRPr>
          </a:p>
          <a:p>
            <a:pPr marL="350838" indent="-350838">
              <a:buAutoNum type="arabicPeriod"/>
            </a:pPr>
            <a:endParaRPr lang="en-US" sz="2000" dirty="0">
              <a:latin typeface="Verdana"/>
              <a:ea typeface="Verdana"/>
              <a:cs typeface="Verdana"/>
              <a:sym typeface="Verdana"/>
            </a:endParaRPr>
          </a:p>
          <a:p>
            <a:pPr marL="350838" indent="-350838">
              <a:buAutoNum type="arabicPeriod"/>
            </a:pPr>
            <a:endParaRPr lang="en-US" sz="2000" dirty="0">
              <a:latin typeface="Verdana"/>
              <a:ea typeface="Verdana"/>
              <a:cs typeface="Verdana"/>
              <a:sym typeface="Verdana"/>
            </a:endParaRPr>
          </a:p>
          <a:p>
            <a:pPr marL="350838" indent="-350838">
              <a:buAutoNum type="arabicPeriod"/>
            </a:pPr>
            <a:endParaRPr lang="en-US" sz="2000" dirty="0">
              <a:latin typeface="Verdana"/>
              <a:ea typeface="Verdana"/>
              <a:cs typeface="Verdana"/>
              <a:sym typeface="Verdana"/>
            </a:endParaRPr>
          </a:p>
          <a:p>
            <a:pPr marL="350838" indent="-350838">
              <a:buAutoNum type="arabicPeriod"/>
            </a:pPr>
            <a:endParaRPr lang="en-US" sz="2000" dirty="0">
              <a:latin typeface="Verdana"/>
              <a:ea typeface="Verdana"/>
              <a:cs typeface="Verdana"/>
              <a:sym typeface="Verdana"/>
            </a:endParaRPr>
          </a:p>
          <a:p>
            <a:pPr marL="350838" indent="-350838">
              <a:buAutoNum type="arabicPeriod"/>
            </a:pPr>
            <a:endParaRPr lang="en-US" sz="2000" dirty="0">
              <a:latin typeface="Verdana"/>
              <a:ea typeface="Verdana"/>
              <a:cs typeface="Verdana"/>
              <a:sym typeface="Verdana"/>
            </a:endParaRPr>
          </a:p>
          <a:p>
            <a:pPr marL="350838" indent="-350838">
              <a:buAutoNum type="arabicPeriod"/>
            </a:pPr>
            <a:endParaRPr lang="en-US" sz="2000" dirty="0">
              <a:latin typeface="Verdana"/>
              <a:ea typeface="Verdana"/>
              <a:cs typeface="Verdana"/>
              <a:sym typeface="Verdana"/>
            </a:endParaRPr>
          </a:p>
          <a:p>
            <a:pPr marL="350838" indent="-350838">
              <a:buAutoNum type="arabicPeriod"/>
            </a:pPr>
            <a:endParaRPr lang="en-US" sz="2000" dirty="0">
              <a:latin typeface="Verdana"/>
              <a:ea typeface="Verdana"/>
              <a:cs typeface="Verdana"/>
              <a:sym typeface="Verdana"/>
            </a:endParaRPr>
          </a:p>
          <a:p>
            <a:pPr marL="350838" indent="-350838">
              <a:buAutoNum type="arabicPeriod"/>
            </a:pPr>
            <a:endParaRPr lang="en-US" sz="2000" dirty="0">
              <a:latin typeface="Verdana"/>
              <a:ea typeface="Verdana"/>
              <a:cs typeface="Verdana"/>
              <a:sym typeface="Verdana"/>
            </a:endParaRPr>
          </a:p>
          <a:p>
            <a:pPr marL="350838" indent="-350838">
              <a:buAutoNum type="arabicPeriod"/>
            </a:pPr>
            <a:endParaRPr lang="en-US" sz="2000" dirty="0">
              <a:latin typeface="Verdana"/>
              <a:ea typeface="Verdana"/>
              <a:cs typeface="Verdana"/>
              <a:sym typeface="Verdana"/>
            </a:endParaRPr>
          </a:p>
          <a:p>
            <a:pPr marL="287338" indent="-287338"/>
            <a:r>
              <a:rPr lang="en-US" sz="2000" dirty="0"/>
              <a:t>2. </a:t>
            </a:r>
            <a:r>
              <a:rPr lang="en-US" sz="2000" dirty="0">
                <a:latin typeface="Verdana" panose="020B0604030504040204" pitchFamily="34" charset="0"/>
                <a:ea typeface="Verdana" panose="020B0604030504040204" pitchFamily="34" charset="0"/>
              </a:rPr>
              <a:t>Explain what is happening in this situation using the words “equal,” “greater than,” and/or “less than.” </a:t>
            </a:r>
            <a:endParaRPr sz="2000" dirty="0">
              <a:latin typeface="Verdana" panose="020B0604030504040204" pitchFamily="34" charset="0"/>
              <a:ea typeface="Verdana" panose="020B0604030504040204" pitchFamily="34" charset="0"/>
            </a:endParaRPr>
          </a:p>
        </p:txBody>
      </p:sp>
      <p:sp>
        <p:nvSpPr>
          <p:cNvPr id="179" name="Google Shape;179;p5"/>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2" name="Table 1">
            <a:extLst>
              <a:ext uri="{FF2B5EF4-FFF2-40B4-BE49-F238E27FC236}">
                <a16:creationId xmlns:a16="http://schemas.microsoft.com/office/drawing/2014/main" id="{48A85CD1-E44A-7A42-B050-789002107964}"/>
              </a:ext>
            </a:extLst>
          </p:cNvPr>
          <p:cNvGraphicFramePr>
            <a:graphicFrameLocks noGrp="1"/>
          </p:cNvGraphicFramePr>
          <p:nvPr>
            <p:extLst>
              <p:ext uri="{D42A27DB-BD31-4B8C-83A1-F6EECF244321}">
                <p14:modId xmlns:p14="http://schemas.microsoft.com/office/powerpoint/2010/main" val="1367685990"/>
              </p:ext>
            </p:extLst>
          </p:nvPr>
        </p:nvGraphicFramePr>
        <p:xfrm>
          <a:off x="2380914" y="1232229"/>
          <a:ext cx="7361928" cy="2698115"/>
        </p:xfrm>
        <a:graphic>
          <a:graphicData uri="http://schemas.openxmlformats.org/drawingml/2006/table">
            <a:tbl>
              <a:tblPr firstRow="1" firstCol="1" bandRow="1"/>
              <a:tblGrid>
                <a:gridCol w="3759010">
                  <a:extLst>
                    <a:ext uri="{9D8B030D-6E8A-4147-A177-3AD203B41FA5}">
                      <a16:colId xmlns:a16="http://schemas.microsoft.com/office/drawing/2014/main" val="1510821133"/>
                    </a:ext>
                  </a:extLst>
                </a:gridCol>
                <a:gridCol w="3602918">
                  <a:extLst>
                    <a:ext uri="{9D8B030D-6E8A-4147-A177-3AD203B41FA5}">
                      <a16:colId xmlns:a16="http://schemas.microsoft.com/office/drawing/2014/main" val="524602567"/>
                    </a:ext>
                  </a:extLst>
                </a:gridCol>
              </a:tblGrid>
              <a:tr h="384175">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One thing I notice is…</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One thing I wonder is…</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798058838"/>
                  </a:ext>
                </a:extLst>
              </a:tr>
              <a:tr h="2313940">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8449193"/>
                  </a:ext>
                </a:extLst>
              </a:tr>
            </a:tbl>
          </a:graphicData>
        </a:graphic>
      </p:graphicFrame>
      <p:sp>
        <p:nvSpPr>
          <p:cNvPr id="8"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326050" y="-8226"/>
            <a:ext cx="920225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3BEA6"/>
                </a:solidFill>
                <a:latin typeface="Verdana"/>
                <a:ea typeface="Verdana"/>
                <a:cs typeface="Verdana"/>
                <a:sym typeface="Verdana"/>
              </a:rPr>
              <a:t>1.3.2 Exploration: Properties of Equality</a:t>
            </a:r>
            <a:endParaRPr sz="1100"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76242" y="279720"/>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99" name="Google Shape;199;p7"/>
              <p:cNvSpPr txBox="1"/>
              <p:nvPr/>
            </p:nvSpPr>
            <p:spPr>
              <a:xfrm>
                <a:off x="1326051" y="1117717"/>
                <a:ext cx="9486530" cy="1206957"/>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equation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Times New Roman" panose="02020603050405020304" pitchFamily="18" charset="0"/>
                      </a:rPr>
                      <m:t> </m:t>
                    </m:r>
                    <m:r>
                      <a:rPr lang="en-US" sz="2000" i="1">
                        <a:latin typeface="Cambria Math" panose="02040503050406030204" pitchFamily="18" charset="0"/>
                        <a:ea typeface="Times New Roman" panose="02020603050405020304" pitchFamily="18" charset="0"/>
                        <a:cs typeface="Times New Roman" panose="02020603050405020304" pitchFamily="18"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is used in the table to show different operations. </a:t>
                </a:r>
              </a:p>
              <a:p>
                <a:pPr marL="457200"/>
                <a:r>
                  <a:rPr lang="en-US" sz="1100" dirty="0">
                    <a:latin typeface="Verdana" panose="020B0604030504040204" pitchFamily="34" charset="0"/>
                    <a:ea typeface="Verdana" panose="020B0604030504040204" pitchFamily="34" charset="0"/>
                    <a:cs typeface="Verdana" panose="020B0604030504040204" pitchFamily="34" charset="0"/>
                  </a:rPr>
                  <a:t> </a:t>
                </a:r>
              </a:p>
              <a:p>
                <a:pPr marL="746125" indent="-395288">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table.</a:t>
                </a:r>
              </a:p>
            </p:txBody>
          </p:sp>
        </mc:Choice>
        <mc:Fallback xmlns="">
          <p:sp>
            <p:nvSpPr>
              <p:cNvPr id="199" name="Google Shape;199;p7"/>
              <p:cNvSpPr txBox="1">
                <a:spLocks noRot="1" noChangeAspect="1" noMove="1" noResize="1" noEditPoints="1" noAdjustHandles="1" noChangeArrowheads="1" noChangeShapeType="1" noTextEdit="1"/>
              </p:cNvSpPr>
              <p:nvPr/>
            </p:nvSpPr>
            <p:spPr>
              <a:xfrm>
                <a:off x="1326051" y="1117717"/>
                <a:ext cx="9486530" cy="1206957"/>
              </a:xfrm>
              <a:prstGeom prst="rect">
                <a:avLst/>
              </a:prstGeom>
              <a:blipFill rotWithShape="0">
                <a:blip r:embed="rId4"/>
                <a:stretch>
                  <a:fillRect l="-707" t="-31818" b="-7071"/>
                </a:stretch>
              </a:blipFill>
              <a:ln>
                <a:noFill/>
              </a:ln>
            </p:spPr>
            <p:txBody>
              <a:bodyPr/>
              <a:lstStyle/>
              <a:p>
                <a:r>
                  <a:rPr lang="en-US">
                    <a:noFill/>
                  </a:rPr>
                  <a:t> </a:t>
                </a:r>
              </a:p>
            </p:txBody>
          </p:sp>
        </mc:Fallback>
      </mc:AlternateContent>
      <p:sp>
        <p:nvSpPr>
          <p:cNvPr id="200" name="Google Shape;200;p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58E2521C-64EA-0143-9CA4-44DECF08ED05}"/>
              </a:ext>
            </a:extLst>
          </p:cNvPr>
          <p:cNvPicPr>
            <a:picLocks noChangeAspect="1"/>
          </p:cNvPicPr>
          <p:nvPr/>
        </p:nvPicPr>
        <p:blipFill>
          <a:blip r:embed="rId5"/>
          <a:stretch>
            <a:fillRect/>
          </a:stretch>
        </p:blipFill>
        <p:spPr>
          <a:xfrm>
            <a:off x="3148406" y="2278651"/>
            <a:ext cx="5142155" cy="4534130"/>
          </a:xfrm>
          <a:prstGeom prst="rect">
            <a:avLst/>
          </a:prstGeom>
        </p:spPr>
      </p:pic>
      <p:sp>
        <p:nvSpPr>
          <p:cNvPr id="9"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19</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193800" y="356877"/>
                <a:ext cx="9933552" cy="4220217"/>
              </a:xfrm>
              <a:prstGeom prst="rect">
                <a:avLst/>
              </a:prstGeom>
              <a:noFill/>
              <a:ln>
                <a:noFill/>
              </a:ln>
            </p:spPr>
            <p:txBody>
              <a:bodyPr spcFirstLastPara="1" wrap="square" lIns="91425" tIns="45700" rIns="91425" bIns="45700" anchor="t" anchorCtr="0">
                <a:spAutoFit/>
              </a:bodyPr>
              <a:lstStyle/>
              <a:p>
                <a:pPr marL="350838"/>
                <a:r>
                  <a:rPr lang="en-US" sz="2000" dirty="0">
                    <a:latin typeface="Verdana" panose="020B0604030504040204" pitchFamily="34" charset="0"/>
                    <a:ea typeface="Verdana" panose="020B0604030504040204" pitchFamily="34" charset="0"/>
                    <a:cs typeface="Verdana" panose="020B0604030504040204" pitchFamily="34" charset="0"/>
                  </a:rPr>
                  <a:t>b. What do you notice about each of the resulting equations?</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692150" indent="-341313"/>
                <a:r>
                  <a:rPr lang="en-US" sz="2000" dirty="0">
                    <a:latin typeface="Verdana" panose="020B0604030504040204" pitchFamily="34" charset="0"/>
                    <a:ea typeface="Verdana" panose="020B0604030504040204" pitchFamily="34" charset="0"/>
                    <a:cs typeface="Verdana" panose="020B0604030504040204" pitchFamily="34" charset="0"/>
                  </a:rPr>
                  <a:t>c. With your partner, compare the results of multiplying each term in the original equation, </a:t>
                </a:r>
                <a14:m>
                  <m:oMath xmlns:m="http://schemas.openxmlformats.org/officeDocument/2006/math">
                    <m:sPre>
                      <m:sPre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latin typeface="Cambria Math" panose="02040503050406030204" pitchFamily="18" charset="0"/>
                            <a:ea typeface="Times New Roman" panose="02020603050405020304" pitchFamily="18" charset="0"/>
                            <a:cs typeface="Times New Roman" panose="02020603050405020304" pitchFamily="18" charset="0"/>
                          </a:rPr>
                          <m:t>6</m:t>
                        </m:r>
                      </m:e>
                    </m:sPre>
                    <m:r>
                      <a:rPr lang="en-US" sz="2000" i="1">
                        <a:latin typeface="Cambria Math" panose="02040503050406030204" pitchFamily="18" charset="0"/>
                        <a:ea typeface="Times New Roman" panose="02020603050405020304" pitchFamily="18" charset="0"/>
                        <a:cs typeface="Times New Roman" panose="02020603050405020304" pitchFamily="18" charset="0"/>
                      </a:rPr>
                      <m:t>+10=4</m:t>
                    </m:r>
                  </m:oMath>
                </a14:m>
                <a:r>
                  <a:rPr lang="en-US" sz="2000" dirty="0">
                    <a:latin typeface="Verdana" panose="020B0604030504040204" pitchFamily="34" charset="0"/>
                    <a:ea typeface="Verdana" panose="020B0604030504040204" pitchFamily="34" charset="0"/>
                    <a:cs typeface="Verdana" panose="020B0604030504040204" pitchFamily="34" charset="0"/>
                  </a:rPr>
                  <a:t>, by </a:t>
                </a:r>
                <a14:m>
                  <m:oMath xmlns:m="http://schemas.openxmlformats.org/officeDocument/2006/math">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and dividing each term by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Summarize your observations.</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193800" y="356877"/>
                <a:ext cx="9933552" cy="4220217"/>
              </a:xfrm>
              <a:prstGeom prst="rect">
                <a:avLst/>
              </a:prstGeom>
              <a:blipFill rotWithShape="0">
                <a:blip r:embed="rId3"/>
                <a:stretch>
                  <a:fillRect t="-867" r="-982"/>
                </a:stretch>
              </a:blipFill>
              <a:ln>
                <a:noFill/>
              </a:ln>
            </p:spPr>
            <p:txBody>
              <a:bodyPr/>
              <a:lstStyle/>
              <a:p>
                <a:r>
                  <a:rPr lang="en-US">
                    <a:noFill/>
                  </a:rPr>
                  <a:t> </a:t>
                </a:r>
              </a:p>
            </p:txBody>
          </p:sp>
        </mc:Fallback>
      </mc:AlternateContent>
      <p:sp>
        <p:nvSpPr>
          <p:cNvPr id="209" name="Google Shape;209;p8"/>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19</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2007765" y="410665"/>
                <a:ext cx="8327136" cy="4654824"/>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2. Complete the statement.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a:r>
                  <a:rPr lang="en-US" sz="2000" dirty="0">
                    <a:latin typeface="Verdana" panose="020B0604030504040204" pitchFamily="34" charset="0"/>
                    <a:ea typeface="Verdana" panose="020B0604030504040204" pitchFamily="34" charset="0"/>
                    <a:cs typeface="Verdana" panose="020B0604030504040204" pitchFamily="34" charset="0"/>
                  </a:rPr>
                  <a:t>Dividing by 4 is the same as multiplying by             .</a:t>
                </a:r>
              </a:p>
              <a:p>
                <a:pPr marL="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3. </a:t>
                </a:r>
                <a:r>
                  <a:rPr lang="en-US" sz="2000" dirty="0">
                    <a:latin typeface="Verdana" panose="020B0604030504040204" pitchFamily="34" charset="0"/>
                    <a:ea typeface="Times New Roman" panose="02020603050405020304" pitchFamily="18" charset="0"/>
                    <a:cs typeface="Times New Roman" panose="02020603050405020304" pitchFamily="18" charset="0"/>
                  </a:rPr>
                  <a:t>Use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+8=13.5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to complete the following.</a:t>
                </a:r>
                <a:endParaRPr lang="en-US" dirty="0">
                  <a:latin typeface="Cambria" panose="02040503050406030204" pitchFamily="18"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marL="746125" indent="-395288">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with your partner why the equation could also be written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13.5=5</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Summarize your discussion. $</a:t>
                </a:r>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marL="9525"/>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2007765" y="410665"/>
                <a:ext cx="8327136" cy="4654824"/>
              </a:xfrm>
              <a:prstGeom prst="rect">
                <a:avLst/>
              </a:prstGeom>
              <a:blipFill rotWithShape="0">
                <a:blip r:embed="rId3"/>
                <a:stretch>
                  <a:fillRect l="-732" t="-654" r="-1025"/>
                </a:stretch>
              </a:blipFill>
              <a:ln>
                <a:noFill/>
              </a:ln>
            </p:spPr>
            <p:txBody>
              <a:bodyPr/>
              <a:lstStyle/>
              <a:p>
                <a:r>
                  <a:rPr lang="en-US">
                    <a:noFill/>
                  </a:rPr>
                  <a:t> </a:t>
                </a:r>
              </a:p>
            </p:txBody>
          </p:sp>
        </mc:Fallback>
      </mc:AlternateContent>
      <p:sp>
        <p:nvSpPr>
          <p:cNvPr id="209" name="Google Shape;209;p8"/>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6" name="Picture 5" descr="Shape, rectangle, square&#10;&#10;Description automatically generated">
            <a:extLst>
              <a:ext uri="{FF2B5EF4-FFF2-40B4-BE49-F238E27FC236}">
                <a16:creationId xmlns:a16="http://schemas.microsoft.com/office/drawing/2014/main" id="{86752D79-DF8C-7E4E-AE25-FF6FB9C5174D}"/>
              </a:ext>
            </a:extLst>
          </p:cNvPr>
          <p:cNvPicPr>
            <a:picLocks noChangeAspect="1"/>
          </p:cNvPicPr>
          <p:nvPr/>
        </p:nvPicPr>
        <p:blipFill>
          <a:blip r:embed="rId4"/>
          <a:stretch>
            <a:fillRect/>
          </a:stretch>
        </p:blipFill>
        <p:spPr>
          <a:xfrm>
            <a:off x="8103145" y="410666"/>
            <a:ext cx="1057210" cy="1382505"/>
          </a:xfrm>
          <a:prstGeom prst="rect">
            <a:avLst/>
          </a:prstGeom>
        </p:spPr>
      </p:pic>
      <p:sp>
        <p:nvSpPr>
          <p:cNvPr id="7"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086342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028700" y="342982"/>
                <a:ext cx="3987800" cy="1142452"/>
              </a:xfrm>
              <a:prstGeom prst="rect">
                <a:avLst/>
              </a:prstGeom>
              <a:noFill/>
              <a:ln>
                <a:noFill/>
              </a:ln>
            </p:spPr>
            <p:txBody>
              <a:bodyPr spcFirstLastPara="1" wrap="square" lIns="91425" tIns="45700" rIns="91425" bIns="45700" anchor="t" anchorCtr="0">
                <a:spAutoFit/>
              </a:bodyPr>
              <a:lstStyle/>
              <a:p>
                <a:pPr marL="350838" indent="-350838"/>
                <a:r>
                  <a:rPr lang="en-US" sz="2000" dirty="0">
                    <a:latin typeface="Verdana" panose="020B0604030504040204" pitchFamily="34" charset="0"/>
                    <a:ea typeface="Times New Roman" panose="02020603050405020304" pitchFamily="18" charset="0"/>
                    <a:cs typeface="Times New Roman" panose="02020603050405020304" pitchFamily="18" charset="0"/>
                  </a:rPr>
                  <a:t>b. Work with your partner to complete the table for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+8=13.5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028700" y="342982"/>
                <a:ext cx="3987800" cy="1142452"/>
              </a:xfrm>
              <a:prstGeom prst="rect">
                <a:avLst/>
              </a:prstGeom>
              <a:blipFill rotWithShape="0">
                <a:blip r:embed="rId3"/>
                <a:stretch>
                  <a:fillRect l="-1682" t="-2660" r="-612" b="-2128"/>
                </a:stretch>
              </a:blipFill>
              <a:ln>
                <a:noFill/>
              </a:ln>
            </p:spPr>
            <p:txBody>
              <a:bodyPr/>
              <a:lstStyle/>
              <a:p>
                <a:r>
                  <a:rPr lang="en-US">
                    <a:noFill/>
                  </a:rPr>
                  <a:t> </a:t>
                </a:r>
              </a:p>
            </p:txBody>
          </p:sp>
        </mc:Fallback>
      </mc:AlternateContent>
      <p:sp>
        <p:nvSpPr>
          <p:cNvPr id="209" name="Google Shape;209;p8"/>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6E24BCDF-C9CC-1D49-97E7-3C69301D4A85}"/>
              </a:ext>
            </a:extLst>
          </p:cNvPr>
          <p:cNvPicPr>
            <a:picLocks noChangeAspect="1"/>
          </p:cNvPicPr>
          <p:nvPr/>
        </p:nvPicPr>
        <p:blipFill>
          <a:blip r:embed="rId4"/>
          <a:stretch>
            <a:fillRect/>
          </a:stretch>
        </p:blipFill>
        <p:spPr>
          <a:xfrm>
            <a:off x="5573400" y="396257"/>
            <a:ext cx="5567219" cy="5804342"/>
          </a:xfrm>
          <a:prstGeom prst="rect">
            <a:avLst/>
          </a:prstGeom>
        </p:spPr>
      </p:pic>
      <p:sp>
        <p:nvSpPr>
          <p:cNvPr id="7"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882733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244600" y="292330"/>
            <a:ext cx="9702800" cy="4093388"/>
          </a:xfrm>
          <a:prstGeom prst="rect">
            <a:avLst/>
          </a:prstGeom>
          <a:noFill/>
          <a:ln>
            <a:noFill/>
          </a:ln>
        </p:spPr>
        <p:txBody>
          <a:bodyPr spcFirstLastPara="1" wrap="square" lIns="91425" tIns="45700" rIns="91425" bIns="45700" anchor="t" anchorCtr="0">
            <a:spAutoFit/>
          </a:bodyPr>
          <a:lstStyle/>
          <a:p>
            <a:pPr marL="350838" indent="-350838"/>
            <a:r>
              <a:rPr lang="en-US" sz="2000" dirty="0">
                <a:latin typeface="Verdana" panose="020B0604030504040204" pitchFamily="34" charset="0"/>
                <a:ea typeface="Times New Roman" panose="02020603050405020304" pitchFamily="18" charset="0"/>
                <a:cs typeface="Times New Roman" panose="02020603050405020304" pitchFamily="18" charset="0"/>
              </a:rPr>
              <a:t>c.	</a:t>
            </a:r>
            <a:r>
              <a:rPr lang="en-US" sz="2000" dirty="0" err="1">
                <a:latin typeface="Verdana" panose="020B0604030504040204" pitchFamily="34" charset="0"/>
                <a:ea typeface="Times New Roman" panose="02020603050405020304" pitchFamily="18" charset="0"/>
                <a:cs typeface="Times New Roman" panose="02020603050405020304" pitchFamily="18" charset="0"/>
              </a:rPr>
              <a:t>Prisha</a:t>
            </a:r>
            <a:r>
              <a:rPr lang="en-US" sz="2000" dirty="0">
                <a:latin typeface="Verdana" panose="020B0604030504040204" pitchFamily="34" charset="0"/>
                <a:ea typeface="Times New Roman" panose="02020603050405020304" pitchFamily="18" charset="0"/>
                <a:cs typeface="Times New Roman" panose="02020603050405020304" pitchFamily="18" charset="0"/>
              </a:rPr>
              <a:t> said it is not possible to complete the last row of the table. Explain why </a:t>
            </a:r>
            <a:r>
              <a:rPr lang="en-US" sz="2000" dirty="0" err="1">
                <a:latin typeface="Verdana" panose="020B0604030504040204" pitchFamily="34" charset="0"/>
                <a:ea typeface="Times New Roman" panose="02020603050405020304" pitchFamily="18" charset="0"/>
                <a:cs typeface="Times New Roman" panose="02020603050405020304" pitchFamily="18" charset="0"/>
              </a:rPr>
              <a:t>Prisha</a:t>
            </a:r>
            <a:r>
              <a:rPr lang="en-US" sz="2000" dirty="0">
                <a:latin typeface="Verdana" panose="020B0604030504040204" pitchFamily="34" charset="0"/>
                <a:ea typeface="Times New Roman" panose="02020603050405020304" pitchFamily="18" charset="0"/>
                <a:cs typeface="Times New Roman" panose="02020603050405020304" pitchFamily="18" charset="0"/>
              </a:rPr>
              <a:t> said it is not possible.</a:t>
            </a:r>
          </a:p>
          <a:p>
            <a:pPr marL="350838" indent="-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indent="-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indent="-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indent="-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indent="-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indent="-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indent="-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indent="-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indent="-350838"/>
            <a:r>
              <a:rPr lang="en-US" sz="2000" dirty="0">
                <a:latin typeface="Verdana" panose="020B0604030504040204" pitchFamily="34" charset="0"/>
                <a:ea typeface="Times New Roman" panose="02020603050405020304" pitchFamily="18" charset="0"/>
                <a:cs typeface="Times New Roman" panose="02020603050405020304" pitchFamily="18" charset="0"/>
              </a:rPr>
              <a:t>d.	What do you notice about the resulting equations in the first three rows of the table?</a:t>
            </a:r>
          </a:p>
          <a:p>
            <a:pPr marL="350838" indent="-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sp>
        <p:nvSpPr>
          <p:cNvPr id="209" name="Google Shape;209;p8"/>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99036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932432" y="281573"/>
            <a:ext cx="8016318" cy="6247824"/>
          </a:xfrm>
          <a:prstGeom prst="rect">
            <a:avLst/>
          </a:prstGeom>
          <a:noFill/>
          <a:ln>
            <a:noFill/>
          </a:ln>
        </p:spPr>
        <p:txBody>
          <a:bodyPr spcFirstLastPara="1" wrap="square" lIns="91425" tIns="45700" rIns="91425" bIns="45700" anchor="t" anchorCtr="0">
            <a:spAutoFit/>
          </a:bodyPr>
          <a:lstStyle/>
          <a:p>
            <a:pPr marL="350838" indent="-350838"/>
            <a:r>
              <a:rPr lang="en-US" sz="2000" dirty="0">
                <a:latin typeface="Verdana" panose="020B0604030504040204" pitchFamily="34" charset="0"/>
                <a:ea typeface="Times New Roman" panose="02020603050405020304" pitchFamily="18" charset="0"/>
                <a:cs typeface="Times New Roman" panose="02020603050405020304" pitchFamily="18" charset="0"/>
              </a:rPr>
              <a:t>4. Complete the statements. </a:t>
            </a:r>
          </a:p>
          <a:p>
            <a:pPr marL="350838" indent="-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a:r>
              <a:rPr lang="en-US" sz="2000" dirty="0">
                <a:latin typeface="Verdana" panose="020B0604030504040204" pitchFamily="34" charset="0"/>
                <a:ea typeface="Times New Roman" panose="02020603050405020304" pitchFamily="18" charset="0"/>
                <a:cs typeface="Times New Roman" panose="02020603050405020304" pitchFamily="18" charset="0"/>
              </a:rPr>
              <a:t>An equation compares two equivalent expressions using </a:t>
            </a:r>
          </a:p>
          <a:p>
            <a:pPr marL="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a:r>
              <a:rPr lang="en-US" sz="2000" dirty="0">
                <a:latin typeface="Verdana" panose="020B0604030504040204" pitchFamily="34" charset="0"/>
                <a:ea typeface="Times New Roman" panose="02020603050405020304" pitchFamily="18" charset="0"/>
                <a:cs typeface="Times New Roman" panose="02020603050405020304" pitchFamily="18" charset="0"/>
              </a:rPr>
              <a:t>the mathematical symbol = to show the values of both</a:t>
            </a:r>
          </a:p>
          <a:p>
            <a:pPr marL="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a:r>
              <a:rPr lang="en-US" sz="2000" dirty="0">
                <a:latin typeface="Verdana" panose="020B0604030504040204" pitchFamily="34" charset="0"/>
                <a:ea typeface="Times New Roman" panose="02020603050405020304" pitchFamily="18" charset="0"/>
                <a:cs typeface="Times New Roman" panose="02020603050405020304" pitchFamily="18" charset="0"/>
              </a:rPr>
              <a:t>quantities are                      When the same operation </a:t>
            </a:r>
          </a:p>
          <a:p>
            <a:pPr marL="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a:r>
              <a:rPr lang="en-US" sz="2000" dirty="0">
                <a:latin typeface="Verdana" panose="020B0604030504040204" pitchFamily="34" charset="0"/>
                <a:ea typeface="Times New Roman" panose="02020603050405020304" pitchFamily="18" charset="0"/>
                <a:cs typeface="Times New Roman" panose="02020603050405020304" pitchFamily="18" charset="0"/>
              </a:rPr>
              <a:t>is performed on both sides of an equation, the </a:t>
            </a:r>
          </a:p>
          <a:p>
            <a:pPr marL="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a:r>
              <a:rPr lang="en-US" sz="2000" dirty="0">
                <a:latin typeface="Verdana" panose="020B0604030504040204" pitchFamily="34" charset="0"/>
                <a:ea typeface="Times New Roman" panose="02020603050405020304" pitchFamily="18" charset="0"/>
                <a:cs typeface="Times New Roman" panose="02020603050405020304" pitchFamily="18" charset="0"/>
              </a:rPr>
              <a:t>quantities                             equivalent. When the </a:t>
            </a:r>
          </a:p>
          <a:p>
            <a:pPr marL="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a:r>
              <a:rPr lang="en-US" sz="2000" dirty="0">
                <a:latin typeface="Verdana" panose="020B0604030504040204" pitchFamily="34" charset="0"/>
                <a:ea typeface="Times New Roman" panose="02020603050405020304" pitchFamily="18" charset="0"/>
                <a:cs typeface="Times New Roman" panose="02020603050405020304" pitchFamily="18" charset="0"/>
              </a:rPr>
              <a:t>operations performed  on both sides of an equation are </a:t>
            </a:r>
          </a:p>
          <a:p>
            <a:pPr marL="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a:r>
              <a:rPr lang="en-US" sz="2000" dirty="0">
                <a:latin typeface="Verdana" panose="020B0604030504040204" pitchFamily="34" charset="0"/>
                <a:ea typeface="Times New Roman" panose="02020603050405020304" pitchFamily="18" charset="0"/>
                <a:cs typeface="Times New Roman" panose="02020603050405020304" pitchFamily="18" charset="0"/>
              </a:rPr>
              <a:t>not the same, the resulting equation is                      </a:t>
            </a:r>
          </a:p>
          <a:p>
            <a:pPr marL="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a:r>
              <a:rPr lang="en-US" sz="2000" dirty="0">
                <a:latin typeface="Verdana" panose="020B0604030504040204" pitchFamily="34" charset="0"/>
                <a:ea typeface="Times New Roman" panose="02020603050405020304" pitchFamily="18" charset="0"/>
                <a:cs typeface="Times New Roman" panose="02020603050405020304" pitchFamily="18" charset="0"/>
              </a:rPr>
              <a:t>true because the  quantities being compared are                     </a:t>
            </a:r>
          </a:p>
          <a:p>
            <a:pPr marL="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50838"/>
            <a:r>
              <a:rPr lang="en-US" sz="2000" dirty="0">
                <a:latin typeface="Verdana" panose="020B0604030504040204" pitchFamily="34" charset="0"/>
                <a:ea typeface="Times New Roman" panose="02020603050405020304" pitchFamily="18" charset="0"/>
                <a:cs typeface="Times New Roman" panose="02020603050405020304" pitchFamily="18" charset="0"/>
              </a:rPr>
              <a:t>		      equivalent.</a:t>
            </a:r>
          </a:p>
          <a:p>
            <a:pPr marL="350838" indent="-350838"/>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sp>
        <p:nvSpPr>
          <p:cNvPr id="209" name="Google Shape;209;p8"/>
          <p:cNvSpPr/>
          <p:nvPr/>
        </p:nvSpPr>
        <p:spPr>
          <a:xfrm>
            <a:off x="-61169"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 name="Picture 3" descr="A picture containing shape&#10;&#10;Description automatically generated">
            <a:extLst>
              <a:ext uri="{FF2B5EF4-FFF2-40B4-BE49-F238E27FC236}">
                <a16:creationId xmlns:a16="http://schemas.microsoft.com/office/drawing/2014/main" id="{27D6ABD9-416A-A34A-A9CF-F83677ECDAA1}"/>
              </a:ext>
            </a:extLst>
          </p:cNvPr>
          <p:cNvPicPr>
            <a:picLocks noChangeAspect="1"/>
          </p:cNvPicPr>
          <p:nvPr/>
        </p:nvPicPr>
        <p:blipFill rotWithShape="1">
          <a:blip r:embed="rId3"/>
          <a:srcRect t="1" b="2985"/>
          <a:stretch/>
        </p:blipFill>
        <p:spPr>
          <a:xfrm>
            <a:off x="4159728" y="1894840"/>
            <a:ext cx="1829425" cy="894080"/>
          </a:xfrm>
          <a:prstGeom prst="rect">
            <a:avLst/>
          </a:prstGeom>
        </p:spPr>
      </p:pic>
      <p:pic>
        <p:nvPicPr>
          <p:cNvPr id="6" name="Picture 5" descr="A picture containing text&#10;&#10;Description automatically generated">
            <a:extLst>
              <a:ext uri="{FF2B5EF4-FFF2-40B4-BE49-F238E27FC236}">
                <a16:creationId xmlns:a16="http://schemas.microsoft.com/office/drawing/2014/main" id="{F6D4A3B9-2D9C-E341-A3BA-D13D6EA08E59}"/>
              </a:ext>
            </a:extLst>
          </p:cNvPr>
          <p:cNvPicPr>
            <a:picLocks noChangeAspect="1"/>
          </p:cNvPicPr>
          <p:nvPr/>
        </p:nvPicPr>
        <p:blipFill>
          <a:blip r:embed="rId4"/>
          <a:stretch>
            <a:fillRect/>
          </a:stretch>
        </p:blipFill>
        <p:spPr>
          <a:xfrm>
            <a:off x="3739164" y="3112596"/>
            <a:ext cx="2356837" cy="926387"/>
          </a:xfrm>
          <a:prstGeom prst="rect">
            <a:avLst/>
          </a:prstGeom>
        </p:spPr>
      </p:pic>
      <p:pic>
        <p:nvPicPr>
          <p:cNvPr id="8" name="Picture 7" descr="A picture containing text&#10;&#10;Description automatically generated">
            <a:extLst>
              <a:ext uri="{FF2B5EF4-FFF2-40B4-BE49-F238E27FC236}">
                <a16:creationId xmlns:a16="http://schemas.microsoft.com/office/drawing/2014/main" id="{FAF50340-CA02-9242-91AC-B1A6D4A6BF84}"/>
              </a:ext>
            </a:extLst>
          </p:cNvPr>
          <p:cNvPicPr>
            <a:picLocks noChangeAspect="1"/>
          </p:cNvPicPr>
          <p:nvPr/>
        </p:nvPicPr>
        <p:blipFill>
          <a:blip r:embed="rId5"/>
          <a:stretch>
            <a:fillRect/>
          </a:stretch>
        </p:blipFill>
        <p:spPr>
          <a:xfrm>
            <a:off x="7417684" y="4373088"/>
            <a:ext cx="1867287" cy="891205"/>
          </a:xfrm>
          <a:prstGeom prst="rect">
            <a:avLst/>
          </a:prstGeom>
        </p:spPr>
      </p:pic>
      <p:pic>
        <p:nvPicPr>
          <p:cNvPr id="13" name="Picture 12" descr="A picture containing text&#10;&#10;Description automatically generated">
            <a:extLst>
              <a:ext uri="{FF2B5EF4-FFF2-40B4-BE49-F238E27FC236}">
                <a16:creationId xmlns:a16="http://schemas.microsoft.com/office/drawing/2014/main" id="{648973BD-ED82-2641-80E3-6F281AB4857E}"/>
              </a:ext>
            </a:extLst>
          </p:cNvPr>
          <p:cNvPicPr>
            <a:picLocks noChangeAspect="1"/>
          </p:cNvPicPr>
          <p:nvPr/>
        </p:nvPicPr>
        <p:blipFill>
          <a:blip r:embed="rId5"/>
          <a:stretch>
            <a:fillRect/>
          </a:stretch>
        </p:blipFill>
        <p:spPr>
          <a:xfrm>
            <a:off x="2421921" y="5566471"/>
            <a:ext cx="1867287" cy="891205"/>
          </a:xfrm>
          <a:prstGeom prst="rect">
            <a:avLst/>
          </a:prstGeom>
        </p:spPr>
      </p:pic>
      <p:sp>
        <p:nvSpPr>
          <p:cNvPr id="10"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20</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98762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7"/>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97" name="Google Shape;397;p27"/>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26B7D4"/>
                </a:solidFill>
                <a:latin typeface="Verdana"/>
                <a:ea typeface="Verdana"/>
                <a:cs typeface="Verdana"/>
                <a:sym typeface="Verdana"/>
              </a:rPr>
              <a:t>Bring It Together</a:t>
            </a:r>
            <a:endParaRPr sz="5100" b="1">
              <a:solidFill>
                <a:srgbClr val="26B7D4"/>
              </a:solidFill>
              <a:latin typeface="Verdana"/>
              <a:ea typeface="Verdana"/>
              <a:cs typeface="Verdana"/>
              <a:sym typeface="Verdana"/>
            </a:endParaRPr>
          </a:p>
        </p:txBody>
      </p:sp>
      <p:pic>
        <p:nvPicPr>
          <p:cNvPr id="399" name="Google Shape;399;p27" descr="Icon&#10;&#10;Description automatically generated"/>
          <p:cNvPicPr preferRelativeResize="0"/>
          <p:nvPr/>
        </p:nvPicPr>
        <p:blipFill rotWithShape="1">
          <a:blip r:embed="rId3">
            <a:alphaModFix/>
          </a:blip>
          <a:srcRect/>
          <a:stretch/>
        </p:blipFill>
        <p:spPr>
          <a:xfrm>
            <a:off x="4705255"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6" name="Google Shape;406;p28"/>
          <p:cNvSpPr txBox="1"/>
          <p:nvPr/>
        </p:nvSpPr>
        <p:spPr>
          <a:xfrm>
            <a:off x="1414950" y="-74722"/>
            <a:ext cx="951975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54B5D1"/>
                </a:solidFill>
                <a:latin typeface="Verdana"/>
                <a:ea typeface="Verdana"/>
                <a:cs typeface="Verdana"/>
                <a:sym typeface="Verdana"/>
              </a:rPr>
              <a:t>1.3.3 Bring It Together: Properties of Equality</a:t>
            </a:r>
            <a:endParaRPr sz="1000" dirty="0"/>
          </a:p>
        </p:txBody>
      </p:sp>
      <p:sp>
        <p:nvSpPr>
          <p:cNvPr id="408" name="Google Shape;408;p28"/>
          <p:cNvSpPr txBox="1"/>
          <p:nvPr/>
        </p:nvSpPr>
        <p:spPr>
          <a:xfrm>
            <a:off x="787400" y="908072"/>
            <a:ext cx="10299700" cy="1323399"/>
          </a:xfrm>
          <a:prstGeom prst="rect">
            <a:avLst/>
          </a:prstGeom>
          <a:noFill/>
          <a:ln>
            <a:noFill/>
          </a:ln>
        </p:spPr>
        <p:txBody>
          <a:bodyPr spcFirstLastPara="1" wrap="square" lIns="91425" tIns="45700" rIns="91425" bIns="45700" anchor="t" anchorCtr="0">
            <a:spAutoFit/>
          </a:bodyPr>
          <a:lstStyle/>
          <a:p>
            <a:pPr lvl="0"/>
            <a:r>
              <a:rPr lang="en-US" sz="2000" dirty="0">
                <a:latin typeface="Verdana"/>
                <a:ea typeface="Verdana"/>
                <a:cs typeface="Verdana"/>
                <a:sym typeface="Verdana"/>
              </a:rPr>
              <a:t>Properties of equality can be used to solve equations.</a:t>
            </a:r>
          </a:p>
          <a:p>
            <a:pPr lvl="0"/>
            <a:endParaRPr lang="en-US" sz="2000" dirty="0">
              <a:latin typeface="Verdana"/>
              <a:ea typeface="Verdana"/>
              <a:cs typeface="Verdana"/>
              <a:sym typeface="Verdana"/>
            </a:endParaRPr>
          </a:p>
          <a:p>
            <a:pPr marL="350838" indent="-350838"/>
            <a:r>
              <a:rPr lang="en-US" sz="2000" dirty="0">
                <a:latin typeface="Verdana"/>
                <a:ea typeface="Verdana"/>
                <a:cs typeface="Verdana"/>
                <a:sym typeface="Verdana"/>
              </a:rPr>
              <a:t>1. Complete the table with a numeric example of each property of equality.</a:t>
            </a:r>
          </a:p>
          <a:p>
            <a:pPr lvl="0"/>
            <a:endParaRPr lang="en-US" sz="2000" dirty="0">
              <a:latin typeface="Verdana"/>
              <a:ea typeface="Verdana"/>
              <a:cs typeface="Verdana"/>
              <a:sym typeface="Verdana"/>
            </a:endParaRPr>
          </a:p>
        </p:txBody>
      </p:sp>
      <p:sp>
        <p:nvSpPr>
          <p:cNvPr id="409" name="Google Shape;409;p28"/>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10" name="Google Shape;410;p28"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65142" y="143303"/>
            <a:ext cx="749808" cy="749808"/>
          </a:xfrm>
          <a:prstGeom prst="rect">
            <a:avLst/>
          </a:prstGeom>
          <a:noFill/>
          <a:ln>
            <a:noFill/>
          </a:ln>
          <a:effectLst>
            <a:outerShdw blurRad="50800" dist="38100" dir="2700000" algn="tl" rotWithShape="0">
              <a:srgbClr val="000000">
                <a:alpha val="40000"/>
              </a:srgbClr>
            </a:outerShdw>
          </a:effectLst>
        </p:spPr>
      </p:pic>
      <p:sp>
        <p:nvSpPr>
          <p:cNvPr id="9"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21</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pic>
        <p:nvPicPr>
          <p:cNvPr id="2" name="Picture 1">
            <a:extLst>
              <a:ext uri="{FF2B5EF4-FFF2-40B4-BE49-F238E27FC236}">
                <a16:creationId xmlns:a16="http://schemas.microsoft.com/office/drawing/2014/main" id="{4B0B2B55-D9D0-22D8-B007-2D862737D4B0}"/>
              </a:ext>
            </a:extLst>
          </p:cNvPr>
          <p:cNvPicPr>
            <a:picLocks noChangeAspect="1"/>
          </p:cNvPicPr>
          <p:nvPr/>
        </p:nvPicPr>
        <p:blipFill>
          <a:blip r:embed="rId5"/>
          <a:stretch>
            <a:fillRect/>
          </a:stretch>
        </p:blipFill>
        <p:spPr>
          <a:xfrm>
            <a:off x="2630018" y="1891862"/>
            <a:ext cx="6931964" cy="481407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8" name="Google Shape;418;p29"/>
              <p:cNvSpPr txBox="1"/>
              <p:nvPr/>
            </p:nvSpPr>
            <p:spPr>
              <a:xfrm>
                <a:off x="1104900" y="446480"/>
                <a:ext cx="9982200" cy="3477835"/>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2. Explain why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latin typeface="Cambria Math" panose="02040503050406030204" pitchFamily="18" charset="0"/>
                        <a:ea typeface="Times New Roman" panose="02020603050405020304" pitchFamily="18" charset="0"/>
                        <a:cs typeface="Times New Roman" panose="02020603050405020304" pitchFamily="18" charset="0"/>
                      </a:rPr>
                      <m:t>≠0</m:t>
                    </m:r>
                  </m:oMath>
                </a14:m>
                <a:r>
                  <a:rPr lang="en-US" sz="2000" dirty="0">
                    <a:latin typeface="Verdana" panose="020B0604030504040204" pitchFamily="34" charset="0"/>
                    <a:ea typeface="Verdana" panose="020B0604030504040204" pitchFamily="34" charset="0"/>
                    <a:cs typeface="Verdana" panose="020B0604030504040204" pitchFamily="34" charset="0"/>
                  </a:rPr>
                  <a:t> for the division property of equality.</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3. Which property justifies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r>
                      <a:rPr lang="en-US" sz="2000" i="1">
                        <a:latin typeface="Cambria Math" panose="02040503050406030204" pitchFamily="18" charset="0"/>
                        <a:ea typeface="Times New Roman" panose="02020603050405020304" pitchFamily="18" charset="0"/>
                        <a:cs typeface="Times New Roman" panose="02020603050405020304" pitchFamily="18" charset="0"/>
                      </a:rPr>
                      <m:t>𝑚</m:t>
                    </m:r>
                    <m:r>
                      <a:rPr lang="en-US" sz="2000" i="1">
                        <a:latin typeface="Cambria Math" panose="02040503050406030204" pitchFamily="18" charset="0"/>
                        <a:ea typeface="Times New Roman" panose="02020603050405020304" pitchFamily="18" charset="0"/>
                        <a:cs typeface="Times New Roman" panose="02020603050405020304" pitchFamily="18" charset="0"/>
                      </a:rPr>
                      <m:t>−7.3=24.45</m:t>
                    </m:r>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24.45=2</m:t>
                    </m:r>
                    <m:r>
                      <a:rPr lang="en-US" sz="2000" i="1">
                        <a:latin typeface="Cambria Math" panose="02040503050406030204" pitchFamily="18" charset="0"/>
                        <a:ea typeface="Times New Roman" panose="02020603050405020304" pitchFamily="18" charset="0"/>
                        <a:cs typeface="Times New Roman" panose="02020603050405020304" pitchFamily="18" charset="0"/>
                      </a:rPr>
                      <m:t>𝑚</m:t>
                    </m:r>
                    <m:r>
                      <a:rPr lang="en-US" sz="2000" i="1">
                        <a:latin typeface="Cambria Math" panose="02040503050406030204" pitchFamily="18" charset="0"/>
                        <a:ea typeface="Times New Roman" panose="02020603050405020304" pitchFamily="18" charset="0"/>
                        <a:cs typeface="Times New Roman" panose="02020603050405020304" pitchFamily="18" charset="0"/>
                      </a:rPr>
                      <m:t>−7.3</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418" name="Google Shape;418;p29"/>
              <p:cNvSpPr txBox="1">
                <a:spLocks noRot="1" noChangeAspect="1" noMove="1" noResize="1" noEditPoints="1" noAdjustHandles="1" noChangeArrowheads="1" noChangeShapeType="1" noTextEdit="1"/>
              </p:cNvSpPr>
              <p:nvPr/>
            </p:nvSpPr>
            <p:spPr>
              <a:xfrm>
                <a:off x="1104900" y="446480"/>
                <a:ext cx="9982200" cy="3477835"/>
              </a:xfrm>
              <a:prstGeom prst="rect">
                <a:avLst/>
              </a:prstGeom>
              <a:blipFill rotWithShape="0">
                <a:blip r:embed="rId3"/>
                <a:stretch>
                  <a:fillRect l="-611" t="-876" b="-2102"/>
                </a:stretch>
              </a:blipFill>
              <a:ln>
                <a:noFill/>
              </a:ln>
            </p:spPr>
            <p:txBody>
              <a:bodyPr/>
              <a:lstStyle/>
              <a:p>
                <a:r>
                  <a:rPr lang="en-US">
                    <a:noFill/>
                  </a:rPr>
                  <a:t> </a:t>
                </a:r>
              </a:p>
            </p:txBody>
          </p:sp>
        </mc:Fallback>
      </mc:AlternateContent>
      <p:sp>
        <p:nvSpPr>
          <p:cNvPr id="419" name="Google Shape;419;p29"/>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044851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514724" y="5893"/>
            <a:ext cx="9661276"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54B5D1"/>
                </a:solidFill>
                <a:latin typeface="Verdana"/>
                <a:ea typeface="Verdana"/>
                <a:cs typeface="Verdana"/>
                <a:sym typeface="Verdana"/>
              </a:rPr>
              <a:t>1.3.4 Guided Instruction: Solving Two-Step Equations Using Properties of Equality</a:t>
            </a:r>
            <a:endParaRPr sz="1100" dirty="0"/>
          </a:p>
        </p:txBody>
      </p:sp>
      <p:pic>
        <p:nvPicPr>
          <p:cNvPr id="317" name="Google Shape;317;p19"/>
          <p:cNvPicPr preferRelativeResize="0"/>
          <p:nvPr/>
        </p:nvPicPr>
        <p:blipFill rotWithShape="1">
          <a:blip r:embed="rId3">
            <a:alphaModFix/>
          </a:blip>
          <a:srcRect/>
          <a:stretch/>
        </p:blipFill>
        <p:spPr>
          <a:xfrm>
            <a:off x="767424" y="210644"/>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19" name="Google Shape;319;p19"/>
              <p:cNvSpPr txBox="1"/>
              <p:nvPr/>
            </p:nvSpPr>
            <p:spPr>
              <a:xfrm>
                <a:off x="970500" y="1239722"/>
                <a:ext cx="10251000" cy="5170606"/>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When solving equations, the goal is to isolate the variable to find the value(s) of the variable that make the equation true.</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The operations being performed on the variable can be “undone” using inverse operations and opposites in order to isolate the variable. Properties of equality can be applied to create equivalent equations using steps to isolate the variable.</a:t>
                </a:r>
              </a:p>
              <a:p>
                <a:r>
                  <a:rPr lang="en-US" sz="2000" b="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Consider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−9.6=21.4</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747713" indent="-396875">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 to describe the equation.</a:t>
                </a:r>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marL="747713">
                  <a:lnSpc>
                    <a:spcPct val="15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The variable,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first being ________________ by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then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9.6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being ________________ from this product. The value of the expression,</a:t>
                </a:r>
                <a:r>
                  <a:rPr lang="en-US"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−9.6,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_________ to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21.4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319" name="Google Shape;319;p19"/>
              <p:cNvSpPr txBox="1">
                <a:spLocks noRot="1" noChangeAspect="1" noMove="1" noResize="1" noEditPoints="1" noAdjustHandles="1" noChangeArrowheads="1" noChangeShapeType="1" noTextEdit="1"/>
              </p:cNvSpPr>
              <p:nvPr/>
            </p:nvSpPr>
            <p:spPr>
              <a:xfrm>
                <a:off x="970500" y="1239722"/>
                <a:ext cx="10251000" cy="5170606"/>
              </a:xfrm>
              <a:prstGeom prst="rect">
                <a:avLst/>
              </a:prstGeom>
              <a:blipFill rotWithShape="0">
                <a:blip r:embed="rId4"/>
                <a:stretch>
                  <a:fillRect l="-654" t="-589" r="-416"/>
                </a:stretch>
              </a:blipFill>
              <a:ln>
                <a:noFill/>
              </a:ln>
            </p:spPr>
            <p:txBody>
              <a:bodyPr/>
              <a:lstStyle/>
              <a:p>
                <a:r>
                  <a:rPr lang="en-US">
                    <a:noFill/>
                  </a:rPr>
                  <a:t> </a:t>
                </a:r>
              </a:p>
            </p:txBody>
          </p:sp>
        </mc:Fallback>
      </mc:AlternateContent>
      <p:sp>
        <p:nvSpPr>
          <p:cNvPr id="320" name="Google Shape;320;p19"/>
          <p:cNvSpPr/>
          <p:nvPr/>
        </p:nvSpPr>
        <p:spPr>
          <a:xfrm>
            <a:off x="0" y="5893"/>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21</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567413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206500" y="288745"/>
                <a:ext cx="9779000" cy="5324494"/>
              </a:xfrm>
              <a:prstGeom prst="rect">
                <a:avLst/>
              </a:prstGeom>
              <a:noFill/>
              <a:ln>
                <a:noFill/>
              </a:ln>
            </p:spPr>
            <p:txBody>
              <a:bodyPr spcFirstLastPara="1" wrap="square" lIns="91425" tIns="45700" rIns="91425" bIns="45700" anchor="t" anchorCtr="0">
                <a:spAutoFit/>
              </a:bodyPr>
              <a:lstStyle/>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b. Describe the operation that could be performed to isolate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on the left side of the equation.</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lvl="0"/>
                <a:r>
                  <a:rPr lang="en-US" sz="2000" dirty="0">
                    <a:latin typeface="Verdana" panose="020B0604030504040204" pitchFamily="34" charset="0"/>
                    <a:ea typeface="Verdana" panose="020B0604030504040204" pitchFamily="34" charset="0"/>
                    <a:cs typeface="Verdana" panose="020B0604030504040204" pitchFamily="34" charset="0"/>
                  </a:rPr>
                  <a:t>c. Show this step to create an equivalent equation.</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1371600"/>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−9.6+_______ = 21.4+_______</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2286000"/>
                <a:r>
                  <a:rPr lang="en-US" sz="2000" dirty="0">
                    <a:latin typeface="Verdana" panose="020B0604030504040204" pitchFamily="34" charset="0"/>
                    <a:ea typeface="Verdana" panose="020B0604030504040204" pitchFamily="34" charset="0"/>
                    <a:cs typeface="Verdana" panose="020B0604030504040204" pitchFamily="34" charset="0"/>
                  </a:rPr>
                  <a:t> </a:t>
                </a:r>
              </a:p>
              <a:p>
                <a:pPr marL="2286000"/>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_________ = _________</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d. Describe the operation that could be performed to isolate the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on the left side of the equation.</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206500" y="288745"/>
                <a:ext cx="9779000" cy="5324494"/>
              </a:xfrm>
              <a:prstGeom prst="rect">
                <a:avLst/>
              </a:prstGeom>
              <a:blipFill>
                <a:blip r:embed="rId3"/>
                <a:stretch>
                  <a:fillRect l="-686" t="-572" r="-62" b="-1030"/>
                </a:stretch>
              </a:blipFill>
              <a:ln>
                <a:noFill/>
              </a:ln>
            </p:spPr>
            <p:txBody>
              <a:bodyPr/>
              <a:lstStyle/>
              <a:p>
                <a:r>
                  <a:rPr lang="en-US">
                    <a:noFill/>
                  </a:rPr>
                  <a:t> </a:t>
                </a:r>
              </a:p>
            </p:txBody>
          </p:sp>
        </mc:Fallback>
      </mc:AlternateContent>
      <p:sp>
        <p:nvSpPr>
          <p:cNvPr id="329" name="Google Shape;329;p20"/>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279743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168400" y="288745"/>
                <a:ext cx="9855200" cy="4708941"/>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e. Show this step to create an equivalent equation.</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9144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2228850"/>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 _____ = 31 ÷ _____ </m:t>
                      </m:r>
                    </m:oMath>
                  </m:oMathPara>
                </a14:m>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222885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222885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2228850"/>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 = _______</m:t>
                    </m:r>
                  </m:oMath>
                </a14:m>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11113" indent="-11113"/>
                <a:r>
                  <a:rPr lang="en-US" sz="2000" dirty="0">
                    <a:latin typeface="Verdana" panose="020B0604030504040204" pitchFamily="34" charset="0"/>
                    <a:ea typeface="Times New Roman" panose="02020603050405020304" pitchFamily="18" charset="0"/>
                    <a:cs typeface="Times New Roman" panose="02020603050405020304" pitchFamily="18" charset="0"/>
                  </a:rPr>
                  <a:t>f. What is the coefficient of the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after dividing both sides?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50838" indent="-350838"/>
                <a:r>
                  <a:rPr lang="en-US" sz="2000" dirty="0">
                    <a:latin typeface="Verdana" panose="020B0604030504040204" pitchFamily="34" charset="0"/>
                    <a:ea typeface="Times New Roman" panose="02020603050405020304" pitchFamily="18" charset="0"/>
                    <a:cs typeface="Times New Roman" panose="02020603050405020304" pitchFamily="18" charset="0"/>
                  </a:rPr>
                  <a:t>g. Use substitution in the original equation to verify the solution.</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−9.6=21.4</m:t>
                      </m:r>
                    </m:oMath>
                  </m:oMathPara>
                </a14:m>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168400" y="288745"/>
                <a:ext cx="9855200" cy="4708941"/>
              </a:xfrm>
              <a:prstGeom prst="rect">
                <a:avLst/>
              </a:prstGeom>
              <a:blipFill rotWithShape="0">
                <a:blip r:embed="rId3"/>
                <a:stretch>
                  <a:fillRect l="-681" t="-647"/>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34874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244600" y="288746"/>
                <a:ext cx="9702800" cy="3170058"/>
              </a:xfrm>
              <a:prstGeom prst="rect">
                <a:avLst/>
              </a:prstGeom>
              <a:noFill/>
              <a:ln>
                <a:noFill/>
              </a:ln>
            </p:spPr>
            <p:txBody>
              <a:bodyPr spcFirstLastPara="1" wrap="square" lIns="91425" tIns="45700" rIns="91425" bIns="45700" anchor="t" anchorCtr="0">
                <a:spAutoFit/>
              </a:bodyPr>
              <a:lstStyle/>
              <a:p>
                <a:pPr marL="350838" indent="-339725"/>
                <a:r>
                  <a:rPr lang="en-US" sz="2000" dirty="0">
                    <a:latin typeface="Verdana" panose="020B0604030504040204" pitchFamily="34" charset="0"/>
                    <a:ea typeface="Times New Roman" panose="02020603050405020304" pitchFamily="18" charset="0"/>
                    <a:cs typeface="Times New Roman" panose="02020603050405020304" pitchFamily="18" charset="0"/>
                  </a:rPr>
                  <a:t>h. Which properties of equality were applied to solve this equation?</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293688" indent="-293688"/>
                <a:r>
                  <a:rPr lang="en-US" sz="2000" dirty="0" err="1">
                    <a:latin typeface="Verdana" panose="020B0604030504040204" pitchFamily="34" charset="0"/>
                    <a:ea typeface="Times New Roman" panose="02020603050405020304" pitchFamily="18" charset="0"/>
                    <a:cs typeface="Times New Roman" panose="02020603050405020304" pitchFamily="18" charset="0"/>
                  </a:rPr>
                  <a:t>i</a:t>
                </a:r>
                <a:r>
                  <a:rPr lang="en-US" sz="2000" dirty="0">
                    <a:latin typeface="Verdana" panose="020B0604030504040204" pitchFamily="34" charset="0"/>
                    <a:ea typeface="Times New Roman" panose="02020603050405020304" pitchFamily="18" charset="0"/>
                    <a:cs typeface="Times New Roman" panose="02020603050405020304" pitchFamily="18" charset="0"/>
                  </a:rPr>
                  <a:t>. Cameron said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=31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could have been solved by applying the multiplication property of equality. What value can be used as the factor that is multiplied to both sides of the equation to isolate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244600" y="288746"/>
                <a:ext cx="9702800" cy="3170058"/>
              </a:xfrm>
              <a:prstGeom prst="rect">
                <a:avLst/>
              </a:prstGeom>
              <a:blipFill rotWithShape="0">
                <a:blip r:embed="rId3"/>
                <a:stretch>
                  <a:fillRect l="-628" t="-962" b="-2500"/>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2856329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181100" y="288745"/>
                <a:ext cx="9078468" cy="1520825"/>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sym typeface="Verdana"/>
                  </a:rPr>
                  <a:t>2. </a:t>
                </a:r>
                <a:r>
                  <a:rPr lang="en-US" sz="2000" dirty="0">
                    <a:latin typeface="Verdana" panose="020B0604030504040204" pitchFamily="34" charset="0"/>
                    <a:ea typeface="Verdana" panose="020B0604030504040204" pitchFamily="34" charset="0"/>
                    <a:cs typeface="Verdana" panose="020B0604030504040204" pitchFamily="34" charset="0"/>
                  </a:rPr>
                  <a:t>Solve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−6.7=</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𝑦</m:t>
                        </m:r>
                      </m:num>
                      <m:den>
                        <m:sPre>
                          <m:sPre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latin typeface="Cambria Math" panose="02040503050406030204" pitchFamily="18" charset="0"/>
                                <a:ea typeface="Times New Roman" panose="02020603050405020304" pitchFamily="18" charset="0"/>
                                <a:cs typeface="Times New Roman" panose="02020603050405020304" pitchFamily="18" charset="0"/>
                              </a:rPr>
                              <m:t>4</m:t>
                            </m:r>
                          </m:e>
                        </m:sPre>
                      </m:den>
                    </m:f>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by applying properties of equality.</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742950" lvl="1" indent="-28575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Fill in each box with an operation and each blank with a value.</a:t>
                </a:r>
              </a:p>
              <a:p>
                <a:endParaRPr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181100" y="288745"/>
                <a:ext cx="9078468" cy="1520825"/>
              </a:xfrm>
              <a:prstGeom prst="rect">
                <a:avLst/>
              </a:prstGeom>
              <a:blipFill rotWithShape="0">
                <a:blip r:embed="rId3"/>
                <a:stretch>
                  <a:fillRect l="-739"/>
                </a:stretch>
              </a:blipFill>
              <a:ln>
                <a:noFill/>
              </a:ln>
            </p:spPr>
            <p:txBody>
              <a:bodyPr/>
              <a:lstStyle/>
              <a:p>
                <a:r>
                  <a:rPr lang="en-US">
                    <a:noFill/>
                  </a:rPr>
                  <a:t> </a:t>
                </a:r>
              </a:p>
            </p:txBody>
          </p:sp>
        </mc:Fallback>
      </mc:AlternateContent>
      <p:sp>
        <p:nvSpPr>
          <p:cNvPr id="329" name="Google Shape;329;p20"/>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pic>
        <p:nvPicPr>
          <p:cNvPr id="4" name="Picture 3">
            <a:extLst>
              <a:ext uri="{FF2B5EF4-FFF2-40B4-BE49-F238E27FC236}">
                <a16:creationId xmlns:a16="http://schemas.microsoft.com/office/drawing/2014/main" id="{BDDD1CE6-802E-E96F-2ABA-4540DAE82CAE}"/>
              </a:ext>
            </a:extLst>
          </p:cNvPr>
          <p:cNvPicPr>
            <a:picLocks noChangeAspect="1"/>
          </p:cNvPicPr>
          <p:nvPr/>
        </p:nvPicPr>
        <p:blipFill>
          <a:blip r:embed="rId5"/>
          <a:stretch>
            <a:fillRect/>
          </a:stretch>
        </p:blipFill>
        <p:spPr>
          <a:xfrm>
            <a:off x="3178557" y="1760373"/>
            <a:ext cx="5290662" cy="4808882"/>
          </a:xfrm>
          <a:prstGeom prst="rect">
            <a:avLst/>
          </a:prstGeom>
        </p:spPr>
      </p:pic>
    </p:spTree>
    <p:extLst>
      <p:ext uri="{BB962C8B-B14F-4D97-AF65-F5344CB8AC3E}">
        <p14:creationId xmlns:p14="http://schemas.microsoft.com/office/powerpoint/2010/main" val="2466897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932432" y="288746"/>
                <a:ext cx="8327136" cy="4598591"/>
              </a:xfrm>
              <a:prstGeom prst="rect">
                <a:avLst/>
              </a:prstGeom>
              <a:noFill/>
              <a:ln>
                <a:noFill/>
              </a:ln>
            </p:spPr>
            <p:txBody>
              <a:bodyPr spcFirstLastPara="1" wrap="square" lIns="91425" tIns="45700" rIns="91425" bIns="45700" anchor="t" anchorCtr="0">
                <a:spAutoFit/>
              </a:bodyPr>
              <a:lstStyle/>
              <a:p>
                <a:pPr marL="350838" lvl="1" indent="-341313"/>
                <a:r>
                  <a:rPr lang="en-US" sz="2000" dirty="0">
                    <a:latin typeface="Verdana" panose="020B0604030504040204" pitchFamily="34" charset="0"/>
                    <a:ea typeface="Times New Roman" panose="02020603050405020304" pitchFamily="18" charset="0"/>
                    <a:cs typeface="Times New Roman" panose="02020603050405020304" pitchFamily="18" charset="0"/>
                  </a:rPr>
                  <a:t>b. Use substitution in the original equation to verify the solution.</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lgn="ct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−6.7=</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𝑦</m:t>
                        </m:r>
                      </m:num>
                      <m:den>
                        <m:sPre>
                          <m:sPre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latin typeface="Cambria Math" panose="02040503050406030204" pitchFamily="18" charset="0"/>
                                <a:ea typeface="Times New Roman" panose="02020603050405020304" pitchFamily="18" charset="0"/>
                                <a:cs typeface="Times New Roman" panose="02020603050405020304" pitchFamily="18" charset="0"/>
                              </a:rPr>
                              <m:t>4</m:t>
                            </m:r>
                          </m:e>
                        </m:sPre>
                      </m:den>
                    </m:f>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50838" lvl="1" indent="-339725"/>
                <a:r>
                  <a:rPr lang="en-US" sz="2000" dirty="0">
                    <a:latin typeface="Verdana" panose="020B0604030504040204" pitchFamily="34" charset="0"/>
                    <a:ea typeface="Times New Roman" panose="02020603050405020304" pitchFamily="18" charset="0"/>
                    <a:cs typeface="Times New Roman" panose="02020603050405020304" pitchFamily="18" charset="0"/>
                  </a:rPr>
                  <a:t>c. Which properties of equality were applied to solve this equation?</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408432" y="288745"/>
                <a:ext cx="8327136" cy="4598591"/>
              </a:xfrm>
              <a:prstGeom prst="rect">
                <a:avLst/>
              </a:prstGeom>
              <a:blipFill>
                <a:blip r:embed="rId4"/>
                <a:stretch>
                  <a:fillRect l="-762" t="-551" b="-1377"/>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161522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5"/>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77" name="Google Shape;277;p15"/>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Try It</a:t>
            </a:r>
            <a:endParaRPr sz="5100" b="1">
              <a:solidFill>
                <a:srgbClr val="33BEA6"/>
              </a:solidFill>
              <a:latin typeface="Verdana"/>
              <a:ea typeface="Verdana"/>
              <a:cs typeface="Verdana"/>
              <a:sym typeface="Verdana"/>
            </a:endParaRPr>
          </a:p>
        </p:txBody>
      </p:sp>
      <p:pic>
        <p:nvPicPr>
          <p:cNvPr id="279" name="Google Shape;279;p15"/>
          <p:cNvPicPr preferRelativeResize="0"/>
          <p:nvPr/>
        </p:nvPicPr>
        <p:blipFill rotWithShape="1">
          <a:blip r:embed="rId3">
            <a:alphaModFix/>
          </a:blip>
          <a:srcRect/>
          <a:stretch/>
        </p:blipFill>
        <p:spPr>
          <a:xfrm>
            <a:off x="4813171" y="2852928"/>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926227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6" name="Google Shape;286;p16"/>
          <p:cNvSpPr txBox="1"/>
          <p:nvPr/>
        </p:nvSpPr>
        <p:spPr>
          <a:xfrm>
            <a:off x="1439334" y="60325"/>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3BEA6"/>
                </a:solidFill>
                <a:latin typeface="Verdana"/>
                <a:ea typeface="Verdana"/>
                <a:cs typeface="Verdana"/>
                <a:sym typeface="Verdana"/>
              </a:rPr>
              <a:t>1.3.5 Try It: Solving Two-Step Equations Using Properties of Equality</a:t>
            </a:r>
            <a:endParaRPr sz="1100" dirty="0"/>
          </a:p>
        </p:txBody>
      </p:sp>
      <p:pic>
        <p:nvPicPr>
          <p:cNvPr id="288" name="Google Shape;288;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89526" y="348271"/>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289" name="Google Shape;289;p16"/>
              <p:cNvSpPr txBox="1"/>
              <p:nvPr/>
            </p:nvSpPr>
            <p:spPr>
              <a:xfrm>
                <a:off x="1439334" y="1386025"/>
                <a:ext cx="9569364" cy="4093388"/>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342900" indent="-342900">
                  <a:buFont typeface="Verdana" panose="020B0604030504040204" pitchFamily="34" charset="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4.76=−5+ 3.2</m:t>
                    </m:r>
                    <m:r>
                      <a:rPr lang="en-US" sz="2000" i="1">
                        <a:latin typeface="Cambria Math" panose="02040503050406030204" pitchFamily="18" charset="0"/>
                        <a:ea typeface="Times New Roman" panose="02020603050405020304" pitchFamily="18" charset="0"/>
                        <a:cs typeface="Times New Roman" panose="02020603050405020304" pitchFamily="18" charset="0"/>
                      </a:rPr>
                      <m:t>𝑛</m:t>
                    </m:r>
                  </m:oMath>
                </a14:m>
                <a:r>
                  <a:rPr lang="en-US" sz="2000" dirty="0">
                    <a:latin typeface="Verdana" panose="020B0604030504040204" pitchFamily="34" charset="0"/>
                    <a:ea typeface="Verdana" panose="020B0604030504040204" pitchFamily="34" charset="0"/>
                    <a:cs typeface="Verdana" panose="020B0604030504040204" pitchFamily="34" charset="0"/>
                  </a:rPr>
                  <a:t> to complete the following.</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lvl="1">
                  <a:buSzPts val="1800"/>
                </a:pPr>
                <a:r>
                  <a:rPr lang="en-US" sz="2000" dirty="0">
                    <a:latin typeface="Verdana" panose="020B0604030504040204" pitchFamily="34" charset="0"/>
                    <a:ea typeface="Verdana" panose="020B0604030504040204" pitchFamily="34" charset="0"/>
                    <a:cs typeface="Verdana" panose="020B0604030504040204" pitchFamily="34" charset="0"/>
                  </a:rPr>
                  <a:t>a. Apply properties of equality to solve the equation.</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lvl="1">
                  <a:buSzPts val="1800"/>
                </a:pPr>
                <a:r>
                  <a:rPr lang="en-US" sz="2000" dirty="0">
                    <a:latin typeface="Verdana" panose="020B0604030504040204" pitchFamily="34" charset="0"/>
                    <a:ea typeface="Verdana" panose="020B0604030504040204" pitchFamily="34" charset="0"/>
                    <a:cs typeface="Verdana" panose="020B0604030504040204" pitchFamily="34" charset="0"/>
                  </a:rPr>
                  <a:t>b. Use substitution to verify the solution.</a:t>
                </a:r>
              </a:p>
            </p:txBody>
          </p:sp>
        </mc:Choice>
        <mc:Fallback xmlns="">
          <p:sp>
            <p:nvSpPr>
              <p:cNvPr id="289" name="Google Shape;289;p16"/>
              <p:cNvSpPr txBox="1">
                <a:spLocks noRot="1" noChangeAspect="1" noMove="1" noResize="1" noEditPoints="1" noAdjustHandles="1" noChangeArrowheads="1" noChangeShapeType="1" noTextEdit="1"/>
              </p:cNvSpPr>
              <p:nvPr/>
            </p:nvSpPr>
            <p:spPr>
              <a:xfrm>
                <a:off x="1439334" y="1386025"/>
                <a:ext cx="9569364" cy="4093388"/>
              </a:xfrm>
              <a:prstGeom prst="rect">
                <a:avLst/>
              </a:prstGeom>
              <a:blipFill rotWithShape="0">
                <a:blip r:embed="rId4"/>
                <a:stretch>
                  <a:fillRect l="-701" t="-744" b="-1637"/>
                </a:stretch>
              </a:blipFill>
              <a:ln>
                <a:noFill/>
              </a:ln>
            </p:spPr>
            <p:txBody>
              <a:bodyPr/>
              <a:lstStyle/>
              <a:p>
                <a:r>
                  <a:rPr lang="en-US">
                    <a:noFill/>
                  </a:rPr>
                  <a:t> </a:t>
                </a:r>
              </a:p>
            </p:txBody>
          </p:sp>
        </mc:Fallback>
      </mc:AlternateContent>
      <p:sp>
        <p:nvSpPr>
          <p:cNvPr id="290" name="Google Shape;290;p16"/>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637704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98" name="Google Shape;298;p17"/>
              <p:cNvSpPr txBox="1"/>
              <p:nvPr/>
            </p:nvSpPr>
            <p:spPr>
              <a:xfrm>
                <a:off x="1231900" y="349705"/>
                <a:ext cx="9728200" cy="3302402"/>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2. Use the equation </a:t>
                </a:r>
                <a14:m>
                  <m:oMath xmlns:m="http://schemas.openxmlformats.org/officeDocument/2006/math">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5</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7</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𝑟</m:t>
                    </m:r>
                    <m:r>
                      <a:rPr lang="en-US" sz="2000" i="1">
                        <a:latin typeface="Cambria Math" panose="02040503050406030204" pitchFamily="18" charset="0"/>
                        <a:ea typeface="Times New Roman" panose="02020603050405020304" pitchFamily="18" charset="0"/>
                        <a:cs typeface="Times New Roman" panose="02020603050405020304" pitchFamily="18" charset="0"/>
                      </a:rPr>
                      <m:t>+6</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3</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7</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m:t>
                    </m:r>
                    <m:sPre>
                      <m:sPre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latin typeface="Cambria Math" panose="02040503050406030204" pitchFamily="18" charset="0"/>
                            <a:ea typeface="Times New Roman" panose="02020603050405020304" pitchFamily="18" charset="0"/>
                            <a:cs typeface="Times New Roman" panose="02020603050405020304" pitchFamily="18" charset="0"/>
                          </a:rPr>
                          <m:t>8</m:t>
                        </m:r>
                      </m:e>
                    </m:sPre>
                  </m:oMath>
                </a14:m>
                <a:r>
                  <a:rPr lang="en-US" sz="2000" dirty="0">
                    <a:latin typeface="Verdana" panose="020B0604030504040204" pitchFamily="34" charset="0"/>
                    <a:ea typeface="Verdana" panose="020B0604030504040204" pitchFamily="34" charset="0"/>
                    <a:cs typeface="Verdana" panose="020B0604030504040204" pitchFamily="34" charset="0"/>
                  </a:rPr>
                  <a:t> to complete the following.</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350838" lvl="1">
                  <a:buSzPts val="1800"/>
                </a:pPr>
                <a:r>
                  <a:rPr lang="en-US" sz="2000" dirty="0">
                    <a:latin typeface="Verdana" panose="020B0604030504040204" pitchFamily="34" charset="0"/>
                    <a:ea typeface="Verdana" panose="020B0604030504040204" pitchFamily="34" charset="0"/>
                    <a:cs typeface="Verdana" panose="020B0604030504040204" pitchFamily="34" charset="0"/>
                  </a:rPr>
                  <a:t>a. Apply properties of equality to solve the equation.</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407988" lvl="1">
                  <a:buSzPts val="1800"/>
                </a:pPr>
                <a:r>
                  <a:rPr lang="en-US" sz="2000" dirty="0">
                    <a:latin typeface="Verdana" panose="020B0604030504040204" pitchFamily="34" charset="0"/>
                    <a:ea typeface="Verdana" panose="020B0604030504040204" pitchFamily="34" charset="0"/>
                    <a:cs typeface="Verdana" panose="020B0604030504040204" pitchFamily="34" charset="0"/>
                  </a:rPr>
                  <a:t>b. Use substitution to verify the solution.</a:t>
                </a:r>
              </a:p>
            </p:txBody>
          </p:sp>
        </mc:Choice>
        <mc:Fallback xmlns="">
          <p:sp>
            <p:nvSpPr>
              <p:cNvPr id="298" name="Google Shape;298;p17"/>
              <p:cNvSpPr txBox="1">
                <a:spLocks noRot="1" noChangeAspect="1" noMove="1" noResize="1" noEditPoints="1" noAdjustHandles="1" noChangeArrowheads="1" noChangeShapeType="1" noTextEdit="1"/>
              </p:cNvSpPr>
              <p:nvPr/>
            </p:nvSpPr>
            <p:spPr>
              <a:xfrm>
                <a:off x="1231900" y="349705"/>
                <a:ext cx="9728200" cy="3302402"/>
              </a:xfrm>
              <a:prstGeom prst="rect">
                <a:avLst/>
              </a:prstGeom>
              <a:blipFill rotWithShape="0">
                <a:blip r:embed="rId3"/>
                <a:stretch>
                  <a:fillRect l="-627" b="-2399"/>
                </a:stretch>
              </a:blipFill>
              <a:ln>
                <a:noFill/>
              </a:ln>
            </p:spPr>
            <p:txBody>
              <a:bodyPr/>
              <a:lstStyle/>
              <a:p>
                <a:r>
                  <a:rPr lang="en-US">
                    <a:noFill/>
                  </a:rPr>
                  <a:t> </a:t>
                </a:r>
              </a:p>
            </p:txBody>
          </p:sp>
        </mc:Fallback>
      </mc:AlternateContent>
      <p:sp>
        <p:nvSpPr>
          <p:cNvPr id="299" name="Google Shape;299;p1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47586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484455" y="-152675"/>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F2A67"/>
                </a:solidFill>
                <a:latin typeface="Verdana"/>
                <a:ea typeface="Verdana"/>
                <a:cs typeface="Verdana"/>
                <a:sym typeface="Verdana"/>
              </a:rPr>
              <a:t>1.3.6 Wrap-Up: Cool Down</a:t>
            </a:r>
            <a:endParaRPr sz="1100" dirty="0"/>
          </a:p>
        </p:txBody>
      </p:sp>
      <p:pic>
        <p:nvPicPr>
          <p:cNvPr id="468" name="Google Shape;468;p34"/>
          <p:cNvPicPr preferRelativeResize="0"/>
          <p:nvPr/>
        </p:nvPicPr>
        <p:blipFill rotWithShape="1">
          <a:blip r:embed="rId3">
            <a:alphaModFix/>
          </a:blip>
          <a:srcRect/>
          <a:stretch/>
        </p:blipFill>
        <p:spPr>
          <a:xfrm>
            <a:off x="649420" y="145240"/>
            <a:ext cx="747300" cy="747300"/>
          </a:xfrm>
          <a:prstGeom prst="rect">
            <a:avLst/>
          </a:prstGeom>
          <a:noFill/>
          <a:ln>
            <a:noFill/>
          </a:ln>
          <a:effectLst>
            <a:outerShdw blurRad="50800" dist="38100" dir="2700000" algn="tl" rotWithShape="0">
              <a:srgbClr val="000000">
                <a:alpha val="40000"/>
              </a:srgbClr>
            </a:outerShdw>
          </a:effectLst>
        </p:spPr>
      </p:pic>
      <p:sp>
        <p:nvSpPr>
          <p:cNvPr id="469" name="Google Shape;469;p34"/>
          <p:cNvSpPr txBox="1"/>
          <p:nvPr/>
        </p:nvSpPr>
        <p:spPr>
          <a:xfrm>
            <a:off x="1396720" y="1283155"/>
            <a:ext cx="9549226" cy="2862282"/>
          </a:xfrm>
          <a:prstGeom prst="rect">
            <a:avLst/>
          </a:prstGeom>
          <a:noFill/>
          <a:ln>
            <a:noFill/>
          </a:ln>
        </p:spPr>
        <p:txBody>
          <a:bodyPr spcFirstLastPara="1" wrap="square" lIns="91425" tIns="45700" rIns="91425" bIns="45700" anchor="t" anchorCtr="0">
            <a:spAutoFit/>
          </a:bodyPr>
          <a:lstStyle/>
          <a:p>
            <a:pPr marL="457200" indent="-457200" fontAlgn="base">
              <a:buFont typeface="+mj-lt"/>
              <a:buAutoNum type="arabicPeriod"/>
            </a:pPr>
            <a:r>
              <a:rPr lang="en-US" sz="2000" dirty="0">
                <a:latin typeface="Verdana" charset="0"/>
                <a:ea typeface="Verdana" charset="0"/>
                <a:cs typeface="Verdana" charset="0"/>
              </a:rPr>
              <a:t>How can you use substitution to ensure your answer is correct?</a:t>
            </a:r>
          </a:p>
          <a:p>
            <a:pPr marL="457200" indent="-457200" fontAlgn="base">
              <a:buFont typeface="+mj-lt"/>
              <a:buAutoNum type="arabicPeriod"/>
            </a:pPr>
            <a:endParaRPr lang="en-US" sz="2000" dirty="0">
              <a:latin typeface="Verdana" charset="0"/>
              <a:ea typeface="Verdana" charset="0"/>
              <a:cs typeface="Verdana" charset="0"/>
            </a:endParaRPr>
          </a:p>
          <a:p>
            <a:pPr marL="457200" indent="-457200" fontAlgn="base">
              <a:buFont typeface="+mj-lt"/>
              <a:buAutoNum type="arabicPeriod"/>
            </a:pPr>
            <a:endParaRPr lang="en-US" sz="2000" dirty="0">
              <a:latin typeface="Verdana" charset="0"/>
              <a:ea typeface="Verdana" charset="0"/>
              <a:cs typeface="Verdana" charset="0"/>
            </a:endParaRPr>
          </a:p>
          <a:p>
            <a:pPr marL="457200" indent="-457200" fontAlgn="base">
              <a:buFont typeface="+mj-lt"/>
              <a:buAutoNum type="arabicPeriod"/>
            </a:pPr>
            <a:endParaRPr lang="en-US" sz="2000" dirty="0">
              <a:latin typeface="Verdana" charset="0"/>
              <a:ea typeface="Verdana" charset="0"/>
              <a:cs typeface="Verdana" charset="0"/>
            </a:endParaRPr>
          </a:p>
          <a:p>
            <a:pPr marL="457200" indent="-457200" fontAlgn="base">
              <a:buFont typeface="+mj-lt"/>
              <a:buAutoNum type="arabicPeriod"/>
            </a:pPr>
            <a:endParaRPr lang="en-US" sz="2000" dirty="0">
              <a:latin typeface="Verdana" charset="0"/>
              <a:ea typeface="Verdana" charset="0"/>
              <a:cs typeface="Verdana" charset="0"/>
            </a:endParaRPr>
          </a:p>
          <a:p>
            <a:pPr marL="457200" indent="-457200" fontAlgn="base">
              <a:buFont typeface="+mj-lt"/>
              <a:buAutoNum type="arabicPeriod"/>
            </a:pPr>
            <a:endParaRPr lang="en-US" sz="2000" dirty="0">
              <a:latin typeface="Verdana" charset="0"/>
              <a:ea typeface="Verdana" charset="0"/>
              <a:cs typeface="Verdana" charset="0"/>
            </a:endParaRPr>
          </a:p>
          <a:p>
            <a:pPr marL="457200" indent="-457200" fontAlgn="base">
              <a:buFont typeface="+mj-lt"/>
              <a:buAutoNum type="arabicPeriod"/>
            </a:pPr>
            <a:endParaRPr lang="en-US" sz="2000" dirty="0">
              <a:latin typeface="Verdana" charset="0"/>
              <a:ea typeface="Verdana" charset="0"/>
              <a:cs typeface="Verdana" charset="0"/>
            </a:endParaRPr>
          </a:p>
          <a:p>
            <a:pPr marL="457200" indent="-457200" fontAlgn="base">
              <a:buFont typeface="+mj-lt"/>
              <a:buAutoNum type="arabicPeriod"/>
            </a:pPr>
            <a:r>
              <a:rPr lang="en-US" sz="2000" dirty="0">
                <a:latin typeface="Verdana" charset="0"/>
                <a:ea typeface="Verdana" charset="0"/>
                <a:cs typeface="Verdana" charset="0"/>
              </a:rPr>
              <a:t>When solving an equation, why do operations have to be performed on both sides of the equal sign?</a:t>
            </a:r>
          </a:p>
        </p:txBody>
      </p:sp>
      <p:sp>
        <p:nvSpPr>
          <p:cNvPr id="470" name="Google Shape;470;p34"/>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24576"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1394</Words>
  <Application>Microsoft Macintosh PowerPoint</Application>
  <PresentationFormat>Widescreen</PresentationFormat>
  <Paragraphs>260</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Arial Black</vt:lpstr>
      <vt:lpstr>Calibri</vt:lpstr>
      <vt:lpstr>Cambria</vt:lpstr>
      <vt:lpstr>Cambria Math</vt:lpstr>
      <vt:lpstr>Century Gothic</vt:lpstr>
      <vt:lpstr>Verdana</vt:lpstr>
      <vt:lpstr>1_Office Theme</vt:lpstr>
      <vt:lpstr>7th Grade Accelerated Math  Unit 1, Lesson 3  Solving Two Step Equations Using Properties of Equality  Volume 1, pg. 17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Accelerated  Unit 1, Lesson 3  Solving Two Step Equations Using Properties of Equality  Volume 1, pg. 17  </dc:title>
  <dc:creator>Karen McKenzie</dc:creator>
  <cp:lastModifiedBy>Diana Barnett</cp:lastModifiedBy>
  <cp:revision>9</cp:revision>
  <dcterms:created xsi:type="dcterms:W3CDTF">2015-03-17T18:51:18Z</dcterms:created>
  <dcterms:modified xsi:type="dcterms:W3CDTF">2023-01-31T15:40:35Z</dcterms:modified>
</cp:coreProperties>
</file>