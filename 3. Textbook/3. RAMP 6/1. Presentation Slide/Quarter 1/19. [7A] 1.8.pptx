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6" r:id="rId8"/>
    <p:sldId id="267" r:id="rId9"/>
    <p:sldId id="268" r:id="rId10"/>
    <p:sldId id="293" r:id="rId11"/>
    <p:sldId id="294" r:id="rId12"/>
    <p:sldId id="278" r:id="rId13"/>
    <p:sldId id="279" r:id="rId14"/>
    <p:sldId id="280" r:id="rId15"/>
    <p:sldId id="295" r:id="rId16"/>
    <p:sldId id="296" r:id="rId17"/>
    <p:sldId id="287" r:id="rId18"/>
    <p:sldId id="288" r:id="rId19"/>
    <p:sldId id="263" r:id="rId20"/>
    <p:sldId id="264" r:id="rId21"/>
    <p:sldId id="265" r:id="rId22"/>
    <p:sldId id="290" r:id="rId23"/>
    <p:sldId id="291"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63" autoAdjust="0"/>
    <p:restoredTop sz="94767"/>
  </p:normalViewPr>
  <p:slideViewPr>
    <p:cSldViewPr snapToGrid="0">
      <p:cViewPr varScale="1">
        <p:scale>
          <a:sx n="104" d="100"/>
          <a:sy n="104" d="100"/>
        </p:scale>
        <p:origin x="22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54" Type="http://customschemas.google.com/relationships/presentationmetadata" Target="metadata"/><Relationship Id="rId55"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1016131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3101629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683787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4278351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2408489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776517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4063244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30.png"/><Relationship Id="rId6" Type="http://schemas.openxmlformats.org/officeDocument/2006/relationships/image" Target="../media/image140.png"/><Relationship Id="rId7"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image" Target="../media/image15.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190.png"/><Relationship Id="rId5" Type="http://schemas.openxmlformats.org/officeDocument/2006/relationships/image" Target="../media/image2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60.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endParaRPr sz="4000" b="1" dirty="0">
              <a:solidFill>
                <a:srgbClr val="417DBF"/>
              </a:solidFill>
              <a:latin typeface="Verdana"/>
              <a:ea typeface="Verdana"/>
              <a:cs typeface="Verdana"/>
              <a:sym typeface="Verdana"/>
            </a:endParaRPr>
          </a:p>
          <a:p>
            <a:pPr lvl="0" algn="ctr">
              <a:lnSpc>
                <a:spcPct val="100000"/>
              </a:lnSpc>
              <a:buClr>
                <a:srgbClr val="000000"/>
              </a:buClr>
            </a:pPr>
            <a:r>
              <a:rPr lang="en-US" sz="4000" b="1" dirty="0">
                <a:solidFill>
                  <a:srgbClr val="417DBF"/>
                </a:solidFill>
                <a:latin typeface="Verdana"/>
                <a:ea typeface="Verdana"/>
                <a:cs typeface="Verdana"/>
                <a:sym typeface="Verdana"/>
              </a:rPr>
              <a:t>Unit 1, Lesson 8</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Determining Solutions to Inequalities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46</a:t>
            </a:r>
            <a:endParaRPr sz="3600" dirty="0"/>
          </a:p>
          <a:p>
            <a:pPr algn="ctr">
              <a:lnSpc>
                <a:spcPct val="100000"/>
              </a:lnSpc>
              <a:buClr>
                <a:srgbClr val="000000"/>
              </a:buClr>
            </a:pPr>
            <a:endParaRPr sz="3600" b="1" dirty="0">
              <a:solidFill>
                <a:srgbClr val="417DBF"/>
              </a:solidFill>
              <a:latin typeface="Verdana"/>
              <a:ea typeface="Verdana"/>
              <a:cs typeface="Verdana"/>
              <a:sym typeface="Verdana"/>
            </a:endParaRPr>
          </a:p>
          <a:p>
            <a:pPr algn="ctr">
              <a:lnSpc>
                <a:spcPct val="75000"/>
              </a:lnSpc>
            </a:pPr>
            <a:endParaRPr sz="3200" dirty="0">
              <a:solidFill>
                <a:srgbClr val="417DBF"/>
              </a:solidFill>
            </a:endParaRPr>
          </a:p>
        </p:txBody>
      </p:sp>
      <p:sp>
        <p:nvSpPr>
          <p:cNvPr id="115" name="Google Shape;115;g104476d1465_0_0"/>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745080"/>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13614" y="617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590114" y="29751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46</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337414" y="1627909"/>
            <a:ext cx="9517172"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MA.8.AR.2.2</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solidFill>
                  <a:schemeClr val="dk1"/>
                </a:solidFill>
                <a:latin typeface="Verdana"/>
                <a:ea typeface="Verdana"/>
                <a:cs typeface="Verdana"/>
                <a:sym typeface="Verdana"/>
              </a:rPr>
              <a:t>Solve two-step linear inequalities in one variable and represent solutions algebraically and graphically.</a:t>
            </a:r>
            <a:endParaRPr sz="20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79759" y="3723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504409"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27059" y="1596390"/>
            <a:ext cx="9925702"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MA.K12.MTR.6.1 Assess the reasonableness of solutions.</a:t>
            </a:r>
            <a:endParaRPr dirty="0"/>
          </a:p>
        </p:txBody>
      </p:sp>
      <p:sp>
        <p:nvSpPr>
          <p:cNvPr id="138" name="Google Shape;138;p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16178"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34016"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81316" y="1600200"/>
            <a:ext cx="9229368"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determine which value from a set of values makes an inequality true. </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determine if a value on a number line represents a solution set.</a:t>
            </a:r>
          </a:p>
          <a:p>
            <a:pPr marL="457200" indent="-450850">
              <a:buClr>
                <a:srgbClr val="434343"/>
              </a:buClr>
              <a:buSzPts val="3500"/>
              <a:buFont typeface="Verdana"/>
              <a:buChar char="❏"/>
            </a:pPr>
            <a:r>
              <a:rPr lang="en-US" sz="3200" dirty="0">
                <a:solidFill>
                  <a:schemeClr val="dk1"/>
                </a:solidFill>
                <a:latin typeface="Verdana"/>
                <a:ea typeface="Verdana"/>
                <a:cs typeface="Verdana"/>
                <a:sym typeface="Verdana"/>
              </a:rPr>
              <a:t>I can solve inequalities and represent solutions on a number line. </a:t>
            </a:r>
          </a:p>
          <a:p>
            <a:pPr marL="457200" indent="-450850">
              <a:buClr>
                <a:srgbClr val="434343"/>
              </a:buClr>
              <a:buSzPts val="3500"/>
              <a:buFont typeface="Verdana"/>
              <a:buChar char="❏"/>
            </a:pPr>
            <a:endParaRPr lang="en-US" sz="3200" dirty="0">
              <a:solidFill>
                <a:schemeClr val="dk1"/>
              </a:solidFill>
              <a:latin typeface="Verdana"/>
              <a:ea typeface="Verdana"/>
              <a:cs typeface="Verdana"/>
              <a:sym typeface="Verdana"/>
            </a:endParaRPr>
          </a:p>
        </p:txBody>
      </p:sp>
      <p:sp>
        <p:nvSpPr>
          <p:cNvPr id="149" name="Google Shape;149;p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15897" y="0"/>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F2A67"/>
                </a:solidFill>
                <a:latin typeface="Verdana"/>
                <a:ea typeface="Verdana"/>
                <a:cs typeface="Verdana"/>
                <a:sym typeface="Verdana"/>
              </a:rPr>
              <a:t>1.8.1 Warm-Up: Careers - Forester </a:t>
            </a:r>
            <a:endParaRPr sz="1100" dirty="0"/>
          </a:p>
        </p:txBody>
      </p:sp>
      <p:pic>
        <p:nvPicPr>
          <p:cNvPr id="167" name="Google Shape;167;p4"/>
          <p:cNvPicPr preferRelativeResize="0"/>
          <p:nvPr/>
        </p:nvPicPr>
        <p:blipFill rotWithShape="1">
          <a:blip r:embed="rId3">
            <a:alphaModFix/>
          </a:blip>
          <a:srcRect/>
          <a:stretch/>
        </p:blipFill>
        <p:spPr>
          <a:xfrm>
            <a:off x="568597" y="289200"/>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15897" y="1151757"/>
            <a:ext cx="9710872" cy="4708941"/>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sym typeface="Verdana"/>
              </a:rPr>
              <a:t>Foresters have a wide range of duties, depending on who their employer is. Some primary duties of foresters are drawing up plans to regenerate forested lands, monitoring the progress of those lands, and supervising tree harvests. Another duty of a forester is devising plans to keep forests free from disease, harmful insects, and damaging wildfires.</a:t>
            </a: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347663" indent="-336550"/>
            <a:r>
              <a:rPr lang="en-US" sz="2000" dirty="0">
                <a:latin typeface="Verdana" panose="020B0604030504040204" pitchFamily="34" charset="0"/>
                <a:ea typeface="Verdana" panose="020B0604030504040204" pitchFamily="34" charset="0"/>
                <a:cs typeface="Verdana" panose="020B0604030504040204" pitchFamily="34" charset="0"/>
                <a:sym typeface="Verdana"/>
              </a:rPr>
              <a:t>1. Why do you think being an effective communicator and a team player is essential to the job?</a:t>
            </a: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2. Describe a time when you had to be an effective communicator and team player.</a:t>
            </a:r>
          </a:p>
          <a:p>
            <a:pPr lvl="0"/>
            <a:endParaRPr lang="en-US" sz="2000" dirty="0">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70" name="Google Shape;170;p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40631"/>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467842" y="56231"/>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1.8.2 Exploration: Is </a:t>
            </a:r>
            <a:r>
              <a:rPr lang="en-US" sz="2800" b="1" dirty="0" smtClean="0">
                <a:solidFill>
                  <a:srgbClr val="33BEA6"/>
                </a:solidFill>
                <a:latin typeface="Verdana"/>
                <a:ea typeface="Verdana"/>
                <a:cs typeface="Verdana"/>
                <a:sym typeface="Verdana"/>
              </a:rPr>
              <a:t>It </a:t>
            </a:r>
            <a:r>
              <a:rPr lang="en-US" sz="2800" b="1" dirty="0">
                <a:solidFill>
                  <a:srgbClr val="33BEA6"/>
                </a:solidFill>
                <a:latin typeface="Verdana"/>
                <a:ea typeface="Verdana"/>
                <a:cs typeface="Verdana"/>
                <a:sym typeface="Verdana"/>
              </a:rPr>
              <a:t>a Solution?</a:t>
            </a:r>
            <a:endParaRPr sz="1100"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1544" y="304356"/>
            <a:ext cx="752254" cy="752254"/>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29" name="Google Shape;229;p10"/>
              <p:cNvSpPr txBox="1"/>
              <p:nvPr/>
            </p:nvSpPr>
            <p:spPr>
              <a:xfrm>
                <a:off x="1122218" y="1386026"/>
                <a:ext cx="10098230" cy="163117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 solution to an inequality is any value that, when substituted for the variable, makes the inequality statement true.</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 list of possible solutions for the inequalities </a:t>
                </a:r>
                <a14:m>
                  <m:oMath xmlns:m="http://schemas.openxmlformats.org/officeDocument/2006/math">
                    <m:r>
                      <a:rPr lang="en-US" sz="2000" i="1">
                        <a:latin typeface="Cambria Math" panose="02040503050406030204" pitchFamily="18" charset="0"/>
                        <a:ea typeface="Times New Roman" panose="02020603050405020304" pitchFamily="18" charset="0"/>
                      </a:rPr>
                      <m:t>2</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−5&gt;13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rPr>
                      <m:t>2</m:t>
                    </m:r>
                    <m:r>
                      <a:rPr lang="en-US" sz="2000" i="1">
                        <a:latin typeface="Cambria Math" panose="02040503050406030204" pitchFamily="18" charset="0"/>
                        <a:ea typeface="Times New Roman" panose="02020603050405020304" pitchFamily="18" charset="0"/>
                      </a:rPr>
                      <m:t>𝑥</m:t>
                    </m:r>
                    <m:r>
                      <a:rPr lang="en-US" sz="2000" i="1">
                        <a:latin typeface="Cambria Math" panose="02040503050406030204" pitchFamily="18" charset="0"/>
                        <a:ea typeface="Times New Roman" panose="02020603050405020304" pitchFamily="18" charset="0"/>
                      </a:rPr>
                      <m:t> –5&lt;13</m:t>
                    </m:r>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p:txBody>
          </p:sp>
        </mc:Choice>
        <mc:Fallback xmlns="">
          <p:sp>
            <p:nvSpPr>
              <p:cNvPr id="229" name="Google Shape;229;p10"/>
              <p:cNvSpPr txBox="1">
                <a:spLocks noRot="1" noChangeAspect="1" noMove="1" noResize="1" noEditPoints="1" noAdjustHandles="1" noChangeArrowheads="1" noChangeShapeType="1" noTextEdit="1"/>
              </p:cNvSpPr>
              <p:nvPr/>
            </p:nvSpPr>
            <p:spPr>
              <a:xfrm>
                <a:off x="1122218" y="1386026"/>
                <a:ext cx="10098230" cy="1631175"/>
              </a:xfrm>
              <a:prstGeom prst="rect">
                <a:avLst/>
              </a:prstGeom>
              <a:blipFill rotWithShape="0">
                <a:blip r:embed="rId4"/>
                <a:stretch>
                  <a:fillRect l="-604" t="-1866" b="-11940"/>
                </a:stretch>
              </a:blipFill>
              <a:ln>
                <a:noFill/>
              </a:ln>
            </p:spPr>
            <p:txBody>
              <a:bodyPr/>
              <a:lstStyle/>
              <a:p>
                <a:r>
                  <a:rPr lang="en-US">
                    <a:noFill/>
                  </a:rPr>
                  <a:t> </a:t>
                </a:r>
              </a:p>
            </p:txBody>
          </p:sp>
        </mc:Fallback>
      </mc:AlternateContent>
      <p:sp>
        <p:nvSpPr>
          <p:cNvPr id="230" name="Google Shape;230;p10"/>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6A90F048-95DE-0041-A50F-9318E73C8985}"/>
                  </a:ext>
                </a:extLst>
              </p:cNvPr>
              <p:cNvGraphicFramePr>
                <a:graphicFrameLocks noGrp="1"/>
              </p:cNvGraphicFramePr>
              <p:nvPr>
                <p:extLst>
                  <p:ext uri="{D42A27DB-BD31-4B8C-83A1-F6EECF244321}">
                    <p14:modId xmlns:p14="http://schemas.microsoft.com/office/powerpoint/2010/main" val="3068007833"/>
                  </p:ext>
                </p:extLst>
              </p:nvPr>
            </p:nvGraphicFramePr>
            <p:xfrm>
              <a:off x="3910455" y="3181834"/>
              <a:ext cx="4206256" cy="2322132"/>
            </p:xfrm>
            <a:graphic>
              <a:graphicData uri="http://schemas.openxmlformats.org/drawingml/2006/table">
                <a:tbl>
                  <a:tblPr firstRow="1" firstCol="1" bandRow="1"/>
                  <a:tblGrid>
                    <a:gridCol w="1051220">
                      <a:extLst>
                        <a:ext uri="{9D8B030D-6E8A-4147-A177-3AD203B41FA5}">
                          <a16:colId xmlns:a16="http://schemas.microsoft.com/office/drawing/2014/main" xmlns="" val="290513149"/>
                        </a:ext>
                      </a:extLst>
                    </a:gridCol>
                    <a:gridCol w="1051908">
                      <a:extLst>
                        <a:ext uri="{9D8B030D-6E8A-4147-A177-3AD203B41FA5}">
                          <a16:colId xmlns:a16="http://schemas.microsoft.com/office/drawing/2014/main" xmlns="" val="1704907152"/>
                        </a:ext>
                      </a:extLst>
                    </a:gridCol>
                    <a:gridCol w="1051220">
                      <a:extLst>
                        <a:ext uri="{9D8B030D-6E8A-4147-A177-3AD203B41FA5}">
                          <a16:colId xmlns:a16="http://schemas.microsoft.com/office/drawing/2014/main" xmlns="" val="3332791172"/>
                        </a:ext>
                      </a:extLst>
                    </a:gridCol>
                    <a:gridCol w="1051908">
                      <a:extLst>
                        <a:ext uri="{9D8B030D-6E8A-4147-A177-3AD203B41FA5}">
                          <a16:colId xmlns:a16="http://schemas.microsoft.com/office/drawing/2014/main" xmlns="" val="3126229190"/>
                        </a:ext>
                      </a:extLst>
                    </a:gridCol>
                  </a:tblGrid>
                  <a:tr h="369521">
                    <a:tc gridSpan="4">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Possible Solution Values</a:t>
                          </a:r>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99040497"/>
                      </a:ext>
                    </a:extLst>
                  </a:tr>
                  <a:tr h="56659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9.01</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−4000</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11.47</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744191450"/>
                      </a:ext>
                    </a:extLst>
                  </a:tr>
                  <a:tr h="69177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115 </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−6.25</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123763166"/>
                      </a:ext>
                    </a:extLst>
                  </a:tr>
                  <a:tr h="69423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8.375</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38</m:t>
                                </m:r>
                              </m:oMath>
                            </m:oMathPara>
                          </a14:m>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4 </m:t>
                                </m:r>
                                <m:f>
                                  <m:fPr>
                                    <m:ctrlPr>
                                      <a:rPr lang="en-US" sz="2000" i="1">
                                        <a:effectLst/>
                                        <a:latin typeface="Cambria Math"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den>
                                </m:f>
                              </m:oMath>
                            </m:oMathPara>
                          </a14:m>
                          <a:endParaRPr lang="en-US"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449969614"/>
                      </a:ext>
                    </a:extLst>
                  </a:tr>
                </a:tbl>
              </a:graphicData>
            </a:graphic>
          </p:graphicFrame>
        </mc:Choice>
        <mc:Fallback xmlns="">
          <p:graphicFrame>
            <p:nvGraphicFramePr>
              <p:cNvPr id="2" name="Table 1">
                <a:extLst>
                  <a:ext uri="{FF2B5EF4-FFF2-40B4-BE49-F238E27FC236}">
                    <a16:creationId xmlns:a16="http://schemas.microsoft.com/office/drawing/2014/main" id="{6A90F048-95DE-0041-A50F-9318E73C8985}"/>
                  </a:ext>
                </a:extLst>
              </p:cNvPr>
              <p:cNvGraphicFramePr>
                <a:graphicFrameLocks noGrp="1"/>
              </p:cNvGraphicFramePr>
              <p:nvPr>
                <p:extLst>
                  <p:ext uri="{D42A27DB-BD31-4B8C-83A1-F6EECF244321}">
                    <p14:modId xmlns:p14="http://schemas.microsoft.com/office/powerpoint/2010/main" val="3068007833"/>
                  </p:ext>
                </p:extLst>
              </p:nvPr>
            </p:nvGraphicFramePr>
            <p:xfrm>
              <a:off x="2386455" y="3181834"/>
              <a:ext cx="4206256" cy="2322132"/>
            </p:xfrm>
            <a:graphic>
              <a:graphicData uri="http://schemas.openxmlformats.org/drawingml/2006/table">
                <a:tbl>
                  <a:tblPr firstRow="1" firstCol="1" bandRow="1"/>
                  <a:tblGrid>
                    <a:gridCol w="1051220">
                      <a:extLst>
                        <a:ext uri="{9D8B030D-6E8A-4147-A177-3AD203B41FA5}">
                          <a16:colId xmlns:a16="http://schemas.microsoft.com/office/drawing/2014/main" val="290513149"/>
                        </a:ext>
                      </a:extLst>
                    </a:gridCol>
                    <a:gridCol w="1051908">
                      <a:extLst>
                        <a:ext uri="{9D8B030D-6E8A-4147-A177-3AD203B41FA5}">
                          <a16:colId xmlns:a16="http://schemas.microsoft.com/office/drawing/2014/main" val="1704907152"/>
                        </a:ext>
                      </a:extLst>
                    </a:gridCol>
                    <a:gridCol w="1051220">
                      <a:extLst>
                        <a:ext uri="{9D8B030D-6E8A-4147-A177-3AD203B41FA5}">
                          <a16:colId xmlns:a16="http://schemas.microsoft.com/office/drawing/2014/main" val="3332791172"/>
                        </a:ext>
                      </a:extLst>
                    </a:gridCol>
                    <a:gridCol w="1051908">
                      <a:extLst>
                        <a:ext uri="{9D8B030D-6E8A-4147-A177-3AD203B41FA5}">
                          <a16:colId xmlns:a16="http://schemas.microsoft.com/office/drawing/2014/main" val="3126229190"/>
                        </a:ext>
                      </a:extLst>
                    </a:gridCol>
                  </a:tblGrid>
                  <a:tr h="369521">
                    <a:tc gridSpan="4">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Possible Solution Values</a:t>
                          </a:r>
                          <a:endParaRPr lang="en-US"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9040497"/>
                      </a:ext>
                    </a:extLst>
                  </a:tr>
                  <a:tr h="56659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blipFill>
                          <a:blip r:embed="rId6"/>
                          <a:stretch>
                            <a:fillRect t="-77778" r="-302410" b="-251111"/>
                          </a:stretch>
                        </a:blipFill>
                      </a:tcPr>
                    </a:tc>
                    <a:tc>
                      <a:txBody>
                        <a:bodyPr/>
                        <a:lstStyle/>
                        <a:p>
                          <a:endParaRPr lang="en-US"/>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blipFill>
                          <a:blip r:embed="rId6"/>
                          <a:stretch>
                            <a:fillRect l="-98810" t="-77778" r="-198810" b="-251111"/>
                          </a:stretch>
                        </a:blipFill>
                      </a:tcPr>
                    </a:tc>
                    <a:tc>
                      <a:txBody>
                        <a:bodyPr/>
                        <a:lstStyle/>
                        <a:p>
                          <a:endParaRPr lang="en-US"/>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blipFill>
                          <a:blip r:embed="rId6"/>
                          <a:stretch>
                            <a:fillRect l="-201205" t="-77778" r="-101205" b="-251111"/>
                          </a:stretch>
                        </a:blipFill>
                      </a:tcPr>
                    </a:tc>
                    <a:tc>
                      <a:txBody>
                        <a:bodyPr/>
                        <a:lstStyle/>
                        <a:p>
                          <a:endParaRPr lang="en-US"/>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6"/>
                          <a:stretch>
                            <a:fillRect l="-301205" t="-77778" r="-1205" b="-251111"/>
                          </a:stretch>
                        </a:blipFill>
                      </a:tcPr>
                    </a:tc>
                    <a:extLst>
                      <a:ext uri="{0D108BD9-81ED-4DB2-BD59-A6C34878D82A}">
                        <a16:rowId xmlns:a16="http://schemas.microsoft.com/office/drawing/2014/main" val="1744191450"/>
                      </a:ext>
                    </a:extLst>
                  </a:tr>
                  <a:tr h="691774">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blipFill>
                          <a:blip r:embed="rId6"/>
                          <a:stretch>
                            <a:fillRect t="-145455" r="-302410" b="-105455"/>
                          </a:stretch>
                        </a:blipFill>
                      </a:tcPr>
                    </a:tc>
                    <a:tc>
                      <a:txBody>
                        <a:bodyPr/>
                        <a:lstStyle/>
                        <a:p>
                          <a:endParaRPr lang="en-US"/>
                        </a:p>
                      </a:txBody>
                      <a:tcPr marL="68580" marR="68580" marT="0" marB="0" anchor="ctr">
                        <a:lnL>
                          <a:noFill/>
                        </a:lnL>
                        <a:lnR>
                          <a:noFill/>
                        </a:lnR>
                        <a:lnT>
                          <a:noFill/>
                        </a:lnT>
                        <a:lnB>
                          <a:noFill/>
                        </a:lnB>
                        <a:blipFill>
                          <a:blip r:embed="rId6"/>
                          <a:stretch>
                            <a:fillRect l="-98810" t="-145455" r="-198810" b="-105455"/>
                          </a:stretch>
                        </a:blipFill>
                      </a:tcPr>
                    </a:tc>
                    <a:tc>
                      <a:txBody>
                        <a:bodyPr/>
                        <a:lstStyle/>
                        <a:p>
                          <a:endParaRPr lang="en-US"/>
                        </a:p>
                      </a:txBody>
                      <a:tcPr marL="68580" marR="68580" marT="0" marB="0" anchor="ctr">
                        <a:lnL>
                          <a:noFill/>
                        </a:lnL>
                        <a:lnR>
                          <a:noFill/>
                        </a:lnR>
                        <a:lnT>
                          <a:noFill/>
                        </a:lnT>
                        <a:lnB>
                          <a:noFill/>
                        </a:lnB>
                        <a:blipFill>
                          <a:blip r:embed="rId6"/>
                          <a:stretch>
                            <a:fillRect l="-201205" t="-145455" r="-101205" b="-105455"/>
                          </a:stretch>
                        </a:blipFill>
                      </a:tcPr>
                    </a:tc>
                    <a:tc>
                      <a:txBody>
                        <a:bodyPr/>
                        <a:lstStyle/>
                        <a:p>
                          <a:endParaRPr lang="en-US"/>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blipFill>
                          <a:blip r:embed="rId6"/>
                          <a:stretch>
                            <a:fillRect l="-301205" t="-145455" r="-1205" b="-105455"/>
                          </a:stretch>
                        </a:blipFill>
                      </a:tcPr>
                    </a:tc>
                    <a:extLst>
                      <a:ext uri="{0D108BD9-81ED-4DB2-BD59-A6C34878D82A}">
                        <a16:rowId xmlns:a16="http://schemas.microsoft.com/office/drawing/2014/main" val="1123763166"/>
                      </a:ext>
                    </a:extLst>
                  </a:tr>
                  <a:tr h="694238">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blipFill>
                          <a:blip r:embed="rId6"/>
                          <a:stretch>
                            <a:fillRect t="-245455" r="-302410" b="-5455"/>
                          </a:stretch>
                        </a:blipFill>
                      </a:tcPr>
                    </a:tc>
                    <a:tc>
                      <a:txBody>
                        <a:bodyPr/>
                        <a:lstStyle/>
                        <a:p>
                          <a:endParaRPr lang="en-US"/>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blipFill>
                          <a:blip r:embed="rId6"/>
                          <a:stretch>
                            <a:fillRect l="-98810" t="-245455" r="-198810" b="-5455"/>
                          </a:stretch>
                        </a:blipFill>
                      </a:tcPr>
                    </a:tc>
                    <a:tc>
                      <a:txBody>
                        <a:bodyPr/>
                        <a:lstStyle/>
                        <a:p>
                          <a:endParaRPr lang="en-US"/>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blipFill>
                          <a:blip r:embed="rId6"/>
                          <a:stretch>
                            <a:fillRect l="-201205" t="-245455" r="-101205" b="-5455"/>
                          </a:stretch>
                        </a:blipFill>
                      </a:tcPr>
                    </a:tc>
                    <a:tc>
                      <a:txBody>
                        <a:bodyPr/>
                        <a:lstStyle/>
                        <a:p>
                          <a:endParaRPr lang="en-US"/>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6"/>
                          <a:stretch>
                            <a:fillRect l="-301205" t="-245455" r="-1205" b="-5455"/>
                          </a:stretch>
                        </a:blipFill>
                      </a:tcPr>
                    </a:tc>
                    <a:extLst>
                      <a:ext uri="{0D108BD9-81ED-4DB2-BD59-A6C34878D82A}">
                        <a16:rowId xmlns:a16="http://schemas.microsoft.com/office/drawing/2014/main" val="1449969614"/>
                      </a:ext>
                    </a:extLst>
                  </a:tr>
                </a:tbl>
              </a:graphicData>
            </a:graphic>
          </p:graphicFrame>
        </mc:Fallback>
      </mc:AlternateContent>
      <p:sp>
        <p:nvSpPr>
          <p:cNvPr id="10"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47</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163782" y="374090"/>
            <a:ext cx="10015102" cy="1451639"/>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whether each of the possible values is a solution to the given inequalities.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a:spcAft>
                <a:spcPts val="1000"/>
              </a:spcAft>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Record the solutions in the table.</a:t>
            </a:r>
          </a:p>
        </p:txBody>
      </p:sp>
      <p:sp>
        <p:nvSpPr>
          <p:cNvPr id="239" name="Google Shape;239;p1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62610F7B-2EB5-0147-AD61-A63E93267C14}"/>
                  </a:ext>
                </a:extLst>
              </p:cNvPr>
              <p:cNvGraphicFramePr>
                <a:graphicFrameLocks noGrp="1"/>
              </p:cNvGraphicFramePr>
              <p:nvPr>
                <p:extLst>
                  <p:ext uri="{D42A27DB-BD31-4B8C-83A1-F6EECF244321}">
                    <p14:modId xmlns:p14="http://schemas.microsoft.com/office/powerpoint/2010/main" val="1700631974"/>
                  </p:ext>
                </p:extLst>
              </p:nvPr>
            </p:nvGraphicFramePr>
            <p:xfrm>
              <a:off x="2667000" y="1825729"/>
              <a:ext cx="6858000" cy="2784475"/>
            </p:xfrm>
            <a:graphic>
              <a:graphicData uri="http://schemas.openxmlformats.org/drawingml/2006/table">
                <a:tbl>
                  <a:tblPr firstRow="1" firstCol="1" bandRow="1"/>
                  <a:tblGrid>
                    <a:gridCol w="2290445">
                      <a:extLst>
                        <a:ext uri="{9D8B030D-6E8A-4147-A177-3AD203B41FA5}">
                          <a16:colId xmlns:a16="http://schemas.microsoft.com/office/drawing/2014/main" xmlns="" val="1581774390"/>
                        </a:ext>
                      </a:extLst>
                    </a:gridCol>
                    <a:gridCol w="2290445">
                      <a:extLst>
                        <a:ext uri="{9D8B030D-6E8A-4147-A177-3AD203B41FA5}">
                          <a16:colId xmlns:a16="http://schemas.microsoft.com/office/drawing/2014/main" xmlns="" val="4267770460"/>
                        </a:ext>
                      </a:extLst>
                    </a:gridCol>
                    <a:gridCol w="2277110">
                      <a:extLst>
                        <a:ext uri="{9D8B030D-6E8A-4147-A177-3AD203B41FA5}">
                          <a16:colId xmlns:a16="http://schemas.microsoft.com/office/drawing/2014/main" xmlns="" val="3675952719"/>
                        </a:ext>
                      </a:extLst>
                    </a:gridCol>
                  </a:tblGrid>
                  <a:tr h="65087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𝒙</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𝟓</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𝟏𝟑</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𝒙</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𝟓</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𝟏𝟑</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Not a Solution to Either</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736985353"/>
                      </a:ext>
                    </a:extLst>
                  </a:tr>
                  <a:tr h="63373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02517931"/>
                      </a:ext>
                    </a:extLst>
                  </a:tr>
                </a:tbl>
              </a:graphicData>
            </a:graphic>
          </p:graphicFrame>
        </mc:Choice>
        <mc:Fallback xmlns="">
          <p:graphicFrame>
            <p:nvGraphicFramePr>
              <p:cNvPr id="2" name="Table 1">
                <a:extLst>
                  <a:ext uri="{FF2B5EF4-FFF2-40B4-BE49-F238E27FC236}">
                    <a16:creationId xmlns:a16="http://schemas.microsoft.com/office/drawing/2014/main" id="{62610F7B-2EB5-0147-AD61-A63E93267C14}"/>
                  </a:ext>
                </a:extLst>
              </p:cNvPr>
              <p:cNvGraphicFramePr>
                <a:graphicFrameLocks noGrp="1"/>
              </p:cNvGraphicFramePr>
              <p:nvPr>
                <p:extLst>
                  <p:ext uri="{D42A27DB-BD31-4B8C-83A1-F6EECF244321}">
                    <p14:modId xmlns:p14="http://schemas.microsoft.com/office/powerpoint/2010/main" val="1700631974"/>
                  </p:ext>
                </p:extLst>
              </p:nvPr>
            </p:nvGraphicFramePr>
            <p:xfrm>
              <a:off x="1143000" y="1825728"/>
              <a:ext cx="6858000" cy="2784475"/>
            </p:xfrm>
            <a:graphic>
              <a:graphicData uri="http://schemas.openxmlformats.org/drawingml/2006/table">
                <a:tbl>
                  <a:tblPr firstRow="1" firstCol="1" bandRow="1"/>
                  <a:tblGrid>
                    <a:gridCol w="2290445">
                      <a:extLst>
                        <a:ext uri="{9D8B030D-6E8A-4147-A177-3AD203B41FA5}">
                          <a16:colId xmlns:a16="http://schemas.microsoft.com/office/drawing/2014/main" val="1581774390"/>
                        </a:ext>
                      </a:extLst>
                    </a:gridCol>
                    <a:gridCol w="2290445">
                      <a:extLst>
                        <a:ext uri="{9D8B030D-6E8A-4147-A177-3AD203B41FA5}">
                          <a16:colId xmlns:a16="http://schemas.microsoft.com/office/drawing/2014/main" val="4267770460"/>
                        </a:ext>
                      </a:extLst>
                    </a:gridCol>
                    <a:gridCol w="2277110">
                      <a:extLst>
                        <a:ext uri="{9D8B030D-6E8A-4147-A177-3AD203B41FA5}">
                          <a16:colId xmlns:a16="http://schemas.microsoft.com/office/drawing/2014/main" val="3675952719"/>
                        </a:ext>
                      </a:extLst>
                    </a:gridCol>
                  </a:tblGrid>
                  <a:tr h="65087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56" t="-7692" r="-201111" b="-326923"/>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000" t="-7692" r="-100000" b="-326923"/>
                          </a:stretch>
                        </a:blip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Not a Solution to Either</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36985353"/>
                      </a:ext>
                    </a:extLst>
                  </a:tr>
                  <a:tr h="2133600">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2517931"/>
                      </a:ext>
                    </a:extLst>
                  </a:tr>
                </a:tbl>
              </a:graphicData>
            </a:graphic>
          </p:graphicFrame>
        </mc:Fallback>
      </mc:AlternateContent>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052945" y="374089"/>
            <a:ext cx="10236776" cy="4016444"/>
          </a:xfrm>
          <a:prstGeom prst="rect">
            <a:avLst/>
          </a:prstGeom>
          <a:noFill/>
          <a:ln>
            <a:noFill/>
          </a:ln>
        </p:spPr>
        <p:txBody>
          <a:bodyPr spcFirstLastPara="1" wrap="square" lIns="91425" tIns="45700" rIns="91425" bIns="45700" anchor="t" anchorCtr="0">
            <a:spAutoFit/>
          </a:bodyPr>
          <a:lstStyle/>
          <a:p>
            <a:pPr marL="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 b. Explain the strategy you used to identify solutions.</a:t>
            </a: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2. Discuss with your partner why an inequality has infinitely many solutions. </a:t>
            </a:r>
          </a:p>
        </p:txBody>
      </p:sp>
      <p:sp>
        <p:nvSpPr>
          <p:cNvPr id="239" name="Google Shape;239;p1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xmlns="" id="{96FD49B6-EB4D-2A43-89D5-3C928E808F84}"/>
              </a:ext>
            </a:extLst>
          </p:cNvPr>
          <p:cNvGrpSpPr/>
          <p:nvPr/>
        </p:nvGrpSpPr>
        <p:grpSpPr>
          <a:xfrm>
            <a:off x="2326146" y="2435083"/>
            <a:ext cx="7539708" cy="1132065"/>
            <a:chOff x="1957558" y="3275735"/>
            <a:chExt cx="6703142" cy="1008525"/>
          </a:xfrm>
          <a:effectLst>
            <a:outerShdw blurRad="50800" dist="38100" dir="2700000" algn="tl" rotWithShape="0">
              <a:prstClr val="black">
                <a:alpha val="40000"/>
              </a:prstClr>
            </a:outerShdw>
          </a:effectLst>
        </p:grpSpPr>
        <p:grpSp>
          <p:nvGrpSpPr>
            <p:cNvPr id="7" name="Group 6">
              <a:extLst>
                <a:ext uri="{FF2B5EF4-FFF2-40B4-BE49-F238E27FC236}">
                  <a16:creationId xmlns:a16="http://schemas.microsoft.com/office/drawing/2014/main" xmlns="" id="{39E925E2-8FB1-B742-B4BC-F6DD5191CE06}"/>
                </a:ext>
              </a:extLst>
            </p:cNvPr>
            <p:cNvGrpSpPr/>
            <p:nvPr/>
          </p:nvGrpSpPr>
          <p:grpSpPr>
            <a:xfrm>
              <a:off x="1957558" y="3275735"/>
              <a:ext cx="6703142" cy="1008525"/>
              <a:chOff x="1957558" y="3275735"/>
              <a:chExt cx="6703142" cy="1008525"/>
            </a:xfrm>
          </p:grpSpPr>
          <p:sp>
            <p:nvSpPr>
              <p:cNvPr id="8" name="Rectangle 7">
                <a:extLst>
                  <a:ext uri="{FF2B5EF4-FFF2-40B4-BE49-F238E27FC236}">
                    <a16:creationId xmlns:a16="http://schemas.microsoft.com/office/drawing/2014/main" xmlns="" id="{5748C993-812A-F544-83E4-ABB14C31E232}"/>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grpSp>
            <p:nvGrpSpPr>
              <p:cNvPr id="9" name="Group 8">
                <a:extLst>
                  <a:ext uri="{FF2B5EF4-FFF2-40B4-BE49-F238E27FC236}">
                    <a16:creationId xmlns:a16="http://schemas.microsoft.com/office/drawing/2014/main" xmlns="" id="{52B41E19-75B1-114D-AD7D-72D9601229B0}"/>
                  </a:ext>
                </a:extLst>
              </p:cNvPr>
              <p:cNvGrpSpPr/>
              <p:nvPr/>
            </p:nvGrpSpPr>
            <p:grpSpPr>
              <a:xfrm>
                <a:off x="1957558" y="3275735"/>
                <a:ext cx="6703142" cy="1008525"/>
                <a:chOff x="1957558" y="3275735"/>
                <a:chExt cx="6703142" cy="1008525"/>
              </a:xfrm>
            </p:grpSpPr>
            <p:sp>
              <p:nvSpPr>
                <p:cNvPr id="10" name="Rectangle 9">
                  <a:extLst>
                    <a:ext uri="{FF2B5EF4-FFF2-40B4-BE49-F238E27FC236}">
                      <a16:creationId xmlns:a16="http://schemas.microsoft.com/office/drawing/2014/main" xmlns="" id="{B832F503-8610-C649-B0CE-043120D3CAB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grpSp>
              <p:nvGrpSpPr>
                <p:cNvPr id="11" name="Group 10">
                  <a:extLst>
                    <a:ext uri="{FF2B5EF4-FFF2-40B4-BE49-F238E27FC236}">
                      <a16:creationId xmlns:a16="http://schemas.microsoft.com/office/drawing/2014/main" xmlns="" id="{82199332-EE03-8D44-AC22-0DA7CEE1FE88}"/>
                    </a:ext>
                  </a:extLst>
                </p:cNvPr>
                <p:cNvGrpSpPr/>
                <p:nvPr/>
              </p:nvGrpSpPr>
              <p:grpSpPr>
                <a:xfrm>
                  <a:off x="1957558" y="3275735"/>
                  <a:ext cx="6703142" cy="1008525"/>
                  <a:chOff x="1957558" y="3275735"/>
                  <a:chExt cx="6703142" cy="1008525"/>
                </a:xfrm>
              </p:grpSpPr>
              <p:sp>
                <p:nvSpPr>
                  <p:cNvPr id="12" name="Rectangle 11">
                    <a:extLst>
                      <a:ext uri="{FF2B5EF4-FFF2-40B4-BE49-F238E27FC236}">
                        <a16:creationId xmlns:a16="http://schemas.microsoft.com/office/drawing/2014/main" xmlns="" id="{84FA0368-32E2-7B4B-B67F-272285000F11}"/>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grpSp>
                <p:nvGrpSpPr>
                  <p:cNvPr id="13" name="Group 12">
                    <a:extLst>
                      <a:ext uri="{FF2B5EF4-FFF2-40B4-BE49-F238E27FC236}">
                        <a16:creationId xmlns:a16="http://schemas.microsoft.com/office/drawing/2014/main" xmlns="" id="{CA0D60F3-CCAF-C140-BADE-2E86DC5D486F}"/>
                      </a:ext>
                    </a:extLst>
                  </p:cNvPr>
                  <p:cNvGrpSpPr/>
                  <p:nvPr/>
                </p:nvGrpSpPr>
                <p:grpSpPr>
                  <a:xfrm>
                    <a:off x="1957558" y="3275735"/>
                    <a:ext cx="6703142" cy="1008525"/>
                    <a:chOff x="1957558" y="3275735"/>
                    <a:chExt cx="6703142" cy="1008525"/>
                  </a:xfrm>
                </p:grpSpPr>
                <p:sp>
                  <p:nvSpPr>
                    <p:cNvPr id="14" name="Rectangle 13">
                      <a:extLst>
                        <a:ext uri="{FF2B5EF4-FFF2-40B4-BE49-F238E27FC236}">
                          <a16:creationId xmlns:a16="http://schemas.microsoft.com/office/drawing/2014/main" xmlns="" id="{09398F3C-9A96-BA48-B270-0E594C011F9D}"/>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grpSp>
                  <p:nvGrpSpPr>
                    <p:cNvPr id="15" name="Group 14">
                      <a:extLst>
                        <a:ext uri="{FF2B5EF4-FFF2-40B4-BE49-F238E27FC236}">
                          <a16:creationId xmlns:a16="http://schemas.microsoft.com/office/drawing/2014/main" xmlns="" id="{46151FBB-95F8-664F-932D-0CD8081021D5}"/>
                        </a:ext>
                      </a:extLst>
                    </p:cNvPr>
                    <p:cNvGrpSpPr/>
                    <p:nvPr/>
                  </p:nvGrpSpPr>
                  <p:grpSpPr>
                    <a:xfrm>
                      <a:off x="1957558" y="3275735"/>
                      <a:ext cx="6703142" cy="1008525"/>
                      <a:chOff x="-73742" y="0"/>
                      <a:chExt cx="6703142" cy="1008525"/>
                    </a:xfrm>
                  </p:grpSpPr>
                  <p:sp>
                    <p:nvSpPr>
                      <p:cNvPr id="16" name="Rectangle 15">
                        <a:extLst>
                          <a:ext uri="{FF2B5EF4-FFF2-40B4-BE49-F238E27FC236}">
                            <a16:creationId xmlns:a16="http://schemas.microsoft.com/office/drawing/2014/main" xmlns="" id="{B429872D-9858-C341-B216-EF9A56282D2C}"/>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grpSp>
                    <p:nvGrpSpPr>
                      <p:cNvPr id="17" name="Group 16">
                        <a:extLst>
                          <a:ext uri="{FF2B5EF4-FFF2-40B4-BE49-F238E27FC236}">
                            <a16:creationId xmlns:a16="http://schemas.microsoft.com/office/drawing/2014/main" xmlns="" id="{25A47C40-B340-ED47-BD1E-7BE9FF0272DA}"/>
                          </a:ext>
                        </a:extLst>
                      </p:cNvPr>
                      <p:cNvGrpSpPr/>
                      <p:nvPr/>
                    </p:nvGrpSpPr>
                    <p:grpSpPr>
                      <a:xfrm>
                        <a:off x="-73742" y="0"/>
                        <a:ext cx="6703142" cy="928606"/>
                        <a:chOff x="-73742" y="0"/>
                        <a:chExt cx="6703142" cy="928606"/>
                      </a:xfrm>
                    </p:grpSpPr>
                    <p:sp>
                      <p:nvSpPr>
                        <p:cNvPr id="19" name="Rectangle 18">
                          <a:extLst>
                            <a:ext uri="{FF2B5EF4-FFF2-40B4-BE49-F238E27FC236}">
                              <a16:creationId xmlns:a16="http://schemas.microsoft.com/office/drawing/2014/main" xmlns="" id="{A7B349D6-40B5-3140-8185-3ADBEE2818B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sp>
                      <p:nvSpPr>
                        <p:cNvPr id="20" name="Rectangle 19">
                          <a:extLst>
                            <a:ext uri="{FF2B5EF4-FFF2-40B4-BE49-F238E27FC236}">
                              <a16:creationId xmlns:a16="http://schemas.microsoft.com/office/drawing/2014/main" xmlns="" id="{152161CA-E6B3-3743-BEAA-349E59D8BE9C}"/>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2000">
                              <a:latin typeface="Times New Roman" panose="02020603050405020304" pitchFamily="18" charset="0"/>
                              <a:ea typeface="Times New Roman" panose="02020603050405020304" pitchFamily="18" charset="0"/>
                            </a:rPr>
                            <a:t> </a:t>
                          </a:r>
                        </a:p>
                      </p:txBody>
                    </p:sp>
                    <p:sp>
                      <p:nvSpPr>
                        <p:cNvPr id="21" name="Rounded Rectangle 20">
                          <a:extLst>
                            <a:ext uri="{FF2B5EF4-FFF2-40B4-BE49-F238E27FC236}">
                              <a16:creationId xmlns:a16="http://schemas.microsoft.com/office/drawing/2014/main" xmlns="" id="{9804E43D-64FA-C144-A145-7CF6E9B76B95}"/>
                            </a:ext>
                          </a:extLst>
                        </p:cNvPr>
                        <p:cNvSpPr/>
                        <p:nvPr/>
                      </p:nvSpPr>
                      <p:spPr>
                        <a:xfrm>
                          <a:off x="-73742" y="70304"/>
                          <a:ext cx="6629400" cy="858302"/>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742950"/>
                          <a:r>
                            <a:rPr lang="en-US" sz="2000" dirty="0">
                              <a:solidFill>
                                <a:srgbClr val="05619E"/>
                              </a:solidFill>
                              <a:latin typeface="Verdana" panose="020B0604030504040204" pitchFamily="34" charset="0"/>
                              <a:ea typeface="Verdana" panose="020B0604030504040204" pitchFamily="34" charset="0"/>
                              <a:cs typeface="Verdana" panose="020B0604030504040204" pitchFamily="34" charset="0"/>
                            </a:rPr>
                            <a:t>An inequality has infinite solutions and can be</a:t>
                          </a:r>
                          <a:endParaRPr lang="en-US" sz="2000" dirty="0">
                            <a:latin typeface="Times New Roman" panose="02020603050405020304" pitchFamily="18" charset="0"/>
                            <a:ea typeface="Times New Roman" panose="02020603050405020304" pitchFamily="18" charset="0"/>
                          </a:endParaRPr>
                        </a:p>
                        <a:p>
                          <a:pPr marL="742950"/>
                          <a:r>
                            <a:rPr lang="en-US" sz="2000" dirty="0">
                              <a:solidFill>
                                <a:srgbClr val="05619E"/>
                              </a:solidFill>
                              <a:latin typeface="Verdana" panose="020B0604030504040204" pitchFamily="34" charset="0"/>
                              <a:ea typeface="Verdana" panose="020B0604030504040204" pitchFamily="34" charset="0"/>
                              <a:cs typeface="Verdana" panose="020B0604030504040204" pitchFamily="34" charset="0"/>
                            </a:rPr>
                            <a:t>represented on a number line.</a:t>
                          </a:r>
                          <a:endParaRPr lang="en-US" sz="2000" dirty="0">
                            <a:latin typeface="Times New Roman" panose="02020603050405020304" pitchFamily="18" charset="0"/>
                            <a:ea typeface="Times New Roman" panose="02020603050405020304" pitchFamily="18" charset="0"/>
                          </a:endParaRPr>
                        </a:p>
                      </p:txBody>
                    </p:sp>
                  </p:grpSp>
                  <p:pic>
                    <p:nvPicPr>
                      <p:cNvPr id="18" name="Shape 31" descr="Icon&#10;&#10;Description automatically generated">
                        <a:extLst>
                          <a:ext uri="{FF2B5EF4-FFF2-40B4-BE49-F238E27FC236}">
                            <a16:creationId xmlns:a16="http://schemas.microsoft.com/office/drawing/2014/main" xmlns="" id="{2615F84E-533F-A144-AA47-A1D90888B9D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710" y="22836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sp>
        <p:nvSpPr>
          <p:cNvPr id="23"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47</a:t>
            </a:r>
            <a:endParaRPr i="1" dirty="0">
              <a:latin typeface="Calibri"/>
              <a:ea typeface="Calibri"/>
              <a:cs typeface="Calibri"/>
              <a:sym typeface="Calibri"/>
            </a:endParaRPr>
          </a:p>
        </p:txBody>
      </p:sp>
      <p:pic>
        <p:nvPicPr>
          <p:cNvPr id="2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80883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942109" y="374090"/>
                <a:ext cx="10458448" cy="5221902"/>
              </a:xfrm>
              <a:prstGeom prst="rect">
                <a:avLst/>
              </a:prstGeom>
              <a:noFill/>
              <a:ln>
                <a:noFill/>
              </a:ln>
            </p:spPr>
            <p:txBody>
              <a:bodyPr spcFirstLastPara="1" wrap="square" lIns="91425" tIns="45700" rIns="91425" bIns="45700" anchor="t" anchorCtr="0">
                <a:spAutoFit/>
              </a:bodyPr>
              <a:lstStyle/>
              <a:p>
                <a:pPr>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3. Predict the solution set for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2</m:t>
                    </m:r>
                    <m:r>
                      <a:rPr lang="en-US" sz="2000" i="1">
                        <a:latin typeface="Cambria Math" panose="02040503050406030204" pitchFamily="18" charset="0"/>
                        <a:ea typeface="Cambria Math" panose="02040503050406030204" pitchFamily="18" charset="0"/>
                        <a:cs typeface="Times New Roman" panose="02020603050405020304" pitchFamily="18" charset="0"/>
                      </a:rPr>
                      <m:t>𝑥</m:t>
                    </m:r>
                    <m:r>
                      <a:rPr lang="en-US" sz="2000" i="1">
                        <a:latin typeface="Cambria Math" panose="02040503050406030204" pitchFamily="18" charset="0"/>
                        <a:ea typeface="Cambria Math" panose="02040503050406030204" pitchFamily="18" charset="0"/>
                        <a:cs typeface="Times New Roman" panose="02020603050405020304" pitchFamily="18" charset="0"/>
                      </a:rPr>
                      <m:t>−5&gt;13</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b="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4. Predict the solution set for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2</m:t>
                    </m:r>
                    <m:r>
                      <a:rPr lang="en-US" sz="2000" i="1">
                        <a:latin typeface="Cambria Math" panose="02040503050406030204" pitchFamily="18" charset="0"/>
                        <a:ea typeface="Cambria Math" panose="02040503050406030204" pitchFamily="18" charset="0"/>
                        <a:cs typeface="Times New Roman" panose="02020603050405020304" pitchFamily="18" charset="0"/>
                      </a:rPr>
                      <m:t>𝑥</m:t>
                    </m:r>
                    <m:r>
                      <a:rPr lang="en-US" sz="2000" i="1">
                        <a:latin typeface="Cambria Math" panose="02040503050406030204" pitchFamily="18" charset="0"/>
                        <a:ea typeface="Cambria Math" panose="02040503050406030204" pitchFamily="18" charset="0"/>
                        <a:cs typeface="Times New Roman" panose="02020603050405020304" pitchFamily="18" charset="0"/>
                      </a:rPr>
                      <m:t>−5&lt;13</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indent="-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5. There are no values for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that satisfy both inequalities. Discuss with your partner why that is the case. Summarize your discussion.</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indent="-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6. Neither inequality had a solution of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How could the inequalities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2</m:t>
                    </m:r>
                    <m:r>
                      <a:rPr lang="en-US" sz="2000" i="1">
                        <a:latin typeface="Cambria Math" panose="02040503050406030204" pitchFamily="18" charset="0"/>
                        <a:ea typeface="Cambria Math" panose="02040503050406030204" pitchFamily="18" charset="0"/>
                        <a:cs typeface="Times New Roman" panose="02020603050405020304" pitchFamily="18" charset="0"/>
                      </a:rPr>
                      <m:t>𝑥</m:t>
                    </m:r>
                    <m:r>
                      <a:rPr lang="en-US" sz="2000" i="1">
                        <a:latin typeface="Cambria Math" panose="02040503050406030204" pitchFamily="18" charset="0"/>
                        <a:ea typeface="Cambria Math" panose="02040503050406030204" pitchFamily="18" charset="0"/>
                        <a:cs typeface="Times New Roman" panose="02020603050405020304" pitchFamily="18" charset="0"/>
                      </a:rPr>
                      <m:t> – 5&gt;13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2</m:t>
                    </m:r>
                    <m:r>
                      <a:rPr lang="en-US" sz="2000" i="1">
                        <a:latin typeface="Cambria Math" panose="02040503050406030204" pitchFamily="18" charset="0"/>
                        <a:ea typeface="Cambria Math" panose="02040503050406030204" pitchFamily="18" charset="0"/>
                        <a:cs typeface="Times New Roman" panose="02020603050405020304" pitchFamily="18" charset="0"/>
                      </a:rPr>
                      <m:t>𝑥</m:t>
                    </m:r>
                    <m:r>
                      <a:rPr lang="en-US" sz="2000" i="1">
                        <a:latin typeface="Cambria Math" panose="02040503050406030204" pitchFamily="18" charset="0"/>
                        <a:ea typeface="Cambria Math" panose="02040503050406030204" pitchFamily="18" charset="0"/>
                        <a:cs typeface="Times New Roman" panose="02020603050405020304" pitchFamily="18" charset="0"/>
                      </a:rPr>
                      <m:t> – 5&lt;13</m:t>
                    </m:r>
                  </m:oMath>
                </a14:m>
                <a:r>
                  <a:rPr lang="en-US" sz="2000" dirty="0">
                    <a:latin typeface="Verdana" panose="020B0604030504040204" pitchFamily="34" charset="0"/>
                    <a:ea typeface="Verdana" panose="020B0604030504040204" pitchFamily="34" charset="0"/>
                    <a:cs typeface="Verdana" panose="020B0604030504040204" pitchFamily="34" charset="0"/>
                  </a:rPr>
                  <a:t> be rewritten so that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would be part of the solution set?</a:t>
                </a: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942109" y="374090"/>
                <a:ext cx="10458448" cy="5221902"/>
              </a:xfrm>
              <a:prstGeom prst="rect">
                <a:avLst/>
              </a:prstGeom>
              <a:blipFill rotWithShape="0">
                <a:blip r:embed="rId3"/>
                <a:stretch>
                  <a:fillRect l="-641" t="-583" b="-6418"/>
                </a:stretch>
              </a:blipFill>
              <a:ln>
                <a:noFill/>
              </a:ln>
            </p:spPr>
            <p:txBody>
              <a:bodyPr/>
              <a:lstStyle/>
              <a:p>
                <a:r>
                  <a:rPr lang="en-US">
                    <a:noFill/>
                  </a:rPr>
                  <a:t> </a:t>
                </a:r>
              </a:p>
            </p:txBody>
          </p:sp>
        </mc:Fallback>
      </mc:AlternateContent>
      <p:sp>
        <p:nvSpPr>
          <p:cNvPr id="239" name="Google Shape;239;p1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5647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245232" y="97818"/>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1.8.3 Guided Practice: Solving Two-Step Inequalities</a:t>
            </a:r>
            <a:endParaRPr sz="1100" dirty="0"/>
          </a:p>
        </p:txBody>
      </p:sp>
      <p:pic>
        <p:nvPicPr>
          <p:cNvPr id="348" name="Google Shape;348;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95424" y="263844"/>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49" name="Google Shape;349;p22"/>
              <p:cNvSpPr txBox="1"/>
              <p:nvPr/>
            </p:nvSpPr>
            <p:spPr>
              <a:xfrm>
                <a:off x="1245232" y="1288489"/>
                <a:ext cx="9701536" cy="1759416"/>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Inequalities can be solved using similar strategies that are used for solving equations.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47663" indent="-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1. The work for solving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17=5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and the work for solving the inequality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17&lt;5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p:txBody>
          </p:sp>
        </mc:Choice>
        <mc:Fallback xmlns="">
          <p:sp>
            <p:nvSpPr>
              <p:cNvPr id="349" name="Google Shape;349;p22"/>
              <p:cNvSpPr txBox="1">
                <a:spLocks noRot="1" noChangeAspect="1" noMove="1" noResize="1" noEditPoints="1" noAdjustHandles="1" noChangeArrowheads="1" noChangeShapeType="1" noTextEdit="1"/>
              </p:cNvSpPr>
              <p:nvPr/>
            </p:nvSpPr>
            <p:spPr>
              <a:xfrm>
                <a:off x="1245232" y="1288489"/>
                <a:ext cx="9701536" cy="1759416"/>
              </a:xfrm>
              <a:prstGeom prst="rect">
                <a:avLst/>
              </a:prstGeom>
              <a:blipFill rotWithShape="0">
                <a:blip r:embed="rId4"/>
                <a:stretch>
                  <a:fillRect l="-628" t="-1730"/>
                </a:stretch>
              </a:blipFill>
              <a:ln>
                <a:noFill/>
              </a:ln>
            </p:spPr>
            <p:txBody>
              <a:bodyPr/>
              <a:lstStyle/>
              <a:p>
                <a:r>
                  <a:rPr lang="en-US">
                    <a:noFill/>
                  </a:rPr>
                  <a:t> </a:t>
                </a:r>
              </a:p>
            </p:txBody>
          </p:sp>
        </mc:Fallback>
      </mc:AlternateContent>
      <p:sp>
        <p:nvSpPr>
          <p:cNvPr id="350" name="Google Shape;350;p22"/>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Table&#10;&#10;Description automatically generated">
            <a:extLst>
              <a:ext uri="{FF2B5EF4-FFF2-40B4-BE49-F238E27FC236}">
                <a16:creationId xmlns:a16="http://schemas.microsoft.com/office/drawing/2014/main" xmlns="" id="{5B4C472E-62B2-F64F-8DAE-385D4C9E77FA}"/>
              </a:ext>
            </a:extLst>
          </p:cNvPr>
          <p:cNvPicPr>
            <a:picLocks noChangeAspect="1"/>
          </p:cNvPicPr>
          <p:nvPr/>
        </p:nvPicPr>
        <p:blipFill>
          <a:blip r:embed="rId5"/>
          <a:stretch>
            <a:fillRect/>
          </a:stretch>
        </p:blipFill>
        <p:spPr>
          <a:xfrm>
            <a:off x="2665942" y="3047905"/>
            <a:ext cx="6860117" cy="2867268"/>
          </a:xfrm>
          <a:prstGeom prst="rect">
            <a:avLst/>
          </a:prstGeom>
        </p:spPr>
      </p:pic>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8" name="Google Shape;358;p23"/>
          <p:cNvSpPr txBox="1"/>
          <p:nvPr/>
        </p:nvSpPr>
        <p:spPr>
          <a:xfrm>
            <a:off x="983673" y="386281"/>
            <a:ext cx="10224654" cy="4837181"/>
          </a:xfrm>
          <a:prstGeom prst="rect">
            <a:avLst/>
          </a:prstGeom>
          <a:noFill/>
          <a:ln>
            <a:noFill/>
          </a:ln>
        </p:spPr>
        <p:txBody>
          <a:bodyPr spcFirstLastPara="1" wrap="square" lIns="91425" tIns="45700" rIns="91425" bIns="45700" anchor="t" anchorCtr="0">
            <a:spAutoFit/>
          </a:bodyPr>
          <a:lstStyle/>
          <a:p>
            <a:pPr marL="347663" indent="-347663">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a. Complete the table with the justification of each step used for solving the equation and the inequality.</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solution for the equation and the solution set for the inequality is shown.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47663"/>
            <a:r>
              <a:rPr lang="en-US" sz="2000" dirty="0">
                <a:latin typeface="Verdana" panose="020B0604030504040204" pitchFamily="34" charset="0"/>
                <a:ea typeface="Verdana" panose="020B0604030504040204" pitchFamily="34" charset="0"/>
                <a:cs typeface="Verdana" panose="020B0604030504040204" pitchFamily="34" charset="0"/>
              </a:rPr>
              <a:t>b. Discuss with your partner the similarities and differences between solving and graphing the solutions for equations and inequalities. Summarize your discussion.</a:t>
            </a:r>
          </a:p>
        </p:txBody>
      </p:sp>
      <p:sp>
        <p:nvSpPr>
          <p:cNvPr id="359" name="Google Shape;359;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Chart, box and whisker chart&#10;&#10;Description automatically generated">
            <a:extLst>
              <a:ext uri="{FF2B5EF4-FFF2-40B4-BE49-F238E27FC236}">
                <a16:creationId xmlns:a16="http://schemas.microsoft.com/office/drawing/2014/main" xmlns="" id="{A81D1BF3-C4E8-0848-AE5D-983CA417FC13}"/>
              </a:ext>
            </a:extLst>
          </p:cNvPr>
          <p:cNvPicPr>
            <a:picLocks noChangeAspect="1"/>
          </p:cNvPicPr>
          <p:nvPr/>
        </p:nvPicPr>
        <p:blipFill>
          <a:blip r:embed="rId3"/>
          <a:stretch>
            <a:fillRect/>
          </a:stretch>
        </p:blipFill>
        <p:spPr>
          <a:xfrm>
            <a:off x="2146300" y="2290865"/>
            <a:ext cx="7899400" cy="1676400"/>
          </a:xfrm>
          <a:prstGeom prst="rect">
            <a:avLst/>
          </a:prstGeom>
        </p:spPr>
      </p:pic>
      <p:sp>
        <p:nvSpPr>
          <p:cNvPr id="7"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48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039091" y="329838"/>
                <a:ext cx="10385392" cy="5991343"/>
              </a:xfrm>
              <a:prstGeom prst="rect">
                <a:avLst/>
              </a:prstGeom>
              <a:noFill/>
              <a:ln>
                <a:noFill/>
              </a:ln>
            </p:spPr>
            <p:txBody>
              <a:bodyPr spcFirstLastPara="1" wrap="square" lIns="91425" tIns="45700" rIns="91425" bIns="45700" anchor="t" anchorCtr="0">
                <a:spAutoFit/>
              </a:bodyPr>
              <a:lstStyle/>
              <a:p>
                <a:pPr marL="347663" indent="-336550">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2. The work for solving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13=−5</m:t>
                    </m:r>
                    <m:r>
                      <a:rPr lang="en-US" sz="2000" i="1">
                        <a:latin typeface="Cambria Math" panose="02040503050406030204" pitchFamily="18" charset="0"/>
                        <a:ea typeface="Times New Roman" panose="02020603050405020304" pitchFamily="18" charset="0"/>
                        <a:cs typeface="Times New Roman" panose="02020603050405020304" pitchFamily="18" charset="0"/>
                      </a:rPr>
                      <m:t>𝑡</m:t>
                    </m:r>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and the inequality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13≥−5</m:t>
                    </m:r>
                    <m:r>
                      <a:rPr lang="en-US" sz="2000" i="1">
                        <a:latin typeface="Cambria Math" panose="02040503050406030204" pitchFamily="18" charset="0"/>
                        <a:ea typeface="Times New Roman" panose="02020603050405020304" pitchFamily="18" charset="0"/>
                        <a:cs typeface="Times New Roman" panose="02020603050405020304" pitchFamily="18" charset="0"/>
                      </a:rPr>
                      <m:t>𝑡</m:t>
                    </m:r>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7663" indent="-336550">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8038" indent="-404813">
                  <a:spcAft>
                    <a:spcPts val="1000"/>
                  </a:spcAft>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with the justification of each step used for solving the equation and the inequality.</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752475" indent="-349250">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b. How did the final step of solving the inequality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13≥−5</m:t>
                    </m:r>
                    <m:r>
                      <a:rPr lang="en-US" sz="2000" i="1">
                        <a:latin typeface="Cambria Math" panose="02040503050406030204" pitchFamily="18" charset="0"/>
                        <a:ea typeface="Times New Roman" panose="02020603050405020304" pitchFamily="18" charset="0"/>
                        <a:cs typeface="Times New Roman" panose="02020603050405020304" pitchFamily="18" charset="0"/>
                      </a:rPr>
                      <m:t>𝑡</m:t>
                    </m:r>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Verdana" panose="020B0604030504040204" pitchFamily="34" charset="0"/>
                  </a:rPr>
                  <a:t> differ from the final step of solving the inequality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17&lt;5</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a:latin typeface="Cambria Math" panose="02040503050406030204" pitchFamily="18" charset="0"/>
                        <a:ea typeface="Times New Roman" panose="02020603050405020304" pitchFamily="18" charset="0"/>
                        <a:cs typeface="Times New Roman" panose="02020603050405020304" pitchFamily="18" charset="0"/>
                      </a:rPr>
                      <m:t>9?</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039091" y="329838"/>
                <a:ext cx="10385392" cy="5991343"/>
              </a:xfrm>
              <a:prstGeom prst="rect">
                <a:avLst/>
              </a:prstGeom>
              <a:blipFill>
                <a:blip r:embed="rId3"/>
                <a:stretch>
                  <a:fillRect l="-469" t="-509" r="-1350"/>
                </a:stretch>
              </a:blipFill>
              <a:ln>
                <a:noFill/>
              </a:ln>
            </p:spPr>
            <p:txBody>
              <a:bodyPr/>
              <a:lstStyle/>
              <a:p>
                <a:r>
                  <a:rPr lang="en-IN">
                    <a:noFill/>
                  </a:rPr>
                  <a:t> </a:t>
                </a:r>
              </a:p>
            </p:txBody>
          </p:sp>
        </mc:Fallback>
      </mc:AlternateContent>
      <p:sp>
        <p:nvSpPr>
          <p:cNvPr id="359" name="Google Shape;359;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xmlns="" id="{B7C1E0D9-7816-4CF8-A6DD-037548CF2D26}"/>
                  </a:ext>
                </a:extLst>
              </p:cNvPr>
              <p:cNvGraphicFramePr>
                <a:graphicFrameLocks noGrp="1"/>
              </p:cNvGraphicFramePr>
              <p:nvPr>
                <p:extLst>
                  <p:ext uri="{D42A27DB-BD31-4B8C-83A1-F6EECF244321}">
                    <p14:modId xmlns:p14="http://schemas.microsoft.com/office/powerpoint/2010/main" val="3428841204"/>
                  </p:ext>
                </p:extLst>
              </p:nvPr>
            </p:nvGraphicFramePr>
            <p:xfrm>
              <a:off x="2422597" y="1019611"/>
              <a:ext cx="7550077" cy="3083574"/>
            </p:xfrm>
            <a:graphic>
              <a:graphicData uri="http://schemas.openxmlformats.org/drawingml/2006/table">
                <a:tbl>
                  <a:tblPr firstRow="1" firstCol="1" bandRow="1"/>
                  <a:tblGrid>
                    <a:gridCol w="2521586">
                      <a:extLst>
                        <a:ext uri="{9D8B030D-6E8A-4147-A177-3AD203B41FA5}">
                          <a16:colId xmlns:a16="http://schemas.microsoft.com/office/drawing/2014/main" xmlns="" val="1581774390"/>
                        </a:ext>
                      </a:extLst>
                    </a:gridCol>
                    <a:gridCol w="2521586">
                      <a:extLst>
                        <a:ext uri="{9D8B030D-6E8A-4147-A177-3AD203B41FA5}">
                          <a16:colId xmlns:a16="http://schemas.microsoft.com/office/drawing/2014/main" xmlns="" val="4267770460"/>
                        </a:ext>
                      </a:extLst>
                    </a:gridCol>
                    <a:gridCol w="2506905">
                      <a:extLst>
                        <a:ext uri="{9D8B030D-6E8A-4147-A177-3AD203B41FA5}">
                          <a16:colId xmlns:a16="http://schemas.microsoft.com/office/drawing/2014/main" xmlns="" val="3675952719"/>
                        </a:ext>
                      </a:extLst>
                    </a:gridCol>
                  </a:tblGrid>
                  <a:tr h="38653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Justification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Inequality</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736985353"/>
                      </a:ext>
                    </a:extLst>
                  </a:tr>
                  <a:tr h="2537201">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13=−5</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𝑡</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−7</m:t>
                                </m:r>
                              </m:oMath>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+7             +7</m:t>
                                </m:r>
                              </m:oMath>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20=−5</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𝑡</m:t>
                                </m:r>
                              </m:oMath>
                              <m:oMath xmlns:m="http://schemas.openxmlformats.org/officeDocument/2006/math">
                                <m:f>
                                  <m:fPr>
                                    <m:ctrlPr>
                                      <a:rPr lang="en-IN" sz="2000" b="0" i="1" smtClean="0">
                                        <a:effectLst/>
                                        <a:latin typeface="Cambria Math" charset="0"/>
                                        <a:ea typeface="Verdana" panose="020B0604030504040204" pitchFamily="34" charset="0"/>
                                      </a:rPr>
                                    </m:ctrlPr>
                                  </m:fPr>
                                  <m:num>
                                    <m:r>
                                      <a:rPr lang="en-IN" sz="2000" b="0" i="1" smtClean="0">
                                        <a:effectLst/>
                                        <a:latin typeface="Cambria Math" panose="02040503050406030204" pitchFamily="18" charset="0"/>
                                        <a:ea typeface="Verdana" panose="020B0604030504040204" pitchFamily="34" charset="0"/>
                                      </a:rPr>
                                      <m:t>20</m:t>
                                    </m:r>
                                  </m:num>
                                  <m:den>
                                    <m:r>
                                      <a:rPr lang="en-IN" sz="2000" b="0" i="1" smtClean="0">
                                        <a:effectLst/>
                                        <a:latin typeface="Cambria Math" panose="02040503050406030204" pitchFamily="18" charset="0"/>
                                        <a:ea typeface="Verdana" panose="020B0604030504040204" pitchFamily="34" charset="0"/>
                                      </a:rPr>
                                      <m:t>−5</m:t>
                                    </m:r>
                                  </m:den>
                                </m:f>
                                <m:r>
                                  <a:rPr lang="en-IN" sz="2000" b="0" i="1" smtClean="0">
                                    <a:effectLst/>
                                    <a:latin typeface="Cambria Math" panose="02040503050406030204" pitchFamily="18" charset="0"/>
                                    <a:ea typeface="Verdana" panose="020B0604030504040204" pitchFamily="34" charset="0"/>
                                  </a:rPr>
                                  <m:t>=</m:t>
                                </m:r>
                                <m:f>
                                  <m:fPr>
                                    <m:ctrlPr>
                                      <a:rPr lang="en-IN" sz="2000" b="0" i="1" smtClean="0">
                                        <a:effectLst/>
                                        <a:latin typeface="Cambria Math" charset="0"/>
                                        <a:ea typeface="Verdana" panose="020B0604030504040204" pitchFamily="34" charset="0"/>
                                      </a:rPr>
                                    </m:ctrlPr>
                                  </m:fPr>
                                  <m:num>
                                    <m:r>
                                      <a:rPr lang="en-IN" sz="2000" b="0" i="1" smtClean="0">
                                        <a:effectLst/>
                                        <a:latin typeface="Cambria Math" panose="02040503050406030204" pitchFamily="18" charset="0"/>
                                        <a:ea typeface="Verdana" panose="020B0604030504040204" pitchFamily="34" charset="0"/>
                                      </a:rPr>
                                      <m:t>−5</m:t>
                                    </m:r>
                                    <m:r>
                                      <a:rPr lang="en-IN" sz="2000" b="0" i="1" smtClean="0">
                                        <a:effectLst/>
                                        <a:latin typeface="Cambria Math" panose="02040503050406030204" pitchFamily="18" charset="0"/>
                                        <a:ea typeface="Verdana" panose="020B0604030504040204" pitchFamily="34" charset="0"/>
                                      </a:rPr>
                                      <m:t>𝑡</m:t>
                                    </m:r>
                                  </m:num>
                                  <m:den>
                                    <m:r>
                                      <a:rPr lang="en-IN" sz="2000" b="0" i="1" smtClean="0">
                                        <a:effectLst/>
                                        <a:latin typeface="Cambria Math" panose="02040503050406030204" pitchFamily="18" charset="0"/>
                                        <a:ea typeface="Verdana" panose="020B0604030504040204" pitchFamily="34" charset="0"/>
                                      </a:rPr>
                                      <m:t>−5</m:t>
                                    </m:r>
                                  </m:den>
                                </m:f>
                              </m:oMath>
                              <m:oMath xmlns:m="http://schemas.openxmlformats.org/officeDocument/2006/math">
                                <m:r>
                                  <a:rPr lang="en-IN" sz="2000" b="0" i="1" smtClean="0">
                                    <a:effectLst/>
                                    <a:latin typeface="Cambria Math" panose="02040503050406030204" pitchFamily="18" charset="0"/>
                                    <a:ea typeface="Verdana" panose="020B0604030504040204" pitchFamily="34" charset="0"/>
                                  </a:rPr>
                                  <m:t>−4=</m:t>
                                </m:r>
                                <m:r>
                                  <a:rPr lang="en-IN" sz="2000" b="0" i="1" smtClean="0">
                                    <a:effectLst/>
                                    <a:latin typeface="Cambria Math" panose="02040503050406030204" pitchFamily="18" charset="0"/>
                                    <a:ea typeface="Verdana" panose="020B0604030504040204" pitchFamily="34" charset="0"/>
                                  </a:rPr>
                                  <m:t>𝑡</m:t>
                                </m:r>
                              </m:oMath>
                            </m:oMathPara>
                          </a14:m>
                          <a:endParaRPr lang="en-IN" sz="2000" b="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13</m:t>
                              </m:r>
                              <m:r>
                                <a:rPr lang="en-IN" sz="2000" b="0" i="1" smtClean="0">
                                  <a:effectLst/>
                                  <a:latin typeface="Cambria Math" panose="02040503050406030204" pitchFamily="18" charset="0"/>
                                  <a:ea typeface="Cambria Math" panose="02040503050406030204" pitchFamily="18" charset="0"/>
                                  <a:cs typeface="Verdana" panose="020B0604030504040204" pitchFamily="34" charset="0"/>
                                </a:rPr>
                                <m:t>≥</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−5</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𝑡</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−7</m:t>
                              </m:r>
                            </m:oMath>
                          </a14:m>
                          <a:r>
                            <a:rPr lang="en-IN" sz="2000" b="0" i="1" dirty="0">
                              <a:effectLst/>
                              <a:latin typeface="Cambria Math" panose="02040503050406030204" pitchFamily="18" charset="0"/>
                              <a:ea typeface="Verdana" panose="020B0604030504040204" pitchFamily="34" charset="0"/>
                              <a:cs typeface="Verdana" panose="020B0604030504040204" pitchFamily="34" charset="0"/>
                            </a:rPr>
                            <a:t/>
                          </a:r>
                          <a:br>
                            <a:rPr lang="en-IN" sz="2000" b="0" i="1" dirty="0">
                              <a:effectLst/>
                              <a:latin typeface="Cambria Math" panose="02040503050406030204" pitchFamily="18" charset="0"/>
                              <a:ea typeface="Verdana" panose="020B0604030504040204" pitchFamily="34" charset="0"/>
                              <a:cs typeface="Verdana" panose="020B0604030504040204" pitchFamily="34" charset="0"/>
                            </a:rPr>
                          </a:b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+7             +7</m:t>
                                </m:r>
                              </m:oMath>
                              <m:oMath xmlns:m="http://schemas.openxmlformats.org/officeDocument/2006/math">
                                <m:r>
                                  <a:rPr lang="en-IN" sz="2000" b="0" i="1" smtClean="0">
                                    <a:effectLst/>
                                    <a:latin typeface="Cambria Math" panose="02040503050406030204" pitchFamily="18" charset="0"/>
                                    <a:ea typeface="Verdana" panose="020B0604030504040204" pitchFamily="34" charset="0"/>
                                    <a:cs typeface="Verdana" panose="020B0604030504040204" pitchFamily="34" charset="0"/>
                                  </a:rPr>
                                  <m:t>20</m:t>
                                </m:r>
                                <m:r>
                                  <a:rPr lang="en-IN" sz="2000" b="0" i="1" smtClean="0">
                                    <a:effectLst/>
                                    <a:latin typeface="Cambria Math" panose="02040503050406030204" pitchFamily="18" charset="0"/>
                                    <a:ea typeface="Cambria Math" panose="02040503050406030204" pitchFamily="18" charset="0"/>
                                    <a:cs typeface="Verdana" panose="020B0604030504040204" pitchFamily="34" charset="0"/>
                                  </a:rPr>
                                  <m:t>≥</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−5</m:t>
                                </m:r>
                                <m:r>
                                  <a:rPr lang="en-IN" sz="2000" b="0" i="1" smtClean="0">
                                    <a:effectLst/>
                                    <a:latin typeface="Cambria Math" panose="02040503050406030204" pitchFamily="18" charset="0"/>
                                    <a:ea typeface="Verdana" panose="020B0604030504040204" pitchFamily="34" charset="0"/>
                                    <a:cs typeface="Verdana" panose="020B0604030504040204" pitchFamily="34" charset="0"/>
                                  </a:rPr>
                                  <m:t>𝑡</m:t>
                                </m:r>
                              </m:oMath>
                              <m:oMath xmlns:m="http://schemas.openxmlformats.org/officeDocument/2006/math">
                                <m:f>
                                  <m:fPr>
                                    <m:ctrlPr>
                                      <a:rPr lang="en-IN" sz="2000" b="0" i="1" smtClean="0">
                                        <a:effectLst/>
                                        <a:latin typeface="Cambria Math" charset="0"/>
                                        <a:ea typeface="Verdana" panose="020B0604030504040204" pitchFamily="34" charset="0"/>
                                      </a:rPr>
                                    </m:ctrlPr>
                                  </m:fPr>
                                  <m:num>
                                    <m:r>
                                      <a:rPr lang="en-IN" sz="2000" b="0" i="1" smtClean="0">
                                        <a:effectLst/>
                                        <a:latin typeface="Cambria Math" panose="02040503050406030204" pitchFamily="18" charset="0"/>
                                        <a:ea typeface="Verdana" panose="020B0604030504040204" pitchFamily="34" charset="0"/>
                                      </a:rPr>
                                      <m:t>20</m:t>
                                    </m:r>
                                  </m:num>
                                  <m:den>
                                    <m:r>
                                      <a:rPr lang="en-IN" sz="2000" b="0" i="1" smtClean="0">
                                        <a:effectLst/>
                                        <a:latin typeface="Cambria Math" panose="02040503050406030204" pitchFamily="18" charset="0"/>
                                        <a:ea typeface="Verdana" panose="020B0604030504040204" pitchFamily="34" charset="0"/>
                                      </a:rPr>
                                      <m:t>−5</m:t>
                                    </m:r>
                                  </m:den>
                                </m:f>
                                <m:r>
                                  <a:rPr lang="en-IN" sz="2000" b="0" i="1" smtClean="0">
                                    <a:effectLst/>
                                    <a:latin typeface="Cambria Math" panose="02040503050406030204" pitchFamily="18" charset="0"/>
                                    <a:ea typeface="Cambria Math" panose="02040503050406030204" pitchFamily="18" charset="0"/>
                                    <a:cs typeface="Verdana" panose="020B0604030504040204" pitchFamily="34" charset="0"/>
                                  </a:rPr>
                                  <m:t>≥</m:t>
                                </m:r>
                                <m:f>
                                  <m:fPr>
                                    <m:ctrlPr>
                                      <a:rPr lang="en-IN" sz="2000" b="0" i="1" smtClean="0">
                                        <a:effectLst/>
                                        <a:latin typeface="Cambria Math" charset="0"/>
                                        <a:ea typeface="Verdana" panose="020B0604030504040204" pitchFamily="34" charset="0"/>
                                      </a:rPr>
                                    </m:ctrlPr>
                                  </m:fPr>
                                  <m:num>
                                    <m:r>
                                      <a:rPr lang="en-IN" sz="2000" b="0" i="1" smtClean="0">
                                        <a:effectLst/>
                                        <a:latin typeface="Cambria Math" panose="02040503050406030204" pitchFamily="18" charset="0"/>
                                        <a:ea typeface="Verdana" panose="020B0604030504040204" pitchFamily="34" charset="0"/>
                                      </a:rPr>
                                      <m:t>−5</m:t>
                                    </m:r>
                                    <m:r>
                                      <a:rPr lang="en-IN" sz="2000" b="0" i="1" smtClean="0">
                                        <a:effectLst/>
                                        <a:latin typeface="Cambria Math" panose="02040503050406030204" pitchFamily="18" charset="0"/>
                                        <a:ea typeface="Verdana" panose="020B0604030504040204" pitchFamily="34" charset="0"/>
                                      </a:rPr>
                                      <m:t>𝑡</m:t>
                                    </m:r>
                                  </m:num>
                                  <m:den>
                                    <m:r>
                                      <a:rPr lang="en-IN" sz="2000" b="0" i="1" smtClean="0">
                                        <a:effectLst/>
                                        <a:latin typeface="Cambria Math" panose="02040503050406030204" pitchFamily="18" charset="0"/>
                                        <a:ea typeface="Verdana" panose="020B0604030504040204" pitchFamily="34" charset="0"/>
                                      </a:rPr>
                                      <m:t>−5</m:t>
                                    </m:r>
                                  </m:den>
                                </m:f>
                              </m:oMath>
                              <m:oMath xmlns:m="http://schemas.openxmlformats.org/officeDocument/2006/math">
                                <m:r>
                                  <a:rPr lang="en-IN" sz="2000" b="0" i="1" smtClean="0">
                                    <a:effectLst/>
                                    <a:latin typeface="Cambria Math" panose="02040503050406030204" pitchFamily="18" charset="0"/>
                                    <a:ea typeface="Verdana" panose="020B0604030504040204" pitchFamily="34" charset="0"/>
                                  </a:rPr>
                                  <m:t>−4</m:t>
                                </m:r>
                                <m:r>
                                  <a:rPr lang="en-IN" sz="2000" b="0" i="1" smtClean="0">
                                    <a:effectLst/>
                                    <a:latin typeface="Cambria Math" panose="02040503050406030204" pitchFamily="18" charset="0"/>
                                    <a:ea typeface="Cambria Math" panose="02040503050406030204" pitchFamily="18" charset="0"/>
                                  </a:rPr>
                                  <m:t>≤</m:t>
                                </m:r>
                                <m:r>
                                  <a:rPr lang="en-IN" sz="2000" b="0" i="1" smtClean="0">
                                    <a:effectLst/>
                                    <a:latin typeface="Cambria Math" panose="02040503050406030204" pitchFamily="18" charset="0"/>
                                    <a:ea typeface="Verdana" panose="020B0604030504040204" pitchFamily="34" charset="0"/>
                                  </a:rPr>
                                  <m:t>𝑡</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02517931"/>
                      </a:ext>
                    </a:extLst>
                  </a:tr>
                </a:tbl>
              </a:graphicData>
            </a:graphic>
          </p:graphicFrame>
        </mc:Choice>
        <mc:Fallback xmlns="">
          <p:graphicFrame>
            <p:nvGraphicFramePr>
              <p:cNvPr id="8" name="Table 7">
                <a:extLst>
                  <a:ext uri="{FF2B5EF4-FFF2-40B4-BE49-F238E27FC236}">
                    <a16:creationId xmlns:a16="http://schemas.microsoft.com/office/drawing/2014/main" id="{B7C1E0D9-7816-4CF8-A6DD-037548CF2D26}"/>
                  </a:ext>
                </a:extLst>
              </p:cNvPr>
              <p:cNvGraphicFramePr>
                <a:graphicFrameLocks noGrp="1"/>
              </p:cNvGraphicFramePr>
              <p:nvPr>
                <p:extLst>
                  <p:ext uri="{D42A27DB-BD31-4B8C-83A1-F6EECF244321}">
                    <p14:modId xmlns:p14="http://schemas.microsoft.com/office/powerpoint/2010/main" val="3428841204"/>
                  </p:ext>
                </p:extLst>
              </p:nvPr>
            </p:nvGraphicFramePr>
            <p:xfrm>
              <a:off x="2422597" y="1019611"/>
              <a:ext cx="7550077" cy="3083574"/>
            </p:xfrm>
            <a:graphic>
              <a:graphicData uri="http://schemas.openxmlformats.org/drawingml/2006/table">
                <a:tbl>
                  <a:tblPr firstRow="1" firstCol="1" bandRow="1"/>
                  <a:tblGrid>
                    <a:gridCol w="2521586">
                      <a:extLst>
                        <a:ext uri="{9D8B030D-6E8A-4147-A177-3AD203B41FA5}">
                          <a16:colId xmlns:a16="http://schemas.microsoft.com/office/drawing/2014/main" val="1581774390"/>
                        </a:ext>
                      </a:extLst>
                    </a:gridCol>
                    <a:gridCol w="2521586">
                      <a:extLst>
                        <a:ext uri="{9D8B030D-6E8A-4147-A177-3AD203B41FA5}">
                          <a16:colId xmlns:a16="http://schemas.microsoft.com/office/drawing/2014/main" val="4267770460"/>
                        </a:ext>
                      </a:extLst>
                    </a:gridCol>
                    <a:gridCol w="2506905">
                      <a:extLst>
                        <a:ext uri="{9D8B030D-6E8A-4147-A177-3AD203B41FA5}">
                          <a16:colId xmlns:a16="http://schemas.microsoft.com/office/drawing/2014/main" val="3675952719"/>
                        </a:ext>
                      </a:extLst>
                    </a:gridCol>
                  </a:tblGrid>
                  <a:tr h="38653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Justification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Inequality</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36985353"/>
                      </a:ext>
                    </a:extLst>
                  </a:tr>
                  <a:tr h="2697036">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42" t="-15801" r="-200000" b="-451"/>
                          </a:stretch>
                        </a:blipFill>
                      </a:tcPr>
                    </a:tc>
                    <a:tc>
                      <a:txBody>
                        <a:bodyPr/>
                        <a:lstStyle/>
                        <a:p>
                          <a:pPr marL="0" marR="0" algn="ctr">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1703" t="-15801" r="-730" b="-451"/>
                          </a:stretch>
                        </a:blipFill>
                      </a:tcPr>
                    </a:tc>
                    <a:extLst>
                      <a:ext uri="{0D108BD9-81ED-4DB2-BD59-A6C34878D82A}">
                        <a16:rowId xmlns:a16="http://schemas.microsoft.com/office/drawing/2014/main" val="3402517931"/>
                      </a:ext>
                    </a:extLst>
                  </a:tr>
                </a:tbl>
              </a:graphicData>
            </a:graphic>
          </p:graphicFrame>
        </mc:Fallback>
      </mc:AlternateContent>
    </p:spTree>
    <p:extLst>
      <p:ext uri="{BB962C8B-B14F-4D97-AF65-F5344CB8AC3E}">
        <p14:creationId xmlns:p14="http://schemas.microsoft.com/office/powerpoint/2010/main" val="4222541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58" name="Google Shape;358;p23"/>
              <p:cNvSpPr txBox="1"/>
              <p:nvPr/>
            </p:nvSpPr>
            <p:spPr>
              <a:xfrm>
                <a:off x="1169017" y="2455040"/>
                <a:ext cx="9365160" cy="4402960"/>
              </a:xfrm>
              <a:prstGeom prst="rect">
                <a:avLst/>
              </a:prstGeom>
              <a:noFill/>
              <a:ln>
                <a:noFill/>
              </a:ln>
            </p:spPr>
            <p:txBody>
              <a:bodyPr spcFirstLastPara="1" wrap="square" lIns="91425" tIns="45700" rIns="91425" bIns="45700" anchor="t" anchorCtr="0">
                <a:spAutoFit/>
              </a:bodyPr>
              <a:lstStyle/>
              <a:p>
                <a:pPr>
                  <a:spcAft>
                    <a:spcPts val="1000"/>
                  </a:spcAft>
                </a:pPr>
                <a:r>
                  <a:rPr lang="en-US" sz="2000" dirty="0">
                    <a:latin typeface="Verdana" panose="020B0604030504040204" pitchFamily="34" charset="0"/>
                    <a:ea typeface="Times New Roman" panose="02020603050405020304" pitchFamily="18" charset="0"/>
                    <a:cs typeface="Times New Roman" panose="02020603050405020304" pitchFamily="18" charset="0"/>
                  </a:rPr>
                  <a:t>3. Solve each inequality and graph the solution.</a:t>
                </a:r>
              </a:p>
              <a:p>
                <a:pPr>
                  <a:spcAft>
                    <a:spcPts val="1000"/>
                  </a:spcAft>
                </a:pP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marL="695325" indent="-347663">
                  <a:buAutoNum type="alphaLcPeriod"/>
                </a:pPr>
                <a14:m>
                  <m:oMath xmlns:m="http://schemas.openxmlformats.org/officeDocument/2006/math">
                    <m:r>
                      <a:rPr lang="en-US" sz="2000">
                        <a:latin typeface="Cambria Math" panose="02040503050406030204" pitchFamily="18" charset="0"/>
                      </a:rPr>
                      <m:t>2−</m:t>
                    </m:r>
                    <m:f>
                      <m:fPr>
                        <m:ctrlPr>
                          <a:rPr lang="en-US" sz="2000" i="1">
                            <a:solidFill>
                              <a:srgbClr val="836967"/>
                            </a:solidFill>
                            <a:latin typeface="Cambria Math" charset="0"/>
                          </a:rPr>
                        </m:ctrlPr>
                      </m:fPr>
                      <m:num>
                        <m:r>
                          <a:rPr lang="en-US" sz="2000" i="1">
                            <a:latin typeface="Cambria Math" panose="02040503050406030204" pitchFamily="18" charset="0"/>
                          </a:rPr>
                          <m:t>𝑎</m:t>
                        </m:r>
                      </m:num>
                      <m:den>
                        <m:r>
                          <a:rPr lang="en-US" sz="2000">
                            <a:latin typeface="Cambria Math" panose="02040503050406030204" pitchFamily="18" charset="0"/>
                          </a:rPr>
                          <m:t>6</m:t>
                        </m:r>
                      </m:den>
                    </m:f>
                    <m:r>
                      <a:rPr lang="en-US" sz="2000">
                        <a:latin typeface="Cambria Math" panose="02040503050406030204" pitchFamily="18" charset="0"/>
                      </a:rPr>
                      <m:t>≥−4</m:t>
                    </m:r>
                  </m:oMath>
                </a14:m>
                <a:endParaRPr lang="en-US" sz="2000" dirty="0"/>
              </a:p>
              <a:p>
                <a:pPr marL="342900" indent="-342900">
                  <a:buAutoNum type="alphaLcPeriod"/>
                </a:pPr>
                <a:endParaRPr lang="en-US" sz="2000" dirty="0"/>
              </a:p>
              <a:p>
                <a:pPr marL="342900" indent="-342900">
                  <a:buAutoNum type="alphaLcPeriod"/>
                </a:pPr>
                <a:endParaRPr lang="en-US" sz="2000" dirty="0"/>
              </a:p>
              <a:p>
                <a:pPr marL="342900" indent="-342900">
                  <a:buAutoNum type="alphaLcPeriod"/>
                </a:pPr>
                <a:endParaRPr lang="en-US" sz="2000" dirty="0"/>
              </a:p>
              <a:p>
                <a:pPr marL="342900" indent="-342900">
                  <a:buAutoNum type="alphaLcPeriod"/>
                </a:pPr>
                <a:endParaRPr lang="en-US" sz="2000" dirty="0"/>
              </a:p>
              <a:p>
                <a:pPr marL="342900" indent="-342900">
                  <a:buAutoNum type="alphaLcPeriod"/>
                </a:pPr>
                <a:endParaRPr lang="en-US" sz="2000" dirty="0"/>
              </a:p>
              <a:p>
                <a:pPr marL="342900" indent="-342900">
                  <a:buAutoNum type="alphaLcPeriod"/>
                </a:pPr>
                <a:endParaRPr lang="en-US" sz="2000" dirty="0"/>
              </a:p>
              <a:p>
                <a:pPr marL="695325" indent="-347663">
                  <a:spcAft>
                    <a:spcPts val="1000"/>
                  </a:spcAft>
                  <a:buFont typeface="+mj-lt"/>
                  <a:buAutoNum type="alphaLcPeriod"/>
                </a:pP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13≥−5</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t</m:t>
                    </m:r>
                    <m:r>
                      <a:rPr lang="en-US" sz="2000">
                        <a:latin typeface="Cambria Math" panose="02040503050406030204" pitchFamily="18" charset="0"/>
                        <a:ea typeface="Times New Roman" panose="02020603050405020304" pitchFamily="18" charset="0"/>
                        <a:cs typeface="Times New Roman" panose="02020603050405020304" pitchFamily="18" charset="0"/>
                      </a:rPr>
                      <m:t>−7</m:t>
                    </m:r>
                  </m:oMath>
                </a14:m>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lvl="0"/>
                <a:endParaRPr lang="en-US" sz="2000" dirty="0"/>
              </a:p>
              <a:p>
                <a:pPr>
                  <a:spcAft>
                    <a:spcPts val="1000"/>
                  </a:spcAft>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358" name="Google Shape;358;p23"/>
              <p:cNvSpPr txBox="1">
                <a:spLocks noRot="1" noChangeAspect="1" noMove="1" noResize="1" noEditPoints="1" noAdjustHandles="1" noChangeArrowheads="1" noChangeShapeType="1" noTextEdit="1"/>
              </p:cNvSpPr>
              <p:nvPr/>
            </p:nvSpPr>
            <p:spPr>
              <a:xfrm>
                <a:off x="1169017" y="2455040"/>
                <a:ext cx="9365160" cy="4402960"/>
              </a:xfrm>
              <a:prstGeom prst="rect">
                <a:avLst/>
              </a:prstGeom>
              <a:blipFill rotWithShape="0">
                <a:blip r:embed="rId3"/>
                <a:stretch>
                  <a:fillRect l="-716" t="-831"/>
                </a:stretch>
              </a:blipFill>
              <a:ln>
                <a:noFill/>
              </a:ln>
            </p:spPr>
            <p:txBody>
              <a:bodyPr/>
              <a:lstStyle/>
              <a:p>
                <a:r>
                  <a:rPr lang="en-US">
                    <a:noFill/>
                  </a:rPr>
                  <a:t> </a:t>
                </a:r>
              </a:p>
            </p:txBody>
          </p:sp>
        </mc:Fallback>
      </mc:AlternateContent>
      <p:sp>
        <p:nvSpPr>
          <p:cNvPr id="359" name="Google Shape;359;p23"/>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cxnSp>
        <p:nvCxnSpPr>
          <p:cNvPr id="8" name="Straight Arrow Connector 7">
            <a:extLst>
              <a:ext uri="{FF2B5EF4-FFF2-40B4-BE49-F238E27FC236}">
                <a16:creationId xmlns:a16="http://schemas.microsoft.com/office/drawing/2014/main" xmlns="" id="{232AB218-EE82-7843-92C9-FDF945C61E3E}"/>
              </a:ext>
            </a:extLst>
          </p:cNvPr>
          <p:cNvCxnSpPr>
            <a:cxnSpLocks/>
          </p:cNvCxnSpPr>
          <p:nvPr/>
        </p:nvCxnSpPr>
        <p:spPr>
          <a:xfrm>
            <a:off x="4544971" y="3507174"/>
            <a:ext cx="4690984" cy="0"/>
          </a:xfrm>
          <a:prstGeom prst="straightConnector1">
            <a:avLst/>
          </a:prstGeom>
          <a:ln w="34925">
            <a:solidFill>
              <a:schemeClr val="dk1"/>
            </a:solidFill>
            <a:round/>
            <a:headEnd type="triangle" w="lg" len="med"/>
            <a:tailEnd type="triangle" w="lg" len="med"/>
          </a:ln>
          <a:effectLst>
            <a:outerShdw blurRad="40000" dist="20000" dir="5400000" rotWithShape="0">
              <a:srgbClr val="000000">
                <a:alpha val="0"/>
              </a:srgbClr>
            </a:outerShdw>
          </a:effectLst>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xmlns="" id="{BB1198CE-82B5-F546-938B-715917FBE8F2}"/>
              </a:ext>
            </a:extLst>
          </p:cNvPr>
          <p:cNvCxnSpPr>
            <a:cxnSpLocks/>
          </p:cNvCxnSpPr>
          <p:nvPr/>
        </p:nvCxnSpPr>
        <p:spPr>
          <a:xfrm>
            <a:off x="4623993" y="5714152"/>
            <a:ext cx="4690984" cy="0"/>
          </a:xfrm>
          <a:prstGeom prst="straightConnector1">
            <a:avLst/>
          </a:prstGeom>
          <a:ln w="34925">
            <a:solidFill>
              <a:schemeClr val="dk1"/>
            </a:solidFill>
            <a:round/>
            <a:headEnd type="triangle" w="lg" len="med"/>
            <a:tailEnd type="triangle" w="lg" len="med"/>
          </a:ln>
          <a:effectLst>
            <a:outerShdw blurRad="40000" dist="20000" dir="5400000" rotWithShape="0">
              <a:srgbClr val="000000">
                <a:alpha val="0"/>
              </a:srgbClr>
            </a:outerShdw>
          </a:effectLst>
        </p:spPr>
        <p:style>
          <a:lnRef idx="2">
            <a:schemeClr val="dk1"/>
          </a:lnRef>
          <a:fillRef idx="0">
            <a:schemeClr val="dk1"/>
          </a:fillRef>
          <a:effectRef idx="1">
            <a:schemeClr val="dk1"/>
          </a:effectRef>
          <a:fontRef idx="minor">
            <a:schemeClr val="tx1"/>
          </a:fontRef>
        </p:style>
      </p:cxnSp>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49</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4345" y="248063"/>
            <a:ext cx="7322065" cy="2081008"/>
          </a:xfrm>
          <a:prstGeom prst="rect">
            <a:avLst/>
          </a:prstGeom>
        </p:spPr>
      </p:pic>
    </p:spTree>
    <p:extLst>
      <p:ext uri="{BB962C8B-B14F-4D97-AF65-F5344CB8AC3E}">
        <p14:creationId xmlns:p14="http://schemas.microsoft.com/office/powerpoint/2010/main" val="1666175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281345" y="103393"/>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E24E5F"/>
                </a:solidFill>
                <a:latin typeface="Verdana"/>
                <a:ea typeface="Verdana"/>
                <a:cs typeface="Verdana"/>
                <a:sym typeface="Verdana"/>
              </a:rPr>
              <a:t>1.8.4 Your Turn!</a:t>
            </a:r>
            <a:endParaRPr sz="1100" dirty="0"/>
          </a:p>
        </p:txBody>
      </p:sp>
      <p:pic>
        <p:nvPicPr>
          <p:cNvPr id="437" name="Google Shape;437;p31"/>
          <p:cNvPicPr preferRelativeResize="0"/>
          <p:nvPr/>
        </p:nvPicPr>
        <p:blipFill rotWithShape="1">
          <a:blip r:embed="rId3">
            <a:alphaModFix/>
          </a:blip>
          <a:srcRect/>
          <a:stretch/>
        </p:blipFill>
        <p:spPr>
          <a:xfrm>
            <a:off x="456369" y="103393"/>
            <a:ext cx="747300" cy="747300"/>
          </a:xfrm>
          <a:prstGeom prst="rect">
            <a:avLst/>
          </a:prstGeom>
          <a:noFill/>
          <a:ln>
            <a:noFill/>
          </a:ln>
        </p:spPr>
      </p:pic>
      <p:sp>
        <p:nvSpPr>
          <p:cNvPr id="440" name="Google Shape;440;p31"/>
          <p:cNvSpPr/>
          <p:nvPr/>
        </p:nvSpPr>
        <p:spPr>
          <a:xfrm>
            <a:off x="-1392"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8" name="Google Shape;358;p23">
                <a:extLst>
                  <a:ext uri="{FF2B5EF4-FFF2-40B4-BE49-F238E27FC236}">
                    <a16:creationId xmlns:a16="http://schemas.microsoft.com/office/drawing/2014/main" xmlns="" id="{6EB432D0-EEE0-7C4B-BC9D-90455E9658F5}"/>
                  </a:ext>
                </a:extLst>
              </p:cNvPr>
              <p:cNvSpPr txBox="1"/>
              <p:nvPr/>
            </p:nvSpPr>
            <p:spPr>
              <a:xfrm>
                <a:off x="1203669" y="1171308"/>
                <a:ext cx="9334135" cy="4939004"/>
              </a:xfrm>
              <a:prstGeom prst="rect">
                <a:avLst/>
              </a:prstGeom>
              <a:noFill/>
              <a:ln>
                <a:noFill/>
              </a:ln>
            </p:spPr>
            <p:txBody>
              <a:bodyPr spcFirstLastPara="1" wrap="square" lIns="91425" tIns="45700" rIns="91425" bIns="45700" anchor="t" anchorCtr="0">
                <a:spAutoFit/>
              </a:bodyPr>
              <a:lstStyle/>
              <a:p>
                <a:pPr>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1. Solve each inequality and graph the solution.</a:t>
                </a: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695325" indent="-347663">
                  <a:spcAft>
                    <a:spcPts val="1000"/>
                  </a:spcAft>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56≥8</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x</m:t>
                    </m:r>
                    <m:r>
                      <a:rPr lang="en-US" sz="2000">
                        <a:latin typeface="Cambria Math" panose="02040503050406030204" pitchFamily="18" charset="0"/>
                        <a:ea typeface="Times New Roman" panose="02020603050405020304" pitchFamily="18" charset="0"/>
                        <a:cs typeface="Times New Roman" panose="02020603050405020304" pitchFamily="18" charset="0"/>
                      </a:rPr>
                      <m:t>+21</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695325" indent="-347663">
                  <a:spcAft>
                    <a:spcPts val="1000"/>
                  </a:spcAft>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−2.7−0.5</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t</m:t>
                    </m:r>
                    <m:r>
                      <a:rPr lang="en-US" sz="2000">
                        <a:latin typeface="Cambria Math" panose="02040503050406030204" pitchFamily="18" charset="0"/>
                        <a:ea typeface="Times New Roman" panose="02020603050405020304" pitchFamily="18" charset="0"/>
                        <a:cs typeface="Times New Roman" panose="02020603050405020304" pitchFamily="18" charset="0"/>
                      </a:rPr>
                      <m:t>&gt;8.3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695325" indent="-347663">
                  <a:spcAft>
                    <a:spcPts val="1000"/>
                  </a:spcAft>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6+</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a:latin typeface="Cambria Math" panose="02040503050406030204" pitchFamily="18" charset="0"/>
                            <a:ea typeface="Times New Roman" panose="02020603050405020304" pitchFamily="18" charset="0"/>
                            <a:cs typeface="Times New Roman" panose="02020603050405020304" pitchFamily="18" charset="0"/>
                          </a:rPr>
                          <m:t>4</m:t>
                        </m:r>
                      </m:den>
                    </m:f>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k</m:t>
                    </m:r>
                    <m:r>
                      <a:rPr lang="en-US" sz="2000">
                        <a:latin typeface="Cambria Math" panose="02040503050406030204" pitchFamily="18" charset="0"/>
                        <a:ea typeface="Times New Roman" panose="02020603050405020304" pitchFamily="18" charset="0"/>
                        <a:cs typeface="Times New Roman" panose="02020603050405020304" pitchFamily="18" charset="0"/>
                      </a:rPr>
                      <m:t>&lt;−12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Google Shape;358;p23">
                <a:extLst>
                  <a:ext uri="{FF2B5EF4-FFF2-40B4-BE49-F238E27FC236}">
                    <a16:creationId xmlns:a16="http://schemas.microsoft.com/office/drawing/2014/main" xmlns:a14="http://schemas.microsoft.com/office/drawing/2010/main" xmlns="" id="{6EB432D0-EEE0-7C4B-BC9D-90455E9658F5}"/>
                  </a:ext>
                </a:extLst>
              </p:cNvPr>
              <p:cNvSpPr txBox="1">
                <a:spLocks noRot="1" noChangeAspect="1" noMove="1" noResize="1" noEditPoints="1" noAdjustHandles="1" noChangeArrowheads="1" noChangeShapeType="1" noTextEdit="1"/>
              </p:cNvSpPr>
              <p:nvPr/>
            </p:nvSpPr>
            <p:spPr>
              <a:xfrm>
                <a:off x="1203669" y="1171308"/>
                <a:ext cx="9334135" cy="4939004"/>
              </a:xfrm>
              <a:prstGeom prst="rect">
                <a:avLst/>
              </a:prstGeom>
              <a:blipFill rotWithShape="0">
                <a:blip r:embed="rId4"/>
                <a:stretch>
                  <a:fillRect l="-653" t="-617"/>
                </a:stretch>
              </a:blipFill>
              <a:ln>
                <a:noFill/>
              </a:ln>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xmlns="" id="{EB4E4F8A-F886-8D42-A4E8-923B600F4566}"/>
              </a:ext>
            </a:extLst>
          </p:cNvPr>
          <p:cNvCxnSpPr>
            <a:cxnSpLocks/>
          </p:cNvCxnSpPr>
          <p:nvPr/>
        </p:nvCxnSpPr>
        <p:spPr>
          <a:xfrm>
            <a:off x="4915528" y="2217348"/>
            <a:ext cx="4690984" cy="0"/>
          </a:xfrm>
          <a:prstGeom prst="straightConnector1">
            <a:avLst/>
          </a:prstGeom>
          <a:ln w="34925">
            <a:solidFill>
              <a:schemeClr val="dk1"/>
            </a:solidFill>
            <a:round/>
            <a:headEnd type="triangle" w="lg" len="med"/>
            <a:tailEnd type="triangle" w="lg" len="med"/>
          </a:ln>
          <a:effectLst>
            <a:outerShdw blurRad="40000" dist="20000" dir="5400000" rotWithShape="0">
              <a:srgbClr val="000000">
                <a:alpha val="0"/>
              </a:srgbClr>
            </a:outerShdw>
          </a:effectLst>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xmlns="" id="{F23CE564-7FB1-D94B-BD29-BED1E5642438}"/>
              </a:ext>
            </a:extLst>
          </p:cNvPr>
          <p:cNvCxnSpPr>
            <a:cxnSpLocks/>
          </p:cNvCxnSpPr>
          <p:nvPr/>
        </p:nvCxnSpPr>
        <p:spPr>
          <a:xfrm>
            <a:off x="4915528" y="3594594"/>
            <a:ext cx="4690984" cy="0"/>
          </a:xfrm>
          <a:prstGeom prst="straightConnector1">
            <a:avLst/>
          </a:prstGeom>
          <a:ln w="34925">
            <a:solidFill>
              <a:schemeClr val="dk1"/>
            </a:solidFill>
            <a:round/>
            <a:headEnd type="triangle" w="lg" len="med"/>
            <a:tailEnd type="triangle" w="lg" len="med"/>
          </a:ln>
          <a:effectLst>
            <a:outerShdw blurRad="40000" dist="20000" dir="5400000" rotWithShape="0">
              <a:srgbClr val="000000">
                <a:alpha val="0"/>
              </a:srgbClr>
            </a:outerShdw>
          </a:effectLst>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xmlns="" id="{DDD2E2FA-02B3-E843-9552-4A664CB2CE3E}"/>
              </a:ext>
            </a:extLst>
          </p:cNvPr>
          <p:cNvCxnSpPr>
            <a:cxnSpLocks/>
          </p:cNvCxnSpPr>
          <p:nvPr/>
        </p:nvCxnSpPr>
        <p:spPr>
          <a:xfrm>
            <a:off x="4915528" y="4983126"/>
            <a:ext cx="4690984" cy="0"/>
          </a:xfrm>
          <a:prstGeom prst="straightConnector1">
            <a:avLst/>
          </a:prstGeom>
          <a:ln w="34925">
            <a:solidFill>
              <a:schemeClr val="dk1"/>
            </a:solidFill>
            <a:round/>
            <a:headEnd type="triangle" w="lg" len="med"/>
            <a:tailEnd type="triangle" w="lg" len="med"/>
          </a:ln>
          <a:effectLst>
            <a:outerShdw blurRad="40000" dist="20000" dir="5400000" rotWithShape="0">
              <a:srgbClr val="000000">
                <a:alpha val="0"/>
              </a:srgbClr>
            </a:outerShdw>
          </a:effectLst>
        </p:spPr>
        <p:style>
          <a:lnRef idx="2">
            <a:schemeClr val="dk1"/>
          </a:lnRef>
          <a:fillRef idx="0">
            <a:schemeClr val="dk1"/>
          </a:fillRef>
          <a:effectRef idx="1">
            <a:schemeClr val="dk1"/>
          </a:effectRef>
          <a:fontRef idx="minor">
            <a:schemeClr val="tx1"/>
          </a:fontRef>
        </p:style>
      </p:cxnSp>
      <p:sp>
        <p:nvSpPr>
          <p:cNvPr id="13"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50</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50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42227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328359" y="-84589"/>
            <a:ext cx="936735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1.8.5 Collaboration: Matching Inequalities</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78551" y="182249"/>
            <a:ext cx="749808" cy="749808"/>
          </a:xfrm>
          <a:prstGeom prst="rect">
            <a:avLst/>
          </a:prstGeom>
          <a:noFill/>
          <a:ln>
            <a:noFill/>
          </a:ln>
          <a:effectLst>
            <a:outerShdw blurRad="50800" dist="38100" dir="2700000" algn="tl" rotWithShape="0">
              <a:srgbClr val="000000">
                <a:alpha val="40000"/>
              </a:srgbClr>
            </a:outerShdw>
          </a:effectLst>
        </p:spPr>
      </p:pic>
      <p:sp>
        <p:nvSpPr>
          <p:cNvPr id="199" name="Google Shape;199;p7"/>
          <p:cNvSpPr txBox="1"/>
          <p:nvPr/>
        </p:nvSpPr>
        <p:spPr>
          <a:xfrm>
            <a:off x="1328359" y="951396"/>
            <a:ext cx="9061541" cy="1631175"/>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Work with your partner to match each of the given inequalities to their graph of possible solutions. </a:t>
            </a:r>
          </a:p>
          <a:p>
            <a:pPr lvl="0"/>
            <a:endParaRPr lang="en-US" sz="2000" dirty="0">
              <a:latin typeface="Verdana"/>
              <a:ea typeface="Verdana"/>
              <a:cs typeface="Verdana"/>
              <a:sym typeface="Verdana"/>
            </a:endParaRPr>
          </a:p>
          <a:p>
            <a:pPr lvl="0"/>
            <a:r>
              <a:rPr lang="en-US" sz="2000" dirty="0">
                <a:latin typeface="Verdana"/>
                <a:ea typeface="Verdana"/>
                <a:cs typeface="Verdana"/>
                <a:sym typeface="Verdana"/>
              </a:rPr>
              <a:t>1. Record your matches in the table.</a:t>
            </a:r>
          </a:p>
          <a:p>
            <a:pPr lvl="0"/>
            <a:endParaRPr lang="en-US" sz="2000" dirty="0">
              <a:latin typeface="Verdana"/>
              <a:ea typeface="Verdana"/>
              <a:cs typeface="Verdana"/>
              <a:sym typeface="Verdana"/>
            </a:endParaRPr>
          </a:p>
        </p:txBody>
      </p:sp>
      <p:sp>
        <p:nvSpPr>
          <p:cNvPr id="200" name="Google Shape;200;p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 name="Picture 15" descr="Table&#10;&#10;Description automatically generated">
            <a:extLst>
              <a:ext uri="{FF2B5EF4-FFF2-40B4-BE49-F238E27FC236}">
                <a16:creationId xmlns:a16="http://schemas.microsoft.com/office/drawing/2014/main" xmlns="" id="{C35E3A7C-3487-5E44-ADAA-73C0BEA5A026}"/>
              </a:ext>
            </a:extLst>
          </p:cNvPr>
          <p:cNvPicPr>
            <a:picLocks noChangeAspect="1"/>
          </p:cNvPicPr>
          <p:nvPr/>
        </p:nvPicPr>
        <p:blipFill>
          <a:blip r:embed="rId4"/>
          <a:stretch>
            <a:fillRect/>
          </a:stretch>
        </p:blipFill>
        <p:spPr>
          <a:xfrm>
            <a:off x="3125701" y="2238417"/>
            <a:ext cx="5282646" cy="4563412"/>
          </a:xfrm>
          <a:prstGeom prst="rect">
            <a:avLst/>
          </a:prstGeom>
          <a:ln>
            <a:solidFill>
              <a:schemeClr val="tx1"/>
            </a:solidFill>
          </a:ln>
        </p:spPr>
      </p:pic>
      <p:sp>
        <p:nvSpPr>
          <p:cNvPr id="9"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50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971235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803564" y="410665"/>
            <a:ext cx="10735538" cy="400069"/>
          </a:xfrm>
          <a:prstGeom prst="rect">
            <a:avLst/>
          </a:prstGeom>
          <a:noFill/>
          <a:ln>
            <a:noFill/>
          </a:ln>
        </p:spPr>
        <p:txBody>
          <a:bodyPr spcFirstLastPara="1" wrap="square" lIns="91425" tIns="45700" rIns="91425" bIns="45700" anchor="t" anchorCtr="0">
            <a:spAutoFit/>
          </a:bodyPr>
          <a:lstStyle/>
          <a:p>
            <a:pPr marL="460375" indent="-460375"/>
            <a:r>
              <a:rPr lang="en-US" sz="2000" dirty="0">
                <a:latin typeface="Verdana"/>
                <a:ea typeface="Verdana"/>
                <a:cs typeface="Verdana"/>
                <a:sym typeface="Verdana"/>
              </a:rPr>
              <a:t>2. What strategies did you use to match each inequality to its graph?</a:t>
            </a:r>
            <a:endParaRPr sz="1200" dirty="0"/>
          </a:p>
        </p:txBody>
      </p:sp>
      <p:sp>
        <p:nvSpPr>
          <p:cNvPr id="209" name="Google Shape;209;p8"/>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50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54839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354464" y="155790"/>
            <a:ext cx="8019300" cy="744236"/>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F2A67"/>
                </a:solidFill>
                <a:latin typeface="Verdana"/>
                <a:ea typeface="Verdana"/>
                <a:cs typeface="Verdana"/>
                <a:sym typeface="Verdana"/>
              </a:rPr>
              <a:t>1.8.6 Wrap-Up: </a:t>
            </a:r>
            <a:r>
              <a:rPr lang="en-US" sz="2800" b="1" dirty="0" smtClean="0">
                <a:solidFill>
                  <a:srgbClr val="3F2A67"/>
                </a:solidFill>
                <a:latin typeface="Verdana"/>
                <a:ea typeface="Verdana"/>
                <a:cs typeface="Verdana"/>
                <a:sym typeface="Verdana"/>
              </a:rPr>
              <a:t>Cool Down</a:t>
            </a:r>
            <a:endParaRPr sz="1100" dirty="0"/>
          </a:p>
        </p:txBody>
      </p:sp>
      <p:pic>
        <p:nvPicPr>
          <p:cNvPr id="468" name="Google Shape;468;p34"/>
          <p:cNvPicPr preferRelativeResize="0"/>
          <p:nvPr/>
        </p:nvPicPr>
        <p:blipFill rotWithShape="1">
          <a:blip r:embed="rId3">
            <a:alphaModFix/>
          </a:blip>
          <a:srcRect/>
          <a:stretch/>
        </p:blipFill>
        <p:spPr>
          <a:xfrm>
            <a:off x="529488" y="126555"/>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354464" y="1058648"/>
            <a:ext cx="8905104" cy="3170058"/>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charset="0"/>
                <a:ea typeface="Verdana" charset="0"/>
                <a:cs typeface="Verdana" charset="0"/>
              </a:rPr>
              <a:t>Explain a way that you can determine if a solution is correct for a given inequality</a:t>
            </a:r>
            <a:r>
              <a:rPr lang="en-US" sz="2000" dirty="0" smtClean="0">
                <a:latin typeface="Verdana" charset="0"/>
                <a:ea typeface="Verdana" charset="0"/>
                <a:cs typeface="Verdana" charset="0"/>
              </a:rPr>
              <a:t>.</a:t>
            </a: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smtClean="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smtClean="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endParaRPr lang="en-US" sz="2000" dirty="0">
              <a:latin typeface="Verdana" charset="0"/>
              <a:ea typeface="Verdana" charset="0"/>
              <a:cs typeface="Verdana" charset="0"/>
            </a:endParaRPr>
          </a:p>
          <a:p>
            <a:pPr marL="457200" indent="-457200" fontAlgn="base">
              <a:buFont typeface="+mj-lt"/>
              <a:buAutoNum type="arabicPeriod"/>
            </a:pPr>
            <a:r>
              <a:rPr lang="en-US" sz="2000" dirty="0" smtClean="0">
                <a:latin typeface="Verdana" charset="0"/>
                <a:ea typeface="Verdana" charset="0"/>
                <a:cs typeface="Verdana" charset="0"/>
              </a:rPr>
              <a:t>How </a:t>
            </a:r>
            <a:r>
              <a:rPr lang="en-US" sz="2000" dirty="0">
                <a:latin typeface="Verdana" charset="0"/>
                <a:ea typeface="Verdana" charset="0"/>
                <a:cs typeface="Verdana" charset="0"/>
              </a:rPr>
              <a:t>do you know if the circle should be open or closed when graphing an inequality?</a:t>
            </a:r>
          </a:p>
        </p:txBody>
      </p:sp>
      <p:sp>
        <p:nvSpPr>
          <p:cNvPr id="470" name="Google Shape;470;p34"/>
          <p:cNvSpPr/>
          <p:nvPr/>
        </p:nvSpPr>
        <p:spPr>
          <a:xfrm>
            <a:off x="-13585" y="3394"/>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2" name="Google Shape;125;g104476d1465_1_17"/>
          <p:cNvSpPr txBox="1"/>
          <p:nvPr/>
        </p:nvSpPr>
        <p:spPr>
          <a:xfrm>
            <a:off x="8741768"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51</a:t>
            </a:r>
            <a:endParaRPr i="1" dirty="0">
              <a:latin typeface="Calibri"/>
              <a:ea typeface="Calibri"/>
              <a:cs typeface="Calibri"/>
              <a:sym typeface="Calibri"/>
            </a:endParaRPr>
          </a:p>
        </p:txBody>
      </p:sp>
      <p:pic>
        <p:nvPicPr>
          <p:cNvPr id="2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79994"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TotalTime>
  <Words>808</Words>
  <Application>Microsoft Macintosh PowerPoint</Application>
  <PresentationFormat>Widescreen</PresentationFormat>
  <Paragraphs>214</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 Black</vt:lpstr>
      <vt:lpstr>Calibri</vt:lpstr>
      <vt:lpstr>Cambria Math</vt:lpstr>
      <vt:lpstr>Century Gothic</vt:lpstr>
      <vt:lpstr>Times New Roman</vt:lpstr>
      <vt:lpstr>Verdana</vt:lpstr>
      <vt:lpstr>Arial</vt:lpstr>
      <vt:lpstr>1_Office Theme</vt:lpstr>
      <vt:lpstr>7th Grade Accelerated Math  Unit 1, Lesson 8  Determining Solutions to Inequalities  Volume 1, pg. 46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1, Lesson #  Lesson Name  Volume x, pg. #  </dc:title>
  <dc:creator>Karen McKenzie</dc:creator>
  <cp:lastModifiedBy>jslater9816@gmail.com</cp:lastModifiedBy>
  <cp:revision>9</cp:revision>
  <dcterms:created xsi:type="dcterms:W3CDTF">2015-03-17T18:51:18Z</dcterms:created>
  <dcterms:modified xsi:type="dcterms:W3CDTF">2022-07-26T21:48:33Z</dcterms:modified>
</cp:coreProperties>
</file>