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76" r:id="rId9"/>
    <p:sldId id="277" r:id="rId10"/>
    <p:sldId id="293" r:id="rId11"/>
    <p:sldId id="278" r:id="rId12"/>
    <p:sldId id="279" r:id="rId13"/>
    <p:sldId id="263" r:id="rId14"/>
    <p:sldId id="264" r:id="rId15"/>
    <p:sldId id="287" r:id="rId16"/>
    <p:sldId id="288" r:id="rId17"/>
    <p:sldId id="290" r:id="rId18"/>
    <p:sldId id="291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4" roundtripDataSignature="AMtx7miGNqAw0ce6kMhO2MM82zLCkyAo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54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56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3" name="Google Shape;303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2054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3" name="Google Shape;313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7425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4" name="Google Shape;324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88065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4" name="Google Shape;324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57182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3" name="Google Shape;333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3182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2" name="Google Shape;342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3" name="Google Shape;343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85237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2" name="Google Shape;422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3" name="Google Shape;423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2" name="Google Shape;432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3" name="Google Shape;433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2" name="Google Shape;452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3" name="Google Shape;453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2" name="Google Shape;462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3" name="Google Shape;463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0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1, Lesson 9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Inequalities – Part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51</a:t>
            </a:r>
            <a:endParaRPr dirty="0"/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114" name="Google Shape;114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" name="Google Shape;115;g104476d1465_0_0"/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16" name="Google Shape;116;g104476d1465_0_0" descr="A blue sign with white text&#10;&#10;Description automatically generated with medium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1640" y="1526626"/>
            <a:ext cx="3270825" cy="381284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4476d1465_1_17"/>
          <p:cNvSpPr/>
          <p:nvPr/>
        </p:nvSpPr>
        <p:spPr>
          <a:xfrm>
            <a:off x="0" y="4599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3" name="Google Shape;123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499050" y="4599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4" name="Google Shape;124;g104476d1465_1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5550" y="24037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5" name="Google Shape;125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7" name="Google Shape;127;g104476d1465_1_17"/>
          <p:cNvSpPr txBox="1"/>
          <p:nvPr/>
        </p:nvSpPr>
        <p:spPr>
          <a:xfrm>
            <a:off x="1612900" y="1600200"/>
            <a:ext cx="89662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r>
              <a:rPr lang="en-US" sz="32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MA.8.AR.2.2</a:t>
            </a:r>
            <a:endParaRPr sz="32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100"/>
            </a:pPr>
            <a:r>
              <a:rPr lang="en-US" sz="32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Solve two-step linear inequalities in one variable and represent solutions algebraically and graphically.</a:t>
            </a:r>
            <a:endParaRPr sz="2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100" y="3469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5" name="Google Shape;135;p1"/>
          <p:cNvSpPr txBox="1"/>
          <p:nvPr/>
        </p:nvSpPr>
        <p:spPr>
          <a:xfrm>
            <a:off x="1495750" y="1042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0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  <a:endParaRPr/>
          </a:p>
        </p:txBody>
      </p:sp>
      <p:sp>
        <p:nvSpPr>
          <p:cNvPr id="137" name="Google Shape;137;p1"/>
          <p:cNvSpPr txBox="1"/>
          <p:nvPr/>
        </p:nvSpPr>
        <p:spPr>
          <a:xfrm>
            <a:off x="1495750" y="1596390"/>
            <a:ext cx="978832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MA.K12.MTR.1.1 Actively participate in effortful learning both individually and collectively.</a:t>
            </a:r>
            <a:endParaRPr dirty="0"/>
          </a:p>
          <a:p>
            <a:pPr marL="457200"/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MA.K12.MTR.2.1 Demonstrate understanding by representing problems in multiple ways.</a:t>
            </a:r>
            <a:endParaRPr dirty="0"/>
          </a:p>
          <a:p>
            <a:pPr marL="457200"/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MA.K12.MTR.4.1 Engage in discussions that reflect on the mathematical thinking of self and others.</a:t>
            </a:r>
            <a:endParaRPr dirty="0"/>
          </a:p>
          <a:p>
            <a:pPr marL="457200"/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MA.K12.MTR.5.1 Use patterns and structure to help understand and connect mathematical concepts.</a:t>
            </a:r>
            <a:endParaRPr dirty="0"/>
          </a:p>
          <a:p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MA.K12.MTR.6.1 Assess the reasonableness of solutions.</a:t>
            </a:r>
            <a:endParaRPr dirty="0"/>
          </a:p>
        </p:txBody>
      </p:sp>
      <p:sp>
        <p:nvSpPr>
          <p:cNvPr id="138" name="Google Shape;138;p1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"/>
          <p:cNvSpPr txBox="1"/>
          <p:nvPr/>
        </p:nvSpPr>
        <p:spPr>
          <a:xfrm>
            <a:off x="1507519" y="72001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  <a:endParaRPr dirty="0"/>
          </a:p>
        </p:txBody>
      </p:sp>
      <p:pic>
        <p:nvPicPr>
          <p:cNvPr id="146" name="Google Shape;14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5357" y="36120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8" name="Google Shape;148;p2"/>
          <p:cNvSpPr txBox="1"/>
          <p:nvPr/>
        </p:nvSpPr>
        <p:spPr>
          <a:xfrm>
            <a:off x="1507519" y="1600200"/>
            <a:ext cx="917696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 can solve inequalities and represent the solutions on a number line. </a:t>
            </a:r>
            <a:endParaRPr dirty="0"/>
          </a:p>
        </p:txBody>
      </p:sp>
      <p:sp>
        <p:nvSpPr>
          <p:cNvPr id="149" name="Google Shape;149;p2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04476d1465_1_39"/>
          <p:cNvSpPr/>
          <p:nvPr/>
        </p:nvSpPr>
        <p:spPr>
          <a:xfrm>
            <a:off x="0" y="-10556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57" name="Google Shape;157;g104476d1465_1_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8" name="Google Shape;158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"/>
          <p:cNvSpPr txBox="1"/>
          <p:nvPr/>
        </p:nvSpPr>
        <p:spPr>
          <a:xfrm>
            <a:off x="1502878" y="6032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1.9.1 Warm-Up: Bell Work</a:t>
            </a:r>
            <a:endParaRPr dirty="0"/>
          </a:p>
        </p:txBody>
      </p:sp>
      <p:pic>
        <p:nvPicPr>
          <p:cNvPr id="167" name="Google Shape;16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5578" y="26603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Google Shape;169;p4"/>
              <p:cNvSpPr txBox="1"/>
              <p:nvPr/>
            </p:nvSpPr>
            <p:spPr>
              <a:xfrm>
                <a:off x="2060448" y="1386026"/>
                <a:ext cx="8327136" cy="32205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342900" indent="-342900">
                  <a:spcBef>
                    <a:spcPts val="900"/>
                  </a:spcBef>
                  <a:spcAft>
                    <a:spcPts val="900"/>
                  </a:spcAft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Solve and graph each inequality.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695325" indent="-347663">
                  <a:spcBef>
                    <a:spcPts val="900"/>
                  </a:spcBef>
                  <a:spcAft>
                    <a:spcPts val="900"/>
                  </a:spcAft>
                  <a:buFont typeface="Verdana" panose="020B0604030504040204" pitchFamily="34" charset="0"/>
                  <a:buAutoNum type="alphaLcPeriod"/>
                </a:pP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35&lt;5−3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x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spcBef>
                    <a:spcPts val="900"/>
                  </a:spcBef>
                  <a:spcAft>
                    <a:spcPts val="900"/>
                  </a:spcAft>
                  <a:buFont typeface="Verdana" panose="020B0604030504040204" pitchFamily="34" charset="0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spcBef>
                    <a:spcPts val="900"/>
                  </a:spcBef>
                  <a:spcAft>
                    <a:spcPts val="900"/>
                  </a:spcAft>
                  <a:buFont typeface="Verdana" panose="020B0604030504040204" pitchFamily="34" charset="0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695325" indent="-347663">
                  <a:spcBef>
                    <a:spcPts val="900"/>
                  </a:spcBef>
                  <a:spcAft>
                    <a:spcPts val="900"/>
                  </a:spcAft>
                  <a:buFont typeface="Verdana" panose="020B0604030504040204" pitchFamily="34" charset="0"/>
                  <a:buAutoNum type="alphaLcPeriod"/>
                </a:pP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6.5−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0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n</m:t>
                    </m:r>
                    <m:r>
                      <a:rPr lang="en-US" sz="20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&gt;12.5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9" name="Google Shape;169;p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48" y="1386025"/>
                <a:ext cx="8327136" cy="3220585"/>
              </a:xfrm>
              <a:prstGeom prst="rect">
                <a:avLst/>
              </a:prstGeom>
              <a:blipFill>
                <a:blip r:embed="rId5"/>
                <a:stretch>
                  <a:fillRect l="-9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0" name="Google Shape;170;p4"/>
          <p:cNvSpPr/>
          <p:nvPr/>
        </p:nvSpPr>
        <p:spPr>
          <a:xfrm>
            <a:off x="-7615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E488CB7-06AE-864F-A033-016D90A76BDB}"/>
              </a:ext>
            </a:extLst>
          </p:cNvPr>
          <p:cNvCxnSpPr>
            <a:cxnSpLocks/>
          </p:cNvCxnSpPr>
          <p:nvPr/>
        </p:nvCxnSpPr>
        <p:spPr>
          <a:xfrm>
            <a:off x="5312913" y="2522997"/>
            <a:ext cx="4124599" cy="0"/>
          </a:xfrm>
          <a:prstGeom prst="straightConnector1">
            <a:avLst/>
          </a:prstGeom>
          <a:ln w="34925">
            <a:solidFill>
              <a:schemeClr val="dk1"/>
            </a:solidFill>
            <a:round/>
            <a:headEnd type="triangle" w="lg" len="med"/>
            <a:tailEnd type="triangle" w="lg" len="med"/>
          </a:ln>
          <a:effectLst>
            <a:outerShdw blurRad="40000" dist="20000" dir="5400000" rotWithShape="0">
              <a:srgbClr val="000000">
                <a:alpha val="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C375AFA-4EA6-C74D-9DE9-072E85BA0A3D}"/>
              </a:ext>
            </a:extLst>
          </p:cNvPr>
          <p:cNvCxnSpPr>
            <a:cxnSpLocks/>
          </p:cNvCxnSpPr>
          <p:nvPr/>
        </p:nvCxnSpPr>
        <p:spPr>
          <a:xfrm>
            <a:off x="5397579" y="4199397"/>
            <a:ext cx="4124599" cy="0"/>
          </a:xfrm>
          <a:prstGeom prst="straightConnector1">
            <a:avLst/>
          </a:prstGeom>
          <a:ln w="34925">
            <a:solidFill>
              <a:schemeClr val="dk1"/>
            </a:solidFill>
            <a:round/>
            <a:headEnd type="triangle" w="lg" len="med"/>
            <a:tailEnd type="triangle" w="lg" len="med"/>
          </a:ln>
          <a:effectLst>
            <a:outerShdw blurRad="40000" dist="20000" dir="5400000" rotWithShape="0">
              <a:srgbClr val="000000">
                <a:alpha val="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Google Shape;125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8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07" name="Google Shape;307;p18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8" name="Google Shape;30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8905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"/>
          <p:cNvSpPr txBox="1"/>
          <p:nvPr/>
        </p:nvSpPr>
        <p:spPr>
          <a:xfrm>
            <a:off x="1338750" y="-810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1.9.2 Guided Instruction: Solving Multi-Step Inequalities</a:t>
            </a:r>
            <a:endParaRPr sz="1100" dirty="0"/>
          </a:p>
        </p:txBody>
      </p:sp>
      <p:pic>
        <p:nvPicPr>
          <p:cNvPr id="317" name="Google Shape;31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1450" y="19916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19" name="Google Shape;319;p19"/>
              <p:cNvSpPr txBox="1"/>
              <p:nvPr/>
            </p:nvSpPr>
            <p:spPr>
              <a:xfrm>
                <a:off x="1079500" y="1386026"/>
                <a:ext cx="10289032" cy="34778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Sadie and Promus each solve the inequality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3(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−6)≥9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1. Compare and contrast Sadie’s and Promus’ work.</a:t>
                </a:r>
              </a:p>
            </p:txBody>
          </p:sp>
        </mc:Choice>
        <mc:Fallback xmlns="">
          <p:sp>
            <p:nvSpPr>
              <p:cNvPr id="319" name="Google Shape;319;p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" y="1386026"/>
                <a:ext cx="10289032" cy="3477835"/>
              </a:xfrm>
              <a:prstGeom prst="rect">
                <a:avLst/>
              </a:prstGeom>
              <a:blipFill rotWithShape="0">
                <a:blip r:embed="rId4"/>
                <a:stretch>
                  <a:fillRect l="-592" t="-876" b="-210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0" name="Google Shape;320;p19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DBE60536-9828-F147-AC4A-1134ECCC6D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7208327"/>
                  </p:ext>
                </p:extLst>
              </p:nvPr>
            </p:nvGraphicFramePr>
            <p:xfrm>
              <a:off x="3002844" y="1987626"/>
              <a:ext cx="6016978" cy="223441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008489">
                      <a:extLst>
                        <a:ext uri="{9D8B030D-6E8A-4147-A177-3AD203B41FA5}">
                          <a16:colId xmlns:a16="http://schemas.microsoft.com/office/drawing/2014/main" val="3084074392"/>
                        </a:ext>
                      </a:extLst>
                    </a:gridCol>
                    <a:gridCol w="3008489">
                      <a:extLst>
                        <a:ext uri="{9D8B030D-6E8A-4147-A177-3AD203B41FA5}">
                          <a16:colId xmlns:a16="http://schemas.microsoft.com/office/drawing/2014/main" val="667152900"/>
                        </a:ext>
                      </a:extLst>
                    </a:gridCol>
                  </a:tblGrid>
                  <a:tr h="37226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Sadie’s Work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Promus’ Work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6558732"/>
                      </a:ext>
                    </a:extLst>
                  </a:tr>
                  <a:tr h="1862157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3(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−6)≥9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3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−18≥9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          +18  +18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             3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≥27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             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≥9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3(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−6)≥9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        3        </m:t>
                                    </m:r>
                                  </m:e>
                                </m:acc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   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 3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     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−6≥3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            + 6    +6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             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≥9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885154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DBE60536-9828-F147-AC4A-1134ECCC6D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7208327"/>
                  </p:ext>
                </p:extLst>
              </p:nvPr>
            </p:nvGraphicFramePr>
            <p:xfrm>
              <a:off x="1478844" y="1987626"/>
              <a:ext cx="6016978" cy="223441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008489">
                      <a:extLst>
                        <a:ext uri="{9D8B030D-6E8A-4147-A177-3AD203B41FA5}">
                          <a16:colId xmlns:a16="http://schemas.microsoft.com/office/drawing/2014/main" val="3084074392"/>
                        </a:ext>
                      </a:extLst>
                    </a:gridCol>
                    <a:gridCol w="3008489">
                      <a:extLst>
                        <a:ext uri="{9D8B030D-6E8A-4147-A177-3AD203B41FA5}">
                          <a16:colId xmlns:a16="http://schemas.microsoft.com/office/drawing/2014/main" val="667152900"/>
                        </a:ext>
                      </a:extLst>
                    </a:gridCol>
                  </a:tblGrid>
                  <a:tr h="37226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Sadie’s Work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Promus’ Work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6558732"/>
                      </a:ext>
                    </a:extLst>
                  </a:tr>
                  <a:tr h="186215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420" t="-22297" r="-100000" b="-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844" t="-22297" r="-422" b="-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851544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125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1715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28" name="Google Shape;328;p20"/>
              <p:cNvSpPr txBox="1"/>
              <p:nvPr/>
            </p:nvSpPr>
            <p:spPr>
              <a:xfrm>
                <a:off x="787400" y="168900"/>
                <a:ext cx="10617200" cy="3554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2. Graph the solution to the inequality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3(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−6)≥9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algn="ctr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>
                  <a:spcAft>
                    <a:spcPts val="10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3. Use substitution to verify the solution set.</a:t>
                </a: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 </a:t>
                </a:r>
              </a:p>
              <a:p>
                <a:pPr marL="347663" indent="-347663">
                  <a:spcAft>
                    <a:spcPts val="10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4. Solve the inequality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56&lt;7(7−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using Sadie’s method and Promus’ method.</a:t>
                </a:r>
              </a:p>
            </p:txBody>
          </p:sp>
        </mc:Choice>
        <mc:Fallback xmlns="">
          <p:sp>
            <p:nvSpPr>
              <p:cNvPr id="328" name="Google Shape;328;p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00" y="168900"/>
                <a:ext cx="10617200" cy="3554779"/>
              </a:xfrm>
              <a:prstGeom prst="rect">
                <a:avLst/>
              </a:prstGeom>
              <a:blipFill rotWithShape="0">
                <a:blip r:embed="rId3"/>
                <a:stretch>
                  <a:fillRect l="-574" t="-10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9" name="Google Shape;329;p20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0FDB20D-DE0F-BB47-88EE-AFBB331A72C5}"/>
              </a:ext>
            </a:extLst>
          </p:cNvPr>
          <p:cNvCxnSpPr>
            <a:cxnSpLocks/>
          </p:cNvCxnSpPr>
          <p:nvPr/>
        </p:nvCxnSpPr>
        <p:spPr>
          <a:xfrm>
            <a:off x="3264396" y="1113862"/>
            <a:ext cx="5450629" cy="0"/>
          </a:xfrm>
          <a:prstGeom prst="straightConnector1">
            <a:avLst/>
          </a:prstGeom>
          <a:ln w="34925">
            <a:solidFill>
              <a:schemeClr val="dk1"/>
            </a:solidFill>
            <a:round/>
            <a:headEnd type="triangle" w="lg" len="med"/>
            <a:tailEnd type="triangle" w="lg" len="med"/>
          </a:ln>
          <a:effectLst>
            <a:outerShdw blurRad="40000" dist="20000" dir="5400000" rotWithShape="0">
              <a:srgbClr val="000000">
                <a:alpha val="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5080624-220D-834C-AC4A-48458598BA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723703"/>
                  </p:ext>
                </p:extLst>
              </p:nvPr>
            </p:nvGraphicFramePr>
            <p:xfrm>
              <a:off x="2727733" y="3924219"/>
              <a:ext cx="6287910" cy="254606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143955">
                      <a:extLst>
                        <a:ext uri="{9D8B030D-6E8A-4147-A177-3AD203B41FA5}">
                          <a16:colId xmlns:a16="http://schemas.microsoft.com/office/drawing/2014/main" val="864937415"/>
                        </a:ext>
                      </a:extLst>
                    </a:gridCol>
                    <a:gridCol w="3143955">
                      <a:extLst>
                        <a:ext uri="{9D8B030D-6E8A-4147-A177-3AD203B41FA5}">
                          <a16:colId xmlns:a16="http://schemas.microsoft.com/office/drawing/2014/main" val="1015424192"/>
                        </a:ext>
                      </a:extLst>
                    </a:gridCol>
                  </a:tblGrid>
                  <a:tr h="526772">
                    <a:tc>
                      <a:txBody>
                        <a:bodyPr/>
                        <a:lstStyle/>
                        <a:p>
                          <a:pPr marL="45720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Sadie’s </a:t>
                          </a: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Method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5720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Promus’ Method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1775181"/>
                      </a:ext>
                    </a:extLst>
                  </a:tr>
                  <a:tr h="2019295">
                    <a:tc>
                      <a:txBody>
                        <a:bodyPr/>
                        <a:lstStyle/>
                        <a:p>
                          <a:pPr marL="45720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56&lt;7(7−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720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56&lt;7(7−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760675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5080624-220D-834C-AC4A-48458598BA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723703"/>
                  </p:ext>
                </p:extLst>
              </p:nvPr>
            </p:nvGraphicFramePr>
            <p:xfrm>
              <a:off x="1203733" y="3924218"/>
              <a:ext cx="6287910" cy="254606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143955">
                      <a:extLst>
                        <a:ext uri="{9D8B030D-6E8A-4147-A177-3AD203B41FA5}">
                          <a16:colId xmlns:a16="http://schemas.microsoft.com/office/drawing/2014/main" val="864937415"/>
                        </a:ext>
                      </a:extLst>
                    </a:gridCol>
                    <a:gridCol w="3143955">
                      <a:extLst>
                        <a:ext uri="{9D8B030D-6E8A-4147-A177-3AD203B41FA5}">
                          <a16:colId xmlns:a16="http://schemas.microsoft.com/office/drawing/2014/main" val="1015424192"/>
                        </a:ext>
                      </a:extLst>
                    </a:gridCol>
                  </a:tblGrid>
                  <a:tr h="526772">
                    <a:tc>
                      <a:txBody>
                        <a:bodyPr/>
                        <a:lstStyle/>
                        <a:p>
                          <a:pPr marL="45720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Sadie’s </a:t>
                          </a: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Method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5720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Promus’ Method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1775181"/>
                      </a:ext>
                    </a:extLst>
                  </a:tr>
                  <a:tr h="20192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26250" r="-100806" b="-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000" t="-26250" r="-806" b="-6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7606751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125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67871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28" name="Google Shape;328;p20"/>
              <p:cNvSpPr txBox="1"/>
              <p:nvPr/>
            </p:nvSpPr>
            <p:spPr>
              <a:xfrm>
                <a:off x="901700" y="288746"/>
                <a:ext cx="10388600" cy="46576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5. Graph the solution to the inequality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56&lt;7(7−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000" dirty="0"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  <a:endPara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457200" algn="ctr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  <a:endPara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  <a:endPara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457200"/>
                <a:endPara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10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6. Use substitution to verify the solution set.</a:t>
                </a:r>
                <a:endParaRPr lang="en-US" sz="2000" dirty="0"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  <a:endPara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  <a:endPara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  <a:endPara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  <a:endPara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  <a:endPara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  <a:endPara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347663" indent="-33655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7. Explain whether you prefer Sadie’s method or Promus’ method.</a:t>
                </a:r>
                <a:endParaRPr lang="en-US" sz="2000" dirty="0"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8" name="Google Shape;328;p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700" y="288746"/>
                <a:ext cx="10388600" cy="4657645"/>
              </a:xfrm>
              <a:prstGeom prst="rect">
                <a:avLst/>
              </a:prstGeom>
              <a:blipFill rotWithShape="0">
                <a:blip r:embed="rId3"/>
                <a:stretch>
                  <a:fillRect l="-646" t="-785" b="-11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9" name="Google Shape;329;p20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85CAF75-AF40-DE42-9B34-B385E36B189E}"/>
              </a:ext>
            </a:extLst>
          </p:cNvPr>
          <p:cNvCxnSpPr>
            <a:cxnSpLocks/>
          </p:cNvCxnSpPr>
          <p:nvPr/>
        </p:nvCxnSpPr>
        <p:spPr>
          <a:xfrm>
            <a:off x="3253107" y="1373506"/>
            <a:ext cx="5450629" cy="0"/>
          </a:xfrm>
          <a:prstGeom prst="straightConnector1">
            <a:avLst/>
          </a:prstGeom>
          <a:ln w="34925">
            <a:solidFill>
              <a:schemeClr val="dk1"/>
            </a:solidFill>
            <a:round/>
            <a:headEnd type="triangle" w="lg" len="med"/>
            <a:tailEnd type="triangle" w="lg" len="med"/>
          </a:ln>
          <a:effectLst>
            <a:outerShdw blurRad="40000" dist="20000" dir="5400000" rotWithShape="0">
              <a:srgbClr val="000000">
                <a:alpha val="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Google Shape;125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8668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1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37" name="Google Shape;337;p21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39" name="Google Shape;339;p2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2723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4352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2"/>
          <p:cNvSpPr txBox="1"/>
          <p:nvPr/>
        </p:nvSpPr>
        <p:spPr>
          <a:xfrm>
            <a:off x="1458384" y="4859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1.9.3 Guided Practice: Solving Inequalities</a:t>
            </a:r>
            <a:endParaRPr sz="1100" dirty="0"/>
          </a:p>
        </p:txBody>
      </p:sp>
      <p:pic>
        <p:nvPicPr>
          <p:cNvPr id="348" name="Google Shape;348;p22" descr="Icon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8576" y="214622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Google Shape;349;p22"/>
              <p:cNvSpPr txBox="1"/>
              <p:nvPr/>
            </p:nvSpPr>
            <p:spPr>
              <a:xfrm>
                <a:off x="1458384" y="1235978"/>
                <a:ext cx="8876517" cy="47880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342900" indent="-342900">
                  <a:spcAft>
                    <a:spcPts val="1000"/>
                  </a:spcAft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Solve each inequality and graph the solution set. </a:t>
                </a:r>
              </a:p>
              <a:p>
                <a:pPr marL="3476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+2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≥−12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7663"/>
                <a:endParaRPr lang="en-US" sz="2000" i="1" dirty="0"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7663"/>
                <a:endParaRPr lang="en-US" sz="2000" i="1" dirty="0"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7663"/>
                <a:endParaRPr lang="en-US" sz="2000" i="1" dirty="0"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7663"/>
                <a:r>
                  <a:rPr lang="en-US" sz="20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−10&gt;−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−3)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7663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7663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7663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76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5.6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−4.5+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&lt;−36.4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7663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7663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7663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76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≥ 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−6)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49" name="Google Shape;349;p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8384" y="1235978"/>
                <a:ext cx="8876517" cy="4788065"/>
              </a:xfrm>
              <a:prstGeom prst="rect">
                <a:avLst/>
              </a:prstGeom>
              <a:blipFill rotWithShape="0">
                <a:blip r:embed="rId4"/>
                <a:stretch>
                  <a:fillRect l="-755" t="-89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0" name="Google Shape;350;p22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31435B3-07E8-7A4C-87DA-F78A20687E12}"/>
              </a:ext>
            </a:extLst>
          </p:cNvPr>
          <p:cNvCxnSpPr>
            <a:cxnSpLocks/>
          </p:cNvCxnSpPr>
          <p:nvPr/>
        </p:nvCxnSpPr>
        <p:spPr>
          <a:xfrm>
            <a:off x="5593270" y="4438440"/>
            <a:ext cx="5023556" cy="0"/>
          </a:xfrm>
          <a:prstGeom prst="straightConnector1">
            <a:avLst/>
          </a:prstGeom>
          <a:ln w="34925">
            <a:solidFill>
              <a:schemeClr val="dk1"/>
            </a:solidFill>
            <a:round/>
            <a:headEnd type="triangle" w="lg" len="med"/>
            <a:tailEnd type="triangle" w="lg" len="med"/>
          </a:ln>
          <a:effectLst>
            <a:outerShdw blurRad="40000" dist="20000" dir="5400000" rotWithShape="0">
              <a:srgbClr val="000000">
                <a:alpha val="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1E04EA2-A6FD-7C45-ADAA-FA63D2ADCAE5}"/>
              </a:ext>
            </a:extLst>
          </p:cNvPr>
          <p:cNvCxnSpPr>
            <a:cxnSpLocks/>
          </p:cNvCxnSpPr>
          <p:nvPr/>
        </p:nvCxnSpPr>
        <p:spPr>
          <a:xfrm>
            <a:off x="5593270" y="5651995"/>
            <a:ext cx="5023556" cy="0"/>
          </a:xfrm>
          <a:prstGeom prst="straightConnector1">
            <a:avLst/>
          </a:prstGeom>
          <a:ln w="34925">
            <a:solidFill>
              <a:schemeClr val="dk1"/>
            </a:solidFill>
            <a:round/>
            <a:headEnd type="triangle" w="lg" len="med"/>
            <a:tailEnd type="triangle" w="lg" len="med"/>
          </a:ln>
          <a:effectLst>
            <a:outerShdw blurRad="40000" dist="20000" dir="5400000" rotWithShape="0">
              <a:srgbClr val="000000">
                <a:alpha val="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5CE52F1-4E6C-B84F-BA40-A30F38C8BB44}"/>
              </a:ext>
            </a:extLst>
          </p:cNvPr>
          <p:cNvCxnSpPr>
            <a:cxnSpLocks/>
          </p:cNvCxnSpPr>
          <p:nvPr/>
        </p:nvCxnSpPr>
        <p:spPr>
          <a:xfrm>
            <a:off x="5593270" y="3151507"/>
            <a:ext cx="5023556" cy="0"/>
          </a:xfrm>
          <a:prstGeom prst="straightConnector1">
            <a:avLst/>
          </a:prstGeom>
          <a:ln w="34925">
            <a:solidFill>
              <a:schemeClr val="dk1"/>
            </a:solidFill>
            <a:round/>
            <a:headEnd type="triangle" w="lg" len="med"/>
            <a:tailEnd type="triangle" w="lg" len="med"/>
          </a:ln>
          <a:effectLst>
            <a:outerShdw blurRad="40000" dist="20000" dir="5400000" rotWithShape="0">
              <a:srgbClr val="000000">
                <a:alpha val="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6E9DC05-DBC5-9241-B79D-86102C02BF6D}"/>
              </a:ext>
            </a:extLst>
          </p:cNvPr>
          <p:cNvCxnSpPr>
            <a:cxnSpLocks/>
          </p:cNvCxnSpPr>
          <p:nvPr/>
        </p:nvCxnSpPr>
        <p:spPr>
          <a:xfrm>
            <a:off x="5593270" y="1887151"/>
            <a:ext cx="5023556" cy="0"/>
          </a:xfrm>
          <a:prstGeom prst="straightConnector1">
            <a:avLst/>
          </a:prstGeom>
          <a:ln w="34925">
            <a:solidFill>
              <a:schemeClr val="dk1"/>
            </a:solidFill>
            <a:round/>
            <a:headEnd type="triangle" w="lg" len="med"/>
            <a:tailEnd type="triangle" w="lg" len="med"/>
          </a:ln>
          <a:effectLst>
            <a:outerShdw blurRad="40000" dist="20000" dir="5400000" rotWithShape="0">
              <a:srgbClr val="000000">
                <a:alpha val="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Google Shape;125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9954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87" name="Google Shape;187;p6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9" name="Google Shape;18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3114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 txBox="1"/>
          <p:nvPr/>
        </p:nvSpPr>
        <p:spPr>
          <a:xfrm>
            <a:off x="1300650" y="-113321"/>
            <a:ext cx="428034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1.9.4 Collaboration: </a:t>
            </a:r>
            <a:b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Error Analysis</a:t>
            </a:r>
            <a:endParaRPr sz="1100" dirty="0"/>
          </a:p>
        </p:txBody>
      </p:sp>
      <p:pic>
        <p:nvPicPr>
          <p:cNvPr id="198" name="Google Shape;198;p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0842" y="161810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99" name="Google Shape;199;p7"/>
          <p:cNvSpPr txBox="1"/>
          <p:nvPr/>
        </p:nvSpPr>
        <p:spPr>
          <a:xfrm>
            <a:off x="973008" y="1072450"/>
            <a:ext cx="4128703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7663" indent="-347663"/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1. Work with your partner to identify the errors in the table. Circle the mistake, solve the inequality correctly, then graph the solution set.</a:t>
            </a:r>
            <a:endParaRPr sz="1200" dirty="0"/>
          </a:p>
        </p:txBody>
      </p:sp>
      <p:sp>
        <p:nvSpPr>
          <p:cNvPr id="200" name="Google Shape;200;p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62B8C58-4291-CAEE-5441-120273DFF8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594" y="0"/>
            <a:ext cx="5102013" cy="65712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0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27" name="Google Shape;427;p30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28" name="Google Shape;428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/>
        </p:nvSpPr>
        <p:spPr>
          <a:xfrm>
            <a:off x="1459638" y="13652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1.9.5 Your Turn!</a:t>
            </a:r>
            <a:endParaRPr dirty="0"/>
          </a:p>
        </p:txBody>
      </p:sp>
      <p:pic>
        <p:nvPicPr>
          <p:cNvPr id="437" name="Google Shape;437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2338" y="136525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39" name="Google Shape;439;p31"/>
              <p:cNvSpPr txBox="1"/>
              <p:nvPr/>
            </p:nvSpPr>
            <p:spPr>
              <a:xfrm>
                <a:off x="1459638" y="1126382"/>
                <a:ext cx="9423390" cy="34778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347663" indent="-3476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1. Solve the inequality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mbria Math" panose="02040503050406030204" pitchFamily="18" charset="0"/>
                      </a:rPr>
                      <m:t>5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mbria Math" panose="02040503050406030204" pitchFamily="18" charset="0"/>
                      </a:rPr>
                      <m:t>&gt;−40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graph the solution set on a number line.</a:t>
                </a:r>
              </a:p>
              <a:p>
                <a:pPr marL="347663" indent="-347663"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7663" indent="-347663"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7663" indent="-347663"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7663" indent="-347663"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7663" indent="-347663"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7663" indent="-347663"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7663" indent="-347663"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2. Describe how to solve the inequality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mbria Math" panose="02040503050406030204" pitchFamily="18" charset="0"/>
                      </a:rPr>
                      <m:t>32≥−4(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mbria Math" panose="02040503050406030204" pitchFamily="18" charset="0"/>
                      </a:rPr>
                      <m:t>−10)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347663" indent="-347663"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39" name="Google Shape;439;p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9638" y="1126382"/>
                <a:ext cx="9423390" cy="3477835"/>
              </a:xfrm>
              <a:prstGeom prst="rect">
                <a:avLst/>
              </a:prstGeom>
              <a:blipFill rotWithShape="0">
                <a:blip r:embed="rId4"/>
                <a:stretch>
                  <a:fillRect l="-647" t="-10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0" name="Google Shape;440;p31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C4E2E2F-4903-C24E-BAC5-A5B4B81ECCB3}"/>
              </a:ext>
            </a:extLst>
          </p:cNvPr>
          <p:cNvCxnSpPr>
            <a:cxnSpLocks/>
          </p:cNvCxnSpPr>
          <p:nvPr/>
        </p:nvCxnSpPr>
        <p:spPr>
          <a:xfrm>
            <a:off x="3584222" y="2982173"/>
            <a:ext cx="5023556" cy="0"/>
          </a:xfrm>
          <a:prstGeom prst="straightConnector1">
            <a:avLst/>
          </a:prstGeom>
          <a:ln w="34925">
            <a:solidFill>
              <a:schemeClr val="dk1"/>
            </a:solidFill>
            <a:round/>
            <a:headEnd type="triangle" w="lg" len="med"/>
            <a:tailEnd type="triangle" w="lg" len="med"/>
          </a:ln>
          <a:effectLst>
            <a:outerShdw blurRad="40000" dist="20000" dir="5400000" rotWithShape="0">
              <a:srgbClr val="000000">
                <a:alpha val="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Google Shape;125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3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58" name="Google Shape;458;p33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59" name="Google Shape;45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4"/>
          <p:cNvSpPr txBox="1"/>
          <p:nvPr/>
        </p:nvSpPr>
        <p:spPr>
          <a:xfrm>
            <a:off x="1500713" y="-5016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1.9.6 Wrap-Up: Reflection</a:t>
            </a:r>
            <a:endParaRPr sz="1200" dirty="0"/>
          </a:p>
        </p:txBody>
      </p:sp>
      <p:pic>
        <p:nvPicPr>
          <p:cNvPr id="468" name="Google Shape;468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263" y="23903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69" name="Google Shape;469;p34"/>
          <p:cNvSpPr txBox="1"/>
          <p:nvPr/>
        </p:nvSpPr>
        <p:spPr>
          <a:xfrm>
            <a:off x="1418563" y="1275539"/>
            <a:ext cx="9354874" cy="399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spcAft>
                <a:spcPts val="1000"/>
              </a:spcAft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each statement to reflect on today’s learning.</a:t>
            </a:r>
          </a:p>
          <a:p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95325" indent="-336550">
              <a:spcAft>
                <a:spcPts val="1000"/>
              </a:spcAft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When someone asks me what I did in math today, I can say …</a:t>
            </a:r>
          </a:p>
          <a:p>
            <a:pPr marL="914400"/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/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/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58775">
              <a:spcAft>
                <a:spcPts val="1000"/>
              </a:spcAf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b. The thing that made the most sense to me today was …</a:t>
            </a:r>
          </a:p>
          <a:p>
            <a:pPr marL="914400"/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/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/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58775">
              <a:spcAft>
                <a:spcPts val="1000"/>
              </a:spcAf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c. Something that I still do not understand is …</a:t>
            </a:r>
          </a:p>
        </p:txBody>
      </p:sp>
      <p:sp>
        <p:nvSpPr>
          <p:cNvPr id="470" name="Google Shape;470;p34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1" name="Google Shape;125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689</Words>
  <Application>Microsoft Macintosh PowerPoint</Application>
  <PresentationFormat>Widescreen</PresentationFormat>
  <Paragraphs>154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Arial Black</vt:lpstr>
      <vt:lpstr>Calibri</vt:lpstr>
      <vt:lpstr>Cambria Math</vt:lpstr>
      <vt:lpstr>Century Gothic</vt:lpstr>
      <vt:lpstr>Times New Roman</vt:lpstr>
      <vt:lpstr>Verdana</vt:lpstr>
      <vt:lpstr>1_Office Theme</vt:lpstr>
      <vt:lpstr>7th Grade Accelerated Math  Unit 1, Lesson 9  Solving Inequalities – Part 1  Volume 1, pg. 51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Guided Practice</vt:lpstr>
      <vt:lpstr>PowerPoint Presentation</vt:lpstr>
      <vt:lpstr>Collaboration</vt:lpstr>
      <vt:lpstr>PowerPoint Presentation</vt:lpstr>
      <vt:lpstr>Your Turn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Name  Unit 1, Lesson #  Lesson Name  Volume x, pg. #  </dc:title>
  <dc:creator>Karen McKenzie</dc:creator>
  <cp:lastModifiedBy>Diana Barnett</cp:lastModifiedBy>
  <cp:revision>7</cp:revision>
  <dcterms:created xsi:type="dcterms:W3CDTF">2015-03-17T18:51:18Z</dcterms:created>
  <dcterms:modified xsi:type="dcterms:W3CDTF">2023-02-06T18:11:48Z</dcterms:modified>
</cp:coreProperties>
</file>