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3" r:id="rId8"/>
    <p:sldId id="264" r:id="rId9"/>
    <p:sldId id="265" r:id="rId10"/>
    <p:sldId id="293" r:id="rId11"/>
    <p:sldId id="294" r:id="rId12"/>
    <p:sldId id="275" r:id="rId13"/>
    <p:sldId id="276" r:id="rId14"/>
    <p:sldId id="277" r:id="rId15"/>
    <p:sldId id="295" r:id="rId16"/>
    <p:sldId id="287" r:id="rId17"/>
    <p:sldId id="288" r:id="rId18"/>
    <p:sldId id="289" r:id="rId19"/>
    <p:sldId id="290" r:id="rId20"/>
    <p:sldId id="291"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GNqAw0ce6kMhO2MM82zLCkyAo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31"/>
    <p:restoredTop sz="94767"/>
  </p:normalViewPr>
  <p:slideViewPr>
    <p:cSldViewPr snapToGrid="0">
      <p:cViewPr varScale="1">
        <p:scale>
          <a:sx n="88" d="100"/>
          <a:sy n="88" d="100"/>
        </p:scale>
        <p:origin x="200" y="6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48" Type="http://customschemas.google.com/relationships/presentationmetadata" Target="metadata"/><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530846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604169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1718998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20.png"/><Relationship Id="rId5" Type="http://schemas.openxmlformats.org/officeDocument/2006/relationships/image" Target="../media/image13.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50.png"/><Relationship Id="rId5" Type="http://schemas.openxmlformats.org/officeDocument/2006/relationships/image" Target="../media/image16.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1, Lesson 4</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Two-Step Equations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24</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115" name="Google Shape;115;g104476d1465_0_0"/>
          <p:cNvSpPr/>
          <p:nvPr/>
        </p:nvSpPr>
        <p:spPr>
          <a:xfrm>
            <a:off x="0" y="-810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185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459135" y="7756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35635" y="313344"/>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459135" y="1600200"/>
            <a:ext cx="927373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200" dirty="0">
                <a:solidFill>
                  <a:schemeClr val="dk1"/>
                </a:solidFill>
                <a:latin typeface="Verdana"/>
                <a:ea typeface="Verdana"/>
                <a:cs typeface="Verdana"/>
                <a:sym typeface="Verdana"/>
              </a:rPr>
              <a:t>MA.7.AR.2.2</a:t>
            </a:r>
            <a:endParaRPr sz="32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200" dirty="0">
                <a:solidFill>
                  <a:schemeClr val="dk1"/>
                </a:solidFill>
                <a:latin typeface="Verdana"/>
                <a:ea typeface="Verdana"/>
                <a:cs typeface="Verdana"/>
                <a:sym typeface="Verdana"/>
              </a:rPr>
              <a:t>Write and solve two-step equations in one variable within a mathematical context or real-world context, where all terms are rational numbers</a:t>
            </a:r>
            <a:endParaRPr sz="20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33907" y="327096"/>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58557" y="84463"/>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582057" y="1596390"/>
            <a:ext cx="9615706" cy="4205700"/>
          </a:xfrm>
          <a:prstGeom prst="rect">
            <a:avLst/>
          </a:prstGeom>
          <a:noFill/>
          <a:ln>
            <a:noFill/>
          </a:ln>
        </p:spPr>
        <p:txBody>
          <a:bodyPr spcFirstLastPara="1" wrap="square" lIns="91425" tIns="45700" rIns="91425" bIns="45700" anchor="t" anchorCtr="0">
            <a:noAutofit/>
          </a:bodyPr>
          <a:lstStyle/>
          <a:p>
            <a:r>
              <a:rPr lang="en-US" sz="1800" dirty="0">
                <a:solidFill>
                  <a:schemeClr val="dk1"/>
                </a:solidFill>
                <a:latin typeface="Verdana"/>
                <a:ea typeface="Verdana"/>
                <a:cs typeface="Verdana"/>
                <a:sym typeface="Verdana"/>
              </a:rPr>
              <a:t>MA.K12.MTR.1.1 Actively participate in effortful learning both individually and collectively.</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MA.K12.MTR.2.1 Demonstrate understanding by representing problems in multiple ways.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MA.K12.MTR.4.1 Engage in discussions that reflect on the mathematical thinking of self and others.</a:t>
            </a:r>
            <a:endParaRPr dirty="0"/>
          </a:p>
          <a:p>
            <a:pPr marL="457200"/>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MA.K12.MTR.5.1 Use patterns and structure to help understand and connect mathematical concepts.</a:t>
            </a:r>
            <a:endParaRPr dirty="0"/>
          </a:p>
          <a:p>
            <a:endParaRPr sz="1800" dirty="0">
              <a:solidFill>
                <a:schemeClr val="dk1"/>
              </a:solidFill>
              <a:latin typeface="Verdana"/>
              <a:ea typeface="Verdana"/>
              <a:cs typeface="Verdana"/>
              <a:sym typeface="Verdana"/>
            </a:endParaRPr>
          </a:p>
          <a:p>
            <a:r>
              <a:rPr lang="en-US" sz="1800" dirty="0">
                <a:solidFill>
                  <a:schemeClr val="dk1"/>
                </a:solidFill>
                <a:latin typeface="Verdana"/>
                <a:ea typeface="Verdana"/>
                <a:cs typeface="Verdana"/>
                <a:sym typeface="Verdana"/>
              </a:rPr>
              <a:t>MA.K12.MTR.7.1 Apply mathematics to real-world contexts.</a:t>
            </a:r>
            <a:endParaRPr sz="1800" dirty="0">
              <a:solidFill>
                <a:schemeClr val="dk1"/>
              </a:solidFill>
              <a:latin typeface="Verdana"/>
              <a:ea typeface="Verdana"/>
              <a:cs typeface="Verdana"/>
              <a:sym typeface="Verdana"/>
            </a:endParaRPr>
          </a:p>
        </p:txBody>
      </p:sp>
      <p:sp>
        <p:nvSpPr>
          <p:cNvPr id="138" name="Google Shape;138;p1"/>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361375"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579213"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494971" y="1600200"/>
            <a:ext cx="9202058"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solve two-step equations in one variable.</a:t>
            </a:r>
          </a:p>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relate the solution of an equation representing a real-world context to the context.</a:t>
            </a:r>
          </a:p>
          <a:p>
            <a:pPr marL="457200" indent="-450850">
              <a:buClr>
                <a:srgbClr val="434343"/>
              </a:buClr>
              <a:buSzPts val="3500"/>
              <a:buFont typeface="Verdana"/>
              <a:buChar char="❏"/>
            </a:pPr>
            <a:endParaRPr lang="en-US" sz="3500" dirty="0">
              <a:solidFill>
                <a:schemeClr val="dk1"/>
              </a:solidFill>
              <a:latin typeface="Verdana"/>
              <a:ea typeface="Verdana"/>
              <a:cs typeface="Verdana"/>
              <a:sym typeface="Verdana"/>
            </a:endParaRPr>
          </a:p>
        </p:txBody>
      </p:sp>
      <p:sp>
        <p:nvSpPr>
          <p:cNvPr id="149" name="Google Shape;149;p2"/>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22445" y="60325"/>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3F2A67"/>
                </a:solidFill>
                <a:latin typeface="Verdana"/>
                <a:ea typeface="Verdana"/>
                <a:cs typeface="Verdana"/>
                <a:sym typeface="Verdana"/>
              </a:rPr>
              <a:t>1.4.1 Warm-Up: Bell Work</a:t>
            </a:r>
            <a:endParaRPr sz="1200" dirty="0"/>
          </a:p>
        </p:txBody>
      </p:sp>
      <p:pic>
        <p:nvPicPr>
          <p:cNvPr id="167" name="Google Shape;167;p4"/>
          <p:cNvPicPr preferRelativeResize="0"/>
          <p:nvPr/>
        </p:nvPicPr>
        <p:blipFill rotWithShape="1">
          <a:blip r:embed="rId3">
            <a:alphaModFix/>
          </a:blip>
          <a:srcRect/>
          <a:stretch/>
        </p:blipFill>
        <p:spPr>
          <a:xfrm>
            <a:off x="675145" y="259144"/>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69" name="Google Shape;169;p4"/>
              <p:cNvSpPr txBox="1"/>
              <p:nvPr/>
            </p:nvSpPr>
            <p:spPr>
              <a:xfrm>
                <a:off x="1175657" y="1223700"/>
                <a:ext cx="9991352" cy="5016718"/>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Michaela solved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2.9−</m:t>
                    </m:r>
                    <m:r>
                      <a:rPr lang="en-US" sz="2000" i="1">
                        <a:latin typeface="Cambria Math" panose="02040503050406030204" pitchFamily="18" charset="0"/>
                        <a:ea typeface="Times New Roman" panose="02020603050405020304" pitchFamily="18" charset="0"/>
                        <a:cs typeface="Times New Roman" panose="02020603050405020304" pitchFamily="18" charset="0"/>
                      </a:rPr>
                      <m:t>𝑟</m:t>
                    </m:r>
                    <m:r>
                      <a:rPr lang="en-US" sz="2000" i="1">
                        <a:latin typeface="Cambria Math" panose="02040503050406030204" pitchFamily="18" charset="0"/>
                        <a:ea typeface="Times New Roman" panose="02020603050405020304" pitchFamily="18" charset="0"/>
                        <a:cs typeface="Times New Roman" panose="02020603050405020304" pitchFamily="18" charset="0"/>
                      </a:rPr>
                      <m:t>=−5.11</m:t>
                    </m:r>
                  </m:oMath>
                </a14:m>
                <a:r>
                  <a:rPr lang="en-US" sz="2000" dirty="0">
                    <a:latin typeface="Verdana" panose="020B0604030504040204" pitchFamily="34" charset="0"/>
                    <a:ea typeface="Verdana" panose="020B0604030504040204" pitchFamily="34" charset="0"/>
                    <a:cs typeface="Verdana" panose="020B0604030504040204" pitchFamily="34" charset="0"/>
                  </a:rPr>
                  <a:t>. Her work is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1. Use substitution to verify if Michaela’s solution is correct.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indent="-352425"/>
                <a:r>
                  <a:rPr lang="en-US" sz="2000" dirty="0">
                    <a:latin typeface="Verdana" panose="020B0604030504040204" pitchFamily="34" charset="0"/>
                    <a:ea typeface="Verdana" panose="020B0604030504040204" pitchFamily="34" charset="0"/>
                    <a:cs typeface="Verdana" panose="020B0604030504040204" pitchFamily="34" charset="0"/>
                  </a:rPr>
                  <a:t>2. If Michaela found the correct solution, describe the properties of equality applied. If Michaela did not find the correct solution, describe the error(s) she made.</a:t>
                </a:r>
              </a:p>
            </p:txBody>
          </p:sp>
        </mc:Choice>
        <mc:Fallback xmlns="">
          <p:sp>
            <p:nvSpPr>
              <p:cNvPr id="169" name="Google Shape;169;p4"/>
              <p:cNvSpPr txBox="1">
                <a:spLocks noRot="1" noChangeAspect="1" noMove="1" noResize="1" noEditPoints="1" noAdjustHandles="1" noChangeArrowheads="1" noChangeShapeType="1" noTextEdit="1"/>
              </p:cNvSpPr>
              <p:nvPr/>
            </p:nvSpPr>
            <p:spPr>
              <a:xfrm>
                <a:off x="1175657" y="1223700"/>
                <a:ext cx="9991352" cy="5016718"/>
              </a:xfrm>
              <a:prstGeom prst="rect">
                <a:avLst/>
              </a:prstGeom>
              <a:blipFill rotWithShape="0">
                <a:blip r:embed="rId4"/>
                <a:stretch>
                  <a:fillRect l="-671" t="-729" r="-1098" b="-1215"/>
                </a:stretch>
              </a:blipFill>
              <a:ln>
                <a:noFill/>
              </a:ln>
            </p:spPr>
            <p:txBody>
              <a:bodyPr/>
              <a:lstStyle/>
              <a:p>
                <a:r>
                  <a:rPr lang="en-US">
                    <a:noFill/>
                  </a:rPr>
                  <a:t> </a:t>
                </a:r>
              </a:p>
            </p:txBody>
          </p:sp>
        </mc:Fallback>
      </mc:AlternateContent>
      <p:sp>
        <p:nvSpPr>
          <p:cNvPr id="170" name="Google Shape;170;p4"/>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Picture 7" descr="A picture containing diagram&#10;&#10;Description automatically generated">
            <a:extLst>
              <a:ext uri="{FF2B5EF4-FFF2-40B4-BE49-F238E27FC236}">
                <a16:creationId xmlns:a16="http://schemas.microsoft.com/office/drawing/2014/main" xmlns="" id="{9B9D832A-E4A0-C848-B5E2-D872A6586880}"/>
              </a:ext>
            </a:extLst>
          </p:cNvPr>
          <p:cNvPicPr>
            <a:picLocks noChangeAspect="1"/>
          </p:cNvPicPr>
          <p:nvPr/>
        </p:nvPicPr>
        <p:blipFill>
          <a:blip r:embed="rId5"/>
          <a:stretch>
            <a:fillRect/>
          </a:stretch>
        </p:blipFill>
        <p:spPr>
          <a:xfrm>
            <a:off x="4335112" y="2093871"/>
            <a:ext cx="3521776" cy="1658900"/>
          </a:xfrm>
          <a:prstGeom prst="rect">
            <a:avLst/>
          </a:prstGeom>
        </p:spPr>
      </p:pic>
      <p:sp>
        <p:nvSpPr>
          <p:cNvPr id="10"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21191" y="60326"/>
            <a:ext cx="1053095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33BEA6"/>
                </a:solidFill>
                <a:latin typeface="Verdana"/>
                <a:ea typeface="Verdana"/>
                <a:cs typeface="Verdana"/>
                <a:sym typeface="Verdana"/>
              </a:rPr>
              <a:t>1.4.2 Collaboration: Examining Student Work</a:t>
            </a:r>
            <a:endParaRPr sz="1100"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71383" y="348272"/>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99" name="Google Shape;199;p7"/>
              <p:cNvSpPr txBox="1"/>
              <p:nvPr/>
            </p:nvSpPr>
            <p:spPr>
              <a:xfrm>
                <a:off x="1421191" y="1386026"/>
                <a:ext cx="9605650" cy="1022291"/>
              </a:xfrm>
              <a:prstGeom prst="rect">
                <a:avLst/>
              </a:prstGeom>
              <a:noFill/>
              <a:ln>
                <a:noFill/>
              </a:ln>
            </p:spPr>
            <p:txBody>
              <a:bodyPr spcFirstLastPara="1" wrap="square" lIns="91425" tIns="45700" rIns="91425" bIns="45700" anchor="t" anchorCtr="0">
                <a:spAutoFit/>
              </a:bodyPr>
              <a:lstStyle/>
              <a:p>
                <a:pPr marL="352425" indent="-352425"/>
                <a:r>
                  <a:rPr lang="en-US" sz="2000" dirty="0">
                    <a:latin typeface="Verdana" panose="020B0604030504040204" pitchFamily="34" charset="0"/>
                    <a:ea typeface="Verdana" panose="020B0604030504040204" pitchFamily="34" charset="0"/>
                    <a:cs typeface="Verdana" panose="020B0604030504040204" pitchFamily="34" charset="0"/>
                  </a:rPr>
                  <a:t>1. Wilma and </a:t>
                </a:r>
                <a:r>
                  <a:rPr lang="en-US" sz="2000" dirty="0" err="1">
                    <a:latin typeface="Verdana" panose="020B0604030504040204" pitchFamily="34" charset="0"/>
                    <a:ea typeface="Verdana" panose="020B0604030504040204" pitchFamily="34" charset="0"/>
                    <a:cs typeface="Verdana" panose="020B0604030504040204" pitchFamily="34" charset="0"/>
                  </a:rPr>
                  <a:t>Maurio</a:t>
                </a:r>
                <a:r>
                  <a:rPr lang="en-US" sz="2000" dirty="0">
                    <a:latin typeface="Verdana" panose="020B0604030504040204" pitchFamily="34" charset="0"/>
                    <a:ea typeface="Verdana" panose="020B0604030504040204" pitchFamily="34" charset="0"/>
                    <a:cs typeface="Verdana" panose="020B0604030504040204" pitchFamily="34" charset="0"/>
                  </a:rPr>
                  <a:t> solved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42=</m:t>
                    </m:r>
                    <m:sPre>
                      <m:sPrePr>
                        <m:ctrlPr>
                          <a:rPr lang="en-US" sz="2000" i="1">
                            <a:latin typeface="Cambria Math" charset="0"/>
                            <a:ea typeface="Times New Roman" panose="02020603050405020304" pitchFamily="18" charset="0"/>
                            <a:cs typeface="Times New Roman" panose="02020603050405020304" pitchFamily="18" charset="0"/>
                          </a:rPr>
                        </m:ctrlPr>
                      </m:sPrePr>
                      <m:sub/>
                      <m:sup>
                        <m:r>
                          <a:rPr lang="en-US" sz="2000" i="1">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latin typeface="Cambria Math" panose="02040503050406030204" pitchFamily="18" charset="0"/>
                            <a:ea typeface="Times New Roman" panose="02020603050405020304" pitchFamily="18" charset="0"/>
                            <a:cs typeface="Times New Roman" panose="02020603050405020304" pitchFamily="18" charset="0"/>
                          </a:rPr>
                          <m:t>3</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e>
                    </m:sPre>
                    <m:r>
                      <a:rPr lang="en-US" sz="2000" i="1">
                        <a:latin typeface="Cambria Math" panose="02040503050406030204" pitchFamily="18" charset="0"/>
                        <a:ea typeface="Times New Roman" panose="02020603050405020304" pitchFamily="18" charset="0"/>
                        <a:cs typeface="Times New Roman" panose="02020603050405020304" pitchFamily="18" charset="0"/>
                      </a:rPr>
                      <m:t>+15.6</m:t>
                    </m:r>
                  </m:oMath>
                </a14:m>
                <a:r>
                  <a:rPr lang="en-US" sz="2000" dirty="0">
                    <a:latin typeface="Verdana" panose="020B0604030504040204" pitchFamily="34" charset="0"/>
                    <a:ea typeface="Verdana" panose="020B0604030504040204" pitchFamily="34" charset="0"/>
                    <a:cs typeface="Verdana" panose="020B0604030504040204" pitchFamily="34" charset="0"/>
                  </a:rPr>
                  <a:t> by applying the </a:t>
                </a:r>
                <a:r>
                  <a:rPr lang="en-US" sz="2000" dirty="0">
                    <a:solidFill>
                      <a:srgbClr val="F79646"/>
                    </a:solidFill>
                    <a:latin typeface="Verdana" panose="020B0604030504040204" pitchFamily="34" charset="0"/>
                    <a:ea typeface="Verdana" panose="020B0604030504040204" pitchFamily="34" charset="0"/>
                    <a:cs typeface="Verdana" panose="020B0604030504040204" pitchFamily="34" charset="0"/>
                  </a:rPr>
                  <a:t>subtraction property of equality</a:t>
                </a:r>
                <a:r>
                  <a:rPr lang="en-US" sz="2000" dirty="0">
                    <a:latin typeface="Verdana" panose="020B0604030504040204" pitchFamily="34" charset="0"/>
                    <a:ea typeface="Verdana" panose="020B0604030504040204" pitchFamily="34" charset="0"/>
                    <a:cs typeface="Verdana" panose="020B0604030504040204" pitchFamily="34" charset="0"/>
                  </a:rPr>
                  <a:t> and the </a:t>
                </a:r>
                <a:r>
                  <a:rPr lang="en-US" sz="2000" dirty="0">
                    <a:solidFill>
                      <a:srgbClr val="00B0F0"/>
                    </a:solidFill>
                    <a:latin typeface="Verdana" panose="020B0604030504040204" pitchFamily="34" charset="0"/>
                    <a:ea typeface="Verdana" panose="020B0604030504040204" pitchFamily="34" charset="0"/>
                    <a:cs typeface="Verdana" panose="020B0604030504040204" pitchFamily="34" charset="0"/>
                  </a:rPr>
                  <a:t>division property of equality</a:t>
                </a:r>
                <a:r>
                  <a:rPr lang="en-US" sz="2000" dirty="0">
                    <a:latin typeface="Verdana" panose="020B0604030504040204" pitchFamily="34" charset="0"/>
                    <a:ea typeface="Verdana" panose="020B0604030504040204" pitchFamily="34" charset="0"/>
                    <a:cs typeface="Verdana" panose="020B0604030504040204" pitchFamily="34" charset="0"/>
                  </a:rPr>
                  <a:t>. Their work is shown.</a:t>
                </a:r>
              </a:p>
            </p:txBody>
          </p:sp>
        </mc:Choice>
        <mc:Fallback xmlns="">
          <p:sp>
            <p:nvSpPr>
              <p:cNvPr id="199" name="Google Shape;199;p7"/>
              <p:cNvSpPr txBox="1">
                <a:spLocks noRot="1" noChangeAspect="1" noMove="1" noResize="1" noEditPoints="1" noAdjustHandles="1" noChangeArrowheads="1" noChangeShapeType="1" noTextEdit="1"/>
              </p:cNvSpPr>
              <p:nvPr/>
            </p:nvSpPr>
            <p:spPr>
              <a:xfrm>
                <a:off x="1421191" y="1386026"/>
                <a:ext cx="9605650" cy="1022291"/>
              </a:xfrm>
              <a:prstGeom prst="rect">
                <a:avLst/>
              </a:prstGeom>
              <a:blipFill rotWithShape="0">
                <a:blip r:embed="rId4"/>
                <a:stretch>
                  <a:fillRect l="-635" t="-3571" b="-9524"/>
                </a:stretch>
              </a:blipFill>
              <a:ln>
                <a:noFill/>
              </a:ln>
            </p:spPr>
            <p:txBody>
              <a:bodyPr/>
              <a:lstStyle/>
              <a:p>
                <a:r>
                  <a:rPr lang="en-US">
                    <a:noFill/>
                  </a:rPr>
                  <a:t> </a:t>
                </a:r>
              </a:p>
            </p:txBody>
          </p:sp>
        </mc:Fallback>
      </mc:AlternateContent>
      <p:sp>
        <p:nvSpPr>
          <p:cNvPr id="200" name="Google Shape;200;p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 name="Picture 4">
            <a:extLst>
              <a:ext uri="{FF2B5EF4-FFF2-40B4-BE49-F238E27FC236}">
                <a16:creationId xmlns:a16="http://schemas.microsoft.com/office/drawing/2014/main" xmlns="" id="{94B44F7C-36DF-A348-9758-C514160BB6B4}"/>
              </a:ext>
            </a:extLst>
          </p:cNvPr>
          <p:cNvPicPr>
            <a:picLocks noChangeAspect="1"/>
          </p:cNvPicPr>
          <p:nvPr/>
        </p:nvPicPr>
        <p:blipFill>
          <a:blip r:embed="rId5"/>
          <a:stretch>
            <a:fillRect/>
          </a:stretch>
        </p:blipFill>
        <p:spPr>
          <a:xfrm>
            <a:off x="2213284" y="2481645"/>
            <a:ext cx="7555505" cy="3718955"/>
          </a:xfrm>
          <a:prstGeom prst="rect">
            <a:avLst/>
          </a:prstGeom>
        </p:spPr>
      </p:pic>
      <p:sp>
        <p:nvSpPr>
          <p:cNvPr id="9"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856343" y="264394"/>
            <a:ext cx="10479314" cy="3170058"/>
          </a:xfrm>
          <a:prstGeom prst="rect">
            <a:avLst/>
          </a:prstGeom>
          <a:noFill/>
          <a:ln>
            <a:noFill/>
          </a:ln>
        </p:spPr>
        <p:txBody>
          <a:bodyPr spcFirstLastPara="1" wrap="square" lIns="91425" tIns="45700" rIns="91425" bIns="45700" anchor="t" anchorCtr="0">
            <a:spAutoFit/>
          </a:bodyPr>
          <a:lstStyle/>
          <a:p>
            <a:pPr marL="352425" indent="-352425"/>
            <a:r>
              <a:rPr lang="en-US" sz="2000" dirty="0">
                <a:latin typeface="Verdana"/>
                <a:ea typeface="Verdana"/>
                <a:cs typeface="Verdana"/>
                <a:sym typeface="Verdana"/>
              </a:rPr>
              <a:t>a. Complete the last step in each student’s work. Then, check your work with your partner.</a:t>
            </a: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lvl="0"/>
            <a:endParaRPr lang="en-US" sz="2000" dirty="0">
              <a:latin typeface="Verdana"/>
              <a:ea typeface="Verdana"/>
              <a:cs typeface="Verdana"/>
              <a:sym typeface="Verdana"/>
            </a:endParaRPr>
          </a:p>
          <a:p>
            <a:pPr marL="352425" indent="-352425"/>
            <a:r>
              <a:rPr lang="en-US" sz="2000" dirty="0">
                <a:latin typeface="Verdana"/>
                <a:ea typeface="Verdana"/>
                <a:cs typeface="Verdana"/>
                <a:sym typeface="Verdana"/>
              </a:rPr>
              <a:t>b. Discuss the similarities and differences between each students’ work with your partner. Summarize your discussion in the table.</a:t>
            </a:r>
          </a:p>
          <a:p>
            <a:pPr lvl="0"/>
            <a:endParaRPr lang="en-US" sz="2000" dirty="0">
              <a:latin typeface="Verdana"/>
              <a:ea typeface="Verdana"/>
              <a:cs typeface="Verdana"/>
              <a:sym typeface="Verdana"/>
            </a:endParaRPr>
          </a:p>
        </p:txBody>
      </p:sp>
      <p:sp>
        <p:nvSpPr>
          <p:cNvPr id="209" name="Google Shape;209;p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xmlns="" id="{B8AC97D3-619A-8544-AF2F-074EDAF493E5}"/>
              </a:ext>
            </a:extLst>
          </p:cNvPr>
          <p:cNvGraphicFramePr>
            <a:graphicFrameLocks noGrp="1"/>
          </p:cNvGraphicFramePr>
          <p:nvPr>
            <p:extLst>
              <p:ext uri="{D42A27DB-BD31-4B8C-83A1-F6EECF244321}">
                <p14:modId xmlns:p14="http://schemas.microsoft.com/office/powerpoint/2010/main" val="1755174202"/>
              </p:ext>
            </p:extLst>
          </p:nvPr>
        </p:nvGraphicFramePr>
        <p:xfrm>
          <a:off x="2471263" y="3481408"/>
          <a:ext cx="6800850" cy="3089275"/>
        </p:xfrm>
        <a:graphic>
          <a:graphicData uri="http://schemas.openxmlformats.org/drawingml/2006/table">
            <a:tbl>
              <a:tblPr firstRow="1" firstCol="1" bandRow="1"/>
              <a:tblGrid>
                <a:gridCol w="3444240">
                  <a:extLst>
                    <a:ext uri="{9D8B030D-6E8A-4147-A177-3AD203B41FA5}">
                      <a16:colId xmlns:a16="http://schemas.microsoft.com/office/drawing/2014/main" xmlns="" val="3097679040"/>
                    </a:ext>
                  </a:extLst>
                </a:gridCol>
                <a:gridCol w="3356610">
                  <a:extLst>
                    <a:ext uri="{9D8B030D-6E8A-4147-A177-3AD203B41FA5}">
                      <a16:colId xmlns:a16="http://schemas.microsoft.com/office/drawing/2014/main" xmlns="" val="1743729671"/>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How are </a:t>
                      </a: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the students’ work similar?</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How are the students’ work different?</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4139276374"/>
                  </a:ext>
                </a:extLst>
              </a:tr>
              <a:tr h="2479675">
                <a:tc>
                  <a:txBody>
                    <a:bodyPr/>
                    <a:lstStyle/>
                    <a:p>
                      <a:pPr marL="0" marR="0">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610561000"/>
                  </a:ext>
                </a:extLst>
              </a:tr>
            </a:tbl>
          </a:graphicData>
        </a:graphic>
      </p:graphicFrame>
      <p:sp>
        <p:nvSpPr>
          <p:cNvPr id="8"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335314" y="410665"/>
            <a:ext cx="9672038" cy="3170058"/>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Notice that when division property of equality is applied first, each term in the equation must be divided by the same value to maintain equivalence.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52425" indent="-352425"/>
            <a:r>
              <a:rPr lang="en-US" sz="2000" dirty="0">
                <a:latin typeface="Verdana" panose="020B0604030504040204" pitchFamily="34" charset="0"/>
                <a:ea typeface="Verdana" panose="020B0604030504040204" pitchFamily="34" charset="0"/>
                <a:cs typeface="Verdana" panose="020B0604030504040204" pitchFamily="34" charset="0"/>
              </a:rPr>
              <a:t>2. Several students made errors when solving equations. Their work is shown in the table.</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352425"/>
            <a:r>
              <a:rPr lang="en-US" sz="2000" dirty="0">
                <a:latin typeface="Verdana" panose="020B0604030504040204" pitchFamily="34" charset="0"/>
                <a:ea typeface="Verdana" panose="020B0604030504040204" pitchFamily="34" charset="0"/>
                <a:cs typeface="Verdana" panose="020B0604030504040204" pitchFamily="34" charset="0"/>
              </a:rPr>
              <a:t>Work with your partner to find the error in each student’s work. Circle the step where the student made the error. Then, work together to complete the table.</a:t>
            </a:r>
          </a:p>
        </p:txBody>
      </p:sp>
      <p:sp>
        <p:nvSpPr>
          <p:cNvPr id="209" name="Google Shape;209;p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620240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9" name="Google Shape;209;p8"/>
          <p:cNvSpPr/>
          <p:nvPr/>
        </p:nvSpPr>
        <p:spPr>
          <a:xfrm>
            <a:off x="0" y="-1914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xmlns="" id="{4B1CD0E7-0E62-BA4D-AE60-467F48D4FA76}"/>
              </a:ext>
            </a:extLst>
          </p:cNvPr>
          <p:cNvGraphicFramePr>
            <a:graphicFrameLocks noGrp="1"/>
          </p:cNvGraphicFramePr>
          <p:nvPr>
            <p:extLst>
              <p:ext uri="{D42A27DB-BD31-4B8C-83A1-F6EECF244321}">
                <p14:modId xmlns:p14="http://schemas.microsoft.com/office/powerpoint/2010/main" val="1168797453"/>
              </p:ext>
            </p:extLst>
          </p:nvPr>
        </p:nvGraphicFramePr>
        <p:xfrm>
          <a:off x="2129696" y="98979"/>
          <a:ext cx="7819057" cy="6191510"/>
        </p:xfrm>
        <a:graphic>
          <a:graphicData uri="http://schemas.openxmlformats.org/drawingml/2006/table">
            <a:tbl>
              <a:tblPr firstRow="1" firstCol="1" bandRow="1"/>
              <a:tblGrid>
                <a:gridCol w="2761471">
                  <a:extLst>
                    <a:ext uri="{9D8B030D-6E8A-4147-A177-3AD203B41FA5}">
                      <a16:colId xmlns:a16="http://schemas.microsoft.com/office/drawing/2014/main" xmlns="" val="557631505"/>
                    </a:ext>
                  </a:extLst>
                </a:gridCol>
                <a:gridCol w="2560013">
                  <a:extLst>
                    <a:ext uri="{9D8B030D-6E8A-4147-A177-3AD203B41FA5}">
                      <a16:colId xmlns:a16="http://schemas.microsoft.com/office/drawing/2014/main" xmlns="" val="4102565239"/>
                    </a:ext>
                  </a:extLst>
                </a:gridCol>
                <a:gridCol w="2497573">
                  <a:extLst>
                    <a:ext uri="{9D8B030D-6E8A-4147-A177-3AD203B41FA5}">
                      <a16:colId xmlns:a16="http://schemas.microsoft.com/office/drawing/2014/main" xmlns="" val="2797800537"/>
                    </a:ext>
                  </a:extLst>
                </a:gridCol>
              </a:tblGrid>
              <a:tr h="586613">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Student Work</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Describe the Error</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Correct Solution</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3575280942"/>
                  </a:ext>
                </a:extLst>
              </a:tr>
              <a:tr h="1873467">
                <a:tc>
                  <a:txBody>
                    <a:bodyPr/>
                    <a:lstStyle/>
                    <a:p>
                      <a:pPr marL="0" marR="0" algn="ctr">
                        <a:spcBef>
                          <a:spcPts val="600"/>
                        </a:spcBef>
                        <a:spcAft>
                          <a:spcPts val="600"/>
                        </a:spcAft>
                      </a:pPr>
                      <a:endParaRPr lang="en-US"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40180" marR="401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7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7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24413386"/>
                  </a:ext>
                </a:extLst>
              </a:tr>
              <a:tr h="1849655">
                <a:tc>
                  <a:txBody>
                    <a:bodyPr/>
                    <a:lstStyle/>
                    <a:p>
                      <a:pPr marL="0" marR="0" algn="ctr">
                        <a:spcBef>
                          <a:spcPts val="600"/>
                        </a:spcBef>
                        <a:spcAft>
                          <a:spcPts val="600"/>
                        </a:spcAft>
                      </a:pPr>
                      <a:endParaRPr lang="en-US"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40180" marR="401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a:effectLst/>
                          <a:latin typeface="Verdana" panose="020B0604030504040204" pitchFamily="34" charset="0"/>
                          <a:ea typeface="Times New Roman" panose="02020603050405020304" pitchFamily="18" charset="0"/>
                          <a:cs typeface="Times New Roman" panose="02020603050405020304" pitchFamily="18" charset="0"/>
                        </a:rPr>
                        <a:t> </a:t>
                      </a:r>
                      <a:endParaRPr lang="en-US"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a:effectLst/>
                          <a:latin typeface="Verdana" panose="020B0604030504040204" pitchFamily="34" charset="0"/>
                          <a:ea typeface="Times New Roman" panose="02020603050405020304" pitchFamily="18" charset="0"/>
                          <a:cs typeface="Times New Roman" panose="02020603050405020304" pitchFamily="18" charset="0"/>
                        </a:rPr>
                        <a:t> </a:t>
                      </a:r>
                      <a:endParaRPr lang="en-US"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018725855"/>
                  </a:ext>
                </a:extLst>
              </a:tr>
              <a:tr h="1858788">
                <a:tc>
                  <a:txBody>
                    <a:bodyPr/>
                    <a:lstStyle/>
                    <a:p>
                      <a:pPr marL="0" marR="0" algn="ctr">
                        <a:spcBef>
                          <a:spcPts val="600"/>
                        </a:spcBef>
                        <a:spcAft>
                          <a:spcPts val="600"/>
                        </a:spcAft>
                      </a:pPr>
                      <a:endParaRPr lang="en-US" sz="1100">
                        <a:effectLst/>
                        <a:latin typeface="Verdana" panose="020B0604030504040204" pitchFamily="34" charset="0"/>
                        <a:ea typeface="Times New Roman" panose="02020603050405020304" pitchFamily="18" charset="0"/>
                        <a:cs typeface="Times New Roman" panose="02020603050405020304" pitchFamily="18" charset="0"/>
                      </a:endParaRPr>
                    </a:p>
                  </a:txBody>
                  <a:tcPr marL="40180" marR="401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a:effectLst/>
                          <a:latin typeface="Verdana" panose="020B0604030504040204" pitchFamily="34" charset="0"/>
                          <a:ea typeface="Times New Roman" panose="02020603050405020304" pitchFamily="18" charset="0"/>
                          <a:cs typeface="Times New Roman" panose="02020603050405020304" pitchFamily="18" charset="0"/>
                        </a:rPr>
                        <a:t> </a:t>
                      </a:r>
                      <a:endParaRPr lang="en-US" sz="70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en-US" sz="7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40180" marR="401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844943869"/>
                  </a:ext>
                </a:extLst>
              </a:tr>
            </a:tbl>
          </a:graphicData>
        </a:graphic>
      </p:graphicFrame>
      <p:pic>
        <p:nvPicPr>
          <p:cNvPr id="4099" name="Picture 11" descr="A close up of a clock&#10;&#10;Description automatically generated">
            <a:extLst>
              <a:ext uri="{FF2B5EF4-FFF2-40B4-BE49-F238E27FC236}">
                <a16:creationId xmlns:a16="http://schemas.microsoft.com/office/drawing/2014/main" xmlns="" id="{4B22408F-6FD9-004A-815E-95EC86A28C5A}"/>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050395" y="756292"/>
            <a:ext cx="1461734" cy="1756111"/>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12" descr="A picture containing clock&#10;&#10;Description automatically generated">
            <a:extLst>
              <a:ext uri="{FF2B5EF4-FFF2-40B4-BE49-F238E27FC236}">
                <a16:creationId xmlns:a16="http://schemas.microsoft.com/office/drawing/2014/main" xmlns="" id="{F79A2E27-1050-6D46-8468-C540A6DEB400}"/>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50395" y="2608826"/>
            <a:ext cx="1333400" cy="1740828"/>
          </a:xfrm>
          <a:prstGeom prst="rect">
            <a:avLst/>
          </a:prstGeom>
          <a:noFill/>
          <a:extLst>
            <a:ext uri="{909E8E84-426E-40DD-AFC4-6F175D3DCCD1}">
              <a14:hiddenFill xmlns:a14="http://schemas.microsoft.com/office/drawing/2010/main">
                <a:solidFill>
                  <a:srgbClr val="FFFFFF"/>
                </a:solidFill>
              </a14:hiddenFill>
            </a:ext>
          </a:extLst>
        </p:spPr>
      </p:pic>
      <p:pic>
        <p:nvPicPr>
          <p:cNvPr id="4097" name="Picture 15" descr="A screenshot of a cell phone&#10;&#10;Description automatically generated">
            <a:extLst>
              <a:ext uri="{FF2B5EF4-FFF2-40B4-BE49-F238E27FC236}">
                <a16:creationId xmlns:a16="http://schemas.microsoft.com/office/drawing/2014/main" xmlns="" id="{0F4652FD-0F8E-0846-BA09-EBD7C6F0BE8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591956" y="4446078"/>
            <a:ext cx="2186488" cy="1785632"/>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704114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422445" y="0"/>
            <a:ext cx="986162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2800" b="1" dirty="0">
                <a:solidFill>
                  <a:srgbClr val="54B5D1"/>
                </a:solidFill>
                <a:latin typeface="Verdana"/>
                <a:ea typeface="Verdana"/>
                <a:cs typeface="Verdana"/>
                <a:sym typeface="Verdana"/>
              </a:rPr>
              <a:t>1.4.3 Guided Instruction: Relating Equations and Their Solutions to Real-World Contexts</a:t>
            </a:r>
            <a:endParaRPr sz="1100" dirty="0"/>
          </a:p>
        </p:txBody>
      </p:sp>
      <p:pic>
        <p:nvPicPr>
          <p:cNvPr id="317" name="Google Shape;317;p19"/>
          <p:cNvPicPr preferRelativeResize="0"/>
          <p:nvPr/>
        </p:nvPicPr>
        <p:blipFill rotWithShape="1">
          <a:blip r:embed="rId3">
            <a:alphaModFix/>
          </a:blip>
          <a:srcRect/>
          <a:stretch/>
        </p:blipFill>
        <p:spPr>
          <a:xfrm>
            <a:off x="675145" y="221909"/>
            <a:ext cx="747300" cy="747300"/>
          </a:xfrm>
          <a:prstGeom prst="rect">
            <a:avLst/>
          </a:prstGeom>
          <a:noFill/>
          <a:ln>
            <a:noFill/>
          </a:ln>
          <a:effectLst>
            <a:outerShdw blurRad="50800" dist="38100" dir="2700000" algn="tl" rotWithShape="0">
              <a:srgbClr val="000000">
                <a:alpha val="40000"/>
              </a:srgbClr>
            </a:outerShdw>
          </a:effectLst>
        </p:spPr>
      </p:pic>
      <p:sp>
        <p:nvSpPr>
          <p:cNvPr id="319" name="Google Shape;319;p19"/>
          <p:cNvSpPr txBox="1"/>
          <p:nvPr/>
        </p:nvSpPr>
        <p:spPr>
          <a:xfrm>
            <a:off x="1001486" y="1446986"/>
            <a:ext cx="10339694" cy="3170058"/>
          </a:xfrm>
          <a:prstGeom prst="rect">
            <a:avLst/>
          </a:prstGeom>
          <a:noFill/>
          <a:ln>
            <a:noFill/>
          </a:ln>
        </p:spPr>
        <p:txBody>
          <a:bodyPr spcFirstLastPara="1" wrap="square" lIns="91425" tIns="45700" rIns="91425" bIns="45700" anchor="t" anchorCtr="0">
            <a:spAutoFit/>
          </a:bodyPr>
          <a:lstStyle/>
          <a:p>
            <a:pPr lvl="0"/>
            <a:r>
              <a:rPr lang="en-US" sz="2000" dirty="0">
                <a:latin typeface="Verdana"/>
                <a:ea typeface="Verdana"/>
                <a:cs typeface="Verdana"/>
                <a:sym typeface="Verdana"/>
              </a:rPr>
              <a:t>Two-step equations can be used to represent real-world situations when solving problems. </a:t>
            </a:r>
          </a:p>
          <a:p>
            <a:pPr lvl="0"/>
            <a:endParaRPr lang="en-US" sz="2000" dirty="0">
              <a:latin typeface="Verdana"/>
              <a:ea typeface="Verdana"/>
              <a:cs typeface="Verdana"/>
              <a:sym typeface="Verdana"/>
            </a:endParaRPr>
          </a:p>
          <a:p>
            <a:pPr lvl="0"/>
            <a:r>
              <a:rPr lang="en-US" sz="2000" dirty="0">
                <a:latin typeface="Verdana"/>
                <a:ea typeface="Verdana"/>
                <a:cs typeface="Verdana"/>
                <a:sym typeface="Verdana"/>
              </a:rPr>
              <a:t>Dan’s family recently adopted a dog, so they are putting in a new fence in their backyard. Dan found fencing on sale at a local hardware store, but the store only had 80 linear feet (ft) of the fencing left in stock. Dan knows the backyard is 48.6 ft long and wants to determine how wide the fenced-in portion of the yard would be if he used 80 linear ft of fencing. The dotted line in the figure shows how the fence will be constructed to enclose the backyard.</a:t>
            </a:r>
          </a:p>
          <a:p>
            <a:pPr lvl="0"/>
            <a:endParaRPr lang="en-US" sz="2000" dirty="0">
              <a:latin typeface="Verdana"/>
              <a:ea typeface="Verdana"/>
              <a:cs typeface="Verdana"/>
              <a:sym typeface="Verdana"/>
            </a:endParaRPr>
          </a:p>
        </p:txBody>
      </p:sp>
      <p:sp>
        <p:nvSpPr>
          <p:cNvPr id="320" name="Google Shape;320;p19"/>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609601" y="3121799"/>
                <a:ext cx="11074264" cy="3170058"/>
              </a:xfrm>
              <a:prstGeom prst="rect">
                <a:avLst/>
              </a:prstGeom>
              <a:noFill/>
              <a:ln>
                <a:noFill/>
              </a:ln>
            </p:spPr>
            <p:txBody>
              <a:bodyPr spcFirstLastPara="1" wrap="square" lIns="91425" tIns="45700" rIns="91425" bIns="45700" anchor="t" anchorCtr="0">
                <a:spAutoFit/>
              </a:bodyPr>
              <a:lstStyle/>
              <a:p>
                <a:pPr marL="352425" indent="-352425"/>
                <a:r>
                  <a:rPr lang="en-US" sz="2000" dirty="0">
                    <a:latin typeface="Verdana" panose="020B0604030504040204" pitchFamily="34" charset="0"/>
                    <a:ea typeface="Verdana" panose="020B0604030504040204" pitchFamily="34" charset="0"/>
                    <a:cs typeface="Verdana" panose="020B0604030504040204" pitchFamily="34" charset="0"/>
                  </a:rPr>
                  <a:t>1.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48.6+2</m:t>
                    </m:r>
                    <m:r>
                      <a:rPr lang="en-US" sz="2000" i="1">
                        <a:latin typeface="Cambria Math" panose="02040503050406030204" pitchFamily="18" charset="0"/>
                        <a:ea typeface="Times New Roman" panose="02020603050405020304" pitchFamily="18" charset="0"/>
                        <a:cs typeface="Times New Roman" panose="02020603050405020304" pitchFamily="18" charset="0"/>
                      </a:rPr>
                      <m:t>𝑤</m:t>
                    </m:r>
                    <m:r>
                      <a:rPr lang="en-US" sz="2000" i="1">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determine how wide the fenced-in portion of the yard will be.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809625"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Solve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48.6+2</m:t>
                    </m:r>
                    <m:r>
                      <a:rPr lang="en-US" sz="2000" i="1">
                        <a:latin typeface="Cambria Math" panose="02040503050406030204" pitchFamily="18" charset="0"/>
                        <a:ea typeface="Times New Roman" panose="02020603050405020304" pitchFamily="18" charset="0"/>
                        <a:cs typeface="Times New Roman" panose="02020603050405020304" pitchFamily="18" charset="0"/>
                      </a:rPr>
                      <m:t>𝑤</m:t>
                    </m:r>
                    <m:r>
                      <a:rPr lang="en-US" sz="2000" i="1">
                        <a:latin typeface="Cambria Math" panose="02040503050406030204" pitchFamily="18" charset="0"/>
                        <a:ea typeface="Times New Roman" panose="02020603050405020304" pitchFamily="18" charset="0"/>
                        <a:cs typeface="Times New Roman" panose="02020603050405020304" pitchFamily="18" charset="0"/>
                      </a:rPr>
                      <m:t>=80</m:t>
                    </m:r>
                  </m:oMath>
                </a14:m>
                <a:r>
                  <a:rPr lang="en-US" sz="2000" dirty="0">
                    <a:latin typeface="Verdana" panose="020B0604030504040204" pitchFamily="34" charset="0"/>
                    <a:ea typeface="Verdana" panose="020B0604030504040204" pitchFamily="34" charset="0"/>
                    <a:cs typeface="Verdana" panose="020B0604030504040204" pitchFamily="34" charset="0"/>
                  </a:rPr>
                  <a:t>. Show your work.</a:t>
                </a:r>
              </a:p>
              <a:p>
                <a:pPr marL="809625"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9625"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9625"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Verify your solution is correct.</a:t>
                </a:r>
              </a:p>
              <a:p>
                <a:pPr marL="809625"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9625" indent="-45720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9625"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what the solution means in this context.</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609601" y="3121799"/>
                <a:ext cx="11074264" cy="3170058"/>
              </a:xfrm>
              <a:prstGeom prst="rect">
                <a:avLst/>
              </a:prstGeom>
              <a:blipFill rotWithShape="0">
                <a:blip r:embed="rId3"/>
                <a:stretch>
                  <a:fillRect l="-605" t="-962" b="-2692"/>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a:extLst>
              <a:ext uri="{FF2B5EF4-FFF2-40B4-BE49-F238E27FC236}">
                <a16:creationId xmlns:a16="http://schemas.microsoft.com/office/drawing/2014/main" xmlns="" id="{82CB1870-3A7F-174F-ACE3-CE062E1A044E}"/>
              </a:ext>
            </a:extLst>
          </p:cNvPr>
          <p:cNvPicPr>
            <a:picLocks noChangeAspect="1"/>
          </p:cNvPicPr>
          <p:nvPr/>
        </p:nvPicPr>
        <p:blipFill>
          <a:blip r:embed="rId4"/>
          <a:stretch>
            <a:fillRect/>
          </a:stretch>
        </p:blipFill>
        <p:spPr>
          <a:xfrm>
            <a:off x="3084038" y="0"/>
            <a:ext cx="5575300" cy="3175000"/>
          </a:xfrm>
          <a:prstGeom prst="rect">
            <a:avLst/>
          </a:prstGeom>
        </p:spPr>
      </p:pic>
      <p:sp>
        <p:nvSpPr>
          <p:cNvPr id="7"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19200" y="288745"/>
                <a:ext cx="9753600" cy="5891829"/>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most countries, temperatures are measured in degrees Celsius, while in the United States, the Fahrenheit scale is used.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𝐹</m:t>
                        </m:r>
                        <m:r>
                          <a:rPr lang="en-US" sz="2000" i="1">
                            <a:latin typeface="Cambria Math" panose="02040503050406030204" pitchFamily="18" charset="0"/>
                            <a:ea typeface="Times New Roman" panose="02020603050405020304" pitchFamily="18" charset="0"/>
                            <a:cs typeface="Times New Roman" panose="02020603050405020304" pitchFamily="18" charset="0"/>
                          </a:rPr>
                          <m:t>−32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1.8</m:t>
                        </m:r>
                      </m:den>
                    </m:f>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convert between these scales, where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2000" dirty="0">
                    <a:latin typeface="Verdana" panose="020B0604030504040204" pitchFamily="34" charset="0"/>
                    <a:ea typeface="Verdana" panose="020B0604030504040204" pitchFamily="34" charset="0"/>
                    <a:cs typeface="Verdana" panose="020B0604030504040204" pitchFamily="34" charset="0"/>
                  </a:rPr>
                  <a:t> is the temperature in degrees Celsius (</a:t>
                </a: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latin typeface="Cambria Math" panose="02040503050406030204" pitchFamily="18" charset="0"/>
                        <a:ea typeface="Times New Roman" panose="02020603050405020304" pitchFamily="18" charset="0"/>
                        <a:cs typeface="Times New Roman" panose="02020603050405020304" pitchFamily="18" charset="0"/>
                      </a:rPr>
                      <m:t>C</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𝐹</m:t>
                    </m:r>
                  </m:oMath>
                </a14:m>
                <a:r>
                  <a:rPr lang="en-US" sz="2000" dirty="0">
                    <a:latin typeface="Verdana" panose="020B0604030504040204" pitchFamily="34" charset="0"/>
                    <a:ea typeface="Verdana" panose="020B0604030504040204" pitchFamily="34" charset="0"/>
                    <a:cs typeface="Verdana" panose="020B0604030504040204" pitchFamily="34" charset="0"/>
                  </a:rPr>
                  <a:t> is the temperature in degrees Fahrenheit (</a:t>
                </a: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latin typeface="Cambria Math" panose="02040503050406030204" pitchFamily="18" charset="0"/>
                        <a:ea typeface="Times New Roman" panose="02020603050405020304" pitchFamily="18" charset="0"/>
                        <a:cs typeface="Times New Roman" panose="02020603050405020304" pitchFamily="18" charset="0"/>
                      </a:rPr>
                      <m:t>F</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52425" indent="-352425"/>
                <a:r>
                  <a:rPr lang="en-US" sz="2000" dirty="0">
                    <a:latin typeface="Verdana" panose="020B0604030504040204" pitchFamily="34" charset="0"/>
                    <a:ea typeface="Verdana" panose="020B0604030504040204" pitchFamily="34" charset="0"/>
                    <a:cs typeface="Verdana" panose="020B0604030504040204" pitchFamily="34" charset="0"/>
                  </a:rPr>
                  <a:t>2.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25=</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𝐹</m:t>
                        </m:r>
                        <m:r>
                          <a:rPr lang="en-US" sz="2000" i="1">
                            <a:latin typeface="Cambria Math" panose="02040503050406030204" pitchFamily="18" charset="0"/>
                            <a:ea typeface="Times New Roman" panose="02020603050405020304" pitchFamily="18" charset="0"/>
                            <a:cs typeface="Times New Roman" panose="02020603050405020304" pitchFamily="18" charset="0"/>
                          </a:rPr>
                          <m:t>−32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1.8</m:t>
                        </m:r>
                      </m:den>
                    </m:f>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find the temperature in </a:t>
                </a:r>
                <a14:m>
                  <m:oMath xmlns:m="http://schemas.openxmlformats.org/officeDocument/2006/math">
                    <m:r>
                      <a:rPr lang="en-US"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latin typeface="Cambria Math" panose="02040503050406030204" pitchFamily="18" charset="0"/>
                        <a:ea typeface="Times New Roman" panose="02020603050405020304" pitchFamily="18" charset="0"/>
                        <a:cs typeface="Times New Roman" panose="02020603050405020304" pitchFamily="18" charset="0"/>
                      </a:rPr>
                      <m:t>F</m:t>
                    </m:r>
                  </m:oMath>
                </a14:m>
                <a:r>
                  <a:rPr lang="en-US" sz="2000" dirty="0">
                    <a:latin typeface="Verdana" panose="020B0604030504040204" pitchFamily="34" charset="0"/>
                    <a:ea typeface="Verdana" panose="020B0604030504040204" pitchFamily="34" charset="0"/>
                    <a:cs typeface="Verdana" panose="020B0604030504040204" pitchFamily="34" charset="0"/>
                  </a:rPr>
                  <a:t> when it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25</m:t>
                    </m:r>
                    <m:r>
                      <a:rPr lang="en-US"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latin typeface="Cambria Math" panose="02040503050406030204" pitchFamily="18" charset="0"/>
                        <a:ea typeface="Times New Roman" panose="02020603050405020304" pitchFamily="18" charset="0"/>
                        <a:cs typeface="Times New Roman" panose="02020603050405020304" pitchFamily="18" charset="0"/>
                      </a:rPr>
                      <m:t>C</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352425" lvl="1">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Solve the equation to find the value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𝐹</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Verify your solution is correct.</a:t>
                </a: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Explain what the solution means in this context.</a:t>
                </a: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19200" y="288745"/>
                <a:ext cx="9753600" cy="5891829"/>
              </a:xfrm>
              <a:prstGeom prst="rect">
                <a:avLst/>
              </a:prstGeom>
              <a:blipFill rotWithShape="0">
                <a:blip r:embed="rId3"/>
                <a:stretch>
                  <a:fillRect l="-688" t="-517" r="-1375"/>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28114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422445" y="145895"/>
            <a:ext cx="8019300" cy="7473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4300" b="1" dirty="0">
                <a:solidFill>
                  <a:srgbClr val="E24E5F"/>
                </a:solidFill>
                <a:latin typeface="Verdana"/>
                <a:ea typeface="Verdana"/>
                <a:cs typeface="Verdana"/>
                <a:sym typeface="Verdana"/>
              </a:rPr>
              <a:t>1.4.4 Your Turn!</a:t>
            </a:r>
            <a:endParaRPr dirty="0"/>
          </a:p>
        </p:txBody>
      </p:sp>
      <p:pic>
        <p:nvPicPr>
          <p:cNvPr id="437" name="Google Shape;437;p31"/>
          <p:cNvPicPr preferRelativeResize="0"/>
          <p:nvPr/>
        </p:nvPicPr>
        <p:blipFill rotWithShape="1">
          <a:blip r:embed="rId3">
            <a:alphaModFix/>
          </a:blip>
          <a:srcRect/>
          <a:stretch/>
        </p:blipFill>
        <p:spPr>
          <a:xfrm>
            <a:off x="675145" y="145895"/>
            <a:ext cx="747300" cy="747300"/>
          </a:xfrm>
          <a:prstGeom prst="rect">
            <a:avLst/>
          </a:prstGeom>
          <a:noFill/>
          <a:ln>
            <a:noFill/>
          </a:ln>
        </p:spPr>
      </p:pic>
      <mc:AlternateContent xmlns:mc="http://schemas.openxmlformats.org/markup-compatibility/2006" xmlns:a14="http://schemas.microsoft.com/office/drawing/2010/main">
        <mc:Choice Requires="a14">
          <p:sp>
            <p:nvSpPr>
              <p:cNvPr id="439" name="Google Shape;439;p31"/>
              <p:cNvSpPr txBox="1"/>
              <p:nvPr/>
            </p:nvSpPr>
            <p:spPr>
              <a:xfrm>
                <a:off x="1642177" y="1075782"/>
                <a:ext cx="9058312" cy="5016718"/>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basketball team at C.H. Price Middle School in Putnam County, Florida sold candy bars to raise money for new Razorbacks uniforms. The coach spent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$78.95</m:t>
                    </m:r>
                  </m:oMath>
                </a14:m>
                <a:r>
                  <a:rPr lang="en-US" sz="2000" dirty="0">
                    <a:latin typeface="Verdana" panose="020B0604030504040204" pitchFamily="34" charset="0"/>
                    <a:ea typeface="Verdana" panose="020B0604030504040204" pitchFamily="34" charset="0"/>
                    <a:cs typeface="Verdana" panose="020B0604030504040204" pitchFamily="34" charset="0"/>
                  </a:rPr>
                  <a:t> on supplies for the fundraiser and team members sold each candy bar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$1.50</m:t>
                    </m:r>
                  </m:oMath>
                </a14:m>
                <a:r>
                  <a:rPr lang="en-US" sz="2000" dirty="0">
                    <a:latin typeface="Verdana" panose="020B0604030504040204" pitchFamily="34" charset="0"/>
                    <a:ea typeface="Verdana" panose="020B0604030504040204" pitchFamily="34" charset="0"/>
                    <a:cs typeface="Verdana" panose="020B0604030504040204" pitchFamily="34" charset="0"/>
                  </a:rPr>
                  <a:t>. When the fundraiser ended, the team had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$285.55</m:t>
                    </m:r>
                  </m:oMath>
                </a14:m>
                <a:r>
                  <a:rPr lang="en-US" sz="2000" dirty="0">
                    <a:latin typeface="Verdana" panose="020B0604030504040204" pitchFamily="34" charset="0"/>
                    <a:ea typeface="Verdana" panose="020B0604030504040204" pitchFamily="34" charset="0"/>
                    <a:cs typeface="Verdana" panose="020B0604030504040204" pitchFamily="34" charset="0"/>
                  </a:rPr>
                  <a:t> to spend on new uniforms after paying the coach back for the supplies she bought.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1.5</m:t>
                    </m:r>
                    <m:r>
                      <a:rPr lang="en-US" sz="2000" i="1">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latin typeface="Cambria Math" panose="02040503050406030204" pitchFamily="18" charset="0"/>
                        <a:ea typeface="Times New Roman" panose="02020603050405020304" pitchFamily="18" charset="0"/>
                        <a:cs typeface="Times New Roman" panose="02020603050405020304" pitchFamily="18" charset="0"/>
                      </a:rPr>
                      <m:t>−78.95=285.55</m:t>
                    </m:r>
                  </m:oMath>
                </a14:m>
                <a:r>
                  <a:rPr lang="en-US" sz="2000" dirty="0">
                    <a:latin typeface="Verdana" panose="020B0604030504040204" pitchFamily="34" charset="0"/>
                    <a:ea typeface="Verdana" panose="020B0604030504040204" pitchFamily="34" charset="0"/>
                    <a:cs typeface="Verdana" panose="020B0604030504040204" pitchFamily="34" charset="0"/>
                  </a:rPr>
                  <a:t> can be used to represent this situation.</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352425" lvl="1">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Solve the equation to find the value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Verify your solution is correct.</a:t>
                </a: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lvl="1">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Explain what the solution means in this context.</a:t>
                </a:r>
              </a:p>
            </p:txBody>
          </p:sp>
        </mc:Choice>
        <mc:Fallback xmlns="">
          <p:sp>
            <p:nvSpPr>
              <p:cNvPr id="439" name="Google Shape;439;p31"/>
              <p:cNvSpPr txBox="1">
                <a:spLocks noRot="1" noChangeAspect="1" noMove="1" noResize="1" noEditPoints="1" noAdjustHandles="1" noChangeArrowheads="1" noChangeShapeType="1" noTextEdit="1"/>
              </p:cNvSpPr>
              <p:nvPr/>
            </p:nvSpPr>
            <p:spPr>
              <a:xfrm>
                <a:off x="1642177" y="1075782"/>
                <a:ext cx="9058312" cy="5016718"/>
              </a:xfrm>
              <a:prstGeom prst="rect">
                <a:avLst/>
              </a:prstGeom>
              <a:blipFill rotWithShape="0">
                <a:blip r:embed="rId4"/>
                <a:stretch>
                  <a:fillRect l="-740" t="-729" b="-1337"/>
                </a:stretch>
              </a:blipFill>
              <a:ln>
                <a:noFill/>
              </a:ln>
            </p:spPr>
            <p:txBody>
              <a:bodyPr/>
              <a:lstStyle/>
              <a:p>
                <a:r>
                  <a:rPr lang="en-US">
                    <a:noFill/>
                  </a:rPr>
                  <a:t> </a:t>
                </a:r>
              </a:p>
            </p:txBody>
          </p:sp>
        </mc:Fallback>
      </mc:AlternateContent>
      <p:sp>
        <p:nvSpPr>
          <p:cNvPr id="440" name="Google Shape;440;p31"/>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8" name="Google Shape;448;p32"/>
              <p:cNvSpPr txBox="1"/>
              <p:nvPr/>
            </p:nvSpPr>
            <p:spPr>
              <a:xfrm>
                <a:off x="1059543" y="398473"/>
                <a:ext cx="10072914" cy="3734700"/>
              </a:xfrm>
              <a:prstGeom prst="rect">
                <a:avLst/>
              </a:prstGeom>
              <a:noFill/>
              <a:ln>
                <a:noFill/>
              </a:ln>
            </p:spPr>
            <p:txBody>
              <a:bodyPr spcFirstLastPara="1" wrap="square" lIns="91425" tIns="45700" rIns="91425" bIns="45700" anchor="t" anchorCtr="0">
                <a:spAutoFit/>
              </a:bodyPr>
              <a:lstStyle/>
              <a:p>
                <a:pPr marL="352425" indent="-352425"/>
                <a:r>
                  <a:rPr lang="en-US" sz="2000" dirty="0">
                    <a:latin typeface="Verdana" panose="020B0604030504040204" pitchFamily="34" charset="0"/>
                    <a:ea typeface="Verdana" panose="020B0604030504040204" pitchFamily="34" charset="0"/>
                    <a:cs typeface="Verdana" panose="020B0604030504040204" pitchFamily="34" charset="0"/>
                  </a:rPr>
                  <a:t>2. Solve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−10</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6</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 = −</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using the properties of equality. Then, verify your solution is correct.</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352425" indent="-352425"/>
                <a:r>
                  <a:rPr lang="en-US" sz="2000" dirty="0">
                    <a:latin typeface="Verdana" panose="020B0604030504040204" pitchFamily="34" charset="0"/>
                    <a:ea typeface="Verdana" panose="020B0604030504040204" pitchFamily="34" charset="0"/>
                    <a:cs typeface="Verdana" panose="020B0604030504040204" pitchFamily="34" charset="0"/>
                  </a:rPr>
                  <a:t>3. Solve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−9.2=</m:t>
                    </m:r>
                    <m:f>
                      <m:fPr>
                        <m:ctrlPr>
                          <a:rPr lang="en-US" sz="2000" i="1">
                            <a:latin typeface="Cambria Math"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latin typeface="Cambria Math" panose="02040503050406030204" pitchFamily="18" charset="0"/>
                            <a:ea typeface="Times New Roman" panose="02020603050405020304" pitchFamily="18" charset="0"/>
                            <a:cs typeface="Times New Roman" panose="02020603050405020304" pitchFamily="18" charset="0"/>
                          </a:rPr>
                          <m:t>+7.22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using the properties of equality. Then, verify your solution is correct.</a:t>
                </a:r>
              </a:p>
            </p:txBody>
          </p:sp>
        </mc:Choice>
        <mc:Fallback xmlns="">
          <p:sp>
            <p:nvSpPr>
              <p:cNvPr id="448" name="Google Shape;448;p32"/>
              <p:cNvSpPr txBox="1">
                <a:spLocks noRot="1" noChangeAspect="1" noMove="1" noResize="1" noEditPoints="1" noAdjustHandles="1" noChangeArrowheads="1" noChangeShapeType="1" noTextEdit="1"/>
              </p:cNvSpPr>
              <p:nvPr/>
            </p:nvSpPr>
            <p:spPr>
              <a:xfrm>
                <a:off x="1059543" y="398473"/>
                <a:ext cx="10072914" cy="3734700"/>
              </a:xfrm>
              <a:prstGeom prst="rect">
                <a:avLst/>
              </a:prstGeom>
              <a:blipFill rotWithShape="0">
                <a:blip r:embed="rId3"/>
                <a:stretch>
                  <a:fillRect l="-666" b="-1958"/>
                </a:stretch>
              </a:blipFill>
              <a:ln>
                <a:noFill/>
              </a:ln>
            </p:spPr>
            <p:txBody>
              <a:bodyPr/>
              <a:lstStyle/>
              <a:p>
                <a:r>
                  <a:rPr lang="en-US">
                    <a:noFill/>
                  </a:rPr>
                  <a:t> </a:t>
                </a:r>
              </a:p>
            </p:txBody>
          </p:sp>
        </mc:Fallback>
      </mc:AlternateContent>
      <p:sp>
        <p:nvSpPr>
          <p:cNvPr id="449" name="Google Shape;449;p32"/>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604870" y="-82571"/>
            <a:ext cx="8019300" cy="1325700"/>
          </a:xfrm>
          <a:prstGeom prst="rect">
            <a:avLst/>
          </a:prstGeom>
          <a:noFill/>
          <a:ln>
            <a:noFill/>
          </a:ln>
        </p:spPr>
        <p:txBody>
          <a:bodyPr spcFirstLastPara="1" wrap="square" lIns="91425" tIns="45700" rIns="91425" bIns="45700" anchor="ctr" anchorCtr="0">
            <a:noAutofit/>
          </a:bodyPr>
          <a:lstStyle/>
          <a:p>
            <a:pPr lvl="0">
              <a:lnSpc>
                <a:spcPct val="90000"/>
              </a:lnSpc>
              <a:buClr>
                <a:schemeClr val="dk1"/>
              </a:buClr>
              <a:buSzPts val="5400"/>
            </a:pPr>
            <a:r>
              <a:rPr lang="en-US" sz="3200" b="1" dirty="0">
                <a:solidFill>
                  <a:srgbClr val="3F2A67"/>
                </a:solidFill>
                <a:latin typeface="Verdana"/>
                <a:ea typeface="Verdana"/>
                <a:cs typeface="Verdana"/>
                <a:sym typeface="Verdana"/>
              </a:rPr>
              <a:t>1.4.5 Wrap-Up: </a:t>
            </a:r>
            <a:r>
              <a:rPr lang="en-US" sz="3200" b="1" dirty="0" smtClean="0">
                <a:solidFill>
                  <a:srgbClr val="3F2A67"/>
                </a:solidFill>
                <a:latin typeface="Verdana"/>
                <a:ea typeface="Verdana"/>
                <a:cs typeface="Verdana"/>
                <a:sym typeface="Verdana"/>
              </a:rPr>
              <a:t>Cool Down</a:t>
            </a:r>
            <a:endParaRPr sz="1200" dirty="0"/>
          </a:p>
        </p:txBody>
      </p:sp>
      <p:pic>
        <p:nvPicPr>
          <p:cNvPr id="468" name="Google Shape;468;p34"/>
          <p:cNvPicPr preferRelativeResize="0"/>
          <p:nvPr/>
        </p:nvPicPr>
        <p:blipFill rotWithShape="1">
          <a:blip r:embed="rId3">
            <a:alphaModFix/>
          </a:blip>
          <a:srcRect/>
          <a:stretch/>
        </p:blipFill>
        <p:spPr>
          <a:xfrm>
            <a:off x="814027" y="206629"/>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407886" y="1243129"/>
            <a:ext cx="9526894" cy="400069"/>
          </a:xfrm>
          <a:prstGeom prst="rect">
            <a:avLst/>
          </a:prstGeom>
          <a:noFill/>
          <a:ln>
            <a:noFill/>
          </a:ln>
        </p:spPr>
        <p:txBody>
          <a:bodyPr spcFirstLastPara="1" wrap="square" lIns="91425" tIns="45700" rIns="91425" bIns="45700" anchor="t" anchorCtr="0">
            <a:spAutoFit/>
          </a:bodyPr>
          <a:lstStyle/>
          <a:p>
            <a:pPr marL="457200" indent="-457200" fontAlgn="base">
              <a:buFont typeface="+mj-lt"/>
              <a:buAutoNum type="arabicPeriod"/>
            </a:pPr>
            <a:r>
              <a:rPr lang="en-US" sz="2000" dirty="0">
                <a:latin typeface="Verdana" charset="0"/>
                <a:ea typeface="Verdana" charset="0"/>
                <a:cs typeface="Verdana" charset="0"/>
              </a:rPr>
              <a:t>Write a summary of what you learned in this lesson.</a:t>
            </a:r>
          </a:p>
        </p:txBody>
      </p:sp>
      <p:sp>
        <p:nvSpPr>
          <p:cNvPr id="470" name="Google Shape;470;p34"/>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 name="Google Shape;125;g104476d1465_1_17"/>
          <p:cNvSpPr txBox="1"/>
          <p:nvPr/>
        </p:nvSpPr>
        <p:spPr>
          <a:xfrm>
            <a:off x="8650065"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29</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291"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809</Words>
  <Application>Microsoft Macintosh PowerPoint</Application>
  <PresentationFormat>Widescreen</PresentationFormat>
  <Paragraphs>150</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 Black</vt:lpstr>
      <vt:lpstr>Calibri</vt:lpstr>
      <vt:lpstr>Cambria</vt:lpstr>
      <vt:lpstr>Cambria Math</vt:lpstr>
      <vt:lpstr>Century Gothic</vt:lpstr>
      <vt:lpstr>Times New Roman</vt:lpstr>
      <vt:lpstr>Verdana</vt:lpstr>
      <vt:lpstr>1_Office Theme</vt:lpstr>
      <vt:lpstr>7th Grade Accelerated Math  Unit 1, Lesson 4  Solving Two-Step Equations  Volume 1, pg. 24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Accelerated  Unit 1, Lesson 4  Solving Two-Step Equations  Volume 1, pg. 24  </dc:title>
  <dc:creator>Karen McKenzie</dc:creator>
  <cp:lastModifiedBy>jslater9816@gmail.com</cp:lastModifiedBy>
  <cp:revision>6</cp:revision>
  <dcterms:created xsi:type="dcterms:W3CDTF">2015-03-17T18:51:18Z</dcterms:created>
  <dcterms:modified xsi:type="dcterms:W3CDTF">2022-07-26T20:48:31Z</dcterms:modified>
</cp:coreProperties>
</file>