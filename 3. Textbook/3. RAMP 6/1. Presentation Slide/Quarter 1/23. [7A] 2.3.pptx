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13" r:id="rId10"/>
    <p:sldId id="288" r:id="rId11"/>
    <p:sldId id="335" r:id="rId12"/>
    <p:sldId id="329" r:id="rId13"/>
    <p:sldId id="330" r:id="rId14"/>
    <p:sldId id="332" r:id="rId15"/>
    <p:sldId id="333" r:id="rId16"/>
    <p:sldId id="338" r:id="rId17"/>
    <p:sldId id="289" r:id="rId18"/>
    <p:sldId id="290" r:id="rId19"/>
    <p:sldId id="337" r:id="rId20"/>
    <p:sldId id="336" r:id="rId21"/>
    <p:sldId id="308" r:id="rId22"/>
    <p:sldId id="306" r:id="rId23"/>
    <p:sldId id="30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05" autoAdjust="0"/>
    <p:restoredTop sz="94707" autoAdjust="0"/>
  </p:normalViewPr>
  <p:slideViewPr>
    <p:cSldViewPr snapToGrid="0">
      <p:cViewPr varScale="1">
        <p:scale>
          <a:sx n="83" d="100"/>
          <a:sy n="83" d="100"/>
        </p:scale>
        <p:origin x="63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450847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0454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9119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3049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16056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4493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6156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0815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44355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49260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4" Type="http://schemas.openxmlformats.org/officeDocument/2006/relationships/image" Target="../media/image2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tif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Cube Values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74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649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11750" y="1238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850" y="39756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511750" y="1600200"/>
            <a:ext cx="91685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MA.8.AR.2.3</a:t>
            </a:r>
          </a:p>
          <a:p>
            <a:pPr marL="512763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an equation in the form of </a:t>
            </a:r>
            <a:r>
              <a:rPr lang="en-US" sz="35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𝑥</a:t>
            </a:r>
            <a:r>
              <a:rPr lang="en-US" sz="35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2</a:t>
            </a:r>
            <a:r>
              <a:rPr lang="en-US" sz="35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 = 𝑝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and </a:t>
            </a:r>
            <a:r>
              <a:rPr lang="en-US" sz="35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𝑥</a:t>
            </a:r>
            <a:r>
              <a:rPr lang="en-US" sz="35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3</a:t>
            </a:r>
            <a:r>
              <a:rPr lang="en-US" sz="35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 = 𝑞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where </a:t>
            </a:r>
            <a:r>
              <a:rPr lang="en-US" sz="35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𝑝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 whole number and </a:t>
            </a:r>
            <a:r>
              <a:rPr lang="en-US" sz="35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𝑞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an integer, determine the real solutions.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100" y="30701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95750" y="64381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587500" y="1596390"/>
            <a:ext cx="960476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7519" y="-8101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357" y="28109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id="{9B7C98EC-F13C-9146-B728-D7044DB42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2657" y="1600200"/>
                <a:ext cx="9246686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630238" indent="-630238">
                  <a:buFont typeface="Wingdings" panose="05000000000000000000" pitchFamily="2" charset="2"/>
                  <a:buChar char="q"/>
                </a:pP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use multiple representations to explore cube values.</a:t>
                </a: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endParaRPr lang="en-US" sz="3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determine the positive and negative solutions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an integer.</a:t>
                </a: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endParaRPr lang="en-US" sz="3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find the values of cube roots.</a:t>
                </a:r>
              </a:p>
            </p:txBody>
          </p:sp>
        </mc:Choice>
        <mc:Fallback xmlns="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B7C98EC-F13C-9146-B728-D7044DB4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657" y="1600200"/>
                <a:ext cx="9246686" cy="4205700"/>
              </a:xfrm>
              <a:prstGeom prst="rect">
                <a:avLst/>
              </a:prstGeom>
              <a:blipFill rotWithShape="0">
                <a:blip r:embed="rId4"/>
                <a:stretch>
                  <a:fillRect l="-1517" t="-20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1270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91545" y="237633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2.3.1 Warm-Up: Magic Square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431" y="16077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491545" y="1386026"/>
                <a:ext cx="946494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Place the digits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each square so the sum of the digits in each row, column, and diagonal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Each digit can only be used once.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545" y="1386026"/>
                <a:ext cx="9464942" cy="1200329"/>
              </a:xfrm>
              <a:prstGeom prst="rect">
                <a:avLst/>
              </a:prstGeom>
              <a:blipFill rotWithShape="0">
                <a:blip r:embed="rId4"/>
                <a:stretch>
                  <a:fillRect l="-1031" t="-4569" r="-1353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749125"/>
              </p:ext>
            </p:extLst>
          </p:nvPr>
        </p:nvGraphicFramePr>
        <p:xfrm>
          <a:off x="3941573" y="2794951"/>
          <a:ext cx="4056381" cy="32797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5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073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73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49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58776" y="-1333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2.3.2 Exploration: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Volume of Cubes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3292" y="257707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2060448" y="1386026"/>
            <a:ext cx="832713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volume of a cube can be found by multiplying the length by the width by the height. Volume is measured in cubic units.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following.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</a:t>
            </a:r>
          </a:p>
          <a:p>
            <a:pPr>
              <a:lnSpc>
                <a:spcPct val="2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length, width, and height of a cube have</a:t>
            </a:r>
          </a:p>
          <a:p>
            <a:pPr>
              <a:lnSpc>
                <a:spcPct val="2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measure(s). Therefore, the volume of a cube can be found </a:t>
            </a:r>
          </a:p>
          <a:p>
            <a:pPr>
              <a:lnSpc>
                <a:spcPct val="2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by taking one side length to the		 power, which is also known as			the side length. 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6327" y="3606556"/>
            <a:ext cx="1677252" cy="883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8062" y="4968177"/>
            <a:ext cx="1278079" cy="10739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7787" y="5867285"/>
            <a:ext cx="1654166" cy="916933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1016000" y="374090"/>
                <a:ext cx="9472421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cube is shown with dimensions given in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meters (m).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each statement.</a:t>
                </a: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edges of the cube each measure _____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m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 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volume of the cube is ______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m</a:t>
                </a:r>
                <a:r>
                  <a:rPr lang="en-US" sz="2400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3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_____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______.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74090"/>
                <a:ext cx="9472421" cy="6001643"/>
              </a:xfrm>
              <a:prstGeom prst="rect">
                <a:avLst/>
              </a:prstGeom>
              <a:blipFill rotWithShape="0">
                <a:blip r:embed="rId3"/>
                <a:stretch>
                  <a:fillRect l="-1030" t="-812" b="-1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73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6413619" y="1442593"/>
            <a:ext cx="4074803" cy="3029658"/>
            <a:chOff x="4349947" y="1442593"/>
            <a:chExt cx="4074803" cy="3029658"/>
          </a:xfrm>
        </p:grpSpPr>
        <p:pic>
          <p:nvPicPr>
            <p:cNvPr id="6" name="Picture 5" descr="A picture containing green&#10;&#10;Description automatically generated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97754" y="1442593"/>
              <a:ext cx="2481580" cy="2363470"/>
            </a:xfrm>
            <a:prstGeom prst="rect">
              <a:avLst/>
            </a:prstGeom>
          </p:spPr>
        </p:pic>
        <p:grpSp>
          <p:nvGrpSpPr>
            <p:cNvPr id="8" name="Group 7"/>
            <p:cNvGrpSpPr/>
            <p:nvPr/>
          </p:nvGrpSpPr>
          <p:grpSpPr>
            <a:xfrm>
              <a:off x="4349947" y="2007817"/>
              <a:ext cx="4074803" cy="2464434"/>
              <a:chOff x="-497541" y="391207"/>
              <a:chExt cx="4074803" cy="2464992"/>
            </a:xfrm>
          </p:grpSpPr>
          <p:cxnSp>
            <p:nvCxnSpPr>
              <p:cNvPr id="9" name="Straight Arrow Connector 8"/>
              <p:cNvCxnSpPr/>
              <p:nvPr/>
            </p:nvCxnSpPr>
            <p:spPr>
              <a:xfrm flipH="1">
                <a:off x="334587" y="391207"/>
                <a:ext cx="39" cy="183029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490347" y="2331547"/>
                <a:ext cx="1821074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14" y="1549148"/>
                <a:ext cx="969669" cy="78172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 Box 21"/>
              <p:cNvSpPr txBox="1"/>
              <p:nvPr/>
            </p:nvSpPr>
            <p:spPr>
              <a:xfrm>
                <a:off x="1017142" y="2332217"/>
                <a:ext cx="832207" cy="52398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3 m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4" name="Text Box 22"/>
              <p:cNvSpPr txBox="1"/>
              <p:nvPr/>
            </p:nvSpPr>
            <p:spPr>
              <a:xfrm>
                <a:off x="-497541" y="837587"/>
                <a:ext cx="832207" cy="52398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3 m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5" name="Text Box 23"/>
              <p:cNvSpPr txBox="1"/>
              <p:nvPr/>
            </p:nvSpPr>
            <p:spPr>
              <a:xfrm>
                <a:off x="2745055" y="1808031"/>
                <a:ext cx="832207" cy="52398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3 m</a:t>
                </a:r>
                <a:endParaRPr lang="en-US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sp>
        <p:nvSpPr>
          <p:cNvPr id="16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30300" y="384470"/>
                <a:ext cx="9204601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cube is shown, where each gridline measures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the measures of the length, width, and height of the cube.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volume of the cube?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300" y="384470"/>
                <a:ext cx="9204601" cy="5632311"/>
              </a:xfrm>
              <a:prstGeom prst="rect">
                <a:avLst/>
              </a:prstGeom>
              <a:blipFill rotWithShape="0">
                <a:blip r:embed="rId3"/>
                <a:stretch>
                  <a:fillRect l="-993" t="-974" r="-993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picture containing screen, building&#10;&#10;Description automatically generated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8933" y="999737"/>
            <a:ext cx="2844800" cy="275590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93800" y="384469"/>
                <a:ext cx="995506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numbers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cube numbers, or perfect cubes.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what you think a perfect cube is.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find at least two other numbers that are perfect cubes.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800" y="384469"/>
                <a:ext cx="9955066" cy="3785652"/>
              </a:xfrm>
              <a:prstGeom prst="rect">
                <a:avLst/>
              </a:prstGeom>
              <a:blipFill rotWithShape="0">
                <a:blip r:embed="rId3"/>
                <a:stretch>
                  <a:fillRect l="-980" t="-1449" r="-551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7290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02250" y="11541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2.3.3 Bring It Together: Perfect Cubes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1143000" y="1386025"/>
            <a:ext cx="10162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the similarities and differences between square numbers and cube numbers. Then, summarize your discussion in the table.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20606D7-FA1D-5D44-AD19-A87F7EA7DDF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108F4C35-3A24-A244-BB28-81EF2D36C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2442" y="24101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74408"/>
              </p:ext>
            </p:extLst>
          </p:nvPr>
        </p:nvGraphicFramePr>
        <p:xfrm>
          <a:off x="2654274" y="3029828"/>
          <a:ext cx="5760000" cy="35765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479">
                <a:tc>
                  <a:txBody>
                    <a:bodyPr/>
                    <a:lstStyle/>
                    <a:p>
                      <a:pPr marL="45085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Similarities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Differences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4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9536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14950" y="7405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2.3.4 Exploration: Cube Values on the Coordinate Plane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8652" y="322179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1066801" y="1634150"/>
                <a:ext cx="435610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Use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complete the following with your partner.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of values for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substituting the given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solving for the corresponding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1" y="1634150"/>
                <a:ext cx="4356100" cy="3477875"/>
              </a:xfrm>
              <a:prstGeom prst="rect">
                <a:avLst/>
              </a:prstGeom>
              <a:blipFill rotWithShape="0">
                <a:blip r:embed="rId4"/>
                <a:stretch>
                  <a:fillRect l="-1538" t="-1226" r="-2797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8475510"/>
                  </p:ext>
                </p:extLst>
              </p:nvPr>
            </p:nvGraphicFramePr>
            <p:xfrm>
              <a:off x="5855939" y="1720646"/>
              <a:ext cx="4572000" cy="387596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022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</a:t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= 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000" b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oMath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  <a:r>
                            <a:rPr lang="en-US" sz="2000" b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(−2)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_______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0" dirty="0" smtClean="0">
                                  <a:effectLst/>
                                  <a:latin typeface="Cambria Math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______ )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8475510"/>
                  </p:ext>
                </p:extLst>
              </p:nvPr>
            </p:nvGraphicFramePr>
            <p:xfrm>
              <a:off x="4331939" y="1720646"/>
              <a:ext cx="4572000" cy="387596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00000"/>
                    <a:gridCol w="1800000"/>
                    <a:gridCol w="1872000"/>
                  </a:tblGrid>
                  <a:tr h="7079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76" t="-4310" r="-406757" b="-449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50508" t="-4310" r="-104068" b="-449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44625" t="-4310" b="-449138"/>
                          </a:stretch>
                        </a:blipFill>
                      </a:tcPr>
                    </a:tc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76" t="-102542" r="-406757" b="-341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50508" t="-102542" r="-104068" b="-341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44625" t="-102542" b="-341525"/>
                          </a:stretch>
                        </a:blipFill>
                      </a:tcPr>
                    </a:tc>
                  </a:tr>
                  <a:tr h="61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76" t="-236634" r="-406757" b="-299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76" t="-340000" r="-406757" b="-2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76" t="-435644" r="-40675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76" t="-541000" r="-406757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1066800" y="5846066"/>
                <a:ext cx="926810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-values are cube numbers. What do you notice about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-values?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5846066"/>
                <a:ext cx="9268101" cy="707886"/>
              </a:xfrm>
              <a:prstGeom prst="rect">
                <a:avLst/>
              </a:prstGeom>
              <a:blipFill rotWithShape="0">
                <a:blip r:embed="rId7"/>
                <a:stretch>
                  <a:fillRect t="-603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4655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990600" y="317624"/>
                <a:ext cx="10198100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coordinates on the grid shown.</a:t>
                </a: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1">
                  <a:tabLst>
                    <a:tab pos="4300538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1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Notice the graph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includes points above and below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-axis, unlike the graph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explored in a previous lesson.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17624"/>
                <a:ext cx="10198100" cy="6001643"/>
              </a:xfrm>
              <a:prstGeom prst="rect">
                <a:avLst/>
              </a:prstGeom>
              <a:blipFill rotWithShape="0">
                <a:blip r:embed="rId3"/>
                <a:stretch>
                  <a:fillRect l="-957" t="-812" b="-3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Chart, line chart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4912" y="948690"/>
            <a:ext cx="6144768" cy="417195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9968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id="{21B1DF8E-16A0-FA4E-8CEB-434668DFA6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64150" y="0"/>
                <a:ext cx="8019300" cy="132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90000"/>
                  </a:lnSpc>
                  <a:buClr>
                    <a:schemeClr val="dk1"/>
                  </a:buClr>
                  <a:buSzPts val="5400"/>
                  <a:buFont typeface="Century Gothic"/>
                  <a:buNone/>
                </a:pPr>
                <a:r>
                  <a:rPr lang="en-US" sz="32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2.3.5 Guided Instruction: Solving Equations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>
                            <a:solidFill>
                              <a:srgbClr val="54B5D1"/>
                            </a:solidFill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</m:ctrlPr>
                      </m:sSupPr>
                      <m:e>
                        <m:r>
                          <a:rPr lang="en-US" sz="3200" b="1" i="1">
                            <a:solidFill>
                              <a:srgbClr val="54B5D1"/>
                            </a:solidFill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𝒙</m:t>
                        </m:r>
                      </m:e>
                      <m:sup>
                        <m:r>
                          <a:rPr lang="en-US" sz="3200" b="1" i="1">
                            <a:solidFill>
                              <a:srgbClr val="54B5D1"/>
                            </a:solidFill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𝟑</m:t>
                        </m:r>
                      </m:sup>
                    </m:sSup>
                    <m:r>
                      <a:rPr lang="en-US" sz="32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=</m:t>
                    </m:r>
                    <m:r>
                      <a:rPr lang="en-US" sz="32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𝒒</m:t>
                    </m:r>
                  </m:oMath>
                </a14:m>
                <a:endParaRPr lang="en-US" sz="3200" b="1" dirty="0">
                  <a:solidFill>
                    <a:srgbClr val="54B5D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1B1DF8E-16A0-FA4E-8CEB-434668DF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150" y="0"/>
                <a:ext cx="8019300" cy="1325700"/>
              </a:xfrm>
              <a:prstGeom prst="rect">
                <a:avLst/>
              </a:prstGeom>
              <a:blipFill rotWithShape="0">
                <a:blip r:embed="rId3"/>
                <a:stretch>
                  <a:fillRect l="-1977" r="-608" b="-18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850" y="20726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364150" y="1386025"/>
                <a:ext cx="971973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solution to each equation.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803275" indent="-34607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=8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−8=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latin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the similarities and differences between the equations and their solutions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150" y="1386025"/>
                <a:ext cx="9719732" cy="3785652"/>
              </a:xfrm>
              <a:prstGeom prst="rect">
                <a:avLst/>
              </a:prstGeom>
              <a:blipFill rotWithShape="0">
                <a:blip r:embed="rId5"/>
                <a:stretch>
                  <a:fillRect l="-1004" t="-1288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1932432" y="435050"/>
                <a:ext cx="8402469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pPr marL="457200">
                  <a:lnSpc>
                    <a:spcPct val="30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equations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an integer, there			            The solution(s) can 				The sign of the solution(s) depends on the sign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31" y="435049"/>
                <a:ext cx="8402469" cy="4893647"/>
              </a:xfrm>
              <a:prstGeom prst="rect">
                <a:avLst/>
              </a:prstGeom>
              <a:blipFill rotWithShape="1">
                <a:blip r:embed="rId4"/>
                <a:stretch>
                  <a:fillRect l="-1089" t="-996" r="-188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1221" y="2106071"/>
            <a:ext cx="3039557" cy="10819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8191" y="3262184"/>
            <a:ext cx="3384625" cy="1081971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0675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1092200" y="435049"/>
                <a:ext cx="10007600" cy="3186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Similar to the relationship between squares and square roots, there is an inverse relationship between cubes and cube roots.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symbol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   </m:t>
                        </m:r>
                      </m:e>
                    </m:rad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used to indicate a </a:t>
                </a:r>
                <a:r>
                  <a:rPr lang="en-US" sz="22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cube root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 the index of the radical.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Cube roots can be used to solve equations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an integer.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435049"/>
                <a:ext cx="10007600" cy="3186257"/>
              </a:xfrm>
              <a:prstGeom prst="rect">
                <a:avLst/>
              </a:prstGeom>
              <a:blipFill rotWithShape="0">
                <a:blip r:embed="rId3"/>
                <a:stretch>
                  <a:fillRect l="-792" t="-956" b="-3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5482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397000" y="399956"/>
            <a:ext cx="88625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for each equation.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5346301"/>
                  </p:ext>
                </p:extLst>
              </p:nvPr>
            </p:nvGraphicFramePr>
            <p:xfrm>
              <a:off x="2548116" y="1003679"/>
              <a:ext cx="7560000" cy="504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Related </a:t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Cube Root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27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27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=_______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 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_______=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________=</m:t>
                                </m:r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_______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_______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 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_______=</m:t>
                                </m:r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−27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____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−125=</m:t>
                                </m:r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 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5346301"/>
                  </p:ext>
                </p:extLst>
              </p:nvPr>
            </p:nvGraphicFramePr>
            <p:xfrm>
              <a:off x="1024116" y="1003679"/>
              <a:ext cx="7560000" cy="504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20000"/>
                    <a:gridCol w="2520000"/>
                    <a:gridCol w="2520000"/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Related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Cube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Root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2" t="-103390" r="-200484" b="-5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03390" r="-100000" b="-5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0484" t="-103390" r="-242" b="-500847"/>
                          </a:stretch>
                        </a:blipFill>
                      </a:tcPr>
                    </a:tc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2" t="-203390" r="-200484" b="-4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203390" r="-100000" b="-4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0484" t="-203390" r="-242" b="-400847"/>
                          </a:stretch>
                        </a:blipFill>
                      </a:tcPr>
                    </a:tc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2" t="-303390" r="-200484" b="-3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303390" r="-100000" b="-3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0484" t="-303390" r="-242" b="-300847"/>
                          </a:stretch>
                        </a:blipFill>
                      </a:tcPr>
                    </a:tc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2" t="-403390" r="-200484" b="-2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403390" r="-100000" b="-2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0484" t="-403390" r="-242" b="-200847"/>
                          </a:stretch>
                        </a:blipFill>
                      </a:tcPr>
                    </a:tc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2" t="-503390" r="-200484" b="-1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503390" r="-100000" b="-1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0484" t="-503390" r="-242" b="-100847"/>
                          </a:stretch>
                        </a:blipFill>
                      </a:tcPr>
                    </a:tc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2" t="-603390" r="-200484" b="-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603390" r="-100000" b="-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0484" t="-603390" r="-242" b="-84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57700" y="382568"/>
            <a:ext cx="990075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2.3.6 Wrap-Up: Ticket </a:t>
            </a: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Out the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0400" y="30436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2060448" y="1386025"/>
                <a:ext cx="8327136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each of the following.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each equation.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=−64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𝑘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48" y="1386025"/>
                <a:ext cx="8327136" cy="4832092"/>
              </a:xfrm>
              <a:prstGeom prst="rect">
                <a:avLst/>
              </a:prstGeom>
              <a:blipFill rotWithShape="1">
                <a:blip r:embed="rId5"/>
                <a:stretch>
                  <a:fillRect l="-952" t="-883" b="-163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2294690"/>
                  </p:ext>
                </p:extLst>
              </p:nvPr>
            </p:nvGraphicFramePr>
            <p:xfrm>
              <a:off x="2602000" y="2054750"/>
              <a:ext cx="6057900" cy="100584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400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</a:p>
                        <a:p>
                          <a:pPr marL="358775" marR="0" indent="-358775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en-US" sz="2000" baseline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125</m:t>
                                  </m:r>
                                </m:e>
                              </m:rad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</a:p>
                        <a:p>
                          <a:pPr marL="358775" marR="0" indent="-3587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−8</m:t>
                                  </m:r>
                                </m:e>
                              </m:rad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2294690"/>
                  </p:ext>
                </p:extLst>
              </p:nvPr>
            </p:nvGraphicFramePr>
            <p:xfrm>
              <a:off x="1078000" y="2054750"/>
              <a:ext cx="6057900" cy="100584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400300"/>
                    <a:gridCol w="914400"/>
                    <a:gridCol w="2743200"/>
                  </a:tblGrid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6"/>
                          <a:stretch>
                            <a:fillRect l="-254" r="-152284" b="-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6"/>
                          <a:stretch>
                            <a:fillRect l="-121111" b="-606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244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1079</Words>
  <Application>Microsoft Office PowerPoint</Application>
  <PresentationFormat>Widescreen</PresentationFormat>
  <Paragraphs>258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Arial Black</vt:lpstr>
      <vt:lpstr>Calibri</vt:lpstr>
      <vt:lpstr>Cambria Math</vt:lpstr>
      <vt:lpstr>Century Gothic</vt:lpstr>
      <vt:lpstr>Times New Roman</vt:lpstr>
      <vt:lpstr>Verdana</vt:lpstr>
      <vt:lpstr>Wingdings</vt:lpstr>
      <vt:lpstr>1_Office Theme</vt:lpstr>
      <vt:lpstr>7th Grade Accelerated Math  Unit 2, Lesson 3  Cube Values  Volume 1, pg. 74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37</cp:revision>
  <dcterms:created xsi:type="dcterms:W3CDTF">2015-03-17T18:51:18Z</dcterms:created>
  <dcterms:modified xsi:type="dcterms:W3CDTF">2022-06-30T03:43:35Z</dcterms:modified>
</cp:coreProperties>
</file>