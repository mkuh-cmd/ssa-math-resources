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7" r:id="rId8"/>
    <p:sldId id="318" r:id="rId9"/>
    <p:sldId id="288" r:id="rId10"/>
    <p:sldId id="319" r:id="rId11"/>
    <p:sldId id="332" r:id="rId12"/>
    <p:sldId id="333" r:id="rId13"/>
    <p:sldId id="334" r:id="rId14"/>
    <p:sldId id="335" r:id="rId15"/>
    <p:sldId id="336" r:id="rId16"/>
    <p:sldId id="338" r:id="rId17"/>
    <p:sldId id="339" r:id="rId18"/>
    <p:sldId id="340" r:id="rId19"/>
    <p:sldId id="306" r:id="rId20"/>
    <p:sldId id="30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860" autoAdjust="0"/>
    <p:restoredTop sz="94591" autoAdjust="0"/>
  </p:normalViewPr>
  <p:slideViewPr>
    <p:cSldViewPr snapToGrid="0">
      <p:cViewPr varScale="1">
        <p:scale>
          <a:sx n="83" d="100"/>
          <a:sy n="83" d="100"/>
        </p:scale>
        <p:origin x="557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42149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4931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1525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050654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3058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70243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30514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96619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61664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60164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774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33937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5059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37359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57143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uk-UA" smtClean="0"/>
              <a:pPr/>
              <a:t>‹#›</a:t>
            </a:fld>
            <a:endParaRPr lang="uk-UA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2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Plotting, Ordering, and Comparing Real Numbers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91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526626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40253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03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326330" y="1600200"/>
            <a:ext cx="953934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MA.8.NSO.1.2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Plot, order, and compare rational and irrational numbers, represented in various forms.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581" y="35923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483231" y="116604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483231" y="1596390"/>
            <a:ext cx="981329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587798" y="7309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5636" y="36229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1552936" y="1600200"/>
            <a:ext cx="9086128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compare rational and irrational values.</a:t>
            </a:r>
          </a:p>
          <a:p>
            <a:pPr marL="536575" indent="-536575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order rational and irrational values.</a:t>
            </a:r>
          </a:p>
          <a:p>
            <a:pPr marL="536575" indent="-536575">
              <a:buFont typeface="Wingdings" panose="05000000000000000000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anose="05000000000000000000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plot rational and irrational numbers on a number line.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47119" y="258535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819" y="1803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1227909" y="1386025"/>
            <a:ext cx="999221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real numbers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all numbers that are irrational.</a:t>
            </a:r>
          </a:p>
          <a:p>
            <a:pPr marL="904875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Order all the values from greatest to least. </a:t>
            </a:r>
          </a:p>
          <a:p>
            <a:pPr marL="904875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04875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164925" y="2204835"/>
                <a:ext cx="6118182" cy="7283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rad>
                      <m:r>
                        <a:rPr lang="en-US" sz="2200">
                          <a:latin typeface="Cambria Math" panose="02040503050406030204" pitchFamily="18" charset="0"/>
                        </a:rPr>
                        <m:t>,  1.2,  −3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,  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200">
                          <a:latin typeface="Cambria Math" panose="02040503050406030204" pitchFamily="18" charset="0"/>
                        </a:rPr>
                        <m:t>,  −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200">
                          <a:latin typeface="Cambria Math" panose="02040503050406030204" pitchFamily="18" charset="0"/>
                        </a:rPr>
                        <m:t>,  </m:t>
                      </m:r>
                      <m:rad>
                        <m:ra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US" sz="220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0925" y="2204834"/>
                <a:ext cx="6118182" cy="7283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 descr="A picture containing antenna, clock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0954" y="5541010"/>
            <a:ext cx="6858000" cy="889635"/>
          </a:xfrm>
          <a:prstGeom prst="rect">
            <a:avLst/>
          </a:prstGeom>
        </p:spPr>
      </p:pic>
      <p:sp>
        <p:nvSpPr>
          <p:cNvPr id="11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6111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431213" y="-17838"/>
            <a:ext cx="754297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2.6.2 Activity: Station 1 – Comparing and Ordering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1405" y="27010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2128042" y="1441306"/>
                <a:ext cx="832713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Compare each pair of expressions using the symbols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8042" y="1441306"/>
                <a:ext cx="8327136" cy="830997"/>
              </a:xfrm>
              <a:prstGeom prst="rect">
                <a:avLst/>
              </a:prstGeom>
              <a:blipFill rotWithShape="0">
                <a:blip r:embed="rId4"/>
                <a:stretch>
                  <a:fillRect l="-1098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-29305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79805"/>
                  </p:ext>
                </p:extLst>
              </p:nvPr>
            </p:nvGraphicFramePr>
            <p:xfrm>
              <a:off x="2649211" y="2272303"/>
              <a:ext cx="7284798" cy="3843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239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4239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/>
                          </a:pPr>
                          <a:r>
                            <a:rPr lang="en-US" sz="2400" dirty="0">
                              <a:latin typeface="Verdana" pitchFamily="34" charset="0"/>
                              <a:ea typeface="Verdana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degHide m:val="on"/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225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2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125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ad>
                                    <m:radPr>
                                      <m:degHide m:val="on"/>
                                      <m:ctrlPr>
                                        <a:rPr lang="en-US" sz="2400" i="1" dirty="0" smtClean="0"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sz="2400" b="0" i="1" dirty="0" smtClean="0">
                                          <a:latin typeface="Cambria Math" panose="02040503050406030204" pitchFamily="18" charset="0"/>
                                          <a:ea typeface="Verdana" panose="020B0604030504040204" pitchFamily="34" charset="0"/>
                                          <a:cs typeface="Verdana" panose="020B0604030504040204" pitchFamily="34" charset="0"/>
                                        </a:rPr>
                                        <m:t>100</m:t>
                                      </m:r>
                                    </m:e>
                                  </m:rad>
                                </m:num>
                                <m:den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</m:t>
                                  </m:r>
                                </m:den>
                              </m:f>
                            </m:oMath>
                          </a14:m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3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45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𝜋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Verdana" panose="020B0604030504040204" pitchFamily="34" charset="0"/>
                                </a:rPr>
                                <m:t>+4</m:t>
                              </m:r>
                            </m:oMath>
                          </a14:m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4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−7</m:t>
                              </m:r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</m:t>
                              </m:r>
                              <m:rad>
                                <m:rad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49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81000"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5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29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80</m:t>
                                  </m:r>
                                </m:e>
                              </m:rad>
                            </m:oMath>
                          </a14:m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354013" indent="-354013" algn="l">
                            <a:buFont typeface="+mj-lt"/>
                            <a:buAutoNum type="alphaLcPeriod" startAt="6"/>
                          </a:pPr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Verdana" panose="020B0604030504040204" pitchFamily="3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        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40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Verdana" panose="020B0604030504040204" pitchFamily="34" charset="0"/>
                                      <a:cs typeface="Verdana" panose="020B0604030504040204" pitchFamily="34" charset="0"/>
                                    </a:rPr>
                                    <m:t>22</m:t>
                                  </m:r>
                                </m:e>
                              </m:rad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−3</m:t>
                              </m:r>
                            </m:oMath>
                          </a14:m>
                          <a:endParaRPr lang="en-US" sz="2400" dirty="0"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0179805"/>
                  </p:ext>
                </p:extLst>
              </p:nvPr>
            </p:nvGraphicFramePr>
            <p:xfrm>
              <a:off x="1125211" y="2272303"/>
              <a:ext cx="7284798" cy="384300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642399"/>
                    <a:gridCol w="3642399"/>
                  </a:tblGrid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67" t="-476" r="-99833" b="-2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0335" t="-476" b="-200476"/>
                          </a:stretch>
                        </a:blipFill>
                      </a:tcPr>
                    </a:tc>
                  </a:tr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67" t="-100476" r="-99833" b="-100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0335" t="-100476" b="-100476"/>
                          </a:stretch>
                        </a:blipFill>
                      </a:tcPr>
                    </a:tc>
                  </a:tr>
                  <a:tr h="1281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67" t="-200476" r="-99833" b="-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6"/>
                          <a:stretch>
                            <a:fillRect l="-100335" t="-200476" b="-476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0013" y="2399440"/>
            <a:ext cx="677863" cy="97116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043" y="2399439"/>
            <a:ext cx="677863" cy="97116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20012" y="3692447"/>
            <a:ext cx="677863" cy="97116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4111" y="3692446"/>
            <a:ext cx="677863" cy="97116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2448" y="4950994"/>
            <a:ext cx="677863" cy="9711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42944" y="4950993"/>
            <a:ext cx="677863" cy="971169"/>
          </a:xfrm>
          <a:prstGeom prst="rect">
            <a:avLst/>
          </a:prstGeom>
        </p:spPr>
      </p:pic>
      <p:sp>
        <p:nvSpPr>
          <p:cNvPr id="1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9935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901337" y="375771"/>
            <a:ext cx="105399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Choose one pair of expressions from the previous question that were not equivalent.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pair of expressions.</a:t>
            </a: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determined which value was greater.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1214846" y="374692"/>
                <a:ext cx="9912974" cy="37215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Order each set of numbers from least to greatest. 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34</m:t>
                        </m:r>
                      </m:e>
                    </m:rad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+2,  5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804863" indent="-3476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60</m:t>
                        </m:r>
                      </m:e>
                    </m:ra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4846" y="374692"/>
                <a:ext cx="9912974" cy="3721532"/>
              </a:xfrm>
              <a:prstGeom prst="rect">
                <a:avLst/>
              </a:prstGeom>
              <a:blipFill rotWithShape="0">
                <a:blip r:embed="rId3"/>
                <a:stretch>
                  <a:fillRect l="-923" t="-1309" b="-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92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154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7700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336624" y="194666"/>
            <a:ext cx="8237782" cy="812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2.6.3 Activity: Station 2 – Plotting Rational and Irrational Numbers on a Number Line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6816" y="22600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547ABD-563B-A148-B65C-C7679A7B43D4}"/>
              </a:ext>
            </a:extLst>
          </p:cNvPr>
          <p:cNvSpPr txBox="1"/>
          <p:nvPr/>
        </p:nvSpPr>
        <p:spPr>
          <a:xfrm>
            <a:off x="966651" y="1095481"/>
            <a:ext cx="105147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Five expressions are shown.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expression under the appropriate description in the table.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160212"/>
              </p:ext>
            </p:extLst>
          </p:nvPr>
        </p:nvGraphicFramePr>
        <p:xfrm>
          <a:off x="3146657" y="3519560"/>
          <a:ext cx="6471710" cy="268104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235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62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Includes Only Rational Numbers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Includes an Irrational Number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7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175128"/>
                  </p:ext>
                </p:extLst>
              </p:nvPr>
            </p:nvGraphicFramePr>
            <p:xfrm>
              <a:off x="2279817" y="1668639"/>
              <a:ext cx="8055084" cy="7315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687542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80000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731520"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PH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150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𝜋</m:t>
                                </m:r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+15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10.2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/>
                                    <a:ea typeface="Times New Roman"/>
                                  </a:rPr>
                                  <m:t>11</m:t>
                                </m:r>
                                <m:f>
                                  <m:fPr>
                                    <m:ctrlPr>
                                      <a:rPr lang="en-PH" sz="2400" i="1"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57200"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ctrlPr>
                                      <a:rPr lang="en-PH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Times New Roman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 i="1">
                                        <a:solidFill>
                                          <a:srgbClr val="000000"/>
                                        </a:solidFill>
                                        <a:effectLst/>
                                        <a:latin typeface="Cambria Math"/>
                                        <a:ea typeface="Times New Roman"/>
                                      </a:rPr>
                                      <m:t>64</m:t>
                                    </m:r>
                                  </m:e>
                                </m:rad>
                                <m:r>
                                  <a:rPr lang="en-US" sz="24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+8</m:t>
                                </m:r>
                              </m:oMath>
                            </m:oMathPara>
                          </a14:m>
                          <a:endParaRPr lang="en-PH" sz="1600" dirty="0"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46175128"/>
                  </p:ext>
                </p:extLst>
              </p:nvPr>
            </p:nvGraphicFramePr>
            <p:xfrm>
              <a:off x="755817" y="1668639"/>
              <a:ext cx="8055084" cy="7315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080000"/>
                    <a:gridCol w="1800000"/>
                    <a:gridCol w="1687542"/>
                    <a:gridCol w="1687542"/>
                    <a:gridCol w="1800000"/>
                  </a:tblGrid>
                  <a:tr h="7315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565" t="-833" r="-6468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60339" t="-833" r="-288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170758" t="-833" r="-2068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270758" t="-833" r="-1068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 rotWithShape="1">
                          <a:blip r:embed="rId5"/>
                          <a:stretch>
                            <a:fillRect l="-348136" t="-833" r="-339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3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0300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1110343" y="337514"/>
            <a:ext cx="997131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each number on the number line.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Six expressions are shown.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and label the location of each expression on the number line.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202332"/>
                  </p:ext>
                </p:extLst>
              </p:nvPr>
            </p:nvGraphicFramePr>
            <p:xfrm>
              <a:off x="2350182" y="3424825"/>
              <a:ext cx="7598568" cy="76431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6642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266428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76431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11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  <m:rad>
                                  <m:ra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deg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−125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23</m:t>
                                  </m:r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9202332"/>
                  </p:ext>
                </p:extLst>
              </p:nvPr>
            </p:nvGraphicFramePr>
            <p:xfrm>
              <a:off x="826182" y="3424825"/>
              <a:ext cx="7598568" cy="764318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266428"/>
                    <a:gridCol w="1266428"/>
                    <a:gridCol w="1266428"/>
                    <a:gridCol w="1266428"/>
                    <a:gridCol w="1266428"/>
                    <a:gridCol w="1266428"/>
                  </a:tblGrid>
                  <a:tr h="76431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481" t="-800" r="-499519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100966" t="-800" r="-401932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200000" t="-800" r="-300000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300000" t="-800" r="-200000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401932" t="-800" r="-100966" b="-8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 rotWithShape="1">
                          <a:blip r:embed="rId4"/>
                          <a:stretch>
                            <a:fillRect l="-499519" t="-800" r="-481" b="-800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0" name="Picture 9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26208" y="5316504"/>
            <a:ext cx="7713621" cy="680158"/>
          </a:xfrm>
          <a:prstGeom prst="rect">
            <a:avLst/>
          </a:prstGeom>
        </p:spPr>
      </p:pic>
      <p:pic>
        <p:nvPicPr>
          <p:cNvPr id="11" name="Picture 10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97823" y="1384761"/>
            <a:ext cx="6396355" cy="60261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93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4683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Activity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122" name="Picture 2" descr="Icon&#10;&#10;Description automatically generated">
            <a:extLst>
              <a:ext uri="{FF2B5EF4-FFF2-40B4-BE49-F238E27FC236}">
                <a16:creationId xmlns:a16="http://schemas.microsoft.com/office/drawing/2014/main" id="{217F3A92-AA2C-4D41-A73D-4DC6608D68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20890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8481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592387" y="-15473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2.6.4 Activity: Station 3 – </a:t>
            </a:r>
            <a:b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Error Analysis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37999C4E-6AE0-FA43-BC73-665C08EC5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2579" y="272473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547ABD-563B-A148-B65C-C7679A7B43D4}"/>
                  </a:ext>
                </a:extLst>
              </p:cNvPr>
              <p:cNvSpPr txBox="1"/>
              <p:nvPr/>
            </p:nvSpPr>
            <p:spPr>
              <a:xfrm>
                <a:off x="1476103" y="1386026"/>
                <a:ext cx="9495826" cy="2749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Sara approximated the value of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Her thinking is shown.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which are both perfect squares. So, I know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lies between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a number line, but it’s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because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closer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than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lang="en-US" sz="24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I would plot its approximate location here.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3547ABD-563B-A148-B65C-C7679A7B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6103" y="1386026"/>
                <a:ext cx="9495826" cy="2749599"/>
              </a:xfrm>
              <a:prstGeom prst="rect">
                <a:avLst/>
              </a:prstGeom>
              <a:blipFill rotWithShape="0">
                <a:blip r:embed="rId4"/>
                <a:stretch>
                  <a:fillRect l="-963" t="-665" r="-257" b="-3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2834ACB5-9863-9B4D-A302-444ED7CCE577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15" name="Group 14"/>
          <p:cNvGrpSpPr/>
          <p:nvPr/>
        </p:nvGrpSpPr>
        <p:grpSpPr>
          <a:xfrm>
            <a:off x="2519850" y="4522317"/>
            <a:ext cx="7815051" cy="1060615"/>
            <a:chOff x="0" y="0"/>
            <a:chExt cx="6400800" cy="86921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 Box 49"/>
                <p:cNvSpPr txBox="1"/>
                <p:nvPr/>
              </p:nvSpPr>
              <p:spPr>
                <a:xfrm>
                  <a:off x="4614203" y="0"/>
                  <a:ext cx="813113" cy="379388"/>
                </a:xfrm>
                <a:prstGeom prst="rect">
                  <a:avLst/>
                </a:prstGeom>
                <a:solidFill>
                  <a:schemeClr val="lt1"/>
                </a:solidFill>
                <a:ln w="6350">
                  <a:noFill/>
                </a:ln>
              </p:spPr>
              <p:txBody>
                <a:bodyPr rot="0" spcFirstLastPara="0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ctrlPr>
                              <a:rPr lang="en-PH" sz="1800" i="1">
                                <a:solidFill>
                                  <a:srgbClr val="ED7D31"/>
                                </a:solidFill>
                                <a:latin typeface="Cambria Math" panose="02040503050406030204" pitchFamily="18" charset="0"/>
                                <a:ea typeface="Calibri"/>
                                <a:cs typeface="Times New Roman"/>
                              </a:rPr>
                            </m:ctrlPr>
                          </m:radPr>
                          <m:deg>
                            <m:r>
                              <a:rPr lang="en-US" sz="1800" i="1">
                                <a:solidFill>
                                  <a:srgbClr val="ED7D31"/>
                                </a:solidFill>
                                <a:latin typeface="Cambria Math"/>
                                <a:ea typeface="Calibri"/>
                              </a:rPr>
                              <m:t>3</m:t>
                            </m:r>
                          </m:deg>
                          <m:e>
                            <m:r>
                              <a:rPr lang="en-US" sz="1800" i="1">
                                <a:solidFill>
                                  <a:srgbClr val="ED7D31"/>
                                </a:solidFill>
                                <a:latin typeface="Cambria Math"/>
                                <a:ea typeface="Calibri"/>
                                <a:cs typeface="Times New Roman"/>
                              </a:rPr>
                              <m:t>11</m:t>
                            </m:r>
                          </m:e>
                        </m:rad>
                      </m:oMath>
                    </m:oMathPara>
                  </a14:m>
                  <a:endParaRPr lang="en-PH" sz="1200">
                    <a:latin typeface="Times New Roman"/>
                    <a:ea typeface="Times New Roman"/>
                  </a:endParaRPr>
                </a:p>
              </p:txBody>
            </p:sp>
          </mc:Choice>
          <mc:Fallback xmlns="">
            <p:sp>
              <p:nvSpPr>
                <p:cNvPr id="17" name="Text Box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203" y="0"/>
                  <a:ext cx="813113" cy="37938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  <a:ln w="6350">
                  <a:noFill/>
                </a:ln>
              </p:spPr>
              <p:txBody>
                <a:bodyPr/>
                <a:lstStyle/>
                <a:p>
                  <a:r>
                    <a:rPr lang="en-PH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351692"/>
              <a:ext cx="6400800" cy="517525"/>
            </a:xfrm>
            <a:prstGeom prst="rect">
              <a:avLst/>
            </a:prstGeom>
          </p:spPr>
        </p:pic>
        <p:sp>
          <p:nvSpPr>
            <p:cNvPr id="20" name="Oval 19"/>
            <p:cNvSpPr>
              <a:spLocks noChangeAspect="1"/>
            </p:cNvSpPr>
            <p:nvPr/>
          </p:nvSpPr>
          <p:spPr>
            <a:xfrm>
              <a:off x="5022166" y="464234"/>
              <a:ext cx="137160" cy="135565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PH"/>
            </a:p>
          </p:txBody>
        </p:sp>
      </p:grpSp>
      <p:sp>
        <p:nvSpPr>
          <p:cNvPr id="14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98557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C08EE3-8247-C14E-9600-35165D5C8679}"/>
              </a:ext>
            </a:extLst>
          </p:cNvPr>
          <p:cNvSpPr txBox="1"/>
          <p:nvPr/>
        </p:nvSpPr>
        <p:spPr>
          <a:xfrm>
            <a:off x="979714" y="393981"/>
            <a:ext cx="9279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Sara’s thinking with your partner. Then, complete the table.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DDCE86C-AC17-F84F-84C9-3604F0100B3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977348"/>
              </p:ext>
            </p:extLst>
          </p:nvPr>
        </p:nvGraphicFramePr>
        <p:xfrm>
          <a:off x="3024117" y="1381530"/>
          <a:ext cx="7200000" cy="2880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is correct in Sara’s thinking?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What error(s) did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Sara make?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C08EE3-8247-C14E-9600-35165D5C8679}"/>
                  </a:ext>
                </a:extLst>
              </p:cNvPr>
              <p:cNvSpPr txBox="1"/>
              <p:nvPr/>
            </p:nvSpPr>
            <p:spPr>
              <a:xfrm>
                <a:off x="979714" y="4673984"/>
                <a:ext cx="9279854" cy="8692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Plot and label the correct approximate value of </a:t>
                </a:r>
                <a14:m>
                  <m:oMath xmlns:m="http://schemas.openxmlformats.org/officeDocument/2006/math">
                    <m:rad>
                      <m:ra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number line.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6C08EE3-8247-C14E-9600-35165D5C8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714" y="4673984"/>
                <a:ext cx="9279854" cy="869277"/>
              </a:xfrm>
              <a:prstGeom prst="rect">
                <a:avLst/>
              </a:prstGeom>
              <a:blipFill rotWithShape="0">
                <a:blip r:embed="rId3"/>
                <a:stretch>
                  <a:fillRect t="-2113" b="-14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0944" y="5623793"/>
            <a:ext cx="7278624" cy="58850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3241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914400" y="380814"/>
            <a:ext cx="10363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For each pair of numbers, an explanation comparing the values is provided.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whether each explanation is correct or incorrect.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021248"/>
                  </p:ext>
                </p:extLst>
              </p:nvPr>
            </p:nvGraphicFramePr>
            <p:xfrm>
              <a:off x="2995081" y="2513979"/>
              <a:ext cx="72000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6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greater than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slightly more than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,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so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slightly more than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equal to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64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50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that.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7021248"/>
                  </p:ext>
                </p:extLst>
              </p:nvPr>
            </p:nvGraphicFramePr>
            <p:xfrm>
              <a:off x="1471081" y="2513979"/>
              <a:ext cx="7200000" cy="324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/>
                    <a:gridCol w="3960000"/>
                    <a:gridCol w="1620000"/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58454" r="-344361" b="-1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986" t="-58454" r="-41140" b="-10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58454" r="-344361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40986" t="-158454" r="-41140" b="-1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89555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9D117-FAE6-F74F-940B-9CD1479755BE}"/>
              </a:ext>
            </a:extLst>
          </p:cNvPr>
          <p:cNvSpPr txBox="1"/>
          <p:nvPr/>
        </p:nvSpPr>
        <p:spPr>
          <a:xfrm>
            <a:off x="1201783" y="4041629"/>
            <a:ext cx="10093794" cy="21005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8050" lvl="1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Two of the explanations above are incorrect. Write the correct explanation for each of them by completing the sentence stems. </a:t>
            </a: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 is greater than ______ because ...</a:t>
            </a:r>
          </a:p>
          <a:p>
            <a:pPr marL="896938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8969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______ is less than ______ because ...</a:t>
            </a:r>
          </a:p>
          <a:p>
            <a:pPr marL="896938"/>
            <a:endParaRPr lang="en-US" sz="1050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BEF6C55E-B3A1-F64B-8B75-31583227077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5399978"/>
                  </p:ext>
                </p:extLst>
              </p:nvPr>
            </p:nvGraphicFramePr>
            <p:xfrm>
              <a:off x="2852248" y="370492"/>
              <a:ext cx="7560000" cy="342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32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620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4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greater than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 smtClean="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13</m:t>
                                  </m:r>
                                </m:num>
                                <m:den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slightly more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ad>
                                <m:rad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60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slightly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26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and</a:t>
                          </a: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less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because</a:t>
                          </a:r>
                          <a:r>
                            <a:rPr lang="en-US" sz="2000" baseline="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between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7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, which means it’s larger than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smtClean="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0" name="Table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85399978"/>
                  </p:ext>
                </p:extLst>
              </p:nvPr>
            </p:nvGraphicFramePr>
            <p:xfrm>
              <a:off x="1328248" y="370492"/>
              <a:ext cx="7560000" cy="3420000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1620000"/>
                    <a:gridCol w="4320000"/>
                    <a:gridCol w="1620000"/>
                  </a:tblGrid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Pair of Numbers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Comparison and Explanation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it Correct?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</a:tr>
                  <a:tr h="14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6" t="-51695" r="-366541" b="-87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712" t="-51695" r="-37712" b="-87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  <a:tr h="126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6" t="-172947" r="-3665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712" t="-172947" r="-3771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correct</a:t>
                          </a:r>
                        </a:p>
                        <a:p>
                          <a:pPr marL="273050" marR="0" lvl="0" indent="-27305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incorrect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0448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101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361430" y="237177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980" y="158972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1279280" y="1011902"/>
            <a:ext cx="90661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 learned in this unit. </a:t>
            </a:r>
          </a:p>
          <a:p>
            <a:pPr lvl="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163" name="Picture 19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81125" y="1794898"/>
            <a:ext cx="6799605" cy="4957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Google Shape;282;g104476d1465_1_17"/>
          <p:cNvSpPr txBox="1"/>
          <p:nvPr/>
        </p:nvSpPr>
        <p:spPr>
          <a:xfrm>
            <a:off x="8699413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3763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1373</TotalTime>
  <Words>857</Words>
  <Application>Microsoft Office PowerPoint</Application>
  <PresentationFormat>Widescreen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Arial Black</vt:lpstr>
      <vt:lpstr>Calibri</vt:lpstr>
      <vt:lpstr>Cambria Math</vt:lpstr>
      <vt:lpstr>Century Gothic</vt:lpstr>
      <vt:lpstr>Courier New</vt:lpstr>
      <vt:lpstr>Times New Roman</vt:lpstr>
      <vt:lpstr>Verdana</vt:lpstr>
      <vt:lpstr>Wingdings</vt:lpstr>
      <vt:lpstr>1_Office Theme</vt:lpstr>
      <vt:lpstr>7th Grade Accelerated Math  Unit 2, Lesson 6  Plotting, Ordering, and Comparing Real Numbers  Volume 1, pg. 91  </vt:lpstr>
      <vt:lpstr>Benchmark</vt:lpstr>
      <vt:lpstr>PowerPoint Presentation</vt:lpstr>
      <vt:lpstr>PowerPoint Presentation</vt:lpstr>
      <vt:lpstr>Warm-Up</vt:lpstr>
      <vt:lpstr>PowerPoint Presentation</vt:lpstr>
      <vt:lpstr>Activity</vt:lpstr>
      <vt:lpstr>PowerPoint Presentation</vt:lpstr>
      <vt:lpstr>PowerPoint Presentation</vt:lpstr>
      <vt:lpstr>PowerPoint Presentation</vt:lpstr>
      <vt:lpstr>Activity</vt:lpstr>
      <vt:lpstr>PowerPoint Presentation</vt:lpstr>
      <vt:lpstr>PowerPoint Presentation</vt:lpstr>
      <vt:lpstr>Activity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37</cp:revision>
  <dcterms:created xsi:type="dcterms:W3CDTF">2015-03-17T18:51:18Z</dcterms:created>
  <dcterms:modified xsi:type="dcterms:W3CDTF">2022-06-30T03:43:07Z</dcterms:modified>
</cp:coreProperties>
</file>