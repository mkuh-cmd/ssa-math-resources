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85" r:id="rId7"/>
    <p:sldId id="286" r:id="rId8"/>
    <p:sldId id="261" r:id="rId9"/>
    <p:sldId id="287" r:id="rId10"/>
    <p:sldId id="314" r:id="rId11"/>
    <p:sldId id="315" r:id="rId12"/>
    <p:sldId id="288" r:id="rId13"/>
    <p:sldId id="316" r:id="rId14"/>
    <p:sldId id="323" r:id="rId15"/>
    <p:sldId id="324" r:id="rId16"/>
    <p:sldId id="325" r:id="rId17"/>
    <p:sldId id="326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60" autoAdjust="0"/>
    <p:restoredTop sz="94695"/>
  </p:normalViewPr>
  <p:slideViewPr>
    <p:cSldViewPr snapToGrid="0">
      <p:cViewPr varScale="1">
        <p:scale>
          <a:sx n="53" d="100"/>
          <a:sy n="53" d="100"/>
        </p:scale>
        <p:origin x="102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827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640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17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261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772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1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176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28933" y="3390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33" y="2696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94329" y="1600200"/>
            <a:ext cx="85164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MA.7.NSO.2.2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rational numbers with procedural fluency.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97" y="32270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91447" y="80069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14097" y="1596390"/>
            <a:ext cx="955156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84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9088" y="1600200"/>
            <a:ext cx="87738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fluently multiply rational numbers.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0588" y="761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88" y="3218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660320" y="1386025"/>
                <a:ext cx="912739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digits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most one time each, fill in the boxes so that the top two equations are equal, and the bottom equation has the greatest value.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320" y="1386025"/>
                <a:ext cx="9127392" cy="1107996"/>
              </a:xfrm>
              <a:prstGeom prst="rect">
                <a:avLst/>
              </a:prstGeom>
              <a:blipFill rotWithShape="0">
                <a:blip r:embed="rId4"/>
                <a:stretch>
                  <a:fillRect l="-868" t="-4396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409420" y="2791958"/>
            <a:ext cx="4391028" cy="894715"/>
            <a:chOff x="162045" y="0"/>
            <a:chExt cx="4391286" cy="895150"/>
          </a:xfrm>
        </p:grpSpPr>
        <p:sp>
          <p:nvSpPr>
            <p:cNvPr id="10" name="Rectangle 9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2663303" y="0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01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2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02"/>
                <p:cNvSpPr txBox="1"/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3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3409420" y="3947299"/>
            <a:ext cx="4391028" cy="894715"/>
            <a:chOff x="162045" y="0"/>
            <a:chExt cx="4391286" cy="895150"/>
          </a:xfrm>
        </p:grpSpPr>
        <p:sp>
          <p:nvSpPr>
            <p:cNvPr id="18" name="Rectangle 17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spect="1"/>
            </p:cNvSpPr>
            <p:nvPr/>
          </p:nvSpPr>
          <p:spPr>
            <a:xfrm>
              <a:off x="2663303" y="0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1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3600" dirty="0">
                      <a:latin typeface="Calibri" panose="020F0502020204030204" pitchFamily="34" charset="0"/>
                      <a:ea typeface="Yu Mincho" panose="02020400000000000000" pitchFamily="18" charset="-128"/>
                      <a:cs typeface="Times New Roman" panose="02020603050405020304" pitchFamily="18" charset="0"/>
                    </a:rPr>
                    <a:t> </a:t>
                  </a:r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2"/>
                <p:cNvSpPr txBox="1"/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3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3409421" y="5352256"/>
            <a:ext cx="4634229" cy="909955"/>
            <a:chOff x="162045" y="0"/>
            <a:chExt cx="4634355" cy="910444"/>
          </a:xfrm>
        </p:grpSpPr>
        <p:sp>
          <p:nvSpPr>
            <p:cNvPr id="24" name="Rectangle 23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>
            <a:xfrm>
              <a:off x="3022118" y="15729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27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3600">
                      <a:latin typeface="Calibri" panose="020F0502020204030204" pitchFamily="34" charset="0"/>
                      <a:ea typeface="Yu Mincho" panose="02020400000000000000" pitchFamily="18" charset="-128"/>
                      <a:cs typeface="Times New Roman" panose="02020603050405020304" pitchFamily="18" charset="0"/>
                    </a:rPr>
                    <a:t> </a:t>
                  </a:r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28"/>
                <p:cNvSpPr txBox="1"/>
                <p:nvPr/>
              </p:nvSpPr>
              <p:spPr>
                <a:xfrm>
                  <a:off x="3646026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6026" y="126197"/>
                  <a:ext cx="1150374" cy="69112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29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30"/>
              <p:cNvSpPr txBox="1"/>
              <p:nvPr/>
            </p:nvSpPr>
            <p:spPr>
              <a:xfrm>
                <a:off x="5296696" y="5312662"/>
                <a:ext cx="1149985" cy="6902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lang="en-US" sz="1100" b="1" i="1" dirty="0">
                  <a:latin typeface="Calibri" panose="020F0502020204030204" pitchFamily="34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695" y="5312661"/>
                <a:ext cx="1149985" cy="69024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283;g104476d1465_1_17"/>
          <p:cNvPicPr preferRelativeResize="0"/>
          <p:nvPr/>
        </p:nvPicPr>
        <p:blipFill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836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11.3.2 Collaboration: Signed Number Rules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855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398360" y="1386025"/>
            <a:ext cx="96513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 with the words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describe the rules for multiplying integers. 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positive integers is a ____________ integer.  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negative integers is a ___________ integer.  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a negative integer and a positive integer is a ____________ integer. 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think the same rules apply to rational numbers. Write a summary of your reasoning.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90918" y="520393"/>
            <a:ext cx="9760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Use a calculator to find the product of each expression to verify if the same rules for signs apply when multiplying rational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81878"/>
                  </p:ext>
                </p:extLst>
              </p:nvPr>
            </p:nvGraphicFramePr>
            <p:xfrm>
              <a:off x="2496889" y="1731660"/>
              <a:ext cx="7053510" cy="444004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576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99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06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1526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1869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Product Using the Rules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sz="2000" b="0" i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25</m:t>
                                            </m:r>
                                          </m:den>
                                        </m:f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21.285∙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3.8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91.09)</m:t>
                                    </m:r>
                                  </m:e>
                                </m:sPre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6.4</m:t>
                                    </m:r>
                                  </m:e>
                                </m:sPre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81878"/>
                  </p:ext>
                </p:extLst>
              </p:nvPr>
            </p:nvGraphicFramePr>
            <p:xfrm>
              <a:off x="972889" y="1731660"/>
              <a:ext cx="7053510" cy="44689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57690"/>
                    <a:gridCol w="1789945"/>
                    <a:gridCol w="1790608"/>
                    <a:gridCol w="1615267"/>
                  </a:tblGrid>
                  <a:tr h="13045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Product Using the Rules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175385" r="-280328" b="-3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275385" r="-280328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375385" r="-280328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475385" r="-280328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2007765" y="410665"/>
            <a:ext cx="83271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sentence.</a:t>
            </a:r>
          </a:p>
          <a:p>
            <a:pPr marL="457200">
              <a:lnSpc>
                <a:spcPct val="250000"/>
              </a:lnSpc>
              <a:tabLst>
                <a:tab pos="50800" algn="l"/>
                <a:tab pos="627063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rules for multiplying rational numbers are					 the integer rules for multiplication.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6514" y="1777473"/>
            <a:ext cx="2249486" cy="90731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0278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09614" y="100745"/>
            <a:ext cx="100107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11.3.3 Guided Practice: Applying Signed Number Rules to Rational Numbers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806" y="24983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309614" y="1522247"/>
            <a:ext cx="96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decide who will be Partner A and who will be Partner B. Then, find the product of the expression in the column that matches your letter.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129553" y="4043878"/>
            <a:ext cx="9932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expressions in each row have the same product. Check your work with your partner and, if necessary, resolve any differences. Write the agreed-upon product in the center column.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052288"/>
                  </p:ext>
                </p:extLst>
              </p:nvPr>
            </p:nvGraphicFramePr>
            <p:xfrm>
              <a:off x="2470658" y="447486"/>
              <a:ext cx="7250685" cy="32284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637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34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3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8106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A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B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790 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7.9(10)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(0.1)∙(−60)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2.1∙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−8.4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2.5 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3.25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052288"/>
                  </p:ext>
                </p:extLst>
              </p:nvPr>
            </p:nvGraphicFramePr>
            <p:xfrm>
              <a:off x="946657" y="447486"/>
              <a:ext cx="7250685" cy="325729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63701"/>
                    <a:gridCol w="2343492"/>
                    <a:gridCol w="2343492"/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A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B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56667" r="-183135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56667" r="-519" b="-302500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156667" r="-183135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156667" r="-519" b="-202500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254545" r="-183135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254545" r="-519" b="-100826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357500" r="-18313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357500" r="-519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995082" y="386281"/>
            <a:ext cx="1020183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 value from Row A and a value from Row B that, when multiplied, will result in a negative answer. Then, calculate the product.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Row A</a:t>
            </a: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Row B</a:t>
            </a: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415912"/>
                  </p:ext>
                </p:extLst>
              </p:nvPr>
            </p:nvGraphicFramePr>
            <p:xfrm>
              <a:off x="4153006" y="2244462"/>
              <a:ext cx="3890328" cy="7527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527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−9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415912"/>
                  </p:ext>
                </p:extLst>
              </p:nvPr>
            </p:nvGraphicFramePr>
            <p:xfrm>
              <a:off x="2629006" y="2244461"/>
              <a:ext cx="3890328" cy="7527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/>
                    <a:gridCol w="1296776"/>
                    <a:gridCol w="1296776"/>
                  </a:tblGrid>
                  <a:tr h="75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469" t="-806" r="-20093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100469" t="-806" r="-10093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00469" t="-806" r="-939" b="-16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9904791"/>
                  </p:ext>
                </p:extLst>
              </p:nvPr>
            </p:nvGraphicFramePr>
            <p:xfrm>
              <a:off x="4153006" y="3672682"/>
              <a:ext cx="3890328" cy="7977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977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9904791"/>
                  </p:ext>
                </p:extLst>
              </p:nvPr>
            </p:nvGraphicFramePr>
            <p:xfrm>
              <a:off x="2629006" y="3672681"/>
              <a:ext cx="3890328" cy="7977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/>
                    <a:gridCol w="1296776"/>
                    <a:gridCol w="1296776"/>
                  </a:tblGrid>
                  <a:tr h="7977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469" t="-758" r="-200939" b="-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00469" t="-758" r="-100939" b="-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200469" t="-758" r="-939" b="-151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575408"/>
              </p:ext>
            </p:extLst>
          </p:nvPr>
        </p:nvGraphicFramePr>
        <p:xfrm>
          <a:off x="3247232" y="4855381"/>
          <a:ext cx="5697537" cy="32702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0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Row 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Row B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37375" y="5543484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13399" y="5543483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936483" y="5543482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073035" y="5674111"/>
                <a:ext cx="4475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035" y="5674111"/>
                <a:ext cx="447558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839017" y="5659973"/>
                <a:ext cx="4379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017" y="5659973"/>
                <a:ext cx="437940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6071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9312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1663" y="-121023"/>
            <a:ext cx="10190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213" y="14289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16106" y="1386025"/>
            <a:ext cx="102158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product of each expression.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the words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positive factors result in a _________ product. 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negative factors result in a _________ product. 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positive factor and a negative factor result in a ___________ product.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187548"/>
                  </p:ext>
                </p:extLst>
              </p:nvPr>
            </p:nvGraphicFramePr>
            <p:xfrm>
              <a:off x="2655413" y="1959808"/>
              <a:ext cx="6432550" cy="73406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594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384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0.24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Pre>
                                    <m:sPre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sz="2200" b="0" i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3.8</m:t>
                                      </m:r>
                                    </m:e>
                                  </m:sPre>
                                </m:e>
                              </m:d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187548"/>
                  </p:ext>
                </p:extLst>
              </p:nvPr>
            </p:nvGraphicFramePr>
            <p:xfrm>
              <a:off x="1131413" y="1959808"/>
              <a:ext cx="6432550" cy="73406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594100"/>
                    <a:gridCol w="2838450"/>
                  </a:tblGrid>
                  <a:tr h="734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r="-7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2660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98CC0D-86E9-4B00-B6F7-080525811156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B4656CCF-FE0A-4801-B1CA-AD9EFD5E59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4A6D91-C0FD-4408-9105-36A8A722DA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710</Words>
  <Application>Microsoft Office PowerPoint</Application>
  <PresentationFormat>Widescreen</PresentationFormat>
  <Paragraphs>153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11, Lesson 3  Multiplying Rational Numbers  Volume 2, pg. 176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25</cp:revision>
  <dcterms:created xsi:type="dcterms:W3CDTF">2015-03-17T18:51:18Z</dcterms:created>
  <dcterms:modified xsi:type="dcterms:W3CDTF">2023-06-30T01:21:27Z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