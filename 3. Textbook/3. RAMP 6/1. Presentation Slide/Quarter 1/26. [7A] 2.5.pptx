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288" r:id="rId10"/>
    <p:sldId id="308" r:id="rId11"/>
    <p:sldId id="333" r:id="rId12"/>
    <p:sldId id="323" r:id="rId13"/>
    <p:sldId id="324" r:id="rId14"/>
    <p:sldId id="317" r:id="rId15"/>
    <p:sldId id="318" r:id="rId16"/>
    <p:sldId id="325" r:id="rId17"/>
    <p:sldId id="329" r:id="rId18"/>
    <p:sldId id="330" r:id="rId19"/>
    <p:sldId id="332" r:id="rId20"/>
    <p:sldId id="306" r:id="rId21"/>
    <p:sldId id="307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980"/>
    <p:restoredTop sz="94694"/>
  </p:normalViewPr>
  <p:slideViewPr>
    <p:cSldViewPr snapToGrid="0">
      <p:cViewPr varScale="1">
        <p:scale>
          <a:sx n="75" d="100"/>
          <a:sy n="75" d="100"/>
        </p:scale>
        <p:origin x="29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12995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447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7268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033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7677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860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Rational and Irrational Numbers on the Number Line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87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72347" y="149587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847" y="38536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702556" y="1600200"/>
            <a:ext cx="878688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MA.8.NSO.1.2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Plot, order, and compare rational and irrational numbers, represented in various forms.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77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259240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2568960" y="1596390"/>
            <a:ext cx="764184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679238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076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02556" y="1600200"/>
            <a:ext cx="878688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compare rational and irrational values.</a:t>
            </a:r>
          </a:p>
          <a:p>
            <a:pPr marL="536575" indent="-536575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order rational and irrational values.</a:t>
            </a:r>
          </a:p>
          <a:p>
            <a:pPr marL="536575" indent="-536575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plot rational and irrational numbers on a number line.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8067" y="56349"/>
            <a:ext cx="80193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2.5.1 Warm-Up: Which One 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767" y="22744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410789" y="1386026"/>
            <a:ext cx="9626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Four numbers are shown in the table. Choose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of the values to write an argument for why each does not belong with the others.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-25727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1830283"/>
                  </p:ext>
                </p:extLst>
              </p:nvPr>
            </p:nvGraphicFramePr>
            <p:xfrm>
              <a:off x="2641770" y="2534640"/>
              <a:ext cx="6447366" cy="379406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579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893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3341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Why doesn’t this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belong with the others?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3.14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3.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 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1830283"/>
                  </p:ext>
                </p:extLst>
              </p:nvPr>
            </p:nvGraphicFramePr>
            <p:xfrm>
              <a:off x="1117770" y="2534639"/>
              <a:ext cx="6447366" cy="391858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57970"/>
                    <a:gridCol w="4689396"/>
                  </a:tblGrid>
                  <a:tr h="7924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Why doesn’t this </a:t>
                          </a: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/>
                          </a:r>
                          <a:b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belong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with the others?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792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102308" r="-267361" b="-29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48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13821" r="-267361" b="-2113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92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96923" r="-267361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92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396923" r="-267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  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26601" y="-10732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2.5.2 Guided Instruction: Compare and Order Rational and Irrational Numbers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301" y="18187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1018903" y="1386026"/>
            <a:ext cx="104102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numbers shown to complete the following.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each number under the appropriate description in the table.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3410956"/>
                  </p:ext>
                </p:extLst>
              </p:nvPr>
            </p:nvGraphicFramePr>
            <p:xfrm>
              <a:off x="2519850" y="1978537"/>
              <a:ext cx="6943090" cy="73152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9918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918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0.125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49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−8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3410956"/>
                  </p:ext>
                </p:extLst>
              </p:nvPr>
            </p:nvGraphicFramePr>
            <p:xfrm>
              <a:off x="995850" y="1978537"/>
              <a:ext cx="6943090" cy="73152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991870"/>
                    <a:gridCol w="991870"/>
                    <a:gridCol w="991870"/>
                    <a:gridCol w="991870"/>
                    <a:gridCol w="991870"/>
                    <a:gridCol w="991870"/>
                    <a:gridCol w="991870"/>
                  </a:tblGrid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t="-833" r="-5993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l="-100617" t="-833" r="-5030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l="-199387" t="-833" r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l="-299387" t="-833" r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l="-399387" t="-833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l="-502469" t="-833" r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l="-598773" t="-833" r="-61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618373"/>
              </p:ext>
            </p:extLst>
          </p:nvPr>
        </p:nvGraphicFramePr>
        <p:xfrm>
          <a:off x="3124773" y="3792656"/>
          <a:ext cx="6198486" cy="257363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099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9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Rational Numbers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Irrational Numbers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563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188720" y="386281"/>
            <a:ext cx="99652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75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Order the numbers from least to greatest.</a:t>
            </a:r>
          </a:p>
          <a:p>
            <a:pPr marL="904875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each number on the number line.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9310" y="4224623"/>
            <a:ext cx="7335591" cy="487297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136469" y="383339"/>
                <a:ext cx="100575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by comparing each pair of expressions using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,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Then, plot and label the expressions on the number line.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469" y="383339"/>
                <a:ext cx="10057536" cy="1200329"/>
              </a:xfrm>
              <a:prstGeom prst="rect">
                <a:avLst/>
              </a:prstGeom>
              <a:blipFill rotWithShape="0">
                <a:blip r:embed="rId3"/>
                <a:stretch>
                  <a:fillRect l="-909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6" name="Picture 15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0532" y="3325389"/>
            <a:ext cx="4846320" cy="476885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1972" y="5060822"/>
            <a:ext cx="4754880" cy="4826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1208" y="4773580"/>
            <a:ext cx="750422" cy="10570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211189"/>
                  </p:ext>
                </p:extLst>
              </p:nvPr>
            </p:nvGraphicFramePr>
            <p:xfrm>
              <a:off x="2569166" y="1806300"/>
              <a:ext cx="7560000" cy="429413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83813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Compare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, </a:t>
                          </a:r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Line Plot</a:t>
                          </a:r>
                        </a:p>
                      </a:txBody>
                      <a:tcPr marL="38339" marR="3833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           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</m:e>
                              </m:rad>
                            </m:oMath>
                          </a14:m>
                          <a:endParaRPr lang="en-US" sz="2000" dirty="0">
                            <a:effectLst/>
                          </a:endParaRPr>
                        </a:p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38339" marR="3833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2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89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</a:rPr>
                            <a:t> 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9.89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38339" marR="3833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211189"/>
                  </p:ext>
                </p:extLst>
              </p:nvPr>
            </p:nvGraphicFramePr>
            <p:xfrm>
              <a:off x="1045166" y="1806300"/>
              <a:ext cx="7560000" cy="429413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40000"/>
                    <a:gridCol w="5220000"/>
                  </a:tblGrid>
                  <a:tr h="8381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8"/>
                          <a:stretch>
                            <a:fillRect r="-223177" b="-41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Line Plot</a:t>
                          </a:r>
                        </a:p>
                      </a:txBody>
                      <a:tcPr marL="38339" marR="3833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72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8"/>
                          <a:stretch>
                            <a:fillRect t="-48763" r="-223177" b="-100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38339" marR="3833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72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8"/>
                          <a:stretch>
                            <a:fillRect t="-148239" r="-223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marL="38339" marR="38339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23" name="Picture 2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3400" y="3035288"/>
            <a:ext cx="750422" cy="105708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3602" y="1629856"/>
            <a:ext cx="750422" cy="105708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93881" y="3361766"/>
            <a:ext cx="750422" cy="10570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8895059"/>
                  </p:ext>
                </p:extLst>
              </p:nvPr>
            </p:nvGraphicFramePr>
            <p:xfrm>
              <a:off x="2571108" y="374508"/>
              <a:ext cx="7560000" cy="440574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80574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Compare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, </a:t>
                          </a:r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b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)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Line Plot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    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23</m:t>
                                  </m:r>
                                </m:e>
                              </m:rad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0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     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8895059"/>
                  </p:ext>
                </p:extLst>
              </p:nvPr>
            </p:nvGraphicFramePr>
            <p:xfrm>
              <a:off x="1047108" y="374507"/>
              <a:ext cx="7560000" cy="440574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340000"/>
                    <a:gridCol w="5220000"/>
                  </a:tblGrid>
                  <a:tr h="8057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0" t="-758" r="-222917" b="-4484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Number Line Plot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8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0" t="-44932" r="-22291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8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0" t="-145424" r="-222917" b="-3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18" name="Picture 17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4182" y="3651865"/>
            <a:ext cx="4846320" cy="476885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1318" y="1965634"/>
            <a:ext cx="4754880" cy="482600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3419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9690" y="-4729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2.5.3 Guided Practice: Compare and Order Rational and Irrational Numbers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9882" y="240653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1332411" y="1386026"/>
            <a:ext cx="97832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numbers shown to complete the following.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Order the numbers from greatest to least. 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each number on the number line.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657497"/>
                  </p:ext>
                </p:extLst>
              </p:nvPr>
            </p:nvGraphicFramePr>
            <p:xfrm>
              <a:off x="2519850" y="2292401"/>
              <a:ext cx="7684854" cy="92900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2808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8080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9290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−4.5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 </m:t>
                                </m:r>
                                <m:rad>
                                  <m:ra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1657497"/>
                  </p:ext>
                </p:extLst>
              </p:nvPr>
            </p:nvGraphicFramePr>
            <p:xfrm>
              <a:off x="995850" y="2292400"/>
              <a:ext cx="7684854" cy="929005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280809"/>
                    <a:gridCol w="1280809"/>
                    <a:gridCol w="1280809"/>
                    <a:gridCol w="1280809"/>
                    <a:gridCol w="1280809"/>
                    <a:gridCol w="1280809"/>
                  </a:tblGrid>
                  <a:tr h="929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r="-500476" b="-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l="-100000" r="-400476" b="-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l="-199052" r="-298578" b="-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l="-300476" r="-200000" b="-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l="-400476" r="-100000" b="-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5"/>
                          <a:stretch>
                            <a:fillRect l="-500476" b="-65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9" name="Picture 8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9310" y="5716123"/>
            <a:ext cx="6949440" cy="631825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53198" y="5273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2.5.4 Activity: Ordering Rational and Irrational Numbers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3390" y="34067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1410789" y="1386026"/>
            <a:ext cx="962645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teacher will give you a card with a numerical expression on it.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numerical expression on your card? 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Does the expression include any irrational numbers?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your expression contains only rational numbers, write the exact value of your card, expressed as a decimal.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your expression contains any irrational numbers, write the approximate value of your card, expressed as a decimal.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2834ACB5-9863-9B4D-A302-444ED7CCE57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1005840" y="386282"/>
            <a:ext cx="101803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Once in your group, label the tick marks on the number line to match your group’s assigned number line.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group to order your number cards from least to greatest.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group to determine the approximate location of each expression on the number line. Then, plot and label each expression on your number line.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4976" y="1851076"/>
            <a:ext cx="7784592" cy="347831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33759" y="64272"/>
            <a:ext cx="801930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2.5.5 Bring It Together: Ordering Rational and Irrational Numbers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1110343" y="1196839"/>
            <a:ext cx="100843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your experience doing the previous activity to complete the following.</a:t>
            </a:r>
          </a:p>
          <a:p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 any strategies you learned that are helpful to keep in mind when comparing and ordering rational and irrational numbers or plotting them on a number line.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0606D7-FA1D-5D44-AD19-A87F7EA7DDF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2037" y="17871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467036"/>
              </p:ext>
            </p:extLst>
          </p:nvPr>
        </p:nvGraphicFramePr>
        <p:xfrm>
          <a:off x="3018515" y="3228878"/>
          <a:ext cx="7380000" cy="288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Strategies for Comparing and Ordering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Strategies for Plotting on a Number Line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1306286" y="386281"/>
            <a:ext cx="9579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and discuss your list with your partner. Add any strategies your partner shares that you find helpful that aren’t on your list.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8876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3674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27073" y="217071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2.5.6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773" y="13886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673287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1513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1E4903-B78B-268F-3124-9FCB1EF9CC17}"/>
              </a:ext>
            </a:extLst>
          </p:cNvPr>
          <p:cNvSpPr txBox="1"/>
          <p:nvPr/>
        </p:nvSpPr>
        <p:spPr>
          <a:xfrm>
            <a:off x="1527073" y="1091736"/>
            <a:ext cx="8860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summary of what you learned in this lesson.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</TotalTime>
  <Words>756</Words>
  <Application>Microsoft Office PowerPoint</Application>
  <PresentationFormat>Widescreen</PresentationFormat>
  <Paragraphs>165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Calibri</vt:lpstr>
      <vt:lpstr>Cambria Math</vt:lpstr>
      <vt:lpstr>Century Gothic</vt:lpstr>
      <vt:lpstr>Times New Roman</vt:lpstr>
      <vt:lpstr>Verdana</vt:lpstr>
      <vt:lpstr>Wingdings</vt:lpstr>
      <vt:lpstr>1_Office Theme</vt:lpstr>
      <vt:lpstr>7th Grade Accelerated Math  Unit 2, Lesson 5  Rational and Irrational Numbers on the Number Line  Volume 1, pg. 87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Activity</vt:lpstr>
      <vt:lpstr>PowerPoint Presentation</vt:lpstr>
      <vt:lpstr>PowerPoint Presentation</vt:lpstr>
      <vt:lpstr>Bring It Together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Heather  Rideout</cp:lastModifiedBy>
  <cp:revision>39</cp:revision>
  <dcterms:created xsi:type="dcterms:W3CDTF">2015-03-17T18:51:18Z</dcterms:created>
  <dcterms:modified xsi:type="dcterms:W3CDTF">2023-01-30T14:22:57Z</dcterms:modified>
</cp:coreProperties>
</file>