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35" r:id="rId12"/>
    <p:sldId id="320" r:id="rId13"/>
    <p:sldId id="321" r:id="rId14"/>
    <p:sldId id="332" r:id="rId15"/>
    <p:sldId id="333" r:id="rId16"/>
    <p:sldId id="322" r:id="rId17"/>
    <p:sldId id="334" r:id="rId18"/>
    <p:sldId id="336" r:id="rId19"/>
    <p:sldId id="323" r:id="rId20"/>
    <p:sldId id="324" r:id="rId21"/>
    <p:sldId id="337" r:id="rId22"/>
    <p:sldId id="325" r:id="rId23"/>
    <p:sldId id="302" r:id="rId24"/>
    <p:sldId id="303" r:id="rId25"/>
    <p:sldId id="306" r:id="rId26"/>
    <p:sldId id="30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5" autoAdjust="0"/>
    <p:restoredTop sz="94694"/>
  </p:normalViewPr>
  <p:slideViewPr>
    <p:cSldViewPr snapToGrid="0">
      <p:cViewPr varScale="1">
        <p:scale>
          <a:sx n="83" d="100"/>
          <a:sy n="83" d="100"/>
        </p:scale>
        <p:origin x="62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84164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765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182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0360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793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167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26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5982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4949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3334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publicdomainpictures.net/view-image.php?image=28021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0.png"/><Relationship Id="rId10" Type="http://schemas.openxmlformats.org/officeDocument/2006/relationships/image" Target="../media/image10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Square Values and Square Roots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87950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50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1750" y="1600200"/>
                <a:ext cx="9387956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MA.8.NSO.1.1</a:t>
                </a:r>
              </a:p>
              <a:p>
                <a:pPr indent="0">
                  <a:buNone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Extend previous understanding of rational numbers to define irrational numbers within the real number system. Locate an approximate value of a numerical expression involving irrational numbers on a number line.</a:t>
                </a:r>
              </a:p>
              <a:p>
                <a:pPr indent="0">
                  <a:buNone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MA.8.AR.2.3</a:t>
                </a:r>
              </a:p>
              <a:p>
                <a:pPr indent="0">
                  <a:buNone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an equation in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𝑝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whole number and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𝑞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integer, determine the real solutions.</a:t>
                </a:r>
                <a:endParaRPr 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750" y="1600200"/>
                <a:ext cx="9387956" cy="4205700"/>
              </a:xfrm>
              <a:prstGeom prst="rect">
                <a:avLst/>
              </a:prstGeom>
              <a:blipFill rotWithShape="0">
                <a:blip r:embed="rId5"/>
                <a:stretch>
                  <a:fillRect l="-1039" b="-36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750" y="3850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703400" y="1423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816100" y="1596390"/>
            <a:ext cx="91475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01169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07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66307" y="1600200"/>
                <a:ext cx="9259386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determine the positive and negative solutions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a whole number.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use the vocabulary related to radicals.</a:t>
                </a: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endParaRPr lang="en-US" sz="35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630238" indent="-630238">
                  <a:buFont typeface="Wingdings" panose="05000000000000000000" pitchFamily="2" charset="2"/>
                  <a:buChar char="q"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interpret and evaluate a square root.</a:t>
                </a:r>
                <a:endParaRPr lang="en-US" sz="35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Verdana"/>
                </a:endParaRPr>
              </a:p>
            </p:txBody>
          </p:sp>
        </mc:Choice>
        <mc:Fallback xmlns="">
          <p:sp>
            <p:nvSpPr>
              <p:cNvPr id="14" name="Google Shape;302;g103996e1364_0_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307" y="1600200"/>
                <a:ext cx="9259386" cy="4205700"/>
              </a:xfrm>
              <a:prstGeom prst="rect">
                <a:avLst/>
              </a:prstGeom>
              <a:blipFill rotWithShape="0">
                <a:blip r:embed="rId4"/>
                <a:stretch>
                  <a:fillRect l="-1713" t="-2467" r="-2503" b="-216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10780" y="346941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2.2.1 Warm-Up: Estimation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480" y="26873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409700" y="1386025"/>
                <a:ext cx="879348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2006, scientists in North Wales found a deep-sea clam that was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 old. Deep-sea clams have the slowest growth rate, growing as little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8.4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millimeters (mm), or one-third inch,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years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00" y="1386025"/>
                <a:ext cx="8793480" cy="1569660"/>
              </a:xfrm>
              <a:prstGeom prst="rect">
                <a:avLst/>
              </a:prstGeom>
              <a:blipFill rotWithShape="0">
                <a:blip r:embed="rId4"/>
                <a:stretch>
                  <a:fillRect l="-1040" t="-3101" r="-485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A picture containing invertebrate, mollusk, mussel, clam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566950" y="3695006"/>
            <a:ext cx="3612515" cy="239268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92200" y="520393"/>
            <a:ext cx="101582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Estimate the clam’s size when the scientists found it in 2006. 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your reasoning for your estimation.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1950" y="-8226"/>
                <a:ext cx="8019300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2.2.2 Guided Instruction: Solving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26B6D4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3200" b="1" i="1">
                            <a:solidFill>
                              <a:srgbClr val="26B6D4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solidFill>
                              <a:srgbClr val="26B6D4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solidFill>
                          <a:srgbClr val="26B6D4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3200" b="1" i="1">
                        <a:solidFill>
                          <a:srgbClr val="26B6D4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𝒑</m:t>
                    </m:r>
                  </m:oMath>
                </a14:m>
                <a:endParaRPr lang="en-US" sz="3200" b="1" dirty="0">
                  <a:solidFill>
                    <a:srgbClr val="54B5D1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7" name="Google Shape;343;g103996e1364_0_3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950" y="-8226"/>
                <a:ext cx="8019300" cy="1325700"/>
              </a:xfrm>
              <a:prstGeom prst="rect">
                <a:avLst/>
              </a:prstGeom>
              <a:blipFill rotWithShape="0">
                <a:blip r:embed="rId3"/>
                <a:stretch>
                  <a:fillRect l="-1977" r="-608" b="-1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650" y="3009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384300" y="1386026"/>
                <a:ext cx="967943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value(s) make the equation true.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Show the solutions that satisfy the equation.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solutions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solution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lvl="1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00" y="1386026"/>
                <a:ext cx="9679432" cy="5262979"/>
              </a:xfrm>
              <a:prstGeom prst="rect">
                <a:avLst/>
              </a:prstGeom>
              <a:blipFill rotWithShape="0">
                <a:blip r:embed="rId5"/>
                <a:stretch>
                  <a:fillRect l="-945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5"/>
                <a:ext cx="103632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whole number, there are always two solutions, except in the case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For all other whole number values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there is one positive and one negative solution.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you think it is possible to find a solution to this equation.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5"/>
                <a:ext cx="10363200" cy="3785652"/>
              </a:xfrm>
              <a:prstGeom prst="rect">
                <a:avLst/>
              </a:prstGeom>
              <a:blipFill rotWithShape="0">
                <a:blip r:embed="rId3"/>
                <a:stretch>
                  <a:fillRect l="-882" t="-1449" r="-1941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932432" y="288746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Complete the statements.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837" y="1198183"/>
            <a:ext cx="1337234" cy="8587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03071" y="1396738"/>
            <a:ext cx="69803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real number that can be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806888" y="2179294"/>
                <a:ext cx="745268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multiplied by itself to result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Therefore,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887" y="2179293"/>
                <a:ext cx="7452681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1226" t="-11842" r="-245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806887" y="1396737"/>
            <a:ext cx="105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8925" y="2763295"/>
            <a:ext cx="7081886" cy="173456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2341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24;g103996e1364_0_25">
                <a:extLst>
                  <a:ext uri="{FF2B5EF4-FFF2-40B4-BE49-F238E27FC236}">
                    <a16:creationId xmlns:a16="http://schemas.microsoft.com/office/drawing/2014/main" id="{DB5796CA-12EB-BB4C-8338-B127D750A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2034" y="60325"/>
                <a:ext cx="8019300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200" b="1" dirty="0">
                    <a:solidFill>
                      <a:srgbClr val="33BEA6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2.2.3 Try It: Solving Equations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04BFA5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3200" b="1" i="1">
                            <a:solidFill>
                              <a:srgbClr val="04BFA5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solidFill>
                              <a:srgbClr val="04BFA5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solidFill>
                          <a:srgbClr val="04BFA5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en-US" sz="3200" b="1" i="1">
                        <a:solidFill>
                          <a:srgbClr val="04BFA5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𝒑</m:t>
                    </m:r>
                  </m:oMath>
                </a14:m>
                <a:endParaRPr lang="en-US" sz="3200" b="1" dirty="0">
                  <a:solidFill>
                    <a:srgbClr val="33BEA6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8" name="Google Shape;324;g103996e1364_0_2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B5796CA-12EB-BB4C-8338-B127D750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034" y="60325"/>
                <a:ext cx="8019300" cy="1325700"/>
              </a:xfrm>
              <a:prstGeom prst="rect">
                <a:avLst/>
              </a:prstGeom>
              <a:blipFill rotWithShape="0">
                <a:blip r:embed="rId3"/>
                <a:stretch>
                  <a:fillRect l="-1900" r="-76" b="-1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22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673020" y="1386025"/>
                <a:ext cx="9101992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Find the solution(s) for each equation. </a:t>
                </a:r>
              </a:p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pPr marL="358775" indent="-358775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2400" i="1" dirty="0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PH" sz="2400" i="1" dirty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=36</m:t>
                    </m:r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=144</m:t>
                    </m:r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358775" indent="-358775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49=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Verdana" pitchFamily="34" charset="0"/>
                  <a:ea typeface="Verdana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020" y="1386025"/>
                <a:ext cx="9101992" cy="4154984"/>
              </a:xfrm>
              <a:prstGeom prst="rect">
                <a:avLst/>
              </a:prstGeom>
              <a:blipFill rotWithShape="0">
                <a:blip r:embed="rId5"/>
                <a:stretch>
                  <a:fillRect l="-1004" t="-1173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F37EE21E-8B35-FE4A-9307-F19691384C89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5752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87950" y="-82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2.2.4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Square Roots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650" y="2809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384300" y="1386025"/>
                <a:ext cx="9679432" cy="4206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perfect square is the product that results from squaring a number. Squaring a number is multiplying it by itself. The inverse operation to squaring a number is taking its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root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symbol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called a </a:t>
                </a:r>
                <a:r>
                  <a:rPr lang="en-US" sz="2400" b="1" i="1" dirty="0">
                    <a:solidFill>
                      <a:srgbClr val="0070C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radical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It is used to represent a </a:t>
                </a:r>
                <a:r>
                  <a:rPr lang="en-US" sz="24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 root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value under the radical sign is called the </a:t>
                </a:r>
                <a:r>
                  <a:rPr lang="en-US" sz="2400" b="1" i="1" dirty="0">
                    <a:solidFill>
                      <a:srgbClr val="7030A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radicand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400" b="1" i="1" dirty="0">
                    <a:solidFill>
                      <a:srgbClr val="00B05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index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number outside the radical sign that indicates the root being taken.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00" y="1386025"/>
                <a:ext cx="9679432" cy="4206280"/>
              </a:xfrm>
              <a:prstGeom prst="rect">
                <a:avLst/>
              </a:prstGeom>
              <a:blipFill rotWithShape="0">
                <a:blip r:embed="rId4"/>
                <a:stretch>
                  <a:fillRect l="-945" t="-1159" r="-63" b="-2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6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1385167" y="349706"/>
            <a:ext cx="9421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this information to label the parts of a radical expression.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5401" y="1499711"/>
            <a:ext cx="4211384" cy="2545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460500" y="4974846"/>
                <a:ext cx="9421666" cy="8822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symbol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     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interpreted as the square root, unless an index other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indicated.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00" y="4974846"/>
                <a:ext cx="9421666" cy="882293"/>
              </a:xfrm>
              <a:prstGeom prst="rect">
                <a:avLst/>
              </a:prstGeom>
              <a:blipFill rotWithShape="0">
                <a:blip r:embed="rId4"/>
                <a:stretch>
                  <a:fillRect l="-1036" t="-53103" b="-2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65200" y="288746"/>
                <a:ext cx="10261600" cy="4928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equations shown.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016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equations show which values can be squared to result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Based on the information given about square roots, what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As explored in the previous lesson with the graph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every number has both a positive and negative square root, except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symbol is read, “plus or minus,” and is used in front of the radical to denote both roots.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288746"/>
                <a:ext cx="10261600" cy="4928465"/>
              </a:xfrm>
              <a:prstGeom prst="rect">
                <a:avLst/>
              </a:prstGeom>
              <a:blipFill rotWithShape="0">
                <a:blip r:embed="rId3"/>
                <a:stretch>
                  <a:fillRect l="-891" t="-989" b="-1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4154703"/>
                  </p:ext>
                </p:extLst>
              </p:nvPr>
            </p:nvGraphicFramePr>
            <p:xfrm>
              <a:off x="2532521" y="993483"/>
              <a:ext cx="6943090" cy="44427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427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(4)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(−4)</m:t>
                                    </m:r>
                                  </m:e>
                                  <m:sup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=16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4154703"/>
                  </p:ext>
                </p:extLst>
              </p:nvPr>
            </p:nvGraphicFramePr>
            <p:xfrm>
              <a:off x="1008521" y="993483"/>
              <a:ext cx="6943090" cy="44427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471545"/>
                    <a:gridCol w="3471545"/>
                  </a:tblGrid>
                  <a:tr h="4442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t="-1370" r="-100000" b="-232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100176" t="-1370" r="-176" b="-2328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231900" y="288746"/>
                <a:ext cx="9728200" cy="4784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each statement.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spcAft>
                    <a:spcPts val="6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because 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_____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= _____ and</a:t>
                </a:r>
              </a:p>
              <a:p>
                <a:pPr marL="3768725" indent="12700"/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= ________</a:t>
                </a:r>
              </a:p>
              <a:p>
                <a:pPr marL="803275" indent="-346075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3275" indent="-346075">
                  <a:spcAft>
                    <a:spcPts val="600"/>
                  </a:spcAft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121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i="1">
                        <a:latin typeface="Cambria Math"/>
                      </a:rPr>
                      <m:t> ______</m:t>
                    </m:r>
                  </m:oMath>
                </a14:m>
                <a:r>
                  <a:rPr lang="en-US" sz="2400" dirty="0"/>
                  <a:t> because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= ________</a:t>
                </a:r>
              </a:p>
              <a:p>
                <a:pPr marL="3683000"/>
                <a:r>
                  <a:rPr lang="en-US" sz="2400" dirty="0"/>
                  <a:t>and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× 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_____ = ________</a:t>
                </a:r>
              </a:p>
              <a:p>
                <a:pPr marL="622300" indent="-6223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there is not a real number equivalent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−81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900" y="288746"/>
                <a:ext cx="9728200" cy="4784323"/>
              </a:xfrm>
              <a:prstGeom prst="rect">
                <a:avLst/>
              </a:prstGeom>
              <a:blipFill rotWithShape="0">
                <a:blip r:embed="rId3"/>
                <a:stretch>
                  <a:fillRect l="-940" t="-1019" r="-877" b="-1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5071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87950" y="-2867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2.2.5 Guided Practice: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Squares and Square Roots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8142" y="2592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181100" y="1386026"/>
            <a:ext cx="100858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Xavier completed two problems as shown.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Xavier’s answers with your partner.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516" y="2000222"/>
            <a:ext cx="6852522" cy="2849207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932432" y="288746"/>
            <a:ext cx="8327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804863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328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Xavier answered                      correctly.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-12081" y="3329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353" y="783753"/>
            <a:ext cx="2220347" cy="8881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8608" y="1721665"/>
            <a:ext cx="2781491" cy="8194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593027" y="1879330"/>
                <a:ext cx="631545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027" y="1879329"/>
                <a:ext cx="6315456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1544" t="-11842" b="-276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282" y="2606502"/>
            <a:ext cx="2526221" cy="8398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835930" y="2773932"/>
            <a:ext cx="23663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because there</a:t>
            </a:r>
            <a:endParaRPr lang="en-US" sz="2400" dirty="0"/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7728502" y="2771929"/>
            <a:ext cx="29241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make(s) the 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835929" y="3268269"/>
                <a:ext cx="7918336" cy="3124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equation true. When finding the value of a square root, consider what value can be multiplied by itself to result in the radicand. Therefore,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25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929" y="3268269"/>
                <a:ext cx="7918336" cy="3124060"/>
              </a:xfrm>
              <a:prstGeom prst="rect">
                <a:avLst/>
              </a:prstGeom>
              <a:blipFill rotWithShape="1">
                <a:blip r:embed="rId8"/>
                <a:stretch>
                  <a:fillRect l="-1155" r="-184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2029579" y="1951067"/>
            <a:ext cx="1879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9300" indent="555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8225" y="5383901"/>
            <a:ext cx="1113950" cy="1273874"/>
          </a:xfrm>
          <a:prstGeom prst="rect">
            <a:avLst/>
          </a:prstGeom>
        </p:spPr>
      </p:pic>
      <p:sp>
        <p:nvSpPr>
          <p:cNvPr id="20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1557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673020" y="386282"/>
            <a:ext cx="8845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of the following.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5646815"/>
                  </p:ext>
                </p:extLst>
              </p:nvPr>
            </p:nvGraphicFramePr>
            <p:xfrm>
              <a:off x="2396681" y="984017"/>
              <a:ext cx="6033812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338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pPr marL="358775" marR="0" indent="-35877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81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225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d.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−64</m:t>
                                  </m:r>
                                </m:e>
                              </m:ra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</m:oMath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b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5646815"/>
                  </p:ext>
                </p:extLst>
              </p:nvPr>
            </p:nvGraphicFramePr>
            <p:xfrm>
              <a:off x="872681" y="984017"/>
              <a:ext cx="6033812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3600000"/>
                    <a:gridCol w="2433812"/>
                  </a:tblGrid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4"/>
                          <a:stretch>
                            <a:fillRect t="-5618" r="-67513" b="-116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4"/>
                          <a:stretch>
                            <a:fillRect l="-148120" t="-5618" b="-116292"/>
                          </a:stretch>
                        </a:blipFill>
                      </a:tcPr>
                    </a:tc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 rotWithShape="1">
                          <a:blip r:embed="rId4"/>
                          <a:stretch>
                            <a:fillRect t="-106215" r="-67513" b="-16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blipFill rotWithShape="1">
                          <a:blip r:embed="rId4"/>
                          <a:stretch>
                            <a:fillRect l="-148120" t="-106215" b="-1694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1811173" y="3860329"/>
            <a:ext cx="41349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Solve each equation.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76307" y="4462585"/>
                <a:ext cx="2104365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8775" indent="-3587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=169</m:t>
                    </m:r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358775" indent="-3587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225=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06" y="4462585"/>
                <a:ext cx="2104365" cy="1569660"/>
              </a:xfrm>
              <a:prstGeom prst="rect">
                <a:avLst/>
              </a:prstGeom>
              <a:blipFill rotWithShape="1">
                <a:blip r:embed="rId5"/>
                <a:stretch>
                  <a:fillRect l="-4638" t="-3488" b="-736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83807" y="962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2.2.6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469" y="10002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422769" y="1386025"/>
            <a:ext cx="96024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of the following.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each equation.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134A47CD-5DBB-654A-843E-9182A1B8FB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485784"/>
                  </p:ext>
                </p:extLst>
              </p:nvPr>
            </p:nvGraphicFramePr>
            <p:xfrm>
              <a:off x="2544564" y="2173593"/>
              <a:ext cx="6648000" cy="648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48690">
                    <a:tc>
                      <a:txBody>
                        <a:bodyPr/>
                        <a:lstStyle/>
                        <a:p>
                          <a:pPr marL="358775" indent="-358775">
                            <a:buFont typeface="+mj-lt"/>
                            <a:buAutoNum type="alphaLcPeriod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49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US" sz="2400" i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58775" indent="-358775">
                            <a:buFont typeface="+mj-lt"/>
                            <a:buAutoNum type="alphaLcPeriod" startAt="2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196</m:t>
                                  </m:r>
                                </m:e>
                              </m:rad>
                              <m:r>
                                <a:rPr lang="en-PH" sz="24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485784"/>
                  </p:ext>
                </p:extLst>
              </p:nvPr>
            </p:nvGraphicFramePr>
            <p:xfrm>
              <a:off x="1020564" y="2173593"/>
              <a:ext cx="6648000" cy="6486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00000"/>
                    <a:gridCol w="3048000"/>
                  </a:tblGrid>
                  <a:tr h="6486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t="-2830" r="-84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18200" t="-283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85162" y="4212342"/>
                <a:ext cx="4572000" cy="1569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742950" lvl="1" indent="-2857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=4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742950" lvl="1" indent="-28575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121=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62" y="4212342"/>
                <a:ext cx="4572000" cy="1569660"/>
              </a:xfrm>
              <a:prstGeom prst="rect">
                <a:avLst/>
              </a:prstGeom>
              <a:blipFill rotWithShape="1">
                <a:blip r:embed="rId6"/>
                <a:stretch>
                  <a:fillRect t="-3502" b="-778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59000" y="24013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550" y="1619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43000" y="1386026"/>
            <a:ext cx="92445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statements to complete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as you reflect on today’s lesson.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that made the most sense to me today was … 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that I just don’t understand is … 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I learned today was …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I still wonder about is … 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thing I noticed about square roots is …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117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9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1103</Words>
  <Application>Microsoft Office PowerPoint</Application>
  <PresentationFormat>Widescreen</PresentationFormat>
  <Paragraphs>211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Wingdings</vt:lpstr>
      <vt:lpstr>1_Office Theme</vt:lpstr>
      <vt:lpstr>7th Grade Accelerated Math  Unit 2, Lesson 2  Square Values and Square Roots  Volume 1, pg. 68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42</cp:revision>
  <dcterms:created xsi:type="dcterms:W3CDTF">2015-03-17T18:51:18Z</dcterms:created>
  <dcterms:modified xsi:type="dcterms:W3CDTF">2022-06-30T03:45:29Z</dcterms:modified>
</cp:coreProperties>
</file>