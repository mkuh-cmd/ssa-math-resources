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93" r:id="rId12"/>
    <p:sldId id="294" r:id="rId13"/>
    <p:sldId id="295" r:id="rId14"/>
    <p:sldId id="284" r:id="rId15"/>
    <p:sldId id="285" r:id="rId16"/>
    <p:sldId id="286" r:id="rId17"/>
    <p:sldId id="287" r:id="rId18"/>
    <p:sldId id="288" r:id="rId19"/>
    <p:sldId id="290" r:id="rId20"/>
    <p:sldId id="29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69"/>
    <p:restoredTop sz="94830"/>
  </p:normalViewPr>
  <p:slideViewPr>
    <p:cSldViewPr snapToGrid="0">
      <p:cViewPr varScale="1">
        <p:scale>
          <a:sx n="121" d="100"/>
          <a:sy n="121" d="100"/>
        </p:scale>
        <p:origin x="328"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5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567963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1883153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3907905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commons.wikimedia.org/wiki/File:Mary_McLeod_Bethune_(1949).jpg" TargetMode="Externa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1, Lesson 7</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Writing and Solving Equations </a:t>
            </a:r>
            <a:r>
              <a:rPr lang="en-US" sz="3600" b="1">
                <a:solidFill>
                  <a:srgbClr val="417DBF"/>
                </a:solidFill>
                <a:latin typeface="Verdana"/>
                <a:ea typeface="Verdana"/>
                <a:cs typeface="Verdana"/>
                <a:sym typeface="Verdana"/>
              </a:rPr>
              <a:t>in Real-World </a:t>
            </a:r>
            <a:r>
              <a:rPr lang="en-US" sz="3600" b="1" dirty="0">
                <a:solidFill>
                  <a:srgbClr val="417DBF"/>
                </a:solidFill>
                <a:latin typeface="Verdana"/>
                <a:ea typeface="Verdana"/>
                <a:cs typeface="Verdana"/>
                <a:sym typeface="Verdana"/>
              </a:rPr>
              <a:t>Context</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41</a:t>
            </a:r>
            <a:endParaRPr sz="3200" dirty="0"/>
          </a:p>
          <a:p>
            <a:pPr algn="ctr">
              <a:lnSpc>
                <a:spcPct val="100000"/>
              </a:lnSpc>
              <a:buClr>
                <a:srgbClr val="000000"/>
              </a:buClr>
            </a:pPr>
            <a:endParaRPr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745080"/>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26461"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902961"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68582" y="1600200"/>
            <a:ext cx="9254836"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MA.7.AR.2.2</a:t>
            </a:r>
            <a:endParaRPr sz="32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solidFill>
                  <a:schemeClr val="dk1"/>
                </a:solidFill>
                <a:latin typeface="Verdana"/>
                <a:ea typeface="Verdana"/>
                <a:cs typeface="Verdana"/>
                <a:sym typeface="Verdana"/>
              </a:rPr>
              <a:t>Write and solve two-step equations in one variable within a mathematical context or real-world context, where all terms are rational numbers.</a:t>
            </a:r>
            <a:endParaRPr sz="20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839496" y="481762"/>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664146" y="239129"/>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64146" y="1596390"/>
            <a:ext cx="9451528"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MA.K12.MTR.3.1 Complete tasks with mathematical fluency.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MA.K12.MTR.6.1 Assess the reasonableness of solutions.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MA.K12.MTR.7.1 Apply mathematics to real-world contexts.</a:t>
            </a:r>
            <a:endParaRPr sz="1800" dirty="0">
              <a:solidFill>
                <a:schemeClr val="dk1"/>
              </a:solidFill>
              <a:latin typeface="Verdana"/>
              <a:ea typeface="Verdana"/>
              <a:cs typeface="Verdana"/>
              <a:sym typeface="Verdana"/>
            </a:endParaRPr>
          </a:p>
        </p:txBody>
      </p:sp>
      <p:sp>
        <p:nvSpPr>
          <p:cNvPr id="138" name="Google Shape;138;p1"/>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481542" y="-51387"/>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699380" y="237813"/>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81542" y="1600200"/>
            <a:ext cx="9228916"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write two-step equations to represent real-world contexts.</a:t>
            </a:r>
          </a:p>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solve two-step equations within a real-world context.</a:t>
            </a:r>
          </a:p>
          <a:p>
            <a:pPr marL="457200" indent="-450850">
              <a:buClr>
                <a:srgbClr val="434343"/>
              </a:buClr>
              <a:buSzPts val="3500"/>
              <a:buFont typeface="Verdana"/>
              <a:buChar char="❏"/>
            </a:pPr>
            <a:endParaRPr lang="en-US" sz="3200" dirty="0">
              <a:solidFill>
                <a:schemeClr val="dk1"/>
              </a:solidFill>
              <a:latin typeface="Verdana"/>
              <a:ea typeface="Verdana"/>
              <a:cs typeface="Verdana"/>
              <a:sym typeface="Verdana"/>
            </a:endParaRPr>
          </a:p>
        </p:txBody>
      </p:sp>
      <p:sp>
        <p:nvSpPr>
          <p:cNvPr id="149" name="Google Shape;149;p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72499" y="-25367"/>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F2A67"/>
                </a:solidFill>
                <a:latin typeface="Verdana"/>
                <a:ea typeface="Verdana"/>
                <a:cs typeface="Verdana"/>
                <a:sym typeface="Verdana"/>
              </a:rPr>
              <a:t>1.7.1 Warm-Up: Bell Work</a:t>
            </a:r>
            <a:endParaRPr sz="1100" dirty="0"/>
          </a:p>
        </p:txBody>
      </p:sp>
      <p:pic>
        <p:nvPicPr>
          <p:cNvPr id="167" name="Google Shape;167;p4"/>
          <p:cNvPicPr preferRelativeResize="0"/>
          <p:nvPr/>
        </p:nvPicPr>
        <p:blipFill rotWithShape="1">
          <a:blip r:embed="rId3">
            <a:alphaModFix/>
          </a:blip>
          <a:srcRect/>
          <a:stretch/>
        </p:blipFill>
        <p:spPr>
          <a:xfrm>
            <a:off x="647523" y="228562"/>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94824" y="1378131"/>
            <a:ext cx="6066206" cy="3785611"/>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Mary McLeod Bethune was an educator, civil rights activist, and advisor to five U.S. presidents. She turned her passion for the U.S. making racial progress into founding the Daytona Literacy and Industrial Training School for Negro Girls in 1904. Twenty years later, the school would merge with Cookman Institute of Jacksonville to create what is known today as Bethune-Cookman University, a Historically Black College University (HBCU). Mary McLeod Bethune was president of the university until 1942. </a:t>
            </a:r>
            <a:endParaRPr sz="1200" dirty="0"/>
          </a:p>
        </p:txBody>
      </p:sp>
      <p:sp>
        <p:nvSpPr>
          <p:cNvPr id="170" name="Google Shape;170;p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Picture 7">
            <a:extLst>
              <a:ext uri="{FF2B5EF4-FFF2-40B4-BE49-F238E27FC236}">
                <a16:creationId xmlns:a16="http://schemas.microsoft.com/office/drawing/2014/main" id="{0595A7A8-D876-0544-82D2-E17FEDB70B2D}"/>
              </a:ext>
            </a:extLst>
          </p:cNvPr>
          <p:cNvPicPr>
            <a:picLocks noChangeAspect="1"/>
          </p:cNvPicPr>
          <p:nvPr/>
        </p:nvPicPr>
        <p:blipFill>
          <a:blip r:embed="rId4">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7721022" y="1873274"/>
            <a:ext cx="2584967" cy="3103103"/>
          </a:xfrm>
          <a:prstGeom prst="rect">
            <a:avLst/>
          </a:prstGeom>
        </p:spPr>
      </p:pic>
      <p:sp>
        <p:nvSpPr>
          <p:cNvPr id="10"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8" name="Google Shape;178;p5"/>
              <p:cNvSpPr txBox="1"/>
              <p:nvPr/>
            </p:nvSpPr>
            <p:spPr>
              <a:xfrm>
                <a:off x="1108364" y="520394"/>
                <a:ext cx="10125938" cy="3914877"/>
              </a:xfrm>
              <a:prstGeom prst="rect">
                <a:avLst/>
              </a:prstGeom>
              <a:noFill/>
              <a:ln>
                <a:noFill/>
              </a:ln>
            </p:spPr>
            <p:txBody>
              <a:bodyPr spcFirstLastPara="1" wrap="square" lIns="91425" tIns="45700" rIns="91425" bIns="45700" anchor="t" anchorCtr="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2021, there were </a:t>
                </a:r>
                <a14:m>
                  <m:oMath xmlns:m="http://schemas.openxmlformats.org/officeDocument/2006/math">
                    <m:r>
                      <a:rPr lang="en-US" sz="2000" i="1">
                        <a:latin typeface="Cambria Math" panose="02040503050406030204" pitchFamily="18" charset="0"/>
                        <a:ea typeface="Arial" panose="020B0604020202020204" pitchFamily="34" charset="0"/>
                        <a:cs typeface="Arial" panose="020B0604020202020204" pitchFamily="34" charset="0"/>
                      </a:rPr>
                      <m:t>3,773</m:t>
                    </m:r>
                  </m:oMath>
                </a14:m>
                <a:r>
                  <a:rPr lang="en-US" sz="2000" dirty="0">
                    <a:latin typeface="Verdana" panose="020B0604030504040204" pitchFamily="34" charset="0"/>
                    <a:ea typeface="Verdana" panose="020B0604030504040204" pitchFamily="34" charset="0"/>
                    <a:cs typeface="Verdana" panose="020B0604030504040204" pitchFamily="34" charset="0"/>
                  </a:rPr>
                  <a:t> students enrolled at Bethune-Cookman University, which is </a:t>
                </a:r>
                <a14:m>
                  <m:oMath xmlns:m="http://schemas.openxmlformats.org/officeDocument/2006/math">
                    <m:r>
                      <a:rPr lang="en-US" sz="2000" i="1">
                        <a:latin typeface="Cambria Math" panose="02040503050406030204" pitchFamily="18" charset="0"/>
                        <a:ea typeface="Arial" panose="020B0604020202020204" pitchFamily="34" charset="0"/>
                        <a:cs typeface="Arial" panose="020B0604020202020204" pitchFamily="34" charset="0"/>
                      </a:rPr>
                      <m:t>3,648</m:t>
                    </m:r>
                  </m:oMath>
                </a14:m>
                <a:r>
                  <a:rPr lang="en-US" sz="2000" dirty="0">
                    <a:latin typeface="Verdana" panose="020B0604030504040204" pitchFamily="34" charset="0"/>
                    <a:ea typeface="Verdana" panose="020B0604030504040204" pitchFamily="34" charset="0"/>
                    <a:cs typeface="Verdana" panose="020B0604030504040204" pitchFamily="34" charset="0"/>
                  </a:rPr>
                  <a:t> more than </a:t>
                </a:r>
                <a14:m>
                  <m:oMath xmlns:m="http://schemas.openxmlformats.org/officeDocument/2006/math">
                    <m:r>
                      <a:rPr lang="en-US" sz="2000" i="1">
                        <a:latin typeface="Cambria Math" panose="02040503050406030204" pitchFamily="18" charset="0"/>
                        <a:ea typeface="Arial" panose="020B0604020202020204" pitchFamily="34" charset="0"/>
                        <a:cs typeface="Arial" panose="020B0604020202020204" pitchFamily="34"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times the number of students enrolled in 1904.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695325" indent="-347663">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an equation that could be used to find the number of students enrolled in 1904, </a:t>
                </a:r>
                <a14:m>
                  <m:oMath xmlns:m="http://schemas.openxmlformats.org/officeDocument/2006/math">
                    <m:r>
                      <a:rPr lang="en-US" sz="2000" i="1">
                        <a:latin typeface="Cambria Math" panose="02040503050406030204" pitchFamily="18" charset="0"/>
                        <a:ea typeface="Arial" panose="020B0604020202020204" pitchFamily="34" charset="0"/>
                        <a:cs typeface="Arial" panose="020B0604020202020204" pitchFamily="34"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347663">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b. Solve your equation.</a:t>
                </a:r>
              </a:p>
            </p:txBody>
          </p:sp>
        </mc:Choice>
        <mc:Fallback xmlns="">
          <p:sp>
            <p:nvSpPr>
              <p:cNvPr id="178" name="Google Shape;178;p5"/>
              <p:cNvSpPr txBox="1">
                <a:spLocks noRot="1" noChangeAspect="1" noMove="1" noResize="1" noEditPoints="1" noAdjustHandles="1" noChangeArrowheads="1" noChangeShapeType="1" noTextEdit="1"/>
              </p:cNvSpPr>
              <p:nvPr/>
            </p:nvSpPr>
            <p:spPr>
              <a:xfrm>
                <a:off x="1108364" y="520394"/>
                <a:ext cx="10125938" cy="3914877"/>
              </a:xfrm>
              <a:prstGeom prst="rect">
                <a:avLst/>
              </a:prstGeom>
              <a:blipFill rotWithShape="0">
                <a:blip r:embed="rId3"/>
                <a:stretch>
                  <a:fillRect l="-662" t="-1089" b="-1089"/>
                </a:stretch>
              </a:blipFill>
              <a:ln>
                <a:noFill/>
              </a:ln>
            </p:spPr>
            <p:txBody>
              <a:bodyPr/>
              <a:lstStyle/>
              <a:p>
                <a:r>
                  <a:rPr lang="en-US">
                    <a:noFill/>
                  </a:rPr>
                  <a:t> </a:t>
                </a:r>
              </a:p>
            </p:txBody>
          </p:sp>
        </mc:Fallback>
      </mc:AlternateContent>
      <p:sp>
        <p:nvSpPr>
          <p:cNvPr id="179" name="Google Shape;179;p5"/>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42</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32406" y="0"/>
            <a:ext cx="9387993"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1.7.2 Collaboration: Writing and Solving Equations in Real-World Contexts </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82599" y="287946"/>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199" name="Google Shape;199;p7"/>
              <p:cNvSpPr txBox="1"/>
              <p:nvPr/>
            </p:nvSpPr>
            <p:spPr>
              <a:xfrm>
                <a:off x="1432405" y="1238808"/>
                <a:ext cx="9444382" cy="2246729"/>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or small group to complete the table for each real-world context.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Peyton was given a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$40</m:t>
                    </m:r>
                  </m:oMath>
                </a14:m>
                <a:r>
                  <a:rPr lang="en-US" sz="2000" dirty="0">
                    <a:latin typeface="Verdana" panose="020B0604030504040204" pitchFamily="34" charset="0"/>
                    <a:ea typeface="Verdana" panose="020B0604030504040204" pitchFamily="34" charset="0"/>
                    <a:cs typeface="Verdana" panose="020B0604030504040204" pitchFamily="34" charset="0"/>
                  </a:rPr>
                  <a:t> gift card to her local coffee shop. She went to the coffee shop </a:t>
                </a:r>
                <a14:m>
                  <m:oMath xmlns:m="http://schemas.openxmlformats.org/officeDocument/2006/math">
                    <m:r>
                      <a:rPr lang="en-US" sz="2000" b="0" i="1" dirty="0" smtClean="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times and purchased the same thing each time. If she has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$7.08</m:t>
                    </m:r>
                  </m:oMath>
                </a14:m>
                <a:r>
                  <a:rPr lang="en-US" sz="2000" dirty="0">
                    <a:latin typeface="Verdana" panose="020B0604030504040204" pitchFamily="34" charset="0"/>
                    <a:ea typeface="Verdana" panose="020B0604030504040204" pitchFamily="34" charset="0"/>
                    <a:cs typeface="Verdana" panose="020B0604030504040204" pitchFamily="34" charset="0"/>
                  </a:rPr>
                  <a:t> left on her gift card, what was the cost of her purchase each time she went to the coffee shop?</a:t>
                </a:r>
              </a:p>
            </p:txBody>
          </p:sp>
        </mc:Choice>
        <mc:Fallback>
          <p:sp>
            <p:nvSpPr>
              <p:cNvPr id="199" name="Google Shape;199;p7"/>
              <p:cNvSpPr txBox="1">
                <a:spLocks noRot="1" noChangeAspect="1" noMove="1" noResize="1" noEditPoints="1" noAdjustHandles="1" noChangeArrowheads="1" noChangeShapeType="1" noTextEdit="1"/>
              </p:cNvSpPr>
              <p:nvPr/>
            </p:nvSpPr>
            <p:spPr>
              <a:xfrm>
                <a:off x="1432405" y="1238808"/>
                <a:ext cx="9444382" cy="2246729"/>
              </a:xfrm>
              <a:prstGeom prst="rect">
                <a:avLst/>
              </a:prstGeom>
              <a:blipFill>
                <a:blip r:embed="rId4"/>
                <a:stretch>
                  <a:fillRect l="-671" t="-1124" r="-1342" b="-3933"/>
                </a:stretch>
              </a:blipFill>
              <a:ln>
                <a:noFill/>
              </a:ln>
            </p:spPr>
            <p:txBody>
              <a:bodyPr/>
              <a:lstStyle/>
              <a:p>
                <a:r>
                  <a:rPr lang="en-US">
                    <a:noFill/>
                  </a:rPr>
                  <a:t> </a:t>
                </a:r>
              </a:p>
            </p:txBody>
          </p:sp>
        </mc:Fallback>
      </mc:AlternateContent>
      <p:sp>
        <p:nvSpPr>
          <p:cNvPr id="200" name="Google Shape;200;p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3" name="Table 2">
            <a:extLst>
              <a:ext uri="{FF2B5EF4-FFF2-40B4-BE49-F238E27FC236}">
                <a16:creationId xmlns:a16="http://schemas.microsoft.com/office/drawing/2014/main" id="{8F7A35CC-A6E9-A943-80CA-CCF99F9B6661}"/>
              </a:ext>
            </a:extLst>
          </p:cNvPr>
          <p:cNvGraphicFramePr>
            <a:graphicFrameLocks noGrp="1"/>
          </p:cNvGraphicFramePr>
          <p:nvPr>
            <p:extLst>
              <p:ext uri="{D42A27DB-BD31-4B8C-83A1-F6EECF244321}">
                <p14:modId xmlns:p14="http://schemas.microsoft.com/office/powerpoint/2010/main" val="3236718893"/>
              </p:ext>
            </p:extLst>
          </p:nvPr>
        </p:nvGraphicFramePr>
        <p:xfrm>
          <a:off x="2382012" y="3465690"/>
          <a:ext cx="7190966" cy="3059289"/>
        </p:xfrm>
        <a:graphic>
          <a:graphicData uri="http://schemas.openxmlformats.org/drawingml/2006/table">
            <a:tbl>
              <a:tblPr bandRow="1"/>
              <a:tblGrid>
                <a:gridCol w="3777658">
                  <a:extLst>
                    <a:ext uri="{9D8B030D-6E8A-4147-A177-3AD203B41FA5}">
                      <a16:colId xmlns:a16="http://schemas.microsoft.com/office/drawing/2014/main" val="133920286"/>
                    </a:ext>
                  </a:extLst>
                </a:gridCol>
                <a:gridCol w="3413308">
                  <a:extLst>
                    <a:ext uri="{9D8B030D-6E8A-4147-A177-3AD203B41FA5}">
                      <a16:colId xmlns:a16="http://schemas.microsoft.com/office/drawing/2014/main" val="323649312"/>
                    </a:ext>
                  </a:extLst>
                </a:gridCol>
              </a:tblGrid>
              <a:tr h="485180">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Define the variable.</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970921"/>
                  </a:ext>
                </a:extLst>
              </a:tr>
              <a:tr h="686223">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Write an equation that can be used to answer the question.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438861"/>
                  </a:ext>
                </a:extLst>
              </a:tr>
              <a:tr h="1050109">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Solve the equation.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203920"/>
                  </a:ext>
                </a:extLst>
              </a:tr>
              <a:tr h="464324">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 the meaning of the solution.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051114"/>
                  </a:ext>
                </a:extLst>
              </a:tr>
            </a:tbl>
          </a:graphicData>
        </a:graphic>
      </p:graphicFrame>
      <p:sp>
        <p:nvSpPr>
          <p:cNvPr id="9"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42</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233055" y="410665"/>
                <a:ext cx="9876556" cy="1631175"/>
              </a:xfrm>
              <a:prstGeom prst="rect">
                <a:avLst/>
              </a:prstGeom>
              <a:noFill/>
              <a:ln>
                <a:noFill/>
              </a:ln>
            </p:spPr>
            <p:txBody>
              <a:bodyPr spcFirstLastPara="1" wrap="square" lIns="91425" tIns="45700" rIns="91425" bIns="45700" anchor="t" anchorCtr="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2. Florida Power and Light (FPL) charges customers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22.358 </m:t>
                    </m:r>
                  </m:oMath>
                </a14:m>
                <a:r>
                  <a:rPr lang="en-US" sz="2000" dirty="0">
                    <a:latin typeface="Verdana" panose="020B0604030504040204" pitchFamily="34" charset="0"/>
                    <a:ea typeface="Verdana" panose="020B0604030504040204" pitchFamily="34" charset="0"/>
                    <a:cs typeface="Verdana" panose="020B0604030504040204" pitchFamily="34" charset="0"/>
                  </a:rPr>
                  <a:t>cents per kilowatt-hour of electricity used each month. Monthly charges to customers also include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$18.75 </m:t>
                    </m:r>
                  </m:oMath>
                </a14:m>
                <a:r>
                  <a:rPr lang="en-US" sz="2000" dirty="0">
                    <a:latin typeface="Verdana" panose="020B0604030504040204" pitchFamily="34" charset="0"/>
                    <a:ea typeface="Verdana" panose="020B0604030504040204" pitchFamily="34" charset="0"/>
                    <a:cs typeface="Verdana" panose="020B0604030504040204" pitchFamily="34" charset="0"/>
                  </a:rPr>
                  <a:t>per month for service. If a customer receives a bill for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$237.86</m:t>
                    </m:r>
                  </m:oMath>
                </a14:m>
                <a:r>
                  <a:rPr lang="en-US" sz="2000" dirty="0">
                    <a:latin typeface="Verdana" panose="020B0604030504040204" pitchFamily="34" charset="0"/>
                    <a:ea typeface="Verdana" panose="020B0604030504040204" pitchFamily="34" charset="0"/>
                    <a:cs typeface="Verdana" panose="020B0604030504040204" pitchFamily="34" charset="0"/>
                  </a:rPr>
                  <a:t>, how many kilowatt-hours were used during the month? Round your answer to nearest tenth.</a:t>
                </a:r>
                <a:endParaRPr lang="en-US" dirty="0">
                  <a:latin typeface="Times New Roman" panose="02020603050405020304" pitchFamily="18" charset="0"/>
                  <a:ea typeface="Times New Roman" panose="02020603050405020304" pitchFamily="18"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33055" y="410665"/>
                <a:ext cx="9876556" cy="1631175"/>
              </a:xfrm>
              <a:prstGeom prst="rect">
                <a:avLst/>
              </a:prstGeom>
              <a:blipFill rotWithShape="0">
                <a:blip r:embed="rId3"/>
                <a:stretch>
                  <a:fillRect l="-617" t="-23507" b="-5224"/>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id="{F4625D65-4886-114D-A87C-8E22FBF30FD2}"/>
              </a:ext>
            </a:extLst>
          </p:cNvPr>
          <p:cNvGraphicFramePr>
            <a:graphicFrameLocks noGrp="1"/>
          </p:cNvGraphicFramePr>
          <p:nvPr>
            <p:extLst>
              <p:ext uri="{D42A27DB-BD31-4B8C-83A1-F6EECF244321}">
                <p14:modId xmlns:p14="http://schemas.microsoft.com/office/powerpoint/2010/main" val="3007000609"/>
              </p:ext>
            </p:extLst>
          </p:nvPr>
        </p:nvGraphicFramePr>
        <p:xfrm>
          <a:off x="2429948" y="2540000"/>
          <a:ext cx="7332105" cy="3660601"/>
        </p:xfrm>
        <a:graphic>
          <a:graphicData uri="http://schemas.openxmlformats.org/drawingml/2006/table">
            <a:tbl>
              <a:tblPr bandRow="1"/>
              <a:tblGrid>
                <a:gridCol w="3851803">
                  <a:extLst>
                    <a:ext uri="{9D8B030D-6E8A-4147-A177-3AD203B41FA5}">
                      <a16:colId xmlns:a16="http://schemas.microsoft.com/office/drawing/2014/main" val="133920286"/>
                    </a:ext>
                  </a:extLst>
                </a:gridCol>
                <a:gridCol w="3480302">
                  <a:extLst>
                    <a:ext uri="{9D8B030D-6E8A-4147-A177-3AD203B41FA5}">
                      <a16:colId xmlns:a16="http://schemas.microsoft.com/office/drawing/2014/main" val="323649312"/>
                    </a:ext>
                  </a:extLst>
                </a:gridCol>
              </a:tblGrid>
              <a:tr h="560230">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Define the variable.</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970921"/>
                  </a:ext>
                </a:extLst>
              </a:tr>
              <a:tr h="1055844">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Write an equation that can be used to answer the question.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438861"/>
                  </a:ext>
                </a:extLst>
              </a:tr>
              <a:tr h="1340631">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Solve the equation.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203920"/>
                  </a:ext>
                </a:extLst>
              </a:tr>
              <a:tr h="703896">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 the meaning of the solution.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051114"/>
                  </a:ext>
                </a:extLst>
              </a:tr>
            </a:tbl>
          </a:graphicData>
        </a:graphic>
      </p:graphicFrame>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191491" y="410666"/>
                <a:ext cx="9959684" cy="1452345"/>
              </a:xfrm>
              <a:prstGeom prst="rect">
                <a:avLst/>
              </a:prstGeom>
              <a:noFill/>
              <a:ln>
                <a:noFill/>
              </a:ln>
            </p:spPr>
            <p:txBody>
              <a:bodyPr spcFirstLastPara="1" wrap="square" lIns="91425" tIns="45700" rIns="91425" bIns="45700" anchor="t" anchorCtr="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3. Kai is making ham and cheese sandwiches for an upcoming camping trip with his family. He uses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latin typeface="Cambria Math" panose="02040503050406030204" pitchFamily="18" charset="0"/>
                            <a:ea typeface="Cambria Math" panose="02040503050406030204" pitchFamily="18" charset="0"/>
                            <a:cs typeface="Cambria Math" panose="02040503050406030204" pitchFamily="18"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pound of cheese for each sandwich. He has a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-pound block of cheese and needs to use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pounds of it for a different recipe. How many ham and cheese sandwiches will he be able to make?</a:t>
                </a:r>
                <a:endParaRPr lang="en-US" dirty="0">
                  <a:latin typeface="Times New Roman" panose="02020603050405020304" pitchFamily="18" charset="0"/>
                  <a:ea typeface="Times New Roman" panose="02020603050405020304" pitchFamily="18"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191491" y="410666"/>
                <a:ext cx="9959684" cy="1452345"/>
              </a:xfrm>
              <a:prstGeom prst="rect">
                <a:avLst/>
              </a:prstGeom>
              <a:blipFill rotWithShape="0">
                <a:blip r:embed="rId3"/>
                <a:stretch>
                  <a:fillRect l="-612" t="-2092" r="-1163" b="-5858"/>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id="{F4625D65-4886-114D-A87C-8E22FBF30FD2}"/>
              </a:ext>
            </a:extLst>
          </p:cNvPr>
          <p:cNvGraphicFramePr>
            <a:graphicFrameLocks noGrp="1"/>
          </p:cNvGraphicFramePr>
          <p:nvPr/>
        </p:nvGraphicFramePr>
        <p:xfrm>
          <a:off x="2429948" y="2540000"/>
          <a:ext cx="7332105" cy="3660601"/>
        </p:xfrm>
        <a:graphic>
          <a:graphicData uri="http://schemas.openxmlformats.org/drawingml/2006/table">
            <a:tbl>
              <a:tblPr bandRow="1"/>
              <a:tblGrid>
                <a:gridCol w="3851803">
                  <a:extLst>
                    <a:ext uri="{9D8B030D-6E8A-4147-A177-3AD203B41FA5}">
                      <a16:colId xmlns:a16="http://schemas.microsoft.com/office/drawing/2014/main" val="133920286"/>
                    </a:ext>
                  </a:extLst>
                </a:gridCol>
                <a:gridCol w="3480302">
                  <a:extLst>
                    <a:ext uri="{9D8B030D-6E8A-4147-A177-3AD203B41FA5}">
                      <a16:colId xmlns:a16="http://schemas.microsoft.com/office/drawing/2014/main" val="323649312"/>
                    </a:ext>
                  </a:extLst>
                </a:gridCol>
              </a:tblGrid>
              <a:tr h="560230">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Define the variable.</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970921"/>
                  </a:ext>
                </a:extLst>
              </a:tr>
              <a:tr h="1055844">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Write an equation that can be used to answer the question.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438861"/>
                  </a:ext>
                </a:extLst>
              </a:tr>
              <a:tr h="1340631">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Solve the equation.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203920"/>
                  </a:ext>
                </a:extLst>
              </a:tr>
              <a:tr h="703896">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 the meaning of the solution.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051114"/>
                  </a:ext>
                </a:extLst>
              </a:tr>
            </a:tbl>
          </a:graphicData>
        </a:graphic>
      </p:graphicFrame>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43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74134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817418" y="410666"/>
                <a:ext cx="10707830" cy="1323399"/>
              </a:xfrm>
              <a:prstGeom prst="rect">
                <a:avLst/>
              </a:prstGeom>
              <a:noFill/>
              <a:ln>
                <a:noFill/>
              </a:ln>
            </p:spPr>
            <p:txBody>
              <a:bodyPr spcFirstLastPara="1" wrap="square" lIns="91425" tIns="45700" rIns="91425" bIns="45700" anchor="t" anchorCtr="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4. Fatima and Luna are members of the running club at school. Fatima ran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fewer miles this week than she did last week. She ran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times as far as Luna ran this week. Luna only had time to run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miles this week. How many miles did Fatima run last week?</a:t>
                </a:r>
                <a:endParaRPr lang="en-US" dirty="0">
                  <a:latin typeface="Times New Roman" panose="02020603050405020304" pitchFamily="18" charset="0"/>
                  <a:ea typeface="Times New Roman" panose="02020603050405020304" pitchFamily="18"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817418" y="410666"/>
                <a:ext cx="10707830" cy="1323399"/>
              </a:xfrm>
              <a:prstGeom prst="rect">
                <a:avLst/>
              </a:prstGeom>
              <a:blipFill rotWithShape="0">
                <a:blip r:embed="rId3"/>
                <a:stretch>
                  <a:fillRect l="-569" t="-2304" b="-6912"/>
                </a:stretch>
              </a:blipFill>
              <a:ln>
                <a:noFill/>
              </a:ln>
            </p:spPr>
            <p:txBody>
              <a:bodyPr/>
              <a:lstStyle/>
              <a:p>
                <a:r>
                  <a:rPr lang="en-US">
                    <a:noFill/>
                  </a:rPr>
                  <a:t> </a:t>
                </a:r>
              </a:p>
            </p:txBody>
          </p:sp>
        </mc:Fallback>
      </mc:AlternateContent>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id="{F4625D65-4886-114D-A87C-8E22FBF30FD2}"/>
              </a:ext>
            </a:extLst>
          </p:cNvPr>
          <p:cNvGraphicFramePr>
            <a:graphicFrameLocks noGrp="1"/>
          </p:cNvGraphicFramePr>
          <p:nvPr/>
        </p:nvGraphicFramePr>
        <p:xfrm>
          <a:off x="2429948" y="2540000"/>
          <a:ext cx="7332105" cy="3660601"/>
        </p:xfrm>
        <a:graphic>
          <a:graphicData uri="http://schemas.openxmlformats.org/drawingml/2006/table">
            <a:tbl>
              <a:tblPr bandRow="1"/>
              <a:tblGrid>
                <a:gridCol w="3851803">
                  <a:extLst>
                    <a:ext uri="{9D8B030D-6E8A-4147-A177-3AD203B41FA5}">
                      <a16:colId xmlns:a16="http://schemas.microsoft.com/office/drawing/2014/main" val="133920286"/>
                    </a:ext>
                  </a:extLst>
                </a:gridCol>
                <a:gridCol w="3480302">
                  <a:extLst>
                    <a:ext uri="{9D8B030D-6E8A-4147-A177-3AD203B41FA5}">
                      <a16:colId xmlns:a16="http://schemas.microsoft.com/office/drawing/2014/main" val="323649312"/>
                    </a:ext>
                  </a:extLst>
                </a:gridCol>
              </a:tblGrid>
              <a:tr h="560230">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Define the variable.</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970921"/>
                  </a:ext>
                </a:extLst>
              </a:tr>
              <a:tr h="1055844">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Write an equation that can be used to answer the question.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438861"/>
                  </a:ext>
                </a:extLst>
              </a:tr>
              <a:tr h="1340631">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Solve the equation.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203920"/>
                  </a:ext>
                </a:extLst>
              </a:tr>
              <a:tr h="703896">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 the meaning of the solution.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051114"/>
                  </a:ext>
                </a:extLst>
              </a:tr>
            </a:tbl>
          </a:graphicData>
        </a:graphic>
      </p:graphicFrame>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0060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080655" y="410665"/>
                <a:ext cx="10181356" cy="1631175"/>
              </a:xfrm>
              <a:prstGeom prst="rect">
                <a:avLst/>
              </a:prstGeom>
              <a:noFill/>
              <a:ln>
                <a:noFill/>
              </a:ln>
            </p:spPr>
            <p:txBody>
              <a:bodyPr spcFirstLastPara="1" wrap="square" lIns="91425" tIns="45700" rIns="91425" bIns="45700" anchor="t" anchorCtr="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5. Shirley gives each of her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grandchildren a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gift card to their favorite restaurant and some cash for their birthday. She spends the same amount of money on each grandchild. If she spends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$280</m:t>
                    </m:r>
                  </m:oMath>
                </a14:m>
                <a:r>
                  <a:rPr lang="en-US" sz="2000" dirty="0">
                    <a:latin typeface="Verdana" panose="020B0604030504040204" pitchFamily="34" charset="0"/>
                    <a:ea typeface="Verdana" panose="020B0604030504040204" pitchFamily="34" charset="0"/>
                    <a:cs typeface="Verdana" panose="020B0604030504040204" pitchFamily="34" charset="0"/>
                  </a:rPr>
                  <a:t> each year on her grandchildren’s birthday gifts, how much cash does she give each grandchild on their birthday?</a:t>
                </a:r>
                <a:endParaRPr lang="en-US" dirty="0">
                  <a:latin typeface="Times New Roman" panose="02020603050405020304" pitchFamily="18" charset="0"/>
                  <a:ea typeface="Times New Roman" panose="02020603050405020304" pitchFamily="18" charset="0"/>
                </a:endParaRP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080655" y="410665"/>
                <a:ext cx="10181356" cy="1631175"/>
              </a:xfrm>
              <a:prstGeom prst="rect">
                <a:avLst/>
              </a:prstGeom>
              <a:blipFill rotWithShape="0">
                <a:blip r:embed="rId3"/>
                <a:stretch>
                  <a:fillRect l="-599" t="-1866" r="-719" b="-5224"/>
                </a:stretch>
              </a:blipFill>
              <a:ln>
                <a:noFill/>
              </a:ln>
            </p:spPr>
            <p:txBody>
              <a:bodyPr/>
              <a:lstStyle/>
              <a:p>
                <a:r>
                  <a:rPr lang="en-US">
                    <a:noFill/>
                  </a:rPr>
                  <a:t> </a:t>
                </a:r>
              </a:p>
            </p:txBody>
          </p:sp>
        </mc:Fallback>
      </mc:AlternateContent>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id="{F4625D65-4886-114D-A87C-8E22FBF30FD2}"/>
              </a:ext>
            </a:extLst>
          </p:cNvPr>
          <p:cNvGraphicFramePr>
            <a:graphicFrameLocks noGrp="1"/>
          </p:cNvGraphicFramePr>
          <p:nvPr/>
        </p:nvGraphicFramePr>
        <p:xfrm>
          <a:off x="2429948" y="2540000"/>
          <a:ext cx="7332105" cy="3660601"/>
        </p:xfrm>
        <a:graphic>
          <a:graphicData uri="http://schemas.openxmlformats.org/drawingml/2006/table">
            <a:tbl>
              <a:tblPr bandRow="1"/>
              <a:tblGrid>
                <a:gridCol w="3851803">
                  <a:extLst>
                    <a:ext uri="{9D8B030D-6E8A-4147-A177-3AD203B41FA5}">
                      <a16:colId xmlns:a16="http://schemas.microsoft.com/office/drawing/2014/main" val="133920286"/>
                    </a:ext>
                  </a:extLst>
                </a:gridCol>
                <a:gridCol w="3480302">
                  <a:extLst>
                    <a:ext uri="{9D8B030D-6E8A-4147-A177-3AD203B41FA5}">
                      <a16:colId xmlns:a16="http://schemas.microsoft.com/office/drawing/2014/main" val="323649312"/>
                    </a:ext>
                  </a:extLst>
                </a:gridCol>
              </a:tblGrid>
              <a:tr h="560230">
                <a:tc>
                  <a:txBody>
                    <a:bodyPr/>
                    <a:lstStyle/>
                    <a:p>
                      <a:pPr marL="0" marR="0">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Define the variable.</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970921"/>
                  </a:ext>
                </a:extLst>
              </a:tr>
              <a:tr h="1055844">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Write an equation that can be used to answer the question.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438861"/>
                  </a:ext>
                </a:extLst>
              </a:tr>
              <a:tr h="1340631">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Solve the equation.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203920"/>
                  </a:ext>
                </a:extLst>
              </a:tr>
              <a:tr h="703896">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 the meaning of the solution.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051114"/>
                  </a:ext>
                </a:extLst>
              </a:tr>
            </a:tbl>
          </a:graphicData>
        </a:graphic>
      </p:graphicFrame>
      <p:sp>
        <p:nvSpPr>
          <p:cNvPr id="7"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142745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7" name="Google Shape;39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99" name="Google Shape;39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6" name="Google Shape;406;p28"/>
          <p:cNvSpPr txBox="1"/>
          <p:nvPr/>
        </p:nvSpPr>
        <p:spPr>
          <a:xfrm>
            <a:off x="1480759" y="-105933"/>
            <a:ext cx="951975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1.7.3 Bring It Together: Writing and Solving Equations in Real-World Contexts </a:t>
            </a:r>
            <a:endParaRPr sz="1000" dirty="0"/>
          </a:p>
        </p:txBody>
      </p:sp>
      <p:sp>
        <p:nvSpPr>
          <p:cNvPr id="408" name="Google Shape;408;p28"/>
          <p:cNvSpPr txBox="1"/>
          <p:nvPr/>
        </p:nvSpPr>
        <p:spPr>
          <a:xfrm>
            <a:off x="1480759" y="1386026"/>
            <a:ext cx="9486514" cy="2246729"/>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Consider some of the problems you’ve solved and errors you’ve made over the last few lessons.</a:t>
            </a:r>
          </a:p>
          <a:p>
            <a:pPr lvl="0"/>
            <a:endParaRPr lang="en-US" sz="2000" dirty="0">
              <a:latin typeface="Verdana"/>
              <a:ea typeface="Verdana"/>
              <a:cs typeface="Verdana"/>
              <a:sym typeface="Verdana"/>
            </a:endParaRPr>
          </a:p>
          <a:p>
            <a:pPr marL="347663" indent="-347663"/>
            <a:r>
              <a:rPr lang="en-US" sz="2000" dirty="0">
                <a:latin typeface="Verdana"/>
                <a:ea typeface="Verdana"/>
                <a:cs typeface="Verdana"/>
                <a:sym typeface="Verdana"/>
              </a:rPr>
              <a:t>1. In the first column of the table, write yourself a note or reminder that you can use when writing an equation for a real-world context so you can avoid similar errors in the future.</a:t>
            </a:r>
          </a:p>
          <a:p>
            <a:pPr lvl="0"/>
            <a:endParaRPr lang="en-US" sz="2000" dirty="0">
              <a:latin typeface="Verdana"/>
              <a:ea typeface="Verdana"/>
              <a:cs typeface="Verdana"/>
              <a:sym typeface="Verdana"/>
            </a:endParaRPr>
          </a:p>
        </p:txBody>
      </p:sp>
      <p:sp>
        <p:nvSpPr>
          <p:cNvPr id="409" name="Google Shape;409;p28"/>
          <p:cNvSpPr/>
          <p:nvPr/>
        </p:nvSpPr>
        <p:spPr>
          <a:xfrm>
            <a:off x="9230" y="-12827"/>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10" name="Google Shape;410;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30951" y="157119"/>
            <a:ext cx="749808" cy="749808"/>
          </a:xfrm>
          <a:prstGeom prst="rect">
            <a:avLst/>
          </a:prstGeom>
          <a:noFill/>
          <a:ln>
            <a:noFill/>
          </a:ln>
          <a:effectLst>
            <a:outerShdw blurRad="50800" dist="38100" dir="2700000" algn="tl" rotWithShape="0">
              <a:srgbClr val="000000">
                <a:alpha val="40000"/>
              </a:srgbClr>
            </a:outerShdw>
          </a:effectLst>
        </p:spPr>
      </p:pic>
      <p:graphicFrame>
        <p:nvGraphicFramePr>
          <p:cNvPr id="2" name="Table 1">
            <a:extLst>
              <a:ext uri="{FF2B5EF4-FFF2-40B4-BE49-F238E27FC236}">
                <a16:creationId xmlns:a16="http://schemas.microsoft.com/office/drawing/2014/main" id="{AB2DED08-61F2-A349-BA72-451A37F40983}"/>
              </a:ext>
            </a:extLst>
          </p:cNvPr>
          <p:cNvGraphicFramePr>
            <a:graphicFrameLocks noGrp="1"/>
          </p:cNvGraphicFramePr>
          <p:nvPr>
            <p:extLst>
              <p:ext uri="{D42A27DB-BD31-4B8C-83A1-F6EECF244321}">
                <p14:modId xmlns:p14="http://schemas.microsoft.com/office/powerpoint/2010/main" val="3045148883"/>
              </p:ext>
            </p:extLst>
          </p:nvPr>
        </p:nvGraphicFramePr>
        <p:xfrm>
          <a:off x="2832497" y="3624820"/>
          <a:ext cx="6527007" cy="2904419"/>
        </p:xfrm>
        <a:graphic>
          <a:graphicData uri="http://schemas.openxmlformats.org/drawingml/2006/table">
            <a:tbl>
              <a:tblPr bandRow="1"/>
              <a:tblGrid>
                <a:gridCol w="3303995">
                  <a:extLst>
                    <a:ext uri="{9D8B030D-6E8A-4147-A177-3AD203B41FA5}">
                      <a16:colId xmlns:a16="http://schemas.microsoft.com/office/drawing/2014/main" val="2946686645"/>
                    </a:ext>
                  </a:extLst>
                </a:gridCol>
                <a:gridCol w="3223012">
                  <a:extLst>
                    <a:ext uri="{9D8B030D-6E8A-4147-A177-3AD203B41FA5}">
                      <a16:colId xmlns:a16="http://schemas.microsoft.com/office/drawing/2014/main" val="2431048966"/>
                    </a:ext>
                  </a:extLst>
                </a:gridCol>
              </a:tblGrid>
              <a:tr h="290442">
                <a:tc>
                  <a:txBody>
                    <a:bodyPr/>
                    <a:lstStyle/>
                    <a:p>
                      <a:pPr marL="0" marR="0" algn="ctr">
                        <a:spcBef>
                          <a:spcPts val="0"/>
                        </a:spcBef>
                        <a:spcAft>
                          <a:spcPts val="0"/>
                        </a:spcAft>
                      </a:pPr>
                      <a:r>
                        <a:rPr lang="en-US" sz="1700" b="1">
                          <a:solidFill>
                            <a:srgbClr val="000000"/>
                          </a:solidFill>
                          <a:effectLst/>
                          <a:latin typeface="Verdana" panose="020B0604030504040204" pitchFamily="34" charset="0"/>
                          <a:ea typeface="Verdana" panose="020B0604030504040204" pitchFamily="34" charset="0"/>
                          <a:cs typeface="Verdana" panose="020B0604030504040204" pitchFamily="34" charset="0"/>
                        </a:rPr>
                        <a:t>My Note or Reminders</a:t>
                      </a:r>
                      <a:endParaRPr lang="en-US" sz="1100">
                        <a:effectLst/>
                        <a:latin typeface="Times New Roman" panose="02020603050405020304" pitchFamily="18" charset="0"/>
                        <a:ea typeface="Times New Roman" panose="02020603050405020304" pitchFamily="18"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700" b="1">
                          <a:solidFill>
                            <a:srgbClr val="000000"/>
                          </a:solidFill>
                          <a:effectLst/>
                          <a:latin typeface="Verdana" panose="020B0604030504040204" pitchFamily="34" charset="0"/>
                          <a:ea typeface="Verdana" panose="020B0604030504040204" pitchFamily="34" charset="0"/>
                          <a:cs typeface="Verdana" panose="020B0604030504040204" pitchFamily="34" charset="0"/>
                        </a:rPr>
                        <a:t>My Partner’s Reminders</a:t>
                      </a:r>
                      <a:endParaRPr lang="en-US" sz="1100">
                        <a:effectLst/>
                        <a:latin typeface="Times New Roman" panose="02020603050405020304" pitchFamily="18" charset="0"/>
                        <a:ea typeface="Times New Roman" panose="02020603050405020304" pitchFamily="18"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284841315"/>
                  </a:ext>
                </a:extLst>
              </a:tr>
              <a:tr h="2613977">
                <a:tc>
                  <a:txBody>
                    <a:bodyPr/>
                    <a:lstStyle/>
                    <a:p>
                      <a:pPr marL="0" marR="0">
                        <a:spcBef>
                          <a:spcPts val="0"/>
                        </a:spcBef>
                        <a:spcAft>
                          <a:spcPts val="0"/>
                        </a:spcAft>
                      </a:pPr>
                      <a:r>
                        <a:rPr lang="en-US" sz="17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Times New Roman" panose="02020603050405020304" pitchFamily="18" charset="0"/>
                        <a:ea typeface="Times New Roman" panose="02020603050405020304" pitchFamily="18" charset="0"/>
                      </a:endParaRPr>
                    </a:p>
                  </a:txBody>
                  <a:tcPr marL="65270" marR="6527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7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100" dirty="0">
                        <a:effectLst/>
                        <a:latin typeface="Times New Roman" panose="02020603050405020304" pitchFamily="18" charset="0"/>
                        <a:ea typeface="Times New Roman" panose="02020603050405020304" pitchFamily="18" charset="0"/>
                      </a:endParaRPr>
                    </a:p>
                  </a:txBody>
                  <a:tcPr marL="65270" marR="6527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4803908"/>
                  </a:ext>
                </a:extLst>
              </a:tr>
            </a:tbl>
          </a:graphicData>
        </a:graphic>
      </p:graphicFrame>
      <p:sp>
        <p:nvSpPr>
          <p:cNvPr id="10"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45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8" name="Google Shape;418;p29"/>
          <p:cNvSpPr txBox="1"/>
          <p:nvPr/>
        </p:nvSpPr>
        <p:spPr>
          <a:xfrm>
            <a:off x="969818" y="435049"/>
            <a:ext cx="10252364" cy="707846"/>
          </a:xfrm>
          <a:prstGeom prst="rect">
            <a:avLst/>
          </a:prstGeom>
          <a:noFill/>
          <a:ln>
            <a:noFill/>
          </a:ln>
        </p:spPr>
        <p:txBody>
          <a:bodyPr spcFirstLastPara="1" wrap="square" lIns="91425" tIns="45700" rIns="91425" bIns="45700" anchor="t" anchorCtr="0">
            <a:spAutoFit/>
          </a:bodyPr>
          <a:lstStyle/>
          <a:p>
            <a:pPr marL="347663" indent="-347663"/>
            <a:r>
              <a:rPr lang="en-US" sz="2000" dirty="0">
                <a:latin typeface="Verdana"/>
                <a:ea typeface="Verdana"/>
                <a:cs typeface="Verdana"/>
                <a:sym typeface="Verdana"/>
              </a:rPr>
              <a:t>2. Share your list with your partner. Add any helpful reminders your partner shares in the second column.</a:t>
            </a:r>
            <a:endParaRPr sz="1200" dirty="0"/>
          </a:p>
        </p:txBody>
      </p:sp>
      <p:sp>
        <p:nvSpPr>
          <p:cNvPr id="419" name="Google Shape;419;p29"/>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45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45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383777" y="152403"/>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000" b="1" dirty="0">
                <a:solidFill>
                  <a:srgbClr val="E24E5F"/>
                </a:solidFill>
                <a:latin typeface="Verdana"/>
                <a:ea typeface="Verdana"/>
                <a:cs typeface="Verdana"/>
                <a:sym typeface="Verdana"/>
              </a:rPr>
              <a:t>1.7.4 Your Turn!</a:t>
            </a:r>
            <a:endParaRPr sz="1200" dirty="0"/>
          </a:p>
        </p:txBody>
      </p:sp>
      <p:pic>
        <p:nvPicPr>
          <p:cNvPr id="437" name="Google Shape;437;p31"/>
          <p:cNvPicPr preferRelativeResize="0"/>
          <p:nvPr/>
        </p:nvPicPr>
        <p:blipFill rotWithShape="1">
          <a:blip r:embed="rId3">
            <a:alphaModFix/>
          </a:blip>
          <a:srcRect/>
          <a:stretch/>
        </p:blipFill>
        <p:spPr>
          <a:xfrm>
            <a:off x="636477" y="152403"/>
            <a:ext cx="747300" cy="747300"/>
          </a:xfrm>
          <a:prstGeom prst="rect">
            <a:avLst/>
          </a:prstGeom>
          <a:noFill/>
          <a:ln>
            <a:noFill/>
          </a:ln>
        </p:spPr>
      </p:pic>
      <mc:AlternateContent xmlns:mc="http://schemas.openxmlformats.org/markup-compatibility/2006" xmlns:a14="http://schemas.microsoft.com/office/drawing/2010/main">
        <mc:Choice Requires="a14">
          <p:sp>
            <p:nvSpPr>
              <p:cNvPr id="439" name="Google Shape;439;p31"/>
              <p:cNvSpPr txBox="1"/>
              <p:nvPr/>
            </p:nvSpPr>
            <p:spPr>
              <a:xfrm>
                <a:off x="789709" y="1016763"/>
                <a:ext cx="10612582" cy="2196458"/>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for the real-world situation.</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03225"/>
                <a:r>
                  <a:rPr lang="en-US" sz="2000" dirty="0">
                    <a:latin typeface="Verdana" panose="020B0604030504040204" pitchFamily="34" charset="0"/>
                    <a:ea typeface="Verdana" panose="020B0604030504040204" pitchFamily="34" charset="0"/>
                    <a:cs typeface="Verdana" panose="020B0604030504040204" pitchFamily="34" charset="0"/>
                  </a:rPr>
                  <a:t>Kiara is baking cookies for an upcoming bake sale. Each batch of cookies requires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m:t>
                    </m:r>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2</m:t>
                        </m:r>
                      </m:num>
                      <m:den>
                        <m:r>
                          <a:rPr lang="en-US" sz="2000" i="1">
                            <a:latin typeface="Cambria Math" panose="02040503050406030204" pitchFamily="18" charset="0"/>
                            <a:ea typeface="Cambria Math" panose="02040503050406030204" pitchFamily="18" charset="0"/>
                            <a:cs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cups of sugar. She has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cups of sugar, but her mom asked her to save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latin typeface="Cambria Math" panose="02040503050406030204" pitchFamily="18" charset="0"/>
                            <a:ea typeface="Cambria Math" panose="02040503050406030204" pitchFamily="18" charset="0"/>
                            <a:cs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cup for her to use in her coffee until she can go to the grocery store in a few days. How many batches of cookies can Kiara make?</a:t>
                </a:r>
              </a:p>
            </p:txBody>
          </p:sp>
        </mc:Choice>
        <mc:Fallback xmlns="">
          <p:sp>
            <p:nvSpPr>
              <p:cNvPr id="439" name="Google Shape;439;p31"/>
              <p:cNvSpPr txBox="1">
                <a:spLocks noRot="1" noChangeAspect="1" noMove="1" noResize="1" noEditPoints="1" noAdjustHandles="1" noChangeArrowheads="1" noChangeShapeType="1" noTextEdit="1"/>
              </p:cNvSpPr>
              <p:nvPr/>
            </p:nvSpPr>
            <p:spPr>
              <a:xfrm>
                <a:off x="789709" y="1016763"/>
                <a:ext cx="10612582" cy="2196458"/>
              </a:xfrm>
              <a:prstGeom prst="rect">
                <a:avLst/>
              </a:prstGeom>
              <a:blipFill rotWithShape="0">
                <a:blip r:embed="rId4"/>
                <a:stretch>
                  <a:fillRect l="-632" t="-1944" r="-402" b="-4167"/>
                </a:stretch>
              </a:blipFill>
              <a:ln>
                <a:noFill/>
              </a:ln>
            </p:spPr>
            <p:txBody>
              <a:bodyPr/>
              <a:lstStyle/>
              <a:p>
                <a:r>
                  <a:rPr lang="en-US">
                    <a:noFill/>
                  </a:rPr>
                  <a:t> </a:t>
                </a:r>
              </a:p>
            </p:txBody>
          </p:sp>
        </mc:Fallback>
      </mc:AlternateContent>
      <p:sp>
        <p:nvSpPr>
          <p:cNvPr id="440" name="Google Shape;440;p31"/>
          <p:cNvSpPr/>
          <p:nvPr/>
        </p:nvSpPr>
        <p:spPr>
          <a:xfrm>
            <a:off x="-1574"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8" name="Table 7">
            <a:extLst>
              <a:ext uri="{FF2B5EF4-FFF2-40B4-BE49-F238E27FC236}">
                <a16:creationId xmlns:a16="http://schemas.microsoft.com/office/drawing/2014/main" id="{6DDB2357-DE88-2343-979D-A5309A9B9044}"/>
              </a:ext>
            </a:extLst>
          </p:cNvPr>
          <p:cNvGraphicFramePr>
            <a:graphicFrameLocks noGrp="1"/>
          </p:cNvGraphicFramePr>
          <p:nvPr>
            <p:extLst>
              <p:ext uri="{D42A27DB-BD31-4B8C-83A1-F6EECF244321}">
                <p14:modId xmlns:p14="http://schemas.microsoft.com/office/powerpoint/2010/main" val="3046506070"/>
              </p:ext>
            </p:extLst>
          </p:nvPr>
        </p:nvGraphicFramePr>
        <p:xfrm>
          <a:off x="2429948" y="3424826"/>
          <a:ext cx="7332105" cy="3126715"/>
        </p:xfrm>
        <a:graphic>
          <a:graphicData uri="http://schemas.openxmlformats.org/drawingml/2006/table">
            <a:tbl>
              <a:tblPr bandRow="1"/>
              <a:tblGrid>
                <a:gridCol w="3851803">
                  <a:extLst>
                    <a:ext uri="{9D8B030D-6E8A-4147-A177-3AD203B41FA5}">
                      <a16:colId xmlns:a16="http://schemas.microsoft.com/office/drawing/2014/main" val="133920286"/>
                    </a:ext>
                  </a:extLst>
                </a:gridCol>
                <a:gridCol w="3480302">
                  <a:extLst>
                    <a:ext uri="{9D8B030D-6E8A-4147-A177-3AD203B41FA5}">
                      <a16:colId xmlns:a16="http://schemas.microsoft.com/office/drawing/2014/main" val="323649312"/>
                    </a:ext>
                  </a:extLst>
                </a:gridCol>
              </a:tblGrid>
              <a:tr h="560230">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Define the variable.</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1970921"/>
                  </a:ext>
                </a:extLst>
              </a:tr>
              <a:tr h="1055844">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Write an equation that can be used to answer the question.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7438861"/>
                  </a:ext>
                </a:extLst>
              </a:tr>
              <a:tr h="806745">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Solve the equation.</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203920"/>
                  </a:ext>
                </a:extLst>
              </a:tr>
              <a:tr h="703896">
                <a:tc>
                  <a:txBody>
                    <a:bodyPr/>
                    <a:lstStyle/>
                    <a:p>
                      <a:pPr marL="0" marR="0">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 the meaning of the solution. </a:t>
                      </a:r>
                      <a:endParaRPr lang="en-US" sz="2000" dirty="0">
                        <a:effectLst/>
                        <a:latin typeface="Times New Roman" panose="02020603050405020304" pitchFamily="18" charset="0"/>
                        <a:ea typeface="Times New Roman" panose="02020603050405020304" pitchFamily="18" charset="0"/>
                      </a:endParaRPr>
                    </a:p>
                  </a:txBody>
                  <a:tcPr marL="41515" marR="415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2000" dirty="0">
                        <a:effectLst/>
                        <a:latin typeface="Times New Roman" panose="02020603050405020304" pitchFamily="18" charset="0"/>
                        <a:ea typeface="Times New Roman" panose="02020603050405020304" pitchFamily="18" charset="0"/>
                      </a:endParaRPr>
                    </a:p>
                  </a:txBody>
                  <a:tcPr marL="41515" marR="41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051114"/>
                  </a:ext>
                </a:extLst>
              </a:tr>
            </a:tbl>
          </a:graphicData>
        </a:graphic>
      </p:graphicFrame>
      <p:sp>
        <p:nvSpPr>
          <p:cNvPr id="10"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45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503915" y="-67979"/>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F2A67"/>
                </a:solidFill>
                <a:latin typeface="Verdana"/>
                <a:ea typeface="Verdana"/>
                <a:cs typeface="Verdana"/>
                <a:sym typeface="Verdana"/>
              </a:rPr>
              <a:t>1.7.5 Wrap-Up: Reflection</a:t>
            </a:r>
            <a:endParaRPr sz="1200" dirty="0"/>
          </a:p>
        </p:txBody>
      </p:sp>
      <p:pic>
        <p:nvPicPr>
          <p:cNvPr id="468" name="Google Shape;468;p34"/>
          <p:cNvPicPr preferRelativeResize="0"/>
          <p:nvPr/>
        </p:nvPicPr>
        <p:blipFill rotWithShape="1">
          <a:blip r:embed="rId3">
            <a:alphaModFix/>
          </a:blip>
          <a:srcRect/>
          <a:stretch/>
        </p:blipFill>
        <p:spPr>
          <a:xfrm>
            <a:off x="616106" y="208219"/>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503915" y="1386025"/>
            <a:ext cx="9440202" cy="400069"/>
          </a:xfrm>
          <a:prstGeom prst="rect">
            <a:avLst/>
          </a:prstGeom>
          <a:noFill/>
          <a:ln>
            <a:noFill/>
          </a:ln>
        </p:spPr>
        <p:txBody>
          <a:bodyPr spcFirstLastPara="1" wrap="square" lIns="91425" tIns="45700" rIns="91425" bIns="45700" anchor="t" anchorCtr="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1. Circle the icon that best describes your understanding of each item. </a:t>
            </a:r>
            <a:endParaRPr lang="en-US" dirty="0">
              <a:latin typeface="Times New Roman" panose="02020603050405020304" pitchFamily="18" charset="0"/>
              <a:ea typeface="Times New Roman" panose="02020603050405020304" pitchFamily="18" charset="0"/>
            </a:endParaRPr>
          </a:p>
        </p:txBody>
      </p:sp>
      <p:sp>
        <p:nvSpPr>
          <p:cNvPr id="470" name="Google Shape;470;p34"/>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Logo, company name&#10;&#10;Description automatically generated with medium confidence">
            <a:extLst>
              <a:ext uri="{FF2B5EF4-FFF2-40B4-BE49-F238E27FC236}">
                <a16:creationId xmlns:a16="http://schemas.microsoft.com/office/drawing/2014/main" id="{5B8EAF3E-9352-7346-85F9-11EE6AE506E2}"/>
              </a:ext>
            </a:extLst>
          </p:cNvPr>
          <p:cNvPicPr>
            <a:picLocks noChangeAspect="1"/>
          </p:cNvPicPr>
          <p:nvPr/>
        </p:nvPicPr>
        <p:blipFill>
          <a:blip r:embed="rId4"/>
          <a:stretch>
            <a:fillRect/>
          </a:stretch>
        </p:blipFill>
        <p:spPr>
          <a:xfrm>
            <a:off x="2387600" y="2014665"/>
            <a:ext cx="7416800" cy="1295400"/>
          </a:xfrm>
          <a:prstGeom prst="rect">
            <a:avLst/>
          </a:prstGeom>
        </p:spPr>
      </p:pic>
      <p:graphicFrame>
        <p:nvGraphicFramePr>
          <p:cNvPr id="4" name="Table 3">
            <a:extLst>
              <a:ext uri="{FF2B5EF4-FFF2-40B4-BE49-F238E27FC236}">
                <a16:creationId xmlns:a16="http://schemas.microsoft.com/office/drawing/2014/main" id="{9DC2E695-33B3-E345-9509-FB894190B0AA}"/>
              </a:ext>
            </a:extLst>
          </p:cNvPr>
          <p:cNvGraphicFramePr>
            <a:graphicFrameLocks noGrp="1"/>
          </p:cNvGraphicFramePr>
          <p:nvPr>
            <p:extLst>
              <p:ext uri="{D42A27DB-BD31-4B8C-83A1-F6EECF244321}">
                <p14:modId xmlns:p14="http://schemas.microsoft.com/office/powerpoint/2010/main" val="2004828440"/>
              </p:ext>
            </p:extLst>
          </p:nvPr>
        </p:nvGraphicFramePr>
        <p:xfrm>
          <a:off x="2602000" y="3461172"/>
          <a:ext cx="7202400" cy="2406926"/>
        </p:xfrm>
        <a:graphic>
          <a:graphicData uri="http://schemas.openxmlformats.org/drawingml/2006/table">
            <a:tbl>
              <a:tblPr bandRow="1"/>
              <a:tblGrid>
                <a:gridCol w="4321440">
                  <a:extLst>
                    <a:ext uri="{9D8B030D-6E8A-4147-A177-3AD203B41FA5}">
                      <a16:colId xmlns:a16="http://schemas.microsoft.com/office/drawing/2014/main" val="140850542"/>
                    </a:ext>
                  </a:extLst>
                </a:gridCol>
                <a:gridCol w="2880960">
                  <a:extLst>
                    <a:ext uri="{9D8B030D-6E8A-4147-A177-3AD203B41FA5}">
                      <a16:colId xmlns:a16="http://schemas.microsoft.com/office/drawing/2014/main" val="2647285730"/>
                    </a:ext>
                  </a:extLst>
                </a:gridCol>
              </a:tblGrid>
              <a:tr h="844145">
                <a:tc>
                  <a:txBody>
                    <a:bodyPr/>
                    <a:lstStyle/>
                    <a:p>
                      <a:pPr marL="0" marR="0" algn="ctr">
                        <a:spcBef>
                          <a:spcPts val="0"/>
                        </a:spcBef>
                        <a:spcAft>
                          <a:spcPts val="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Solving two-step equations</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r>
                        <a:rPr lang="en-US" sz="1200" b="1">
                          <a:effectLst/>
                          <a:latin typeface="Verdana" panose="020B0604030504040204" pitchFamily="34" charset="0"/>
                          <a:ea typeface="Verdana" panose="020B0604030504040204" pitchFamily="34" charset="0"/>
                          <a:cs typeface="Verdana" panose="020B0604030504040204" pitchFamily="34"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2420043"/>
                  </a:ext>
                </a:extLst>
              </a:tr>
              <a:tr h="808550">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Writing two-step equations to represent real-world contexts</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r>
                        <a:rPr lang="en-US" sz="1200" b="1">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200">
                        <a:solidFill>
                          <a:srgbClr val="000000"/>
                        </a:solidFill>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5607157"/>
                  </a:ext>
                </a:extLst>
              </a:tr>
              <a:tr h="754231">
                <a:tc>
                  <a:txBody>
                    <a:bodyPr/>
                    <a:lstStyle/>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Explaining the meaning of solutions to equations in context</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r>
                        <a:rPr lang="en-US" sz="1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200" dirty="0">
                        <a:solidFill>
                          <a:srgbClr val="000000"/>
                        </a:solidFill>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144054"/>
                  </a:ext>
                </a:extLst>
              </a:tr>
            </a:tbl>
          </a:graphicData>
        </a:graphic>
      </p:graphicFrame>
      <p:pic>
        <p:nvPicPr>
          <p:cNvPr id="5123" name="image2.png" descr="Marketing">
            <a:extLst>
              <a:ext uri="{FF2B5EF4-FFF2-40B4-BE49-F238E27FC236}">
                <a16:creationId xmlns:a16="http://schemas.microsoft.com/office/drawing/2014/main" id="{2A8041A6-5433-F548-9832-BB8CC6DAF03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078471" y="3521486"/>
            <a:ext cx="715821" cy="715821"/>
          </a:xfrm>
          <a:prstGeom prst="rect">
            <a:avLst/>
          </a:prstGeom>
          <a:noFill/>
          <a:extLst>
            <a:ext uri="{909E8E84-426E-40DD-AFC4-6F175D3DCCD1}">
              <a14:hiddenFill xmlns:a14="http://schemas.microsoft.com/office/drawing/2010/main">
                <a:solidFill>
                  <a:srgbClr val="FFFFFF"/>
                </a:solidFill>
              </a14:hiddenFill>
            </a:ext>
          </a:extLst>
        </p:spPr>
      </p:pic>
      <p:pic>
        <p:nvPicPr>
          <p:cNvPr id="5122" name="image6.png" descr="Thumbs up sign">
            <a:extLst>
              <a:ext uri="{FF2B5EF4-FFF2-40B4-BE49-F238E27FC236}">
                <a16:creationId xmlns:a16="http://schemas.microsoft.com/office/drawing/2014/main" id="{FC24235E-C1F2-1046-AC0F-961A611B4F7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030125" y="3556403"/>
            <a:ext cx="628526" cy="628526"/>
          </a:xfrm>
          <a:prstGeom prst="rect">
            <a:avLst/>
          </a:prstGeom>
          <a:noFill/>
          <a:extLst>
            <a:ext uri="{909E8E84-426E-40DD-AFC4-6F175D3DCCD1}">
              <a14:hiddenFill xmlns:a14="http://schemas.microsoft.com/office/drawing/2010/main">
                <a:solidFill>
                  <a:srgbClr val="FFFFFF"/>
                </a:solidFill>
              </a14:hiddenFill>
            </a:ext>
          </a:extLst>
        </p:spPr>
      </p:pic>
      <p:pic>
        <p:nvPicPr>
          <p:cNvPr id="5121" name="image5.png" descr="Shooting star">
            <a:extLst>
              <a:ext uri="{FF2B5EF4-FFF2-40B4-BE49-F238E27FC236}">
                <a16:creationId xmlns:a16="http://schemas.microsoft.com/office/drawing/2014/main" id="{2EFAE643-5D59-364A-B576-2802A6496709}"/>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8894484" y="3565133"/>
            <a:ext cx="611066" cy="611066"/>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2.png" descr="Marketing">
            <a:extLst>
              <a:ext uri="{FF2B5EF4-FFF2-40B4-BE49-F238E27FC236}">
                <a16:creationId xmlns:a16="http://schemas.microsoft.com/office/drawing/2014/main" id="{FE27C82E-BF78-E945-A0AC-71EA54661B4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078471" y="4344640"/>
            <a:ext cx="715821" cy="715821"/>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6.png" descr="Thumbs up sign">
            <a:extLst>
              <a:ext uri="{FF2B5EF4-FFF2-40B4-BE49-F238E27FC236}">
                <a16:creationId xmlns:a16="http://schemas.microsoft.com/office/drawing/2014/main" id="{31A4FB18-A727-A447-9427-40930F517E6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030125" y="4379557"/>
            <a:ext cx="628526" cy="628526"/>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5.png" descr="Shooting star">
            <a:extLst>
              <a:ext uri="{FF2B5EF4-FFF2-40B4-BE49-F238E27FC236}">
                <a16:creationId xmlns:a16="http://schemas.microsoft.com/office/drawing/2014/main" id="{1CC4EFF3-30C4-1543-B74E-F7A3AEFFFEC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8894484" y="4388287"/>
            <a:ext cx="611066" cy="611066"/>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2.png" descr="Marketing">
            <a:extLst>
              <a:ext uri="{FF2B5EF4-FFF2-40B4-BE49-F238E27FC236}">
                <a16:creationId xmlns:a16="http://schemas.microsoft.com/office/drawing/2014/main" id="{60B09F73-1621-D140-9AC0-DDC2CA87245A}"/>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078471" y="5086416"/>
            <a:ext cx="715821" cy="715821"/>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6.png" descr="Thumbs up sign">
            <a:extLst>
              <a:ext uri="{FF2B5EF4-FFF2-40B4-BE49-F238E27FC236}">
                <a16:creationId xmlns:a16="http://schemas.microsoft.com/office/drawing/2014/main" id="{709980E4-393B-F045-BF01-933A59397BD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030125" y="5121333"/>
            <a:ext cx="628526" cy="628526"/>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5.png" descr="Shooting star">
            <a:extLst>
              <a:ext uri="{FF2B5EF4-FFF2-40B4-BE49-F238E27FC236}">
                <a16:creationId xmlns:a16="http://schemas.microsoft.com/office/drawing/2014/main" id="{9D828D79-43AF-EE4E-823E-D4CC2E144FD3}"/>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8894484" y="5130063"/>
            <a:ext cx="611066" cy="611066"/>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125;g104476d1465_1_17"/>
          <p:cNvSpPr txBox="1"/>
          <p:nvPr/>
        </p:nvSpPr>
        <p:spPr>
          <a:xfrm>
            <a:off x="8672496"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46</a:t>
            </a:r>
            <a:endParaRPr i="1" dirty="0">
              <a:latin typeface="Calibri"/>
              <a:ea typeface="Calibri"/>
              <a:cs typeface="Calibri"/>
              <a:sym typeface="Calibri"/>
            </a:endParaRPr>
          </a:p>
        </p:txBody>
      </p:sp>
      <p:pic>
        <p:nvPicPr>
          <p:cNvPr id="27"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10722"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1203</Words>
  <Application>Microsoft Macintosh PowerPoint</Application>
  <PresentationFormat>Widescreen</PresentationFormat>
  <Paragraphs>151</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Black</vt:lpstr>
      <vt:lpstr>Calibri</vt:lpstr>
      <vt:lpstr>Cambria Math</vt:lpstr>
      <vt:lpstr>Century Gothic</vt:lpstr>
      <vt:lpstr>Times New Roman</vt:lpstr>
      <vt:lpstr>Verdana</vt:lpstr>
      <vt:lpstr>1_Office Theme</vt:lpstr>
      <vt:lpstr>7th Grade Accelerated Math  Unit 1, Lesson 7  Writing and Solving Equations in Real-World Context  Volume 1, pg. 41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1, Lesson #  Lesson Name  Volume x, pg. #  </dc:title>
  <dc:creator>Karen McKenzie</dc:creator>
  <cp:lastModifiedBy>Diana Barnett</cp:lastModifiedBy>
  <cp:revision>7</cp:revision>
  <dcterms:created xsi:type="dcterms:W3CDTF">2015-03-17T18:51:18Z</dcterms:created>
  <dcterms:modified xsi:type="dcterms:W3CDTF">2023-01-30T15:37:19Z</dcterms:modified>
</cp:coreProperties>
</file>