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3.xml" ContentType="application/vnd.openxmlformats-officedocument.drawingml.chart+xml"/>
  <Override PartName="/ppt/notesSlides/notesSlide21.xml" ContentType="application/vnd.openxmlformats-officedocument.presentationml.notesSlide+xml"/>
  <Override PartName="/ppt/charts/chart4.xml" ContentType="application/vnd.openxmlformats-officedocument.drawingml.chart+xml"/>
  <Override PartName="/ppt/notesSlides/notesSlide22.xml" ContentType="application/vnd.openxmlformats-officedocument.presentationml.notesSlide+xml"/>
  <Override PartName="/ppt/charts/chart5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345" r:id="rId4"/>
    <p:sldId id="286" r:id="rId5"/>
    <p:sldId id="261" r:id="rId6"/>
    <p:sldId id="287" r:id="rId7"/>
    <p:sldId id="381" r:id="rId8"/>
    <p:sldId id="346" r:id="rId9"/>
    <p:sldId id="347" r:id="rId10"/>
    <p:sldId id="349" r:id="rId11"/>
    <p:sldId id="350" r:id="rId12"/>
    <p:sldId id="385" r:id="rId13"/>
    <p:sldId id="314" r:id="rId14"/>
    <p:sldId id="315" r:id="rId15"/>
    <p:sldId id="316" r:id="rId16"/>
    <p:sldId id="401" r:id="rId17"/>
    <p:sldId id="402" r:id="rId18"/>
    <p:sldId id="403" r:id="rId19"/>
    <p:sldId id="404" r:id="rId20"/>
    <p:sldId id="405" r:id="rId21"/>
    <p:sldId id="406" r:id="rId22"/>
    <p:sldId id="407" r:id="rId23"/>
    <p:sldId id="408" r:id="rId24"/>
    <p:sldId id="395" r:id="rId25"/>
    <p:sldId id="396" r:id="rId26"/>
    <p:sldId id="397" r:id="rId27"/>
    <p:sldId id="398" r:id="rId28"/>
    <p:sldId id="399" r:id="rId29"/>
    <p:sldId id="400" r:id="rId30"/>
    <p:sldId id="306" r:id="rId31"/>
    <p:sldId id="307" r:id="rId32"/>
    <p:sldId id="384" r:id="rId33"/>
  </p:sldIdLst>
  <p:sldSz cx="12192000" cy="6858000"/>
  <p:notesSz cx="6858000" cy="9144000"/>
  <p:embeddedFontLst>
    <p:embeddedFont>
      <p:font typeface="Cambria" pitchFamily="18" charset="0"/>
      <p:regular r:id="rId35"/>
      <p:bold r:id="rId36"/>
      <p:italic r:id="rId37"/>
      <p:boldItalic r:id="rId38"/>
    </p:embeddedFont>
    <p:embeddedFont>
      <p:font typeface="Arial Black" pitchFamily="34" charset="0"/>
      <p:bold r:id="rId39"/>
    </p:embeddedFont>
    <p:embeddedFont>
      <p:font typeface="Verdana" pitchFamily="34" charset="0"/>
      <p:regular r:id="rId40"/>
      <p:bold r:id="rId41"/>
      <p:italic r:id="rId42"/>
      <p:boldItalic r:id="rId43"/>
    </p:embeddedFont>
    <p:embeddedFont>
      <p:font typeface="Calibri" pitchFamily="34" charset="0"/>
      <p:regular r:id="rId44"/>
      <p:bold r:id="rId45"/>
      <p:italic r:id="rId46"/>
      <p:boldItalic r:id="rId47"/>
    </p:embeddedFont>
    <p:embeddedFont>
      <p:font typeface="Century Gothic" pitchFamily="34" charset="0"/>
      <p:regular r:id="rId48"/>
      <p:bold r:id="rId49"/>
      <p:italic r:id="rId50"/>
      <p:boldItalic r:id="rId51"/>
    </p:embeddedFont>
    <p:embeddedFont>
      <p:font typeface="Cambria Math" pitchFamily="18" charset="0"/>
      <p:regular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B42"/>
    <a:srgbClr val="F79B59"/>
    <a:srgbClr val="F26763"/>
    <a:srgbClr val="E24E5F"/>
    <a:srgbClr val="1765AD"/>
    <a:srgbClr val="1664AC"/>
    <a:srgbClr val="BFBFBF"/>
    <a:srgbClr val="C9DF6F"/>
    <a:srgbClr val="417DBF"/>
    <a:srgbClr val="3F2A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2382" autoAdjust="0"/>
    <p:restoredTop sz="94591" autoAdjust="0"/>
  </p:normalViewPr>
  <p:slideViewPr>
    <p:cSldViewPr snapToGrid="0">
      <p:cViewPr varScale="1">
        <p:scale>
          <a:sx n="68" d="100"/>
          <a:sy n="68" d="100"/>
        </p:scale>
        <p:origin x="-126" y="-10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7.fntdata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\\Users\ashleyfieldman\Dropbox\Study%20Edge%20-%20Statistics%20-%20Ashley%20Dodds1\UF\TEKS\statistics\section%206%20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\\Users\ashleyfieldman\Dropbox\Study%20Edge%20-%20Statistics%20-%20Ashley%20Dodds1\UF\TEKS\statistics\section%206%20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\\Users\ashleyfieldman\Downloads\3.2.STS.Data%20(1)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PH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Sheet4!$E$51</c:f>
              <c:strCache>
                <c:ptCount val="1"/>
                <c:pt idx="0">
                  <c:v>Longevity_x000d_(in years)</c:v>
                </c:pt>
              </c:strCache>
            </c:strRef>
          </c:tx>
          <c:spPr>
            <a:ln w="317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trendlineType val="linear"/>
            <c:dispRSqr val="0"/>
            <c:dispEq val="0"/>
          </c:trendline>
          <c:xVal>
            <c:numRef>
              <c:f>Sheet4!$D$52:$D$81</c:f>
              <c:numCache>
                <c:formatCode>General</c:formatCode>
                <c:ptCount val="30"/>
                <c:pt idx="0">
                  <c:v>21</c:v>
                </c:pt>
                <c:pt idx="1">
                  <c:v>31</c:v>
                </c:pt>
                <c:pt idx="2">
                  <c:v>31</c:v>
                </c:pt>
                <c:pt idx="3">
                  <c:v>36</c:v>
                </c:pt>
                <c:pt idx="4">
                  <c:v>44</c:v>
                </c:pt>
                <c:pt idx="5">
                  <c:v>52</c:v>
                </c:pt>
                <c:pt idx="6">
                  <c:v>61</c:v>
                </c:pt>
                <c:pt idx="7">
                  <c:v>63</c:v>
                </c:pt>
                <c:pt idx="8">
                  <c:v>98</c:v>
                </c:pt>
                <c:pt idx="9">
                  <c:v>100</c:v>
                </c:pt>
                <c:pt idx="10">
                  <c:v>105</c:v>
                </c:pt>
                <c:pt idx="11">
                  <c:v>105</c:v>
                </c:pt>
                <c:pt idx="12">
                  <c:v>112</c:v>
                </c:pt>
                <c:pt idx="13">
                  <c:v>151</c:v>
                </c:pt>
                <c:pt idx="14">
                  <c:v>187</c:v>
                </c:pt>
                <c:pt idx="15">
                  <c:v>201</c:v>
                </c:pt>
                <c:pt idx="16">
                  <c:v>219</c:v>
                </c:pt>
                <c:pt idx="17">
                  <c:v>230</c:v>
                </c:pt>
                <c:pt idx="18">
                  <c:v>238</c:v>
                </c:pt>
                <c:pt idx="19">
                  <c:v>240</c:v>
                </c:pt>
                <c:pt idx="20">
                  <c:v>250</c:v>
                </c:pt>
                <c:pt idx="21">
                  <c:v>258</c:v>
                </c:pt>
                <c:pt idx="22">
                  <c:v>284</c:v>
                </c:pt>
                <c:pt idx="23">
                  <c:v>330</c:v>
                </c:pt>
                <c:pt idx="24">
                  <c:v>365</c:v>
                </c:pt>
                <c:pt idx="25">
                  <c:v>365</c:v>
                </c:pt>
                <c:pt idx="26">
                  <c:v>406</c:v>
                </c:pt>
                <c:pt idx="27">
                  <c:v>450</c:v>
                </c:pt>
                <c:pt idx="28">
                  <c:v>457</c:v>
                </c:pt>
                <c:pt idx="29">
                  <c:v>645</c:v>
                </c:pt>
              </c:numCache>
            </c:numRef>
          </c:xVal>
          <c:yVal>
            <c:numRef>
              <c:f>Sheet4!$E$52:$E$81</c:f>
              <c:numCache>
                <c:formatCode>General</c:formatCode>
                <c:ptCount val="30"/>
                <c:pt idx="0">
                  <c:v>3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  <c:pt idx="4">
                  <c:v>10</c:v>
                </c:pt>
                <c:pt idx="5">
                  <c:v>7</c:v>
                </c:pt>
                <c:pt idx="6">
                  <c:v>12</c:v>
                </c:pt>
                <c:pt idx="7">
                  <c:v>12</c:v>
                </c:pt>
                <c:pt idx="8">
                  <c:v>12</c:v>
                </c:pt>
                <c:pt idx="9">
                  <c:v>15</c:v>
                </c:pt>
                <c:pt idx="10">
                  <c:v>5</c:v>
                </c:pt>
                <c:pt idx="11">
                  <c:v>16</c:v>
                </c:pt>
                <c:pt idx="12">
                  <c:v>10</c:v>
                </c:pt>
                <c:pt idx="13">
                  <c:v>8</c:v>
                </c:pt>
                <c:pt idx="14">
                  <c:v>20</c:v>
                </c:pt>
                <c:pt idx="15">
                  <c:v>8</c:v>
                </c:pt>
                <c:pt idx="16">
                  <c:v>18</c:v>
                </c:pt>
                <c:pt idx="17">
                  <c:v>20</c:v>
                </c:pt>
                <c:pt idx="18">
                  <c:v>41</c:v>
                </c:pt>
                <c:pt idx="19">
                  <c:v>12</c:v>
                </c:pt>
                <c:pt idx="20">
                  <c:v>15</c:v>
                </c:pt>
                <c:pt idx="21">
                  <c:v>20</c:v>
                </c:pt>
                <c:pt idx="22">
                  <c:v>15</c:v>
                </c:pt>
                <c:pt idx="23">
                  <c:v>20</c:v>
                </c:pt>
                <c:pt idx="24">
                  <c:v>12</c:v>
                </c:pt>
                <c:pt idx="25">
                  <c:v>15</c:v>
                </c:pt>
                <c:pt idx="26">
                  <c:v>12</c:v>
                </c:pt>
                <c:pt idx="27">
                  <c:v>15</c:v>
                </c:pt>
                <c:pt idx="28">
                  <c:v>10</c:v>
                </c:pt>
                <c:pt idx="29">
                  <c:v>40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48A8-C74E-AE6D-7B3A5D1266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7693440"/>
        <c:axId val="137712000"/>
      </c:scatterChart>
      <c:valAx>
        <c:axId val="137693440"/>
        <c:scaling>
          <c:orientation val="minMax"/>
          <c:max val="70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r>
                  <a:rPr lang="en-US" sz="1800" b="1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Gestation (in days)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+mn-cs"/>
              </a:defRPr>
            </a:pPr>
            <a:endParaRPr lang="en-US"/>
          </a:p>
        </c:txPr>
        <c:crossAx val="137712000"/>
        <c:crosses val="autoZero"/>
        <c:crossBetween val="midCat"/>
        <c:majorUnit val="100"/>
      </c:valAx>
      <c:valAx>
        <c:axId val="137712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r>
                  <a:rPr lang="en-US" sz="1800" b="1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Longevity </a:t>
                </a:r>
                <a:r>
                  <a:rPr lang="en-US" sz="1800" b="1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1800" b="1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1800" b="1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(</a:t>
                </a:r>
                <a:r>
                  <a:rPr lang="en-US" sz="1800" b="1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years)</a:t>
                </a:r>
              </a:p>
            </c:rich>
          </c:tx>
          <c:layout>
            <c:manualLayout>
              <c:xMode val="edge"/>
              <c:yMode val="edge"/>
              <c:x val="1.4447782842934107E-2"/>
              <c:y val="0.13919287631418956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en-US"/>
          </a:p>
        </c:txPr>
        <c:crossAx val="1376934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PH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Sheet4!$E$51</c:f>
              <c:strCache>
                <c:ptCount val="1"/>
                <c:pt idx="0">
                  <c:v>Longevity_x000d_(in years)</c:v>
                </c:pt>
              </c:strCache>
            </c:strRef>
          </c:tx>
          <c:spPr>
            <a:ln w="317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trendlineType val="linear"/>
            <c:intercept val="15"/>
            <c:dispRSqr val="0"/>
            <c:dispEq val="0"/>
          </c:trendline>
          <c:xVal>
            <c:numRef>
              <c:f>Sheet4!$D$52:$D$81</c:f>
              <c:numCache>
                <c:formatCode>General</c:formatCode>
                <c:ptCount val="30"/>
                <c:pt idx="0">
                  <c:v>21</c:v>
                </c:pt>
                <c:pt idx="1">
                  <c:v>31</c:v>
                </c:pt>
                <c:pt idx="2">
                  <c:v>31</c:v>
                </c:pt>
                <c:pt idx="3">
                  <c:v>36</c:v>
                </c:pt>
                <c:pt idx="4">
                  <c:v>44</c:v>
                </c:pt>
                <c:pt idx="5">
                  <c:v>52</c:v>
                </c:pt>
                <c:pt idx="6">
                  <c:v>61</c:v>
                </c:pt>
                <c:pt idx="7">
                  <c:v>63</c:v>
                </c:pt>
                <c:pt idx="8">
                  <c:v>98</c:v>
                </c:pt>
                <c:pt idx="9">
                  <c:v>100</c:v>
                </c:pt>
                <c:pt idx="10">
                  <c:v>105</c:v>
                </c:pt>
                <c:pt idx="11">
                  <c:v>105</c:v>
                </c:pt>
                <c:pt idx="12">
                  <c:v>112</c:v>
                </c:pt>
                <c:pt idx="13">
                  <c:v>151</c:v>
                </c:pt>
                <c:pt idx="14">
                  <c:v>187</c:v>
                </c:pt>
                <c:pt idx="15">
                  <c:v>201</c:v>
                </c:pt>
                <c:pt idx="16">
                  <c:v>219</c:v>
                </c:pt>
                <c:pt idx="17">
                  <c:v>230</c:v>
                </c:pt>
                <c:pt idx="18">
                  <c:v>238</c:v>
                </c:pt>
                <c:pt idx="19">
                  <c:v>240</c:v>
                </c:pt>
                <c:pt idx="20">
                  <c:v>250</c:v>
                </c:pt>
                <c:pt idx="21">
                  <c:v>258</c:v>
                </c:pt>
                <c:pt idx="22">
                  <c:v>284</c:v>
                </c:pt>
                <c:pt idx="23">
                  <c:v>330</c:v>
                </c:pt>
                <c:pt idx="24">
                  <c:v>365</c:v>
                </c:pt>
                <c:pt idx="25">
                  <c:v>365</c:v>
                </c:pt>
                <c:pt idx="26">
                  <c:v>406</c:v>
                </c:pt>
                <c:pt idx="27">
                  <c:v>450</c:v>
                </c:pt>
                <c:pt idx="28">
                  <c:v>457</c:v>
                </c:pt>
                <c:pt idx="29">
                  <c:v>645</c:v>
                </c:pt>
              </c:numCache>
            </c:numRef>
          </c:xVal>
          <c:yVal>
            <c:numRef>
              <c:f>Sheet4!$E$52:$E$81</c:f>
              <c:numCache>
                <c:formatCode>General</c:formatCode>
                <c:ptCount val="30"/>
                <c:pt idx="0">
                  <c:v>3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  <c:pt idx="4">
                  <c:v>10</c:v>
                </c:pt>
                <c:pt idx="5">
                  <c:v>7</c:v>
                </c:pt>
                <c:pt idx="6">
                  <c:v>12</c:v>
                </c:pt>
                <c:pt idx="7">
                  <c:v>12</c:v>
                </c:pt>
                <c:pt idx="8">
                  <c:v>12</c:v>
                </c:pt>
                <c:pt idx="9">
                  <c:v>15</c:v>
                </c:pt>
                <c:pt idx="10">
                  <c:v>5</c:v>
                </c:pt>
                <c:pt idx="11">
                  <c:v>16</c:v>
                </c:pt>
                <c:pt idx="12">
                  <c:v>10</c:v>
                </c:pt>
                <c:pt idx="13">
                  <c:v>8</c:v>
                </c:pt>
                <c:pt idx="14">
                  <c:v>20</c:v>
                </c:pt>
                <c:pt idx="15">
                  <c:v>8</c:v>
                </c:pt>
                <c:pt idx="16">
                  <c:v>18</c:v>
                </c:pt>
                <c:pt idx="17">
                  <c:v>20</c:v>
                </c:pt>
                <c:pt idx="18">
                  <c:v>41</c:v>
                </c:pt>
                <c:pt idx="19">
                  <c:v>12</c:v>
                </c:pt>
                <c:pt idx="20">
                  <c:v>15</c:v>
                </c:pt>
                <c:pt idx="21">
                  <c:v>20</c:v>
                </c:pt>
                <c:pt idx="22">
                  <c:v>15</c:v>
                </c:pt>
                <c:pt idx="23">
                  <c:v>20</c:v>
                </c:pt>
                <c:pt idx="24">
                  <c:v>12</c:v>
                </c:pt>
                <c:pt idx="25">
                  <c:v>15</c:v>
                </c:pt>
                <c:pt idx="26">
                  <c:v>12</c:v>
                </c:pt>
                <c:pt idx="27">
                  <c:v>15</c:v>
                </c:pt>
                <c:pt idx="28">
                  <c:v>10</c:v>
                </c:pt>
                <c:pt idx="29">
                  <c:v>40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EA5F-C248-95F7-2B6B130B4A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7753728"/>
        <c:axId val="137755648"/>
      </c:scatterChart>
      <c:valAx>
        <c:axId val="137753728"/>
        <c:scaling>
          <c:orientation val="minMax"/>
          <c:max val="70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r>
                  <a:rPr lang="en-US" sz="1800" b="1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Gestation (in days)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+mn-cs"/>
              </a:defRPr>
            </a:pPr>
            <a:endParaRPr lang="en-US"/>
          </a:p>
        </c:txPr>
        <c:crossAx val="137755648"/>
        <c:crosses val="autoZero"/>
        <c:crossBetween val="midCat"/>
        <c:majorUnit val="100"/>
      </c:valAx>
      <c:valAx>
        <c:axId val="1377556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r>
                  <a:rPr lang="en-US" sz="1800" b="1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Longevity </a:t>
                </a:r>
                <a:r>
                  <a:rPr lang="en-US" sz="1800" b="1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1800" b="1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1800" b="1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(</a:t>
                </a:r>
                <a:r>
                  <a:rPr lang="en-US" sz="1800" b="1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years)</a:t>
                </a:r>
              </a:p>
            </c:rich>
          </c:tx>
          <c:layout>
            <c:manualLayout>
              <c:xMode val="edge"/>
              <c:yMode val="edge"/>
              <c:x val="1.4459949932001077E-2"/>
              <c:y val="0.12036048460044189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en-US"/>
          </a:p>
        </c:txPr>
        <c:crossAx val="1377537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PH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022973490232138"/>
          <c:y val="7.4990227285419098E-2"/>
          <c:w val="0.7168835193658919"/>
          <c:h val="0.73911505742633232"/>
        </c:manualLayout>
      </c:layout>
      <c:scatterChart>
        <c:scatterStyle val="lineMarker"/>
        <c:varyColors val="0"/>
        <c:ser>
          <c:idx val="0"/>
          <c:order val="0"/>
          <c:tx>
            <c:strRef>
              <c:f>'Obesity Data'!$B$1</c:f>
              <c:strCache>
                <c:ptCount val="1"/>
                <c:pt idx="0">
                  <c:v>Percent overweight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rgbClr val="0070C0"/>
              </a:solidFill>
              <a:ln w="9525">
                <a:noFill/>
              </a:ln>
              <a:effectLst/>
            </c:spPr>
          </c:marker>
          <c:xVal>
            <c:numRef>
              <c:f>'Obesity Data'!$A$2:$A$15</c:f>
              <c:numCache>
                <c:formatCode>General</c:formatCode>
                <c:ptCount val="14"/>
                <c:pt idx="0">
                  <c:v>1978</c:v>
                </c:pt>
                <c:pt idx="1">
                  <c:v>1980</c:v>
                </c:pt>
                <c:pt idx="2">
                  <c:v>1982</c:v>
                </c:pt>
                <c:pt idx="3">
                  <c:v>1984</c:v>
                </c:pt>
                <c:pt idx="4">
                  <c:v>1986</c:v>
                </c:pt>
                <c:pt idx="5">
                  <c:v>1988</c:v>
                </c:pt>
                <c:pt idx="6">
                  <c:v>1990</c:v>
                </c:pt>
                <c:pt idx="7">
                  <c:v>1992</c:v>
                </c:pt>
                <c:pt idx="8">
                  <c:v>1994</c:v>
                </c:pt>
                <c:pt idx="9">
                  <c:v>1996</c:v>
                </c:pt>
                <c:pt idx="10">
                  <c:v>1998</c:v>
                </c:pt>
                <c:pt idx="11">
                  <c:v>2000</c:v>
                </c:pt>
                <c:pt idx="12">
                  <c:v>2002</c:v>
                </c:pt>
                <c:pt idx="13">
                  <c:v>2004</c:v>
                </c:pt>
              </c:numCache>
            </c:numRef>
          </c:xVal>
          <c:yVal>
            <c:numRef>
              <c:f>'Obesity Data'!$B$2:$B$15</c:f>
              <c:numCache>
                <c:formatCode>0%</c:formatCode>
                <c:ptCount val="14"/>
                <c:pt idx="0">
                  <c:v>0.46</c:v>
                </c:pt>
                <c:pt idx="1">
                  <c:v>0.47</c:v>
                </c:pt>
                <c:pt idx="2">
                  <c:v>0.49</c:v>
                </c:pt>
                <c:pt idx="3">
                  <c:v>0.5</c:v>
                </c:pt>
                <c:pt idx="4">
                  <c:v>0.52</c:v>
                </c:pt>
                <c:pt idx="5">
                  <c:v>0.53</c:v>
                </c:pt>
                <c:pt idx="6">
                  <c:v>0.54</c:v>
                </c:pt>
                <c:pt idx="7">
                  <c:v>0.55000000000000004</c:v>
                </c:pt>
                <c:pt idx="8">
                  <c:v>0.56999999999999995</c:v>
                </c:pt>
                <c:pt idx="9">
                  <c:v>0.59</c:v>
                </c:pt>
                <c:pt idx="10">
                  <c:v>0.61</c:v>
                </c:pt>
                <c:pt idx="11">
                  <c:v>0.64</c:v>
                </c:pt>
                <c:pt idx="12">
                  <c:v>0.65</c:v>
                </c:pt>
                <c:pt idx="13">
                  <c:v>0.65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54A9-CF46-BE7D-27CB355D3A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8082560"/>
        <c:axId val="137790208"/>
      </c:scatterChart>
      <c:valAx>
        <c:axId val="138082560"/>
        <c:scaling>
          <c:orientation val="minMax"/>
          <c:max val="2010"/>
          <c:min val="197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Year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790208"/>
        <c:crosses val="autoZero"/>
        <c:crossBetween val="midCat"/>
        <c:majorUnit val="7"/>
      </c:valAx>
      <c:valAx>
        <c:axId val="137790208"/>
        <c:scaling>
          <c:orientation val="minMax"/>
          <c:max val="0.70000000000000007"/>
          <c:min val="0.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r>
                  <a:rPr lang="en-US" sz="1400" b="1">
                    <a:solidFill>
                      <a:sysClr val="windowText" lastClr="00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Percentage</a:t>
                </a:r>
                <a:r>
                  <a:rPr lang="en-US" sz="1400" b="1" baseline="0">
                    <a:solidFill>
                      <a:sysClr val="windowText" lastClr="00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U.S. Population Overweight</a:t>
                </a:r>
                <a:endParaRPr lang="en-US" sz="1400" b="1">
                  <a:solidFill>
                    <a:sysClr val="windowText" lastClr="00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c:rich>
          </c:tx>
          <c:layout>
            <c:manualLayout>
              <c:xMode val="edge"/>
              <c:yMode val="edge"/>
              <c:x val="1.8167457827268602E-2"/>
              <c:y val="0.15680151748419499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08256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PH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Sheet1!$A$2:$A$43</c:f>
              <c:numCache>
                <c:formatCode>General</c:formatCode>
                <c:ptCount val="42"/>
                <c:pt idx="0">
                  <c:v>16</c:v>
                </c:pt>
                <c:pt idx="1">
                  <c:v>17</c:v>
                </c:pt>
                <c:pt idx="2">
                  <c:v>17</c:v>
                </c:pt>
                <c:pt idx="3">
                  <c:v>20</c:v>
                </c:pt>
                <c:pt idx="4">
                  <c:v>18</c:v>
                </c:pt>
                <c:pt idx="5">
                  <c:v>21</c:v>
                </c:pt>
                <c:pt idx="6">
                  <c:v>22</c:v>
                </c:pt>
                <c:pt idx="7">
                  <c:v>23</c:v>
                </c:pt>
                <c:pt idx="8">
                  <c:v>26</c:v>
                </c:pt>
                <c:pt idx="9">
                  <c:v>28</c:v>
                </c:pt>
                <c:pt idx="10">
                  <c:v>28</c:v>
                </c:pt>
                <c:pt idx="11">
                  <c:v>29</c:v>
                </c:pt>
                <c:pt idx="12">
                  <c:v>30</c:v>
                </c:pt>
                <c:pt idx="13">
                  <c:v>35</c:v>
                </c:pt>
                <c:pt idx="14">
                  <c:v>36</c:v>
                </c:pt>
                <c:pt idx="15">
                  <c:v>34</c:v>
                </c:pt>
                <c:pt idx="16">
                  <c:v>36</c:v>
                </c:pt>
                <c:pt idx="17">
                  <c:v>41</c:v>
                </c:pt>
                <c:pt idx="18">
                  <c:v>42</c:v>
                </c:pt>
                <c:pt idx="19">
                  <c:v>45</c:v>
                </c:pt>
                <c:pt idx="20">
                  <c:v>47</c:v>
                </c:pt>
                <c:pt idx="21">
                  <c:v>46</c:v>
                </c:pt>
                <c:pt idx="22">
                  <c:v>48</c:v>
                </c:pt>
                <c:pt idx="23">
                  <c:v>51</c:v>
                </c:pt>
                <c:pt idx="24">
                  <c:v>52</c:v>
                </c:pt>
                <c:pt idx="25">
                  <c:v>54</c:v>
                </c:pt>
                <c:pt idx="26">
                  <c:v>55</c:v>
                </c:pt>
                <c:pt idx="27">
                  <c:v>58</c:v>
                </c:pt>
                <c:pt idx="28">
                  <c:v>59</c:v>
                </c:pt>
                <c:pt idx="29">
                  <c:v>60</c:v>
                </c:pt>
                <c:pt idx="30">
                  <c:v>60</c:v>
                </c:pt>
                <c:pt idx="31">
                  <c:v>65</c:v>
                </c:pt>
                <c:pt idx="32">
                  <c:v>66</c:v>
                </c:pt>
                <c:pt idx="33">
                  <c:v>67</c:v>
                </c:pt>
                <c:pt idx="34">
                  <c:v>68</c:v>
                </c:pt>
                <c:pt idx="35">
                  <c:v>72</c:v>
                </c:pt>
                <c:pt idx="36">
                  <c:v>74</c:v>
                </c:pt>
                <c:pt idx="37">
                  <c:v>75</c:v>
                </c:pt>
                <c:pt idx="38">
                  <c:v>71</c:v>
                </c:pt>
                <c:pt idx="39">
                  <c:v>77</c:v>
                </c:pt>
                <c:pt idx="40">
                  <c:v>78</c:v>
                </c:pt>
                <c:pt idx="41">
                  <c:v>83</c:v>
                </c:pt>
              </c:numCache>
            </c:numRef>
          </c:xVal>
          <c:yVal>
            <c:numRef>
              <c:f>Sheet1!$B$2:$B$43</c:f>
              <c:numCache>
                <c:formatCode>General</c:formatCode>
                <c:ptCount val="42"/>
                <c:pt idx="0">
                  <c:v>525</c:v>
                </c:pt>
                <c:pt idx="1">
                  <c:v>578</c:v>
                </c:pt>
                <c:pt idx="2">
                  <c:v>580</c:v>
                </c:pt>
                <c:pt idx="3">
                  <c:v>550</c:v>
                </c:pt>
                <c:pt idx="4">
                  <c:v>475</c:v>
                </c:pt>
                <c:pt idx="5">
                  <c:v>400</c:v>
                </c:pt>
                <c:pt idx="6">
                  <c:v>490</c:v>
                </c:pt>
                <c:pt idx="7">
                  <c:v>525</c:v>
                </c:pt>
                <c:pt idx="8">
                  <c:v>480</c:v>
                </c:pt>
                <c:pt idx="9">
                  <c:v>487</c:v>
                </c:pt>
                <c:pt idx="10">
                  <c:v>485</c:v>
                </c:pt>
                <c:pt idx="11">
                  <c:v>480</c:v>
                </c:pt>
                <c:pt idx="12">
                  <c:v>490</c:v>
                </c:pt>
                <c:pt idx="13">
                  <c:v>525</c:v>
                </c:pt>
                <c:pt idx="14">
                  <c:v>428</c:v>
                </c:pt>
                <c:pt idx="15">
                  <c:v>425</c:v>
                </c:pt>
                <c:pt idx="16">
                  <c:v>475</c:v>
                </c:pt>
                <c:pt idx="17">
                  <c:v>432</c:v>
                </c:pt>
                <c:pt idx="18">
                  <c:v>385</c:v>
                </c:pt>
                <c:pt idx="19">
                  <c:v>421</c:v>
                </c:pt>
                <c:pt idx="20">
                  <c:v>375</c:v>
                </c:pt>
                <c:pt idx="21">
                  <c:v>460</c:v>
                </c:pt>
                <c:pt idx="22">
                  <c:v>401</c:v>
                </c:pt>
                <c:pt idx="23">
                  <c:v>450</c:v>
                </c:pt>
                <c:pt idx="24">
                  <c:v>425</c:v>
                </c:pt>
                <c:pt idx="25">
                  <c:v>392</c:v>
                </c:pt>
                <c:pt idx="26">
                  <c:v>367</c:v>
                </c:pt>
                <c:pt idx="27">
                  <c:v>367</c:v>
                </c:pt>
                <c:pt idx="28">
                  <c:v>383</c:v>
                </c:pt>
                <c:pt idx="29">
                  <c:v>450</c:v>
                </c:pt>
                <c:pt idx="30">
                  <c:v>350</c:v>
                </c:pt>
                <c:pt idx="31">
                  <c:v>315</c:v>
                </c:pt>
                <c:pt idx="32">
                  <c:v>309</c:v>
                </c:pt>
                <c:pt idx="33">
                  <c:v>382</c:v>
                </c:pt>
                <c:pt idx="34">
                  <c:v>352</c:v>
                </c:pt>
                <c:pt idx="35">
                  <c:v>323</c:v>
                </c:pt>
                <c:pt idx="36">
                  <c:v>362</c:v>
                </c:pt>
                <c:pt idx="37">
                  <c:v>325</c:v>
                </c:pt>
                <c:pt idx="38">
                  <c:v>303</c:v>
                </c:pt>
                <c:pt idx="39">
                  <c:v>392</c:v>
                </c:pt>
                <c:pt idx="40">
                  <c:v>349</c:v>
                </c:pt>
                <c:pt idx="41">
                  <c:v>311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31D9-DB45-9F36-F2B75F8E6F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0038784"/>
        <c:axId val="130070784"/>
      </c:scatterChart>
      <c:valAx>
        <c:axId val="130038784"/>
        <c:scaling>
          <c:orientation val="minMax"/>
          <c:max val="85"/>
          <c:min val="1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r>
                  <a:rPr lang="en-US" sz="1600" b="1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Driver Age (years)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070784"/>
        <c:crosses val="autoZero"/>
        <c:crossBetween val="midCat"/>
      </c:valAx>
      <c:valAx>
        <c:axId val="130070784"/>
        <c:scaling>
          <c:orientation val="minMax"/>
          <c:min val="3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Maximum Distance to Read Sign (feet)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0387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PH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Sheet1!$A$2:$A$37</c:f>
              <c:numCache>
                <c:formatCode>m/d/yy\ h:mm;@</c:formatCode>
                <c:ptCount val="36"/>
                <c:pt idx="0">
                  <c:v>44258.400000000001</c:v>
                </c:pt>
                <c:pt idx="1">
                  <c:v>44258</c:v>
                </c:pt>
                <c:pt idx="2">
                  <c:v>44256.4</c:v>
                </c:pt>
                <c:pt idx="3">
                  <c:v>44258.400000000001</c:v>
                </c:pt>
                <c:pt idx="4">
                  <c:v>44258.8</c:v>
                </c:pt>
                <c:pt idx="5">
                  <c:v>44258.2</c:v>
                </c:pt>
                <c:pt idx="6">
                  <c:v>44259.4</c:v>
                </c:pt>
                <c:pt idx="7">
                  <c:v>44258.8</c:v>
                </c:pt>
                <c:pt idx="8">
                  <c:v>44257.5</c:v>
                </c:pt>
                <c:pt idx="9">
                  <c:v>44259.3</c:v>
                </c:pt>
                <c:pt idx="10">
                  <c:v>44256.1</c:v>
                </c:pt>
                <c:pt idx="11">
                  <c:v>44259.6</c:v>
                </c:pt>
                <c:pt idx="12">
                  <c:v>44260</c:v>
                </c:pt>
                <c:pt idx="13">
                  <c:v>44259.199999999997</c:v>
                </c:pt>
                <c:pt idx="14">
                  <c:v>44259.8</c:v>
                </c:pt>
                <c:pt idx="15">
                  <c:v>44258.1</c:v>
                </c:pt>
                <c:pt idx="16">
                  <c:v>44258.9</c:v>
                </c:pt>
                <c:pt idx="17">
                  <c:v>44258</c:v>
                </c:pt>
                <c:pt idx="18">
                  <c:v>44256.5</c:v>
                </c:pt>
                <c:pt idx="19">
                  <c:v>44256.800000000003</c:v>
                </c:pt>
                <c:pt idx="20">
                  <c:v>44259.1</c:v>
                </c:pt>
                <c:pt idx="21">
                  <c:v>44259.5</c:v>
                </c:pt>
                <c:pt idx="22">
                  <c:v>44257.8</c:v>
                </c:pt>
                <c:pt idx="23">
                  <c:v>44260</c:v>
                </c:pt>
                <c:pt idx="24">
                  <c:v>44258.7</c:v>
                </c:pt>
                <c:pt idx="25">
                  <c:v>44258.400000000001</c:v>
                </c:pt>
                <c:pt idx="26">
                  <c:v>44258.400000000001</c:v>
                </c:pt>
                <c:pt idx="27">
                  <c:v>44256.6</c:v>
                </c:pt>
                <c:pt idx="28">
                  <c:v>44256.4</c:v>
                </c:pt>
                <c:pt idx="29">
                  <c:v>44257.7</c:v>
                </c:pt>
                <c:pt idx="30">
                  <c:v>44258.7</c:v>
                </c:pt>
                <c:pt idx="31">
                  <c:v>44257.2</c:v>
                </c:pt>
                <c:pt idx="32">
                  <c:v>44257.3</c:v>
                </c:pt>
                <c:pt idx="33">
                  <c:v>44257.1</c:v>
                </c:pt>
                <c:pt idx="34">
                  <c:v>44258.3</c:v>
                </c:pt>
                <c:pt idx="35">
                  <c:v>44256</c:v>
                </c:pt>
              </c:numCache>
            </c:numRef>
          </c:xVal>
          <c:yVal>
            <c:numRef>
              <c:f>Sheet1!$B$2:$B$37</c:f>
              <c:numCache>
                <c:formatCode>0.00</c:formatCode>
                <c:ptCount val="36"/>
                <c:pt idx="0">
                  <c:v>122</c:v>
                </c:pt>
                <c:pt idx="1">
                  <c:v>185</c:v>
                </c:pt>
                <c:pt idx="2">
                  <c:v>292</c:v>
                </c:pt>
                <c:pt idx="3">
                  <c:v>116</c:v>
                </c:pt>
                <c:pt idx="4">
                  <c:v>298</c:v>
                </c:pt>
                <c:pt idx="5">
                  <c:v>96</c:v>
                </c:pt>
                <c:pt idx="6">
                  <c:v>89</c:v>
                </c:pt>
                <c:pt idx="7">
                  <c:v>277</c:v>
                </c:pt>
                <c:pt idx="8">
                  <c:v>246</c:v>
                </c:pt>
                <c:pt idx="9">
                  <c:v>253</c:v>
                </c:pt>
                <c:pt idx="10">
                  <c:v>160</c:v>
                </c:pt>
                <c:pt idx="11">
                  <c:v>157</c:v>
                </c:pt>
                <c:pt idx="12">
                  <c:v>187</c:v>
                </c:pt>
                <c:pt idx="13">
                  <c:v>250</c:v>
                </c:pt>
                <c:pt idx="14">
                  <c:v>227</c:v>
                </c:pt>
                <c:pt idx="15">
                  <c:v>85</c:v>
                </c:pt>
                <c:pt idx="16">
                  <c:v>190</c:v>
                </c:pt>
                <c:pt idx="17">
                  <c:v>182</c:v>
                </c:pt>
                <c:pt idx="18">
                  <c:v>227</c:v>
                </c:pt>
                <c:pt idx="19">
                  <c:v>237</c:v>
                </c:pt>
                <c:pt idx="20">
                  <c:v>249</c:v>
                </c:pt>
                <c:pt idx="21">
                  <c:v>156</c:v>
                </c:pt>
                <c:pt idx="22">
                  <c:v>114</c:v>
                </c:pt>
                <c:pt idx="23">
                  <c:v>242</c:v>
                </c:pt>
                <c:pt idx="24">
                  <c:v>166</c:v>
                </c:pt>
                <c:pt idx="25">
                  <c:v>203</c:v>
                </c:pt>
                <c:pt idx="26">
                  <c:v>153</c:v>
                </c:pt>
                <c:pt idx="27">
                  <c:v>115</c:v>
                </c:pt>
                <c:pt idx="28">
                  <c:v>143</c:v>
                </c:pt>
                <c:pt idx="29">
                  <c:v>285</c:v>
                </c:pt>
                <c:pt idx="30">
                  <c:v>247</c:v>
                </c:pt>
                <c:pt idx="31">
                  <c:v>298</c:v>
                </c:pt>
                <c:pt idx="32">
                  <c:v>221</c:v>
                </c:pt>
                <c:pt idx="33">
                  <c:v>235</c:v>
                </c:pt>
                <c:pt idx="34">
                  <c:v>92</c:v>
                </c:pt>
                <c:pt idx="35">
                  <c:v>229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980A-1F47-B1B5-E8B5539136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8352640"/>
        <c:axId val="128354944"/>
      </c:scatterChart>
      <c:valAx>
        <c:axId val="128352640"/>
        <c:scaling>
          <c:orientation val="minMax"/>
          <c:min val="44255.9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Date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m\/d\/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354944"/>
        <c:crosses val="autoZero"/>
        <c:crossBetween val="midCat"/>
      </c:valAx>
      <c:valAx>
        <c:axId val="128354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Video Views (millions)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3526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2641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1503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880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243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1364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06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74148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44607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76234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18286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38985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08773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10138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10138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10138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98685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86692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206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94110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74009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25687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6788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chart" Target="../charts/char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5" Type="http://schemas.openxmlformats.org/officeDocument/2006/relationships/image" Target="../media/image33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1" y="2212773"/>
            <a:ext cx="507765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5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Scatter Plots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and Linear Relationships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131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lang="en-US" sz="28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-11874" y="-8100"/>
            <a:ext cx="4094106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9766" y="1594381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30266" y="1237668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MA.912.DP.2.4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Fit a linear function to bivariate numerical data that suggests a linear association and interpret the slope and 𝑦-intercept of the model. Use the model to solve real-world problems in terms of the context of the data.</a:t>
            </a:r>
          </a:p>
        </p:txBody>
      </p:sp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237332" y="-88032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xmlns="" id="{78632872-3F42-3447-924A-20A16C6976F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96;g103996e1364_0_10">
            <a:extLst>
              <a:ext uri="{FF2B5EF4-FFF2-40B4-BE49-F238E27FC236}">
                <a16:creationId xmlns:a16="http://schemas.microsoft.com/office/drawing/2014/main" xmlns="" id="{5BB4D65A-27E8-4F4F-9348-5380FE318E8D}"/>
              </a:ext>
            </a:extLst>
          </p:cNvPr>
          <p:cNvSpPr txBox="1">
            <a:spLocks/>
          </p:cNvSpPr>
          <p:nvPr/>
        </p:nvSpPr>
        <p:spPr>
          <a:xfrm>
            <a:off x="714383" y="1272198"/>
            <a:ext cx="10800000" cy="474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  <p:pic>
        <p:nvPicPr>
          <p:cNvPr id="8" name="Google Shape;281;g104476d1465_1_17">
            <a:extLst>
              <a:ext uri="{FF2B5EF4-FFF2-40B4-BE49-F238E27FC236}">
                <a16:creationId xmlns="" xmlns:a16="http://schemas.microsoft.com/office/drawing/2014/main" id="{D915A027-4791-D04E-90A8-9E6239ED88E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95;g103996e1364_0_10">
            <a:extLst>
              <a:ext uri="{FF2B5EF4-FFF2-40B4-BE49-F238E27FC236}">
                <a16:creationId xmlns="" xmlns:a16="http://schemas.microsoft.com/office/drawing/2014/main" id="{73A67FE7-C13F-C24F-85E9-A4B96A1F42A8}"/>
              </a:ext>
            </a:extLst>
          </p:cNvPr>
          <p:cNvSpPr txBox="1">
            <a:spLocks/>
          </p:cNvSpPr>
          <p:nvPr/>
        </p:nvSpPr>
        <p:spPr>
          <a:xfrm>
            <a:off x="1237332" y="-88032"/>
            <a:ext cx="105980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703328" y="1453055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6575" indent="-536575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informally fit a straight line to model the relationship between two variables in a scatter plot.</a:t>
            </a:r>
          </a:p>
          <a:p>
            <a:pPr marL="536575" indent="-536575">
              <a:buFont typeface="Wingdings" pitchFamily="2" charset="2"/>
              <a:buChar char="q"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36575" indent="-536575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interpret the slope and 𝑦-intercept of a linear function fit to bivariate numerical data in context.</a:t>
            </a:r>
          </a:p>
          <a:p>
            <a:pPr marL="536575" indent="-536575">
              <a:buFont typeface="Wingdings" pitchFamily="2" charset="2"/>
              <a:buChar char="q"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36575" indent="-536575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an appropriate domain and range for bivariate numerical data based on the context.</a:t>
            </a:r>
          </a:p>
        </p:txBody>
      </p:sp>
      <p:sp>
        <p:nvSpPr>
          <p:cNvPr id="8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37332" y="-880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1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6025" y="291312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6798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70289" y="316922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3.5.1 Warm-Up: Bell 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835484" y="1237577"/>
            <a:ext cx="1080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by calculating the value that completes each statement given the context and identifying the slope of the line that represents the context.</a:t>
            </a: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xmlns="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xmlns="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xmlns="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xmlns="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="" id="{EAEF41DA-2B9E-8D4D-AD7E-A1ABEC501E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7147065"/>
                  </p:ext>
                </p:extLst>
              </p:nvPr>
            </p:nvGraphicFramePr>
            <p:xfrm>
              <a:off x="2474112" y="2412405"/>
              <a:ext cx="7740000" cy="3663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700000">
                      <a:extLst>
                        <a:ext uri="{9D8B030D-6E8A-4147-A177-3AD203B41FA5}">
                          <a16:colId xmlns:a16="http://schemas.microsoft.com/office/drawing/2014/main" xmlns="" val="2684004515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="" val="3925395709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="" val="2351785554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Scenario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Unit Rate Statement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Slope of the Line Representing the Context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51596558"/>
                      </a:ext>
                    </a:extLst>
                  </a:tr>
                  <a:tr h="126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Five granola bars cost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$20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A granola bar costs $____.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887879963"/>
                      </a:ext>
                    </a:extLst>
                  </a:tr>
                  <a:tr h="126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A car travels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100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miles at a constant speed for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2.5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hours.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4192" marR="641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The car is traveling ____ miles per hour.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4192" marR="641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4192" marR="64192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AEF41DA-2B9E-8D4D-AD7E-A1ABEC501E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7147065"/>
                  </p:ext>
                </p:extLst>
              </p:nvPr>
            </p:nvGraphicFramePr>
            <p:xfrm>
              <a:off x="2474112" y="2412405"/>
              <a:ext cx="7740000" cy="3663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7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684004515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925395709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351785554"/>
                        </a:ext>
                      </a:extLst>
                    </a:gridCol>
                  </a:tblGrid>
                  <a:tr h="1143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Scenario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Unit Rate Statement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Slope of the Line Representing the Context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51596558"/>
                      </a:ext>
                    </a:extLst>
                  </a:tr>
                  <a:tr h="12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26" t="-92718" r="-186682" b="-10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A granola bar costs $____.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887879963"/>
                      </a:ext>
                    </a:extLst>
                  </a:tr>
                  <a:tr h="12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4192" marR="641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26" t="-191787" r="-186682" b="-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The car is traveling ____ miles per hour.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4192" marR="6419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4192" marR="64192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6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326;g103996e1364_0_25">
            <a:extLst>
              <a:ext uri="{FF2B5EF4-FFF2-40B4-BE49-F238E27FC236}">
                <a16:creationId xmlns=""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xmlns="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xmlns="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xmlns="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xmlns="" id="{EAEF41DA-2B9E-8D4D-AD7E-A1ABEC501E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8750111"/>
                  </p:ext>
                </p:extLst>
              </p:nvPr>
            </p:nvGraphicFramePr>
            <p:xfrm>
              <a:off x="2226000" y="748392"/>
              <a:ext cx="7740000" cy="3663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xmlns="" val="2684004515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="" val="3925395709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xmlns="" val="2351785554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Scenario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Unit Rate Statement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Slope of the Line Representing the Context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51596558"/>
                      </a:ext>
                    </a:extLst>
                  </a:tr>
                  <a:tr h="126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Tyler can do </a:t>
                          </a:r>
                          <a:b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50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sit-ups in </a:t>
                          </a:r>
                          <a:b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minutes.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On average, Tyler does ____ sit-ups per minute.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887879963"/>
                      </a:ext>
                    </a:extLst>
                  </a:tr>
                  <a:tr h="126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ounces of yeast flakes cost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$4.29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One ounce of yeast flakes costs $____.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AEF41DA-2B9E-8D4D-AD7E-A1ABEC501E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8750111"/>
                  </p:ext>
                </p:extLst>
              </p:nvPr>
            </p:nvGraphicFramePr>
            <p:xfrm>
              <a:off x="2226000" y="748392"/>
              <a:ext cx="7740000" cy="3663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684004515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925395709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351785554"/>
                        </a:ext>
                      </a:extLst>
                    </a:gridCol>
                  </a:tblGrid>
                  <a:tr h="1143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Scenario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Unit Rate Statement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Slope of the Line Representing the Context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51596558"/>
                      </a:ext>
                    </a:extLst>
                  </a:tr>
                  <a:tr h="12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92718" r="-207506" b="-10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On average, Tyler does ____ sit-ups per minute.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887879963"/>
                      </a:ext>
                    </a:extLst>
                  </a:tr>
                  <a:tr h="12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91787" r="-207506" b="-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One ounce of yeast flakes costs $____.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7970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04264" y="268237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image14.png" descr="Icon&#10;&#10;Description automatically generated">
            <a:extLst>
              <a:ext uri="{FF2B5EF4-FFF2-40B4-BE49-F238E27FC236}">
                <a16:creationId xmlns:a16="http://schemas.microsoft.com/office/drawing/2014/main" xmlns="" id="{EAD2936F-0811-4742-96D4-1188C504F302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034175" y="2766145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1888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2660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75057" y="0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3.5.2 Refresher: Scatter Plots and </a:t>
            </a: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Their </a:t>
            </a: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E208A00-51E7-C544-ABDE-AE9DC3DAA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42" y="1455445"/>
            <a:ext cx="108000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 equations can also be used to model the relationship between </a:t>
            </a:r>
            <a:r>
              <a:rPr lang="en-US" altLang="en-US" sz="2000" b="1" i="1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bivariate data</a:t>
            </a: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 shows a linear relationship.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PH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PH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PH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PH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PH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Bivariate numerical data can be represented using a </a:t>
            </a:r>
            <a:r>
              <a:rPr lang="en-US" altLang="en-US" sz="2000" b="1" i="1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scatter plot</a:t>
            </a: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" name="image14.png" descr="Icon&#10;&#10;Description automatically generated">
            <a:extLst>
              <a:ext uri="{FF2B5EF4-FFF2-40B4-BE49-F238E27FC236}">
                <a16:creationId xmlns:a16="http://schemas.microsoft.com/office/drawing/2014/main" xmlns="" id="{0BB96B9E-9AC6-2D40-A28B-314AB3056CB1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036"/>
            <a:ext cx="747432" cy="747432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" name="Group 1"/>
          <p:cNvGrpSpPr/>
          <p:nvPr/>
        </p:nvGrpSpPr>
        <p:grpSpPr>
          <a:xfrm>
            <a:off x="2730042" y="2412790"/>
            <a:ext cx="6480000" cy="903358"/>
            <a:chOff x="1273775" y="2753449"/>
            <a:chExt cx="6480000" cy="903358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xmlns="" id="{C6AF0C33-A01E-D54D-9E1C-11908DEFE9C3}"/>
                </a:ext>
              </a:extLst>
            </p:cNvPr>
            <p:cNvSpPr/>
            <p:nvPr/>
          </p:nvSpPr>
          <p:spPr>
            <a:xfrm>
              <a:off x="1273775" y="2753449"/>
              <a:ext cx="6480000" cy="903358"/>
            </a:xfrm>
            <a:prstGeom prst="roundRect">
              <a:avLst>
                <a:gd name="adj" fmla="val 16667"/>
              </a:avLst>
            </a:prstGeom>
            <a:solidFill>
              <a:srgbClr val="E2EED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72000" rIns="91425" bIns="0" anchor="ctr" anchorCtr="0">
              <a:spAutoFit/>
            </a:bodyPr>
            <a:lstStyle/>
            <a:p>
              <a:pPr marL="625475">
                <a:spcAft>
                  <a:spcPts val="1000"/>
                </a:spcAft>
              </a:pPr>
              <a:r>
                <a:rPr lang="en-US" sz="2000" b="1" i="1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Bivariate data</a:t>
              </a: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is data that measures two characteristics of a population.</a:t>
              </a:r>
              <a:endParaRPr lang="x-none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8" name="Shape 7" descr="Icon&#10;&#10;Description automatically generated">
              <a:extLst>
                <a:ext uri="{FF2B5EF4-FFF2-40B4-BE49-F238E27FC236}">
                  <a16:creationId xmlns:a16="http://schemas.microsoft.com/office/drawing/2014/main" xmlns="" id="{0D12DB3B-C444-D64D-98B7-A2CC8CA5327B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386198" y="2935253"/>
              <a:ext cx="539750" cy="53975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562C8A10-6F15-A44C-8E1B-40E07FA82E30}"/>
              </a:ext>
            </a:extLst>
          </p:cNvPr>
          <p:cNvGrpSpPr/>
          <p:nvPr/>
        </p:nvGrpSpPr>
        <p:grpSpPr>
          <a:xfrm>
            <a:off x="1830042" y="4469478"/>
            <a:ext cx="8280000" cy="1294932"/>
            <a:chOff x="1812784" y="3358109"/>
            <a:chExt cx="8280000" cy="12952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xmlns="" id="{638AFF0E-A2CA-FD4B-B947-9777011DE731}"/>
                </a:ext>
              </a:extLst>
            </p:cNvPr>
            <p:cNvGrpSpPr/>
            <p:nvPr/>
          </p:nvGrpSpPr>
          <p:grpSpPr>
            <a:xfrm>
              <a:off x="1812784" y="3358109"/>
              <a:ext cx="8280000" cy="1295219"/>
              <a:chOff x="1812784" y="3358109"/>
              <a:chExt cx="8280000" cy="1295219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xmlns="" id="{58220196-90F0-A748-A5BE-3682EEF91AB5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xmlns="" id="{8DBF91AC-7F30-2547-9126-A1262EE8ED97}"/>
                  </a:ext>
                </a:extLst>
              </p:cNvPr>
              <p:cNvGrpSpPr/>
              <p:nvPr/>
            </p:nvGrpSpPr>
            <p:grpSpPr>
              <a:xfrm>
                <a:off x="1812784" y="3358109"/>
                <a:ext cx="8280000" cy="1295219"/>
                <a:chOff x="-218516" y="-15491"/>
                <a:chExt cx="8280000" cy="1295219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xmlns="" id="{147B4DCF-52A0-854A-849A-336023892E1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Rounded Rectangle 24">
                  <a:extLst>
                    <a:ext uri="{FF2B5EF4-FFF2-40B4-BE49-F238E27FC236}">
                      <a16:creationId xmlns:a16="http://schemas.microsoft.com/office/drawing/2014/main" xmlns="" id="{8FADF6A7-FD51-484A-8E61-7E029A778224}"/>
                    </a:ext>
                  </a:extLst>
                </p:cNvPr>
                <p:cNvSpPr/>
                <p:nvPr/>
              </p:nvSpPr>
              <p:spPr>
                <a:xfrm>
                  <a:off x="-218516" y="-15491"/>
                  <a:ext cx="8280000" cy="1295219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</p:spPr>
              <p:txBody>
                <a:bodyPr spcFirstLastPara="1" wrap="square" lIns="91425" tIns="72000" rIns="91425" bIns="0" anchor="ctr" anchorCtr="0">
                  <a:spAutoFit/>
                </a:bodyPr>
                <a:lstStyle/>
                <a:p>
                  <a:pPr marL="625475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</a:t>
                  </a:r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scatter plot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is a graph in the coordinate plane representing a set of bivariate numerical data that is used to observe the relationship between two variables.</a:t>
                  </a:r>
                  <a:endParaRPr lang="x-none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26" name="Shape 7" descr="Icon&#10;&#10;Description automatically generated">
                  <a:extLst>
                    <a:ext uri="{FF2B5EF4-FFF2-40B4-BE49-F238E27FC236}">
                      <a16:creationId xmlns:a16="http://schemas.microsoft.com/office/drawing/2014/main" xmlns="" id="{D1D217AB-04DD-0246-A2E6-515E92EBFDA5}"/>
                    </a:ext>
                  </a:extLst>
                </p:cNvPr>
                <p:cNvPicPr preferRelativeResize="0"/>
                <p:nvPr/>
              </p:nvPicPr>
              <p:blipFill rotWithShape="1">
                <a:blip r:embed="rId4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-87802" y="161031"/>
                  <a:ext cx="539750" cy="53975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  <p:pic>
        <p:nvPicPr>
          <p:cNvPr id="1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7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99405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29706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E5E1E0-A54D-BE42-84B5-F917038ADE99}"/>
              </a:ext>
            </a:extLst>
          </p:cNvPr>
          <p:cNvSpPr txBox="1"/>
          <p:nvPr/>
        </p:nvSpPr>
        <p:spPr>
          <a:xfrm>
            <a:off x="530658" y="383586"/>
            <a:ext cx="10800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Each point on a scatter plot represents a specific pair of values from the raw data. The 𝑥- and 𝑦-values are used to plot each data point in the coordinate plane. When all of the points in a data set are represented, a </a:t>
            </a:r>
            <a:r>
              <a:rPr lang="en-US" sz="20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line of fit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 often used to model the relationship between the two characteristics in the data set.</a:t>
            </a:r>
          </a:p>
          <a:p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While different lines of fit can be drawn to model the relationship, the goal is to draw the line of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best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fit to most closely model the relationship and use it to make predictions.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081A3B49-E44E-A541-9BE4-5F5F9241DD0F}"/>
              </a:ext>
            </a:extLst>
          </p:cNvPr>
          <p:cNvGrpSpPr/>
          <p:nvPr/>
        </p:nvGrpSpPr>
        <p:grpSpPr>
          <a:xfrm>
            <a:off x="2294112" y="1885113"/>
            <a:ext cx="7920000" cy="1294932"/>
            <a:chOff x="1849764" y="3315558"/>
            <a:chExt cx="7920000" cy="129504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xmlns="" id="{93395210-1A70-C94D-987D-A38D295F89A6}"/>
                </a:ext>
              </a:extLst>
            </p:cNvPr>
            <p:cNvGrpSpPr/>
            <p:nvPr/>
          </p:nvGrpSpPr>
          <p:grpSpPr>
            <a:xfrm>
              <a:off x="1849764" y="3315558"/>
              <a:ext cx="7920000" cy="1295047"/>
              <a:chOff x="1849764" y="3315558"/>
              <a:chExt cx="7920000" cy="1295047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xmlns="" id="{01172800-2815-5144-8EC6-415CBA6FCA41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xmlns="" id="{0164446E-43C8-8849-9EF4-5D9029F7327D}"/>
                  </a:ext>
                </a:extLst>
              </p:cNvPr>
              <p:cNvGrpSpPr/>
              <p:nvPr/>
            </p:nvGrpSpPr>
            <p:grpSpPr>
              <a:xfrm>
                <a:off x="1849764" y="3315558"/>
                <a:ext cx="7920000" cy="1295047"/>
                <a:chOff x="-181536" y="-58042"/>
                <a:chExt cx="7920000" cy="1295047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xmlns="" id="{9F05E5B3-C960-0843-99D5-B3DF607160E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" name="Rounded Rectangle 17">
                  <a:extLst>
                    <a:ext uri="{FF2B5EF4-FFF2-40B4-BE49-F238E27FC236}">
                      <a16:creationId xmlns:a16="http://schemas.microsoft.com/office/drawing/2014/main" xmlns="" id="{CA717B8D-E6CE-2A41-8FFD-3AE11A9D33C0}"/>
                    </a:ext>
                  </a:extLst>
                </p:cNvPr>
                <p:cNvSpPr/>
                <p:nvPr/>
              </p:nvSpPr>
              <p:spPr>
                <a:xfrm>
                  <a:off x="-181536" y="-58042"/>
                  <a:ext cx="7920000" cy="1295047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72000" rIns="91425" bIns="0" anchor="ctr" anchorCtr="0">
                  <a:spAutoFit/>
                </a:bodyPr>
                <a:lstStyle/>
                <a:p>
                  <a:pPr marL="631825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</a:t>
                  </a:r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line of fit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is a line drawn on a scatter plot to estimate the relationship between two sets of data. </a:t>
                  </a:r>
                  <a:b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</a:b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 line of fit is also known as a trend line.</a:t>
                  </a:r>
                  <a:endParaRPr lang="x-none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25" name="Shape 7" descr="Icon&#10;&#10;Description automatically generated">
                  <a:extLst>
                    <a:ext uri="{FF2B5EF4-FFF2-40B4-BE49-F238E27FC236}">
                      <a16:creationId xmlns:a16="http://schemas.microsoft.com/office/drawing/2014/main" xmlns="" id="{C45537D2-85F0-BE47-86A6-2C705579B7D7}"/>
                    </a:ext>
                  </a:extLst>
                </p:cNvPr>
                <p:cNvPicPr preferRelativeResize="0"/>
                <p:nvPr/>
              </p:nvPicPr>
              <p:blipFill rotWithShape="1">
                <a:blip r:embed="rId3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-36576" y="137210"/>
                  <a:ext cx="539750" cy="53975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  <p:pic>
        <p:nvPicPr>
          <p:cNvPr id="1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0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4089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22826" y="327521"/>
                <a:ext cx="10800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relationship between the height and weight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dogs is shown.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26" y="327521"/>
                <a:ext cx="10800000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621" t="-9231" b="-2769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3153873" y="1069045"/>
            <a:ext cx="5743239" cy="4109997"/>
            <a:chOff x="1377651" y="1712595"/>
            <a:chExt cx="5743239" cy="4109997"/>
          </a:xfrm>
        </p:grpSpPr>
        <p:sp>
          <p:nvSpPr>
            <p:cNvPr id="9" name="Text Box 5">
              <a:extLst>
                <a:ext uri="{FF2B5EF4-FFF2-40B4-BE49-F238E27FC236}">
                  <a16:creationId xmlns:a16="http://schemas.microsoft.com/office/drawing/2014/main" xmlns="" id="{BDA6BE91-5B16-3240-8AC7-AE168E6D9354}"/>
                </a:ext>
              </a:extLst>
            </p:cNvPr>
            <p:cNvSpPr txBox="1"/>
            <p:nvPr/>
          </p:nvSpPr>
          <p:spPr>
            <a:xfrm>
              <a:off x="3316847" y="5296812"/>
              <a:ext cx="2983230" cy="52578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2000" b="1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Height (in inches)</a:t>
              </a:r>
              <a:endParaRPr lang="x-none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377651" y="1712595"/>
              <a:ext cx="5743239" cy="3432810"/>
              <a:chOff x="1377651" y="1712595"/>
              <a:chExt cx="5743239" cy="3432810"/>
            </a:xfrm>
          </p:grpSpPr>
          <p:pic>
            <p:nvPicPr>
              <p:cNvPr id="8" name="Picture 7" descr="Chart, scatter chart&#10;&#10;Description automatically generated">
                <a:extLst>
                  <a:ext uri="{FF2B5EF4-FFF2-40B4-BE49-F238E27FC236}">
                    <a16:creationId xmlns:a16="http://schemas.microsoft.com/office/drawing/2014/main" xmlns="" id="{EFEBFC6F-1996-054C-8A63-2436963BE3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023110" y="1712595"/>
                <a:ext cx="5097780" cy="3432810"/>
              </a:xfrm>
              <a:prstGeom prst="rect">
                <a:avLst/>
              </a:prstGeom>
            </p:spPr>
          </p:pic>
          <p:sp>
            <p:nvSpPr>
              <p:cNvPr id="10" name="Text Box 9">
                <a:extLst>
                  <a:ext uri="{FF2B5EF4-FFF2-40B4-BE49-F238E27FC236}">
                    <a16:creationId xmlns:a16="http://schemas.microsoft.com/office/drawing/2014/main" xmlns="" id="{1A094C51-4103-4A49-8CEB-4133E1D22ACA}"/>
                  </a:ext>
                </a:extLst>
              </p:cNvPr>
              <p:cNvSpPr txBox="1"/>
              <p:nvPr/>
            </p:nvSpPr>
            <p:spPr>
              <a:xfrm rot="16200000">
                <a:off x="148926" y="3032102"/>
                <a:ext cx="2983230" cy="52578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2000" b="1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Weight (in pounds)</a:t>
                </a:r>
                <a:endParaRPr lang="x-none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2147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75683" y="378624"/>
                <a:ext cx="10800000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085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 using the terms in the bank. Some terms will not be used. Do not use a term more than once.</a:t>
                </a: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>
                  <a:lnSpc>
                    <a:spcPct val="15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________________________ shown above represents the relationship between _______________ data. The two variables being compared are the height and weight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dogs. The trend line, or _________________, estimates the relationship between these two variables. For this relationship, as dog height increases, the weight of the dog _____________________, so the trend line has a _____________________ slope.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683" y="378624"/>
                <a:ext cx="10800000" cy="5324535"/>
              </a:xfrm>
              <a:prstGeom prst="rect">
                <a:avLst/>
              </a:prstGeom>
              <a:blipFill rotWithShape="1">
                <a:blip r:embed="rId3"/>
                <a:stretch>
                  <a:fillRect t="-57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46075EFF-50C0-1C4A-9B3F-B102F0C85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470529"/>
              </p:ext>
            </p:extLst>
          </p:nvPr>
        </p:nvGraphicFramePr>
        <p:xfrm>
          <a:off x="2382578" y="1308297"/>
          <a:ext cx="7659407" cy="1296000"/>
        </p:xfrm>
        <a:graphic>
          <a:graphicData uri="http://schemas.openxmlformats.org/drawingml/2006/table">
            <a:tbl>
              <a:tblPr firstRow="1" firstCol="1" bandRow="1"/>
              <a:tblGrid>
                <a:gridCol w="2875550">
                  <a:extLst>
                    <a:ext uri="{9D8B030D-6E8A-4147-A177-3AD203B41FA5}">
                      <a16:colId xmlns:a16="http://schemas.microsoft.com/office/drawing/2014/main" xmlns="" val="4008477637"/>
                    </a:ext>
                  </a:extLst>
                </a:gridCol>
                <a:gridCol w="2464757">
                  <a:extLst>
                    <a:ext uri="{9D8B030D-6E8A-4147-A177-3AD203B41FA5}">
                      <a16:colId xmlns:a16="http://schemas.microsoft.com/office/drawing/2014/main" xmlns="" val="1829646516"/>
                    </a:ext>
                  </a:extLst>
                </a:gridCol>
                <a:gridCol w="2319100">
                  <a:extLst>
                    <a:ext uri="{9D8B030D-6E8A-4147-A177-3AD203B41FA5}">
                      <a16:colId xmlns:a16="http://schemas.microsoft.com/office/drawing/2014/main" xmlns="" val="1654387218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bivariate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52" marR="557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decreases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52" marR="557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increases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52" marR="557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47602528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line of best fit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52" marR="557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negative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52" marR="557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positive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52" marR="557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35069936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52" marR="557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scatter plot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52" marR="557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52" marR="5575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12634200"/>
                  </a:ext>
                </a:extLst>
              </a:tr>
            </a:tbl>
          </a:graphicData>
        </a:graphic>
      </p:graphicFrame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263E63DE-7F94-FC47-ADDB-50D521B94655}"/>
              </a:ext>
            </a:extLst>
          </p:cNvPr>
          <p:cNvSpPr/>
          <p:nvPr/>
        </p:nvSpPr>
        <p:spPr>
          <a:xfrm>
            <a:off x="2382578" y="1280161"/>
            <a:ext cx="7703957" cy="1351622"/>
          </a:xfrm>
          <a:prstGeom prst="round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0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0835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71034" y="2766144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4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image16.png">
            <a:extLst>
              <a:ext uri="{FF2B5EF4-FFF2-40B4-BE49-F238E27FC236}">
                <a16:creationId xmlns:a16="http://schemas.microsoft.com/office/drawing/2014/main" xmlns="" id="{0BF1589F-B0D8-DC4B-B907-B56241BEE79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020496" y="2852922"/>
            <a:ext cx="1152145" cy="115214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87398" y="-89287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3.5.3 Collaboration: Scatter Plots and Patterns of Association</a:t>
            </a:r>
          </a:p>
        </p:txBody>
      </p:sp>
      <p:pic>
        <p:nvPicPr>
          <p:cNvPr id="9" name="image16.png">
            <a:extLst>
              <a:ext uri="{FF2B5EF4-FFF2-40B4-BE49-F238E27FC236}">
                <a16:creationId xmlns:a16="http://schemas.microsoft.com/office/drawing/2014/main" xmlns="" id="{6C8BC308-12C2-8C43-AF99-3B79F455A948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5361" y="198658"/>
            <a:ext cx="749810" cy="74981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B46B19A2-BBA2-0441-AC88-F1F62E75949B}"/>
                  </a:ext>
                </a:extLst>
              </p:cNvPr>
              <p:cNvSpPr txBox="1"/>
              <p:nvPr/>
            </p:nvSpPr>
            <p:spPr>
              <a:xfrm>
                <a:off x="743448" y="1507182"/>
                <a:ext cx="1080000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following.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two scatter plots show the same set of data summarizing the average gestation period, in days, and average longevity, in years, for a sample of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animals as reported in </a:t>
                </a: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World Almanac and Book of Facts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(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McGeveran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2006). A gestation period is the amount of time for which an animal is pregnant. Longevity refers to how long an animal lives. Each scatter plot shows a different line to model the relationship between gestation period and longevity. 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46B19A2-BBA2-0441-AC88-F1F62E759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448" y="1507182"/>
                <a:ext cx="10800000" cy="2862322"/>
              </a:xfrm>
              <a:prstGeom prst="rect">
                <a:avLst/>
              </a:prstGeom>
              <a:blipFill rotWithShape="1">
                <a:blip r:embed="rId4"/>
                <a:stretch>
                  <a:fillRect l="-621" t="-1064" b="-276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B71B7AA-10E7-9B44-A591-563821260A41}"/>
              </a:ext>
            </a:extLst>
          </p:cNvPr>
          <p:cNvSpPr txBox="1"/>
          <p:nvPr/>
        </p:nvSpPr>
        <p:spPr>
          <a:xfrm>
            <a:off x="1633988" y="476143"/>
            <a:ext cx="9226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Line of Fit A	 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 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Line of Fit B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xmlns="" id="{6B7CAE58-61AA-084F-A52E-B7F26A2C90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4789263"/>
              </p:ext>
            </p:extLst>
          </p:nvPr>
        </p:nvGraphicFramePr>
        <p:xfrm>
          <a:off x="550411" y="1112072"/>
          <a:ext cx="5175139" cy="29394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xmlns="" id="{C38A39CB-8267-DB47-B56D-A79A06E702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4218936"/>
              </p:ext>
            </p:extLst>
          </p:nvPr>
        </p:nvGraphicFramePr>
        <p:xfrm>
          <a:off x="5950412" y="1149355"/>
          <a:ext cx="4980185" cy="29021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C81B979-AD9B-AB44-A913-870E9885E69C}"/>
              </a:ext>
            </a:extLst>
          </p:cNvPr>
          <p:cNvSpPr txBox="1"/>
          <p:nvPr/>
        </p:nvSpPr>
        <p:spPr>
          <a:xfrm>
            <a:off x="550412" y="4240031"/>
            <a:ext cx="1080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which scatter plot shows a line better fit to model the relationship. Summarize your discussion.</a:t>
            </a: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0C81B979-AD9B-AB44-A913-870E9885E69C}"/>
                  </a:ext>
                </a:extLst>
              </p:cNvPr>
              <p:cNvSpPr txBox="1"/>
              <p:nvPr/>
            </p:nvSpPr>
            <p:spPr>
              <a:xfrm>
                <a:off x="518365" y="400325"/>
                <a:ext cx="108000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scatter plot shows the relationship between the weight, in carats, and the price, in dollars,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different diamonds.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C81B979-AD9B-AB44-A913-870E9885E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65" y="400325"/>
                <a:ext cx="10800000" cy="1015663"/>
              </a:xfrm>
              <a:prstGeom prst="rect">
                <a:avLst/>
              </a:prstGeom>
              <a:blipFill rotWithShape="1">
                <a:blip r:embed="rId3"/>
                <a:stretch>
                  <a:fillRect l="-564" t="-361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Chart, line chart&#10;&#10;Description automatically generated">
            <a:extLst>
              <a:ext uri="{FF2B5EF4-FFF2-40B4-BE49-F238E27FC236}">
                <a16:creationId xmlns:a16="http://schemas.microsoft.com/office/drawing/2014/main" xmlns="" id="{552853C2-3980-DF4F-9A95-C50CBCBF6A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33472" y="1308318"/>
            <a:ext cx="5219952" cy="5219952"/>
          </a:xfrm>
          <a:prstGeom prst="rect">
            <a:avLst/>
          </a:prstGeom>
        </p:spPr>
      </p:pic>
      <p:pic>
        <p:nvPicPr>
          <p:cNvPr id="7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7781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0C81B979-AD9B-AB44-A913-870E9885E69C}"/>
                  </a:ext>
                </a:extLst>
              </p:cNvPr>
              <p:cNvSpPr txBox="1"/>
              <p:nvPr/>
            </p:nvSpPr>
            <p:spPr>
              <a:xfrm>
                <a:off x="552442" y="398615"/>
                <a:ext cx="1080000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equation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=5,673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−1,354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models the relationship between a diamond’s weight and its price based on the data shown. This line of fit can be used to predict the price of a diamond from its weight.</a:t>
                </a:r>
              </a:p>
              <a:p>
                <a:pPr marL="914400" indent="-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Define the variables in this context.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200150" indent="-277813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𝑥 represents ___________________________</a:t>
                </a:r>
              </a:p>
              <a:p>
                <a:pPr marL="1200150" indent="-277813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𝑦 represents ___________________________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model to predict the price of a diamond that weighs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1.5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carats.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C81B979-AD9B-AB44-A913-870E9885E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42" y="398615"/>
                <a:ext cx="10800000" cy="3785652"/>
              </a:xfrm>
              <a:prstGeom prst="rect">
                <a:avLst/>
              </a:prstGeom>
              <a:blipFill rotWithShape="1">
                <a:blip r:embed="rId3"/>
                <a:stretch>
                  <a:fillRect t="-80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6715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0C81B979-AD9B-AB44-A913-870E9885E69C}"/>
                  </a:ext>
                </a:extLst>
              </p:cNvPr>
              <p:cNvSpPr txBox="1"/>
              <p:nvPr/>
            </p:nvSpPr>
            <p:spPr>
              <a:xfrm>
                <a:off x="516612" y="429679"/>
                <a:ext cx="10800000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Two of the diamonds from the original data set weighed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1.5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carats. The actual price of the two diamonds used to construct the scatter plot are shown in the table.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the actual prices of these two diamonds compare to the predicted price of a diamond of that weight. Summarize your discussion.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C81B979-AD9B-AB44-A913-870E9885E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12" y="429679"/>
                <a:ext cx="10800000" cy="4401205"/>
              </a:xfrm>
              <a:prstGeom prst="rect">
                <a:avLst/>
              </a:prstGeom>
              <a:blipFill rotWithShape="1">
                <a:blip r:embed="rId3"/>
                <a:stretch>
                  <a:fillRect t="-83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94E8303A-A5C7-E240-B2EA-BD734E2CC7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1685523"/>
                  </p:ext>
                </p:extLst>
              </p:nvPr>
            </p:nvGraphicFramePr>
            <p:xfrm>
              <a:off x="3036899" y="1691262"/>
              <a:ext cx="6364650" cy="13716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182325">
                      <a:extLst>
                        <a:ext uri="{9D8B030D-6E8A-4147-A177-3AD203B41FA5}">
                          <a16:colId xmlns:a16="http://schemas.microsoft.com/office/drawing/2014/main" xmlns="" val="2618411463"/>
                        </a:ext>
                      </a:extLst>
                    </a:gridCol>
                    <a:gridCol w="3182325">
                      <a:extLst>
                        <a:ext uri="{9D8B030D-6E8A-4147-A177-3AD203B41FA5}">
                          <a16:colId xmlns:a16="http://schemas.microsoft.com/office/drawing/2014/main" xmlns="" val="101442455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Weight (carats)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7471" marR="774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Actual Price ($)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7471" marR="774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39002978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Arial" panose="020B0604020202020204" pitchFamily="34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7471" marR="774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Arial" panose="020B0604020202020204" pitchFamily="34" charset="0"/>
                                  </a:rPr>
                                  <m:t>7,474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7471" marR="774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569526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Arial" panose="020B0604020202020204" pitchFamily="34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7471" marR="774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Arial" panose="020B0604020202020204" pitchFamily="34" charset="0"/>
                                  </a:rPr>
                                  <m:t>5,904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7471" marR="774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41323032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4E8303A-A5C7-E240-B2EA-BD734E2CC7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1685523"/>
                  </p:ext>
                </p:extLst>
              </p:nvPr>
            </p:nvGraphicFramePr>
            <p:xfrm>
              <a:off x="3036899" y="1691262"/>
              <a:ext cx="6364650" cy="13716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18232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618411463"/>
                        </a:ext>
                      </a:extLst>
                    </a:gridCol>
                    <a:gridCol w="318232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01442455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Weight (carats)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7471" marR="774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Actual Price ($)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7471" marR="774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39002978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7471" marR="774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00000" r="-100192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7471" marR="774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100000" r="-192" b="-1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569526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7471" marR="774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00000" r="-100192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7471" marR="774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200000" r="-192" b="-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41323032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4424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C81B979-AD9B-AB44-A913-870E9885E69C}"/>
              </a:ext>
            </a:extLst>
          </p:cNvPr>
          <p:cNvSpPr txBox="1"/>
          <p:nvPr/>
        </p:nvSpPr>
        <p:spPr>
          <a:xfrm>
            <a:off x="527070" y="365959"/>
            <a:ext cx="10800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line fit to the data in a scatter plot is used to model the </a:t>
            </a:r>
            <a:r>
              <a:rPr lang="en-US" sz="20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association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between the variables. It can be used to make estimates or predictions, but the actual values may fall above or below the line.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193750" y="1689398"/>
            <a:ext cx="7463840" cy="1997689"/>
            <a:chOff x="669750" y="2061942"/>
            <a:chExt cx="7463840" cy="1997689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xmlns="" id="{B7558BF8-AC22-E842-8B7B-15E01B4540C8}"/>
                </a:ext>
              </a:extLst>
            </p:cNvPr>
            <p:cNvSpPr/>
            <p:nvPr/>
          </p:nvSpPr>
          <p:spPr>
            <a:xfrm>
              <a:off x="669750" y="2061942"/>
              <a:ext cx="7463840" cy="1997689"/>
            </a:xfrm>
            <a:prstGeom prst="roundRect">
              <a:avLst>
                <a:gd name="adj" fmla="val 16667"/>
              </a:avLst>
            </a:prstGeom>
            <a:solidFill>
              <a:srgbClr val="E2EED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40" rIns="91425" bIns="45700" anchor="ctr" anchorCtr="0">
              <a:spAutoFit/>
            </a:bodyPr>
            <a:lstStyle/>
            <a:p>
              <a:pPr marL="742950">
                <a:spcAft>
                  <a:spcPts val="1000"/>
                </a:spcAft>
              </a:pP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An </a:t>
              </a:r>
              <a:r>
                <a:rPr lang="en-US" sz="2000" b="1" i="1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association</a:t>
              </a: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is a way to describe the form, direction, or strength of the relationship between the two variables in a bivariate data set. For numerical data, descriptions include linear or nonlinear; positive or negative; strong or weak.</a:t>
              </a:r>
              <a:endParaRPr lang="x-none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" name="Shape 7" descr="Icon&#10;&#10;Description automatically generated">
              <a:extLst>
                <a:ext uri="{FF2B5EF4-FFF2-40B4-BE49-F238E27FC236}">
                  <a16:creationId xmlns:a16="http://schemas.microsoft.com/office/drawing/2014/main" xmlns="" id="{BAB55085-94A0-404D-B81B-46C6142ADBD2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52259" y="2300760"/>
              <a:ext cx="607688" cy="607613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2901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C81B979-AD9B-AB44-A913-870E9885E69C}"/>
              </a:ext>
            </a:extLst>
          </p:cNvPr>
          <p:cNvSpPr txBox="1"/>
          <p:nvPr/>
        </p:nvSpPr>
        <p:spPr>
          <a:xfrm>
            <a:off x="500815" y="395477"/>
            <a:ext cx="10800000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statements to describe the patterns of association for the scatter plot.</a:t>
            </a:r>
          </a:p>
          <a:p>
            <a:pPr marL="914400" indent="-457200">
              <a:buFont typeface="+mj-lt"/>
              <a:buAutoNum type="alphaL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relationship between a diamond’s weight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 price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                      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diamond’s weight                    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the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price                     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trend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                     The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 points closely follow the line of fit, so the pattern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association is </a:t>
            </a:r>
          </a:p>
          <a:p>
            <a:pPr>
              <a:lnSpc>
                <a:spcPct val="25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xmlns="" id="{02D9BEAA-D9CD-844A-B994-CBBC79D1AE7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9316" y="1110430"/>
            <a:ext cx="1813485" cy="793151"/>
          </a:xfrm>
          <a:prstGeom prst="rect">
            <a:avLst/>
          </a:prstGeom>
        </p:spPr>
      </p:pic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B5F7D1C4-60EB-B74A-97EE-4C57DAB2D5C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7757" y="2099673"/>
            <a:ext cx="1727657" cy="793151"/>
          </a:xfrm>
          <a:prstGeom prst="rect">
            <a:avLst/>
          </a:prstGeom>
        </p:spPr>
      </p:pic>
      <p:pic>
        <p:nvPicPr>
          <p:cNvPr id="18" name="Picture 17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0AC7394D-8D5C-8B45-A780-618DCD3CF7D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2001" y="2099673"/>
            <a:ext cx="1727657" cy="793151"/>
          </a:xfrm>
          <a:prstGeom prst="rect">
            <a:avLst/>
          </a:prstGeom>
        </p:spPr>
      </p:pic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xmlns="" id="{F65C39C4-6DB4-B14A-9AD8-8F183158291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381" y="2914394"/>
            <a:ext cx="1606790" cy="809436"/>
          </a:xfrm>
          <a:prstGeom prst="rect">
            <a:avLst/>
          </a:prstGeom>
        </p:spPr>
      </p:pic>
      <p:pic>
        <p:nvPicPr>
          <p:cNvPr id="19" name="Picture 18" descr="A picture containing text&#10;&#10;Description automatically generated">
            <a:extLst>
              <a:ext uri="{FF2B5EF4-FFF2-40B4-BE49-F238E27FC236}">
                <a16:creationId xmlns:a16="http://schemas.microsoft.com/office/drawing/2014/main" xmlns="" id="{90BEEA31-BD7F-0F4B-B69A-46067302FC4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33299" y="3837802"/>
            <a:ext cx="1482605" cy="836024"/>
          </a:xfrm>
          <a:prstGeom prst="rect">
            <a:avLst/>
          </a:prstGeom>
        </p:spPr>
      </p:pic>
      <p:pic>
        <p:nvPicPr>
          <p:cNvPr id="11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4298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C81B979-AD9B-AB44-A913-870E9885E69C}"/>
              </a:ext>
            </a:extLst>
          </p:cNvPr>
          <p:cNvSpPr txBox="1"/>
          <p:nvPr/>
        </p:nvSpPr>
        <p:spPr>
          <a:xfrm>
            <a:off x="743448" y="353424"/>
            <a:ext cx="108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to describe the pattern of association for each scatter plot.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614328"/>
              </p:ext>
            </p:extLst>
          </p:nvPr>
        </p:nvGraphicFramePr>
        <p:xfrm>
          <a:off x="2485848" y="1061310"/>
          <a:ext cx="7315200" cy="512064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023360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Scatter Plot</a:t>
                      </a:r>
                      <a:b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</a:br>
                      <a: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A</a:t>
                      </a:r>
                      <a:endParaRPr lang="en-US" sz="1400" dirty="0">
                        <a:effectLst/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Pattern of Association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linear</a:t>
                      </a:r>
                    </a:p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positive</a:t>
                      </a:r>
                    </a:p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strong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non-linear</a:t>
                      </a:r>
                    </a:p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negative</a:t>
                      </a:r>
                    </a:p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moderate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neither</a:t>
                      </a:r>
                    </a:p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weak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xmlns="" id="{CDAD2DEC-21A9-447F-8380-3BEA309A29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4566911"/>
              </p:ext>
            </p:extLst>
          </p:nvPr>
        </p:nvGraphicFramePr>
        <p:xfrm>
          <a:off x="4829120" y="1455585"/>
          <a:ext cx="4872355" cy="32232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99636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471751"/>
              </p:ext>
            </p:extLst>
          </p:nvPr>
        </p:nvGraphicFramePr>
        <p:xfrm>
          <a:off x="2372200" y="365958"/>
          <a:ext cx="7315200" cy="512064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023360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Scatter Plot</a:t>
                      </a:r>
                      <a:b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</a:br>
                      <a: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B</a:t>
                      </a:r>
                      <a:endParaRPr lang="en-US" sz="1400" dirty="0">
                        <a:effectLst/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Pattern of Association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linear</a:t>
                      </a:r>
                    </a:p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positive</a:t>
                      </a:r>
                    </a:p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strong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non-linear</a:t>
                      </a:r>
                    </a:p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negative</a:t>
                      </a:r>
                    </a:p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moderate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neither</a:t>
                      </a:r>
                    </a:p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weak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2041250758"/>
              </p:ext>
            </p:extLst>
          </p:nvPr>
        </p:nvGraphicFramePr>
        <p:xfrm>
          <a:off x="4598807" y="844588"/>
          <a:ext cx="4869180" cy="28917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75930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350357"/>
              </p:ext>
            </p:extLst>
          </p:nvPr>
        </p:nvGraphicFramePr>
        <p:xfrm>
          <a:off x="2358131" y="365958"/>
          <a:ext cx="7315200" cy="512064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023360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Scatter Plot</a:t>
                      </a:r>
                      <a:b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</a:br>
                      <a: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C</a:t>
                      </a:r>
                      <a:endParaRPr lang="en-US" sz="1400" dirty="0">
                        <a:effectLst/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Pattern of Association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linear</a:t>
                      </a:r>
                    </a:p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positive</a:t>
                      </a:r>
                    </a:p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strong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non-linear</a:t>
                      </a:r>
                    </a:p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negative</a:t>
                      </a:r>
                    </a:p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moderate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neither</a:t>
                      </a:r>
                    </a:p>
                    <a:p>
                      <a:pPr marL="342900" indent="-342900" algn="l">
                        <a:buFont typeface="Wingdings" pitchFamily="2" charset="2"/>
                        <a:buChar char="q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weak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4023457717"/>
              </p:ext>
            </p:extLst>
          </p:nvPr>
        </p:nvGraphicFramePr>
        <p:xfrm>
          <a:off x="4441863" y="908012"/>
          <a:ext cx="5154930" cy="3051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1070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53250" y="268237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image2.png" descr="Icon&#10;&#10;Description automatically generated">
            <a:extLst>
              <a:ext uri="{FF2B5EF4-FFF2-40B4-BE49-F238E27FC236}">
                <a16:creationId xmlns:a16="http://schemas.microsoft.com/office/drawing/2014/main" xmlns="" id="{B8663E50-D763-C343-96E8-FEAEDD7FA21B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115536" y="2766145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13129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Google Shape;343;g103996e1364_0_321">
                <a:extLst>
                  <a:ext uri="{FF2B5EF4-FFF2-40B4-BE49-F238E27FC236}">
                    <a16:creationId xmlns:a16="http://schemas.microsoft.com/office/drawing/2014/main" xmlns="" id="{21B1DF8E-16A0-FA4E-8CEB-434668DFA6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60620" y="-88098"/>
                <a:ext cx="10800000" cy="132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90000"/>
                  </a:lnSpc>
                  <a:buClr>
                    <a:schemeClr val="dk1"/>
                  </a:buClr>
                  <a:buSzPts val="5400"/>
                </a:pPr>
                <a:r>
                  <a:rPr lang="en-US" sz="2800" b="1" dirty="0">
                    <a:solidFill>
                      <a:srgbClr val="54B5D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3.5.4 Guided Instruction: </a:t>
                </a:r>
                <a:r>
                  <a:rPr lang="en-US" sz="2800" b="1" dirty="0" smtClean="0">
                    <a:solidFill>
                      <a:srgbClr val="54B5D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Interpreting </a:t>
                </a:r>
                <a:r>
                  <a:rPr lang="en-US" sz="2800" b="1" dirty="0">
                    <a:solidFill>
                      <a:srgbClr val="54B5D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the Slope and the 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54B5D1"/>
                        </a:solidFill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𝒚</m:t>
                    </m:r>
                  </m:oMath>
                </a14:m>
                <a:r>
                  <a:rPr lang="en-US" sz="2800" b="1" dirty="0">
                    <a:solidFill>
                      <a:srgbClr val="54B5D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-intercept of the Line of Fit</a:t>
                </a:r>
              </a:p>
            </p:txBody>
          </p:sp>
        </mc:Choice>
        <mc:Fallback>
          <p:sp>
            <p:nvSpPr>
              <p:cNvPr id="7" name="Google Shape;343;g103996e1364_0_32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1B1DF8E-16A0-FA4E-8CEB-434668DFA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620" y="-88098"/>
                <a:ext cx="10800000" cy="1325700"/>
              </a:xfrm>
              <a:prstGeom prst="rect">
                <a:avLst/>
              </a:prstGeom>
              <a:blipFill rotWithShape="1">
                <a:blip r:embed="rId3"/>
                <a:stretch>
                  <a:fillRect l="-1186" r="-12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xmlns="" id="{FE208A00-51E7-C544-ABDE-AE9DC3DAA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7090" y="1490457"/>
                <a:ext cx="5295070" cy="16312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scatter plot  shows the relationship between the house size, in square feet (ft</a:t>
                </a:r>
                <a:r>
                  <a:rPr lang="en-US" altLang="en-US" sz="2000" baseline="30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and the sale price, in dollars, of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16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houses sold in Orlando, FL in 2020.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E208A00-51E7-C544-ABDE-AE9DC3DAA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7090" y="1490457"/>
                <a:ext cx="5295070" cy="1631216"/>
              </a:xfrm>
              <a:prstGeom prst="rect">
                <a:avLst/>
              </a:prstGeom>
              <a:blipFill rotWithShape="1">
                <a:blip r:embed="rId4"/>
                <a:stretch>
                  <a:fillRect l="-1151" t="-2239" b="-559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2.png" descr="Icon&#10;&#10;Description automatically generated">
            <a:extLst>
              <a:ext uri="{FF2B5EF4-FFF2-40B4-BE49-F238E27FC236}">
                <a16:creationId xmlns:a16="http://schemas.microsoft.com/office/drawing/2014/main" xmlns="" id="{77E23D0C-703F-9A43-BC01-6CC2541A0FCE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485" y="201037"/>
            <a:ext cx="747431" cy="74743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Chart, scatter 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4682" y="1352779"/>
            <a:ext cx="4752987" cy="4752987"/>
          </a:xfrm>
          <a:prstGeom prst="rect">
            <a:avLst/>
          </a:prstGeom>
        </p:spPr>
      </p:pic>
      <p:pic>
        <p:nvPicPr>
          <p:cNvPr id="10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5012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="" id="{5C5D1B9F-A752-AD42-8D60-9B883A251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328" y="372276"/>
                <a:ext cx="10800000" cy="40934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equation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=176.1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−23,791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can be used to model the relationship between size of a house, 𝑥, and its sale price, 𝑦, in Orlando, FL in 2020.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the slope and 𝑦-intercept of the model.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what you think the slope means in this context.</a:t>
                </a: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C5D1B9F-A752-AD42-8D60-9B883A2514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1328" y="372276"/>
                <a:ext cx="10800000" cy="4093428"/>
              </a:xfrm>
              <a:prstGeom prst="rect">
                <a:avLst/>
              </a:prstGeom>
              <a:blipFill rotWithShape="1">
                <a:blip r:embed="rId3"/>
                <a:stretch>
                  <a:fillRect t="-744" r="-112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C099A2CF-D58B-054E-A85C-533B4B4A68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9516419"/>
                  </p:ext>
                </p:extLst>
              </p:nvPr>
            </p:nvGraphicFramePr>
            <p:xfrm>
              <a:off x="1622842" y="1844681"/>
              <a:ext cx="5928360" cy="13716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17370">
                      <a:extLst>
                        <a:ext uri="{9D8B030D-6E8A-4147-A177-3AD203B41FA5}">
                          <a16:colId xmlns:a16="http://schemas.microsoft.com/office/drawing/2014/main" xmlns="" val="3426347270"/>
                        </a:ext>
                      </a:extLst>
                    </a:gridCol>
                    <a:gridCol w="4110990">
                      <a:extLst>
                        <a:ext uri="{9D8B030D-6E8A-4147-A177-3AD203B41FA5}">
                          <a16:colId xmlns:a16="http://schemas.microsoft.com/office/drawing/2014/main" xmlns="" val="3225630954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Slope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55731232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𝒚</m:t>
                              </m:r>
                            </m:oMath>
                          </a14:m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-intercept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73241988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99A2CF-D58B-054E-A85C-533B4B4A68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9516419"/>
                  </p:ext>
                </p:extLst>
              </p:nvPr>
            </p:nvGraphicFramePr>
            <p:xfrm>
              <a:off x="1622842" y="1844681"/>
              <a:ext cx="5928360" cy="13716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1737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426347270"/>
                        </a:ext>
                      </a:extLst>
                    </a:gridCol>
                    <a:gridCol w="411099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225630954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Slope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55731232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01786" r="-226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73241988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93149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E5E1E0-A54D-BE42-84B5-F917038ADE99}"/>
              </a:ext>
            </a:extLst>
          </p:cNvPr>
          <p:cNvSpPr txBox="1"/>
          <p:nvPr/>
        </p:nvSpPr>
        <p:spPr>
          <a:xfrm>
            <a:off x="555525" y="399915"/>
            <a:ext cx="112569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2813" indent="-457200" defTabSz="981075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statement.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this context, the slope means the 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				     for homes in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Orlando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FL in 2020.</a:t>
            </a:r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xmlns="" id="{996BCC04-4567-D841-A3A2-36144D0CC18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3206" y="917785"/>
            <a:ext cx="2138194" cy="966111"/>
          </a:xfrm>
          <a:prstGeom prst="rect">
            <a:avLst/>
          </a:prstGeom>
        </p:spPr>
      </p:pic>
      <p:pic>
        <p:nvPicPr>
          <p:cNvPr id="6" name="Picture 5" descr="Shape&#10;&#10;Description automatically generated with medium confidence">
            <a:extLst>
              <a:ext uri="{FF2B5EF4-FFF2-40B4-BE49-F238E27FC236}">
                <a16:creationId xmlns:a16="http://schemas.microsoft.com/office/drawing/2014/main" xmlns="" id="{8362ECB0-D944-3844-92A4-FB4BCE6EE98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40046" y="917785"/>
            <a:ext cx="1990538" cy="963941"/>
          </a:xfrm>
          <a:prstGeom prst="rect">
            <a:avLst/>
          </a:prstGeom>
        </p:spPr>
      </p:pic>
      <p:pic>
        <p:nvPicPr>
          <p:cNvPr id="8" name="Picture 7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DF665F74-5A6D-2F4F-8E9A-3B0016C1355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1774" y="2024839"/>
            <a:ext cx="4383752" cy="963941"/>
          </a:xfrm>
          <a:prstGeom prst="rect">
            <a:avLst/>
          </a:prstGeom>
        </p:spPr>
      </p:pic>
      <p:pic>
        <p:nvPicPr>
          <p:cNvPr id="9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38654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8F82859-BA98-3646-BF3B-9E17E52A2E35}"/>
              </a:ext>
            </a:extLst>
          </p:cNvPr>
          <p:cNvSpPr txBox="1"/>
          <p:nvPr/>
        </p:nvSpPr>
        <p:spPr>
          <a:xfrm>
            <a:off x="522398" y="440990"/>
            <a:ext cx="108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Trevor and Nadia both considered the meaning of the 𝑦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-intercept in this context. Each student’s thinking is shown in the table.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4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4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4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4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4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4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4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4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4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2813"/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Trevor’s and Nadia’s thinking with your partner.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72ED8233-C202-D842-B330-B21677D7E9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4900567"/>
                  </p:ext>
                </p:extLst>
              </p:nvPr>
            </p:nvGraphicFramePr>
            <p:xfrm>
              <a:off x="1598428" y="1405122"/>
              <a:ext cx="9000000" cy="21945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320000">
                      <a:extLst>
                        <a:ext uri="{9D8B030D-6E8A-4147-A177-3AD203B41FA5}">
                          <a16:colId xmlns:a16="http://schemas.microsoft.com/office/drawing/2014/main" xmlns="" val="4014447476"/>
                        </a:ext>
                      </a:extLst>
                    </a:gridCol>
                    <a:gridCol w="4680000">
                      <a:extLst>
                        <a:ext uri="{9D8B030D-6E8A-4147-A177-3AD203B41FA5}">
                          <a16:colId xmlns:a16="http://schemas.microsoft.com/office/drawing/2014/main" xmlns="" val="170508612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Trevor’s </a:t>
                          </a: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Thinking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Nadia’s </a:t>
                          </a:r>
                          <a:r>
                            <a:rPr lang="en-US" sz="20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Thinking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66228801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“The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2000" i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-intercept means the sale price of a house with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sz="2000" i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square feet would have been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−$23,721</m:t>
                              </m:r>
                            </m:oMath>
                          </a14:m>
                          <a:r>
                            <a:rPr lang="en-US" sz="2000" i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in Orlando, FL in 2020.”  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“The meaning of the </a:t>
                          </a:r>
                          <a:br>
                            <a:rPr lang="en-US" sz="2000" i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2000" i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-intercept does not make sense in this context. Houses don’t have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sz="2000" i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square feet and they don’t sell for negative amounts of money.” 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99731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2ED8233-C202-D842-B330-B21677D7E9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4900567"/>
                  </p:ext>
                </p:extLst>
              </p:nvPr>
            </p:nvGraphicFramePr>
            <p:xfrm>
              <a:off x="1598428" y="1405122"/>
              <a:ext cx="9000000" cy="21945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3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014447476"/>
                        </a:ext>
                      </a:extLst>
                    </a:gridCol>
                    <a:gridCol w="46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705086122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Trevor’s </a:t>
                          </a: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Thinking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Nadia’s </a:t>
                          </a:r>
                          <a:r>
                            <a:rPr lang="en-US" sz="20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Thinking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662288014"/>
                      </a:ext>
                    </a:extLst>
                  </a:tr>
                  <a:tr h="17068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8571" r="-108322" b="-39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2318" t="-28571" b="-39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997312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54664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DD2BC3BC-3D52-3D4F-B6D8-F6710D3DE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34325"/>
              </p:ext>
            </p:extLst>
          </p:nvPr>
        </p:nvGraphicFramePr>
        <p:xfrm>
          <a:off x="1581477" y="1385489"/>
          <a:ext cx="6253443" cy="1370330"/>
        </p:xfrm>
        <a:graphic>
          <a:graphicData uri="http://schemas.openxmlformats.org/drawingml/2006/table">
            <a:tbl>
              <a:tblPr firstRow="1" firstCol="1" bandRow="1"/>
              <a:tblGrid>
                <a:gridCol w="1917039">
                  <a:extLst>
                    <a:ext uri="{9D8B030D-6E8A-4147-A177-3AD203B41FA5}">
                      <a16:colId xmlns:a16="http://schemas.microsoft.com/office/drawing/2014/main" xmlns="" val="2059322557"/>
                    </a:ext>
                  </a:extLst>
                </a:gridCol>
                <a:gridCol w="4336404">
                  <a:extLst>
                    <a:ext uri="{9D8B030D-6E8A-4147-A177-3AD203B41FA5}">
                      <a16:colId xmlns:a16="http://schemas.microsoft.com/office/drawing/2014/main" xmlns="" val="176693863"/>
                    </a:ext>
                  </a:extLst>
                </a:gridCol>
              </a:tblGrid>
              <a:tr h="6851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Domain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76728823"/>
                  </a:ext>
                </a:extLst>
              </a:tr>
              <a:tr h="6851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Range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02852815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8F82859-BA98-3646-BF3B-9E17E52A2E35}"/>
              </a:ext>
            </a:extLst>
          </p:cNvPr>
          <p:cNvSpPr txBox="1"/>
          <p:nvPr/>
        </p:nvSpPr>
        <p:spPr>
          <a:xfrm>
            <a:off x="557315" y="34812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5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an appropriate domain and range for the context, expressed as inequalities.</a:t>
            </a: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07540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09367" y="276197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9812" y="291656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66447" y="390758"/>
            <a:ext cx="8019300" cy="368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3.5.5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E281112-0763-C941-9DB7-9B28C4EA4745}"/>
              </a:ext>
            </a:extLst>
          </p:cNvPr>
          <p:cNvSpPr/>
          <p:nvPr/>
        </p:nvSpPr>
        <p:spPr>
          <a:xfrm>
            <a:off x="538904" y="1201421"/>
            <a:ext cx="80193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Four scatter plots are shown.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319394"/>
              </p:ext>
            </p:extLst>
          </p:nvPr>
        </p:nvGraphicFramePr>
        <p:xfrm>
          <a:off x="677757" y="1824624"/>
          <a:ext cx="10590464" cy="4631039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52952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952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631039"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Scatter</a:t>
                      </a:r>
                      <a:r>
                        <a:rPr lang="en-PH" sz="2000" b="1" baseline="0" dirty="0">
                          <a:latin typeface="Verdana" pitchFamily="34" charset="0"/>
                          <a:ea typeface="Verdana" pitchFamily="34" charset="0"/>
                        </a:rPr>
                        <a:t> Plot A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Scatter</a:t>
                      </a:r>
                      <a:r>
                        <a:rPr lang="en-PH" sz="2000" b="1" baseline="0" dirty="0">
                          <a:latin typeface="Verdana" pitchFamily="34" charset="0"/>
                          <a:ea typeface="Verdana" pitchFamily="34" charset="0"/>
                        </a:rPr>
                        <a:t> Plot B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pic>
        <p:nvPicPr>
          <p:cNvPr id="11" name="Picture 10" descr="Chart, scatter chart&#10;&#10;Description automatically generated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7673" y="2368784"/>
            <a:ext cx="4189884" cy="3824007"/>
          </a:xfrm>
          <a:prstGeom prst="rect">
            <a:avLst/>
          </a:prstGeom>
        </p:spPr>
      </p:pic>
      <p:pic>
        <p:nvPicPr>
          <p:cNvPr id="12" name="Picture 11" descr="Chart, scatter chart&#10;&#10;Description automatically generated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63262" y="2375625"/>
            <a:ext cx="4189884" cy="3824007"/>
          </a:xfrm>
          <a:prstGeom prst="rect">
            <a:avLst/>
          </a:prstGeom>
        </p:spPr>
      </p:pic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8F82859-BA98-3646-BF3B-9E17E52A2E35}"/>
              </a:ext>
            </a:extLst>
          </p:cNvPr>
          <p:cNvSpPr txBox="1"/>
          <p:nvPr/>
        </p:nvSpPr>
        <p:spPr>
          <a:xfrm>
            <a:off x="482170" y="553983"/>
            <a:ext cx="11048413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each statement to explain why one of the scatter plots doesn’t belong with the others. Use a different scatter plot to complete each statement.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805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Scatter plot ___ doesn't belong because ...</a:t>
            </a:r>
          </a:p>
          <a:p>
            <a:pPr marL="90805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805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Scatter plot ___ doesn't belong because ...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907559"/>
              </p:ext>
            </p:extLst>
          </p:nvPr>
        </p:nvGraphicFramePr>
        <p:xfrm>
          <a:off x="1528805" y="374392"/>
          <a:ext cx="9345520" cy="4282013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46727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727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282013"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Scatter</a:t>
                      </a:r>
                      <a:r>
                        <a:rPr lang="en-PH" sz="2000" b="1" baseline="0" dirty="0">
                          <a:latin typeface="Verdana" pitchFamily="34" charset="0"/>
                          <a:ea typeface="Verdana" pitchFamily="34" charset="0"/>
                        </a:rPr>
                        <a:t> Plot C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Scatter</a:t>
                      </a:r>
                      <a:r>
                        <a:rPr lang="en-PH" sz="2000" b="1" baseline="0" dirty="0">
                          <a:latin typeface="Verdana" pitchFamily="34" charset="0"/>
                          <a:ea typeface="Verdana" pitchFamily="34" charset="0"/>
                        </a:rPr>
                        <a:t> Plot D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pic>
        <p:nvPicPr>
          <p:cNvPr id="8" name="Picture 7" descr="Chart, scatter chart&#10;&#10;Description automatically generated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52457" y="851685"/>
            <a:ext cx="3953099" cy="3556143"/>
          </a:xfrm>
          <a:prstGeom prst="rect">
            <a:avLst/>
          </a:prstGeom>
        </p:spPr>
      </p:pic>
      <p:pic>
        <p:nvPicPr>
          <p:cNvPr id="9" name="Picture 8" descr="Chart, scatter chart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2948" y="888271"/>
            <a:ext cx="3912855" cy="3519557"/>
          </a:xfrm>
          <a:prstGeom prst="rect">
            <a:avLst/>
          </a:prstGeom>
        </p:spPr>
      </p:pic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=""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2261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3285</TotalTime>
  <Words>1482</Words>
  <Application>Microsoft Office PowerPoint</Application>
  <PresentationFormat>Custom</PresentationFormat>
  <Paragraphs>295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Arial</vt:lpstr>
      <vt:lpstr>Cambria</vt:lpstr>
      <vt:lpstr>Arial Black</vt:lpstr>
      <vt:lpstr>Verdana</vt:lpstr>
      <vt:lpstr>Calibri</vt:lpstr>
      <vt:lpstr>Times New Roman</vt:lpstr>
      <vt:lpstr>Century Gothic</vt:lpstr>
      <vt:lpstr>Helvetica Neue</vt:lpstr>
      <vt:lpstr>Wingdings</vt:lpstr>
      <vt:lpstr>Cambria Math</vt:lpstr>
      <vt:lpstr>1_Office Theme</vt:lpstr>
      <vt:lpstr>Algebra 1  Unit 3, Lesson 5  Scatter Plots  and Linear Relationships  Volume 1, pg. 131  </vt:lpstr>
      <vt:lpstr>PowerPoint Presentation</vt:lpstr>
      <vt:lpstr>PowerPoint Presentation</vt:lpstr>
      <vt:lpstr>PowerPoint Presentation</vt:lpstr>
      <vt:lpstr>Warm-Up</vt:lpstr>
      <vt:lpstr>PowerPoint Presentation</vt:lpstr>
      <vt:lpstr>PowerPoint Presentation</vt:lpstr>
      <vt:lpstr>Refresher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56</cp:revision>
  <dcterms:created xsi:type="dcterms:W3CDTF">2015-03-17T18:51:18Z</dcterms:created>
  <dcterms:modified xsi:type="dcterms:W3CDTF">2022-07-27T03:10:55Z</dcterms:modified>
</cp:coreProperties>
</file>