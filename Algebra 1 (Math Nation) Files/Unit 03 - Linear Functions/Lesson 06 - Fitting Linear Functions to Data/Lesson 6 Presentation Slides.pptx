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1"/>
  </p:notesMasterIdLst>
  <p:sldIdLst>
    <p:sldId id="256" r:id="rId2"/>
    <p:sldId id="257" r:id="rId3"/>
    <p:sldId id="345" r:id="rId4"/>
    <p:sldId id="286" r:id="rId5"/>
    <p:sldId id="261" r:id="rId6"/>
    <p:sldId id="287" r:id="rId7"/>
    <p:sldId id="381" r:id="rId8"/>
    <p:sldId id="395" r:id="rId9"/>
    <p:sldId id="396" r:id="rId10"/>
    <p:sldId id="397" r:id="rId11"/>
    <p:sldId id="398" r:id="rId12"/>
    <p:sldId id="399" r:id="rId13"/>
    <p:sldId id="400" r:id="rId14"/>
    <p:sldId id="402" r:id="rId15"/>
    <p:sldId id="403" r:id="rId16"/>
    <p:sldId id="346" r:id="rId17"/>
    <p:sldId id="347" r:id="rId18"/>
    <p:sldId id="348" r:id="rId19"/>
    <p:sldId id="349" r:id="rId20"/>
    <p:sldId id="350" r:id="rId21"/>
    <p:sldId id="385" r:id="rId22"/>
    <p:sldId id="386" r:id="rId23"/>
    <p:sldId id="376" r:id="rId24"/>
    <p:sldId id="377" r:id="rId25"/>
    <p:sldId id="378" r:id="rId26"/>
    <p:sldId id="394" r:id="rId27"/>
    <p:sldId id="404" r:id="rId28"/>
    <p:sldId id="306" r:id="rId29"/>
    <p:sldId id="307" r:id="rId30"/>
  </p:sldIdLst>
  <p:sldSz cx="12192000" cy="6858000"/>
  <p:notesSz cx="6858000" cy="9144000"/>
  <p:embeddedFontLst>
    <p:embeddedFont>
      <p:font typeface="Verdana" pitchFamily="34" charset="0"/>
      <p:regular r:id="rId32"/>
      <p:bold r:id="rId33"/>
      <p:italic r:id="rId34"/>
      <p:boldItalic r:id="rId35"/>
    </p:embeddedFont>
    <p:embeddedFont>
      <p:font typeface="MS Mincho" pitchFamily="49" charset="-128"/>
      <p:regular r:id="rId36"/>
    </p:embeddedFont>
    <p:embeddedFont>
      <p:font typeface="Calibri" pitchFamily="34" charset="0"/>
      <p:regular r:id="rId37"/>
      <p:bold r:id="rId38"/>
      <p:italic r:id="rId39"/>
      <p:boldItalic r:id="rId40"/>
    </p:embeddedFont>
    <p:embeddedFont>
      <p:font typeface="Century Gothic" pitchFamily="34" charset="0"/>
      <p:regular r:id="rId41"/>
      <p:bold r:id="rId42"/>
      <p:italic r:id="rId43"/>
      <p:boldItalic r:id="rId44"/>
    </p:embeddedFont>
    <p:embeddedFont>
      <p:font typeface="Cambria Math" pitchFamily="18" charset="0"/>
      <p:regular r:id="rId45"/>
    </p:embeddedFont>
    <p:embeddedFont>
      <p:font typeface="Arial Black" pitchFamily="34" charset="0"/>
      <p:bold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4"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ABB42"/>
    <a:srgbClr val="F79B59"/>
    <a:srgbClr val="F26763"/>
    <a:srgbClr val="E24E5F"/>
    <a:srgbClr val="1765AD"/>
    <a:srgbClr val="1664AC"/>
    <a:srgbClr val="BFBFBF"/>
    <a:srgbClr val="C9DF6F"/>
    <a:srgbClr val="417DBF"/>
    <a:srgbClr val="3F2A6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7294"/>
    <p:restoredTop sz="94719"/>
  </p:normalViewPr>
  <p:slideViewPr>
    <p:cSldViewPr snapToGrid="0">
      <p:cViewPr varScale="1">
        <p:scale>
          <a:sx n="68" d="100"/>
          <a:sy n="68" d="100"/>
        </p:scale>
        <p:origin x="-126" y="-100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3.fntdata"/><Relationship Id="rId42" Type="http://schemas.openxmlformats.org/officeDocument/2006/relationships/font" Target="fonts/font11.fntdata"/><Relationship Id="rId55"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font" Target="fonts/font7.fntdata"/><Relationship Id="rId46" Type="http://schemas.openxmlformats.org/officeDocument/2006/relationships/font" Target="fonts/font15.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10.fntdata"/><Relationship Id="rId54"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font" Target="fonts/font9.fntdata"/><Relationship Id="rId45" Type="http://schemas.openxmlformats.org/officeDocument/2006/relationships/font" Target="fonts/font14.fntdata"/><Relationship Id="rId58"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5.fntdata"/><Relationship Id="rId57"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4" Type="http://schemas.openxmlformats.org/officeDocument/2006/relationships/font" Target="fonts/font1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43" Type="http://schemas.openxmlformats.org/officeDocument/2006/relationships/font" Target="fonts/font12.fntdata"/><Relationship Id="rId56" Type="http://schemas.openxmlformats.org/officeDocument/2006/relationships/viewProps" Target="view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59449677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Video Link: https://</a:t>
            </a:r>
            <a:r>
              <a:rPr lang="en-US" dirty="0" err="1"/>
              <a:t>algebranation.wistia.com</a:t>
            </a:r>
            <a:r>
              <a:rPr lang="en-US" dirty="0"/>
              <a:t>/medias/fi4fidi5y8</a:t>
            </a: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Video Link: https://</a:t>
            </a:r>
            <a:r>
              <a:rPr lang="en-US" dirty="0" err="1"/>
              <a:t>algebranation.wistia.com</a:t>
            </a:r>
            <a:r>
              <a:rPr lang="en-US" dirty="0"/>
              <a:t>/medias/fi4fidi5y8</a:t>
            </a: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11915033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27749049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23102679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26541756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14611961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23954015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23658791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33524593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2041635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extLst>
      <p:ext uri="{BB962C8B-B14F-4D97-AF65-F5344CB8AC3E}">
        <p14:creationId xmlns:p14="http://schemas.microsoft.com/office/powerpoint/2010/main" val="2838804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391724327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14985123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43013641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86060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165741485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368813406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extLst>
      <p:ext uri="{BB962C8B-B14F-4D97-AF65-F5344CB8AC3E}">
        <p14:creationId xmlns:p14="http://schemas.microsoft.com/office/powerpoint/2010/main" val="229496220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28691138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406648136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extLst>
      <p:ext uri="{BB962C8B-B14F-4D97-AF65-F5344CB8AC3E}">
        <p14:creationId xmlns:p14="http://schemas.microsoft.com/office/powerpoint/2010/main" val="389101899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a:p>
        </p:txBody>
      </p:sp>
    </p:spTree>
    <p:extLst>
      <p:ext uri="{BB962C8B-B14F-4D97-AF65-F5344CB8AC3E}">
        <p14:creationId xmlns:p14="http://schemas.microsoft.com/office/powerpoint/2010/main" val="157130306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28</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29</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8.xml"/><Relationship Id="rId5" Type="http://schemas.openxmlformats.org/officeDocument/2006/relationships/image" Target="../media/image12.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16.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20.png"/><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9.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9.png"/></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0.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31.png"/></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1.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33.png"/></Relationships>
</file>

<file path=ppt/slides/_rels/slide2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3.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36.png"/></Relationships>
</file>

<file path=ppt/slides/_rels/slide25.xml.rels><?xml version="1.0" encoding="UTF-8" standalone="yes"?>
<Relationships xmlns="http://schemas.openxmlformats.org/package/2006/relationships"><Relationship Id="rId3" Type="http://schemas.openxmlformats.org/officeDocument/2006/relationships/image" Target="../media/image37.png"/><Relationship Id="rId7"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8.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6.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8.xml"/><Relationship Id="rId1" Type="http://schemas.openxmlformats.org/officeDocument/2006/relationships/slideLayout" Target="../slideLayouts/slideLayout8.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90351" y="2212773"/>
            <a:ext cx="5077650"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Algebra 1</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3, Lesson 6</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Fitting Linear Functions to Data</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137</a:t>
            </a:r>
          </a:p>
          <a:p>
            <a:pPr algn="ctr">
              <a:lnSpc>
                <a:spcPct val="100000"/>
              </a:lnSpc>
              <a:buClr>
                <a:srgbClr val="000000"/>
              </a:buClr>
            </a:pPr>
            <a:endParaRPr lang="en-US" sz="3200" b="1" dirty="0">
              <a:solidFill>
                <a:srgbClr val="417DBF"/>
              </a:solidFill>
              <a:latin typeface="Verdana"/>
              <a:ea typeface="Verdana"/>
              <a:cs typeface="Verdana"/>
              <a:sym typeface="Verdana"/>
            </a:endParaRPr>
          </a:p>
          <a:p>
            <a:pPr algn="ctr">
              <a:lnSpc>
                <a:spcPct val="75000"/>
              </a:lnSpc>
            </a:pPr>
            <a:endParaRPr lang="en-US" sz="28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xmlns="" id="{566F1422-A32C-7745-9E85-5AF7B9DBC697}"/>
              </a:ext>
            </a:extLst>
          </p:cNvPr>
          <p:cNvSpPr/>
          <p:nvPr/>
        </p:nvSpPr>
        <p:spPr>
          <a:xfrm>
            <a:off x="0" y="0"/>
            <a:ext cx="4094106" cy="6866100"/>
          </a:xfrm>
          <a:prstGeom prst="rect">
            <a:avLst/>
          </a:prstGeom>
          <a:solidFill>
            <a:srgbClr val="FABB42"/>
          </a:solidFill>
          <a:ln w="9525" cap="flat" cmpd="sng">
            <a:solidFill>
              <a:srgbClr val="FABB42"/>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xmlns=""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640" y="1594381"/>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280;g104476d1465_1_17">
            <a:extLst>
              <a:ext uri="{FF2B5EF4-FFF2-40B4-BE49-F238E27FC236}">
                <a16:creationId xmlns:a16="http://schemas.microsoft.com/office/drawing/2014/main" xmlns="" id="{527A9F9F-07B8-ED47-B967-E5507C67DBC5}"/>
              </a:ext>
            </a:extLst>
          </p:cNvPr>
          <p:cNvSpPr txBox="1">
            <a:spLocks/>
          </p:cNvSpPr>
          <p:nvPr/>
        </p:nvSpPr>
        <p:spPr>
          <a:xfrm>
            <a:off x="542918" y="1461410"/>
            <a:ext cx="108000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95250" indent="0">
              <a:buNone/>
            </a:pPr>
            <a:r>
              <a:rPr lang="en-US" sz="3500" dirty="0">
                <a:latin typeface="Verdana" panose="020B0604030504040204" pitchFamily="34" charset="0"/>
                <a:ea typeface="Verdana" panose="020B0604030504040204" pitchFamily="34" charset="0"/>
                <a:cs typeface="Verdana" panose="020B0604030504040204" pitchFamily="34" charset="0"/>
              </a:rPr>
              <a:t>MA.912.DP.2.4</a:t>
            </a:r>
          </a:p>
          <a:p>
            <a:pPr marL="552450" lvl="1" indent="0">
              <a:buNone/>
            </a:pPr>
            <a:r>
              <a:rPr lang="en-US" sz="3500" dirty="0">
                <a:latin typeface="Verdana" panose="020B0604030504040204" pitchFamily="34" charset="0"/>
                <a:ea typeface="Verdana" panose="020B0604030504040204" pitchFamily="34" charset="0"/>
                <a:cs typeface="Verdana" panose="020B0604030504040204" pitchFamily="34" charset="0"/>
              </a:rPr>
              <a:t>Fit a linear function to bivariate numerical data that suggests a linear association and interpret the slope and 𝑦-intercept of the model. Use the model to solve real-world problems in terms of the context of the data.</a:t>
            </a:r>
          </a:p>
        </p:txBody>
      </p:sp>
      <p:sp>
        <p:nvSpPr>
          <p:cNvPr id="9" name="Google Shape;279;g104476d1465_1_17"/>
          <p:cNvSpPr txBox="1">
            <a:spLocks/>
          </p:cNvSpPr>
          <p:nvPr/>
        </p:nvSpPr>
        <p:spPr>
          <a:xfrm>
            <a:off x="1143000" y="136525"/>
            <a:ext cx="7509900"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SzPts val="5400"/>
            </a:pPr>
            <a:r>
              <a:rPr lang="en-US" sz="4700" b="1" smtClean="0">
                <a:solidFill>
                  <a:srgbClr val="54B5D1"/>
                </a:solidFill>
                <a:latin typeface="Verdana"/>
                <a:ea typeface="Verdana"/>
                <a:cs typeface="Verdana"/>
                <a:sym typeface="Verdana"/>
              </a:rPr>
              <a:t>Benchmark</a:t>
            </a:r>
            <a:endParaRPr lang="en-US" sz="3700" b="1" dirty="0">
              <a:solidFill>
                <a:srgbClr val="54B5D1"/>
              </a:solidFill>
              <a:latin typeface="Verdana"/>
              <a:ea typeface="Verdana"/>
              <a:cs typeface="Verdana"/>
              <a:sym typeface="Verdana"/>
            </a:endParaRPr>
          </a:p>
        </p:txBody>
      </p:sp>
      <p:pic>
        <p:nvPicPr>
          <p:cNvPr id="10" name="Google Shape;281;g104476d1465_1_17"/>
          <p:cNvPicPr preferRelativeResize="0"/>
          <p:nvPr/>
        </p:nvPicPr>
        <p:blipFill>
          <a:blip r:embed="rId3">
            <a:alphaModFix/>
          </a:blip>
          <a:stretch>
            <a:fillRect/>
          </a:stretch>
        </p:blipFill>
        <p:spPr>
          <a:xfrm>
            <a:off x="356616" y="372300"/>
            <a:ext cx="747300" cy="747300"/>
          </a:xfrm>
          <a:prstGeom prst="rect">
            <a:avLst/>
          </a:prstGeom>
          <a:noFill/>
          <a:ln>
            <a:noFill/>
          </a:ln>
          <a:effectLst>
            <a:outerShdw blurRad="57150" dist="19050" dir="5400000" algn="bl" rotWithShape="0">
              <a:srgbClr val="000000">
                <a:alpha val="50000"/>
              </a:srgbClr>
            </a:outerShdw>
          </a:effectLst>
        </p:spPr>
      </p:pic>
      <p:pic>
        <p:nvPicPr>
          <p:cNvPr id="11" name="Google Shape;311;g104476d1465_1_39"/>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137</a:t>
            </a:r>
            <a:endParaRPr i="1" dirty="0">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78;g104476d1465_1_17">
            <a:extLst>
              <a:ext uri="{FF2B5EF4-FFF2-40B4-BE49-F238E27FC236}">
                <a16:creationId xmlns:a16="http://schemas.microsoft.com/office/drawing/2014/main" xmlns="" id="{78632872-3F42-3447-924A-20A16C6976F7}"/>
              </a:ext>
            </a:extLst>
          </p:cNvPr>
          <p:cNvSpPr/>
          <p:nvPr/>
        </p:nvSpPr>
        <p:spPr>
          <a:xfrm>
            <a:off x="0" y="-8225"/>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296;g103996e1364_0_10">
            <a:extLst>
              <a:ext uri="{FF2B5EF4-FFF2-40B4-BE49-F238E27FC236}">
                <a16:creationId xmlns:a16="http://schemas.microsoft.com/office/drawing/2014/main" xmlns="" id="{5BB4D65A-27E8-4F4F-9348-5380FE318E8D}"/>
              </a:ext>
            </a:extLst>
          </p:cNvPr>
          <p:cNvSpPr txBox="1">
            <a:spLocks/>
          </p:cNvSpPr>
          <p:nvPr/>
        </p:nvSpPr>
        <p:spPr>
          <a:xfrm>
            <a:off x="858600" y="1455367"/>
            <a:ext cx="10800000" cy="474523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a:p>
            <a:pPr>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MA.K12.MTR.6.1 Assess the reasonableness of solutions.</a:t>
            </a:r>
          </a:p>
          <a:p>
            <a:pPr>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Apply mathematics to real-world contexts.</a:t>
            </a:r>
          </a:p>
        </p:txBody>
      </p:sp>
      <p:pic>
        <p:nvPicPr>
          <p:cNvPr id="8" name="Google Shape;281;g104476d1465_1_17"/>
          <p:cNvPicPr preferRelativeResize="0"/>
          <p:nvPr/>
        </p:nvPicPr>
        <p:blipFill>
          <a:blip r:embed="rId2">
            <a:alphaModFix/>
          </a:blip>
          <a:stretch>
            <a:fillRect/>
          </a:stretch>
        </p:blipFill>
        <p:spPr>
          <a:xfrm>
            <a:off x="356616" y="372300"/>
            <a:ext cx="747300" cy="747300"/>
          </a:xfrm>
          <a:prstGeom prst="rect">
            <a:avLst/>
          </a:prstGeom>
          <a:noFill/>
          <a:ln>
            <a:noFill/>
          </a:ln>
          <a:effectLst>
            <a:outerShdw blurRad="57150" dist="19050" dir="5400000" algn="bl" rotWithShape="0">
              <a:srgbClr val="000000">
                <a:alpha val="50000"/>
              </a:srgbClr>
            </a:outerShdw>
          </a:effectLst>
        </p:spPr>
      </p:pic>
      <p:sp>
        <p:nvSpPr>
          <p:cNvPr id="10" name="Google Shape;295;g103996e1364_0_10">
            <a:extLst>
              <a:ext uri="{FF2B5EF4-FFF2-40B4-BE49-F238E27FC236}">
                <a16:creationId xmlns="" xmlns:a16="http://schemas.microsoft.com/office/drawing/2014/main" id="{08B3C7FF-E6D0-2145-9A84-003D15672764}"/>
              </a:ext>
            </a:extLst>
          </p:cNvPr>
          <p:cNvSpPr txBox="1">
            <a:spLocks/>
          </p:cNvSpPr>
          <p:nvPr/>
        </p:nvSpPr>
        <p:spPr>
          <a:xfrm>
            <a:off x="1143000" y="129667"/>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pic>
        <p:nvPicPr>
          <p:cNvPr id="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137</a:t>
            </a:r>
            <a:endParaRPr i="1" dirty="0">
              <a:latin typeface="Calibri"/>
              <a:ea typeface="Calibri"/>
              <a:cs typeface="Calibri"/>
              <a:sym typeface="Calibri"/>
            </a:endParaRPr>
          </a:p>
        </p:txBody>
      </p:sp>
    </p:spTree>
    <p:extLst>
      <p:ext uri="{BB962C8B-B14F-4D97-AF65-F5344CB8AC3E}">
        <p14:creationId xmlns:p14="http://schemas.microsoft.com/office/powerpoint/2010/main" val="2342996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14" name="Google Shape;302;g103996e1364_0_16">
            <a:extLst>
              <a:ext uri="{FF2B5EF4-FFF2-40B4-BE49-F238E27FC236}">
                <a16:creationId xmlns:a16="http://schemas.microsoft.com/office/drawing/2014/main" xmlns="" id="{9B7C98EC-F13C-9146-B728-D7044DB4247D}"/>
              </a:ext>
            </a:extLst>
          </p:cNvPr>
          <p:cNvSpPr txBox="1">
            <a:spLocks/>
          </p:cNvSpPr>
          <p:nvPr/>
        </p:nvSpPr>
        <p:spPr>
          <a:xfrm>
            <a:off x="562645" y="1625110"/>
            <a:ext cx="108000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576263" indent="-576263">
              <a:buFont typeface="Wingdings" pitchFamily="2" charset="2"/>
              <a:buChar char="q"/>
            </a:pPr>
            <a:r>
              <a:rPr lang="en-US" sz="3500" dirty="0">
                <a:latin typeface="Verdana" panose="020B0604030504040204" pitchFamily="34" charset="0"/>
                <a:ea typeface="Verdana" panose="020B0604030504040204" pitchFamily="34" charset="0"/>
                <a:cs typeface="Verdana" panose="020B0604030504040204" pitchFamily="34" charset="0"/>
              </a:rPr>
              <a:t>I can formally fit a linear function to bivariate numerical data using technology.</a:t>
            </a:r>
          </a:p>
          <a:p>
            <a:pPr marL="576263" indent="-576263">
              <a:buFont typeface="Wingdings" pitchFamily="2" charset="2"/>
              <a:buChar char="q"/>
            </a:pPr>
            <a:endParaRPr lang="en-US" sz="3500" dirty="0">
              <a:latin typeface="Verdana" panose="020B0604030504040204" pitchFamily="34" charset="0"/>
              <a:ea typeface="Verdana" panose="020B0604030504040204" pitchFamily="34" charset="0"/>
              <a:cs typeface="Verdana" panose="020B0604030504040204" pitchFamily="34" charset="0"/>
            </a:endParaRPr>
          </a:p>
          <a:p>
            <a:pPr marL="576263" indent="-576263">
              <a:buFont typeface="Wingdings" pitchFamily="2" charset="2"/>
              <a:buChar char="q"/>
            </a:pPr>
            <a:r>
              <a:rPr lang="en-US" sz="3500" dirty="0">
                <a:latin typeface="Verdana" panose="020B0604030504040204" pitchFamily="34" charset="0"/>
                <a:ea typeface="Verdana" panose="020B0604030504040204" pitchFamily="34" charset="0"/>
                <a:cs typeface="Verdana" panose="020B0604030504040204" pitchFamily="34" charset="0"/>
              </a:rPr>
              <a:t>I can relate the correlation coefficient to the slope and fit </a:t>
            </a:r>
            <a:r>
              <a:rPr lang="en-US" sz="3500" dirty="0" smtClean="0">
                <a:latin typeface="Verdana" panose="020B0604030504040204" pitchFamily="34" charset="0"/>
                <a:ea typeface="Verdana" panose="020B0604030504040204" pitchFamily="34" charset="0"/>
                <a:cs typeface="Verdana" panose="020B0604030504040204" pitchFamily="34" charset="0"/>
              </a:rPr>
              <a:t>of </a:t>
            </a:r>
            <a:r>
              <a:rPr lang="en-US" sz="3500" dirty="0">
                <a:latin typeface="Verdana" panose="020B0604030504040204" pitchFamily="34" charset="0"/>
                <a:ea typeface="Verdana" panose="020B0604030504040204" pitchFamily="34" charset="0"/>
                <a:cs typeface="Verdana" panose="020B0604030504040204" pitchFamily="34" charset="0"/>
              </a:rPr>
              <a:t>a linear relationship between </a:t>
            </a:r>
            <a:br>
              <a:rPr lang="en-US" sz="3500" dirty="0">
                <a:latin typeface="Verdana" panose="020B0604030504040204" pitchFamily="34" charset="0"/>
                <a:ea typeface="Verdana" panose="020B0604030504040204" pitchFamily="34" charset="0"/>
                <a:cs typeface="Verdana" panose="020B0604030504040204" pitchFamily="34" charset="0"/>
              </a:rPr>
            </a:br>
            <a:r>
              <a:rPr lang="en-US" sz="3500" dirty="0">
                <a:latin typeface="Verdana" panose="020B0604030504040204" pitchFamily="34" charset="0"/>
                <a:ea typeface="Verdana" panose="020B0604030504040204" pitchFamily="34" charset="0"/>
                <a:cs typeface="Verdana" panose="020B0604030504040204" pitchFamily="34" charset="0"/>
              </a:rPr>
              <a:t>two variables.</a:t>
            </a:r>
          </a:p>
        </p:txBody>
      </p:sp>
      <p:sp>
        <p:nvSpPr>
          <p:cNvPr id="8" name="Google Shape;301;g103996e1364_0_16">
            <a:extLst>
              <a:ext uri="{FF2B5EF4-FFF2-40B4-BE49-F238E27FC236}">
                <a16:creationId xmlns="" xmlns:a16="http://schemas.microsoft.com/office/drawing/2014/main" id="{5771FBFA-7311-BB45-8AFF-04B380531EE6}"/>
              </a:ext>
            </a:extLst>
          </p:cNvPr>
          <p:cNvSpPr txBox="1">
            <a:spLocks/>
          </p:cNvSpPr>
          <p:nvPr/>
        </p:nvSpPr>
        <p:spPr>
          <a:xfrm>
            <a:off x="1143000" y="3066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1" name="Google Shape;303;g103996e1364_0_16">
            <a:extLst>
              <a:ext uri="{FF2B5EF4-FFF2-40B4-BE49-F238E27FC236}">
                <a16:creationId xmlns="" xmlns:a16="http://schemas.microsoft.com/office/drawing/2014/main" id="{81DC7EB0-4FED-FC45-BAEC-D699ED5C2169}"/>
              </a:ext>
            </a:extLst>
          </p:cNvPr>
          <p:cNvPicPr preferRelativeResize="0"/>
          <p:nvPr/>
        </p:nvPicPr>
        <p:blipFill>
          <a:blip r:embed="rId3">
            <a:alphaModFix/>
          </a:blip>
          <a:stretch>
            <a:fillRect/>
          </a:stretch>
        </p:blipFill>
        <p:spPr>
          <a:xfrm>
            <a:off x="356616" y="319860"/>
            <a:ext cx="747300" cy="747300"/>
          </a:xfrm>
          <a:prstGeom prst="rect">
            <a:avLst/>
          </a:prstGeom>
          <a:noFill/>
          <a:ln>
            <a:noFill/>
          </a:ln>
          <a:effectLst>
            <a:outerShdw blurRad="50800" dist="38100" dir="2700000" algn="tl" rotWithShape="0">
              <a:prstClr val="black">
                <a:alpha val="40000"/>
              </a:prstClr>
            </a:outerShdw>
          </a:effectLst>
        </p:spPr>
      </p:pic>
      <p:pic>
        <p:nvPicPr>
          <p:cNvPr id="13" name="Google Shape;311;g104476d1465_1_39"/>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5"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137</a:t>
            </a:r>
            <a:endParaRPr i="1" dirty="0">
              <a:latin typeface="Calibri"/>
              <a:ea typeface="Calibri"/>
              <a:cs typeface="Calibri"/>
              <a:sym typeface="Calibri"/>
            </a:endParaRPr>
          </a:p>
        </p:txBody>
      </p:sp>
    </p:spTree>
    <p:extLst>
      <p:ext uri="{BB962C8B-B14F-4D97-AF65-F5344CB8AC3E}">
        <p14:creationId xmlns:p14="http://schemas.microsoft.com/office/powerpoint/2010/main" val="20714203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2" name="Google Shape;312;g104476d1465_1_39"/>
          <p:cNvPicPr preferRelativeResize="0"/>
          <p:nvPr/>
        </p:nvPicPr>
        <p:blipFill>
          <a:blip r:embed="rId3">
            <a:alphaModFix/>
          </a:blip>
          <a:stretch>
            <a:fillRect/>
          </a:stretch>
        </p:blipFill>
        <p:spPr>
          <a:xfrm>
            <a:off x="3111550" y="2908950"/>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4071900" y="2835813"/>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pic>
        <p:nvPicPr>
          <p:cNvPr id="8" name="Google Shape;311;g104476d1465_1_39"/>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138</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194208" y="420967"/>
            <a:ext cx="11424512" cy="66285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3.6.1 Warm-Up: Notice and Wonder</a:t>
            </a:r>
          </a:p>
        </p:txBody>
      </p:sp>
      <p:sp>
        <p:nvSpPr>
          <p:cNvPr id="2" name="TextBox 1">
            <a:extLst>
              <a:ext uri="{FF2B5EF4-FFF2-40B4-BE49-F238E27FC236}">
                <a16:creationId xmlns:a16="http://schemas.microsoft.com/office/drawing/2014/main" xmlns="" id="{E1D7562E-134F-D14B-AF1A-DF40E11EF758}"/>
              </a:ext>
            </a:extLst>
          </p:cNvPr>
          <p:cNvSpPr txBox="1"/>
          <p:nvPr/>
        </p:nvSpPr>
        <p:spPr>
          <a:xfrm>
            <a:off x="542334" y="1339873"/>
            <a:ext cx="10800000" cy="1015663"/>
          </a:xfrm>
          <a:prstGeom prst="rect">
            <a:avLst/>
          </a:prstGeom>
          <a:noFill/>
        </p:spPr>
        <p:txBody>
          <a:bodyPr wrap="square" rtlCol="0">
            <a:spAutoFit/>
          </a:bodyPr>
          <a:lstStyle/>
          <a:p>
            <a:r>
              <a:rPr lang="en-US" sz="2000" dirty="0">
                <a:latin typeface="Verdana"/>
                <a:ea typeface="Times New Roman"/>
                <a:cs typeface="Times New Roman"/>
              </a:rPr>
              <a:t>The scatter plot shows the relationship between oil production, in thousands of tons, and the crude oil import price, in dollars per barrel.</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p:sp>
        <p:nvSpPr>
          <p:cNvPr id="19" name="Rectangle 13">
            <a:extLst>
              <a:ext uri="{FF2B5EF4-FFF2-40B4-BE49-F238E27FC236}">
                <a16:creationId xmlns:a16="http://schemas.microsoft.com/office/drawing/2014/main" xmlns="" id="{F32FA606-312E-FE45-9E7F-5EB4EB578347}"/>
              </a:ext>
            </a:extLst>
          </p:cNvPr>
          <p:cNvSpPr>
            <a:spLocks noChangeArrowheads="1"/>
          </p:cNvSpPr>
          <p:nvPr/>
        </p:nvSpPr>
        <p:spPr bwMode="auto">
          <a:xfrm>
            <a:off x="1676401" y="1963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buClrTx/>
            </a:pPr>
            <a:endParaRPr lang="en-US" altLang="en-US" sz="1800">
              <a:solidFill>
                <a:schemeClr val="tx1"/>
              </a:solidFill>
              <a:latin typeface="Arial" panose="020B0604020202020204" pitchFamily="34" charset="0"/>
            </a:endParaRPr>
          </a:p>
        </p:txBody>
      </p:sp>
      <p:sp>
        <p:nvSpPr>
          <p:cNvPr id="20" name="Rectangle 15">
            <a:extLst>
              <a:ext uri="{FF2B5EF4-FFF2-40B4-BE49-F238E27FC236}">
                <a16:creationId xmlns:a16="http://schemas.microsoft.com/office/drawing/2014/main" xmlns="" id="{3F80061E-0FC7-534E-8F32-815F86902C26}"/>
              </a:ext>
            </a:extLst>
          </p:cNvPr>
          <p:cNvSpPr>
            <a:spLocks noChangeArrowheads="1"/>
          </p:cNvSpPr>
          <p:nvPr/>
        </p:nvSpPr>
        <p:spPr bwMode="auto">
          <a:xfrm>
            <a:off x="1676401" y="4557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1" name="Rectangle 16">
            <a:extLst>
              <a:ext uri="{FF2B5EF4-FFF2-40B4-BE49-F238E27FC236}">
                <a16:creationId xmlns:a16="http://schemas.microsoft.com/office/drawing/2014/main" xmlns="" id="{F0663C2D-D71E-9747-B131-91E050FC8DF5}"/>
              </a:ext>
            </a:extLst>
          </p:cNvPr>
          <p:cNvSpPr>
            <a:spLocks noChangeArrowheads="1"/>
          </p:cNvSpPr>
          <p:nvPr/>
        </p:nvSpPr>
        <p:spPr bwMode="auto">
          <a:xfrm>
            <a:off x="1676401" y="38085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2" name="Rectangle 18">
            <a:extLst>
              <a:ext uri="{FF2B5EF4-FFF2-40B4-BE49-F238E27FC236}">
                <a16:creationId xmlns:a16="http://schemas.microsoft.com/office/drawing/2014/main" xmlns="" id="{1EDB4A78-8756-D641-B2CF-25FE103BD06D}"/>
              </a:ext>
            </a:extLst>
          </p:cNvPr>
          <p:cNvSpPr>
            <a:spLocks noChangeArrowheads="1"/>
          </p:cNvSpPr>
          <p:nvPr/>
        </p:nvSpPr>
        <p:spPr bwMode="auto">
          <a:xfrm>
            <a:off x="1676401" y="38085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12" name="Picture 11" descr="Chart, scatter chart&#10;&#10;Description automatically generated"/>
          <p:cNvPicPr/>
          <p:nvPr/>
        </p:nvPicPr>
        <p:blipFill>
          <a:blip r:embed="rId3"/>
          <a:stretch>
            <a:fillRect/>
          </a:stretch>
        </p:blipFill>
        <p:spPr>
          <a:xfrm>
            <a:off x="2457211" y="2165121"/>
            <a:ext cx="6970246" cy="4236816"/>
          </a:xfrm>
          <a:prstGeom prst="rect">
            <a:avLst/>
          </a:prstGeom>
        </p:spPr>
      </p:pic>
      <p:pic>
        <p:nvPicPr>
          <p:cNvPr id="14" name="Google Shape;311;g104476d1465_1_39"/>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6"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138</a:t>
            </a:r>
            <a:endParaRPr i="1" dirty="0">
              <a:latin typeface="Calibri"/>
              <a:ea typeface="Calibri"/>
              <a:cs typeface="Calibri"/>
              <a:sym typeface="Calibri"/>
            </a:endParaRPr>
          </a:p>
        </p:txBody>
      </p:sp>
      <p:pic>
        <p:nvPicPr>
          <p:cNvPr id="17" name="Google Shape;326;g103996e1364_0_25">
            <a:extLst>
              <a:ext uri="{FF2B5EF4-FFF2-40B4-BE49-F238E27FC236}">
                <a16:creationId xmlns="" xmlns:a16="http://schemas.microsoft.com/office/drawing/2014/main" id="{0B25478F-1F7B-DF44-A9BD-898178E878B3}"/>
              </a:ext>
            </a:extLst>
          </p:cNvPr>
          <p:cNvPicPr preferRelativeResize="0"/>
          <p:nvPr/>
        </p:nvPicPr>
        <p:blipFill>
          <a:blip r:embed="rId5">
            <a:alphaModFix/>
          </a:blip>
          <a:stretch>
            <a:fillRect/>
          </a:stretch>
        </p:blipFill>
        <p:spPr>
          <a:xfrm>
            <a:off x="329982" y="378742"/>
            <a:ext cx="747300" cy="747300"/>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9" name="Rectangle 13">
            <a:extLst>
              <a:ext uri="{FF2B5EF4-FFF2-40B4-BE49-F238E27FC236}">
                <a16:creationId xmlns:a16="http://schemas.microsoft.com/office/drawing/2014/main" xmlns="" id="{F32FA606-312E-FE45-9E7F-5EB4EB578347}"/>
              </a:ext>
            </a:extLst>
          </p:cNvPr>
          <p:cNvSpPr>
            <a:spLocks noChangeArrowheads="1"/>
          </p:cNvSpPr>
          <p:nvPr/>
        </p:nvSpPr>
        <p:spPr bwMode="auto">
          <a:xfrm>
            <a:off x="1676401" y="1963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buClrTx/>
            </a:pPr>
            <a:endParaRPr lang="en-US" altLang="en-US" sz="1800">
              <a:solidFill>
                <a:schemeClr val="tx1"/>
              </a:solidFill>
              <a:latin typeface="Arial" panose="020B0604020202020204" pitchFamily="34" charset="0"/>
            </a:endParaRPr>
          </a:p>
        </p:txBody>
      </p:sp>
      <p:sp>
        <p:nvSpPr>
          <p:cNvPr id="20" name="Rectangle 15">
            <a:extLst>
              <a:ext uri="{FF2B5EF4-FFF2-40B4-BE49-F238E27FC236}">
                <a16:creationId xmlns:a16="http://schemas.microsoft.com/office/drawing/2014/main" xmlns="" id="{3F80061E-0FC7-534E-8F32-815F86902C26}"/>
              </a:ext>
            </a:extLst>
          </p:cNvPr>
          <p:cNvSpPr>
            <a:spLocks noChangeArrowheads="1"/>
          </p:cNvSpPr>
          <p:nvPr/>
        </p:nvSpPr>
        <p:spPr bwMode="auto">
          <a:xfrm>
            <a:off x="1676401" y="4557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1" name="Rectangle 16">
            <a:extLst>
              <a:ext uri="{FF2B5EF4-FFF2-40B4-BE49-F238E27FC236}">
                <a16:creationId xmlns:a16="http://schemas.microsoft.com/office/drawing/2014/main" xmlns="" id="{F0663C2D-D71E-9747-B131-91E050FC8DF5}"/>
              </a:ext>
            </a:extLst>
          </p:cNvPr>
          <p:cNvSpPr>
            <a:spLocks noChangeArrowheads="1"/>
          </p:cNvSpPr>
          <p:nvPr/>
        </p:nvSpPr>
        <p:spPr bwMode="auto">
          <a:xfrm>
            <a:off x="1676401" y="38085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2" name="Rectangle 18">
            <a:extLst>
              <a:ext uri="{FF2B5EF4-FFF2-40B4-BE49-F238E27FC236}">
                <a16:creationId xmlns:a16="http://schemas.microsoft.com/office/drawing/2014/main" xmlns="" id="{1EDB4A78-8756-D641-B2CF-25FE103BD06D}"/>
              </a:ext>
            </a:extLst>
          </p:cNvPr>
          <p:cNvSpPr>
            <a:spLocks noChangeArrowheads="1"/>
          </p:cNvSpPr>
          <p:nvPr/>
        </p:nvSpPr>
        <p:spPr bwMode="auto">
          <a:xfrm>
            <a:off x="1676401" y="38085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0" name="TextBox 9">
            <a:extLst>
              <a:ext uri="{FF2B5EF4-FFF2-40B4-BE49-F238E27FC236}">
                <a16:creationId xmlns:a16="http://schemas.microsoft.com/office/drawing/2014/main" xmlns="" id="{4B71B7AA-10E7-9B44-A591-563821260A41}"/>
              </a:ext>
            </a:extLst>
          </p:cNvPr>
          <p:cNvSpPr txBox="1"/>
          <p:nvPr/>
        </p:nvSpPr>
        <p:spPr>
          <a:xfrm>
            <a:off x="588703" y="355362"/>
            <a:ext cx="10800000" cy="1015663"/>
          </a:xfrm>
          <a:prstGeom prst="rect">
            <a:avLst/>
          </a:prstGeom>
          <a:noFill/>
        </p:spPr>
        <p:txBody>
          <a:bodyPr wrap="square" rtlCol="0">
            <a:spAutoFit/>
          </a:bodyPr>
          <a:lstStyle/>
          <a:p>
            <a:pPr marL="457200" indent="-457200">
              <a:buFont typeface="+mj-lt"/>
              <a:buAutoNum type="arabicPeriod"/>
            </a:pPr>
            <a:r>
              <a:rPr lang="en-US" sz="2000" dirty="0">
                <a:latin typeface="Verdana"/>
                <a:ea typeface="Times New Roman"/>
                <a:cs typeface="Times New Roman"/>
              </a:rPr>
              <a:t>Complete the table to indicate one thing you notice and one thing you wonder about when looking at this scatter plot.</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p:graphicFrame>
        <p:nvGraphicFramePr>
          <p:cNvPr id="3" name="Table 2"/>
          <p:cNvGraphicFramePr>
            <a:graphicFrameLocks noGrp="1"/>
          </p:cNvGraphicFramePr>
          <p:nvPr>
            <p:extLst>
              <p:ext uri="{D42A27DB-BD31-4B8C-83A1-F6EECF244321}">
                <p14:modId xmlns:p14="http://schemas.microsoft.com/office/powerpoint/2010/main" val="4166856878"/>
              </p:ext>
            </p:extLst>
          </p:nvPr>
        </p:nvGraphicFramePr>
        <p:xfrm>
          <a:off x="1161806" y="1371025"/>
          <a:ext cx="7498080" cy="3230880"/>
        </p:xfrm>
        <a:graphic>
          <a:graphicData uri="http://schemas.openxmlformats.org/drawingml/2006/table">
            <a:tbl>
              <a:tblPr firstRow="1" bandRow="1">
                <a:tableStyleId>{A91F0D33-8C57-4600-99A7-42BC86742BE1}</a:tableStyleId>
              </a:tblPr>
              <a:tblGrid>
                <a:gridCol w="3749040">
                  <a:extLst>
                    <a:ext uri="{9D8B030D-6E8A-4147-A177-3AD203B41FA5}">
                      <a16:colId xmlns:a16="http://schemas.microsoft.com/office/drawing/2014/main" xmlns="" val="20000"/>
                    </a:ext>
                  </a:extLst>
                </a:gridCol>
                <a:gridCol w="3749040">
                  <a:extLst>
                    <a:ext uri="{9D8B030D-6E8A-4147-A177-3AD203B41FA5}">
                      <a16:colId xmlns:a16="http://schemas.microsoft.com/office/drawing/2014/main" xmlns="" val="20001"/>
                    </a:ext>
                  </a:extLst>
                </a:gridCol>
              </a:tblGrid>
              <a:tr h="370840">
                <a:tc>
                  <a:txBody>
                    <a:bodyPr/>
                    <a:lstStyle/>
                    <a:p>
                      <a:pPr algn="ctr"/>
                      <a:r>
                        <a:rPr lang="en-US" sz="2000" b="1" dirty="0">
                          <a:effectLst/>
                          <a:latin typeface="Verdana"/>
                          <a:ea typeface="Times New Roman"/>
                          <a:cs typeface="Times New Roman"/>
                        </a:rPr>
                        <a:t>One Thing I Notice is …</a:t>
                      </a:r>
                      <a:endParaRPr lang="en-US" sz="2000" dirty="0">
                        <a:latin typeface="Verdana" pitchFamily="34" charset="0"/>
                        <a:ea typeface="Verdana"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US" sz="2000" b="1" dirty="0">
                          <a:effectLst/>
                          <a:latin typeface="Verdana"/>
                          <a:ea typeface="Times New Roman"/>
                          <a:cs typeface="Times New Roman"/>
                        </a:rPr>
                        <a:t>One Thing I Wonder is …</a:t>
                      </a:r>
                      <a:endParaRPr lang="en-US" sz="2000" dirty="0">
                        <a:latin typeface="Verdana" pitchFamily="34" charset="0"/>
                        <a:ea typeface="Verdana"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 val="10000"/>
                  </a:ext>
                </a:extLst>
              </a:tr>
              <a:tr h="2743200">
                <a:tc>
                  <a:txBody>
                    <a:bodyPr/>
                    <a:lstStyle/>
                    <a:p>
                      <a:pPr algn="ctr"/>
                      <a:endParaRPr lang="en-US" sz="2000" dirty="0">
                        <a:latin typeface="Verdana" pitchFamily="34" charset="0"/>
                        <a:ea typeface="Verdana"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dirty="0">
                        <a:latin typeface="Verdana" pitchFamily="34" charset="0"/>
                        <a:ea typeface="Verdana"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1"/>
                  </a:ext>
                </a:extLst>
              </a:tr>
            </a:tbl>
          </a:graphicData>
        </a:graphic>
      </p:graphicFrame>
      <p:pic>
        <p:nvPicPr>
          <p:cNvPr id="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138</a:t>
            </a:r>
            <a:endParaRPr i="1" dirty="0">
              <a:latin typeface="Calibri"/>
              <a:ea typeface="Calibri"/>
              <a:cs typeface="Calibri"/>
              <a:sym typeface="Calibri"/>
            </a:endParaRPr>
          </a:p>
        </p:txBody>
      </p:sp>
    </p:spTree>
    <p:extLst>
      <p:ext uri="{BB962C8B-B14F-4D97-AF65-F5344CB8AC3E}">
        <p14:creationId xmlns:p14="http://schemas.microsoft.com/office/powerpoint/2010/main" val="26979706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37758" y="-31764"/>
            <a:ext cx="2731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3769847" y="2766144"/>
            <a:ext cx="5002742"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4800" b="1" dirty="0">
                <a:solidFill>
                  <a:srgbClr val="33BEA6"/>
                </a:solidFill>
                <a:latin typeface="Verdana"/>
                <a:ea typeface="Verdana"/>
                <a:cs typeface="Verdana"/>
                <a:sym typeface="Verdana"/>
              </a:rPr>
              <a:t>Exploration</a:t>
            </a:r>
            <a:endParaRPr sz="4400" b="1" dirty="0">
              <a:solidFill>
                <a:srgbClr val="33BEA6"/>
              </a:solidFill>
              <a:latin typeface="Verdana"/>
              <a:ea typeface="Verdana"/>
              <a:cs typeface="Verdana"/>
              <a:sym typeface="Verdana"/>
            </a:endParaRPr>
          </a:p>
        </p:txBody>
      </p:sp>
      <p:pic>
        <p:nvPicPr>
          <p:cNvPr id="9" name="image10.png" descr="Icon&#10;&#10;Description automatically generated">
            <a:extLst>
              <a:ext uri="{FF2B5EF4-FFF2-40B4-BE49-F238E27FC236}">
                <a16:creationId xmlns:a16="http://schemas.microsoft.com/office/drawing/2014/main" xmlns="" id="{BAD4E254-72F9-E543-AF5F-855F29559335}"/>
              </a:ext>
            </a:extLst>
          </p:cNvPr>
          <p:cNvPicPr/>
          <p:nvPr/>
        </p:nvPicPr>
        <p:blipFill>
          <a:blip r:embed="rId3"/>
          <a:srcRect/>
          <a:stretch>
            <a:fillRect/>
          </a:stretch>
        </p:blipFill>
        <p:spPr>
          <a:xfrm>
            <a:off x="2972769" y="2852922"/>
            <a:ext cx="1152145" cy="1152145"/>
          </a:xfrm>
          <a:prstGeom prst="rect">
            <a:avLst/>
          </a:prstGeom>
          <a:ln/>
          <a:effectLst>
            <a:outerShdw blurRad="50800" dist="38100" dir="2700000" algn="tl" rotWithShape="0">
              <a:prstClr val="black">
                <a:alpha val="40000"/>
              </a:prstClr>
            </a:outerShdw>
          </a:effectLst>
        </p:spPr>
      </p:pic>
      <p:pic>
        <p:nvPicPr>
          <p:cNvPr id="8" name="Google Shape;311;g104476d1465_1_39"/>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138</a:t>
            </a:r>
            <a:endParaRPr i="1" dirty="0">
              <a:latin typeface="Calibri"/>
              <a:ea typeface="Calibri"/>
              <a:cs typeface="Calibri"/>
              <a:sym typeface="Calibri"/>
            </a:endParaRPr>
          </a:p>
        </p:txBody>
      </p:sp>
    </p:spTree>
    <p:extLst>
      <p:ext uri="{BB962C8B-B14F-4D97-AF65-F5344CB8AC3E}">
        <p14:creationId xmlns:p14="http://schemas.microsoft.com/office/powerpoint/2010/main" val="13883571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218912" y="89541"/>
            <a:ext cx="108000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200" b="1" dirty="0">
                <a:solidFill>
                  <a:srgbClr val="33BEA6"/>
                </a:solidFill>
                <a:latin typeface="Verdana"/>
                <a:ea typeface="Verdana"/>
                <a:cs typeface="Verdana"/>
                <a:sym typeface="Verdana"/>
              </a:rPr>
              <a:t>3.6.2 Exploration: Formally Fit a Linear Function to Bivariate Data Using Technology</a:t>
            </a:r>
          </a:p>
        </p:txBody>
      </p:sp>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xmlns="" id="{B46B19A2-BBA2-0441-AC88-F1F62E75949B}"/>
                  </a:ext>
                </a:extLst>
              </p:cNvPr>
              <p:cNvSpPr txBox="1"/>
              <p:nvPr/>
            </p:nvSpPr>
            <p:spPr>
              <a:xfrm>
                <a:off x="571798" y="1415241"/>
                <a:ext cx="10800000" cy="707886"/>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The mass, in kilograms (kg), and fuel efficiency, in miles per gallon (mpg), of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20</m:t>
                    </m:r>
                  </m:oMath>
                </a14:m>
                <a:r>
                  <a:rPr lang="en-US" sz="2000" dirty="0">
                    <a:latin typeface="Verdana" panose="020B0604030504040204" pitchFamily="34" charset="0"/>
                    <a:ea typeface="Verdana" panose="020B0604030504040204" pitchFamily="34" charset="0"/>
                    <a:cs typeface="Verdana" panose="020B0604030504040204" pitchFamily="34" charset="0"/>
                  </a:rPr>
                  <a:t> new gas-powered cars is given in the table.</a:t>
                </a:r>
              </a:p>
            </p:txBody>
          </p:sp>
        </mc:Choice>
        <mc:Fallback>
          <p:sp>
            <p:nvSpPr>
              <p:cNvPr id="11" name="TextBox 10">
                <a:extLst>
                  <a:ext uri="{FF2B5EF4-FFF2-40B4-BE49-F238E27FC236}">
                    <a16:creationId xmlns:a16="http://schemas.microsoft.com/office/drawing/2014/main" xmlns:a14="http://schemas.microsoft.com/office/drawing/2010/main" xmlns="" id="{B46B19A2-BBA2-0441-AC88-F1F62E75949B}"/>
                  </a:ext>
                </a:extLst>
              </p:cNvPr>
              <p:cNvSpPr txBox="1">
                <a:spLocks noRot="1" noChangeAspect="1" noMove="1" noResize="1" noEditPoints="1" noAdjustHandles="1" noChangeArrowheads="1" noChangeShapeType="1" noTextEdit="1"/>
              </p:cNvSpPr>
              <p:nvPr/>
            </p:nvSpPr>
            <p:spPr>
              <a:xfrm>
                <a:off x="571798" y="1415241"/>
                <a:ext cx="10800000" cy="707886"/>
              </a:xfrm>
              <a:prstGeom prst="rect">
                <a:avLst/>
              </a:prstGeom>
              <a:blipFill rotWithShape="1">
                <a:blip r:embed="rId3"/>
                <a:stretch>
                  <a:fillRect l="-621" t="-4310" b="-14655"/>
                </a:stretch>
              </a:blipFill>
            </p:spPr>
            <p:txBody>
              <a:bodyPr/>
              <a:lstStyle/>
              <a:p>
                <a:r>
                  <a:rPr lang="en-PH">
                    <a:noFill/>
                  </a:rPr>
                  <a:t> </a:t>
                </a:r>
              </a:p>
            </p:txBody>
          </p:sp>
        </mc:Fallback>
      </mc:AlternateContent>
      <p:pic>
        <p:nvPicPr>
          <p:cNvPr id="10" name="image10.png" descr="Icon&#10;&#10;Description automatically generated">
            <a:extLst>
              <a:ext uri="{FF2B5EF4-FFF2-40B4-BE49-F238E27FC236}">
                <a16:creationId xmlns:a16="http://schemas.microsoft.com/office/drawing/2014/main" xmlns="" id="{509E52C2-186D-DE4A-A611-D65DC752BB78}"/>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329982" y="377486"/>
            <a:ext cx="749811" cy="749811"/>
          </a:xfrm>
          <a:prstGeom prst="rect">
            <a:avLst/>
          </a:prstGeom>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xmlns="" id="{639B7790-FFF1-EF42-A535-86C659AC44FE}"/>
                  </a:ext>
                </a:extLst>
              </p:cNvPr>
              <p:cNvGraphicFramePr>
                <a:graphicFrameLocks noGrp="1"/>
              </p:cNvGraphicFramePr>
              <p:nvPr>
                <p:extLst>
                  <p:ext uri="{D42A27DB-BD31-4B8C-83A1-F6EECF244321}">
                    <p14:modId xmlns:p14="http://schemas.microsoft.com/office/powerpoint/2010/main" val="1412169737"/>
                  </p:ext>
                </p:extLst>
              </p:nvPr>
            </p:nvGraphicFramePr>
            <p:xfrm>
              <a:off x="2297625" y="2506705"/>
              <a:ext cx="7772400" cy="3002280"/>
            </p:xfrm>
            <a:graphic>
              <a:graphicData uri="http://schemas.openxmlformats.org/drawingml/2006/table">
                <a:tbl>
                  <a:tblPr firstRow="1" firstCol="1" bandRow="1"/>
                  <a:tblGrid>
                    <a:gridCol w="1371600">
                      <a:extLst>
                        <a:ext uri="{9D8B030D-6E8A-4147-A177-3AD203B41FA5}">
                          <a16:colId xmlns:a16="http://schemas.microsoft.com/office/drawing/2014/main" xmlns="" val="4171961373"/>
                        </a:ext>
                      </a:extLst>
                    </a:gridCol>
                    <a:gridCol w="2286000">
                      <a:extLst>
                        <a:ext uri="{9D8B030D-6E8A-4147-A177-3AD203B41FA5}">
                          <a16:colId xmlns:a16="http://schemas.microsoft.com/office/drawing/2014/main" xmlns="" val="1961502755"/>
                        </a:ext>
                      </a:extLst>
                    </a:gridCol>
                    <a:gridCol w="457200">
                      <a:extLst>
                        <a:ext uri="{9D8B030D-6E8A-4147-A177-3AD203B41FA5}">
                          <a16:colId xmlns:a16="http://schemas.microsoft.com/office/drawing/2014/main" xmlns="" val="20002"/>
                        </a:ext>
                      </a:extLst>
                    </a:gridCol>
                    <a:gridCol w="1371600">
                      <a:extLst>
                        <a:ext uri="{9D8B030D-6E8A-4147-A177-3AD203B41FA5}">
                          <a16:colId xmlns:a16="http://schemas.microsoft.com/office/drawing/2014/main" xmlns="" val="20003"/>
                        </a:ext>
                      </a:extLst>
                    </a:gridCol>
                    <a:gridCol w="2286000">
                      <a:extLst>
                        <a:ext uri="{9D8B030D-6E8A-4147-A177-3AD203B41FA5}">
                          <a16:colId xmlns:a16="http://schemas.microsoft.com/office/drawing/2014/main" xmlns="" val="20004"/>
                        </a:ext>
                      </a:extLst>
                    </a:gridCol>
                  </a:tblGrid>
                  <a:tr h="0">
                    <a:tc>
                      <a:txBody>
                        <a:bodyPr/>
                        <a:lstStyle/>
                        <a:p>
                          <a:pPr marL="0" marR="0" algn="ctr">
                            <a:lnSpc>
                              <a:spcPct val="115000"/>
                            </a:lnSpc>
                            <a:spcBef>
                              <a:spcPts val="0"/>
                            </a:spcBef>
                            <a:spcAft>
                              <a:spcPts val="0"/>
                            </a:spcAft>
                          </a:pPr>
                          <a:r>
                            <a:rPr lang="en-US" sz="2000" b="1" dirty="0">
                              <a:effectLst/>
                              <a:latin typeface="Verdana" panose="020B0604030504040204" pitchFamily="34" charset="0"/>
                              <a:ea typeface="Verdana" pitchFamily="34" charset="0"/>
                              <a:cs typeface="Times New Roman" panose="02020603050405020304" pitchFamily="18" charset="0"/>
                            </a:rPr>
                            <a:t>Mass (kg)</a:t>
                          </a:r>
                          <a:endParaRPr lang="x-none" sz="2000">
                            <a:effectLst/>
                            <a:latin typeface="Verdana" pitchFamily="34" charset="0"/>
                            <a:ea typeface="Verdana" pitchFamily="34" charset="0"/>
                            <a:cs typeface="Times New Roman" panose="02020603050405020304" pitchFamily="18" charset="0"/>
                          </a:endParaRPr>
                        </a:p>
                      </a:txBody>
                      <a:tcPr marL="68580" marR="6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marL="0" marR="0" algn="ctr">
                            <a:lnSpc>
                              <a:spcPct val="115000"/>
                            </a:lnSpc>
                            <a:spcBef>
                              <a:spcPts val="0"/>
                            </a:spcBef>
                            <a:spcAft>
                              <a:spcPts val="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Fuel Efficiency </a:t>
                          </a:r>
                          <a:b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b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(mpg)</a:t>
                          </a:r>
                          <a:endParaRPr lang="x-none" sz="2000">
                            <a:effectLst/>
                            <a:latin typeface="Verdana" pitchFamily="34" charset="0"/>
                            <a:ea typeface="Verdana" pitchFamily="34" charset="0"/>
                            <a:cs typeface="Times New Roman" panose="02020603050405020304" pitchFamily="18" charset="0"/>
                          </a:endParaRPr>
                        </a:p>
                      </a:txBody>
                      <a:tcPr marL="68580" marR="6858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marL="0" marR="0" algn="ctr">
                            <a:lnSpc>
                              <a:spcPct val="115000"/>
                            </a:lnSpc>
                            <a:spcBef>
                              <a:spcPts val="0"/>
                            </a:spcBef>
                            <a:spcAft>
                              <a:spcPts val="0"/>
                            </a:spcAft>
                          </a:pPr>
                          <a:endParaRPr lang="x-none" sz="2000">
                            <a:effectLst/>
                            <a:latin typeface="Verdana" pitchFamily="34" charset="0"/>
                            <a:ea typeface="Verdana" pitchFamily="34" charset="0"/>
                            <a:cs typeface="Times New Roman" panose="02020603050405020304" pitchFamily="18" charset="0"/>
                          </a:endParaRPr>
                        </a:p>
                      </a:txBody>
                      <a:tcPr marL="68580" marR="685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ctr">
                            <a:lnSpc>
                              <a:spcPct val="115000"/>
                            </a:lnSpc>
                            <a:spcBef>
                              <a:spcPts val="0"/>
                            </a:spcBef>
                            <a:spcAft>
                              <a:spcPts val="0"/>
                            </a:spcAft>
                          </a:pPr>
                          <a:r>
                            <a:rPr lang="en-US" sz="2000" b="1" dirty="0">
                              <a:effectLst/>
                              <a:latin typeface="Verdana" panose="020B0604030504040204" pitchFamily="34" charset="0"/>
                              <a:ea typeface="Verdana" pitchFamily="34" charset="0"/>
                              <a:cs typeface="Times New Roman" panose="02020603050405020304" pitchFamily="18" charset="0"/>
                            </a:rPr>
                            <a:t>Mass (kg)</a:t>
                          </a:r>
                          <a:endParaRPr lang="x-none" sz="2000">
                            <a:effectLst/>
                            <a:latin typeface="Verdana" pitchFamily="34" charset="0"/>
                            <a:ea typeface="Verdana" pitchFamily="34" charset="0"/>
                            <a:cs typeface="Times New Roman" panose="02020603050405020304" pitchFamily="18" charset="0"/>
                          </a:endParaRPr>
                        </a:p>
                      </a:txBody>
                      <a:tcPr marL="68580" marR="6858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marL="0" marR="0" algn="ctr">
                            <a:lnSpc>
                              <a:spcPct val="115000"/>
                            </a:lnSpc>
                            <a:spcBef>
                              <a:spcPts val="0"/>
                            </a:spcBef>
                            <a:spcAft>
                              <a:spcPts val="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Fuel Efficiency </a:t>
                          </a:r>
                          <a:b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b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(mpg)</a:t>
                          </a:r>
                          <a:endParaRPr lang="x-none" sz="2000">
                            <a:effectLst/>
                            <a:latin typeface="Verdana" pitchFamily="34" charset="0"/>
                            <a:ea typeface="Verdana" pitchFamily="34" charset="0"/>
                            <a:cs typeface="Times New Roman" panose="02020603050405020304" pitchFamily="18" charset="0"/>
                          </a:endParaRPr>
                        </a:p>
                      </a:txBody>
                      <a:tcPr marL="68580" marR="6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 val="1868418142"/>
                      </a:ext>
                    </a:extLst>
                  </a:tr>
                  <a:tr h="0">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PH" sz="2000" b="0" i="1" smtClean="0">
                                    <a:effectLst/>
                                    <a:latin typeface="Cambria Math"/>
                                    <a:ea typeface="Verdana" pitchFamily="34" charset="0"/>
                                    <a:cs typeface="Times New Roman" panose="02020603050405020304" pitchFamily="18" charset="0"/>
                                  </a:rPr>
                                  <m:t>1549</m:t>
                                </m:r>
                              </m:oMath>
                            </m:oMathPara>
                          </a14:m>
                          <a:endParaRPr lang="x-none" sz="2000">
                            <a:effectLst/>
                            <a:latin typeface="Verdana" pitchFamily="34" charset="0"/>
                            <a:ea typeface="Verdana" pitchFamily="34" charset="0"/>
                            <a:cs typeface="Times New Roman" panose="02020603050405020304" pitchFamily="18" charset="0"/>
                          </a:endParaRPr>
                        </a:p>
                      </a:txBody>
                      <a:tcPr marL="68580" marR="6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PH" sz="2000" b="0" i="1" smtClean="0">
                                    <a:effectLst/>
                                    <a:latin typeface="Cambria Math"/>
                                    <a:ea typeface="Verdana" pitchFamily="34" charset="0"/>
                                    <a:cs typeface="Times New Roman" panose="02020603050405020304" pitchFamily="18" charset="0"/>
                                  </a:rPr>
                                  <m:t>25</m:t>
                                </m:r>
                              </m:oMath>
                            </m:oMathPara>
                          </a14:m>
                          <a:endParaRPr lang="x-none" sz="2000">
                            <a:effectLst/>
                            <a:latin typeface="Verdana" pitchFamily="34" charset="0"/>
                            <a:ea typeface="Verdana" pitchFamily="34" charset="0"/>
                            <a:cs typeface="Times New Roman" panose="02020603050405020304" pitchFamily="18" charset="0"/>
                          </a:endParaRPr>
                        </a:p>
                      </a:txBody>
                      <a:tcPr marL="68580" marR="6858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x-none" sz="2000">
                            <a:effectLst/>
                            <a:latin typeface="Verdana" pitchFamily="34" charset="0"/>
                            <a:ea typeface="Verdana" pitchFamily="34" charset="0"/>
                            <a:cs typeface="Times New Roman" panose="02020603050405020304" pitchFamily="18" charset="0"/>
                          </a:endParaRPr>
                        </a:p>
                      </a:txBody>
                      <a:tcPr marL="68580" marR="685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PH" sz="2000" b="0" i="1" smtClean="0">
                                    <a:effectLst/>
                                    <a:latin typeface="Cambria Math"/>
                                    <a:ea typeface="Verdana" pitchFamily="34" charset="0"/>
                                    <a:cs typeface="Times New Roman" panose="02020603050405020304" pitchFamily="18" charset="0"/>
                                  </a:rPr>
                                  <m:t>1486</m:t>
                                </m:r>
                              </m:oMath>
                            </m:oMathPara>
                          </a14:m>
                          <a:endParaRPr lang="x-none" sz="2000">
                            <a:effectLst/>
                            <a:latin typeface="Verdana" pitchFamily="34" charset="0"/>
                            <a:ea typeface="Verdana" pitchFamily="34" charset="0"/>
                            <a:cs typeface="Times New Roman" panose="02020603050405020304" pitchFamily="18" charset="0"/>
                          </a:endParaRPr>
                        </a:p>
                      </a:txBody>
                      <a:tcPr marL="68580" marR="6858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PH" sz="2000" b="0" i="1" smtClean="0">
                                    <a:effectLst/>
                                    <a:latin typeface="Cambria Math"/>
                                    <a:ea typeface="Verdana" pitchFamily="34" charset="0"/>
                                    <a:cs typeface="Times New Roman" panose="02020603050405020304" pitchFamily="18" charset="0"/>
                                  </a:rPr>
                                  <m:t>23</m:t>
                                </m:r>
                              </m:oMath>
                            </m:oMathPara>
                          </a14:m>
                          <a:endParaRPr lang="x-none" sz="2000">
                            <a:effectLst/>
                            <a:latin typeface="Verdana" pitchFamily="34" charset="0"/>
                            <a:ea typeface="Verdana" pitchFamily="34" charset="0"/>
                            <a:cs typeface="Times New Roman" panose="02020603050405020304" pitchFamily="18" charset="0"/>
                          </a:endParaRPr>
                        </a:p>
                      </a:txBody>
                      <a:tcPr marL="68580" marR="6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218842699"/>
                      </a:ext>
                    </a:extLst>
                  </a:tr>
                  <a:tr h="0">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PH" sz="2000" b="0" i="1" smtClean="0">
                                    <a:effectLst/>
                                    <a:latin typeface="Cambria Math"/>
                                    <a:ea typeface="Verdana" pitchFamily="34" charset="0"/>
                                    <a:cs typeface="Times New Roman" panose="02020603050405020304" pitchFamily="18" charset="0"/>
                                  </a:rPr>
                                  <m:t>1610</m:t>
                                </m:r>
                              </m:oMath>
                            </m:oMathPara>
                          </a14:m>
                          <a:endParaRPr lang="x-none" sz="2000">
                            <a:effectLst/>
                            <a:latin typeface="Verdana" pitchFamily="34" charset="0"/>
                            <a:ea typeface="Verdana" pitchFamily="34" charset="0"/>
                            <a:cs typeface="Times New Roman" panose="02020603050405020304" pitchFamily="18" charset="0"/>
                          </a:endParaRPr>
                        </a:p>
                      </a:txBody>
                      <a:tcPr marL="68580" marR="6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PH" sz="2000" b="0" i="1" smtClean="0">
                                    <a:effectLst/>
                                    <a:latin typeface="Cambria Math"/>
                                    <a:ea typeface="Verdana" pitchFamily="34" charset="0"/>
                                    <a:cs typeface="Times New Roman" panose="02020603050405020304" pitchFamily="18" charset="0"/>
                                  </a:rPr>
                                  <m:t>20</m:t>
                                </m:r>
                              </m:oMath>
                            </m:oMathPara>
                          </a14:m>
                          <a:endParaRPr lang="x-none" sz="2000">
                            <a:effectLst/>
                            <a:latin typeface="Verdana" pitchFamily="34" charset="0"/>
                            <a:ea typeface="Verdana" pitchFamily="34" charset="0"/>
                            <a:cs typeface="Times New Roman" panose="02020603050405020304" pitchFamily="18" charset="0"/>
                          </a:endParaRPr>
                        </a:p>
                      </a:txBody>
                      <a:tcPr marL="68580" marR="6858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x-none" sz="2000">
                            <a:effectLst/>
                            <a:latin typeface="Verdana" pitchFamily="34" charset="0"/>
                            <a:ea typeface="Verdana" pitchFamily="34" charset="0"/>
                            <a:cs typeface="Times New Roman" panose="02020603050405020304" pitchFamily="18" charset="0"/>
                          </a:endParaRPr>
                        </a:p>
                      </a:txBody>
                      <a:tcPr marL="68580" marR="685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PH" sz="2000" b="0" i="1" smtClean="0">
                                    <a:effectLst/>
                                    <a:latin typeface="Cambria Math"/>
                                    <a:ea typeface="Verdana" pitchFamily="34" charset="0"/>
                                    <a:cs typeface="Times New Roman" panose="02020603050405020304" pitchFamily="18" charset="0"/>
                                  </a:rPr>
                                  <m:t>1962</m:t>
                                </m:r>
                              </m:oMath>
                            </m:oMathPara>
                          </a14:m>
                          <a:endParaRPr lang="x-none" sz="2000">
                            <a:effectLst/>
                            <a:latin typeface="Verdana" pitchFamily="34" charset="0"/>
                            <a:ea typeface="Verdana" pitchFamily="34" charset="0"/>
                            <a:cs typeface="Times New Roman" panose="02020603050405020304" pitchFamily="18" charset="0"/>
                          </a:endParaRPr>
                        </a:p>
                      </a:txBody>
                      <a:tcPr marL="68580" marR="6858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PH" sz="2000" b="0" i="1" smtClean="0">
                                    <a:effectLst/>
                                    <a:latin typeface="Cambria Math"/>
                                    <a:ea typeface="Verdana" pitchFamily="34" charset="0"/>
                                    <a:cs typeface="Times New Roman" panose="02020603050405020304" pitchFamily="18" charset="0"/>
                                  </a:rPr>
                                  <m:t>16</m:t>
                                </m:r>
                              </m:oMath>
                            </m:oMathPara>
                          </a14:m>
                          <a:endParaRPr lang="x-none" sz="2000">
                            <a:effectLst/>
                            <a:latin typeface="Verdana" pitchFamily="34" charset="0"/>
                            <a:ea typeface="Verdana" pitchFamily="34" charset="0"/>
                            <a:cs typeface="Times New Roman" panose="02020603050405020304" pitchFamily="18" charset="0"/>
                          </a:endParaRPr>
                        </a:p>
                      </a:txBody>
                      <a:tcPr marL="68580" marR="6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821530247"/>
                      </a:ext>
                    </a:extLst>
                  </a:tr>
                  <a:tr h="0">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PH" sz="2000" b="0" i="1" smtClean="0">
                                    <a:effectLst/>
                                    <a:latin typeface="Cambria Math"/>
                                    <a:ea typeface="Verdana" pitchFamily="34" charset="0"/>
                                    <a:cs typeface="Times New Roman" panose="02020603050405020304" pitchFamily="18" charset="0"/>
                                  </a:rPr>
                                  <m:t>1737</m:t>
                                </m:r>
                              </m:oMath>
                            </m:oMathPara>
                          </a14:m>
                          <a:endParaRPr lang="x-none" sz="2000">
                            <a:effectLst/>
                            <a:latin typeface="Verdana" pitchFamily="34" charset="0"/>
                            <a:ea typeface="Verdana" pitchFamily="34" charset="0"/>
                            <a:cs typeface="Times New Roman" panose="02020603050405020304" pitchFamily="18" charset="0"/>
                          </a:endParaRPr>
                        </a:p>
                      </a:txBody>
                      <a:tcPr marL="68580" marR="6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PH" sz="2000" b="0" i="1" smtClean="0">
                                    <a:effectLst/>
                                    <a:latin typeface="Cambria Math"/>
                                    <a:ea typeface="Verdana" pitchFamily="34" charset="0"/>
                                    <a:cs typeface="Times New Roman" panose="02020603050405020304" pitchFamily="18" charset="0"/>
                                  </a:rPr>
                                  <m:t>21</m:t>
                                </m:r>
                              </m:oMath>
                            </m:oMathPara>
                          </a14:m>
                          <a:endParaRPr lang="x-none" sz="2000">
                            <a:effectLst/>
                            <a:latin typeface="Verdana" pitchFamily="34" charset="0"/>
                            <a:ea typeface="Verdana" pitchFamily="34" charset="0"/>
                            <a:cs typeface="Times New Roman" panose="02020603050405020304" pitchFamily="18" charset="0"/>
                          </a:endParaRPr>
                        </a:p>
                      </a:txBody>
                      <a:tcPr marL="68580" marR="6858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x-none" sz="2000">
                            <a:effectLst/>
                            <a:latin typeface="Verdana" pitchFamily="34" charset="0"/>
                            <a:ea typeface="Verdana" pitchFamily="34" charset="0"/>
                            <a:cs typeface="Times New Roman" panose="02020603050405020304" pitchFamily="18" charset="0"/>
                          </a:endParaRPr>
                        </a:p>
                      </a:txBody>
                      <a:tcPr marL="68580" marR="685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PH" sz="2000" b="0" i="1" smtClean="0">
                                    <a:effectLst/>
                                    <a:latin typeface="Cambria Math"/>
                                    <a:ea typeface="Verdana" pitchFamily="34" charset="0"/>
                                    <a:cs typeface="Times New Roman" panose="02020603050405020304" pitchFamily="18" charset="0"/>
                                  </a:rPr>
                                  <m:t>2384</m:t>
                                </m:r>
                              </m:oMath>
                            </m:oMathPara>
                          </a14:m>
                          <a:endParaRPr lang="x-none" sz="2000">
                            <a:effectLst/>
                            <a:latin typeface="Verdana" pitchFamily="34" charset="0"/>
                            <a:ea typeface="Verdana" pitchFamily="34" charset="0"/>
                            <a:cs typeface="Times New Roman" panose="02020603050405020304" pitchFamily="18" charset="0"/>
                          </a:endParaRPr>
                        </a:p>
                      </a:txBody>
                      <a:tcPr marL="68580" marR="6858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PH" sz="2000" b="0" i="1" smtClean="0">
                                    <a:effectLst/>
                                    <a:latin typeface="Cambria Math"/>
                                    <a:ea typeface="Verdana" pitchFamily="34" charset="0"/>
                                    <a:cs typeface="Times New Roman" panose="02020603050405020304" pitchFamily="18" charset="0"/>
                                  </a:rPr>
                                  <m:t>16</m:t>
                                </m:r>
                              </m:oMath>
                            </m:oMathPara>
                          </a14:m>
                          <a:endParaRPr lang="x-none" sz="2000">
                            <a:effectLst/>
                            <a:latin typeface="Verdana" pitchFamily="34" charset="0"/>
                            <a:ea typeface="Verdana" pitchFamily="34" charset="0"/>
                            <a:cs typeface="Times New Roman" panose="02020603050405020304" pitchFamily="18" charset="0"/>
                          </a:endParaRPr>
                        </a:p>
                      </a:txBody>
                      <a:tcPr marL="68580" marR="6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577299323"/>
                      </a:ext>
                    </a:extLst>
                  </a:tr>
                  <a:tr h="0">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PH" sz="2000" b="0" i="1" smtClean="0">
                                    <a:effectLst/>
                                    <a:latin typeface="Cambria Math"/>
                                    <a:ea typeface="Verdana" pitchFamily="34" charset="0"/>
                                    <a:cs typeface="Times New Roman" panose="02020603050405020304" pitchFamily="18" charset="0"/>
                                  </a:rPr>
                                  <m:t>1777</m:t>
                                </m:r>
                              </m:oMath>
                            </m:oMathPara>
                          </a14:m>
                          <a:endParaRPr lang="x-none" sz="2000">
                            <a:effectLst/>
                            <a:latin typeface="Verdana" pitchFamily="34" charset="0"/>
                            <a:ea typeface="Verdana" pitchFamily="34" charset="0"/>
                            <a:cs typeface="Times New Roman" panose="02020603050405020304" pitchFamily="18" charset="0"/>
                          </a:endParaRPr>
                        </a:p>
                      </a:txBody>
                      <a:tcPr marL="68580" marR="6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PH" sz="2000" b="0" i="1" smtClean="0">
                                    <a:effectLst/>
                                    <a:latin typeface="Cambria Math"/>
                                    <a:ea typeface="Verdana" pitchFamily="34" charset="0"/>
                                    <a:cs typeface="Times New Roman" panose="02020603050405020304" pitchFamily="18" charset="0"/>
                                  </a:rPr>
                                  <m:t>20</m:t>
                                </m:r>
                              </m:oMath>
                            </m:oMathPara>
                          </a14:m>
                          <a:endParaRPr lang="x-none" sz="2000">
                            <a:effectLst/>
                            <a:latin typeface="Verdana" pitchFamily="34" charset="0"/>
                            <a:ea typeface="Verdana" pitchFamily="34" charset="0"/>
                            <a:cs typeface="Times New Roman" panose="02020603050405020304" pitchFamily="18" charset="0"/>
                          </a:endParaRPr>
                        </a:p>
                      </a:txBody>
                      <a:tcPr marL="68580" marR="6858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x-none" sz="2000">
                            <a:effectLst/>
                            <a:latin typeface="Verdana" pitchFamily="34" charset="0"/>
                            <a:ea typeface="Verdana" pitchFamily="34" charset="0"/>
                            <a:cs typeface="Times New Roman" panose="02020603050405020304" pitchFamily="18" charset="0"/>
                          </a:endParaRPr>
                        </a:p>
                      </a:txBody>
                      <a:tcPr marL="68580" marR="685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PH" sz="2000" b="0" i="1" smtClean="0">
                                    <a:effectLst/>
                                    <a:latin typeface="Cambria Math"/>
                                    <a:ea typeface="Verdana" pitchFamily="34" charset="0"/>
                                    <a:cs typeface="Times New Roman" panose="02020603050405020304" pitchFamily="18" charset="0"/>
                                  </a:rPr>
                                  <m:t>1957</m:t>
                                </m:r>
                              </m:oMath>
                            </m:oMathPara>
                          </a14:m>
                          <a:endParaRPr lang="x-none" sz="2000">
                            <a:effectLst/>
                            <a:latin typeface="Verdana" pitchFamily="34" charset="0"/>
                            <a:ea typeface="Verdana" pitchFamily="34" charset="0"/>
                            <a:cs typeface="Times New Roman" panose="02020603050405020304" pitchFamily="18" charset="0"/>
                          </a:endParaRPr>
                        </a:p>
                      </a:txBody>
                      <a:tcPr marL="68580" marR="6858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PH" sz="2000" b="0" i="1" smtClean="0">
                                    <a:effectLst/>
                                    <a:latin typeface="Cambria Math"/>
                                    <a:ea typeface="Verdana" pitchFamily="34" charset="0"/>
                                    <a:cs typeface="Times New Roman" panose="02020603050405020304" pitchFamily="18" charset="0"/>
                                  </a:rPr>
                                  <m:t>19</m:t>
                                </m:r>
                              </m:oMath>
                            </m:oMathPara>
                          </a14:m>
                          <a:endParaRPr lang="x-none" sz="2000">
                            <a:effectLst/>
                            <a:latin typeface="Verdana" pitchFamily="34" charset="0"/>
                            <a:ea typeface="Verdana" pitchFamily="34" charset="0"/>
                            <a:cs typeface="Times New Roman" panose="02020603050405020304" pitchFamily="18" charset="0"/>
                          </a:endParaRPr>
                        </a:p>
                      </a:txBody>
                      <a:tcPr marL="68580" marR="6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290462057"/>
                      </a:ext>
                    </a:extLst>
                  </a:tr>
                  <a:tr h="0">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PH" sz="2000" b="0" i="1" smtClean="0">
                                    <a:effectLst/>
                                    <a:latin typeface="Cambria Math"/>
                                    <a:ea typeface="Verdana" pitchFamily="34" charset="0"/>
                                    <a:cs typeface="Times New Roman" panose="02020603050405020304" pitchFamily="18" charset="0"/>
                                  </a:rPr>
                                  <m:t>1155</m:t>
                                </m:r>
                              </m:oMath>
                            </m:oMathPara>
                          </a14:m>
                          <a:endParaRPr lang="x-none" sz="2000">
                            <a:effectLst/>
                            <a:latin typeface="Verdana" pitchFamily="34" charset="0"/>
                            <a:ea typeface="Verdana" pitchFamily="34" charset="0"/>
                            <a:cs typeface="Times New Roman" panose="02020603050405020304" pitchFamily="18" charset="0"/>
                          </a:endParaRPr>
                        </a:p>
                      </a:txBody>
                      <a:tcPr marL="68580" marR="6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PH" sz="2000" b="0" i="1" smtClean="0">
                                    <a:effectLst/>
                                    <a:latin typeface="Cambria Math"/>
                                    <a:ea typeface="Verdana" pitchFamily="34" charset="0"/>
                                    <a:cs typeface="Times New Roman" panose="02020603050405020304" pitchFamily="18" charset="0"/>
                                  </a:rPr>
                                  <m:t>28</m:t>
                                </m:r>
                              </m:oMath>
                            </m:oMathPara>
                          </a14:m>
                          <a:endParaRPr lang="x-none" sz="2000">
                            <a:effectLst/>
                            <a:latin typeface="Verdana" pitchFamily="34" charset="0"/>
                            <a:ea typeface="Verdana" pitchFamily="34" charset="0"/>
                            <a:cs typeface="Times New Roman" panose="02020603050405020304" pitchFamily="18" charset="0"/>
                          </a:endParaRPr>
                        </a:p>
                      </a:txBody>
                      <a:tcPr marL="68580" marR="6858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x-none" sz="2000">
                            <a:effectLst/>
                            <a:latin typeface="Verdana" pitchFamily="34" charset="0"/>
                            <a:ea typeface="Verdana" pitchFamily="34" charset="0"/>
                            <a:cs typeface="Times New Roman" panose="02020603050405020304" pitchFamily="18" charset="0"/>
                          </a:endParaRPr>
                        </a:p>
                      </a:txBody>
                      <a:tcPr marL="68580" marR="685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PH" sz="2000" b="0" i="1" smtClean="0">
                                    <a:effectLst/>
                                    <a:latin typeface="Cambria Math"/>
                                    <a:ea typeface="Verdana" pitchFamily="34" charset="0"/>
                                    <a:cs typeface="Times New Roman" panose="02020603050405020304" pitchFamily="18" charset="0"/>
                                  </a:rPr>
                                  <m:t>2212</m:t>
                                </m:r>
                              </m:oMath>
                            </m:oMathPara>
                          </a14:m>
                          <a:endParaRPr lang="x-none" sz="2000">
                            <a:effectLst/>
                            <a:latin typeface="Verdana" pitchFamily="34" charset="0"/>
                            <a:ea typeface="Verdana" pitchFamily="34" charset="0"/>
                            <a:cs typeface="Times New Roman" panose="02020603050405020304" pitchFamily="18" charset="0"/>
                          </a:endParaRPr>
                        </a:p>
                      </a:txBody>
                      <a:tcPr marL="68580" marR="6858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PH" sz="2000" b="0" i="1" smtClean="0">
                                    <a:effectLst/>
                                    <a:latin typeface="Cambria Math"/>
                                    <a:ea typeface="Verdana" pitchFamily="34" charset="0"/>
                                    <a:cs typeface="Times New Roman" panose="02020603050405020304" pitchFamily="18" charset="0"/>
                                  </a:rPr>
                                  <m:t>16</m:t>
                                </m:r>
                              </m:oMath>
                            </m:oMathPara>
                          </a14:m>
                          <a:endParaRPr lang="x-none" sz="2000">
                            <a:effectLst/>
                            <a:latin typeface="Verdana" pitchFamily="34" charset="0"/>
                            <a:ea typeface="Verdana" pitchFamily="34" charset="0"/>
                            <a:cs typeface="Times New Roman" panose="02020603050405020304" pitchFamily="18" charset="0"/>
                          </a:endParaRPr>
                        </a:p>
                      </a:txBody>
                      <a:tcPr marL="68580" marR="6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2736032855"/>
                      </a:ext>
                    </a:extLst>
                  </a:tr>
                </a:tbl>
              </a:graphicData>
            </a:graphic>
          </p:graphicFrame>
        </mc:Choice>
        <mc:Fallback xmlns="">
          <p:graphicFrame>
            <p:nvGraphicFramePr>
              <p:cNvPr id="5" name="Table 4">
                <a:extLst>
                  <a:ext uri="{FF2B5EF4-FFF2-40B4-BE49-F238E27FC236}">
                    <a16:creationId xmlns:a16="http://schemas.microsoft.com/office/drawing/2014/main" id="{639B7790-FFF1-EF42-A535-86C659AC44FE}"/>
                  </a:ext>
                </a:extLst>
              </p:cNvPr>
              <p:cNvGraphicFramePr>
                <a:graphicFrameLocks noGrp="1"/>
              </p:cNvGraphicFramePr>
              <p:nvPr>
                <p:extLst>
                  <p:ext uri="{D42A27DB-BD31-4B8C-83A1-F6EECF244321}">
                    <p14:modId xmlns:p14="http://schemas.microsoft.com/office/powerpoint/2010/main" val="1412169737"/>
                  </p:ext>
                </p:extLst>
              </p:nvPr>
            </p:nvGraphicFramePr>
            <p:xfrm>
              <a:off x="2297625" y="2506705"/>
              <a:ext cx="7772400" cy="2967292"/>
            </p:xfrm>
            <a:graphic>
              <a:graphicData uri="http://schemas.openxmlformats.org/drawingml/2006/table">
                <a:tbl>
                  <a:tblPr firstRow="1" firstCol="1" bandRow="1"/>
                  <a:tblGrid>
                    <a:gridCol w="1371600">
                      <a:extLst>
                        <a:ext uri="{9D8B030D-6E8A-4147-A177-3AD203B41FA5}">
                          <a16:colId xmlns:a16="http://schemas.microsoft.com/office/drawing/2014/main" val="4171961373"/>
                        </a:ext>
                      </a:extLst>
                    </a:gridCol>
                    <a:gridCol w="2286000">
                      <a:extLst>
                        <a:ext uri="{9D8B030D-6E8A-4147-A177-3AD203B41FA5}">
                          <a16:colId xmlns:a16="http://schemas.microsoft.com/office/drawing/2014/main" val="1961502755"/>
                        </a:ext>
                      </a:extLst>
                    </a:gridCol>
                    <a:gridCol w="4572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2286000">
                      <a:extLst>
                        <a:ext uri="{9D8B030D-6E8A-4147-A177-3AD203B41FA5}">
                          <a16:colId xmlns:a16="http://schemas.microsoft.com/office/drawing/2014/main" val="20004"/>
                        </a:ext>
                      </a:extLst>
                    </a:gridCol>
                  </a:tblGrid>
                  <a:tr h="757492">
                    <a:tc>
                      <a:txBody>
                        <a:bodyPr/>
                        <a:lstStyle/>
                        <a:p>
                          <a:pPr marL="0" marR="0" algn="ctr">
                            <a:lnSpc>
                              <a:spcPct val="115000"/>
                            </a:lnSpc>
                            <a:spcBef>
                              <a:spcPts val="0"/>
                            </a:spcBef>
                            <a:spcAft>
                              <a:spcPts val="0"/>
                            </a:spcAft>
                          </a:pPr>
                          <a:r>
                            <a:rPr lang="en-US" sz="2000" b="1" dirty="0">
                              <a:effectLst/>
                              <a:latin typeface="Verdana" panose="020B0604030504040204" pitchFamily="34" charset="0"/>
                              <a:ea typeface="Verdana" pitchFamily="34" charset="0"/>
                              <a:cs typeface="Times New Roman" panose="02020603050405020304" pitchFamily="18" charset="0"/>
                            </a:rPr>
                            <a:t>Mass (kg)</a:t>
                          </a:r>
                          <a:endParaRPr lang="x-none" sz="2000">
                            <a:effectLst/>
                            <a:latin typeface="Verdana" pitchFamily="34" charset="0"/>
                            <a:ea typeface="Verdana" pitchFamily="34" charset="0"/>
                            <a:cs typeface="Times New Roman" panose="02020603050405020304" pitchFamily="18" charset="0"/>
                          </a:endParaRPr>
                        </a:p>
                      </a:txBody>
                      <a:tcPr marL="68580" marR="6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marL="0" marR="0" algn="ctr">
                            <a:lnSpc>
                              <a:spcPct val="115000"/>
                            </a:lnSpc>
                            <a:spcBef>
                              <a:spcPts val="0"/>
                            </a:spcBef>
                            <a:spcAft>
                              <a:spcPts val="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Fuel Efficiency </a:t>
                          </a:r>
                          <a:b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b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(mpg)</a:t>
                          </a:r>
                          <a:endParaRPr lang="x-none" sz="2000">
                            <a:effectLst/>
                            <a:latin typeface="Verdana" pitchFamily="34" charset="0"/>
                            <a:ea typeface="Verdana" pitchFamily="34" charset="0"/>
                            <a:cs typeface="Times New Roman" panose="02020603050405020304" pitchFamily="18" charset="0"/>
                          </a:endParaRPr>
                        </a:p>
                      </a:txBody>
                      <a:tcPr marL="68580" marR="6858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marL="0" marR="0" algn="ctr">
                            <a:lnSpc>
                              <a:spcPct val="115000"/>
                            </a:lnSpc>
                            <a:spcBef>
                              <a:spcPts val="0"/>
                            </a:spcBef>
                            <a:spcAft>
                              <a:spcPts val="0"/>
                            </a:spcAft>
                          </a:pPr>
                          <a:endParaRPr lang="x-none" sz="2000">
                            <a:effectLst/>
                            <a:latin typeface="Verdana" pitchFamily="34" charset="0"/>
                            <a:ea typeface="Verdana" pitchFamily="34" charset="0"/>
                            <a:cs typeface="Times New Roman" panose="02020603050405020304" pitchFamily="18" charset="0"/>
                          </a:endParaRPr>
                        </a:p>
                      </a:txBody>
                      <a:tcPr marL="68580" marR="685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ctr">
                            <a:lnSpc>
                              <a:spcPct val="115000"/>
                            </a:lnSpc>
                            <a:spcBef>
                              <a:spcPts val="0"/>
                            </a:spcBef>
                            <a:spcAft>
                              <a:spcPts val="0"/>
                            </a:spcAft>
                          </a:pPr>
                          <a:r>
                            <a:rPr lang="en-US" sz="2000" b="1" dirty="0">
                              <a:effectLst/>
                              <a:latin typeface="Verdana" panose="020B0604030504040204" pitchFamily="34" charset="0"/>
                              <a:ea typeface="Verdana" pitchFamily="34" charset="0"/>
                              <a:cs typeface="Times New Roman" panose="02020603050405020304" pitchFamily="18" charset="0"/>
                            </a:rPr>
                            <a:t>Mass (kg)</a:t>
                          </a:r>
                          <a:endParaRPr lang="x-none" sz="2000">
                            <a:effectLst/>
                            <a:latin typeface="Verdana" pitchFamily="34" charset="0"/>
                            <a:ea typeface="Verdana" pitchFamily="34" charset="0"/>
                            <a:cs typeface="Times New Roman" panose="02020603050405020304" pitchFamily="18" charset="0"/>
                          </a:endParaRPr>
                        </a:p>
                      </a:txBody>
                      <a:tcPr marL="68580" marR="6858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marL="0" marR="0" algn="ctr">
                            <a:lnSpc>
                              <a:spcPct val="115000"/>
                            </a:lnSpc>
                            <a:spcBef>
                              <a:spcPts val="0"/>
                            </a:spcBef>
                            <a:spcAft>
                              <a:spcPts val="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Fuel Efficiency </a:t>
                          </a:r>
                          <a:b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b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(mpg)</a:t>
                          </a:r>
                          <a:endParaRPr lang="x-none" sz="2000">
                            <a:effectLst/>
                            <a:latin typeface="Verdana" pitchFamily="34" charset="0"/>
                            <a:ea typeface="Verdana" pitchFamily="34" charset="0"/>
                            <a:cs typeface="Times New Roman" panose="02020603050405020304" pitchFamily="18" charset="0"/>
                          </a:endParaRPr>
                        </a:p>
                      </a:txBody>
                      <a:tcPr marL="68580" marR="6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868418142"/>
                      </a:ext>
                    </a:extLst>
                  </a:tr>
                  <a:tr h="441960">
                    <a:tc>
                      <a:txBody>
                        <a:bodyPr/>
                        <a:lstStyle/>
                        <a:p>
                          <a:endParaRPr lang="en-US"/>
                        </a:p>
                      </a:txBody>
                      <a:tcPr marL="68580" marR="6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t="-177143" r="-468519" b="-402857"/>
                          </a:stretch>
                        </a:blipFill>
                      </a:tcPr>
                    </a:tc>
                    <a:tc>
                      <a:txBody>
                        <a:bodyPr/>
                        <a:lstStyle/>
                        <a:p>
                          <a:endParaRPr lang="en-US"/>
                        </a:p>
                      </a:txBody>
                      <a:tcPr marL="68580" marR="6858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60000" t="-177143" r="-181111" b="-402857"/>
                          </a:stretch>
                        </a:blipFill>
                      </a:tcPr>
                    </a:tc>
                    <a:tc>
                      <a:txBody>
                        <a:bodyPr/>
                        <a:lstStyle/>
                        <a:p>
                          <a:pPr marL="0" marR="0" algn="ctr">
                            <a:lnSpc>
                              <a:spcPct val="115000"/>
                            </a:lnSpc>
                            <a:spcBef>
                              <a:spcPts val="0"/>
                            </a:spcBef>
                            <a:spcAft>
                              <a:spcPts val="0"/>
                            </a:spcAft>
                          </a:pPr>
                          <a:endParaRPr lang="x-none" sz="2000">
                            <a:effectLst/>
                            <a:latin typeface="Verdana" pitchFamily="34" charset="0"/>
                            <a:ea typeface="Verdana" pitchFamily="34" charset="0"/>
                            <a:cs typeface="Times New Roman" panose="02020603050405020304" pitchFamily="18" charset="0"/>
                          </a:endParaRPr>
                        </a:p>
                      </a:txBody>
                      <a:tcPr marL="68580" marR="685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p>
                      </a:txBody>
                      <a:tcPr marL="68580" marR="6858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300926" t="-177143" r="-167593" b="-402857"/>
                          </a:stretch>
                        </a:blipFill>
                      </a:tcPr>
                    </a:tc>
                    <a:tc>
                      <a:txBody>
                        <a:bodyPr/>
                        <a:lstStyle/>
                        <a:p>
                          <a:endParaRPr lang="en-US"/>
                        </a:p>
                      </a:txBody>
                      <a:tcPr marL="68580" marR="6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240556" t="-177143" r="-556" b="-402857"/>
                          </a:stretch>
                        </a:blipFill>
                      </a:tcPr>
                    </a:tc>
                    <a:extLst>
                      <a:ext uri="{0D108BD9-81ED-4DB2-BD59-A6C34878D82A}">
                        <a16:rowId xmlns:a16="http://schemas.microsoft.com/office/drawing/2014/main" val="1218842699"/>
                      </a:ext>
                    </a:extLst>
                  </a:tr>
                  <a:tr h="441960">
                    <a:tc>
                      <a:txBody>
                        <a:bodyPr/>
                        <a:lstStyle/>
                        <a:p>
                          <a:endParaRPr lang="en-US"/>
                        </a:p>
                      </a:txBody>
                      <a:tcPr marL="68580" marR="6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t="-277143" r="-468519" b="-302857"/>
                          </a:stretch>
                        </a:blipFill>
                      </a:tcPr>
                    </a:tc>
                    <a:tc>
                      <a:txBody>
                        <a:bodyPr/>
                        <a:lstStyle/>
                        <a:p>
                          <a:endParaRPr lang="en-US"/>
                        </a:p>
                      </a:txBody>
                      <a:tcPr marL="68580" marR="6858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60000" t="-277143" r="-181111" b="-302857"/>
                          </a:stretch>
                        </a:blipFill>
                      </a:tcPr>
                    </a:tc>
                    <a:tc>
                      <a:txBody>
                        <a:bodyPr/>
                        <a:lstStyle/>
                        <a:p>
                          <a:pPr marL="0" marR="0" algn="ctr">
                            <a:lnSpc>
                              <a:spcPct val="115000"/>
                            </a:lnSpc>
                            <a:spcBef>
                              <a:spcPts val="0"/>
                            </a:spcBef>
                            <a:spcAft>
                              <a:spcPts val="0"/>
                            </a:spcAft>
                          </a:pPr>
                          <a:endParaRPr lang="x-none" sz="2000">
                            <a:effectLst/>
                            <a:latin typeface="Verdana" pitchFamily="34" charset="0"/>
                            <a:ea typeface="Verdana" pitchFamily="34" charset="0"/>
                            <a:cs typeface="Times New Roman" panose="02020603050405020304" pitchFamily="18" charset="0"/>
                          </a:endParaRPr>
                        </a:p>
                      </a:txBody>
                      <a:tcPr marL="68580" marR="685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p>
                      </a:txBody>
                      <a:tcPr marL="68580" marR="6858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300926" t="-277143" r="-167593" b="-302857"/>
                          </a:stretch>
                        </a:blipFill>
                      </a:tcPr>
                    </a:tc>
                    <a:tc>
                      <a:txBody>
                        <a:bodyPr/>
                        <a:lstStyle/>
                        <a:p>
                          <a:endParaRPr lang="en-US"/>
                        </a:p>
                      </a:txBody>
                      <a:tcPr marL="68580" marR="6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240556" t="-277143" r="-556" b="-302857"/>
                          </a:stretch>
                        </a:blipFill>
                      </a:tcPr>
                    </a:tc>
                    <a:extLst>
                      <a:ext uri="{0D108BD9-81ED-4DB2-BD59-A6C34878D82A}">
                        <a16:rowId xmlns:a16="http://schemas.microsoft.com/office/drawing/2014/main" val="1821530247"/>
                      </a:ext>
                    </a:extLst>
                  </a:tr>
                  <a:tr h="441960">
                    <a:tc>
                      <a:txBody>
                        <a:bodyPr/>
                        <a:lstStyle/>
                        <a:p>
                          <a:endParaRPr lang="en-US"/>
                        </a:p>
                      </a:txBody>
                      <a:tcPr marL="68580" marR="6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t="-377143" r="-468519" b="-202857"/>
                          </a:stretch>
                        </a:blipFill>
                      </a:tcPr>
                    </a:tc>
                    <a:tc>
                      <a:txBody>
                        <a:bodyPr/>
                        <a:lstStyle/>
                        <a:p>
                          <a:endParaRPr lang="en-US"/>
                        </a:p>
                      </a:txBody>
                      <a:tcPr marL="68580" marR="6858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60000" t="-377143" r="-181111" b="-202857"/>
                          </a:stretch>
                        </a:blipFill>
                      </a:tcPr>
                    </a:tc>
                    <a:tc>
                      <a:txBody>
                        <a:bodyPr/>
                        <a:lstStyle/>
                        <a:p>
                          <a:pPr marL="0" marR="0" algn="ctr">
                            <a:lnSpc>
                              <a:spcPct val="115000"/>
                            </a:lnSpc>
                            <a:spcBef>
                              <a:spcPts val="0"/>
                            </a:spcBef>
                            <a:spcAft>
                              <a:spcPts val="0"/>
                            </a:spcAft>
                          </a:pPr>
                          <a:endParaRPr lang="x-none" sz="2000">
                            <a:effectLst/>
                            <a:latin typeface="Verdana" pitchFamily="34" charset="0"/>
                            <a:ea typeface="Verdana" pitchFamily="34" charset="0"/>
                            <a:cs typeface="Times New Roman" panose="02020603050405020304" pitchFamily="18" charset="0"/>
                          </a:endParaRPr>
                        </a:p>
                      </a:txBody>
                      <a:tcPr marL="68580" marR="685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p>
                      </a:txBody>
                      <a:tcPr marL="68580" marR="6858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300926" t="-377143" r="-167593" b="-202857"/>
                          </a:stretch>
                        </a:blipFill>
                      </a:tcPr>
                    </a:tc>
                    <a:tc>
                      <a:txBody>
                        <a:bodyPr/>
                        <a:lstStyle/>
                        <a:p>
                          <a:endParaRPr lang="en-US"/>
                        </a:p>
                      </a:txBody>
                      <a:tcPr marL="68580" marR="6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240556" t="-377143" r="-556" b="-202857"/>
                          </a:stretch>
                        </a:blipFill>
                      </a:tcPr>
                    </a:tc>
                    <a:extLst>
                      <a:ext uri="{0D108BD9-81ED-4DB2-BD59-A6C34878D82A}">
                        <a16:rowId xmlns:a16="http://schemas.microsoft.com/office/drawing/2014/main" val="1577299323"/>
                      </a:ext>
                    </a:extLst>
                  </a:tr>
                  <a:tr h="441960">
                    <a:tc>
                      <a:txBody>
                        <a:bodyPr/>
                        <a:lstStyle/>
                        <a:p>
                          <a:endParaRPr lang="en-US"/>
                        </a:p>
                      </a:txBody>
                      <a:tcPr marL="68580" marR="6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t="-477143" r="-468519" b="-102857"/>
                          </a:stretch>
                        </a:blipFill>
                      </a:tcPr>
                    </a:tc>
                    <a:tc>
                      <a:txBody>
                        <a:bodyPr/>
                        <a:lstStyle/>
                        <a:p>
                          <a:endParaRPr lang="en-US"/>
                        </a:p>
                      </a:txBody>
                      <a:tcPr marL="68580" marR="6858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60000" t="-477143" r="-181111" b="-102857"/>
                          </a:stretch>
                        </a:blipFill>
                      </a:tcPr>
                    </a:tc>
                    <a:tc>
                      <a:txBody>
                        <a:bodyPr/>
                        <a:lstStyle/>
                        <a:p>
                          <a:pPr marL="0" marR="0" algn="ctr">
                            <a:lnSpc>
                              <a:spcPct val="115000"/>
                            </a:lnSpc>
                            <a:spcBef>
                              <a:spcPts val="0"/>
                            </a:spcBef>
                            <a:spcAft>
                              <a:spcPts val="0"/>
                            </a:spcAft>
                          </a:pPr>
                          <a:endParaRPr lang="x-none" sz="2000">
                            <a:effectLst/>
                            <a:latin typeface="Verdana" pitchFamily="34" charset="0"/>
                            <a:ea typeface="Verdana" pitchFamily="34" charset="0"/>
                            <a:cs typeface="Times New Roman" panose="02020603050405020304" pitchFamily="18" charset="0"/>
                          </a:endParaRPr>
                        </a:p>
                      </a:txBody>
                      <a:tcPr marL="68580" marR="685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p>
                      </a:txBody>
                      <a:tcPr marL="68580" marR="6858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300926" t="-477143" r="-167593" b="-102857"/>
                          </a:stretch>
                        </a:blipFill>
                      </a:tcPr>
                    </a:tc>
                    <a:tc>
                      <a:txBody>
                        <a:bodyPr/>
                        <a:lstStyle/>
                        <a:p>
                          <a:endParaRPr lang="en-US"/>
                        </a:p>
                      </a:txBody>
                      <a:tcPr marL="68580" marR="6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240556" t="-477143" r="-556" b="-102857"/>
                          </a:stretch>
                        </a:blipFill>
                      </a:tcPr>
                    </a:tc>
                    <a:extLst>
                      <a:ext uri="{0D108BD9-81ED-4DB2-BD59-A6C34878D82A}">
                        <a16:rowId xmlns:a16="http://schemas.microsoft.com/office/drawing/2014/main" val="290462057"/>
                      </a:ext>
                    </a:extLst>
                  </a:tr>
                  <a:tr h="441960">
                    <a:tc>
                      <a:txBody>
                        <a:bodyPr/>
                        <a:lstStyle/>
                        <a:p>
                          <a:endParaRPr lang="en-US"/>
                        </a:p>
                      </a:txBody>
                      <a:tcPr marL="68580" marR="6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t="-577143" r="-468519" b="-2857"/>
                          </a:stretch>
                        </a:blipFill>
                      </a:tcPr>
                    </a:tc>
                    <a:tc>
                      <a:txBody>
                        <a:bodyPr/>
                        <a:lstStyle/>
                        <a:p>
                          <a:endParaRPr lang="en-US"/>
                        </a:p>
                      </a:txBody>
                      <a:tcPr marL="68580" marR="6858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60000" t="-577143" r="-181111" b="-2857"/>
                          </a:stretch>
                        </a:blipFill>
                      </a:tcPr>
                    </a:tc>
                    <a:tc>
                      <a:txBody>
                        <a:bodyPr/>
                        <a:lstStyle/>
                        <a:p>
                          <a:pPr marL="0" marR="0" algn="ctr">
                            <a:lnSpc>
                              <a:spcPct val="115000"/>
                            </a:lnSpc>
                            <a:spcBef>
                              <a:spcPts val="0"/>
                            </a:spcBef>
                            <a:spcAft>
                              <a:spcPts val="0"/>
                            </a:spcAft>
                          </a:pPr>
                          <a:endParaRPr lang="x-none" sz="2000">
                            <a:effectLst/>
                            <a:latin typeface="Verdana" pitchFamily="34" charset="0"/>
                            <a:ea typeface="Verdana" pitchFamily="34" charset="0"/>
                            <a:cs typeface="Times New Roman" panose="02020603050405020304" pitchFamily="18" charset="0"/>
                          </a:endParaRPr>
                        </a:p>
                      </a:txBody>
                      <a:tcPr marL="68580" marR="685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p>
                      </a:txBody>
                      <a:tcPr marL="68580" marR="6858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300926" t="-577143" r="-167593" b="-2857"/>
                          </a:stretch>
                        </a:blipFill>
                      </a:tcPr>
                    </a:tc>
                    <a:tc>
                      <a:txBody>
                        <a:bodyPr/>
                        <a:lstStyle/>
                        <a:p>
                          <a:endParaRPr lang="en-US"/>
                        </a:p>
                      </a:txBody>
                      <a:tcPr marL="68580" marR="6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240556" t="-577143" r="-556" b="-2857"/>
                          </a:stretch>
                        </a:blipFill>
                      </a:tcPr>
                    </a:tc>
                    <a:extLst>
                      <a:ext uri="{0D108BD9-81ED-4DB2-BD59-A6C34878D82A}">
                        <a16:rowId xmlns:a16="http://schemas.microsoft.com/office/drawing/2014/main" val="2736032855"/>
                      </a:ext>
                    </a:extLst>
                  </a:tr>
                </a:tbl>
              </a:graphicData>
            </a:graphic>
          </p:graphicFrame>
        </mc:Fallback>
      </mc:AlternateContent>
      <p:pic>
        <p:nvPicPr>
          <p:cNvPr id="9" name="Google Shape;311;g104476d1465_1_39"/>
          <p:cNvPicPr preferRelativeResize="0"/>
          <p:nvPr/>
        </p:nvPicPr>
        <p:blipFill>
          <a:blip r:embed="rId7"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138</a:t>
            </a:r>
            <a:endParaRPr i="1" dirty="0">
              <a:latin typeface="Calibri"/>
              <a:ea typeface="Calibri"/>
              <a:cs typeface="Calibri"/>
              <a:sym typeface="Calibri"/>
            </a:endParaRPr>
          </a:p>
        </p:txBody>
      </p:sp>
    </p:spTree>
    <p:extLst>
      <p:ext uri="{BB962C8B-B14F-4D97-AF65-F5344CB8AC3E}">
        <p14:creationId xmlns:p14="http://schemas.microsoft.com/office/powerpoint/2010/main" val="38007459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6" name="TextBox 5">
            <a:extLst>
              <a:ext uri="{FF2B5EF4-FFF2-40B4-BE49-F238E27FC236}">
                <a16:creationId xmlns:a16="http://schemas.microsoft.com/office/drawing/2014/main" xmlns="" id="{4B71B7AA-10E7-9B44-A591-563821260A41}"/>
              </a:ext>
            </a:extLst>
          </p:cNvPr>
          <p:cNvSpPr txBox="1"/>
          <p:nvPr/>
        </p:nvSpPr>
        <p:spPr>
          <a:xfrm>
            <a:off x="530442" y="4187414"/>
            <a:ext cx="10800000" cy="707886"/>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The raw data can be used to formally fit a line to model the relationship between the data using technology.</a:t>
            </a:r>
          </a:p>
        </p:txBody>
      </p:sp>
      <mc:AlternateContent xmlns:mc="http://schemas.openxmlformats.org/markup-compatibility/2006" xmlns:a14="http://schemas.microsoft.com/office/drawing/2010/main">
        <mc:Choice Requires="a14">
          <p:graphicFrame>
            <p:nvGraphicFramePr>
              <p:cNvPr id="9" name="Table 8">
                <a:extLst>
                  <a:ext uri="{FF2B5EF4-FFF2-40B4-BE49-F238E27FC236}">
                    <a16:creationId xmlns:a16="http://schemas.microsoft.com/office/drawing/2014/main" xmlns="" id="{639B7790-FFF1-EF42-A535-86C659AC44FE}"/>
                  </a:ext>
                </a:extLst>
              </p:cNvPr>
              <p:cNvGraphicFramePr>
                <a:graphicFrameLocks noGrp="1"/>
              </p:cNvGraphicFramePr>
              <p:nvPr>
                <p:extLst>
                  <p:ext uri="{D42A27DB-BD31-4B8C-83A1-F6EECF244321}">
                    <p14:modId xmlns:p14="http://schemas.microsoft.com/office/powerpoint/2010/main" val="2600653051"/>
                  </p:ext>
                </p:extLst>
              </p:nvPr>
            </p:nvGraphicFramePr>
            <p:xfrm>
              <a:off x="2297625" y="422545"/>
              <a:ext cx="7772400" cy="3444240"/>
            </p:xfrm>
            <a:graphic>
              <a:graphicData uri="http://schemas.openxmlformats.org/drawingml/2006/table">
                <a:tbl>
                  <a:tblPr firstRow="1" firstCol="1" bandRow="1"/>
                  <a:tblGrid>
                    <a:gridCol w="1371600">
                      <a:extLst>
                        <a:ext uri="{9D8B030D-6E8A-4147-A177-3AD203B41FA5}">
                          <a16:colId xmlns:a16="http://schemas.microsoft.com/office/drawing/2014/main" xmlns="" val="4171961373"/>
                        </a:ext>
                      </a:extLst>
                    </a:gridCol>
                    <a:gridCol w="2286000">
                      <a:extLst>
                        <a:ext uri="{9D8B030D-6E8A-4147-A177-3AD203B41FA5}">
                          <a16:colId xmlns:a16="http://schemas.microsoft.com/office/drawing/2014/main" xmlns="" val="1961502755"/>
                        </a:ext>
                      </a:extLst>
                    </a:gridCol>
                    <a:gridCol w="457200">
                      <a:extLst>
                        <a:ext uri="{9D8B030D-6E8A-4147-A177-3AD203B41FA5}">
                          <a16:colId xmlns:a16="http://schemas.microsoft.com/office/drawing/2014/main" xmlns="" val="20002"/>
                        </a:ext>
                      </a:extLst>
                    </a:gridCol>
                    <a:gridCol w="1371600">
                      <a:extLst>
                        <a:ext uri="{9D8B030D-6E8A-4147-A177-3AD203B41FA5}">
                          <a16:colId xmlns:a16="http://schemas.microsoft.com/office/drawing/2014/main" xmlns="" val="20003"/>
                        </a:ext>
                      </a:extLst>
                    </a:gridCol>
                    <a:gridCol w="2286000">
                      <a:extLst>
                        <a:ext uri="{9D8B030D-6E8A-4147-A177-3AD203B41FA5}">
                          <a16:colId xmlns:a16="http://schemas.microsoft.com/office/drawing/2014/main" xmlns="" val="20004"/>
                        </a:ext>
                      </a:extLst>
                    </a:gridCol>
                  </a:tblGrid>
                  <a:tr h="0">
                    <a:tc>
                      <a:txBody>
                        <a:bodyPr/>
                        <a:lstStyle/>
                        <a:p>
                          <a:pPr marL="0" marR="0" algn="ctr">
                            <a:lnSpc>
                              <a:spcPct val="115000"/>
                            </a:lnSpc>
                            <a:spcBef>
                              <a:spcPts val="0"/>
                            </a:spcBef>
                            <a:spcAft>
                              <a:spcPts val="0"/>
                            </a:spcAft>
                          </a:pPr>
                          <a:r>
                            <a:rPr lang="en-US" sz="2000" b="1" dirty="0">
                              <a:effectLst/>
                              <a:latin typeface="Verdana" panose="020B0604030504040204" pitchFamily="34" charset="0"/>
                              <a:ea typeface="Verdana" pitchFamily="34" charset="0"/>
                              <a:cs typeface="Times New Roman" panose="02020603050405020304" pitchFamily="18" charset="0"/>
                            </a:rPr>
                            <a:t>Mass (kg)</a:t>
                          </a:r>
                          <a:endParaRPr lang="x-none" sz="2000">
                            <a:effectLst/>
                            <a:latin typeface="Verdana" pitchFamily="34" charset="0"/>
                            <a:ea typeface="Verdana" pitchFamily="34" charset="0"/>
                            <a:cs typeface="Times New Roman" panose="02020603050405020304" pitchFamily="18" charset="0"/>
                          </a:endParaRPr>
                        </a:p>
                      </a:txBody>
                      <a:tcPr marL="68580" marR="6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marL="0" marR="0" algn="ctr">
                            <a:lnSpc>
                              <a:spcPct val="115000"/>
                            </a:lnSpc>
                            <a:spcBef>
                              <a:spcPts val="0"/>
                            </a:spcBef>
                            <a:spcAft>
                              <a:spcPts val="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Fuel Efficiency </a:t>
                          </a:r>
                          <a:b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b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(mpg)</a:t>
                          </a:r>
                          <a:endParaRPr lang="x-none" sz="2000">
                            <a:effectLst/>
                            <a:latin typeface="Verdana" pitchFamily="34" charset="0"/>
                            <a:ea typeface="Verdana" pitchFamily="34" charset="0"/>
                            <a:cs typeface="Times New Roman" panose="02020603050405020304" pitchFamily="18" charset="0"/>
                          </a:endParaRPr>
                        </a:p>
                      </a:txBody>
                      <a:tcPr marL="68580" marR="6858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marL="0" marR="0" algn="ctr">
                            <a:lnSpc>
                              <a:spcPct val="115000"/>
                            </a:lnSpc>
                            <a:spcBef>
                              <a:spcPts val="0"/>
                            </a:spcBef>
                            <a:spcAft>
                              <a:spcPts val="0"/>
                            </a:spcAft>
                          </a:pPr>
                          <a:endParaRPr lang="x-none" sz="2000">
                            <a:effectLst/>
                            <a:latin typeface="Verdana" pitchFamily="34" charset="0"/>
                            <a:ea typeface="Verdana" pitchFamily="34" charset="0"/>
                            <a:cs typeface="Times New Roman" panose="02020603050405020304" pitchFamily="18" charset="0"/>
                          </a:endParaRPr>
                        </a:p>
                      </a:txBody>
                      <a:tcPr marL="68580" marR="685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ctr">
                            <a:lnSpc>
                              <a:spcPct val="115000"/>
                            </a:lnSpc>
                            <a:spcBef>
                              <a:spcPts val="0"/>
                            </a:spcBef>
                            <a:spcAft>
                              <a:spcPts val="0"/>
                            </a:spcAft>
                          </a:pPr>
                          <a:r>
                            <a:rPr lang="en-US" sz="2000" b="1" dirty="0">
                              <a:effectLst/>
                              <a:latin typeface="Verdana" panose="020B0604030504040204" pitchFamily="34" charset="0"/>
                              <a:ea typeface="Verdana" pitchFamily="34" charset="0"/>
                              <a:cs typeface="Times New Roman" panose="02020603050405020304" pitchFamily="18" charset="0"/>
                            </a:rPr>
                            <a:t>Mass (kg)</a:t>
                          </a:r>
                          <a:endParaRPr lang="x-none" sz="2000">
                            <a:effectLst/>
                            <a:latin typeface="Verdana" pitchFamily="34" charset="0"/>
                            <a:ea typeface="Verdana" pitchFamily="34" charset="0"/>
                            <a:cs typeface="Times New Roman" panose="02020603050405020304" pitchFamily="18" charset="0"/>
                          </a:endParaRPr>
                        </a:p>
                      </a:txBody>
                      <a:tcPr marL="68580" marR="6858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marL="0" marR="0" algn="ctr">
                            <a:lnSpc>
                              <a:spcPct val="115000"/>
                            </a:lnSpc>
                            <a:spcBef>
                              <a:spcPts val="0"/>
                            </a:spcBef>
                            <a:spcAft>
                              <a:spcPts val="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Fuel Efficiency </a:t>
                          </a:r>
                          <a:b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b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(mpg)</a:t>
                          </a:r>
                          <a:endParaRPr lang="x-none" sz="2000">
                            <a:effectLst/>
                            <a:latin typeface="Verdana" pitchFamily="34" charset="0"/>
                            <a:ea typeface="Verdana" pitchFamily="34" charset="0"/>
                            <a:cs typeface="Times New Roman" panose="02020603050405020304" pitchFamily="18" charset="0"/>
                          </a:endParaRPr>
                        </a:p>
                      </a:txBody>
                      <a:tcPr marL="68580" marR="6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 val="1868418142"/>
                      </a:ext>
                    </a:extLst>
                  </a:tr>
                  <a:tr h="0">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PH" sz="2000" b="0" i="1" smtClean="0">
                                    <a:effectLst/>
                                    <a:latin typeface="Cambria Math"/>
                                    <a:ea typeface="Verdana" pitchFamily="34" charset="0"/>
                                    <a:cs typeface="Times New Roman" panose="02020603050405020304" pitchFamily="18" charset="0"/>
                                  </a:rPr>
                                  <m:t>1115</m:t>
                                </m:r>
                              </m:oMath>
                            </m:oMathPara>
                          </a14:m>
                          <a:endParaRPr lang="x-none" sz="2000">
                            <a:effectLst/>
                            <a:latin typeface="Verdana" pitchFamily="34" charset="0"/>
                            <a:ea typeface="Verdana" pitchFamily="34" charset="0"/>
                            <a:cs typeface="Times New Roman" panose="02020603050405020304" pitchFamily="18" charset="0"/>
                          </a:endParaRPr>
                        </a:p>
                      </a:txBody>
                      <a:tcPr marL="68580" marR="6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PH" sz="2000" b="0" i="1" smtClean="0">
                                    <a:effectLst/>
                                    <a:latin typeface="Cambria Math"/>
                                    <a:ea typeface="Verdana" pitchFamily="34" charset="0"/>
                                    <a:cs typeface="Times New Roman" panose="02020603050405020304" pitchFamily="18" charset="0"/>
                                  </a:rPr>
                                  <m:t>29</m:t>
                                </m:r>
                              </m:oMath>
                            </m:oMathPara>
                          </a14:m>
                          <a:endParaRPr lang="x-none" sz="2000">
                            <a:effectLst/>
                            <a:latin typeface="Verdana" pitchFamily="34" charset="0"/>
                            <a:ea typeface="Verdana" pitchFamily="34" charset="0"/>
                            <a:cs typeface="Times New Roman" panose="02020603050405020304" pitchFamily="18" charset="0"/>
                          </a:endParaRPr>
                        </a:p>
                      </a:txBody>
                      <a:tcPr marL="68580" marR="6858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x-none" sz="2000">
                            <a:effectLst/>
                            <a:latin typeface="Verdana" pitchFamily="34" charset="0"/>
                            <a:ea typeface="Verdana" pitchFamily="34" charset="0"/>
                            <a:cs typeface="Times New Roman" panose="02020603050405020304" pitchFamily="18" charset="0"/>
                          </a:endParaRPr>
                        </a:p>
                      </a:txBody>
                      <a:tcPr marL="68580" marR="685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PH" sz="2000" b="0" i="1" smtClean="0">
                                    <a:effectLst/>
                                    <a:latin typeface="Cambria Math"/>
                                    <a:ea typeface="Verdana" pitchFamily="34" charset="0"/>
                                    <a:cs typeface="Times New Roman" panose="02020603050405020304" pitchFamily="18" charset="0"/>
                                  </a:rPr>
                                  <m:t>1432</m:t>
                                </m:r>
                              </m:oMath>
                            </m:oMathPara>
                          </a14:m>
                          <a:endParaRPr lang="x-none" sz="2000">
                            <a:effectLst/>
                            <a:latin typeface="Verdana" pitchFamily="34" charset="0"/>
                            <a:ea typeface="Verdana" pitchFamily="34" charset="0"/>
                            <a:cs typeface="Times New Roman" panose="02020603050405020304" pitchFamily="18" charset="0"/>
                          </a:endParaRPr>
                        </a:p>
                      </a:txBody>
                      <a:tcPr marL="68580" marR="6858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PH" sz="2000" b="0" i="1" smtClean="0">
                                    <a:effectLst/>
                                    <a:latin typeface="Cambria Math"/>
                                    <a:ea typeface="Verdana" pitchFamily="34" charset="0"/>
                                    <a:cs typeface="Times New Roman" panose="02020603050405020304" pitchFamily="18" charset="0"/>
                                  </a:rPr>
                                  <m:t>25</m:t>
                                </m:r>
                              </m:oMath>
                            </m:oMathPara>
                          </a14:m>
                          <a:endParaRPr lang="x-none" sz="2000">
                            <a:effectLst/>
                            <a:latin typeface="Verdana" pitchFamily="34" charset="0"/>
                            <a:ea typeface="Verdana" pitchFamily="34" charset="0"/>
                            <a:cs typeface="Times New Roman" panose="02020603050405020304" pitchFamily="18" charset="0"/>
                          </a:endParaRPr>
                        </a:p>
                      </a:txBody>
                      <a:tcPr marL="68580" marR="6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218842699"/>
                      </a:ext>
                    </a:extLst>
                  </a:tr>
                  <a:tr h="0">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PH" sz="2000" b="0" i="1" smtClean="0">
                                    <a:effectLst/>
                                    <a:latin typeface="Cambria Math"/>
                                    <a:ea typeface="Verdana" pitchFamily="34" charset="0"/>
                                    <a:cs typeface="Times New Roman" panose="02020603050405020304" pitchFamily="18" charset="0"/>
                                  </a:rPr>
                                  <m:t>2068</m:t>
                                </m:r>
                              </m:oMath>
                            </m:oMathPara>
                          </a14:m>
                          <a:endParaRPr lang="x-none" sz="2000">
                            <a:effectLst/>
                            <a:latin typeface="Verdana" pitchFamily="34" charset="0"/>
                            <a:ea typeface="Verdana" pitchFamily="34" charset="0"/>
                            <a:cs typeface="Times New Roman" panose="02020603050405020304" pitchFamily="18" charset="0"/>
                          </a:endParaRPr>
                        </a:p>
                      </a:txBody>
                      <a:tcPr marL="68580" marR="6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PH" sz="2000" b="0" i="1" smtClean="0">
                                    <a:effectLst/>
                                    <a:latin typeface="Cambria Math"/>
                                    <a:ea typeface="Verdana" pitchFamily="34" charset="0"/>
                                    <a:cs typeface="Times New Roman" panose="02020603050405020304" pitchFamily="18" charset="0"/>
                                  </a:rPr>
                                  <m:t>18</m:t>
                                </m:r>
                              </m:oMath>
                            </m:oMathPara>
                          </a14:m>
                          <a:endParaRPr lang="x-none" sz="2000">
                            <a:effectLst/>
                            <a:latin typeface="Verdana" pitchFamily="34" charset="0"/>
                            <a:ea typeface="Verdana" pitchFamily="34" charset="0"/>
                            <a:cs typeface="Times New Roman" panose="02020603050405020304" pitchFamily="18" charset="0"/>
                          </a:endParaRPr>
                        </a:p>
                      </a:txBody>
                      <a:tcPr marL="68580" marR="6858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x-none" sz="2000">
                            <a:effectLst/>
                            <a:latin typeface="Verdana" pitchFamily="34" charset="0"/>
                            <a:ea typeface="Verdana" pitchFamily="34" charset="0"/>
                            <a:cs typeface="Times New Roman" panose="02020603050405020304" pitchFamily="18" charset="0"/>
                          </a:endParaRPr>
                        </a:p>
                      </a:txBody>
                      <a:tcPr marL="68580" marR="685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PH" sz="2000" b="0" i="1" smtClean="0">
                                    <a:effectLst/>
                                    <a:latin typeface="Cambria Math"/>
                                    <a:ea typeface="Verdana" pitchFamily="34" charset="0"/>
                                    <a:cs typeface="Times New Roman" panose="02020603050405020304" pitchFamily="18" charset="0"/>
                                  </a:rPr>
                                  <m:t>1987</m:t>
                                </m:r>
                              </m:oMath>
                            </m:oMathPara>
                          </a14:m>
                          <a:endParaRPr lang="x-none" sz="2000">
                            <a:effectLst/>
                            <a:latin typeface="Verdana" pitchFamily="34" charset="0"/>
                            <a:ea typeface="Verdana" pitchFamily="34" charset="0"/>
                            <a:cs typeface="Times New Roman" panose="02020603050405020304" pitchFamily="18" charset="0"/>
                          </a:endParaRPr>
                        </a:p>
                      </a:txBody>
                      <a:tcPr marL="68580" marR="6858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PH" sz="2000" b="0" i="1" smtClean="0">
                                    <a:effectLst/>
                                    <a:latin typeface="Cambria Math"/>
                                    <a:ea typeface="Verdana" pitchFamily="34" charset="0"/>
                                    <a:cs typeface="Times New Roman" panose="02020603050405020304" pitchFamily="18" charset="0"/>
                                  </a:rPr>
                                  <m:t>18</m:t>
                                </m:r>
                              </m:oMath>
                            </m:oMathPara>
                          </a14:m>
                          <a:endParaRPr lang="x-none" sz="2000">
                            <a:effectLst/>
                            <a:latin typeface="Verdana" pitchFamily="34" charset="0"/>
                            <a:ea typeface="Verdana" pitchFamily="34" charset="0"/>
                            <a:cs typeface="Times New Roman" panose="02020603050405020304" pitchFamily="18" charset="0"/>
                          </a:endParaRPr>
                        </a:p>
                      </a:txBody>
                      <a:tcPr marL="68580" marR="6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821530247"/>
                      </a:ext>
                    </a:extLst>
                  </a:tr>
                  <a:tr h="0">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PH" sz="2000" b="0" i="1" smtClean="0">
                                    <a:effectLst/>
                                    <a:latin typeface="Cambria Math"/>
                                    <a:ea typeface="Verdana" pitchFamily="34" charset="0"/>
                                    <a:cs typeface="Times New Roman" panose="02020603050405020304" pitchFamily="18" charset="0"/>
                                  </a:rPr>
                                  <m:t>1663</m:t>
                                </m:r>
                              </m:oMath>
                            </m:oMathPara>
                          </a14:m>
                          <a:endParaRPr lang="x-none" sz="2000">
                            <a:effectLst/>
                            <a:latin typeface="Verdana" pitchFamily="34" charset="0"/>
                            <a:ea typeface="Verdana" pitchFamily="34" charset="0"/>
                            <a:cs typeface="Times New Roman" panose="02020603050405020304" pitchFamily="18" charset="0"/>
                          </a:endParaRPr>
                        </a:p>
                      </a:txBody>
                      <a:tcPr marL="68580" marR="6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PH" sz="2000" b="0" i="1" smtClean="0">
                                    <a:effectLst/>
                                    <a:latin typeface="Cambria Math"/>
                                    <a:ea typeface="Verdana" pitchFamily="34" charset="0"/>
                                    <a:cs typeface="Times New Roman" panose="02020603050405020304" pitchFamily="18" charset="0"/>
                                  </a:rPr>
                                  <m:t>19</m:t>
                                </m:r>
                              </m:oMath>
                            </m:oMathPara>
                          </a14:m>
                          <a:endParaRPr lang="x-none" sz="2000">
                            <a:effectLst/>
                            <a:latin typeface="Verdana" pitchFamily="34" charset="0"/>
                            <a:ea typeface="Verdana" pitchFamily="34" charset="0"/>
                            <a:cs typeface="Times New Roman" panose="02020603050405020304" pitchFamily="18" charset="0"/>
                          </a:endParaRPr>
                        </a:p>
                      </a:txBody>
                      <a:tcPr marL="68580" marR="6858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x-none" sz="2000">
                            <a:effectLst/>
                            <a:latin typeface="Verdana" pitchFamily="34" charset="0"/>
                            <a:ea typeface="Verdana" pitchFamily="34" charset="0"/>
                            <a:cs typeface="Times New Roman" panose="02020603050405020304" pitchFamily="18" charset="0"/>
                          </a:endParaRPr>
                        </a:p>
                      </a:txBody>
                      <a:tcPr marL="68580" marR="685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PH" sz="2000" b="0" i="1" smtClean="0">
                                    <a:effectLst/>
                                    <a:latin typeface="Cambria Math"/>
                                    <a:ea typeface="Verdana" pitchFamily="34" charset="0"/>
                                    <a:cs typeface="Times New Roman" panose="02020603050405020304" pitchFamily="18" charset="0"/>
                                  </a:rPr>
                                  <m:t>1259</m:t>
                                </m:r>
                              </m:oMath>
                            </m:oMathPara>
                          </a14:m>
                          <a:endParaRPr lang="x-none" sz="2000">
                            <a:effectLst/>
                            <a:latin typeface="Verdana" pitchFamily="34" charset="0"/>
                            <a:ea typeface="Verdana" pitchFamily="34" charset="0"/>
                            <a:cs typeface="Times New Roman" panose="02020603050405020304" pitchFamily="18" charset="0"/>
                          </a:endParaRPr>
                        </a:p>
                      </a:txBody>
                      <a:tcPr marL="68580" marR="6858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PH" sz="2000" b="0" i="1" smtClean="0">
                                    <a:effectLst/>
                                    <a:latin typeface="Cambria Math"/>
                                    <a:ea typeface="Verdana" pitchFamily="34" charset="0"/>
                                    <a:cs typeface="Times New Roman" panose="02020603050405020304" pitchFamily="18" charset="0"/>
                                  </a:rPr>
                                  <m:t>25</m:t>
                                </m:r>
                              </m:oMath>
                            </m:oMathPara>
                          </a14:m>
                          <a:endParaRPr lang="x-none" sz="2000">
                            <a:effectLst/>
                            <a:latin typeface="Verdana" pitchFamily="34" charset="0"/>
                            <a:ea typeface="Verdana" pitchFamily="34" charset="0"/>
                            <a:cs typeface="Times New Roman" panose="02020603050405020304" pitchFamily="18" charset="0"/>
                          </a:endParaRPr>
                        </a:p>
                      </a:txBody>
                      <a:tcPr marL="68580" marR="6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577299323"/>
                      </a:ext>
                    </a:extLst>
                  </a:tr>
                  <a:tr h="0">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PH" sz="2000" b="0" i="1" smtClean="0">
                                    <a:effectLst/>
                                    <a:latin typeface="Cambria Math"/>
                                    <a:ea typeface="Verdana" pitchFamily="34" charset="0"/>
                                    <a:cs typeface="Times New Roman" panose="02020603050405020304" pitchFamily="18" charset="0"/>
                                  </a:rPr>
                                  <m:t>2068</m:t>
                                </m:r>
                              </m:oMath>
                            </m:oMathPara>
                          </a14:m>
                          <a:endParaRPr lang="x-none" sz="2000">
                            <a:effectLst/>
                            <a:latin typeface="Verdana" pitchFamily="34" charset="0"/>
                            <a:ea typeface="Verdana" pitchFamily="34" charset="0"/>
                            <a:cs typeface="Times New Roman" panose="02020603050405020304" pitchFamily="18" charset="0"/>
                          </a:endParaRPr>
                        </a:p>
                      </a:txBody>
                      <a:tcPr marL="68580" marR="6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PH" sz="2000" b="0" i="1" smtClean="0">
                                    <a:effectLst/>
                                    <a:latin typeface="Cambria Math"/>
                                    <a:ea typeface="Verdana" pitchFamily="34" charset="0"/>
                                    <a:cs typeface="Times New Roman" panose="02020603050405020304" pitchFamily="18" charset="0"/>
                                  </a:rPr>
                                  <m:t>18</m:t>
                                </m:r>
                              </m:oMath>
                            </m:oMathPara>
                          </a14:m>
                          <a:endParaRPr lang="x-none" sz="2000">
                            <a:effectLst/>
                            <a:latin typeface="Verdana" pitchFamily="34" charset="0"/>
                            <a:ea typeface="Verdana" pitchFamily="34" charset="0"/>
                            <a:cs typeface="Times New Roman" panose="02020603050405020304" pitchFamily="18" charset="0"/>
                          </a:endParaRPr>
                        </a:p>
                      </a:txBody>
                      <a:tcPr marL="68580" marR="6858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x-none" sz="2000">
                            <a:effectLst/>
                            <a:latin typeface="Verdana" pitchFamily="34" charset="0"/>
                            <a:ea typeface="Verdana" pitchFamily="34" charset="0"/>
                            <a:cs typeface="Times New Roman" panose="02020603050405020304" pitchFamily="18" charset="0"/>
                          </a:endParaRPr>
                        </a:p>
                      </a:txBody>
                      <a:tcPr marL="68580" marR="685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PH" sz="2000" b="0" i="1" smtClean="0">
                                    <a:effectLst/>
                                    <a:latin typeface="Cambria Math"/>
                                    <a:ea typeface="Verdana" pitchFamily="34" charset="0"/>
                                    <a:cs typeface="Times New Roman" panose="02020603050405020304" pitchFamily="18" charset="0"/>
                                  </a:rPr>
                                  <m:t>1580</m:t>
                                </m:r>
                              </m:oMath>
                            </m:oMathPara>
                          </a14:m>
                          <a:endParaRPr lang="x-none" sz="2000">
                            <a:effectLst/>
                            <a:latin typeface="Verdana" pitchFamily="34" charset="0"/>
                            <a:ea typeface="Verdana" pitchFamily="34" charset="0"/>
                            <a:cs typeface="Times New Roman" panose="02020603050405020304" pitchFamily="18" charset="0"/>
                          </a:endParaRPr>
                        </a:p>
                      </a:txBody>
                      <a:tcPr marL="68580" marR="6858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PH" sz="2000" b="0" i="1" smtClean="0">
                                    <a:effectLst/>
                                    <a:latin typeface="Cambria Math"/>
                                    <a:ea typeface="Verdana" pitchFamily="34" charset="0"/>
                                    <a:cs typeface="Times New Roman" panose="02020603050405020304" pitchFamily="18" charset="0"/>
                                  </a:rPr>
                                  <m:t>26</m:t>
                                </m:r>
                              </m:oMath>
                            </m:oMathPara>
                          </a14:m>
                          <a:endParaRPr lang="x-none" sz="2000">
                            <a:effectLst/>
                            <a:latin typeface="Verdana" pitchFamily="34" charset="0"/>
                            <a:ea typeface="Verdana" pitchFamily="34" charset="0"/>
                            <a:cs typeface="Times New Roman" panose="02020603050405020304" pitchFamily="18" charset="0"/>
                          </a:endParaRPr>
                        </a:p>
                      </a:txBody>
                      <a:tcPr marL="68580" marR="6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4"/>
                      </a:ext>
                    </a:extLst>
                  </a:tr>
                  <a:tr h="0">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PH" sz="2000" b="0" i="1" smtClean="0">
                                    <a:effectLst/>
                                    <a:latin typeface="Cambria Math"/>
                                    <a:ea typeface="Verdana" pitchFamily="34" charset="0"/>
                                    <a:cs typeface="Times New Roman" panose="02020603050405020304" pitchFamily="18" charset="0"/>
                                  </a:rPr>
                                  <m:t>1663</m:t>
                                </m:r>
                              </m:oMath>
                            </m:oMathPara>
                          </a14:m>
                          <a:endParaRPr lang="x-none" sz="2000">
                            <a:effectLst/>
                            <a:latin typeface="Verdana" pitchFamily="34" charset="0"/>
                            <a:ea typeface="Verdana" pitchFamily="34" charset="0"/>
                            <a:cs typeface="Times New Roman" panose="02020603050405020304" pitchFamily="18" charset="0"/>
                          </a:endParaRPr>
                        </a:p>
                      </a:txBody>
                      <a:tcPr marL="68580" marR="6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PH" sz="2000" b="0" i="1" smtClean="0">
                                    <a:effectLst/>
                                    <a:latin typeface="Cambria Math"/>
                                    <a:ea typeface="Verdana" pitchFamily="34" charset="0"/>
                                    <a:cs typeface="Times New Roman" panose="02020603050405020304" pitchFamily="18" charset="0"/>
                                  </a:rPr>
                                  <m:t>19</m:t>
                                </m:r>
                              </m:oMath>
                            </m:oMathPara>
                          </a14:m>
                          <a:endParaRPr lang="x-none" sz="2000">
                            <a:effectLst/>
                            <a:latin typeface="Verdana" pitchFamily="34" charset="0"/>
                            <a:ea typeface="Verdana" pitchFamily="34" charset="0"/>
                            <a:cs typeface="Times New Roman" panose="02020603050405020304" pitchFamily="18" charset="0"/>
                          </a:endParaRPr>
                        </a:p>
                      </a:txBody>
                      <a:tcPr marL="68580" marR="6858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x-none" sz="2000">
                            <a:effectLst/>
                            <a:latin typeface="Verdana" pitchFamily="34" charset="0"/>
                            <a:ea typeface="Verdana" pitchFamily="34" charset="0"/>
                            <a:cs typeface="Times New Roman" panose="02020603050405020304" pitchFamily="18" charset="0"/>
                          </a:endParaRPr>
                        </a:p>
                      </a:txBody>
                      <a:tcPr marL="68580" marR="685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PH" sz="2000" b="0" i="1" smtClean="0">
                                    <a:effectLst/>
                                    <a:latin typeface="Cambria Math"/>
                                    <a:ea typeface="Verdana" pitchFamily="34" charset="0"/>
                                    <a:cs typeface="Times New Roman" panose="02020603050405020304" pitchFamily="18" charset="0"/>
                                  </a:rPr>
                                  <m:t>1234</m:t>
                                </m:r>
                              </m:oMath>
                            </m:oMathPara>
                          </a14:m>
                          <a:endParaRPr lang="x-none" sz="2000">
                            <a:effectLst/>
                            <a:latin typeface="Verdana" pitchFamily="34" charset="0"/>
                            <a:ea typeface="Verdana" pitchFamily="34" charset="0"/>
                            <a:cs typeface="Times New Roman" panose="02020603050405020304" pitchFamily="18" charset="0"/>
                          </a:endParaRPr>
                        </a:p>
                      </a:txBody>
                      <a:tcPr marL="68580" marR="6858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PH" sz="2000" b="0" i="1" smtClean="0">
                                    <a:effectLst/>
                                    <a:latin typeface="Cambria Math"/>
                                    <a:ea typeface="Verdana" pitchFamily="34" charset="0"/>
                                    <a:cs typeface="Times New Roman" panose="02020603050405020304" pitchFamily="18" charset="0"/>
                                  </a:rPr>
                                  <m:t>30</m:t>
                                </m:r>
                              </m:oMath>
                            </m:oMathPara>
                          </a14:m>
                          <a:endParaRPr lang="x-none" sz="2000">
                            <a:effectLst/>
                            <a:latin typeface="Verdana" pitchFamily="34" charset="0"/>
                            <a:ea typeface="Verdana" pitchFamily="34" charset="0"/>
                            <a:cs typeface="Times New Roman" panose="02020603050405020304" pitchFamily="18" charset="0"/>
                          </a:endParaRPr>
                        </a:p>
                      </a:txBody>
                      <a:tcPr marL="68580" marR="6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5"/>
                      </a:ext>
                    </a:extLst>
                  </a:tr>
                  <a:tr h="0">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PH" sz="2000" b="0" i="1" smtClean="0">
                                    <a:effectLst/>
                                    <a:latin typeface="Cambria Math"/>
                                    <a:ea typeface="Verdana" pitchFamily="34" charset="0"/>
                                    <a:cs typeface="Times New Roman" panose="02020603050405020304" pitchFamily="18" charset="0"/>
                                  </a:rPr>
                                  <m:t>2216</m:t>
                                </m:r>
                              </m:oMath>
                            </m:oMathPara>
                          </a14:m>
                          <a:endParaRPr lang="x-none" sz="2000">
                            <a:effectLst/>
                            <a:latin typeface="Verdana" pitchFamily="34" charset="0"/>
                            <a:ea typeface="Verdana" pitchFamily="34" charset="0"/>
                            <a:cs typeface="Times New Roman" panose="02020603050405020304" pitchFamily="18" charset="0"/>
                          </a:endParaRPr>
                        </a:p>
                      </a:txBody>
                      <a:tcPr marL="68580" marR="6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PH" sz="2000" b="0" i="1" smtClean="0">
                                    <a:effectLst/>
                                    <a:latin typeface="Cambria Math"/>
                                    <a:ea typeface="Verdana" pitchFamily="34" charset="0"/>
                                    <a:cs typeface="Times New Roman" panose="02020603050405020304" pitchFamily="18" charset="0"/>
                                  </a:rPr>
                                  <m:t>18</m:t>
                                </m:r>
                              </m:oMath>
                            </m:oMathPara>
                          </a14:m>
                          <a:endParaRPr lang="x-none" sz="2000">
                            <a:effectLst/>
                            <a:latin typeface="Verdana" pitchFamily="34" charset="0"/>
                            <a:ea typeface="Verdana" pitchFamily="34" charset="0"/>
                            <a:cs typeface="Times New Roman" panose="02020603050405020304" pitchFamily="18" charset="0"/>
                          </a:endParaRPr>
                        </a:p>
                      </a:txBody>
                      <a:tcPr marL="68580" marR="6858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x-none" sz="2000">
                            <a:effectLst/>
                            <a:latin typeface="Verdana" pitchFamily="34" charset="0"/>
                            <a:ea typeface="Verdana" pitchFamily="34" charset="0"/>
                            <a:cs typeface="Times New Roman" panose="02020603050405020304" pitchFamily="18" charset="0"/>
                          </a:endParaRPr>
                        </a:p>
                      </a:txBody>
                      <a:tcPr marL="68580" marR="685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PH" sz="2000" b="0" i="1" smtClean="0">
                                    <a:effectLst/>
                                    <a:latin typeface="Cambria Math"/>
                                    <a:ea typeface="Verdana" pitchFamily="34" charset="0"/>
                                    <a:cs typeface="Times New Roman" panose="02020603050405020304" pitchFamily="18" charset="0"/>
                                  </a:rPr>
                                  <m:t>1656</m:t>
                                </m:r>
                              </m:oMath>
                            </m:oMathPara>
                          </a14:m>
                          <a:endParaRPr lang="x-none" sz="2000">
                            <a:effectLst/>
                            <a:latin typeface="Verdana" pitchFamily="34" charset="0"/>
                            <a:ea typeface="Verdana" pitchFamily="34" charset="0"/>
                            <a:cs typeface="Times New Roman" panose="02020603050405020304" pitchFamily="18" charset="0"/>
                          </a:endParaRPr>
                        </a:p>
                      </a:txBody>
                      <a:tcPr marL="68580" marR="6858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PH" sz="2000" b="0" i="1" smtClean="0">
                                    <a:effectLst/>
                                    <a:latin typeface="Cambria Math"/>
                                    <a:ea typeface="Verdana" pitchFamily="34" charset="0"/>
                                    <a:cs typeface="Times New Roman" panose="02020603050405020304" pitchFamily="18" charset="0"/>
                                  </a:rPr>
                                  <m:t>23</m:t>
                                </m:r>
                              </m:oMath>
                            </m:oMathPara>
                          </a14:m>
                          <a:endParaRPr lang="x-none" sz="2000">
                            <a:effectLst/>
                            <a:latin typeface="Verdana" pitchFamily="34" charset="0"/>
                            <a:ea typeface="Verdana" pitchFamily="34" charset="0"/>
                            <a:cs typeface="Times New Roman" panose="02020603050405020304" pitchFamily="18" charset="0"/>
                          </a:endParaRPr>
                        </a:p>
                      </a:txBody>
                      <a:tcPr marL="68580" marR="6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290462057"/>
                      </a:ext>
                    </a:extLst>
                  </a:tr>
                </a:tbl>
              </a:graphicData>
            </a:graphic>
          </p:graphicFrame>
        </mc:Choice>
        <mc:Fallback xmlns="">
          <p:graphicFrame>
            <p:nvGraphicFramePr>
              <p:cNvPr id="9" name="Table 8">
                <a:extLst>
                  <a:ext uri="{FF2B5EF4-FFF2-40B4-BE49-F238E27FC236}">
                    <a16:creationId xmlns:a16="http://schemas.microsoft.com/office/drawing/2014/main" id="{639B7790-FFF1-EF42-A535-86C659AC44FE}"/>
                  </a:ext>
                </a:extLst>
              </p:cNvPr>
              <p:cNvGraphicFramePr>
                <a:graphicFrameLocks noGrp="1"/>
              </p:cNvGraphicFramePr>
              <p:nvPr>
                <p:extLst>
                  <p:ext uri="{D42A27DB-BD31-4B8C-83A1-F6EECF244321}">
                    <p14:modId xmlns:p14="http://schemas.microsoft.com/office/powerpoint/2010/main" val="2600653051"/>
                  </p:ext>
                </p:extLst>
              </p:nvPr>
            </p:nvGraphicFramePr>
            <p:xfrm>
              <a:off x="2297625" y="422545"/>
              <a:ext cx="7772400" cy="3409252"/>
            </p:xfrm>
            <a:graphic>
              <a:graphicData uri="http://schemas.openxmlformats.org/drawingml/2006/table">
                <a:tbl>
                  <a:tblPr firstRow="1" firstCol="1" bandRow="1"/>
                  <a:tblGrid>
                    <a:gridCol w="1371600">
                      <a:extLst>
                        <a:ext uri="{9D8B030D-6E8A-4147-A177-3AD203B41FA5}">
                          <a16:colId xmlns:a16="http://schemas.microsoft.com/office/drawing/2014/main" val="4171961373"/>
                        </a:ext>
                      </a:extLst>
                    </a:gridCol>
                    <a:gridCol w="2286000">
                      <a:extLst>
                        <a:ext uri="{9D8B030D-6E8A-4147-A177-3AD203B41FA5}">
                          <a16:colId xmlns:a16="http://schemas.microsoft.com/office/drawing/2014/main" val="1961502755"/>
                        </a:ext>
                      </a:extLst>
                    </a:gridCol>
                    <a:gridCol w="4572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2286000">
                      <a:extLst>
                        <a:ext uri="{9D8B030D-6E8A-4147-A177-3AD203B41FA5}">
                          <a16:colId xmlns:a16="http://schemas.microsoft.com/office/drawing/2014/main" val="20004"/>
                        </a:ext>
                      </a:extLst>
                    </a:gridCol>
                  </a:tblGrid>
                  <a:tr h="757492">
                    <a:tc>
                      <a:txBody>
                        <a:bodyPr/>
                        <a:lstStyle/>
                        <a:p>
                          <a:pPr marL="0" marR="0" algn="ctr">
                            <a:lnSpc>
                              <a:spcPct val="115000"/>
                            </a:lnSpc>
                            <a:spcBef>
                              <a:spcPts val="0"/>
                            </a:spcBef>
                            <a:spcAft>
                              <a:spcPts val="0"/>
                            </a:spcAft>
                          </a:pPr>
                          <a:r>
                            <a:rPr lang="en-US" sz="2000" b="1" dirty="0">
                              <a:effectLst/>
                              <a:latin typeface="Verdana" panose="020B0604030504040204" pitchFamily="34" charset="0"/>
                              <a:ea typeface="Verdana" pitchFamily="34" charset="0"/>
                              <a:cs typeface="Times New Roman" panose="02020603050405020304" pitchFamily="18" charset="0"/>
                            </a:rPr>
                            <a:t>Mass (kg)</a:t>
                          </a:r>
                          <a:endParaRPr lang="x-none" sz="2000">
                            <a:effectLst/>
                            <a:latin typeface="Verdana" pitchFamily="34" charset="0"/>
                            <a:ea typeface="Verdana" pitchFamily="34" charset="0"/>
                            <a:cs typeface="Times New Roman" panose="02020603050405020304" pitchFamily="18" charset="0"/>
                          </a:endParaRPr>
                        </a:p>
                      </a:txBody>
                      <a:tcPr marL="68580" marR="6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marL="0" marR="0" algn="ctr">
                            <a:lnSpc>
                              <a:spcPct val="115000"/>
                            </a:lnSpc>
                            <a:spcBef>
                              <a:spcPts val="0"/>
                            </a:spcBef>
                            <a:spcAft>
                              <a:spcPts val="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Fuel Efficiency </a:t>
                          </a:r>
                          <a:b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b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(mpg)</a:t>
                          </a:r>
                          <a:endParaRPr lang="x-none" sz="2000">
                            <a:effectLst/>
                            <a:latin typeface="Verdana" pitchFamily="34" charset="0"/>
                            <a:ea typeface="Verdana" pitchFamily="34" charset="0"/>
                            <a:cs typeface="Times New Roman" panose="02020603050405020304" pitchFamily="18" charset="0"/>
                          </a:endParaRPr>
                        </a:p>
                      </a:txBody>
                      <a:tcPr marL="68580" marR="6858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marL="0" marR="0" algn="ctr">
                            <a:lnSpc>
                              <a:spcPct val="115000"/>
                            </a:lnSpc>
                            <a:spcBef>
                              <a:spcPts val="0"/>
                            </a:spcBef>
                            <a:spcAft>
                              <a:spcPts val="0"/>
                            </a:spcAft>
                          </a:pPr>
                          <a:endParaRPr lang="x-none" sz="2000">
                            <a:effectLst/>
                            <a:latin typeface="Verdana" pitchFamily="34" charset="0"/>
                            <a:ea typeface="Verdana" pitchFamily="34" charset="0"/>
                            <a:cs typeface="Times New Roman" panose="02020603050405020304" pitchFamily="18" charset="0"/>
                          </a:endParaRPr>
                        </a:p>
                      </a:txBody>
                      <a:tcPr marL="68580" marR="685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ctr">
                            <a:lnSpc>
                              <a:spcPct val="115000"/>
                            </a:lnSpc>
                            <a:spcBef>
                              <a:spcPts val="0"/>
                            </a:spcBef>
                            <a:spcAft>
                              <a:spcPts val="0"/>
                            </a:spcAft>
                          </a:pPr>
                          <a:r>
                            <a:rPr lang="en-US" sz="2000" b="1" dirty="0">
                              <a:effectLst/>
                              <a:latin typeface="Verdana" panose="020B0604030504040204" pitchFamily="34" charset="0"/>
                              <a:ea typeface="Verdana" pitchFamily="34" charset="0"/>
                              <a:cs typeface="Times New Roman" panose="02020603050405020304" pitchFamily="18" charset="0"/>
                            </a:rPr>
                            <a:t>Mass (kg)</a:t>
                          </a:r>
                          <a:endParaRPr lang="x-none" sz="2000">
                            <a:effectLst/>
                            <a:latin typeface="Verdana" pitchFamily="34" charset="0"/>
                            <a:ea typeface="Verdana" pitchFamily="34" charset="0"/>
                            <a:cs typeface="Times New Roman" panose="02020603050405020304" pitchFamily="18" charset="0"/>
                          </a:endParaRPr>
                        </a:p>
                      </a:txBody>
                      <a:tcPr marL="68580" marR="6858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marL="0" marR="0" algn="ctr">
                            <a:lnSpc>
                              <a:spcPct val="115000"/>
                            </a:lnSpc>
                            <a:spcBef>
                              <a:spcPts val="0"/>
                            </a:spcBef>
                            <a:spcAft>
                              <a:spcPts val="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Fuel Efficiency </a:t>
                          </a:r>
                          <a:b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b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(mpg)</a:t>
                          </a:r>
                          <a:endParaRPr lang="x-none" sz="2000">
                            <a:effectLst/>
                            <a:latin typeface="Verdana" pitchFamily="34" charset="0"/>
                            <a:ea typeface="Verdana" pitchFamily="34" charset="0"/>
                            <a:cs typeface="Times New Roman" panose="02020603050405020304" pitchFamily="18" charset="0"/>
                          </a:endParaRPr>
                        </a:p>
                      </a:txBody>
                      <a:tcPr marL="68580" marR="6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868418142"/>
                      </a:ext>
                    </a:extLst>
                  </a:tr>
                  <a:tr h="441960">
                    <a:tc>
                      <a:txBody>
                        <a:bodyPr/>
                        <a:lstStyle/>
                        <a:p>
                          <a:endParaRPr lang="en-US"/>
                        </a:p>
                      </a:txBody>
                      <a:tcPr marL="68580" marR="6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t="-177143" r="-468519" b="-500000"/>
                          </a:stretch>
                        </a:blipFill>
                      </a:tcPr>
                    </a:tc>
                    <a:tc>
                      <a:txBody>
                        <a:bodyPr/>
                        <a:lstStyle/>
                        <a:p>
                          <a:endParaRPr lang="en-US"/>
                        </a:p>
                      </a:txBody>
                      <a:tcPr marL="68580" marR="6858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60000" t="-177143" r="-181111" b="-500000"/>
                          </a:stretch>
                        </a:blipFill>
                      </a:tcPr>
                    </a:tc>
                    <a:tc>
                      <a:txBody>
                        <a:bodyPr/>
                        <a:lstStyle/>
                        <a:p>
                          <a:pPr marL="0" marR="0" algn="ctr">
                            <a:lnSpc>
                              <a:spcPct val="115000"/>
                            </a:lnSpc>
                            <a:spcBef>
                              <a:spcPts val="0"/>
                            </a:spcBef>
                            <a:spcAft>
                              <a:spcPts val="0"/>
                            </a:spcAft>
                          </a:pPr>
                          <a:endParaRPr lang="x-none" sz="2000">
                            <a:effectLst/>
                            <a:latin typeface="Verdana" pitchFamily="34" charset="0"/>
                            <a:ea typeface="Verdana" pitchFamily="34" charset="0"/>
                            <a:cs typeface="Times New Roman" panose="02020603050405020304" pitchFamily="18" charset="0"/>
                          </a:endParaRPr>
                        </a:p>
                      </a:txBody>
                      <a:tcPr marL="68580" marR="685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p>
                      </a:txBody>
                      <a:tcPr marL="68580" marR="6858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300926" t="-177143" r="-167593" b="-500000"/>
                          </a:stretch>
                        </a:blipFill>
                      </a:tcPr>
                    </a:tc>
                    <a:tc>
                      <a:txBody>
                        <a:bodyPr/>
                        <a:lstStyle/>
                        <a:p>
                          <a:endParaRPr lang="en-US"/>
                        </a:p>
                      </a:txBody>
                      <a:tcPr marL="68580" marR="6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40556" t="-177143" r="-556" b="-500000"/>
                          </a:stretch>
                        </a:blipFill>
                      </a:tcPr>
                    </a:tc>
                    <a:extLst>
                      <a:ext uri="{0D108BD9-81ED-4DB2-BD59-A6C34878D82A}">
                        <a16:rowId xmlns:a16="http://schemas.microsoft.com/office/drawing/2014/main" val="1218842699"/>
                      </a:ext>
                    </a:extLst>
                  </a:tr>
                  <a:tr h="441960">
                    <a:tc>
                      <a:txBody>
                        <a:bodyPr/>
                        <a:lstStyle/>
                        <a:p>
                          <a:endParaRPr lang="en-US"/>
                        </a:p>
                      </a:txBody>
                      <a:tcPr marL="68580" marR="6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t="-277143" r="-468519" b="-400000"/>
                          </a:stretch>
                        </a:blipFill>
                      </a:tcPr>
                    </a:tc>
                    <a:tc>
                      <a:txBody>
                        <a:bodyPr/>
                        <a:lstStyle/>
                        <a:p>
                          <a:endParaRPr lang="en-US"/>
                        </a:p>
                      </a:txBody>
                      <a:tcPr marL="68580" marR="6858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60000" t="-277143" r="-181111" b="-400000"/>
                          </a:stretch>
                        </a:blipFill>
                      </a:tcPr>
                    </a:tc>
                    <a:tc>
                      <a:txBody>
                        <a:bodyPr/>
                        <a:lstStyle/>
                        <a:p>
                          <a:pPr marL="0" marR="0" algn="ctr">
                            <a:lnSpc>
                              <a:spcPct val="115000"/>
                            </a:lnSpc>
                            <a:spcBef>
                              <a:spcPts val="0"/>
                            </a:spcBef>
                            <a:spcAft>
                              <a:spcPts val="0"/>
                            </a:spcAft>
                          </a:pPr>
                          <a:endParaRPr lang="x-none" sz="2000">
                            <a:effectLst/>
                            <a:latin typeface="Verdana" pitchFamily="34" charset="0"/>
                            <a:ea typeface="Verdana" pitchFamily="34" charset="0"/>
                            <a:cs typeface="Times New Roman" panose="02020603050405020304" pitchFamily="18" charset="0"/>
                          </a:endParaRPr>
                        </a:p>
                      </a:txBody>
                      <a:tcPr marL="68580" marR="685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p>
                      </a:txBody>
                      <a:tcPr marL="68580" marR="6858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300926" t="-277143" r="-167593" b="-400000"/>
                          </a:stretch>
                        </a:blipFill>
                      </a:tcPr>
                    </a:tc>
                    <a:tc>
                      <a:txBody>
                        <a:bodyPr/>
                        <a:lstStyle/>
                        <a:p>
                          <a:endParaRPr lang="en-US"/>
                        </a:p>
                      </a:txBody>
                      <a:tcPr marL="68580" marR="6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40556" t="-277143" r="-556" b="-400000"/>
                          </a:stretch>
                        </a:blipFill>
                      </a:tcPr>
                    </a:tc>
                    <a:extLst>
                      <a:ext uri="{0D108BD9-81ED-4DB2-BD59-A6C34878D82A}">
                        <a16:rowId xmlns:a16="http://schemas.microsoft.com/office/drawing/2014/main" val="1821530247"/>
                      </a:ext>
                    </a:extLst>
                  </a:tr>
                  <a:tr h="441960">
                    <a:tc>
                      <a:txBody>
                        <a:bodyPr/>
                        <a:lstStyle/>
                        <a:p>
                          <a:endParaRPr lang="en-US"/>
                        </a:p>
                      </a:txBody>
                      <a:tcPr marL="68580" marR="6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t="-388235" r="-468519" b="-311765"/>
                          </a:stretch>
                        </a:blipFill>
                      </a:tcPr>
                    </a:tc>
                    <a:tc>
                      <a:txBody>
                        <a:bodyPr/>
                        <a:lstStyle/>
                        <a:p>
                          <a:endParaRPr lang="en-US"/>
                        </a:p>
                      </a:txBody>
                      <a:tcPr marL="68580" marR="6858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60000" t="-388235" r="-181111" b="-311765"/>
                          </a:stretch>
                        </a:blipFill>
                      </a:tcPr>
                    </a:tc>
                    <a:tc>
                      <a:txBody>
                        <a:bodyPr/>
                        <a:lstStyle/>
                        <a:p>
                          <a:pPr marL="0" marR="0" algn="ctr">
                            <a:lnSpc>
                              <a:spcPct val="115000"/>
                            </a:lnSpc>
                            <a:spcBef>
                              <a:spcPts val="0"/>
                            </a:spcBef>
                            <a:spcAft>
                              <a:spcPts val="0"/>
                            </a:spcAft>
                          </a:pPr>
                          <a:endParaRPr lang="x-none" sz="2000">
                            <a:effectLst/>
                            <a:latin typeface="Verdana" pitchFamily="34" charset="0"/>
                            <a:ea typeface="Verdana" pitchFamily="34" charset="0"/>
                            <a:cs typeface="Times New Roman" panose="02020603050405020304" pitchFamily="18" charset="0"/>
                          </a:endParaRPr>
                        </a:p>
                      </a:txBody>
                      <a:tcPr marL="68580" marR="685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p>
                      </a:txBody>
                      <a:tcPr marL="68580" marR="6858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300926" t="-388235" r="-167593" b="-311765"/>
                          </a:stretch>
                        </a:blipFill>
                      </a:tcPr>
                    </a:tc>
                    <a:tc>
                      <a:txBody>
                        <a:bodyPr/>
                        <a:lstStyle/>
                        <a:p>
                          <a:endParaRPr lang="en-US"/>
                        </a:p>
                      </a:txBody>
                      <a:tcPr marL="68580" marR="6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40556" t="-388235" r="-556" b="-311765"/>
                          </a:stretch>
                        </a:blipFill>
                      </a:tcPr>
                    </a:tc>
                    <a:extLst>
                      <a:ext uri="{0D108BD9-81ED-4DB2-BD59-A6C34878D82A}">
                        <a16:rowId xmlns:a16="http://schemas.microsoft.com/office/drawing/2014/main" val="1577299323"/>
                      </a:ext>
                    </a:extLst>
                  </a:tr>
                  <a:tr h="441960">
                    <a:tc>
                      <a:txBody>
                        <a:bodyPr/>
                        <a:lstStyle/>
                        <a:p>
                          <a:endParaRPr lang="en-US"/>
                        </a:p>
                      </a:txBody>
                      <a:tcPr marL="68580" marR="6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t="-474286" r="-468519" b="-202857"/>
                          </a:stretch>
                        </a:blipFill>
                      </a:tcPr>
                    </a:tc>
                    <a:tc>
                      <a:txBody>
                        <a:bodyPr/>
                        <a:lstStyle/>
                        <a:p>
                          <a:endParaRPr lang="en-US"/>
                        </a:p>
                      </a:txBody>
                      <a:tcPr marL="68580" marR="6858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60000" t="-474286" r="-181111" b="-202857"/>
                          </a:stretch>
                        </a:blipFill>
                      </a:tcPr>
                    </a:tc>
                    <a:tc>
                      <a:txBody>
                        <a:bodyPr/>
                        <a:lstStyle/>
                        <a:p>
                          <a:pPr marL="0" marR="0" algn="ctr">
                            <a:lnSpc>
                              <a:spcPct val="115000"/>
                            </a:lnSpc>
                            <a:spcBef>
                              <a:spcPts val="0"/>
                            </a:spcBef>
                            <a:spcAft>
                              <a:spcPts val="0"/>
                            </a:spcAft>
                          </a:pPr>
                          <a:endParaRPr lang="x-none" sz="2000">
                            <a:effectLst/>
                            <a:latin typeface="Verdana" pitchFamily="34" charset="0"/>
                            <a:ea typeface="Verdana" pitchFamily="34" charset="0"/>
                            <a:cs typeface="Times New Roman" panose="02020603050405020304" pitchFamily="18" charset="0"/>
                          </a:endParaRPr>
                        </a:p>
                      </a:txBody>
                      <a:tcPr marL="68580" marR="685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p>
                      </a:txBody>
                      <a:tcPr marL="68580" marR="6858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300926" t="-474286" r="-167593" b="-202857"/>
                          </a:stretch>
                        </a:blipFill>
                      </a:tcPr>
                    </a:tc>
                    <a:tc>
                      <a:txBody>
                        <a:bodyPr/>
                        <a:lstStyle/>
                        <a:p>
                          <a:endParaRPr lang="en-US"/>
                        </a:p>
                      </a:txBody>
                      <a:tcPr marL="68580" marR="6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40556" t="-474286" r="-556" b="-202857"/>
                          </a:stretch>
                        </a:blipFill>
                      </a:tcPr>
                    </a:tc>
                    <a:extLst>
                      <a:ext uri="{0D108BD9-81ED-4DB2-BD59-A6C34878D82A}">
                        <a16:rowId xmlns:a16="http://schemas.microsoft.com/office/drawing/2014/main" val="10004"/>
                      </a:ext>
                    </a:extLst>
                  </a:tr>
                  <a:tr h="441960">
                    <a:tc>
                      <a:txBody>
                        <a:bodyPr/>
                        <a:lstStyle/>
                        <a:p>
                          <a:endParaRPr lang="en-US"/>
                        </a:p>
                      </a:txBody>
                      <a:tcPr marL="68580" marR="6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t="-574286" r="-468519" b="-102857"/>
                          </a:stretch>
                        </a:blipFill>
                      </a:tcPr>
                    </a:tc>
                    <a:tc>
                      <a:txBody>
                        <a:bodyPr/>
                        <a:lstStyle/>
                        <a:p>
                          <a:endParaRPr lang="en-US"/>
                        </a:p>
                      </a:txBody>
                      <a:tcPr marL="68580" marR="6858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60000" t="-574286" r="-181111" b="-102857"/>
                          </a:stretch>
                        </a:blipFill>
                      </a:tcPr>
                    </a:tc>
                    <a:tc>
                      <a:txBody>
                        <a:bodyPr/>
                        <a:lstStyle/>
                        <a:p>
                          <a:pPr marL="0" marR="0" algn="ctr">
                            <a:lnSpc>
                              <a:spcPct val="115000"/>
                            </a:lnSpc>
                            <a:spcBef>
                              <a:spcPts val="0"/>
                            </a:spcBef>
                            <a:spcAft>
                              <a:spcPts val="0"/>
                            </a:spcAft>
                          </a:pPr>
                          <a:endParaRPr lang="x-none" sz="2000">
                            <a:effectLst/>
                            <a:latin typeface="Verdana" pitchFamily="34" charset="0"/>
                            <a:ea typeface="Verdana" pitchFamily="34" charset="0"/>
                            <a:cs typeface="Times New Roman" panose="02020603050405020304" pitchFamily="18" charset="0"/>
                          </a:endParaRPr>
                        </a:p>
                      </a:txBody>
                      <a:tcPr marL="68580" marR="685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p>
                      </a:txBody>
                      <a:tcPr marL="68580" marR="6858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300926" t="-574286" r="-167593" b="-102857"/>
                          </a:stretch>
                        </a:blipFill>
                      </a:tcPr>
                    </a:tc>
                    <a:tc>
                      <a:txBody>
                        <a:bodyPr/>
                        <a:lstStyle/>
                        <a:p>
                          <a:endParaRPr lang="en-US"/>
                        </a:p>
                      </a:txBody>
                      <a:tcPr marL="68580" marR="6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40556" t="-574286" r="-556" b="-102857"/>
                          </a:stretch>
                        </a:blipFill>
                      </a:tcPr>
                    </a:tc>
                    <a:extLst>
                      <a:ext uri="{0D108BD9-81ED-4DB2-BD59-A6C34878D82A}">
                        <a16:rowId xmlns:a16="http://schemas.microsoft.com/office/drawing/2014/main" val="10005"/>
                      </a:ext>
                    </a:extLst>
                  </a:tr>
                  <a:tr h="441960">
                    <a:tc>
                      <a:txBody>
                        <a:bodyPr/>
                        <a:lstStyle/>
                        <a:p>
                          <a:endParaRPr lang="en-US"/>
                        </a:p>
                      </a:txBody>
                      <a:tcPr marL="68580" marR="6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t="-674286" r="-468519" b="-2857"/>
                          </a:stretch>
                        </a:blipFill>
                      </a:tcPr>
                    </a:tc>
                    <a:tc>
                      <a:txBody>
                        <a:bodyPr/>
                        <a:lstStyle/>
                        <a:p>
                          <a:endParaRPr lang="en-US"/>
                        </a:p>
                      </a:txBody>
                      <a:tcPr marL="68580" marR="6858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60000" t="-674286" r="-181111" b="-2857"/>
                          </a:stretch>
                        </a:blipFill>
                      </a:tcPr>
                    </a:tc>
                    <a:tc>
                      <a:txBody>
                        <a:bodyPr/>
                        <a:lstStyle/>
                        <a:p>
                          <a:pPr marL="0" marR="0" algn="ctr">
                            <a:lnSpc>
                              <a:spcPct val="115000"/>
                            </a:lnSpc>
                            <a:spcBef>
                              <a:spcPts val="0"/>
                            </a:spcBef>
                            <a:spcAft>
                              <a:spcPts val="0"/>
                            </a:spcAft>
                          </a:pPr>
                          <a:endParaRPr lang="x-none" sz="2000">
                            <a:effectLst/>
                            <a:latin typeface="Verdana" pitchFamily="34" charset="0"/>
                            <a:ea typeface="Verdana" pitchFamily="34" charset="0"/>
                            <a:cs typeface="Times New Roman" panose="02020603050405020304" pitchFamily="18" charset="0"/>
                          </a:endParaRPr>
                        </a:p>
                      </a:txBody>
                      <a:tcPr marL="68580" marR="685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p>
                      </a:txBody>
                      <a:tcPr marL="68580" marR="6858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300926" t="-674286" r="-167593" b="-2857"/>
                          </a:stretch>
                        </a:blipFill>
                      </a:tcPr>
                    </a:tc>
                    <a:tc>
                      <a:txBody>
                        <a:bodyPr/>
                        <a:lstStyle/>
                        <a:p>
                          <a:endParaRPr lang="en-US"/>
                        </a:p>
                      </a:txBody>
                      <a:tcPr marL="68580" marR="6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40556" t="-674286" r="-556" b="-2857"/>
                          </a:stretch>
                        </a:blipFill>
                      </a:tcPr>
                    </a:tc>
                    <a:extLst>
                      <a:ext uri="{0D108BD9-81ED-4DB2-BD59-A6C34878D82A}">
                        <a16:rowId xmlns:a16="http://schemas.microsoft.com/office/drawing/2014/main" val="290462057"/>
                      </a:ext>
                    </a:extLst>
                  </a:tr>
                </a:tbl>
              </a:graphicData>
            </a:graphic>
          </p:graphicFrame>
        </mc:Fallback>
      </mc:AlternateContent>
      <p:pic>
        <p:nvPicPr>
          <p:cNvPr id="7" name="Google Shape;311;g104476d1465_1_39"/>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138</a:t>
            </a:r>
            <a:endParaRPr i="1" dirty="0">
              <a:latin typeface="Calibri"/>
              <a:ea typeface="Calibri"/>
              <a:cs typeface="Calibri"/>
              <a:sym typeface="Calibri"/>
            </a:endParaRPr>
          </a:p>
        </p:txBody>
      </p:sp>
    </p:spTree>
    <p:extLst>
      <p:ext uri="{BB962C8B-B14F-4D97-AF65-F5344CB8AC3E}">
        <p14:creationId xmlns:p14="http://schemas.microsoft.com/office/powerpoint/2010/main" val="39200344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6" name="TextBox 5">
            <a:extLst>
              <a:ext uri="{FF2B5EF4-FFF2-40B4-BE49-F238E27FC236}">
                <a16:creationId xmlns:a16="http://schemas.microsoft.com/office/drawing/2014/main" xmlns="" id="{4B71B7AA-10E7-9B44-A591-563821260A41}"/>
              </a:ext>
            </a:extLst>
          </p:cNvPr>
          <p:cNvSpPr txBox="1"/>
          <p:nvPr/>
        </p:nvSpPr>
        <p:spPr>
          <a:xfrm>
            <a:off x="532432" y="454781"/>
            <a:ext cx="10800000" cy="5940088"/>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Tess created the scatter plot shown to represent the data using technology. </a:t>
            </a: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
            </a: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
            </a: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
            </a: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
            </a: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
            </a: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
            </a: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
            </a: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
            </a: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
            </a: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
            </a: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
            </a: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
            </a: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
            </a: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
            </a: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
            </a: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Work with your partner to describe the pattern of association between a car’s mass and fuel efficiency.</a:t>
            </a:r>
          </a:p>
        </p:txBody>
      </p:sp>
      <p:pic>
        <p:nvPicPr>
          <p:cNvPr id="7" name="Picture 6" descr="Chart, scatter chart&#10;&#10;Description automatically generated">
            <a:extLst>
              <a:ext uri="{FF2B5EF4-FFF2-40B4-BE49-F238E27FC236}">
                <a16:creationId xmlns:a16="http://schemas.microsoft.com/office/drawing/2014/main" xmlns="" id="{D7448F1A-4AA0-514A-BD1D-C071E077CF54}"/>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830004" y="1055111"/>
            <a:ext cx="4204855" cy="4204855"/>
          </a:xfrm>
          <a:prstGeom prst="rect">
            <a:avLst/>
          </a:prstGeom>
        </p:spPr>
      </p:pic>
      <p:pic>
        <p:nvPicPr>
          <p:cNvPr id="9" name="Google Shape;311;g104476d1465_1_39"/>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139</a:t>
            </a:r>
            <a:endParaRPr i="1" dirty="0">
              <a:latin typeface="Calibri"/>
              <a:ea typeface="Calibri"/>
              <a:cs typeface="Calibri"/>
              <a:sym typeface="Calibri"/>
            </a:endParaRPr>
          </a:p>
        </p:txBody>
      </p:sp>
    </p:spTree>
    <p:extLst>
      <p:ext uri="{BB962C8B-B14F-4D97-AF65-F5344CB8AC3E}">
        <p14:creationId xmlns:p14="http://schemas.microsoft.com/office/powerpoint/2010/main" val="35436145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xmlns="" id="{4B71B7AA-10E7-9B44-A591-563821260A41}"/>
                  </a:ext>
                </a:extLst>
              </p:cNvPr>
              <p:cNvSpPr txBox="1"/>
              <p:nvPr/>
            </p:nvSpPr>
            <p:spPr>
              <a:xfrm>
                <a:off x="546501" y="448145"/>
                <a:ext cx="10800000" cy="4708981"/>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Tess fit a line to the data </a:t>
                </a: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using a graphing calculator. </a:t>
                </a: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The screenshot shows the </a:t>
                </a: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results of Tess generating </a:t>
                </a: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a line, in slope-intercept </a:t>
                </a: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form, to model the relationship </a:t>
                </a: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between the mass of a car, </a:t>
                </a:r>
                <a:br>
                  <a:rPr lang="en-US" sz="2000" dirty="0">
                    <a:latin typeface="Verdana" panose="020B0604030504040204" pitchFamily="34" charset="0"/>
                    <a:ea typeface="Verdana" panose="020B0604030504040204" pitchFamily="34" charset="0"/>
                    <a:cs typeface="Verdana" panose="020B0604030504040204" pitchFamily="34" charset="0"/>
                  </a:rPr>
                </a:br>
                <a14:m>
                  <m:oMath xmlns:m="http://schemas.openxmlformats.org/officeDocument/2006/math">
                    <m:sSub>
                      <m:sSubPr>
                        <m:ctrlPr>
                          <a:rPr lang="en-US" sz="2000" i="1">
                            <a:latin typeface="Cambria Math"/>
                            <a:ea typeface="Verdana" panose="020B0604030504040204" pitchFamily="34" charset="0"/>
                          </a:rPr>
                        </m:ctrlPr>
                      </m:sSubPr>
                      <m:e>
                        <m:r>
                          <a:rPr lang="en-PH" sz="2000" i="1">
                            <a:latin typeface="Cambria Math"/>
                            <a:ea typeface="Verdana" panose="020B0604030504040204" pitchFamily="34" charset="0"/>
                          </a:rPr>
                          <m:t>𝑥</m:t>
                        </m:r>
                      </m:e>
                      <m:sub>
                        <m:r>
                          <a:rPr lang="en-PH" sz="2000" i="1">
                            <a:latin typeface="Cambria Math"/>
                            <a:ea typeface="Verdana" panose="020B0604030504040204" pitchFamily="34" charset="0"/>
                          </a:rPr>
                          <m:t>1</m:t>
                        </m:r>
                      </m:sub>
                    </m:sSub>
                  </m:oMath>
                </a14:m>
                <a:r>
                  <a:rPr lang="en-US" sz="2000" dirty="0">
                    <a:latin typeface="Verdana" panose="020B0604030504040204" pitchFamily="34" charset="0"/>
                    <a:ea typeface="Verdana" panose="020B0604030504040204" pitchFamily="34" charset="0"/>
                    <a:cs typeface="Verdana" panose="020B0604030504040204" pitchFamily="34" charset="0"/>
                  </a:rPr>
                  <a:t>, and the car’s fuel </a:t>
                </a: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efficiency, </a:t>
                </a:r>
                <a14:m>
                  <m:oMath xmlns:m="http://schemas.openxmlformats.org/officeDocument/2006/math">
                    <m:sSub>
                      <m:sSubPr>
                        <m:ctrlPr>
                          <a:rPr lang="en-US" sz="2000" i="1" dirty="0">
                            <a:latin typeface="Cambria Math"/>
                            <a:ea typeface="Verdana" panose="020B0604030504040204" pitchFamily="34" charset="0"/>
                            <a:cs typeface="Verdana" panose="020B0604030504040204" pitchFamily="34" charset="0"/>
                          </a:rPr>
                        </m:ctrlPr>
                      </m:sSubPr>
                      <m:e>
                        <m:r>
                          <a:rPr lang="es-ES" sz="2000" i="1" dirty="0">
                            <a:latin typeface="Cambria Math" panose="02040503050406030204" pitchFamily="18" charset="0"/>
                            <a:ea typeface="Verdana" panose="020B0604030504040204" pitchFamily="34" charset="0"/>
                            <a:cs typeface="Verdana" panose="020B0604030504040204" pitchFamily="34" charset="0"/>
                          </a:rPr>
                          <m:t>𝑦</m:t>
                        </m:r>
                      </m:e>
                      <m:sub>
                        <m:r>
                          <a:rPr lang="es-ES" sz="2000" i="1" dirty="0">
                            <a:latin typeface="Cambria Math" panose="02040503050406030204" pitchFamily="18" charset="0"/>
                            <a:ea typeface="Verdana" panose="020B0604030504040204" pitchFamily="34" charset="0"/>
                            <a:cs typeface="Verdana" panose="020B0604030504040204" pitchFamily="34" charset="0"/>
                          </a:rPr>
                          <m:t>1</m:t>
                        </m:r>
                      </m:sub>
                    </m:sSub>
                  </m:oMath>
                </a14:m>
                <a:r>
                  <a:rPr lang="en-US" sz="2000" dirty="0">
                    <a:latin typeface="Verdana" panose="020B0604030504040204" pitchFamily="34" charset="0"/>
                    <a:ea typeface="Verdana" panose="020B0604030504040204" pitchFamily="34" charset="0"/>
                    <a:cs typeface="Verdana" panose="020B0604030504040204" pitchFamily="34" charset="0"/>
                  </a:rPr>
                  <a:t>.</a:t>
                </a: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The “~” symbol is used to mean one quantity is “approximately equivalent to” another quantity. Discuss with your partner why you think this symbol would be used rather than an “=” when determining a line of best fit. Summarize your discussion.</a:t>
                </a:r>
              </a:p>
            </p:txBody>
          </p:sp>
        </mc:Choice>
        <mc:Fallback>
          <p:sp>
            <p:nvSpPr>
              <p:cNvPr id="6" name="TextBox 5">
                <a:extLst>
                  <a:ext uri="{FF2B5EF4-FFF2-40B4-BE49-F238E27FC236}">
                    <a16:creationId xmlns:a16="http://schemas.microsoft.com/office/drawing/2014/main" xmlns:a14="http://schemas.microsoft.com/office/drawing/2010/main" xmlns="" id="{4B71B7AA-10E7-9B44-A591-563821260A41}"/>
                  </a:ext>
                </a:extLst>
              </p:cNvPr>
              <p:cNvSpPr txBox="1">
                <a:spLocks noRot="1" noChangeAspect="1" noMove="1" noResize="1" noEditPoints="1" noAdjustHandles="1" noChangeArrowheads="1" noChangeShapeType="1" noTextEdit="1"/>
              </p:cNvSpPr>
              <p:nvPr/>
            </p:nvSpPr>
            <p:spPr>
              <a:xfrm>
                <a:off x="546501" y="448145"/>
                <a:ext cx="10800000" cy="4708981"/>
              </a:xfrm>
              <a:prstGeom prst="rect">
                <a:avLst/>
              </a:prstGeom>
              <a:blipFill rotWithShape="1">
                <a:blip r:embed="rId3"/>
                <a:stretch>
                  <a:fillRect l="-621" t="-777"/>
                </a:stretch>
              </a:blipFill>
            </p:spPr>
            <p:txBody>
              <a:bodyPr/>
              <a:lstStyle/>
              <a:p>
                <a:r>
                  <a:rPr lang="en-PH">
                    <a:noFill/>
                  </a:rPr>
                  <a:t> </a:t>
                </a:r>
              </a:p>
            </p:txBody>
          </p:sp>
        </mc:Fallback>
      </mc:AlternateContent>
      <p:pic>
        <p:nvPicPr>
          <p:cNvPr id="10" name="Picture 9" descr="Graphical user interface, application&#10;&#10;Description automatically generated with medium confidence">
            <a:extLst>
              <a:ext uri="{FF2B5EF4-FFF2-40B4-BE49-F238E27FC236}">
                <a16:creationId xmlns:a16="http://schemas.microsoft.com/office/drawing/2014/main" xmlns="" id="{D1F1BCCB-273E-F347-AE41-EE470429438E}"/>
              </a:ext>
            </a:extLst>
          </p:cNvPr>
          <p:cNvPicPr>
            <a:picLocks noChangeAspect="1"/>
          </p:cNvPicPr>
          <p:nvPr/>
        </p:nvPicPr>
        <p:blipFill>
          <a:blip r:embed="rId4"/>
          <a:stretch>
            <a:fillRect/>
          </a:stretch>
        </p:blipFill>
        <p:spPr>
          <a:xfrm>
            <a:off x="5793673" y="557654"/>
            <a:ext cx="3512890" cy="2240280"/>
          </a:xfrm>
          <a:prstGeom prst="rect">
            <a:avLst/>
          </a:prstGeom>
          <a:ln w="28575">
            <a:solidFill>
              <a:schemeClr val="tx1"/>
            </a:solidFill>
          </a:ln>
        </p:spPr>
      </p:pic>
      <p:pic>
        <p:nvPicPr>
          <p:cNvPr id="7" name="Google Shape;311;g104476d1465_1_39"/>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139</a:t>
            </a:r>
            <a:endParaRPr i="1" dirty="0">
              <a:latin typeface="Calibri"/>
              <a:ea typeface="Calibri"/>
              <a:cs typeface="Calibri"/>
              <a:sym typeface="Calibri"/>
            </a:endParaRPr>
          </a:p>
        </p:txBody>
      </p:sp>
    </p:spTree>
    <p:extLst>
      <p:ext uri="{BB962C8B-B14F-4D97-AF65-F5344CB8AC3E}">
        <p14:creationId xmlns:p14="http://schemas.microsoft.com/office/powerpoint/2010/main" val="12057720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6" name="TextBox 5">
            <a:extLst>
              <a:ext uri="{FF2B5EF4-FFF2-40B4-BE49-F238E27FC236}">
                <a16:creationId xmlns:a16="http://schemas.microsoft.com/office/drawing/2014/main" xmlns="" id="{4B71B7AA-10E7-9B44-A591-563821260A41}"/>
              </a:ext>
            </a:extLst>
          </p:cNvPr>
          <p:cNvSpPr txBox="1"/>
          <p:nvPr/>
        </p:nvSpPr>
        <p:spPr>
          <a:xfrm>
            <a:off x="529751" y="407869"/>
            <a:ext cx="10800000" cy="5324535"/>
          </a:xfrm>
          <a:prstGeom prst="rect">
            <a:avLst/>
          </a:prstGeom>
          <a:noFill/>
        </p:spPr>
        <p:txBody>
          <a:bodyPr wrap="square" rtlCol="0">
            <a:spAutoFit/>
          </a:bodyPr>
          <a:lstStyle/>
          <a:p>
            <a:pPr marL="914400" indent="-457200">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According to the screenshot, what are the slope and 𝑦-intercept of the line of best fit generated using technology, rounded to the nearest thousandth?</a:t>
            </a:r>
          </a:p>
          <a:p>
            <a:pPr marL="914400" indent="-457200">
              <a:buFont typeface="+mj-lt"/>
              <a:buAutoNum type="alphaLcPeriod" startAt="2"/>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Write the slope-intercept form of the equation of the line of best fit Tess generated with technology.</a:t>
            </a:r>
          </a:p>
          <a:p>
            <a:pPr marL="914400" indent="-457200">
              <a:buFont typeface="+mj-lt"/>
              <a:buAutoNum type="alphaLcPeriod" startAt="2"/>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Interpret the slope in the given context.</a:t>
            </a:r>
          </a:p>
          <a:p>
            <a:pPr marL="914400" indent="-457200">
              <a:buFont typeface="+mj-lt"/>
              <a:buAutoNum type="alphaLcPeriod" startAt="2"/>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Interpret the 𝑦-intercept in the given context.</a:t>
            </a:r>
          </a:p>
        </p:txBody>
      </p:sp>
      <mc:AlternateContent xmlns:mc="http://schemas.openxmlformats.org/markup-compatibility/2006">
        <mc:Choice xmlns:a14="http://schemas.microsoft.com/office/drawing/2010/main" Requires="a14">
          <p:graphicFrame>
            <p:nvGraphicFramePr>
              <p:cNvPr id="3" name="Table 2">
                <a:extLst>
                  <a:ext uri="{FF2B5EF4-FFF2-40B4-BE49-F238E27FC236}">
                    <a16:creationId xmlns:a16="http://schemas.microsoft.com/office/drawing/2014/main" xmlns="" id="{F859F1E4-7D12-9441-8D02-176401AB607D}"/>
                  </a:ext>
                </a:extLst>
              </p:cNvPr>
              <p:cNvGraphicFramePr>
                <a:graphicFrameLocks noGrp="1"/>
              </p:cNvGraphicFramePr>
              <p:nvPr>
                <p:extLst>
                  <p:ext uri="{D42A27DB-BD31-4B8C-83A1-F6EECF244321}">
                    <p14:modId xmlns:p14="http://schemas.microsoft.com/office/powerpoint/2010/main" val="1976622116"/>
                  </p:ext>
                </p:extLst>
              </p:nvPr>
            </p:nvGraphicFramePr>
            <p:xfrm>
              <a:off x="3805685" y="1356815"/>
              <a:ext cx="4572000" cy="1066800"/>
            </p:xfrm>
            <a:graphic>
              <a:graphicData uri="http://schemas.openxmlformats.org/drawingml/2006/table">
                <a:tbl>
                  <a:tblPr firstRow="1" firstCol="1" bandRow="1"/>
                  <a:tblGrid>
                    <a:gridCol w="1828800">
                      <a:extLst>
                        <a:ext uri="{9D8B030D-6E8A-4147-A177-3AD203B41FA5}">
                          <a16:colId xmlns:a16="http://schemas.microsoft.com/office/drawing/2014/main" xmlns="" val="4216082452"/>
                        </a:ext>
                      </a:extLst>
                    </a:gridCol>
                    <a:gridCol w="2743200">
                      <a:extLst>
                        <a:ext uri="{9D8B030D-6E8A-4147-A177-3AD203B41FA5}">
                          <a16:colId xmlns:a16="http://schemas.microsoft.com/office/drawing/2014/main" xmlns="" val="2882500662"/>
                        </a:ext>
                      </a:extLst>
                    </a:gridCol>
                  </a:tblGrid>
                  <a:tr h="457200">
                    <a:tc>
                      <a:txBody>
                        <a:bodyPr/>
                        <a:lstStyle/>
                        <a:p>
                          <a:pPr marL="0" marR="0" algn="ctr">
                            <a:lnSpc>
                              <a:spcPct val="115000"/>
                            </a:lnSpc>
                            <a:spcBef>
                              <a:spcPts val="0"/>
                            </a:spcBef>
                            <a:spcAft>
                              <a:spcPts val="0"/>
                            </a:spcAft>
                          </a:pPr>
                          <a:r>
                            <a:rPr lang="en-US" sz="2000" b="1" dirty="0">
                              <a:effectLst/>
                              <a:latin typeface="Verdana" panose="020B0604030504040204" pitchFamily="34" charset="0"/>
                              <a:ea typeface="Verdana" pitchFamily="34" charset="0"/>
                              <a:cs typeface="Times New Roman" panose="02020603050405020304" pitchFamily="18" charset="0"/>
                            </a:rPr>
                            <a:t>slope</a:t>
                          </a:r>
                          <a:endParaRPr lang="x-none" sz="2000">
                            <a:effectLst/>
                            <a:latin typeface="Verdana" pitchFamily="34" charset="0"/>
                            <a:ea typeface="Verdana" pitchFamily="34" charset="0"/>
                            <a:cs typeface="Times New Roman" panose="02020603050405020304" pitchFamily="18" charset="0"/>
                          </a:endParaRPr>
                        </a:p>
                      </a:txBody>
                      <a:tcPr marL="68580" marR="68580"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lnSpc>
                              <a:spcPct val="115000"/>
                            </a:lnSpc>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L="68580" marR="68580"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504385254"/>
                      </a:ext>
                    </a:extLst>
                  </a:tr>
                  <a:tr h="457200">
                    <a:tc>
                      <a:txBody>
                        <a:bodyPr/>
                        <a:lstStyle/>
                        <a:p>
                          <a:pPr marL="0" marR="0" algn="ctr">
                            <a:lnSpc>
                              <a:spcPct val="115000"/>
                            </a:lnSpc>
                            <a:spcBef>
                              <a:spcPts val="0"/>
                            </a:spcBef>
                            <a:spcAft>
                              <a:spcPts val="0"/>
                            </a:spcAft>
                          </a:pPr>
                          <a14:m>
                            <m:oMath xmlns:m="http://schemas.openxmlformats.org/officeDocument/2006/math">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𝒚</m:t>
                              </m:r>
                            </m:oMath>
                          </a14:m>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-intercept</a:t>
                          </a:r>
                          <a:endParaRPr lang="x-none" sz="2000">
                            <a:effectLst/>
                            <a:latin typeface="Verdana" pitchFamily="34" charset="0"/>
                            <a:ea typeface="Verdana" pitchFamily="34" charset="0"/>
                            <a:cs typeface="Times New Roman" panose="02020603050405020304" pitchFamily="18" charset="0"/>
                          </a:endParaRPr>
                        </a:p>
                      </a:txBody>
                      <a:tcPr marL="68580" marR="68580"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lnSpc>
                              <a:spcPct val="115000"/>
                            </a:lnSpc>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dirty="0">
                            <a:effectLst/>
                            <a:latin typeface="Verdana" pitchFamily="34" charset="0"/>
                            <a:ea typeface="Verdana" pitchFamily="34" charset="0"/>
                            <a:cs typeface="Times New Roman" panose="02020603050405020304" pitchFamily="18" charset="0"/>
                          </a:endParaRPr>
                        </a:p>
                      </a:txBody>
                      <a:tcPr marL="68580" marR="68580"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471412341"/>
                      </a:ext>
                    </a:extLst>
                  </a:tr>
                </a:tbl>
              </a:graphicData>
            </a:graphic>
          </p:graphicFrame>
        </mc:Choice>
        <mc:Fallback>
          <p:graphicFrame>
            <p:nvGraphicFramePr>
              <p:cNvPr id="3" name="Table 2">
                <a:extLst>
                  <a:ext uri="{FF2B5EF4-FFF2-40B4-BE49-F238E27FC236}">
                    <a16:creationId xmlns:a16="http://schemas.microsoft.com/office/drawing/2014/main" xmlns:a14="http://schemas.microsoft.com/office/drawing/2010/main" xmlns="" id="{F859F1E4-7D12-9441-8D02-176401AB607D}"/>
                  </a:ext>
                </a:extLst>
              </p:cNvPr>
              <p:cNvGraphicFramePr>
                <a:graphicFrameLocks noGrp="1"/>
              </p:cNvGraphicFramePr>
              <p:nvPr>
                <p:extLst>
                  <p:ext uri="{D42A27DB-BD31-4B8C-83A1-F6EECF244321}">
                    <p14:modId xmlns:p14="http://schemas.microsoft.com/office/powerpoint/2010/main" val="1976622116"/>
                  </p:ext>
                </p:extLst>
              </p:nvPr>
            </p:nvGraphicFramePr>
            <p:xfrm>
              <a:off x="3805685" y="1356815"/>
              <a:ext cx="4572000" cy="1066800"/>
            </p:xfrm>
            <a:graphic>
              <a:graphicData uri="http://schemas.openxmlformats.org/drawingml/2006/table">
                <a:tbl>
                  <a:tblPr firstRow="1" firstCol="1" bandRow="1"/>
                  <a:tblGrid>
                    <a:gridCol w="1828800">
                      <a:extLst>
                        <a:ext uri="{9D8B030D-6E8A-4147-A177-3AD203B41FA5}">
                          <a16:colId xmlns:a16="http://schemas.microsoft.com/office/drawing/2014/main" xmlns:a14="http://schemas.microsoft.com/office/drawing/2010/main" xmlns="" val="4216082452"/>
                        </a:ext>
                      </a:extLst>
                    </a:gridCol>
                    <a:gridCol w="2743200">
                      <a:extLst>
                        <a:ext uri="{9D8B030D-6E8A-4147-A177-3AD203B41FA5}">
                          <a16:colId xmlns:a16="http://schemas.microsoft.com/office/drawing/2014/main" xmlns:a14="http://schemas.microsoft.com/office/drawing/2010/main" xmlns="" val="2882500662"/>
                        </a:ext>
                      </a:extLst>
                    </a:gridCol>
                  </a:tblGrid>
                  <a:tr h="533400">
                    <a:tc>
                      <a:txBody>
                        <a:bodyPr/>
                        <a:lstStyle/>
                        <a:p>
                          <a:pPr marL="0" marR="0" algn="ctr">
                            <a:lnSpc>
                              <a:spcPct val="115000"/>
                            </a:lnSpc>
                            <a:spcBef>
                              <a:spcPts val="0"/>
                            </a:spcBef>
                            <a:spcAft>
                              <a:spcPts val="0"/>
                            </a:spcAft>
                          </a:pPr>
                          <a:r>
                            <a:rPr lang="en-US" sz="2000" b="1" dirty="0">
                              <a:effectLst/>
                              <a:latin typeface="Verdana" panose="020B0604030504040204" pitchFamily="34" charset="0"/>
                              <a:ea typeface="Verdana" pitchFamily="34" charset="0"/>
                              <a:cs typeface="Times New Roman" panose="02020603050405020304" pitchFamily="18" charset="0"/>
                            </a:rPr>
                            <a:t>slope</a:t>
                          </a:r>
                          <a:endParaRPr lang="x-none" sz="2000">
                            <a:effectLst/>
                            <a:latin typeface="Verdana" pitchFamily="34" charset="0"/>
                            <a:ea typeface="Verdana" pitchFamily="34" charset="0"/>
                            <a:cs typeface="Times New Roman" panose="02020603050405020304" pitchFamily="18" charset="0"/>
                          </a:endParaRPr>
                        </a:p>
                      </a:txBody>
                      <a:tcPr marL="68580" marR="68580"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lnSpc>
                              <a:spcPct val="115000"/>
                            </a:lnSpc>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L="68580" marR="68580"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2504385254"/>
                      </a:ext>
                    </a:extLst>
                  </a:tr>
                  <a:tr h="533400">
                    <a:tc>
                      <a:txBody>
                        <a:bodyPr/>
                        <a:lstStyle/>
                        <a:p>
                          <a:endParaRPr lang="en-US"/>
                        </a:p>
                      </a:txBody>
                      <a:tcPr marL="68580" marR="68580"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t="-102299" r="-150333" b="-5747"/>
                          </a:stretch>
                        </a:blipFill>
                      </a:tcPr>
                    </a:tc>
                    <a:tc>
                      <a:txBody>
                        <a:bodyPr/>
                        <a:lstStyle/>
                        <a:p>
                          <a:pPr marL="0" marR="0" algn="ctr">
                            <a:lnSpc>
                              <a:spcPct val="115000"/>
                            </a:lnSpc>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dirty="0">
                            <a:effectLst/>
                            <a:latin typeface="Verdana" pitchFamily="34" charset="0"/>
                            <a:ea typeface="Verdana" pitchFamily="34" charset="0"/>
                            <a:cs typeface="Times New Roman" panose="02020603050405020304" pitchFamily="18" charset="0"/>
                          </a:endParaRPr>
                        </a:p>
                      </a:txBody>
                      <a:tcPr marL="68580" marR="68580"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2471412341"/>
                      </a:ext>
                    </a:extLst>
                  </a:tr>
                </a:tbl>
              </a:graphicData>
            </a:graphic>
          </p:graphicFrame>
        </mc:Fallback>
      </mc:AlternateContent>
      <p:pic>
        <p:nvPicPr>
          <p:cNvPr id="7" name="Google Shape;311;g104476d1465_1_39"/>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139</a:t>
            </a:r>
            <a:endParaRPr i="1" dirty="0">
              <a:latin typeface="Calibri"/>
              <a:ea typeface="Calibri"/>
              <a:cs typeface="Calibri"/>
              <a:sym typeface="Calibri"/>
            </a:endParaRPr>
          </a:p>
        </p:txBody>
      </p:sp>
    </p:spTree>
    <p:extLst>
      <p:ext uri="{BB962C8B-B14F-4D97-AF65-F5344CB8AC3E}">
        <p14:creationId xmlns:p14="http://schemas.microsoft.com/office/powerpoint/2010/main" val="2876106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6" name="TextBox 5">
            <a:extLst>
              <a:ext uri="{FF2B5EF4-FFF2-40B4-BE49-F238E27FC236}">
                <a16:creationId xmlns:a16="http://schemas.microsoft.com/office/drawing/2014/main" xmlns="" id="{4B71B7AA-10E7-9B44-A591-563821260A41}"/>
              </a:ext>
            </a:extLst>
          </p:cNvPr>
          <p:cNvSpPr txBox="1"/>
          <p:nvPr/>
        </p:nvSpPr>
        <p:spPr>
          <a:xfrm>
            <a:off x="743448" y="399160"/>
            <a:ext cx="10800000" cy="5016758"/>
          </a:xfrm>
          <a:prstGeom prst="rect">
            <a:avLst/>
          </a:prstGeom>
          <a:noFill/>
        </p:spPr>
        <p:txBody>
          <a:bodyPr wrap="square" rtlCol="0">
            <a:spAutoFit/>
          </a:bodyPr>
          <a:lstStyle/>
          <a:p>
            <a:pPr marL="906463" indent="-457200" defTabSz="900113">
              <a:buFont typeface="+mj-lt"/>
              <a:buAutoNum type="alphaLcPeriod" startAt="6"/>
            </a:pPr>
            <a:r>
              <a:rPr lang="en-US" sz="2000" dirty="0">
                <a:latin typeface="Verdana" panose="020B0604030504040204" pitchFamily="34" charset="0"/>
                <a:ea typeface="Verdana" panose="020B0604030504040204" pitchFamily="34" charset="0"/>
                <a:cs typeface="Verdana" panose="020B0604030504040204" pitchFamily="34" charset="0"/>
              </a:rPr>
              <a:t>Explain whether the 𝑦-intercept makes sense in this context.</a:t>
            </a: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PH" sz="2000" dirty="0">
              <a:latin typeface="Verdana" panose="020B0604030504040204" pitchFamily="34" charset="0"/>
              <a:ea typeface="Verdana" panose="020B0604030504040204" pitchFamily="34" charset="0"/>
              <a:cs typeface="Verdana" panose="020B0604030504040204" pitchFamily="34" charset="0"/>
            </a:endParaRPr>
          </a:p>
          <a:p>
            <a:endParaRPr lang="en-PH" sz="2000" dirty="0">
              <a:latin typeface="Verdana" panose="020B0604030504040204" pitchFamily="34" charset="0"/>
              <a:ea typeface="Verdana" panose="020B0604030504040204" pitchFamily="34" charset="0"/>
              <a:cs typeface="Verdana" panose="020B0604030504040204" pitchFamily="34" charset="0"/>
            </a:endParaRPr>
          </a:p>
          <a:p>
            <a:endParaRPr lang="en-PH"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b="1" i="1" dirty="0">
                <a:latin typeface="Verdana" panose="020B0604030504040204" pitchFamily="34" charset="0"/>
                <a:ea typeface="Verdana" panose="020B0604030504040204" pitchFamily="34" charset="0"/>
                <a:cs typeface="Verdana" panose="020B0604030504040204" pitchFamily="34" charset="0"/>
              </a:rPr>
              <a:t>Extrapolation</a:t>
            </a:r>
            <a:r>
              <a:rPr lang="en-US" sz="2000" dirty="0">
                <a:latin typeface="Verdana" panose="020B0604030504040204" pitchFamily="34" charset="0"/>
                <a:ea typeface="Verdana" panose="020B0604030504040204" pitchFamily="34" charset="0"/>
                <a:cs typeface="Verdana" panose="020B0604030504040204" pitchFamily="34" charset="0"/>
              </a:rPr>
              <a:t> occurs when a model is used to make predictions for 𝑥-values that fall outside of the data set. </a:t>
            </a:r>
          </a:p>
          <a:p>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Problems may occur when extrapolating, since extending the trend line far past the 𝑥-values of the data set may make the predictions less reliable.</a:t>
            </a:r>
          </a:p>
        </p:txBody>
      </p:sp>
      <p:pic>
        <p:nvPicPr>
          <p:cNvPr id="7"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140</a:t>
            </a:r>
            <a:endParaRPr i="1" dirty="0">
              <a:latin typeface="Calibri"/>
              <a:ea typeface="Calibri"/>
              <a:cs typeface="Calibri"/>
              <a:sym typeface="Calibri"/>
            </a:endParaRPr>
          </a:p>
        </p:txBody>
      </p:sp>
    </p:spTree>
    <p:extLst>
      <p:ext uri="{BB962C8B-B14F-4D97-AF65-F5344CB8AC3E}">
        <p14:creationId xmlns:p14="http://schemas.microsoft.com/office/powerpoint/2010/main" val="42514208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6" name="TextBox 5">
            <a:extLst>
              <a:ext uri="{FF2B5EF4-FFF2-40B4-BE49-F238E27FC236}">
                <a16:creationId xmlns:a16="http://schemas.microsoft.com/office/drawing/2014/main" xmlns="" id="{4B71B7AA-10E7-9B44-A591-563821260A41}"/>
              </a:ext>
            </a:extLst>
          </p:cNvPr>
          <p:cNvSpPr txBox="1"/>
          <p:nvPr/>
        </p:nvSpPr>
        <p:spPr>
          <a:xfrm>
            <a:off x="546501" y="416578"/>
            <a:ext cx="10800000" cy="4401205"/>
          </a:xfrm>
          <a:prstGeom prst="rect">
            <a:avLst/>
          </a:prstGeom>
          <a:noFill/>
        </p:spPr>
        <p:txBody>
          <a:bodyPr wrap="square" rtlCol="0">
            <a:spAutoFit/>
          </a:bodyPr>
          <a:lstStyle/>
          <a:p>
            <a:pPr marL="457200" indent="-457200">
              <a:buFont typeface="+mj-lt"/>
              <a:buAutoNum type="arabicPeriod" startAt="3"/>
            </a:pPr>
            <a:r>
              <a:rPr lang="en-US" sz="2000" dirty="0" smtClean="0">
                <a:latin typeface="Verdana" panose="020B0604030504040204" pitchFamily="34" charset="0"/>
                <a:ea typeface="Verdana" panose="020B0604030504040204" pitchFamily="34" charset="0"/>
                <a:cs typeface="Verdana" panose="020B0604030504040204" pitchFamily="34" charset="0"/>
              </a:rPr>
              <a:t>Explain why it would not be reliable to use Tess’ model for this data set to make predictions about the fuel efficiency of hybrid or electric vehicles.  </a:t>
            </a:r>
          </a:p>
          <a:p>
            <a:pPr marL="457200" indent="-457200">
              <a:buFont typeface="+mj-lt"/>
              <a:buAutoNum type="arabicPeriod" startAt="3"/>
            </a:pPr>
            <a:endParaRPr lang="en-PH" sz="2000" dirty="0" smtClean="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r>
              <a:rPr lang="en-US" sz="2000" dirty="0">
                <a:latin typeface="Verdana" panose="020B0604030504040204" pitchFamily="34" charset="0"/>
                <a:ea typeface="Verdana" panose="020B0604030504040204" pitchFamily="34" charset="0"/>
                <a:cs typeface="Verdana" panose="020B0604030504040204" pitchFamily="34" charset="0"/>
              </a:rPr>
              <a:t>Use inequalities to express an appropriate domain and range for making predictions using the linear equation modeling the data.</a:t>
            </a:r>
          </a:p>
        </p:txBody>
      </p:sp>
      <p:graphicFrame>
        <p:nvGraphicFramePr>
          <p:cNvPr id="7" name="Table 6">
            <a:extLst>
              <a:ext uri="{FF2B5EF4-FFF2-40B4-BE49-F238E27FC236}">
                <a16:creationId xmlns:a16="http://schemas.microsoft.com/office/drawing/2014/main" xmlns="" id="{F859F1E4-7D12-9441-8D02-176401AB607D}"/>
              </a:ext>
            </a:extLst>
          </p:cNvPr>
          <p:cNvGraphicFramePr>
            <a:graphicFrameLocks noGrp="1"/>
          </p:cNvGraphicFramePr>
          <p:nvPr>
            <p:extLst>
              <p:ext uri="{D42A27DB-BD31-4B8C-83A1-F6EECF244321}">
                <p14:modId xmlns:p14="http://schemas.microsoft.com/office/powerpoint/2010/main" val="2878642828"/>
              </p:ext>
            </p:extLst>
          </p:nvPr>
        </p:nvGraphicFramePr>
        <p:xfrm>
          <a:off x="3083193" y="4387251"/>
          <a:ext cx="4572000" cy="1066800"/>
        </p:xfrm>
        <a:graphic>
          <a:graphicData uri="http://schemas.openxmlformats.org/drawingml/2006/table">
            <a:tbl>
              <a:tblPr firstRow="1" firstCol="1" bandRow="1"/>
              <a:tblGrid>
                <a:gridCol w="1828800">
                  <a:extLst>
                    <a:ext uri="{9D8B030D-6E8A-4147-A177-3AD203B41FA5}">
                      <a16:colId xmlns:a16="http://schemas.microsoft.com/office/drawing/2014/main" xmlns="" val="4216082452"/>
                    </a:ext>
                  </a:extLst>
                </a:gridCol>
                <a:gridCol w="2743200">
                  <a:extLst>
                    <a:ext uri="{9D8B030D-6E8A-4147-A177-3AD203B41FA5}">
                      <a16:colId xmlns:a16="http://schemas.microsoft.com/office/drawing/2014/main" xmlns="" val="2882500662"/>
                    </a:ext>
                  </a:extLst>
                </a:gridCol>
              </a:tblGrid>
              <a:tr h="457200">
                <a:tc>
                  <a:txBody>
                    <a:bodyPr/>
                    <a:lstStyle/>
                    <a:p>
                      <a:pPr marL="0" marR="0" algn="ctr">
                        <a:lnSpc>
                          <a:spcPct val="115000"/>
                        </a:lnSpc>
                        <a:spcBef>
                          <a:spcPts val="0"/>
                        </a:spcBef>
                        <a:spcAft>
                          <a:spcPts val="0"/>
                        </a:spcAft>
                      </a:pPr>
                      <a:r>
                        <a:rPr lang="en-US" sz="2000" b="1" dirty="0">
                          <a:effectLst/>
                          <a:latin typeface="Verdana" panose="020B0604030504040204" pitchFamily="34" charset="0"/>
                          <a:ea typeface="Times New Roman" panose="02020603050405020304" pitchFamily="18" charset="0"/>
                          <a:cs typeface="Times New Roman" panose="02020603050405020304" pitchFamily="18" charset="0"/>
                        </a:rPr>
                        <a:t>domain</a:t>
                      </a:r>
                      <a:endParaRPr lang="x-none" sz="2000">
                        <a:effectLst/>
                        <a:latin typeface="Verdana" pitchFamily="34" charset="0"/>
                        <a:ea typeface="Verdana" pitchFamily="34" charset="0"/>
                        <a:cs typeface="Times New Roman" panose="02020603050405020304" pitchFamily="18" charset="0"/>
                      </a:endParaRPr>
                    </a:p>
                  </a:txBody>
                  <a:tcPr marL="68580" marR="685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15000"/>
                        </a:lnSpc>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L="68580" marR="685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2504385254"/>
                  </a:ext>
                </a:extLst>
              </a:tr>
              <a:tr h="457200">
                <a:tc>
                  <a:txBody>
                    <a:bodyPr/>
                    <a:lstStyle/>
                    <a:p>
                      <a:pPr marL="0" marR="0" algn="ctr">
                        <a:lnSpc>
                          <a:spcPct val="115000"/>
                        </a:lnSpc>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range</a:t>
                      </a:r>
                      <a:endParaRPr lang="x-none" sz="2000">
                        <a:effectLst/>
                        <a:latin typeface="Verdana" pitchFamily="34" charset="0"/>
                        <a:ea typeface="Verdana" pitchFamily="34" charset="0"/>
                        <a:cs typeface="Times New Roman" panose="02020603050405020304" pitchFamily="18" charset="0"/>
                      </a:endParaRPr>
                    </a:p>
                  </a:txBody>
                  <a:tcPr marL="68580" marR="685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15000"/>
                        </a:lnSpc>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dirty="0">
                        <a:effectLst/>
                        <a:latin typeface="Verdana" pitchFamily="34" charset="0"/>
                        <a:ea typeface="Verdana" pitchFamily="34" charset="0"/>
                        <a:cs typeface="Times New Roman" panose="02020603050405020304" pitchFamily="18" charset="0"/>
                      </a:endParaRPr>
                    </a:p>
                  </a:txBody>
                  <a:tcPr marL="68580" marR="685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2471412341"/>
                  </a:ext>
                </a:extLst>
              </a:tr>
            </a:tbl>
          </a:graphicData>
        </a:graphic>
      </p:graphicFrame>
      <p:pic>
        <p:nvPicPr>
          <p:cNvPr id="9"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140</a:t>
            </a:r>
            <a:endParaRPr i="1" dirty="0">
              <a:latin typeface="Calibri"/>
              <a:ea typeface="Calibri"/>
              <a:cs typeface="Calibri"/>
              <a:sym typeface="Calibri"/>
            </a:endParaRPr>
          </a:p>
        </p:txBody>
      </p:sp>
    </p:spTree>
    <p:extLst>
      <p:ext uri="{BB962C8B-B14F-4D97-AF65-F5344CB8AC3E}">
        <p14:creationId xmlns:p14="http://schemas.microsoft.com/office/powerpoint/2010/main" val="6668374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4141841" y="276197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image2.png" descr="Icon&#10;&#10;Description automatically generated">
            <a:extLst>
              <a:ext uri="{FF2B5EF4-FFF2-40B4-BE49-F238E27FC236}">
                <a16:creationId xmlns:a16="http://schemas.microsoft.com/office/drawing/2014/main" xmlns="" id="{B8663E50-D763-C343-96E8-FEAEDD7FA21B}"/>
              </a:ext>
            </a:extLst>
          </p:cNvPr>
          <p:cNvPicPr/>
          <p:nvPr/>
        </p:nvPicPr>
        <p:blipFill>
          <a:blip r:embed="rId3"/>
          <a:srcRect/>
          <a:stretch>
            <a:fillRect/>
          </a:stretch>
        </p:blipFill>
        <p:spPr>
          <a:xfrm>
            <a:off x="3154180" y="2845750"/>
            <a:ext cx="1158150" cy="1158150"/>
          </a:xfrm>
          <a:prstGeom prst="rect">
            <a:avLst/>
          </a:prstGeom>
          <a:ln/>
          <a:effectLst>
            <a:outerShdw blurRad="50800" dist="38100" dir="2700000" algn="tl" rotWithShape="0">
              <a:prstClr val="black">
                <a:alpha val="40000"/>
              </a:prstClr>
            </a:outerShdw>
          </a:effectLst>
        </p:spPr>
      </p:pic>
      <p:pic>
        <p:nvPicPr>
          <p:cNvPr id="9" name="Google Shape;311;g104476d1465_1_39"/>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140</a:t>
            </a:r>
            <a:endParaRPr i="1" dirty="0">
              <a:latin typeface="Calibri"/>
              <a:ea typeface="Calibri"/>
              <a:cs typeface="Calibri"/>
              <a:sym typeface="Calibri"/>
            </a:endParaRPr>
          </a:p>
        </p:txBody>
      </p:sp>
    </p:spTree>
    <p:extLst>
      <p:ext uri="{BB962C8B-B14F-4D97-AF65-F5344CB8AC3E}">
        <p14:creationId xmlns:p14="http://schemas.microsoft.com/office/powerpoint/2010/main" val="11518889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p>
        </p:txBody>
      </p:sp>
      <mc:AlternateContent xmlns:mc="http://schemas.openxmlformats.org/markup-compatibility/2006">
        <mc:Choice xmlns:a14="http://schemas.microsoft.com/office/drawing/2010/main" Requires="a14">
          <p:sp>
            <p:nvSpPr>
              <p:cNvPr id="7" name="Google Shape;343;g103996e1364_0_321">
                <a:extLst>
                  <a:ext uri="{FF2B5EF4-FFF2-40B4-BE49-F238E27FC236}">
                    <a16:creationId xmlns:a16="http://schemas.microsoft.com/office/drawing/2014/main" xmlns="" id="{21B1DF8E-16A0-FA4E-8CEB-434668DFA68D}"/>
                  </a:ext>
                </a:extLst>
              </p:cNvPr>
              <p:cNvSpPr txBox="1">
                <a:spLocks/>
              </p:cNvSpPr>
              <p:nvPr/>
            </p:nvSpPr>
            <p:spPr>
              <a:xfrm>
                <a:off x="1294434" y="110360"/>
                <a:ext cx="108000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600" b="1" dirty="0">
                    <a:solidFill>
                      <a:srgbClr val="54B5D1"/>
                    </a:solidFill>
                    <a:latin typeface="Verdana"/>
                    <a:ea typeface="Verdana"/>
                    <a:cs typeface="Verdana"/>
                    <a:sym typeface="Verdana"/>
                  </a:rPr>
                  <a:t>3.6.3 Guided Instruction: Relating the Correlation Coefficient, </a:t>
                </a:r>
                <a14:m>
                  <m:oMath xmlns:m="http://schemas.openxmlformats.org/officeDocument/2006/math">
                    <m:r>
                      <a:rPr lang="en-US" sz="3600" b="1" i="1" dirty="0">
                        <a:solidFill>
                          <a:srgbClr val="54B5D1"/>
                        </a:solidFill>
                        <a:latin typeface="Cambria Math" panose="02040503050406030204" pitchFamily="18" charset="0"/>
                        <a:ea typeface="Verdana"/>
                        <a:cs typeface="Verdana"/>
                        <a:sym typeface="Verdana"/>
                      </a:rPr>
                      <m:t>𝒓</m:t>
                    </m:r>
                  </m:oMath>
                </a14:m>
                <a:r>
                  <a:rPr lang="en-US" sz="3600" b="1" dirty="0">
                    <a:solidFill>
                      <a:srgbClr val="54B5D1"/>
                    </a:solidFill>
                    <a:latin typeface="Verdana"/>
                    <a:ea typeface="Verdana"/>
                    <a:cs typeface="Verdana"/>
                    <a:sym typeface="Verdana"/>
                  </a:rPr>
                  <a:t>, to the Slope </a:t>
                </a:r>
                <a:r>
                  <a:rPr lang="en-US" sz="3600" b="1" dirty="0" smtClean="0">
                    <a:solidFill>
                      <a:srgbClr val="54B5D1"/>
                    </a:solidFill>
                    <a:latin typeface="Verdana"/>
                    <a:ea typeface="Verdana"/>
                    <a:cs typeface="Verdana"/>
                    <a:sym typeface="Verdana"/>
                  </a:rPr>
                  <a:t>of </a:t>
                </a:r>
                <a:r>
                  <a:rPr lang="en-US" sz="3600" b="1" dirty="0">
                    <a:solidFill>
                      <a:srgbClr val="54B5D1"/>
                    </a:solidFill>
                    <a:latin typeface="Verdana"/>
                    <a:ea typeface="Verdana"/>
                    <a:cs typeface="Verdana"/>
                    <a:sym typeface="Verdana"/>
                  </a:rPr>
                  <a:t>the Fit of the Regression Line</a:t>
                </a:r>
              </a:p>
            </p:txBody>
          </p:sp>
        </mc:Choice>
        <mc:Fallback>
          <p:sp>
            <p:nvSpPr>
              <p:cNvPr id="7" name="Google Shape;343;g103996e1364_0_321">
                <a:extLst>
                  <a:ext uri="{FF2B5EF4-FFF2-40B4-BE49-F238E27FC236}">
                    <a16:creationId xmlns:a16="http://schemas.microsoft.com/office/drawing/2014/main" xmlns:a14="http://schemas.microsoft.com/office/drawing/2010/main" xmlns="" id="{21B1DF8E-16A0-FA4E-8CEB-434668DFA68D}"/>
                  </a:ext>
                </a:extLst>
              </p:cNvPr>
              <p:cNvSpPr txBox="1">
                <a:spLocks noRot="1" noChangeAspect="1" noMove="1" noResize="1" noEditPoints="1" noAdjustHandles="1" noChangeArrowheads="1" noChangeShapeType="1" noTextEdit="1"/>
              </p:cNvSpPr>
              <p:nvPr/>
            </p:nvSpPr>
            <p:spPr>
              <a:xfrm>
                <a:off x="1294434" y="110360"/>
                <a:ext cx="10800000" cy="1325700"/>
              </a:xfrm>
              <a:prstGeom prst="rect">
                <a:avLst/>
              </a:prstGeom>
              <a:blipFill rotWithShape="1">
                <a:blip r:embed="rId3"/>
                <a:stretch>
                  <a:fillRect l="-1693" t="-20183" r="-1242" b="-26606"/>
                </a:stretch>
              </a:blipFill>
              <a:ln>
                <a:noFill/>
              </a:ln>
            </p:spPr>
            <p:txBody>
              <a:bodyPr/>
              <a:lstStyle/>
              <a:p>
                <a:r>
                  <a:rPr lang="en-PH">
                    <a:noFill/>
                  </a:rPr>
                  <a:t> </a:t>
                </a:r>
              </a:p>
            </p:txBody>
          </p:sp>
        </mc:Fallback>
      </mc:AlternateContent>
      <p:sp>
        <p:nvSpPr>
          <p:cNvPr id="4" name="Rectangle 3">
            <a:extLst>
              <a:ext uri="{FF2B5EF4-FFF2-40B4-BE49-F238E27FC236}">
                <a16:creationId xmlns:a16="http://schemas.microsoft.com/office/drawing/2014/main" xmlns="" id="{FE208A00-51E7-C544-ABDE-AE9DC3DAAB4C}"/>
              </a:ext>
            </a:extLst>
          </p:cNvPr>
          <p:cNvSpPr>
            <a:spLocks noChangeArrowheads="1"/>
          </p:cNvSpPr>
          <p:nvPr/>
        </p:nvSpPr>
        <p:spPr bwMode="auto">
          <a:xfrm>
            <a:off x="539244" y="1711858"/>
            <a:ext cx="108000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buClrTx/>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The screenshot of the line Tess formally fit to the data using technology included a statistic, 𝑟. </a:t>
            </a:r>
          </a:p>
        </p:txBody>
      </p:sp>
      <p:pic>
        <p:nvPicPr>
          <p:cNvPr id="9" name="image2.png" descr="Icon&#10;&#10;Description automatically generated">
            <a:extLst>
              <a:ext uri="{FF2B5EF4-FFF2-40B4-BE49-F238E27FC236}">
                <a16:creationId xmlns:a16="http://schemas.microsoft.com/office/drawing/2014/main" xmlns="" id="{77E23D0C-703F-9A43-BC01-6CC2541A0FCE}"/>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329982" y="399494"/>
            <a:ext cx="747431" cy="747431"/>
          </a:xfrm>
          <a:prstGeom prst="rect">
            <a:avLst/>
          </a:prstGeom>
          <a:ln/>
          <a:effectLst>
            <a:outerShdw blurRad="50800" dist="38100" dir="2700000" algn="tl" rotWithShape="0">
              <a:prstClr val="black">
                <a:alpha val="40000"/>
              </a:prstClr>
            </a:outerShdw>
          </a:effectLst>
        </p:spPr>
      </p:pic>
      <p:pic>
        <p:nvPicPr>
          <p:cNvPr id="11" name="Picture 10" descr="Graphical user interface, application&#10;&#10;Description automatically generated with medium confidence">
            <a:extLst>
              <a:ext uri="{FF2B5EF4-FFF2-40B4-BE49-F238E27FC236}">
                <a16:creationId xmlns:a16="http://schemas.microsoft.com/office/drawing/2014/main" xmlns="" id="{A3363EBC-5D12-DB47-B0C5-1D9E4E441F6E}"/>
              </a:ext>
            </a:extLst>
          </p:cNvPr>
          <p:cNvPicPr>
            <a:picLocks noChangeAspect="1"/>
          </p:cNvPicPr>
          <p:nvPr/>
        </p:nvPicPr>
        <p:blipFill>
          <a:blip r:embed="rId5"/>
          <a:stretch>
            <a:fillRect/>
          </a:stretch>
        </p:blipFill>
        <p:spPr>
          <a:xfrm>
            <a:off x="4049362" y="2821472"/>
            <a:ext cx="3380509" cy="2155857"/>
          </a:xfrm>
          <a:prstGeom prst="rect">
            <a:avLst/>
          </a:prstGeom>
          <a:ln w="28575">
            <a:solidFill>
              <a:sysClr val="windowText" lastClr="000000"/>
            </a:solidFill>
          </a:ln>
        </p:spPr>
      </p:pic>
      <p:pic>
        <p:nvPicPr>
          <p:cNvPr id="10" name="Google Shape;311;g104476d1465_1_39"/>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3"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140</a:t>
            </a:r>
            <a:endParaRPr i="1" dirty="0">
              <a:latin typeface="Calibri"/>
              <a:ea typeface="Calibri"/>
              <a:cs typeface="Calibri"/>
              <a:sym typeface="Calibri"/>
            </a:endParaRPr>
          </a:p>
        </p:txBody>
      </p:sp>
    </p:spTree>
    <p:extLst>
      <p:ext uri="{BB962C8B-B14F-4D97-AF65-F5344CB8AC3E}">
        <p14:creationId xmlns:p14="http://schemas.microsoft.com/office/powerpoint/2010/main" val="29994051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6" name="Rectangle 5">
            <a:extLst>
              <a:ext uri="{FF2B5EF4-FFF2-40B4-BE49-F238E27FC236}">
                <a16:creationId xmlns:a16="http://schemas.microsoft.com/office/drawing/2014/main" xmlns="" id="{5C5D1B9F-A752-AD42-8D60-9B883A2514E7}"/>
              </a:ext>
            </a:extLst>
          </p:cNvPr>
          <p:cNvSpPr>
            <a:spLocks noChangeArrowheads="1"/>
          </p:cNvSpPr>
          <p:nvPr/>
        </p:nvSpPr>
        <p:spPr bwMode="auto">
          <a:xfrm>
            <a:off x="555323" y="409998"/>
            <a:ext cx="108000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lvl="0" eaLnBrk="0" fontAlgn="base" hangingPunct="0">
              <a:spcBef>
                <a:spcPct val="0"/>
              </a:spcBef>
              <a:spcAft>
                <a:spcPct val="0"/>
              </a:spcAft>
              <a:buClrTx/>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The statistic, 𝑟, is the </a:t>
            </a:r>
            <a:r>
              <a:rPr lang="en-US" altLang="en-US" sz="2400" b="1" i="1"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correlation coefficient</a:t>
            </a: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It measures the strength and direction of the linear association between the variables in a set of bivariate numerical data.  </a:t>
            </a:r>
          </a:p>
        </p:txBody>
      </p:sp>
      <p:grpSp>
        <p:nvGrpSpPr>
          <p:cNvPr id="7" name="Group 6">
            <a:extLst>
              <a:ext uri="{FF2B5EF4-FFF2-40B4-BE49-F238E27FC236}">
                <a16:creationId xmlns:a16="http://schemas.microsoft.com/office/drawing/2014/main" xmlns="" id="{CC53A51A-F61A-2545-94C8-0BCD528B9E72}"/>
              </a:ext>
            </a:extLst>
          </p:cNvPr>
          <p:cNvGrpSpPr/>
          <p:nvPr/>
        </p:nvGrpSpPr>
        <p:grpSpPr>
          <a:xfrm>
            <a:off x="1879137" y="1869789"/>
            <a:ext cx="9000000" cy="3110071"/>
            <a:chOff x="-2" y="-213344"/>
            <a:chExt cx="9000000" cy="3110293"/>
          </a:xfrm>
          <a:effectLst>
            <a:outerShdw blurRad="50800" dist="38100" dir="2700000" algn="tl" rotWithShape="0">
              <a:prstClr val="black">
                <a:alpha val="40000"/>
              </a:prstClr>
            </a:outerShdw>
          </a:effectLst>
        </p:grpSpPr>
        <p:grpSp>
          <p:nvGrpSpPr>
            <p:cNvPr id="8" name="Group 7">
              <a:extLst>
                <a:ext uri="{FF2B5EF4-FFF2-40B4-BE49-F238E27FC236}">
                  <a16:creationId xmlns:a16="http://schemas.microsoft.com/office/drawing/2014/main" xmlns="" id="{8F831175-6AE6-BB45-9CFF-2BE0542A2673}"/>
                </a:ext>
              </a:extLst>
            </p:cNvPr>
            <p:cNvGrpSpPr/>
            <p:nvPr/>
          </p:nvGrpSpPr>
          <p:grpSpPr>
            <a:xfrm>
              <a:off x="-2" y="-213344"/>
              <a:ext cx="9000000" cy="3110293"/>
              <a:chOff x="2031298" y="3173464"/>
              <a:chExt cx="9000000" cy="3110293"/>
            </a:xfrm>
          </p:grpSpPr>
          <p:grpSp>
            <p:nvGrpSpPr>
              <p:cNvPr id="10" name="Group 9">
                <a:extLst>
                  <a:ext uri="{FF2B5EF4-FFF2-40B4-BE49-F238E27FC236}">
                    <a16:creationId xmlns:a16="http://schemas.microsoft.com/office/drawing/2014/main" xmlns="" id="{6C5A4B8A-DCBE-404B-BE59-001078672EBD}"/>
                  </a:ext>
                </a:extLst>
              </p:cNvPr>
              <p:cNvGrpSpPr/>
              <p:nvPr/>
            </p:nvGrpSpPr>
            <p:grpSpPr>
              <a:xfrm>
                <a:off x="2031298" y="3173464"/>
                <a:ext cx="9000000" cy="3110293"/>
                <a:chOff x="-2" y="-213344"/>
                <a:chExt cx="9000000" cy="3110293"/>
              </a:xfrm>
            </p:grpSpPr>
            <p:sp>
              <p:nvSpPr>
                <p:cNvPr id="11" name="Rectangle 10">
                  <a:extLst>
                    <a:ext uri="{FF2B5EF4-FFF2-40B4-BE49-F238E27FC236}">
                      <a16:creationId xmlns:a16="http://schemas.microsoft.com/office/drawing/2014/main" xmlns="" id="{DF9C5F2A-7156-EF40-A619-A08DC8CEEA74}"/>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libri" panose="020F0502020204030204" pitchFamily="34" charset="0"/>
                      <a:ea typeface="Times New Roman" panose="02020603050405020304" pitchFamily="18" charset="0"/>
                      <a:cs typeface="Times New Roman" panose="02020603050405020304" pitchFamily="18" charset="0"/>
                    </a:rPr>
                    <a:t> </a:t>
                  </a:r>
                  <a:endParaRPr lang="x-none" sz="1200">
                    <a:latin typeface="Calibri" panose="020F0502020204030204" pitchFamily="34" charset="0"/>
                    <a:ea typeface="Times New Roman" panose="02020603050405020304" pitchFamily="18" charset="0"/>
                    <a:cs typeface="Times New Roman" panose="02020603050405020304" pitchFamily="18" charset="0"/>
                  </a:endParaRPr>
                </a:p>
              </p:txBody>
            </p:sp>
            <p:sp>
              <p:nvSpPr>
                <p:cNvPr id="13" name="Rectangle 12">
                  <a:extLst>
                    <a:ext uri="{FF2B5EF4-FFF2-40B4-BE49-F238E27FC236}">
                      <a16:creationId xmlns:a16="http://schemas.microsoft.com/office/drawing/2014/main" xmlns="" id="{F03466C2-B4EB-1C4F-9E62-10A4095C5147}"/>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libri" panose="020F0502020204030204" pitchFamily="34" charset="0"/>
                      <a:ea typeface="Times New Roman" panose="02020603050405020304" pitchFamily="18" charset="0"/>
                      <a:cs typeface="Times New Roman" panose="02020603050405020304" pitchFamily="18" charset="0"/>
                    </a:rPr>
                    <a:t> </a:t>
                  </a:r>
                  <a:endParaRPr lang="x-none" sz="1200">
                    <a:latin typeface="Calibri" panose="020F0502020204030204" pitchFamily="34" charset="0"/>
                    <a:ea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14" name="Rounded Rectangle 13">
                      <a:extLst>
                        <a:ext uri="{FF2B5EF4-FFF2-40B4-BE49-F238E27FC236}">
                          <a16:creationId xmlns:a16="http://schemas.microsoft.com/office/drawing/2014/main" xmlns="" id="{6832F9F8-7B7B-0D49-8AF6-D63C13682B65}"/>
                        </a:ext>
                      </a:extLst>
                    </p:cNvPr>
                    <p:cNvSpPr/>
                    <p:nvPr/>
                  </p:nvSpPr>
                  <p:spPr>
                    <a:xfrm>
                      <a:off x="-2" y="-213344"/>
                      <a:ext cx="9000000" cy="3110293"/>
                    </a:xfrm>
                    <a:prstGeom prst="roundRect">
                      <a:avLst>
                        <a:gd name="adj" fmla="val 16667"/>
                      </a:avLst>
                    </a:prstGeom>
                    <a:solidFill>
                      <a:srgbClr val="B8E6F5"/>
                    </a:solidFill>
                    <a:ln>
                      <a:noFill/>
                    </a:ln>
                  </p:spPr>
                  <p:txBody>
                    <a:bodyPr spcFirstLastPara="1" wrap="square" lIns="91425" tIns="91440" rIns="91425" bIns="0" anchor="t" anchorCtr="0">
                      <a:spAutoFit/>
                    </a:bodyPr>
                    <a:lstStyle/>
                    <a:p>
                      <a:pPr marL="742950">
                        <a:spcAft>
                          <a:spcPts val="1000"/>
                        </a:spcAft>
                      </a:pPr>
                      <a:r>
                        <a:rPr lang="en-US" sz="2000" dirty="0">
                          <a:solidFill>
                            <a:srgbClr val="0075BF"/>
                          </a:solidFill>
                          <a:latin typeface="Verdana" panose="020B0604030504040204" pitchFamily="34" charset="0"/>
                          <a:ea typeface="Verdana" panose="020B0604030504040204" pitchFamily="34" charset="0"/>
                          <a:cs typeface="Verdana" panose="020B0604030504040204" pitchFamily="34" charset="0"/>
                        </a:rPr>
                        <a:t>The </a:t>
                      </a:r>
                      <a:r>
                        <a:rPr lang="en-US" sz="2000" b="1" dirty="0">
                          <a:solidFill>
                            <a:srgbClr val="0075BF"/>
                          </a:solidFill>
                          <a:latin typeface="Verdana" panose="020B0604030504040204" pitchFamily="34" charset="0"/>
                          <a:ea typeface="Verdana" panose="020B0604030504040204" pitchFamily="34" charset="0"/>
                          <a:cs typeface="Verdana" panose="020B0604030504040204" pitchFamily="34" charset="0"/>
                        </a:rPr>
                        <a:t>correlation coefficient</a:t>
                      </a:r>
                      <a:r>
                        <a:rPr lang="en-US" sz="2000" dirty="0">
                          <a:solidFill>
                            <a:srgbClr val="0075BF"/>
                          </a:solidFill>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i="1">
                              <a:solidFill>
                                <a:srgbClr val="0075BF"/>
                              </a:solidFill>
                              <a:latin typeface="Cambria Math" panose="02040503050406030204" pitchFamily="18" charset="0"/>
                              <a:ea typeface="Verdana" panose="020B0604030504040204" pitchFamily="34" charset="0"/>
                              <a:cs typeface="Verdana" panose="020B0604030504040204" pitchFamily="34" charset="0"/>
                            </a:rPr>
                            <m:t>𝑟</m:t>
                          </m:r>
                        </m:oMath>
                      </a14:m>
                      <a:r>
                        <a:rPr lang="en-US" sz="2000" dirty="0">
                          <a:solidFill>
                            <a:srgbClr val="0075BF"/>
                          </a:solidFill>
                          <a:latin typeface="Verdana" panose="020B0604030504040204" pitchFamily="34" charset="0"/>
                          <a:ea typeface="Verdana" panose="020B0604030504040204" pitchFamily="34" charset="0"/>
                          <a:cs typeface="Verdana" panose="020B0604030504040204" pitchFamily="34" charset="0"/>
                        </a:rPr>
                        <a:t>, is a unitless value between </a:t>
                      </a:r>
                      <a14:m>
                        <m:oMath xmlns:m="http://schemas.openxmlformats.org/officeDocument/2006/math">
                          <m:r>
                            <a:rPr lang="en-US" sz="2000" i="1">
                              <a:solidFill>
                                <a:srgbClr val="0075BF"/>
                              </a:solidFill>
                              <a:latin typeface="Cambria Math" panose="02040503050406030204" pitchFamily="18" charset="0"/>
                              <a:ea typeface="Verdana" panose="020B0604030504040204" pitchFamily="34" charset="0"/>
                              <a:cs typeface="Verdana" panose="020B0604030504040204" pitchFamily="34" charset="0"/>
                            </a:rPr>
                            <m:t>−1</m:t>
                          </m:r>
                        </m:oMath>
                      </a14:m>
                      <a:r>
                        <a:rPr lang="en-US" sz="2000" dirty="0">
                          <a:solidFill>
                            <a:srgbClr val="0075BF"/>
                          </a:solidFill>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000" i="1">
                              <a:solidFill>
                                <a:srgbClr val="0075BF"/>
                              </a:solidFill>
                              <a:latin typeface="Cambria Math" panose="02040503050406030204" pitchFamily="18" charset="0"/>
                              <a:ea typeface="Verdana" panose="020B0604030504040204" pitchFamily="34" charset="0"/>
                              <a:cs typeface="Verdana" panose="020B0604030504040204" pitchFamily="34" charset="0"/>
                            </a:rPr>
                            <m:t>1</m:t>
                          </m:r>
                        </m:oMath>
                      </a14:m>
                      <a:r>
                        <a:rPr lang="en-US" sz="2000" dirty="0">
                          <a:solidFill>
                            <a:srgbClr val="0075BF"/>
                          </a:solidFill>
                          <a:latin typeface="Verdana" panose="020B0604030504040204" pitchFamily="34" charset="0"/>
                          <a:ea typeface="Verdana" panose="020B0604030504040204" pitchFamily="34" charset="0"/>
                          <a:cs typeface="Verdana" panose="020B0604030504040204" pitchFamily="34" charset="0"/>
                        </a:rPr>
                        <a:t>. </a:t>
                      </a:r>
                      <a:endParaRPr lang="x-none" sz="2000" dirty="0">
                        <a:latin typeface="Verdana" pitchFamily="34" charset="0"/>
                        <a:ea typeface="Verdana" pitchFamily="34" charset="0"/>
                        <a:cs typeface="Times New Roman" panose="02020603050405020304" pitchFamily="18" charset="0"/>
                      </a:endParaRPr>
                    </a:p>
                    <a:p>
                      <a:pPr marL="1082675" indent="-339725">
                        <a:buClr>
                          <a:srgbClr val="0070C0"/>
                        </a:buClr>
                        <a:buFont typeface="Arial" panose="020B0604020202020204" pitchFamily="34" charset="0"/>
                        <a:buChar char="•"/>
                      </a:pPr>
                      <a:r>
                        <a:rPr lang="en-US" sz="2000" dirty="0">
                          <a:solidFill>
                            <a:srgbClr val="0075BF"/>
                          </a:solidFill>
                          <a:latin typeface="Verdana" panose="020B0604030504040204" pitchFamily="34" charset="0"/>
                          <a:ea typeface="Verdana" panose="020B0604030504040204" pitchFamily="34" charset="0"/>
                          <a:cs typeface="Verdana" panose="020B0604030504040204" pitchFamily="34" charset="0"/>
                        </a:rPr>
                        <a:t>A correlation coefficient of </a:t>
                      </a:r>
                      <a14:m>
                        <m:oMath xmlns:m="http://schemas.openxmlformats.org/officeDocument/2006/math">
                          <m:r>
                            <a:rPr lang="en-US" sz="2000" i="1">
                              <a:solidFill>
                                <a:srgbClr val="0075BF"/>
                              </a:solidFill>
                              <a:latin typeface="Cambria Math" panose="02040503050406030204" pitchFamily="18" charset="0"/>
                              <a:ea typeface="Verdana" panose="020B0604030504040204" pitchFamily="34" charset="0"/>
                              <a:cs typeface="Verdana" panose="020B0604030504040204" pitchFamily="34" charset="0"/>
                            </a:rPr>
                            <m:t>1</m:t>
                          </m:r>
                        </m:oMath>
                      </a14:m>
                      <a:r>
                        <a:rPr lang="en-US" sz="2000" dirty="0">
                          <a:solidFill>
                            <a:srgbClr val="0075BF"/>
                          </a:solidFill>
                          <a:latin typeface="Verdana" panose="020B0604030504040204" pitchFamily="34" charset="0"/>
                          <a:ea typeface="Verdana" panose="020B0604030504040204" pitchFamily="34" charset="0"/>
                          <a:cs typeface="Verdana" panose="020B0604030504040204" pitchFamily="34" charset="0"/>
                        </a:rPr>
                        <a:t> represents a perfect linear relationship with a positive direction.</a:t>
                      </a:r>
                      <a:endParaRPr lang="x-none" sz="2000" dirty="0">
                        <a:latin typeface="Verdana" pitchFamily="34" charset="0"/>
                        <a:ea typeface="Verdana" pitchFamily="34" charset="0"/>
                        <a:cs typeface="Times New Roman" panose="02020603050405020304" pitchFamily="18" charset="0"/>
                      </a:endParaRPr>
                    </a:p>
                    <a:p>
                      <a:pPr marL="1082675" indent="-339725">
                        <a:buClr>
                          <a:srgbClr val="0070C0"/>
                        </a:buClr>
                        <a:buFont typeface="Arial" panose="020B0604020202020204" pitchFamily="34" charset="0"/>
                        <a:buChar char="•"/>
                      </a:pPr>
                      <a:r>
                        <a:rPr lang="en-US" sz="2000" dirty="0">
                          <a:solidFill>
                            <a:srgbClr val="0075BF"/>
                          </a:solidFill>
                          <a:latin typeface="Verdana" panose="020B0604030504040204" pitchFamily="34" charset="0"/>
                          <a:ea typeface="Verdana" panose="020B0604030504040204" pitchFamily="34" charset="0"/>
                          <a:cs typeface="Verdana" panose="020B0604030504040204" pitchFamily="34" charset="0"/>
                        </a:rPr>
                        <a:t>A correlation coefficient of </a:t>
                      </a:r>
                      <a14:m>
                        <m:oMath xmlns:m="http://schemas.openxmlformats.org/officeDocument/2006/math">
                          <m:r>
                            <a:rPr lang="en-US" sz="2000" i="1">
                              <a:solidFill>
                                <a:srgbClr val="0075BF"/>
                              </a:solidFill>
                              <a:latin typeface="Cambria Math" panose="02040503050406030204" pitchFamily="18" charset="0"/>
                              <a:ea typeface="Verdana" panose="020B0604030504040204" pitchFamily="34" charset="0"/>
                              <a:cs typeface="Verdana" panose="020B0604030504040204" pitchFamily="34" charset="0"/>
                            </a:rPr>
                            <m:t>−1</m:t>
                          </m:r>
                        </m:oMath>
                      </a14:m>
                      <a:r>
                        <a:rPr lang="en-US" sz="2000" dirty="0">
                          <a:solidFill>
                            <a:srgbClr val="0075BF"/>
                          </a:solidFill>
                          <a:latin typeface="Verdana" panose="020B0604030504040204" pitchFamily="34" charset="0"/>
                          <a:ea typeface="Verdana" panose="020B0604030504040204" pitchFamily="34" charset="0"/>
                          <a:cs typeface="Verdana" panose="020B0604030504040204" pitchFamily="34" charset="0"/>
                        </a:rPr>
                        <a:t> represents a perfect linear relationship with a negative direction.</a:t>
                      </a:r>
                      <a:endParaRPr lang="x-none" sz="2000" dirty="0">
                        <a:latin typeface="Verdana" pitchFamily="34" charset="0"/>
                        <a:ea typeface="Verdana" pitchFamily="34" charset="0"/>
                        <a:cs typeface="Times New Roman" panose="02020603050405020304" pitchFamily="18" charset="0"/>
                      </a:endParaRPr>
                    </a:p>
                    <a:p>
                      <a:pPr marL="1082675" indent="-339725">
                        <a:spcAft>
                          <a:spcPts val="1000"/>
                        </a:spcAft>
                        <a:buClr>
                          <a:srgbClr val="0070C0"/>
                        </a:buClr>
                        <a:buFont typeface="Arial" panose="020B0604020202020204" pitchFamily="34" charset="0"/>
                        <a:buChar char="•"/>
                      </a:pPr>
                      <a:r>
                        <a:rPr lang="en-US" sz="2000" dirty="0">
                          <a:solidFill>
                            <a:srgbClr val="0075BF"/>
                          </a:solidFill>
                          <a:latin typeface="Verdana" panose="020B0604030504040204" pitchFamily="34" charset="0"/>
                          <a:ea typeface="Verdana" panose="020B0604030504040204" pitchFamily="34" charset="0"/>
                          <a:cs typeface="Verdana" panose="020B0604030504040204" pitchFamily="34" charset="0"/>
                        </a:rPr>
                        <a:t>The closer the correlation coefficient is to </a:t>
                      </a:r>
                      <a14:m>
                        <m:oMath xmlns:m="http://schemas.openxmlformats.org/officeDocument/2006/math">
                          <m:r>
                            <a:rPr lang="en-US" sz="2000" i="1">
                              <a:solidFill>
                                <a:srgbClr val="0075BF"/>
                              </a:solidFill>
                              <a:latin typeface="Cambria Math" panose="02040503050406030204" pitchFamily="18" charset="0"/>
                              <a:ea typeface="Verdana" panose="020B0604030504040204" pitchFamily="34" charset="0"/>
                              <a:cs typeface="Verdana" panose="020B0604030504040204" pitchFamily="34" charset="0"/>
                            </a:rPr>
                            <m:t>0</m:t>
                          </m:r>
                        </m:oMath>
                      </a14:m>
                      <a:r>
                        <a:rPr lang="en-US" sz="2000" dirty="0">
                          <a:solidFill>
                            <a:srgbClr val="0075BF"/>
                          </a:solidFill>
                          <a:latin typeface="Verdana" panose="020B0604030504040204" pitchFamily="34" charset="0"/>
                          <a:ea typeface="Verdana" panose="020B0604030504040204" pitchFamily="34" charset="0"/>
                          <a:cs typeface="Verdana" panose="020B0604030504040204" pitchFamily="34" charset="0"/>
                        </a:rPr>
                        <a:t>, the weaker the linear association between the variables.</a:t>
                      </a:r>
                      <a:endParaRPr lang="x-none" sz="2000" dirty="0">
                        <a:latin typeface="Verdana" pitchFamily="34" charset="0"/>
                        <a:ea typeface="Verdana" pitchFamily="34" charset="0"/>
                        <a:cs typeface="Times New Roman" panose="02020603050405020304" pitchFamily="18" charset="0"/>
                      </a:endParaRPr>
                    </a:p>
                  </p:txBody>
                </p:sp>
              </mc:Choice>
              <mc:Fallback>
                <p:sp>
                  <p:nvSpPr>
                    <p:cNvPr id="14" name="Rounded Rectangle 13">
                      <a:extLst>
                        <a:ext uri="{FF2B5EF4-FFF2-40B4-BE49-F238E27FC236}">
                          <a16:creationId xmlns:a16="http://schemas.microsoft.com/office/drawing/2014/main" xmlns:a14="http://schemas.microsoft.com/office/drawing/2010/main" xmlns="" id="{6832F9F8-7B7B-0D49-8AF6-D63C13682B65}"/>
                        </a:ext>
                      </a:extLst>
                    </p:cNvPr>
                    <p:cNvSpPr>
                      <a:spLocks noRot="1" noChangeAspect="1" noMove="1" noResize="1" noEditPoints="1" noAdjustHandles="1" noChangeArrowheads="1" noChangeShapeType="1" noTextEdit="1"/>
                    </p:cNvSpPr>
                    <p:nvPr/>
                  </p:nvSpPr>
                  <p:spPr>
                    <a:xfrm>
                      <a:off x="-2" y="-213344"/>
                      <a:ext cx="9000000" cy="3110293"/>
                    </a:xfrm>
                    <a:prstGeom prst="roundRect">
                      <a:avLst>
                        <a:gd name="adj" fmla="val 16667"/>
                      </a:avLst>
                    </a:prstGeom>
                    <a:blipFill rotWithShape="1">
                      <a:blip r:embed="rId3"/>
                      <a:stretch>
                        <a:fillRect/>
                      </a:stretch>
                    </a:blipFill>
                    <a:ln>
                      <a:noFill/>
                    </a:ln>
                  </p:spPr>
                  <p:txBody>
                    <a:bodyPr/>
                    <a:lstStyle/>
                    <a:p>
                      <a:r>
                        <a:rPr lang="en-PH">
                          <a:noFill/>
                        </a:rPr>
                        <a:t> </a:t>
                      </a:r>
                    </a:p>
                  </p:txBody>
                </p:sp>
              </mc:Fallback>
            </mc:AlternateContent>
          </p:grpSp>
        </p:grpSp>
        <p:pic>
          <p:nvPicPr>
            <p:cNvPr id="9" name="image15.png" descr="Icon&#10;&#10;Description automatically generated">
              <a:extLst>
                <a:ext uri="{FF2B5EF4-FFF2-40B4-BE49-F238E27FC236}">
                  <a16:creationId xmlns:a16="http://schemas.microsoft.com/office/drawing/2014/main" xmlns="" id="{125A9A1F-C7A2-9946-82B1-2DB2D38672BC}"/>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245562" y="105302"/>
              <a:ext cx="539750" cy="539750"/>
            </a:xfrm>
            <a:prstGeom prst="rect">
              <a:avLst/>
            </a:prstGeom>
            <a:ln/>
            <a:effectLst>
              <a:outerShdw blurRad="50800" dist="38100" dir="2700000" algn="tl" rotWithShape="0">
                <a:prstClr val="black">
                  <a:alpha val="40000"/>
                </a:prstClr>
              </a:outerShdw>
            </a:effectLst>
          </p:spPr>
        </p:pic>
      </p:grpSp>
      <p:pic>
        <p:nvPicPr>
          <p:cNvPr id="15" name="Google Shape;311;g104476d1465_1_39"/>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6"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140</a:t>
            </a:r>
            <a:endParaRPr i="1" dirty="0">
              <a:latin typeface="Calibri"/>
              <a:ea typeface="Calibri"/>
              <a:cs typeface="Calibri"/>
              <a:sym typeface="Calibri"/>
            </a:endParaRPr>
          </a:p>
        </p:txBody>
      </p:sp>
    </p:spTree>
    <p:extLst>
      <p:ext uri="{BB962C8B-B14F-4D97-AF65-F5344CB8AC3E}">
        <p14:creationId xmlns:p14="http://schemas.microsoft.com/office/powerpoint/2010/main" val="2028518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xmlns="" id="{8AE5E1E0-A54D-BE42-84B5-F917038ADE99}"/>
                  </a:ext>
                </a:extLst>
              </p:cNvPr>
              <p:cNvSpPr txBox="1"/>
              <p:nvPr/>
            </p:nvSpPr>
            <p:spPr>
              <a:xfrm>
                <a:off x="522141" y="332669"/>
                <a:ext cx="10800000" cy="4093428"/>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Complete the statement to interpret the correlation coefficient for </a:t>
                </a:r>
                <a:r>
                  <a:rPr lang="en-US" sz="2000" dirty="0" err="1">
                    <a:latin typeface="Verdana" panose="020B0604030504040204" pitchFamily="34" charset="0"/>
                    <a:ea typeface="Verdana" panose="020B0604030504040204" pitchFamily="34" charset="0"/>
                    <a:cs typeface="Verdana" panose="020B0604030504040204" pitchFamily="34" charset="0"/>
                  </a:rPr>
                  <a:t>Tess’</a:t>
                </a:r>
                <a:r>
                  <a:rPr lang="en-US" sz="2000" dirty="0">
                    <a:latin typeface="Verdana" panose="020B0604030504040204" pitchFamily="34" charset="0"/>
                    <a:ea typeface="Verdana" panose="020B0604030504040204" pitchFamily="34" charset="0"/>
                    <a:cs typeface="Verdana" panose="020B0604030504040204" pitchFamily="34" charset="0"/>
                  </a:rPr>
                  <a:t> linear model.</a:t>
                </a:r>
              </a:p>
              <a:p>
                <a:pPr marL="457200"/>
                <a:endParaRPr lang="en-US" sz="2000" dirty="0" smtClean="0">
                  <a:latin typeface="Verdana" panose="020B0604030504040204" pitchFamily="34" charset="0"/>
                  <a:ea typeface="Verdana" panose="020B0604030504040204" pitchFamily="34" charset="0"/>
                  <a:cs typeface="Verdana" panose="020B0604030504040204" pitchFamily="34" charset="0"/>
                </a:endParaRPr>
              </a:p>
              <a:p>
                <a:pPr marL="457200"/>
                <a:r>
                  <a:rPr lang="en-US" sz="2000" dirty="0" smtClean="0">
                    <a:latin typeface="Verdana" panose="020B0604030504040204" pitchFamily="34" charset="0"/>
                    <a:ea typeface="Verdana" panose="020B0604030504040204" pitchFamily="34" charset="0"/>
                    <a:cs typeface="Verdana" panose="020B0604030504040204" pitchFamily="34" charset="0"/>
                  </a:rPr>
                  <a:t>The </a:t>
                </a:r>
                <a:r>
                  <a:rPr lang="en-US" sz="2000" dirty="0">
                    <a:latin typeface="Verdana" panose="020B0604030504040204" pitchFamily="34" charset="0"/>
                    <a:ea typeface="Verdana" panose="020B0604030504040204" pitchFamily="34" charset="0"/>
                    <a:cs typeface="Verdana" panose="020B0604030504040204" pitchFamily="34" charset="0"/>
                  </a:rPr>
                  <a:t>correlation coefficient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−0.9075</m:t>
                    </m:r>
                  </m:oMath>
                </a14:m>
                <a:r>
                  <a:rPr lang="en-US" sz="2000" dirty="0">
                    <a:latin typeface="Verdana" panose="020B0604030504040204" pitchFamily="34" charset="0"/>
                    <a:ea typeface="Verdana" panose="020B0604030504040204" pitchFamily="34" charset="0"/>
                    <a:cs typeface="Verdana" panose="020B0604030504040204" pitchFamily="34" charset="0"/>
                  </a:rPr>
                  <a:t> means there is </a:t>
                </a:r>
                <a:r>
                  <a:rPr lang="en-US" sz="2000" dirty="0" smtClean="0">
                    <a:latin typeface="Verdana" panose="020B0604030504040204" pitchFamily="34" charset="0"/>
                    <a:ea typeface="Verdana" panose="020B0604030504040204" pitchFamily="34" charset="0"/>
                    <a:cs typeface="Verdana" panose="020B0604030504040204" pitchFamily="34" charset="0"/>
                  </a:rPr>
                  <a:t>a</a:t>
                </a:r>
                <a:br>
                  <a:rPr lang="en-US" sz="2000" dirty="0" smtClean="0">
                    <a:latin typeface="Verdana" panose="020B0604030504040204" pitchFamily="34" charset="0"/>
                    <a:ea typeface="Verdana" panose="020B0604030504040204" pitchFamily="34" charset="0"/>
                    <a:cs typeface="Verdana" panose="020B0604030504040204" pitchFamily="34" charset="0"/>
                  </a:rPr>
                </a:br>
                <a:r>
                  <a:rPr lang="en-US" sz="2000" dirty="0" smtClean="0">
                    <a:latin typeface="Verdana" panose="020B0604030504040204" pitchFamily="34" charset="0"/>
                    <a:ea typeface="Verdana" panose="020B0604030504040204" pitchFamily="34" charset="0"/>
                    <a:cs typeface="Verdana" panose="020B0604030504040204" pitchFamily="34" charset="0"/>
                  </a:rPr>
                  <a:t/>
                </a:r>
                <a:br>
                  <a:rPr lang="en-US" sz="2000" dirty="0" smtClean="0">
                    <a:latin typeface="Verdana" panose="020B0604030504040204" pitchFamily="34" charset="0"/>
                    <a:ea typeface="Verdana" panose="020B0604030504040204" pitchFamily="34" charset="0"/>
                    <a:cs typeface="Verdana" panose="020B0604030504040204" pitchFamily="34" charset="0"/>
                  </a:rPr>
                </a:br>
                <a:r>
                  <a:rPr lang="en-US" sz="2000" dirty="0" smtClean="0">
                    <a:latin typeface="Verdana" panose="020B0604030504040204" pitchFamily="34" charset="0"/>
                    <a:ea typeface="Verdana" panose="020B0604030504040204" pitchFamily="34" charset="0"/>
                    <a:cs typeface="Verdana" panose="020B0604030504040204" pitchFamily="34" charset="0"/>
                  </a:rPr>
                  <a:t/>
                </a:r>
                <a:br>
                  <a:rPr lang="en-US" sz="2000" dirty="0" smtClean="0">
                    <a:latin typeface="Verdana" panose="020B0604030504040204" pitchFamily="34" charset="0"/>
                    <a:ea typeface="Verdana" panose="020B0604030504040204" pitchFamily="34" charset="0"/>
                    <a:cs typeface="Verdana" panose="020B0604030504040204" pitchFamily="34" charset="0"/>
                  </a:rPr>
                </a:br>
                <a:r>
                  <a:rPr lang="en-US" sz="2000" dirty="0" smtClean="0">
                    <a:latin typeface="Verdana" panose="020B0604030504040204" pitchFamily="34" charset="0"/>
                    <a:ea typeface="Verdana" panose="020B0604030504040204" pitchFamily="34" charset="0"/>
                    <a:cs typeface="Verdana" panose="020B0604030504040204" pitchFamily="34" charset="0"/>
                  </a:rPr>
                  <a:t>association </a:t>
                </a:r>
                <a:r>
                  <a:rPr lang="en-US" sz="2000" dirty="0">
                    <a:latin typeface="Verdana" panose="020B0604030504040204" pitchFamily="34" charset="0"/>
                    <a:ea typeface="Verdana" panose="020B0604030504040204" pitchFamily="34" charset="0"/>
                    <a:cs typeface="Verdana" panose="020B0604030504040204" pitchFamily="34" charset="0"/>
                  </a:rPr>
                  <a:t>between a car’s mass and its fuel efficiency because the value </a:t>
                </a:r>
                <a:r>
                  <a:rPr lang="en-US" sz="2000" dirty="0" smtClean="0">
                    <a:latin typeface="Verdana" panose="020B0604030504040204" pitchFamily="34" charset="0"/>
                    <a:ea typeface="Verdana" panose="020B0604030504040204" pitchFamily="34" charset="0"/>
                    <a:cs typeface="Verdana" panose="020B0604030504040204" pitchFamily="34" charset="0"/>
                  </a:rPr>
                  <a:t/>
                </a:r>
                <a:br>
                  <a:rPr lang="en-US" sz="2000" dirty="0" smtClean="0">
                    <a:latin typeface="Verdana" panose="020B0604030504040204" pitchFamily="34" charset="0"/>
                    <a:ea typeface="Verdana" panose="020B0604030504040204" pitchFamily="34" charset="0"/>
                    <a:cs typeface="Verdana" panose="020B0604030504040204" pitchFamily="34" charset="0"/>
                  </a:rPr>
                </a:br>
                <a:r>
                  <a:rPr lang="en-US" sz="2000" dirty="0" smtClean="0">
                    <a:latin typeface="Verdana" panose="020B0604030504040204" pitchFamily="34" charset="0"/>
                    <a:ea typeface="Verdana" panose="020B0604030504040204" pitchFamily="34" charset="0"/>
                    <a:cs typeface="Verdana" panose="020B0604030504040204" pitchFamily="34" charset="0"/>
                  </a:rPr>
                  <a:t/>
                </a:r>
                <a:br>
                  <a:rPr lang="en-US" sz="2000" dirty="0" smtClean="0">
                    <a:latin typeface="Verdana" panose="020B0604030504040204" pitchFamily="34" charset="0"/>
                    <a:ea typeface="Verdana" panose="020B0604030504040204" pitchFamily="34" charset="0"/>
                    <a:cs typeface="Verdana" panose="020B0604030504040204" pitchFamily="34" charset="0"/>
                  </a:rPr>
                </a:br>
                <a:r>
                  <a:rPr lang="en-US" sz="2000" dirty="0" smtClean="0">
                    <a:latin typeface="Verdana" panose="020B0604030504040204" pitchFamily="34" charset="0"/>
                    <a:ea typeface="Verdana" panose="020B0604030504040204" pitchFamily="34" charset="0"/>
                    <a:cs typeface="Verdana" panose="020B0604030504040204" pitchFamily="34" charset="0"/>
                  </a:rPr>
                  <a:t/>
                </a:r>
                <a:br>
                  <a:rPr lang="en-US" sz="2000" dirty="0" smtClean="0">
                    <a:latin typeface="Verdana" panose="020B0604030504040204" pitchFamily="34" charset="0"/>
                    <a:ea typeface="Verdana" panose="020B0604030504040204" pitchFamily="34" charset="0"/>
                    <a:cs typeface="Verdana" panose="020B0604030504040204" pitchFamily="34" charset="0"/>
                  </a:rPr>
                </a:br>
                <a:r>
                  <a:rPr lang="en-US" sz="2000" dirty="0" smtClean="0">
                    <a:latin typeface="Verdana" panose="020B0604030504040204" pitchFamily="34" charset="0"/>
                    <a:ea typeface="Verdana" panose="020B0604030504040204" pitchFamily="34" charset="0"/>
                    <a:cs typeface="Verdana" panose="020B0604030504040204" pitchFamily="34" charset="0"/>
                  </a:rPr>
                  <a:t>of </a:t>
                </a:r>
                <a:r>
                  <a:rPr lang="en-US" sz="2000" dirty="0">
                    <a:latin typeface="Verdana" panose="020B0604030504040204" pitchFamily="34" charset="0"/>
                    <a:ea typeface="Verdana" panose="020B0604030504040204" pitchFamily="34" charset="0"/>
                    <a:cs typeface="Verdana" panose="020B0604030504040204" pitchFamily="34" charset="0"/>
                  </a:rPr>
                  <a:t>𝑟 </a:t>
                </a:r>
                <a:r>
                  <a:rPr lang="en-US" sz="2000" dirty="0" smtClean="0">
                    <a:latin typeface="Verdana" panose="020B0604030504040204" pitchFamily="34" charset="0"/>
                    <a:ea typeface="Verdana" panose="020B0604030504040204" pitchFamily="34" charset="0"/>
                    <a:cs typeface="Verdana" panose="020B0604030504040204" pitchFamily="34" charset="0"/>
                  </a:rPr>
                  <a:t>is close to                     The </a:t>
                </a:r>
                <a:r>
                  <a:rPr lang="en-US" sz="2000" dirty="0">
                    <a:latin typeface="Verdana" panose="020B0604030504040204" pitchFamily="34" charset="0"/>
                    <a:ea typeface="Verdana" panose="020B0604030504040204" pitchFamily="34" charset="0"/>
                    <a:cs typeface="Verdana" panose="020B0604030504040204" pitchFamily="34" charset="0"/>
                  </a:rPr>
                  <a:t>sign of 𝑟 </a:t>
                </a:r>
                <a:r>
                  <a:rPr lang="en-US" sz="2000" dirty="0" smtClean="0">
                    <a:latin typeface="Verdana" panose="020B0604030504040204" pitchFamily="34" charset="0"/>
                    <a:ea typeface="Verdana" panose="020B0604030504040204" pitchFamily="34" charset="0"/>
                    <a:cs typeface="Verdana" panose="020B0604030504040204" pitchFamily="34" charset="0"/>
                  </a:rPr>
                  <a:t>is		         which </a:t>
                </a:r>
                <a:r>
                  <a:rPr lang="en-US" sz="2000" dirty="0">
                    <a:latin typeface="Verdana" panose="020B0604030504040204" pitchFamily="34" charset="0"/>
                    <a:ea typeface="Verdana" panose="020B0604030504040204" pitchFamily="34" charset="0"/>
                    <a:cs typeface="Verdana" panose="020B0604030504040204" pitchFamily="34" charset="0"/>
                  </a:rPr>
                  <a:t>means </a:t>
                </a:r>
                <a:r>
                  <a:rPr lang="en-US" sz="2000" dirty="0" smtClean="0">
                    <a:latin typeface="Verdana" panose="020B0604030504040204" pitchFamily="34" charset="0"/>
                    <a:ea typeface="Verdana" panose="020B0604030504040204" pitchFamily="34" charset="0"/>
                    <a:cs typeface="Verdana" panose="020B0604030504040204" pitchFamily="34" charset="0"/>
                  </a:rPr>
                  <a:t/>
                </a:r>
                <a:br>
                  <a:rPr lang="en-US" sz="2000" dirty="0" smtClean="0">
                    <a:latin typeface="Verdana" panose="020B0604030504040204" pitchFamily="34" charset="0"/>
                    <a:ea typeface="Verdana" panose="020B0604030504040204" pitchFamily="34" charset="0"/>
                    <a:cs typeface="Verdana" panose="020B0604030504040204" pitchFamily="34" charset="0"/>
                  </a:rPr>
                </a:br>
                <a:r>
                  <a:rPr lang="en-US" sz="2000" dirty="0" smtClean="0">
                    <a:latin typeface="Verdana" panose="020B0604030504040204" pitchFamily="34" charset="0"/>
                    <a:ea typeface="Verdana" panose="020B0604030504040204" pitchFamily="34" charset="0"/>
                    <a:cs typeface="Verdana" panose="020B0604030504040204" pitchFamily="34" charset="0"/>
                  </a:rPr>
                  <a:t/>
                </a:r>
                <a:br>
                  <a:rPr lang="en-US" sz="2000" dirty="0" smtClean="0">
                    <a:latin typeface="Verdana" panose="020B0604030504040204" pitchFamily="34" charset="0"/>
                    <a:ea typeface="Verdana" panose="020B0604030504040204" pitchFamily="34" charset="0"/>
                    <a:cs typeface="Verdana" panose="020B0604030504040204" pitchFamily="34" charset="0"/>
                  </a:rPr>
                </a:br>
                <a:r>
                  <a:rPr lang="en-US" sz="2000" dirty="0" smtClean="0">
                    <a:latin typeface="Verdana" panose="020B0604030504040204" pitchFamily="34" charset="0"/>
                    <a:ea typeface="Verdana" panose="020B0604030504040204" pitchFamily="34" charset="0"/>
                    <a:cs typeface="Verdana" panose="020B0604030504040204" pitchFamily="34" charset="0"/>
                  </a:rPr>
                  <a:t/>
                </a:r>
                <a:br>
                  <a:rPr lang="en-US" sz="2000" dirty="0" smtClean="0">
                    <a:latin typeface="Verdana" panose="020B0604030504040204" pitchFamily="34" charset="0"/>
                    <a:ea typeface="Verdana" panose="020B0604030504040204" pitchFamily="34" charset="0"/>
                    <a:cs typeface="Verdana" panose="020B0604030504040204" pitchFamily="34" charset="0"/>
                  </a:rPr>
                </a:br>
                <a:r>
                  <a:rPr lang="en-US" sz="2000" dirty="0" smtClean="0">
                    <a:latin typeface="Verdana" panose="020B0604030504040204" pitchFamily="34" charset="0"/>
                    <a:ea typeface="Verdana" panose="020B0604030504040204" pitchFamily="34" charset="0"/>
                    <a:cs typeface="Verdana" panose="020B0604030504040204" pitchFamily="34" charset="0"/>
                  </a:rPr>
                  <a:t>the </a:t>
                </a:r>
                <a:r>
                  <a:rPr lang="en-US" sz="2000" dirty="0">
                    <a:latin typeface="Verdana" panose="020B0604030504040204" pitchFamily="34" charset="0"/>
                    <a:ea typeface="Verdana" panose="020B0604030504040204" pitchFamily="34" charset="0"/>
                    <a:cs typeface="Verdana" panose="020B0604030504040204" pitchFamily="34" charset="0"/>
                  </a:rPr>
                  <a:t>direction of the association between </a:t>
                </a:r>
                <a:r>
                  <a:rPr lang="en-US" sz="2000" dirty="0" smtClean="0">
                    <a:latin typeface="Verdana" panose="020B0604030504040204" pitchFamily="34" charset="0"/>
                    <a:ea typeface="Verdana" panose="020B0604030504040204" pitchFamily="34" charset="0"/>
                    <a:cs typeface="Verdana" panose="020B0604030504040204" pitchFamily="34" charset="0"/>
                  </a:rPr>
                  <a:t>the variables </a:t>
                </a:r>
                <a:r>
                  <a:rPr lang="en-US" sz="2000" dirty="0">
                    <a:latin typeface="Verdana" panose="020B0604030504040204" pitchFamily="34" charset="0"/>
                    <a:ea typeface="Verdana" panose="020B0604030504040204" pitchFamily="34" charset="0"/>
                    <a:cs typeface="Verdana" panose="020B0604030504040204" pitchFamily="34" charset="0"/>
                  </a:rPr>
                  <a:t>is </a:t>
                </a:r>
              </a:p>
            </p:txBody>
          </p:sp>
        </mc:Choice>
        <mc:Fallback>
          <p:sp>
            <p:nvSpPr>
              <p:cNvPr id="5" name="TextBox 4">
                <a:extLst>
                  <a:ext uri="{FF2B5EF4-FFF2-40B4-BE49-F238E27FC236}">
                    <a16:creationId xmlns:a16="http://schemas.microsoft.com/office/drawing/2014/main" xmlns:a14="http://schemas.microsoft.com/office/drawing/2010/main" xmlns="" id="{8AE5E1E0-A54D-BE42-84B5-F917038ADE99}"/>
                  </a:ext>
                </a:extLst>
              </p:cNvPr>
              <p:cNvSpPr txBox="1">
                <a:spLocks noRot="1" noChangeAspect="1" noMove="1" noResize="1" noEditPoints="1" noAdjustHandles="1" noChangeArrowheads="1" noChangeShapeType="1" noTextEdit="1"/>
              </p:cNvSpPr>
              <p:nvPr/>
            </p:nvSpPr>
            <p:spPr>
              <a:xfrm>
                <a:off x="522141" y="332669"/>
                <a:ext cx="10800000" cy="4093428"/>
              </a:xfrm>
              <a:prstGeom prst="rect">
                <a:avLst/>
              </a:prstGeom>
              <a:blipFill rotWithShape="1">
                <a:blip r:embed="rId3"/>
                <a:stretch>
                  <a:fillRect l="-621" t="-894" b="-1788"/>
                </a:stretch>
              </a:blipFill>
            </p:spPr>
            <p:txBody>
              <a:bodyPr/>
              <a:lstStyle/>
              <a:p>
                <a:r>
                  <a:rPr lang="en-PH">
                    <a:noFill/>
                  </a:rPr>
                  <a:t> </a:t>
                </a:r>
              </a:p>
            </p:txBody>
          </p:sp>
        </mc:Fallback>
      </mc:AlternateContent>
      <p:sp>
        <p:nvSpPr>
          <p:cNvPr id="11" name="Rounded Rectangle 10"/>
          <p:cNvSpPr/>
          <p:nvPr/>
        </p:nvSpPr>
        <p:spPr>
          <a:xfrm>
            <a:off x="7769727" y="1083316"/>
            <a:ext cx="1371600" cy="783193"/>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spAutoFit/>
          </a:bodyPr>
          <a:lstStyle/>
          <a:p>
            <a:pPr marL="231775" indent="-231775">
              <a:buFont typeface="Courier New" pitchFamily="49" charset="0"/>
              <a:buChar char="o"/>
            </a:pPr>
            <a:r>
              <a:rPr lang="en-US" sz="2000" dirty="0">
                <a:solidFill>
                  <a:srgbClr val="000000"/>
                </a:solidFill>
                <a:latin typeface="Verdana" pitchFamily="34" charset="0"/>
                <a:ea typeface="Verdana" pitchFamily="34" charset="0"/>
                <a:cs typeface="Times New Roman"/>
              </a:rPr>
              <a:t>weak</a:t>
            </a:r>
            <a:endParaRPr lang="en-US" sz="2000" dirty="0">
              <a:latin typeface="Verdana" pitchFamily="34" charset="0"/>
              <a:ea typeface="Verdana" pitchFamily="34" charset="0"/>
              <a:cs typeface="Times New Roman"/>
            </a:endParaRPr>
          </a:p>
          <a:p>
            <a:pPr marL="231775" indent="-231775">
              <a:spcAft>
                <a:spcPts val="1000"/>
              </a:spcAft>
              <a:buFont typeface="Courier New" pitchFamily="49" charset="0"/>
              <a:buChar char="o"/>
            </a:pPr>
            <a:r>
              <a:rPr lang="en-US" sz="2000" dirty="0">
                <a:solidFill>
                  <a:srgbClr val="000000"/>
                </a:solidFill>
                <a:latin typeface="Verdana" pitchFamily="34" charset="0"/>
                <a:ea typeface="Verdana" pitchFamily="34" charset="0"/>
                <a:cs typeface="Times New Roman"/>
              </a:rPr>
              <a:t>strong</a:t>
            </a:r>
            <a:endParaRPr lang="en-US" sz="2000" dirty="0">
              <a:latin typeface="Verdana" pitchFamily="34" charset="0"/>
              <a:ea typeface="Verdana" pitchFamily="34" charset="0"/>
              <a:cs typeface="Times New Roman"/>
            </a:endParaRPr>
          </a:p>
        </p:txBody>
      </p:sp>
      <p:sp>
        <p:nvSpPr>
          <p:cNvPr id="14" name="Rounded Rectangle 13"/>
          <p:cNvSpPr/>
          <p:nvPr/>
        </p:nvSpPr>
        <p:spPr>
          <a:xfrm>
            <a:off x="9412541" y="1118041"/>
            <a:ext cx="1737360" cy="786384"/>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spAutoFit/>
          </a:bodyPr>
          <a:lstStyle/>
          <a:p>
            <a:pPr marL="231775" indent="-231775">
              <a:buFont typeface="Courier New" pitchFamily="49" charset="0"/>
              <a:buChar char="o"/>
            </a:pPr>
            <a:r>
              <a:rPr lang="en-US" sz="2000" dirty="0">
                <a:solidFill>
                  <a:srgbClr val="000000"/>
                </a:solidFill>
                <a:latin typeface="Verdana" pitchFamily="34" charset="0"/>
                <a:ea typeface="Verdana" pitchFamily="34" charset="0"/>
                <a:cs typeface="Times New Roman"/>
              </a:rPr>
              <a:t>linear</a:t>
            </a:r>
            <a:endParaRPr lang="en-US" sz="2000" dirty="0">
              <a:latin typeface="Verdana" pitchFamily="34" charset="0"/>
              <a:ea typeface="Verdana" pitchFamily="34" charset="0"/>
              <a:cs typeface="Times New Roman"/>
            </a:endParaRPr>
          </a:p>
          <a:p>
            <a:pPr marL="231775" indent="-231775">
              <a:spcAft>
                <a:spcPts val="1000"/>
              </a:spcAft>
              <a:buFont typeface="Courier New" pitchFamily="49" charset="0"/>
              <a:buChar char="o"/>
            </a:pPr>
            <a:r>
              <a:rPr lang="en-US" sz="2000" dirty="0">
                <a:solidFill>
                  <a:srgbClr val="000000"/>
                </a:solidFill>
                <a:latin typeface="Verdana" pitchFamily="34" charset="0"/>
                <a:ea typeface="Verdana" pitchFamily="34" charset="0"/>
                <a:cs typeface="Times New Roman"/>
              </a:rPr>
              <a:t>nonlinear</a:t>
            </a:r>
            <a:endParaRPr lang="en-US" sz="2000" dirty="0">
              <a:latin typeface="Verdana" pitchFamily="34" charset="0"/>
              <a:ea typeface="Verdana" pitchFamily="34" charset="0"/>
              <a:cs typeface="Times New Roman"/>
            </a:endParaRPr>
          </a:p>
        </p:txBody>
      </p:sp>
      <mc:AlternateContent xmlns:mc="http://schemas.openxmlformats.org/markup-compatibility/2006">
        <mc:Choice xmlns:a14="http://schemas.microsoft.com/office/drawing/2010/main" Requires="a14">
          <p:sp>
            <p:nvSpPr>
              <p:cNvPr id="15" name="Rounded Rectangle 14"/>
              <p:cNvSpPr/>
              <p:nvPr/>
            </p:nvSpPr>
            <p:spPr>
              <a:xfrm>
                <a:off x="3035013" y="2895224"/>
                <a:ext cx="1554480" cy="783193"/>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spAutoFit/>
              </a:bodyPr>
              <a:lstStyle/>
              <a:p>
                <a:pPr marL="231775" indent="-231775">
                  <a:buFont typeface="Courier New" pitchFamily="49" charset="0"/>
                  <a:buChar char="o"/>
                </a:pPr>
                <a14:m>
                  <m:oMath xmlns:m="http://schemas.openxmlformats.org/officeDocument/2006/math">
                    <m:r>
                      <a:rPr lang="en-PH" sz="2000" i="1" dirty="0">
                        <a:solidFill>
                          <a:srgbClr val="000000"/>
                        </a:solidFill>
                        <a:latin typeface="Cambria Math"/>
                        <a:ea typeface="Verdana" pitchFamily="34" charset="0"/>
                        <a:cs typeface="Times New Roman"/>
                      </a:rPr>
                      <m:t>0</m:t>
                    </m:r>
                  </m:oMath>
                </a14:m>
                <a:r>
                  <a:rPr lang="en-US" sz="2000" dirty="0">
                    <a:solidFill>
                      <a:schemeClr val="tx1"/>
                    </a:solidFill>
                    <a:latin typeface="Verdana" pitchFamily="34" charset="0"/>
                    <a:ea typeface="Verdana" pitchFamily="34" charset="0"/>
                    <a:cs typeface="Times New Roman"/>
                  </a:rPr>
                  <a:t>.</a:t>
                </a:r>
              </a:p>
              <a:p>
                <a:pPr marL="231775" indent="-231775">
                  <a:spcAft>
                    <a:spcPts val="1000"/>
                  </a:spcAft>
                  <a:buFont typeface="Courier New" pitchFamily="49" charset="0"/>
                  <a:buChar char="o"/>
                </a:pPr>
                <a14:m>
                  <m:oMath xmlns:m="http://schemas.openxmlformats.org/officeDocument/2006/math">
                    <m:r>
                      <a:rPr lang="en-PH" sz="2000" i="1" dirty="0">
                        <a:solidFill>
                          <a:srgbClr val="000000"/>
                        </a:solidFill>
                        <a:latin typeface="Cambria Math"/>
                        <a:ea typeface="Verdana" pitchFamily="34" charset="0"/>
                        <a:cs typeface="Times New Roman"/>
                      </a:rPr>
                      <m:t>−1</m:t>
                    </m:r>
                  </m:oMath>
                </a14:m>
                <a:r>
                  <a:rPr lang="en-US" sz="2000" dirty="0">
                    <a:latin typeface="Verdana" pitchFamily="34" charset="0"/>
                    <a:ea typeface="Verdana" pitchFamily="34" charset="0"/>
                    <a:cs typeface="Times New Roman"/>
                  </a:rPr>
                  <a:t> </a:t>
                </a:r>
                <a:r>
                  <a:rPr lang="en-US" sz="2000" dirty="0">
                    <a:solidFill>
                      <a:schemeClr val="tx1"/>
                    </a:solidFill>
                    <a:latin typeface="Verdana" pitchFamily="34" charset="0"/>
                    <a:ea typeface="Verdana" pitchFamily="34" charset="0"/>
                    <a:cs typeface="Times New Roman"/>
                  </a:rPr>
                  <a:t>or </a:t>
                </a:r>
                <a14:m>
                  <m:oMath xmlns:m="http://schemas.openxmlformats.org/officeDocument/2006/math">
                    <m:r>
                      <a:rPr lang="en-PH" sz="2000" i="1">
                        <a:solidFill>
                          <a:schemeClr val="tx1"/>
                        </a:solidFill>
                        <a:latin typeface="Cambria Math"/>
                        <a:ea typeface="Verdana" pitchFamily="34" charset="0"/>
                        <a:cs typeface="Times New Roman"/>
                      </a:rPr>
                      <m:t>1</m:t>
                    </m:r>
                  </m:oMath>
                </a14:m>
                <a:r>
                  <a:rPr lang="en-US" sz="2000" dirty="0">
                    <a:solidFill>
                      <a:schemeClr val="tx1"/>
                    </a:solidFill>
                    <a:latin typeface="Verdana" pitchFamily="34" charset="0"/>
                    <a:ea typeface="Verdana" pitchFamily="34" charset="0"/>
                    <a:cs typeface="Times New Roman"/>
                  </a:rPr>
                  <a:t>.</a:t>
                </a:r>
              </a:p>
            </p:txBody>
          </p:sp>
        </mc:Choice>
        <mc:Fallback>
          <p:sp>
            <p:nvSpPr>
              <p:cNvPr id="15" name="Rounded Rectangle 14"/>
              <p:cNvSpPr>
                <a:spLocks noRot="1" noChangeAspect="1" noMove="1" noResize="1" noEditPoints="1" noAdjustHandles="1" noChangeArrowheads="1" noChangeShapeType="1" noTextEdit="1"/>
              </p:cNvSpPr>
              <p:nvPr/>
            </p:nvSpPr>
            <p:spPr>
              <a:xfrm>
                <a:off x="3035013" y="2895224"/>
                <a:ext cx="1554480" cy="783193"/>
              </a:xfrm>
              <a:prstGeom prst="roundRect">
                <a:avLst/>
              </a:prstGeom>
              <a:blipFill rotWithShape="1">
                <a:blip r:embed="rId4"/>
                <a:stretch>
                  <a:fillRect l="-386" b="-9848"/>
                </a:stretch>
              </a:blipFill>
              <a:ln>
                <a:solidFill>
                  <a:schemeClr val="tx1"/>
                </a:solidFill>
              </a:ln>
            </p:spPr>
            <p:txBody>
              <a:bodyPr/>
              <a:lstStyle/>
              <a:p>
                <a:r>
                  <a:rPr lang="en-PH">
                    <a:noFill/>
                  </a:rPr>
                  <a:t> </a:t>
                </a:r>
              </a:p>
            </p:txBody>
          </p:sp>
        </mc:Fallback>
      </mc:AlternateContent>
      <p:sp>
        <p:nvSpPr>
          <p:cNvPr id="16" name="Rounded Rectangle 15"/>
          <p:cNvSpPr/>
          <p:nvPr/>
        </p:nvSpPr>
        <p:spPr>
          <a:xfrm>
            <a:off x="6858843" y="2892033"/>
            <a:ext cx="1737360" cy="786384"/>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spAutoFit/>
          </a:bodyPr>
          <a:lstStyle/>
          <a:p>
            <a:pPr marL="231775" indent="-231775">
              <a:buFont typeface="Courier New" pitchFamily="49" charset="0"/>
              <a:buChar char="o"/>
            </a:pPr>
            <a:r>
              <a:rPr lang="en-US" sz="2000" dirty="0">
                <a:solidFill>
                  <a:srgbClr val="000000"/>
                </a:solidFill>
                <a:latin typeface="Verdana" pitchFamily="34" charset="0"/>
                <a:ea typeface="Verdana" pitchFamily="34" charset="0"/>
                <a:cs typeface="Times New Roman"/>
              </a:rPr>
              <a:t>positive,</a:t>
            </a:r>
            <a:endParaRPr lang="en-US" sz="2000" dirty="0">
              <a:latin typeface="Verdana" pitchFamily="34" charset="0"/>
              <a:ea typeface="Verdana" pitchFamily="34" charset="0"/>
              <a:cs typeface="Times New Roman"/>
            </a:endParaRPr>
          </a:p>
          <a:p>
            <a:pPr marL="231775" indent="-231775">
              <a:spcAft>
                <a:spcPts val="1000"/>
              </a:spcAft>
              <a:buFont typeface="Courier New" pitchFamily="49" charset="0"/>
              <a:buChar char="o"/>
            </a:pPr>
            <a:r>
              <a:rPr lang="en-US" sz="2000" dirty="0">
                <a:solidFill>
                  <a:srgbClr val="000000"/>
                </a:solidFill>
                <a:latin typeface="Verdana" pitchFamily="34" charset="0"/>
                <a:ea typeface="Verdana" pitchFamily="34" charset="0"/>
                <a:cs typeface="Times New Roman"/>
              </a:rPr>
              <a:t>negative,</a:t>
            </a:r>
            <a:endParaRPr lang="en-US" sz="2000" dirty="0">
              <a:latin typeface="Verdana" pitchFamily="34" charset="0"/>
              <a:ea typeface="Verdana" pitchFamily="34" charset="0"/>
              <a:cs typeface="Times New Roman"/>
            </a:endParaRPr>
          </a:p>
        </p:txBody>
      </p:sp>
      <p:sp>
        <p:nvSpPr>
          <p:cNvPr id="17" name="Rounded Rectangle 16"/>
          <p:cNvSpPr/>
          <p:nvPr/>
        </p:nvSpPr>
        <p:spPr>
          <a:xfrm>
            <a:off x="8328919" y="3784156"/>
            <a:ext cx="1737360" cy="786384"/>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spAutoFit/>
          </a:bodyPr>
          <a:lstStyle/>
          <a:p>
            <a:pPr marL="231775" indent="-231775">
              <a:buFont typeface="Courier New" pitchFamily="49" charset="0"/>
              <a:buChar char="o"/>
            </a:pPr>
            <a:r>
              <a:rPr lang="en-US" sz="2000" dirty="0">
                <a:solidFill>
                  <a:srgbClr val="000000"/>
                </a:solidFill>
                <a:latin typeface="Verdana" pitchFamily="34" charset="0"/>
                <a:ea typeface="Verdana" pitchFamily="34" charset="0"/>
                <a:cs typeface="Times New Roman"/>
              </a:rPr>
              <a:t>positive.</a:t>
            </a:r>
            <a:endParaRPr lang="en-US" sz="2000" dirty="0">
              <a:latin typeface="Verdana" pitchFamily="34" charset="0"/>
              <a:ea typeface="Verdana" pitchFamily="34" charset="0"/>
              <a:cs typeface="Times New Roman"/>
            </a:endParaRPr>
          </a:p>
          <a:p>
            <a:pPr marL="231775" indent="-231775">
              <a:spcAft>
                <a:spcPts val="1000"/>
              </a:spcAft>
              <a:buFont typeface="Courier New" pitchFamily="49" charset="0"/>
              <a:buChar char="o"/>
            </a:pPr>
            <a:r>
              <a:rPr lang="en-US" sz="2000" dirty="0">
                <a:solidFill>
                  <a:srgbClr val="000000"/>
                </a:solidFill>
                <a:latin typeface="Verdana" pitchFamily="34" charset="0"/>
                <a:ea typeface="Verdana" pitchFamily="34" charset="0"/>
                <a:cs typeface="Times New Roman"/>
              </a:rPr>
              <a:t>negative.</a:t>
            </a:r>
            <a:endParaRPr lang="en-US" sz="2000" dirty="0">
              <a:latin typeface="Verdana" pitchFamily="34" charset="0"/>
              <a:ea typeface="Verdana" pitchFamily="34" charset="0"/>
              <a:cs typeface="Times New Roman"/>
            </a:endParaRPr>
          </a:p>
        </p:txBody>
      </p:sp>
      <p:pic>
        <p:nvPicPr>
          <p:cNvPr id="13" name="Google Shape;311;g104476d1465_1_39"/>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8"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141</a:t>
            </a:r>
            <a:endParaRPr i="1" dirty="0">
              <a:latin typeface="Calibri"/>
              <a:ea typeface="Calibri"/>
              <a:cs typeface="Calibri"/>
              <a:sym typeface="Calibri"/>
            </a:endParaRPr>
          </a:p>
        </p:txBody>
      </p:sp>
    </p:spTree>
    <p:extLst>
      <p:ext uri="{BB962C8B-B14F-4D97-AF65-F5344CB8AC3E}">
        <p14:creationId xmlns:p14="http://schemas.microsoft.com/office/powerpoint/2010/main" val="38140894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xmlns="" id="{C8F82859-BA98-3646-BF3B-9E17E52A2E35}"/>
                  </a:ext>
                </a:extLst>
              </p:cNvPr>
              <p:cNvSpPr txBox="1"/>
              <p:nvPr/>
            </p:nvSpPr>
            <p:spPr>
              <a:xfrm>
                <a:off x="514275" y="349753"/>
                <a:ext cx="10800000" cy="1323439"/>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Albert, an ice cream vendor at Jones Beach, records the number of cones he sells each day, as well as the daily high temperature. The table and the scatter plot below show his data for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12</m:t>
                    </m:r>
                  </m:oMath>
                </a14:m>
                <a:r>
                  <a:rPr lang="en-US" sz="2000" dirty="0">
                    <a:latin typeface="Verdana" panose="020B0604030504040204" pitchFamily="34" charset="0"/>
                    <a:ea typeface="Verdana" panose="020B0604030504040204" pitchFamily="34" charset="0"/>
                    <a:cs typeface="Verdana" panose="020B0604030504040204" pitchFamily="34" charset="0"/>
                  </a:rPr>
                  <a:t> days in June.</a:t>
                </a:r>
              </a:p>
            </p:txBody>
          </p:sp>
        </mc:Choice>
        <mc:Fallback>
          <p:sp>
            <p:nvSpPr>
              <p:cNvPr id="6" name="TextBox 5">
                <a:extLst>
                  <a:ext uri="{FF2B5EF4-FFF2-40B4-BE49-F238E27FC236}">
                    <a16:creationId xmlns:a16="http://schemas.microsoft.com/office/drawing/2014/main" xmlns:a14="http://schemas.microsoft.com/office/drawing/2010/main" xmlns="" id="{C8F82859-BA98-3646-BF3B-9E17E52A2E35}"/>
                  </a:ext>
                </a:extLst>
              </p:cNvPr>
              <p:cNvSpPr txBox="1">
                <a:spLocks noRot="1" noChangeAspect="1" noMove="1" noResize="1" noEditPoints="1" noAdjustHandles="1" noChangeArrowheads="1" noChangeShapeType="1" noTextEdit="1"/>
              </p:cNvSpPr>
              <p:nvPr/>
            </p:nvSpPr>
            <p:spPr>
              <a:xfrm>
                <a:off x="514275" y="349753"/>
                <a:ext cx="10800000" cy="1323439"/>
              </a:xfrm>
              <a:prstGeom prst="rect">
                <a:avLst/>
              </a:prstGeom>
              <a:blipFill rotWithShape="1">
                <a:blip r:embed="rId3"/>
                <a:stretch>
                  <a:fillRect l="-564" t="-2765" r="-1016"/>
                </a:stretch>
              </a:blipFill>
            </p:spPr>
            <p:txBody>
              <a:bodyPr/>
              <a:lstStyle/>
              <a:p>
                <a:r>
                  <a:rPr lang="en-PH">
                    <a:noFill/>
                  </a:rPr>
                  <a:t> </a:t>
                </a:r>
              </a:p>
            </p:txBody>
          </p:sp>
        </mc:Fallback>
      </mc:AlternateContent>
      <mc:AlternateContent xmlns:mc="http://schemas.openxmlformats.org/markup-compatibility/2006">
        <mc:Choice xmlns:a14="http://schemas.microsoft.com/office/drawing/2010/main" Requires="a14">
          <p:graphicFrame>
            <p:nvGraphicFramePr>
              <p:cNvPr id="3" name="Table 2">
                <a:extLst>
                  <a:ext uri="{FF2B5EF4-FFF2-40B4-BE49-F238E27FC236}">
                    <a16:creationId xmlns:a16="http://schemas.microsoft.com/office/drawing/2014/main" xmlns="" id="{7D6CF8A9-5161-E64D-923C-DD4D7A1E11F3}"/>
                  </a:ext>
                </a:extLst>
              </p:cNvPr>
              <p:cNvGraphicFramePr>
                <a:graphicFrameLocks noGrp="1"/>
              </p:cNvGraphicFramePr>
              <p:nvPr>
                <p:extLst>
                  <p:ext uri="{D42A27DB-BD31-4B8C-83A1-F6EECF244321}">
                    <p14:modId xmlns:p14="http://schemas.microsoft.com/office/powerpoint/2010/main" val="4150469155"/>
                  </p:ext>
                </p:extLst>
              </p:nvPr>
            </p:nvGraphicFramePr>
            <p:xfrm>
              <a:off x="2497030" y="1568022"/>
              <a:ext cx="7874635" cy="2438400"/>
            </p:xfrm>
            <a:graphic>
              <a:graphicData uri="http://schemas.openxmlformats.org/drawingml/2006/table">
                <a:tbl>
                  <a:tblPr firstRow="1" firstCol="1" bandRow="1"/>
                  <a:tblGrid>
                    <a:gridCol w="3383280">
                      <a:extLst>
                        <a:ext uri="{9D8B030D-6E8A-4147-A177-3AD203B41FA5}">
                          <a16:colId xmlns:a16="http://schemas.microsoft.com/office/drawing/2014/main" xmlns="" val="1617750203"/>
                        </a:ext>
                      </a:extLst>
                    </a:gridCol>
                    <a:gridCol w="755650">
                      <a:extLst>
                        <a:ext uri="{9D8B030D-6E8A-4147-A177-3AD203B41FA5}">
                          <a16:colId xmlns:a16="http://schemas.microsoft.com/office/drawing/2014/main" xmlns="" val="2640111228"/>
                        </a:ext>
                      </a:extLst>
                    </a:gridCol>
                    <a:gridCol w="756920">
                      <a:extLst>
                        <a:ext uri="{9D8B030D-6E8A-4147-A177-3AD203B41FA5}">
                          <a16:colId xmlns:a16="http://schemas.microsoft.com/office/drawing/2014/main" xmlns="" val="840890093"/>
                        </a:ext>
                      </a:extLst>
                    </a:gridCol>
                    <a:gridCol w="756920">
                      <a:extLst>
                        <a:ext uri="{9D8B030D-6E8A-4147-A177-3AD203B41FA5}">
                          <a16:colId xmlns:a16="http://schemas.microsoft.com/office/drawing/2014/main" xmlns="" val="705394979"/>
                        </a:ext>
                      </a:extLst>
                    </a:gridCol>
                    <a:gridCol w="756920">
                      <a:extLst>
                        <a:ext uri="{9D8B030D-6E8A-4147-A177-3AD203B41FA5}">
                          <a16:colId xmlns:a16="http://schemas.microsoft.com/office/drawing/2014/main" xmlns="" val="3883435703"/>
                        </a:ext>
                      </a:extLst>
                    </a:gridCol>
                    <a:gridCol w="756920">
                      <a:extLst>
                        <a:ext uri="{9D8B030D-6E8A-4147-A177-3AD203B41FA5}">
                          <a16:colId xmlns:a16="http://schemas.microsoft.com/office/drawing/2014/main" xmlns="" val="545576875"/>
                        </a:ext>
                      </a:extLst>
                    </a:gridCol>
                    <a:gridCol w="708025">
                      <a:extLst>
                        <a:ext uri="{9D8B030D-6E8A-4147-A177-3AD203B41FA5}">
                          <a16:colId xmlns:a16="http://schemas.microsoft.com/office/drawing/2014/main" xmlns="" val="4246149710"/>
                        </a:ext>
                      </a:extLst>
                    </a:gridCol>
                  </a:tblGrid>
                  <a:tr h="457200">
                    <a:tc gridSpan="7">
                      <a:txBody>
                        <a:bodyPr/>
                        <a:lstStyle/>
                        <a:p>
                          <a:pPr marL="0" marR="0" algn="ctr">
                            <a:spcBef>
                              <a:spcPts val="0"/>
                            </a:spcBef>
                            <a:spcAft>
                              <a:spcPts val="0"/>
                            </a:spcAft>
                          </a:pPr>
                          <a:r>
                            <a:rPr lang="en-US" sz="2000" b="1" dirty="0">
                              <a:effectLst/>
                              <a:latin typeface="Verdana"/>
                              <a:ea typeface="Times New Roman"/>
                              <a:cs typeface="Times New Roman"/>
                            </a:rPr>
                            <a:t>Relationship Between Temperature and Cones Sold</a:t>
                          </a:r>
                          <a:endParaRPr lang="x-none" sz="2000">
                            <a:effectLst/>
                            <a:latin typeface="Verdana" pitchFamily="34" charset="0"/>
                            <a:ea typeface="Verdana" pitchFamily="34" charset="0"/>
                            <a:cs typeface="Times New Roman" panose="02020603050405020304" pitchFamily="18" charset="0"/>
                          </a:endParaRPr>
                        </a:p>
                      </a:txBody>
                      <a:tcPr marT="0" marB="18288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algn="ctr">
                            <a:spcBef>
                              <a:spcPts val="0"/>
                            </a:spcBef>
                            <a:spcAft>
                              <a:spcPts val="0"/>
                            </a:spcAft>
                          </a:pPr>
                          <a:endParaRPr lang="x-none" sz="2000">
                            <a:effectLst/>
                            <a:latin typeface="Verdana" pitchFamily="34" charset="0"/>
                            <a:ea typeface="Verdana" pitchFamily="34" charset="0"/>
                            <a:cs typeface="Times New Roman" panose="02020603050405020304" pitchFamily="18" charset="0"/>
                          </a:endParaRPr>
                        </a:p>
                      </a:txBody>
                      <a:tcPr marL="1828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marL="0" marR="0" algn="ctr">
                            <a:spcBef>
                              <a:spcPts val="0"/>
                            </a:spcBef>
                            <a:spcAft>
                              <a:spcPts val="0"/>
                            </a:spcAft>
                          </a:pPr>
                          <a:endParaRPr lang="x-none" sz="2000">
                            <a:effectLst/>
                            <a:latin typeface="Verdana" pitchFamily="34" charset="0"/>
                            <a:ea typeface="Verdana" pitchFamily="34" charset="0"/>
                            <a:cs typeface="Times New Roman" panose="02020603050405020304" pitchFamily="18" charset="0"/>
                          </a:endParaRPr>
                        </a:p>
                      </a:txBody>
                      <a:tcPr marL="1828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marL="0" marR="0" algn="ctr">
                            <a:spcBef>
                              <a:spcPts val="0"/>
                            </a:spcBef>
                            <a:spcAft>
                              <a:spcPts val="0"/>
                            </a:spcAft>
                          </a:pPr>
                          <a:endParaRPr lang="x-none" sz="2000">
                            <a:effectLst/>
                            <a:latin typeface="Verdana" pitchFamily="34" charset="0"/>
                            <a:ea typeface="Verdana" pitchFamily="34" charset="0"/>
                            <a:cs typeface="Times New Roman" panose="02020603050405020304" pitchFamily="18" charset="0"/>
                          </a:endParaRPr>
                        </a:p>
                      </a:txBody>
                      <a:tcPr marL="1828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marL="0" marR="0" algn="ctr">
                            <a:spcBef>
                              <a:spcPts val="0"/>
                            </a:spcBef>
                            <a:spcAft>
                              <a:spcPts val="0"/>
                            </a:spcAft>
                          </a:pPr>
                          <a:endParaRPr lang="x-none" sz="2000">
                            <a:effectLst/>
                            <a:latin typeface="Verdana" pitchFamily="34" charset="0"/>
                            <a:ea typeface="Verdana" pitchFamily="34" charset="0"/>
                            <a:cs typeface="Times New Roman" panose="02020603050405020304" pitchFamily="18" charset="0"/>
                          </a:endParaRPr>
                        </a:p>
                      </a:txBody>
                      <a:tcPr marL="1828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marL="0" marR="0" algn="ctr">
                            <a:spcBef>
                              <a:spcPts val="0"/>
                            </a:spcBef>
                            <a:spcAft>
                              <a:spcPts val="0"/>
                            </a:spcAft>
                          </a:pPr>
                          <a:endParaRPr lang="x-none" sz="2000">
                            <a:effectLst/>
                            <a:latin typeface="Verdana" pitchFamily="34" charset="0"/>
                            <a:ea typeface="Verdana" pitchFamily="34" charset="0"/>
                            <a:cs typeface="Times New Roman" panose="02020603050405020304" pitchFamily="18" charset="0"/>
                          </a:endParaRPr>
                        </a:p>
                      </a:txBody>
                      <a:tcPr marL="1828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marL="0" marR="0" algn="ctr">
                            <a:spcBef>
                              <a:spcPts val="0"/>
                            </a:spcBef>
                            <a:spcAft>
                              <a:spcPts val="0"/>
                            </a:spcAft>
                          </a:pPr>
                          <a:endParaRPr lang="x-none" sz="2000">
                            <a:effectLst/>
                            <a:latin typeface="Verdana" pitchFamily="34" charset="0"/>
                            <a:ea typeface="Verdana" pitchFamily="34" charset="0"/>
                            <a:cs typeface="Times New Roman" panose="02020603050405020304" pitchFamily="18" charset="0"/>
                          </a:endParaRPr>
                        </a:p>
                      </a:txBody>
                      <a:tcPr marL="1828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0"/>
                      </a:ext>
                    </a:extLst>
                  </a:tr>
                  <a:tr h="457200">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Calibri" panose="020F0502020204030204" pitchFamily="34" charset="0"/>
                            </a:rPr>
                            <a:t>Temperature</a:t>
                          </a:r>
                          <a14:m>
                            <m:oMath xmlns:m="http://schemas.openxmlformats.org/officeDocument/2006/math">
                              <m:r>
                                <a:rPr lang="en-US" sz="2000" b="1" i="1">
                                  <a:solidFill>
                                    <a:srgbClr val="000000"/>
                                  </a:solidFill>
                                  <a:effectLst/>
                                  <a:latin typeface="Cambria Math" panose="02040503050406030204" pitchFamily="18" charset="0"/>
                                  <a:ea typeface="Times New Roman" panose="02020603050405020304" pitchFamily="18" charset="0"/>
                                  <a:cs typeface="Calibri" panose="020F0502020204030204" pitchFamily="34" charset="0"/>
                                </a:rPr>
                                <m:t> (°</m:t>
                              </m:r>
                              <m:r>
                                <a:rPr lang="en-US" sz="2000" b="1" i="1">
                                  <a:solidFill>
                                    <a:srgbClr val="000000"/>
                                  </a:solidFill>
                                  <a:effectLst/>
                                  <a:latin typeface="Cambria Math" panose="02040503050406030204" pitchFamily="18" charset="0"/>
                                  <a:ea typeface="Times New Roman" panose="02020603050405020304" pitchFamily="18" charset="0"/>
                                  <a:cs typeface="Calibri" panose="020F0502020204030204" pitchFamily="34" charset="0"/>
                                </a:rPr>
                                <m:t>𝑭</m:t>
                              </m:r>
                              <m:r>
                                <a:rPr lang="en-US" sz="2000" b="1" i="1">
                                  <a:solidFill>
                                    <a:srgbClr val="000000"/>
                                  </a:solidFill>
                                  <a:effectLst/>
                                  <a:latin typeface="Cambria Math" panose="02040503050406030204" pitchFamily="18" charset="0"/>
                                  <a:ea typeface="Times New Roman" panose="02020603050405020304" pitchFamily="18" charset="0"/>
                                  <a:cs typeface="Calibri" panose="020F0502020204030204" pitchFamily="34" charset="0"/>
                                </a:rPr>
                                <m:t>)</m:t>
                              </m:r>
                            </m:oMath>
                          </a14:m>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14:m>
                            <m:oMathPara xmlns:m="http://schemas.openxmlformats.org/officeDocument/2006/math">
                              <m:oMathParaPr>
                                <m:jc m:val="center"/>
                              </m:oMathParaPr>
                              <m:oMath xmlns:m="http://schemas.openxmlformats.org/officeDocument/2006/math">
                                <m:r>
                                  <a:rPr lang="en-US" sz="2000" i="1">
                                    <a:solidFill>
                                      <a:srgbClr val="000000"/>
                                    </a:solidFill>
                                    <a:effectLst/>
                                    <a:latin typeface="Cambria Math" panose="02040503050406030204" pitchFamily="18" charset="0"/>
                                    <a:ea typeface="MS Mincho" panose="02020609040205080304" pitchFamily="49" charset="-128"/>
                                    <a:cs typeface="Times New Roman" panose="02020603050405020304" pitchFamily="18" charset="0"/>
                                  </a:rPr>
                                  <m:t>81</m:t>
                                </m:r>
                              </m:oMath>
                            </m:oMathPara>
                          </a14:m>
                          <a:endParaRPr lang="x-none" sz="2000">
                            <a:effectLst/>
                            <a:latin typeface="Verdana" pitchFamily="34" charset="0"/>
                            <a:ea typeface="Verdana" pitchFamily="34" charset="0"/>
                            <a:cs typeface="Times New Roman" panose="02020603050405020304" pitchFamily="18" charset="0"/>
                          </a:endParaRPr>
                        </a:p>
                      </a:txBody>
                      <a:tcPr marL="1828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Times New Roman" panose="02020603050405020304" pitchFamily="18" charset="0"/>
                                    <a:cs typeface="Calibri" panose="020F0502020204030204" pitchFamily="34" charset="0"/>
                                  </a:rPr>
                                  <m:t>72</m:t>
                                </m:r>
                              </m:oMath>
                            </m:oMathPara>
                          </a14:m>
                          <a:endParaRPr lang="x-none" sz="2000">
                            <a:effectLst/>
                            <a:latin typeface="Verdana" pitchFamily="34" charset="0"/>
                            <a:ea typeface="Verdana" pitchFamily="34" charset="0"/>
                            <a:cs typeface="Times New Roman" panose="02020603050405020304" pitchFamily="18" charset="0"/>
                          </a:endParaRPr>
                        </a:p>
                      </a:txBody>
                      <a:tcPr marL="1828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Times New Roman" panose="02020603050405020304" pitchFamily="18" charset="0"/>
                                    <a:cs typeface="Calibri" panose="020F0502020204030204" pitchFamily="34" charset="0"/>
                                  </a:rPr>
                                  <m:t>88</m:t>
                                </m:r>
                              </m:oMath>
                            </m:oMathPara>
                          </a14:m>
                          <a:endParaRPr lang="x-none" sz="2000">
                            <a:effectLst/>
                            <a:latin typeface="Verdana" pitchFamily="34" charset="0"/>
                            <a:ea typeface="Verdana" pitchFamily="34" charset="0"/>
                            <a:cs typeface="Times New Roman" panose="02020603050405020304" pitchFamily="18" charset="0"/>
                          </a:endParaRPr>
                        </a:p>
                      </a:txBody>
                      <a:tcPr marL="1828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Times New Roman" panose="02020603050405020304" pitchFamily="18" charset="0"/>
                                    <a:cs typeface="Calibri" panose="020F0502020204030204" pitchFamily="34" charset="0"/>
                                  </a:rPr>
                                  <m:t>85</m:t>
                                </m:r>
                              </m:oMath>
                            </m:oMathPara>
                          </a14:m>
                          <a:endParaRPr lang="x-none" sz="2000">
                            <a:effectLst/>
                            <a:latin typeface="Verdana" pitchFamily="34" charset="0"/>
                            <a:ea typeface="Verdana" pitchFamily="34" charset="0"/>
                            <a:cs typeface="Times New Roman" panose="02020603050405020304" pitchFamily="18" charset="0"/>
                          </a:endParaRPr>
                        </a:p>
                      </a:txBody>
                      <a:tcPr marL="1828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Times New Roman" panose="02020603050405020304" pitchFamily="18" charset="0"/>
                                    <a:cs typeface="Calibri" panose="020F0502020204030204" pitchFamily="34" charset="0"/>
                                  </a:rPr>
                                  <m:t>89</m:t>
                                </m:r>
                              </m:oMath>
                            </m:oMathPara>
                          </a14:m>
                          <a:endParaRPr lang="x-none" sz="2000">
                            <a:effectLst/>
                            <a:latin typeface="Verdana" pitchFamily="34" charset="0"/>
                            <a:ea typeface="Verdana" pitchFamily="34" charset="0"/>
                            <a:cs typeface="Times New Roman" panose="02020603050405020304" pitchFamily="18" charset="0"/>
                          </a:endParaRPr>
                        </a:p>
                      </a:txBody>
                      <a:tcPr marL="1828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Times New Roman" panose="02020603050405020304" pitchFamily="18" charset="0"/>
                                    <a:cs typeface="Calibri" panose="020F0502020204030204" pitchFamily="34" charset="0"/>
                                  </a:rPr>
                                  <m:t>90</m:t>
                                </m:r>
                              </m:oMath>
                            </m:oMathPara>
                          </a14:m>
                          <a:endParaRPr lang="x-none" sz="2000">
                            <a:effectLst/>
                            <a:latin typeface="Verdana" pitchFamily="34" charset="0"/>
                            <a:ea typeface="Verdana" pitchFamily="34" charset="0"/>
                            <a:cs typeface="Times New Roman" panose="02020603050405020304" pitchFamily="18" charset="0"/>
                          </a:endParaRPr>
                        </a:p>
                      </a:txBody>
                      <a:tcPr marL="1828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99667974"/>
                      </a:ext>
                    </a:extLst>
                  </a:tr>
                  <a:tr h="457200">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Calibri" panose="020F0502020204030204" pitchFamily="34" charset="0"/>
                            </a:rPr>
                            <a:t>Number of Cones Sold</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t>55</m:t>
                                </m:r>
                              </m:oMath>
                            </m:oMathPara>
                          </a14:m>
                          <a:endParaRPr lang="x-none" sz="2000">
                            <a:effectLst/>
                            <a:latin typeface="Verdana" pitchFamily="34" charset="0"/>
                            <a:ea typeface="Verdana" pitchFamily="34" charset="0"/>
                            <a:cs typeface="Times New Roman" panose="02020603050405020304" pitchFamily="18" charset="0"/>
                          </a:endParaRPr>
                        </a:p>
                      </a:txBody>
                      <a:tcPr marL="1828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Times New Roman" panose="02020603050405020304" pitchFamily="18" charset="0"/>
                                    <a:cs typeface="Calibri" panose="020F0502020204030204" pitchFamily="34" charset="0"/>
                                  </a:rPr>
                                  <m:t>36</m:t>
                                </m:r>
                              </m:oMath>
                            </m:oMathPara>
                          </a14:m>
                          <a:endParaRPr lang="x-none" sz="2000">
                            <a:effectLst/>
                            <a:latin typeface="Verdana" pitchFamily="34" charset="0"/>
                            <a:ea typeface="Verdana" pitchFamily="34" charset="0"/>
                            <a:cs typeface="Times New Roman" panose="02020603050405020304" pitchFamily="18" charset="0"/>
                          </a:endParaRPr>
                        </a:p>
                      </a:txBody>
                      <a:tcPr marL="1828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t>67</m:t>
                                </m:r>
                              </m:oMath>
                            </m:oMathPara>
                          </a14:m>
                          <a:endParaRPr lang="x-none" sz="2000">
                            <a:effectLst/>
                            <a:latin typeface="Verdana" pitchFamily="34" charset="0"/>
                            <a:ea typeface="Verdana" pitchFamily="34" charset="0"/>
                            <a:cs typeface="Times New Roman" panose="02020603050405020304" pitchFamily="18" charset="0"/>
                          </a:endParaRPr>
                        </a:p>
                      </a:txBody>
                      <a:tcPr marL="1828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Times New Roman" panose="02020603050405020304" pitchFamily="18" charset="0"/>
                                    <a:cs typeface="Calibri" panose="020F0502020204030204" pitchFamily="34" charset="0"/>
                                  </a:rPr>
                                  <m:t>65</m:t>
                                </m:r>
                              </m:oMath>
                            </m:oMathPara>
                          </a14:m>
                          <a:endParaRPr lang="x-none" sz="2000">
                            <a:effectLst/>
                            <a:latin typeface="Verdana" pitchFamily="34" charset="0"/>
                            <a:ea typeface="Verdana" pitchFamily="34" charset="0"/>
                            <a:cs typeface="Times New Roman" panose="02020603050405020304" pitchFamily="18" charset="0"/>
                          </a:endParaRPr>
                        </a:p>
                      </a:txBody>
                      <a:tcPr marL="1828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Times New Roman" panose="02020603050405020304" pitchFamily="18" charset="0"/>
                                    <a:cs typeface="Calibri" panose="020F0502020204030204" pitchFamily="34" charset="0"/>
                                  </a:rPr>
                                  <m:t>72</m:t>
                                </m:r>
                              </m:oMath>
                            </m:oMathPara>
                          </a14:m>
                          <a:endParaRPr lang="x-none" sz="2000">
                            <a:effectLst/>
                            <a:latin typeface="Verdana" pitchFamily="34" charset="0"/>
                            <a:ea typeface="Verdana" pitchFamily="34" charset="0"/>
                            <a:cs typeface="Times New Roman" panose="02020603050405020304" pitchFamily="18" charset="0"/>
                          </a:endParaRPr>
                        </a:p>
                      </a:txBody>
                      <a:tcPr marL="1828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Times New Roman" panose="02020603050405020304" pitchFamily="18" charset="0"/>
                                    <a:cs typeface="Calibri" panose="020F0502020204030204" pitchFamily="34" charset="0"/>
                                  </a:rPr>
                                  <m:t>75</m:t>
                                </m:r>
                              </m:oMath>
                            </m:oMathPara>
                          </a14:m>
                          <a:endParaRPr lang="x-none" sz="2000">
                            <a:effectLst/>
                            <a:latin typeface="Verdana" pitchFamily="34" charset="0"/>
                            <a:ea typeface="Verdana" pitchFamily="34" charset="0"/>
                            <a:cs typeface="Times New Roman" panose="02020603050405020304" pitchFamily="18" charset="0"/>
                          </a:endParaRPr>
                        </a:p>
                      </a:txBody>
                      <a:tcPr marL="1828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15244002"/>
                      </a:ext>
                    </a:extLst>
                  </a:tr>
                  <a:tr h="457200">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Calibri" panose="020F0502020204030204" pitchFamily="34" charset="0"/>
                            </a:rPr>
                            <a:t>Temperature</a:t>
                          </a:r>
                          <a14:m>
                            <m:oMath xmlns:m="http://schemas.openxmlformats.org/officeDocument/2006/math">
                              <m:r>
                                <a:rPr lang="en-US" sz="2000" b="1" i="1">
                                  <a:solidFill>
                                    <a:srgbClr val="000000"/>
                                  </a:solidFill>
                                  <a:effectLst/>
                                  <a:latin typeface="Cambria Math" panose="02040503050406030204" pitchFamily="18" charset="0"/>
                                  <a:ea typeface="Times New Roman" panose="02020603050405020304" pitchFamily="18" charset="0"/>
                                  <a:cs typeface="Calibri" panose="020F0502020204030204" pitchFamily="34" charset="0"/>
                                </a:rPr>
                                <m:t> (°</m:t>
                              </m:r>
                              <m:r>
                                <a:rPr lang="en-US" sz="2000" b="1" i="1">
                                  <a:solidFill>
                                    <a:srgbClr val="000000"/>
                                  </a:solidFill>
                                  <a:effectLst/>
                                  <a:latin typeface="Cambria Math" panose="02040503050406030204" pitchFamily="18" charset="0"/>
                                  <a:ea typeface="Times New Roman" panose="02020603050405020304" pitchFamily="18" charset="0"/>
                                  <a:cs typeface="Calibri" panose="020F0502020204030204" pitchFamily="34" charset="0"/>
                                </a:rPr>
                                <m:t>𝑭</m:t>
                              </m:r>
                              <m:r>
                                <a:rPr lang="en-US" sz="2000" b="1" i="1">
                                  <a:solidFill>
                                    <a:srgbClr val="000000"/>
                                  </a:solidFill>
                                  <a:effectLst/>
                                  <a:latin typeface="Cambria Math" panose="02040503050406030204" pitchFamily="18" charset="0"/>
                                  <a:ea typeface="Times New Roman" panose="02020603050405020304" pitchFamily="18" charset="0"/>
                                  <a:cs typeface="Calibri" panose="020F0502020204030204" pitchFamily="34" charset="0"/>
                                </a:rPr>
                                <m:t>)</m:t>
                              </m:r>
                            </m:oMath>
                          </a14:m>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Times New Roman" panose="02020603050405020304" pitchFamily="18" charset="0"/>
                                    <a:cs typeface="Calibri" panose="020F0502020204030204" pitchFamily="34" charset="0"/>
                                  </a:rPr>
                                  <m:t>87</m:t>
                                </m:r>
                              </m:oMath>
                            </m:oMathPara>
                          </a14:m>
                          <a:endParaRPr lang="x-none" sz="2000">
                            <a:effectLst/>
                            <a:latin typeface="Verdana" pitchFamily="34" charset="0"/>
                            <a:ea typeface="Verdana" pitchFamily="34" charset="0"/>
                            <a:cs typeface="Times New Roman" panose="02020603050405020304" pitchFamily="18" charset="0"/>
                          </a:endParaRPr>
                        </a:p>
                      </a:txBody>
                      <a:tcPr marL="1828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Times New Roman" panose="02020603050405020304" pitchFamily="18" charset="0"/>
                                    <a:cs typeface="Calibri" panose="020F0502020204030204" pitchFamily="34" charset="0"/>
                                  </a:rPr>
                                  <m:t>75</m:t>
                                </m:r>
                              </m:oMath>
                            </m:oMathPara>
                          </a14:m>
                          <a:endParaRPr lang="x-none" sz="2000">
                            <a:effectLst/>
                            <a:latin typeface="Verdana" pitchFamily="34" charset="0"/>
                            <a:ea typeface="Verdana" pitchFamily="34" charset="0"/>
                            <a:cs typeface="Times New Roman" panose="02020603050405020304" pitchFamily="18" charset="0"/>
                          </a:endParaRPr>
                        </a:p>
                      </a:txBody>
                      <a:tcPr marL="1828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Times New Roman" panose="02020603050405020304" pitchFamily="18" charset="0"/>
                                    <a:cs typeface="Calibri" panose="020F0502020204030204" pitchFamily="34" charset="0"/>
                                  </a:rPr>
                                  <m:t>83</m:t>
                                </m:r>
                              </m:oMath>
                            </m:oMathPara>
                          </a14:m>
                          <a:endParaRPr lang="x-none" sz="2000">
                            <a:effectLst/>
                            <a:latin typeface="Verdana" pitchFamily="34" charset="0"/>
                            <a:ea typeface="Verdana" pitchFamily="34" charset="0"/>
                            <a:cs typeface="Times New Roman" panose="02020603050405020304" pitchFamily="18" charset="0"/>
                          </a:endParaRPr>
                        </a:p>
                      </a:txBody>
                      <a:tcPr marL="1828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Times New Roman" panose="02020603050405020304" pitchFamily="18" charset="0"/>
                                    <a:cs typeface="Calibri" panose="020F0502020204030204" pitchFamily="34" charset="0"/>
                                  </a:rPr>
                                  <m:t>79</m:t>
                                </m:r>
                              </m:oMath>
                            </m:oMathPara>
                          </a14:m>
                          <a:endParaRPr lang="x-none" sz="2000">
                            <a:effectLst/>
                            <a:latin typeface="Verdana" pitchFamily="34" charset="0"/>
                            <a:ea typeface="Verdana" pitchFamily="34" charset="0"/>
                            <a:cs typeface="Times New Roman" panose="02020603050405020304" pitchFamily="18" charset="0"/>
                          </a:endParaRPr>
                        </a:p>
                      </a:txBody>
                      <a:tcPr marL="1828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Times New Roman" panose="02020603050405020304" pitchFamily="18" charset="0"/>
                                    <a:cs typeface="Calibri" panose="020F0502020204030204" pitchFamily="34" charset="0"/>
                                  </a:rPr>
                                  <m:t>87</m:t>
                                </m:r>
                              </m:oMath>
                            </m:oMathPara>
                          </a14:m>
                          <a:endParaRPr lang="x-none" sz="2000">
                            <a:effectLst/>
                            <a:latin typeface="Verdana" pitchFamily="34" charset="0"/>
                            <a:ea typeface="Verdana" pitchFamily="34" charset="0"/>
                            <a:cs typeface="Times New Roman" panose="02020603050405020304" pitchFamily="18" charset="0"/>
                          </a:endParaRPr>
                        </a:p>
                      </a:txBody>
                      <a:tcPr marL="1828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Times New Roman" panose="02020603050405020304" pitchFamily="18" charset="0"/>
                                    <a:cs typeface="Calibri" panose="020F0502020204030204" pitchFamily="34" charset="0"/>
                                  </a:rPr>
                                  <m:t>93</m:t>
                                </m:r>
                              </m:oMath>
                            </m:oMathPara>
                          </a14:m>
                          <a:endParaRPr lang="x-none" sz="2000">
                            <a:effectLst/>
                            <a:latin typeface="Verdana" pitchFamily="34" charset="0"/>
                            <a:ea typeface="Verdana" pitchFamily="34" charset="0"/>
                            <a:cs typeface="Times New Roman" panose="02020603050405020304" pitchFamily="18" charset="0"/>
                          </a:endParaRPr>
                        </a:p>
                      </a:txBody>
                      <a:tcPr marL="1828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111684031"/>
                      </a:ext>
                    </a:extLst>
                  </a:tr>
                  <a:tr h="457200">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Calibri" panose="020F0502020204030204" pitchFamily="34" charset="0"/>
                            </a:rPr>
                            <a:t>Number of Cones Sold</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Times New Roman" panose="02020603050405020304" pitchFamily="18" charset="0"/>
                                    <a:cs typeface="Calibri" panose="020F0502020204030204" pitchFamily="34" charset="0"/>
                                  </a:rPr>
                                  <m:t>73</m:t>
                                </m:r>
                              </m:oMath>
                            </m:oMathPara>
                          </a14:m>
                          <a:endParaRPr lang="x-none" sz="2000">
                            <a:effectLst/>
                            <a:latin typeface="Verdana" pitchFamily="34" charset="0"/>
                            <a:ea typeface="Verdana" pitchFamily="34" charset="0"/>
                            <a:cs typeface="Times New Roman" panose="02020603050405020304" pitchFamily="18" charset="0"/>
                          </a:endParaRPr>
                        </a:p>
                      </a:txBody>
                      <a:tcPr marL="1828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Times New Roman" panose="02020603050405020304" pitchFamily="18" charset="0"/>
                                    <a:cs typeface="Calibri" panose="020F0502020204030204" pitchFamily="34" charset="0"/>
                                  </a:rPr>
                                  <m:t>40</m:t>
                                </m:r>
                              </m:oMath>
                            </m:oMathPara>
                          </a14:m>
                          <a:endParaRPr lang="x-none" sz="2000">
                            <a:effectLst/>
                            <a:latin typeface="Verdana" pitchFamily="34" charset="0"/>
                            <a:ea typeface="Verdana" pitchFamily="34" charset="0"/>
                            <a:cs typeface="Times New Roman" panose="02020603050405020304" pitchFamily="18" charset="0"/>
                          </a:endParaRPr>
                        </a:p>
                      </a:txBody>
                      <a:tcPr marL="1828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Times New Roman" panose="02020603050405020304" pitchFamily="18" charset="0"/>
                                    <a:cs typeface="Calibri" panose="020F0502020204030204" pitchFamily="34" charset="0"/>
                                  </a:rPr>
                                  <m:t>60</m:t>
                                </m:r>
                              </m:oMath>
                            </m:oMathPara>
                          </a14:m>
                          <a:endParaRPr lang="x-none" sz="2000">
                            <a:effectLst/>
                            <a:latin typeface="Verdana" pitchFamily="34" charset="0"/>
                            <a:ea typeface="Verdana" pitchFamily="34" charset="0"/>
                            <a:cs typeface="Times New Roman" panose="02020603050405020304" pitchFamily="18" charset="0"/>
                          </a:endParaRPr>
                        </a:p>
                      </a:txBody>
                      <a:tcPr marL="1828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Times New Roman" panose="02020603050405020304" pitchFamily="18" charset="0"/>
                                    <a:cs typeface="Calibri" panose="020F0502020204030204" pitchFamily="34" charset="0"/>
                                  </a:rPr>
                                  <m:t>45</m:t>
                                </m:r>
                              </m:oMath>
                            </m:oMathPara>
                          </a14:m>
                          <a:endParaRPr lang="x-none" sz="2000">
                            <a:effectLst/>
                            <a:latin typeface="Verdana" pitchFamily="34" charset="0"/>
                            <a:ea typeface="Verdana" pitchFamily="34" charset="0"/>
                            <a:cs typeface="Times New Roman" panose="02020603050405020304" pitchFamily="18" charset="0"/>
                          </a:endParaRPr>
                        </a:p>
                      </a:txBody>
                      <a:tcPr marL="1828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Times New Roman" panose="02020603050405020304" pitchFamily="18" charset="0"/>
                                    <a:cs typeface="Calibri" panose="020F0502020204030204" pitchFamily="34" charset="0"/>
                                  </a:rPr>
                                  <m:t>69</m:t>
                                </m:r>
                              </m:oMath>
                            </m:oMathPara>
                          </a14:m>
                          <a:endParaRPr lang="x-none" sz="2000">
                            <a:effectLst/>
                            <a:latin typeface="Verdana" pitchFamily="34" charset="0"/>
                            <a:ea typeface="Verdana" pitchFamily="34" charset="0"/>
                            <a:cs typeface="Times New Roman" panose="02020603050405020304" pitchFamily="18" charset="0"/>
                          </a:endParaRPr>
                        </a:p>
                      </a:txBody>
                      <a:tcPr marL="1828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Times New Roman" panose="02020603050405020304" pitchFamily="18" charset="0"/>
                                    <a:cs typeface="Calibri" panose="020F0502020204030204" pitchFamily="34" charset="0"/>
                                  </a:rPr>
                                  <m:t>72</m:t>
                                </m:r>
                              </m:oMath>
                            </m:oMathPara>
                          </a14:m>
                          <a:endParaRPr lang="x-none" sz="2000" dirty="0">
                            <a:effectLst/>
                            <a:latin typeface="Verdana" pitchFamily="34" charset="0"/>
                            <a:ea typeface="Verdana" pitchFamily="34" charset="0"/>
                            <a:cs typeface="Times New Roman" panose="02020603050405020304" pitchFamily="18" charset="0"/>
                          </a:endParaRPr>
                        </a:p>
                      </a:txBody>
                      <a:tcPr marL="1828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735603880"/>
                      </a:ext>
                    </a:extLst>
                  </a:tr>
                </a:tbl>
              </a:graphicData>
            </a:graphic>
          </p:graphicFrame>
        </mc:Choice>
        <mc:Fallback>
          <p:graphicFrame>
            <p:nvGraphicFramePr>
              <p:cNvPr id="3" name="Table 2">
                <a:extLst>
                  <a:ext uri="{FF2B5EF4-FFF2-40B4-BE49-F238E27FC236}">
                    <a16:creationId xmlns:a16="http://schemas.microsoft.com/office/drawing/2014/main" xmlns:a14="http://schemas.microsoft.com/office/drawing/2010/main" xmlns="" id="{7D6CF8A9-5161-E64D-923C-DD4D7A1E11F3}"/>
                  </a:ext>
                </a:extLst>
              </p:cNvPr>
              <p:cNvGraphicFramePr>
                <a:graphicFrameLocks noGrp="1"/>
              </p:cNvGraphicFramePr>
              <p:nvPr>
                <p:extLst>
                  <p:ext uri="{D42A27DB-BD31-4B8C-83A1-F6EECF244321}">
                    <p14:modId xmlns:p14="http://schemas.microsoft.com/office/powerpoint/2010/main" val="4150469155"/>
                  </p:ext>
                </p:extLst>
              </p:nvPr>
            </p:nvGraphicFramePr>
            <p:xfrm>
              <a:off x="2497030" y="1568022"/>
              <a:ext cx="7874635" cy="2438400"/>
            </p:xfrm>
            <a:graphic>
              <a:graphicData uri="http://schemas.openxmlformats.org/drawingml/2006/table">
                <a:tbl>
                  <a:tblPr firstRow="1" firstCol="1" bandRow="1"/>
                  <a:tblGrid>
                    <a:gridCol w="3383280">
                      <a:extLst>
                        <a:ext uri="{9D8B030D-6E8A-4147-A177-3AD203B41FA5}">
                          <a16:colId xmlns:a16="http://schemas.microsoft.com/office/drawing/2014/main" xmlns:a14="http://schemas.microsoft.com/office/drawing/2010/main" xmlns="" val="1617750203"/>
                        </a:ext>
                      </a:extLst>
                    </a:gridCol>
                    <a:gridCol w="755650">
                      <a:extLst>
                        <a:ext uri="{9D8B030D-6E8A-4147-A177-3AD203B41FA5}">
                          <a16:colId xmlns:a16="http://schemas.microsoft.com/office/drawing/2014/main" xmlns:a14="http://schemas.microsoft.com/office/drawing/2010/main" xmlns="" val="2640111228"/>
                        </a:ext>
                      </a:extLst>
                    </a:gridCol>
                    <a:gridCol w="756920">
                      <a:extLst>
                        <a:ext uri="{9D8B030D-6E8A-4147-A177-3AD203B41FA5}">
                          <a16:colId xmlns:a16="http://schemas.microsoft.com/office/drawing/2014/main" xmlns:a14="http://schemas.microsoft.com/office/drawing/2010/main" xmlns="" val="840890093"/>
                        </a:ext>
                      </a:extLst>
                    </a:gridCol>
                    <a:gridCol w="756920">
                      <a:extLst>
                        <a:ext uri="{9D8B030D-6E8A-4147-A177-3AD203B41FA5}">
                          <a16:colId xmlns:a16="http://schemas.microsoft.com/office/drawing/2014/main" xmlns:a14="http://schemas.microsoft.com/office/drawing/2010/main" xmlns="" val="705394979"/>
                        </a:ext>
                      </a:extLst>
                    </a:gridCol>
                    <a:gridCol w="756920">
                      <a:extLst>
                        <a:ext uri="{9D8B030D-6E8A-4147-A177-3AD203B41FA5}">
                          <a16:colId xmlns:a16="http://schemas.microsoft.com/office/drawing/2014/main" xmlns:a14="http://schemas.microsoft.com/office/drawing/2010/main" xmlns="" val="3883435703"/>
                        </a:ext>
                      </a:extLst>
                    </a:gridCol>
                    <a:gridCol w="756920">
                      <a:extLst>
                        <a:ext uri="{9D8B030D-6E8A-4147-A177-3AD203B41FA5}">
                          <a16:colId xmlns:a16="http://schemas.microsoft.com/office/drawing/2014/main" xmlns:a14="http://schemas.microsoft.com/office/drawing/2010/main" xmlns="" val="545576875"/>
                        </a:ext>
                      </a:extLst>
                    </a:gridCol>
                    <a:gridCol w="708025">
                      <a:extLst>
                        <a:ext uri="{9D8B030D-6E8A-4147-A177-3AD203B41FA5}">
                          <a16:colId xmlns:a16="http://schemas.microsoft.com/office/drawing/2014/main" xmlns:a14="http://schemas.microsoft.com/office/drawing/2010/main" xmlns="" val="4246149710"/>
                        </a:ext>
                      </a:extLst>
                    </a:gridCol>
                  </a:tblGrid>
                  <a:tr h="487680">
                    <a:tc gridSpan="7">
                      <a:txBody>
                        <a:bodyPr/>
                        <a:lstStyle/>
                        <a:p>
                          <a:pPr marL="0" marR="0" algn="ctr">
                            <a:spcBef>
                              <a:spcPts val="0"/>
                            </a:spcBef>
                            <a:spcAft>
                              <a:spcPts val="0"/>
                            </a:spcAft>
                          </a:pPr>
                          <a:r>
                            <a:rPr lang="en-US" sz="2000" b="1" dirty="0">
                              <a:effectLst/>
                              <a:latin typeface="Verdana"/>
                              <a:ea typeface="Times New Roman"/>
                              <a:cs typeface="Times New Roman"/>
                            </a:rPr>
                            <a:t>Relationship Between Temperature and Cones Sold</a:t>
                          </a:r>
                          <a:endParaRPr lang="x-none" sz="2000">
                            <a:effectLst/>
                            <a:latin typeface="Verdana" pitchFamily="34" charset="0"/>
                            <a:ea typeface="Verdana" pitchFamily="34" charset="0"/>
                            <a:cs typeface="Times New Roman" panose="02020603050405020304" pitchFamily="18" charset="0"/>
                          </a:endParaRPr>
                        </a:p>
                      </a:txBody>
                      <a:tcPr marT="0" marB="18288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algn="ctr">
                            <a:spcBef>
                              <a:spcPts val="0"/>
                            </a:spcBef>
                            <a:spcAft>
                              <a:spcPts val="0"/>
                            </a:spcAft>
                          </a:pPr>
                          <a:endParaRPr lang="x-none" sz="2000">
                            <a:effectLst/>
                            <a:latin typeface="Verdana" pitchFamily="34" charset="0"/>
                            <a:ea typeface="Verdana" pitchFamily="34" charset="0"/>
                            <a:cs typeface="Times New Roman" panose="02020603050405020304" pitchFamily="18" charset="0"/>
                          </a:endParaRPr>
                        </a:p>
                      </a:txBody>
                      <a:tcPr marL="1828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marL="0" marR="0" algn="ctr">
                            <a:spcBef>
                              <a:spcPts val="0"/>
                            </a:spcBef>
                            <a:spcAft>
                              <a:spcPts val="0"/>
                            </a:spcAft>
                          </a:pPr>
                          <a:endParaRPr lang="x-none" sz="2000">
                            <a:effectLst/>
                            <a:latin typeface="Verdana" pitchFamily="34" charset="0"/>
                            <a:ea typeface="Verdana" pitchFamily="34" charset="0"/>
                            <a:cs typeface="Times New Roman" panose="02020603050405020304" pitchFamily="18" charset="0"/>
                          </a:endParaRPr>
                        </a:p>
                      </a:txBody>
                      <a:tcPr marL="1828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marL="0" marR="0" algn="ctr">
                            <a:spcBef>
                              <a:spcPts val="0"/>
                            </a:spcBef>
                            <a:spcAft>
                              <a:spcPts val="0"/>
                            </a:spcAft>
                          </a:pPr>
                          <a:endParaRPr lang="x-none" sz="2000">
                            <a:effectLst/>
                            <a:latin typeface="Verdana" pitchFamily="34" charset="0"/>
                            <a:ea typeface="Verdana" pitchFamily="34" charset="0"/>
                            <a:cs typeface="Times New Roman" panose="02020603050405020304" pitchFamily="18" charset="0"/>
                          </a:endParaRPr>
                        </a:p>
                      </a:txBody>
                      <a:tcPr marL="1828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marL="0" marR="0" algn="ctr">
                            <a:spcBef>
                              <a:spcPts val="0"/>
                            </a:spcBef>
                            <a:spcAft>
                              <a:spcPts val="0"/>
                            </a:spcAft>
                          </a:pPr>
                          <a:endParaRPr lang="x-none" sz="2000">
                            <a:effectLst/>
                            <a:latin typeface="Verdana" pitchFamily="34" charset="0"/>
                            <a:ea typeface="Verdana" pitchFamily="34" charset="0"/>
                            <a:cs typeface="Times New Roman" panose="02020603050405020304" pitchFamily="18" charset="0"/>
                          </a:endParaRPr>
                        </a:p>
                      </a:txBody>
                      <a:tcPr marL="1828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marL="0" marR="0" algn="ctr">
                            <a:spcBef>
                              <a:spcPts val="0"/>
                            </a:spcBef>
                            <a:spcAft>
                              <a:spcPts val="0"/>
                            </a:spcAft>
                          </a:pPr>
                          <a:endParaRPr lang="x-none" sz="2000">
                            <a:effectLst/>
                            <a:latin typeface="Verdana" pitchFamily="34" charset="0"/>
                            <a:ea typeface="Verdana" pitchFamily="34" charset="0"/>
                            <a:cs typeface="Times New Roman" panose="02020603050405020304" pitchFamily="18" charset="0"/>
                          </a:endParaRPr>
                        </a:p>
                      </a:txBody>
                      <a:tcPr marL="1828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marL="0" marR="0" algn="ctr">
                            <a:spcBef>
                              <a:spcPts val="0"/>
                            </a:spcBef>
                            <a:spcAft>
                              <a:spcPts val="0"/>
                            </a:spcAft>
                          </a:pPr>
                          <a:endParaRPr lang="x-none" sz="2000">
                            <a:effectLst/>
                            <a:latin typeface="Verdana" pitchFamily="34" charset="0"/>
                            <a:ea typeface="Verdana" pitchFamily="34" charset="0"/>
                            <a:cs typeface="Times New Roman" panose="02020603050405020304" pitchFamily="18" charset="0"/>
                          </a:endParaRPr>
                        </a:p>
                      </a:txBody>
                      <a:tcPr marL="1828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0"/>
                      </a:ext>
                    </a:extLst>
                  </a:tr>
                  <a:tr h="487680">
                    <a:tc>
                      <a:txBody>
                        <a:bodyPr/>
                        <a:lstStyle/>
                        <a:p>
                          <a:endParaRPr lang="en-US"/>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1">
                          <a:blip r:embed="rId4"/>
                          <a:stretch>
                            <a:fillRect l="-180" t="-115000" r="-132793" b="-313750"/>
                          </a:stretch>
                        </a:blipFill>
                      </a:tcPr>
                    </a:tc>
                    <a:tc>
                      <a:txBody>
                        <a:bodyPr/>
                        <a:lstStyle/>
                        <a:p>
                          <a:endParaRPr lang="en-US"/>
                        </a:p>
                      </a:txBody>
                      <a:tcPr marL="1828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1">
                          <a:blip r:embed="rId4"/>
                          <a:stretch>
                            <a:fillRect l="-448387" t="-115000" r="-494355" b="-313750"/>
                          </a:stretch>
                        </a:blipFill>
                      </a:tcPr>
                    </a:tc>
                    <a:tc>
                      <a:txBody>
                        <a:bodyPr/>
                        <a:lstStyle/>
                        <a:p>
                          <a:endParaRPr lang="en-US"/>
                        </a:p>
                      </a:txBody>
                      <a:tcPr marL="1828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1">
                          <a:blip r:embed="rId4"/>
                          <a:stretch>
                            <a:fillRect l="-548387" t="-115000" r="-394355" b="-313750"/>
                          </a:stretch>
                        </a:blipFill>
                      </a:tcPr>
                    </a:tc>
                    <a:tc>
                      <a:txBody>
                        <a:bodyPr/>
                        <a:lstStyle/>
                        <a:p>
                          <a:endParaRPr lang="en-US"/>
                        </a:p>
                      </a:txBody>
                      <a:tcPr marL="1828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1">
                          <a:blip r:embed="rId4"/>
                          <a:stretch>
                            <a:fillRect l="-648387" t="-115000" r="-294355" b="-313750"/>
                          </a:stretch>
                        </a:blipFill>
                      </a:tcPr>
                    </a:tc>
                    <a:tc>
                      <a:txBody>
                        <a:bodyPr/>
                        <a:lstStyle/>
                        <a:p>
                          <a:endParaRPr lang="en-US"/>
                        </a:p>
                      </a:txBody>
                      <a:tcPr marL="1828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1">
                          <a:blip r:embed="rId4"/>
                          <a:stretch>
                            <a:fillRect l="-748387" t="-115000" r="-194355" b="-313750"/>
                          </a:stretch>
                        </a:blipFill>
                      </a:tcPr>
                    </a:tc>
                    <a:tc>
                      <a:txBody>
                        <a:bodyPr/>
                        <a:lstStyle/>
                        <a:p>
                          <a:endParaRPr lang="en-US"/>
                        </a:p>
                      </a:txBody>
                      <a:tcPr marL="1828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1">
                          <a:blip r:embed="rId4"/>
                          <a:stretch>
                            <a:fillRect l="-848387" t="-115000" r="-94355" b="-313750"/>
                          </a:stretch>
                        </a:blipFill>
                      </a:tcPr>
                    </a:tc>
                    <a:tc>
                      <a:txBody>
                        <a:bodyPr/>
                        <a:lstStyle/>
                        <a:p>
                          <a:endParaRPr lang="en-US"/>
                        </a:p>
                      </a:txBody>
                      <a:tcPr marL="1828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1">
                          <a:blip r:embed="rId4"/>
                          <a:stretch>
                            <a:fillRect l="-1013793" t="-115000" r="-862" b="-313750"/>
                          </a:stretch>
                        </a:blipFill>
                      </a:tcPr>
                    </a:tc>
                    <a:extLst>
                      <a:ext uri="{0D108BD9-81ED-4DB2-BD59-A6C34878D82A}">
                        <a16:rowId xmlns:a16="http://schemas.microsoft.com/office/drawing/2014/main" xmlns:a14="http://schemas.microsoft.com/office/drawing/2010/main" xmlns="" val="1099667974"/>
                      </a:ext>
                    </a:extLst>
                  </a:tr>
                  <a:tr h="487680">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Calibri" panose="020F0502020204030204" pitchFamily="34" charset="0"/>
                            </a:rPr>
                            <a:t>Number of Cones Sold</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endParaRPr lang="en-US"/>
                        </a:p>
                      </a:txBody>
                      <a:tcPr marL="1828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1">
                          <a:blip r:embed="rId4"/>
                          <a:stretch>
                            <a:fillRect l="-448387" t="-215000" r="-494355" b="-213750"/>
                          </a:stretch>
                        </a:blipFill>
                      </a:tcPr>
                    </a:tc>
                    <a:tc>
                      <a:txBody>
                        <a:bodyPr/>
                        <a:lstStyle/>
                        <a:p>
                          <a:endParaRPr lang="en-US"/>
                        </a:p>
                      </a:txBody>
                      <a:tcPr marL="1828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1">
                          <a:blip r:embed="rId4"/>
                          <a:stretch>
                            <a:fillRect l="-548387" t="-215000" r="-394355" b="-213750"/>
                          </a:stretch>
                        </a:blipFill>
                      </a:tcPr>
                    </a:tc>
                    <a:tc>
                      <a:txBody>
                        <a:bodyPr/>
                        <a:lstStyle/>
                        <a:p>
                          <a:endParaRPr lang="en-US"/>
                        </a:p>
                      </a:txBody>
                      <a:tcPr marL="1828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1">
                          <a:blip r:embed="rId4"/>
                          <a:stretch>
                            <a:fillRect l="-648387" t="-215000" r="-294355" b="-213750"/>
                          </a:stretch>
                        </a:blipFill>
                      </a:tcPr>
                    </a:tc>
                    <a:tc>
                      <a:txBody>
                        <a:bodyPr/>
                        <a:lstStyle/>
                        <a:p>
                          <a:endParaRPr lang="en-US"/>
                        </a:p>
                      </a:txBody>
                      <a:tcPr marL="1828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1">
                          <a:blip r:embed="rId4"/>
                          <a:stretch>
                            <a:fillRect l="-748387" t="-215000" r="-194355" b="-213750"/>
                          </a:stretch>
                        </a:blipFill>
                      </a:tcPr>
                    </a:tc>
                    <a:tc>
                      <a:txBody>
                        <a:bodyPr/>
                        <a:lstStyle/>
                        <a:p>
                          <a:endParaRPr lang="en-US"/>
                        </a:p>
                      </a:txBody>
                      <a:tcPr marL="1828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1">
                          <a:blip r:embed="rId4"/>
                          <a:stretch>
                            <a:fillRect l="-848387" t="-215000" r="-94355" b="-213750"/>
                          </a:stretch>
                        </a:blipFill>
                      </a:tcPr>
                    </a:tc>
                    <a:tc>
                      <a:txBody>
                        <a:bodyPr/>
                        <a:lstStyle/>
                        <a:p>
                          <a:endParaRPr lang="en-US"/>
                        </a:p>
                      </a:txBody>
                      <a:tcPr marL="1828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1">
                          <a:blip r:embed="rId4"/>
                          <a:stretch>
                            <a:fillRect l="-1013793" t="-215000" r="-862" b="-213750"/>
                          </a:stretch>
                        </a:blipFill>
                      </a:tcPr>
                    </a:tc>
                    <a:extLst>
                      <a:ext uri="{0D108BD9-81ED-4DB2-BD59-A6C34878D82A}">
                        <a16:rowId xmlns:a16="http://schemas.microsoft.com/office/drawing/2014/main" xmlns:a14="http://schemas.microsoft.com/office/drawing/2010/main" xmlns="" val="1015244002"/>
                      </a:ext>
                    </a:extLst>
                  </a:tr>
                  <a:tr h="487680">
                    <a:tc>
                      <a:txBody>
                        <a:bodyPr/>
                        <a:lstStyle/>
                        <a:p>
                          <a:endParaRPr lang="en-US"/>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1">
                          <a:blip r:embed="rId4"/>
                          <a:stretch>
                            <a:fillRect l="-180" t="-315000" r="-132793" b="-113750"/>
                          </a:stretch>
                        </a:blipFill>
                      </a:tcPr>
                    </a:tc>
                    <a:tc>
                      <a:txBody>
                        <a:bodyPr/>
                        <a:lstStyle/>
                        <a:p>
                          <a:endParaRPr lang="en-US"/>
                        </a:p>
                      </a:txBody>
                      <a:tcPr marL="1828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1">
                          <a:blip r:embed="rId4"/>
                          <a:stretch>
                            <a:fillRect l="-448387" t="-315000" r="-494355" b="-113750"/>
                          </a:stretch>
                        </a:blipFill>
                      </a:tcPr>
                    </a:tc>
                    <a:tc>
                      <a:txBody>
                        <a:bodyPr/>
                        <a:lstStyle/>
                        <a:p>
                          <a:endParaRPr lang="en-US"/>
                        </a:p>
                      </a:txBody>
                      <a:tcPr marL="1828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1">
                          <a:blip r:embed="rId4"/>
                          <a:stretch>
                            <a:fillRect l="-548387" t="-315000" r="-394355" b="-113750"/>
                          </a:stretch>
                        </a:blipFill>
                      </a:tcPr>
                    </a:tc>
                    <a:tc>
                      <a:txBody>
                        <a:bodyPr/>
                        <a:lstStyle/>
                        <a:p>
                          <a:endParaRPr lang="en-US"/>
                        </a:p>
                      </a:txBody>
                      <a:tcPr marL="1828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1">
                          <a:blip r:embed="rId4"/>
                          <a:stretch>
                            <a:fillRect l="-648387" t="-315000" r="-294355" b="-113750"/>
                          </a:stretch>
                        </a:blipFill>
                      </a:tcPr>
                    </a:tc>
                    <a:tc>
                      <a:txBody>
                        <a:bodyPr/>
                        <a:lstStyle/>
                        <a:p>
                          <a:endParaRPr lang="en-US"/>
                        </a:p>
                      </a:txBody>
                      <a:tcPr marL="1828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1">
                          <a:blip r:embed="rId4"/>
                          <a:stretch>
                            <a:fillRect l="-748387" t="-315000" r="-194355" b="-113750"/>
                          </a:stretch>
                        </a:blipFill>
                      </a:tcPr>
                    </a:tc>
                    <a:tc>
                      <a:txBody>
                        <a:bodyPr/>
                        <a:lstStyle/>
                        <a:p>
                          <a:endParaRPr lang="en-US"/>
                        </a:p>
                      </a:txBody>
                      <a:tcPr marL="1828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1">
                          <a:blip r:embed="rId4"/>
                          <a:stretch>
                            <a:fillRect l="-848387" t="-315000" r="-94355" b="-113750"/>
                          </a:stretch>
                        </a:blipFill>
                      </a:tcPr>
                    </a:tc>
                    <a:tc>
                      <a:txBody>
                        <a:bodyPr/>
                        <a:lstStyle/>
                        <a:p>
                          <a:endParaRPr lang="en-US"/>
                        </a:p>
                      </a:txBody>
                      <a:tcPr marL="1828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1">
                          <a:blip r:embed="rId4"/>
                          <a:stretch>
                            <a:fillRect l="-1013793" t="-315000" r="-862" b="-113750"/>
                          </a:stretch>
                        </a:blipFill>
                      </a:tcPr>
                    </a:tc>
                    <a:extLst>
                      <a:ext uri="{0D108BD9-81ED-4DB2-BD59-A6C34878D82A}">
                        <a16:rowId xmlns:a16="http://schemas.microsoft.com/office/drawing/2014/main" xmlns:a14="http://schemas.microsoft.com/office/drawing/2010/main" xmlns="" val="3111684031"/>
                      </a:ext>
                    </a:extLst>
                  </a:tr>
                  <a:tr h="487680">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Calibri" panose="020F0502020204030204" pitchFamily="34" charset="0"/>
                            </a:rPr>
                            <a:t>Number of Cones Sold</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endParaRPr lang="en-US"/>
                        </a:p>
                      </a:txBody>
                      <a:tcPr marL="1828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1">
                          <a:blip r:embed="rId4"/>
                          <a:stretch>
                            <a:fillRect l="-448387" t="-415000" r="-494355" b="-13750"/>
                          </a:stretch>
                        </a:blipFill>
                      </a:tcPr>
                    </a:tc>
                    <a:tc>
                      <a:txBody>
                        <a:bodyPr/>
                        <a:lstStyle/>
                        <a:p>
                          <a:endParaRPr lang="en-US"/>
                        </a:p>
                      </a:txBody>
                      <a:tcPr marL="1828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1">
                          <a:blip r:embed="rId4"/>
                          <a:stretch>
                            <a:fillRect l="-548387" t="-415000" r="-394355" b="-13750"/>
                          </a:stretch>
                        </a:blipFill>
                      </a:tcPr>
                    </a:tc>
                    <a:tc>
                      <a:txBody>
                        <a:bodyPr/>
                        <a:lstStyle/>
                        <a:p>
                          <a:endParaRPr lang="en-US"/>
                        </a:p>
                      </a:txBody>
                      <a:tcPr marL="1828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1">
                          <a:blip r:embed="rId4"/>
                          <a:stretch>
                            <a:fillRect l="-648387" t="-415000" r="-294355" b="-13750"/>
                          </a:stretch>
                        </a:blipFill>
                      </a:tcPr>
                    </a:tc>
                    <a:tc>
                      <a:txBody>
                        <a:bodyPr/>
                        <a:lstStyle/>
                        <a:p>
                          <a:endParaRPr lang="en-US"/>
                        </a:p>
                      </a:txBody>
                      <a:tcPr marL="1828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1">
                          <a:blip r:embed="rId4"/>
                          <a:stretch>
                            <a:fillRect l="-748387" t="-415000" r="-194355" b="-13750"/>
                          </a:stretch>
                        </a:blipFill>
                      </a:tcPr>
                    </a:tc>
                    <a:tc>
                      <a:txBody>
                        <a:bodyPr/>
                        <a:lstStyle/>
                        <a:p>
                          <a:endParaRPr lang="en-US"/>
                        </a:p>
                      </a:txBody>
                      <a:tcPr marL="1828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1">
                          <a:blip r:embed="rId4"/>
                          <a:stretch>
                            <a:fillRect l="-848387" t="-415000" r="-94355" b="-13750"/>
                          </a:stretch>
                        </a:blipFill>
                      </a:tcPr>
                    </a:tc>
                    <a:tc>
                      <a:txBody>
                        <a:bodyPr/>
                        <a:lstStyle/>
                        <a:p>
                          <a:endParaRPr lang="en-US"/>
                        </a:p>
                      </a:txBody>
                      <a:tcPr marL="1828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1">
                          <a:blip r:embed="rId4"/>
                          <a:stretch>
                            <a:fillRect l="-1013793" t="-415000" r="-862" b="-13750"/>
                          </a:stretch>
                        </a:blipFill>
                      </a:tcPr>
                    </a:tc>
                    <a:extLst>
                      <a:ext uri="{0D108BD9-81ED-4DB2-BD59-A6C34878D82A}">
                        <a16:rowId xmlns:a16="http://schemas.microsoft.com/office/drawing/2014/main" xmlns:a14="http://schemas.microsoft.com/office/drawing/2010/main" xmlns="" val="3735603880"/>
                      </a:ext>
                    </a:extLst>
                  </a:tr>
                </a:tbl>
              </a:graphicData>
            </a:graphic>
          </p:graphicFrame>
        </mc:Fallback>
      </mc:AlternateContent>
      <p:pic>
        <p:nvPicPr>
          <p:cNvPr id="7" name="Google Shape;311;g104476d1465_1_39"/>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smtClean="0">
                <a:latin typeface="Calibri"/>
                <a:ea typeface="Calibri"/>
                <a:cs typeface="Calibri"/>
                <a:sym typeface="Calibri"/>
              </a:rPr>
              <a:t>141</a:t>
            </a:r>
            <a:endParaRPr i="1" dirty="0">
              <a:latin typeface="Calibri"/>
              <a:ea typeface="Calibri"/>
              <a:cs typeface="Calibri"/>
              <a:sym typeface="Calibri"/>
            </a:endParaRPr>
          </a:p>
        </p:txBody>
      </p:sp>
    </p:spTree>
    <p:extLst>
      <p:ext uri="{BB962C8B-B14F-4D97-AF65-F5344CB8AC3E}">
        <p14:creationId xmlns:p14="http://schemas.microsoft.com/office/powerpoint/2010/main" val="21221471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xmlns="" id="{C8F82859-BA98-3646-BF3B-9E17E52A2E35}"/>
                  </a:ext>
                </a:extLst>
              </p:cNvPr>
              <p:cNvSpPr txBox="1"/>
              <p:nvPr/>
            </p:nvSpPr>
            <p:spPr>
              <a:xfrm>
                <a:off x="567866" y="5227895"/>
                <a:ext cx="10800000" cy="707886"/>
              </a:xfrm>
              <a:prstGeom prst="rect">
                <a:avLst/>
              </a:prstGeom>
              <a:noFill/>
            </p:spPr>
            <p:txBody>
              <a:bodyPr wrap="square" rtlCol="0">
                <a:spAutoFit/>
              </a:bodyPr>
              <a:lstStyle/>
              <a:p>
                <a:pPr marL="457200"/>
                <a:r>
                  <a:rPr lang="en-US" sz="2000" dirty="0">
                    <a:latin typeface="Verdana" panose="020B0604030504040204" pitchFamily="34" charset="0"/>
                    <a:ea typeface="Verdana" panose="020B0604030504040204" pitchFamily="34" charset="0"/>
                    <a:cs typeface="Verdana" panose="020B0604030504040204" pitchFamily="34" charset="0"/>
                  </a:rPr>
                  <a:t>The equation of the line of best fit for this data is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𝑦</m:t>
                    </m:r>
                    <m:r>
                      <a:rPr lang="en-US" sz="2000" i="1" dirty="0">
                        <a:latin typeface="Cambria Math" panose="02040503050406030204" pitchFamily="18" charset="0"/>
                        <a:ea typeface="Verdana" panose="020B0604030504040204" pitchFamily="34" charset="0"/>
                        <a:cs typeface="Verdana" panose="020B0604030504040204" pitchFamily="34" charset="0"/>
                      </a:rPr>
                      <m:t>=2.0925</m:t>
                    </m:r>
                    <m:r>
                      <a:rPr lang="en-US" sz="2000" i="1" dirty="0">
                        <a:latin typeface="Cambria Math" panose="02040503050406030204" pitchFamily="18" charset="0"/>
                        <a:ea typeface="Verdana" panose="020B0604030504040204" pitchFamily="34" charset="0"/>
                        <a:cs typeface="Verdana" panose="020B0604030504040204" pitchFamily="34" charset="0"/>
                      </a:rPr>
                      <m:t>𝑥</m:t>
                    </m:r>
                    <m:r>
                      <a:rPr lang="en-US" sz="2000" i="1" dirty="0">
                        <a:latin typeface="Cambria Math" panose="02040503050406030204" pitchFamily="18" charset="0"/>
                        <a:ea typeface="Verdana" panose="020B0604030504040204" pitchFamily="34" charset="0"/>
                        <a:cs typeface="Verdana" panose="020B0604030504040204" pitchFamily="34" charset="0"/>
                      </a:rPr>
                      <m:t>−115.195</m:t>
                    </m:r>
                  </m:oMath>
                </a14:m>
                <a:r>
                  <a:rPr lang="en-US" sz="2000" dirty="0">
                    <a:latin typeface="Verdana" panose="020B0604030504040204" pitchFamily="34" charset="0"/>
                    <a:ea typeface="Verdana" panose="020B0604030504040204" pitchFamily="34" charset="0"/>
                    <a:cs typeface="Verdana" panose="020B0604030504040204" pitchFamily="34" charset="0"/>
                  </a:rPr>
                  <a:t> with a correlation coefficient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𝑟</m:t>
                    </m:r>
                    <m:r>
                      <a:rPr lang="en-US" sz="2000" i="1" dirty="0">
                        <a:latin typeface="Cambria Math" panose="02040503050406030204" pitchFamily="18" charset="0"/>
                        <a:ea typeface="Verdana" panose="020B0604030504040204" pitchFamily="34" charset="0"/>
                        <a:cs typeface="Verdana" panose="020B0604030504040204" pitchFamily="34" charset="0"/>
                      </a:rPr>
                      <m:t>=0.9646</m:t>
                    </m:r>
                  </m:oMath>
                </a14:m>
                <a:r>
                  <a:rPr lang="en-US" sz="2000" dirty="0">
                    <a:latin typeface="Verdana" panose="020B0604030504040204" pitchFamily="34" charset="0"/>
                    <a:ea typeface="Verdana" panose="020B0604030504040204" pitchFamily="34" charset="0"/>
                    <a:cs typeface="Verdana" panose="020B0604030504040204" pitchFamily="34" charset="0"/>
                  </a:rPr>
                  <a:t>.</a:t>
                </a:r>
              </a:p>
            </p:txBody>
          </p:sp>
        </mc:Choice>
        <mc:Fallback>
          <p:sp>
            <p:nvSpPr>
              <p:cNvPr id="6" name="TextBox 5">
                <a:extLst>
                  <a:ext uri="{FF2B5EF4-FFF2-40B4-BE49-F238E27FC236}">
                    <a16:creationId xmlns:a16="http://schemas.microsoft.com/office/drawing/2014/main" xmlns:a14="http://schemas.microsoft.com/office/drawing/2010/main" xmlns="" id="{C8F82859-BA98-3646-BF3B-9E17E52A2E35}"/>
                  </a:ext>
                </a:extLst>
              </p:cNvPr>
              <p:cNvSpPr txBox="1">
                <a:spLocks noRot="1" noChangeAspect="1" noMove="1" noResize="1" noEditPoints="1" noAdjustHandles="1" noChangeArrowheads="1" noChangeShapeType="1" noTextEdit="1"/>
              </p:cNvSpPr>
              <p:nvPr/>
            </p:nvSpPr>
            <p:spPr>
              <a:xfrm>
                <a:off x="567866" y="5227895"/>
                <a:ext cx="10800000" cy="707886"/>
              </a:xfrm>
              <a:prstGeom prst="rect">
                <a:avLst/>
              </a:prstGeom>
              <a:blipFill rotWithShape="1">
                <a:blip r:embed="rId3"/>
                <a:stretch>
                  <a:fillRect t="-4310" b="-14655"/>
                </a:stretch>
              </a:blipFill>
            </p:spPr>
            <p:txBody>
              <a:bodyPr/>
              <a:lstStyle/>
              <a:p>
                <a:r>
                  <a:rPr lang="en-PH">
                    <a:noFill/>
                  </a:rPr>
                  <a:t> </a:t>
                </a:r>
              </a:p>
            </p:txBody>
          </p:sp>
        </mc:Fallback>
      </mc:AlternateContent>
      <p:pic>
        <p:nvPicPr>
          <p:cNvPr id="7" name="Picture 6" descr="Chart, line chart&#10;&#10;Description automatically generated">
            <a:extLst>
              <a:ext uri="{FF2B5EF4-FFF2-40B4-BE49-F238E27FC236}">
                <a16:creationId xmlns:a16="http://schemas.microsoft.com/office/drawing/2014/main" xmlns="" id="{7761C3C8-1C6A-E849-9046-DE0511ADBE24}"/>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834765" y="462280"/>
            <a:ext cx="4522470" cy="4522470"/>
          </a:xfrm>
          <a:prstGeom prst="rect">
            <a:avLst/>
          </a:prstGeom>
          <a:ln w="3175" cap="sq">
            <a:solidFill>
              <a:srgbClr val="000000"/>
            </a:solidFill>
            <a:prstDash val="solid"/>
            <a:miter lim="800000"/>
          </a:ln>
          <a:effectLst/>
        </p:spPr>
      </p:pic>
      <p:pic>
        <p:nvPicPr>
          <p:cNvPr id="8" name="Google Shape;311;g104476d1465_1_39"/>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smtClean="0">
                <a:latin typeface="Calibri"/>
                <a:ea typeface="Calibri"/>
                <a:cs typeface="Calibri"/>
                <a:sym typeface="Calibri"/>
              </a:rPr>
              <a:t>141</a:t>
            </a:r>
            <a:endParaRPr i="1" dirty="0">
              <a:latin typeface="Calibri"/>
              <a:ea typeface="Calibri"/>
              <a:cs typeface="Calibri"/>
              <a:sym typeface="Calibri"/>
            </a:endParaRPr>
          </a:p>
        </p:txBody>
      </p:sp>
    </p:spTree>
    <p:extLst>
      <p:ext uri="{BB962C8B-B14F-4D97-AF65-F5344CB8AC3E}">
        <p14:creationId xmlns:p14="http://schemas.microsoft.com/office/powerpoint/2010/main" val="33708358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xmlns="" id="{C8F82859-BA98-3646-BF3B-9E17E52A2E35}"/>
                  </a:ext>
                </a:extLst>
              </p:cNvPr>
              <p:cNvSpPr txBox="1"/>
              <p:nvPr/>
            </p:nvSpPr>
            <p:spPr>
              <a:xfrm>
                <a:off x="538806" y="496715"/>
                <a:ext cx="10800000" cy="4401205"/>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Complete the statements.</a:t>
                </a:r>
              </a:p>
              <a:p>
                <a:endParaRPr lang="en-PH"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There is a                                                 </a:t>
                </a:r>
                <a:r>
                  <a:rPr lang="en-US" sz="2000" dirty="0" smtClean="0">
                    <a:latin typeface="Verdana" panose="020B0604030504040204" pitchFamily="34" charset="0"/>
                    <a:ea typeface="Verdana" panose="020B0604030504040204" pitchFamily="34" charset="0"/>
                    <a:cs typeface="Verdana" panose="020B0604030504040204" pitchFamily="34" charset="0"/>
                  </a:rPr>
                  <a:t>	     association </a:t>
                </a:r>
                <a:r>
                  <a:rPr lang="en-US" sz="2000" dirty="0">
                    <a:latin typeface="Verdana" panose="020B0604030504040204" pitchFamily="34" charset="0"/>
                    <a:ea typeface="Verdana" panose="020B0604030504040204" pitchFamily="34" charset="0"/>
                    <a:cs typeface="Verdana" panose="020B0604030504040204" pitchFamily="34" charset="0"/>
                  </a:rPr>
                  <a:t>between the </a:t>
                </a:r>
                <a:r>
                  <a:rPr lang="en-US" sz="2000" dirty="0" smtClean="0">
                    <a:latin typeface="Verdana" panose="020B0604030504040204" pitchFamily="34" charset="0"/>
                    <a:ea typeface="Verdana" panose="020B0604030504040204" pitchFamily="34" charset="0"/>
                    <a:cs typeface="Verdana" panose="020B0604030504040204" pitchFamily="34" charset="0"/>
                  </a:rPr>
                  <a:t/>
                </a:r>
                <a:br>
                  <a:rPr lang="en-US" sz="2000" dirty="0" smtClean="0">
                    <a:latin typeface="Verdana" panose="020B0604030504040204" pitchFamily="34" charset="0"/>
                    <a:ea typeface="Verdana" panose="020B0604030504040204" pitchFamily="34" charset="0"/>
                    <a:cs typeface="Verdana" panose="020B0604030504040204" pitchFamily="34" charset="0"/>
                  </a:rPr>
                </a:br>
                <a:r>
                  <a:rPr lang="en-US" sz="2000" dirty="0" smtClean="0">
                    <a:latin typeface="Verdana" panose="020B0604030504040204" pitchFamily="34" charset="0"/>
                    <a:ea typeface="Verdana" panose="020B0604030504040204" pitchFamily="34" charset="0"/>
                    <a:cs typeface="Verdana" panose="020B0604030504040204" pitchFamily="34" charset="0"/>
                  </a:rPr>
                  <a:t/>
                </a:r>
                <a:br>
                  <a:rPr lang="en-US" sz="2000" dirty="0" smtClean="0">
                    <a:latin typeface="Verdana" panose="020B0604030504040204" pitchFamily="34" charset="0"/>
                    <a:ea typeface="Verdana" panose="020B0604030504040204" pitchFamily="34" charset="0"/>
                    <a:cs typeface="Verdana" panose="020B0604030504040204" pitchFamily="34" charset="0"/>
                  </a:rPr>
                </a:br>
                <a:r>
                  <a:rPr lang="en-US" sz="2000" dirty="0" smtClean="0">
                    <a:latin typeface="Verdana" panose="020B0604030504040204" pitchFamily="34" charset="0"/>
                    <a:ea typeface="Verdana" panose="020B0604030504040204" pitchFamily="34" charset="0"/>
                    <a:cs typeface="Verdana" panose="020B0604030504040204" pitchFamily="34" charset="0"/>
                  </a:rPr>
                  <a:t/>
                </a:r>
                <a:br>
                  <a:rPr lang="en-US" sz="2000" dirty="0" smtClean="0">
                    <a:latin typeface="Verdana" panose="020B0604030504040204" pitchFamily="34" charset="0"/>
                    <a:ea typeface="Verdana" panose="020B0604030504040204" pitchFamily="34" charset="0"/>
                    <a:cs typeface="Verdana" panose="020B0604030504040204" pitchFamily="34" charset="0"/>
                  </a:rPr>
                </a:br>
                <a:r>
                  <a:rPr lang="en-US" sz="2000" dirty="0" smtClean="0">
                    <a:latin typeface="Verdana" panose="020B0604030504040204" pitchFamily="34" charset="0"/>
                    <a:ea typeface="Verdana" panose="020B0604030504040204" pitchFamily="34" charset="0"/>
                    <a:cs typeface="Verdana" panose="020B0604030504040204" pitchFamily="34" charset="0"/>
                  </a:rPr>
                  <a:t>temperature </a:t>
                </a:r>
                <a:r>
                  <a:rPr lang="en-US" sz="2000" dirty="0">
                    <a:latin typeface="Verdana" panose="020B0604030504040204" pitchFamily="34" charset="0"/>
                    <a:ea typeface="Verdana" panose="020B0604030504040204" pitchFamily="34" charset="0"/>
                    <a:cs typeface="Verdana" panose="020B0604030504040204" pitchFamily="34" charset="0"/>
                  </a:rPr>
                  <a:t>outside and the number </a:t>
                </a:r>
                <a:r>
                  <a:rPr lang="en-US" sz="2000" dirty="0" smtClean="0">
                    <a:latin typeface="Verdana" panose="020B0604030504040204" pitchFamily="34" charset="0"/>
                    <a:ea typeface="Verdana" panose="020B0604030504040204" pitchFamily="34" charset="0"/>
                    <a:cs typeface="Verdana" panose="020B0604030504040204" pitchFamily="34" charset="0"/>
                  </a:rPr>
                  <a:t>of </a:t>
                </a:r>
                <a:r>
                  <a:rPr lang="en-US" sz="2000" dirty="0">
                    <a:latin typeface="Verdana" panose="020B0604030504040204" pitchFamily="34" charset="0"/>
                    <a:ea typeface="Verdana" panose="020B0604030504040204" pitchFamily="34" charset="0"/>
                    <a:cs typeface="Verdana" panose="020B0604030504040204" pitchFamily="34" charset="0"/>
                  </a:rPr>
                  <a:t>ice cream cones Albert sells in June. </a:t>
                </a:r>
                <a:r>
                  <a:rPr lang="en-US" sz="2000" dirty="0" smtClean="0">
                    <a:latin typeface="Verdana" panose="020B0604030504040204" pitchFamily="34" charset="0"/>
                    <a:ea typeface="Verdana" panose="020B0604030504040204" pitchFamily="34" charset="0"/>
                    <a:cs typeface="Verdana" panose="020B0604030504040204" pitchFamily="34" charset="0"/>
                  </a:rPr>
                  <a:t/>
                </a:r>
                <a:br>
                  <a:rPr lang="en-US" sz="2000" dirty="0" smtClean="0">
                    <a:latin typeface="Verdana" panose="020B0604030504040204" pitchFamily="34" charset="0"/>
                    <a:ea typeface="Verdana" panose="020B0604030504040204" pitchFamily="34" charset="0"/>
                    <a:cs typeface="Verdana" panose="020B0604030504040204" pitchFamily="34" charset="0"/>
                  </a:rPr>
                </a:br>
                <a:r>
                  <a:rPr lang="en-US" sz="2000" dirty="0" smtClean="0">
                    <a:latin typeface="Verdana" panose="020B0604030504040204" pitchFamily="34" charset="0"/>
                    <a:ea typeface="Verdana" panose="020B0604030504040204" pitchFamily="34" charset="0"/>
                    <a:cs typeface="Verdana" panose="020B0604030504040204" pitchFamily="34" charset="0"/>
                  </a:rPr>
                  <a:t/>
                </a:r>
                <a:br>
                  <a:rPr lang="en-US" sz="2000" dirty="0" smtClean="0">
                    <a:latin typeface="Verdana" panose="020B0604030504040204" pitchFamily="34" charset="0"/>
                    <a:ea typeface="Verdana" panose="020B0604030504040204" pitchFamily="34" charset="0"/>
                    <a:cs typeface="Verdana" panose="020B0604030504040204" pitchFamily="34" charset="0"/>
                  </a:rPr>
                </a:br>
                <a:r>
                  <a:rPr lang="en-US" sz="2000" dirty="0" smtClean="0">
                    <a:latin typeface="Verdana" panose="020B0604030504040204" pitchFamily="34" charset="0"/>
                    <a:ea typeface="Verdana" panose="020B0604030504040204" pitchFamily="34" charset="0"/>
                    <a:cs typeface="Verdana" panose="020B0604030504040204" pitchFamily="34" charset="0"/>
                  </a:rPr>
                  <a:t/>
                </a:r>
                <a:br>
                  <a:rPr lang="en-US" sz="2000" dirty="0" smtClean="0">
                    <a:latin typeface="Verdana" panose="020B0604030504040204" pitchFamily="34" charset="0"/>
                    <a:ea typeface="Verdana" panose="020B0604030504040204" pitchFamily="34" charset="0"/>
                    <a:cs typeface="Verdana" panose="020B0604030504040204" pitchFamily="34" charset="0"/>
                  </a:rPr>
                </a:br>
                <a:r>
                  <a:rPr lang="en-US" sz="2000" dirty="0" smtClean="0">
                    <a:latin typeface="Verdana" panose="020B0604030504040204" pitchFamily="34" charset="0"/>
                    <a:ea typeface="Verdana" panose="020B0604030504040204" pitchFamily="34" charset="0"/>
                    <a:cs typeface="Verdana" panose="020B0604030504040204" pitchFamily="34" charset="0"/>
                  </a:rPr>
                  <a:t>The </a:t>
                </a:r>
                <a:r>
                  <a:rPr lang="en-US" sz="2000" dirty="0">
                    <a:latin typeface="Verdana" panose="020B0604030504040204" pitchFamily="34" charset="0"/>
                    <a:ea typeface="Verdana" panose="020B0604030504040204" pitchFamily="34" charset="0"/>
                    <a:cs typeface="Verdana" panose="020B0604030504040204" pitchFamily="34" charset="0"/>
                  </a:rPr>
                  <a:t>number of </a:t>
                </a:r>
                <a:r>
                  <a:rPr lang="en-US" sz="2000" dirty="0" smtClean="0">
                    <a:latin typeface="Verdana" panose="020B0604030504040204" pitchFamily="34" charset="0"/>
                    <a:ea typeface="Verdana" panose="020B0604030504040204" pitchFamily="34" charset="0"/>
                    <a:cs typeface="Verdana" panose="020B0604030504040204" pitchFamily="34" charset="0"/>
                  </a:rPr>
                  <a:t>cones he sells	   </a:t>
                </a:r>
                <a:r>
                  <a:rPr lang="en-US" sz="2000" dirty="0">
                    <a:latin typeface="Verdana" panose="020B0604030504040204" pitchFamily="34" charset="0"/>
                    <a:ea typeface="Verdana" panose="020B0604030504040204" pitchFamily="34" charset="0"/>
                    <a:cs typeface="Verdana" panose="020B0604030504040204" pitchFamily="34" charset="0"/>
                  </a:rPr>
                  <a:t>	</a:t>
                </a:r>
                <a:r>
                  <a:rPr lang="en-US" sz="2000" dirty="0" smtClean="0">
                    <a:latin typeface="Verdana" panose="020B0604030504040204" pitchFamily="34" charset="0"/>
                    <a:ea typeface="Verdana" panose="020B0604030504040204" pitchFamily="34" charset="0"/>
                    <a:cs typeface="Verdana" panose="020B0604030504040204" pitchFamily="34" charset="0"/>
                  </a:rPr>
                  <a:t>    by </a:t>
                </a:r>
                <a:r>
                  <a:rPr lang="en-US" sz="2000" dirty="0">
                    <a:latin typeface="Verdana" panose="020B0604030504040204" pitchFamily="34" charset="0"/>
                    <a:ea typeface="Verdana" panose="020B0604030504040204" pitchFamily="34" charset="0"/>
                    <a:cs typeface="Verdana" panose="020B0604030504040204" pitchFamily="34" charset="0"/>
                  </a:rPr>
                  <a:t>approximately              for every </a:t>
                </a: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
                </a: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
                </a:r>
                <a:br>
                  <a:rPr lang="en-US" sz="2000" dirty="0">
                    <a:latin typeface="Verdana" panose="020B0604030504040204" pitchFamily="34" charset="0"/>
                    <a:ea typeface="Verdana" panose="020B0604030504040204" pitchFamily="34" charset="0"/>
                    <a:cs typeface="Verdana" panose="020B0604030504040204" pitchFamily="34" charset="0"/>
                  </a:rPr>
                </a:b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1</m:t>
                    </m:r>
                  </m:oMath>
                </a14:m>
                <a:r>
                  <a:rPr lang="en-US" sz="2000" dirty="0">
                    <a:latin typeface="Verdana" panose="020B0604030504040204" pitchFamily="34" charset="0"/>
                    <a:ea typeface="Verdana" panose="020B0604030504040204" pitchFamily="34" charset="0"/>
                    <a:cs typeface="Verdana" panose="020B0604030504040204" pitchFamily="34" charset="0"/>
                  </a:rPr>
                  <a:t>℉ increase in the temperature outside.</a:t>
                </a:r>
              </a:p>
              <a:p>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p:sp>
            <p:nvSpPr>
              <p:cNvPr id="6" name="TextBox 5">
                <a:extLst>
                  <a:ext uri="{FF2B5EF4-FFF2-40B4-BE49-F238E27FC236}">
                    <a16:creationId xmlns:a16="http://schemas.microsoft.com/office/drawing/2014/main" xmlns:a14="http://schemas.microsoft.com/office/drawing/2010/main" xmlns="" id="{C8F82859-BA98-3646-BF3B-9E17E52A2E35}"/>
                  </a:ext>
                </a:extLst>
              </p:cNvPr>
              <p:cNvSpPr txBox="1">
                <a:spLocks noRot="1" noChangeAspect="1" noMove="1" noResize="1" noEditPoints="1" noAdjustHandles="1" noChangeArrowheads="1" noChangeShapeType="1" noTextEdit="1"/>
              </p:cNvSpPr>
              <p:nvPr/>
            </p:nvSpPr>
            <p:spPr>
              <a:xfrm>
                <a:off x="538806" y="496715"/>
                <a:ext cx="10800000" cy="4401205"/>
              </a:xfrm>
              <a:prstGeom prst="rect">
                <a:avLst/>
              </a:prstGeom>
              <a:blipFill rotWithShape="1">
                <a:blip r:embed="rId3"/>
                <a:stretch>
                  <a:fillRect l="-564" t="-693"/>
                </a:stretch>
              </a:blipFill>
            </p:spPr>
            <p:txBody>
              <a:bodyPr/>
              <a:lstStyle/>
              <a:p>
                <a:r>
                  <a:rPr lang="en-PH">
                    <a:noFill/>
                  </a:rPr>
                  <a:t> </a:t>
                </a:r>
              </a:p>
            </p:txBody>
          </p:sp>
        </mc:Fallback>
      </mc:AlternateContent>
      <p:sp>
        <p:nvSpPr>
          <p:cNvPr id="11" name="Rounded Rectangle 10"/>
          <p:cNvSpPr/>
          <p:nvPr/>
        </p:nvSpPr>
        <p:spPr>
          <a:xfrm>
            <a:off x="1995660" y="1231892"/>
            <a:ext cx="1463040" cy="786384"/>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spAutoFit/>
          </a:bodyPr>
          <a:lstStyle/>
          <a:p>
            <a:pPr marL="231775" indent="-231775">
              <a:buFont typeface="Courier New" pitchFamily="49" charset="0"/>
              <a:buChar char="o"/>
            </a:pPr>
            <a:r>
              <a:rPr lang="en-US" sz="2000" dirty="0">
                <a:solidFill>
                  <a:srgbClr val="000000"/>
                </a:solidFill>
                <a:latin typeface="Verdana" pitchFamily="34" charset="0"/>
                <a:ea typeface="Verdana" pitchFamily="34" charset="0"/>
                <a:cs typeface="Times New Roman"/>
              </a:rPr>
              <a:t>weak,</a:t>
            </a:r>
            <a:endParaRPr lang="en-US" sz="2000" dirty="0">
              <a:latin typeface="Verdana" pitchFamily="34" charset="0"/>
              <a:ea typeface="Verdana" pitchFamily="34" charset="0"/>
              <a:cs typeface="Times New Roman"/>
            </a:endParaRPr>
          </a:p>
          <a:p>
            <a:pPr marL="231775" indent="-231775">
              <a:spcAft>
                <a:spcPts val="1000"/>
              </a:spcAft>
              <a:buFont typeface="Courier New" pitchFamily="49" charset="0"/>
              <a:buChar char="o"/>
            </a:pPr>
            <a:r>
              <a:rPr lang="en-US" sz="2000" dirty="0">
                <a:solidFill>
                  <a:srgbClr val="000000"/>
                </a:solidFill>
                <a:latin typeface="Verdana" pitchFamily="34" charset="0"/>
                <a:ea typeface="Verdana" pitchFamily="34" charset="0"/>
                <a:cs typeface="Times New Roman"/>
              </a:rPr>
              <a:t>strong,</a:t>
            </a:r>
            <a:endParaRPr lang="en-US" sz="2000" dirty="0">
              <a:latin typeface="Verdana" pitchFamily="34" charset="0"/>
              <a:ea typeface="Verdana" pitchFamily="34" charset="0"/>
              <a:cs typeface="Times New Roman"/>
            </a:endParaRPr>
          </a:p>
        </p:txBody>
      </p:sp>
      <p:sp>
        <p:nvSpPr>
          <p:cNvPr id="14" name="Rounded Rectangle 13"/>
          <p:cNvSpPr/>
          <p:nvPr/>
        </p:nvSpPr>
        <p:spPr>
          <a:xfrm>
            <a:off x="3611100" y="1231892"/>
            <a:ext cx="1828800" cy="786384"/>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spAutoFit/>
          </a:bodyPr>
          <a:lstStyle/>
          <a:p>
            <a:pPr marL="231775" indent="-231775">
              <a:buFont typeface="Courier New" pitchFamily="49" charset="0"/>
              <a:buChar char="o"/>
            </a:pPr>
            <a:r>
              <a:rPr lang="en-US" sz="2000" dirty="0">
                <a:solidFill>
                  <a:srgbClr val="000000"/>
                </a:solidFill>
                <a:latin typeface="Verdana" pitchFamily="34" charset="0"/>
                <a:ea typeface="Verdana" pitchFamily="34" charset="0"/>
                <a:cs typeface="Times New Roman"/>
              </a:rPr>
              <a:t>positive,</a:t>
            </a:r>
            <a:endParaRPr lang="en-US" sz="2000" dirty="0">
              <a:latin typeface="Verdana" pitchFamily="34" charset="0"/>
              <a:ea typeface="Verdana" pitchFamily="34" charset="0"/>
              <a:cs typeface="Times New Roman"/>
            </a:endParaRPr>
          </a:p>
          <a:p>
            <a:pPr marL="231775" indent="-231775">
              <a:spcAft>
                <a:spcPts val="1000"/>
              </a:spcAft>
              <a:buFont typeface="Courier New" pitchFamily="49" charset="0"/>
              <a:buChar char="o"/>
            </a:pPr>
            <a:r>
              <a:rPr lang="en-US" sz="2000" dirty="0">
                <a:solidFill>
                  <a:srgbClr val="000000"/>
                </a:solidFill>
                <a:latin typeface="Verdana" pitchFamily="34" charset="0"/>
                <a:ea typeface="Verdana" pitchFamily="34" charset="0"/>
                <a:cs typeface="Times New Roman"/>
              </a:rPr>
              <a:t>negative,</a:t>
            </a:r>
            <a:endParaRPr lang="en-US" sz="2000" dirty="0">
              <a:latin typeface="Verdana" pitchFamily="34" charset="0"/>
              <a:ea typeface="Verdana" pitchFamily="34" charset="0"/>
              <a:cs typeface="Times New Roman"/>
            </a:endParaRPr>
          </a:p>
        </p:txBody>
      </p:sp>
      <p:sp>
        <p:nvSpPr>
          <p:cNvPr id="16" name="Rounded Rectangle 15"/>
          <p:cNvSpPr/>
          <p:nvPr/>
        </p:nvSpPr>
        <p:spPr>
          <a:xfrm>
            <a:off x="5599920" y="1231892"/>
            <a:ext cx="1737360" cy="786384"/>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spAutoFit/>
          </a:bodyPr>
          <a:lstStyle/>
          <a:p>
            <a:pPr marL="231775" indent="-231775">
              <a:buFont typeface="Courier New" pitchFamily="49" charset="0"/>
              <a:buChar char="o"/>
            </a:pPr>
            <a:r>
              <a:rPr lang="en-US" sz="2000" dirty="0">
                <a:solidFill>
                  <a:srgbClr val="000000"/>
                </a:solidFill>
                <a:latin typeface="Verdana" pitchFamily="34" charset="0"/>
                <a:ea typeface="Verdana" pitchFamily="34" charset="0"/>
                <a:cs typeface="Times New Roman"/>
              </a:rPr>
              <a:t>linear</a:t>
            </a:r>
            <a:endParaRPr lang="en-US" sz="2000" dirty="0">
              <a:latin typeface="Verdana" pitchFamily="34" charset="0"/>
              <a:ea typeface="Verdana" pitchFamily="34" charset="0"/>
              <a:cs typeface="Times New Roman"/>
            </a:endParaRPr>
          </a:p>
          <a:p>
            <a:pPr marL="231775" indent="-231775">
              <a:spcAft>
                <a:spcPts val="1000"/>
              </a:spcAft>
              <a:buFont typeface="Courier New" pitchFamily="49" charset="0"/>
              <a:buChar char="o"/>
            </a:pPr>
            <a:r>
              <a:rPr lang="en-US" sz="2000" dirty="0">
                <a:solidFill>
                  <a:srgbClr val="000000"/>
                </a:solidFill>
                <a:latin typeface="Verdana" pitchFamily="34" charset="0"/>
                <a:ea typeface="Verdana" pitchFamily="34" charset="0"/>
                <a:cs typeface="Times New Roman"/>
              </a:rPr>
              <a:t>nonlinear</a:t>
            </a:r>
            <a:endParaRPr lang="en-US" sz="2000" dirty="0">
              <a:latin typeface="Verdana" pitchFamily="34" charset="0"/>
              <a:ea typeface="Verdana" pitchFamily="34" charset="0"/>
              <a:cs typeface="Times New Roman"/>
            </a:endParaRPr>
          </a:p>
        </p:txBody>
      </p:sp>
      <p:sp>
        <p:nvSpPr>
          <p:cNvPr id="23" name="Rounded Rectangle 22"/>
          <p:cNvSpPr/>
          <p:nvPr/>
        </p:nvSpPr>
        <p:spPr>
          <a:xfrm>
            <a:off x="4525500" y="3031633"/>
            <a:ext cx="1828800" cy="786384"/>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spAutoFit/>
          </a:bodyPr>
          <a:lstStyle/>
          <a:p>
            <a:pPr marL="231775" indent="-231775">
              <a:buFont typeface="Courier New" pitchFamily="49" charset="0"/>
              <a:buChar char="o"/>
            </a:pPr>
            <a:r>
              <a:rPr lang="en-US" sz="2000" dirty="0">
                <a:solidFill>
                  <a:srgbClr val="000000"/>
                </a:solidFill>
                <a:latin typeface="Verdana" pitchFamily="34" charset="0"/>
                <a:ea typeface="Verdana" pitchFamily="34" charset="0"/>
                <a:cs typeface="Times New Roman"/>
              </a:rPr>
              <a:t>increases</a:t>
            </a:r>
            <a:endParaRPr lang="en-US" sz="2000" dirty="0">
              <a:latin typeface="Verdana" pitchFamily="34" charset="0"/>
              <a:ea typeface="Verdana" pitchFamily="34" charset="0"/>
              <a:cs typeface="Times New Roman"/>
            </a:endParaRPr>
          </a:p>
          <a:p>
            <a:pPr marL="231775" indent="-231775">
              <a:spcAft>
                <a:spcPts val="1000"/>
              </a:spcAft>
              <a:buFont typeface="Courier New" pitchFamily="49" charset="0"/>
              <a:buChar char="o"/>
            </a:pPr>
            <a:r>
              <a:rPr lang="en-US" sz="2000" dirty="0">
                <a:solidFill>
                  <a:srgbClr val="000000"/>
                </a:solidFill>
                <a:latin typeface="Verdana" pitchFamily="34" charset="0"/>
                <a:ea typeface="Verdana" pitchFamily="34" charset="0"/>
                <a:cs typeface="Times New Roman"/>
              </a:rPr>
              <a:t>decreases</a:t>
            </a:r>
            <a:endParaRPr lang="en-US" sz="2000" dirty="0">
              <a:latin typeface="Verdana" pitchFamily="34" charset="0"/>
              <a:ea typeface="Verdana" pitchFamily="34" charset="0"/>
              <a:cs typeface="Times New Roman"/>
            </a:endParaRPr>
          </a:p>
        </p:txBody>
      </p:sp>
      <mc:AlternateContent xmlns:mc="http://schemas.openxmlformats.org/markup-compatibility/2006">
        <mc:Choice xmlns:a14="http://schemas.microsoft.com/office/drawing/2010/main" Requires="a14">
          <p:sp>
            <p:nvSpPr>
              <p:cNvPr id="24" name="Rounded Rectangle 23"/>
              <p:cNvSpPr/>
              <p:nvPr/>
            </p:nvSpPr>
            <p:spPr>
              <a:xfrm>
                <a:off x="8840840" y="3033228"/>
                <a:ext cx="1005840" cy="783193"/>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spAutoFit/>
              </a:bodyPr>
              <a:lstStyle/>
              <a:p>
                <a:pPr marL="231775" indent="-231775">
                  <a:buFont typeface="Courier New" pitchFamily="49" charset="0"/>
                  <a:buChar char="o"/>
                </a:pPr>
                <a14:m>
                  <m:oMath xmlns:m="http://schemas.openxmlformats.org/officeDocument/2006/math">
                    <m:r>
                      <a:rPr lang="en-PH" sz="2000" i="1" dirty="0">
                        <a:solidFill>
                          <a:srgbClr val="000000"/>
                        </a:solidFill>
                        <a:latin typeface="Cambria Math"/>
                        <a:ea typeface="Verdana" pitchFamily="34" charset="0"/>
                        <a:cs typeface="Times New Roman"/>
                      </a:rPr>
                      <m:t>2</m:t>
                    </m:r>
                  </m:oMath>
                </a14:m>
                <a:endParaRPr lang="en-US" sz="2000" dirty="0">
                  <a:solidFill>
                    <a:schemeClr val="tx1"/>
                  </a:solidFill>
                  <a:latin typeface="Verdana" pitchFamily="34" charset="0"/>
                  <a:ea typeface="Verdana" pitchFamily="34" charset="0"/>
                  <a:cs typeface="Times New Roman"/>
                </a:endParaRPr>
              </a:p>
              <a:p>
                <a:pPr marL="231775" indent="-231775">
                  <a:spcAft>
                    <a:spcPts val="1000"/>
                  </a:spcAft>
                  <a:buFont typeface="Courier New" pitchFamily="49" charset="0"/>
                  <a:buChar char="o"/>
                </a:pPr>
                <a14:m>
                  <m:oMath xmlns:m="http://schemas.openxmlformats.org/officeDocument/2006/math">
                    <m:r>
                      <a:rPr lang="en-PH" sz="2000" i="1">
                        <a:solidFill>
                          <a:schemeClr val="tx1"/>
                        </a:solidFill>
                        <a:latin typeface="Cambria Math"/>
                        <a:ea typeface="Verdana" pitchFamily="34" charset="0"/>
                        <a:cs typeface="Times New Roman"/>
                      </a:rPr>
                      <m:t>115</m:t>
                    </m:r>
                  </m:oMath>
                </a14:m>
                <a:endParaRPr lang="en-US" sz="2000" dirty="0">
                  <a:solidFill>
                    <a:schemeClr val="tx1"/>
                  </a:solidFill>
                  <a:latin typeface="Verdana" pitchFamily="34" charset="0"/>
                  <a:ea typeface="Verdana" pitchFamily="34" charset="0"/>
                  <a:cs typeface="Times New Roman"/>
                </a:endParaRPr>
              </a:p>
            </p:txBody>
          </p:sp>
        </mc:Choice>
        <mc:Fallback>
          <p:sp>
            <p:nvSpPr>
              <p:cNvPr id="24" name="Rounded Rectangle 23"/>
              <p:cNvSpPr>
                <a:spLocks noRot="1" noChangeAspect="1" noMove="1" noResize="1" noEditPoints="1" noAdjustHandles="1" noChangeArrowheads="1" noChangeShapeType="1" noTextEdit="1"/>
              </p:cNvSpPr>
              <p:nvPr/>
            </p:nvSpPr>
            <p:spPr>
              <a:xfrm>
                <a:off x="8840840" y="3033228"/>
                <a:ext cx="1005840" cy="783193"/>
              </a:xfrm>
              <a:prstGeom prst="roundRect">
                <a:avLst/>
              </a:prstGeom>
              <a:blipFill rotWithShape="1">
                <a:blip r:embed="rId4"/>
                <a:stretch>
                  <a:fillRect l="-592" b="-9091"/>
                </a:stretch>
              </a:blipFill>
              <a:ln>
                <a:solidFill>
                  <a:schemeClr val="tx1"/>
                </a:solidFill>
              </a:ln>
            </p:spPr>
            <p:txBody>
              <a:bodyPr/>
              <a:lstStyle/>
              <a:p>
                <a:r>
                  <a:rPr lang="en-PH">
                    <a:noFill/>
                  </a:rPr>
                  <a:t> </a:t>
                </a:r>
              </a:p>
            </p:txBody>
          </p:sp>
        </mc:Fallback>
      </mc:AlternateContent>
      <p:pic>
        <p:nvPicPr>
          <p:cNvPr id="13" name="Google Shape;311;g104476d1465_1_39"/>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5"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142</a:t>
            </a:r>
            <a:endParaRPr i="1" dirty="0">
              <a:latin typeface="Calibri"/>
              <a:ea typeface="Calibri"/>
              <a:cs typeface="Calibri"/>
              <a:sym typeface="Calibri"/>
            </a:endParaRPr>
          </a:p>
        </p:txBody>
      </p:sp>
    </p:spTree>
    <p:extLst>
      <p:ext uri="{BB962C8B-B14F-4D97-AF65-F5344CB8AC3E}">
        <p14:creationId xmlns:p14="http://schemas.microsoft.com/office/powerpoint/2010/main" val="19449658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3559084" y="2766144"/>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Practice</a:t>
            </a:r>
            <a:endParaRPr sz="5100" b="1" dirty="0">
              <a:solidFill>
                <a:srgbClr val="54B5D1"/>
              </a:solidFill>
              <a:latin typeface="Verdana"/>
              <a:ea typeface="Verdana"/>
              <a:cs typeface="Verdana"/>
              <a:sym typeface="Verdana"/>
            </a:endParaRPr>
          </a:p>
        </p:txBody>
      </p:sp>
      <p:pic>
        <p:nvPicPr>
          <p:cNvPr id="9" name="image3.png" descr="Icon&#10;&#10;Description automatically generated">
            <a:extLst>
              <a:ext uri="{FF2B5EF4-FFF2-40B4-BE49-F238E27FC236}">
                <a16:creationId xmlns:a16="http://schemas.microsoft.com/office/drawing/2014/main" xmlns="" id="{0D19F6B6-A388-1443-A380-52938AB2312D}"/>
              </a:ext>
            </a:extLst>
          </p:cNvPr>
          <p:cNvPicPr/>
          <p:nvPr/>
        </p:nvPicPr>
        <p:blipFill>
          <a:blip r:embed="rId3"/>
          <a:srcRect/>
          <a:stretch>
            <a:fillRect/>
          </a:stretch>
        </p:blipFill>
        <p:spPr>
          <a:xfrm>
            <a:off x="3119346" y="2766144"/>
            <a:ext cx="1158151" cy="1158151"/>
          </a:xfrm>
          <a:prstGeom prst="rect">
            <a:avLst/>
          </a:prstGeom>
          <a:ln/>
          <a:effectLst>
            <a:outerShdw blurRad="50800" dist="38100" dir="2700000" algn="tl" rotWithShape="0">
              <a:prstClr val="black">
                <a:alpha val="40000"/>
              </a:prstClr>
            </a:outerShdw>
          </a:effectLst>
        </p:spPr>
      </p:pic>
      <p:pic>
        <p:nvPicPr>
          <p:cNvPr id="7" name="Google Shape;311;g104476d1465_1_39"/>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142</a:t>
            </a:r>
            <a:endParaRPr i="1" dirty="0">
              <a:latin typeface="Calibri"/>
              <a:ea typeface="Calibri"/>
              <a:cs typeface="Calibri"/>
              <a:sym typeface="Calibri"/>
            </a:endParaRPr>
          </a:p>
        </p:txBody>
      </p:sp>
    </p:spTree>
    <p:extLst>
      <p:ext uri="{BB962C8B-B14F-4D97-AF65-F5344CB8AC3E}">
        <p14:creationId xmlns:p14="http://schemas.microsoft.com/office/powerpoint/2010/main" val="21843235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343;g103996e1364_0_321">
            <a:extLst>
              <a:ext uri="{FF2B5EF4-FFF2-40B4-BE49-F238E27FC236}">
                <a16:creationId xmlns:a16="http://schemas.microsoft.com/office/drawing/2014/main" xmlns="" id="{21B1DF8E-16A0-FA4E-8CEB-434668DFA68D}"/>
              </a:ext>
            </a:extLst>
          </p:cNvPr>
          <p:cNvSpPr txBox="1">
            <a:spLocks/>
          </p:cNvSpPr>
          <p:nvPr/>
        </p:nvSpPr>
        <p:spPr>
          <a:xfrm>
            <a:off x="1294434" y="92116"/>
            <a:ext cx="108000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2800" b="1" dirty="0">
                <a:solidFill>
                  <a:srgbClr val="54B5D1"/>
                </a:solidFill>
                <a:latin typeface="Verdana"/>
                <a:ea typeface="Verdana"/>
                <a:cs typeface="Verdana"/>
                <a:sym typeface="Verdana"/>
              </a:rPr>
              <a:t>3.6.4 Guided Practice: Formally </a:t>
            </a:r>
            <a:r>
              <a:rPr lang="en-US" sz="2800" b="1" dirty="0" smtClean="0">
                <a:solidFill>
                  <a:srgbClr val="54B5D1"/>
                </a:solidFill>
                <a:latin typeface="Verdana"/>
                <a:ea typeface="Verdana"/>
                <a:cs typeface="Verdana"/>
                <a:sym typeface="Verdana"/>
              </a:rPr>
              <a:t>Fitting a </a:t>
            </a:r>
            <a:r>
              <a:rPr lang="en-US" sz="2800" b="1" dirty="0">
                <a:solidFill>
                  <a:srgbClr val="54B5D1"/>
                </a:solidFill>
                <a:latin typeface="Verdana"/>
                <a:ea typeface="Verdana"/>
                <a:cs typeface="Verdana"/>
                <a:sym typeface="Verdana"/>
              </a:rPr>
              <a:t>Line of </a:t>
            </a:r>
            <a:r>
              <a:rPr lang="en-US" sz="2800" b="1" dirty="0" smtClean="0">
                <a:solidFill>
                  <a:srgbClr val="54B5D1"/>
                </a:solidFill>
                <a:latin typeface="Verdana"/>
                <a:ea typeface="Verdana"/>
                <a:cs typeface="Verdana"/>
                <a:sym typeface="Verdana"/>
              </a:rPr>
              <a:t/>
            </a:r>
            <a:br>
              <a:rPr lang="en-US" sz="2800" b="1" dirty="0" smtClean="0">
                <a:solidFill>
                  <a:srgbClr val="54B5D1"/>
                </a:solidFill>
                <a:latin typeface="Verdana"/>
                <a:ea typeface="Verdana"/>
                <a:cs typeface="Verdana"/>
                <a:sym typeface="Verdana"/>
              </a:rPr>
            </a:br>
            <a:r>
              <a:rPr lang="en-US" sz="2800" b="1" dirty="0" smtClean="0">
                <a:solidFill>
                  <a:srgbClr val="54B5D1"/>
                </a:solidFill>
                <a:latin typeface="Verdana"/>
                <a:ea typeface="Verdana"/>
                <a:cs typeface="Verdana"/>
                <a:sym typeface="Verdana"/>
              </a:rPr>
              <a:t>Best </a:t>
            </a:r>
            <a:r>
              <a:rPr lang="en-US" sz="2800" b="1" dirty="0">
                <a:solidFill>
                  <a:srgbClr val="54B5D1"/>
                </a:solidFill>
                <a:latin typeface="Verdana"/>
                <a:ea typeface="Verdana"/>
                <a:cs typeface="Verdana"/>
                <a:sym typeface="Verdana"/>
              </a:rPr>
              <a:t>Fit to Data and Using it </a:t>
            </a:r>
            <a:r>
              <a:rPr lang="en-US" sz="2800" b="1" dirty="0" smtClean="0">
                <a:solidFill>
                  <a:srgbClr val="54B5D1"/>
                </a:solidFill>
                <a:latin typeface="Verdana"/>
                <a:ea typeface="Verdana"/>
                <a:cs typeface="Verdana"/>
                <a:sym typeface="Verdana"/>
              </a:rPr>
              <a:t>to </a:t>
            </a:r>
            <a:r>
              <a:rPr lang="en-US" sz="2800" b="1" dirty="0">
                <a:solidFill>
                  <a:srgbClr val="54B5D1"/>
                </a:solidFill>
                <a:latin typeface="Verdana"/>
                <a:ea typeface="Verdana"/>
                <a:cs typeface="Verdana"/>
                <a:sym typeface="Verdana"/>
              </a:rPr>
              <a:t>Solve Problems</a:t>
            </a:r>
          </a:p>
        </p:txBody>
      </p:sp>
      <mc:AlternateContent xmlns:mc="http://schemas.openxmlformats.org/markup-compatibility/2006">
        <mc:Choice xmlns:a14="http://schemas.microsoft.com/office/drawing/2010/main" Requires="a14">
          <p:sp>
            <p:nvSpPr>
              <p:cNvPr id="4" name="Rectangle 3">
                <a:extLst>
                  <a:ext uri="{FF2B5EF4-FFF2-40B4-BE49-F238E27FC236}">
                    <a16:creationId xmlns:a16="http://schemas.microsoft.com/office/drawing/2014/main" xmlns="" id="{FE208A00-51E7-C544-ABDE-AE9DC3DAAB4C}"/>
                  </a:ext>
                </a:extLst>
              </p:cNvPr>
              <p:cNvSpPr>
                <a:spLocks noChangeArrowheads="1"/>
              </p:cNvSpPr>
              <p:nvPr/>
            </p:nvSpPr>
            <p:spPr bwMode="auto">
              <a:xfrm>
                <a:off x="561174" y="1448361"/>
                <a:ext cx="10800000" cy="2862322"/>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457200" indent="-457200" eaLnBrk="0" fontAlgn="base" hangingPunct="0">
                  <a:spcBef>
                    <a:spcPct val="0"/>
                  </a:spcBef>
                  <a:spcAft>
                    <a:spcPct val="0"/>
                  </a:spcAft>
                  <a:buClrTx/>
                  <a:buFont typeface="+mj-lt"/>
                  <a:buAutoNum type="arabicPeriod"/>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Kara wants to sell her Subaru Forester, but does not know what the listing price should be. She checks on a popular used-car site and finds </a:t>
                </a:r>
                <a14:m>
                  <m:oMath xmlns:m="http://schemas.openxmlformats.org/officeDocument/2006/math">
                    <m:r>
                      <a:rPr lang="en-US" altLang="en-US" sz="20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16</m:t>
                    </m:r>
                  </m:oMath>
                </a14:m>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Subaru Foresters listed. Kara uses the data to construct two different scatter plots – one that relates the vehicle’s age, in years, to the sale price, and the other that relates the number of miles on each vehicle to its sale price. </a:t>
                </a:r>
              </a:p>
              <a:p>
                <a:pPr marL="457200" indent="-457200" eaLnBrk="0" fontAlgn="base" hangingPunct="0">
                  <a:spcBef>
                    <a:spcPct val="0"/>
                  </a:spcBef>
                  <a:spcAft>
                    <a:spcPct val="0"/>
                  </a:spcAft>
                  <a:buClrTx/>
                  <a:buFont typeface="+mj-lt"/>
                  <a:buAutoNum type="arabicPeriod"/>
                </a:pPr>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458788" eaLnBrk="0" fontAlgn="base" hangingPunct="0">
                  <a:spcBef>
                    <a:spcPct val="0"/>
                  </a:spcBef>
                  <a:spcAft>
                    <a:spcPct val="0"/>
                  </a:spcAft>
                  <a:buClrTx/>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Two different scatter plots with lines of best fit that were generated using technology are shown. Scatter Plot A relates the mileage of each vehicle to the sale price. Scatter Plot B relates the age of each vehicle to the sale price.</a:t>
                </a:r>
              </a:p>
            </p:txBody>
          </p:sp>
        </mc:Choice>
        <mc:Fallback>
          <p:sp>
            <p:nvSpPr>
              <p:cNvPr id="4" name="Rectangle 3">
                <a:extLst>
                  <a:ext uri="{FF2B5EF4-FFF2-40B4-BE49-F238E27FC236}">
                    <a16:creationId xmlns:a16="http://schemas.microsoft.com/office/drawing/2014/main" xmlns:a14="http://schemas.microsoft.com/office/drawing/2010/main" xmlns="" id="{FE208A00-51E7-C544-ABDE-AE9DC3DAAB4C}"/>
                  </a:ext>
                </a:extLst>
              </p:cNvPr>
              <p:cNvSpPr>
                <a:spLocks noRot="1" noChangeAspect="1" noMove="1" noResize="1" noEditPoints="1" noAdjustHandles="1" noChangeArrowheads="1" noChangeShapeType="1" noTextEdit="1"/>
              </p:cNvSpPr>
              <p:nvPr/>
            </p:nvSpPr>
            <p:spPr bwMode="auto">
              <a:xfrm>
                <a:off x="561174" y="1448361"/>
                <a:ext cx="10800000" cy="2862322"/>
              </a:xfrm>
              <a:prstGeom prst="rect">
                <a:avLst/>
              </a:prstGeom>
              <a:blipFill rotWithShape="1">
                <a:blip r:embed="rId3"/>
                <a:stretch>
                  <a:fillRect l="-564" t="-1279" r="-790" b="-2985"/>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PH">
                    <a:noFill/>
                  </a:rPr>
                  <a:t> </a:t>
                </a:r>
              </a:p>
            </p:txBody>
          </p:sp>
        </mc:Fallback>
      </mc:AlternateContent>
      <p:pic>
        <p:nvPicPr>
          <p:cNvPr id="10" name="image3.png" descr="Icon&#10;&#10;Description automatically generated">
            <a:extLst>
              <a:ext uri="{FF2B5EF4-FFF2-40B4-BE49-F238E27FC236}">
                <a16:creationId xmlns:a16="http://schemas.microsoft.com/office/drawing/2014/main" xmlns="" id="{7A2D9D50-9448-8245-B927-6E7175407A67}"/>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356484" y="381250"/>
            <a:ext cx="747432" cy="747432"/>
          </a:xfrm>
          <a:prstGeom prst="rect">
            <a:avLst/>
          </a:prstGeom>
          <a:ln/>
          <a:effectLst>
            <a:outerShdw blurRad="50800" dist="38100" dir="2700000" algn="tl" rotWithShape="0">
              <a:prstClr val="black">
                <a:alpha val="40000"/>
              </a:prstClr>
            </a:outerShdw>
          </a:effectLst>
        </p:spPr>
      </p:pic>
      <p:pic>
        <p:nvPicPr>
          <p:cNvPr id="8" name="Google Shape;311;g104476d1465_1_39"/>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142</a:t>
            </a:r>
            <a:endParaRPr i="1" dirty="0">
              <a:latin typeface="Calibri"/>
              <a:ea typeface="Calibri"/>
              <a:cs typeface="Calibri"/>
              <a:sym typeface="Calibri"/>
            </a:endParaRPr>
          </a:p>
        </p:txBody>
      </p:sp>
    </p:spTree>
    <p:extLst>
      <p:ext uri="{BB962C8B-B14F-4D97-AF65-F5344CB8AC3E}">
        <p14:creationId xmlns:p14="http://schemas.microsoft.com/office/powerpoint/2010/main" val="38876743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aphicFrame>
        <p:nvGraphicFramePr>
          <p:cNvPr id="2" name="Table 1"/>
          <p:cNvGraphicFramePr>
            <a:graphicFrameLocks noGrp="1"/>
          </p:cNvGraphicFramePr>
          <p:nvPr>
            <p:extLst>
              <p:ext uri="{D42A27DB-BD31-4B8C-83A1-F6EECF244321}">
                <p14:modId xmlns:p14="http://schemas.microsoft.com/office/powerpoint/2010/main" val="1879784644"/>
              </p:ext>
            </p:extLst>
          </p:nvPr>
        </p:nvGraphicFramePr>
        <p:xfrm>
          <a:off x="2676525" y="402083"/>
          <a:ext cx="7134226" cy="5943600"/>
        </p:xfrm>
        <a:graphic>
          <a:graphicData uri="http://schemas.openxmlformats.org/drawingml/2006/table">
            <a:tbl>
              <a:tblPr firstRow="1" bandRow="1">
                <a:tableStyleId>{A91F0D33-8C57-4600-99A7-42BC86742BE1}</a:tableStyleId>
              </a:tblPr>
              <a:tblGrid>
                <a:gridCol w="3567113">
                  <a:extLst>
                    <a:ext uri="{9D8B030D-6E8A-4147-A177-3AD203B41FA5}">
                      <a16:colId xmlns:a16="http://schemas.microsoft.com/office/drawing/2014/main" xmlns="" val="20000"/>
                    </a:ext>
                  </a:extLst>
                </a:gridCol>
                <a:gridCol w="3567113">
                  <a:extLst>
                    <a:ext uri="{9D8B030D-6E8A-4147-A177-3AD203B41FA5}">
                      <a16:colId xmlns:a16="http://schemas.microsoft.com/office/drawing/2014/main" xmlns="" val="20001"/>
                    </a:ext>
                  </a:extLst>
                </a:gridCol>
              </a:tblGrid>
              <a:tr h="457200">
                <a:tc>
                  <a:txBody>
                    <a:bodyPr/>
                    <a:lstStyle/>
                    <a:p>
                      <a:pPr algn="ctr"/>
                      <a:r>
                        <a:rPr lang="en-PH" sz="2000" b="1" dirty="0">
                          <a:latin typeface="Verdana" pitchFamily="34" charset="0"/>
                          <a:ea typeface="Verdana" pitchFamily="34" charset="0"/>
                        </a:rPr>
                        <a:t>Scatter Plot A</a:t>
                      </a:r>
                      <a:endParaRPr lang="en-US" sz="2000" b="1"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PH" sz="2000" b="1" dirty="0">
                          <a:latin typeface="Verdana" pitchFamily="34" charset="0"/>
                          <a:ea typeface="Verdana" pitchFamily="34" charset="0"/>
                        </a:rPr>
                        <a:t>Scatter Plot B</a:t>
                      </a:r>
                      <a:endParaRPr lang="en-US" sz="2000" b="1"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 val="10000"/>
                  </a:ext>
                </a:extLst>
              </a:tr>
              <a:tr h="3429000">
                <a:tc>
                  <a:txBody>
                    <a:bodyPr/>
                    <a:lstStyle/>
                    <a:p>
                      <a:pPr algn="ctr"/>
                      <a:endParaRPr lang="en-US" sz="2000"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1"/>
                  </a:ext>
                </a:extLst>
              </a:tr>
              <a:tr h="2057400">
                <a:tc>
                  <a:txBody>
                    <a:bodyPr/>
                    <a:lstStyle/>
                    <a:p>
                      <a:pPr algn="ctr"/>
                      <a:endParaRPr lang="en-US" sz="2000"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2"/>
                  </a:ext>
                </a:extLst>
              </a:tr>
            </a:tbl>
          </a:graphicData>
        </a:graphic>
      </p:graphicFrame>
      <p:pic>
        <p:nvPicPr>
          <p:cNvPr id="8" name="Picture 7" descr="Chart, scatter chart&#10;&#10;Description automatically generated"/>
          <p:cNvPicPr/>
          <p:nvPr/>
        </p:nvPicPr>
        <p:blipFill>
          <a:blip r:embed="rId3" cstate="screen">
            <a:extLst>
              <a:ext uri="{28A0092B-C50C-407E-A947-70E740481C1C}">
                <a14:useLocalDpi xmlns:a14="http://schemas.microsoft.com/office/drawing/2010/main"/>
              </a:ext>
            </a:extLst>
          </a:blip>
          <a:stretch>
            <a:fillRect/>
          </a:stretch>
        </p:blipFill>
        <p:spPr>
          <a:xfrm>
            <a:off x="2934970" y="1039495"/>
            <a:ext cx="3083560" cy="3083560"/>
          </a:xfrm>
          <a:prstGeom prst="rect">
            <a:avLst/>
          </a:prstGeom>
          <a:ln w="3175" cap="sq">
            <a:solidFill>
              <a:srgbClr val="000000"/>
            </a:solidFill>
            <a:prstDash val="solid"/>
            <a:miter lim="800000"/>
          </a:ln>
          <a:effectLst/>
        </p:spPr>
      </p:pic>
      <p:pic>
        <p:nvPicPr>
          <p:cNvPr id="9" name="Picture 8" descr="Chart, line chart&#10;&#10;Description automatically generated"/>
          <p:cNvPicPr/>
          <p:nvPr/>
        </p:nvPicPr>
        <p:blipFill>
          <a:blip r:embed="rId4" cstate="screen">
            <a:extLst>
              <a:ext uri="{28A0092B-C50C-407E-A947-70E740481C1C}">
                <a14:useLocalDpi xmlns:a14="http://schemas.microsoft.com/office/drawing/2010/main"/>
              </a:ext>
            </a:extLst>
          </a:blip>
          <a:stretch>
            <a:fillRect/>
          </a:stretch>
        </p:blipFill>
        <p:spPr>
          <a:xfrm>
            <a:off x="6486525" y="1027113"/>
            <a:ext cx="3108325" cy="3108325"/>
          </a:xfrm>
          <a:prstGeom prst="rect">
            <a:avLst/>
          </a:prstGeom>
          <a:ln w="3175" cap="sq">
            <a:solidFill>
              <a:srgbClr val="000000"/>
            </a:solidFill>
            <a:prstDash val="solid"/>
            <a:miter lim="800000"/>
          </a:ln>
          <a:effectLst/>
        </p:spPr>
      </p:pic>
      <p:pic>
        <p:nvPicPr>
          <p:cNvPr id="10" name="Picture 9"/>
          <p:cNvPicPr/>
          <p:nvPr/>
        </p:nvPicPr>
        <p:blipFill rotWithShape="1">
          <a:blip r:embed="rId5"/>
          <a:srcRect l="2093" r="5228" b="2792"/>
          <a:stretch/>
        </p:blipFill>
        <p:spPr>
          <a:xfrm>
            <a:off x="2985770" y="4416149"/>
            <a:ext cx="2898648" cy="1828800"/>
          </a:xfrm>
          <a:prstGeom prst="rect">
            <a:avLst/>
          </a:prstGeom>
        </p:spPr>
      </p:pic>
      <p:pic>
        <p:nvPicPr>
          <p:cNvPr id="13" name="Picture 12"/>
          <p:cNvPicPr/>
          <p:nvPr/>
        </p:nvPicPr>
        <p:blipFill>
          <a:blip r:embed="rId6"/>
          <a:stretch>
            <a:fillRect/>
          </a:stretch>
        </p:blipFill>
        <p:spPr>
          <a:xfrm>
            <a:off x="6554786" y="4416149"/>
            <a:ext cx="2971800" cy="1828800"/>
          </a:xfrm>
          <a:prstGeom prst="rect">
            <a:avLst/>
          </a:prstGeom>
        </p:spPr>
      </p:pic>
      <p:pic>
        <p:nvPicPr>
          <p:cNvPr id="11" name="Google Shape;311;g104476d1465_1_39"/>
          <p:cNvPicPr preferRelativeResize="0"/>
          <p:nvPr/>
        </p:nvPicPr>
        <p:blipFill>
          <a:blip r:embed="rId7"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4"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142</a:t>
            </a:r>
            <a:endParaRPr i="1" dirty="0">
              <a:latin typeface="Calibri"/>
              <a:ea typeface="Calibri"/>
              <a:cs typeface="Calibri"/>
              <a:sym typeface="Calibri"/>
            </a:endParaRPr>
          </a:p>
        </p:txBody>
      </p:sp>
    </p:spTree>
    <p:extLst>
      <p:ext uri="{BB962C8B-B14F-4D97-AF65-F5344CB8AC3E}">
        <p14:creationId xmlns:p14="http://schemas.microsoft.com/office/powerpoint/2010/main" val="32381065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6" name="Rectangle 5">
            <a:extLst>
              <a:ext uri="{FF2B5EF4-FFF2-40B4-BE49-F238E27FC236}">
                <a16:creationId xmlns:a16="http://schemas.microsoft.com/office/drawing/2014/main" xmlns="" id="{5C5D1B9F-A752-AD42-8D60-9B883A2514E7}"/>
              </a:ext>
            </a:extLst>
          </p:cNvPr>
          <p:cNvSpPr>
            <a:spLocks noChangeArrowheads="1"/>
          </p:cNvSpPr>
          <p:nvPr/>
        </p:nvSpPr>
        <p:spPr bwMode="auto">
          <a:xfrm>
            <a:off x="493563" y="458017"/>
            <a:ext cx="10800000"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914400" indent="-457200" eaLnBrk="0" fontAlgn="base" hangingPunct="0">
              <a:spcBef>
                <a:spcPct val="0"/>
              </a:spcBef>
              <a:spcAft>
                <a:spcPct val="0"/>
              </a:spcAft>
              <a:buClrTx/>
              <a:buFont typeface="+mj-lt"/>
              <a:buAutoNum type="alphaLcPeriod"/>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Write the equation for each line of best fit using the values generated with technology.</a:t>
            </a:r>
          </a:p>
          <a:p>
            <a:pPr marL="914400" indent="-457200" eaLnBrk="0" fontAlgn="base" hangingPunct="0">
              <a:spcBef>
                <a:spcPct val="0"/>
              </a:spcBef>
              <a:spcAft>
                <a:spcPct val="0"/>
              </a:spcAft>
              <a:buClrTx/>
              <a:buFont typeface="+mj-lt"/>
              <a:buAutoNum type="alphaLcPeriod"/>
            </a:pPr>
            <a:endParaRPr lang="en-PH"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14400" indent="-457200" eaLnBrk="0" fontAlgn="base" hangingPunct="0">
              <a:spcBef>
                <a:spcPct val="0"/>
              </a:spcBef>
              <a:spcAft>
                <a:spcPct val="0"/>
              </a:spcAft>
              <a:buClrTx/>
              <a:buFont typeface="+mj-lt"/>
              <a:buAutoNum type="alphaLcPeriod"/>
            </a:pPr>
            <a:endParaRPr lang="en-PH"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14400" indent="-457200" eaLnBrk="0" fontAlgn="base" hangingPunct="0">
              <a:spcBef>
                <a:spcPct val="0"/>
              </a:spcBef>
              <a:spcAft>
                <a:spcPct val="0"/>
              </a:spcAft>
              <a:buClrTx/>
              <a:buFont typeface="+mj-lt"/>
              <a:buAutoNum type="alphaLcPeriod"/>
            </a:pPr>
            <a:endParaRPr lang="en-PH"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14400" indent="-457200" eaLnBrk="0" fontAlgn="base" hangingPunct="0">
              <a:spcBef>
                <a:spcPct val="0"/>
              </a:spcBef>
              <a:spcAft>
                <a:spcPct val="0"/>
              </a:spcAft>
              <a:buClrTx/>
              <a:buFont typeface="+mj-lt"/>
              <a:buAutoNum type="alphaLcPeriod"/>
            </a:pPr>
            <a:endParaRPr lang="en-PH"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14400" indent="-457200" eaLnBrk="0" fontAlgn="base" hangingPunct="0">
              <a:spcBef>
                <a:spcPct val="0"/>
              </a:spcBef>
              <a:spcAft>
                <a:spcPct val="0"/>
              </a:spcAft>
              <a:buClrTx/>
              <a:buFont typeface="+mj-lt"/>
              <a:buAutoNum type="alphaLcPeriod"/>
            </a:pPr>
            <a:endParaRPr lang="en-PH"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14400" indent="-457200" eaLnBrk="0" fontAlgn="base" hangingPunct="0">
              <a:spcBef>
                <a:spcPct val="0"/>
              </a:spcBef>
              <a:spcAft>
                <a:spcPct val="0"/>
              </a:spcAft>
              <a:buClrTx/>
              <a:buFont typeface="+mj-lt"/>
              <a:buAutoNum type="alphaLcPeriod"/>
            </a:pPr>
            <a:endParaRPr lang="en-PH"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14400" indent="-457200" eaLnBrk="0" fontAlgn="base" hangingPunct="0">
              <a:spcBef>
                <a:spcPct val="0"/>
              </a:spcBef>
              <a:spcAft>
                <a:spcPct val="0"/>
              </a:spcAft>
              <a:buClrTx/>
              <a:buFont typeface="+mj-lt"/>
              <a:buAutoNum type="alphaLcPeriod"/>
            </a:pPr>
            <a:endParaRPr lang="en-PH"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14400" indent="-457200" eaLnBrk="0" fontAlgn="base" hangingPunct="0">
              <a:spcBef>
                <a:spcPct val="0"/>
              </a:spcBef>
              <a:spcAft>
                <a:spcPct val="0"/>
              </a:spcAft>
              <a:buClrTx/>
              <a:buFont typeface="+mj-lt"/>
              <a:buAutoNum type="alphaLcPeriod"/>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Interpret the slope of the line of best fit for </a:t>
            </a:r>
            <a:r>
              <a:rPr lang="en-US" altLang="en-US" sz="2000" dirty="0" smtClean="0">
                <a:solidFill>
                  <a:schemeClr val="tx1"/>
                </a:solidFill>
                <a:latin typeface="Verdana" panose="020B0604030504040204" pitchFamily="34" charset="0"/>
                <a:ea typeface="Times New Roman" panose="02020603050405020304" pitchFamily="18" charset="0"/>
                <a:cs typeface="Times New Roman" panose="02020603050405020304" pitchFamily="18" charset="0"/>
              </a:rPr>
              <a:t>Scatter </a:t>
            </a: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Plot B.</a:t>
            </a:r>
          </a:p>
          <a:p>
            <a:pPr marL="914400" indent="-457200" eaLnBrk="0" fontAlgn="base" hangingPunct="0">
              <a:spcBef>
                <a:spcPct val="0"/>
              </a:spcBef>
              <a:spcAft>
                <a:spcPct val="0"/>
              </a:spcAft>
              <a:buClrTx/>
              <a:buFont typeface="+mj-lt"/>
              <a:buAutoNum type="alphaLcPeriod"/>
            </a:pPr>
            <a:endParaRPr lang="en-PH" altLang="en-US" sz="2000" dirty="0" smtClean="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14400" indent="-457200" eaLnBrk="0" fontAlgn="base" hangingPunct="0">
              <a:spcBef>
                <a:spcPct val="0"/>
              </a:spcBef>
              <a:spcAft>
                <a:spcPct val="0"/>
              </a:spcAft>
              <a:buClrTx/>
              <a:buFont typeface="+mj-lt"/>
              <a:buAutoNum type="alphaLcPeriod"/>
            </a:pPr>
            <a:endParaRPr lang="en-PH" altLang="en-US" sz="2000" dirty="0" smtClean="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14400" indent="-457200" eaLnBrk="0" fontAlgn="base" hangingPunct="0">
              <a:spcBef>
                <a:spcPct val="0"/>
              </a:spcBef>
              <a:spcAft>
                <a:spcPct val="0"/>
              </a:spcAft>
              <a:buClrTx/>
              <a:buFont typeface="+mj-lt"/>
              <a:buAutoNum type="alphaLcPeriod"/>
            </a:pPr>
            <a:endParaRPr lang="en-PH"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14400" indent="-457200" eaLnBrk="0" fontAlgn="base" hangingPunct="0">
              <a:spcBef>
                <a:spcPct val="0"/>
              </a:spcBef>
              <a:spcAft>
                <a:spcPct val="0"/>
              </a:spcAft>
              <a:buClrTx/>
              <a:buFont typeface="+mj-lt"/>
              <a:buAutoNum type="alphaLcPeriod"/>
            </a:pPr>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14400" indent="-457200" eaLnBrk="0" fontAlgn="base" hangingPunct="0">
              <a:spcBef>
                <a:spcPct val="0"/>
              </a:spcBef>
              <a:spcAft>
                <a:spcPct val="0"/>
              </a:spcAft>
              <a:buClrTx/>
              <a:buFont typeface="+mj-lt"/>
              <a:buAutoNum type="alphaLcPeriod"/>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Describe the strength and direction of the linear association between mileage and sale price of a used Subaru Forester.</a:t>
            </a:r>
          </a:p>
        </p:txBody>
      </p:sp>
      <p:graphicFrame>
        <p:nvGraphicFramePr>
          <p:cNvPr id="3" name="Table 2">
            <a:extLst>
              <a:ext uri="{FF2B5EF4-FFF2-40B4-BE49-F238E27FC236}">
                <a16:creationId xmlns:a16="http://schemas.microsoft.com/office/drawing/2014/main" xmlns="" id="{4EDA770E-6B7A-2C4C-9DC4-52BCE6D7D832}"/>
              </a:ext>
            </a:extLst>
          </p:cNvPr>
          <p:cNvGraphicFramePr>
            <a:graphicFrameLocks noGrp="1"/>
          </p:cNvGraphicFramePr>
          <p:nvPr>
            <p:extLst>
              <p:ext uri="{D42A27DB-BD31-4B8C-83A1-F6EECF244321}">
                <p14:modId xmlns:p14="http://schemas.microsoft.com/office/powerpoint/2010/main" val="3493846151"/>
              </p:ext>
            </p:extLst>
          </p:nvPr>
        </p:nvGraphicFramePr>
        <p:xfrm>
          <a:off x="1559037" y="1348873"/>
          <a:ext cx="6736424" cy="1706880"/>
        </p:xfrm>
        <a:graphic>
          <a:graphicData uri="http://schemas.openxmlformats.org/drawingml/2006/table">
            <a:tbl>
              <a:tblPr firstRow="1" firstCol="1" bandRow="1"/>
              <a:tblGrid>
                <a:gridCol w="3368212">
                  <a:extLst>
                    <a:ext uri="{9D8B030D-6E8A-4147-A177-3AD203B41FA5}">
                      <a16:colId xmlns:a16="http://schemas.microsoft.com/office/drawing/2014/main" xmlns="" val="199168809"/>
                    </a:ext>
                  </a:extLst>
                </a:gridCol>
                <a:gridCol w="3368212">
                  <a:extLst>
                    <a:ext uri="{9D8B030D-6E8A-4147-A177-3AD203B41FA5}">
                      <a16:colId xmlns:a16="http://schemas.microsoft.com/office/drawing/2014/main" xmlns="" val="2086376203"/>
                    </a:ext>
                  </a:extLst>
                </a:gridCol>
              </a:tblGrid>
              <a:tr h="457200">
                <a:tc>
                  <a:txBody>
                    <a:bodyPr/>
                    <a:lstStyle/>
                    <a:p>
                      <a:pPr marL="0" marR="0" algn="ctr">
                        <a:spcBef>
                          <a:spcPts val="0"/>
                        </a:spcBef>
                        <a:spcAft>
                          <a:spcPts val="0"/>
                        </a:spcAft>
                      </a:pPr>
                      <a:r>
                        <a:rPr lang="en-US" sz="2000" b="1" dirty="0">
                          <a:effectLst/>
                          <a:latin typeface="Verdana" panose="020B0604030504040204" pitchFamily="34" charset="0"/>
                          <a:ea typeface="Verdana" pitchFamily="34" charset="0"/>
                          <a:cs typeface="Times New Roman" panose="02020603050405020304" pitchFamily="18" charset="0"/>
                        </a:rPr>
                        <a:t>Line of Best Fit for Scatter Plot A</a:t>
                      </a:r>
                      <a:endParaRPr lang="x-none" sz="2000">
                        <a:effectLst/>
                        <a:latin typeface="Verdana" pitchFamily="34" charset="0"/>
                        <a:ea typeface="Verdana" pitchFamily="34" charset="0"/>
                        <a:cs typeface="Times New Roman" panose="02020603050405020304" pitchFamily="18" charset="0"/>
                      </a:endParaRPr>
                    </a:p>
                  </a:txBody>
                  <a:tcPr marL="68580" marR="685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Line of Best Fit for Scatter Plot B</a:t>
                      </a:r>
                      <a:endParaRPr lang="x-none" sz="2000">
                        <a:effectLst/>
                        <a:latin typeface="Verdana" pitchFamily="34" charset="0"/>
                        <a:ea typeface="Verdana" pitchFamily="34" charset="0"/>
                        <a:cs typeface="Times New Roman" panose="02020603050405020304" pitchFamily="18" charset="0"/>
                      </a:endParaRPr>
                    </a:p>
                  </a:txBody>
                  <a:tcPr marL="68580" marR="685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xmlns="" val="1517552519"/>
                  </a:ext>
                </a:extLst>
              </a:tr>
              <a:tr h="914400">
                <a:tc>
                  <a:txBody>
                    <a:bodyPr/>
                    <a:lstStyle/>
                    <a:p>
                      <a:pPr marL="0" marR="0" algn="ctr">
                        <a:spcBef>
                          <a:spcPts val="0"/>
                        </a:spcBef>
                        <a:spcAft>
                          <a:spcPts val="0"/>
                        </a:spcAft>
                      </a:pPr>
                      <a:r>
                        <a:rPr lang="en-US" sz="2000" b="1"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L="68580" marR="685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b="1" dirty="0">
                          <a:effectLst/>
                          <a:latin typeface="Verdana" panose="020B0604030504040204" pitchFamily="34" charset="0"/>
                          <a:ea typeface="Verdana" pitchFamily="34" charset="0"/>
                          <a:cs typeface="Times New Roman" panose="02020603050405020304" pitchFamily="18" charset="0"/>
                        </a:rPr>
                        <a:t> </a:t>
                      </a:r>
                      <a:endParaRPr lang="x-none" sz="2000" dirty="0">
                        <a:effectLst/>
                        <a:latin typeface="Verdana" pitchFamily="34" charset="0"/>
                        <a:ea typeface="Verdana" pitchFamily="34" charset="0"/>
                        <a:cs typeface="Times New Roman" panose="02020603050405020304" pitchFamily="18" charset="0"/>
                      </a:endParaRPr>
                    </a:p>
                  </a:txBody>
                  <a:tcPr marL="68580" marR="685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56593656"/>
                  </a:ext>
                </a:extLst>
              </a:tr>
            </a:tbl>
          </a:graphicData>
        </a:graphic>
      </p:graphicFrame>
      <p:pic>
        <p:nvPicPr>
          <p:cNvPr id="7"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143</a:t>
            </a:r>
            <a:endParaRPr i="1" dirty="0">
              <a:latin typeface="Calibri"/>
              <a:ea typeface="Calibri"/>
              <a:cs typeface="Calibri"/>
              <a:sym typeface="Calibri"/>
            </a:endParaRPr>
          </a:p>
        </p:txBody>
      </p:sp>
    </p:spTree>
    <p:extLst>
      <p:ext uri="{BB962C8B-B14F-4D97-AF65-F5344CB8AC3E}">
        <p14:creationId xmlns:p14="http://schemas.microsoft.com/office/powerpoint/2010/main" val="29222711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mc:Choice xmlns:a14="http://schemas.microsoft.com/office/drawing/2010/main" Requires="a14">
          <p:sp>
            <p:nvSpPr>
              <p:cNvPr id="6" name="Rectangle 5">
                <a:extLst>
                  <a:ext uri="{FF2B5EF4-FFF2-40B4-BE49-F238E27FC236}">
                    <a16:creationId xmlns:a16="http://schemas.microsoft.com/office/drawing/2014/main" xmlns="" id="{5C5D1B9F-A752-AD42-8D60-9B883A2514E7}"/>
                  </a:ext>
                </a:extLst>
              </p:cNvPr>
              <p:cNvSpPr>
                <a:spLocks noChangeArrowheads="1"/>
              </p:cNvSpPr>
              <p:nvPr/>
            </p:nvSpPr>
            <p:spPr bwMode="auto">
              <a:xfrm>
                <a:off x="533757" y="469349"/>
                <a:ext cx="10800000" cy="341632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457200" indent="-457200" eaLnBrk="0" fontAlgn="base" hangingPunct="0">
                  <a:spcBef>
                    <a:spcPct val="0"/>
                  </a:spcBef>
                  <a:spcAft>
                    <a:spcPct val="0"/>
                  </a:spcAft>
                  <a:buClrTx/>
                  <a:buFont typeface="+mj-lt"/>
                  <a:buAutoNum type="arabicPeriod" startAt="2"/>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Suppose Kara’s Subaru Forester is </a:t>
                </a:r>
                <a14:m>
                  <m:oMath xmlns:m="http://schemas.openxmlformats.org/officeDocument/2006/math">
                    <m:r>
                      <a:rPr lang="en-U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9</m:t>
                    </m:r>
                  </m:oMath>
                </a14:m>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years old.</a:t>
                </a:r>
              </a:p>
              <a:p>
                <a:pPr marL="457200" indent="-457200" eaLnBrk="0" fontAlgn="base" hangingPunct="0">
                  <a:spcBef>
                    <a:spcPct val="0"/>
                  </a:spcBef>
                  <a:spcAft>
                    <a:spcPct val="0"/>
                  </a:spcAft>
                  <a:buClrTx/>
                  <a:buFont typeface="+mj-lt"/>
                  <a:buAutoNum type="arabicPeriod" startAt="2"/>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14400" indent="-457200" eaLnBrk="0" fontAlgn="base" hangingPunct="0">
                  <a:spcBef>
                    <a:spcPct val="0"/>
                  </a:spcBef>
                  <a:spcAft>
                    <a:spcPct val="0"/>
                  </a:spcAft>
                  <a:buClrTx/>
                  <a:buFont typeface="+mj-lt"/>
                  <a:buAutoNum type="alphaLcPeriod"/>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Which equation could she use to predict a good sale price for her car?</a:t>
                </a:r>
              </a:p>
              <a:p>
                <a:pPr marL="914400" indent="-457200" eaLnBrk="0" fontAlgn="base" hangingPunct="0">
                  <a:spcBef>
                    <a:spcPct val="0"/>
                  </a:spcBef>
                  <a:spcAft>
                    <a:spcPct val="0"/>
                  </a:spcAft>
                  <a:buClrTx/>
                  <a:buFont typeface="+mj-lt"/>
                  <a:buAutoNum type="alphaLcPeriod"/>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14400" indent="-457200" eaLnBrk="0" fontAlgn="base" hangingPunct="0">
                  <a:spcBef>
                    <a:spcPct val="0"/>
                  </a:spcBef>
                  <a:spcAft>
                    <a:spcPct val="0"/>
                  </a:spcAft>
                  <a:buClrTx/>
                  <a:buFont typeface="+mj-lt"/>
                  <a:buAutoNum type="alphaLcPeriod"/>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14400" indent="-457200" eaLnBrk="0" fontAlgn="base" hangingPunct="0">
                  <a:spcBef>
                    <a:spcPct val="0"/>
                  </a:spcBef>
                  <a:spcAft>
                    <a:spcPct val="0"/>
                  </a:spcAft>
                  <a:buClrTx/>
                  <a:buFont typeface="+mj-lt"/>
                  <a:buAutoNum type="alphaLcPeriod"/>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14400" indent="-457200" eaLnBrk="0" fontAlgn="base" hangingPunct="0">
                  <a:spcBef>
                    <a:spcPct val="0"/>
                  </a:spcBef>
                  <a:spcAft>
                    <a:spcPct val="0"/>
                  </a:spcAft>
                  <a:buClrTx/>
                  <a:buFont typeface="+mj-lt"/>
                  <a:buAutoNum type="alphaLcPeriod"/>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14400" indent="-457200" eaLnBrk="0" fontAlgn="base" hangingPunct="0">
                  <a:spcBef>
                    <a:spcPct val="0"/>
                  </a:spcBef>
                  <a:spcAft>
                    <a:spcPct val="0"/>
                  </a:spcAft>
                  <a:buClrTx/>
                  <a:buFont typeface="+mj-lt"/>
                  <a:buAutoNum type="alphaLcPeriod"/>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What sale price should Kara list her car for based on its age?</a:t>
                </a:r>
              </a:p>
            </p:txBody>
          </p:sp>
        </mc:Choice>
        <mc:Fallback>
          <p:sp>
            <p:nvSpPr>
              <p:cNvPr id="6" name="Rectangle 5">
                <a:extLst>
                  <a:ext uri="{FF2B5EF4-FFF2-40B4-BE49-F238E27FC236}">
                    <a16:creationId xmlns:a16="http://schemas.microsoft.com/office/drawing/2014/main" xmlns:a14="http://schemas.microsoft.com/office/drawing/2010/main" xmlns="" id="{5C5D1B9F-A752-AD42-8D60-9B883A2514E7}"/>
                  </a:ext>
                </a:extLst>
              </p:cNvPr>
              <p:cNvSpPr>
                <a:spLocks noRot="1" noChangeAspect="1" noMove="1" noResize="1" noEditPoints="1" noAdjustHandles="1" noChangeArrowheads="1" noChangeShapeType="1" noTextEdit="1"/>
              </p:cNvSpPr>
              <p:nvPr/>
            </p:nvSpPr>
            <p:spPr bwMode="auto">
              <a:xfrm>
                <a:off x="533757" y="469349"/>
                <a:ext cx="10800000" cy="3416320"/>
              </a:xfrm>
              <a:prstGeom prst="rect">
                <a:avLst/>
              </a:prstGeom>
              <a:blipFill rotWithShape="1">
                <a:blip r:embed="rId3"/>
                <a:stretch>
                  <a:fillRect l="-903" t="-1607" b="-3214"/>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PH">
                    <a:noFill/>
                  </a:rPr>
                  <a:t> </a:t>
                </a:r>
              </a:p>
            </p:txBody>
          </p:sp>
        </mc:Fallback>
      </mc:AlternateContent>
      <p:pic>
        <p:nvPicPr>
          <p:cNvPr id="9" name="Google Shape;311;g104476d1465_1_39"/>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143</a:t>
            </a:r>
            <a:endParaRPr i="1" dirty="0">
              <a:latin typeface="Calibri"/>
              <a:ea typeface="Calibri"/>
              <a:cs typeface="Calibri"/>
              <a:sym typeface="Calibri"/>
            </a:endParaRPr>
          </a:p>
        </p:txBody>
      </p:sp>
    </p:spTree>
    <p:extLst>
      <p:ext uri="{BB962C8B-B14F-4D97-AF65-F5344CB8AC3E}">
        <p14:creationId xmlns:p14="http://schemas.microsoft.com/office/powerpoint/2010/main" val="33656068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3855625" y="276197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xmlns="" id="{DE95225C-59B5-E847-AFA2-B83DCFFA10D8}"/>
              </a:ext>
            </a:extLst>
          </p:cNvPr>
          <p:cNvPicPr preferRelativeResize="0"/>
          <p:nvPr/>
        </p:nvPicPr>
        <p:blipFill rotWithShape="1">
          <a:blip r:embed="rId3">
            <a:alphaModFix/>
          </a:blip>
          <a:srcRect/>
          <a:stretch/>
        </p:blipFill>
        <p:spPr>
          <a:xfrm>
            <a:off x="3201424" y="2933693"/>
            <a:ext cx="1008299" cy="1016513"/>
          </a:xfrm>
          <a:prstGeom prst="rect">
            <a:avLst/>
          </a:prstGeom>
          <a:noFill/>
          <a:ln>
            <a:noFill/>
          </a:ln>
          <a:effectLst>
            <a:outerShdw blurRad="50800" dist="38100" dir="2700000" algn="tl" rotWithShape="0">
              <a:prstClr val="black">
                <a:alpha val="40000"/>
              </a:prstClr>
            </a:outerShdw>
          </a:effectLst>
        </p:spPr>
      </p:pic>
      <p:pic>
        <p:nvPicPr>
          <p:cNvPr id="8" name="Google Shape;311;g104476d1465_1_39"/>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143</a:t>
            </a:r>
            <a:endParaRPr i="1" dirty="0">
              <a:latin typeface="Calibri"/>
              <a:ea typeface="Calibri"/>
              <a:cs typeface="Calibri"/>
              <a:sym typeface="Calibri"/>
            </a:endParaRPr>
          </a:p>
        </p:txBody>
      </p:sp>
    </p:spTree>
    <p:extLst>
      <p:ext uri="{BB962C8B-B14F-4D97-AF65-F5344CB8AC3E}">
        <p14:creationId xmlns:p14="http://schemas.microsoft.com/office/powerpoint/2010/main" val="6769087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456;g103996e1364_0_463">
            <a:extLst>
              <a:ext uri="{FF2B5EF4-FFF2-40B4-BE49-F238E27FC236}">
                <a16:creationId xmlns:a16="http://schemas.microsoft.com/office/drawing/2014/main" xmlns="" id="{68C03D65-F0BF-3F41-B52A-024F47388982}"/>
              </a:ext>
            </a:extLst>
          </p:cNvPr>
          <p:cNvSpPr txBox="1">
            <a:spLocks/>
          </p:cNvSpPr>
          <p:nvPr/>
        </p:nvSpPr>
        <p:spPr>
          <a:xfrm>
            <a:off x="1268269" y="475773"/>
            <a:ext cx="8019300" cy="558254"/>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3.6.5 Wrap-Up: Reflection</a:t>
            </a:r>
          </a:p>
        </p:txBody>
      </p:sp>
      <p:pic>
        <p:nvPicPr>
          <p:cNvPr id="9" name="Google Shape;458;g103996e1364_0_463">
            <a:extLst>
              <a:ext uri="{FF2B5EF4-FFF2-40B4-BE49-F238E27FC236}">
                <a16:creationId xmlns:a16="http://schemas.microsoft.com/office/drawing/2014/main" xmlns="" id="{EEA44D6C-2366-AC41-B1B5-EDDC34786A66}"/>
              </a:ext>
            </a:extLst>
          </p:cNvPr>
          <p:cNvPicPr preferRelativeResize="0"/>
          <p:nvPr/>
        </p:nvPicPr>
        <p:blipFill rotWithShape="1">
          <a:blip r:embed="rId3">
            <a:alphaModFix/>
          </a:blip>
          <a:srcRect/>
          <a:stretch/>
        </p:blipFill>
        <p:spPr>
          <a:xfrm>
            <a:off x="356616" y="381250"/>
            <a:ext cx="747300" cy="747300"/>
          </a:xfrm>
          <a:prstGeom prst="rect">
            <a:avLst/>
          </a:prstGeom>
          <a:noFill/>
          <a:ln>
            <a:noFill/>
          </a:ln>
          <a:effectLst>
            <a:outerShdw blurRad="50800" dist="38100" dir="2700000" algn="tl" rotWithShape="0">
              <a:prstClr val="black">
                <a:alpha val="40000"/>
              </a:prstClr>
            </a:outerShdw>
          </a:effectLst>
        </p:spPr>
      </p:pic>
      <p:sp>
        <p:nvSpPr>
          <p:cNvPr id="2" name="Rectangle 1">
            <a:extLst>
              <a:ext uri="{FF2B5EF4-FFF2-40B4-BE49-F238E27FC236}">
                <a16:creationId xmlns:a16="http://schemas.microsoft.com/office/drawing/2014/main" xmlns="" id="{AE281112-0763-C941-9DB7-9B28C4EA4745}"/>
              </a:ext>
            </a:extLst>
          </p:cNvPr>
          <p:cNvSpPr/>
          <p:nvPr/>
        </p:nvSpPr>
        <p:spPr>
          <a:xfrm>
            <a:off x="483684" y="1440572"/>
            <a:ext cx="8019300" cy="3477875"/>
          </a:xfrm>
          <a:prstGeom prst="rect">
            <a:avLst/>
          </a:prstGeom>
        </p:spPr>
        <p:txBody>
          <a:bodyPr wrap="square">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Complete each statement.</a:t>
            </a: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After today’s lesson, I am still unsure about ...</a:t>
            </a:r>
          </a:p>
          <a:p>
            <a:pPr marL="914400" indent="-457200">
              <a:buFont typeface="+mj-lt"/>
              <a:buAutoNum type="alphaLcPeriod"/>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To fill in this gap, I intend to ...  </a:t>
            </a:r>
          </a:p>
        </p:txBody>
      </p:sp>
      <p:pic>
        <p:nvPicPr>
          <p:cNvPr id="8" name="Google Shape;311;g104476d1465_1_39"/>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143</a:t>
            </a:r>
            <a:endParaRPr i="1" dirty="0">
              <a:latin typeface="Calibri"/>
              <a:ea typeface="Calibri"/>
              <a:cs typeface="Calibri"/>
              <a:sym typeface="Calibri"/>
            </a:endParaRPr>
          </a:p>
        </p:txBody>
      </p:sp>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3370</TotalTime>
  <Words>1293</Words>
  <Application>Microsoft Office PowerPoint</Application>
  <PresentationFormat>Custom</PresentationFormat>
  <Paragraphs>304</Paragraphs>
  <Slides>29</Slides>
  <Notes>28</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29</vt:i4>
      </vt:variant>
    </vt:vector>
  </HeadingPairs>
  <TitlesOfParts>
    <vt:vector size="40" baseType="lpstr">
      <vt:lpstr>Arial</vt:lpstr>
      <vt:lpstr>Verdana</vt:lpstr>
      <vt:lpstr>MS Mincho</vt:lpstr>
      <vt:lpstr>Calibri</vt:lpstr>
      <vt:lpstr>Courier New</vt:lpstr>
      <vt:lpstr>Times New Roman</vt:lpstr>
      <vt:lpstr>Century Gothic</vt:lpstr>
      <vt:lpstr>Wingdings</vt:lpstr>
      <vt:lpstr>Cambria Math</vt:lpstr>
      <vt:lpstr>Arial Black</vt:lpstr>
      <vt:lpstr>1_Office Theme</vt:lpstr>
      <vt:lpstr>Algebra 1  Unit 3, Lesson 6  Fitting Linear Functions to Data  Volume 1, pg. 137  </vt:lpstr>
      <vt:lpstr>PowerPoint Presentation</vt:lpstr>
      <vt:lpstr>PowerPoint Presentation</vt:lpstr>
      <vt:lpstr>PowerPoint Presentation</vt:lpstr>
      <vt:lpstr>Warm-Up</vt:lpstr>
      <vt:lpstr>PowerPoint Presentation</vt:lpstr>
      <vt:lpstr>PowerPoint Presentation</vt:lpstr>
      <vt:lpstr>Exploration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Guided Instruction</vt:lpstr>
      <vt:lpstr>PowerPoint Presentation</vt:lpstr>
      <vt:lpstr>PowerPoint Presentation</vt:lpstr>
      <vt:lpstr>PowerPoint Presentation</vt:lpstr>
      <vt:lpstr>PowerPoint Presentation</vt:lpstr>
      <vt:lpstr>PowerPoint Presentation</vt:lpstr>
      <vt:lpstr>PowerPoint Presentation</vt:lpstr>
      <vt:lpstr>Guided Practice</vt:lpstr>
      <vt:lpstr>PowerPoint Presentation</vt:lpstr>
      <vt:lpstr>PowerPoint Presentation</vt:lpstr>
      <vt:lpstr>PowerPoint Presentation</vt:lpstr>
      <vt:lpstr>PowerPoint Presentation</vt:lpstr>
      <vt:lpstr>Wrap-Up</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Sensei</cp:lastModifiedBy>
  <cp:revision>64</cp:revision>
  <dcterms:created xsi:type="dcterms:W3CDTF">2015-03-17T18:51:18Z</dcterms:created>
  <dcterms:modified xsi:type="dcterms:W3CDTF">2022-07-27T06:13:26Z</dcterms:modified>
</cp:coreProperties>
</file>