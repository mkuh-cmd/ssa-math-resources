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345" r:id="rId4"/>
    <p:sldId id="286" r:id="rId5"/>
    <p:sldId id="261" r:id="rId6"/>
    <p:sldId id="287" r:id="rId7"/>
    <p:sldId id="381" r:id="rId8"/>
    <p:sldId id="314" r:id="rId9"/>
    <p:sldId id="315" r:id="rId10"/>
    <p:sldId id="316" r:id="rId11"/>
    <p:sldId id="401" r:id="rId12"/>
    <p:sldId id="402" r:id="rId13"/>
    <p:sldId id="403" r:id="rId14"/>
    <p:sldId id="404" r:id="rId15"/>
    <p:sldId id="405" r:id="rId16"/>
    <p:sldId id="395" r:id="rId17"/>
    <p:sldId id="396" r:id="rId18"/>
    <p:sldId id="397" r:id="rId19"/>
    <p:sldId id="407" r:id="rId20"/>
    <p:sldId id="398" r:id="rId21"/>
    <p:sldId id="399" r:id="rId22"/>
    <p:sldId id="400" r:id="rId23"/>
    <p:sldId id="410" r:id="rId24"/>
    <p:sldId id="306" r:id="rId25"/>
    <p:sldId id="307" r:id="rId26"/>
  </p:sldIdLst>
  <p:sldSz cx="12192000" cy="6858000"/>
  <p:notesSz cx="6858000" cy="9144000"/>
  <p:embeddedFontLs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Century Gothic" pitchFamily="34" charset="0"/>
      <p:regular r:id="rId32"/>
      <p:bold r:id="rId33"/>
      <p:italic r:id="rId34"/>
      <p:boldItalic r:id="rId35"/>
    </p:embeddedFont>
    <p:embeddedFont>
      <p:font typeface="Cambria Math" pitchFamily="18" charset="0"/>
      <p:regular r:id="rId36"/>
    </p:embeddedFont>
    <p:embeddedFont>
      <p:font typeface="Arial Black" pitchFamily="34" charset="0"/>
      <p:bold r:id="rId37"/>
    </p:embeddedFont>
    <p:embeddedFont>
      <p:font typeface="Verdana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B42"/>
    <a:srgbClr val="F79B59"/>
    <a:srgbClr val="F26763"/>
    <a:srgbClr val="E24E5F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8172" autoAdjust="0"/>
    <p:restoredTop sz="94591" autoAdjust="0"/>
  </p:normalViewPr>
  <p:slideViewPr>
    <p:cSldViewPr snapToGrid="0">
      <p:cViewPr>
        <p:scale>
          <a:sx n="75" d="100"/>
          <a:sy n="75" d="100"/>
        </p:scale>
        <p:origin x="-1589" y="-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64299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1503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0455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2348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1241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6967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3367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1430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74790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8791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7742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534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15765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0807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5558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7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Interpreting Linear Models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144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50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MA.912.DP.2.4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Fit a linear function to bivariate numerical data that suggests a linear association and interpret the slope and 𝑦-intercept of the model. Use the model to solve real-world problems in terms of the context of the data.</a:t>
            </a: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xmlns="" id="{78632872-3F42-3447-924A-20A16C6976F7}"/>
              </a:ext>
            </a:extLst>
          </p:cNvPr>
          <p:cNvSpPr/>
          <p:nvPr/>
        </p:nvSpPr>
        <p:spPr>
          <a:xfrm>
            <a:off x="393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16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8751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90563" indent="-690563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interpret the correlation coefficient, slope, and </a:t>
            </a: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𝑦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-intercept of a linear equation fit to real-world data.</a:t>
            </a:r>
          </a:p>
          <a:p>
            <a:pPr marL="690563" indent="-690563">
              <a:buFont typeface="Wingdings" pitchFamily="2" charset="2"/>
              <a:buChar char="q"/>
            </a:pP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90563" indent="-690563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linear equation </a:t>
            </a: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fit 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bivariate data to solve </a:t>
            </a: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problems in terms of the context of the data.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xmlns="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1049" y="2386392"/>
            <a:ext cx="5238750" cy="381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5" y="1228396"/>
            <a:ext cx="10800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scatter plot shows the relationship between the day of the month and the high temperature, in degrees Fahrenheit, for February 2021 in Brooksville, FL.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3.7.1 Warm-Up: Bell Work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xmlns="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ED0487C7-C6E6-D646-8D97-3AA76B959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567528"/>
              </p:ext>
            </p:extLst>
          </p:nvPr>
        </p:nvGraphicFramePr>
        <p:xfrm>
          <a:off x="1533233" y="4759632"/>
          <a:ext cx="6120000" cy="1440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xmlns="" val="700298748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43995956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omain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6448182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Range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03952925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line fits the data better, the solid orange line or the dashed green line?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reasoning.  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inequalities to represent an appropriate domain and range for the data represented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97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7502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11370" y="2752698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2.png" descr="Icon&#10;&#10;Description automatically generated">
            <a:extLst>
              <a:ext uri="{FF2B5EF4-FFF2-40B4-BE49-F238E27FC236}">
                <a16:creationId xmlns:a16="http://schemas.microsoft.com/office/drawing/2014/main" xmlns="" id="{DB15A1A6-99D7-B245-ADDB-98AB85DBE89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802419" y="2826023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="" id="{A2EFAD66-BACA-5945-A905-B66C94F2DF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9441154"/>
                  </p:ext>
                </p:extLst>
              </p:nvPr>
            </p:nvGraphicFramePr>
            <p:xfrm>
              <a:off x="2345240" y="2467850"/>
              <a:ext cx="8064000" cy="31089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="" val="3246536699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="" val="535307017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="" val="142795647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017888770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="" val="577956929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="" val="2779510747"/>
                        </a:ext>
                      </a:extLst>
                    </a:gridCol>
                  </a:tblGrid>
                  <a:tr h="10902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City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Rain per Year (in.)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High Temp in Jan.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°</m:t>
                              </m:r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𝐅</m:t>
                              </m:r>
                            </m:oMath>
                          </a14:m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City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Rain per Year (in.)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High Temp in Jan.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°</m:t>
                              </m:r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𝐅</m:t>
                              </m:r>
                            </m:oMath>
                          </a14:m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5890698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Alachua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Naples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76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073388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Bradenton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Orlando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70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6535851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Clermont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Pensacola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58</a:t>
                          </a:r>
                          <a:endParaRPr lang="x-none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715929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2EFAD66-BACA-5945-A905-B66C94F2DF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9441154"/>
                  </p:ext>
                </p:extLst>
              </p:nvPr>
            </p:nvGraphicFramePr>
            <p:xfrm>
              <a:off x="2345240" y="2467850"/>
              <a:ext cx="8064000" cy="31089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246536699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35307017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42795647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17888770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77956929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779510747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City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Rain per Year (in.)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1268" t="-2564" r="-310329" b="-1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City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Rain per Year (in.)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21596" t="-2564" b="-16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5890698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Alachua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Naples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76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073388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Bradenton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Orlando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70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6535851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Clermont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Pensacola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</a:t>
                          </a:r>
                          <a:endParaRPr lang="x-none" sz="12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58</a:t>
                          </a:r>
                          <a:endParaRPr lang="x-none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15929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43;g103996e1364_0_321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87528"/>
            <a:ext cx="1044187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3.7.2 Activity: Station 1: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High Temperature and Rainfall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090127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table shows the mean high temperature in January, in degrees Fahrenheit (℉), and the mean amount of rainfall per year, in inches (in.),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cities in Florida.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0901278" cy="707886"/>
              </a:xfrm>
              <a:prstGeom prst="rect">
                <a:avLst/>
              </a:prstGeom>
              <a:blipFill rotWithShape="1">
                <a:blip r:embed="rId5"/>
                <a:stretch>
                  <a:fillRect l="-559" t="-4310" r="-106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12.png" descr="Icon&#10;&#10;Description automatically generated">
            <a:extLst>
              <a:ext uri="{FF2B5EF4-FFF2-40B4-BE49-F238E27FC236}">
                <a16:creationId xmlns:a16="http://schemas.microsoft.com/office/drawing/2014/main" xmlns="" id="{DB15A1A6-99D7-B245-ADDB-98AB85DBE892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05350" y="203221"/>
            <a:ext cx="747300" cy="74730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4554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A9132C69-8FA6-1A4F-812D-849EC1E14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7788079"/>
                  </p:ext>
                </p:extLst>
              </p:nvPr>
            </p:nvGraphicFramePr>
            <p:xfrm>
              <a:off x="2306941" y="533066"/>
              <a:ext cx="8208000" cy="566856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76000">
                      <a:extLst>
                        <a:ext uri="{9D8B030D-6E8A-4147-A177-3AD203B41FA5}">
                          <a16:colId xmlns:a16="http://schemas.microsoft.com/office/drawing/2014/main" xmlns="" val="1178109142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="" val="313392266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="" val="130720177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xmlns="" val="3470263447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="" val="2480669394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="" val="3260111142"/>
                        </a:ext>
                      </a:extLst>
                    </a:gridCol>
                  </a:tblGrid>
                  <a:tr h="76788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City</a:t>
                          </a:r>
                          <a:endParaRPr lang="x-none" sz="1800" b="1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Mean Rain per Year (in.)</a:t>
                          </a:r>
                          <a:endParaRPr lang="x-none" sz="1800" b="1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Mean High Temp in Jan.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°</m:t>
                              </m:r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x-none" sz="1800" b="1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City</a:t>
                          </a:r>
                          <a:endParaRPr lang="x-none" sz="1800" b="1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Mean Rain per Year (in.)</a:t>
                          </a:r>
                          <a:endParaRPr lang="x-none" sz="1800" b="1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Mean High Temp in Jan.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°</m:t>
                              </m:r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x-none" sz="1800" b="1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6788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Fort Lauderdale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75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Sarasota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71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93075290"/>
                      </a:ext>
                    </a:extLst>
                  </a:tr>
                  <a:tr h="5972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Fort Myers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1.8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74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St. Augustine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3.1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66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68809487"/>
                      </a:ext>
                    </a:extLst>
                  </a:tr>
                  <a:tr h="5972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Fort Pierce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2.1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74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Tallahassee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4.8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62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71628431"/>
                      </a:ext>
                    </a:extLst>
                  </a:tr>
                  <a:tr h="5972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Gainesville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3.4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65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Tampa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2.0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68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246977604"/>
                      </a:ext>
                    </a:extLst>
                  </a:tr>
                  <a:tr h="5972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Jupiter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2.8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West Palm Beach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2.8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74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6772752"/>
                      </a:ext>
                    </a:extLst>
                  </a:tr>
                  <a:tr h="5972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Key West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2.0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74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Winter Garden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2.8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68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70560184"/>
                      </a:ext>
                    </a:extLst>
                  </a:tr>
                  <a:tr h="5972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Miami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2.0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75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Yulee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3.4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Times New Roman" panose="02020603050405020304" pitchFamily="18" charset="0"/>
                                  </a:rPr>
                                  <m:t>62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525681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9132C69-8FA6-1A4F-812D-849EC1E14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7788079"/>
                  </p:ext>
                </p:extLst>
              </p:nvPr>
            </p:nvGraphicFramePr>
            <p:xfrm>
              <a:off x="2306941" y="533066"/>
              <a:ext cx="8208000" cy="566856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7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78109142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13392266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0720177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70263447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480669394"/>
                        </a:ext>
                      </a:extLst>
                    </a:gridCol>
                    <a:gridCol w="129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26011114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City</a:t>
                          </a:r>
                          <a:endParaRPr lang="x-none" sz="1800" b="1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Mean Rain per Year (in.)</a:t>
                          </a:r>
                          <a:endParaRPr lang="x-none" sz="1800" b="1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3615" t="-2564" r="-318779" b="-37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City</a:t>
                          </a:r>
                          <a:endParaRPr lang="x-none" sz="1800" b="1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Mean Rain per Year (in.)</a:t>
                          </a:r>
                          <a:endParaRPr lang="x-none" sz="1800" b="1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32394" t="-2564" b="-377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6788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Fort Lauderdale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3615" t="-158730" r="-418779" b="-484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3615" t="-158730" r="-318779" b="-484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Sarasota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4906" t="-158730" r="-100472" b="-484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32394" t="-158730" b="-4841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59307529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Fort Myers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3615" t="-310476" r="-418779" b="-48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3615" t="-310476" r="-318779" b="-48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St. Augustine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4906" t="-310476" r="-100472" b="-48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32394" t="-310476" b="-48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68809487"/>
                      </a:ext>
                    </a:extLst>
                  </a:tr>
                  <a:tr h="5972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Fort Pierce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3615" t="-439796" r="-418779" b="-4153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3615" t="-439796" r="-318779" b="-4153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Tallahassee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4906" t="-439796" r="-100472" b="-4153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32394" t="-439796" b="-4153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71628431"/>
                      </a:ext>
                    </a:extLst>
                  </a:tr>
                  <a:tr h="5972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Gainesville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3615" t="-539796" r="-418779" b="-3153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3615" t="-539796" r="-318779" b="-3153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Tampa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4906" t="-539796" r="-100472" b="-3153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32394" t="-539796" b="-3153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2469776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Jupiter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3615" t="-597143" r="-418779" b="-1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3615" t="-597143" r="-318779" b="-1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West Palm Beach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4906" t="-597143" r="-100472" b="-1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32394" t="-597143" b="-19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677275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Key West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3615" t="-697143" r="-418779" b="-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3615" t="-697143" r="-318779" b="-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Winter Garden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4906" t="-697143" r="-100472" b="-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32394" t="-697143" b="-9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70560184"/>
                      </a:ext>
                    </a:extLst>
                  </a:tr>
                  <a:tr h="5972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Miami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3615" t="-854082" r="-418779" b="-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3615" t="-854082" r="-318779" b="-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Yulee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4906" t="-854082" r="-100472" b="-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32394" t="-854082" b="-1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525681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xmlns="" id="{0CF4804B-4809-4844-BA7E-3E6335B64E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1228" y="1526472"/>
            <a:ext cx="4673160" cy="467316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scatter plot shown represents the data from the table with a linear equation fit to model the relationship.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607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screenshot shows the slope, 𝑦-intercept, and correlation coefficient associated with the linear relationship modeled on the scatter plot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equation of the line of best fit shown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xmlns="" id="{492EA8C1-D646-8F48-B5E1-73E843F6B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884" y="1662385"/>
            <a:ext cx="3213847" cy="214256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7231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11CE7342-A75E-9B4A-8430-C55586B910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973581"/>
                  </p:ext>
                </p:extLst>
              </p:nvPr>
            </p:nvGraphicFramePr>
            <p:xfrm>
              <a:off x="1523795" y="1285348"/>
              <a:ext cx="6480000" cy="47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1662713662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xmlns="" val="218037387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Meaning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018423153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slope,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441184114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-intercept,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118209397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correlation coefficient,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226505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1CE7342-A75E-9B4A-8430-C55586B910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973581"/>
                  </p:ext>
                </p:extLst>
              </p:nvPr>
            </p:nvGraphicFramePr>
            <p:xfrm>
              <a:off x="1523795" y="1285348"/>
              <a:ext cx="6480000" cy="47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662713662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18037387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Meaning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18423153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82" t="-33051" r="-200282" b="-2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441184114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82" t="-133051" r="-200282" b="-1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18209397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82" t="-233051" r="-200282" b="-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7115" marR="5711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226505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6938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Interpret the meaning of each value listed in the table.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40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inequalities to express an appropriate domain and range using the linear equation that models the data.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model to predict the mean high temperature in January for a Florida city that has a mean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4.0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of rainfall per year.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890" t="-1288" r="-1725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6CFD0741-5C60-0A4C-B4D9-12E7531A2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768135"/>
              </p:ext>
            </p:extLst>
          </p:nvPr>
        </p:nvGraphicFramePr>
        <p:xfrm>
          <a:off x="1118585" y="1561928"/>
          <a:ext cx="6120000" cy="1440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xmlns="" val="375677821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2414330009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omain</a:t>
                      </a:r>
                      <a:endParaRPr lang="x-none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4123334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Range</a:t>
                      </a:r>
                      <a:endParaRPr lang="x-none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02046921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999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Suppose there is a city in Florida that averages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7.8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of rainfall per year.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to predict the mean high temperature in January for that city.</a:t>
                </a:r>
              </a:p>
              <a:p>
                <a:pPr marL="896938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or not this January high temperature seems reasonable.</a:t>
                </a:r>
              </a:p>
              <a:p>
                <a:pPr marL="896938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if you think the model can be extrapolated to a city in Florida averaging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7.8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of rainfall per year. Summarize your discussion.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262979"/>
              </a:xfrm>
              <a:prstGeom prst="rect">
                <a:avLst/>
              </a:prstGeom>
              <a:blipFill rotWithShape="1">
                <a:blip r:embed="rId4"/>
                <a:stretch>
                  <a:fillRect l="-890" t="-1042" b="-1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555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7502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313;g104476d1465_1_39"/>
          <p:cNvSpPr txBox="1">
            <a:spLocks/>
          </p:cNvSpPr>
          <p:nvPr/>
        </p:nvSpPr>
        <p:spPr>
          <a:xfrm>
            <a:off x="5211370" y="2752698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4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image12.png" descr="Icon&#10;&#10;Description automatically generated">
            <a:extLst>
              <a:ext uri="{FF2B5EF4-FFF2-40B4-BE49-F238E27FC236}">
                <a16:creationId xmlns:a16="http://schemas.microsoft.com/office/drawing/2014/main" xmlns="" id="{DB15A1A6-99D7-B245-ADDB-98AB85DBE89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802419" y="2826023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1001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6819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15610" y="2512681"/>
            <a:ext cx="4856554" cy="4143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43;g103996e1364_0_321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87528"/>
            <a:ext cx="1044187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3.7.3 Activity: Station 2: 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Hurricanes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in Florida Since 2011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image12.png" descr="Icon&#10;&#10;Description automatically generated">
            <a:extLst>
              <a:ext uri="{FF2B5EF4-FFF2-40B4-BE49-F238E27FC236}">
                <a16:creationId xmlns:a16="http://schemas.microsoft.com/office/drawing/2014/main" xmlns="" id="{DB15A1A6-99D7-B245-ADDB-98AB85DBE892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05350" y="203221"/>
            <a:ext cx="747300" cy="74730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01B13E8-EC8D-E443-A329-C5E3593DD13A}"/>
              </a:ext>
            </a:extLst>
          </p:cNvPr>
          <p:cNvSpPr txBox="1"/>
          <p:nvPr/>
        </p:nvSpPr>
        <p:spPr>
          <a:xfrm>
            <a:off x="593248" y="1284426"/>
            <a:ext cx="109012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Michaela wondered if there was a trend between the number of hurricanes and tropical storms that hit Florida and time. She used data for the number of hurricanes and tropical storms to hit Florida from 2011-2020 to create the scatter plot shown.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520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=0.612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models this relationship.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 the meaning of the slope and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𝑦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in context.</a:t>
                </a:r>
              </a:p>
              <a:p>
                <a:pPr marL="896938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it does not make sense for the slope or 𝑦-intercept to be decimal values in this context.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893647"/>
              </a:xfrm>
              <a:prstGeom prst="rect">
                <a:avLst/>
              </a:prstGeom>
              <a:blipFill rotWithShape="1">
                <a:blip r:embed="rId3"/>
                <a:stretch>
                  <a:fillRect l="-890" t="-1121" r="-723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9057572F-E60A-9843-843B-2059CA1281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7003488"/>
                  </p:ext>
                </p:extLst>
              </p:nvPr>
            </p:nvGraphicFramePr>
            <p:xfrm>
              <a:off x="1512668" y="1896689"/>
              <a:ext cx="7200000" cy="226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542589712"/>
                        </a:ext>
                      </a:extLst>
                    </a:gridCol>
                    <a:gridCol w="5040000">
                      <a:extLst>
                        <a:ext uri="{9D8B030D-6E8A-4147-A177-3AD203B41FA5}">
                          <a16:colId xmlns:a16="http://schemas.microsoft.com/office/drawing/2014/main" xmlns="" val="5126852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Meaning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4785618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slope,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204525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-intercept,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959802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057572F-E60A-9843-843B-2059CA1281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7003488"/>
                  </p:ext>
                </p:extLst>
              </p:nvPr>
            </p:nvGraphicFramePr>
            <p:xfrm>
              <a:off x="1512668" y="1896689"/>
              <a:ext cx="7200000" cy="226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42589712"/>
                        </a:ext>
                      </a:extLst>
                    </a:gridCol>
                    <a:gridCol w="50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126852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Meaning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4785618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52381" r="-233898" b="-1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204525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51351" r="-233898" b="-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5959802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2545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7771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model for the relationship,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=0.612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+2.75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to complete the following.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Predict the number of hurricanes and tropical storms expected to hit Florida in 2023.</a:t>
                </a:r>
              </a:p>
              <a:p>
                <a:pPr marL="896938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or not it seems reasonable for the number of hurricanes and tropical storms to hit Florida to continue increasing at this rate each year.</a:t>
                </a:r>
              </a:p>
              <a:p>
                <a:pPr marL="896938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model could be used to estimate the number of hurricanes and tropical storms that hit Florida in 2008. Summarize your discussion.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708981"/>
              </a:xfrm>
              <a:prstGeom prst="rect">
                <a:avLst/>
              </a:prstGeom>
              <a:blipFill rotWithShape="1">
                <a:blip r:embed="rId4"/>
                <a:stretch>
                  <a:fillRect l="-612" t="-776" r="-1336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440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59872" y="-17502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313;g104476d1465_1_39"/>
          <p:cNvSpPr txBox="1">
            <a:spLocks/>
          </p:cNvSpPr>
          <p:nvPr/>
        </p:nvSpPr>
        <p:spPr>
          <a:xfrm>
            <a:off x="5211370" y="2752698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4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image12.png" descr="Icon&#10;&#10;Description automatically generated">
            <a:extLst>
              <a:ext uri="{FF2B5EF4-FFF2-40B4-BE49-F238E27FC236}">
                <a16:creationId xmlns:a16="http://schemas.microsoft.com/office/drawing/2014/main" xmlns="" id="{DB15A1A6-99D7-B245-ADDB-98AB85DBE89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802419" y="2826023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9314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51566" y="1284426"/>
            <a:ext cx="4879546" cy="4393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87528"/>
            <a:ext cx="1044187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3.7.4 Collaboration: Station 3: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Men’s 100-Meter Dash at the Olympics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image12.png" descr="Icon&#10;&#10;Description automatically generated">
            <a:extLst>
              <a:ext uri="{FF2B5EF4-FFF2-40B4-BE49-F238E27FC236}">
                <a16:creationId xmlns:a16="http://schemas.microsoft.com/office/drawing/2014/main" xmlns="" id="{DB15A1A6-99D7-B245-ADDB-98AB85DBE892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05350" y="203221"/>
            <a:ext cx="747300" cy="74730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C01B13E8-EC8D-E443-A329-C5E3593DD13A}"/>
              </a:ext>
            </a:extLst>
          </p:cNvPr>
          <p:cNvSpPr txBox="1"/>
          <p:nvPr/>
        </p:nvSpPr>
        <p:spPr>
          <a:xfrm>
            <a:off x="593248" y="1284426"/>
            <a:ext cx="589899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scatter plot shows the finishing times for the Olympic gold medalist in the men's 100-meter (m.) dash for the Olympic games since 1960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Dana says that the strength and direction of the linear association between the two variables is moderately negative. Explain whether or not you agree with Dana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04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The equation of the line of best fit shown on the scatter plot is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)=10.2217−0.0098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𝑓 is the finishing time of the Olympic gold medalist in the men’s 100-m dash and 𝑥 is the number of years since 1960.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 the 𝑦-intercept of the linear equation modeling the data.</a:t>
                </a:r>
              </a:p>
              <a:p>
                <a:pPr marL="896938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 defTabSz="1076325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the difference between the finishing time for the men’s gold medal winner for the 100-m dash in the 1960 Olympics and the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𝑦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of the linear equation.</a:t>
                </a:r>
              </a:p>
              <a:p>
                <a:pPr marL="896938" indent="-457200" defTabSz="1076325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 defTabSz="1076325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 defTabSz="1076325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 the slope of the linear equation that models the data.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401205"/>
              </a:xfrm>
              <a:prstGeom prst="rect">
                <a:avLst/>
              </a:prstGeom>
              <a:blipFill rotWithShape="1">
                <a:blip r:embed="rId4"/>
                <a:stretch>
                  <a:fillRect l="-612" t="-83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313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6938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summer Olympic games, where the 100-m dash is run, occur every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years. By how many seconds does the model predict the first-place finishing time will decrease every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years?</a:t>
                </a:r>
              </a:p>
              <a:p>
                <a:pPr marL="896938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whether or not it is reasonable to use this model to predict the first place finishing time in the men’s 100-m dash for the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2050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summer Olympics. Summarize your discussion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477875"/>
              </a:xfrm>
              <a:prstGeom prst="rect">
                <a:avLst/>
              </a:prstGeom>
              <a:blipFill rotWithShape="1">
                <a:blip r:embed="rId4"/>
                <a:stretch>
                  <a:fillRect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185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99324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6098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3" name="Group 2"/>
          <p:cNvGrpSpPr/>
          <p:nvPr/>
        </p:nvGrpSpPr>
        <p:grpSpPr>
          <a:xfrm>
            <a:off x="3171475" y="2391067"/>
            <a:ext cx="5780882" cy="3901097"/>
            <a:chOff x="2536862" y="2445915"/>
            <a:chExt cx="5780882" cy="3901097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xmlns="" id="{5B3F6D3E-3C22-7043-80CE-1F4E9A5FE53C}"/>
                </a:ext>
              </a:extLst>
            </p:cNvPr>
            <p:cNvSpPr/>
            <p:nvPr/>
          </p:nvSpPr>
          <p:spPr>
            <a:xfrm>
              <a:off x="4745803" y="2445915"/>
              <a:ext cx="3571941" cy="3901097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My favorite mistake from today was ...</a:t>
              </a:r>
              <a:endParaRPr lang="x-none" sz="200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xmlns="" id="{11107622-05C6-B24F-B53D-453214C49457}"/>
                </a:ext>
              </a:extLst>
            </p:cNvPr>
            <p:cNvSpPr/>
            <p:nvPr/>
          </p:nvSpPr>
          <p:spPr>
            <a:xfrm>
              <a:off x="2536862" y="2849713"/>
              <a:ext cx="1980000" cy="3093499"/>
            </a:xfrm>
            <a:prstGeom prst="roundRect">
              <a:avLst>
                <a:gd name="adj" fmla="val 16667"/>
              </a:avLst>
            </a:prstGeom>
            <a:solidFill>
              <a:srgbClr val="DAE5F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sz="2000" b="1" dirty="0">
                  <a:solidFill>
                    <a:srgbClr val="DB2B2A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eans</a:t>
              </a:r>
              <a:endParaRPr lang="x-none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000" b="1" dirty="0">
                  <a:solidFill>
                    <a:srgbClr val="F25756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</a:t>
              </a:r>
              <a:endParaRPr lang="x-none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000" b="1" dirty="0">
                  <a:solidFill>
                    <a:srgbClr val="E99237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endParaRPr lang="x-none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000" b="1" dirty="0">
                  <a:solidFill>
                    <a:srgbClr val="FACD17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 </a:t>
              </a:r>
              <a:endParaRPr lang="x-none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000" b="1" dirty="0">
                  <a:solidFill>
                    <a:srgbClr val="7BA43F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cquire</a:t>
              </a:r>
              <a:endParaRPr lang="x-none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000" b="1" dirty="0">
                  <a:solidFill>
                    <a:srgbClr val="24B7D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nowledge</a:t>
              </a:r>
              <a:endParaRPr lang="x-none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000" b="1" dirty="0">
                  <a:solidFill>
                    <a:srgbClr val="1B74B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xperience </a:t>
              </a:r>
              <a:endParaRPr lang="x-none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000" b="1" dirty="0">
                  <a:solidFill>
                    <a:srgbClr val="4A2B7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kills</a:t>
              </a:r>
              <a:r>
                <a: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x-none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3.7.5 Wrap-Up: Growth Mindset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0370EDB7-6994-3D43-ABF9-E04CBAFB9CD9}"/>
              </a:ext>
            </a:extLst>
          </p:cNvPr>
          <p:cNvSpPr txBox="1"/>
          <p:nvPr/>
        </p:nvSpPr>
        <p:spPr>
          <a:xfrm>
            <a:off x="593248" y="1253826"/>
            <a:ext cx="10937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Mistakes are an opportunity to learn. Complete the statement to highlight a mistake you learned from.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3241</TotalTime>
  <Words>1083</Words>
  <Application>Microsoft Office PowerPoint</Application>
  <PresentationFormat>Custom</PresentationFormat>
  <Paragraphs>264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Times New Roman</vt:lpstr>
      <vt:lpstr>Century Gothic</vt:lpstr>
      <vt:lpstr>Wingdings</vt:lpstr>
      <vt:lpstr>Cambria Math</vt:lpstr>
      <vt:lpstr>Arial Black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47</cp:revision>
  <dcterms:created xsi:type="dcterms:W3CDTF">2015-03-17T18:51:18Z</dcterms:created>
  <dcterms:modified xsi:type="dcterms:W3CDTF">2022-07-27T10:11:28Z</dcterms:modified>
</cp:coreProperties>
</file>