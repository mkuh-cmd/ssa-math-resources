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289" r:id="rId8"/>
    <p:sldId id="290" r:id="rId9"/>
    <p:sldId id="366" r:id="rId10"/>
    <p:sldId id="372" r:id="rId11"/>
    <p:sldId id="373" r:id="rId12"/>
    <p:sldId id="374" r:id="rId13"/>
    <p:sldId id="323" r:id="rId14"/>
    <p:sldId id="324" r:id="rId15"/>
    <p:sldId id="367" r:id="rId16"/>
    <p:sldId id="376" r:id="rId17"/>
    <p:sldId id="377" r:id="rId18"/>
    <p:sldId id="302" r:id="rId19"/>
    <p:sldId id="303" r:id="rId20"/>
    <p:sldId id="370" r:id="rId21"/>
    <p:sldId id="375" r:id="rId22"/>
    <p:sldId id="306" r:id="rId23"/>
    <p:sldId id="307" r:id="rId24"/>
  </p:sldIdLst>
  <p:sldSz cx="12192000" cy="6858000"/>
  <p:notesSz cx="6858000" cy="9144000"/>
  <p:embeddedFontLst>
    <p:embeddedFont>
      <p:font typeface="Calibri" pitchFamily="34" charset="0"/>
      <p:regular r:id="rId26"/>
      <p:bold r:id="rId27"/>
      <p:italic r:id="rId28"/>
      <p:boldItalic r:id="rId29"/>
    </p:embeddedFont>
    <p:embeddedFont>
      <p:font typeface="Century Gothic" pitchFamily="34" charset="0"/>
      <p:regular r:id="rId30"/>
      <p:bold r:id="rId31"/>
      <p:italic r:id="rId32"/>
      <p:boldItalic r:id="rId33"/>
    </p:embeddedFont>
    <p:embeddedFont>
      <p:font typeface="Cambria Math" pitchFamily="18" charset="0"/>
      <p:regular r:id="rId34"/>
    </p:embeddedFont>
    <p:embeddedFont>
      <p:font typeface="Cambria" pitchFamily="18" charset="0"/>
      <p:regular r:id="rId35"/>
      <p:bold r:id="rId36"/>
      <p:italic r:id="rId37"/>
      <p:boldItalic r:id="rId38"/>
    </p:embeddedFont>
    <p:embeddedFont>
      <p:font typeface="Arial Black" pitchFamily="34" charset="0"/>
      <p:bold r:id="rId39"/>
    </p:embeddedFont>
    <p:embeddedFont>
      <p:font typeface="MS Mincho" pitchFamily="49" charset="-128"/>
      <p:regular r:id="rId40"/>
    </p:embeddedFont>
    <p:embeddedFont>
      <p:font typeface="Verdana"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574"/>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4054" autoAdjust="0"/>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344491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2063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459700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325195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181562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19923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675452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215211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59670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7224940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38288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266757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1535382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6" name="Google Shape;113;g104476d1465_0_0"/>
          <p:cNvSpPr txBox="1">
            <a:spLocks/>
          </p:cNvSpPr>
          <p:nvPr/>
        </p:nvSpPr>
        <p:spPr>
          <a:xfrm>
            <a:off x="5549901" y="2054277"/>
            <a:ext cx="516890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Algebra 1</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12, Lesson 6</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Estimating for a Population</a:t>
            </a: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224</a:t>
            </a: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pic>
        <p:nvPicPr>
          <p:cNvPr id="7" name="Picture 6" descr="Logo&#10;&#10;Description automatically generated">
            <a:extLst>
              <a:ext uri="{FF2B5EF4-FFF2-40B4-BE49-F238E27FC236}">
                <a16:creationId xmlns:a16="http://schemas.microsoft.com/office/drawing/2014/main" xmlns=""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3032" y="1918611"/>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9531"/>
            <a:ext cx="1101658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MA.912.DP.1.4</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Estimate a population total, mean, or percentage using data from a sample survey; develop a margin of error through the use of simulation.</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a:t>
            </a:r>
            <a: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r>
            <a:b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3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real-world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5"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5"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14000" y="1600200"/>
            <a:ext cx="109350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use margin of error to estimate a population total, mean, or percentage using data</a:t>
            </a:r>
            <a:r>
              <a:rPr lang="en-US" sz="3600" dirty="0" smtClean="0">
                <a:latin typeface="Verdana" panose="020B0604030504040204" pitchFamily="34" charset="0"/>
                <a:ea typeface="Verdana" panose="020B0604030504040204" pitchFamily="34" charset="0"/>
                <a:cs typeface="Verdana" panose="020B0604030504040204" pitchFamily="34" charset="0"/>
              </a:rPr>
              <a:t>.</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 name="Picture 9" descr="Graphical user interface&#10;&#10;Description automatically generated"/>
          <p:cNvPicPr/>
          <p:nvPr/>
        </p:nvPicPr>
        <p:blipFill rotWithShape="1">
          <a:blip r:embed="rId3" cstate="screen">
            <a:extLst>
              <a:ext uri="{28A0092B-C50C-407E-A947-70E740481C1C}">
                <a14:useLocalDpi xmlns:a14="http://schemas.microsoft.com/office/drawing/2010/main"/>
              </a:ext>
            </a:extLst>
          </a:blip>
          <a:srcRect t="5949" b="3633"/>
          <a:stretch/>
        </p:blipFill>
        <p:spPr bwMode="auto">
          <a:xfrm>
            <a:off x="6647999" y="1326087"/>
            <a:ext cx="4882585" cy="5131588"/>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12.6.1 Warm-Up: News Source</a:t>
            </a:r>
            <a:endParaRPr lang="en-US" sz="3600" b="1" dirty="0">
              <a:solidFill>
                <a:srgbClr val="3F2A67"/>
              </a:solidFill>
              <a:latin typeface="Verdana"/>
              <a:ea typeface="Verdana"/>
              <a:cs typeface="Verdana"/>
              <a:sym typeface="Verdana"/>
            </a:endParaRPr>
          </a:p>
        </p:txBody>
      </p:sp>
      <p:pic>
        <p:nvPicPr>
          <p:cNvPr id="15"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5">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16" name="TextBox 15">
            <a:extLst>
              <a:ext uri="{FF2B5EF4-FFF2-40B4-BE49-F238E27FC236}">
                <a16:creationId xmlns:mc="http://schemas.openxmlformats.org/markup-compatibility/2006" xmlns:a14="http://schemas.microsoft.com/office/drawing/2010/main" xmlns="" xmlns:a16="http://schemas.microsoft.com/office/drawing/2014/main" id="{E1D7562E-134F-D14B-AF1A-DF40E11EF758}"/>
              </a:ext>
            </a:extLst>
          </p:cNvPr>
          <p:cNvSpPr txBox="1"/>
          <p:nvPr/>
        </p:nvSpPr>
        <p:spPr>
          <a:xfrm>
            <a:off x="479008" y="1326087"/>
            <a:ext cx="6236117" cy="193899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graphic below summarizes data from a 2020 Pew Research Study. It shows the percent of U.S. adults who use each site and regularly get news on each site</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What do you notice? What do you wonder</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2" name="image2.png" descr="Icon&#10;&#10;Description automatically generated">
            <a:extLst>
              <a:ext uri="{FF2B5EF4-FFF2-40B4-BE49-F238E27FC236}">
                <a16:creationId xmlns="" xmlns:a16="http://schemas.microsoft.com/office/drawing/2014/main" id="{B8663E50-D763-C343-96E8-FEAEDD7FA21B}"/>
              </a:ext>
            </a:extLst>
          </p:cNvPr>
          <p:cNvPicPr/>
          <p:nvPr/>
        </p:nvPicPr>
        <p:blipFill>
          <a:blip r:embed="rId4"/>
          <a:srcRect/>
          <a:stretch>
            <a:fillRect/>
          </a:stretch>
        </p:blipFill>
        <p:spPr>
          <a:xfrm>
            <a:off x="4506717"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14"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052650" y="62866"/>
            <a:ext cx="1095738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12.6.2 Guided Instruction: </a:t>
            </a:r>
            <a:r>
              <a:rPr lang="en-US" sz="3200" b="1" dirty="0" smtClean="0">
                <a:solidFill>
                  <a:srgbClr val="54B5D1"/>
                </a:solidFill>
                <a:latin typeface="Verdana"/>
                <a:ea typeface="Verdana"/>
                <a:cs typeface="Verdana"/>
                <a:sym typeface="Verdana"/>
              </a:rPr>
              <a:t/>
            </a:r>
            <a:br>
              <a:rPr lang="en-US" sz="3200" b="1" dirty="0" smtClean="0">
                <a:solidFill>
                  <a:srgbClr val="54B5D1"/>
                </a:solidFill>
                <a:latin typeface="Verdana"/>
                <a:ea typeface="Verdana"/>
                <a:cs typeface="Verdana"/>
                <a:sym typeface="Verdana"/>
              </a:rPr>
            </a:br>
            <a:r>
              <a:rPr lang="en-US" sz="3200" b="1" dirty="0" smtClean="0">
                <a:solidFill>
                  <a:srgbClr val="54B5D1"/>
                </a:solidFill>
                <a:latin typeface="Verdana"/>
                <a:ea typeface="Verdana"/>
                <a:cs typeface="Verdana"/>
                <a:sym typeface="Verdana"/>
              </a:rPr>
              <a:t>Margin </a:t>
            </a:r>
            <a:r>
              <a:rPr lang="en-US" sz="3200" b="1" dirty="0">
                <a:solidFill>
                  <a:srgbClr val="54B5D1"/>
                </a:solidFill>
                <a:latin typeface="Verdana"/>
                <a:ea typeface="Verdana"/>
                <a:cs typeface="Verdana"/>
                <a:sym typeface="Verdana"/>
              </a:rPr>
              <a:t>of Error</a:t>
            </a:r>
            <a:endParaRPr lang="en-US" sz="3200" b="1" dirty="0">
              <a:solidFill>
                <a:srgbClr val="54B5D1"/>
              </a:solidFill>
              <a:latin typeface="Verdana"/>
              <a:ea typeface="Verdana"/>
              <a:cs typeface="Verdana"/>
              <a:sym typeface="Verdana"/>
            </a:endParaRPr>
          </a:p>
        </p:txBody>
      </p:sp>
      <p:pic>
        <p:nvPicPr>
          <p:cNvPr id="14"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4">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xmlns="" id="{C01B13E8-EC8D-E443-A329-C5E3593DD13A}"/>
                  </a:ext>
                </a:extLst>
              </p:cNvPr>
              <p:cNvSpPr txBox="1"/>
              <p:nvPr/>
            </p:nvSpPr>
            <p:spPr>
              <a:xfrm>
                <a:off x="545130" y="1386024"/>
                <a:ext cx="10985982"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2020, </a:t>
                </a:r>
                <a14:m>
                  <m:oMath xmlns:m="http://schemas.openxmlformats.org/officeDocument/2006/math">
                    <m:r>
                      <a:rPr lang="en-US" sz="2000" i="1">
                        <a:latin typeface="Cambria Math" panose="02040503050406030204" pitchFamily="18" charset="0"/>
                        <a:ea typeface="Cambria Math" panose="02040503050406030204" pitchFamily="18" charset="0"/>
                      </a:rPr>
                      <m:t>9,220</m:t>
                    </m:r>
                  </m:oMath>
                </a14:m>
                <a:r>
                  <a:rPr lang="en-US" sz="2000" dirty="0">
                    <a:latin typeface="Verdana" panose="020B0604030504040204" pitchFamily="34" charset="0"/>
                    <a:ea typeface="Verdana" panose="020B0604030504040204" pitchFamily="34" charset="0"/>
                    <a:cs typeface="Verdana" panose="020B0604030504040204" pitchFamily="34" charset="0"/>
                  </a:rPr>
                  <a:t> U.S. adults were ­surveyed about their news use across social media platforms. </a:t>
                </a:r>
              </a:p>
              <a:p>
                <a:r>
                  <a:rPr lang="en-US" sz="2000" dirty="0">
                    <a:latin typeface="Verdana" panose="020B0604030504040204" pitchFamily="34" charset="0"/>
                    <a:ea typeface="Verdana" panose="020B0604030504040204" pitchFamily="34" charset="0"/>
                    <a:cs typeface="Verdana" panose="020B0604030504040204" pitchFamily="34" charset="0"/>
                  </a:rPr>
                  <a:t> </a:t>
                </a:r>
              </a:p>
              <a:p>
                <a14:m>
                  <m:oMath xmlns:m="http://schemas.openxmlformats.org/officeDocument/2006/math">
                    <m:r>
                      <a:rPr lang="en-US" sz="2000" i="1">
                        <a:latin typeface="Cambria Math" panose="02040503050406030204" pitchFamily="18" charset="0"/>
                        <a:ea typeface="Cambria Math" panose="02040503050406030204" pitchFamily="18" charset="0"/>
                      </a:rPr>
                      <m:t>53%</m:t>
                    </m:r>
                  </m:oMath>
                </a14:m>
                <a:r>
                  <a:rPr lang="en-US" sz="2000" dirty="0">
                    <a:latin typeface="Verdana" panose="020B0604030504040204" pitchFamily="34" charset="0"/>
                    <a:ea typeface="Verdana" panose="020B0604030504040204" pitchFamily="34" charset="0"/>
                    <a:cs typeface="Verdana" panose="020B0604030504040204" pitchFamily="34" charset="0"/>
                  </a:rPr>
                  <a:t> of those surveyed reported that they get their news from social media “often” or “sometimes.”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If you were able to conduct a similar survey of U.S. adults, do you think exactly </a:t>
                </a:r>
                <a14:m>
                  <m:oMath xmlns:m="http://schemas.openxmlformats.org/officeDocument/2006/math">
                    <m:r>
                      <a:rPr lang="en-US" sz="2000" i="1">
                        <a:latin typeface="Cambria Math" panose="02040503050406030204" pitchFamily="18" charset="0"/>
                        <a:ea typeface="Cambria Math" panose="02040503050406030204" pitchFamily="18" charset="0"/>
                      </a:rPr>
                      <m:t>53%</m:t>
                    </m:r>
                  </m:oMath>
                </a14:m>
                <a:r>
                  <a:rPr lang="en-US" sz="2000" dirty="0">
                    <a:latin typeface="Verdana" panose="020B0604030504040204" pitchFamily="34" charset="0"/>
                    <a:ea typeface="Verdana" panose="020B0604030504040204" pitchFamily="34" charset="0"/>
                    <a:cs typeface="Verdana" panose="020B0604030504040204" pitchFamily="34" charset="0"/>
                  </a:rPr>
                  <a:t> would report that they get their news from social media “often” or “sometimes?” Explain your reasoning.</a:t>
                </a:r>
              </a:p>
            </p:txBody>
          </p:sp>
        </mc:Choice>
        <mc:Fallback>
          <p:sp>
            <p:nvSpPr>
              <p:cNvPr id="15" name="TextBox 14">
                <a:extLst>
                  <a:ext uri="{FF2B5EF4-FFF2-40B4-BE49-F238E27FC236}">
                    <a16:creationId xmlns:a16="http://schemas.microsoft.com/office/drawing/2014/main" xmlns=""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545130" y="1386024"/>
                <a:ext cx="10985982" cy="2862322"/>
              </a:xfrm>
              <a:prstGeom prst="rect">
                <a:avLst/>
              </a:prstGeom>
              <a:blipFill rotWithShape="1">
                <a:blip r:embed="rId5"/>
                <a:stretch>
                  <a:fillRect l="-555" t="-1064" r="-277" b="-2766"/>
                </a:stretch>
              </a:blipFill>
            </p:spPr>
            <p:txBody>
              <a:bodyPr/>
              <a:lstStyle/>
              <a:p>
                <a:r>
                  <a:rPr lang="en-US">
                    <a:noFill/>
                  </a:rPr>
                  <a:t> </a:t>
                </a:r>
              </a:p>
            </p:txBody>
          </p:sp>
        </mc:Fallback>
      </mc:AlternateContent>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AA35BC6-D428-FC41-BDE5-6438AB8840FC}"/>
                  </a:ext>
                </a:extLst>
              </p:cNvPr>
              <p:cNvSpPr txBox="1"/>
              <p:nvPr/>
            </p:nvSpPr>
            <p:spPr>
              <a:xfrm>
                <a:off x="540565" y="410666"/>
                <a:ext cx="10990019" cy="317009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Can it be concluded that exactly </a:t>
                </a:r>
                <a14:m>
                  <m:oMath xmlns:m="http://schemas.openxmlformats.org/officeDocument/2006/math">
                    <m:r>
                      <a:rPr lang="en-US" sz="2000" i="1">
                        <a:latin typeface="Cambria Math" panose="02040503050406030204" pitchFamily="18" charset="0"/>
                      </a:rPr>
                      <m:t>53%</m:t>
                    </m:r>
                  </m:oMath>
                </a14:m>
                <a:r>
                  <a:rPr lang="en-US" sz="2000" dirty="0">
                    <a:latin typeface="Verdana" panose="020B0604030504040204" pitchFamily="34" charset="0"/>
                    <a:ea typeface="Verdana" panose="020B0604030504040204" pitchFamily="34" charset="0"/>
                    <a:cs typeface="Verdana" panose="020B0604030504040204" pitchFamily="34" charset="0"/>
                  </a:rPr>
                  <a:t> of all U.S. adults get their news from social media “often” or “sometimes?”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Do you think that the majority of U.S. adults get their news from social media sometimes or often?</a:t>
                </a:r>
              </a:p>
            </p:txBody>
          </p:sp>
        </mc:Choice>
        <mc:Fallback>
          <p:sp>
            <p:nvSpPr>
              <p:cNvPr id="9" name="TextBox 8">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19" cy="3170099"/>
              </a:xfrm>
              <a:prstGeom prst="rect">
                <a:avLst/>
              </a:prstGeom>
              <a:blipFill rotWithShape="1">
                <a:blip r:embed="rId4"/>
                <a:stretch>
                  <a:fillRect l="-610" t="-1154" r="-998" b="-2500"/>
                </a:stretch>
              </a:blipFill>
            </p:spPr>
            <p:txBody>
              <a:bodyPr/>
              <a:lstStyle/>
              <a:p>
                <a:r>
                  <a:rPr lang="en-US">
                    <a:noFill/>
                  </a:rPr>
                  <a:t> </a:t>
                </a:r>
              </a:p>
            </p:txBody>
          </p:sp>
        </mc:Fallback>
      </mc:AlternateContent>
    </p:spTree>
    <p:extLst>
      <p:ext uri="{BB962C8B-B14F-4D97-AF65-F5344CB8AC3E}">
        <p14:creationId xmlns:p14="http://schemas.microsoft.com/office/powerpoint/2010/main" val="913172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70057" y="4799262"/>
            <a:ext cx="6331034" cy="1181793"/>
          </a:xfrm>
          <a:prstGeom prst="rect">
            <a:avLst/>
          </a:prstGeom>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2AA35BC6-D428-FC41-BDE5-6438AB8840FC}"/>
                  </a:ext>
                </a:extLst>
              </p:cNvPr>
              <p:cNvSpPr txBox="1"/>
              <p:nvPr/>
            </p:nvSpPr>
            <p:spPr>
              <a:xfrm>
                <a:off x="540565" y="410666"/>
                <a:ext cx="10990019" cy="4093428"/>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Estimate the total number of U.S. adults who got their news from social media often or sometimes in 2020 if there were </a:t>
                </a:r>
                <a14:m>
                  <m:oMath xmlns:m="http://schemas.openxmlformats.org/officeDocument/2006/math">
                    <m:r>
                      <a:rPr lang="en-US" sz="2000" i="1">
                        <a:latin typeface="Cambria Math" panose="02040503050406030204" pitchFamily="18" charset="0"/>
                        <a:ea typeface="Cambria Math" panose="02040503050406030204" pitchFamily="18" charset="0"/>
                      </a:rPr>
                      <m:t>256,662,010</m:t>
                    </m:r>
                  </m:oMath>
                </a14:m>
                <a:r>
                  <a:rPr lang="en-US" sz="2000" dirty="0">
                    <a:latin typeface="Verdana" panose="020B0604030504040204" pitchFamily="34" charset="0"/>
                    <a:ea typeface="Verdana" panose="020B0604030504040204" pitchFamily="34" charset="0"/>
                    <a:cs typeface="Verdana" panose="020B0604030504040204" pitchFamily="34" charset="0"/>
                  </a:rPr>
                  <a:t> U.S. adults at the time of the survey. </a:t>
                </a: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smtClean="0">
                  <a:latin typeface="Verdana" panose="020B0604030504040204" pitchFamily="34" charset="0"/>
                  <a:ea typeface="Verdana" panose="020B0604030504040204" pitchFamily="34" charset="0"/>
                  <a:cs typeface="Verdana" panose="020B0604030504040204" pitchFamily="34" charset="0"/>
                </a:endParaRPr>
              </a:p>
              <a:p>
                <a:endParaRPr lang="en-PH" sz="2000" dirty="0" smtClean="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When a population percentage or mean is estimated from sample data, it is often helpful to give a range for the estimate to consider variability in the sample.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Based on the same sample data, it can be concluded that the population percentage is between </a:t>
                </a:r>
                <a14:m>
                  <m:oMath xmlns:m="http://schemas.openxmlformats.org/officeDocument/2006/math">
                    <m:r>
                      <a:rPr lang="en-US" sz="2000" i="1">
                        <a:latin typeface="Cambria Math" panose="02040503050406030204" pitchFamily="18" charset="0"/>
                        <a:ea typeface="Cambria Math" panose="02040503050406030204" pitchFamily="18" charset="0"/>
                      </a:rPr>
                      <m:t>52%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54%</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0" name="TextBox 9">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19" cy="4093428"/>
              </a:xfrm>
              <a:prstGeom prst="rect">
                <a:avLst/>
              </a:prstGeom>
              <a:blipFill rotWithShape="1">
                <a:blip r:embed="rId5"/>
                <a:stretch>
                  <a:fillRect l="-610" t="-893" r="-1165" b="-1637"/>
                </a:stretch>
              </a:blipFill>
            </p:spPr>
            <p:txBody>
              <a:bodyPr/>
              <a:lstStyle/>
              <a:p>
                <a:r>
                  <a:rPr lang="en-US">
                    <a:noFill/>
                  </a:rPr>
                  <a:t> </a:t>
                </a:r>
              </a:p>
            </p:txBody>
          </p:sp>
        </mc:Fallback>
      </mc:AlternateContent>
    </p:spTree>
    <p:extLst>
      <p:ext uri="{BB962C8B-B14F-4D97-AF65-F5344CB8AC3E}">
        <p14:creationId xmlns:p14="http://schemas.microsoft.com/office/powerpoint/2010/main" val="3126795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xmlns="" id="{2AA35BC6-D428-FC41-BDE5-6438AB8840FC}"/>
                  </a:ext>
                </a:extLst>
              </p:cNvPr>
              <p:cNvSpPr txBox="1"/>
              <p:nvPr/>
            </p:nvSpPr>
            <p:spPr>
              <a:xfrm>
                <a:off x="540565" y="410666"/>
                <a:ext cx="10990019"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This interval of possible values for the estimate of the population percentage was created using a </a:t>
                </a:r>
                <a:r>
                  <a:rPr lang="en-US" sz="2000" b="1" i="1" dirty="0">
                    <a:latin typeface="Verdana" panose="020B0604030504040204" pitchFamily="34" charset="0"/>
                    <a:ea typeface="Verdana" panose="020B0604030504040204" pitchFamily="34" charset="0"/>
                    <a:cs typeface="Verdana" panose="020B0604030504040204" pitchFamily="34" charset="0"/>
                  </a:rPr>
                  <a:t>margin of error</a:t>
                </a:r>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smtClean="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smtClean="0">
                  <a:latin typeface="Verdana" panose="020B0604030504040204" pitchFamily="34" charset="0"/>
                  <a:ea typeface="Verdana" panose="020B0604030504040204" pitchFamily="34" charset="0"/>
                  <a:cs typeface="Verdana" panose="020B0604030504040204" pitchFamily="34" charset="0"/>
                </a:endParaRPr>
              </a:p>
              <a:p>
                <a:r>
                  <a:rPr lang="en-US" sz="2000" dirty="0" smtClean="0">
                    <a:latin typeface="Verdana" panose="020B0604030504040204" pitchFamily="34" charset="0"/>
                    <a:ea typeface="Verdana" panose="020B0604030504040204" pitchFamily="34" charset="0"/>
                    <a:cs typeface="Verdana" panose="020B0604030504040204" pitchFamily="34" charset="0"/>
                  </a:rPr>
                  <a:t>In </a:t>
                </a:r>
                <a:r>
                  <a:rPr lang="en-US" sz="2000" dirty="0">
                    <a:latin typeface="Verdana" panose="020B0604030504040204" pitchFamily="34" charset="0"/>
                    <a:ea typeface="Verdana" panose="020B0604030504040204" pitchFamily="34" charset="0"/>
                    <a:cs typeface="Verdana" panose="020B0604030504040204" pitchFamily="34" charset="0"/>
                  </a:rPr>
                  <a:t>the sample data of </a:t>
                </a:r>
                <a14:m>
                  <m:oMath xmlns:m="http://schemas.openxmlformats.org/officeDocument/2006/math">
                    <m:r>
                      <a:rPr lang="en-US" sz="2000" i="1">
                        <a:latin typeface="Cambria Math" panose="02040503050406030204" pitchFamily="18" charset="0"/>
                        <a:ea typeface="Cambria Math" panose="02040503050406030204" pitchFamily="18" charset="0"/>
                      </a:rPr>
                      <m:t>9,220</m:t>
                    </m:r>
                  </m:oMath>
                </a14:m>
                <a:r>
                  <a:rPr lang="en-US" sz="2000" dirty="0">
                    <a:latin typeface="Verdana" panose="020B0604030504040204" pitchFamily="34" charset="0"/>
                    <a:ea typeface="Verdana" panose="020B0604030504040204" pitchFamily="34" charset="0"/>
                    <a:cs typeface="Verdana" panose="020B0604030504040204" pitchFamily="34" charset="0"/>
                  </a:rPr>
                  <a:t> U.S. adults, the percentage who get their news from social media “often” or “sometimes” is </a:t>
                </a:r>
                <a14:m>
                  <m:oMath xmlns:m="http://schemas.openxmlformats.org/officeDocument/2006/math">
                    <m:r>
                      <a:rPr lang="en-US" sz="2000" i="1">
                        <a:latin typeface="Cambria Math" panose="02040503050406030204" pitchFamily="18" charset="0"/>
                        <a:ea typeface="Cambria Math" panose="02040503050406030204" pitchFamily="18" charset="0"/>
                      </a:rPr>
                      <m:t>53%</m:t>
                    </m:r>
                  </m:oMath>
                </a14:m>
                <a:r>
                  <a:rPr lang="en-US" sz="2000" dirty="0">
                    <a:latin typeface="Verdana" panose="020B0604030504040204" pitchFamily="34" charset="0"/>
                    <a:ea typeface="Verdana" panose="020B0604030504040204" pitchFamily="34" charset="0"/>
                    <a:cs typeface="Verdana" panose="020B0604030504040204" pitchFamily="34" charset="0"/>
                  </a:rPr>
                  <a:t> with a margin of error of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5" name="TextBox 14">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19" cy="3170099"/>
              </a:xfrm>
              <a:prstGeom prst="rect">
                <a:avLst/>
              </a:prstGeom>
              <a:blipFill rotWithShape="1">
                <a:blip r:embed="rId3"/>
                <a:stretch>
                  <a:fillRect l="-610" t="-962" b="-2500"/>
                </a:stretch>
              </a:blipFill>
            </p:spPr>
            <p:txBody>
              <a:bodyPr/>
              <a:lstStyle/>
              <a:p>
                <a:r>
                  <a:rPr lang="en-US">
                    <a:noFill/>
                  </a:rPr>
                  <a:t> </a:t>
                </a:r>
              </a:p>
            </p:txBody>
          </p:sp>
        </mc:Fallback>
      </mc:AlternateContent>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6" name="Rounded Rectangle 15"/>
          <p:cNvSpPr/>
          <p:nvPr/>
        </p:nvSpPr>
        <p:spPr>
          <a:xfrm>
            <a:off x="2657489" y="1492805"/>
            <a:ext cx="6756169" cy="88534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91440" anchor="ctr" anchorCtr="0">
            <a:spAutoFit/>
          </a:bodyPr>
          <a:lstStyle/>
          <a:p>
            <a:pPr marL="1143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margin of error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quantifies the amount of random sampling error in the results of a survey.</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812379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2AA35BC6-D428-FC41-BDE5-6438AB8840FC}"/>
                  </a:ext>
                </a:extLst>
              </p:cNvPr>
              <p:cNvSpPr txBox="1"/>
              <p:nvPr/>
            </p:nvSpPr>
            <p:spPr>
              <a:xfrm>
                <a:off x="540565" y="410666"/>
                <a:ext cx="10990019" cy="4955203"/>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Estimate the range for the total number of U.S. adults who got their news from social media often or sometimes in 2020 if there were </a:t>
                </a:r>
                <a14:m>
                  <m:oMath xmlns:m="http://schemas.openxmlformats.org/officeDocument/2006/math">
                    <m:r>
                      <a:rPr lang="en-US" sz="2000" i="1">
                        <a:latin typeface="Cambria Math" panose="02040503050406030204" pitchFamily="18" charset="0"/>
                      </a:rPr>
                      <m:t>256,662,010</m:t>
                    </m:r>
                  </m:oMath>
                </a14:m>
                <a:r>
                  <a:rPr lang="en-US" sz="2000" dirty="0">
                    <a:latin typeface="Verdana" panose="020B0604030504040204" pitchFamily="34" charset="0"/>
                    <a:ea typeface="Verdana" panose="020B0604030504040204" pitchFamily="34" charset="0"/>
                    <a:cs typeface="Verdana" panose="020B0604030504040204" pitchFamily="34" charset="0"/>
                  </a:rPr>
                  <a:t> U.S. adults at the time of the survey using the estimate of </a:t>
                </a:r>
                <a14:m>
                  <m:oMath xmlns:m="http://schemas.openxmlformats.org/officeDocument/2006/math">
                    <m:r>
                      <a:rPr lang="en-US" sz="2000" i="1">
                        <a:latin typeface="Cambria Math" panose="02040503050406030204" pitchFamily="18" charset="0"/>
                      </a:rPr>
                      <m:t>53%</m:t>
                    </m:r>
                  </m:oMath>
                </a14:m>
                <a:r>
                  <a:rPr lang="en-US" sz="2000" dirty="0">
                    <a:latin typeface="Verdana" panose="020B0604030504040204" pitchFamily="34" charset="0"/>
                    <a:ea typeface="Verdana" panose="020B0604030504040204" pitchFamily="34" charset="0"/>
                    <a:cs typeface="Verdana" panose="020B0604030504040204" pitchFamily="34" charset="0"/>
                  </a:rPr>
                  <a:t> with a margin of error of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tabLst>
                    <a:tab pos="4800600" algn="l"/>
                  </a:tabLst>
                </a:pPr>
                <a14:m>
                  <m:oMath xmlns:m="http://schemas.openxmlformats.org/officeDocument/2006/math">
                    <m:r>
                      <a:rPr lang="en-US" sz="1800" i="1">
                        <a:latin typeface="Cambria Math" panose="02040503050406030204" pitchFamily="18" charset="0"/>
                        <a:ea typeface="Cambria Math" panose="02040503050406030204" pitchFamily="18" charset="0"/>
                      </a:rPr>
                      <m:t>0.52∙256662010</m:t>
                    </m:r>
                  </m:oMath>
                </a14:m>
                <a:r>
                  <a:rPr lang="en-US" sz="1800" dirty="0" smtClean="0">
                    <a:latin typeface="Cambria Math" panose="02040503050406030204" pitchFamily="18" charset="0"/>
                    <a:ea typeface="Cambria Math" panose="02040503050406030204" pitchFamily="18" charset="0"/>
                    <a:cs typeface="Verdana" panose="020B0604030504040204" pitchFamily="34" charset="0"/>
                  </a:rPr>
                  <a:t>	</a:t>
                </a:r>
                <a:r>
                  <a:rPr lang="en-US" sz="1800" dirty="0">
                    <a:ea typeface="Cambria Math" panose="02040503050406030204" pitchFamily="18" charset="0"/>
                  </a:rPr>
                  <a:t> </a:t>
                </a:r>
                <a14:m>
                  <m:oMath xmlns:m="http://schemas.openxmlformats.org/officeDocument/2006/math">
                    <m:r>
                      <a:rPr lang="en-US" sz="1800" i="1">
                        <a:latin typeface="Cambria Math" panose="02040503050406030204" pitchFamily="18" charset="0"/>
                        <a:ea typeface="Cambria Math" panose="02040503050406030204" pitchFamily="18" charset="0"/>
                      </a:rPr>
                      <m:t>0.54∙256662010</m:t>
                    </m:r>
                  </m:oMath>
                </a14:m>
                <a:endParaRPr lang="en-US" sz="1800" dirty="0">
                  <a:latin typeface="Cambria Math" panose="02040503050406030204" pitchFamily="18" charset="0"/>
                  <a:ea typeface="Cambria Math" panose="02040503050406030204" pitchFamily="18" charset="0"/>
                  <a:cs typeface="Verdana" panose="020B0604030504040204" pitchFamily="34" charset="0"/>
                </a:endParaRPr>
              </a:p>
              <a:p>
                <a:endParaRPr lang="en-US" sz="1800" dirty="0">
                  <a:latin typeface="Cambria Math" panose="02040503050406030204" pitchFamily="18" charset="0"/>
                  <a:ea typeface="Cambria Math" panose="02040503050406030204" pitchFamily="18" charset="0"/>
                  <a:cs typeface="Verdana" panose="020B0604030504040204" pitchFamily="34" charset="0"/>
                </a:endParaRPr>
              </a:p>
              <a:p>
                <a:pPr marL="465138">
                  <a:lnSpc>
                    <a:spcPct val="200000"/>
                  </a:lnSpc>
                </a:pP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total number of U.S. </a:t>
                </a:r>
                <a:r>
                  <a:rPr lang="en-US" sz="2000" dirty="0">
                    <a:latin typeface="Verdana" panose="020B0604030504040204" pitchFamily="34" charset="0"/>
                    <a:ea typeface="Verdana" panose="020B0604030504040204" pitchFamily="34" charset="0"/>
                    <a:cs typeface="Verdana" panose="020B0604030504040204" pitchFamily="34" charset="0"/>
                  </a:rPr>
                  <a:t>adults who get their news from social media sometimes or often is estimated to be between ___________________ and ____________________. </a:t>
                </a:r>
              </a:p>
            </p:txBody>
          </p:sp>
        </mc:Choice>
        <mc:Fallback>
          <p:sp>
            <p:nvSpPr>
              <p:cNvPr id="10" name="TextBox 9">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19" cy="4955203"/>
              </a:xfrm>
              <a:prstGeom prst="rect">
                <a:avLst/>
              </a:prstGeom>
              <a:blipFill rotWithShape="1">
                <a:blip r:embed="rId3"/>
                <a:stretch>
                  <a:fillRect l="-610" t="-738" r="-111"/>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70057" y="1742122"/>
            <a:ext cx="6331034" cy="1181793"/>
          </a:xfrm>
          <a:prstGeom prst="rect">
            <a:avLst/>
          </a:prstGeom>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36202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69301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3048888" y="2398848"/>
            <a:ext cx="6123787" cy="3525602"/>
          </a:xfrm>
          <a:prstGeom prst="rect">
            <a:avLst/>
          </a:prstGeom>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227</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80774"/>
            <a:ext cx="10477934"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12.6.3 Guided Practice: </a:t>
            </a:r>
            <a:r>
              <a:rPr lang="en-US" sz="3600" b="1" dirty="0" smtClean="0">
                <a:solidFill>
                  <a:srgbClr val="54B5D1"/>
                </a:solidFill>
                <a:latin typeface="Verdana"/>
                <a:ea typeface="Verdana"/>
                <a:cs typeface="Verdana"/>
                <a:sym typeface="Verdana"/>
              </a:rPr>
              <a:t/>
            </a:r>
            <a:br>
              <a:rPr lang="en-US" sz="3600" b="1" dirty="0" smtClean="0">
                <a:solidFill>
                  <a:srgbClr val="54B5D1"/>
                </a:solidFill>
                <a:latin typeface="Verdana"/>
                <a:ea typeface="Verdana"/>
                <a:cs typeface="Verdana"/>
                <a:sym typeface="Verdana"/>
              </a:rPr>
            </a:br>
            <a:r>
              <a:rPr lang="en-US" sz="3600" b="1" dirty="0" smtClean="0">
                <a:solidFill>
                  <a:srgbClr val="54B5D1"/>
                </a:solidFill>
                <a:latin typeface="Verdana"/>
                <a:ea typeface="Verdana"/>
                <a:cs typeface="Verdana"/>
                <a:sym typeface="Verdana"/>
              </a:rPr>
              <a:t>Estimating </a:t>
            </a:r>
            <a:r>
              <a:rPr lang="en-US" sz="3600" b="1" dirty="0">
                <a:solidFill>
                  <a:srgbClr val="54B5D1"/>
                </a:solidFill>
                <a:latin typeface="Verdana"/>
                <a:ea typeface="Verdana"/>
                <a:cs typeface="Verdana"/>
                <a:sym typeface="Verdana"/>
              </a:rPr>
              <a:t>for a Population</a:t>
            </a:r>
            <a:endParaRPr lang="en-US" sz="3600" b="1" dirty="0">
              <a:solidFill>
                <a:srgbClr val="54B5D1"/>
              </a:solidFill>
              <a:latin typeface="Verdana"/>
              <a:ea typeface="Verdana"/>
              <a:cs typeface="Verdana"/>
              <a:sym typeface="Verdana"/>
            </a:endParaRPr>
          </a:p>
        </p:txBody>
      </p:sp>
      <p:pic>
        <p:nvPicPr>
          <p:cNvPr id="14"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506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5" name="TextBox 14">
                <a:extLst>
                  <a:ext uri="{FF2B5EF4-FFF2-40B4-BE49-F238E27FC236}">
                    <a16:creationId xmlns="" xmlns:a16="http://schemas.microsoft.com/office/drawing/2014/main" id="{31D40250-DEDD-2C41-8538-3D4DD18CCC4A}"/>
                  </a:ext>
                </a:extLst>
              </p:cNvPr>
              <p:cNvSpPr txBox="1"/>
              <p:nvPr/>
            </p:nvSpPr>
            <p:spPr>
              <a:xfrm>
                <a:off x="731519" y="1462844"/>
                <a:ext cx="10758527"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results of </a:t>
                </a:r>
                <a14:m>
                  <m:oMath xmlns:m="http://schemas.openxmlformats.org/officeDocument/2006/math">
                    <m:r>
                      <a:rPr lang="en-US" sz="2000" i="1">
                        <a:latin typeface="Cambria Math" panose="02040503050406030204" pitchFamily="18" charset="0"/>
                        <a:ea typeface="Cambria Math" panose="02040503050406030204" pitchFamily="18" charset="0"/>
                      </a:rPr>
                      <m:t>741</m:t>
                    </m:r>
                  </m:oMath>
                </a14:m>
                <a:r>
                  <a:rPr lang="en-US" sz="2000" dirty="0">
                    <a:latin typeface="Verdana" panose="020B0604030504040204" pitchFamily="34" charset="0"/>
                    <a:ea typeface="Verdana" panose="020B0604030504040204" pitchFamily="34" charset="0"/>
                    <a:cs typeface="Verdana" panose="020B0604030504040204" pitchFamily="34" charset="0"/>
                  </a:rPr>
                  <a:t> teens surveyed in a 2018 Pew Research Study are shown in the circle graph.</a:t>
                </a:r>
              </a:p>
            </p:txBody>
          </p:sp>
        </mc:Choice>
        <mc:Fallback>
          <p:sp>
            <p:nvSpPr>
              <p:cNvPr id="15" name="TextBox 14">
                <a:extLst>
                  <a:ext uri="{FF2B5EF4-FFF2-40B4-BE49-F238E27FC236}">
                    <a16:creationId xmlns="" xmlns:a16="http://schemas.microsoft.com/office/drawing/2014/main"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731519" y="1462844"/>
                <a:ext cx="10758527" cy="707886"/>
              </a:xfrm>
              <a:prstGeom prst="rect">
                <a:avLst/>
              </a:prstGeom>
              <a:blipFill rotWithShape="1">
                <a:blip r:embed="rId6"/>
                <a:stretch>
                  <a:fillRect l="-567" t="-5172" r="-227" b="-14655"/>
                </a:stretch>
              </a:blipFill>
            </p:spPr>
            <p:txBody>
              <a:bodyPr/>
              <a:lstStyle/>
              <a:p>
                <a:r>
                  <a:rPr lang="en-US">
                    <a:noFill/>
                  </a:rPr>
                  <a:t> </a:t>
                </a:r>
              </a:p>
            </p:txBody>
          </p:sp>
        </mc:Fallback>
      </mc:AlternateContent>
    </p:spTree>
    <p:extLst>
      <p:ext uri="{BB962C8B-B14F-4D97-AF65-F5344CB8AC3E}">
        <p14:creationId xmlns:p14="http://schemas.microsoft.com/office/powerpoint/2010/main" val="74552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227</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AA35BC6-D428-FC41-BDE5-6438AB8840FC}"/>
                  </a:ext>
                </a:extLst>
              </p:cNvPr>
              <p:cNvSpPr txBox="1"/>
              <p:nvPr/>
            </p:nvSpPr>
            <p:spPr>
              <a:xfrm>
                <a:off x="540565" y="410666"/>
                <a:ext cx="10990019" cy="4093428"/>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If there were </a:t>
                </a:r>
                <a14:m>
                  <m:oMath xmlns:m="http://schemas.openxmlformats.org/officeDocument/2006/math">
                    <m:r>
                      <a:rPr lang="en-US" sz="2000" i="1">
                        <a:latin typeface="Cambria Math" panose="02040503050406030204" pitchFamily="18" charset="0"/>
                        <a:ea typeface="Cambria Math" panose="02040503050406030204" pitchFamily="18" charset="0"/>
                      </a:rPr>
                      <m:t>24.97</m:t>
                    </m:r>
                  </m:oMath>
                </a14:m>
                <a:r>
                  <a:rPr lang="en-US" sz="2000" dirty="0">
                    <a:latin typeface="Verdana" panose="020B0604030504040204" pitchFamily="34" charset="0"/>
                    <a:ea typeface="Verdana" panose="020B0604030504040204" pitchFamily="34" charset="0"/>
                    <a:cs typeface="Verdana" panose="020B0604030504040204" pitchFamily="34" charset="0"/>
                  </a:rPr>
                  <a:t> million teens in the U.S. population at the time of the survey, what is the estimated number who believed the effect of social media on people their age had been mostly positive?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proportion of all U.S. teens who believe the effect of social media has been neutral on people their age is </a:t>
                </a:r>
                <a14:m>
                  <m:oMath xmlns:m="http://schemas.openxmlformats.org/officeDocument/2006/math">
                    <m:r>
                      <a:rPr lang="en-US" sz="2000" i="1">
                        <a:latin typeface="Cambria Math" panose="02040503050406030204" pitchFamily="18" charset="0"/>
                        <a:ea typeface="Cambria Math" panose="02040503050406030204" pitchFamily="18" charset="0"/>
                      </a:rPr>
                      <m:t>0.42</m:t>
                    </m:r>
                  </m:oMath>
                </a14:m>
                <a:r>
                  <a:rPr lang="en-US" sz="2000" dirty="0">
                    <a:latin typeface="Verdana" panose="020B0604030504040204" pitchFamily="34" charset="0"/>
                    <a:ea typeface="Verdana" panose="020B0604030504040204" pitchFamily="34" charset="0"/>
                    <a:cs typeface="Verdana" panose="020B0604030504040204" pitchFamily="34" charset="0"/>
                  </a:rPr>
                  <a:t> with a margin of error of </a:t>
                </a:r>
                <a14:m>
                  <m:oMath xmlns:m="http://schemas.openxmlformats.org/officeDocument/2006/math">
                    <m:r>
                      <a:rPr lang="en-US" sz="2000" i="1">
                        <a:latin typeface="Cambria Math" panose="02040503050406030204" pitchFamily="18" charset="0"/>
                        <a:ea typeface="Cambria Math" panose="02040503050406030204" pitchFamily="18" charset="0"/>
                      </a:rPr>
                      <m:t>0.036</m:t>
                    </m:r>
                  </m:oMath>
                </a14:m>
                <a:r>
                  <a:rPr lang="en-US" sz="2000" dirty="0">
                    <a:latin typeface="Verdana" panose="020B0604030504040204" pitchFamily="34" charset="0"/>
                    <a:ea typeface="Verdana" panose="020B0604030504040204" pitchFamily="34" charset="0"/>
                    <a:cs typeface="Verdana" panose="020B0604030504040204" pitchFamily="34" charset="0"/>
                  </a:rPr>
                  <a:t>. Estimate the range of all U.S. teens who believe the effect of social media has been neutral on people their age.</a:t>
                </a:r>
              </a:p>
            </p:txBody>
          </p:sp>
        </mc:Choice>
        <mc:Fallback>
          <p:sp>
            <p:nvSpPr>
              <p:cNvPr id="9" name="TextBox 8">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19" cy="4093428"/>
              </a:xfrm>
              <a:prstGeom prst="rect">
                <a:avLst/>
              </a:prstGeom>
              <a:blipFill rotWithShape="1">
                <a:blip r:embed="rId4"/>
                <a:stretch>
                  <a:fillRect t="-893" b="-1637"/>
                </a:stretch>
              </a:blipFill>
            </p:spPr>
            <p:txBody>
              <a:bodyPr/>
              <a:lstStyle/>
              <a:p>
                <a:r>
                  <a:rPr lang="en-US">
                    <a:noFill/>
                  </a:rPr>
                  <a:t> </a:t>
                </a:r>
              </a:p>
            </p:txBody>
          </p:sp>
        </mc:Fallback>
      </mc:AlternateContent>
    </p:spTree>
    <p:extLst>
      <p:ext uri="{BB962C8B-B14F-4D97-AF65-F5344CB8AC3E}">
        <p14:creationId xmlns:p14="http://schemas.microsoft.com/office/powerpoint/2010/main" val="2422223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227</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AA35BC6-D428-FC41-BDE5-6438AB8840FC}"/>
                  </a:ext>
                </a:extLst>
              </p:cNvPr>
              <p:cNvSpPr txBox="1"/>
              <p:nvPr/>
            </p:nvSpPr>
            <p:spPr>
              <a:xfrm>
                <a:off x="540565" y="410666"/>
                <a:ext cx="10990019" cy="563231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In a survey of </a:t>
                </a:r>
                <a14:m>
                  <m:oMath xmlns:m="http://schemas.openxmlformats.org/officeDocument/2006/math">
                    <m:r>
                      <a:rPr lang="en-US" sz="2000" i="1">
                        <a:latin typeface="Cambria Math" panose="02040503050406030204" pitchFamily="18" charset="0"/>
                        <a:ea typeface="Cambria Math" panose="02040503050406030204" pitchFamily="18" charset="0"/>
                      </a:rPr>
                      <m:t>175</m:t>
                    </m:r>
                  </m:oMath>
                </a14:m>
                <a:r>
                  <a:rPr lang="en-US" sz="2000" dirty="0">
                    <a:latin typeface="Verdana" panose="020B0604030504040204" pitchFamily="34" charset="0"/>
                    <a:ea typeface="Verdana" panose="020B0604030504040204" pitchFamily="34" charset="0"/>
                    <a:cs typeface="Verdana" panose="020B0604030504040204" pitchFamily="34" charset="0"/>
                  </a:rPr>
                  <a:t> students at Satellite High School (SHS), </a:t>
                </a:r>
                <a14:m>
                  <m:oMath xmlns:m="http://schemas.openxmlformats.org/officeDocument/2006/math">
                    <m:r>
                      <a:rPr lang="en-US" sz="2000" i="1">
                        <a:latin typeface="Cambria Math" panose="02040503050406030204" pitchFamily="18" charset="0"/>
                        <a:ea typeface="Cambria Math" panose="02040503050406030204" pitchFamily="18" charset="0"/>
                      </a:rPr>
                      <m:t>82</m:t>
                    </m:r>
                  </m:oMath>
                </a14:m>
                <a:r>
                  <a:rPr lang="en-US" sz="2000" dirty="0">
                    <a:latin typeface="Verdana" panose="020B0604030504040204" pitchFamily="34" charset="0"/>
                    <a:ea typeface="Verdana" panose="020B0604030504040204" pitchFamily="34" charset="0"/>
                    <a:cs typeface="Verdana" panose="020B0604030504040204" pitchFamily="34" charset="0"/>
                  </a:rPr>
                  <a:t> reported that they use Facebook.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estimated proportion of all Satellite High School students who use Facebook is ________ with a margin of error of </a:t>
                </a:r>
                <a14:m>
                  <m:oMath xmlns:m="http://schemas.openxmlformats.org/officeDocument/2006/math">
                    <m:r>
                      <a:rPr lang="en-US" sz="2000" i="1">
                        <a:latin typeface="Cambria Math" panose="02040503050406030204" pitchFamily="18" charset="0"/>
                        <a:ea typeface="Cambria Math" panose="02040503050406030204" pitchFamily="18" charset="0"/>
                      </a:rPr>
                      <m:t>0.074</m:t>
                    </m:r>
                  </m:oMath>
                </a14:m>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estimated proportion of all Satellite High School students who use Facebook is between _________ and ___________. </a:t>
                </a: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Do you think it’s reasonable to conclude that the majority of SHS students use Facebook? Explain your reasoning.</a:t>
                </a:r>
              </a:p>
              <a:p>
                <a:pPr marL="914400" indent="-457200">
                  <a:buFont typeface="+mj-lt"/>
                  <a:buAutoNum type="alphaL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Suppose there are 1,385 students enrolled at Satellite High School. The estimated number of all Satellite High School students who use Facebook is between_________ and ____________.</a:t>
                </a:r>
              </a:p>
            </p:txBody>
          </p:sp>
        </mc:Choice>
        <mc:Fallback>
          <p:sp>
            <p:nvSpPr>
              <p:cNvPr id="9" name="TextBox 8">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19" cy="5632311"/>
              </a:xfrm>
              <a:prstGeom prst="rect">
                <a:avLst/>
              </a:prstGeom>
              <a:blipFill rotWithShape="1">
                <a:blip r:embed="rId4"/>
                <a:stretch>
                  <a:fillRect l="-610" t="-649" r="-887" b="-974"/>
                </a:stretch>
              </a:blipFill>
            </p:spPr>
            <p:txBody>
              <a:bodyPr/>
              <a:lstStyle/>
              <a:p>
                <a:r>
                  <a:rPr lang="en-US">
                    <a:noFill/>
                  </a:rPr>
                  <a:t> </a:t>
                </a:r>
              </a:p>
            </p:txBody>
          </p:sp>
        </mc:Fallback>
      </mc:AlternateContent>
    </p:spTree>
    <p:extLst>
      <p:ext uri="{BB962C8B-B14F-4D97-AF65-F5344CB8AC3E}">
        <p14:creationId xmlns:p14="http://schemas.microsoft.com/office/powerpoint/2010/main" val="3989856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AA35BC6-D428-FC41-BDE5-6438AB8840FC}"/>
                  </a:ext>
                </a:extLst>
              </p:cNvPr>
              <p:cNvSpPr txBox="1"/>
              <p:nvPr/>
            </p:nvSpPr>
            <p:spPr>
              <a:xfrm>
                <a:off x="540565" y="410666"/>
                <a:ext cx="10990019" cy="1938992"/>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 large company tracked the amount spent on each of their Amazon purchases over the past four years. For a sample of </a:t>
                </a:r>
                <a14:m>
                  <m:oMath xmlns:m="http://schemas.openxmlformats.org/officeDocument/2006/math">
                    <m:r>
                      <a:rPr lang="en-US" sz="2000" i="1">
                        <a:latin typeface="Cambria Math" panose="02040503050406030204" pitchFamily="18" charset="0"/>
                        <a:ea typeface="Cambria Math" panose="02040503050406030204" pitchFamily="18" charset="0"/>
                      </a:rPr>
                      <m:t>135</m:t>
                    </m:r>
                  </m:oMath>
                </a14:m>
                <a:r>
                  <a:rPr lang="en-US" sz="2000" dirty="0">
                    <a:latin typeface="Verdana" panose="020B0604030504040204" pitchFamily="34" charset="0"/>
                    <a:ea typeface="Verdana" panose="020B0604030504040204" pitchFamily="34" charset="0"/>
                    <a:cs typeface="Verdana" panose="020B0604030504040204" pitchFamily="34" charset="0"/>
                  </a:rPr>
                  <a:t> purchases, the average amount spent was </a:t>
                </a:r>
                <a14:m>
                  <m:oMath xmlns:m="http://schemas.openxmlformats.org/officeDocument/2006/math">
                    <m:r>
                      <a:rPr lang="en-US" sz="2000" i="1">
                        <a:latin typeface="Cambria Math" panose="02040503050406030204" pitchFamily="18" charset="0"/>
                        <a:ea typeface="Cambria Math" panose="02040503050406030204" pitchFamily="18" charset="0"/>
                      </a:rPr>
                      <m:t>$35.23 </m:t>
                    </m:r>
                  </m:oMath>
                </a14:m>
                <a:r>
                  <a:rPr lang="en-US" sz="2000" dirty="0">
                    <a:latin typeface="Verdana" panose="020B0604030504040204" pitchFamily="34" charset="0"/>
                    <a:ea typeface="Verdana" panose="020B0604030504040204" pitchFamily="34" charset="0"/>
                    <a:cs typeface="Verdana" panose="020B0604030504040204" pitchFamily="34" charset="0"/>
                  </a:rPr>
                  <a:t>with a margin of error of </a:t>
                </a:r>
                <a14:m>
                  <m:oMath xmlns:m="http://schemas.openxmlformats.org/officeDocument/2006/math">
                    <m:r>
                      <a:rPr lang="en-US" sz="2000" i="1">
                        <a:latin typeface="Cambria Math" panose="02040503050406030204" pitchFamily="18" charset="0"/>
                        <a:ea typeface="Cambria Math" panose="02040503050406030204" pitchFamily="18" charset="0"/>
                      </a:rPr>
                      <m:t>± $2.16</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65138"/>
                <a:r>
                  <a:rPr lang="en-US" sz="2000" dirty="0">
                    <a:latin typeface="Verdana" panose="020B0604030504040204" pitchFamily="34" charset="0"/>
                    <a:ea typeface="Verdana" panose="020B0604030504040204" pitchFamily="34" charset="0"/>
                    <a:cs typeface="Verdana" panose="020B0604030504040204" pitchFamily="34" charset="0"/>
                  </a:rPr>
                  <a:t>If the company predicts they will make </a:t>
                </a:r>
                <a14:m>
                  <m:oMath xmlns:m="http://schemas.openxmlformats.org/officeDocument/2006/math">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purchases on Amazon in the next month, what is the range of the predicted total amount they will spend?</a:t>
                </a:r>
              </a:p>
            </p:txBody>
          </p:sp>
        </mc:Choice>
        <mc:Fallback>
          <p:sp>
            <p:nvSpPr>
              <p:cNvPr id="9" name="TextBox 8">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19" cy="1938992"/>
              </a:xfrm>
              <a:prstGeom prst="rect">
                <a:avLst/>
              </a:prstGeom>
              <a:blipFill rotWithShape="1">
                <a:blip r:embed="rId4"/>
                <a:stretch>
                  <a:fillRect l="-610" t="-1887" b="-4717"/>
                </a:stretch>
              </a:blipFill>
            </p:spPr>
            <p:txBody>
              <a:bodyPr/>
              <a:lstStyle/>
              <a:p>
                <a:r>
                  <a:rPr lang="en-US">
                    <a:noFill/>
                  </a:rPr>
                  <a:t> </a:t>
                </a:r>
              </a:p>
            </p:txBody>
          </p:sp>
        </mc:Fallback>
      </mc:AlternateContent>
    </p:spTree>
    <p:extLst>
      <p:ext uri="{BB962C8B-B14F-4D97-AF65-F5344CB8AC3E}">
        <p14:creationId xmlns:p14="http://schemas.microsoft.com/office/powerpoint/2010/main" val="3005477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228</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 xmlns:a16="http://schemas.microsoft.com/office/drawing/2014/main" id="{759C3E41-93EC-B84D-963F-86A3B15AC1C6}"/>
                  </a:ext>
                </a:extLst>
              </p:cNvPr>
              <p:cNvSpPr txBox="1"/>
              <p:nvPr/>
            </p:nvSpPr>
            <p:spPr>
              <a:xfrm>
                <a:off x="730266" y="1408886"/>
                <a:ext cx="10800318" cy="47089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new drug was given to a random sample of </a:t>
                </a:r>
                <a14:m>
                  <m:oMath xmlns:m="http://schemas.openxmlformats.org/officeDocument/2006/math">
                    <m:r>
                      <a:rPr lang="en-US" sz="2000" i="1">
                        <a:latin typeface="Cambria Math" panose="02040503050406030204" pitchFamily="18" charset="0"/>
                        <a:ea typeface="Cambria Math" panose="02040503050406030204" pitchFamily="18" charset="0"/>
                      </a:rPr>
                      <m:t>400</m:t>
                    </m:r>
                  </m:oMath>
                </a14:m>
                <a:r>
                  <a:rPr lang="en-US" sz="2000" dirty="0">
                    <a:latin typeface="Verdana" panose="020B0604030504040204" pitchFamily="34" charset="0"/>
                    <a:ea typeface="Verdana" panose="020B0604030504040204" pitchFamily="34" charset="0"/>
                    <a:cs typeface="Verdana" panose="020B0604030504040204" pitchFamily="34" charset="0"/>
                  </a:rPr>
                  <a:t> people with acne. The results showed that </a:t>
                </a:r>
                <a14:m>
                  <m:oMath xmlns:m="http://schemas.openxmlformats.org/officeDocument/2006/math">
                    <m:r>
                      <a:rPr lang="en-US" sz="2000" i="1">
                        <a:latin typeface="Cambria Math" panose="02040503050406030204" pitchFamily="18" charset="0"/>
                        <a:ea typeface="Cambria Math" panose="02040503050406030204" pitchFamily="18" charset="0"/>
                      </a:rPr>
                      <m:t>210</m:t>
                    </m:r>
                  </m:oMath>
                </a14:m>
                <a:r>
                  <a:rPr lang="en-US" sz="2000" dirty="0">
                    <a:latin typeface="Verdana" panose="020B0604030504040204" pitchFamily="34" charset="0"/>
                    <a:ea typeface="Verdana" panose="020B0604030504040204" pitchFamily="34" charset="0"/>
                    <a:cs typeface="Verdana" panose="020B0604030504040204" pitchFamily="34" charset="0"/>
                  </a:rPr>
                  <a:t> of the people’s acne improved and the results had a margin of error of </a:t>
                </a:r>
                <a14:m>
                  <m:oMath xmlns:m="http://schemas.openxmlformats.org/officeDocument/2006/math">
                    <m:r>
                      <a:rPr lang="en-US" sz="2000" i="1">
                        <a:latin typeface="Cambria Math" panose="02040503050406030204" pitchFamily="18" charset="0"/>
                        <a:ea typeface="Cambria Math" panose="02040503050406030204" pitchFamily="18" charset="0"/>
                      </a:rPr>
                      <m:t>± 0.049</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Based on these results, can it be said that more than half the people with acne will improve if they are given the drug?</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smtClean="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If the new medication will be administered to </a:t>
                </a:r>
                <a14:m>
                  <m:oMath xmlns:m="http://schemas.openxmlformats.org/officeDocument/2006/math">
                    <m:r>
                      <a:rPr lang="en-US" sz="2000" i="1">
                        <a:latin typeface="Cambria Math" panose="02040503050406030204" pitchFamily="18" charset="0"/>
                        <a:ea typeface="Cambria Math" panose="02040503050406030204" pitchFamily="18" charset="0"/>
                      </a:rPr>
                      <m:t>5,552</m:t>
                    </m:r>
                  </m:oMath>
                </a14:m>
                <a:r>
                  <a:rPr lang="en-US" sz="2000" dirty="0">
                    <a:latin typeface="Verdana" panose="020B0604030504040204" pitchFamily="34" charset="0"/>
                    <a:ea typeface="Verdana" panose="020B0604030504040204" pitchFamily="34" charset="0"/>
                    <a:cs typeface="Verdana" panose="020B0604030504040204" pitchFamily="34" charset="0"/>
                  </a:rPr>
                  <a:t> people, how many are expected to see improvement?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Between _______ and _______ are predicted to see an improvement in their acne. </a:t>
                </a:r>
              </a:p>
            </p:txBody>
          </p:sp>
        </mc:Choice>
        <mc:Fallback>
          <p:sp>
            <p:nvSpPr>
              <p:cNvPr id="13" name="TextBox 12">
                <a:extLst>
                  <a:ext uri="{FF2B5EF4-FFF2-40B4-BE49-F238E27FC236}">
                    <a16:creationId xmlns="" xmlns:a16="http://schemas.microsoft.com/office/drawing/2014/main" xmlns:a14="http://schemas.microsoft.com/office/drawing/2010/main" id="{759C3E41-93EC-B84D-963F-86A3B15AC1C6}"/>
                  </a:ext>
                </a:extLst>
              </p:cNvPr>
              <p:cNvSpPr txBox="1">
                <a:spLocks noRot="1" noChangeAspect="1" noMove="1" noResize="1" noEditPoints="1" noAdjustHandles="1" noChangeArrowheads="1" noChangeShapeType="1" noTextEdit="1"/>
              </p:cNvSpPr>
              <p:nvPr/>
            </p:nvSpPr>
            <p:spPr>
              <a:xfrm>
                <a:off x="730266" y="1408886"/>
                <a:ext cx="10800318" cy="4708981"/>
              </a:xfrm>
              <a:prstGeom prst="rect">
                <a:avLst/>
              </a:prstGeom>
              <a:blipFill rotWithShape="1">
                <a:blip r:embed="rId4"/>
                <a:stretch>
                  <a:fillRect l="-621" t="-776" r="-1242"/>
                </a:stretch>
              </a:blipFill>
            </p:spPr>
            <p:txBody>
              <a:bodyPr/>
              <a:lstStyle/>
              <a:p>
                <a:r>
                  <a:rPr lang="en-US">
                    <a:noFill/>
                  </a:rPr>
                  <a:t> </a:t>
                </a:r>
              </a:p>
            </p:txBody>
          </p:sp>
        </mc:Fallback>
      </mc:AlternateContent>
      <p:sp>
        <p:nvSpPr>
          <p:cNvPr id="14"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12.6.4 Your Turn!</a:t>
            </a:r>
            <a:endParaRPr lang="en-US" sz="4400" b="1" dirty="0">
              <a:solidFill>
                <a:srgbClr val="E24E5F"/>
              </a:solidFill>
              <a:latin typeface="Verdana"/>
              <a:ea typeface="Verdana"/>
              <a:cs typeface="Verdana"/>
              <a:sym typeface="Verdana"/>
            </a:endParaRPr>
          </a:p>
        </p:txBody>
      </p:sp>
      <p:pic>
        <p:nvPicPr>
          <p:cNvPr id="15"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AA35BC6-D428-FC41-BDE5-6438AB8840FC}"/>
                  </a:ext>
                </a:extLst>
              </p:cNvPr>
              <p:cNvSpPr txBox="1"/>
              <p:nvPr/>
            </p:nvSpPr>
            <p:spPr>
              <a:xfrm>
                <a:off x="540565" y="410666"/>
                <a:ext cx="10832285"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During harvesting season at Florida Blue Farms, hand pickers collected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ea typeface="Cambria Math" panose="02040503050406030204" pitchFamily="18" charset="0"/>
                      </a:rPr>
                      <m:t>200</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blueberries and found a </a:t>
                </a:r>
                <a14:m>
                  <m:oMath xmlns:m="http://schemas.openxmlformats.org/officeDocument/2006/math">
                    <m:r>
                      <a:rPr lang="en-US" sz="2000" i="1">
                        <a:latin typeface="Cambria Math" panose="02040503050406030204" pitchFamily="18" charset="0"/>
                        <a:ea typeface="Cambria Math" panose="02040503050406030204" pitchFamily="18" charset="0"/>
                      </a:rPr>
                      <m:t>95%</m:t>
                    </m:r>
                  </m:oMath>
                </a14:m>
                <a:r>
                  <a:rPr lang="en-US" sz="2000" dirty="0">
                    <a:latin typeface="Verdana" panose="020B0604030504040204" pitchFamily="34" charset="0"/>
                    <a:ea typeface="Verdana" panose="020B0604030504040204" pitchFamily="34" charset="0"/>
                    <a:cs typeface="Verdana" panose="020B0604030504040204" pitchFamily="34" charset="0"/>
                  </a:rPr>
                  <a:t> pack-out rate. The margin of error for the sample was </a:t>
                </a:r>
                <a14:m>
                  <m:oMath xmlns:m="http://schemas.openxmlformats.org/officeDocument/2006/math">
                    <m:r>
                      <a:rPr lang="en-US" sz="2000" i="1">
                        <a:latin typeface="Cambria Math" panose="02040503050406030204" pitchFamily="18" charset="0"/>
                        <a:ea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The pack-out rate is the percentage of collected blueberries that can be packaged to be sold, based on Florida Blue Farms' quality standards.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estimated percentage of all blueberries that are hand-picked and can be packaged and sold is between __________ and ___________.</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latin typeface="Cambria Math" panose="02040503050406030204" pitchFamily="18" charset="0"/>
                        <a:ea typeface="Cambria Math" panose="02040503050406030204" pitchFamily="18" charset="0"/>
                      </a:rPr>
                      <m:t>2,800</m:t>
                    </m:r>
                  </m:oMath>
                </a14:m>
                <a:r>
                  <a:rPr lang="en-US" sz="2000" dirty="0">
                    <a:latin typeface="Verdana" panose="020B0604030504040204" pitchFamily="34" charset="0"/>
                    <a:ea typeface="Verdana" panose="020B0604030504040204" pitchFamily="34" charset="0"/>
                    <a:cs typeface="Verdana" panose="020B0604030504040204" pitchFamily="34" charset="0"/>
                  </a:rPr>
                  <a:t> blueberries are hand-picked, what is the most that are expected to be packaged and sold?</a:t>
                </a:r>
              </a:p>
            </p:txBody>
          </p:sp>
        </mc:Choice>
        <mc:Fallback>
          <p:sp>
            <p:nvSpPr>
              <p:cNvPr id="9" name="TextBox 8">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832285" cy="3785652"/>
              </a:xfrm>
              <a:prstGeom prst="rect">
                <a:avLst/>
              </a:prstGeom>
              <a:blipFill rotWithShape="1">
                <a:blip r:embed="rId4"/>
                <a:stretch>
                  <a:fillRect l="-619" t="-966" b="-1932"/>
                </a:stretch>
              </a:blipFill>
            </p:spPr>
            <p:txBody>
              <a:bodyPr/>
              <a:lstStyle/>
              <a:p>
                <a:r>
                  <a:rPr lang="en-US">
                    <a:noFill/>
                  </a:rPr>
                  <a:t> </a:t>
                </a:r>
              </a:p>
            </p:txBody>
          </p:sp>
        </mc:Fallback>
      </mc:AlternateContent>
    </p:spTree>
    <p:extLst>
      <p:ext uri="{BB962C8B-B14F-4D97-AF65-F5344CB8AC3E}">
        <p14:creationId xmlns:p14="http://schemas.microsoft.com/office/powerpoint/2010/main" val="3157196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AA35BC6-D428-FC41-BDE5-6438AB8840FC}"/>
                  </a:ext>
                </a:extLst>
              </p:cNvPr>
              <p:cNvSpPr txBox="1"/>
              <p:nvPr/>
            </p:nvSpPr>
            <p:spPr>
              <a:xfrm>
                <a:off x="540565" y="410666"/>
                <a:ext cx="10737035" cy="3477875"/>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Publix Supermarkets Inc., commonly known as Publix, has </a:t>
                </a:r>
                <a14:m>
                  <m:oMath xmlns:m="http://schemas.openxmlformats.org/officeDocument/2006/math">
                    <m:r>
                      <a:rPr lang="en-US" sz="2000" i="1">
                        <a:latin typeface="Cambria Math" panose="02040503050406030204" pitchFamily="18" charset="0"/>
                        <a:ea typeface="Cambria Math" panose="02040503050406030204" pitchFamily="18" charset="0"/>
                      </a:rPr>
                      <m:t>831</m:t>
                    </m:r>
                  </m:oMath>
                </a14:m>
                <a:r>
                  <a:rPr lang="en-US" sz="2000" dirty="0">
                    <a:latin typeface="Verdana" panose="020B0604030504040204" pitchFamily="34" charset="0"/>
                    <a:ea typeface="Verdana" panose="020B0604030504040204" pitchFamily="34" charset="0"/>
                    <a:cs typeface="Verdana" panose="020B0604030504040204" pitchFamily="34" charset="0"/>
                  </a:rPr>
                  <a:t> locations in Florida. Publix offers free cookies to children to eat while they’re in the store. A survey of </a:t>
                </a:r>
                <a14:m>
                  <m:oMath xmlns:m="http://schemas.openxmlformats.org/officeDocument/2006/math">
                    <m:r>
                      <a:rPr lang="en-US" sz="2000" i="1">
                        <a:latin typeface="Cambria Math" panose="02040503050406030204" pitchFamily="18" charset="0"/>
                        <a:ea typeface="Cambria Math" panose="02040503050406030204" pitchFamily="18" charset="0"/>
                      </a:rPr>
                      <m:t>100</m:t>
                    </m:r>
                  </m:oMath>
                </a14:m>
                <a:r>
                  <a:rPr lang="en-US" sz="2000" dirty="0">
                    <a:latin typeface="Verdana" panose="020B0604030504040204" pitchFamily="34" charset="0"/>
                    <a:ea typeface="Verdana" panose="020B0604030504040204" pitchFamily="34" charset="0"/>
                    <a:cs typeface="Verdana" panose="020B0604030504040204" pitchFamily="34" charset="0"/>
                  </a:rPr>
                  <a:t> store managers found that the average number of cookies given out on a weekday was </a:t>
                </a:r>
                <a14:m>
                  <m:oMath xmlns:m="http://schemas.openxmlformats.org/officeDocument/2006/math">
                    <m:r>
                      <a:rPr lang="en-US" sz="2000" i="1">
                        <a:latin typeface="Cambria Math" panose="02040503050406030204" pitchFamily="18" charset="0"/>
                        <a:ea typeface="Cambria Math" panose="02040503050406030204" pitchFamily="18" charset="0"/>
                      </a:rPr>
                      <m:t>15.5</m:t>
                    </m:r>
                  </m:oMath>
                </a14:m>
                <a:r>
                  <a:rPr lang="en-US" sz="2000" dirty="0">
                    <a:latin typeface="Verdana" panose="020B0604030504040204" pitchFamily="34" charset="0"/>
                    <a:ea typeface="Verdana" panose="020B0604030504040204" pitchFamily="34" charset="0"/>
                    <a:cs typeface="Verdana" panose="020B0604030504040204" pitchFamily="34" charset="0"/>
                  </a:rPr>
                  <a:t>, with a margin of error of </a:t>
                </a:r>
                <a14:m>
                  <m:oMath xmlns:m="http://schemas.openxmlformats.org/officeDocument/2006/math">
                    <m:r>
                      <a:rPr lang="en-US" sz="2000" i="1">
                        <a:latin typeface="Cambria Math" panose="02040503050406030204" pitchFamily="18" charset="0"/>
                        <a:ea typeface="Cambria Math" panose="02040503050406030204" pitchFamily="18" charset="0"/>
                      </a:rPr>
                      <m:t>2.1</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65138"/>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65138"/>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65138">
                  <a:lnSpc>
                    <a:spcPct val="200000"/>
                  </a:lnSpc>
                </a:pP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estimated total number of free cookies given out each weekday for all Florida locations is between ______________ and ______________.</a:t>
                </a:r>
              </a:p>
            </p:txBody>
          </p:sp>
        </mc:Choice>
        <mc:Fallback>
          <p:sp>
            <p:nvSpPr>
              <p:cNvPr id="9" name="TextBox 8">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737035" cy="3477875"/>
              </a:xfrm>
              <a:prstGeom prst="rect">
                <a:avLst/>
              </a:prstGeom>
              <a:blipFill rotWithShape="1">
                <a:blip r:embed="rId4"/>
                <a:stretch>
                  <a:fillRect l="-625" t="-1051"/>
                </a:stretch>
              </a:blipFill>
            </p:spPr>
            <p:txBody>
              <a:bodyPr/>
              <a:lstStyle/>
              <a:p>
                <a:r>
                  <a:rPr lang="en-US">
                    <a:noFill/>
                  </a:rPr>
                  <a:t> </a:t>
                </a:r>
              </a:p>
            </p:txBody>
          </p:sp>
        </mc:Fallback>
      </mc:AlternateContent>
    </p:spTree>
    <p:extLst>
      <p:ext uri="{BB962C8B-B14F-4D97-AF65-F5344CB8AC3E}">
        <p14:creationId xmlns:p14="http://schemas.microsoft.com/office/powerpoint/2010/main" val="134717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57"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6117829" y="1271437"/>
            <a:ext cx="5269147" cy="5181571"/>
          </a:xfrm>
          <a:prstGeom prst="rect">
            <a:avLst/>
          </a:prstGeom>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229</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xmlns:a14="http://schemas.microsoft.com/office/drawing/2010/main" xmlns:mc="http://schemas.openxmlformats.org/markup-compatibility/2006" id="{0370EDB7-6994-3D43-ABF9-E04CBAFB9CD9}"/>
              </a:ext>
            </a:extLst>
          </p:cNvPr>
          <p:cNvSpPr txBox="1"/>
          <p:nvPr/>
        </p:nvSpPr>
        <p:spPr>
          <a:xfrm>
            <a:off x="730266" y="1271437"/>
            <a:ext cx="5537184"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the icon that best describes your understanding of each.</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12.6.5 Wrap-Up: Reflection</a:t>
            </a:r>
            <a:endParaRPr lang="en-US" sz="3600" b="1" dirty="0">
              <a:solidFill>
                <a:srgbClr val="3F2A67"/>
              </a:solidFill>
              <a:latin typeface="Verdana"/>
              <a:ea typeface="Verdana"/>
              <a:cs typeface="Verdana"/>
              <a:sym typeface="Verdana"/>
            </a:endParaRPr>
          </a:p>
        </p:txBody>
      </p:sp>
      <p:pic>
        <p:nvPicPr>
          <p:cNvPr id="16" name="Google Shape;469;p34"/>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1465</TotalTime>
  <Words>815</Words>
  <Application>Microsoft Office PowerPoint</Application>
  <PresentationFormat>Custom</PresentationFormat>
  <Paragraphs>153</Paragraphs>
  <Slides>23</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Calibri</vt:lpstr>
      <vt:lpstr>Times New Roman</vt:lpstr>
      <vt:lpstr>Century Gothic</vt:lpstr>
      <vt:lpstr>Wingdings</vt:lpstr>
      <vt:lpstr>Cambria Math</vt:lpstr>
      <vt:lpstr>Cambria</vt:lpstr>
      <vt:lpstr>Arial Black</vt:lpstr>
      <vt:lpstr>MS Mincho</vt:lpstr>
      <vt:lpstr>Verdana</vt:lpstr>
      <vt:lpstr>1_Office Theme</vt:lpstr>
      <vt:lpstr>PowerPoint Presentation</vt:lpstr>
      <vt:lpstr>PowerPoint Presentation</vt:lpstr>
      <vt:lpstr>PowerPoint Presentation</vt:lpstr>
      <vt:lpstr>PowerPoint Presentation</vt:lpstr>
      <vt:lpstr>Warm-Up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44</cp:revision>
  <dcterms:created xsi:type="dcterms:W3CDTF">2015-03-17T18:51:18Z</dcterms:created>
  <dcterms:modified xsi:type="dcterms:W3CDTF">2022-06-30T14:33:53Z</dcterms:modified>
</cp:coreProperties>
</file>