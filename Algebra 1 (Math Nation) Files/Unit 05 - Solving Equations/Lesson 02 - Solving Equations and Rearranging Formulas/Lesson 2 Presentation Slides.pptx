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14" r:id="rId8"/>
    <p:sldId id="315" r:id="rId9"/>
    <p:sldId id="352" r:id="rId10"/>
    <p:sldId id="378" r:id="rId11"/>
    <p:sldId id="375" r:id="rId12"/>
    <p:sldId id="379" r:id="rId13"/>
    <p:sldId id="371" r:id="rId14"/>
    <p:sldId id="372" r:id="rId15"/>
    <p:sldId id="373" r:id="rId16"/>
    <p:sldId id="374" r:id="rId17"/>
    <p:sldId id="376" r:id="rId18"/>
    <p:sldId id="377" r:id="rId19"/>
    <p:sldId id="302" r:id="rId20"/>
    <p:sldId id="303" r:id="rId21"/>
    <p:sldId id="306" r:id="rId22"/>
    <p:sldId id="30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2715"/>
    <p:restoredTop sz="94829"/>
  </p:normalViewPr>
  <p:slideViewPr>
    <p:cSldViewPr snapToGrid="0">
      <p:cViewPr varScale="1">
        <p:scale>
          <a:sx n="111" d="100"/>
          <a:sy n="111" d="100"/>
        </p:scale>
        <p:origin x="123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746711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957466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83205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63041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610299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65279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07199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799337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472788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24804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14875"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61;g104476d1465_0_0"/>
          <p:cNvSpPr txBox="1">
            <a:spLocks/>
          </p:cNvSpPr>
          <p:nvPr/>
        </p:nvSpPr>
        <p:spPr>
          <a:xfrm>
            <a:off x="5604721" y="2054275"/>
            <a:ext cx="520139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Algebra 1</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5, Lesson 2</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Solving Equations and Rearranging Formulas</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235</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pic>
        <p:nvPicPr>
          <p:cNvPr id="10" name="Picture 9"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600" dirty="0">
                <a:latin typeface="Verdana" charset="0"/>
                <a:ea typeface="Verdana" charset="0"/>
                <a:cs typeface="Verdana" charset="0"/>
              </a:rPr>
              <a:t>MA.912.AR.2.1 </a:t>
            </a:r>
          </a:p>
          <a:p>
            <a:pPr marL="469900" indent="0">
              <a:buNone/>
            </a:pPr>
            <a:r>
              <a:rPr lang="en-US" sz="3600" dirty="0">
                <a:latin typeface="Verdana" charset="0"/>
                <a:ea typeface="Verdana" charset="0"/>
                <a:cs typeface="Verdana" charset="0"/>
              </a:rPr>
              <a:t>Given a real-world context, write and solve   one-variable multi-step linear equations.</a:t>
            </a:r>
          </a:p>
          <a:p>
            <a:pPr marL="95250" indent="0">
              <a:buNone/>
            </a:pPr>
            <a:r>
              <a:rPr lang="en-US" sz="3600" dirty="0">
                <a:latin typeface="Verdana" charset="0"/>
                <a:ea typeface="Verdana" charset="0"/>
                <a:cs typeface="Verdana" charset="0"/>
              </a:rPr>
              <a:t> </a:t>
            </a:r>
          </a:p>
          <a:p>
            <a:pPr marL="95250" indent="0">
              <a:buNone/>
            </a:pPr>
            <a:r>
              <a:rPr lang="en-US" sz="3600" dirty="0">
                <a:latin typeface="Verdana" charset="0"/>
                <a:ea typeface="Verdana" charset="0"/>
                <a:cs typeface="Verdana" charset="0"/>
              </a:rPr>
              <a:t>MA.912.AR.1.2 </a:t>
            </a:r>
          </a:p>
          <a:p>
            <a:pPr marL="469900" indent="0">
              <a:buNone/>
            </a:pPr>
            <a:r>
              <a:rPr lang="en-US" sz="3600" dirty="0">
                <a:latin typeface="Verdana" charset="0"/>
                <a:ea typeface="Verdana" charset="0"/>
                <a:cs typeface="Verdana" charset="0"/>
              </a:rPr>
              <a:t>Rearrange equations or formulas to isolate a quantity of interest.</a:t>
            </a: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235</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5"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235</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5"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charset="2"/>
              <a:buChar char="q"/>
            </a:pPr>
            <a:r>
              <a:rPr lang="en-US" sz="3600" dirty="0">
                <a:latin typeface="Verdana" charset="0"/>
                <a:ea typeface="Verdana" charset="0"/>
                <a:cs typeface="Verdana" charset="0"/>
              </a:rPr>
              <a:t>I can solve multi-step linear equations.</a:t>
            </a:r>
          </a:p>
          <a:p>
            <a:pPr marL="685800" indent="-685800">
              <a:buFont typeface="Wingdings" charset="2"/>
              <a:buChar char="q"/>
            </a:pPr>
            <a:endParaRPr lang="en-US" sz="3600" dirty="0">
              <a:latin typeface="Verdana" charset="0"/>
              <a:ea typeface="Verdana" charset="0"/>
              <a:cs typeface="Verdana" charset="0"/>
            </a:endParaRPr>
          </a:p>
          <a:p>
            <a:pPr marL="685800" indent="-685800">
              <a:buFont typeface="Wingdings" charset="2"/>
              <a:buChar char="q"/>
            </a:pPr>
            <a:r>
              <a:rPr lang="en-US" sz="3600" dirty="0">
                <a:latin typeface="Verdana" charset="0"/>
                <a:ea typeface="Verdana" charset="0"/>
                <a:cs typeface="Verdana" charset="0"/>
              </a:rPr>
              <a:t>I can isolate a quantity of interest in a formula by rearranging a formula.</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9669"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0"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1"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9032"/>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47145" y="2670175"/>
            <a:ext cx="8115300" cy="1231900"/>
          </a:xfrm>
          <a:prstGeom prst="rect">
            <a:avLst/>
          </a:prstGeom>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5.2.1 Warm-Up: Closest to Zero</a:t>
            </a:r>
          </a:p>
        </p:txBody>
      </p:sp>
      <p:pic>
        <p:nvPicPr>
          <p:cNvPr id="12"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1D7562E-134F-D14B-AF1A-DF40E11EF758}"/>
                  </a:ext>
                </a:extLst>
              </p:cNvPr>
              <p:cNvSpPr txBox="1"/>
              <p:nvPr/>
            </p:nvSpPr>
            <p:spPr>
              <a:xfrm>
                <a:off x="479008" y="1497535"/>
                <a:ext cx="11051575"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Place a digit in each blue box to make the equation true for only one value of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 Use only the digits </a:t>
                </a:r>
                <a14:m>
                  <m:oMath xmlns:m="http://schemas.openxmlformats.org/officeDocument/2006/math">
                    <m:r>
                      <a:rPr lang="en-US" sz="2000" i="1">
                        <a:latin typeface="Cambria Math" panose="02040503050406030204" pitchFamily="18" charset="0"/>
                        <a:ea typeface="Verdana" charset="0"/>
                        <a:cs typeface="Verdana" charset="0"/>
                      </a:rPr>
                      <m:t>1</m:t>
                    </m:r>
                  </m:oMath>
                </a14:m>
                <a:r>
                  <a:rPr lang="en-US" sz="2000" dirty="0">
                    <a:latin typeface="Verdana" charset="0"/>
                    <a:ea typeface="Verdana" charset="0"/>
                    <a:cs typeface="Verdana" charset="0"/>
                  </a:rPr>
                  <a:t> to </a:t>
                </a:r>
                <a14:m>
                  <m:oMath xmlns:m="http://schemas.openxmlformats.org/officeDocument/2006/math">
                    <m:r>
                      <a:rPr lang="en-US" sz="2000" i="1">
                        <a:latin typeface="Cambria Math" panose="02040503050406030204" pitchFamily="18" charset="0"/>
                        <a:ea typeface="Verdana" charset="0"/>
                        <a:cs typeface="Verdana" charset="0"/>
                      </a:rPr>
                      <m:t>9</m:t>
                    </m:r>
                  </m:oMath>
                </a14:m>
                <a:r>
                  <a:rPr lang="en-US" sz="2000" dirty="0">
                    <a:latin typeface="Verdana" charset="0"/>
                    <a:ea typeface="Verdana" charset="0"/>
                    <a:cs typeface="Verdana" charset="0"/>
                  </a:rPr>
                  <a:t>, but digits can be used more than once.</a:t>
                </a:r>
              </a:p>
            </p:txBody>
          </p:sp>
        </mc:Choice>
        <mc:Fallback xmlns="">
          <p:sp>
            <p:nvSpPr>
              <p:cNvPr id="14" name="TextBox 13">
                <a:extLst>
                  <a:ext uri="{FF2B5EF4-FFF2-40B4-BE49-F238E27FC236}">
                    <a16:creationId xmlns=""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479008" y="1497535"/>
                <a:ext cx="11051575" cy="707886"/>
              </a:xfrm>
              <a:prstGeom prst="rect">
                <a:avLst/>
              </a:prstGeom>
              <a:blipFill rotWithShape="1">
                <a:blip r:embed="rId6"/>
                <a:stretch>
                  <a:fillRect l="-607" t="-5172" b="-14655"/>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70104"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11"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id="{E44DF7DE-9172-3E4E-B74A-7A51585FB6EA}"/>
              </a:ext>
            </a:extLst>
          </p:cNvPr>
          <p:cNvSpPr txBox="1"/>
          <p:nvPr/>
        </p:nvSpPr>
        <p:spPr>
          <a:xfrm>
            <a:off x="529070" y="1386024"/>
            <a:ext cx="11001514" cy="3046988"/>
          </a:xfrm>
          <a:prstGeom prst="rect">
            <a:avLst/>
          </a:prstGeom>
          <a:noFill/>
        </p:spPr>
        <p:txBody>
          <a:bodyPr wrap="square" rtlCol="0">
            <a:spAutoFit/>
          </a:bodyPr>
          <a:lstStyle/>
          <a:p>
            <a:r>
              <a:rPr lang="en-US" sz="2400" dirty="0">
                <a:latin typeface="Verdana" charset="0"/>
                <a:ea typeface="Verdana" charset="0"/>
                <a:cs typeface="Verdana" charset="0"/>
              </a:rPr>
              <a:t>Sandra, Jerry, </a:t>
            </a:r>
            <a:r>
              <a:rPr lang="en-US" sz="2400" dirty="0" err="1">
                <a:latin typeface="Verdana" charset="0"/>
                <a:ea typeface="Verdana" charset="0"/>
                <a:cs typeface="Verdana" charset="0"/>
              </a:rPr>
              <a:t>Marly</a:t>
            </a:r>
            <a:r>
              <a:rPr lang="en-US" sz="2400" dirty="0">
                <a:latin typeface="Verdana" charset="0"/>
                <a:ea typeface="Verdana" charset="0"/>
                <a:cs typeface="Verdana" charset="0"/>
              </a:rPr>
              <a:t>, and Xavier solved the same equation and each found different solutions. Each student’s work and solution are shown in the table.</a:t>
            </a:r>
          </a:p>
          <a:p>
            <a:endParaRPr lang="en-PH"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Work with your partner to examine the work shown and determine who solved the equation correctly. Then, for the students who made errors, circle the step where the error was made and explain the error.</a:t>
            </a:r>
          </a:p>
        </p:txBody>
      </p:sp>
      <p:sp>
        <p:nvSpPr>
          <p:cNvPr id="14"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350664"/>
            <a:ext cx="10478463"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5.2.2 Collaboration: Find the Error</a:t>
            </a:r>
          </a:p>
        </p:txBody>
      </p:sp>
      <p:pic>
        <p:nvPicPr>
          <p:cNvPr id="16"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56670653"/>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552316">
                      <a:extLst>
                        <a:ext uri="{9D8B030D-6E8A-4147-A177-3AD203B41FA5}">
                          <a16:colId xmlns:a16="http://schemas.microsoft.com/office/drawing/2014/main"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32253">
                    <a:tc rowSpan="3">
                      <a:txBody>
                        <a:bodyPr/>
                        <a:lstStyle/>
                        <a:p>
                          <a:pPr marL="0" marR="0" algn="ctr">
                            <a:spcBef>
                              <a:spcPts val="0"/>
                            </a:spcBef>
                            <a:spcAft>
                              <a:spcPts val="0"/>
                            </a:spcAft>
                          </a:pPr>
                          <a:r>
                            <a:rPr lang="en-US" sz="2000">
                              <a:effectLst/>
                              <a:latin typeface="Verdana" charset="0"/>
                              <a:ea typeface="Verdana" charset="0"/>
                              <a:cs typeface="Verdana" charset="0"/>
                            </a:rPr>
                            <a:t>Sandra</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9−</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4</m:t>
                                  </m:r>
                                </m:den>
                              </m:f>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16−2</m:t>
                                  </m:r>
                                  <m:r>
                                    <a:rPr lang="en-US" sz="2000" i="1">
                                      <a:effectLst/>
                                      <a:latin typeface="Cambria Math" panose="02040503050406030204" pitchFamily="18" charset="0"/>
                                      <a:ea typeface="Verdana" charset="0"/>
                                      <a:cs typeface="Verdana" charset="0"/>
                                    </a:rPr>
                                    <m:t>𝑤</m:t>
                                  </m:r>
                                </m:e>
                              </m:d>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4</m:t>
                                  </m:r>
                                </m:den>
                              </m:f>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16−2</m:t>
                                  </m:r>
                                  <m:r>
                                    <a:rPr lang="en-US" sz="2000" i="1">
                                      <a:effectLst/>
                                      <a:latin typeface="Cambria Math" panose="02040503050406030204" pitchFamily="18" charset="0"/>
                                      <a:ea typeface="Verdana" charset="0"/>
                                      <a:cs typeface="Verdana" charset="0"/>
                                    </a:rPr>
                                    <m:t>𝑤</m:t>
                                  </m:r>
                                </m:e>
                              </m:d>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+2</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12−</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+2</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10−</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10=</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11</m:t>
                                  </m:r>
                                </m:num>
                                <m:den>
                                  <m:r>
                                    <a:rPr lang="en-US" sz="2000" i="1">
                                      <a:effectLst/>
                                      <a:latin typeface="Cambria Math" panose="02040503050406030204" pitchFamily="18" charset="0"/>
                                      <a:ea typeface="Verdana" charset="0"/>
                                      <a:cs typeface="Verdana" charset="0"/>
                                    </a:rPr>
                                    <m:t>6</m:t>
                                  </m:r>
                                </m:den>
                              </m:f>
                              <m:r>
                                <a:rPr lang="en-US" sz="2000" i="1">
                                  <a:effectLst/>
                                  <a:latin typeface="Cambria Math" panose="02040503050406030204" pitchFamily="18" charset="0"/>
                                  <a:ea typeface="Verdana" charset="0"/>
                                  <a:cs typeface="Verdana" charset="0"/>
                                </a:rPr>
                                <m:t>𝑤</m:t>
                              </m:r>
                            </m:oMath>
                          </a14:m>
                          <a:r>
                            <a:rPr lang="en-US" sz="2000" dirty="0">
                              <a:effectLst/>
                              <a:latin typeface="Verdana" charset="0"/>
                              <a:ea typeface="Verdana" charset="0"/>
                              <a:cs typeface="Verdana" charset="0"/>
                            </a:rPr>
                            <a:t> </a:t>
                          </a:r>
                        </a:p>
                        <a:p>
                          <a:pPr marL="0" marR="0" algn="ctr">
                            <a:spcBef>
                              <a:spcPts val="0"/>
                            </a:spcBef>
                            <a:spcAft>
                              <a:spcPts val="0"/>
                            </a:spcAf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60</m:t>
                                  </m:r>
                                </m:num>
                                <m:den>
                                  <m:r>
                                    <a:rPr lang="en-US" sz="2000" i="1">
                                      <a:effectLst/>
                                      <a:latin typeface="Cambria Math" panose="02040503050406030204" pitchFamily="18" charset="0"/>
                                      <a:ea typeface="Verdana" charset="0"/>
                                      <a:cs typeface="Verdana" charset="0"/>
                                    </a:rPr>
                                    <m:t>11</m:t>
                                  </m:r>
                                </m:den>
                              </m:f>
                              <m:r>
                                <a:rPr lang="en-US" sz="2000" i="1">
                                  <a:effectLst/>
                                  <a:latin typeface="Cambria Math" panose="02040503050406030204" pitchFamily="18" charset="0"/>
                                  <a:ea typeface="Verdana" charset="0"/>
                                  <a:cs typeface="Verdana" charset="0"/>
                                </a:rPr>
                                <m:t>=</m:t>
                              </m:r>
                              <m:r>
                                <a:rPr lang="en-US" sz="2000" i="1">
                                  <a:effectLst/>
                                  <a:latin typeface="Cambria Math" panose="02040503050406030204" pitchFamily="18" charset="0"/>
                                  <a:ea typeface="Verdana" charset="0"/>
                                  <a:cs typeface="Verdana" charset="0"/>
                                </a:rPr>
                                <m:t>𝑤</m:t>
                              </m:r>
                            </m:oMath>
                          </a14:m>
                          <a:r>
                            <a:rPr lang="en-US" sz="2000" dirty="0">
                              <a:effectLst/>
                              <a:latin typeface="Verdana" charset="0"/>
                              <a:ea typeface="Verdana" charset="0"/>
                              <a:cs typeface="Verdana" charset="0"/>
                            </a:rPr>
                            <a:t> </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56670653"/>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xmlns:a14="http://schemas.microsoft.com/office/drawing/2010/main" xmlns="" val="20000"/>
                        </a:ext>
                      </a:extLst>
                    </a:gridCol>
                    <a:gridCol w="3200400">
                      <a:extLst>
                        <a:ext uri="{9D8B030D-6E8A-4147-A177-3AD203B41FA5}">
                          <a16:colId xmlns:a16="http://schemas.microsoft.com/office/drawing/2014/main" xmlns:a14="http://schemas.microsoft.com/office/drawing/2010/main" xmlns="" val="20001"/>
                        </a:ext>
                      </a:extLst>
                    </a:gridCol>
                    <a:gridCol w="1552316">
                      <a:extLst>
                        <a:ext uri="{9D8B030D-6E8A-4147-A177-3AD203B41FA5}">
                          <a16:colId xmlns:a16="http://schemas.microsoft.com/office/drawing/2014/main" xmlns:a14="http://schemas.microsoft.com/office/drawing/2010/main" xmlns=""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732253">
                    <a:tc rowSpan="3">
                      <a:txBody>
                        <a:bodyPr/>
                        <a:lstStyle/>
                        <a:p>
                          <a:pPr marL="0" marR="0" algn="ctr">
                            <a:spcBef>
                              <a:spcPts val="0"/>
                            </a:spcBef>
                            <a:spcAft>
                              <a:spcPts val="0"/>
                            </a:spcAft>
                          </a:pPr>
                          <a:r>
                            <a:rPr lang="en-US" sz="2000">
                              <a:effectLst/>
                              <a:latin typeface="Verdana" charset="0"/>
                              <a:ea typeface="Verdana" charset="0"/>
                              <a:cs typeface="Verdana" charset="0"/>
                            </a:rPr>
                            <a:t>Sandra</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2857" t="-28105" r="-48571" b="-24510"/>
                          </a:stretch>
                        </a:blipFill>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102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983919119"/>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552316">
                      <a:extLst>
                        <a:ext uri="{9D8B030D-6E8A-4147-A177-3AD203B41FA5}">
                          <a16:colId xmlns:a16="http://schemas.microsoft.com/office/drawing/2014/main"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32253">
                    <a:tc rowSpan="3">
                      <a:txBody>
                        <a:bodyPr/>
                        <a:lstStyle/>
                        <a:p>
                          <a:pPr marL="0" marR="0" algn="ctr">
                            <a:spcBef>
                              <a:spcPts val="0"/>
                            </a:spcBef>
                            <a:spcAft>
                              <a:spcPts val="0"/>
                            </a:spcAft>
                          </a:pPr>
                          <a:r>
                            <a:rPr lang="en-US" sz="2000" dirty="0">
                              <a:effectLst/>
                              <a:latin typeface="Verdana" charset="0"/>
                              <a:ea typeface="Verdana" charset="0"/>
                              <a:cs typeface="Verdana" charset="0"/>
                            </a:rPr>
                            <a:t>Jerry</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000" i="1" smtClean="0">
                                  <a:effectLst/>
                                  <a:latin typeface="Cambria Math" panose="02040503050406030204" pitchFamily="18" charset="0"/>
                                  <a:ea typeface="Verdana" charset="0"/>
                                  <a:cs typeface="Verdana" charset="0"/>
                                </a:rPr>
                                <m:t>9−</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4</m:t>
                                  </m:r>
                                </m:den>
                              </m:f>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16−2</m:t>
                                  </m:r>
                                  <m:r>
                                    <a:rPr lang="en-US" sz="2000" i="1">
                                      <a:effectLst/>
                                      <a:latin typeface="Cambria Math" panose="02040503050406030204" pitchFamily="18" charset="0"/>
                                      <a:ea typeface="Verdana" charset="0"/>
                                      <a:cs typeface="Verdana" charset="0"/>
                                    </a:rPr>
                                    <m:t>𝑤</m:t>
                                  </m:r>
                                </m:e>
                              </m:d>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9−12+</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−3+</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−3=</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7</m:t>
                                  </m:r>
                                </m:num>
                                <m:den>
                                  <m:r>
                                    <a:rPr lang="en-US" sz="2000" i="1">
                                      <a:effectLst/>
                                      <a:latin typeface="Cambria Math" panose="02040503050406030204" pitchFamily="18" charset="0"/>
                                      <a:ea typeface="Verdana" charset="0"/>
                                      <a:cs typeface="Verdana" charset="0"/>
                                    </a:rPr>
                                    <m:t>6</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−14=</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7</m:t>
                                  </m:r>
                                </m:num>
                                <m:den>
                                  <m:r>
                                    <a:rPr lang="en-US" sz="2000" i="1">
                                      <a:effectLst/>
                                      <a:latin typeface="Cambria Math" panose="02040503050406030204" pitchFamily="18" charset="0"/>
                                      <a:ea typeface="Verdana" charset="0"/>
                                      <a:cs typeface="Verdana" charset="0"/>
                                    </a:rPr>
                                    <m:t>6</m:t>
                                  </m:r>
                                </m:den>
                              </m:f>
                              <m:r>
                                <a:rPr lang="en-US" sz="2000" i="1">
                                  <a:effectLst/>
                                  <a:latin typeface="Cambria Math" panose="02040503050406030204" pitchFamily="18" charset="0"/>
                                  <a:ea typeface="Verdana" charset="0"/>
                                  <a:cs typeface="Verdana" charset="0"/>
                                </a:rPr>
                                <m:t>𝑤</m:t>
                              </m:r>
                            </m:oMath>
                          </a14:m>
                          <a:r>
                            <a:rPr lang="en-US" sz="2000" dirty="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−12=</m:t>
                                </m:r>
                                <m:r>
                                  <a:rPr lang="en-US" sz="2000" i="1">
                                    <a:effectLst/>
                                    <a:latin typeface="Cambria Math" panose="02040503050406030204" pitchFamily="18" charset="0"/>
                                    <a:ea typeface="Verdana" charset="0"/>
                                    <a:cs typeface="Verdana" charset="0"/>
                                  </a:rPr>
                                  <m:t>𝑤</m:t>
                                </m:r>
                              </m:oMath>
                            </m:oMathPara>
                          </a14:m>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983919119"/>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xmlns:a14="http://schemas.microsoft.com/office/drawing/2010/main" xmlns="" val="20000"/>
                        </a:ext>
                      </a:extLst>
                    </a:gridCol>
                    <a:gridCol w="3200400">
                      <a:extLst>
                        <a:ext uri="{9D8B030D-6E8A-4147-A177-3AD203B41FA5}">
                          <a16:colId xmlns:a16="http://schemas.microsoft.com/office/drawing/2014/main" xmlns:a14="http://schemas.microsoft.com/office/drawing/2010/main" xmlns="" val="20001"/>
                        </a:ext>
                      </a:extLst>
                    </a:gridCol>
                    <a:gridCol w="1552316">
                      <a:extLst>
                        <a:ext uri="{9D8B030D-6E8A-4147-A177-3AD203B41FA5}">
                          <a16:colId xmlns:a16="http://schemas.microsoft.com/office/drawing/2014/main" xmlns:a14="http://schemas.microsoft.com/office/drawing/2010/main" xmlns=""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732253">
                    <a:tc rowSpan="3">
                      <a:txBody>
                        <a:bodyPr/>
                        <a:lstStyle/>
                        <a:p>
                          <a:pPr marL="0" marR="0" algn="ctr">
                            <a:spcBef>
                              <a:spcPts val="0"/>
                            </a:spcBef>
                            <a:spcAft>
                              <a:spcPts val="0"/>
                            </a:spcAft>
                          </a:pPr>
                          <a:r>
                            <a:rPr lang="en-US" sz="2000" dirty="0" smtClean="0">
                              <a:effectLst/>
                              <a:latin typeface="Verdana" charset="0"/>
                              <a:ea typeface="Verdana" charset="0"/>
                              <a:cs typeface="Verdana" charset="0"/>
                            </a:rPr>
                            <a:t>Jerry</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2857" t="-28105" r="-48571" b="-24510"/>
                          </a:stretch>
                        </a:blipFill>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Tree>
    <p:extLst>
      <p:ext uri="{BB962C8B-B14F-4D97-AF65-F5344CB8AC3E}">
        <p14:creationId xmlns:p14="http://schemas.microsoft.com/office/powerpoint/2010/main" val="141961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105555298"/>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552316">
                      <a:extLst>
                        <a:ext uri="{9D8B030D-6E8A-4147-A177-3AD203B41FA5}">
                          <a16:colId xmlns:a16="http://schemas.microsoft.com/office/drawing/2014/main"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32253">
                    <a:tc rowSpan="3">
                      <a:txBody>
                        <a:bodyPr/>
                        <a:lstStyle/>
                        <a:p>
                          <a:pPr marL="0" marR="0" algn="ctr">
                            <a:spcBef>
                              <a:spcPts val="0"/>
                            </a:spcBef>
                            <a:spcAft>
                              <a:spcPts val="0"/>
                            </a:spcAft>
                          </a:pPr>
                          <a:r>
                            <a:rPr lang="en-US" sz="2000" dirty="0" err="1">
                              <a:effectLst/>
                              <a:latin typeface="Verdana" charset="0"/>
                              <a:ea typeface="Verdana" charset="0"/>
                              <a:cs typeface="Verdana" charset="0"/>
                            </a:rPr>
                            <a:t>Marly</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000" i="1" smtClean="0">
                                  <a:effectLst/>
                                  <a:latin typeface="Cambria Math" panose="02040503050406030204" pitchFamily="18" charset="0"/>
                                  <a:ea typeface="Verdana" charset="0"/>
                                  <a:cs typeface="Verdana" charset="0"/>
                                </a:rPr>
                                <m:t>9−</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4</m:t>
                                  </m:r>
                                </m:den>
                              </m:f>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16−2</m:t>
                                  </m:r>
                                  <m:r>
                                    <a:rPr lang="en-US" sz="2000" i="1">
                                      <a:effectLst/>
                                      <a:latin typeface="Cambria Math" panose="02040503050406030204" pitchFamily="18" charset="0"/>
                                      <a:ea typeface="Verdana" charset="0"/>
                                      <a:cs typeface="Verdana" charset="0"/>
                                    </a:rPr>
                                    <m:t>𝑤</m:t>
                                  </m:r>
                                </m:e>
                              </m:d>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9−12+</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−3+</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+14</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7</m:t>
                                  </m:r>
                                </m:num>
                                <m:den>
                                  <m:r>
                                    <a:rPr lang="en-US" sz="2000" i="1">
                                      <a:effectLst/>
                                      <a:latin typeface="Cambria Math" panose="02040503050406030204" pitchFamily="18" charset="0"/>
                                      <a:ea typeface="Verdana" charset="0"/>
                                      <a:cs typeface="Verdana" charset="0"/>
                                    </a:rPr>
                                    <m:t>6</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=14</m:t>
                              </m:r>
                            </m:oMath>
                          </a14:m>
                          <a:r>
                            <a:rPr lang="en-US" sz="2000" dirty="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=12</m:t>
                                </m:r>
                              </m:oMath>
                            </m:oMathPara>
                          </a14:m>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105555298"/>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xmlns:a14="http://schemas.microsoft.com/office/drawing/2010/main" xmlns="" val="20000"/>
                        </a:ext>
                      </a:extLst>
                    </a:gridCol>
                    <a:gridCol w="3200400">
                      <a:extLst>
                        <a:ext uri="{9D8B030D-6E8A-4147-A177-3AD203B41FA5}">
                          <a16:colId xmlns:a16="http://schemas.microsoft.com/office/drawing/2014/main" xmlns:a14="http://schemas.microsoft.com/office/drawing/2010/main" xmlns="" val="20001"/>
                        </a:ext>
                      </a:extLst>
                    </a:gridCol>
                    <a:gridCol w="1552316">
                      <a:extLst>
                        <a:ext uri="{9D8B030D-6E8A-4147-A177-3AD203B41FA5}">
                          <a16:colId xmlns:a16="http://schemas.microsoft.com/office/drawing/2014/main" xmlns:a14="http://schemas.microsoft.com/office/drawing/2010/main" xmlns=""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732253">
                    <a:tc rowSpan="3">
                      <a:txBody>
                        <a:bodyPr/>
                        <a:lstStyle/>
                        <a:p>
                          <a:pPr marL="0" marR="0" algn="ctr">
                            <a:spcBef>
                              <a:spcPts val="0"/>
                            </a:spcBef>
                            <a:spcAft>
                              <a:spcPts val="0"/>
                            </a:spcAft>
                          </a:pPr>
                          <a:r>
                            <a:rPr lang="en-US" sz="2000" dirty="0" err="1" smtClean="0">
                              <a:effectLst/>
                              <a:latin typeface="Verdana" charset="0"/>
                              <a:ea typeface="Verdana" charset="0"/>
                              <a:cs typeface="Verdana" charset="0"/>
                            </a:rPr>
                            <a:t>Marly</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2857" t="-28105" r="-48571" b="-24510"/>
                          </a:stretch>
                        </a:blipFill>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Tree>
    <p:extLst>
      <p:ext uri="{BB962C8B-B14F-4D97-AF65-F5344CB8AC3E}">
        <p14:creationId xmlns:p14="http://schemas.microsoft.com/office/powerpoint/2010/main" val="929412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847251843"/>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552316">
                      <a:extLst>
                        <a:ext uri="{9D8B030D-6E8A-4147-A177-3AD203B41FA5}">
                          <a16:colId xmlns:a16="http://schemas.microsoft.com/office/drawing/2014/main"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32253">
                    <a:tc rowSpan="3">
                      <a:txBody>
                        <a:bodyPr/>
                        <a:lstStyle/>
                        <a:p>
                          <a:pPr marL="0" marR="0" algn="ctr">
                            <a:spcBef>
                              <a:spcPts val="0"/>
                            </a:spcBef>
                            <a:spcAft>
                              <a:spcPts val="0"/>
                            </a:spcAft>
                          </a:pPr>
                          <a:r>
                            <a:rPr lang="en-US" sz="2000" dirty="0">
                              <a:effectLst/>
                              <a:latin typeface="Verdana" charset="0"/>
                              <a:ea typeface="Verdana" charset="0"/>
                              <a:cs typeface="Verdana" charset="0"/>
                            </a:rPr>
                            <a:t>Xavier</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000" i="1" smtClean="0">
                                  <a:effectLst/>
                                  <a:latin typeface="Cambria Math" panose="02040503050406030204" pitchFamily="18" charset="0"/>
                                  <a:ea typeface="Verdana" charset="0"/>
                                  <a:cs typeface="Verdana" charset="0"/>
                                </a:rPr>
                                <m:t>9−</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4</m:t>
                                  </m:r>
                                </m:den>
                              </m:f>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16−2</m:t>
                                  </m:r>
                                  <m:r>
                                    <a:rPr lang="en-US" sz="2000" i="1">
                                      <a:effectLst/>
                                      <a:latin typeface="Cambria Math" panose="02040503050406030204" pitchFamily="18" charset="0"/>
                                      <a:ea typeface="Verdana" charset="0"/>
                                      <a:cs typeface="Verdana" charset="0"/>
                                    </a:rPr>
                                    <m:t>𝑤</m:t>
                                  </m:r>
                                </m:e>
                              </m:d>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9−12−</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−3−</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+11</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2</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+14</m:t>
                              </m:r>
                            </m:oMath>
                          </a14:m>
                          <a:r>
                            <a:rPr lang="en-US" sz="2000" dirty="0">
                              <a:effectLst/>
                              <a:latin typeface="Verdana" charset="0"/>
                              <a:ea typeface="Verdana" charset="0"/>
                              <a:cs typeface="Verdana" charset="0"/>
                            </a:rPr>
                            <a:t> </a:t>
                          </a:r>
                        </a:p>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5</m:t>
                                  </m:r>
                                </m:num>
                                <m:den>
                                  <m:r>
                                    <a:rPr lang="en-US" sz="2000" i="1">
                                      <a:effectLst/>
                                      <a:latin typeface="Cambria Math" panose="02040503050406030204" pitchFamily="18" charset="0"/>
                                      <a:ea typeface="Verdana" charset="0"/>
                                      <a:cs typeface="Verdana" charset="0"/>
                                    </a:rPr>
                                    <m:t>6</m:t>
                                  </m:r>
                                </m:den>
                              </m:f>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=14</m:t>
                              </m:r>
                            </m:oMath>
                          </a14:m>
                          <a:r>
                            <a:rPr lang="en-US" sz="2000" dirty="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=−16.8</m:t>
                                </m:r>
                              </m:oMath>
                            </m:oMathPara>
                          </a14:m>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847251843"/>
                  </p:ext>
                </p:extLst>
              </p:nvPr>
            </p:nvGraphicFramePr>
            <p:xfrm>
              <a:off x="3171994" y="525380"/>
              <a:ext cx="6124316" cy="5674252"/>
            </p:xfrm>
            <a:graphic>
              <a:graphicData uri="http://schemas.openxmlformats.org/drawingml/2006/table">
                <a:tbl>
                  <a:tblPr firstRow="1" firstCol="1" bandRow="1"/>
                  <a:tblGrid>
                    <a:gridCol w="1371600">
                      <a:extLst>
                        <a:ext uri="{9D8B030D-6E8A-4147-A177-3AD203B41FA5}">
                          <a16:colId xmlns:a16="http://schemas.microsoft.com/office/drawing/2014/main" xmlns:a14="http://schemas.microsoft.com/office/drawing/2010/main" xmlns="" val="20000"/>
                        </a:ext>
                      </a:extLst>
                    </a:gridCol>
                    <a:gridCol w="3200400">
                      <a:extLst>
                        <a:ext uri="{9D8B030D-6E8A-4147-A177-3AD203B41FA5}">
                          <a16:colId xmlns:a16="http://schemas.microsoft.com/office/drawing/2014/main" xmlns:a14="http://schemas.microsoft.com/office/drawing/2010/main" xmlns="" val="20001"/>
                        </a:ext>
                      </a:extLst>
                    </a:gridCol>
                    <a:gridCol w="1552316">
                      <a:extLst>
                        <a:ext uri="{9D8B030D-6E8A-4147-A177-3AD203B41FA5}">
                          <a16:colId xmlns:a16="http://schemas.microsoft.com/office/drawing/2014/main" xmlns:a14="http://schemas.microsoft.com/office/drawing/2010/main" xmlns="" val="20002"/>
                        </a:ext>
                      </a:extLst>
                    </a:gridCol>
                  </a:tblGrid>
                  <a:tr h="1027599">
                    <a:tc>
                      <a:txBody>
                        <a:bodyPr/>
                        <a:lstStyle/>
                        <a:p>
                          <a:pPr marL="0" marR="0" algn="ctr">
                            <a:spcBef>
                              <a:spcPts val="0"/>
                            </a:spcBef>
                            <a:spcAft>
                              <a:spcPts val="0"/>
                            </a:spcAft>
                          </a:pPr>
                          <a:r>
                            <a:rPr lang="en-US" sz="2000" b="1" dirty="0">
                              <a:effectLst/>
                              <a:latin typeface="Verdana" charset="0"/>
                              <a:ea typeface="Verdana" charset="0"/>
                              <a:cs typeface="Verdana" charset="0"/>
                            </a:rPr>
                            <a:t>Name</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Student’s Work and Solution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Is the solution correct?</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732253">
                    <a:tc rowSpan="3">
                      <a:txBody>
                        <a:bodyPr/>
                        <a:lstStyle/>
                        <a:p>
                          <a:pPr marL="0" marR="0" algn="ctr">
                            <a:spcBef>
                              <a:spcPts val="0"/>
                            </a:spcBef>
                            <a:spcAft>
                              <a:spcPts val="0"/>
                            </a:spcAft>
                          </a:pPr>
                          <a:r>
                            <a:rPr lang="en-US" sz="2000" dirty="0" smtClean="0">
                              <a:effectLst/>
                              <a:latin typeface="Verdana" charset="0"/>
                              <a:ea typeface="Verdana" charset="0"/>
                              <a:cs typeface="Verdana" charset="0"/>
                            </a:rPr>
                            <a:t>Xavier</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2857" t="-28105" r="-48571" b="-24510"/>
                          </a:stretch>
                        </a:blipFill>
                      </a:tcPr>
                    </a:tc>
                    <a:tc>
                      <a:txBody>
                        <a:bodyPr/>
                        <a:lstStyle/>
                        <a:p>
                          <a:pPr marL="5715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Yes</a:t>
                          </a:r>
                        </a:p>
                        <a:p>
                          <a:pPr marL="571500" marR="0" lvl="0" indent="-342900">
                            <a:spcBef>
                              <a:spcPts val="0"/>
                            </a:spcBef>
                            <a:spcAft>
                              <a:spcPts val="1000"/>
                            </a:spcAft>
                            <a:buFont typeface="Courier New" charset="0"/>
                            <a:buChar char="o"/>
                          </a:pPr>
                          <a:r>
                            <a:rPr lang="en-US" sz="2000" dirty="0">
                              <a:effectLst/>
                              <a:latin typeface="Verdana" charset="0"/>
                              <a:ea typeface="Verdana" charset="0"/>
                              <a:cs typeface="Verdana" charset="0"/>
                            </a:rPr>
                            <a:t>No</a:t>
                          </a: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57200">
                    <a:tc vMerge="1">
                      <a:txBody>
                        <a:bodyPr/>
                        <a:lstStyle/>
                        <a:p>
                          <a:endParaRPr lang="en-US"/>
                        </a:p>
                      </a:txBody>
                      <a:tcPr/>
                    </a:tc>
                    <a:tc gridSpan="2">
                      <a:txBody>
                        <a:bodyPr/>
                        <a:lstStyle/>
                        <a:p>
                          <a:pPr marL="0" marR="0" algn="ctr">
                            <a:spcBef>
                              <a:spcPts val="0"/>
                            </a:spcBef>
                            <a:spcAft>
                              <a:spcPts val="0"/>
                            </a:spcAft>
                          </a:pPr>
                          <a:r>
                            <a:rPr lang="en-US" sz="2000" b="1" dirty="0">
                              <a:effectLst/>
                              <a:latin typeface="Verdana" charset="0"/>
                              <a:ea typeface="Verdana" charset="0"/>
                              <a:cs typeface="Verdana" charset="0"/>
                            </a:rPr>
                            <a:t>Error Explanation</a:t>
                          </a: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0002"/>
                      </a:ext>
                    </a:extLst>
                  </a:tr>
                  <a:tr h="457200">
                    <a:tc vMerge="1">
                      <a:txBody>
                        <a:bodyPr/>
                        <a:lstStyle/>
                        <a:p>
                          <a:endParaRPr lang="en-US"/>
                        </a:p>
                      </a:txBody>
                      <a:tcPr/>
                    </a:tc>
                    <a:tc gridSpan="2">
                      <a:txBody>
                        <a:bodyPr/>
                        <a:lstStyle/>
                        <a:p>
                          <a:pPr marL="0" marR="0">
                            <a:spcBef>
                              <a:spcPts val="0"/>
                            </a:spcBef>
                            <a:spcAft>
                              <a:spcPts val="0"/>
                            </a:spcAft>
                          </a:pPr>
                          <a:endParaRPr lang="en-US" sz="2000" dirty="0">
                            <a:effectLst/>
                            <a:latin typeface="Verdana" charset="0"/>
                            <a:ea typeface="Verdana" charset="0"/>
                            <a:cs typeface="Verdana" charset="0"/>
                          </a:endParaRPr>
                        </a:p>
                      </a:txBody>
                      <a:tcPr marL="41256" marR="4125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Tree>
    <p:extLst>
      <p:ext uri="{BB962C8B-B14F-4D97-AF65-F5344CB8AC3E}">
        <p14:creationId xmlns:p14="http://schemas.microsoft.com/office/powerpoint/2010/main" val="20147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122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2" name="image2.png" descr="Icon&#10;&#10;Description automatically generated">
            <a:extLst>
              <a:ext uri="{FF2B5EF4-FFF2-40B4-BE49-F238E27FC236}">
                <a16:creationId xmlns:a16="http://schemas.microsoft.com/office/drawing/2014/main" id="{B8663E50-D763-C343-96E8-FEAEDD7FA21B}"/>
              </a:ext>
            </a:extLst>
          </p:cNvPr>
          <p:cNvPicPr/>
          <p:nvPr/>
        </p:nvPicPr>
        <p:blipFill>
          <a:blip r:embed="rId4"/>
          <a:srcRect/>
          <a:stretch>
            <a:fillRect/>
          </a:stretch>
        </p:blipFill>
        <p:spPr>
          <a:xfrm>
            <a:off x="4506717"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33013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824756" y="3513216"/>
            <a:ext cx="6426200" cy="2540000"/>
          </a:xfrm>
          <a:prstGeom prst="rect">
            <a:avLst/>
          </a:prstGeom>
        </p:spPr>
      </p:pic>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01B13E8-EC8D-E443-A329-C5E3593DD13A}"/>
                  </a:ext>
                </a:extLst>
              </p:cNvPr>
              <p:cNvSpPr txBox="1"/>
              <p:nvPr/>
            </p:nvSpPr>
            <p:spPr>
              <a:xfrm>
                <a:off x="545130" y="1216747"/>
                <a:ext cx="10985453" cy="1758045"/>
              </a:xfrm>
              <a:prstGeom prst="rect">
                <a:avLst/>
              </a:prstGeom>
              <a:noFill/>
            </p:spPr>
            <p:txBody>
              <a:bodyPr wrap="square" rtlCol="0">
                <a:spAutoFit/>
              </a:bodyPr>
              <a:lstStyle/>
              <a:p>
                <a:r>
                  <a:rPr lang="en-US" sz="2000" dirty="0">
                    <a:latin typeface="Verdana" charset="0"/>
                    <a:ea typeface="Verdana" charset="0"/>
                    <a:cs typeface="Verdana" charset="0"/>
                  </a:rPr>
                  <a:t>The formula for the area of a trapezoid is </a:t>
                </a:r>
                <a14:m>
                  <m:oMath xmlns:m="http://schemas.openxmlformats.org/officeDocument/2006/math">
                    <m:r>
                      <a:rPr lang="en-US" sz="2000" i="1">
                        <a:latin typeface="Cambria Math" charset="0"/>
                        <a:ea typeface="Verdana" charset="0"/>
                        <a:cs typeface="Verdana" charset="0"/>
                      </a:rPr>
                      <m:t>𝐴</m:t>
                    </m:r>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m:t>
                        </m:r>
                      </m:num>
                      <m:den>
                        <m:r>
                          <a:rPr lang="en-US" sz="2000" i="1">
                            <a:latin typeface="Cambria Math" charset="0"/>
                            <a:ea typeface="Verdana" charset="0"/>
                            <a:cs typeface="Verdana" charset="0"/>
                          </a:rPr>
                          <m:t>2</m:t>
                        </m:r>
                      </m:den>
                    </m:f>
                    <m:d>
                      <m:dPr>
                        <m:ctrlPr>
                          <a:rPr lang="en-US" sz="2000" i="1">
                            <a:latin typeface="Cambria Math" panose="02040503050406030204" pitchFamily="18" charset="0"/>
                            <a:ea typeface="Verdana" charset="0"/>
                            <a:cs typeface="Verdana" charset="0"/>
                          </a:rPr>
                        </m:ctrlPr>
                      </m:dPr>
                      <m:e>
                        <m:sSub>
                          <m:sSubPr>
                            <m:ctrlPr>
                              <a:rPr lang="en-US" sz="2000" i="1">
                                <a:latin typeface="Cambria Math" panose="02040503050406030204" pitchFamily="18" charset="0"/>
                                <a:ea typeface="Verdana" charset="0"/>
                                <a:cs typeface="Verdana" charset="0"/>
                              </a:rPr>
                            </m:ctrlPr>
                          </m:sSubPr>
                          <m:e>
                            <m:r>
                              <a:rPr lang="en-US" sz="2000" i="1">
                                <a:latin typeface="Cambria Math" charset="0"/>
                                <a:ea typeface="Verdana" charset="0"/>
                                <a:cs typeface="Verdana" charset="0"/>
                              </a:rPr>
                              <m:t>𝑏</m:t>
                            </m:r>
                          </m:e>
                          <m:sub>
                            <m:r>
                              <a:rPr lang="en-US" sz="2000" i="1">
                                <a:latin typeface="Cambria Math" charset="0"/>
                                <a:ea typeface="Verdana" charset="0"/>
                                <a:cs typeface="Verdana" charset="0"/>
                              </a:rPr>
                              <m:t>1</m:t>
                            </m:r>
                          </m:sub>
                        </m:sSub>
                        <m:r>
                          <a:rPr lang="en-US" sz="2000" i="1">
                            <a:latin typeface="Cambria Math" charset="0"/>
                            <a:ea typeface="Verdana" charset="0"/>
                            <a:cs typeface="Verdana" charset="0"/>
                          </a:rPr>
                          <m:t>+</m:t>
                        </m:r>
                        <m:sSub>
                          <m:sSubPr>
                            <m:ctrlPr>
                              <a:rPr lang="en-US" sz="2000" i="1">
                                <a:latin typeface="Cambria Math" panose="02040503050406030204" pitchFamily="18" charset="0"/>
                                <a:ea typeface="Verdana" charset="0"/>
                                <a:cs typeface="Verdana" charset="0"/>
                              </a:rPr>
                            </m:ctrlPr>
                          </m:sSubPr>
                          <m:e>
                            <m:r>
                              <a:rPr lang="en-US" sz="2000" i="1">
                                <a:latin typeface="Cambria Math" charset="0"/>
                                <a:ea typeface="Verdana" charset="0"/>
                                <a:cs typeface="Verdana" charset="0"/>
                              </a:rPr>
                              <m:t>𝑏</m:t>
                            </m:r>
                          </m:e>
                          <m:sub>
                            <m:r>
                              <a:rPr lang="en-US" sz="2000" i="1">
                                <a:latin typeface="Cambria Math" charset="0"/>
                                <a:ea typeface="Verdana" charset="0"/>
                                <a:cs typeface="Verdana" charset="0"/>
                              </a:rPr>
                              <m:t>2</m:t>
                            </m:r>
                          </m:sub>
                        </m:sSub>
                      </m:e>
                    </m:d>
                    <m:r>
                      <a:rPr lang="en-US" sz="2000" i="1">
                        <a:latin typeface="Cambria Math" charset="0"/>
                        <a:ea typeface="Verdana" charset="0"/>
                        <a:cs typeface="Verdana" charset="0"/>
                      </a:rPr>
                      <m:t>h</m:t>
                    </m:r>
                  </m:oMath>
                </a14:m>
                <a:r>
                  <a:rPr lang="en-US" sz="2000" dirty="0">
                    <a:latin typeface="Verdana" charset="0"/>
                    <a:ea typeface="Verdana" charset="0"/>
                    <a:cs typeface="Verdana" charset="0"/>
                  </a:rPr>
                  <a:t>, where </a:t>
                </a:r>
                <a14:m>
                  <m:oMath xmlns:m="http://schemas.openxmlformats.org/officeDocument/2006/math">
                    <m:sSub>
                      <m:sSubPr>
                        <m:ctrlPr>
                          <a:rPr lang="en-US" sz="2000" i="1">
                            <a:latin typeface="Cambria Math" panose="02040503050406030204" pitchFamily="18" charset="0"/>
                            <a:ea typeface="Verdana" charset="0"/>
                            <a:cs typeface="Verdana" charset="0"/>
                          </a:rPr>
                        </m:ctrlPr>
                      </m:sSubPr>
                      <m:e>
                        <m:r>
                          <a:rPr lang="en-US" sz="2000" i="1">
                            <a:latin typeface="Cambria Math" charset="0"/>
                            <a:ea typeface="Verdana" charset="0"/>
                            <a:cs typeface="Verdana" charset="0"/>
                          </a:rPr>
                          <m:t>𝑏</m:t>
                        </m:r>
                      </m:e>
                      <m:sub>
                        <m:r>
                          <a:rPr lang="en-US" sz="2000" i="1">
                            <a:latin typeface="Cambria Math" charset="0"/>
                            <a:ea typeface="Verdana" charset="0"/>
                            <a:cs typeface="Verdana" charset="0"/>
                          </a:rPr>
                          <m:t>1</m:t>
                        </m:r>
                      </m:sub>
                    </m:sSub>
                  </m:oMath>
                </a14:m>
                <a:r>
                  <a:rPr lang="en-US" sz="2000" dirty="0">
                    <a:latin typeface="Verdana" charset="0"/>
                    <a:ea typeface="Verdana" charset="0"/>
                    <a:cs typeface="Verdana" charset="0"/>
                  </a:rPr>
                  <a:t> and </a:t>
                </a:r>
                <a14:m>
                  <m:oMath xmlns:m="http://schemas.openxmlformats.org/officeDocument/2006/math">
                    <m:sSub>
                      <m:sSubPr>
                        <m:ctrlPr>
                          <a:rPr lang="en-US" sz="2000" i="1">
                            <a:latin typeface="Cambria Math" panose="02040503050406030204" pitchFamily="18" charset="0"/>
                            <a:ea typeface="Verdana" charset="0"/>
                            <a:cs typeface="Verdana" charset="0"/>
                          </a:rPr>
                        </m:ctrlPr>
                      </m:sSubPr>
                      <m:e>
                        <m:r>
                          <a:rPr lang="en-US" sz="2000" i="1">
                            <a:latin typeface="Cambria Math" charset="0"/>
                            <a:ea typeface="Verdana" charset="0"/>
                            <a:cs typeface="Verdana" charset="0"/>
                          </a:rPr>
                          <m:t>𝑏</m:t>
                        </m:r>
                      </m:e>
                      <m:sub>
                        <m:r>
                          <a:rPr lang="en-US" sz="2000" i="1">
                            <a:latin typeface="Cambria Math" charset="0"/>
                            <a:ea typeface="Verdana" charset="0"/>
                            <a:cs typeface="Verdana" charset="0"/>
                          </a:rPr>
                          <m:t>2</m:t>
                        </m:r>
                      </m:sub>
                    </m:sSub>
                  </m:oMath>
                </a14:m>
                <a:r>
                  <a:rPr lang="en-US" sz="2000" dirty="0">
                    <a:latin typeface="Verdana" charset="0"/>
                    <a:ea typeface="Verdana" charset="0"/>
                    <a:cs typeface="Verdana" charset="0"/>
                  </a:rPr>
                  <a:t> are the lengths of the bases and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 is the height of the trapezoid.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Stacey knows the area of the trapezoid shown is </a:t>
                </a:r>
                <a14:m>
                  <m:oMath xmlns:m="http://schemas.openxmlformats.org/officeDocument/2006/math">
                    <m:r>
                      <a:rPr lang="en-US" sz="2000" i="1">
                        <a:latin typeface="Cambria Math" charset="0"/>
                        <a:ea typeface="Verdana" charset="0"/>
                        <a:cs typeface="Verdana" charset="0"/>
                      </a:rPr>
                      <m:t>12.5</m:t>
                    </m:r>
                  </m:oMath>
                </a14:m>
                <a:r>
                  <a:rPr lang="en-US" sz="2000" dirty="0">
                    <a:latin typeface="Verdana" charset="0"/>
                    <a:ea typeface="Verdana" charset="0"/>
                    <a:cs typeface="Verdana" charset="0"/>
                  </a:rPr>
                  <a:t> square units, and uses the values given to determine the height,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 of the trapezoid. Her work is shown.</a:t>
                </a:r>
              </a:p>
            </p:txBody>
          </p:sp>
        </mc:Choice>
        <mc:Fallback xmlns="">
          <p:sp>
            <p:nvSpPr>
              <p:cNvPr id="14" name="TextBox 13">
                <a:extLst>
                  <a:ext uri="{FF2B5EF4-FFF2-40B4-BE49-F238E27FC236}">
                    <a16:creationId xmlns="" xmlns:a16="http://schemas.microsoft.com/office/drawing/2014/main"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45130" y="1216747"/>
                <a:ext cx="10985453" cy="1758045"/>
              </a:xfrm>
              <a:prstGeom prst="rect">
                <a:avLst/>
              </a:prstGeom>
              <a:blipFill rotWithShape="1">
                <a:blip r:embed="rId5"/>
                <a:stretch>
                  <a:fillRect l="-555" b="-5208"/>
                </a:stretch>
              </a:blipFill>
            </p:spPr>
            <p:txBody>
              <a:bodyPr/>
              <a:lstStyle/>
              <a:p>
                <a:r>
                  <a:rPr lang="en-US">
                    <a:noFill/>
                  </a:rPr>
                  <a:t> </a:t>
                </a:r>
              </a:p>
            </p:txBody>
          </p:sp>
        </mc:Fallback>
      </mc:AlternateContent>
      <p:sp>
        <p:nvSpPr>
          <p:cNvPr id="15"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62866"/>
            <a:ext cx="1095738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5.2.3 Guided Instruction: </a:t>
            </a:r>
            <a:br>
              <a:rPr lang="en-US" sz="3200" b="1" dirty="0">
                <a:solidFill>
                  <a:srgbClr val="54B5D1"/>
                </a:solidFill>
                <a:latin typeface="Verdana"/>
                <a:ea typeface="Verdana"/>
                <a:cs typeface="Verdana"/>
                <a:sym typeface="Verdana"/>
              </a:rPr>
            </a:br>
            <a:r>
              <a:rPr lang="en-US" sz="3200" b="1" dirty="0">
                <a:solidFill>
                  <a:srgbClr val="54B5D1"/>
                </a:solidFill>
                <a:latin typeface="Verdana"/>
                <a:ea typeface="Verdana"/>
                <a:cs typeface="Verdana"/>
                <a:sym typeface="Verdana"/>
              </a:rPr>
              <a:t>Rearranging Formulas</a:t>
            </a:r>
          </a:p>
        </p:txBody>
      </p:sp>
      <p:pic>
        <p:nvPicPr>
          <p:cNvPr id="16"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6">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07171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99216477"/>
                  </p:ext>
                </p:extLst>
              </p:nvPr>
            </p:nvGraphicFramePr>
            <p:xfrm>
              <a:off x="1093633" y="1156515"/>
              <a:ext cx="7129716" cy="4800600"/>
            </p:xfrm>
            <a:graphic>
              <a:graphicData uri="http://schemas.openxmlformats.org/drawingml/2006/table">
                <a:tbl>
                  <a:tblPr firstRow="1" firstCol="1" bandRow="1"/>
                  <a:tblGrid>
                    <a:gridCol w="2663931">
                      <a:extLst>
                        <a:ext uri="{9D8B030D-6E8A-4147-A177-3AD203B41FA5}">
                          <a16:colId xmlns:a16="http://schemas.microsoft.com/office/drawing/2014/main" val="20000"/>
                        </a:ext>
                      </a:extLst>
                    </a:gridCol>
                    <a:gridCol w="4465785">
                      <a:extLst>
                        <a:ext uri="{9D8B030D-6E8A-4147-A177-3AD203B41FA5}">
                          <a16:colId xmlns:a16="http://schemas.microsoft.com/office/drawing/2014/main" val="20001"/>
                        </a:ext>
                      </a:extLst>
                    </a:gridCol>
                  </a:tblGrid>
                  <a:tr h="685800">
                    <a:tc>
                      <a:txBody>
                        <a:bodyPr/>
                        <a:lstStyle/>
                        <a:p>
                          <a:pPr marL="0" marR="0" algn="ctr">
                            <a:lnSpc>
                              <a:spcPct val="115000"/>
                            </a:lnSpc>
                            <a:spcBef>
                              <a:spcPts val="0"/>
                            </a:spcBef>
                            <a:spcAft>
                              <a:spcPts val="0"/>
                            </a:spcAft>
                          </a:pPr>
                          <a:r>
                            <a:rPr lang="en-US" sz="2000" b="1" dirty="0">
                              <a:effectLst/>
                              <a:latin typeface="Verdana" charset="0"/>
                              <a:ea typeface="Verdana" charset="0"/>
                              <a:cs typeface="Verdana" charset="0"/>
                            </a:rPr>
                            <a:t>Stacey’s Work</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charset="0"/>
                              <a:ea typeface="Verdana" charset="0"/>
                              <a:cs typeface="Verdana" charset="0"/>
                            </a:rPr>
                            <a:t>Explanation of Steps</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85800">
                    <a:tc>
                      <a:txBody>
                        <a:bodyPr/>
                        <a:lstStyle/>
                        <a:p>
                          <a:pPr marL="0" marR="0" algn="ctr">
                            <a:lnSpc>
                              <a:spcPct val="115000"/>
                            </a:lnSpc>
                            <a:spcBef>
                              <a:spcPts val="0"/>
                            </a:spcBef>
                            <a:spcAft>
                              <a:spcPts val="0"/>
                            </a:spcAft>
                          </a:pPr>
                          <a14:m>
                            <m:oMath xmlns:m="http://schemas.openxmlformats.org/officeDocument/2006/math">
                              <m:r>
                                <a:rPr lang="en-US" sz="2000" i="1">
                                  <a:effectLst/>
                                  <a:latin typeface="Cambria Math" charset="0"/>
                                  <a:ea typeface="Verdana" charset="0"/>
                                  <a:cs typeface="Verdana" charset="0"/>
                                </a:rPr>
                                <m:t>𝐴</m:t>
                              </m:r>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d>
                                <m:dPr>
                                  <m:ctrlPr>
                                    <a:rPr lang="en-US" sz="2000" i="1">
                                      <a:effectLst/>
                                      <a:latin typeface="Cambria Math" panose="02040503050406030204" pitchFamily="18" charset="0"/>
                                      <a:ea typeface="Verdana" charset="0"/>
                                      <a:cs typeface="Verdana" charset="0"/>
                                    </a:rPr>
                                  </m:ctrlPr>
                                </m:dPr>
                                <m:e>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𝑏</m:t>
                                      </m:r>
                                    </m:e>
                                    <m:sub>
                                      <m:r>
                                        <a:rPr lang="en-US" sz="2000" i="1">
                                          <a:effectLst/>
                                          <a:latin typeface="Cambria Math" charset="0"/>
                                          <a:ea typeface="Verdana" charset="0"/>
                                          <a:cs typeface="Verdana" charset="0"/>
                                        </a:rPr>
                                        <m:t>1</m:t>
                                      </m:r>
                                    </m:sub>
                                  </m:sSub>
                                  <m:r>
                                    <a:rPr lang="en-US" sz="2000" i="1">
                                      <a:effectLst/>
                                      <a:latin typeface="Cambria Math" charset="0"/>
                                      <a:ea typeface="Verdana" charset="0"/>
                                      <a:cs typeface="Verdana" charset="0"/>
                                    </a:rPr>
                                    <m:t>+</m:t>
                                  </m:r>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𝑏</m:t>
                                      </m:r>
                                    </m:e>
                                    <m:sub>
                                      <m:r>
                                        <a:rPr lang="en-US" sz="2000" i="1">
                                          <a:effectLst/>
                                          <a:latin typeface="Cambria Math" charset="0"/>
                                          <a:ea typeface="Verdana" charset="0"/>
                                          <a:cs typeface="Verdana" charset="0"/>
                                        </a:rPr>
                                        <m:t>2</m:t>
                                      </m:r>
                                    </m:sub>
                                  </m:sSub>
                                </m:e>
                              </m:d>
                              <m:r>
                                <a:rPr lang="en-US" sz="2000" i="1">
                                  <a:effectLst/>
                                  <a:latin typeface="Cambria Math" charset="0"/>
                                  <a:ea typeface="Verdana" charset="0"/>
                                  <a:cs typeface="Verdana" charset="0"/>
                                </a:rPr>
                                <m:t>h</m:t>
                              </m:r>
                            </m:oMath>
                          </a14:m>
                          <a:r>
                            <a:rPr lang="en-US" sz="1400" dirty="0">
                              <a:effectLst/>
                              <a:latin typeface="Verdana" charset="0"/>
                              <a:ea typeface="Verdana" charset="0"/>
                              <a:cs typeface="Verdana"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Formula for area of a trapezoid</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marR="0" algn="ctr">
                            <a:lnSpc>
                              <a:spcPct val="115000"/>
                            </a:lnSpc>
                            <a:spcBef>
                              <a:spcPts val="0"/>
                            </a:spcBef>
                            <a:spcAft>
                              <a:spcPts val="0"/>
                            </a:spcAft>
                          </a:pPr>
                          <a14:m>
                            <m:oMath xmlns:m="http://schemas.openxmlformats.org/officeDocument/2006/math">
                              <m:r>
                                <a:rPr lang="en-US" sz="2000" i="1">
                                  <a:effectLst/>
                                  <a:latin typeface="Cambria Math" charset="0"/>
                                  <a:ea typeface="Verdana" charset="0"/>
                                  <a:cs typeface="Verdana" charset="0"/>
                                </a:rPr>
                                <m:t>12.5=</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4+6</m:t>
                                  </m:r>
                                </m:e>
                              </m:d>
                              <m:r>
                                <a:rPr lang="en-US" sz="2000" i="1">
                                  <a:effectLst/>
                                  <a:latin typeface="Cambria Math" charset="0"/>
                                  <a:ea typeface="Verdana" charset="0"/>
                                  <a:cs typeface="Verdana" charset="0"/>
                                </a:rPr>
                                <m:t>h</m:t>
                              </m:r>
                            </m:oMath>
                          </a14:m>
                          <a:r>
                            <a:rPr lang="en-US" sz="1400" dirty="0">
                              <a:effectLst/>
                              <a:latin typeface="Verdana" charset="0"/>
                              <a:ea typeface="Verdana" charset="0"/>
                              <a:cs typeface="Verdana"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Substitute known values</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25=</m:t>
                                </m:r>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4+6</m:t>
                                    </m:r>
                                  </m:e>
                                </m:d>
                                <m:r>
                                  <a:rPr lang="en-US" sz="2000" i="1">
                                    <a:effectLst/>
                                    <a:latin typeface="Cambria Math" charset="0"/>
                                    <a:ea typeface="Verdana" charset="0"/>
                                    <a:cs typeface="Verdana" charset="0"/>
                                  </a:rPr>
                                  <m:t>h</m:t>
                                </m:r>
                              </m:oMath>
                            </m:oMathPara>
                          </a14:m>
                          <a:endParaRPr lang="en-US" sz="140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marR="0" algn="ctr">
                            <a:lnSpc>
                              <a:spcPct val="115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25</m:t>
                                  </m:r>
                                </m:num>
                                <m:den>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4+6</m:t>
                                      </m:r>
                                    </m:e>
                                  </m:d>
                                </m:den>
                              </m:f>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h</m:t>
                              </m:r>
                            </m:oMath>
                          </a14:m>
                          <a:r>
                            <a:rPr lang="en-US" sz="1400" dirty="0">
                              <a:effectLst/>
                              <a:latin typeface="Verdana" charset="0"/>
                              <a:ea typeface="Verdana" charset="0"/>
                              <a:cs typeface="Verdana"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800">
                    <a:tc>
                      <a:txBody>
                        <a:bodyPr/>
                        <a:lstStyle/>
                        <a:p>
                          <a:pPr marL="0" marR="0" algn="ctr">
                            <a:lnSpc>
                              <a:spcPct val="115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25</m:t>
                                  </m:r>
                                </m:num>
                                <m:den>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10</m:t>
                                      </m:r>
                                    </m:e>
                                  </m:d>
                                </m:den>
                              </m:f>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h</m:t>
                              </m:r>
                            </m:oMath>
                          </a14:m>
                          <a:r>
                            <a:rPr lang="en-US" sz="1400" dirty="0">
                              <a:effectLst/>
                              <a:latin typeface="Verdana" charset="0"/>
                              <a:ea typeface="Verdana" charset="0"/>
                              <a:cs typeface="Verdana"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8580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2.5=</m:t>
                                </m:r>
                                <m:r>
                                  <a:rPr lang="en-US" sz="2000" i="1">
                                    <a:effectLst/>
                                    <a:latin typeface="Cambria Math" charset="0"/>
                                    <a:ea typeface="Verdana" charset="0"/>
                                    <a:cs typeface="Verdana" charset="0"/>
                                  </a:rPr>
                                  <m:t>h</m:t>
                                </m:r>
                              </m:oMath>
                            </m:oMathPara>
                          </a14:m>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199216477"/>
                  </p:ext>
                </p:extLst>
              </p:nvPr>
            </p:nvGraphicFramePr>
            <p:xfrm>
              <a:off x="1093633" y="1156515"/>
              <a:ext cx="7129716" cy="4800600"/>
            </p:xfrm>
            <a:graphic>
              <a:graphicData uri="http://schemas.openxmlformats.org/drawingml/2006/table">
                <a:tbl>
                  <a:tblPr firstRow="1" firstCol="1" bandRow="1"/>
                  <a:tblGrid>
                    <a:gridCol w="2663931">
                      <a:extLst>
                        <a:ext uri="{9D8B030D-6E8A-4147-A177-3AD203B41FA5}">
                          <a16:colId xmlns:a16="http://schemas.microsoft.com/office/drawing/2014/main" xmlns:a14="http://schemas.microsoft.com/office/drawing/2010/main" xmlns="" val="20000"/>
                        </a:ext>
                      </a:extLst>
                    </a:gridCol>
                    <a:gridCol w="4465785">
                      <a:extLst>
                        <a:ext uri="{9D8B030D-6E8A-4147-A177-3AD203B41FA5}">
                          <a16:colId xmlns:a16="http://schemas.microsoft.com/office/drawing/2014/main" xmlns:a14="http://schemas.microsoft.com/office/drawing/2010/main" xmlns="" val="20001"/>
                        </a:ext>
                      </a:extLst>
                    </a:gridCol>
                  </a:tblGrid>
                  <a:tr h="685800">
                    <a:tc>
                      <a:txBody>
                        <a:bodyPr/>
                        <a:lstStyle/>
                        <a:p>
                          <a:pPr marL="0" marR="0" algn="ctr">
                            <a:lnSpc>
                              <a:spcPct val="115000"/>
                            </a:lnSpc>
                            <a:spcBef>
                              <a:spcPts val="0"/>
                            </a:spcBef>
                            <a:spcAft>
                              <a:spcPts val="0"/>
                            </a:spcAft>
                          </a:pPr>
                          <a:r>
                            <a:rPr lang="en-US" sz="2000" b="1" dirty="0">
                              <a:effectLst/>
                              <a:latin typeface="Verdana" charset="0"/>
                              <a:ea typeface="Verdana" charset="0"/>
                              <a:cs typeface="Verdana" charset="0"/>
                            </a:rPr>
                            <a:t>Stacey’s Work</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charset="0"/>
                              <a:ea typeface="Verdana" charset="0"/>
                              <a:cs typeface="Verdana" charset="0"/>
                            </a:rPr>
                            <a:t>Explanation of Steps</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685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00000" r="-167735" b="-498230"/>
                          </a:stretch>
                        </a:blipFill>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Formula for area of a trapezoid</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685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01786" r="-167735" b="-402679"/>
                          </a:stretch>
                        </a:blipFill>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Substitute known values</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685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99115" r="-167735" b="-299115"/>
                          </a:stretch>
                        </a:blipFill>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685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402679" r="-167735" b="-201786"/>
                          </a:stretch>
                        </a:blipFill>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685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498230" r="-167735" b="-100000"/>
                          </a:stretch>
                        </a:blipFill>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r h="6858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603571" r="-167735" b="-893"/>
                          </a:stretch>
                        </a:blipFill>
                      </a:tcPr>
                    </a:tc>
                    <a:tc>
                      <a:txBody>
                        <a:bodyPr/>
                        <a:lstStyle/>
                        <a:p>
                          <a:pPr marL="0" marR="0" algn="ctr">
                            <a:lnSpc>
                              <a:spcPct val="115000"/>
                            </a:lnSpc>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6"/>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C8F82859-BA98-3646-BF3B-9E17E52A2E35}"/>
              </a:ext>
            </a:extLst>
          </p:cNvPr>
          <p:cNvSpPr txBox="1"/>
          <p:nvPr/>
        </p:nvSpPr>
        <p:spPr>
          <a:xfrm>
            <a:off x="511205" y="533066"/>
            <a:ext cx="10953207"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Complete the table to explain each step of Stacey’s work. </a:t>
            </a:r>
          </a:p>
        </p:txBody>
      </p:sp>
    </p:spTree>
    <p:extLst>
      <p:ext uri="{BB962C8B-B14F-4D97-AF65-F5344CB8AC3E}">
        <p14:creationId xmlns:p14="http://schemas.microsoft.com/office/powerpoint/2010/main" val="617168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F82859-BA98-3646-BF3B-9E17E52A2E35}"/>
                  </a:ext>
                </a:extLst>
              </p:cNvPr>
              <p:cNvSpPr txBox="1"/>
              <p:nvPr/>
            </p:nvSpPr>
            <p:spPr>
              <a:xfrm>
                <a:off x="511205" y="533066"/>
                <a:ext cx="10953207" cy="5759141"/>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Stacey wants to rearrange the area formula for a trapezoid to isolate the variable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 before replacing the values of the other variables.</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14400" indent="-455613">
                  <a:buFont typeface="+mj-lt"/>
                  <a:buAutoNum type="alphaLcPeriod"/>
                </a:pPr>
                <a:r>
                  <a:rPr lang="en-US" sz="2000" dirty="0">
                    <a:latin typeface="Verdana" charset="0"/>
                    <a:ea typeface="Verdana" charset="0"/>
                    <a:cs typeface="Verdana" charset="0"/>
                  </a:rPr>
                  <a:t>Use Stacey’s work on the previous problem to help solve the equation for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a:t>
                </a:r>
              </a:p>
              <a:p>
                <a:pPr marL="914400" indent="-455613">
                  <a:buFont typeface="+mj-lt"/>
                  <a:buAutoNum type="alphaLcPeriod"/>
                </a:pPr>
                <a:endParaRPr lang="en-US" sz="2000" dirty="0">
                  <a:latin typeface="Verdana" charset="0"/>
                  <a:ea typeface="Verdana" charset="0"/>
                  <a:cs typeface="Verdana" charset="0"/>
                </a:endParaRPr>
              </a:p>
              <a:p>
                <a:pPr marL="458787" algn="ctr"/>
                <a14:m>
                  <m:oMath xmlns:m="http://schemas.openxmlformats.org/officeDocument/2006/math">
                    <m:r>
                      <a:rPr lang="en-US" sz="2000" i="1">
                        <a:latin typeface="Cambria Math" charset="0"/>
                        <a:ea typeface="Verdana" charset="0"/>
                        <a:cs typeface="Verdana" charset="0"/>
                      </a:rPr>
                      <m:t>𝐴</m:t>
                    </m:r>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m:t>
                        </m:r>
                      </m:num>
                      <m:den>
                        <m:r>
                          <a:rPr lang="en-US" sz="2000" i="1">
                            <a:latin typeface="Cambria Math" charset="0"/>
                            <a:ea typeface="Verdana" charset="0"/>
                            <a:cs typeface="Verdana" charset="0"/>
                          </a:rPr>
                          <m:t>2</m:t>
                        </m:r>
                      </m:den>
                    </m:f>
                    <m:d>
                      <m:dPr>
                        <m:ctrlPr>
                          <a:rPr lang="en-US" sz="2000" i="1">
                            <a:latin typeface="Cambria Math" panose="02040503050406030204" pitchFamily="18" charset="0"/>
                            <a:ea typeface="Verdana" charset="0"/>
                            <a:cs typeface="Verdana" charset="0"/>
                          </a:rPr>
                        </m:ctrlPr>
                      </m:dPr>
                      <m:e>
                        <m:sSub>
                          <m:sSubPr>
                            <m:ctrlPr>
                              <a:rPr lang="en-US" sz="2000" i="1">
                                <a:latin typeface="Cambria Math" panose="02040503050406030204" pitchFamily="18" charset="0"/>
                                <a:ea typeface="Verdana" charset="0"/>
                                <a:cs typeface="Verdana" charset="0"/>
                              </a:rPr>
                            </m:ctrlPr>
                          </m:sSubPr>
                          <m:e>
                            <m:r>
                              <a:rPr lang="en-US" sz="2000" i="1">
                                <a:latin typeface="Cambria Math" charset="0"/>
                                <a:ea typeface="Verdana" charset="0"/>
                                <a:cs typeface="Verdana" charset="0"/>
                              </a:rPr>
                              <m:t>𝑏</m:t>
                            </m:r>
                          </m:e>
                          <m:sub>
                            <m:r>
                              <a:rPr lang="en-US" sz="2000" i="1">
                                <a:latin typeface="Cambria Math" charset="0"/>
                                <a:ea typeface="Verdana" charset="0"/>
                                <a:cs typeface="Verdana" charset="0"/>
                              </a:rPr>
                              <m:t>1</m:t>
                            </m:r>
                          </m:sub>
                        </m:sSub>
                        <m:r>
                          <a:rPr lang="en-US" sz="2000" i="1">
                            <a:latin typeface="Cambria Math" charset="0"/>
                            <a:ea typeface="Verdana" charset="0"/>
                            <a:cs typeface="Verdana" charset="0"/>
                          </a:rPr>
                          <m:t>+</m:t>
                        </m:r>
                        <m:sSub>
                          <m:sSubPr>
                            <m:ctrlPr>
                              <a:rPr lang="en-US" sz="2000" i="1">
                                <a:latin typeface="Cambria Math" panose="02040503050406030204" pitchFamily="18" charset="0"/>
                                <a:ea typeface="Verdana" charset="0"/>
                                <a:cs typeface="Verdana" charset="0"/>
                              </a:rPr>
                            </m:ctrlPr>
                          </m:sSubPr>
                          <m:e>
                            <m:r>
                              <a:rPr lang="en-US" sz="2000" i="1">
                                <a:latin typeface="Cambria Math" charset="0"/>
                                <a:ea typeface="Verdana" charset="0"/>
                                <a:cs typeface="Verdana" charset="0"/>
                              </a:rPr>
                              <m:t>𝑏</m:t>
                            </m:r>
                          </m:e>
                          <m:sub>
                            <m:r>
                              <a:rPr lang="en-US" sz="2000" i="1">
                                <a:latin typeface="Cambria Math" charset="0"/>
                                <a:ea typeface="Verdana" charset="0"/>
                                <a:cs typeface="Verdana" charset="0"/>
                              </a:rPr>
                              <m:t>2</m:t>
                            </m:r>
                          </m:sub>
                        </m:sSub>
                      </m:e>
                    </m:d>
                    <m:r>
                      <a:rPr lang="en-US" sz="2000" i="1">
                        <a:latin typeface="Cambria Math" charset="0"/>
                        <a:ea typeface="Verdana" charset="0"/>
                        <a:cs typeface="Verdana" charset="0"/>
                      </a:rPr>
                      <m:t>h</m:t>
                    </m:r>
                  </m:oMath>
                </a14:m>
                <a:r>
                  <a:rPr lang="en-US" sz="2000" dirty="0">
                    <a:latin typeface="Verdana" charset="0"/>
                    <a:ea typeface="Verdana" charset="0"/>
                    <a:cs typeface="Verdana" charset="0"/>
                  </a:rPr>
                  <a:t> </a:t>
                </a:r>
              </a:p>
              <a:p>
                <a:pPr marL="914400" indent="-455613">
                  <a:buFont typeface="+mj-lt"/>
                  <a:buAutoNum type="alphaLcPeriod"/>
                </a:pPr>
                <a:endParaRPr lang="en-US" sz="2000" dirty="0">
                  <a:latin typeface="Verdana" charset="0"/>
                  <a:ea typeface="Verdana" charset="0"/>
                  <a:cs typeface="Verdana" charset="0"/>
                </a:endParaRPr>
              </a:p>
              <a:p>
                <a:pPr marL="914400" indent="-455613">
                  <a:buFont typeface="+mj-lt"/>
                  <a:buAutoNum type="alphaLcPeriod"/>
                </a:pPr>
                <a:endParaRPr lang="en-US" sz="2000" dirty="0">
                  <a:latin typeface="Verdana" charset="0"/>
                  <a:ea typeface="Verdana" charset="0"/>
                  <a:cs typeface="Verdana" charset="0"/>
                </a:endParaRPr>
              </a:p>
              <a:p>
                <a:pPr marL="914400" indent="-455613">
                  <a:buFont typeface="+mj-lt"/>
                  <a:buAutoNum type="alphaLcPeriod"/>
                </a:pPr>
                <a:endParaRPr lang="en-US" sz="2000" dirty="0">
                  <a:latin typeface="Verdana" charset="0"/>
                  <a:ea typeface="Verdana" charset="0"/>
                  <a:cs typeface="Verdana" charset="0"/>
                </a:endParaRPr>
              </a:p>
              <a:p>
                <a:pPr marL="915987" indent="-457200">
                  <a:buFont typeface="+mj-lt"/>
                  <a:buAutoNum type="alphaLcPeriod" startAt="2"/>
                </a:pPr>
                <a:r>
                  <a:rPr lang="en-US" sz="2000" dirty="0">
                    <a:latin typeface="Verdana" charset="0"/>
                    <a:ea typeface="Verdana" charset="0"/>
                    <a:cs typeface="Verdana" charset="0"/>
                  </a:rPr>
                  <a:t>Check your work by substituting the values from the previous question. </a:t>
                </a:r>
                <a:br>
                  <a:rPr lang="en-US" sz="2000" dirty="0">
                    <a:latin typeface="Verdana" charset="0"/>
                    <a:ea typeface="Verdana" charset="0"/>
                    <a:cs typeface="Verdana" charset="0"/>
                  </a:rPr>
                </a:br>
                <a:r>
                  <a:rPr lang="en-US" sz="2000" dirty="0">
                    <a:latin typeface="Verdana" charset="0"/>
                    <a:ea typeface="Verdana" charset="0"/>
                    <a:cs typeface="Verdana" charset="0"/>
                  </a:rPr>
                  <a:t>If correct, </a:t>
                </a:r>
                <a14:m>
                  <m:oMath xmlns:m="http://schemas.openxmlformats.org/officeDocument/2006/math">
                    <m:r>
                      <a:rPr lang="en-US" sz="2000" i="1">
                        <a:latin typeface="Cambria Math" charset="0"/>
                        <a:ea typeface="Verdana" charset="0"/>
                        <a:cs typeface="Verdana" charset="0"/>
                      </a:rPr>
                      <m:t>h</m:t>
                    </m:r>
                    <m:r>
                      <a:rPr lang="en-US" sz="2000" i="1">
                        <a:latin typeface="Cambria Math" charset="0"/>
                        <a:ea typeface="Verdana" charset="0"/>
                        <a:cs typeface="Verdana" charset="0"/>
                      </a:rPr>
                      <m:t>=2.5</m:t>
                    </m:r>
                  </m:oMath>
                </a14:m>
                <a:r>
                  <a:rPr lang="en-US" sz="2000" dirty="0">
                    <a:latin typeface="Verdana" charset="0"/>
                    <a:ea typeface="Verdana" charset="0"/>
                    <a:cs typeface="Verdana" charset="0"/>
                  </a:rPr>
                  <a:t>.</a:t>
                </a:r>
              </a:p>
            </p:txBody>
          </p:sp>
        </mc:Choice>
        <mc:Fallback xmlns="">
          <p:sp>
            <p:nvSpPr>
              <p:cNvPr id="10" name="TextBox 9">
                <a:extLst>
                  <a:ext uri="{FF2B5EF4-FFF2-40B4-BE49-F238E27FC236}">
                    <a16:creationId xmlns:a14="http://schemas.microsoft.com/office/drawing/2010/main" xmlns=""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5759141"/>
              </a:xfrm>
              <a:prstGeom prst="rect">
                <a:avLst/>
              </a:prstGeom>
              <a:blipFill rotWithShape="1">
                <a:blip r:embed="rId3"/>
                <a:stretch>
                  <a:fillRect l="-612" t="-635" b="-847"/>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192517" y="1295683"/>
            <a:ext cx="5334000" cy="2286000"/>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84052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814973645"/>
              </p:ext>
            </p:extLst>
          </p:nvPr>
        </p:nvGraphicFramePr>
        <p:xfrm>
          <a:off x="1539224" y="1465121"/>
          <a:ext cx="9144000" cy="2286000"/>
        </p:xfrm>
        <a:graphic>
          <a:graphicData uri="http://schemas.openxmlformats.org/drawingml/2006/table">
            <a:tbl>
              <a:tblPr firstRow="1" firstCol="1" bandRow="1"/>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57200">
                <a:tc>
                  <a:txBody>
                    <a:bodyPr/>
                    <a:lstStyle/>
                    <a:p>
                      <a:pPr marL="0" marR="0" algn="ctr">
                        <a:spcBef>
                          <a:spcPts val="0"/>
                        </a:spcBef>
                        <a:spcAft>
                          <a:spcPts val="0"/>
                        </a:spcAft>
                      </a:pPr>
                      <a:r>
                        <a:rPr lang="en-US" sz="2000" b="1" dirty="0">
                          <a:solidFill>
                            <a:srgbClr val="000000"/>
                          </a:solidFill>
                          <a:effectLst/>
                          <a:latin typeface="Verdana" charset="0"/>
                          <a:ea typeface="Times New Roman" charset="0"/>
                          <a:cs typeface="Arial" charset="0"/>
                        </a:rPr>
                        <a:t>Similarities</a:t>
                      </a:r>
                      <a:endParaRPr lang="en-US" sz="1400" dirty="0">
                        <a:effectLst/>
                        <a:latin typeface="Calibri" charset="0"/>
                        <a:ea typeface="Times New Roman"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charset="0"/>
                          <a:ea typeface="Times New Roman" charset="0"/>
                          <a:cs typeface="Arial" charset="0"/>
                        </a:rPr>
                        <a:t>Differences</a:t>
                      </a:r>
                      <a:endParaRPr lang="en-US" sz="1400" dirty="0">
                        <a:effectLst/>
                        <a:latin typeface="Calibri" charset="0"/>
                        <a:ea typeface="Times New Roman" charset="0"/>
                        <a:cs typeface="Times New Roman"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828800">
                <a:tc>
                  <a:txBody>
                    <a:bodyPr/>
                    <a:lstStyle/>
                    <a:p>
                      <a:pPr marL="0" marR="0">
                        <a:spcBef>
                          <a:spcPts val="0"/>
                        </a:spcBef>
                        <a:spcAft>
                          <a:spcPts val="0"/>
                        </a:spcAft>
                      </a:pPr>
                      <a:endParaRPr lang="en-US" sz="1400" dirty="0">
                        <a:effectLst/>
                        <a:latin typeface="Calibri" charset="0"/>
                        <a:ea typeface="Times New Roman" charset="0"/>
                        <a:cs typeface="Times New Roman"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US" sz="1400" dirty="0">
                        <a:effectLst/>
                        <a:latin typeface="Calibri" charset="0"/>
                        <a:ea typeface="Times New Roman" charset="0"/>
                        <a:cs typeface="Times New Roman"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8F82859-BA98-3646-BF3B-9E17E52A2E35}"/>
                  </a:ext>
                </a:extLst>
              </p:cNvPr>
              <p:cNvSpPr txBox="1"/>
              <p:nvPr/>
            </p:nvSpPr>
            <p:spPr>
              <a:xfrm>
                <a:off x="511205" y="533066"/>
                <a:ext cx="10953207" cy="707886"/>
              </a:xfrm>
              <a:prstGeom prst="rect">
                <a:avLst/>
              </a:prstGeom>
              <a:noFill/>
            </p:spPr>
            <p:txBody>
              <a:bodyPr wrap="square" rtlCol="0">
                <a:spAutoFit/>
              </a:bodyPr>
              <a:lstStyle/>
              <a:p>
                <a:pPr marL="914400" lvl="1" indent="-457200">
                  <a:buFont typeface="+mj-lt"/>
                  <a:buAutoNum type="alphaLcPeriod" startAt="3"/>
                </a:pPr>
                <a:r>
                  <a:rPr lang="en-US" sz="2000" dirty="0">
                    <a:latin typeface="Verdana" charset="0"/>
                    <a:ea typeface="Verdana" charset="0"/>
                    <a:cs typeface="Verdana" charset="0"/>
                  </a:rPr>
                  <a:t>Explain the similarities and differences between rearranging the formula to isolate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 and Stacey’s work to find the value of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a:t>
                </a:r>
                <a:endParaRPr lang="en-US" dirty="0">
                  <a:latin typeface="Verdana" charset="0"/>
                  <a:ea typeface="Verdana" charset="0"/>
                  <a:cs typeface="Verdana" charset="0"/>
                </a:endParaRPr>
              </a:p>
            </p:txBody>
          </p:sp>
        </mc:Choice>
        <mc:Fallback xmlns="">
          <p:sp>
            <p:nvSpPr>
              <p:cNvPr id="9" name="TextBox 8">
                <a:extLst>
                  <a:ext uri="{FF2B5EF4-FFF2-40B4-BE49-F238E27FC236}">
                    <a16:creationId xmlns:a14="http://schemas.microsoft.com/office/drawing/2010/main" xmlns=""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707886"/>
              </a:xfrm>
              <a:prstGeom prst="rect">
                <a:avLst/>
              </a:prstGeom>
              <a:blipFill rotWithShape="1">
                <a:blip r:embed="rId4"/>
                <a:stretch>
                  <a:fillRect t="-5128" b="-13675"/>
                </a:stretch>
              </a:blipFill>
            </p:spPr>
            <p:txBody>
              <a:bodyPr/>
              <a:lstStyle/>
              <a:p>
                <a:r>
                  <a:rPr lang="en-US">
                    <a:noFill/>
                  </a:rPr>
                  <a:t> </a:t>
                </a:r>
              </a:p>
            </p:txBody>
          </p:sp>
        </mc:Fallback>
      </mc:AlternateContent>
    </p:spTree>
    <p:extLst>
      <p:ext uri="{BB962C8B-B14F-4D97-AF65-F5344CB8AC3E}">
        <p14:creationId xmlns:p14="http://schemas.microsoft.com/office/powerpoint/2010/main" val="1040927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8F82859-BA98-3646-BF3B-9E17E52A2E35}"/>
                  </a:ext>
                </a:extLst>
              </p:cNvPr>
              <p:cNvSpPr txBox="1"/>
              <p:nvPr/>
            </p:nvSpPr>
            <p:spPr>
              <a:xfrm>
                <a:off x="511206" y="533066"/>
                <a:ext cx="10737820" cy="5632311"/>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The formula for the total surface area of a cylinder, </a:t>
                </a:r>
                <a14:m>
                  <m:oMath xmlns:m="http://schemas.openxmlformats.org/officeDocument/2006/math">
                    <m:r>
                      <a:rPr lang="en-US" sz="2000" i="1">
                        <a:latin typeface="Cambria Math" charset="0"/>
                        <a:ea typeface="Verdana" charset="0"/>
                        <a:cs typeface="Verdana" charset="0"/>
                      </a:rPr>
                      <m:t>𝑆</m:t>
                    </m:r>
                  </m:oMath>
                </a14:m>
                <a:r>
                  <a:rPr lang="en-US" sz="2000" dirty="0">
                    <a:latin typeface="Verdana" charset="0"/>
                    <a:ea typeface="Verdana" charset="0"/>
                    <a:cs typeface="Verdana" charset="0"/>
                  </a:rPr>
                  <a:t>, is </a:t>
                </a:r>
                <a14:m>
                  <m:oMath xmlns:m="http://schemas.openxmlformats.org/officeDocument/2006/math">
                    <m:r>
                      <a:rPr lang="en-US" sz="2000" i="1">
                        <a:latin typeface="Cambria Math" charset="0"/>
                        <a:ea typeface="Verdana" charset="0"/>
                        <a:cs typeface="Verdana" charset="0"/>
                      </a:rPr>
                      <m:t>𝑆</m:t>
                    </m:r>
                    <m:r>
                      <a:rPr lang="en-US" sz="2000" i="1">
                        <a:latin typeface="Cambria Math" charset="0"/>
                        <a:ea typeface="Verdana" charset="0"/>
                        <a:cs typeface="Verdana" charset="0"/>
                      </a:rPr>
                      <m:t>=2</m:t>
                    </m:r>
                    <m:r>
                      <a:rPr lang="en-US" sz="2000" i="1">
                        <a:latin typeface="Cambria Math" charset="0"/>
                        <a:ea typeface="Verdana" charset="0"/>
                        <a:cs typeface="Verdana" charset="0"/>
                      </a:rPr>
                      <m:t>𝐵</m:t>
                    </m:r>
                    <m:r>
                      <a:rPr lang="en-US" sz="2000" i="1">
                        <a:latin typeface="Cambria Math" charset="0"/>
                        <a:ea typeface="Verdana" charset="0"/>
                        <a:cs typeface="Verdana" charset="0"/>
                      </a:rPr>
                      <m:t>+</m:t>
                    </m:r>
                    <m:r>
                      <a:rPr lang="en-US" sz="2000" i="1">
                        <a:latin typeface="Cambria Math" charset="0"/>
                        <a:ea typeface="Verdana" charset="0"/>
                        <a:cs typeface="Verdana" charset="0"/>
                      </a:rPr>
                      <m:t>𝑃h</m:t>
                    </m:r>
                  </m:oMath>
                </a14:m>
                <a:r>
                  <a:rPr lang="en-US" sz="2000" dirty="0">
                    <a:latin typeface="Verdana" charset="0"/>
                    <a:ea typeface="Verdana" charset="0"/>
                    <a:cs typeface="Verdana" charset="0"/>
                  </a:rPr>
                  <a:t>, where </a:t>
                </a:r>
                <a14:m>
                  <m:oMath xmlns:m="http://schemas.openxmlformats.org/officeDocument/2006/math">
                    <m:r>
                      <a:rPr lang="en-US" sz="2000" i="1">
                        <a:latin typeface="Cambria Math" charset="0"/>
                        <a:ea typeface="Verdana" charset="0"/>
                        <a:cs typeface="Verdana" charset="0"/>
                      </a:rPr>
                      <m:t>𝐵</m:t>
                    </m:r>
                  </m:oMath>
                </a14:m>
                <a:r>
                  <a:rPr lang="en-US" sz="2000" dirty="0">
                    <a:latin typeface="Verdana" charset="0"/>
                    <a:ea typeface="Verdana" charset="0"/>
                    <a:cs typeface="Verdana" charset="0"/>
                  </a:rPr>
                  <a:t> is the area of the base, </a:t>
                </a:r>
                <a14:m>
                  <m:oMath xmlns:m="http://schemas.openxmlformats.org/officeDocument/2006/math">
                    <m:r>
                      <a:rPr lang="en-US" sz="2000" i="1">
                        <a:latin typeface="Cambria Math" charset="0"/>
                        <a:ea typeface="Verdana" charset="0"/>
                        <a:cs typeface="Verdana" charset="0"/>
                      </a:rPr>
                      <m:t>𝑃</m:t>
                    </m:r>
                  </m:oMath>
                </a14:m>
                <a:r>
                  <a:rPr lang="en-US" sz="2000" dirty="0">
                    <a:latin typeface="Verdana" charset="0"/>
                    <a:ea typeface="Verdana" charset="0"/>
                    <a:cs typeface="Verdana" charset="0"/>
                  </a:rPr>
                  <a:t> is the perimeter of the base, and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 is the height of the cylinder.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marL="469900"/>
                <a:r>
                  <a:rPr lang="en-US" sz="2000" dirty="0">
                    <a:latin typeface="Verdana" charset="0"/>
                    <a:ea typeface="Verdana" charset="0"/>
                    <a:cs typeface="Verdana" charset="0"/>
                  </a:rPr>
                  <a:t>Rearrange the formula for the surface area of a cylinder to isolate the </a:t>
                </a:r>
                <a:br>
                  <a:rPr lang="en-US" sz="2000" dirty="0">
                    <a:latin typeface="Verdana" charset="0"/>
                    <a:ea typeface="Verdana" charset="0"/>
                    <a:cs typeface="Verdana" charset="0"/>
                  </a:rPr>
                </a:br>
                <a:r>
                  <a:rPr lang="en-US" sz="2000" dirty="0">
                    <a:latin typeface="Verdana" charset="0"/>
                    <a:ea typeface="Verdana" charset="0"/>
                    <a:cs typeface="Verdana" charset="0"/>
                  </a:rPr>
                  <a:t>variable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a:t>
                </a:r>
              </a:p>
              <a:p>
                <a:pPr marL="469900"/>
                <a:endParaRPr lang="en-PH" sz="2000" dirty="0">
                  <a:latin typeface="Verdana" charset="0"/>
                  <a:ea typeface="Verdana" charset="0"/>
                  <a:cs typeface="Verdana" charset="0"/>
                </a:endParaRPr>
              </a:p>
              <a:p>
                <a:pPr marL="469900"/>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𝑆</m:t>
                      </m:r>
                      <m:r>
                        <a:rPr lang="en-US" sz="2000">
                          <a:latin typeface="Cambria Math" charset="0"/>
                          <a:ea typeface="Verdana" charset="0"/>
                          <a:cs typeface="Verdana" charset="0"/>
                        </a:rPr>
                        <m:t>=2</m:t>
                      </m:r>
                      <m:r>
                        <a:rPr lang="en-US" sz="2000" i="1">
                          <a:latin typeface="Cambria Math" charset="0"/>
                          <a:ea typeface="Verdana" charset="0"/>
                          <a:cs typeface="Verdana" charset="0"/>
                        </a:rPr>
                        <m:t>𝐵</m:t>
                      </m:r>
                      <m:r>
                        <a:rPr lang="en-US" sz="2000">
                          <a:latin typeface="Cambria Math" charset="0"/>
                          <a:ea typeface="Verdana" charset="0"/>
                          <a:cs typeface="Verdana" charset="0"/>
                        </a:rPr>
                        <m:t>+</m:t>
                      </m:r>
                      <m:r>
                        <a:rPr lang="en-US" sz="2000" i="1">
                          <a:latin typeface="Cambria Math" charset="0"/>
                          <a:ea typeface="Verdana" charset="0"/>
                          <a:cs typeface="Verdana" charset="0"/>
                        </a:rPr>
                        <m:t>𝑃h</m:t>
                      </m:r>
                    </m:oMath>
                  </m:oMathPara>
                </a14:m>
                <a:endParaRPr lang="en-US" sz="2000" dirty="0">
                  <a:latin typeface="Verdana" charset="0"/>
                  <a:ea typeface="Verdana" charset="0"/>
                  <a:cs typeface="Verdana" charset="0"/>
                </a:endParaRPr>
              </a:p>
            </p:txBody>
          </p:sp>
        </mc:Choice>
        <mc:Fallback xmlns="">
          <p:sp>
            <p:nvSpPr>
              <p:cNvPr id="11" name="TextBox 10">
                <a:extLst>
                  <a:ext uri="{FF2B5EF4-FFF2-40B4-BE49-F238E27FC236}">
                    <a16:creationId xmlns:a14="http://schemas.microsoft.com/office/drawing/2010/main" xmlns=""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511206" y="533066"/>
                <a:ext cx="10737820" cy="5632311"/>
              </a:xfrm>
              <a:prstGeom prst="rect">
                <a:avLst/>
              </a:prstGeom>
              <a:blipFill rotWithShape="1">
                <a:blip r:embed="rId3"/>
                <a:stretch>
                  <a:fillRect l="-625" t="-649"/>
                </a:stretch>
              </a:blipFill>
            </p:spPr>
            <p:txBody>
              <a:bodyPr/>
              <a:lstStyle/>
              <a:p>
                <a:r>
                  <a:rPr lang="en-US">
                    <a:noFill/>
                  </a:rPr>
                  <a:t> </a:t>
                </a:r>
              </a:p>
            </p:txBody>
          </p:sp>
        </mc:Fallback>
      </mc:AlternateContent>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254258" y="1661835"/>
            <a:ext cx="3467100" cy="2870200"/>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869138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9669" y="-810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2"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428;g103996e1364_0_428">
            <a:extLst>
              <a:ext uri="{FF2B5EF4-FFF2-40B4-BE49-F238E27FC236}">
                <a16:creationId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5.2.4 Your Turn!</a:t>
            </a:r>
          </a:p>
        </p:txBody>
      </p:sp>
      <p:pic>
        <p:nvPicPr>
          <p:cNvPr id="14"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759C3E41-93EC-B84D-963F-86A3B15AC1C6}"/>
                  </a:ext>
                </a:extLst>
              </p:cNvPr>
              <p:cNvSpPr txBox="1"/>
              <p:nvPr/>
            </p:nvSpPr>
            <p:spPr>
              <a:xfrm>
                <a:off x="730266" y="1408886"/>
                <a:ext cx="10800318" cy="4530599"/>
              </a:xfrm>
              <a:prstGeom prst="rect">
                <a:avLst/>
              </a:prstGeom>
              <a:noFill/>
            </p:spPr>
            <p:txBody>
              <a:bodyPr wrap="square" rtlCol="0">
                <a:spAutoFit/>
              </a:bodyPr>
              <a:lstStyle/>
              <a:p>
                <a:r>
                  <a:rPr lang="en-US" sz="2000" dirty="0">
                    <a:latin typeface="Verdana" charset="0"/>
                    <a:ea typeface="Verdana" charset="0"/>
                    <a:cs typeface="Verdana" charset="0"/>
                  </a:rPr>
                  <a:t>Rearrange the formulas to isolate the specified variables.</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The formula for force, </a:t>
                </a:r>
                <a14:m>
                  <m:oMath xmlns:m="http://schemas.openxmlformats.org/officeDocument/2006/math">
                    <m:r>
                      <a:rPr lang="en-US" sz="2000" i="1">
                        <a:latin typeface="Cambria Math" charset="0"/>
                        <a:ea typeface="Verdana" charset="0"/>
                        <a:cs typeface="Verdana" charset="0"/>
                      </a:rPr>
                      <m:t>𝐹</m:t>
                    </m:r>
                  </m:oMath>
                </a14:m>
                <a:r>
                  <a:rPr lang="en-US" sz="2000" dirty="0">
                    <a:latin typeface="Verdana" charset="0"/>
                    <a:ea typeface="Verdana" charset="0"/>
                    <a:cs typeface="Verdana" charset="0"/>
                  </a:rPr>
                  <a:t>, is mass, </a:t>
                </a:r>
                <a14:m>
                  <m:oMath xmlns:m="http://schemas.openxmlformats.org/officeDocument/2006/math">
                    <m:r>
                      <a:rPr lang="en-US" sz="2000" i="1">
                        <a:latin typeface="Cambria Math" charset="0"/>
                        <a:ea typeface="Verdana" charset="0"/>
                        <a:cs typeface="Verdana" charset="0"/>
                      </a:rPr>
                      <m:t>𝑚</m:t>
                    </m:r>
                  </m:oMath>
                </a14:m>
                <a:r>
                  <a:rPr lang="en-US" sz="2000" dirty="0">
                    <a:latin typeface="Verdana" charset="0"/>
                    <a:ea typeface="Verdana" charset="0"/>
                    <a:cs typeface="Verdana" charset="0"/>
                  </a:rPr>
                  <a:t>, times acceleration, </a:t>
                </a:r>
                <a14:m>
                  <m:oMath xmlns:m="http://schemas.openxmlformats.org/officeDocument/2006/math">
                    <m:r>
                      <a:rPr lang="en-US" sz="2000" i="1">
                        <a:latin typeface="Cambria Math" charset="0"/>
                        <a:ea typeface="Verdana" charset="0"/>
                        <a:cs typeface="Verdana" charset="0"/>
                      </a:rPr>
                      <m:t>𝑎</m:t>
                    </m:r>
                  </m:oMath>
                </a14:m>
                <a:r>
                  <a:rPr lang="en-US" sz="2000" dirty="0">
                    <a:latin typeface="Verdana" charset="0"/>
                    <a:ea typeface="Verdana" charset="0"/>
                    <a:cs typeface="Verdana" charset="0"/>
                  </a:rPr>
                  <a:t>, or </a:t>
                </a:r>
                <a14:m>
                  <m:oMath xmlns:m="http://schemas.openxmlformats.org/officeDocument/2006/math">
                    <m:r>
                      <a:rPr lang="en-US" sz="2000" i="1">
                        <a:latin typeface="Cambria Math" charset="0"/>
                        <a:ea typeface="Verdana" charset="0"/>
                        <a:cs typeface="Verdana" charset="0"/>
                      </a:rPr>
                      <m:t>𝐹</m:t>
                    </m:r>
                    <m:r>
                      <a:rPr lang="en-US" sz="2000" i="1">
                        <a:latin typeface="Cambria Math" charset="0"/>
                        <a:ea typeface="Verdana" charset="0"/>
                        <a:cs typeface="Verdana" charset="0"/>
                      </a:rPr>
                      <m:t>=</m:t>
                    </m:r>
                    <m:r>
                      <a:rPr lang="en-US" sz="2000" i="1">
                        <a:latin typeface="Cambria Math" charset="0"/>
                        <a:ea typeface="Verdana" charset="0"/>
                        <a:cs typeface="Verdana" charset="0"/>
                      </a:rPr>
                      <m:t>𝑚𝑎</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Solve for mass, </a:t>
                </a:r>
                <a14:m>
                  <m:oMath xmlns:m="http://schemas.openxmlformats.org/officeDocument/2006/math">
                    <m:r>
                      <a:rPr lang="en-US" sz="2000" i="1">
                        <a:latin typeface="Cambria Math" charset="0"/>
                        <a:ea typeface="Verdana" charset="0"/>
                        <a:cs typeface="Verdana" charset="0"/>
                      </a:rPr>
                      <m:t>𝑚</m:t>
                    </m:r>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The formula </a:t>
                </a:r>
                <a14:m>
                  <m:oMath xmlns:m="http://schemas.openxmlformats.org/officeDocument/2006/math">
                    <m:r>
                      <a:rPr lang="en-US" sz="2000" i="1">
                        <a:latin typeface="Cambria Math" charset="0"/>
                        <a:ea typeface="Verdana" charset="0"/>
                        <a:cs typeface="Verdana" charset="0"/>
                      </a:rPr>
                      <m:t>𝐶</m:t>
                    </m:r>
                    <m:r>
                      <a:rPr lang="en-US" sz="2000" i="1">
                        <a:latin typeface="Cambria Math" charset="0"/>
                        <a:ea typeface="Verdana" charset="0"/>
                        <a:cs typeface="Verdana" charset="0"/>
                      </a:rPr>
                      <m:t>=2</m:t>
                    </m:r>
                    <m:r>
                      <a:rPr lang="en-US" sz="2000" i="1">
                        <a:latin typeface="Cambria Math" charset="0"/>
                        <a:ea typeface="Verdana" charset="0"/>
                        <a:cs typeface="Verdana" charset="0"/>
                      </a:rPr>
                      <m:t>𝜋</m:t>
                    </m:r>
                    <m:r>
                      <a:rPr lang="en-US" sz="2000" i="1">
                        <a:latin typeface="Cambria Math" charset="0"/>
                        <a:ea typeface="Verdana" charset="0"/>
                        <a:cs typeface="Verdana" charset="0"/>
                      </a:rPr>
                      <m:t>𝑟</m:t>
                    </m:r>
                  </m:oMath>
                </a14:m>
                <a:r>
                  <a:rPr lang="en-US" sz="2000" dirty="0">
                    <a:latin typeface="Verdana" charset="0"/>
                    <a:ea typeface="Verdana" charset="0"/>
                    <a:cs typeface="Verdana" charset="0"/>
                  </a:rPr>
                  <a:t> is used to find the circumference,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of a circle with </a:t>
                </a:r>
                <a:br>
                  <a:rPr lang="en-US" sz="2000" dirty="0">
                    <a:latin typeface="Verdana" charset="0"/>
                    <a:ea typeface="Verdana" charset="0"/>
                    <a:cs typeface="Verdana" charset="0"/>
                  </a:rPr>
                </a:br>
                <a:r>
                  <a:rPr lang="en-US" sz="2000" dirty="0">
                    <a:latin typeface="Verdana" charset="0"/>
                    <a:ea typeface="Verdana" charset="0"/>
                    <a:cs typeface="Verdana" charset="0"/>
                  </a:rPr>
                  <a:t>radius </a:t>
                </a:r>
                <a14:m>
                  <m:oMath xmlns:m="http://schemas.openxmlformats.org/officeDocument/2006/math">
                    <m:r>
                      <a:rPr lang="en-US" sz="2000" i="1">
                        <a:latin typeface="Cambria Math" charset="0"/>
                        <a:ea typeface="Verdana" charset="0"/>
                        <a:cs typeface="Verdana" charset="0"/>
                      </a:rPr>
                      <m:t>𝑟</m:t>
                    </m:r>
                  </m:oMath>
                </a14:m>
                <a:r>
                  <a:rPr lang="en-US" sz="2000" dirty="0">
                    <a:latin typeface="Verdana" charset="0"/>
                    <a:ea typeface="Verdana" charset="0"/>
                    <a:cs typeface="Verdana" charset="0"/>
                  </a:rPr>
                  <a:t>. Solve the equation for the radius, </a:t>
                </a:r>
                <a14:m>
                  <m:oMath xmlns:m="http://schemas.openxmlformats.org/officeDocument/2006/math">
                    <m:r>
                      <a:rPr lang="en-US" sz="2000" i="1">
                        <a:latin typeface="Cambria Math" charset="0"/>
                        <a:ea typeface="Verdana" charset="0"/>
                        <a:cs typeface="Verdana" charset="0"/>
                      </a:rPr>
                      <m:t>𝑟</m:t>
                    </m:r>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The formula to convert degrees Fahrenheit, </a:t>
                </a:r>
                <a14:m>
                  <m:oMath xmlns:m="http://schemas.openxmlformats.org/officeDocument/2006/math">
                    <m:r>
                      <a:rPr lang="en-US" sz="2000" i="1">
                        <a:latin typeface="Cambria Math" charset="0"/>
                        <a:ea typeface="Verdana" charset="0"/>
                        <a:cs typeface="Verdana" charset="0"/>
                      </a:rPr>
                      <m:t>𝐹</m:t>
                    </m:r>
                  </m:oMath>
                </a14:m>
                <a:r>
                  <a:rPr lang="en-US" sz="2000" dirty="0">
                    <a:latin typeface="Verdana" charset="0"/>
                    <a:ea typeface="Verdana" charset="0"/>
                    <a:cs typeface="Verdana" charset="0"/>
                  </a:rPr>
                  <a:t>, into degrees Celsius,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is </a:t>
                </a:r>
                <a14:m>
                  <m:oMath xmlns:m="http://schemas.openxmlformats.org/officeDocument/2006/math">
                    <m:r>
                      <a:rPr lang="en-US" sz="2000" i="1">
                        <a:latin typeface="Cambria Math" charset="0"/>
                        <a:ea typeface="Verdana" charset="0"/>
                        <a:cs typeface="Verdana" charset="0"/>
                      </a:rPr>
                      <m:t>𝐶</m:t>
                    </m:r>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b="0" i="1" smtClean="0">
                            <a:latin typeface="Cambria Math" panose="02040503050406030204" pitchFamily="18" charset="0"/>
                            <a:ea typeface="Verdana" charset="0"/>
                            <a:cs typeface="Verdana" charset="0"/>
                          </a:rPr>
                          <m:t>5</m:t>
                        </m:r>
                      </m:num>
                      <m:den>
                        <m:r>
                          <a:rPr lang="en-US" sz="2000" b="0" i="1" smtClean="0">
                            <a:latin typeface="Cambria Math" panose="02040503050406030204" pitchFamily="18" charset="0"/>
                            <a:ea typeface="Verdana" charset="0"/>
                            <a:cs typeface="Verdana" charset="0"/>
                          </a:rPr>
                          <m:t>9</m:t>
                        </m:r>
                      </m:den>
                    </m:f>
                    <m:d>
                      <m:dPr>
                        <m:ctrlPr>
                          <a:rPr lang="en-US" sz="2000" i="1">
                            <a:latin typeface="Cambria Math" panose="02040503050406030204" pitchFamily="18" charset="0"/>
                            <a:ea typeface="Verdana" charset="0"/>
                            <a:cs typeface="Verdana" charset="0"/>
                          </a:rPr>
                        </m:ctrlPr>
                      </m:dPr>
                      <m:e>
                        <m:r>
                          <a:rPr lang="en-US" sz="2000" i="1">
                            <a:latin typeface="Cambria Math" charset="0"/>
                            <a:ea typeface="Verdana" charset="0"/>
                            <a:cs typeface="Verdana" charset="0"/>
                          </a:rPr>
                          <m:t>𝐹</m:t>
                        </m:r>
                        <m:r>
                          <a:rPr lang="en-US" sz="2000" i="1">
                            <a:latin typeface="Cambria Math" charset="0"/>
                            <a:ea typeface="Verdana" charset="0"/>
                            <a:cs typeface="Verdana" charset="0"/>
                          </a:rPr>
                          <m:t>−32</m:t>
                        </m:r>
                      </m:e>
                    </m:d>
                  </m:oMath>
                </a14:m>
                <a:r>
                  <a:rPr lang="en-US" sz="2000" dirty="0">
                    <a:latin typeface="Verdana" charset="0"/>
                    <a:ea typeface="Verdana" charset="0"/>
                    <a:cs typeface="Verdana" charset="0"/>
                  </a:rPr>
                  <a:t>. Solve for </a:t>
                </a:r>
                <a14:m>
                  <m:oMath xmlns:m="http://schemas.openxmlformats.org/officeDocument/2006/math">
                    <m:r>
                      <a:rPr lang="en-US" sz="2000" i="1">
                        <a:latin typeface="Cambria Math" charset="0"/>
                        <a:ea typeface="Verdana" charset="0"/>
                        <a:cs typeface="Verdana" charset="0"/>
                      </a:rPr>
                      <m:t>𝐹</m:t>
                    </m:r>
                  </m:oMath>
                </a14:m>
                <a:r>
                  <a:rPr lang="en-US" sz="2000" dirty="0">
                    <a:latin typeface="Verdana" charset="0"/>
                    <a:ea typeface="Verdana" charset="0"/>
                    <a:cs typeface="Verdana" charset="0"/>
                  </a:rPr>
                  <a:t>.</a:t>
                </a:r>
              </a:p>
            </p:txBody>
          </p:sp>
        </mc:Choice>
        <mc:Fallback>
          <p:sp>
            <p:nvSpPr>
              <p:cNvPr id="15" name="TextBox 14">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0266" y="1408886"/>
                <a:ext cx="10800318" cy="4530599"/>
              </a:xfrm>
              <a:prstGeom prst="rect">
                <a:avLst/>
              </a:prstGeom>
              <a:blipFill>
                <a:blip r:embed="rId5"/>
                <a:stretch>
                  <a:fillRect l="-621" t="-673"/>
                </a:stretch>
              </a:blipFill>
            </p:spPr>
            <p:txBody>
              <a:bodyPr/>
              <a:lstStyle/>
              <a:p>
                <a:r>
                  <a:rPr lang="en-US">
                    <a:noFill/>
                  </a:rPr>
                  <a:t> </a:t>
                </a:r>
              </a:p>
            </p:txBody>
          </p:sp>
        </mc:Fallback>
      </mc:AlternateContent>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7797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1"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551"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5.2.5 Wrap-Up: Growth Mindset</a:t>
            </a:r>
          </a:p>
        </p:txBody>
      </p:sp>
      <p:pic>
        <p:nvPicPr>
          <p:cNvPr id="13"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4" name="TextBox 13">
            <a:extLst>
              <a:ext uri="{FF2B5EF4-FFF2-40B4-BE49-F238E27FC236}">
                <a16:creationId xmlns:a16="http://schemas.microsoft.com/office/drawing/2014/main" id="{0370EDB7-6994-3D43-ABF9-E04CBAFB9CD9}"/>
              </a:ext>
            </a:extLst>
          </p:cNvPr>
          <p:cNvSpPr txBox="1"/>
          <p:nvPr/>
        </p:nvSpPr>
        <p:spPr>
          <a:xfrm>
            <a:off x="730266" y="1376212"/>
            <a:ext cx="10800318" cy="347787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Choose</a:t>
            </a:r>
            <a:r>
              <a:rPr lang="en-US" sz="2000" b="1" dirty="0">
                <a:latin typeface="Verdana" charset="0"/>
                <a:ea typeface="Verdana" charset="0"/>
                <a:cs typeface="Verdana" charset="0"/>
              </a:rPr>
              <a:t> two</a:t>
            </a:r>
            <a:r>
              <a:rPr lang="en-US" sz="2000" dirty="0">
                <a:latin typeface="Verdana" charset="0"/>
                <a:ea typeface="Verdana" charset="0"/>
                <a:cs typeface="Verdana" charset="0"/>
              </a:rPr>
              <a:t> of the following prompts to complete.</a:t>
            </a:r>
          </a:p>
          <a:p>
            <a:r>
              <a:rPr lang="en-US" sz="2000" dirty="0">
                <a:latin typeface="Verdana" charset="0"/>
                <a:ea typeface="Verdana" charset="0"/>
                <a:cs typeface="Verdana" charset="0"/>
              </a:rPr>
              <a:t> </a:t>
            </a:r>
          </a:p>
          <a:p>
            <a:pPr marL="914400" indent="-444500">
              <a:buFont typeface="+mj-lt"/>
              <a:buAutoNum type="alphaLcPeriod"/>
            </a:pPr>
            <a:r>
              <a:rPr lang="en-US" sz="2000" dirty="0">
                <a:latin typeface="Verdana" charset="0"/>
                <a:ea typeface="Verdana" charset="0"/>
                <a:cs typeface="Verdana" charset="0"/>
              </a:rPr>
              <a:t>Describe a new strategy you learned today.</a:t>
            </a:r>
          </a:p>
          <a:p>
            <a:pPr marL="914400" indent="-444500">
              <a:buFont typeface="+mj-lt"/>
              <a:buAutoNum type="alphaLcPeriod"/>
            </a:pPr>
            <a:endParaRPr lang="en-US" sz="2000" dirty="0">
              <a:latin typeface="Verdana" charset="0"/>
              <a:ea typeface="Verdana" charset="0"/>
              <a:cs typeface="Verdana" charset="0"/>
            </a:endParaRPr>
          </a:p>
          <a:p>
            <a:pPr marL="914400" indent="-444500">
              <a:buFont typeface="+mj-lt"/>
              <a:buAutoNum type="alphaLcPeriod"/>
            </a:pPr>
            <a:endParaRPr lang="en-US" sz="2000" dirty="0">
              <a:latin typeface="Verdana" charset="0"/>
              <a:ea typeface="Verdana" charset="0"/>
              <a:cs typeface="Verdana" charset="0"/>
            </a:endParaRPr>
          </a:p>
          <a:p>
            <a:pPr marL="914400" indent="-444500">
              <a:buFont typeface="+mj-lt"/>
              <a:buAutoNum type="alphaLcPeriod"/>
            </a:pPr>
            <a:endParaRPr lang="en-US" sz="2000" dirty="0">
              <a:latin typeface="Verdana" charset="0"/>
              <a:ea typeface="Verdana" charset="0"/>
              <a:cs typeface="Verdana" charset="0"/>
            </a:endParaRPr>
          </a:p>
          <a:p>
            <a:pPr marL="914400" indent="-444500">
              <a:buFont typeface="+mj-lt"/>
              <a:buAutoNum type="alphaLcPeriod"/>
            </a:pPr>
            <a:r>
              <a:rPr lang="en-US" sz="2000" dirty="0">
                <a:latin typeface="Verdana" charset="0"/>
                <a:ea typeface="Verdana" charset="0"/>
                <a:cs typeface="Verdana" charset="0"/>
              </a:rPr>
              <a:t>Describe a mistake you made and what you learned from it.</a:t>
            </a:r>
          </a:p>
          <a:p>
            <a:pPr marL="914400" indent="-444500">
              <a:buFont typeface="+mj-lt"/>
              <a:buAutoNum type="alphaLcPeriod"/>
            </a:pPr>
            <a:endParaRPr lang="en-US" sz="2000" dirty="0">
              <a:latin typeface="Verdana" charset="0"/>
              <a:ea typeface="Verdana" charset="0"/>
              <a:cs typeface="Verdana" charset="0"/>
            </a:endParaRPr>
          </a:p>
          <a:p>
            <a:pPr marL="914400" indent="-444500">
              <a:buFont typeface="+mj-lt"/>
              <a:buAutoNum type="alphaLcPeriod"/>
            </a:pPr>
            <a:endParaRPr lang="en-US" sz="2000" dirty="0">
              <a:latin typeface="Verdana" charset="0"/>
              <a:ea typeface="Verdana" charset="0"/>
              <a:cs typeface="Verdana" charset="0"/>
            </a:endParaRPr>
          </a:p>
          <a:p>
            <a:pPr marL="914400" indent="-444500">
              <a:buFont typeface="+mj-lt"/>
              <a:buAutoNum type="alphaLcPeriod"/>
            </a:pPr>
            <a:endParaRPr lang="en-US" sz="2000" dirty="0">
              <a:latin typeface="Verdana" charset="0"/>
              <a:ea typeface="Verdana" charset="0"/>
              <a:cs typeface="Verdana" charset="0"/>
            </a:endParaRPr>
          </a:p>
          <a:p>
            <a:pPr marL="914400" indent="-444500">
              <a:buFont typeface="+mj-lt"/>
              <a:buAutoNum type="alphaLcPeriod"/>
            </a:pPr>
            <a:r>
              <a:rPr lang="en-US" sz="2000" dirty="0">
                <a:latin typeface="Verdana" charset="0"/>
                <a:ea typeface="Verdana" charset="0"/>
                <a:cs typeface="Verdana" charset="0"/>
              </a:rPr>
              <a:t>Explain one way you challenged yourself today.</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1332</TotalTime>
  <Words>1087</Words>
  <Application>Microsoft Office PowerPoint</Application>
  <PresentationFormat>Widescreen</PresentationFormat>
  <Paragraphs>200</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Cambria Math</vt:lpstr>
      <vt:lpstr>Century Gothic</vt:lpstr>
      <vt:lpstr>Courier New</vt:lpstr>
      <vt:lpstr>Verdana</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35</cp:revision>
  <dcterms:created xsi:type="dcterms:W3CDTF">2015-03-17T18:51:18Z</dcterms:created>
  <dcterms:modified xsi:type="dcterms:W3CDTF">2023-02-13T20:06:52Z</dcterms:modified>
</cp:coreProperties>
</file>