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288" r:id="rId8"/>
    <p:sldId id="371" r:id="rId9"/>
    <p:sldId id="372" r:id="rId10"/>
    <p:sldId id="373" r:id="rId11"/>
    <p:sldId id="374" r:id="rId12"/>
    <p:sldId id="314" r:id="rId13"/>
    <p:sldId id="315" r:id="rId14"/>
    <p:sldId id="352" r:id="rId15"/>
    <p:sldId id="375" r:id="rId16"/>
    <p:sldId id="376" r:id="rId17"/>
    <p:sldId id="377" r:id="rId18"/>
    <p:sldId id="302" r:id="rId19"/>
    <p:sldId id="303" r:id="rId20"/>
    <p:sldId id="306" r:id="rId21"/>
    <p:sldId id="307"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80"/>
    <p:restoredTop sz="94829"/>
  </p:normalViewPr>
  <p:slideViewPr>
    <p:cSldViewPr snapToGrid="0">
      <p:cViewPr varScale="1">
        <p:scale>
          <a:sx n="105" d="100"/>
          <a:sy n="105" d="100"/>
        </p:scale>
        <p:origin x="-46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7494840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680051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54073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9873044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23261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723024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665263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60599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smtClean="0">
                <a:solidFill>
                  <a:srgbClr val="417DBF"/>
                </a:solidFill>
                <a:latin typeface="Verdana"/>
                <a:ea typeface="Verdana"/>
                <a:cs typeface="Verdana"/>
                <a:sym typeface="Verdana"/>
              </a:rPr>
              <a:t>Algebra 1</a:t>
            </a:r>
            <a:br>
              <a:rPr lang="en-US" sz="3800" b="1" dirty="0" smtClean="0">
                <a:solidFill>
                  <a:srgbClr val="417DBF"/>
                </a:solidFill>
                <a:latin typeface="Verdana"/>
                <a:ea typeface="Verdana"/>
                <a:cs typeface="Verdana"/>
                <a:sym typeface="Verdana"/>
              </a:rPr>
            </a:br>
            <a:endParaRPr lang="en-US" sz="3800" b="1" dirty="0" smtClean="0">
              <a:solidFill>
                <a:srgbClr val="417DBF"/>
              </a:solidFill>
              <a:latin typeface="Verdana"/>
              <a:ea typeface="Verdana"/>
              <a:cs typeface="Verdana"/>
              <a:sym typeface="Verdana"/>
            </a:endParaRPr>
          </a:p>
          <a:p>
            <a:pPr algn="ctr">
              <a:lnSpc>
                <a:spcPct val="100000"/>
              </a:lnSpc>
              <a:buClr>
                <a:srgbClr val="000000"/>
              </a:buClr>
            </a:pPr>
            <a:r>
              <a:rPr lang="en-US" sz="3800" b="1" dirty="0" smtClean="0">
                <a:solidFill>
                  <a:srgbClr val="417DBF"/>
                </a:solidFill>
                <a:latin typeface="Verdana"/>
                <a:ea typeface="Verdana"/>
                <a:cs typeface="Verdana"/>
                <a:sym typeface="Verdana"/>
              </a:rPr>
              <a:t>Unit 5, Lesson 11</a:t>
            </a:r>
            <a:br>
              <a:rPr lang="en-US" sz="3800" b="1" dirty="0" smtClean="0">
                <a:solidFill>
                  <a:srgbClr val="417DBF"/>
                </a:solidFill>
                <a:latin typeface="Verdana"/>
                <a:ea typeface="Verdana"/>
                <a:cs typeface="Verdana"/>
                <a:sym typeface="Verdana"/>
              </a:rPr>
            </a:br>
            <a:r>
              <a:rPr lang="en-US" sz="3800" b="1" dirty="0" smtClean="0">
                <a:solidFill>
                  <a:srgbClr val="417DBF"/>
                </a:solidFill>
                <a:latin typeface="Verdana"/>
                <a:ea typeface="Verdana"/>
                <a:cs typeface="Verdana"/>
                <a:sym typeface="Verdana"/>
              </a:rPr>
              <a:t/>
            </a:r>
            <a:br>
              <a:rPr lang="en-US" sz="3800" b="1" dirty="0" smtClean="0">
                <a:solidFill>
                  <a:srgbClr val="417DBF"/>
                </a:solidFill>
                <a:latin typeface="Verdana"/>
                <a:ea typeface="Verdana"/>
                <a:cs typeface="Verdana"/>
                <a:sym typeface="Verdana"/>
              </a:rPr>
            </a:br>
            <a:r>
              <a:rPr lang="en-US" sz="3800" b="1" dirty="0" smtClean="0">
                <a:solidFill>
                  <a:srgbClr val="417DBF"/>
                </a:solidFill>
                <a:latin typeface="Verdana"/>
                <a:ea typeface="Verdana"/>
                <a:cs typeface="Verdana"/>
                <a:sym typeface="Verdana"/>
              </a:rPr>
              <a:t>Writing and Solving Systems of Equations for Real-World Contexts</a:t>
            </a:r>
            <a:br>
              <a:rPr lang="en-US" sz="3800" b="1" dirty="0" smtClean="0">
                <a:solidFill>
                  <a:srgbClr val="417DBF"/>
                </a:solidFill>
                <a:latin typeface="Verdana"/>
                <a:ea typeface="Verdana"/>
                <a:cs typeface="Verdana"/>
                <a:sym typeface="Verdana"/>
              </a:rPr>
            </a:br>
            <a:r>
              <a:rPr lang="en-US" sz="3800" b="1" dirty="0" smtClean="0">
                <a:solidFill>
                  <a:srgbClr val="417DBF"/>
                </a:solidFill>
                <a:latin typeface="Verdana"/>
                <a:ea typeface="Verdana"/>
                <a:cs typeface="Verdana"/>
                <a:sym typeface="Verdana"/>
              </a:rPr>
              <a:t/>
            </a:r>
            <a:br>
              <a:rPr lang="en-US" sz="3800" b="1" dirty="0" smtClean="0">
                <a:solidFill>
                  <a:srgbClr val="417DBF"/>
                </a:solidFill>
                <a:latin typeface="Verdana"/>
                <a:ea typeface="Verdana"/>
                <a:cs typeface="Verdana"/>
                <a:sym typeface="Verdana"/>
              </a:rPr>
            </a:br>
            <a:r>
              <a:rPr lang="en-US" sz="2800" b="1" dirty="0" smtClean="0">
                <a:solidFill>
                  <a:srgbClr val="417DBF"/>
                </a:solidFill>
                <a:latin typeface="Verdana"/>
                <a:ea typeface="Verdana"/>
                <a:cs typeface="Verdana"/>
                <a:sym typeface="Verdana"/>
              </a:rPr>
              <a:t>Volume 1, pg. 283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9144"/>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1998" y="1622538"/>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61836" y="4774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8336" y="28352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42031" y="1467035"/>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800" dirty="0">
                <a:latin typeface="Verdana" charset="0"/>
                <a:ea typeface="Verdana" charset="0"/>
                <a:cs typeface="Verdana" charset="0"/>
              </a:rPr>
              <a:t>MA.912.AR.9.1 </a:t>
            </a:r>
          </a:p>
          <a:p>
            <a:pPr marL="458788" indent="0">
              <a:buNone/>
            </a:pPr>
            <a:r>
              <a:rPr lang="en-US" sz="2800" dirty="0">
                <a:latin typeface="Verdana" charset="0"/>
                <a:ea typeface="Verdana" charset="0"/>
                <a:cs typeface="Verdana" charset="0"/>
              </a:rPr>
              <a:t>Given a mathematical or real-world context, write and solve a system of two-variable linear equations algebraically or graphically.</a:t>
            </a:r>
          </a:p>
          <a:p>
            <a:pPr marL="95250" indent="0">
              <a:buNone/>
            </a:pPr>
            <a:r>
              <a:rPr lang="en-US" sz="2800" dirty="0">
                <a:latin typeface="Verdana" charset="0"/>
                <a:ea typeface="Verdana" charset="0"/>
                <a:cs typeface="Verdana" charset="0"/>
              </a:rPr>
              <a:t> </a:t>
            </a:r>
          </a:p>
          <a:p>
            <a:pPr marL="95250" indent="0">
              <a:buNone/>
            </a:pPr>
            <a:r>
              <a:rPr lang="en-US" sz="2800" dirty="0">
                <a:latin typeface="Verdana" charset="0"/>
                <a:ea typeface="Verdana" charset="0"/>
                <a:cs typeface="Verdana" charset="0"/>
              </a:rPr>
              <a:t>MA.912.AR.9.6 </a:t>
            </a:r>
          </a:p>
          <a:p>
            <a:pPr marL="458788" indent="0">
              <a:buNone/>
            </a:pPr>
            <a:r>
              <a:rPr lang="en-US" sz="2800" dirty="0">
                <a:latin typeface="Verdana" charset="0"/>
                <a:ea typeface="Verdana" charset="0"/>
                <a:cs typeface="Verdana" charset="0"/>
              </a:rPr>
              <a:t>Given a real-world context, represent constraints as systems of linear equations or inequalities. Interpret solutions to problems as viable or non-viable options.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54395" y="-5680"/>
            <a:ext cx="89509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533589" y="146322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pic>
        <p:nvPicPr>
          <p:cNvPr id="14" name="Google Shape;281;g104476d1465_1_17"/>
          <p:cNvPicPr preferRelativeResize="0"/>
          <p:nvPr/>
        </p:nvPicPr>
        <p:blipFill>
          <a:blip r:embed="rId4">
            <a:alphaModFix/>
          </a:blip>
          <a:stretch>
            <a:fillRect/>
          </a:stretch>
        </p:blipFill>
        <p:spPr>
          <a:xfrm>
            <a:off x="438336" y="283520"/>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64452" y="-568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423476" y="28352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31914" y="146703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30238">
              <a:buFont typeface="Wingdings" charset="2"/>
              <a:buChar char="q"/>
              <a:tabLst>
                <a:tab pos="630238" algn="l"/>
              </a:tabLst>
            </a:pPr>
            <a:r>
              <a:rPr lang="en-US" sz="3500" dirty="0">
                <a:latin typeface="Verdana" charset="0"/>
                <a:ea typeface="Verdana" charset="0"/>
                <a:cs typeface="Verdana" charset="0"/>
              </a:rPr>
              <a:t>I can write and solve systems of equations in a real-world context</a:t>
            </a:r>
            <a:r>
              <a:rPr lang="en-US" sz="3500" dirty="0" smtClean="0">
                <a:latin typeface="Verdana" charset="0"/>
                <a:ea typeface="Verdana" charset="0"/>
                <a:cs typeface="Verdana" charset="0"/>
              </a:rPr>
              <a:t>.</a:t>
            </a:r>
          </a:p>
          <a:p>
            <a:pPr marL="630238" indent="-630238">
              <a:buFont typeface="Wingdings" charset="2"/>
              <a:buChar char="q"/>
              <a:tabLst>
                <a:tab pos="630238" algn="l"/>
              </a:tabLst>
            </a:pPr>
            <a:endParaRPr lang="en-US" sz="3500" dirty="0">
              <a:latin typeface="Verdana" charset="0"/>
              <a:ea typeface="Verdana" charset="0"/>
              <a:cs typeface="Verdana" charset="0"/>
            </a:endParaRPr>
          </a:p>
          <a:p>
            <a:pPr marL="630238" indent="-630238">
              <a:buFont typeface="Wingdings" charset="2"/>
              <a:buChar char="q"/>
              <a:tabLst>
                <a:tab pos="630238" algn="l"/>
              </a:tabLst>
            </a:pPr>
            <a:r>
              <a:rPr lang="en-US" sz="3500" dirty="0">
                <a:latin typeface="Verdana" charset="0"/>
                <a:ea typeface="Verdana" charset="0"/>
                <a:cs typeface="Verdana" charset="0"/>
              </a:rPr>
              <a:t>I can determine the constraints to a system of equations in a real-world context</a:t>
            </a:r>
            <a:r>
              <a:rPr lang="en-US" sz="3500" dirty="0" smtClean="0">
                <a:latin typeface="Verdana" charset="0"/>
                <a:ea typeface="Verdana" charset="0"/>
                <a:cs typeface="Verdana" charset="0"/>
              </a:rPr>
              <a:t>.</a:t>
            </a:r>
          </a:p>
          <a:p>
            <a:pPr marL="630238" indent="-630238">
              <a:buFont typeface="Wingdings" charset="2"/>
              <a:buChar char="q"/>
              <a:tabLst>
                <a:tab pos="630238" algn="l"/>
              </a:tabLst>
            </a:pPr>
            <a:endParaRPr lang="en-US" sz="3500" dirty="0">
              <a:latin typeface="Verdana" charset="0"/>
              <a:ea typeface="Verdana" charset="0"/>
              <a:cs typeface="Verdana" charset="0"/>
            </a:endParaRPr>
          </a:p>
          <a:p>
            <a:pPr marL="630238" indent="-630238">
              <a:buFont typeface="Wingdings" charset="2"/>
              <a:buChar char="q"/>
              <a:tabLst>
                <a:tab pos="630238" algn="l"/>
              </a:tabLst>
            </a:pPr>
            <a:r>
              <a:rPr lang="en-US" sz="3500" dirty="0">
                <a:latin typeface="Verdana" charset="0"/>
                <a:ea typeface="Verdana" charset="0"/>
                <a:cs typeface="Verdana" charset="0"/>
              </a:rPr>
              <a:t>I can interpret solutions as viable or non-viable in a context.</a:t>
            </a:r>
          </a:p>
        </p:txBody>
      </p:sp>
      <p:sp>
        <p:nvSpPr>
          <p:cNvPr id="8"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1396" y="-9144"/>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059298"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6809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49935" y="-8225"/>
            <a:ext cx="103974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5.11.1 Warm-Up: Learning Strategies</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438984" y="28352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32958" y="1453991"/>
            <a:ext cx="10800000" cy="409342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Learning is not something that just happens, it’s something you </a:t>
            </a:r>
            <a:r>
              <a:rPr lang="en-US" sz="2000" i="1" dirty="0">
                <a:latin typeface="Verdana" charset="0"/>
                <a:ea typeface="Verdana" charset="0"/>
                <a:cs typeface="Verdana" charset="0"/>
              </a:rPr>
              <a:t>do</a:t>
            </a:r>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917575" lvl="1" indent="-444500">
              <a:buFont typeface="+mj-lt"/>
              <a:buAutoNum type="alphaLcPeriod"/>
            </a:pPr>
            <a:r>
              <a:rPr lang="en-US" sz="2000" dirty="0">
                <a:latin typeface="Verdana" charset="0"/>
                <a:ea typeface="Verdana" charset="0"/>
                <a:cs typeface="Verdana" charset="0"/>
              </a:rPr>
              <a:t>Place a checkmark next to the actions you will choose to do today.</a:t>
            </a:r>
          </a:p>
          <a:p>
            <a:pPr marL="1349375" indent="-431800"/>
            <a:r>
              <a:rPr lang="en-US" sz="2000" dirty="0">
                <a:latin typeface="Verdana" charset="0"/>
                <a:ea typeface="Verdana" charset="0"/>
                <a:cs typeface="Verdana" charset="0"/>
              </a:rPr>
              <a:t> </a:t>
            </a:r>
          </a:p>
          <a:p>
            <a:pPr marL="1349375" indent="-431800">
              <a:buFont typeface="Wingdings" charset="2"/>
              <a:buChar char="q"/>
            </a:pPr>
            <a:r>
              <a:rPr lang="en-US" sz="2000" dirty="0">
                <a:latin typeface="Verdana" charset="0"/>
                <a:ea typeface="Verdana" charset="0"/>
                <a:cs typeface="Verdana" charset="0"/>
              </a:rPr>
              <a:t>I will review my notes and my work.</a:t>
            </a:r>
          </a:p>
          <a:p>
            <a:pPr marL="1349375" indent="-431800">
              <a:buFont typeface="Wingdings" charset="2"/>
              <a:buChar char="q"/>
            </a:pPr>
            <a:endParaRPr lang="en-US" sz="2000" dirty="0">
              <a:latin typeface="Verdana" charset="0"/>
              <a:ea typeface="Verdana" charset="0"/>
              <a:cs typeface="Verdana" charset="0"/>
            </a:endParaRPr>
          </a:p>
          <a:p>
            <a:pPr marL="1349375" indent="-431800">
              <a:buFont typeface="Wingdings" charset="2"/>
              <a:buChar char="q"/>
            </a:pPr>
            <a:r>
              <a:rPr lang="en-US" sz="2000" dirty="0">
                <a:latin typeface="Verdana" charset="0"/>
                <a:ea typeface="Verdana" charset="0"/>
                <a:cs typeface="Verdana" charset="0"/>
              </a:rPr>
              <a:t>I will ask questions when I need help.</a:t>
            </a:r>
          </a:p>
          <a:p>
            <a:pPr marL="1349375" indent="-431800">
              <a:buFont typeface="Wingdings" charset="2"/>
              <a:buChar char="q"/>
            </a:pPr>
            <a:endParaRPr lang="en-US" sz="2000" dirty="0">
              <a:latin typeface="Verdana" charset="0"/>
              <a:ea typeface="Verdana" charset="0"/>
              <a:cs typeface="Verdana" charset="0"/>
            </a:endParaRPr>
          </a:p>
          <a:p>
            <a:pPr marL="1349375" indent="-431800">
              <a:buFont typeface="Wingdings" charset="2"/>
              <a:buChar char="q"/>
            </a:pPr>
            <a:r>
              <a:rPr lang="en-US" sz="2000" dirty="0">
                <a:latin typeface="Verdana" charset="0"/>
                <a:ea typeface="Verdana" charset="0"/>
                <a:cs typeface="Verdana" charset="0"/>
              </a:rPr>
              <a:t>I will set and maintain a high standard for myself.</a:t>
            </a:r>
          </a:p>
          <a:p>
            <a:pPr marL="1349375" indent="-431800">
              <a:buFont typeface="Wingdings" charset="2"/>
              <a:buChar char="q"/>
            </a:pPr>
            <a:endParaRPr lang="en-US" sz="2000" dirty="0">
              <a:latin typeface="Verdana" charset="0"/>
              <a:ea typeface="Verdana" charset="0"/>
              <a:cs typeface="Verdana" charset="0"/>
            </a:endParaRPr>
          </a:p>
          <a:p>
            <a:pPr marL="1349375" indent="-431800">
              <a:buFont typeface="Wingdings" charset="2"/>
              <a:buChar char="q"/>
            </a:pPr>
            <a:r>
              <a:rPr lang="en-US" sz="2000" dirty="0">
                <a:latin typeface="Verdana" charset="0"/>
                <a:ea typeface="Verdana" charset="0"/>
                <a:cs typeface="Verdana" charset="0"/>
              </a:rPr>
              <a:t>I will ask for help if I’m not sure how to get started.</a:t>
            </a:r>
          </a:p>
          <a:p>
            <a:pPr marL="1349375" indent="-431800">
              <a:buFont typeface="Wingdings" charset="2"/>
              <a:buChar char="q"/>
            </a:pPr>
            <a:endParaRPr lang="en-US" sz="2000" dirty="0">
              <a:latin typeface="Verdana" charset="0"/>
              <a:ea typeface="Verdana" charset="0"/>
              <a:cs typeface="Verdana" charset="0"/>
            </a:endParaRPr>
          </a:p>
          <a:p>
            <a:pPr marL="1349375" indent="-431800">
              <a:buFont typeface="Wingdings" charset="2"/>
              <a:buChar char="q"/>
            </a:pPr>
            <a:r>
              <a:rPr lang="en-US" sz="2000" dirty="0">
                <a:latin typeface="Verdana" charset="0"/>
                <a:ea typeface="Verdana" charset="0"/>
                <a:cs typeface="Verdana" charset="0"/>
              </a:rPr>
              <a:t>I will remember that my brain grows when I make mistakes.</a:t>
            </a:r>
          </a:p>
        </p:txBody>
      </p:sp>
      <p:sp>
        <p:nvSpPr>
          <p:cNvPr id="9"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4087" y="387229"/>
            <a:ext cx="10800000" cy="707886"/>
          </a:xfrm>
          <a:prstGeom prst="rect">
            <a:avLst/>
          </a:prstGeom>
          <a:noFill/>
        </p:spPr>
        <p:txBody>
          <a:bodyPr wrap="square" rtlCol="0">
            <a:spAutoFit/>
          </a:bodyPr>
          <a:lstStyle/>
          <a:p>
            <a:pPr marL="900113" lvl="1" indent="-457200">
              <a:buFont typeface="+mj-lt"/>
              <a:buAutoNum type="alphaLcPeriod" startAt="2"/>
            </a:pPr>
            <a:r>
              <a:rPr lang="en-US" sz="2000" dirty="0">
                <a:latin typeface="Verdana" charset="0"/>
                <a:ea typeface="Verdana" charset="0"/>
                <a:cs typeface="Verdana" charset="0"/>
              </a:rPr>
              <a:t>Explain which, if any, strategy you picked demonstrates a growth mindset.</a:t>
            </a:r>
          </a:p>
        </p:txBody>
      </p:sp>
      <p:sp>
        <p:nvSpPr>
          <p:cNvPr id="6"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284</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1656" y="-13194"/>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01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88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5014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50290" y="-879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5.11.2 Guided Practice: Writing Systems of Equations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8336" y="28352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31D40250-DEDD-2C41-8538-3D4DD18CCC4A}"/>
                  </a:ext>
                </a:extLst>
              </p:cNvPr>
              <p:cNvSpPr txBox="1"/>
              <p:nvPr/>
            </p:nvSpPr>
            <p:spPr>
              <a:xfrm>
                <a:off x="531102" y="1474798"/>
                <a:ext cx="10800000" cy="101566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Scientists from NASA have focused their efforts to compare the amount of carbon dioxide (</a:t>
                </a:r>
                <a14:m>
                  <m:oMath xmlns:m="http://schemas.openxmlformats.org/officeDocument/2006/math">
                    <m:sSub>
                      <m:sSubPr>
                        <m:ctrlPr>
                          <a:rPr lang="en-US" sz="2000" i="1">
                            <a:latin typeface="Cambria Math"/>
                            <a:ea typeface="Verdana" charset="0"/>
                            <a:cs typeface="Verdana" charset="0"/>
                          </a:rPr>
                        </m:ctrlPr>
                      </m:sSubPr>
                      <m:e>
                        <m:r>
                          <a:rPr lang="en-US" sz="2000" i="1">
                            <a:latin typeface="Cambria Math" charset="0"/>
                            <a:ea typeface="Verdana" charset="0"/>
                            <a:cs typeface="Verdana" charset="0"/>
                          </a:rPr>
                          <m:t>𝐶𝑂</m:t>
                        </m:r>
                      </m:e>
                      <m:sub>
                        <m:r>
                          <a:rPr lang="en-US" sz="2000" i="1">
                            <a:latin typeface="Cambria Math" charset="0"/>
                            <a:ea typeface="Verdana" charset="0"/>
                            <a:cs typeface="Verdana" charset="0"/>
                          </a:rPr>
                          <m:t>2</m:t>
                        </m:r>
                      </m:sub>
                    </m:sSub>
                  </m:oMath>
                </a14:m>
                <a:r>
                  <a:rPr lang="en-US" sz="2000" dirty="0">
                    <a:latin typeface="Verdana" charset="0"/>
                    <a:ea typeface="Verdana" charset="0"/>
                    <a:cs typeface="Verdana" charset="0"/>
                  </a:rPr>
                  <a:t>) emitted from different forms of travel.</a:t>
                </a:r>
              </a:p>
            </p:txBody>
          </p:sp>
        </mc:Choice>
        <mc:Fallback>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531102" y="1474798"/>
                <a:ext cx="10800000" cy="1015663"/>
              </a:xfrm>
              <a:prstGeom prst="rect">
                <a:avLst/>
              </a:prstGeom>
              <a:blipFill rotWithShape="1">
                <a:blip r:embed="rId4"/>
                <a:stretch>
                  <a:fillRect l="-564" t="-3593"/>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850636559"/>
                  </p:ext>
                </p:extLst>
              </p:nvPr>
            </p:nvGraphicFramePr>
            <p:xfrm>
              <a:off x="1120663" y="2305907"/>
              <a:ext cx="8045581" cy="2520000"/>
            </p:xfrm>
            <a:graphic>
              <a:graphicData uri="http://schemas.openxmlformats.org/drawingml/2006/table">
                <a:tbl>
                  <a:tblPr firstRow="1" firstCol="1" bandRow="1"/>
                  <a:tblGrid>
                    <a:gridCol w="1565581">
                      <a:extLst>
                        <a:ext uri="{9D8B030D-6E8A-4147-A177-3AD203B41FA5}">
                          <a16:colId xmlns:a16="http://schemas.microsoft.com/office/drawing/2014/main" xmlns="" val="20000"/>
                        </a:ext>
                      </a:extLst>
                    </a:gridCol>
                    <a:gridCol w="360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1080000">
                    <a:tc>
                      <a:txBody>
                        <a:bodyPr/>
                        <a:lstStyle/>
                        <a:p>
                          <a:pPr marL="0" marR="0" algn="ctr">
                            <a:spcBef>
                              <a:spcPts val="0"/>
                            </a:spcBef>
                            <a:spcAft>
                              <a:spcPts val="0"/>
                            </a:spcAft>
                          </a:pPr>
                          <a:r>
                            <a:rPr lang="en-US" sz="2000" b="1" dirty="0">
                              <a:effectLst/>
                              <a:latin typeface="Verdana" charset="0"/>
                              <a:ea typeface="Verdana" charset="0"/>
                              <a:cs typeface="Verdana" charset="0"/>
                            </a:rPr>
                            <a:t>Vehicle</a:t>
                          </a:r>
                          <a:endParaRPr lang="en-US" sz="20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tc>
                      <a:txBody>
                        <a:bodyPr/>
                        <a:lstStyle/>
                        <a:p>
                          <a:pPr marL="0" marR="0" algn="ctr">
                            <a:spcBef>
                              <a:spcPts val="0"/>
                            </a:spcBef>
                            <a:spcAft>
                              <a:spcPts val="0"/>
                            </a:spcAft>
                          </a:pPr>
                          <a14:m>
                            <m:oMath xmlns:m="http://schemas.openxmlformats.org/officeDocument/2006/math">
                              <m:sSub>
                                <m:sSubPr>
                                  <m:ctrlPr>
                                    <a:rPr lang="en-US" sz="2000" b="1" i="1">
                                      <a:effectLst/>
                                      <a:latin typeface="Cambria Math"/>
                                      <a:ea typeface="Verdana" charset="0"/>
                                      <a:cs typeface="Verdana" charset="0"/>
                                    </a:rPr>
                                  </m:ctrlPr>
                                </m:sSubPr>
                                <m:e>
                                  <m:r>
                                    <a:rPr lang="en-US" sz="2000" b="1" i="1">
                                      <a:effectLst/>
                                      <a:latin typeface="Cambria Math" charset="0"/>
                                      <a:ea typeface="Verdana" charset="0"/>
                                      <a:cs typeface="Verdana" charset="0"/>
                                    </a:rPr>
                                    <m:t>𝑪𝑶</m:t>
                                  </m:r>
                                </m:e>
                                <m:sub>
                                  <m:r>
                                    <a:rPr lang="en-US" sz="2000" b="1" i="1">
                                      <a:effectLst/>
                                      <a:latin typeface="Cambria Math" charset="0"/>
                                      <a:ea typeface="Verdana" charset="0"/>
                                      <a:cs typeface="Verdana" charset="0"/>
                                    </a:rPr>
                                    <m:t>𝟐</m:t>
                                  </m:r>
                                </m:sub>
                              </m:sSub>
                            </m:oMath>
                          </a14:m>
                          <a:r>
                            <a:rPr lang="en-US" sz="2000" b="1" dirty="0">
                              <a:effectLst/>
                              <a:latin typeface="Verdana" charset="0"/>
                              <a:ea typeface="Verdana" charset="0"/>
                              <a:cs typeface="Verdana" charset="0"/>
                            </a:rPr>
                            <a:t> Emissions From Starting the Engine, in Kilograms (kg)</a:t>
                          </a:r>
                          <a:endParaRPr lang="en-US" sz="20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tc>
                      <a:txBody>
                        <a:bodyPr/>
                        <a:lstStyle/>
                        <a:p>
                          <a:pPr marL="0" marR="0" algn="ctr">
                            <a:spcBef>
                              <a:spcPts val="0"/>
                            </a:spcBef>
                            <a:spcAft>
                              <a:spcPts val="0"/>
                            </a:spcAft>
                          </a:pPr>
                          <a14:m>
                            <m:oMath xmlns:m="http://schemas.openxmlformats.org/officeDocument/2006/math">
                              <m:sSub>
                                <m:sSubPr>
                                  <m:ctrlPr>
                                    <a:rPr lang="en-US" sz="2000" b="1" i="1">
                                      <a:effectLst/>
                                      <a:latin typeface="Cambria Math"/>
                                      <a:ea typeface="Verdana" charset="0"/>
                                      <a:cs typeface="Verdana" charset="0"/>
                                    </a:rPr>
                                  </m:ctrlPr>
                                </m:sSubPr>
                                <m:e>
                                  <m:r>
                                    <a:rPr lang="en-US" sz="2000" b="1" i="1">
                                      <a:effectLst/>
                                      <a:latin typeface="Cambria Math" charset="0"/>
                                      <a:ea typeface="Verdana" charset="0"/>
                                      <a:cs typeface="Verdana" charset="0"/>
                                    </a:rPr>
                                    <m:t>𝑪𝑶</m:t>
                                  </m:r>
                                </m:e>
                                <m:sub>
                                  <m:r>
                                    <a:rPr lang="en-US" sz="2000" b="1" i="1">
                                      <a:effectLst/>
                                      <a:latin typeface="Cambria Math" charset="0"/>
                                      <a:ea typeface="Verdana" charset="0"/>
                                      <a:cs typeface="Verdana" charset="0"/>
                                    </a:rPr>
                                    <m:t>𝟐</m:t>
                                  </m:r>
                                </m:sub>
                              </m:sSub>
                            </m:oMath>
                          </a14:m>
                          <a:r>
                            <a:rPr lang="en-US" sz="2000" b="1" dirty="0">
                              <a:effectLst/>
                              <a:latin typeface="Verdana" charset="0"/>
                              <a:ea typeface="Verdana" charset="0"/>
                              <a:cs typeface="Verdana" charset="0"/>
                            </a:rPr>
                            <a:t> Emissions </a:t>
                          </a:r>
                          <a:endParaRPr lang="en-US" sz="2000" dirty="0">
                            <a:effectLst/>
                            <a:latin typeface="Verdana" charset="0"/>
                            <a:ea typeface="Verdana" charset="0"/>
                            <a:cs typeface="Verdana" charset="0"/>
                          </a:endParaRPr>
                        </a:p>
                        <a:p>
                          <a:pPr marL="0" marR="0" algn="ctr">
                            <a:spcBef>
                              <a:spcPts val="0"/>
                            </a:spcBef>
                            <a:spcAft>
                              <a:spcPts val="0"/>
                            </a:spcAft>
                          </a:pPr>
                          <a:r>
                            <a:rPr lang="en-US" sz="2000" b="1" dirty="0">
                              <a:effectLst/>
                              <a:latin typeface="Verdana" charset="0"/>
                              <a:ea typeface="Verdana" charset="0"/>
                              <a:cs typeface="Verdana" charset="0"/>
                            </a:rPr>
                            <a:t>per Mile Traveled, in kg</a:t>
                          </a:r>
                          <a:endParaRPr lang="en-US" sz="20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xmlns="" val="10000"/>
                      </a:ext>
                    </a:extLst>
                  </a:tr>
                  <a:tr h="720000">
                    <a:tc>
                      <a:txBody>
                        <a:bodyPr/>
                        <a:lstStyle/>
                        <a:p>
                          <a:pPr marL="0" marR="0" algn="ctr">
                            <a:spcBef>
                              <a:spcPts val="0"/>
                            </a:spcBef>
                            <a:spcAft>
                              <a:spcPts val="0"/>
                            </a:spcAft>
                          </a:pPr>
                          <a:r>
                            <a:rPr lang="en-US" sz="2000" dirty="0">
                              <a:effectLst/>
                              <a:latin typeface="Verdana" charset="0"/>
                              <a:ea typeface="Verdana" charset="0"/>
                              <a:cs typeface="Verdana" charset="0"/>
                            </a:rPr>
                            <a:t>Car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1</m:t>
                                </m:r>
                              </m:oMath>
                            </m:oMathPara>
                          </a14:m>
                          <a:endParaRPr lang="en-US" sz="20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0.25</m:t>
                                </m:r>
                              </m:oMath>
                            </m:oMathPara>
                          </a14:m>
                          <a:endParaRPr lang="en-US" sz="200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720000">
                    <a:tc>
                      <a:txBody>
                        <a:bodyPr/>
                        <a:lstStyle/>
                        <a:p>
                          <a:pPr marL="0" marR="0" algn="ctr">
                            <a:spcBef>
                              <a:spcPts val="0"/>
                            </a:spcBef>
                            <a:spcAft>
                              <a:spcPts val="0"/>
                            </a:spcAft>
                          </a:pPr>
                          <a:r>
                            <a:rPr lang="en-US" sz="2000" dirty="0">
                              <a:effectLst/>
                              <a:latin typeface="Verdana" charset="0"/>
                              <a:ea typeface="Verdana" charset="0"/>
                              <a:cs typeface="Verdana" charset="0"/>
                            </a:rPr>
                            <a:t>Jet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2</m:t>
                                </m:r>
                              </m:oMath>
                            </m:oMathPara>
                          </a14:m>
                          <a:endParaRPr lang="en-US" sz="20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0.14</m:t>
                                </m:r>
                              </m:oMath>
                            </m:oMathPara>
                          </a14:m>
                          <a:endParaRPr lang="en-US" sz="20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850636559"/>
                  </p:ext>
                </p:extLst>
              </p:nvPr>
            </p:nvGraphicFramePr>
            <p:xfrm>
              <a:off x="1120663" y="2305907"/>
              <a:ext cx="8045581" cy="2520000"/>
            </p:xfrm>
            <a:graphic>
              <a:graphicData uri="http://schemas.openxmlformats.org/drawingml/2006/table">
                <a:tbl>
                  <a:tblPr firstRow="1" firstCol="1" bandRow="1"/>
                  <a:tblGrid>
                    <a:gridCol w="1565581">
                      <a:extLst>
                        <a:ext uri="{9D8B030D-6E8A-4147-A177-3AD203B41FA5}">
                          <a16:colId xmlns:a16="http://schemas.microsoft.com/office/drawing/2014/main" xmlns:a14="http://schemas.microsoft.com/office/drawing/2010/main" xmlns="" val="20000"/>
                        </a:ext>
                      </a:extLst>
                    </a:gridCol>
                    <a:gridCol w="3600000">
                      <a:extLst>
                        <a:ext uri="{9D8B030D-6E8A-4147-A177-3AD203B41FA5}">
                          <a16:colId xmlns:a16="http://schemas.microsoft.com/office/drawing/2014/main" xmlns:a14="http://schemas.microsoft.com/office/drawing/2010/main" xmlns="" val="20001"/>
                        </a:ext>
                      </a:extLst>
                    </a:gridCol>
                    <a:gridCol w="2880000">
                      <a:extLst>
                        <a:ext uri="{9D8B030D-6E8A-4147-A177-3AD203B41FA5}">
                          <a16:colId xmlns:a16="http://schemas.microsoft.com/office/drawing/2014/main" xmlns:a14="http://schemas.microsoft.com/office/drawing/2010/main" xmlns="" val="20002"/>
                        </a:ext>
                      </a:extLst>
                    </a:gridCol>
                  </a:tblGrid>
                  <a:tr h="1080000">
                    <a:tc>
                      <a:txBody>
                        <a:bodyPr/>
                        <a:lstStyle/>
                        <a:p>
                          <a:pPr marL="0" marR="0" algn="ctr">
                            <a:spcBef>
                              <a:spcPts val="0"/>
                            </a:spcBef>
                            <a:spcAft>
                              <a:spcPts val="0"/>
                            </a:spcAft>
                          </a:pPr>
                          <a:r>
                            <a:rPr lang="en-US" sz="2000" b="1" dirty="0">
                              <a:effectLst/>
                              <a:latin typeface="Verdana" charset="0"/>
                              <a:ea typeface="Verdana" charset="0"/>
                              <a:cs typeface="Verdana" charset="0"/>
                            </a:rPr>
                            <a:t>Vehicle</a:t>
                          </a:r>
                          <a:endParaRPr lang="en-US" sz="2000" dirty="0">
                            <a:effectLst/>
                            <a:latin typeface="Verdana" charset="0"/>
                            <a:ea typeface="Verdana" charset="0"/>
                            <a:cs typeface="Verdana"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43729" r="-80169" b="-133898"/>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179281" b="-133898"/>
                          </a:stretch>
                        </a:blipFill>
                      </a:tcPr>
                    </a:tc>
                    <a:extLst>
                      <a:ext uri="{0D108BD9-81ED-4DB2-BD59-A6C34878D82A}">
                        <a16:rowId xmlns:a16="http://schemas.microsoft.com/office/drawing/2014/main" xmlns:a14="http://schemas.microsoft.com/office/drawing/2010/main" xmlns="" val="10000"/>
                      </a:ext>
                    </a:extLst>
                  </a:tr>
                  <a:tr h="720000">
                    <a:tc>
                      <a:txBody>
                        <a:bodyPr/>
                        <a:lstStyle/>
                        <a:p>
                          <a:pPr marL="0" marR="0" algn="ctr">
                            <a:spcBef>
                              <a:spcPts val="0"/>
                            </a:spcBef>
                            <a:spcAft>
                              <a:spcPts val="0"/>
                            </a:spcAft>
                          </a:pPr>
                          <a:r>
                            <a:rPr lang="en-US" sz="2000" dirty="0">
                              <a:effectLst/>
                              <a:latin typeface="Verdana" charset="0"/>
                              <a:ea typeface="Verdana" charset="0"/>
                              <a:cs typeface="Verdana" charset="0"/>
                            </a:rPr>
                            <a:t>Car</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43729" t="-148739" r="-80169"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179281" t="-148739" b="-99160"/>
                          </a:stretch>
                        </a:blipFill>
                      </a:tcPr>
                    </a:tc>
                    <a:extLst>
                      <a:ext uri="{0D108BD9-81ED-4DB2-BD59-A6C34878D82A}">
                        <a16:rowId xmlns:a16="http://schemas.microsoft.com/office/drawing/2014/main" xmlns:a14="http://schemas.microsoft.com/office/drawing/2010/main" xmlns="" val="10001"/>
                      </a:ext>
                    </a:extLst>
                  </a:tr>
                  <a:tr h="720000">
                    <a:tc>
                      <a:txBody>
                        <a:bodyPr/>
                        <a:lstStyle/>
                        <a:p>
                          <a:pPr marL="0" marR="0" algn="ctr">
                            <a:spcBef>
                              <a:spcPts val="0"/>
                            </a:spcBef>
                            <a:spcAft>
                              <a:spcPts val="0"/>
                            </a:spcAft>
                          </a:pPr>
                          <a:r>
                            <a:rPr lang="en-US" sz="2000" dirty="0">
                              <a:effectLst/>
                              <a:latin typeface="Verdana" charset="0"/>
                              <a:ea typeface="Verdana" charset="0"/>
                              <a:cs typeface="Verdana" charset="0"/>
                            </a:rPr>
                            <a:t>Jet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43729" t="-250847" r="-8016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179281" t="-250847"/>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9"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284</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34205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4089" y="378351"/>
                <a:ext cx="10800000" cy="4708981"/>
              </a:xfrm>
              <a:prstGeom prst="rect">
                <a:avLst/>
              </a:prstGeom>
              <a:noFill/>
            </p:spPr>
            <p:txBody>
              <a:bodyPr wrap="square" rtlCol="0">
                <a:spAutoFit/>
              </a:bodyPr>
              <a:lstStyle/>
              <a:p>
                <a:pPr marL="900113" indent="-457200">
                  <a:buFont typeface="+mj-lt"/>
                  <a:buAutoNum type="alphaLcPeriod"/>
                </a:pPr>
                <a:r>
                  <a:rPr lang="en-US" sz="2000" dirty="0">
                    <a:latin typeface="Verdana" charset="0"/>
                    <a:ea typeface="Verdana" charset="0"/>
                    <a:cs typeface="Verdana" charset="0"/>
                  </a:rPr>
                  <a:t>Write a system of equations to represent the total amount of emissions, </a:t>
                </a:r>
                <a14:m>
                  <m:oMath xmlns:m="http://schemas.openxmlformats.org/officeDocument/2006/math">
                    <m:r>
                      <a:rPr lang="en-US" sz="2000" i="1">
                        <a:latin typeface="Cambria Math" charset="0"/>
                        <a:ea typeface="Verdana" charset="0"/>
                        <a:cs typeface="Verdana" charset="0"/>
                      </a:rPr>
                      <m:t>𝐶</m:t>
                    </m:r>
                  </m:oMath>
                </a14:m>
                <a:r>
                  <a:rPr lang="en-US" sz="2000" dirty="0">
                    <a:latin typeface="Verdana" charset="0"/>
                    <a:ea typeface="Verdana" charset="0"/>
                    <a:cs typeface="Verdana" charset="0"/>
                  </a:rPr>
                  <a:t>, from each vehicle from the time the engine is started when traveling a certain number of miles, </a:t>
                </a:r>
                <a14:m>
                  <m:oMath xmlns:m="http://schemas.openxmlformats.org/officeDocument/2006/math">
                    <m:r>
                      <a:rPr lang="en-US" sz="2000" i="1">
                        <a:latin typeface="Cambria Math" charset="0"/>
                        <a:ea typeface="Verdana" charset="0"/>
                        <a:cs typeface="Verdana" charset="0"/>
                      </a:rPr>
                      <m:t>𝑚</m:t>
                    </m:r>
                  </m:oMath>
                </a14:m>
                <a:r>
                  <a:rPr lang="en-US" sz="2000" dirty="0">
                    <a:latin typeface="Verdana" charset="0"/>
                    <a:ea typeface="Verdana" charset="0"/>
                    <a:cs typeface="Verdana" charset="0"/>
                  </a:rPr>
                  <a:t>. </a:t>
                </a: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r>
                  <a:rPr lang="en-US" sz="2000" dirty="0">
                    <a:latin typeface="Verdana" charset="0"/>
                    <a:ea typeface="Verdana" charset="0"/>
                    <a:cs typeface="Verdana" charset="0"/>
                  </a:rPr>
                  <a:t>Solve the system using the method of your choice. </a:t>
                </a: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r>
                  <a:rPr lang="en-US" sz="2000" dirty="0">
                    <a:latin typeface="Verdana" charset="0"/>
                    <a:ea typeface="Verdana" charset="0"/>
                    <a:cs typeface="Verdana" charset="0"/>
                  </a:rPr>
                  <a:t>At what approximate distance will the jet and the car emit the same amount of </a:t>
                </a:r>
                <a14:m>
                  <m:oMath xmlns:m="http://schemas.openxmlformats.org/officeDocument/2006/math">
                    <m:sSub>
                      <m:sSubPr>
                        <m:ctrlPr>
                          <a:rPr lang="en-US" sz="2000" i="1">
                            <a:latin typeface="Cambria Math"/>
                            <a:ea typeface="Verdana" charset="0"/>
                            <a:cs typeface="Verdana" charset="0"/>
                          </a:rPr>
                        </m:ctrlPr>
                      </m:sSubPr>
                      <m:e>
                        <m:r>
                          <a:rPr lang="en-US" sz="2000" i="1">
                            <a:latin typeface="Cambria Math" charset="0"/>
                            <a:ea typeface="Verdana" charset="0"/>
                            <a:cs typeface="Verdana" charset="0"/>
                          </a:rPr>
                          <m:t>𝐶𝑂</m:t>
                        </m:r>
                      </m:e>
                      <m:sub>
                        <m:r>
                          <a:rPr lang="en-US" sz="2000" i="1">
                            <a:latin typeface="Cambria Math" charset="0"/>
                            <a:ea typeface="Verdana" charset="0"/>
                            <a:cs typeface="Verdana" charset="0"/>
                          </a:rPr>
                          <m:t>2</m:t>
                        </m:r>
                      </m:sub>
                    </m:sSub>
                  </m:oMath>
                </a14:m>
                <a:r>
                  <a:rPr lang="en-US" sz="2000" dirty="0">
                    <a:latin typeface="Verdana" charset="0"/>
                    <a:ea typeface="Verdana" charset="0"/>
                    <a:cs typeface="Verdana" charset="0"/>
                  </a:rPr>
                  <a:t>?</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4089" y="378351"/>
                <a:ext cx="10800000" cy="4708981"/>
              </a:xfrm>
              <a:prstGeom prst="rect">
                <a:avLst/>
              </a:prstGeom>
              <a:blipFill rotWithShape="1">
                <a:blip r:embed="rId3"/>
                <a:stretch>
                  <a:fillRect t="-776" r="-56"/>
                </a:stretch>
              </a:blipFill>
            </p:spPr>
            <p:txBody>
              <a:bodyPr/>
              <a:lstStyle/>
              <a:p>
                <a:r>
                  <a:rPr lang="en-PH">
                    <a:noFill/>
                  </a:rPr>
                  <a:t> </a:t>
                </a:r>
              </a:p>
            </p:txBody>
          </p:sp>
        </mc:Fallback>
      </mc:AlternateContent>
      <p:sp>
        <p:nvSpPr>
          <p:cNvPr id="6"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284</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7233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908"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3179" y="383277"/>
                <a:ext cx="10800000" cy="5016758"/>
              </a:xfrm>
              <a:prstGeom prst="rect">
                <a:avLst/>
              </a:prstGeom>
              <a:noFill/>
            </p:spPr>
            <p:txBody>
              <a:bodyPr wrap="square" rtlCol="0">
                <a:spAutoFit/>
              </a:bodyPr>
              <a:lstStyle/>
              <a:p>
                <a:pPr marL="900113" indent="-457200">
                  <a:buFont typeface="+mj-lt"/>
                  <a:buAutoNum type="alphaLcPeriod" startAt="4"/>
                </a:pPr>
                <a:r>
                  <a:rPr lang="en-US" sz="2000" dirty="0">
                    <a:latin typeface="Verdana" charset="0"/>
                    <a:ea typeface="Verdana" charset="0"/>
                    <a:cs typeface="Verdana" charset="0"/>
                  </a:rPr>
                  <a:t>Shayla and Firenze discussed the constraints that exist in this situation.</a:t>
                </a:r>
              </a:p>
              <a:p>
                <a:pPr marL="900113" indent="-457200"/>
                <a:r>
                  <a:rPr lang="en-US" sz="2000" dirty="0">
                    <a:latin typeface="Verdana" charset="0"/>
                    <a:ea typeface="Verdana" charset="0"/>
                    <a:cs typeface="Verdana" charset="0"/>
                  </a:rPr>
                  <a:t> </a:t>
                </a:r>
              </a:p>
              <a:p>
                <a:pPr marL="900113" indent="-3175"/>
                <a:r>
                  <a:rPr lang="en-US" sz="2000" dirty="0">
                    <a:latin typeface="Verdana" charset="0"/>
                    <a:ea typeface="Verdana" charset="0"/>
                    <a:cs typeface="Verdana" charset="0"/>
                  </a:rPr>
                  <a:t>Shayla said, “There are no constraints on </a:t>
                </a:r>
                <a14:m>
                  <m:oMath xmlns:m="http://schemas.openxmlformats.org/officeDocument/2006/math">
                    <m:r>
                      <a:rPr lang="en-US" sz="2000" i="1">
                        <a:latin typeface="Cambria Math" charset="0"/>
                        <a:ea typeface="Verdana" charset="0"/>
                        <a:cs typeface="Verdana" charset="0"/>
                      </a:rPr>
                      <m:t>𝑚</m:t>
                    </m:r>
                  </m:oMath>
                </a14:m>
                <a:r>
                  <a:rPr lang="en-US" sz="2000" dirty="0">
                    <a:latin typeface="Verdana" charset="0"/>
                    <a:ea typeface="Verdana" charset="0"/>
                    <a:cs typeface="Verdana" charset="0"/>
                  </a:rPr>
                  <a:t> because the vehicles can travel any number of miles, including parts of miles. However, </a:t>
                </a:r>
                <a14:m>
                  <m:oMath xmlns:m="http://schemas.openxmlformats.org/officeDocument/2006/math">
                    <m:r>
                      <a:rPr lang="en-US" sz="2000" i="1">
                        <a:latin typeface="Cambria Math" charset="0"/>
                        <a:ea typeface="Verdana" charset="0"/>
                        <a:cs typeface="Verdana" charset="0"/>
                      </a:rPr>
                      <m:t>𝐶</m:t>
                    </m:r>
                  </m:oMath>
                </a14:m>
                <a:r>
                  <a:rPr lang="en-US" sz="2000" dirty="0">
                    <a:latin typeface="Verdana" charset="0"/>
                    <a:ea typeface="Verdana" charset="0"/>
                    <a:cs typeface="Verdana" charset="0"/>
                  </a:rPr>
                  <a:t> must be positive because carbon dioxide is either emitted or not.”</a:t>
                </a:r>
              </a:p>
              <a:p>
                <a:pPr marL="900113" indent="-3175"/>
                <a:r>
                  <a:rPr lang="en-US" sz="2000" dirty="0">
                    <a:latin typeface="Verdana" charset="0"/>
                    <a:ea typeface="Verdana" charset="0"/>
                    <a:cs typeface="Verdana" charset="0"/>
                  </a:rPr>
                  <a:t> </a:t>
                </a:r>
              </a:p>
              <a:p>
                <a:pPr marL="900113" indent="-3175"/>
                <a:r>
                  <a:rPr lang="en-US" sz="2000" dirty="0">
                    <a:latin typeface="Verdana" charset="0"/>
                    <a:ea typeface="Verdana" charset="0"/>
                    <a:cs typeface="Verdana" charset="0"/>
                  </a:rPr>
                  <a:t>Firenze replied, “I agree with you about the carbon dioxide, but you also can’t travel a negative number of miles, so the variable, </a:t>
                </a:r>
                <a14:m>
                  <m:oMath xmlns:m="http://schemas.openxmlformats.org/officeDocument/2006/math">
                    <m:r>
                      <a:rPr lang="en-US" sz="2000" i="1">
                        <a:latin typeface="Cambria Math" charset="0"/>
                        <a:ea typeface="Verdana" charset="0"/>
                        <a:cs typeface="Verdana" charset="0"/>
                      </a:rPr>
                      <m:t>𝑚</m:t>
                    </m:r>
                  </m:oMath>
                </a14:m>
                <a:r>
                  <a:rPr lang="en-US" sz="2000" dirty="0">
                    <a:latin typeface="Verdana" charset="0"/>
                    <a:ea typeface="Verdana" charset="0"/>
                    <a:cs typeface="Verdana" charset="0"/>
                  </a:rPr>
                  <a:t>, cannot have any negative values either.”</a:t>
                </a:r>
              </a:p>
              <a:p>
                <a:pPr marL="900113" indent="-3175"/>
                <a:r>
                  <a:rPr lang="en-US" sz="2000" dirty="0">
                    <a:latin typeface="Verdana" charset="0"/>
                    <a:ea typeface="Verdana" charset="0"/>
                    <a:cs typeface="Verdana" charset="0"/>
                  </a:rPr>
                  <a:t> </a:t>
                </a:r>
              </a:p>
              <a:p>
                <a:pPr marL="900113" indent="-3175"/>
                <a:r>
                  <a:rPr lang="en-US" sz="2000" dirty="0">
                    <a:latin typeface="Verdana" charset="0"/>
                    <a:ea typeface="Verdana" charset="0"/>
                    <a:cs typeface="Verdana" charset="0"/>
                  </a:rPr>
                  <a:t>Represent the constraints in this context using inequalities. </a:t>
                </a:r>
              </a:p>
              <a:p>
                <a:pPr marL="900113" indent="-457200"/>
                <a:r>
                  <a:rPr lang="en-US" sz="2000" dirty="0">
                    <a:latin typeface="Verdana" charset="0"/>
                    <a:ea typeface="Verdana" charset="0"/>
                    <a:cs typeface="Verdana" charset="0"/>
                  </a:rPr>
                  <a:t> </a:t>
                </a:r>
                <a:endParaRPr lang="en-US" sz="2000" dirty="0" smtClean="0">
                  <a:latin typeface="Verdana" charset="0"/>
                  <a:ea typeface="Verdana" charset="0"/>
                  <a:cs typeface="Verdana" charset="0"/>
                </a:endParaRPr>
              </a:p>
              <a:p>
                <a:pPr marL="900113" indent="-457200"/>
                <a:endParaRPr lang="en-US" sz="2000" dirty="0">
                  <a:latin typeface="Verdana" charset="0"/>
                  <a:ea typeface="Verdana" charset="0"/>
                  <a:cs typeface="Verdana" charset="0"/>
                </a:endParaRPr>
              </a:p>
              <a:p>
                <a:pPr marL="900113" indent="-457200">
                  <a:buFont typeface="+mj-lt"/>
                  <a:buAutoNum type="alphaLcPeriod" startAt="5"/>
                </a:pPr>
                <a:r>
                  <a:rPr lang="en-US" sz="2000" dirty="0">
                    <a:latin typeface="Verdana" charset="0"/>
                    <a:ea typeface="Verdana" charset="0"/>
                    <a:cs typeface="Verdana" charset="0"/>
                  </a:rPr>
                  <a:t>Firenze concluded from the context that jets are better for the environment because they emit less </a:t>
                </a:r>
                <a14:m>
                  <m:oMath xmlns:m="http://schemas.openxmlformats.org/officeDocument/2006/math">
                    <m:sSub>
                      <m:sSubPr>
                        <m:ctrlPr>
                          <a:rPr lang="en-US" sz="2000" i="1">
                            <a:latin typeface="Cambria Math"/>
                            <a:ea typeface="Verdana" charset="0"/>
                            <a:cs typeface="Verdana" charset="0"/>
                          </a:rPr>
                        </m:ctrlPr>
                      </m:sSubPr>
                      <m:e>
                        <m:r>
                          <a:rPr lang="en-US" sz="2000" i="1">
                            <a:latin typeface="Cambria Math" charset="0"/>
                            <a:ea typeface="Verdana" charset="0"/>
                            <a:cs typeface="Verdana" charset="0"/>
                          </a:rPr>
                          <m:t>𝐶𝑂</m:t>
                        </m:r>
                      </m:e>
                      <m:sub>
                        <m:r>
                          <a:rPr lang="en-US" sz="2000" i="1">
                            <a:latin typeface="Cambria Math" charset="0"/>
                            <a:ea typeface="Verdana" charset="0"/>
                            <a:cs typeface="Verdana" charset="0"/>
                          </a:rPr>
                          <m:t>2</m:t>
                        </m:r>
                      </m:sub>
                    </m:sSub>
                  </m:oMath>
                </a14:m>
                <a:r>
                  <a:rPr lang="en-US" sz="2000" dirty="0">
                    <a:latin typeface="Verdana" charset="0"/>
                    <a:ea typeface="Verdana" charset="0"/>
                    <a:cs typeface="Verdana" charset="0"/>
                  </a:rPr>
                  <a:t>. Discuss with your partner why this may not be an accurate interpretation. </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3179" y="383277"/>
                <a:ext cx="10800000" cy="5016758"/>
              </a:xfrm>
              <a:prstGeom prst="rect">
                <a:avLst/>
              </a:prstGeom>
              <a:blipFill rotWithShape="1">
                <a:blip r:embed="rId3"/>
                <a:stretch>
                  <a:fillRect t="-729" r="-1016" b="-1215"/>
                </a:stretch>
              </a:blipFill>
            </p:spPr>
            <p:txBody>
              <a:bodyPr/>
              <a:lstStyle/>
              <a:p>
                <a:r>
                  <a:rPr lang="en-PH">
                    <a:noFill/>
                  </a:rPr>
                  <a:t> </a:t>
                </a:r>
              </a:p>
            </p:txBody>
          </p:sp>
        </mc:Fallback>
      </mc:AlternateContent>
      <p:sp>
        <p:nvSpPr>
          <p:cNvPr id="6"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285</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30308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45135" y="-9144"/>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05267"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531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47"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3882" y="3984"/>
            <a:ext cx="102256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5.11.3 Collaboration: Interpreting Solutions in Context</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46968" y="28101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E44DF7DE-9172-3E4E-B74A-7A51585FB6EA}"/>
                  </a:ext>
                </a:extLst>
              </p:cNvPr>
              <p:cNvSpPr txBox="1"/>
              <p:nvPr/>
            </p:nvSpPr>
            <p:spPr>
              <a:xfrm>
                <a:off x="529855" y="1465928"/>
                <a:ext cx="10800000" cy="224676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The equation </a:t>
                </a:r>
                <a14:m>
                  <m:oMath xmlns:m="http://schemas.openxmlformats.org/officeDocument/2006/math">
                    <m:r>
                      <a:rPr lang="en-US" sz="2000" i="1">
                        <a:latin typeface="Cambria Math" charset="0"/>
                        <a:ea typeface="Verdana" charset="0"/>
                        <a:cs typeface="Verdana" charset="0"/>
                      </a:rPr>
                      <m:t>𝑡</m:t>
                    </m:r>
                    <m:r>
                      <a:rPr lang="en-US" sz="2000" i="1">
                        <a:latin typeface="Cambria Math" charset="0"/>
                        <a:ea typeface="Verdana" charset="0"/>
                        <a:cs typeface="Verdana" charset="0"/>
                      </a:rPr>
                      <m:t>=71.03</m:t>
                    </m:r>
                    <m:r>
                      <a:rPr lang="en-US" sz="2000" i="1">
                        <a:latin typeface="Cambria Math" charset="0"/>
                        <a:ea typeface="Verdana" charset="0"/>
                        <a:cs typeface="Verdana" charset="0"/>
                      </a:rPr>
                      <m:t>𝑥</m:t>
                    </m:r>
                    <m:r>
                      <a:rPr lang="en-US" sz="2000" i="1">
                        <a:latin typeface="Cambria Math" charset="0"/>
                        <a:ea typeface="Verdana" charset="0"/>
                        <a:cs typeface="Verdana" charset="0"/>
                      </a:rPr>
                      <m:t> + 3290.51</m:t>
                    </m:r>
                  </m:oMath>
                </a14:m>
                <a:r>
                  <a:rPr lang="en-US" sz="2000" dirty="0">
                    <a:latin typeface="Verdana" charset="0"/>
                    <a:ea typeface="Verdana" charset="0"/>
                    <a:cs typeface="Verdana" charset="0"/>
                  </a:rPr>
                  <a:t> represents the relationship between the total average cost of tuition each year, </a:t>
                </a:r>
                <a14:m>
                  <m:oMath xmlns:m="http://schemas.openxmlformats.org/officeDocument/2006/math">
                    <m:r>
                      <a:rPr lang="en-US" sz="2000" i="1">
                        <a:latin typeface="Cambria Math" charset="0"/>
                        <a:ea typeface="Verdana" charset="0"/>
                        <a:cs typeface="Verdana" charset="0"/>
                      </a:rPr>
                      <m:t>𝑡</m:t>
                    </m:r>
                  </m:oMath>
                </a14:m>
                <a:r>
                  <a:rPr lang="en-US" sz="2000" dirty="0">
                    <a:latin typeface="Verdana" charset="0"/>
                    <a:ea typeface="Verdana" charset="0"/>
                    <a:cs typeface="Verdana" charset="0"/>
                  </a:rPr>
                  <a:t>, in dollars, for a full-time student attending a public university, and years since 2011,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The total average cost of tuition for a full-time student attending a private university was </a:t>
                </a:r>
                <a14:m>
                  <m:oMath xmlns:m="http://schemas.openxmlformats.org/officeDocument/2006/math">
                    <m:r>
                      <a:rPr lang="en-US" sz="2000" i="1">
                        <a:latin typeface="Cambria Math" charset="0"/>
                        <a:ea typeface="Verdana" charset="0"/>
                        <a:cs typeface="Verdana" charset="0"/>
                      </a:rPr>
                      <m:t>$17,710.25</m:t>
                    </m:r>
                  </m:oMath>
                </a14:m>
                <a:r>
                  <a:rPr lang="en-US" sz="2000" dirty="0">
                    <a:latin typeface="Verdana" charset="0"/>
                    <a:ea typeface="Verdana" charset="0"/>
                    <a:cs typeface="Verdana" charset="0"/>
                  </a:rPr>
                  <a:t> in 2011, and has increased by an average of </a:t>
                </a:r>
                <a14:m>
                  <m:oMath xmlns:m="http://schemas.openxmlformats.org/officeDocument/2006/math">
                    <m:r>
                      <a:rPr lang="en-US" sz="2000" i="1">
                        <a:latin typeface="Cambria Math" charset="0"/>
                        <a:ea typeface="Verdana" charset="0"/>
                        <a:cs typeface="Verdana" charset="0"/>
                      </a:rPr>
                      <m:t>$919.25</m:t>
                    </m:r>
                  </m:oMath>
                </a14:m>
                <a:r>
                  <a:rPr lang="en-US" sz="2000" dirty="0">
                    <a:latin typeface="Verdana" charset="0"/>
                    <a:ea typeface="Verdana" charset="0"/>
                    <a:cs typeface="Verdana" charset="0"/>
                  </a:rPr>
                  <a:t> per year since then. </a:t>
                </a:r>
              </a:p>
            </p:txBody>
          </p:sp>
        </mc:Choice>
        <mc:Fallback>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29855" y="1465928"/>
                <a:ext cx="10800000" cy="2246769"/>
              </a:xfrm>
              <a:prstGeom prst="rect">
                <a:avLst/>
              </a:prstGeom>
              <a:blipFill rotWithShape="1">
                <a:blip r:embed="rId4"/>
                <a:stretch>
                  <a:fillRect l="-621" t="-1626" r="-959"/>
                </a:stretch>
              </a:blipFill>
            </p:spPr>
            <p:txBody>
              <a:bodyPr/>
              <a:lstStyle/>
              <a:p>
                <a:r>
                  <a:rPr lang="en-PH">
                    <a:noFill/>
                  </a:rPr>
                  <a:t> </a:t>
                </a:r>
              </a:p>
            </p:txBody>
          </p:sp>
        </mc:Fallback>
      </mc:AlternateContent>
      <p:sp>
        <p:nvSpPr>
          <p:cNvPr id="11"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285</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4089" y="378351"/>
                <a:ext cx="10800000" cy="4401205"/>
              </a:xfrm>
              <a:prstGeom prst="rect">
                <a:avLst/>
              </a:prstGeom>
              <a:noFill/>
            </p:spPr>
            <p:txBody>
              <a:bodyPr wrap="square" rtlCol="0">
                <a:spAutoFit/>
              </a:bodyPr>
              <a:lstStyle/>
              <a:p>
                <a:pPr marL="900113" indent="-457200">
                  <a:buFont typeface="+mj-lt"/>
                  <a:buAutoNum type="alphaLcPeriod"/>
                </a:pPr>
                <a:r>
                  <a:rPr lang="en-US" sz="2000" dirty="0">
                    <a:latin typeface="Verdana" charset="0"/>
                    <a:ea typeface="Verdana" charset="0"/>
                    <a:cs typeface="Verdana" charset="0"/>
                  </a:rPr>
                  <a:t>Write a second equation to represent the relationship between total average cost, </a:t>
                </a:r>
                <a14:m>
                  <m:oMath xmlns:m="http://schemas.openxmlformats.org/officeDocument/2006/math">
                    <m:r>
                      <a:rPr lang="en-US" sz="2000" i="1">
                        <a:latin typeface="Cambria Math" charset="0"/>
                        <a:ea typeface="Verdana" charset="0"/>
                        <a:cs typeface="Verdana" charset="0"/>
                      </a:rPr>
                      <m:t>𝑡</m:t>
                    </m:r>
                  </m:oMath>
                </a14:m>
                <a:r>
                  <a:rPr lang="en-US" sz="2000" dirty="0">
                    <a:latin typeface="Verdana" charset="0"/>
                    <a:ea typeface="Verdana" charset="0"/>
                    <a:cs typeface="Verdana" charset="0"/>
                  </a:rPr>
                  <a:t>, and years since 2011,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for private university tuition.</a:t>
                </a:r>
              </a:p>
              <a:p>
                <a:pPr marL="900113" indent="-457200">
                  <a:buFont typeface="+mj-lt"/>
                  <a:buAutoNum type="alphaLcPeriod"/>
                </a:pPr>
                <a:endParaRPr lang="en-US" sz="2000" dirty="0" smtClean="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r>
                  <a:rPr lang="en-US" sz="2000" dirty="0">
                    <a:latin typeface="Verdana" charset="0"/>
                    <a:ea typeface="Verdana" charset="0"/>
                    <a:cs typeface="Verdana" charset="0"/>
                  </a:rPr>
                  <a:t>Using any method, solve the system of equations created with the two equations.</a:t>
                </a: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smtClean="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endParaRPr lang="en-US" sz="2000" dirty="0">
                  <a:latin typeface="Verdana" charset="0"/>
                  <a:ea typeface="Verdana" charset="0"/>
                  <a:cs typeface="Verdana" charset="0"/>
                </a:endParaRPr>
              </a:p>
              <a:p>
                <a:pPr marL="900113" indent="-457200">
                  <a:buFont typeface="+mj-lt"/>
                  <a:buAutoNum type="alphaLcPeriod"/>
                </a:pPr>
                <a:r>
                  <a:rPr lang="en-US" sz="2000" dirty="0">
                    <a:latin typeface="Verdana" charset="0"/>
                    <a:ea typeface="Verdana" charset="0"/>
                    <a:cs typeface="Verdana" charset="0"/>
                  </a:rPr>
                  <a:t>In what year did both private and public universities cost the same amount?</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4089" y="378351"/>
                <a:ext cx="10800000" cy="4401205"/>
              </a:xfrm>
              <a:prstGeom prst="rect">
                <a:avLst/>
              </a:prstGeom>
              <a:blipFill rotWithShape="1">
                <a:blip r:embed="rId3"/>
                <a:stretch>
                  <a:fillRect t="-831" b="-1524"/>
                </a:stretch>
              </a:blipFill>
            </p:spPr>
            <p:txBody>
              <a:bodyPr/>
              <a:lstStyle/>
              <a:p>
                <a:r>
                  <a:rPr lang="en-PH">
                    <a:noFill/>
                  </a:rPr>
                  <a:t> </a:t>
                </a:r>
              </a:p>
            </p:txBody>
          </p:sp>
        </mc:Fallback>
      </mc:AlternateContent>
      <p:sp>
        <p:nvSpPr>
          <p:cNvPr id="6"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285</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41022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6345" y="378345"/>
            <a:ext cx="10800000" cy="707886"/>
          </a:xfrm>
          <a:prstGeom prst="rect">
            <a:avLst/>
          </a:prstGeom>
          <a:noFill/>
        </p:spPr>
        <p:txBody>
          <a:bodyPr wrap="square" rtlCol="0">
            <a:spAutoFit/>
          </a:bodyPr>
          <a:lstStyle/>
          <a:p>
            <a:pPr marL="900113" indent="-457200">
              <a:buFont typeface="+mj-lt"/>
              <a:buAutoNum type="alphaLcPeriod" startAt="4"/>
            </a:pPr>
            <a:r>
              <a:rPr lang="en-US" sz="2000" dirty="0">
                <a:latin typeface="Verdana" charset="0"/>
                <a:ea typeface="Verdana" charset="0"/>
                <a:cs typeface="Verdana" charset="0"/>
              </a:rPr>
              <a:t>What was the average total cost of tuition at that time?</a:t>
            </a:r>
          </a:p>
        </p:txBody>
      </p:sp>
      <p:sp>
        <p:nvSpPr>
          <p:cNvPr id="6"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286</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10474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1687" y="387229"/>
                <a:ext cx="10800000" cy="4708981"/>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Tyler prepares overnight oats for his breakfast each morning during the work week. He adds chia seeds for added nutrition. He buys the chia seeds and steel-cut oats he uses at a local bulk store. Last month, he purchased </a:t>
                </a:r>
                <a14:m>
                  <m:oMath xmlns:m="http://schemas.openxmlformats.org/officeDocument/2006/math">
                    <m:r>
                      <a:rPr lang="en-US" sz="2000" i="1">
                        <a:latin typeface="Cambria Math" charset="0"/>
                        <a:ea typeface="Verdana" charset="0"/>
                        <a:cs typeface="Verdana" charset="0"/>
                      </a:rPr>
                      <m:t>0.8</m:t>
                    </m:r>
                  </m:oMath>
                </a14:m>
                <a:r>
                  <a:rPr lang="en-US" sz="2000" dirty="0">
                    <a:latin typeface="Verdana" charset="0"/>
                    <a:ea typeface="Verdana" charset="0"/>
                    <a:cs typeface="Verdana" charset="0"/>
                  </a:rPr>
                  <a:t> pounds of chia seeds and </a:t>
                </a:r>
                <a14:m>
                  <m:oMath xmlns:m="http://schemas.openxmlformats.org/officeDocument/2006/math">
                    <m:r>
                      <a:rPr lang="en-US" sz="2000" i="1">
                        <a:latin typeface="Cambria Math" charset="0"/>
                        <a:ea typeface="Verdana" charset="0"/>
                        <a:cs typeface="Verdana" charset="0"/>
                      </a:rPr>
                      <m:t>2.5</m:t>
                    </m:r>
                  </m:oMath>
                </a14:m>
                <a:r>
                  <a:rPr lang="en-US" sz="2000" dirty="0">
                    <a:latin typeface="Verdana" charset="0"/>
                    <a:ea typeface="Verdana" charset="0"/>
                    <a:cs typeface="Verdana" charset="0"/>
                  </a:rPr>
                  <a:t> pounds of steel-cut oats for </a:t>
                </a:r>
                <a14:m>
                  <m:oMath xmlns:m="http://schemas.openxmlformats.org/officeDocument/2006/math">
                    <m:r>
                      <a:rPr lang="en-US" sz="2000" i="1">
                        <a:latin typeface="Cambria Math" charset="0"/>
                        <a:ea typeface="Verdana" charset="0"/>
                        <a:cs typeface="Verdana" charset="0"/>
                      </a:rPr>
                      <m:t>$8.82</m:t>
                    </m:r>
                  </m:oMath>
                </a14:m>
                <a:r>
                  <a:rPr lang="en-US" sz="2000" dirty="0">
                    <a:latin typeface="Verdana" charset="0"/>
                    <a:ea typeface="Verdana" charset="0"/>
                    <a:cs typeface="Verdana" charset="0"/>
                  </a:rPr>
                  <a:t>. This month, he bought </a:t>
                </a:r>
                <a14:m>
                  <m:oMath xmlns:m="http://schemas.openxmlformats.org/officeDocument/2006/math">
                    <m:r>
                      <a:rPr lang="en-US" sz="2000" i="1">
                        <a:latin typeface="Cambria Math" charset="0"/>
                        <a:ea typeface="Verdana" charset="0"/>
                        <a:cs typeface="Verdana" charset="0"/>
                      </a:rPr>
                      <m:t>0.4</m:t>
                    </m:r>
                  </m:oMath>
                </a14:m>
                <a:r>
                  <a:rPr lang="en-US" sz="2000" dirty="0">
                    <a:latin typeface="Verdana" charset="0"/>
                    <a:ea typeface="Verdana" charset="0"/>
                    <a:cs typeface="Verdana" charset="0"/>
                  </a:rPr>
                  <a:t> pounds of chia seeds and </a:t>
                </a:r>
                <a14:m>
                  <m:oMath xmlns:m="http://schemas.openxmlformats.org/officeDocument/2006/math">
                    <m:r>
                      <a:rPr lang="en-US" sz="2000" i="1">
                        <a:latin typeface="Cambria Math" charset="0"/>
                        <a:ea typeface="Verdana" charset="0"/>
                        <a:cs typeface="Verdana" charset="0"/>
                      </a:rPr>
                      <m:t>3</m:t>
                    </m:r>
                  </m:oMath>
                </a14:m>
                <a:r>
                  <a:rPr lang="en-US" sz="2000" dirty="0">
                    <a:latin typeface="Verdana" charset="0"/>
                    <a:ea typeface="Verdana" charset="0"/>
                    <a:cs typeface="Verdana" charset="0"/>
                  </a:rPr>
                  <a:t> pounds of steel-cut oats for </a:t>
                </a:r>
                <a14:m>
                  <m:oMath xmlns:m="http://schemas.openxmlformats.org/officeDocument/2006/math">
                    <m:r>
                      <a:rPr lang="en-US" sz="2000" i="1">
                        <a:latin typeface="Cambria Math" charset="0"/>
                        <a:ea typeface="Verdana" charset="0"/>
                        <a:cs typeface="Verdana" charset="0"/>
                      </a:rPr>
                      <m:t>$7.79</m:t>
                    </m:r>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 </a:t>
                </a:r>
              </a:p>
              <a:p>
                <a:pPr marL="977900" lvl="1" indent="-442913">
                  <a:buFont typeface="+mj-lt"/>
                  <a:buAutoNum type="alphaLcPeriod"/>
                </a:pPr>
                <a:r>
                  <a:rPr lang="en-US" sz="2000" dirty="0">
                    <a:latin typeface="Verdana" charset="0"/>
                    <a:ea typeface="Verdana" charset="0"/>
                    <a:cs typeface="Verdana" charset="0"/>
                  </a:rPr>
                  <a:t>Write a system of equations that could be used to find the price per pound for chia seeds and steel-cut oats at the bulk store. Define the variables used. </a:t>
                </a:r>
              </a:p>
              <a:p>
                <a:pPr marL="977900" lvl="1" indent="-442913">
                  <a:buFont typeface="+mj-lt"/>
                  <a:buAutoNum type="alphaLcPeriod"/>
                </a:pPr>
                <a:endParaRPr lang="en-US" sz="2000" dirty="0">
                  <a:latin typeface="Verdana" charset="0"/>
                  <a:ea typeface="Verdana" charset="0"/>
                  <a:cs typeface="Verdana" charset="0"/>
                </a:endParaRPr>
              </a:p>
              <a:p>
                <a:pPr marL="977900" lvl="1" indent="-442913">
                  <a:buFont typeface="+mj-lt"/>
                  <a:buAutoNum type="alphaLcPeriod"/>
                </a:pPr>
                <a:endParaRPr lang="en-US" sz="2000" dirty="0">
                  <a:latin typeface="Verdana" charset="0"/>
                  <a:ea typeface="Verdana" charset="0"/>
                  <a:cs typeface="Verdana" charset="0"/>
                </a:endParaRPr>
              </a:p>
              <a:p>
                <a:pPr marL="977900" lvl="1" indent="-442913">
                  <a:buFont typeface="+mj-lt"/>
                  <a:buAutoNum type="alphaLcPeriod"/>
                </a:pPr>
                <a:r>
                  <a:rPr lang="en-US" sz="2000" dirty="0">
                    <a:latin typeface="Verdana" charset="0"/>
                    <a:ea typeface="Verdana" charset="0"/>
                    <a:cs typeface="Verdana" charset="0"/>
                  </a:rPr>
                  <a:t>Solve the system of equations. Round your answers to the nearest thousandth.</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1687" y="387229"/>
                <a:ext cx="10800000" cy="4708981"/>
              </a:xfrm>
              <a:prstGeom prst="rect">
                <a:avLst/>
              </a:prstGeom>
              <a:blipFill rotWithShape="1">
                <a:blip r:embed="rId3"/>
                <a:stretch>
                  <a:fillRect l="-564" t="-777" r="-508"/>
                </a:stretch>
              </a:blipFill>
            </p:spPr>
            <p:txBody>
              <a:bodyPr/>
              <a:lstStyle/>
              <a:p>
                <a:r>
                  <a:rPr lang="en-PH">
                    <a:noFill/>
                  </a:rPr>
                  <a:t> </a:t>
                </a:r>
              </a:p>
            </p:txBody>
          </p:sp>
        </mc:Fallback>
      </mc:AlternateContent>
      <p:sp>
        <p:nvSpPr>
          <p:cNvPr id="6"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286</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18880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1831" y="378350"/>
            <a:ext cx="10800000" cy="3785652"/>
          </a:xfrm>
          <a:prstGeom prst="rect">
            <a:avLst/>
          </a:prstGeom>
          <a:noFill/>
        </p:spPr>
        <p:txBody>
          <a:bodyPr wrap="square" rtlCol="0">
            <a:spAutoFit/>
          </a:bodyPr>
          <a:lstStyle/>
          <a:p>
            <a:pPr marL="900113" lvl="1" indent="-457200">
              <a:buFont typeface="+mj-lt"/>
              <a:buAutoNum type="alphaLcPeriod" startAt="3"/>
            </a:pPr>
            <a:r>
              <a:rPr lang="en-US" sz="2000" dirty="0">
                <a:latin typeface="Verdana" charset="0"/>
                <a:ea typeface="Verdana" charset="0"/>
                <a:cs typeface="Verdana" charset="0"/>
              </a:rPr>
              <a:t>Discuss with your partner any constraints on the variables in this context. Then, summarize your discussion. </a:t>
            </a:r>
          </a:p>
          <a:p>
            <a:pPr marL="900113" lvl="1" indent="-457200">
              <a:buFont typeface="+mj-lt"/>
              <a:buAutoNum type="alphaLcPeriod" startAt="3"/>
            </a:pPr>
            <a:endParaRPr lang="en-US" sz="2000" dirty="0">
              <a:latin typeface="Verdana" charset="0"/>
              <a:ea typeface="Verdana" charset="0"/>
              <a:cs typeface="Verdana" charset="0"/>
            </a:endParaRPr>
          </a:p>
          <a:p>
            <a:pPr marL="900113" lvl="1" indent="-457200">
              <a:buFont typeface="+mj-lt"/>
              <a:buAutoNum type="alphaLcPeriod" startAt="3"/>
            </a:pPr>
            <a:endParaRPr lang="en-US" sz="2000" dirty="0">
              <a:latin typeface="Verdana" charset="0"/>
              <a:ea typeface="Verdana" charset="0"/>
              <a:cs typeface="Verdana" charset="0"/>
            </a:endParaRPr>
          </a:p>
          <a:p>
            <a:pPr marL="900113" lvl="1" indent="-457200">
              <a:buFont typeface="+mj-lt"/>
              <a:buAutoNum type="alphaLcPeriod" startAt="3"/>
            </a:pPr>
            <a:endParaRPr lang="en-US" sz="2000" dirty="0">
              <a:latin typeface="Verdana" charset="0"/>
              <a:ea typeface="Verdana" charset="0"/>
              <a:cs typeface="Verdana" charset="0"/>
            </a:endParaRPr>
          </a:p>
          <a:p>
            <a:pPr marL="900113" lvl="1" indent="-457200">
              <a:buFont typeface="+mj-lt"/>
              <a:buAutoNum type="alphaLcPeriod" startAt="3"/>
            </a:pPr>
            <a:endParaRPr lang="en-US" sz="2000" dirty="0">
              <a:latin typeface="Verdana" charset="0"/>
              <a:ea typeface="Verdana" charset="0"/>
              <a:cs typeface="Verdana" charset="0"/>
            </a:endParaRPr>
          </a:p>
          <a:p>
            <a:pPr marL="900113" lvl="1" indent="-457200">
              <a:buFont typeface="+mj-lt"/>
              <a:buAutoNum type="alphaLcPeriod" startAt="3"/>
            </a:pPr>
            <a:endParaRPr lang="en-US" sz="2000" dirty="0">
              <a:latin typeface="Verdana" charset="0"/>
              <a:ea typeface="Verdana" charset="0"/>
              <a:cs typeface="Verdana" charset="0"/>
            </a:endParaRPr>
          </a:p>
          <a:p>
            <a:pPr marL="900113" lvl="1" indent="-457200">
              <a:buFont typeface="+mj-lt"/>
              <a:buAutoNum type="alphaLcPeriod" startAt="3"/>
            </a:pPr>
            <a:endParaRPr lang="en-US" sz="2000" dirty="0">
              <a:latin typeface="Verdana" charset="0"/>
              <a:ea typeface="Verdana" charset="0"/>
              <a:cs typeface="Verdana" charset="0"/>
            </a:endParaRPr>
          </a:p>
          <a:p>
            <a:pPr marL="900113" lvl="1" indent="-457200">
              <a:buFont typeface="+mj-lt"/>
              <a:buAutoNum type="alphaLcPeriod" startAt="3"/>
            </a:pPr>
            <a:endParaRPr lang="en-US" sz="2000" dirty="0">
              <a:latin typeface="Verdana" charset="0"/>
              <a:ea typeface="Verdana" charset="0"/>
              <a:cs typeface="Verdana" charset="0"/>
            </a:endParaRPr>
          </a:p>
          <a:p>
            <a:pPr marL="900113" lvl="1" indent="-457200">
              <a:buFont typeface="+mj-lt"/>
              <a:buAutoNum type="alphaLcPeriod" startAt="3"/>
            </a:pPr>
            <a:r>
              <a:rPr lang="en-US" sz="2000" dirty="0">
                <a:latin typeface="Verdana" charset="0"/>
                <a:ea typeface="Verdana" charset="0"/>
                <a:cs typeface="Verdana" charset="0"/>
              </a:rPr>
              <a:t>Based on your work in Part B and discussion in Part C, interpret a viable solution to the problem.  </a:t>
            </a:r>
          </a:p>
        </p:txBody>
      </p:sp>
      <p:sp>
        <p:nvSpPr>
          <p:cNvPr id="6"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286</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43753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2091" y="-13194"/>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49576"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2897437"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9144"/>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47779" y="28352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5.11.4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438336" y="28352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759C3E41-93EC-B84D-963F-86A3B15AC1C6}"/>
                  </a:ext>
                </a:extLst>
              </p:cNvPr>
              <p:cNvSpPr txBox="1"/>
              <p:nvPr/>
            </p:nvSpPr>
            <p:spPr>
              <a:xfrm>
                <a:off x="534781" y="1476428"/>
                <a:ext cx="10800000" cy="501675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The average homeowner in Florida pays </a:t>
                </a:r>
                <a14:m>
                  <m:oMath xmlns:m="http://schemas.openxmlformats.org/officeDocument/2006/math">
                    <m:r>
                      <a:rPr lang="en-US" sz="2000" i="1">
                        <a:latin typeface="Cambria Math" charset="0"/>
                        <a:ea typeface="Verdana" charset="0"/>
                        <a:cs typeface="Verdana" charset="0"/>
                      </a:rPr>
                      <m:t>$150</m:t>
                    </m:r>
                  </m:oMath>
                </a14:m>
                <a:r>
                  <a:rPr lang="en-US" sz="2000" dirty="0">
                    <a:latin typeface="Verdana" charset="0"/>
                    <a:ea typeface="Verdana" charset="0"/>
                    <a:cs typeface="Verdana" charset="0"/>
                  </a:rPr>
                  <a:t> per month on their energy bills. Some homeowners choose to install solar panels to reduce their monthly energy costs to an average of </a:t>
                </a:r>
                <a14:m>
                  <m:oMath xmlns:m="http://schemas.openxmlformats.org/officeDocument/2006/math">
                    <m:r>
                      <a:rPr lang="en-US" sz="2000" i="1">
                        <a:latin typeface="Cambria Math" charset="0"/>
                        <a:ea typeface="Verdana" charset="0"/>
                        <a:cs typeface="Verdana" charset="0"/>
                      </a:rPr>
                      <m:t>$55</m:t>
                    </m:r>
                  </m:oMath>
                </a14:m>
                <a:r>
                  <a:rPr lang="en-US" sz="2000" dirty="0">
                    <a:latin typeface="Verdana" charset="0"/>
                    <a:ea typeface="Verdana" charset="0"/>
                    <a:cs typeface="Verdana" charset="0"/>
                  </a:rPr>
                  <a:t> per month. The cost of purchasing and installing solar panels is </a:t>
                </a:r>
                <a14:m>
                  <m:oMath xmlns:m="http://schemas.openxmlformats.org/officeDocument/2006/math">
                    <m:r>
                      <a:rPr lang="en-US" sz="2000" i="1">
                        <a:latin typeface="Cambria Math" charset="0"/>
                        <a:ea typeface="Verdana" charset="0"/>
                        <a:cs typeface="Verdana" charset="0"/>
                      </a:rPr>
                      <m:t>$13,250</m:t>
                    </m:r>
                  </m:oMath>
                </a14:m>
                <a:r>
                  <a:rPr lang="en-US" sz="2000" dirty="0">
                    <a:latin typeface="Verdana" charset="0"/>
                    <a:ea typeface="Verdana" charset="0"/>
                    <a:cs typeface="Verdana" charset="0"/>
                  </a:rPr>
                  <a:t> on average.</a:t>
                </a:r>
              </a:p>
              <a:p>
                <a:r>
                  <a:rPr lang="en-US" sz="2000" dirty="0">
                    <a:latin typeface="Verdana" charset="0"/>
                    <a:ea typeface="Verdana" charset="0"/>
                    <a:cs typeface="Verdana" charset="0"/>
                  </a:rPr>
                  <a:t> </a:t>
                </a:r>
              </a:p>
              <a:p>
                <a:pPr marL="917575" indent="-444500">
                  <a:buFont typeface="+mj-lt"/>
                  <a:buAutoNum type="alphaLcPeriod"/>
                </a:pPr>
                <a:r>
                  <a:rPr lang="en-US" sz="2000" dirty="0">
                    <a:latin typeface="Verdana" charset="0"/>
                    <a:ea typeface="Verdana" charset="0"/>
                    <a:cs typeface="Verdana" charset="0"/>
                  </a:rPr>
                  <a:t>Write a system of equations that can be used to determine how many months it would take for the total cost of energy bills without solar panels to cost the same as an energy bill with solar panels. Define the variables used.</a:t>
                </a: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Solve the system of equations. Round your answers to the nearest thousandth.</a:t>
                </a:r>
              </a:p>
              <a:p>
                <a:pPr marL="917575" indent="-444500">
                  <a:buFont typeface="+mj-lt"/>
                  <a:buAutoNum type="alphaLcPeriod"/>
                </a:pPr>
                <a:endParaRPr lang="en-US" sz="2000" dirty="0">
                  <a:latin typeface="Verdana" charset="0"/>
                  <a:ea typeface="Verdana" charset="0"/>
                  <a:cs typeface="Verdana" charset="0"/>
                </a:endParaRPr>
              </a:p>
              <a:p>
                <a:pPr marL="917575" indent="-444500">
                  <a:buFont typeface="+mj-lt"/>
                  <a:buAutoNum type="alphaLcPeriod"/>
                </a:pPr>
                <a:r>
                  <a:rPr lang="en-US" sz="2000" dirty="0">
                    <a:latin typeface="Verdana" charset="0"/>
                    <a:ea typeface="Verdana" charset="0"/>
                    <a:cs typeface="Verdana" charset="0"/>
                  </a:rPr>
                  <a:t>Interpret the solution. </a:t>
                </a:r>
              </a:p>
            </p:txBody>
          </p:sp>
        </mc:Choice>
        <mc:Fallback>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534781" y="1476428"/>
                <a:ext cx="10800000" cy="5016758"/>
              </a:xfrm>
              <a:prstGeom prst="rect">
                <a:avLst/>
              </a:prstGeom>
              <a:blipFill rotWithShape="1">
                <a:blip r:embed="rId4"/>
                <a:stretch>
                  <a:fillRect l="-621" t="-729"/>
                </a:stretch>
              </a:blipFill>
            </p:spPr>
            <p:txBody>
              <a:bodyPr/>
              <a:lstStyle/>
              <a:p>
                <a:r>
                  <a:rPr lang="en-PH">
                    <a:noFill/>
                  </a:rPr>
                  <a:t> </a:t>
                </a:r>
              </a:p>
            </p:txBody>
          </p:sp>
        </mc:Fallback>
      </mc:AlternateContent>
      <p:sp>
        <p:nvSpPr>
          <p:cNvPr id="10"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287</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26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2905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47782" y="3312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5.11.5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438336" y="28352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531102" y="1465363"/>
            <a:ext cx="10800000" cy="347787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Draw an </a:t>
            </a:r>
            <a:r>
              <a:rPr lang="en-US" sz="2000" b="1" dirty="0">
                <a:latin typeface="Verdana" charset="0"/>
                <a:ea typeface="Verdana" charset="0"/>
                <a:cs typeface="Verdana" charset="0"/>
              </a:rPr>
              <a:t>X</a:t>
            </a:r>
            <a:r>
              <a:rPr lang="en-US" sz="2000" dirty="0">
                <a:latin typeface="Verdana" charset="0"/>
                <a:ea typeface="Verdana" charset="0"/>
                <a:cs typeface="Verdana" charset="0"/>
              </a:rPr>
              <a:t> on each line to indicate how you feel about each learning target.</a:t>
            </a:r>
          </a:p>
          <a:p>
            <a:r>
              <a:rPr lang="en-US" sz="2000" dirty="0">
                <a:latin typeface="Verdana" charset="0"/>
                <a:ea typeface="Verdana" charset="0"/>
                <a:cs typeface="Verdana" charset="0"/>
              </a:rPr>
              <a:t> </a:t>
            </a:r>
          </a:p>
          <a:p>
            <a:pPr marL="917575" lvl="1" indent="-444500">
              <a:buFont typeface="+mj-lt"/>
              <a:buAutoNum type="alphaLcPeriod"/>
            </a:pPr>
            <a:r>
              <a:rPr lang="en-US" sz="2000" dirty="0">
                <a:latin typeface="Verdana" charset="0"/>
                <a:ea typeface="Verdana" charset="0"/>
                <a:cs typeface="Verdana" charset="0"/>
              </a:rPr>
              <a:t>I can write and solve systems of equations in a real-world context.</a:t>
            </a: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smtClean="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endParaRPr lang="en-US" sz="2000" dirty="0">
              <a:latin typeface="Verdana" charset="0"/>
              <a:ea typeface="Verdana" charset="0"/>
              <a:cs typeface="Verdana" charset="0"/>
            </a:endParaRPr>
          </a:p>
          <a:p>
            <a:pPr marL="917575" lvl="1" indent="-444500">
              <a:buFont typeface="+mj-lt"/>
              <a:buAutoNum type="alphaLcPeriod"/>
            </a:pPr>
            <a:r>
              <a:rPr lang="en-US" sz="2000" dirty="0">
                <a:latin typeface="Verdana" charset="0"/>
                <a:ea typeface="Verdana" charset="0"/>
                <a:cs typeface="Verdana" charset="0"/>
              </a:rPr>
              <a:t>I can interpret solutions as viable or non-viable in a given context.</a:t>
            </a:r>
          </a:p>
          <a:p>
            <a:pPr lvl="1"/>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72414" y="2613256"/>
            <a:ext cx="7904136" cy="1162102"/>
          </a:xfrm>
          <a:prstGeom prst="rect">
            <a:avLst/>
          </a:prstGeom>
        </p:spPr>
      </p:pic>
      <p:pic>
        <p:nvPicPr>
          <p:cNvPr id="10" name="Picture 9"/>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72414" y="4817657"/>
            <a:ext cx="7904136" cy="1162102"/>
          </a:xfrm>
          <a:prstGeom prst="rect">
            <a:avLst/>
          </a:prstGeom>
        </p:spPr>
      </p:pic>
      <p:sp>
        <p:nvSpPr>
          <p:cNvPr id="11" name="Google Shape;282;g104476d1465_1_17"/>
          <p:cNvSpPr txBox="1"/>
          <p:nvPr/>
        </p:nvSpPr>
        <p:spPr>
          <a:xfrm>
            <a:off x="8845534" y="64931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287</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1300</TotalTime>
  <Words>811</Words>
  <Application>Microsoft Office PowerPoint</Application>
  <PresentationFormat>Custom</PresentationFormat>
  <Paragraphs>169</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1_Office Theme</vt:lpstr>
      <vt:lpstr>Algebra 1  Unit 5, Lesson 11  Writing and Solving Systems of Equations for Real-World Contexts  Volume 1, pg. 283  </vt:lpstr>
      <vt:lpstr>Benchmarks</vt:lpstr>
      <vt:lpstr>PowerPoint Presentation</vt:lpstr>
      <vt:lpstr>PowerPoint Presentation</vt:lpstr>
      <vt:lpstr>Warm-Up</vt:lpstr>
      <vt:lpstr>PowerPoint Presentation</vt:lpstr>
      <vt:lpstr>PowerPoint Presentation</vt:lpstr>
      <vt:lpstr>Guided Practice</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26</cp:revision>
  <dcterms:created xsi:type="dcterms:W3CDTF">2015-03-17T18:51:18Z</dcterms:created>
  <dcterms:modified xsi:type="dcterms:W3CDTF">2022-06-26T04:55:00Z</dcterms:modified>
</cp:coreProperties>
</file>