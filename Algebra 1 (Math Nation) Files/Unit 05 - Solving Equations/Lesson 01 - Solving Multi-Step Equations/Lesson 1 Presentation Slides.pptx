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371" r:id="rId8"/>
    <p:sldId id="372" r:id="rId9"/>
    <p:sldId id="373" r:id="rId10"/>
    <p:sldId id="377" r:id="rId11"/>
    <p:sldId id="314" r:id="rId12"/>
    <p:sldId id="315" r:id="rId13"/>
    <p:sldId id="352" r:id="rId14"/>
    <p:sldId id="374" r:id="rId15"/>
    <p:sldId id="375" r:id="rId16"/>
    <p:sldId id="302" r:id="rId17"/>
    <p:sldId id="303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B5D1"/>
    <a:srgbClr val="79C058"/>
    <a:srgbClr val="3465B0"/>
    <a:srgbClr val="DA4487"/>
    <a:srgbClr val="276C46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24"/>
    <p:restoredTop sz="94719"/>
  </p:normalViewPr>
  <p:slideViewPr>
    <p:cSldViewPr snapToGrid="0">
      <p:cViewPr varScale="1">
        <p:scale>
          <a:sx n="81" d="100"/>
          <a:sy n="81" d="100"/>
        </p:scale>
        <p:origin x="60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70558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073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7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1626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70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616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483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Multi-Step Equations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4875" y="-9144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7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3231" y="-551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77" y="283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3172" y="1462422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MA.912.AR.2.1 </a:t>
            </a:r>
          </a:p>
          <a:p>
            <a:pPr marL="460375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Given a real-world context, write and solve   one-variable multi-step linear equations.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2901" y="-5511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29737" y="1463057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577" y="283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4758" y="-551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77" y="283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114" y="1466521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solve multi-step linear equations.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0104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979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835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7418" y="-8225"/>
            <a:ext cx="888429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5.1.1 Warm-Up: Aviation Careers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77" y="283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55023" y="1465924"/>
            <a:ext cx="93815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Aviation careers include pilots, air-traffic controllers, airport operators, airfield maintenance, aircraft rescue and firefighting, law enforcement and security officers, and project management.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of these careers in aviation had you not heard of before?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Have you ever thought about a career in aviation?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EB98665-27D7-E9E7-DCD6-8AE040996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263" y="1317475"/>
            <a:ext cx="1676771" cy="167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743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95157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4194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70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006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5635" y="-20065"/>
            <a:ext cx="100775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5.1.2 Refresher: Solving   Two-Step Equations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069" y="2824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/>
              <p:nvPr/>
            </p:nvSpPr>
            <p:spPr>
              <a:xfrm>
                <a:off x="533193" y="1468214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statements using the words from the bank. Words may be used more than once.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expression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the ______________,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a _________________,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a _________________.</a:t>
                </a: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solving an equation, the goal is to isolate the _________________.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C51FF2-AD43-3B4B-B9DE-330920D3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93" y="1468214"/>
                <a:ext cx="10800000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564" t="-966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5608" y="2274047"/>
            <a:ext cx="6794500" cy="9652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593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193" y="377504"/>
                <a:ext cx="10800000" cy="3630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Solve each equation and verify your solution using substitution.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 </a:t>
                </a: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8.25−1.5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=1.8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21=36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93" y="377504"/>
                <a:ext cx="10800000" cy="3630738"/>
              </a:xfrm>
              <a:prstGeom prst="rect">
                <a:avLst/>
              </a:prstGeom>
              <a:blipFill rotWithShape="1">
                <a:blip r:embed="rId3"/>
                <a:stretch>
                  <a:fillRect l="-564" t="-10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944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3193" y="378689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your work with your partner’s. Summarize any similarities and/or differences in your solution methods.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168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0104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8225" y="2848753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1033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3402" y="-8225"/>
            <a:ext cx="1028531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5.1.3 Collaboration: Solving Multi-Step Equations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069" y="2824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33163" y="1465925"/>
            <a:ext cx="110055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Javier and Arnav solved the same two equations, but they used different first steps.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 the table, </a:t>
            </a:r>
            <a:r>
              <a:rPr lang="en-US" sz="2000" dirty="0">
                <a:solidFill>
                  <a:srgbClr val="54B5D1"/>
                </a:solidFill>
                <a:latin typeface="Verdana" charset="0"/>
                <a:ea typeface="Verdana" charset="0"/>
                <a:cs typeface="Verdana" charset="0"/>
              </a:rPr>
              <a:t>each student’s first step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solving each equation is started </a:t>
            </a:r>
            <a:r>
              <a:rPr lang="en-US" sz="2000" dirty="0">
                <a:solidFill>
                  <a:srgbClr val="54B5D1"/>
                </a:solidFill>
                <a:latin typeface="Verdana" charset="0"/>
                <a:ea typeface="Verdana" charset="0"/>
                <a:cs typeface="Verdana" charset="0"/>
              </a:rPr>
              <a:t>in blue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 Work with your partner to finish solving the equations, continuing from each student’s first step.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681991"/>
                  </p:ext>
                </p:extLst>
              </p:nvPr>
            </p:nvGraphicFramePr>
            <p:xfrm>
              <a:off x="1715940" y="3262234"/>
              <a:ext cx="8640000" cy="28217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Javier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Arnav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37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47−5.7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= 2.3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+52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843915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+ 5.7</m:t>
                                </m:r>
                                <m:r>
                                  <a:rPr lang="en-US" sz="2000" i="1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  +5.7</m:t>
                                </m:r>
                                <m:r>
                                  <a:rPr lang="en-US" sz="2000" i="1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47−5.7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=2.3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+52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100965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B0F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−47                                   −47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28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𝑝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+60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=−6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28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(60)=−6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28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+60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−6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𝑝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B0F0"/>
                                        </a:solidFill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B0F0"/>
                                            </a:solidFill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681991"/>
                  </p:ext>
                </p:extLst>
              </p:nvPr>
            </p:nvGraphicFramePr>
            <p:xfrm>
              <a:off x="1715940" y="3262234"/>
              <a:ext cx="8640000" cy="28217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Javier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Arnav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9137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2000" r="-100000" b="-1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52000" b="-15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96610" r="-100000" b="-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445" marR="4344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96610" b="-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3193" y="378182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why both students had the same solutions for each equation, even though they used different strategies.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which strategies you preferred to start with when solving each of these equations. Summarize your discussion.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71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93820" y="2939701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459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5973" y="-5511"/>
            <a:ext cx="108909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5.1.4 Guided Practice: Solving Multi-Step Equations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069" y="2824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2074" y="1398572"/>
                <a:ext cx="10800000" cy="406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Solve each equation and verify the solution using substitution.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 </a:t>
                </a:r>
              </a:p>
              <a:p>
                <a:pPr marL="808038" indent="-347663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8+5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16+9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𝑔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𝑔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49 −  6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28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−10</m:t>
                        </m:r>
                      </m:e>
                    </m:d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47663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62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−27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11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+7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74" y="1398572"/>
                <a:ext cx="10800000" cy="4060855"/>
              </a:xfrm>
              <a:prstGeom prst="rect">
                <a:avLst/>
              </a:prstGeom>
              <a:blipFill>
                <a:blip r:embed="rId4"/>
                <a:stretch>
                  <a:fillRect l="-621" t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112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713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2236" y="2893753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55433" y="28494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577" y="2849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33193" y="1465927"/>
                <a:ext cx="8327136" cy="2999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Solve each equation.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 </a:t>
                </a: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4.7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+1.6−0.2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=6.6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8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+29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+1=7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93" y="1465927"/>
                <a:ext cx="8327136" cy="2999154"/>
              </a:xfrm>
              <a:prstGeom prst="rect">
                <a:avLst/>
              </a:prstGeom>
              <a:blipFill rotWithShape="1">
                <a:blip r:embed="rId4"/>
                <a:stretch>
                  <a:fillRect l="-732" t="-122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944054" y="2840061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716" y="299465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4048" y="-425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577" y="2849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33193" y="1465249"/>
                <a:ext cx="10800000" cy="2989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Solve each equation and check the solution using substitution.</a:t>
                </a:r>
              </a:p>
              <a:p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 </a:t>
                </a: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23.5−32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=16.5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+4.1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endParaRPr lang="en-US" sz="2000" i="1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  <a:p>
                <a:pPr marL="808038" indent="-331788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−10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=19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−3.5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93" y="1465249"/>
                <a:ext cx="10800000" cy="2989793"/>
              </a:xfrm>
              <a:prstGeom prst="rect">
                <a:avLst/>
              </a:prstGeom>
              <a:blipFill rotWithShape="1">
                <a:blip r:embed="rId4"/>
                <a:stretch>
                  <a:fillRect l="-564" t="-1222" b="-20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904719" y="64849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109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660</Words>
  <Application>Microsoft Office PowerPoint</Application>
  <PresentationFormat>Widescreen</PresentationFormat>
  <Paragraphs>139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Algebra 1  Unit 5, Lesson 1  Solving  Multi-Step Equations  Volume 1, pg. 231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2022-07-26T17:37:08Z</dcterms:modified>
</cp:coreProperties>
</file>