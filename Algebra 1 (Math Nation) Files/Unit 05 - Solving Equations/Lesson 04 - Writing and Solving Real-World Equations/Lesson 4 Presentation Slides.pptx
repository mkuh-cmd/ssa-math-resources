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81" r:id="rId9"/>
    <p:sldId id="371" r:id="rId10"/>
    <p:sldId id="372" r:id="rId11"/>
    <p:sldId id="373" r:id="rId12"/>
    <p:sldId id="374" r:id="rId13"/>
    <p:sldId id="382" r:id="rId14"/>
    <p:sldId id="375" r:id="rId15"/>
    <p:sldId id="376" r:id="rId16"/>
    <p:sldId id="377" r:id="rId17"/>
    <p:sldId id="378" r:id="rId18"/>
    <p:sldId id="379" r:id="rId19"/>
    <p:sldId id="306" r:id="rId20"/>
    <p:sldId id="30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12"/>
    <p:restoredTop sz="94719"/>
  </p:normalViewPr>
  <p:slideViewPr>
    <p:cSldViewPr snapToGrid="0">
      <p:cViewPr varScale="1">
        <p:scale>
          <a:sx n="105" d="100"/>
          <a:sy n="105" d="100"/>
        </p:scale>
        <p:origin x="-46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93519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102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176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7822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5570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2266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482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4343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6077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98916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66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9589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and Solving           Real-World Equations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244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-14875" y="-9144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887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48217" y="-862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71" y="2805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29124" y="1467035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MA.912.AR.2.1 </a:t>
            </a:r>
          </a:p>
          <a:p>
            <a:pPr marL="463550" indent="0">
              <a:buNone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Given a real-world context, write and solve one-variable multi-step linear equations.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5420" y="-8629"/>
            <a:ext cx="855086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04876" y="65293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244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0987" y="1463049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771" y="2805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1181" y="-862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71" y="2805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6747" y="1475828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41338">
              <a:buFont typeface="Wingdings" charset="2"/>
              <a:buChar char="q"/>
            </a:pPr>
            <a:r>
              <a:rPr lang="en-US" sz="3500" dirty="0">
                <a:latin typeface="Verdana" charset="0"/>
                <a:ea typeface="Verdana" charset="0"/>
                <a:cs typeface="Verdana" charset="0"/>
              </a:rPr>
              <a:t>I can write and solve two-step equations given a real-world context.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6552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718" y="297604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991496" y="276197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1537" y="-8629"/>
            <a:ext cx="948798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5.4.1 Warm-Up: Hanger Diagrams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71" y="2805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533350" y="1461904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Two hanger diagrams are shown. They are balanced with an equal weight hanging from both sides.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2659" y="2294078"/>
            <a:ext cx="7501382" cy="3316289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9043" y="377658"/>
            <a:ext cx="108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diagrams above to complete the right side of each diagram so that Diagrams C and D are balanced. You cannot copy the left side of the diagram.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043" y="1259475"/>
            <a:ext cx="7366000" cy="43307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8787" y="378437"/>
            <a:ext cx="1080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James drew a pentagon and a square for the right side of Diagram C. Draw pictures or explain how James could conclude that a pentagon and a square are equivalent to the left side of Diagram C.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7937" y="1701876"/>
            <a:ext cx="901700" cy="1397000"/>
          </a:xfrm>
          <a:prstGeom prst="rect">
            <a:avLst/>
          </a:prstGeom>
        </p:spPr>
      </p:pic>
      <p:sp>
        <p:nvSpPr>
          <p:cNvPr id="7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4703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67166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737346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91554" y="284575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245</a:t>
            </a:r>
          </a:p>
        </p:txBody>
      </p:sp>
    </p:spTree>
    <p:extLst>
      <p:ext uri="{BB962C8B-B14F-4D97-AF65-F5344CB8AC3E}">
        <p14:creationId xmlns:p14="http://schemas.microsoft.com/office/powerpoint/2010/main" val="653009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0493" y="-8629"/>
            <a:ext cx="106058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5.4.2 Guided Instruction: Solving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Real-World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Problems by Writing and Solving Equations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771" y="2805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33350" y="1464472"/>
                <a:ext cx="10800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U.S. Census Bureau recorded a population of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18.8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million people living in Florida in 2010. Since 2010, there has been an average increase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0.3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million people per year.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5883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are the quantities that are changing in this scenario? </a:t>
                </a:r>
              </a:p>
              <a:p>
                <a:pPr marL="858838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Define the variables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858838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parameter? </a:t>
                </a:r>
              </a:p>
              <a:p>
                <a:pPr marL="858838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constant</a:t>
                </a:r>
                <a:r>
                  <a:rPr lang="en-US" sz="2000" dirty="0" smtClean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0" y="1464472"/>
                <a:ext cx="10800000" cy="4401205"/>
              </a:xfrm>
              <a:prstGeom prst="rect">
                <a:avLst/>
              </a:prstGeom>
              <a:blipFill rotWithShape="1">
                <a:blip r:embed="rId4"/>
                <a:stretch>
                  <a:fillRect l="-564" t="-831" b="-15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427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8805" y="377412"/>
                <a:ext cx="10800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6938" indent="-4445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equation represents the situation?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=18.8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+0.3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=0.3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+18.8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=18.8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+0.3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163638" indent="-2667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=0.3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𝑝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+18.8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6938" indent="-454025">
                  <a:buFont typeface="+mj-lt"/>
                  <a:buAutoNum type="alphaLcPeriod" startAt="6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your equation to determine in what year Florida’s population was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21.2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05" y="377412"/>
                <a:ext cx="10800000" cy="4401205"/>
              </a:xfrm>
              <a:prstGeom prst="rect">
                <a:avLst/>
              </a:prstGeom>
              <a:blipFill rotWithShape="1">
                <a:blip r:embed="rId3"/>
                <a:stretch>
                  <a:fillRect t="-831" b="-15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256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9129" y="386973"/>
                <a:ext cx="108000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Simone purchased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skinny vanilla lattes for her and her three friends.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6%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sales tax was applied to the purchase, and she gave the rest of her money as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$3.86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tip for a total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$24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5883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Define the variable in this context. </a:t>
                </a: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5883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the parameters are in this context.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29" y="386973"/>
                <a:ext cx="10800000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621" t="-966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30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04876" y="65293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246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528804" y="380538"/>
            <a:ext cx="10800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0113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 to write an equation that represents the context.</a:t>
            </a: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Solve the equation for the unknown.</a:t>
            </a: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 smtClean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00113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Interpret the solution. </a:t>
            </a:r>
          </a:p>
          <a:p>
            <a:pPr marL="900113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1756286"/>
                  </p:ext>
                </p:extLst>
              </p:nvPr>
            </p:nvGraphicFramePr>
            <p:xfrm>
              <a:off x="1636581" y="923513"/>
              <a:ext cx="9975008" cy="1169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52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1167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692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9440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411679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130365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Total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$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Spent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48895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#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of Lattes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Latte</a:t>
                          </a:r>
                          <a:r>
                            <a:rPr lang="en-US" sz="2000" b="1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Price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Tax Rate)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Tip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9780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1756286"/>
                  </p:ext>
                </p:extLst>
              </p:nvPr>
            </p:nvGraphicFramePr>
            <p:xfrm>
              <a:off x="1636581" y="923513"/>
              <a:ext cx="9975008" cy="1169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5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116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9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944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  <a:gridCol w="4116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5"/>
                        </a:ext>
                      </a:extLst>
                    </a:gridCol>
                    <a:gridCol w="13036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6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r="-385757" b="-15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02985" r="-1840299" b="-15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45324" r="-343525" b="-15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(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Latte</a:t>
                          </a:r>
                          <a:r>
                            <a:rPr lang="en-US" sz="2000" b="1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r>
                            <a:rPr lang="en-US" sz="2000" b="1" dirty="0" smtClean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Price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82768" r="-79661" b="-15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92647" r="-314706" b="-150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Tip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02985" t="-66957" r="-1840299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92647" t="-66957" r="-314706" b="-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1722" marR="61722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31185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67517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627375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75231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1996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0725" y="-8225"/>
            <a:ext cx="105700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5.4.3 Guided Practice: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Solving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Real-World Problems by Writing and Solving Equations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771" y="2805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33350" y="1475766"/>
                <a:ext cx="108000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popularity of Twitter can be measured using the number of active accounts. In January of 2015, Twitter had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302.5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million active accounts worldwide. Each year, the number of active accounts has increased by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million.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89058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Define the variables in this context.</a:t>
                </a:r>
              </a:p>
              <a:p>
                <a:pPr marL="890588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0588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058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parameter?</a:t>
                </a:r>
              </a:p>
              <a:p>
                <a:pPr marL="890588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0588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058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constant? </a:t>
                </a:r>
              </a:p>
              <a:p>
                <a:pPr marL="890588" indent="-457200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0588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890588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variable is the output in this context?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50" y="1475766"/>
                <a:ext cx="10800000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564" t="-776" b="-12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6840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700" y="378692"/>
                <a:ext cx="108000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00113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equation to represent this situation.</a:t>
                </a: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 one-variable equation that can be used to determine the year Twitter will have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425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million active accounts if the trend continues.</a:t>
                </a: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Solve the equation from Part F.  </a:t>
                </a: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Interpret the solution.</a:t>
                </a: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00113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Are there any constraints to the given situation?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00" y="378692"/>
                <a:ext cx="10800000" cy="5940088"/>
              </a:xfrm>
              <a:prstGeom prst="rect">
                <a:avLst/>
              </a:prstGeom>
              <a:blipFill rotWithShape="1">
                <a:blip r:embed="rId3"/>
                <a:stretch>
                  <a:fillRect t="-615" b="-8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427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52415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97535" y="276197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 1, </a:t>
            </a:r>
            <a:r>
              <a:rPr lang="cs-CZ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cs-CZ" i="1" dirty="0">
                <a:latin typeface="Calibri"/>
                <a:ea typeface="Calibri"/>
                <a:cs typeface="Calibri"/>
                <a:sym typeface="Calibri"/>
              </a:rPr>
              <a:t>. 247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11910" y="284875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214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2326" y="-9883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5.4.4 Try It: Solving Real-World Problems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by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Writing and Solving Equations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8771" y="27806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28957" y="1463298"/>
                <a:ext cx="10800000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Since the fourth quarter of 2014, the flash storage capacity of smartphones has grown by approximately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gigabytes a year. The average flash storage in 2014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15.9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gigabytes.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075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equation to represent this situation, defining both variables.</a:t>
                </a: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Assuming the trend continues, write a one-variable equation that can be used to find the average flash storage capacity of smartphones in 2025.</a:t>
                </a: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Solve your equation from Part B. </a:t>
                </a: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Interpret the solution.</a:t>
                </a: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any constraints of the situation with your partner.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57" y="1463298"/>
                <a:ext cx="10800000" cy="5016758"/>
              </a:xfrm>
              <a:prstGeom prst="rect">
                <a:avLst/>
              </a:prstGeom>
              <a:blipFill rotWithShape="1">
                <a:blip r:embed="rId4"/>
                <a:stretch>
                  <a:fillRect l="-621" t="-729" r="-282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3345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45793" y="2779099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12710" y="293369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48217" y="-8629"/>
            <a:ext cx="94162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5.4.5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771" y="2805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32104" y="1368441"/>
                <a:ext cx="108000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James is going to play paintball. He is charged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$25.95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for equipment rental, plus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$6.57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per box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paintballs. If James spent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$58.80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how many boxes of paintballs did he purchase?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868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and solve an equation representing this situation. </a:t>
                </a: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 smtClean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6513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Interpret the solution.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04" y="1368441"/>
                <a:ext cx="10800000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564" t="-1051" b="-210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904876" y="652923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smtClean="0">
                <a:latin typeface="Calibri"/>
                <a:ea typeface="Calibri"/>
                <a:cs typeface="Calibri"/>
                <a:sym typeface="Calibri"/>
              </a:rPr>
              <a:t>248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88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669</Words>
  <Application>Microsoft Office PowerPoint</Application>
  <PresentationFormat>Custom</PresentationFormat>
  <Paragraphs>184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1_Office Theme</vt:lpstr>
      <vt:lpstr>Algebra 1  Unit 5, Lesson 4  Writing and Solving           Real-World Equations  Volume 1, pg. 244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Try It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26</cp:revision>
  <dcterms:created xsi:type="dcterms:W3CDTF">2015-03-17T18:51:18Z</dcterms:created>
  <dcterms:modified xsi:type="dcterms:W3CDTF">2022-06-25T10:05:38Z</dcterms:modified>
</cp:coreProperties>
</file>