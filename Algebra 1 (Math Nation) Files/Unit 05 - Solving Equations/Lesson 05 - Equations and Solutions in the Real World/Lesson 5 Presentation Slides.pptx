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56" r:id="rId2"/>
    <p:sldId id="257" r:id="rId3"/>
    <p:sldId id="285" r:id="rId4"/>
    <p:sldId id="286" r:id="rId5"/>
    <p:sldId id="261" r:id="rId6"/>
    <p:sldId id="287" r:id="rId7"/>
    <p:sldId id="288" r:id="rId8"/>
    <p:sldId id="371" r:id="rId9"/>
    <p:sldId id="372" r:id="rId10"/>
    <p:sldId id="373" r:id="rId11"/>
    <p:sldId id="374" r:id="rId12"/>
    <p:sldId id="375" r:id="rId13"/>
    <p:sldId id="376" r:id="rId14"/>
    <p:sldId id="377" r:id="rId15"/>
    <p:sldId id="378" r:id="rId16"/>
    <p:sldId id="379" r:id="rId17"/>
    <p:sldId id="380" r:id="rId18"/>
    <p:sldId id="302" r:id="rId19"/>
    <p:sldId id="303" r:id="rId20"/>
    <p:sldId id="369" r:id="rId21"/>
    <p:sldId id="306" r:id="rId22"/>
    <p:sldId id="307"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9C058"/>
    <a:srgbClr val="3465B0"/>
    <a:srgbClr val="DA4487"/>
    <a:srgbClr val="276C46"/>
    <a:srgbClr val="C9DF6F"/>
    <a:srgbClr val="417DBF"/>
    <a:srgbClr val="3F2A67"/>
    <a:srgbClr val="E24E5F"/>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123"/>
    <p:restoredTop sz="94829"/>
  </p:normalViewPr>
  <p:slideViewPr>
    <p:cSldViewPr snapToGrid="0">
      <p:cViewPr varScale="1">
        <p:scale>
          <a:sx n="105" d="100"/>
          <a:sy n="105" d="100"/>
        </p:scale>
        <p:origin x="-462"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6981629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17990801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0601603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6950281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3796265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0574351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1363253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6594530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464321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8963928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4469958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2431289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Algebra 1</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5, Lesson 5</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Equations and Solutions in the Real World</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248</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14875" y="-9144"/>
            <a:ext cx="4094106"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a16="http://schemas.microsoft.com/office/drawing/2014/main" xmlns="" id="{29141D4E-DA2B-B445-945E-1FC65102392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6887" y="1850136"/>
            <a:ext cx="3090582" cy="3602736"/>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470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52706" y="-8629"/>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434382" y="280571"/>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905687" y="650700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248</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4077" y="616060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533612" y="1618488"/>
            <a:ext cx="108000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3200" dirty="0">
                <a:latin typeface="Verdana" charset="0"/>
                <a:ea typeface="Verdana" charset="0"/>
                <a:cs typeface="Verdana" charset="0"/>
              </a:rPr>
              <a:t>MA.912.AR.2.1 </a:t>
            </a:r>
          </a:p>
          <a:p>
            <a:pPr marL="469900" indent="0">
              <a:buNone/>
            </a:pPr>
            <a:r>
              <a:rPr lang="en-US" sz="3200" dirty="0">
                <a:latin typeface="Verdana" charset="0"/>
                <a:ea typeface="Verdana" charset="0"/>
                <a:cs typeface="Verdana" charset="0"/>
              </a:rPr>
              <a:t>Given a real-world context, write and solve </a:t>
            </a:r>
            <a:r>
              <a:rPr lang="en-US" sz="3200" dirty="0" smtClean="0">
                <a:latin typeface="Verdana" charset="0"/>
                <a:ea typeface="Verdana" charset="0"/>
                <a:cs typeface="Verdana" charset="0"/>
              </a:rPr>
              <a:t/>
            </a:r>
            <a:br>
              <a:rPr lang="en-US" sz="3200" dirty="0" smtClean="0">
                <a:latin typeface="Verdana" charset="0"/>
                <a:ea typeface="Verdana" charset="0"/>
                <a:cs typeface="Verdana" charset="0"/>
              </a:rPr>
            </a:br>
            <a:r>
              <a:rPr lang="en-US" sz="3200" dirty="0" smtClean="0">
                <a:latin typeface="Verdana" charset="0"/>
                <a:ea typeface="Verdana" charset="0"/>
                <a:cs typeface="Verdana" charset="0"/>
              </a:rPr>
              <a:t>one-variable </a:t>
            </a:r>
            <a:r>
              <a:rPr lang="en-US" sz="3200" dirty="0">
                <a:latin typeface="Verdana" charset="0"/>
                <a:ea typeface="Verdana" charset="0"/>
                <a:cs typeface="Verdana" charset="0"/>
              </a:rPr>
              <a:t>multi-step linear equations.</a:t>
            </a:r>
          </a:p>
          <a:p>
            <a:pPr marL="95250" indent="0">
              <a:buNone/>
            </a:pPr>
            <a:r>
              <a:rPr lang="en-US" sz="3200" dirty="0">
                <a:latin typeface="Verdana" charset="0"/>
                <a:ea typeface="Verdana" charset="0"/>
                <a:cs typeface="Verdana" charset="0"/>
              </a:rPr>
              <a:t> </a:t>
            </a:r>
          </a:p>
          <a:p>
            <a:pPr marL="95250" indent="0">
              <a:buNone/>
            </a:pPr>
            <a:r>
              <a:rPr lang="en-US" sz="3200" dirty="0">
                <a:latin typeface="Verdana" charset="0"/>
                <a:ea typeface="Verdana" charset="0"/>
                <a:cs typeface="Verdana" charset="0"/>
              </a:rPr>
              <a:t>MA.912.AR.9.6 </a:t>
            </a:r>
          </a:p>
          <a:p>
            <a:pPr marL="469900" indent="0">
              <a:buNone/>
            </a:pPr>
            <a:r>
              <a:rPr lang="en-US" sz="3200" dirty="0">
                <a:latin typeface="Verdana" charset="0"/>
                <a:ea typeface="Verdana" charset="0"/>
                <a:cs typeface="Verdana" charset="0"/>
              </a:rPr>
              <a:t>Given a real-world context, represent constraints as systems of linear equations or inequalities. Interpret solutions to problems as viable or </a:t>
            </a:r>
            <a:r>
              <a:rPr lang="en-US" sz="3200" dirty="0" smtClean="0">
                <a:latin typeface="Verdana" charset="0"/>
                <a:ea typeface="Verdana" charset="0"/>
                <a:cs typeface="Verdana" charset="0"/>
              </a:rPr>
              <a:t/>
            </a:r>
            <a:br>
              <a:rPr lang="en-US" sz="3200" dirty="0" smtClean="0">
                <a:latin typeface="Verdana" charset="0"/>
                <a:ea typeface="Verdana" charset="0"/>
                <a:cs typeface="Verdana" charset="0"/>
              </a:rPr>
            </a:br>
            <a:r>
              <a:rPr lang="en-US" sz="3200" dirty="0" smtClean="0">
                <a:latin typeface="Verdana" charset="0"/>
                <a:ea typeface="Verdana" charset="0"/>
                <a:cs typeface="Verdana" charset="0"/>
              </a:rPr>
              <a:t>non-viable </a:t>
            </a:r>
            <a:r>
              <a:rPr lang="en-US" sz="3200" dirty="0">
                <a:latin typeface="Verdana" charset="0"/>
                <a:ea typeface="Verdana" charset="0"/>
                <a:cs typeface="Verdana" charset="0"/>
              </a:rPr>
              <a:t>options.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253276" y="-8629"/>
            <a:ext cx="889838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529699" y="1462426"/>
            <a:ext cx="108000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82;g104476d1465_1_17"/>
          <p:cNvSpPr txBox="1"/>
          <p:nvPr/>
        </p:nvSpPr>
        <p:spPr>
          <a:xfrm>
            <a:off x="8905687" y="650700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248</a:t>
            </a:r>
            <a:endParaRPr i="1" dirty="0">
              <a:latin typeface="Calibri"/>
              <a:ea typeface="Calibri"/>
              <a:cs typeface="Calibri"/>
              <a:sym typeface="Calibri"/>
            </a:endParaRPr>
          </a:p>
        </p:txBody>
      </p:sp>
      <p:pic>
        <p:nvPicPr>
          <p:cNvPr id="12"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84077" y="6160609"/>
            <a:ext cx="563850" cy="657276"/>
          </a:xfrm>
          <a:prstGeom prst="rect">
            <a:avLst/>
          </a:prstGeom>
          <a:noFill/>
          <a:ln>
            <a:noFill/>
          </a:ln>
          <a:effectLst>
            <a:outerShdw blurRad="57150" dist="19050" dir="5400000" algn="bl" rotWithShape="0">
              <a:srgbClr val="000000">
                <a:alpha val="50000"/>
              </a:srgbClr>
            </a:outerShdw>
          </a:effectLst>
        </p:spPr>
      </p:pic>
      <p:pic>
        <p:nvPicPr>
          <p:cNvPr id="13" name="Google Shape;281;g104476d1465_1_17"/>
          <p:cNvPicPr preferRelativeResize="0"/>
          <p:nvPr/>
        </p:nvPicPr>
        <p:blipFill>
          <a:blip r:embed="rId4">
            <a:alphaModFix/>
          </a:blip>
          <a:stretch>
            <a:fillRect/>
          </a:stretch>
        </p:blipFill>
        <p:spPr>
          <a:xfrm>
            <a:off x="434382" y="280571"/>
            <a:ext cx="747300" cy="747300"/>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253657" y="-8629"/>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3">
            <a:alphaModFix/>
          </a:blip>
          <a:stretch>
            <a:fillRect/>
          </a:stretch>
        </p:blipFill>
        <p:spPr>
          <a:xfrm>
            <a:off x="434382" y="280571"/>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528456" y="1468166"/>
            <a:ext cx="108000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41338" indent="-541338">
              <a:buFont typeface="Wingdings" charset="2"/>
              <a:buChar char="q"/>
            </a:pPr>
            <a:r>
              <a:rPr lang="en-US" sz="3500" dirty="0">
                <a:latin typeface="Verdana" charset="0"/>
                <a:ea typeface="Verdana" charset="0"/>
                <a:cs typeface="Verdana" charset="0"/>
              </a:rPr>
              <a:t>I can write and solve multi-step equations in a real-world context</a:t>
            </a:r>
            <a:r>
              <a:rPr lang="en-US" sz="3500" dirty="0" smtClean="0">
                <a:latin typeface="Verdana" charset="0"/>
                <a:ea typeface="Verdana" charset="0"/>
                <a:cs typeface="Verdana" charset="0"/>
              </a:rPr>
              <a:t>.</a:t>
            </a:r>
          </a:p>
          <a:p>
            <a:pPr marL="541338" indent="-541338">
              <a:buFont typeface="Wingdings" charset="2"/>
              <a:buChar char="q"/>
            </a:pPr>
            <a:endParaRPr lang="en-US" sz="3500" dirty="0">
              <a:latin typeface="Verdana" charset="0"/>
              <a:ea typeface="Verdana" charset="0"/>
              <a:cs typeface="Verdana" charset="0"/>
            </a:endParaRPr>
          </a:p>
          <a:p>
            <a:pPr marL="541338" indent="-541338">
              <a:buFont typeface="Wingdings" charset="2"/>
              <a:buChar char="q"/>
            </a:pPr>
            <a:r>
              <a:rPr lang="en-US" sz="3500" dirty="0">
                <a:latin typeface="Verdana" charset="0"/>
                <a:ea typeface="Verdana" charset="0"/>
                <a:cs typeface="Verdana" charset="0"/>
              </a:rPr>
              <a:t>I can interpret solutions as viable or non-viable in a given context.</a:t>
            </a:r>
          </a:p>
        </p:txBody>
      </p:sp>
      <p:sp>
        <p:nvSpPr>
          <p:cNvPr id="8" name="Google Shape;282;g104476d1465_1_17"/>
          <p:cNvSpPr txBox="1"/>
          <p:nvPr/>
        </p:nvSpPr>
        <p:spPr>
          <a:xfrm>
            <a:off x="8905687" y="650700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4077" y="616060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67056" y="-822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3222497" y="2908950"/>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491038" y="276197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905687" y="650700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249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4077" y="6160609"/>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50772" y="-8629"/>
            <a:ext cx="1080844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5.5.1 Warm-Up: Which One Doesn’t Belong?</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3">
            <a:alphaModFix/>
          </a:blip>
          <a:stretch>
            <a:fillRect/>
          </a:stretch>
        </p:blipFill>
        <p:spPr>
          <a:xfrm>
            <a:off x="434382" y="280571"/>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xmlns="" id="{E1D7562E-134F-D14B-AF1A-DF40E11EF758}"/>
              </a:ext>
            </a:extLst>
          </p:cNvPr>
          <p:cNvSpPr txBox="1"/>
          <p:nvPr/>
        </p:nvSpPr>
        <p:spPr>
          <a:xfrm>
            <a:off x="534325" y="1462330"/>
            <a:ext cx="8327136" cy="400110"/>
          </a:xfrm>
          <a:prstGeom prst="rect">
            <a:avLst/>
          </a:prstGeom>
          <a:noFill/>
        </p:spPr>
        <p:txBody>
          <a:bodyPr wrap="square" rtlCol="0">
            <a:spAutoFit/>
          </a:bodyPr>
          <a:lstStyle/>
          <a:p>
            <a:r>
              <a:rPr lang="en-US" sz="2000" dirty="0">
                <a:latin typeface="Verdana" charset="0"/>
                <a:ea typeface="Verdana" charset="0"/>
                <a:cs typeface="Verdana" charset="0"/>
              </a:rPr>
              <a:t>Four graphs are shown.</a:t>
            </a:r>
          </a:p>
        </p:txBody>
      </p:sp>
      <p:pic>
        <p:nvPicPr>
          <p:cNvPr id="3" name="Picture 2"/>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564973" y="1929576"/>
            <a:ext cx="8657714" cy="2386584"/>
          </a:xfrm>
          <a:prstGeom prst="rect">
            <a:avLst/>
          </a:prstGeom>
        </p:spPr>
      </p:pic>
      <p:sp>
        <p:nvSpPr>
          <p:cNvPr id="9" name="Google Shape;282;g104476d1465_1_17"/>
          <p:cNvSpPr txBox="1"/>
          <p:nvPr/>
        </p:nvSpPr>
        <p:spPr>
          <a:xfrm>
            <a:off x="8905687" y="650700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249</a:t>
            </a:r>
            <a:endParaRPr i="1" dirty="0">
              <a:latin typeface="Calibri"/>
              <a:ea typeface="Calibri"/>
              <a:cs typeface="Calibri"/>
              <a:sym typeface="Calibri"/>
            </a:endParaRPr>
          </a:p>
        </p:txBody>
      </p:sp>
      <p:pic>
        <p:nvPicPr>
          <p:cNvPr id="1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4077" y="616060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4" name="Picture 3"/>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44393" y="701086"/>
            <a:ext cx="1905967" cy="1678550"/>
          </a:xfrm>
          <a:prstGeom prst="rect">
            <a:avLst/>
          </a:prstGeom>
        </p:spPr>
      </p:pic>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533797" y="385176"/>
            <a:ext cx="10800000" cy="4401205"/>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Complete the statement to explain which graph does not belong.</a:t>
            </a:r>
          </a:p>
          <a:p>
            <a:pPr marL="457200" indent="-457200">
              <a:buFont typeface="+mj-lt"/>
              <a:buAutoNum type="arabicPeriod"/>
            </a:pPr>
            <a:endParaRPr lang="en-US" sz="2000" dirty="0">
              <a:latin typeface="Verdana" charset="0"/>
              <a:ea typeface="Verdana" charset="0"/>
              <a:cs typeface="Verdana" charset="0"/>
            </a:endParaRPr>
          </a:p>
          <a:p>
            <a:pPr marL="469900"/>
            <a:r>
              <a:rPr lang="en-US" sz="2000" dirty="0" smtClean="0">
                <a:latin typeface="Verdana" charset="0"/>
                <a:ea typeface="Verdana" charset="0"/>
                <a:cs typeface="Verdana" charset="0"/>
              </a:rPr>
              <a:t/>
            </a:r>
            <a:br>
              <a:rPr lang="en-US" sz="2000" dirty="0" smtClean="0">
                <a:latin typeface="Verdana" charset="0"/>
                <a:ea typeface="Verdana" charset="0"/>
                <a:cs typeface="Verdana" charset="0"/>
              </a:rPr>
            </a:br>
            <a:r>
              <a:rPr lang="en-US" sz="2000" dirty="0" smtClean="0">
                <a:latin typeface="Verdana" charset="0"/>
                <a:ea typeface="Verdana" charset="0"/>
                <a:cs typeface="Verdana" charset="0"/>
              </a:rPr>
              <a:t>                     does </a:t>
            </a:r>
            <a:r>
              <a:rPr lang="en-US" sz="2000" dirty="0">
                <a:latin typeface="Verdana" charset="0"/>
                <a:ea typeface="Verdana" charset="0"/>
                <a:cs typeface="Verdana" charset="0"/>
              </a:rPr>
              <a:t>not </a:t>
            </a:r>
            <a:r>
              <a:rPr lang="en-US" sz="2000" dirty="0" smtClean="0">
                <a:latin typeface="Verdana" charset="0"/>
                <a:ea typeface="Verdana" charset="0"/>
                <a:cs typeface="Verdana" charset="0"/>
              </a:rPr>
              <a:t>belong because ______________________________</a:t>
            </a:r>
            <a:br>
              <a:rPr lang="en-US" sz="2000" dirty="0" smtClean="0">
                <a:latin typeface="Verdana" charset="0"/>
                <a:ea typeface="Verdana" charset="0"/>
                <a:cs typeface="Verdana" charset="0"/>
              </a:rPr>
            </a:br>
            <a:r>
              <a:rPr lang="en-US" sz="2000" dirty="0" smtClean="0">
                <a:latin typeface="Verdana" charset="0"/>
                <a:ea typeface="Verdana" charset="0"/>
                <a:cs typeface="Verdana" charset="0"/>
              </a:rPr>
              <a:t/>
            </a:r>
            <a:br>
              <a:rPr lang="en-US" sz="2000" dirty="0" smtClean="0">
                <a:latin typeface="Verdana" charset="0"/>
                <a:ea typeface="Verdana" charset="0"/>
                <a:cs typeface="Verdana" charset="0"/>
              </a:rPr>
            </a:br>
            <a:r>
              <a:rPr lang="en-US" sz="2000" dirty="0" smtClean="0">
                <a:latin typeface="Verdana" charset="0"/>
                <a:ea typeface="Verdana" charset="0"/>
                <a:cs typeface="Verdana" charset="0"/>
              </a:rPr>
              <a:t>		      __________________________________________________.</a:t>
            </a:r>
          </a:p>
          <a:p>
            <a:pPr marL="469900"/>
            <a:endParaRPr lang="en-US" sz="2000" dirty="0">
              <a:latin typeface="Verdana" charset="0"/>
              <a:ea typeface="Verdana" charset="0"/>
              <a:cs typeface="Verdana" charset="0"/>
            </a:endParaRPr>
          </a:p>
          <a:p>
            <a:pPr marL="471488" indent="-457200">
              <a:buFont typeface="+mj-lt"/>
              <a:buAutoNum type="arabicPeriod" startAt="2"/>
            </a:pPr>
            <a:endParaRPr lang="en-US" sz="2000" dirty="0" smtClean="0">
              <a:latin typeface="Verdana" charset="0"/>
              <a:ea typeface="Verdana" charset="0"/>
              <a:cs typeface="Verdana" charset="0"/>
            </a:endParaRPr>
          </a:p>
          <a:p>
            <a:pPr marL="471488" indent="-457200">
              <a:buFont typeface="+mj-lt"/>
              <a:buAutoNum type="arabicPeriod" startAt="2"/>
            </a:pPr>
            <a:r>
              <a:rPr lang="en-US" sz="2000" dirty="0" smtClean="0">
                <a:latin typeface="Verdana" charset="0"/>
                <a:ea typeface="Verdana" charset="0"/>
                <a:cs typeface="Verdana" charset="0"/>
              </a:rPr>
              <a:t>Find </a:t>
            </a:r>
            <a:r>
              <a:rPr lang="en-US" sz="2000" dirty="0">
                <a:latin typeface="Verdana" charset="0"/>
                <a:ea typeface="Verdana" charset="0"/>
                <a:cs typeface="Verdana" charset="0"/>
              </a:rPr>
              <a:t>a classmate who selected a different graph that does not belong. Write their explanation in the table. </a:t>
            </a:r>
            <a:r>
              <a:rPr lang="en-US" sz="2000" i="1" dirty="0">
                <a:latin typeface="Verdana" charset="0"/>
                <a:ea typeface="Verdana" charset="0"/>
                <a:cs typeface="Verdana" charset="0"/>
              </a:rPr>
              <a:t>You are the only person who should write in the first column of the table.</a:t>
            </a:r>
            <a:r>
              <a:rPr lang="en-US" sz="2000" dirty="0">
                <a:latin typeface="Verdana" charset="0"/>
                <a:ea typeface="Verdana" charset="0"/>
                <a:cs typeface="Verdana" charset="0"/>
              </a:rPr>
              <a:t> Have the person initial next to your summary of their explanation stating that your summary is correct.</a:t>
            </a:r>
          </a:p>
          <a:p>
            <a:pPr marL="469900"/>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p:txBody>
      </p:sp>
      <p:graphicFrame>
        <p:nvGraphicFramePr>
          <p:cNvPr id="5" name="Table 4"/>
          <p:cNvGraphicFramePr>
            <a:graphicFrameLocks noGrp="1"/>
          </p:cNvGraphicFramePr>
          <p:nvPr>
            <p:extLst>
              <p:ext uri="{D42A27DB-BD31-4B8C-83A1-F6EECF244321}">
                <p14:modId xmlns:p14="http://schemas.microsoft.com/office/powerpoint/2010/main" val="18910076"/>
              </p:ext>
            </p:extLst>
          </p:nvPr>
        </p:nvGraphicFramePr>
        <p:xfrm>
          <a:off x="1125228" y="4329439"/>
          <a:ext cx="7920000" cy="1800000"/>
        </p:xfrm>
        <a:graphic>
          <a:graphicData uri="http://schemas.openxmlformats.org/drawingml/2006/table">
            <a:tbl>
              <a:tblPr firstRow="1" firstCol="1" bandRow="1"/>
              <a:tblGrid>
                <a:gridCol w="6120000">
                  <a:extLst>
                    <a:ext uri="{9D8B030D-6E8A-4147-A177-3AD203B41FA5}">
                      <a16:colId xmlns:a16="http://schemas.microsoft.com/office/drawing/2014/main" xmlns="" val="20000"/>
                    </a:ext>
                  </a:extLst>
                </a:gridCol>
                <a:gridCol w="1800000">
                  <a:extLst>
                    <a:ext uri="{9D8B030D-6E8A-4147-A177-3AD203B41FA5}">
                      <a16:colId xmlns:a16="http://schemas.microsoft.com/office/drawing/2014/main" xmlns="" val="20001"/>
                    </a:ext>
                  </a:extLst>
                </a:gridCol>
              </a:tblGrid>
              <a:tr h="720000">
                <a:tc>
                  <a:txBody>
                    <a:bodyPr/>
                    <a:lstStyle/>
                    <a:p>
                      <a:pPr marL="0" marR="0" algn="ctr">
                        <a:spcBef>
                          <a:spcPts val="0"/>
                        </a:spcBef>
                        <a:spcAft>
                          <a:spcPts val="0"/>
                        </a:spcAft>
                      </a:pPr>
                      <a:r>
                        <a:rPr lang="en-US" sz="2000" b="1" dirty="0">
                          <a:effectLst/>
                          <a:latin typeface="Verdana" charset="0"/>
                          <a:cs typeface="Times New Roman" charset="0"/>
                        </a:rPr>
                        <a:t>My Summary of </a:t>
                      </a:r>
                      <a:r>
                        <a:rPr lang="en-US" sz="2000" b="1" dirty="0" smtClean="0">
                          <a:effectLst/>
                          <a:latin typeface="Verdana" charset="0"/>
                          <a:cs typeface="Times New Roman" charset="0"/>
                        </a:rPr>
                        <a:t/>
                      </a:r>
                      <a:br>
                        <a:rPr lang="en-US" sz="2000" b="1" dirty="0" smtClean="0">
                          <a:effectLst/>
                          <a:latin typeface="Verdana" charset="0"/>
                          <a:cs typeface="Times New Roman" charset="0"/>
                        </a:rPr>
                      </a:br>
                      <a:r>
                        <a:rPr lang="en-US" sz="2000" b="1" dirty="0" smtClean="0">
                          <a:effectLst/>
                          <a:latin typeface="Verdana" charset="0"/>
                          <a:cs typeface="Times New Roman" charset="0"/>
                        </a:rPr>
                        <a:t>________________</a:t>
                      </a:r>
                      <a:r>
                        <a:rPr lang="en-US" sz="2000" b="1" dirty="0">
                          <a:effectLst/>
                          <a:latin typeface="Verdana" charset="0"/>
                          <a:cs typeface="Times New Roman" charset="0"/>
                        </a:rPr>
                        <a:t>’s Description</a:t>
                      </a:r>
                      <a:endParaRPr lang="en-US" sz="1400" dirty="0">
                        <a:effectLst/>
                        <a:latin typeface="Calibri" charset="0"/>
                        <a:cs typeface="Times New Roman"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cs typeface="Times New Roman" charset="0"/>
                        </a:rPr>
                        <a:t>Initials</a:t>
                      </a:r>
                      <a:endParaRPr lang="en-US" sz="1400" dirty="0">
                        <a:effectLst/>
                        <a:latin typeface="Calibri" charset="0"/>
                        <a:cs typeface="Times New Roman"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10000"/>
                  </a:ext>
                </a:extLst>
              </a:tr>
              <a:tr h="1080000">
                <a:tc>
                  <a:txBody>
                    <a:bodyPr/>
                    <a:lstStyle/>
                    <a:p>
                      <a:pPr marL="0" marR="0">
                        <a:spcBef>
                          <a:spcPts val="0"/>
                        </a:spcBef>
                        <a:spcAft>
                          <a:spcPts val="0"/>
                        </a:spcAft>
                      </a:pPr>
                      <a:r>
                        <a:rPr lang="en-US" sz="2000" dirty="0">
                          <a:effectLst/>
                          <a:latin typeface="Verdana" charset="0"/>
                          <a:cs typeface="Times New Roman" charset="0"/>
                        </a:rPr>
                        <a:t> </a:t>
                      </a:r>
                      <a:endParaRPr lang="en-US" sz="1400" dirty="0">
                        <a:effectLst/>
                        <a:latin typeface="Calibri" charset="0"/>
                        <a:cs typeface="Times New Roman"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cs typeface="Times New Roman" charset="0"/>
                        </a:rPr>
                        <a:t> </a:t>
                      </a:r>
                      <a:endParaRPr lang="en-US" sz="1400" dirty="0">
                        <a:effectLst/>
                        <a:latin typeface="Calibri" charset="0"/>
                        <a:cs typeface="Times New Roman"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p:sp>
        <p:nvSpPr>
          <p:cNvPr id="8" name="Google Shape;282;g104476d1465_1_17"/>
          <p:cNvSpPr txBox="1"/>
          <p:nvPr/>
        </p:nvSpPr>
        <p:spPr>
          <a:xfrm>
            <a:off x="8905687" y="650700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249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4077" y="616060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198033" y="276197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xmlns="" id="{2AC58C8F-2DD8-F347-9ECA-58EE9E1B7E9C}"/>
              </a:ext>
            </a:extLst>
          </p:cNvPr>
          <p:cNvPicPr preferRelativeResize="0"/>
          <p:nvPr/>
        </p:nvPicPr>
        <p:blipFill rotWithShape="1">
          <a:blip r:embed="rId3">
            <a:alphaModFix/>
          </a:blip>
          <a:srcRect/>
          <a:stretch/>
        </p:blipFill>
        <p:spPr>
          <a:xfrm>
            <a:off x="3052241" y="2845750"/>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905687" y="650700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249</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4077" y="616060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99211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4"/>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253661" y="920"/>
            <a:ext cx="1101623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5.5.2 Guided Instruction: Writing and Solving Equations Representing </a:t>
            </a:r>
            <a:r>
              <a:rPr lang="en-US" sz="3200" b="1" dirty="0" smtClean="0">
                <a:solidFill>
                  <a:srgbClr val="54B5D1"/>
                </a:solidFill>
                <a:latin typeface="Verdana"/>
                <a:ea typeface="Verdana"/>
                <a:cs typeface="Verdana"/>
                <a:sym typeface="Verdana"/>
              </a:rPr>
              <a:t>Real-World </a:t>
            </a:r>
            <a:r>
              <a:rPr lang="en-US" sz="3200" b="1" dirty="0">
                <a:solidFill>
                  <a:srgbClr val="54B5D1"/>
                </a:solidFill>
                <a:latin typeface="Verdana"/>
                <a:ea typeface="Verdana"/>
                <a:cs typeface="Verdana"/>
                <a:sym typeface="Verdana"/>
              </a:rPr>
              <a:t>Contexts</a:t>
            </a:r>
          </a:p>
        </p:txBody>
      </p:sp>
      <p:pic>
        <p:nvPicPr>
          <p:cNvPr id="9"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3">
            <a:alphaModFix/>
          </a:blip>
          <a:srcRect/>
          <a:stretch/>
        </p:blipFill>
        <p:spPr>
          <a:xfrm>
            <a:off x="434382" y="290120"/>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xmlns="" id="{C01B13E8-EC8D-E443-A329-C5E3593DD13A}"/>
                  </a:ext>
                </a:extLst>
              </p:cNvPr>
              <p:cNvSpPr txBox="1"/>
              <p:nvPr/>
            </p:nvSpPr>
            <p:spPr>
              <a:xfrm>
                <a:off x="534161" y="1464106"/>
                <a:ext cx="10800000" cy="2862322"/>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The school choir is taking a day trip to Volcano Bay. They got a special ticket rate of </a:t>
                </a:r>
                <a14:m>
                  <m:oMath xmlns:m="http://schemas.openxmlformats.org/officeDocument/2006/math">
                    <m:r>
                      <a:rPr lang="en-US" sz="2000" i="1">
                        <a:latin typeface="Cambria Math" charset="0"/>
                        <a:ea typeface="Verdana" charset="0"/>
                        <a:cs typeface="Verdana" charset="0"/>
                      </a:rPr>
                      <m:t>$65</m:t>
                    </m:r>
                  </m:oMath>
                </a14:m>
                <a:r>
                  <a:rPr lang="en-US" sz="2000" dirty="0">
                    <a:latin typeface="Verdana" charset="0"/>
                    <a:ea typeface="Verdana" charset="0"/>
                    <a:cs typeface="Verdana" charset="0"/>
                  </a:rPr>
                  <a:t> per person, but the cost of the bus is </a:t>
                </a:r>
                <a14:m>
                  <m:oMath xmlns:m="http://schemas.openxmlformats.org/officeDocument/2006/math">
                    <m:r>
                      <a:rPr lang="en-US" sz="2000" i="1">
                        <a:latin typeface="Cambria Math" charset="0"/>
                        <a:ea typeface="Verdana" charset="0"/>
                        <a:cs typeface="Verdana" charset="0"/>
                      </a:rPr>
                      <m:t>$639.90</m:t>
                    </m:r>
                  </m:oMath>
                </a14:m>
                <a:r>
                  <a:rPr lang="en-US" sz="2000" dirty="0">
                    <a:latin typeface="Verdana" charset="0"/>
                    <a:ea typeface="Verdana" charset="0"/>
                    <a:cs typeface="Verdana" charset="0"/>
                  </a:rPr>
                  <a:t>. If they fill every seat on the bus, then each person will pay a total of </a:t>
                </a:r>
                <a14:m>
                  <m:oMath xmlns:m="http://schemas.openxmlformats.org/officeDocument/2006/math">
                    <m:r>
                      <a:rPr lang="en-US" sz="2000" i="1">
                        <a:latin typeface="Cambria Math" charset="0"/>
                        <a:ea typeface="Verdana" charset="0"/>
                        <a:cs typeface="Verdana" charset="0"/>
                      </a:rPr>
                      <m:t>$76.85</m:t>
                    </m:r>
                  </m:oMath>
                </a14:m>
                <a:r>
                  <a:rPr lang="en-US" sz="2000" dirty="0">
                    <a:latin typeface="Verdana" charset="0"/>
                    <a:ea typeface="Verdana" charset="0"/>
                    <a:cs typeface="Verdana" charset="0"/>
                  </a:rPr>
                  <a:t> for bus transportation and an admission ticket.</a:t>
                </a:r>
              </a:p>
              <a:p>
                <a:r>
                  <a:rPr lang="en-US" sz="2000" dirty="0">
                    <a:latin typeface="Verdana" charset="0"/>
                    <a:ea typeface="Verdana" charset="0"/>
                    <a:cs typeface="Verdana" charset="0"/>
                  </a:rPr>
                  <a:t> </a:t>
                </a:r>
              </a:p>
              <a:p>
                <a:pPr marL="923925" indent="-454025">
                  <a:buFont typeface="+mj-lt"/>
                  <a:buAutoNum type="alphaLcPeriod"/>
                </a:pPr>
                <a:r>
                  <a:rPr lang="en-US" sz="2000" dirty="0">
                    <a:latin typeface="Verdana" charset="0"/>
                    <a:ea typeface="Verdana" charset="0"/>
                    <a:cs typeface="Verdana" charset="0"/>
                  </a:rPr>
                  <a:t>Complete the table to write two different algebraic expressions for the cost of this trip, where </a:t>
                </a:r>
                <a14:m>
                  <m:oMath xmlns:m="http://schemas.openxmlformats.org/officeDocument/2006/math">
                    <m:r>
                      <a:rPr lang="en-US" sz="2000" i="1">
                        <a:latin typeface="Cambria Math" charset="0"/>
                        <a:ea typeface="Verdana" charset="0"/>
                        <a:cs typeface="Verdana" charset="0"/>
                      </a:rPr>
                      <m:t>𝑠</m:t>
                    </m:r>
                  </m:oMath>
                </a14:m>
                <a:r>
                  <a:rPr lang="en-US" sz="2000" dirty="0">
                    <a:latin typeface="Verdana" charset="0"/>
                    <a:ea typeface="Verdana" charset="0"/>
                    <a:cs typeface="Verdana" charset="0"/>
                  </a:rPr>
                  <a:t> represents the number of people on the trip.</a:t>
                </a:r>
              </a:p>
            </p:txBody>
          </p:sp>
        </mc:Choice>
        <mc:Fallback>
          <p:sp>
            <p:nvSpPr>
              <p:cNvPr id="13" name="TextBox 12">
                <a:extLst>
                  <a:ext uri="{FF2B5EF4-FFF2-40B4-BE49-F238E27FC236}">
                    <a16:creationId xmlns:a16="http://schemas.microsoft.com/office/drawing/2014/main" xmlns:a14="http://schemas.microsoft.com/office/drawing/2010/main" xmlns="" id="{C01B13E8-EC8D-E443-A329-C5E3593DD13A}"/>
                  </a:ext>
                </a:extLst>
              </p:cNvPr>
              <p:cNvSpPr txBox="1">
                <a:spLocks noRot="1" noChangeAspect="1" noMove="1" noResize="1" noEditPoints="1" noAdjustHandles="1" noChangeArrowheads="1" noChangeShapeType="1" noTextEdit="1"/>
              </p:cNvSpPr>
              <p:nvPr/>
            </p:nvSpPr>
            <p:spPr>
              <a:xfrm>
                <a:off x="534161" y="1464106"/>
                <a:ext cx="10800000" cy="2862322"/>
              </a:xfrm>
              <a:prstGeom prst="rect">
                <a:avLst/>
              </a:prstGeom>
              <a:blipFill rotWithShape="1">
                <a:blip r:embed="rId4"/>
                <a:stretch>
                  <a:fillRect l="-621" t="-1277" r="-508"/>
                </a:stretch>
              </a:blipFill>
            </p:spPr>
            <p:txBody>
              <a:bodyPr/>
              <a:lstStyle/>
              <a:p>
                <a:r>
                  <a:rPr lang="en-PH">
                    <a:noFill/>
                  </a:rPr>
                  <a:t> </a:t>
                </a:r>
              </a:p>
            </p:txBody>
          </p:sp>
        </mc:Fallback>
      </mc:AlternateContent>
      <p:graphicFrame>
        <p:nvGraphicFramePr>
          <p:cNvPr id="2" name="Table 1"/>
          <p:cNvGraphicFramePr>
            <a:graphicFrameLocks noGrp="1"/>
          </p:cNvGraphicFramePr>
          <p:nvPr>
            <p:extLst>
              <p:ext uri="{D42A27DB-BD31-4B8C-83A1-F6EECF244321}">
                <p14:modId xmlns:p14="http://schemas.microsoft.com/office/powerpoint/2010/main" val="3011390102"/>
              </p:ext>
            </p:extLst>
          </p:nvPr>
        </p:nvGraphicFramePr>
        <p:xfrm>
          <a:off x="1571192" y="3844002"/>
          <a:ext cx="8640000" cy="2196000"/>
        </p:xfrm>
        <a:graphic>
          <a:graphicData uri="http://schemas.openxmlformats.org/drawingml/2006/table">
            <a:tbl>
              <a:tblPr firstRow="1" firstCol="1" bandRow="1"/>
              <a:tblGrid>
                <a:gridCol w="4320000">
                  <a:extLst>
                    <a:ext uri="{9D8B030D-6E8A-4147-A177-3AD203B41FA5}">
                      <a16:colId xmlns:a16="http://schemas.microsoft.com/office/drawing/2014/main" xmlns="" val="20000"/>
                    </a:ext>
                  </a:extLst>
                </a:gridCol>
                <a:gridCol w="4320000">
                  <a:extLst>
                    <a:ext uri="{9D8B030D-6E8A-4147-A177-3AD203B41FA5}">
                      <a16:colId xmlns:a16="http://schemas.microsoft.com/office/drawing/2014/main" xmlns="" val="20001"/>
                    </a:ext>
                  </a:extLst>
                </a:gridCol>
              </a:tblGrid>
              <a:tr h="468000">
                <a:tc>
                  <a:txBody>
                    <a:bodyPr/>
                    <a:lstStyle/>
                    <a:p>
                      <a:pPr marL="0" marR="0" algn="ctr">
                        <a:spcBef>
                          <a:spcPts val="0"/>
                        </a:spcBef>
                        <a:spcAft>
                          <a:spcPts val="0"/>
                        </a:spcAft>
                      </a:pPr>
                      <a:r>
                        <a:rPr lang="en-US" sz="2000" b="1" dirty="0">
                          <a:solidFill>
                            <a:srgbClr val="000000"/>
                          </a:solidFill>
                          <a:effectLst/>
                          <a:latin typeface="Verdana" charset="0"/>
                          <a:ea typeface="Times New Roman" charset="0"/>
                          <a:cs typeface="Arial" charset="0"/>
                        </a:rPr>
                        <a:t>Expression A</a:t>
                      </a:r>
                      <a:endParaRPr lang="en-US" sz="1400" dirty="0">
                        <a:effectLst/>
                        <a:latin typeface="Times New Roman" charset="0"/>
                        <a:ea typeface="Times New Roman" charset="0"/>
                        <a:cs typeface="Times New Roman"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charset="0"/>
                          <a:ea typeface="Times New Roman" charset="0"/>
                          <a:cs typeface="Arial" charset="0"/>
                        </a:rPr>
                        <a:t>Expression B</a:t>
                      </a:r>
                      <a:endParaRPr lang="en-US" sz="1400" dirty="0">
                        <a:effectLst/>
                        <a:latin typeface="Times New Roman" charset="0"/>
                        <a:ea typeface="Times New Roman" charset="0"/>
                        <a:cs typeface="Times New Roman"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10000"/>
                  </a:ext>
                </a:extLst>
              </a:tr>
              <a:tr h="648000">
                <a:tc>
                  <a:txBody>
                    <a:bodyPr/>
                    <a:lstStyle/>
                    <a:p>
                      <a:pPr marL="0" marR="0" algn="ctr">
                        <a:spcBef>
                          <a:spcPts val="0"/>
                        </a:spcBef>
                        <a:spcAft>
                          <a:spcPts val="0"/>
                        </a:spcAft>
                      </a:pPr>
                      <a:r>
                        <a:rPr lang="en-US" sz="2000" i="1" dirty="0">
                          <a:solidFill>
                            <a:srgbClr val="000000"/>
                          </a:solidFill>
                          <a:effectLst/>
                          <a:latin typeface="Verdana" charset="0"/>
                          <a:ea typeface="Times New Roman" charset="0"/>
                          <a:cs typeface="Arial" charset="0"/>
                        </a:rPr>
                        <a:t>ticket rate per person plus </a:t>
                      </a:r>
                      <a:r>
                        <a:rPr lang="en-US" sz="2000" i="1" dirty="0" smtClean="0">
                          <a:solidFill>
                            <a:srgbClr val="000000"/>
                          </a:solidFill>
                          <a:effectLst/>
                          <a:latin typeface="Verdana" charset="0"/>
                          <a:ea typeface="Times New Roman" charset="0"/>
                          <a:cs typeface="Arial" charset="0"/>
                        </a:rPr>
                        <a:t/>
                      </a:r>
                      <a:br>
                        <a:rPr lang="en-US" sz="2000" i="1" dirty="0" smtClean="0">
                          <a:solidFill>
                            <a:srgbClr val="000000"/>
                          </a:solidFill>
                          <a:effectLst/>
                          <a:latin typeface="Verdana" charset="0"/>
                          <a:ea typeface="Times New Roman" charset="0"/>
                          <a:cs typeface="Arial" charset="0"/>
                        </a:rPr>
                      </a:br>
                      <a:r>
                        <a:rPr lang="en-US" sz="2000" i="1" dirty="0" smtClean="0">
                          <a:solidFill>
                            <a:srgbClr val="000000"/>
                          </a:solidFill>
                          <a:effectLst/>
                          <a:latin typeface="Verdana" charset="0"/>
                          <a:ea typeface="Times New Roman" charset="0"/>
                          <a:cs typeface="Arial" charset="0"/>
                        </a:rPr>
                        <a:t>the </a:t>
                      </a:r>
                      <a:r>
                        <a:rPr lang="en-US" sz="2000" i="1" dirty="0">
                          <a:solidFill>
                            <a:srgbClr val="000000"/>
                          </a:solidFill>
                          <a:effectLst/>
                          <a:latin typeface="Verdana" charset="0"/>
                          <a:ea typeface="Times New Roman" charset="0"/>
                          <a:cs typeface="Arial" charset="0"/>
                        </a:rPr>
                        <a:t>total bus cost</a:t>
                      </a:r>
                      <a:endParaRPr lang="en-US" sz="1400" dirty="0">
                        <a:effectLst/>
                        <a:latin typeface="Times New Roman" charset="0"/>
                        <a:ea typeface="Times New Roman" charset="0"/>
                        <a:cs typeface="Times New Roman"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D9D9D9"/>
                    </a:solidFill>
                  </a:tcPr>
                </a:tc>
                <a:tc>
                  <a:txBody>
                    <a:bodyPr/>
                    <a:lstStyle/>
                    <a:p>
                      <a:pPr marL="0" marR="0" algn="ctr">
                        <a:spcBef>
                          <a:spcPts val="0"/>
                        </a:spcBef>
                        <a:spcAft>
                          <a:spcPts val="0"/>
                        </a:spcAft>
                      </a:pPr>
                      <a:r>
                        <a:rPr lang="en-US" sz="2000" i="1" dirty="0">
                          <a:solidFill>
                            <a:srgbClr val="000000"/>
                          </a:solidFill>
                          <a:effectLst/>
                          <a:latin typeface="Verdana" charset="0"/>
                          <a:ea typeface="Times New Roman" charset="0"/>
                          <a:cs typeface="Arial" charset="0"/>
                        </a:rPr>
                        <a:t>total amount paid per person, </a:t>
                      </a:r>
                      <a:r>
                        <a:rPr lang="en-US" sz="2000" i="1" dirty="0" smtClean="0">
                          <a:solidFill>
                            <a:srgbClr val="000000"/>
                          </a:solidFill>
                          <a:effectLst/>
                          <a:latin typeface="Verdana" charset="0"/>
                          <a:ea typeface="Times New Roman" charset="0"/>
                          <a:cs typeface="Arial" charset="0"/>
                        </a:rPr>
                        <a:t/>
                      </a:r>
                      <a:br>
                        <a:rPr lang="en-US" sz="2000" i="1" dirty="0" smtClean="0">
                          <a:solidFill>
                            <a:srgbClr val="000000"/>
                          </a:solidFill>
                          <a:effectLst/>
                          <a:latin typeface="Verdana" charset="0"/>
                          <a:ea typeface="Times New Roman" charset="0"/>
                          <a:cs typeface="Arial" charset="0"/>
                        </a:rPr>
                      </a:br>
                      <a:r>
                        <a:rPr lang="en-US" sz="2000" i="1" dirty="0" smtClean="0">
                          <a:solidFill>
                            <a:srgbClr val="000000"/>
                          </a:solidFill>
                          <a:effectLst/>
                          <a:latin typeface="Verdana" charset="0"/>
                          <a:ea typeface="Times New Roman" charset="0"/>
                          <a:cs typeface="Arial" charset="0"/>
                        </a:rPr>
                        <a:t>if </a:t>
                      </a:r>
                      <a:r>
                        <a:rPr lang="en-US" sz="2000" i="1" dirty="0">
                          <a:solidFill>
                            <a:srgbClr val="000000"/>
                          </a:solidFill>
                          <a:effectLst/>
                          <a:latin typeface="Verdana" charset="0"/>
                          <a:ea typeface="Times New Roman" charset="0"/>
                          <a:cs typeface="Arial" charset="0"/>
                        </a:rPr>
                        <a:t>all seats are full</a:t>
                      </a:r>
                      <a:endParaRPr lang="en-US" sz="1400" dirty="0">
                        <a:effectLst/>
                        <a:latin typeface="Times New Roman" charset="0"/>
                        <a:ea typeface="Times New Roman" charset="0"/>
                        <a:cs typeface="Times New Roman"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D9D9D9"/>
                    </a:solidFill>
                  </a:tcPr>
                </a:tc>
                <a:extLst>
                  <a:ext uri="{0D108BD9-81ED-4DB2-BD59-A6C34878D82A}">
                    <a16:rowId xmlns:a16="http://schemas.microsoft.com/office/drawing/2014/main" xmlns="" val="10001"/>
                  </a:ext>
                </a:extLst>
              </a:tr>
              <a:tr h="1080000">
                <a:tc>
                  <a:txBody>
                    <a:bodyPr/>
                    <a:lstStyle/>
                    <a:p>
                      <a:pPr marL="0" marR="0">
                        <a:spcBef>
                          <a:spcPts val="0"/>
                        </a:spcBef>
                        <a:spcAft>
                          <a:spcPts val="0"/>
                        </a:spcAft>
                      </a:pPr>
                      <a:r>
                        <a:rPr lang="en-US" sz="2000" dirty="0">
                          <a:solidFill>
                            <a:srgbClr val="000000"/>
                          </a:solidFill>
                          <a:effectLst/>
                          <a:latin typeface="Verdana" charset="0"/>
                          <a:ea typeface="Times New Roman" charset="0"/>
                          <a:cs typeface="Arial" charset="0"/>
                        </a:rPr>
                        <a:t> </a:t>
                      </a:r>
                      <a:endParaRPr lang="en-US" sz="1400" dirty="0">
                        <a:effectLst/>
                        <a:latin typeface="Times New Roman" charset="0"/>
                        <a:ea typeface="Times New Roman" charset="0"/>
                        <a:cs typeface="Times New Roman"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solidFill>
                            <a:srgbClr val="000000"/>
                          </a:solidFill>
                          <a:effectLst/>
                          <a:latin typeface="Verdana" charset="0"/>
                          <a:ea typeface="Times New Roman" charset="0"/>
                          <a:cs typeface="Arial" charset="0"/>
                        </a:rPr>
                        <a:t> </a:t>
                      </a:r>
                      <a:endParaRPr lang="en-US" sz="1400" dirty="0">
                        <a:effectLst/>
                        <a:latin typeface="Times New Roman" charset="0"/>
                        <a:ea typeface="Times New Roman" charset="0"/>
                        <a:cs typeface="Times New Roman"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bl>
          </a:graphicData>
        </a:graphic>
      </p:graphicFrame>
      <p:sp>
        <p:nvSpPr>
          <p:cNvPr id="10" name="Google Shape;282;g104476d1465_1_17"/>
          <p:cNvSpPr txBox="1"/>
          <p:nvPr/>
        </p:nvSpPr>
        <p:spPr>
          <a:xfrm>
            <a:off x="8905687" y="650700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249</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4077" y="616060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183355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534161" y="388027"/>
            <a:ext cx="10800000" cy="1631216"/>
          </a:xfrm>
          <a:prstGeom prst="rect">
            <a:avLst/>
          </a:prstGeom>
          <a:noFill/>
        </p:spPr>
        <p:txBody>
          <a:bodyPr wrap="square" rtlCol="0">
            <a:spAutoFit/>
          </a:bodyPr>
          <a:lstStyle/>
          <a:p>
            <a:r>
              <a:rPr lang="en-US" sz="2000" dirty="0">
                <a:latin typeface="Verdana" charset="0"/>
                <a:ea typeface="Verdana" charset="0"/>
                <a:cs typeface="Verdana" charset="0"/>
              </a:rPr>
              <a:t>If all the seats on the bus are full, then Expression A and Expression B will be equivalent to each other. Therefore, they can be set equal to each other to create an equation.</a:t>
            </a:r>
          </a:p>
          <a:p>
            <a:r>
              <a:rPr lang="en-US" sz="2000" dirty="0">
                <a:latin typeface="Verdana" charset="0"/>
                <a:ea typeface="Verdana" charset="0"/>
                <a:cs typeface="Verdana" charset="0"/>
              </a:rPr>
              <a:t> </a:t>
            </a:r>
          </a:p>
          <a:p>
            <a:pPr marL="923925" indent="-454025">
              <a:buFont typeface="+mj-lt"/>
              <a:buAutoNum type="alphaLcPeriod" startAt="2"/>
            </a:pPr>
            <a:r>
              <a:rPr lang="en-US" sz="2000" dirty="0">
                <a:latin typeface="Verdana" charset="0"/>
                <a:ea typeface="Verdana" charset="0"/>
                <a:cs typeface="Verdana" charset="0"/>
              </a:rPr>
              <a:t>Write and solve this equation.</a:t>
            </a:r>
          </a:p>
        </p:txBody>
      </p:sp>
      <p:sp>
        <p:nvSpPr>
          <p:cNvPr id="6" name="Google Shape;282;g104476d1465_1_17"/>
          <p:cNvSpPr txBox="1"/>
          <p:nvPr/>
        </p:nvSpPr>
        <p:spPr>
          <a:xfrm>
            <a:off x="8905687" y="650700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249</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84077" y="616060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52486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xmlns="" id="{2FA392D8-3ED3-7940-83A8-1451AA8A08D4}"/>
                  </a:ext>
                </a:extLst>
              </p:cNvPr>
              <p:cNvSpPr txBox="1"/>
              <p:nvPr/>
            </p:nvSpPr>
            <p:spPr>
              <a:xfrm>
                <a:off x="533052" y="371871"/>
                <a:ext cx="10800000" cy="3785652"/>
              </a:xfrm>
              <a:prstGeom prst="rect">
                <a:avLst/>
              </a:prstGeom>
              <a:noFill/>
            </p:spPr>
            <p:txBody>
              <a:bodyPr wrap="square" rtlCol="0">
                <a:spAutoFit/>
              </a:bodyPr>
              <a:lstStyle/>
              <a:p>
                <a:pPr marL="900113" indent="-457200">
                  <a:buFont typeface="+mj-lt"/>
                  <a:buAutoNum type="alphaLcPeriod" startAt="3"/>
                </a:pPr>
                <a:r>
                  <a:rPr lang="en-US" sz="2000" dirty="0">
                    <a:latin typeface="Verdana" charset="0"/>
                    <a:ea typeface="Verdana" charset="0"/>
                    <a:cs typeface="Verdana" charset="0"/>
                  </a:rPr>
                  <a:t>Interpret the solution in context.</a:t>
                </a:r>
              </a:p>
              <a:p>
                <a:pPr marL="900113" indent="-457200">
                  <a:buFont typeface="+mj-lt"/>
                  <a:buAutoNum type="alphaLcPeriod" startAt="3"/>
                </a:pPr>
                <a:endParaRPr lang="en-US" sz="2000" dirty="0">
                  <a:latin typeface="Verdana" charset="0"/>
                  <a:ea typeface="Verdana" charset="0"/>
                  <a:cs typeface="Verdana" charset="0"/>
                </a:endParaRPr>
              </a:p>
              <a:p>
                <a:pPr marL="900113" indent="-457200">
                  <a:buFont typeface="+mj-lt"/>
                  <a:buAutoNum type="alphaLcPeriod" startAt="3"/>
                </a:pPr>
                <a:endParaRPr lang="en-US" sz="2000" dirty="0">
                  <a:latin typeface="Verdana" charset="0"/>
                  <a:ea typeface="Verdana" charset="0"/>
                  <a:cs typeface="Verdana" charset="0"/>
                </a:endParaRPr>
              </a:p>
              <a:p>
                <a:pPr marL="900113" indent="-457200">
                  <a:buFont typeface="+mj-lt"/>
                  <a:buAutoNum type="alphaLcPeriod" startAt="3"/>
                </a:pPr>
                <a:endParaRPr lang="en-US" sz="2000" dirty="0">
                  <a:latin typeface="Verdana" charset="0"/>
                  <a:ea typeface="Verdana" charset="0"/>
                  <a:cs typeface="Verdana" charset="0"/>
                </a:endParaRPr>
              </a:p>
              <a:p>
                <a:pPr marL="900113" indent="-457200">
                  <a:buFont typeface="+mj-lt"/>
                  <a:buAutoNum type="alphaLcPeriod" startAt="3"/>
                </a:pPr>
                <a:endParaRPr lang="en-US" sz="2000" dirty="0">
                  <a:latin typeface="Verdana" charset="0"/>
                  <a:ea typeface="Verdana" charset="0"/>
                  <a:cs typeface="Verdana" charset="0"/>
                </a:endParaRPr>
              </a:p>
              <a:p>
                <a:pPr marL="900113" indent="-457200">
                  <a:buFont typeface="+mj-lt"/>
                  <a:buAutoNum type="alphaLcPeriod" startAt="3"/>
                </a:pPr>
                <a:endParaRPr lang="en-US" sz="2000" dirty="0">
                  <a:latin typeface="Verdana" charset="0"/>
                  <a:ea typeface="Verdana" charset="0"/>
                  <a:cs typeface="Verdana" charset="0"/>
                </a:endParaRPr>
              </a:p>
              <a:p>
                <a:pPr marL="900113" indent="-457200">
                  <a:buFont typeface="+mj-lt"/>
                  <a:buAutoNum type="alphaLcPeriod" startAt="3"/>
                </a:pPr>
                <a:endParaRPr lang="en-US" sz="2000" dirty="0">
                  <a:latin typeface="Verdana" charset="0"/>
                  <a:ea typeface="Verdana" charset="0"/>
                  <a:cs typeface="Verdana" charset="0"/>
                </a:endParaRPr>
              </a:p>
              <a:p>
                <a:pPr marL="900113" indent="-457200">
                  <a:buFont typeface="+mj-lt"/>
                  <a:buAutoNum type="alphaLcPeriod" startAt="3"/>
                </a:pPr>
                <a:endParaRPr lang="en-US" sz="2000" dirty="0">
                  <a:latin typeface="Verdana" charset="0"/>
                  <a:ea typeface="Verdana" charset="0"/>
                  <a:cs typeface="Verdana" charset="0"/>
                </a:endParaRPr>
              </a:p>
              <a:p>
                <a:pPr marL="900113" indent="-457200">
                  <a:buFont typeface="+mj-lt"/>
                  <a:buAutoNum type="alphaLcPeriod" startAt="3"/>
                </a:pPr>
                <a:endParaRPr lang="en-US" sz="2000" dirty="0">
                  <a:latin typeface="Verdana" charset="0"/>
                  <a:ea typeface="Verdana" charset="0"/>
                  <a:cs typeface="Verdana" charset="0"/>
                </a:endParaRPr>
              </a:p>
              <a:p>
                <a:pPr marL="900113" indent="-457200">
                  <a:buFont typeface="+mj-lt"/>
                  <a:buAutoNum type="alphaLcPeriod" startAt="3"/>
                </a:pPr>
                <a:r>
                  <a:rPr lang="en-US" sz="2000" dirty="0">
                    <a:latin typeface="Verdana" charset="0"/>
                    <a:ea typeface="Verdana" charset="0"/>
                    <a:cs typeface="Verdana" charset="0"/>
                  </a:rPr>
                  <a:t>Discuss with your partner why </a:t>
                </a:r>
                <a14:m>
                  <m:oMath xmlns:m="http://schemas.openxmlformats.org/officeDocument/2006/math">
                    <m:r>
                      <a:rPr lang="en-US" sz="2000" i="1">
                        <a:latin typeface="Cambria Math" charset="0"/>
                        <a:ea typeface="Verdana" charset="0"/>
                        <a:cs typeface="Verdana" charset="0"/>
                      </a:rPr>
                      <m:t>52.7</m:t>
                    </m:r>
                  </m:oMath>
                </a14:m>
                <a:r>
                  <a:rPr lang="en-US" sz="2000" dirty="0">
                    <a:latin typeface="Verdana" charset="0"/>
                    <a:ea typeface="Verdana" charset="0"/>
                    <a:cs typeface="Verdana" charset="0"/>
                  </a:rPr>
                  <a:t> would not be a viable solution for this context. Summarize your discussion.</a:t>
                </a:r>
              </a:p>
            </p:txBody>
          </p:sp>
        </mc:Choice>
        <mc:Fallback>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3052" y="371871"/>
                <a:ext cx="10800000" cy="3785652"/>
              </a:xfrm>
              <a:prstGeom prst="rect">
                <a:avLst/>
              </a:prstGeom>
              <a:blipFill rotWithShape="1">
                <a:blip r:embed="rId3"/>
                <a:stretch>
                  <a:fillRect t="-966"/>
                </a:stretch>
              </a:blipFill>
            </p:spPr>
            <p:txBody>
              <a:bodyPr/>
              <a:lstStyle/>
              <a:p>
                <a:r>
                  <a:rPr lang="en-PH">
                    <a:noFill/>
                  </a:rPr>
                  <a:t> </a:t>
                </a:r>
              </a:p>
            </p:txBody>
          </p:sp>
        </mc:Fallback>
      </mc:AlternateContent>
      <p:sp>
        <p:nvSpPr>
          <p:cNvPr id="6" name="Google Shape;282;g104476d1465_1_17"/>
          <p:cNvSpPr txBox="1"/>
          <p:nvPr/>
        </p:nvSpPr>
        <p:spPr>
          <a:xfrm>
            <a:off x="8905687" y="650700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250</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4077" y="616060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266467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974"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xmlns="" id="{2FA392D8-3ED3-7940-83A8-1451AA8A08D4}"/>
                  </a:ext>
                </a:extLst>
              </p:cNvPr>
              <p:cNvSpPr txBox="1"/>
              <p:nvPr/>
            </p:nvSpPr>
            <p:spPr>
              <a:xfrm>
                <a:off x="534161" y="378085"/>
                <a:ext cx="10800000" cy="5324535"/>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Max and his friends are planning a chartered fishing trip off the coast of Fort Lauderdale. Fishing Adventures charges a base fee of </a:t>
                </a:r>
                <a14:m>
                  <m:oMath xmlns:m="http://schemas.openxmlformats.org/officeDocument/2006/math">
                    <m:r>
                      <a:rPr lang="en-US" sz="2000" i="1">
                        <a:latin typeface="Cambria Math" charset="0"/>
                        <a:ea typeface="Verdana" charset="0"/>
                        <a:cs typeface="Verdana" charset="0"/>
                      </a:rPr>
                      <m:t>$299.22,</m:t>
                    </m:r>
                  </m:oMath>
                </a14:m>
                <a:r>
                  <a:rPr lang="en-US" sz="2000" dirty="0">
                    <a:latin typeface="Verdana" charset="0"/>
                    <a:ea typeface="Verdana" charset="0"/>
                    <a:cs typeface="Verdana" charset="0"/>
                  </a:rPr>
                  <a:t> plus </a:t>
                </a:r>
                <a14:m>
                  <m:oMath xmlns:m="http://schemas.openxmlformats.org/officeDocument/2006/math">
                    <m:r>
                      <a:rPr lang="en-US" sz="2000" i="1">
                        <a:latin typeface="Cambria Math" charset="0"/>
                        <a:ea typeface="Verdana" charset="0"/>
                        <a:cs typeface="Verdana" charset="0"/>
                      </a:rPr>
                      <m:t>$21.90</m:t>
                    </m:r>
                  </m:oMath>
                </a14:m>
                <a:r>
                  <a:rPr lang="en-US" sz="2000" dirty="0">
                    <a:latin typeface="Verdana" charset="0"/>
                    <a:ea typeface="Verdana" charset="0"/>
                    <a:cs typeface="Verdana" charset="0"/>
                  </a:rPr>
                  <a:t> per person for a </a:t>
                </a:r>
                <a14:m>
                  <m:oMath xmlns:m="http://schemas.openxmlformats.org/officeDocument/2006/math">
                    <m:r>
                      <a:rPr lang="en-US" sz="2000" i="1">
                        <a:latin typeface="Cambria Math" charset="0"/>
                        <a:ea typeface="Verdana" charset="0"/>
                        <a:cs typeface="Verdana" charset="0"/>
                      </a:rPr>
                      <m:t>4</m:t>
                    </m:r>
                  </m:oMath>
                </a14:m>
                <a:r>
                  <a:rPr lang="en-US" sz="2000" dirty="0">
                    <a:latin typeface="Verdana" charset="0"/>
                    <a:ea typeface="Verdana" charset="0"/>
                    <a:cs typeface="Verdana" charset="0"/>
                  </a:rPr>
                  <a:t>-hour trip. However, Max found a </a:t>
                </a:r>
                <a14:m>
                  <m:oMath xmlns:m="http://schemas.openxmlformats.org/officeDocument/2006/math">
                    <m:r>
                      <a:rPr lang="en-US" sz="2000" i="1">
                        <a:latin typeface="Cambria Math" charset="0"/>
                        <a:ea typeface="Verdana" charset="0"/>
                        <a:cs typeface="Verdana" charset="0"/>
                      </a:rPr>
                      <m:t>10%</m:t>
                    </m:r>
                  </m:oMath>
                </a14:m>
                <a:r>
                  <a:rPr lang="en-US" sz="2000" dirty="0">
                    <a:latin typeface="Verdana" charset="0"/>
                    <a:ea typeface="Verdana" charset="0"/>
                    <a:cs typeface="Verdana" charset="0"/>
                  </a:rPr>
                  <a:t> off coupon for Ocean Excursions. Normally Ocean Excursions offers </a:t>
                </a:r>
                <a14:m>
                  <m:oMath xmlns:m="http://schemas.openxmlformats.org/officeDocument/2006/math">
                    <m:r>
                      <a:rPr lang="en-US" sz="2000" i="1">
                        <a:latin typeface="Cambria Math" charset="0"/>
                        <a:ea typeface="Verdana" charset="0"/>
                        <a:cs typeface="Verdana" charset="0"/>
                      </a:rPr>
                      <m:t>6</m:t>
                    </m:r>
                  </m:oMath>
                </a14:m>
                <a:r>
                  <a:rPr lang="en-US" sz="2000" dirty="0">
                    <a:latin typeface="Verdana" charset="0"/>
                    <a:ea typeface="Verdana" charset="0"/>
                    <a:cs typeface="Verdana" charset="0"/>
                  </a:rPr>
                  <a:t>‑hour trips for </a:t>
                </a:r>
                <a14:m>
                  <m:oMath xmlns:m="http://schemas.openxmlformats.org/officeDocument/2006/math">
                    <m:r>
                      <a:rPr lang="en-US" sz="2000" i="1">
                        <a:latin typeface="Cambria Math" charset="0"/>
                        <a:ea typeface="Verdana" charset="0"/>
                        <a:cs typeface="Verdana" charset="0"/>
                      </a:rPr>
                      <m:t>$50.58</m:t>
                    </m:r>
                  </m:oMath>
                </a14:m>
                <a:r>
                  <a:rPr lang="en-US" sz="2000" dirty="0">
                    <a:latin typeface="Verdana" charset="0"/>
                    <a:ea typeface="Verdana" charset="0"/>
                    <a:cs typeface="Verdana" charset="0"/>
                  </a:rPr>
                  <a:t> per person plus a flat fee of </a:t>
                </a:r>
                <a14:m>
                  <m:oMath xmlns:m="http://schemas.openxmlformats.org/officeDocument/2006/math">
                    <m:r>
                      <a:rPr lang="en-US" sz="2000" i="1">
                        <a:latin typeface="Cambria Math" charset="0"/>
                        <a:ea typeface="Verdana" charset="0"/>
                        <a:cs typeface="Verdana" charset="0"/>
                      </a:rPr>
                      <m:t>$70</m:t>
                    </m:r>
                  </m:oMath>
                </a14:m>
                <a:r>
                  <a:rPr lang="en-US" sz="2000" dirty="0">
                    <a:latin typeface="Verdana" charset="0"/>
                    <a:ea typeface="Verdana" charset="0"/>
                    <a:cs typeface="Verdana" charset="0"/>
                  </a:rPr>
                  <a:t> for equipment. With the </a:t>
                </a:r>
                <a14:m>
                  <m:oMath xmlns:m="http://schemas.openxmlformats.org/officeDocument/2006/math">
                    <m:r>
                      <a:rPr lang="en-US" sz="2000" i="1">
                        <a:latin typeface="Cambria Math" charset="0"/>
                        <a:ea typeface="Verdana" charset="0"/>
                        <a:cs typeface="Verdana" charset="0"/>
                      </a:rPr>
                      <m:t>10%</m:t>
                    </m:r>
                  </m:oMath>
                </a14:m>
                <a:r>
                  <a:rPr lang="en-US" sz="2000" dirty="0">
                    <a:latin typeface="Verdana" charset="0"/>
                    <a:ea typeface="Verdana" charset="0"/>
                    <a:cs typeface="Verdana" charset="0"/>
                  </a:rPr>
                  <a:t> off coupon, the two options would cost Max and his friends the same amount of money.</a:t>
                </a:r>
              </a:p>
              <a:p>
                <a:r>
                  <a:rPr lang="en-US" sz="2000" dirty="0">
                    <a:latin typeface="Verdana" charset="0"/>
                    <a:ea typeface="Verdana" charset="0"/>
                    <a:cs typeface="Verdana" charset="0"/>
                  </a:rPr>
                  <a:t> </a:t>
                </a:r>
              </a:p>
              <a:p>
                <a:pPr marL="971550" indent="-455613">
                  <a:buFont typeface="+mj-lt"/>
                  <a:buAutoNum type="alphaLcPeriod"/>
                </a:pPr>
                <a:r>
                  <a:rPr lang="en-US" sz="2000" dirty="0">
                    <a:latin typeface="Verdana" charset="0"/>
                    <a:ea typeface="Verdana" charset="0"/>
                    <a:cs typeface="Verdana" charset="0"/>
                  </a:rPr>
                  <a:t>Define a variable to represent the unknown. </a:t>
                </a:r>
              </a:p>
              <a:p>
                <a:pPr marL="971550" indent="-455613">
                  <a:buFont typeface="+mj-lt"/>
                  <a:buAutoNum type="alphaLcPeriod"/>
                </a:pPr>
                <a:endParaRPr lang="en-US" sz="2000" dirty="0" smtClean="0">
                  <a:latin typeface="Verdana" charset="0"/>
                  <a:ea typeface="Verdana" charset="0"/>
                  <a:cs typeface="Verdana" charset="0"/>
                </a:endParaRPr>
              </a:p>
              <a:p>
                <a:pPr marL="971550" indent="-455613">
                  <a:buFont typeface="+mj-lt"/>
                  <a:buAutoNum type="alphaLcPeriod"/>
                </a:pPr>
                <a:endParaRPr lang="en-US" sz="2000" dirty="0">
                  <a:latin typeface="Verdana" charset="0"/>
                  <a:ea typeface="Verdana" charset="0"/>
                  <a:cs typeface="Verdana" charset="0"/>
                </a:endParaRPr>
              </a:p>
              <a:p>
                <a:pPr marL="971550" indent="-455613">
                  <a:buFont typeface="+mj-lt"/>
                  <a:buAutoNum type="alphaLcPeriod"/>
                </a:pPr>
                <a:endParaRPr lang="en-US" sz="2000" dirty="0">
                  <a:latin typeface="Verdana" charset="0"/>
                  <a:ea typeface="Verdana" charset="0"/>
                  <a:cs typeface="Verdana" charset="0"/>
                </a:endParaRPr>
              </a:p>
              <a:p>
                <a:pPr marL="971550" indent="-455613">
                  <a:buFont typeface="+mj-lt"/>
                  <a:buAutoNum type="alphaLcPeriod"/>
                </a:pPr>
                <a:r>
                  <a:rPr lang="en-US" sz="2000" dirty="0">
                    <a:latin typeface="Verdana" charset="0"/>
                    <a:ea typeface="Verdana" charset="0"/>
                    <a:cs typeface="Verdana" charset="0"/>
                  </a:rPr>
                  <a:t>Write and solve an equation representing this situation.</a:t>
                </a:r>
              </a:p>
              <a:p>
                <a:pPr marL="971550" indent="-455613">
                  <a:buFont typeface="+mj-lt"/>
                  <a:buAutoNum type="alphaLcPeriod"/>
                </a:pPr>
                <a:endParaRPr lang="en-US" sz="2000" dirty="0">
                  <a:latin typeface="Verdana" charset="0"/>
                  <a:ea typeface="Verdana" charset="0"/>
                  <a:cs typeface="Verdana" charset="0"/>
                </a:endParaRPr>
              </a:p>
              <a:p>
                <a:pPr marL="971550" indent="-455613">
                  <a:buFont typeface="+mj-lt"/>
                  <a:buAutoNum type="alphaLcPeriod"/>
                </a:pPr>
                <a:endParaRPr lang="en-US" sz="2000" dirty="0" smtClean="0">
                  <a:latin typeface="Verdana" charset="0"/>
                  <a:ea typeface="Verdana" charset="0"/>
                  <a:cs typeface="Verdana" charset="0"/>
                </a:endParaRPr>
              </a:p>
              <a:p>
                <a:pPr marL="971550" indent="-455613">
                  <a:buFont typeface="+mj-lt"/>
                  <a:buAutoNum type="alphaLcPeriod"/>
                </a:pPr>
                <a:endParaRPr lang="en-US" sz="2000" dirty="0">
                  <a:latin typeface="Verdana" charset="0"/>
                  <a:ea typeface="Verdana" charset="0"/>
                  <a:cs typeface="Verdana" charset="0"/>
                </a:endParaRPr>
              </a:p>
              <a:p>
                <a:pPr marL="971550" indent="-455613">
                  <a:buFont typeface="+mj-lt"/>
                  <a:buAutoNum type="alphaLcPeriod"/>
                </a:pPr>
                <a:endParaRPr lang="en-US" sz="2000" dirty="0">
                  <a:latin typeface="Verdana" charset="0"/>
                  <a:ea typeface="Verdana" charset="0"/>
                  <a:cs typeface="Verdana" charset="0"/>
                </a:endParaRPr>
              </a:p>
              <a:p>
                <a:pPr marL="971550" indent="-455613">
                  <a:buFont typeface="+mj-lt"/>
                  <a:buAutoNum type="alphaLcPeriod"/>
                </a:pPr>
                <a:r>
                  <a:rPr lang="en-US" sz="2000" dirty="0">
                    <a:latin typeface="Verdana" charset="0"/>
                    <a:ea typeface="Verdana" charset="0"/>
                    <a:cs typeface="Verdana" charset="0"/>
                  </a:rPr>
                  <a:t>Interpret the solution.</a:t>
                </a:r>
              </a:p>
            </p:txBody>
          </p:sp>
        </mc:Choice>
        <mc:Fallback>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4161" y="378085"/>
                <a:ext cx="10800000" cy="5324535"/>
              </a:xfrm>
              <a:prstGeom prst="rect">
                <a:avLst/>
              </a:prstGeom>
              <a:blipFill rotWithShape="1">
                <a:blip r:embed="rId3"/>
                <a:stretch>
                  <a:fillRect l="-621" t="-687" r="-1242" b="-1145"/>
                </a:stretch>
              </a:blipFill>
            </p:spPr>
            <p:txBody>
              <a:bodyPr/>
              <a:lstStyle/>
              <a:p>
                <a:r>
                  <a:rPr lang="en-PH">
                    <a:noFill/>
                  </a:rPr>
                  <a:t> </a:t>
                </a:r>
              </a:p>
            </p:txBody>
          </p:sp>
        </mc:Fallback>
      </mc:AlternateContent>
      <p:sp>
        <p:nvSpPr>
          <p:cNvPr id="6" name="Google Shape;282;g104476d1465_1_17"/>
          <p:cNvSpPr txBox="1"/>
          <p:nvPr/>
        </p:nvSpPr>
        <p:spPr>
          <a:xfrm>
            <a:off x="8905687" y="650700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250</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4077" y="616060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04675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64704" y="-822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3735483" y="2852923"/>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xmlns="" id="{B02E8C6A-53AD-AA4E-A4ED-406F3B0E370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159411" y="2939701"/>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905687" y="650700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251</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4077" y="616060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3423930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252742" y="-9883"/>
            <a:ext cx="1061326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5.5.3 Guided Practice: Solving Real-World Problems by Writing and Solving Equations</a:t>
            </a:r>
          </a:p>
        </p:txBody>
      </p:sp>
      <p:pic>
        <p:nvPicPr>
          <p:cNvPr id="8" name="Picture 2" descr="Icon&#10;&#10;Description automatically generated">
            <a:extLst>
              <a:ext uri="{FF2B5EF4-FFF2-40B4-BE49-F238E27FC236}">
                <a16:creationId xmlns:a16="http://schemas.microsoft.com/office/drawing/2014/main" xmlns="" id="{B3C42596-1BDF-794D-A82A-7C54635CB81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34382" y="278063"/>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xmlns="" id="{31D40250-DEDD-2C41-8538-3D4DD18CCC4A}"/>
                  </a:ext>
                </a:extLst>
              </p:cNvPr>
              <p:cNvSpPr txBox="1"/>
              <p:nvPr/>
            </p:nvSpPr>
            <p:spPr>
              <a:xfrm>
                <a:off x="534161" y="1468941"/>
                <a:ext cx="10800000" cy="2554545"/>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Marisol was surprised when she discovered last week that she had worked the same number of hours and made the same amount of money by working two different jobs. As a server at The Main Street Grill, she earned </a:t>
                </a:r>
                <a14:m>
                  <m:oMath xmlns:m="http://schemas.openxmlformats.org/officeDocument/2006/math">
                    <m:r>
                      <a:rPr lang="en-US" sz="2000" i="1">
                        <a:latin typeface="Cambria Math" charset="0"/>
                        <a:ea typeface="Verdana" charset="0"/>
                        <a:cs typeface="Verdana" charset="0"/>
                      </a:rPr>
                      <m:t>$5.85</m:t>
                    </m:r>
                  </m:oMath>
                </a14:m>
                <a:r>
                  <a:rPr lang="en-US" sz="2000" dirty="0">
                    <a:latin typeface="Verdana" charset="0"/>
                    <a:ea typeface="Verdana" charset="0"/>
                    <a:cs typeface="Verdana" charset="0"/>
                  </a:rPr>
                  <a:t> per hour plus </a:t>
                </a:r>
                <a14:m>
                  <m:oMath xmlns:m="http://schemas.openxmlformats.org/officeDocument/2006/math">
                    <m:r>
                      <a:rPr lang="en-US" sz="2000" i="1">
                        <a:latin typeface="Cambria Math" charset="0"/>
                        <a:ea typeface="Verdana" charset="0"/>
                        <a:cs typeface="Verdana" charset="0"/>
                      </a:rPr>
                      <m:t>$74.40</m:t>
                    </m:r>
                  </m:oMath>
                </a14:m>
                <a:r>
                  <a:rPr lang="en-US" sz="2000" dirty="0">
                    <a:latin typeface="Verdana" charset="0"/>
                    <a:ea typeface="Verdana" charset="0"/>
                    <a:cs typeface="Verdana" charset="0"/>
                  </a:rPr>
                  <a:t> in tips. Working at Fresh Fashions she earned </a:t>
                </a:r>
                <a14:m>
                  <m:oMath xmlns:m="http://schemas.openxmlformats.org/officeDocument/2006/math">
                    <m:r>
                      <a:rPr lang="en-US" sz="2000" i="1">
                        <a:latin typeface="Cambria Math" charset="0"/>
                        <a:ea typeface="Verdana" charset="0"/>
                        <a:cs typeface="Verdana" charset="0"/>
                      </a:rPr>
                      <m:t>$8.65</m:t>
                    </m:r>
                  </m:oMath>
                </a14:m>
                <a:r>
                  <a:rPr lang="en-US" sz="2000" dirty="0">
                    <a:latin typeface="Verdana" charset="0"/>
                    <a:ea typeface="Verdana" charset="0"/>
                    <a:cs typeface="Verdana" charset="0"/>
                  </a:rPr>
                  <a:t> per hour plus </a:t>
                </a:r>
                <a14:m>
                  <m:oMath xmlns:m="http://schemas.openxmlformats.org/officeDocument/2006/math">
                    <m:r>
                      <a:rPr lang="en-US" sz="2000" i="1">
                        <a:latin typeface="Cambria Math" charset="0"/>
                        <a:ea typeface="Verdana" charset="0"/>
                        <a:cs typeface="Verdana" charset="0"/>
                      </a:rPr>
                      <m:t>$22.60</m:t>
                    </m:r>
                  </m:oMath>
                </a14:m>
                <a:r>
                  <a:rPr lang="en-US" sz="2000" dirty="0">
                    <a:latin typeface="Verdana" charset="0"/>
                    <a:ea typeface="Verdana" charset="0"/>
                    <a:cs typeface="Verdana" charset="0"/>
                  </a:rPr>
                  <a:t> in sales bonuses. </a:t>
                </a:r>
              </a:p>
              <a:p>
                <a:r>
                  <a:rPr lang="en-US" sz="2000" dirty="0">
                    <a:latin typeface="Verdana" charset="0"/>
                    <a:ea typeface="Verdana" charset="0"/>
                    <a:cs typeface="Verdana" charset="0"/>
                  </a:rPr>
                  <a:t> </a:t>
                </a:r>
              </a:p>
              <a:p>
                <a:pPr marL="923925" indent="-454025">
                  <a:buFont typeface="+mj-lt"/>
                  <a:buAutoNum type="alphaLcPeriod"/>
                </a:pPr>
                <a:r>
                  <a:rPr lang="en-US" sz="2000" dirty="0">
                    <a:latin typeface="Verdana" charset="0"/>
                    <a:ea typeface="Verdana" charset="0"/>
                    <a:cs typeface="Verdana" charset="0"/>
                  </a:rPr>
                  <a:t>Define a variable to represent the unknown.</a:t>
                </a:r>
              </a:p>
            </p:txBody>
          </p:sp>
        </mc:Choice>
        <mc:Fallback>
          <p:sp>
            <p:nvSpPr>
              <p:cNvPr id="10" name="TextBox 9">
                <a:extLst>
                  <a:ext uri="{FF2B5EF4-FFF2-40B4-BE49-F238E27FC236}">
                    <a16:creationId xmlns:a16="http://schemas.microsoft.com/office/drawing/2014/main" xmlns:a14="http://schemas.microsoft.com/office/drawing/2010/main" xmlns="" id="{31D40250-DEDD-2C41-8538-3D4DD18CCC4A}"/>
                  </a:ext>
                </a:extLst>
              </p:cNvPr>
              <p:cNvSpPr txBox="1">
                <a:spLocks noRot="1" noChangeAspect="1" noMove="1" noResize="1" noEditPoints="1" noAdjustHandles="1" noChangeArrowheads="1" noChangeShapeType="1" noTextEdit="1"/>
              </p:cNvSpPr>
              <p:nvPr/>
            </p:nvSpPr>
            <p:spPr>
              <a:xfrm>
                <a:off x="534161" y="1468941"/>
                <a:ext cx="10800000" cy="2554545"/>
              </a:xfrm>
              <a:prstGeom prst="rect">
                <a:avLst/>
              </a:prstGeom>
              <a:blipFill rotWithShape="1">
                <a:blip r:embed="rId4"/>
                <a:stretch>
                  <a:fillRect l="-621" t="-1432"/>
                </a:stretch>
              </a:blipFill>
            </p:spPr>
            <p:txBody>
              <a:bodyPr/>
              <a:lstStyle/>
              <a:p>
                <a:r>
                  <a:rPr lang="en-PH">
                    <a:noFill/>
                  </a:rPr>
                  <a:t> </a:t>
                </a:r>
              </a:p>
            </p:txBody>
          </p:sp>
        </mc:Fallback>
      </mc:AlternateContent>
      <p:sp>
        <p:nvSpPr>
          <p:cNvPr id="9" name="Google Shape;282;g104476d1465_1_17"/>
          <p:cNvSpPr txBox="1"/>
          <p:nvPr/>
        </p:nvSpPr>
        <p:spPr>
          <a:xfrm>
            <a:off x="8905687" y="650700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smtClean="0">
                <a:latin typeface="Calibri"/>
                <a:ea typeface="Calibri"/>
                <a:cs typeface="Calibri"/>
                <a:sym typeface="Calibri"/>
              </a:rPr>
              <a:t>251</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4077" y="616060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9220627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531063" y="380749"/>
            <a:ext cx="10800000" cy="4708981"/>
          </a:xfrm>
          <a:prstGeom prst="rect">
            <a:avLst/>
          </a:prstGeom>
          <a:noFill/>
        </p:spPr>
        <p:txBody>
          <a:bodyPr wrap="square" rtlCol="0">
            <a:spAutoFit/>
          </a:bodyPr>
          <a:lstStyle/>
          <a:p>
            <a:pPr marL="900113" indent="-457200">
              <a:buFont typeface="+mj-lt"/>
              <a:buAutoNum type="alphaLcPeriod" startAt="2"/>
            </a:pPr>
            <a:r>
              <a:rPr lang="en-US" sz="2000" dirty="0">
                <a:latin typeface="Verdana" charset="0"/>
                <a:ea typeface="Verdana" charset="0"/>
                <a:cs typeface="Verdana" charset="0"/>
              </a:rPr>
              <a:t>Write an expression that represents the amount Marisol earned working at The Main Street Grill.</a:t>
            </a:r>
          </a:p>
          <a:p>
            <a:pPr marL="900113" indent="-457200">
              <a:buFont typeface="+mj-lt"/>
              <a:buAutoNum type="alphaLcPeriod" startAt="2"/>
            </a:pPr>
            <a:endParaRPr lang="en-US" sz="2000" dirty="0">
              <a:latin typeface="Verdana" charset="0"/>
              <a:ea typeface="Verdana" charset="0"/>
              <a:cs typeface="Verdana" charset="0"/>
            </a:endParaRPr>
          </a:p>
          <a:p>
            <a:pPr marL="900113" indent="-457200">
              <a:buFont typeface="+mj-lt"/>
              <a:buAutoNum type="alphaLcPeriod" startAt="2"/>
            </a:pPr>
            <a:endParaRPr lang="en-US" sz="2000" dirty="0">
              <a:latin typeface="Verdana" charset="0"/>
              <a:ea typeface="Verdana" charset="0"/>
              <a:cs typeface="Verdana" charset="0"/>
            </a:endParaRPr>
          </a:p>
          <a:p>
            <a:pPr marL="900113" indent="-457200">
              <a:buFont typeface="+mj-lt"/>
              <a:buAutoNum type="alphaLcPeriod" startAt="2"/>
            </a:pPr>
            <a:endParaRPr lang="en-US" sz="2000" dirty="0">
              <a:latin typeface="Verdana" charset="0"/>
              <a:ea typeface="Verdana" charset="0"/>
              <a:cs typeface="Verdana" charset="0"/>
            </a:endParaRPr>
          </a:p>
          <a:p>
            <a:pPr marL="900113" indent="-457200">
              <a:buFont typeface="+mj-lt"/>
              <a:buAutoNum type="alphaLcPeriod" startAt="2"/>
            </a:pPr>
            <a:endParaRPr lang="en-US" sz="2000" dirty="0">
              <a:latin typeface="Verdana" charset="0"/>
              <a:ea typeface="Verdana" charset="0"/>
              <a:cs typeface="Verdana" charset="0"/>
            </a:endParaRPr>
          </a:p>
          <a:p>
            <a:pPr marL="900113" indent="-457200">
              <a:buFont typeface="+mj-lt"/>
              <a:buAutoNum type="alphaLcPeriod" startAt="2"/>
            </a:pPr>
            <a:r>
              <a:rPr lang="en-US" sz="2000" dirty="0">
                <a:latin typeface="Verdana" charset="0"/>
                <a:ea typeface="Verdana" charset="0"/>
                <a:cs typeface="Verdana" charset="0"/>
              </a:rPr>
              <a:t>Write an expression that represents the amount Marisol earned working at Fresh Fashions. </a:t>
            </a:r>
          </a:p>
          <a:p>
            <a:pPr marL="900113" indent="-457200">
              <a:buFont typeface="+mj-lt"/>
              <a:buAutoNum type="alphaLcPeriod" startAt="2"/>
            </a:pPr>
            <a:endParaRPr lang="en-US" sz="2000" dirty="0">
              <a:latin typeface="Verdana" charset="0"/>
              <a:ea typeface="Verdana" charset="0"/>
              <a:cs typeface="Verdana" charset="0"/>
            </a:endParaRPr>
          </a:p>
          <a:p>
            <a:pPr marL="900113" indent="-457200">
              <a:buFont typeface="+mj-lt"/>
              <a:buAutoNum type="alphaLcPeriod" startAt="2"/>
            </a:pPr>
            <a:endParaRPr lang="en-US" sz="2000" dirty="0">
              <a:latin typeface="Verdana" charset="0"/>
              <a:ea typeface="Verdana" charset="0"/>
              <a:cs typeface="Verdana" charset="0"/>
            </a:endParaRPr>
          </a:p>
          <a:p>
            <a:pPr marL="900113" indent="-457200">
              <a:buFont typeface="+mj-lt"/>
              <a:buAutoNum type="alphaLcPeriod" startAt="2"/>
            </a:pPr>
            <a:endParaRPr lang="en-US" sz="2000" dirty="0">
              <a:latin typeface="Verdana" charset="0"/>
              <a:ea typeface="Verdana" charset="0"/>
              <a:cs typeface="Verdana" charset="0"/>
            </a:endParaRPr>
          </a:p>
          <a:p>
            <a:pPr marL="900113" indent="-457200">
              <a:buFont typeface="+mj-lt"/>
              <a:buAutoNum type="alphaLcPeriod" startAt="2"/>
            </a:pPr>
            <a:endParaRPr lang="en-US" sz="2000" dirty="0">
              <a:latin typeface="Verdana" charset="0"/>
              <a:ea typeface="Verdana" charset="0"/>
              <a:cs typeface="Verdana" charset="0"/>
            </a:endParaRPr>
          </a:p>
          <a:p>
            <a:pPr marL="900113" indent="-457200">
              <a:buFont typeface="+mj-lt"/>
              <a:buAutoNum type="alphaLcPeriod" startAt="2"/>
            </a:pPr>
            <a:r>
              <a:rPr lang="en-US" sz="2000" dirty="0">
                <a:latin typeface="Verdana" charset="0"/>
                <a:ea typeface="Verdana" charset="0"/>
                <a:cs typeface="Verdana" charset="0"/>
              </a:rPr>
              <a:t>Write the equation that represents last week, when she earned the same amount of money working the same number of hours at both jobs.</a:t>
            </a:r>
          </a:p>
        </p:txBody>
      </p:sp>
      <p:sp>
        <p:nvSpPr>
          <p:cNvPr id="6" name="Google Shape;282;g104476d1465_1_17"/>
          <p:cNvSpPr txBox="1"/>
          <p:nvPr/>
        </p:nvSpPr>
        <p:spPr>
          <a:xfrm>
            <a:off x="8905687" y="650700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smtClean="0">
                <a:latin typeface="Calibri"/>
                <a:ea typeface="Calibri"/>
                <a:cs typeface="Calibri"/>
                <a:sym typeface="Calibri"/>
              </a:rPr>
              <a:t>251</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84077" y="616060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9718514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xmlns="" id="{2FA392D8-3ED3-7940-83A8-1451AA8A08D4}"/>
                  </a:ext>
                </a:extLst>
              </p:cNvPr>
              <p:cNvSpPr txBox="1"/>
              <p:nvPr/>
            </p:nvSpPr>
            <p:spPr>
              <a:xfrm>
                <a:off x="531062" y="379949"/>
                <a:ext cx="10800000" cy="5632311"/>
              </a:xfrm>
              <a:prstGeom prst="rect">
                <a:avLst/>
              </a:prstGeom>
              <a:noFill/>
            </p:spPr>
            <p:txBody>
              <a:bodyPr wrap="square" rtlCol="0">
                <a:spAutoFit/>
              </a:bodyPr>
              <a:lstStyle/>
              <a:p>
                <a:pPr marL="896938" indent="-444500">
                  <a:buFont typeface="+mj-lt"/>
                  <a:buAutoNum type="alphaLcPeriod" startAt="5"/>
                </a:pPr>
                <a:r>
                  <a:rPr lang="en-US" sz="2000" dirty="0">
                    <a:latin typeface="Verdana" charset="0"/>
                    <a:ea typeface="Verdana" charset="0"/>
                    <a:cs typeface="Verdana" charset="0"/>
                  </a:rPr>
                  <a:t>Solve the equation.</a:t>
                </a:r>
              </a:p>
              <a:p>
                <a:pPr marL="896938" indent="-444500">
                  <a:buFont typeface="+mj-lt"/>
                  <a:buAutoNum type="alphaLcPeriod" startAt="5"/>
                </a:pPr>
                <a:endParaRPr lang="en-US" sz="2000" dirty="0" smtClean="0">
                  <a:latin typeface="Verdana" charset="0"/>
                  <a:ea typeface="Verdana" charset="0"/>
                  <a:cs typeface="Verdana" charset="0"/>
                </a:endParaRPr>
              </a:p>
              <a:p>
                <a:pPr marL="896938" indent="-444500">
                  <a:buFont typeface="+mj-lt"/>
                  <a:buAutoNum type="alphaLcPeriod" startAt="5"/>
                </a:pPr>
                <a:endParaRPr lang="en-US" sz="2000" dirty="0">
                  <a:latin typeface="Verdana" charset="0"/>
                  <a:ea typeface="Verdana" charset="0"/>
                  <a:cs typeface="Verdana" charset="0"/>
                </a:endParaRPr>
              </a:p>
              <a:p>
                <a:pPr marL="896938" indent="-444500">
                  <a:buFont typeface="+mj-lt"/>
                  <a:buAutoNum type="alphaLcPeriod" startAt="5"/>
                </a:pPr>
                <a:endParaRPr lang="en-US" sz="2000" dirty="0" smtClean="0">
                  <a:latin typeface="Verdana" charset="0"/>
                  <a:ea typeface="Verdana" charset="0"/>
                  <a:cs typeface="Verdana" charset="0"/>
                </a:endParaRPr>
              </a:p>
              <a:p>
                <a:pPr marL="896938" indent="-444500">
                  <a:buFont typeface="+mj-lt"/>
                  <a:buAutoNum type="alphaLcPeriod" startAt="5"/>
                </a:pPr>
                <a:endParaRPr lang="en-US" sz="2000" dirty="0">
                  <a:latin typeface="Verdana" charset="0"/>
                  <a:ea typeface="Verdana" charset="0"/>
                  <a:cs typeface="Verdana" charset="0"/>
                </a:endParaRPr>
              </a:p>
              <a:p>
                <a:pPr marL="896938" indent="-444500">
                  <a:buFont typeface="+mj-lt"/>
                  <a:buAutoNum type="alphaLcPeriod" startAt="5"/>
                </a:pPr>
                <a:endParaRPr lang="en-US" sz="2000" dirty="0">
                  <a:latin typeface="Verdana" charset="0"/>
                  <a:ea typeface="Verdana" charset="0"/>
                  <a:cs typeface="Verdana" charset="0"/>
                </a:endParaRPr>
              </a:p>
              <a:p>
                <a:pPr marL="896938" indent="-444500">
                  <a:buFont typeface="+mj-lt"/>
                  <a:buAutoNum type="alphaLcPeriod" startAt="5"/>
                </a:pPr>
                <a:r>
                  <a:rPr lang="en-US" sz="2000" dirty="0">
                    <a:latin typeface="Verdana" charset="0"/>
                    <a:ea typeface="Verdana" charset="0"/>
                    <a:cs typeface="Verdana" charset="0"/>
                  </a:rPr>
                  <a:t>Interpret the solution. </a:t>
                </a:r>
              </a:p>
              <a:p>
                <a:pPr marL="896938" indent="-444500">
                  <a:buFont typeface="+mj-lt"/>
                  <a:buAutoNum type="alphaLcPeriod" startAt="5"/>
                </a:pPr>
                <a:endParaRPr lang="en-US" sz="2000" dirty="0" smtClean="0">
                  <a:latin typeface="Verdana" charset="0"/>
                  <a:ea typeface="Verdana" charset="0"/>
                  <a:cs typeface="Verdana" charset="0"/>
                </a:endParaRPr>
              </a:p>
              <a:p>
                <a:pPr marL="896938" indent="-444500">
                  <a:buFont typeface="+mj-lt"/>
                  <a:buAutoNum type="alphaLcPeriod" startAt="5"/>
                </a:pPr>
                <a:endParaRPr lang="en-US" sz="2000" dirty="0">
                  <a:latin typeface="Verdana" charset="0"/>
                  <a:ea typeface="Verdana" charset="0"/>
                  <a:cs typeface="Verdana" charset="0"/>
                </a:endParaRPr>
              </a:p>
              <a:p>
                <a:pPr marL="896938" indent="-444500">
                  <a:buFont typeface="+mj-lt"/>
                  <a:buAutoNum type="alphaLcPeriod" startAt="5"/>
                </a:pPr>
                <a:endParaRPr lang="en-US" sz="2000" dirty="0">
                  <a:latin typeface="Verdana" charset="0"/>
                  <a:ea typeface="Verdana" charset="0"/>
                  <a:cs typeface="Verdana" charset="0"/>
                </a:endParaRPr>
              </a:p>
              <a:p>
                <a:pPr marL="896938" indent="-444500">
                  <a:buFont typeface="+mj-lt"/>
                  <a:buAutoNum type="alphaLcPeriod" startAt="5"/>
                </a:pPr>
                <a:r>
                  <a:rPr lang="en-US" sz="2000" dirty="0">
                    <a:latin typeface="Verdana" charset="0"/>
                    <a:ea typeface="Verdana" charset="0"/>
                    <a:cs typeface="Verdana" charset="0"/>
                  </a:rPr>
                  <a:t>Explain whether the mathematical solution to the equation is viable in this context. </a:t>
                </a:r>
              </a:p>
              <a:p>
                <a:pPr marL="896938" indent="-444500">
                  <a:buFont typeface="+mj-lt"/>
                  <a:buAutoNum type="alphaLcPeriod" startAt="5"/>
                </a:pPr>
                <a:endParaRPr lang="en-US" sz="2000" dirty="0">
                  <a:latin typeface="Verdana" charset="0"/>
                  <a:ea typeface="Verdana" charset="0"/>
                  <a:cs typeface="Verdana" charset="0"/>
                </a:endParaRPr>
              </a:p>
              <a:p>
                <a:pPr marL="896938" indent="-444500">
                  <a:buFont typeface="+mj-lt"/>
                  <a:buAutoNum type="alphaLcPeriod" startAt="5"/>
                </a:pPr>
                <a:endParaRPr lang="en-US" sz="2000" dirty="0">
                  <a:latin typeface="Verdana" charset="0"/>
                  <a:ea typeface="Verdana" charset="0"/>
                  <a:cs typeface="Verdana" charset="0"/>
                </a:endParaRPr>
              </a:p>
              <a:p>
                <a:pPr marL="896938" indent="-444500">
                  <a:buFont typeface="+mj-lt"/>
                  <a:buAutoNum type="alphaLcPeriod" startAt="5"/>
                </a:pPr>
                <a:r>
                  <a:rPr lang="en-US" sz="2000" dirty="0">
                    <a:latin typeface="Verdana" charset="0"/>
                    <a:ea typeface="Verdana" charset="0"/>
                    <a:cs typeface="Verdana" charset="0"/>
                  </a:rPr>
                  <a:t>Complete the statement. Use the space provided to show any work. </a:t>
                </a:r>
              </a:p>
              <a:p>
                <a:pPr marL="457200" indent="-457200">
                  <a:buFont typeface="+mj-lt"/>
                  <a:buAutoNum type="alphaLcPeriod" startAt="5"/>
                </a:pPr>
                <a:endParaRPr lang="en-US" sz="2000" dirty="0">
                  <a:latin typeface="Verdana" charset="0"/>
                  <a:ea typeface="Verdana" charset="0"/>
                  <a:cs typeface="Verdana" charset="0"/>
                </a:endParaRPr>
              </a:p>
              <a:p>
                <a:pPr marL="896938"/>
                <a:r>
                  <a:rPr lang="en-US" sz="2000" dirty="0">
                    <a:latin typeface="Verdana" charset="0"/>
                    <a:ea typeface="Verdana" charset="0"/>
                    <a:cs typeface="Verdana" charset="0"/>
                  </a:rPr>
                  <a:t>Last week, Marisol worked a total of ______ hours and earned a total of </a:t>
                </a:r>
                <a14:m>
                  <m:oMath xmlns:m="http://schemas.openxmlformats.org/officeDocument/2006/math">
                    <m:r>
                      <a:rPr lang="en-US" sz="2000" i="1">
                        <a:latin typeface="Cambria Math" charset="0"/>
                        <a:ea typeface="Verdana" charset="0"/>
                        <a:cs typeface="Verdana" charset="0"/>
                      </a:rPr>
                      <m:t>$</m:t>
                    </m:r>
                  </m:oMath>
                </a14:m>
                <a:r>
                  <a:rPr lang="en-US" sz="2000" dirty="0">
                    <a:latin typeface="Verdana" charset="0"/>
                    <a:ea typeface="Verdana" charset="0"/>
                    <a:cs typeface="Verdana" charset="0"/>
                  </a:rPr>
                  <a:t>________.</a:t>
                </a:r>
              </a:p>
            </p:txBody>
          </p:sp>
        </mc:Choice>
        <mc:Fallback>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1062" y="379949"/>
                <a:ext cx="10800000" cy="5632311"/>
              </a:xfrm>
              <a:prstGeom prst="rect">
                <a:avLst/>
              </a:prstGeom>
              <a:blipFill rotWithShape="1">
                <a:blip r:embed="rId3"/>
                <a:stretch>
                  <a:fillRect t="-649" b="-974"/>
                </a:stretch>
              </a:blipFill>
            </p:spPr>
            <p:txBody>
              <a:bodyPr/>
              <a:lstStyle/>
              <a:p>
                <a:r>
                  <a:rPr lang="en-PH">
                    <a:noFill/>
                  </a:rPr>
                  <a:t> </a:t>
                </a:r>
              </a:p>
            </p:txBody>
          </p:sp>
        </mc:Fallback>
      </mc:AlternateContent>
      <p:sp>
        <p:nvSpPr>
          <p:cNvPr id="6" name="Google Shape;282;g104476d1465_1_17"/>
          <p:cNvSpPr txBox="1"/>
          <p:nvPr/>
        </p:nvSpPr>
        <p:spPr>
          <a:xfrm>
            <a:off x="8905687" y="650700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smtClean="0">
                <a:latin typeface="Calibri"/>
                <a:ea typeface="Calibri"/>
                <a:cs typeface="Calibri"/>
                <a:sym typeface="Calibri"/>
              </a:rPr>
              <a:t>251</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4077" y="616060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366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xmlns="" id="{2FA392D8-3ED3-7940-83A8-1451AA8A08D4}"/>
                  </a:ext>
                </a:extLst>
              </p:cNvPr>
              <p:cNvSpPr txBox="1"/>
              <p:nvPr/>
            </p:nvSpPr>
            <p:spPr>
              <a:xfrm>
                <a:off x="534161" y="379416"/>
                <a:ext cx="10800000" cy="5324535"/>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The Zamora family of four is flying from Orlando to New York’s JFK airport. They found tickets with Sky Airlines for </a:t>
                </a:r>
                <a14:m>
                  <m:oMath xmlns:m="http://schemas.openxmlformats.org/officeDocument/2006/math">
                    <m:r>
                      <a:rPr lang="en-US" sz="2000" i="1">
                        <a:latin typeface="Cambria Math" charset="0"/>
                        <a:ea typeface="Verdana" charset="0"/>
                        <a:cs typeface="Verdana" charset="0"/>
                      </a:rPr>
                      <m:t>$74</m:t>
                    </m:r>
                  </m:oMath>
                </a14:m>
                <a:r>
                  <a:rPr lang="en-US" sz="2000" dirty="0">
                    <a:latin typeface="Verdana" charset="0"/>
                    <a:ea typeface="Verdana" charset="0"/>
                    <a:cs typeface="Verdana" charset="0"/>
                  </a:rPr>
                  <a:t> per person round trip, but there is a </a:t>
                </a:r>
                <a14:m>
                  <m:oMath xmlns:m="http://schemas.openxmlformats.org/officeDocument/2006/math">
                    <m:r>
                      <a:rPr lang="en-US" sz="2000" i="1">
                        <a:latin typeface="Cambria Math" charset="0"/>
                        <a:ea typeface="Verdana" charset="0"/>
                        <a:cs typeface="Verdana" charset="0"/>
                      </a:rPr>
                      <m:t>$25</m:t>
                    </m:r>
                  </m:oMath>
                </a14:m>
                <a:r>
                  <a:rPr lang="en-US" sz="2000" dirty="0">
                    <a:latin typeface="Verdana" charset="0"/>
                    <a:ea typeface="Verdana" charset="0"/>
                    <a:cs typeface="Verdana" charset="0"/>
                  </a:rPr>
                  <a:t> charge per bag. Mrs. Zamora found that for the total number of bags they plan to bring, they can save money by upgrading their tickets. With the upgrade, they would pay </a:t>
                </a:r>
                <a14:m>
                  <m:oMath xmlns:m="http://schemas.openxmlformats.org/officeDocument/2006/math">
                    <m:r>
                      <a:rPr lang="en-US" sz="2000" i="1">
                        <a:latin typeface="Cambria Math" charset="0"/>
                        <a:ea typeface="Verdana" charset="0"/>
                        <a:cs typeface="Verdana" charset="0"/>
                      </a:rPr>
                      <m:t>$103</m:t>
                    </m:r>
                  </m:oMath>
                </a14:m>
                <a:r>
                  <a:rPr lang="en-US" sz="2000" dirty="0">
                    <a:latin typeface="Verdana" charset="0"/>
                    <a:ea typeface="Verdana" charset="0"/>
                    <a:cs typeface="Verdana" charset="0"/>
                  </a:rPr>
                  <a:t> per person for the tickets, </a:t>
                </a:r>
                <a14:m>
                  <m:oMath xmlns:m="http://schemas.openxmlformats.org/officeDocument/2006/math">
                    <m:r>
                      <a:rPr lang="en-US" sz="2000" i="1">
                        <a:latin typeface="Cambria Math" charset="0"/>
                        <a:ea typeface="Verdana" charset="0"/>
                        <a:cs typeface="Verdana" charset="0"/>
                      </a:rPr>
                      <m:t>$5</m:t>
                    </m:r>
                  </m:oMath>
                </a14:m>
                <a:r>
                  <a:rPr lang="en-US" sz="2000" dirty="0">
                    <a:latin typeface="Verdana" charset="0"/>
                    <a:ea typeface="Verdana" charset="0"/>
                    <a:cs typeface="Verdana" charset="0"/>
                  </a:rPr>
                  <a:t> per bag, and they would still save </a:t>
                </a:r>
                <a14:m>
                  <m:oMath xmlns:m="http://schemas.openxmlformats.org/officeDocument/2006/math">
                    <m:r>
                      <a:rPr lang="en-US" sz="2000" i="1">
                        <a:latin typeface="Cambria Math" charset="0"/>
                        <a:ea typeface="Verdana" charset="0"/>
                        <a:cs typeface="Verdana" charset="0"/>
                      </a:rPr>
                      <m:t>$4</m:t>
                    </m:r>
                  </m:oMath>
                </a14:m>
                <a:r>
                  <a:rPr lang="en-US" sz="2000" dirty="0">
                    <a:latin typeface="Verdana" charset="0"/>
                    <a:ea typeface="Verdana" charset="0"/>
                    <a:cs typeface="Verdana" charset="0"/>
                  </a:rPr>
                  <a:t> total.</a:t>
                </a:r>
              </a:p>
              <a:p>
                <a:r>
                  <a:rPr lang="en-US" sz="2000" dirty="0">
                    <a:latin typeface="Verdana" charset="0"/>
                    <a:ea typeface="Verdana" charset="0"/>
                    <a:cs typeface="Verdana" charset="0"/>
                  </a:rPr>
                  <a:t> </a:t>
                </a:r>
              </a:p>
              <a:p>
                <a:pPr marL="923925" indent="-454025">
                  <a:buFont typeface="+mj-lt"/>
                  <a:buAutoNum type="alphaLcPeriod"/>
                </a:pPr>
                <a:r>
                  <a:rPr lang="en-US" sz="2000" dirty="0">
                    <a:latin typeface="Verdana" charset="0"/>
                    <a:ea typeface="Verdana" charset="0"/>
                    <a:cs typeface="Verdana" charset="0"/>
                  </a:rPr>
                  <a:t>Define a variable to represent the unknown.</a:t>
                </a:r>
              </a:p>
              <a:p>
                <a:pPr marL="923925" indent="-454025">
                  <a:buFont typeface="+mj-lt"/>
                  <a:buAutoNum type="alphaLcPeriod"/>
                </a:pPr>
                <a:endParaRPr lang="en-US" sz="2000" dirty="0">
                  <a:latin typeface="Verdana" charset="0"/>
                  <a:ea typeface="Verdana" charset="0"/>
                  <a:cs typeface="Verdana" charset="0"/>
                </a:endParaRPr>
              </a:p>
              <a:p>
                <a:pPr marL="923925" indent="-454025">
                  <a:buFont typeface="+mj-lt"/>
                  <a:buAutoNum type="alphaLcPeriod"/>
                </a:pPr>
                <a:endParaRPr lang="en-US" sz="2000" dirty="0" smtClean="0">
                  <a:latin typeface="Verdana" charset="0"/>
                  <a:ea typeface="Verdana" charset="0"/>
                  <a:cs typeface="Verdana" charset="0"/>
                </a:endParaRPr>
              </a:p>
              <a:p>
                <a:pPr marL="923925" indent="-454025">
                  <a:buFont typeface="+mj-lt"/>
                  <a:buAutoNum type="alphaLcPeriod"/>
                </a:pPr>
                <a:endParaRPr lang="en-US" sz="2000" dirty="0">
                  <a:latin typeface="Verdana" charset="0"/>
                  <a:ea typeface="Verdana" charset="0"/>
                  <a:cs typeface="Verdana" charset="0"/>
                </a:endParaRPr>
              </a:p>
              <a:p>
                <a:pPr marL="923925" indent="-454025">
                  <a:buFont typeface="+mj-lt"/>
                  <a:buAutoNum type="alphaLcPeriod"/>
                </a:pPr>
                <a:r>
                  <a:rPr lang="en-US" sz="2000" dirty="0">
                    <a:latin typeface="Verdana" charset="0"/>
                    <a:ea typeface="Verdana" charset="0"/>
                    <a:cs typeface="Verdana" charset="0"/>
                  </a:rPr>
                  <a:t>Write and solve an equation that represents this situation. </a:t>
                </a:r>
              </a:p>
              <a:p>
                <a:pPr marL="923925" indent="-454025">
                  <a:buFont typeface="+mj-lt"/>
                  <a:buAutoNum type="alphaLcPeriod"/>
                </a:pPr>
                <a:endParaRPr lang="en-US" sz="2000" dirty="0" smtClean="0">
                  <a:latin typeface="Verdana" charset="0"/>
                  <a:ea typeface="Verdana" charset="0"/>
                  <a:cs typeface="Verdana" charset="0"/>
                </a:endParaRPr>
              </a:p>
              <a:p>
                <a:pPr marL="923925" indent="-454025">
                  <a:buFont typeface="+mj-lt"/>
                  <a:buAutoNum type="alphaLcPeriod"/>
                </a:pPr>
                <a:endParaRPr lang="en-US" sz="2000" dirty="0">
                  <a:latin typeface="Verdana" charset="0"/>
                  <a:ea typeface="Verdana" charset="0"/>
                  <a:cs typeface="Verdana" charset="0"/>
                </a:endParaRPr>
              </a:p>
              <a:p>
                <a:pPr marL="923925" indent="-454025">
                  <a:buFont typeface="+mj-lt"/>
                  <a:buAutoNum type="alphaLcPeriod"/>
                </a:pPr>
                <a:endParaRPr lang="en-US" sz="2000" dirty="0">
                  <a:latin typeface="Verdana" charset="0"/>
                  <a:ea typeface="Verdana" charset="0"/>
                  <a:cs typeface="Verdana" charset="0"/>
                </a:endParaRPr>
              </a:p>
              <a:p>
                <a:pPr marL="923925" indent="-454025">
                  <a:buFont typeface="+mj-lt"/>
                  <a:buAutoNum type="alphaLcPeriod"/>
                </a:pPr>
                <a:endParaRPr lang="en-US" sz="2000" dirty="0">
                  <a:latin typeface="Verdana" charset="0"/>
                  <a:ea typeface="Verdana" charset="0"/>
                  <a:cs typeface="Verdana" charset="0"/>
                </a:endParaRPr>
              </a:p>
              <a:p>
                <a:pPr marL="923925" indent="-454025">
                  <a:buFont typeface="+mj-lt"/>
                  <a:buAutoNum type="alphaLcPeriod"/>
                </a:pPr>
                <a:r>
                  <a:rPr lang="en-US" sz="2000" dirty="0">
                    <a:latin typeface="Verdana" charset="0"/>
                    <a:ea typeface="Verdana" charset="0"/>
                    <a:cs typeface="Verdana" charset="0"/>
                  </a:rPr>
                  <a:t>Interpret the solution.</a:t>
                </a:r>
              </a:p>
            </p:txBody>
          </p:sp>
        </mc:Choice>
        <mc:Fallback>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4161" y="379416"/>
                <a:ext cx="10800000" cy="5324535"/>
              </a:xfrm>
              <a:prstGeom prst="rect">
                <a:avLst/>
              </a:prstGeom>
              <a:blipFill rotWithShape="1">
                <a:blip r:embed="rId3"/>
                <a:stretch>
                  <a:fillRect l="-621" t="-686" b="-1030"/>
                </a:stretch>
              </a:blipFill>
            </p:spPr>
            <p:txBody>
              <a:bodyPr/>
              <a:lstStyle/>
              <a:p>
                <a:r>
                  <a:rPr lang="en-PH">
                    <a:noFill/>
                  </a:rPr>
                  <a:t> </a:t>
                </a:r>
              </a:p>
            </p:txBody>
          </p:sp>
        </mc:Fallback>
      </mc:AlternateContent>
      <p:sp>
        <p:nvSpPr>
          <p:cNvPr id="6" name="Google Shape;282;g104476d1465_1_17"/>
          <p:cNvSpPr txBox="1"/>
          <p:nvPr/>
        </p:nvSpPr>
        <p:spPr>
          <a:xfrm>
            <a:off x="8905687" y="650700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252</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4077" y="616060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350120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73848" y="-822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114789" y="2761974"/>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xmlns="" id="{93D338D9-F4F3-AC46-BAB5-0DC7D3916679}"/>
              </a:ext>
            </a:extLst>
          </p:cNvPr>
          <p:cNvPicPr preferRelativeResize="0"/>
          <p:nvPr/>
        </p:nvPicPr>
        <p:blipFill rotWithShape="1">
          <a:blip r:embed="rId3">
            <a:alphaModFix/>
          </a:blip>
          <a:srcRect/>
          <a:stretch/>
        </p:blipFill>
        <p:spPr>
          <a:xfrm>
            <a:off x="3141712" y="2893753"/>
            <a:ext cx="1122440" cy="1062143"/>
          </a:xfrm>
          <a:prstGeom prst="rect">
            <a:avLst/>
          </a:prstGeom>
          <a:noFill/>
          <a:ln>
            <a:noFill/>
          </a:ln>
          <a:effectLst>
            <a:outerShdw blurRad="50800" dist="38100" dir="2700000" algn="tl" rotWithShape="0">
              <a:prstClr val="black">
                <a:alpha val="40000"/>
              </a:prstClr>
            </a:outerShdw>
          </a:effectLst>
        </p:spPr>
      </p:pic>
      <p:sp>
        <p:nvSpPr>
          <p:cNvPr id="7" name="Google Shape;282;g104476d1465_1_17"/>
          <p:cNvSpPr txBox="1"/>
          <p:nvPr/>
        </p:nvSpPr>
        <p:spPr>
          <a:xfrm>
            <a:off x="8905687" y="650700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smtClean="0">
                <a:latin typeface="Calibri"/>
                <a:ea typeface="Calibri"/>
                <a:cs typeface="Calibri"/>
                <a:sym typeface="Calibri"/>
              </a:rPr>
              <a:t>252</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4077" y="616060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4"/>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254684" y="280571"/>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5.5.4 Your Turn!</a:t>
            </a:r>
          </a:p>
        </p:txBody>
      </p:sp>
      <p:pic>
        <p:nvPicPr>
          <p:cNvPr id="9" name="Google Shape;430;g103996e1364_0_428">
            <a:extLst>
              <a:ext uri="{FF2B5EF4-FFF2-40B4-BE49-F238E27FC236}">
                <a16:creationId xmlns:a16="http://schemas.microsoft.com/office/drawing/2014/main" xmlns="" id="{032D5487-B5A9-DE4B-AE87-33198BE16145}"/>
              </a:ext>
            </a:extLst>
          </p:cNvPr>
          <p:cNvPicPr preferRelativeResize="0"/>
          <p:nvPr/>
        </p:nvPicPr>
        <p:blipFill rotWithShape="1">
          <a:blip r:embed="rId3">
            <a:alphaModFix/>
          </a:blip>
          <a:srcRect/>
          <a:stretch/>
        </p:blipFill>
        <p:spPr>
          <a:xfrm>
            <a:off x="434382" y="280571"/>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xmlns="" id="{759C3E41-93EC-B84D-963F-86A3B15AC1C6}"/>
                  </a:ext>
                </a:extLst>
              </p:cNvPr>
              <p:cNvSpPr txBox="1"/>
              <p:nvPr/>
            </p:nvSpPr>
            <p:spPr>
              <a:xfrm>
                <a:off x="532040" y="1465926"/>
                <a:ext cx="10800000" cy="3170099"/>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The student council at Cypress Creek High School had a jog-a-thon fundraiser with a designated pledge amount per mile. Each class can raise additional money through donations of any amount. The freshman and sophomore classes raised the same amount of money. The freshman class ran a total of </a:t>
                </a:r>
                <a14:m>
                  <m:oMath xmlns:m="http://schemas.openxmlformats.org/officeDocument/2006/math">
                    <m:r>
                      <a:rPr lang="en-US" sz="2000" i="1">
                        <a:latin typeface="Cambria Math" charset="0"/>
                        <a:ea typeface="Verdana" charset="0"/>
                        <a:cs typeface="Verdana" charset="0"/>
                      </a:rPr>
                      <m:t>562</m:t>
                    </m:r>
                  </m:oMath>
                </a14:m>
                <a:r>
                  <a:rPr lang="en-US" sz="2000" dirty="0">
                    <a:latin typeface="Verdana" charset="0"/>
                    <a:ea typeface="Verdana" charset="0"/>
                    <a:cs typeface="Verdana" charset="0"/>
                  </a:rPr>
                  <a:t> miles and collected </a:t>
                </a:r>
                <a14:m>
                  <m:oMath xmlns:m="http://schemas.openxmlformats.org/officeDocument/2006/math">
                    <m:r>
                      <a:rPr lang="en-US" sz="2000" i="1">
                        <a:latin typeface="Cambria Math" charset="0"/>
                        <a:ea typeface="Verdana" charset="0"/>
                        <a:cs typeface="Verdana" charset="0"/>
                      </a:rPr>
                      <m:t>$131.25</m:t>
                    </m:r>
                  </m:oMath>
                </a14:m>
                <a:r>
                  <a:rPr lang="en-US" sz="2000" dirty="0">
                    <a:latin typeface="Verdana" charset="0"/>
                    <a:ea typeface="Verdana" charset="0"/>
                    <a:cs typeface="Verdana" charset="0"/>
                  </a:rPr>
                  <a:t> in donations. The sophomore class collected </a:t>
                </a:r>
                <a14:m>
                  <m:oMath xmlns:m="http://schemas.openxmlformats.org/officeDocument/2006/math">
                    <m:r>
                      <a:rPr lang="en-US" sz="2000" i="1">
                        <a:latin typeface="Cambria Math" charset="0"/>
                        <a:ea typeface="Verdana" charset="0"/>
                        <a:cs typeface="Verdana" charset="0"/>
                      </a:rPr>
                      <m:t>$185</m:t>
                    </m:r>
                  </m:oMath>
                </a14:m>
                <a:r>
                  <a:rPr lang="en-US" sz="2000" dirty="0">
                    <a:latin typeface="Verdana" charset="0"/>
                    <a:ea typeface="Verdana" charset="0"/>
                    <a:cs typeface="Verdana" charset="0"/>
                  </a:rPr>
                  <a:t> in donations and ran a total of </a:t>
                </a:r>
                <a14:m>
                  <m:oMath xmlns:m="http://schemas.openxmlformats.org/officeDocument/2006/math">
                    <m:r>
                      <a:rPr lang="en-US" sz="2000" i="1">
                        <a:latin typeface="Cambria Math" charset="0"/>
                        <a:ea typeface="Verdana" charset="0"/>
                        <a:cs typeface="Verdana" charset="0"/>
                      </a:rPr>
                      <m:t>519</m:t>
                    </m:r>
                  </m:oMath>
                </a14:m>
                <a:r>
                  <a:rPr lang="en-US" sz="2000" dirty="0">
                    <a:latin typeface="Verdana" charset="0"/>
                    <a:ea typeface="Verdana" charset="0"/>
                    <a:cs typeface="Verdana" charset="0"/>
                  </a:rPr>
                  <a:t> miles.</a:t>
                </a:r>
              </a:p>
              <a:p>
                <a:r>
                  <a:rPr lang="en-US" sz="2000" dirty="0">
                    <a:latin typeface="Verdana" charset="0"/>
                    <a:ea typeface="Verdana" charset="0"/>
                    <a:cs typeface="Verdana" charset="0"/>
                  </a:rPr>
                  <a:t> </a:t>
                </a:r>
              </a:p>
              <a:p>
                <a:pPr marL="923925" indent="-454025">
                  <a:buFont typeface="+mj-lt"/>
                  <a:buAutoNum type="alphaLcPeriod"/>
                </a:pPr>
                <a:r>
                  <a:rPr lang="en-US" sz="2000" dirty="0">
                    <a:latin typeface="Verdana" charset="0"/>
                    <a:ea typeface="Verdana" charset="0"/>
                    <a:cs typeface="Verdana" charset="0"/>
                  </a:rPr>
                  <a:t>Define a variable to represent the unknown.</a:t>
                </a:r>
              </a:p>
            </p:txBody>
          </p:sp>
        </mc:Choice>
        <mc:Fallback>
          <p:sp>
            <p:nvSpPr>
              <p:cNvPr id="12" name="TextBox 11">
                <a:extLst>
                  <a:ext uri="{FF2B5EF4-FFF2-40B4-BE49-F238E27FC236}">
                    <a16:creationId xmlns:a16="http://schemas.microsoft.com/office/drawing/2014/main" xmlns:a14="http://schemas.microsoft.com/office/drawing/2010/main" xmlns="" id="{759C3E41-93EC-B84D-963F-86A3B15AC1C6}"/>
                  </a:ext>
                </a:extLst>
              </p:cNvPr>
              <p:cNvSpPr txBox="1">
                <a:spLocks noRot="1" noChangeAspect="1" noMove="1" noResize="1" noEditPoints="1" noAdjustHandles="1" noChangeArrowheads="1" noChangeShapeType="1" noTextEdit="1"/>
              </p:cNvSpPr>
              <p:nvPr/>
            </p:nvSpPr>
            <p:spPr>
              <a:xfrm>
                <a:off x="532040" y="1465926"/>
                <a:ext cx="10800000" cy="3170099"/>
              </a:xfrm>
              <a:prstGeom prst="rect">
                <a:avLst/>
              </a:prstGeom>
              <a:blipFill rotWithShape="1">
                <a:blip r:embed="rId4"/>
                <a:stretch>
                  <a:fillRect l="-564" t="-1152"/>
                </a:stretch>
              </a:blipFill>
            </p:spPr>
            <p:txBody>
              <a:bodyPr/>
              <a:lstStyle/>
              <a:p>
                <a:r>
                  <a:rPr lang="en-PH">
                    <a:noFill/>
                  </a:rPr>
                  <a:t> </a:t>
                </a:r>
              </a:p>
            </p:txBody>
          </p:sp>
        </mc:Fallback>
      </mc:AlternateContent>
      <p:sp>
        <p:nvSpPr>
          <p:cNvPr id="8" name="Google Shape;282;g104476d1465_1_17"/>
          <p:cNvSpPr txBox="1"/>
          <p:nvPr/>
        </p:nvSpPr>
        <p:spPr>
          <a:xfrm>
            <a:off x="8905687" y="650700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smtClean="0">
                <a:latin typeface="Calibri"/>
                <a:ea typeface="Calibri"/>
                <a:cs typeface="Calibri"/>
                <a:sym typeface="Calibri"/>
              </a:rPr>
              <a:t>252</a:t>
            </a:r>
            <a:endParaRPr i="1" dirty="0">
              <a:latin typeface="Calibri"/>
              <a:ea typeface="Calibri"/>
              <a:cs typeface="Calibri"/>
              <a:sym typeface="Calibri"/>
            </a:endParaRPr>
          </a:p>
        </p:txBody>
      </p:sp>
      <p:pic>
        <p:nvPicPr>
          <p:cNvPr id="1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4077" y="616060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012998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533051" y="380216"/>
            <a:ext cx="10800000" cy="4401205"/>
          </a:xfrm>
          <a:prstGeom prst="rect">
            <a:avLst/>
          </a:prstGeom>
          <a:noFill/>
        </p:spPr>
        <p:txBody>
          <a:bodyPr wrap="square" rtlCol="0">
            <a:spAutoFit/>
          </a:bodyPr>
          <a:lstStyle/>
          <a:p>
            <a:pPr marL="900113" indent="-457200">
              <a:buFont typeface="+mj-lt"/>
              <a:buAutoNum type="alphaLcPeriod" startAt="2"/>
            </a:pPr>
            <a:r>
              <a:rPr lang="en-US" sz="2000" dirty="0">
                <a:latin typeface="Verdana" charset="0"/>
                <a:ea typeface="Verdana" charset="0"/>
                <a:cs typeface="Verdana" charset="0"/>
              </a:rPr>
              <a:t>Write and solve an equation that represents this situation. </a:t>
            </a:r>
          </a:p>
          <a:p>
            <a:pPr marL="900113" indent="-457200">
              <a:buFont typeface="+mj-lt"/>
              <a:buAutoNum type="alphaLcPeriod" startAt="2"/>
            </a:pPr>
            <a:endParaRPr lang="en-US" sz="2000" dirty="0">
              <a:latin typeface="Verdana" charset="0"/>
              <a:ea typeface="Verdana" charset="0"/>
              <a:cs typeface="Verdana" charset="0"/>
            </a:endParaRPr>
          </a:p>
          <a:p>
            <a:pPr marL="900113" indent="-457200">
              <a:buFont typeface="+mj-lt"/>
              <a:buAutoNum type="alphaLcPeriod" startAt="2"/>
            </a:pPr>
            <a:endParaRPr lang="en-US" sz="2000" dirty="0">
              <a:latin typeface="Verdana" charset="0"/>
              <a:ea typeface="Verdana" charset="0"/>
              <a:cs typeface="Verdana" charset="0"/>
            </a:endParaRPr>
          </a:p>
          <a:p>
            <a:pPr marL="900113" indent="-457200">
              <a:buFont typeface="+mj-lt"/>
              <a:buAutoNum type="alphaLcPeriod" startAt="2"/>
            </a:pPr>
            <a:endParaRPr lang="en-US" sz="2000" dirty="0">
              <a:latin typeface="Verdana" charset="0"/>
              <a:ea typeface="Verdana" charset="0"/>
              <a:cs typeface="Verdana" charset="0"/>
            </a:endParaRPr>
          </a:p>
          <a:p>
            <a:pPr marL="900113" indent="-457200">
              <a:buFont typeface="+mj-lt"/>
              <a:buAutoNum type="alphaLcPeriod" startAt="2"/>
            </a:pPr>
            <a:endParaRPr lang="en-US" sz="2000" dirty="0">
              <a:latin typeface="Verdana" charset="0"/>
              <a:ea typeface="Verdana" charset="0"/>
              <a:cs typeface="Verdana" charset="0"/>
            </a:endParaRPr>
          </a:p>
          <a:p>
            <a:pPr marL="900113" indent="-457200">
              <a:buFont typeface="+mj-lt"/>
              <a:buAutoNum type="alphaLcPeriod" startAt="2"/>
            </a:pPr>
            <a:endParaRPr lang="en-US" sz="2000" dirty="0">
              <a:latin typeface="Verdana" charset="0"/>
              <a:ea typeface="Verdana" charset="0"/>
              <a:cs typeface="Verdana" charset="0"/>
            </a:endParaRPr>
          </a:p>
          <a:p>
            <a:pPr marL="900113" indent="-457200">
              <a:buFont typeface="+mj-lt"/>
              <a:buAutoNum type="alphaLcPeriod" startAt="2"/>
            </a:pPr>
            <a:r>
              <a:rPr lang="en-US" sz="2000" dirty="0">
                <a:latin typeface="Verdana" charset="0"/>
                <a:ea typeface="Verdana" charset="0"/>
                <a:cs typeface="Verdana" charset="0"/>
              </a:rPr>
              <a:t>Interpret the solution.</a:t>
            </a:r>
          </a:p>
          <a:p>
            <a:pPr marL="900113" indent="-457200">
              <a:buFont typeface="+mj-lt"/>
              <a:buAutoNum type="alphaLcPeriod" startAt="2"/>
            </a:pPr>
            <a:endParaRPr lang="en-US" sz="2000" dirty="0">
              <a:latin typeface="Verdana" charset="0"/>
              <a:ea typeface="Verdana" charset="0"/>
              <a:cs typeface="Verdana" charset="0"/>
            </a:endParaRPr>
          </a:p>
          <a:p>
            <a:pPr marL="900113" indent="-457200">
              <a:buFont typeface="+mj-lt"/>
              <a:buAutoNum type="alphaLcPeriod" startAt="2"/>
            </a:pPr>
            <a:endParaRPr lang="en-US" sz="2000" dirty="0">
              <a:latin typeface="Verdana" charset="0"/>
              <a:ea typeface="Verdana" charset="0"/>
              <a:cs typeface="Verdana" charset="0"/>
            </a:endParaRPr>
          </a:p>
          <a:p>
            <a:pPr marL="900113" indent="-457200">
              <a:buFont typeface="+mj-lt"/>
              <a:buAutoNum type="alphaLcPeriod" startAt="2"/>
            </a:pPr>
            <a:endParaRPr lang="en-US" sz="2000" dirty="0">
              <a:latin typeface="Verdana" charset="0"/>
              <a:ea typeface="Verdana" charset="0"/>
              <a:cs typeface="Verdana" charset="0"/>
            </a:endParaRPr>
          </a:p>
          <a:p>
            <a:pPr marL="900113" indent="-457200">
              <a:buFont typeface="+mj-lt"/>
              <a:buAutoNum type="alphaLcPeriod" startAt="2"/>
            </a:pPr>
            <a:endParaRPr lang="en-US" sz="2000" dirty="0">
              <a:latin typeface="Verdana" charset="0"/>
              <a:ea typeface="Verdana" charset="0"/>
              <a:cs typeface="Verdana" charset="0"/>
            </a:endParaRPr>
          </a:p>
          <a:p>
            <a:pPr marL="900113" indent="-457200">
              <a:buFont typeface="+mj-lt"/>
              <a:buAutoNum type="alphaLcPeriod" startAt="2"/>
            </a:pPr>
            <a:endParaRPr lang="en-US" sz="2000" dirty="0">
              <a:latin typeface="Verdana" charset="0"/>
              <a:ea typeface="Verdana" charset="0"/>
              <a:cs typeface="Verdana" charset="0"/>
            </a:endParaRPr>
          </a:p>
          <a:p>
            <a:pPr marL="900113" indent="-457200">
              <a:buFont typeface="+mj-lt"/>
              <a:buAutoNum type="alphaLcPeriod" startAt="2"/>
            </a:pPr>
            <a:r>
              <a:rPr lang="en-US" sz="2000" dirty="0">
                <a:latin typeface="Verdana" charset="0"/>
                <a:ea typeface="Verdana" charset="0"/>
                <a:cs typeface="Verdana" charset="0"/>
              </a:rPr>
              <a:t>How much money did each class raise?</a:t>
            </a:r>
          </a:p>
        </p:txBody>
      </p:sp>
      <p:sp>
        <p:nvSpPr>
          <p:cNvPr id="6" name="Google Shape;282;g104476d1465_1_17"/>
          <p:cNvSpPr txBox="1"/>
          <p:nvPr/>
        </p:nvSpPr>
        <p:spPr>
          <a:xfrm>
            <a:off x="8905687" y="650700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smtClean="0">
                <a:latin typeface="Calibri"/>
                <a:ea typeface="Calibri"/>
                <a:cs typeface="Calibri"/>
                <a:sym typeface="Calibri"/>
              </a:rPr>
              <a:t>252</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84077" y="616060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52776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77970" y="-822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3970179" y="2933693"/>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3">
            <a:alphaModFix/>
          </a:blip>
          <a:srcRect/>
          <a:stretch/>
        </p:blipFill>
        <p:spPr>
          <a:xfrm>
            <a:off x="3194893" y="3088287"/>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905687" y="650700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253</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4077" y="616060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36986"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248736" y="-8629"/>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5.5.5 Wrap-Up: Reflection</a:t>
            </a:r>
          </a:p>
        </p:txBody>
      </p:sp>
      <p:pic>
        <p:nvPicPr>
          <p:cNvPr id="2" name="Picture 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251776" y="1787460"/>
            <a:ext cx="7360745" cy="4373149"/>
          </a:xfrm>
          <a:prstGeom prst="rect">
            <a:avLst/>
          </a:prstGeom>
        </p:spPr>
      </p:pic>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4">
            <a:alphaModFix/>
          </a:blip>
          <a:srcRect/>
          <a:stretch/>
        </p:blipFill>
        <p:spPr>
          <a:xfrm>
            <a:off x="434382" y="280571"/>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xmlns="" id="{0370EDB7-6994-3D43-ABF9-E04CBAFB9CD9}"/>
              </a:ext>
            </a:extLst>
          </p:cNvPr>
          <p:cNvSpPr txBox="1"/>
          <p:nvPr/>
        </p:nvSpPr>
        <p:spPr>
          <a:xfrm>
            <a:off x="532149" y="1465960"/>
            <a:ext cx="10800000" cy="707886"/>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Circle the icon that best describes your understanding of each. </a:t>
            </a:r>
          </a:p>
        </p:txBody>
      </p:sp>
      <p:sp>
        <p:nvSpPr>
          <p:cNvPr id="10" name="Google Shape;282;g104476d1465_1_17"/>
          <p:cNvSpPr txBox="1"/>
          <p:nvPr/>
        </p:nvSpPr>
        <p:spPr>
          <a:xfrm>
            <a:off x="8905687" y="650700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smtClean="0">
                <a:latin typeface="Calibri"/>
                <a:ea typeface="Calibri"/>
                <a:cs typeface="Calibri"/>
                <a:sym typeface="Calibri"/>
              </a:rPr>
              <a:t>253</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4077" y="616060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1345</TotalTime>
  <Words>926</Words>
  <Application>Microsoft Office PowerPoint</Application>
  <PresentationFormat>Custom</PresentationFormat>
  <Paragraphs>180</Paragraphs>
  <Slides>22</Slides>
  <Notes>22</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1_Office Theme</vt:lpstr>
      <vt:lpstr>Algebra 1  Unit 5, Lesson 5  Equations and Solutions in the Real World  Volume 1, pg. 248  </vt:lpstr>
      <vt:lpstr>Benchmarks</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Sensei</cp:lastModifiedBy>
  <cp:revision>27</cp:revision>
  <dcterms:created xsi:type="dcterms:W3CDTF">2015-03-17T18:51:18Z</dcterms:created>
  <dcterms:modified xsi:type="dcterms:W3CDTF">2022-06-25T10:25:44Z</dcterms:modified>
</cp:coreProperties>
</file>