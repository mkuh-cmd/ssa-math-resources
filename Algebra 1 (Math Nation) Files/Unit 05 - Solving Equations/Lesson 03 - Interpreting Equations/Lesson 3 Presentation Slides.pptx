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5" r:id="rId4"/>
    <p:sldId id="286" r:id="rId5"/>
    <p:sldId id="261" r:id="rId6"/>
    <p:sldId id="287" r:id="rId7"/>
    <p:sldId id="371" r:id="rId8"/>
    <p:sldId id="372" r:id="rId9"/>
    <p:sldId id="373" r:id="rId10"/>
    <p:sldId id="374" r:id="rId11"/>
    <p:sldId id="375" r:id="rId12"/>
    <p:sldId id="382" r:id="rId13"/>
    <p:sldId id="376" r:id="rId14"/>
    <p:sldId id="380" r:id="rId15"/>
    <p:sldId id="377" r:id="rId16"/>
    <p:sldId id="378" r:id="rId17"/>
    <p:sldId id="379" r:id="rId18"/>
    <p:sldId id="381" r:id="rId19"/>
    <p:sldId id="306" r:id="rId20"/>
    <p:sldId id="307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65B0"/>
    <a:srgbClr val="79C058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6110"/>
    <p:restoredTop sz="94719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014607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9176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1770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0974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097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56818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01453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43210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04120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00386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6647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4197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78628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-14875" y="-9144"/>
            <a:ext cx="4094106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604721" y="2054275"/>
            <a:ext cx="5201391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3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Interpreting Equations</a:t>
            </a:r>
            <a: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240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Picture 7" descr="A blue sign with white text&#10;&#10;Description automatically generated with medium confidence">
            <a:extLst>
              <a:ext uri="{FF2B5EF4-FFF2-40B4-BE49-F238E27FC236}">
                <a16:creationId xmlns=""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0;g104476d1465_1_17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MA.912.AR.2.1 </a:t>
            </a:r>
          </a:p>
          <a:p>
            <a:pPr marL="458788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Given a real-world context, write and solve one-variable multi-step linear equations.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MA.912.AR.1.2 </a:t>
            </a:r>
          </a:p>
          <a:p>
            <a:pPr marL="458788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Rearrange equations or formulas to isolate a quantity of interest. 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MA.912.AR.9.6 </a:t>
            </a:r>
          </a:p>
          <a:p>
            <a:pPr marL="458788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Given a real-world context, represent constraints as systems of linear equations or inequalities. Interpret solutions to problems as viable or non-viable options.</a:t>
            </a:r>
            <a:endParaRPr lang="en-US" sz="24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2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4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5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994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Targets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charset="2"/>
              <a:buChar char="q"/>
            </a:pPr>
            <a:r>
              <a:rPr lang="en-US" sz="3600" dirty="0">
                <a:latin typeface="Verdana" charset="0"/>
                <a:ea typeface="Verdana" charset="0"/>
                <a:cs typeface="Verdana" charset="0"/>
              </a:rPr>
              <a:t>I can define variables in a real-world context</a:t>
            </a:r>
            <a:r>
              <a:rPr lang="en-US" sz="3600" dirty="0" smtClean="0">
                <a:latin typeface="Verdana" charset="0"/>
                <a:ea typeface="Verdana" charset="0"/>
                <a:cs typeface="Verdana" charset="0"/>
              </a:rPr>
              <a:t>.</a:t>
            </a:r>
          </a:p>
          <a:p>
            <a:pPr marL="685800" indent="-685800">
              <a:buFont typeface="Wingdings" charset="2"/>
              <a:buChar char="q"/>
            </a:pPr>
            <a:endParaRPr lang="en-US" sz="3600" dirty="0">
              <a:latin typeface="Verdana" charset="0"/>
              <a:ea typeface="Verdana" charset="0"/>
              <a:cs typeface="Verdana" charset="0"/>
            </a:endParaRPr>
          </a:p>
          <a:p>
            <a:pPr marL="685800" indent="-685800">
              <a:buFont typeface="Wingdings" charset="2"/>
              <a:buChar char="q"/>
            </a:pPr>
            <a:r>
              <a:rPr lang="en-US" sz="3600" dirty="0">
                <a:latin typeface="Verdana" charset="0"/>
                <a:ea typeface="Verdana" charset="0"/>
                <a:cs typeface="Verdana" charset="0"/>
              </a:rPr>
              <a:t>I can interpret equations and their parts in a given context.</a:t>
            </a:r>
            <a:endParaRPr lang="en-US" sz="36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15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7620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5.3.1 Warm-Up: Orange Juice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479008" y="1497535"/>
                <a:ext cx="11051575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 typical orange produces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86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grams of juice. The juice contains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grams of carbohydrates.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gram of carbohydrate contains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calories, how many calories come from the carbohydrates in one orange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total number of calories of the juice from one orange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What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percentage of those calories comes from the carbohydrates in the juice? </a:t>
                </a: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Carbohydrates include sugar. The sugar that occurs in orange juice is natural sugar. If a typical orange contains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grams of sugar, what percentage of the calories from carbohydrates comes from sugar? Round to the nearest tenth.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08" y="1497535"/>
                <a:ext cx="11051575" cy="4401205"/>
              </a:xfrm>
              <a:prstGeom prst="rect">
                <a:avLst/>
              </a:prstGeom>
              <a:blipFill rotWithShape="1">
                <a:blip r:embed="rId5"/>
                <a:stretch>
                  <a:fillRect l="-607" t="-831" r="-773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64704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image2.png" descr="Icon&#10;&#10;Description automatically generated">
            <a:extLst>
              <a:ext uri="{FF2B5EF4-FFF2-40B4-BE49-F238E27FC236}">
                <a16:creationId xmlns="" xmlns:a16="http://schemas.microsoft.com/office/drawing/2014/main" id="{B8663E50-D763-C343-96E8-FEAEDD7FA21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06717" y="2849920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4444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45131" y="1216747"/>
                <a:ext cx="10294320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coefficient and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variable. 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/>
                </a:r>
                <a:b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The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could be used to represent the number of calories in orange juice that comes from carbohydrates since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gram of carbohydrate contains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calories.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the expression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what is the parameter? 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31" y="1216747"/>
                <a:ext cx="10294320" cy="3477875"/>
              </a:xfrm>
              <a:prstGeom prst="rect">
                <a:avLst/>
              </a:prstGeom>
              <a:blipFill rotWithShape="1">
                <a:blip r:embed="rId3"/>
                <a:stretch>
                  <a:fillRect l="-592" t="-1053" b="-2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2723156" y="2911289"/>
            <a:ext cx="6629400" cy="885349"/>
            <a:chOff x="2723156" y="2911289"/>
            <a:chExt cx="6629400" cy="885349"/>
          </a:xfrm>
        </p:grpSpPr>
        <p:sp>
          <p:nvSpPr>
            <p:cNvPr id="8" name="Text Box 24"/>
            <p:cNvSpPr txBox="1"/>
            <p:nvPr/>
          </p:nvSpPr>
          <p:spPr>
            <a:xfrm>
              <a:off x="2723156" y="2911289"/>
              <a:ext cx="6629400" cy="885349"/>
            </a:xfrm>
            <a:prstGeom prst="roundRect">
              <a:avLst/>
            </a:prstGeom>
            <a:solidFill>
              <a:srgbClr val="BAE6F5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91440" rIns="91440" bIns="9144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685800"/>
              <a:r>
                <a:rPr lang="en-US" sz="2000" dirty="0" smtClean="0">
                  <a:solidFill>
                    <a:srgbClr val="3465B0"/>
                  </a:solidFill>
                  <a:latin typeface="Verdana" charset="0"/>
                  <a:ea typeface="Verdana" charset="0"/>
                  <a:cs typeface="Verdana" charset="0"/>
                </a:rPr>
                <a:t>A </a:t>
              </a:r>
              <a:r>
                <a:rPr lang="en-US" sz="2000" b="1" dirty="0">
                  <a:solidFill>
                    <a:srgbClr val="3465B0"/>
                  </a:solidFill>
                  <a:latin typeface="Verdana" charset="0"/>
                  <a:ea typeface="Verdana" charset="0"/>
                  <a:cs typeface="Verdana" charset="0"/>
                </a:rPr>
                <a:t>parameter</a:t>
              </a:r>
              <a:r>
                <a:rPr lang="en-US" sz="2000" dirty="0">
                  <a:solidFill>
                    <a:srgbClr val="3465B0"/>
                  </a:solidFill>
                  <a:latin typeface="Verdana" charset="0"/>
                  <a:ea typeface="Verdana" charset="0"/>
                  <a:cs typeface="Verdana" charset="0"/>
                </a:rPr>
                <a:t> is a quantity that influences </a:t>
              </a:r>
              <a:r>
                <a:rPr lang="en-US" sz="2000" dirty="0" smtClean="0">
                  <a:solidFill>
                    <a:srgbClr val="3465B0"/>
                  </a:solidFill>
                  <a:latin typeface="Verdana" charset="0"/>
                  <a:ea typeface="Verdana" charset="0"/>
                  <a:cs typeface="Verdana" charset="0"/>
                </a:rPr>
                <a:t/>
              </a:r>
              <a:br>
                <a:rPr lang="en-US" sz="2000" dirty="0" smtClean="0">
                  <a:solidFill>
                    <a:srgbClr val="3465B0"/>
                  </a:solidFill>
                  <a:latin typeface="Verdana" charset="0"/>
                  <a:ea typeface="Verdana" charset="0"/>
                  <a:cs typeface="Verdana" charset="0"/>
                </a:rPr>
              </a:br>
              <a:r>
                <a:rPr lang="en-US" sz="2000" dirty="0" smtClean="0">
                  <a:solidFill>
                    <a:srgbClr val="3465B0"/>
                  </a:solidFill>
                  <a:latin typeface="Verdana" charset="0"/>
                  <a:ea typeface="Verdana" charset="0"/>
                  <a:cs typeface="Verdana" charset="0"/>
                </a:rPr>
                <a:t>the </a:t>
              </a:r>
              <a:r>
                <a:rPr lang="en-US" sz="2000" dirty="0">
                  <a:solidFill>
                    <a:srgbClr val="3465B0"/>
                  </a:solidFill>
                  <a:latin typeface="Verdana" charset="0"/>
                  <a:ea typeface="Verdana" charset="0"/>
                  <a:cs typeface="Verdana" charset="0"/>
                </a:rPr>
                <a:t>output.</a:t>
              </a: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81913" y="3100572"/>
              <a:ext cx="518433" cy="506782"/>
            </a:xfrm>
            <a:prstGeom prst="rect">
              <a:avLst/>
            </a:prstGeom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9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62866"/>
            <a:ext cx="1095738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5.3.2 Guided Instruction: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What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is a Parameter?</a:t>
            </a:r>
            <a:endParaRPr lang="en-US" sz="32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" name="Google Shape;345;g103996e1364_0_321">
            <a:extLst>
              <a:ext uri="{FF2B5EF4-FFF2-40B4-BE49-F238E27FC236}">
                <a16:creationId xmlns=""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9045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cost of an item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$8.50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an expression that can be used to determine the cost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items.</a:t>
                </a: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why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$8.50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parameter. Summarize your discussion.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3170099"/>
              </a:xfrm>
              <a:prstGeom prst="rect">
                <a:avLst/>
              </a:prstGeom>
              <a:blipFill rotWithShape="1">
                <a:blip r:embed="rId4"/>
                <a:stretch>
                  <a:fillRect l="-612" t="-1154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2459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644152"/>
                  </p:ext>
                </p:extLst>
              </p:nvPr>
            </p:nvGraphicFramePr>
            <p:xfrm>
              <a:off x="1108605" y="2139670"/>
              <a:ext cx="6400800" cy="1371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004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Expression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Parameter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0.8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(1 – 0.20)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644152"/>
                  </p:ext>
                </p:extLst>
              </p:nvPr>
            </p:nvGraphicFramePr>
            <p:xfrm>
              <a:off x="1108605" y="2139670"/>
              <a:ext cx="6400800" cy="13716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004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Expression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Parameter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90" t="-101333" r="-10000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90" t="-201333" r="-100000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13610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price of an item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During a sale, the price is discounted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20%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so the new price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0.8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This could also be expressed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(1 – 0.20)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table.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1361014"/>
              </a:xfrm>
              <a:prstGeom prst="rect">
                <a:avLst/>
              </a:prstGeom>
              <a:blipFill rotWithShape="1">
                <a:blip r:embed="rId5"/>
                <a:stretch>
                  <a:fillRect l="-612" t="-2679" b="-6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0559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which values in the 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/>
                </a:r>
                <a:b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U-Pick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Blueberries sign are parameters. 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/>
                </a:r>
                <a:b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Justify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your choice.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average price,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in dollars, of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ounce bag of potato chips for each year,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since 1980, can be modeled by the function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=0.07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+2.20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Which value in the function is a parameter?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4708981"/>
              </a:xfrm>
              <a:prstGeom prst="rect">
                <a:avLst/>
              </a:prstGeom>
              <a:blipFill rotWithShape="1">
                <a:blip r:embed="rId3"/>
                <a:stretch>
                  <a:fillRect l="-612" t="-776" r="-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80" t="2841" r="1583" b="1626"/>
          <a:stretch/>
        </p:blipFill>
        <p:spPr>
          <a:xfrm>
            <a:off x="8111612" y="487681"/>
            <a:ext cx="3352800" cy="288798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6841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does the value </a:t>
            </a:r>
            <a:r>
              <a:rPr lang="en-US" sz="2000" dirty="0">
                <a:latin typeface="Cambria" charset="0"/>
                <a:ea typeface="Cambria" charset="0"/>
                <a:cs typeface="Cambria" charset="0"/>
              </a:rPr>
              <a:t>2.20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mean in terms of the price of potato chips?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does the value </a:t>
            </a:r>
            <a:r>
              <a:rPr lang="en-US" sz="2000" dirty="0">
                <a:latin typeface="Cambria" charset="0"/>
                <a:ea typeface="Cambria" charset="0"/>
                <a:cs typeface="Cambria" charset="0"/>
              </a:rPr>
              <a:t>0.07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mean in terms of the price of potato chips?</a:t>
            </a: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77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8098808"/>
                  </p:ext>
                </p:extLst>
              </p:nvPr>
            </p:nvGraphicFramePr>
            <p:xfrm>
              <a:off x="1565649" y="3021402"/>
              <a:ext cx="7165705" cy="3200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0888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08588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070943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Value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Parameter?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Justification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8098808"/>
                  </p:ext>
                </p:extLst>
              </p:nvPr>
            </p:nvGraphicFramePr>
            <p:xfrm>
              <a:off x="1565649" y="3021402"/>
              <a:ext cx="7165705" cy="3200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0888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08588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407094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Value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Parameter?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Justification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606" t="-33778" r="-61272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606" t="-133778" r="-6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students in the Visual and Performing Arts program at Booker High School in Sarasota County, Florida are planning a field trip to the Ringling Art Museum. The cost of admission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$5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the cost of renting a bus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$115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There will be 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/>
                </a:r>
                <a:b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chaperones. The budget for the field trip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$600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determine which values, if any, are parameters. Write a justification for each.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2246769"/>
              </a:xfrm>
              <a:prstGeom prst="rect">
                <a:avLst/>
              </a:prstGeom>
              <a:blipFill rotWithShape="1">
                <a:blip r:embed="rId5"/>
                <a:stretch>
                  <a:fillRect l="-612" t="-1626" r="-501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0729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Use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values to complete the equation that can be used to find the number of students,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who can go on the field trip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sz="2000">
                          <a:latin typeface="Cambria Math" charset="0"/>
                          <a:ea typeface="Verdana" charset="0"/>
                          <a:cs typeface="Verdana" charset="0"/>
                        </a:rPr>
                        <m:t>________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  <a:ea typeface="Verdana" charset="0"/>
                              <a:cs typeface="Verdana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charset="0"/>
                              <a:ea typeface="Verdana" charset="0"/>
                              <a:cs typeface="Verdana" charset="0"/>
                            </a:rPr>
                            <m:t>𝑥</m:t>
                          </m:r>
                          <m:r>
                            <a:rPr lang="en-US" sz="2000">
                              <a:latin typeface="Cambria Math" charset="0"/>
                              <a:ea typeface="Verdana" charset="0"/>
                              <a:cs typeface="Verdana" charset="0"/>
                            </a:rPr>
                            <m:t>+</m:t>
                          </m:r>
                          <m:r>
                            <m:rPr>
                              <m:lit/>
                            </m:rPr>
                            <a:rPr lang="en-US" sz="2000">
                              <a:latin typeface="Cambria Math" charset="0"/>
                              <a:ea typeface="Verdana" charset="0"/>
                              <a:cs typeface="Verdana" charset="0"/>
                            </a:rPr>
                            <m:t>________</m:t>
                          </m:r>
                        </m:e>
                      </m:d>
                      <m:r>
                        <a:rPr lang="en-US" sz="2000">
                          <a:latin typeface="Cambria Math" charset="0"/>
                          <a:ea typeface="Verdana" charset="0"/>
                          <a:cs typeface="Verdana" charset="0"/>
                        </a:rPr>
                        <m:t>+</m:t>
                      </m:r>
                      <m:r>
                        <m:rPr>
                          <m:lit/>
                        </m:rPr>
                        <a:rPr lang="en-US" sz="2000">
                          <a:latin typeface="Cambria Math" charset="0"/>
                          <a:ea typeface="Verdana" charset="0"/>
                          <a:cs typeface="Verdana" charset="0"/>
                        </a:rPr>
                        <m:t>________</m:t>
                      </m:r>
                      <m:r>
                        <a:rPr lang="en-US" sz="2000">
                          <a:latin typeface="Cambria Math" charset="0"/>
                          <a:ea typeface="Verdana" charset="0"/>
                          <a:cs typeface="Verdana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sz="2000">
                          <a:latin typeface="Cambria Math" charset="0"/>
                          <a:ea typeface="Verdana" charset="0"/>
                          <a:cs typeface="Verdana" charset="0"/>
                        </a:rPr>
                        <m:t>________</m:t>
                      </m:r>
                    </m:oMath>
                  </m:oMathPara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501675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8866853"/>
                  </p:ext>
                </p:extLst>
              </p:nvPr>
            </p:nvGraphicFramePr>
            <p:xfrm>
              <a:off x="1565649" y="533066"/>
              <a:ext cx="7165705" cy="3200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0888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08588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4070943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Value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Parameter?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Justification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11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600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8866853"/>
                  </p:ext>
                </p:extLst>
              </p:nvPr>
            </p:nvGraphicFramePr>
            <p:xfrm>
              <a:off x="1565649" y="533066"/>
              <a:ext cx="7165705" cy="3200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0888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08588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407094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Value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Parameter?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Justification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06" t="-33333" r="-612727" b="-100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06" t="-133333" r="-612727" b="-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no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8562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3693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13;g104476d1465_1_39"/>
          <p:cNvSpPr txBox="1">
            <a:spLocks/>
          </p:cNvSpPr>
          <p:nvPr/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2781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378363"/>
            <a:ext cx="10478463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5.3.3 Activity: Card Sort</a:t>
            </a:r>
            <a:endParaRPr lang="en-US" sz="3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E44DF7DE-9172-3E4E-B74A-7A51585FB6EA}"/>
              </a:ext>
            </a:extLst>
          </p:cNvPr>
          <p:cNvSpPr txBox="1"/>
          <p:nvPr/>
        </p:nvSpPr>
        <p:spPr>
          <a:xfrm>
            <a:off x="529070" y="1386025"/>
            <a:ext cx="110015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Work with your partner to sort the cards provided by your teacher.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charset="0"/>
              <a:ea typeface="Verdana" charset="0"/>
              <a:cs typeface="Verdana" charset="0"/>
            </a:endParaRPr>
          </a:p>
          <a:p>
            <a:pPr marL="917575" indent="-444500">
              <a:buFont typeface="+mj-lt"/>
              <a:buAutoNum type="alphaLcPeriod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Record the two lowercase letters on the card that matches the meaning of each value.</a:t>
            </a:r>
            <a:endParaRPr lang="en-US" sz="2400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177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90512" y="533066"/>
            <a:ext cx="5594592" cy="5924355"/>
          </a:xfrm>
          <a:prstGeom prst="rect">
            <a:avLst/>
          </a:prstGeom>
        </p:spPr>
      </p:pic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8600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8728979"/>
                  </p:ext>
                </p:extLst>
              </p:nvPr>
            </p:nvGraphicFramePr>
            <p:xfrm>
              <a:off x="1545033" y="1486392"/>
              <a:ext cx="5715000" cy="229146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2029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39471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70506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Real-World Context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Equation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528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528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528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Times New Roman" charset="0"/>
                                    <a:cs typeface="Times New Roman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8728979"/>
                  </p:ext>
                </p:extLst>
              </p:nvPr>
            </p:nvGraphicFramePr>
            <p:xfrm>
              <a:off x="1545033" y="1486392"/>
              <a:ext cx="5715000" cy="229146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2029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39471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70506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Real-World Context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Equation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52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40698" r="-146194" b="-2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52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37931" r="-14619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528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337931" r="-146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SzPts val="1800"/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Record the letter and the equation that matches the context for each scenario.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47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309;g104476d1465_1_39"/>
          <p:cNvSpPr/>
          <p:nvPr/>
        </p:nvSpPr>
        <p:spPr>
          <a:xfrm>
            <a:off x="-3693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3640" y="1223691"/>
            <a:ext cx="5343144" cy="4211767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-3425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5.3.4 Wrap-Up: Growth Mindset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Google Shape;46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0370EDB7-6994-3D43-ABF9-E04CBAFB9CD9}"/>
              </a:ext>
            </a:extLst>
          </p:cNvPr>
          <p:cNvSpPr txBox="1"/>
          <p:nvPr/>
        </p:nvSpPr>
        <p:spPr>
          <a:xfrm>
            <a:off x="730265" y="1376212"/>
            <a:ext cx="54571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Mistakes are an opportunity to learn. Complete the statement to highlight a mistake you learned from.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458788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My favorite mistake from today </a:t>
            </a: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/>
            </a:r>
            <a:br>
              <a:rPr lang="en-US" sz="2000" dirty="0" smtClean="0">
                <a:latin typeface="Verdana" charset="0"/>
                <a:ea typeface="Verdana" charset="0"/>
                <a:cs typeface="Verdana" charset="0"/>
              </a:rPr>
            </a:br>
            <a:r>
              <a:rPr lang="en-US" sz="2000" dirty="0" smtClean="0">
                <a:latin typeface="Verdana" charset="0"/>
                <a:ea typeface="Verdana" charset="0"/>
                <a:cs typeface="Verdana" charset="0"/>
              </a:rPr>
              <a:t>was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…</a:t>
            </a: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556</Words>
  <Application>Microsoft Office PowerPoint</Application>
  <PresentationFormat>Custom</PresentationFormat>
  <Paragraphs>180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36</cp:revision>
  <dcterms:created xsi:type="dcterms:W3CDTF">2015-03-17T18:51:18Z</dcterms:created>
  <dcterms:modified xsi:type="dcterms:W3CDTF">2022-06-25T08:51:51Z</dcterms:modified>
</cp:coreProperties>
</file>