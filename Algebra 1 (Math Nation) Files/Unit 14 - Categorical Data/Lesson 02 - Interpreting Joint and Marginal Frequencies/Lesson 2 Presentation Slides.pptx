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8"/>
  </p:notesMasterIdLst>
  <p:sldIdLst>
    <p:sldId id="256" r:id="rId2"/>
    <p:sldId id="257" r:id="rId3"/>
    <p:sldId id="285" r:id="rId4"/>
    <p:sldId id="286" r:id="rId5"/>
    <p:sldId id="261" r:id="rId6"/>
    <p:sldId id="287" r:id="rId7"/>
    <p:sldId id="288" r:id="rId8"/>
    <p:sldId id="314" r:id="rId9"/>
    <p:sldId id="315" r:id="rId10"/>
    <p:sldId id="342" r:id="rId11"/>
    <p:sldId id="352" r:id="rId12"/>
    <p:sldId id="353" r:id="rId13"/>
    <p:sldId id="354" r:id="rId14"/>
    <p:sldId id="355" r:id="rId15"/>
    <p:sldId id="356" r:id="rId16"/>
    <p:sldId id="357" r:id="rId17"/>
    <p:sldId id="358" r:id="rId18"/>
    <p:sldId id="359" r:id="rId19"/>
    <p:sldId id="302" r:id="rId20"/>
    <p:sldId id="303" r:id="rId21"/>
    <p:sldId id="350" r:id="rId22"/>
    <p:sldId id="360" r:id="rId23"/>
    <p:sldId id="361" r:id="rId24"/>
    <p:sldId id="306" r:id="rId25"/>
    <p:sldId id="307" r:id="rId26"/>
    <p:sldId id="351"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051A"/>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46" autoAdjust="0"/>
    <p:restoredTop sz="94719"/>
  </p:normalViewPr>
  <p:slideViewPr>
    <p:cSldViewPr snapToGrid="0">
      <p:cViewPr varScale="1">
        <p:scale>
          <a:sx n="81" d="100"/>
          <a:sy n="81" d="100"/>
        </p:scale>
        <p:origin x="510"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700981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6607281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063084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587427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391288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65184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257737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02523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7566078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923020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786978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9170233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6674518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Algebra 1</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14, Lesson 2</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Interpreting Joint and Marginal Frequencies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311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a16="http://schemas.microsoft.com/office/drawing/2014/main" id="{566F1422-A32C-7745-9E85-5AF7B9DBC697}"/>
              </a:ext>
            </a:extLst>
          </p:cNvPr>
          <p:cNvSpPr/>
          <p:nvPr/>
        </p:nvSpPr>
        <p:spPr>
          <a:xfrm>
            <a:off x="0" y="-9144"/>
            <a:ext cx="4094106"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FC2FF27A-A046-614D-A5AC-E785259A48B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47850" y="1321975"/>
            <a:ext cx="963994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200" dirty="0">
                <a:latin typeface="Verdana" charset="0"/>
                <a:ea typeface="Verdana" charset="0"/>
                <a:cs typeface="Verdana" charset="0"/>
              </a:rPr>
              <a:t>MA.912.DP.3.1 </a:t>
            </a:r>
          </a:p>
          <a:p>
            <a:pPr marL="463550" indent="0">
              <a:buNone/>
            </a:pPr>
            <a:r>
              <a:rPr lang="en-US" sz="2200" dirty="0">
                <a:latin typeface="Verdana" charset="0"/>
                <a:ea typeface="Verdana" charset="0"/>
                <a:cs typeface="Verdana" charset="0"/>
              </a:rPr>
              <a:t>Construct a two-way frequency table summarizing bivariate categorical data. Interpret joint and marginal frequencies and determine possible associations in terms of a real-world context.</a:t>
            </a:r>
          </a:p>
          <a:p>
            <a:pPr marL="95250" indent="0">
              <a:buNone/>
            </a:pPr>
            <a:r>
              <a:rPr lang="en-US" sz="2200" dirty="0">
                <a:latin typeface="Verdana" charset="0"/>
                <a:ea typeface="Verdana" charset="0"/>
                <a:cs typeface="Verdana" charset="0"/>
              </a:rPr>
              <a:t>MA.912.DP.1.1 </a:t>
            </a:r>
          </a:p>
          <a:p>
            <a:pPr marL="463550" indent="0">
              <a:buNone/>
            </a:pPr>
            <a:r>
              <a:rPr lang="en-US" sz="2200" dirty="0">
                <a:latin typeface="Verdana" charset="0"/>
                <a:ea typeface="Verdana" charset="0"/>
                <a:cs typeface="Verdana" charset="0"/>
              </a:rPr>
              <a:t>Given a set of data, select an appropriate method to represent the data, depending on whether it is numerical or categorical data and on whether it is univariate or bivariate.</a:t>
            </a:r>
          </a:p>
          <a:p>
            <a:pPr marL="95250" indent="0">
              <a:buNone/>
            </a:pPr>
            <a:r>
              <a:rPr lang="en-US" sz="2200" dirty="0">
                <a:latin typeface="Verdana" charset="0"/>
                <a:ea typeface="Verdana" charset="0"/>
                <a:cs typeface="Verdana" charset="0"/>
              </a:rPr>
              <a:t>MA.912.DP.1.2 </a:t>
            </a:r>
          </a:p>
          <a:p>
            <a:pPr marL="463550" indent="0">
              <a:buNone/>
            </a:pPr>
            <a:r>
              <a:rPr lang="en-US" sz="2200" dirty="0">
                <a:latin typeface="Verdana" charset="0"/>
                <a:ea typeface="Verdana" charset="0"/>
                <a:cs typeface="Verdana" charset="0"/>
              </a:rPr>
              <a:t>Interpret data distributions represented in various ways. State whether the data is numerical or categorical, whether it is univariate or bivariate, and interpret the different components and quantities in the display.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047849" y="1596390"/>
            <a:ext cx="962806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2217DB94-8CD9-E344-BEB6-DB518B29A816}"/>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4209A3A4-6B9B-51CD-F1F9-1070D73C9CB3}"/>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D8F88888-CC00-E5DA-06CB-219BFC08915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8"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78512" y="1600200"/>
            <a:ext cx="959740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charset="2"/>
              <a:buChar char="q"/>
            </a:pPr>
            <a:r>
              <a:rPr lang="en-US" sz="2800" dirty="0">
                <a:latin typeface="Verdana" charset="0"/>
                <a:ea typeface="Verdana" charset="0"/>
                <a:cs typeface="Verdana" charset="0"/>
              </a:rPr>
              <a:t>I can determine joint and marginal frequencies.</a:t>
            </a:r>
          </a:p>
          <a:p>
            <a:pPr marL="463550" indent="-463550">
              <a:buFont typeface="Wingdings" charset="2"/>
              <a:buChar char="q"/>
            </a:pPr>
            <a:endParaRPr lang="en-US" sz="2800" dirty="0">
              <a:latin typeface="Verdana" charset="0"/>
              <a:ea typeface="Verdana" charset="0"/>
              <a:cs typeface="Verdana" charset="0"/>
            </a:endParaRPr>
          </a:p>
          <a:p>
            <a:pPr marL="463550" indent="-463550">
              <a:buFont typeface="Wingdings" charset="2"/>
              <a:buChar char="q"/>
            </a:pPr>
            <a:r>
              <a:rPr lang="en-US" sz="2800" dirty="0">
                <a:latin typeface="Verdana" charset="0"/>
                <a:ea typeface="Verdana" charset="0"/>
                <a:cs typeface="Verdana" charset="0"/>
              </a:rPr>
              <a:t>I can interpret joint and marginal frequencies in a real‑world context.</a:t>
            </a:r>
          </a:p>
          <a:p>
            <a:pPr marL="463550" indent="-463550">
              <a:buFont typeface="Wingdings" charset="2"/>
              <a:buChar char="q"/>
            </a:pPr>
            <a:endParaRPr lang="en-US" sz="2800" dirty="0">
              <a:latin typeface="Verdana" charset="0"/>
              <a:ea typeface="Verdana" charset="0"/>
              <a:cs typeface="Verdana" charset="0"/>
            </a:endParaRPr>
          </a:p>
          <a:p>
            <a:pPr marL="463550" indent="-463550">
              <a:buFont typeface="Wingdings" charset="2"/>
              <a:buChar char="q"/>
            </a:pPr>
            <a:r>
              <a:rPr lang="en-US" sz="2800" dirty="0">
                <a:latin typeface="Verdana" charset="0"/>
                <a:ea typeface="Verdana" charset="0"/>
                <a:cs typeface="Verdana" charset="0"/>
              </a:rPr>
              <a:t>I can interpret a graphical display for bivariate categorical data. </a:t>
            </a:r>
            <a:endParaRPr lang="en-US" sz="2800" dirty="0">
              <a:solidFill>
                <a:schemeClr val="tx1"/>
              </a:solidFill>
              <a:latin typeface="Verdana" charset="0"/>
              <a:ea typeface="Verdana" charset="0"/>
              <a:cs typeface="Verdana" charset="0"/>
              <a:sym typeface="Verdana"/>
            </a:endParaRPr>
          </a:p>
        </p:txBody>
      </p:sp>
      <p:sp>
        <p:nvSpPr>
          <p:cNvPr id="8" name="Google Shape;278;g104476d1465_1_17">
            <a:extLst>
              <a:ext uri="{FF2B5EF4-FFF2-40B4-BE49-F238E27FC236}">
                <a16:creationId xmlns:a16="http://schemas.microsoft.com/office/drawing/2014/main" id="{A7D39B40-FA5F-1945-A581-51EB744FEBF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a:extLst>
              <a:ext uri="{FF2B5EF4-FFF2-40B4-BE49-F238E27FC236}">
                <a16:creationId xmlns:a16="http://schemas.microsoft.com/office/drawing/2014/main" id="{754A9952-E5A4-0372-37E7-DB344111A4A5}"/>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9144"/>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06037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69176"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D118F6FA-B692-14F2-4DC3-A9FC2B6C6D8F}"/>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17B7AD37-0C57-E879-4B62-3F76041847C2}"/>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20041" y="60325"/>
            <a:ext cx="964276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14.2.1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593248" y="34952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843148" y="1386026"/>
                <a:ext cx="10319656" cy="3785652"/>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A survey conducted at Ambidextrous High School asked all </a:t>
                </a:r>
                <a14:m>
                  <m:oMath xmlns:m="http://schemas.openxmlformats.org/officeDocument/2006/math">
                    <m:r>
                      <a:rPr lang="en-US" sz="2400" i="1">
                        <a:latin typeface="Cambria Math" panose="02040503050406030204" pitchFamily="18" charset="0"/>
                        <a:ea typeface="Verdana" charset="0"/>
                        <a:cs typeface="Verdana" charset="0"/>
                      </a:rPr>
                      <m:t>1,700</m:t>
                    </m:r>
                  </m:oMath>
                </a14:m>
                <a:r>
                  <a:rPr lang="en-US" sz="2400" dirty="0">
                    <a:latin typeface="Verdana" charset="0"/>
                    <a:ea typeface="Verdana" charset="0"/>
                    <a:cs typeface="Verdana" charset="0"/>
                  </a:rPr>
                  <a:t> students to indicate their grade level and if they are left-handed or right-handed. Only </a:t>
                </a:r>
                <a14:m>
                  <m:oMath xmlns:m="http://schemas.openxmlformats.org/officeDocument/2006/math">
                    <m:r>
                      <a:rPr lang="en-US" sz="2400" i="1">
                        <a:latin typeface="Cambria Math" panose="02040503050406030204" pitchFamily="18" charset="0"/>
                        <a:ea typeface="Verdana" charset="0"/>
                        <a:cs typeface="Verdana" charset="0"/>
                      </a:rPr>
                      <m:t>59</m:t>
                    </m:r>
                  </m:oMath>
                </a14:m>
                <a:r>
                  <a:rPr lang="en-US" sz="2400" dirty="0">
                    <a:latin typeface="Verdana" charset="0"/>
                    <a:ea typeface="Verdana" charset="0"/>
                    <a:cs typeface="Verdana" charset="0"/>
                  </a:rPr>
                  <a:t> of the </a:t>
                </a:r>
                <a14:m>
                  <m:oMath xmlns:m="http://schemas.openxmlformats.org/officeDocument/2006/math">
                    <m:r>
                      <a:rPr lang="en-US" sz="2400" i="1">
                        <a:latin typeface="Cambria Math" panose="02040503050406030204" pitchFamily="18" charset="0"/>
                        <a:ea typeface="Verdana" charset="0"/>
                        <a:cs typeface="Verdana" charset="0"/>
                      </a:rPr>
                      <m:t>491</m:t>
                    </m:r>
                  </m:oMath>
                </a14:m>
                <a:r>
                  <a:rPr lang="en-US" sz="2400" dirty="0">
                    <a:latin typeface="Verdana" charset="0"/>
                    <a:ea typeface="Verdana" charset="0"/>
                    <a:cs typeface="Verdana" charset="0"/>
                  </a:rPr>
                  <a:t> freshmen are left-handed. Out of the </a:t>
                </a:r>
                <a14:m>
                  <m:oMath xmlns:m="http://schemas.openxmlformats.org/officeDocument/2006/math">
                    <m:r>
                      <a:rPr lang="en-US" sz="2400" i="1">
                        <a:latin typeface="Cambria Math" panose="02040503050406030204" pitchFamily="18" charset="0"/>
                        <a:ea typeface="Verdana" charset="0"/>
                        <a:cs typeface="Verdana" charset="0"/>
                      </a:rPr>
                      <m:t>382</m:t>
                    </m:r>
                  </m:oMath>
                </a14:m>
                <a:r>
                  <a:rPr lang="en-US" sz="2400" dirty="0">
                    <a:latin typeface="Verdana" charset="0"/>
                    <a:ea typeface="Verdana" charset="0"/>
                    <a:cs typeface="Verdana" charset="0"/>
                  </a:rPr>
                  <a:t> students in the sophomore class, </a:t>
                </a:r>
                <a14:m>
                  <m:oMath xmlns:m="http://schemas.openxmlformats.org/officeDocument/2006/math">
                    <m:r>
                      <a:rPr lang="en-US" sz="2400" i="1">
                        <a:latin typeface="Cambria Math" panose="02040503050406030204" pitchFamily="18" charset="0"/>
                        <a:ea typeface="Verdana" charset="0"/>
                        <a:cs typeface="Verdana" charset="0"/>
                      </a:rPr>
                      <m:t>289</m:t>
                    </m:r>
                  </m:oMath>
                </a14:m>
                <a:r>
                  <a:rPr lang="en-US" sz="2400" dirty="0">
                    <a:latin typeface="Verdana" charset="0"/>
                    <a:ea typeface="Verdana" charset="0"/>
                    <a:cs typeface="Verdana" charset="0"/>
                  </a:rPr>
                  <a:t> of them are right-handed. There are </a:t>
                </a:r>
                <a14:m>
                  <m:oMath xmlns:m="http://schemas.openxmlformats.org/officeDocument/2006/math">
                    <m:r>
                      <a:rPr lang="en-US" sz="2400" i="1">
                        <a:latin typeface="Cambria Math" panose="02040503050406030204" pitchFamily="18" charset="0"/>
                        <a:ea typeface="Verdana" charset="0"/>
                        <a:cs typeface="Verdana" charset="0"/>
                      </a:rPr>
                      <m:t>433</m:t>
                    </m:r>
                  </m:oMath>
                </a14:m>
                <a:r>
                  <a:rPr lang="en-US" sz="2400" dirty="0">
                    <a:latin typeface="Verdana" charset="0"/>
                    <a:ea typeface="Verdana" charset="0"/>
                    <a:cs typeface="Verdana" charset="0"/>
                  </a:rPr>
                  <a:t> students in the junior class and </a:t>
                </a:r>
                <a14:m>
                  <m:oMath xmlns:m="http://schemas.openxmlformats.org/officeDocument/2006/math">
                    <m:r>
                      <a:rPr lang="en-US" sz="2400" i="1">
                        <a:latin typeface="Cambria Math" panose="02040503050406030204" pitchFamily="18" charset="0"/>
                        <a:ea typeface="Verdana" charset="0"/>
                        <a:cs typeface="Verdana" charset="0"/>
                      </a:rPr>
                      <m:t>120</m:t>
                    </m:r>
                  </m:oMath>
                </a14:m>
                <a:r>
                  <a:rPr lang="en-US" sz="2400" dirty="0">
                    <a:latin typeface="Verdana" charset="0"/>
                    <a:ea typeface="Verdana" charset="0"/>
                    <a:cs typeface="Verdana" charset="0"/>
                  </a:rPr>
                  <a:t> of them are left‑handed. There are </a:t>
                </a:r>
                <a14:m>
                  <m:oMath xmlns:m="http://schemas.openxmlformats.org/officeDocument/2006/math">
                    <m:r>
                      <a:rPr lang="en-US" sz="2400" i="1">
                        <a:latin typeface="Cambria Math" panose="02040503050406030204" pitchFamily="18" charset="0"/>
                        <a:ea typeface="Verdana" charset="0"/>
                        <a:cs typeface="Verdana" charset="0"/>
                      </a:rPr>
                      <m:t>307</m:t>
                    </m:r>
                  </m:oMath>
                </a14:m>
                <a:r>
                  <a:rPr lang="en-US" sz="2400" dirty="0">
                    <a:latin typeface="Verdana" charset="0"/>
                    <a:ea typeface="Verdana" charset="0"/>
                    <a:cs typeface="Verdana" charset="0"/>
                  </a:rPr>
                  <a:t> right-handed seniors. </a:t>
                </a:r>
              </a:p>
              <a:p>
                <a:r>
                  <a:rPr lang="en-US" sz="2400" dirty="0">
                    <a:latin typeface="Verdana" charset="0"/>
                    <a:ea typeface="Verdana" charset="0"/>
                    <a:cs typeface="Verdana" charset="0"/>
                  </a:rPr>
                  <a:t> </a:t>
                </a:r>
              </a:p>
              <a:p>
                <a:pPr marL="463550"/>
                <a:r>
                  <a:rPr lang="en-US" sz="2400" dirty="0">
                    <a:latin typeface="Verdana" charset="0"/>
                    <a:ea typeface="Verdana" charset="0"/>
                    <a:cs typeface="Verdana" charset="0"/>
                  </a:rPr>
                  <a:t>Complete the two-way frequency table to display the results of the survey. </a:t>
                </a: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843148" y="1386026"/>
                <a:ext cx="10319656" cy="3785652"/>
              </a:xfrm>
              <a:prstGeom prst="rect">
                <a:avLst/>
              </a:prstGeom>
              <a:blipFill>
                <a:blip r:embed="rId4"/>
                <a:stretch>
                  <a:fillRect l="-886" t="-1288" r="-1359" b="-2738"/>
                </a:stretch>
              </a:blipFill>
            </p:spPr>
            <p:txBody>
              <a:bodyPr/>
              <a:lstStyle/>
              <a:p>
                <a:r>
                  <a:rPr lang="en-US">
                    <a:noFill/>
                  </a:rPr>
                  <a:t> </a:t>
                </a:r>
              </a:p>
            </p:txBody>
          </p:sp>
        </mc:Fallback>
      </mc:AlternateContent>
      <p:sp>
        <p:nvSpPr>
          <p:cNvPr id="9" name="Google Shape;278;g104476d1465_1_17">
            <a:extLst>
              <a:ext uri="{FF2B5EF4-FFF2-40B4-BE49-F238E27FC236}">
                <a16:creationId xmlns:a16="http://schemas.microsoft.com/office/drawing/2014/main" id="{2C7BF6D9-BF7E-4C45-A3A0-4D9A19E544B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a:extLst>
              <a:ext uri="{FF2B5EF4-FFF2-40B4-BE49-F238E27FC236}">
                <a16:creationId xmlns:a16="http://schemas.microsoft.com/office/drawing/2014/main" id="{8C65134D-9CF9-413C-B352-20B2E2AAFAA9}"/>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434D9A99-92CD-8791-64FC-E172AA1AA050}"/>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1547637" y="481117"/>
            <a:ext cx="8327136" cy="400110"/>
          </a:xfrm>
          <a:prstGeom prst="rect">
            <a:avLst/>
          </a:prstGeom>
          <a:noFill/>
        </p:spPr>
        <p:txBody>
          <a:bodyPr wrap="square" rtlCol="0">
            <a:spAutoFit/>
          </a:bodyPr>
          <a:lstStyle/>
          <a:p>
            <a:pPr algn="ctr"/>
            <a:r>
              <a:rPr lang="en-US" sz="2000" b="1" dirty="0">
                <a:latin typeface="Verdana" charset="0"/>
                <a:ea typeface="Verdana" charset="0"/>
                <a:cs typeface="Verdana" charset="0"/>
              </a:rPr>
              <a:t>Dominant Hand Survey</a:t>
            </a:r>
            <a:endParaRPr lang="en-US" sz="2000" dirty="0">
              <a:latin typeface="Verdana" charset="0"/>
              <a:ea typeface="Verdana" charset="0"/>
              <a:cs typeface="Verdana" charset="0"/>
            </a:endParaRPr>
          </a:p>
        </p:txBody>
      </p:sp>
      <p:sp>
        <p:nvSpPr>
          <p:cNvPr id="6" name="Google Shape;278;g104476d1465_1_17">
            <a:extLst>
              <a:ext uri="{FF2B5EF4-FFF2-40B4-BE49-F238E27FC236}">
                <a16:creationId xmlns:a16="http://schemas.microsoft.com/office/drawing/2014/main" id="{E2774663-8BD9-4C47-8B0B-3F2A1E300184}"/>
              </a:ext>
            </a:extLst>
          </p:cNvPr>
          <p:cNvSpPr/>
          <p:nvPr/>
        </p:nvSpPr>
        <p:spPr>
          <a:xfrm>
            <a:off x="0" y="-118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1883405240"/>
              </p:ext>
            </p:extLst>
          </p:nvPr>
        </p:nvGraphicFramePr>
        <p:xfrm>
          <a:off x="1767855" y="1246161"/>
          <a:ext cx="7886700" cy="2720773"/>
        </p:xfrm>
        <a:graphic>
          <a:graphicData uri="http://schemas.openxmlformats.org/drawingml/2006/table">
            <a:tbl>
              <a:tblPr firstRow="1" firstCol="1" bandRow="1"/>
              <a:tblGrid>
                <a:gridCol w="1304277">
                  <a:extLst>
                    <a:ext uri="{9D8B030D-6E8A-4147-A177-3AD203B41FA5}">
                      <a16:colId xmlns:a16="http://schemas.microsoft.com/office/drawing/2014/main" val="20000"/>
                    </a:ext>
                  </a:extLst>
                </a:gridCol>
                <a:gridCol w="1313724">
                  <a:extLst>
                    <a:ext uri="{9D8B030D-6E8A-4147-A177-3AD203B41FA5}">
                      <a16:colId xmlns:a16="http://schemas.microsoft.com/office/drawing/2014/main" val="20001"/>
                    </a:ext>
                  </a:extLst>
                </a:gridCol>
                <a:gridCol w="1416177">
                  <a:extLst>
                    <a:ext uri="{9D8B030D-6E8A-4147-A177-3AD203B41FA5}">
                      <a16:colId xmlns:a16="http://schemas.microsoft.com/office/drawing/2014/main" val="20002"/>
                    </a:ext>
                  </a:extLst>
                </a:gridCol>
                <a:gridCol w="1305730">
                  <a:extLst>
                    <a:ext uri="{9D8B030D-6E8A-4147-A177-3AD203B41FA5}">
                      <a16:colId xmlns:a16="http://schemas.microsoft.com/office/drawing/2014/main" val="20003"/>
                    </a:ext>
                  </a:extLst>
                </a:gridCol>
                <a:gridCol w="1360953">
                  <a:extLst>
                    <a:ext uri="{9D8B030D-6E8A-4147-A177-3AD203B41FA5}">
                      <a16:colId xmlns:a16="http://schemas.microsoft.com/office/drawing/2014/main" val="20004"/>
                    </a:ext>
                  </a:extLst>
                </a:gridCol>
                <a:gridCol w="1185839">
                  <a:extLst>
                    <a:ext uri="{9D8B030D-6E8A-4147-A177-3AD203B41FA5}">
                      <a16:colId xmlns:a16="http://schemas.microsoft.com/office/drawing/2014/main" val="20005"/>
                    </a:ext>
                  </a:extLst>
                </a:gridCol>
              </a:tblGrid>
              <a:tr h="597889">
                <a:tc>
                  <a:txBody>
                    <a:bodyPr/>
                    <a:lstStyle/>
                    <a:p>
                      <a:pPr marL="42545" marR="0" indent="-42545"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solidFill>
                            <a:srgbClr val="000000"/>
                          </a:solidFill>
                          <a:effectLst/>
                          <a:latin typeface="Verdana" charset="0"/>
                          <a:ea typeface="Yu Mincho" charset="-128"/>
                          <a:cs typeface="Cambria" charset="0"/>
                        </a:rPr>
                        <a:t> </a:t>
                      </a:r>
                      <a:endParaRPr lang="en-US" sz="2000" dirty="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Yu Mincho" charset="-128"/>
                          <a:cs typeface="Cambria" charset="0"/>
                        </a:rPr>
                        <a:t>Total</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62157">
                <a:tc>
                  <a:txBody>
                    <a:bodyPr/>
                    <a:lstStyle/>
                    <a:p>
                      <a:pPr marL="0" marR="0" algn="ctr">
                        <a:spcBef>
                          <a:spcPts val="0"/>
                        </a:spcBef>
                        <a:spcAft>
                          <a:spcPts val="1000"/>
                        </a:spcAft>
                      </a:pPr>
                      <a:r>
                        <a:rPr lang="en-US" sz="2000" b="1">
                          <a:solidFill>
                            <a:srgbClr val="000000"/>
                          </a:solidFill>
                          <a:effectLst/>
                          <a:latin typeface="Verdana" charset="0"/>
                          <a:ea typeface="Yu Mincho" charset="-128"/>
                          <a:cs typeface="Cambria" charset="0"/>
                        </a:rPr>
                        <a:t>Right-Handed</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dirty="0">
                          <a:solidFill>
                            <a:srgbClr val="000000"/>
                          </a:solidFill>
                          <a:effectLst/>
                          <a:latin typeface="Verdana" charset="0"/>
                          <a:ea typeface="Yu Mincho" charset="-128"/>
                          <a:cs typeface="Cambria" charset="0"/>
                        </a:rPr>
                        <a:t> </a:t>
                      </a:r>
                      <a:endParaRPr lang="en-US" sz="2000" dirty="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62157">
                <a:tc>
                  <a:txBody>
                    <a:bodyPr/>
                    <a:lstStyle/>
                    <a:p>
                      <a:pPr marL="0" marR="0" algn="ctr">
                        <a:spcBef>
                          <a:spcPts val="0"/>
                        </a:spcBef>
                        <a:spcAft>
                          <a:spcPts val="1000"/>
                        </a:spcAft>
                      </a:pPr>
                      <a:r>
                        <a:rPr lang="en-US" sz="2000" b="1">
                          <a:solidFill>
                            <a:srgbClr val="000000"/>
                          </a:solidFill>
                          <a:effectLst/>
                          <a:latin typeface="Verdana" charset="0"/>
                          <a:ea typeface="Yu Mincho" charset="-128"/>
                          <a:cs typeface="Cambria" charset="0"/>
                        </a:rPr>
                        <a:t>Left-Handed</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98570">
                <a:tc>
                  <a:txBody>
                    <a:bodyPr/>
                    <a:lstStyle/>
                    <a:p>
                      <a:pPr marL="0" marR="0" algn="ctr">
                        <a:spcBef>
                          <a:spcPts val="0"/>
                        </a:spcBef>
                        <a:spcAft>
                          <a:spcPts val="1000"/>
                        </a:spcAft>
                      </a:pPr>
                      <a:r>
                        <a:rPr lang="en-US" sz="2000" b="1">
                          <a:solidFill>
                            <a:srgbClr val="000000"/>
                          </a:solidFill>
                          <a:effectLst/>
                          <a:latin typeface="Verdana" charset="0"/>
                          <a:ea typeface="Yu Mincho" charset="-128"/>
                          <a:cs typeface="Cambria" charset="0"/>
                        </a:rPr>
                        <a:t>Total</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a:solidFill>
                            <a:srgbClr val="000000"/>
                          </a:solidFill>
                          <a:effectLst/>
                          <a:latin typeface="Verdana" charset="0"/>
                          <a:ea typeface="Yu Mincho" charset="-128"/>
                          <a:cs typeface="Cambria" charset="0"/>
                        </a:rPr>
                        <a:t> </a:t>
                      </a:r>
                      <a:endParaRPr lang="en-US" sz="200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r>
                        <a:rPr lang="en-US" sz="2000" dirty="0">
                          <a:solidFill>
                            <a:srgbClr val="000000"/>
                          </a:solidFill>
                          <a:effectLst/>
                          <a:latin typeface="Verdana" charset="0"/>
                          <a:ea typeface="Yu Gothic Light" charset="-128"/>
                          <a:cs typeface="Times New Roman" charset="0"/>
                        </a:rPr>
                        <a:t> </a:t>
                      </a:r>
                      <a:endParaRPr lang="en-US" sz="2000" dirty="0">
                        <a:effectLst/>
                        <a:latin typeface="Cambria" charset="0"/>
                        <a:ea typeface="Yu Mincho" charset="-128"/>
                        <a:cs typeface="Cambria" charset="0"/>
                      </a:endParaRPr>
                    </a:p>
                  </a:txBody>
                  <a:tcPr marL="58823" marR="5882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Google Shape;282;g104476d1465_1_17">
            <a:extLst>
              <a:ext uri="{FF2B5EF4-FFF2-40B4-BE49-F238E27FC236}">
                <a16:creationId xmlns:a16="http://schemas.microsoft.com/office/drawing/2014/main" id="{DA0072D5-2899-FE20-3BBB-B3DBB6DA7438}"/>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311</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7CFECB99-A52E-1567-5662-27B9C7789560}"/>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187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41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989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318F960A-DE85-6E15-BD96-033DD5D0A221}"/>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312</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20042" y="60325"/>
            <a:ext cx="1011777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14.2.2 Collaboration: Joint and Marginal Frequencies</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93248"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843147" y="1386026"/>
                <a:ext cx="10319657" cy="3416320"/>
              </a:xfrm>
              <a:prstGeom prst="rect">
                <a:avLst/>
              </a:prstGeom>
              <a:noFill/>
            </p:spPr>
            <p:txBody>
              <a:bodyPr wrap="square" rtlCol="0">
                <a:spAutoFit/>
              </a:bodyPr>
              <a:lstStyle/>
              <a:p>
                <a:pPr marL="463550" indent="-463550">
                  <a:buFont typeface="+mj-lt"/>
                  <a:buAutoNum type="arabicPeriod"/>
                </a:pPr>
                <a:r>
                  <a:rPr lang="en-US" sz="2400" dirty="0">
                    <a:latin typeface="Verdana" charset="0"/>
                    <a:ea typeface="Verdana" charset="0"/>
                    <a:cs typeface="Verdana" charset="0"/>
                  </a:rPr>
                  <a:t>In 2016, the Summer Olympics were held in Rio de Janeiro, Brazil. The United States of America won the most medals with a total of </a:t>
                </a:r>
                <a14:m>
                  <m:oMath xmlns:m="http://schemas.openxmlformats.org/officeDocument/2006/math">
                    <m:r>
                      <a:rPr lang="en-US" sz="2400" i="1" dirty="0" smtClean="0">
                        <a:latin typeface="Cambria Math" panose="02040503050406030204" pitchFamily="18" charset="0"/>
                        <a:ea typeface="Verdana" charset="0"/>
                        <a:cs typeface="Verdana" charset="0"/>
                      </a:rPr>
                      <m:t>121</m:t>
                    </m:r>
                  </m:oMath>
                </a14:m>
                <a:r>
                  <a:rPr lang="en-US" sz="2400" dirty="0">
                    <a:latin typeface="Verdana" charset="0"/>
                    <a:ea typeface="Verdana" charset="0"/>
                    <a:cs typeface="Verdana" charset="0"/>
                  </a:rPr>
                  <a:t>. China came in second, winning </a:t>
                </a:r>
                <a14:m>
                  <m:oMath xmlns:m="http://schemas.openxmlformats.org/officeDocument/2006/math">
                    <m:r>
                      <a:rPr lang="en-US" sz="2400" i="1" dirty="0" smtClean="0">
                        <a:latin typeface="Cambria Math" panose="02040503050406030204" pitchFamily="18" charset="0"/>
                        <a:ea typeface="Verdana" charset="0"/>
                        <a:cs typeface="Verdana" charset="0"/>
                      </a:rPr>
                      <m:t>70</m:t>
                    </m:r>
                  </m:oMath>
                </a14:m>
                <a:r>
                  <a:rPr lang="en-US" sz="2400" dirty="0">
                    <a:latin typeface="Verdana" charset="0"/>
                    <a:ea typeface="Verdana" charset="0"/>
                    <a:cs typeface="Verdana" charset="0"/>
                  </a:rPr>
                  <a:t> total medals. This was a much higher total than the </a:t>
                </a:r>
                <a14:m>
                  <m:oMath xmlns:m="http://schemas.openxmlformats.org/officeDocument/2006/math">
                    <m:r>
                      <a:rPr lang="en-US" sz="2400" i="1" dirty="0" smtClean="0">
                        <a:latin typeface="Cambria Math" panose="02040503050406030204" pitchFamily="18" charset="0"/>
                        <a:ea typeface="Verdana" charset="0"/>
                        <a:cs typeface="Verdana" charset="0"/>
                      </a:rPr>
                      <m:t>9</m:t>
                    </m:r>
                  </m:oMath>
                </a14:m>
                <a:r>
                  <a:rPr lang="en-US" sz="2400" dirty="0">
                    <a:latin typeface="Verdana" charset="0"/>
                    <a:ea typeface="Verdana" charset="0"/>
                    <a:cs typeface="Verdana" charset="0"/>
                  </a:rPr>
                  <a:t> medals China won two years later in the 2018 Winter Olympics held in </a:t>
                </a:r>
                <a:r>
                  <a:rPr lang="en-US" sz="2400" dirty="0" err="1">
                    <a:latin typeface="Verdana" charset="0"/>
                    <a:ea typeface="Verdana" charset="0"/>
                    <a:cs typeface="Verdana" charset="0"/>
                  </a:rPr>
                  <a:t>Pyeongchang</a:t>
                </a:r>
                <a:r>
                  <a:rPr lang="en-US" sz="2400" dirty="0">
                    <a:latin typeface="Verdana" charset="0"/>
                    <a:ea typeface="Verdana" charset="0"/>
                    <a:cs typeface="Verdana" charset="0"/>
                  </a:rPr>
                  <a:t>, South Korea. Norway led the medal count in 2018 with </a:t>
                </a:r>
                <a14:m>
                  <m:oMath xmlns:m="http://schemas.openxmlformats.org/officeDocument/2006/math">
                    <m:r>
                      <a:rPr lang="en-US" sz="2400" i="1" dirty="0" smtClean="0">
                        <a:latin typeface="Cambria Math" panose="02040503050406030204" pitchFamily="18" charset="0"/>
                        <a:ea typeface="Verdana" charset="0"/>
                        <a:cs typeface="Verdana" charset="0"/>
                      </a:rPr>
                      <m:t>39</m:t>
                    </m:r>
                  </m:oMath>
                </a14:m>
                <a:r>
                  <a:rPr lang="en-US" sz="2400" dirty="0">
                    <a:latin typeface="Verdana" charset="0"/>
                    <a:ea typeface="Verdana" charset="0"/>
                    <a:cs typeface="Verdana" charset="0"/>
                  </a:rPr>
                  <a:t>, a much higher number than the </a:t>
                </a:r>
                <a14:m>
                  <m:oMath xmlns:m="http://schemas.openxmlformats.org/officeDocument/2006/math">
                    <m:r>
                      <a:rPr lang="en-US" sz="2400" i="1">
                        <a:latin typeface="Cambria Math" panose="02040503050406030204" pitchFamily="18" charset="0"/>
                        <a:ea typeface="Verdana" charset="0"/>
                        <a:cs typeface="Verdana" charset="0"/>
                      </a:rPr>
                      <m:t>4</m:t>
                    </m:r>
                  </m:oMath>
                </a14:m>
                <a:r>
                  <a:rPr lang="en-US" sz="2400" dirty="0">
                    <a:latin typeface="Verdana" charset="0"/>
                    <a:ea typeface="Verdana" charset="0"/>
                    <a:cs typeface="Verdana" charset="0"/>
                  </a:rPr>
                  <a:t> total medals Norway won two years earlier in Brazil. Canada came in third in the 2018 Winter Olympics, winning </a:t>
                </a:r>
                <a14:m>
                  <m:oMath xmlns:m="http://schemas.openxmlformats.org/officeDocument/2006/math">
                    <m:r>
                      <a:rPr lang="en-US" sz="2400" i="1" dirty="0" smtClean="0">
                        <a:latin typeface="Cambria Math" panose="02040503050406030204" pitchFamily="18" charset="0"/>
                        <a:ea typeface="Verdana" charset="0"/>
                        <a:cs typeface="Verdana" charset="0"/>
                      </a:rPr>
                      <m:t>29</m:t>
                    </m:r>
                  </m:oMath>
                </a14:m>
                <a:r>
                  <a:rPr lang="en-US" sz="2400" dirty="0">
                    <a:latin typeface="Verdana" charset="0"/>
                    <a:ea typeface="Verdana" charset="0"/>
                    <a:cs typeface="Verdana" charset="0"/>
                  </a:rPr>
                  <a:t> total medals.    </a:t>
                </a: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843147" y="1386026"/>
                <a:ext cx="10319657" cy="3416320"/>
              </a:xfrm>
              <a:prstGeom prst="rect">
                <a:avLst/>
              </a:prstGeom>
              <a:blipFill>
                <a:blip r:embed="rId4"/>
                <a:stretch>
                  <a:fillRect l="-886" t="-1426" r="-1418" b="-2852"/>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EC2600D5-FE51-9C45-B0CD-9B63FA18546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46ECB611-63DB-09FA-8C8F-56DCAC649DA1}"/>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312</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142D035F-1A95-DDE8-8ADB-0DAD8B668849}"/>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8" y="520393"/>
            <a:ext cx="10319657" cy="1938992"/>
          </a:xfrm>
          <a:prstGeom prst="rect">
            <a:avLst/>
          </a:prstGeom>
          <a:noFill/>
        </p:spPr>
        <p:txBody>
          <a:bodyPr wrap="square" rtlCol="0">
            <a:spAutoFit/>
          </a:bodyPr>
          <a:lstStyle/>
          <a:p>
            <a:pPr marL="914400" lvl="1" indent="-457200">
              <a:buFont typeface="+mj-lt"/>
              <a:buAutoNum type="alphaLcPeriod"/>
            </a:pPr>
            <a:r>
              <a:rPr lang="en-US" sz="2400" dirty="0">
                <a:latin typeface="Verdana" charset="0"/>
                <a:ea typeface="Verdana" charset="0"/>
                <a:cs typeface="Verdana" charset="0"/>
              </a:rPr>
              <a:t>Work with your partner to use the data regarding medal counts from the 2016 Summer Olympics and the 2018 Winter Olympics to make a two-way frequency table showing how the different countries’ medal counts compare to each other. </a:t>
            </a:r>
            <a:endParaRPr lang="en-US" sz="1600" dirty="0">
              <a:latin typeface="Verdana" charset="0"/>
              <a:ea typeface="Verdana" charset="0"/>
              <a:cs typeface="Verdana" charset="0"/>
            </a:endParaRPr>
          </a:p>
        </p:txBody>
      </p:sp>
      <p:sp>
        <p:nvSpPr>
          <p:cNvPr id="6"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3865982449"/>
              </p:ext>
            </p:extLst>
          </p:nvPr>
        </p:nvGraphicFramePr>
        <p:xfrm>
          <a:off x="1771633" y="2531830"/>
          <a:ext cx="8224224" cy="3128010"/>
        </p:xfrm>
        <a:graphic>
          <a:graphicData uri="http://schemas.openxmlformats.org/drawingml/2006/table">
            <a:tbl>
              <a:tblPr firstRow="1" firstCol="1" bandRow="1"/>
              <a:tblGrid>
                <a:gridCol w="1581553">
                  <a:extLst>
                    <a:ext uri="{9D8B030D-6E8A-4147-A177-3AD203B41FA5}">
                      <a16:colId xmlns:a16="http://schemas.microsoft.com/office/drawing/2014/main" val="20000"/>
                    </a:ext>
                  </a:extLst>
                </a:gridCol>
                <a:gridCol w="1318088">
                  <a:extLst>
                    <a:ext uri="{9D8B030D-6E8A-4147-A177-3AD203B41FA5}">
                      <a16:colId xmlns:a16="http://schemas.microsoft.com/office/drawing/2014/main" val="20001"/>
                    </a:ext>
                  </a:extLst>
                </a:gridCol>
                <a:gridCol w="1318856">
                  <a:extLst>
                    <a:ext uri="{9D8B030D-6E8A-4147-A177-3AD203B41FA5}">
                      <a16:colId xmlns:a16="http://schemas.microsoft.com/office/drawing/2014/main" val="20002"/>
                    </a:ext>
                  </a:extLst>
                </a:gridCol>
                <a:gridCol w="1368015">
                  <a:extLst>
                    <a:ext uri="{9D8B030D-6E8A-4147-A177-3AD203B41FA5}">
                      <a16:colId xmlns:a16="http://schemas.microsoft.com/office/drawing/2014/main" val="20003"/>
                    </a:ext>
                  </a:extLst>
                </a:gridCol>
                <a:gridCol w="1318856">
                  <a:extLst>
                    <a:ext uri="{9D8B030D-6E8A-4147-A177-3AD203B41FA5}">
                      <a16:colId xmlns:a16="http://schemas.microsoft.com/office/drawing/2014/main" val="20004"/>
                    </a:ext>
                  </a:extLst>
                </a:gridCol>
                <a:gridCol w="1318856">
                  <a:extLst>
                    <a:ext uri="{9D8B030D-6E8A-4147-A177-3AD203B41FA5}">
                      <a16:colId xmlns:a16="http://schemas.microsoft.com/office/drawing/2014/main" val="20005"/>
                    </a:ext>
                  </a:extLst>
                </a:gridCol>
              </a:tblGrid>
              <a:tr h="494665">
                <a:tc>
                  <a:txBody>
                    <a:bodyPr/>
                    <a:lstStyle/>
                    <a:p>
                      <a:pPr marL="0" marR="3429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effectLst/>
                          <a:latin typeface="Verdana" charset="0"/>
                          <a:ea typeface="Verdana" charset="0"/>
                          <a:cs typeface="Verdana" charset="0"/>
                        </a:rPr>
                        <a:t>U.S.</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effectLst/>
                          <a:latin typeface="Verdana" charset="0"/>
                          <a:ea typeface="Verdana" charset="0"/>
                          <a:cs typeface="Verdana" charset="0"/>
                        </a:rPr>
                        <a:t>China</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effectLst/>
                          <a:latin typeface="Verdana" charset="0"/>
                          <a:ea typeface="Verdana" charset="0"/>
                          <a:cs typeface="Verdana" charset="0"/>
                        </a:rPr>
                        <a:t>Norway</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effectLst/>
                          <a:latin typeface="Verdana" charset="0"/>
                          <a:ea typeface="Verdana" charset="0"/>
                          <a:cs typeface="Verdana" charset="0"/>
                        </a:rPr>
                        <a:t>Canada</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04545">
                <a:tc>
                  <a:txBody>
                    <a:bodyPr/>
                    <a:lstStyle/>
                    <a:p>
                      <a:pPr marL="0" marR="34290" algn="ctr">
                        <a:spcBef>
                          <a:spcPts val="0"/>
                        </a:spcBef>
                        <a:spcAft>
                          <a:spcPts val="0"/>
                        </a:spcAft>
                      </a:pPr>
                      <a:r>
                        <a:rPr lang="en-US" sz="2000" b="1">
                          <a:effectLst/>
                          <a:latin typeface="Verdana" charset="0"/>
                          <a:ea typeface="Verdana" charset="0"/>
                          <a:cs typeface="Verdana" charset="0"/>
                        </a:rPr>
                        <a:t>2016</a:t>
                      </a:r>
                      <a:endParaRPr lang="en-US" sz="2000">
                        <a:effectLst/>
                        <a:latin typeface="Verdana" charset="0"/>
                        <a:ea typeface="Verdana" charset="0"/>
                        <a:cs typeface="Verdana" charset="0"/>
                      </a:endParaRPr>
                    </a:p>
                    <a:p>
                      <a:pPr marL="0" marR="34290" algn="ctr">
                        <a:spcBef>
                          <a:spcPts val="0"/>
                        </a:spcBef>
                        <a:spcAft>
                          <a:spcPts val="0"/>
                        </a:spcAft>
                      </a:pPr>
                      <a:r>
                        <a:rPr lang="en-US" sz="2000" b="1">
                          <a:effectLst/>
                          <a:latin typeface="Verdana" charset="0"/>
                          <a:ea typeface="Verdana" charset="0"/>
                          <a:cs typeface="Verdana" charset="0"/>
                        </a:rPr>
                        <a:t>Summer Olympics</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a:effectLst/>
                          <a:latin typeface="Verdana" charset="0"/>
                          <a:ea typeface="Verdana" charset="0"/>
                          <a:cs typeface="Verdana" charset="0"/>
                        </a:rPr>
                        <a:t>217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804545">
                <a:tc>
                  <a:txBody>
                    <a:bodyPr/>
                    <a:lstStyle/>
                    <a:p>
                      <a:pPr marL="0" marR="34290" algn="ctr">
                        <a:spcBef>
                          <a:spcPts val="0"/>
                        </a:spcBef>
                        <a:spcAft>
                          <a:spcPts val="0"/>
                        </a:spcAft>
                      </a:pPr>
                      <a:r>
                        <a:rPr lang="en-US" sz="2000" b="1">
                          <a:effectLst/>
                          <a:latin typeface="Verdana" charset="0"/>
                          <a:ea typeface="Verdana" charset="0"/>
                          <a:cs typeface="Verdana" charset="0"/>
                        </a:rPr>
                        <a:t>2018</a:t>
                      </a:r>
                      <a:endParaRPr lang="en-US" sz="2000">
                        <a:effectLst/>
                        <a:latin typeface="Verdana" charset="0"/>
                        <a:ea typeface="Verdana" charset="0"/>
                        <a:cs typeface="Verdana" charset="0"/>
                      </a:endParaRPr>
                    </a:p>
                    <a:p>
                      <a:pPr marL="0" marR="34290" algn="ctr">
                        <a:spcBef>
                          <a:spcPts val="0"/>
                        </a:spcBef>
                        <a:spcAft>
                          <a:spcPts val="0"/>
                        </a:spcAft>
                      </a:pPr>
                      <a:r>
                        <a:rPr lang="en-US" sz="2000" b="1">
                          <a:effectLst/>
                          <a:latin typeface="Verdana" charset="0"/>
                          <a:ea typeface="Verdana" charset="0"/>
                          <a:cs typeface="Verdana" charset="0"/>
                        </a:rPr>
                        <a:t>Winter Olympics</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04545">
                <a:tc>
                  <a:txBody>
                    <a:bodyPr/>
                    <a:lstStyle/>
                    <a:p>
                      <a:pPr marL="0" marR="34290" algn="ctr">
                        <a:spcBef>
                          <a:spcPts val="0"/>
                        </a:spcBef>
                        <a:spcAft>
                          <a:spcPts val="0"/>
                        </a:spcAft>
                      </a:pPr>
                      <a:r>
                        <a:rPr lang="en-US" sz="2000" b="1">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2000">
                          <a:effectLst/>
                          <a:latin typeface="Verdana" charset="0"/>
                          <a:ea typeface="Verdana" charset="0"/>
                          <a:cs typeface="Verdana" charset="0"/>
                        </a:rPr>
                        <a:t>144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34290" algn="ctr">
                        <a:spcBef>
                          <a:spcPts val="0"/>
                        </a:spcBef>
                        <a:spcAft>
                          <a:spcPts val="0"/>
                        </a:spcAft>
                      </a:pPr>
                      <a:r>
                        <a:rPr lang="en-US" sz="2000" dirty="0">
                          <a:effectLst/>
                          <a:latin typeface="Verdana" charset="0"/>
                          <a:ea typeface="Verdana" charset="0"/>
                          <a:cs typeface="Verdana" charset="0"/>
                        </a:rPr>
                        <a:t>317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3" name="Rectangle 2"/>
          <p:cNvSpPr/>
          <p:nvPr/>
        </p:nvSpPr>
        <p:spPr>
          <a:xfrm>
            <a:off x="843148" y="5749789"/>
            <a:ext cx="10319657" cy="830997"/>
          </a:xfrm>
          <a:prstGeom prst="rect">
            <a:avLst/>
          </a:prstGeom>
        </p:spPr>
        <p:txBody>
          <a:bodyPr wrap="square">
            <a:spAutoFit/>
          </a:bodyPr>
          <a:lstStyle/>
          <a:p>
            <a:pPr marL="914400" indent="-439738">
              <a:buFont typeface="+mj-lt"/>
              <a:buAutoNum type="alphaLcPeriod" startAt="2"/>
            </a:pPr>
            <a:r>
              <a:rPr lang="en-US" sz="2400" dirty="0">
                <a:latin typeface="Verdana" charset="0"/>
                <a:ea typeface="Verdana" charset="0"/>
                <a:cs typeface="Verdana" charset="0"/>
              </a:rPr>
              <a:t>How many total medals did the U.S. win in the 2016 and 2018 Olympics combined? </a:t>
            </a:r>
          </a:p>
        </p:txBody>
      </p:sp>
      <p:sp>
        <p:nvSpPr>
          <p:cNvPr id="8" name="Google Shape;282;g104476d1465_1_17">
            <a:extLst>
              <a:ext uri="{FF2B5EF4-FFF2-40B4-BE49-F238E27FC236}">
                <a16:creationId xmlns:a16="http://schemas.microsoft.com/office/drawing/2014/main" id="{F597295A-D125-039E-1AF6-B829F6B1766D}"/>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312</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44F02B73-E508-567C-3C4D-D5F1F844B1B8}"/>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20626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819397" y="520394"/>
                <a:ext cx="10355283" cy="5787162"/>
              </a:xfrm>
              <a:prstGeom prst="rect">
                <a:avLst/>
              </a:prstGeom>
              <a:noFill/>
            </p:spPr>
            <p:txBody>
              <a:bodyPr wrap="square" rtlCol="0">
                <a:spAutoFit/>
              </a:bodyPr>
              <a:lstStyle/>
              <a:p>
                <a:pPr marL="914400" lvl="1" indent="-463550">
                  <a:buFont typeface="+mj-lt"/>
                  <a:buAutoNum type="alphaLcPeriod" startAt="3"/>
                </a:pPr>
                <a:r>
                  <a:rPr lang="en-US" sz="2400" dirty="0">
                    <a:latin typeface="Verdana" charset="0"/>
                    <a:ea typeface="Verdana" charset="0"/>
                    <a:cs typeface="Verdana" charset="0"/>
                  </a:rPr>
                  <a:t>Which team won the most medals in the two Olympics combined? </a:t>
                </a:r>
                <a:br>
                  <a:rPr lang="en-US" sz="2400" dirty="0">
                    <a:latin typeface="Verdana" charset="0"/>
                    <a:ea typeface="Verdana" charset="0"/>
                    <a:cs typeface="Verdana" charset="0"/>
                  </a:rPr>
                </a:br>
                <a:endParaRPr lang="en-US" sz="2400" dirty="0">
                  <a:latin typeface="Verdana" charset="0"/>
                  <a:ea typeface="Verdana" charset="0"/>
                  <a:cs typeface="Verdana" charset="0"/>
                </a:endParaRPr>
              </a:p>
              <a:p>
                <a:pPr marL="914400" lvl="1" indent="-463550">
                  <a:buFont typeface="+mj-lt"/>
                  <a:buAutoNum type="alphaLcPeriod" startAt="3"/>
                </a:pPr>
                <a:endParaRPr lang="en-US" sz="2400" dirty="0">
                  <a:latin typeface="Verdana" charset="0"/>
                  <a:ea typeface="Verdana" charset="0"/>
                  <a:cs typeface="Verdana" charset="0"/>
                </a:endParaRPr>
              </a:p>
              <a:p>
                <a:pPr marL="914400" lvl="1" indent="-463550">
                  <a:buFont typeface="+mj-lt"/>
                  <a:buAutoNum type="alphaLcPeriod" startAt="3"/>
                </a:pPr>
                <a:r>
                  <a:rPr lang="en-US" sz="2400" dirty="0">
                    <a:latin typeface="Verdana" charset="0"/>
                    <a:ea typeface="Verdana" charset="0"/>
                    <a:cs typeface="Verdana" charset="0"/>
                  </a:rPr>
                  <a:t>How many medals did Norway win in the 2018 Olympics? </a:t>
                </a:r>
                <a:br>
                  <a:rPr lang="en-US" sz="2400" dirty="0">
                    <a:latin typeface="Verdana" charset="0"/>
                    <a:ea typeface="Verdana" charset="0"/>
                    <a:cs typeface="Verdana" charset="0"/>
                  </a:rPr>
                </a:br>
                <a:endParaRPr lang="en-US" sz="2400" dirty="0">
                  <a:latin typeface="Verdana" charset="0"/>
                  <a:ea typeface="Verdana" charset="0"/>
                  <a:cs typeface="Verdana" charset="0"/>
                </a:endParaRPr>
              </a:p>
              <a:p>
                <a:pPr marL="914400" lvl="1" indent="-463550">
                  <a:buFont typeface="+mj-lt"/>
                  <a:buAutoNum type="alphaLcPeriod" startAt="3"/>
                </a:pPr>
                <a:endParaRPr lang="en-US" sz="2400" dirty="0">
                  <a:latin typeface="Verdana" charset="0"/>
                  <a:ea typeface="Verdana" charset="0"/>
                  <a:cs typeface="Verdana" charset="0"/>
                </a:endParaRPr>
              </a:p>
              <a:p>
                <a:pPr marL="914400" lvl="1" indent="-463550">
                  <a:buFont typeface="+mj-lt"/>
                  <a:buAutoNum type="alphaLcPeriod" startAt="3"/>
                </a:pPr>
                <a:r>
                  <a:rPr lang="en-US" sz="2400" dirty="0">
                    <a:latin typeface="Verdana" charset="0"/>
                    <a:ea typeface="Verdana" charset="0"/>
                    <a:cs typeface="Verdana" charset="0"/>
                  </a:rPr>
                  <a:t>Complete the statement.</a:t>
                </a:r>
              </a:p>
              <a:p>
                <a:pPr marL="914400" lvl="1" indent="-463550">
                  <a:buFont typeface="+mj-lt"/>
                  <a:buAutoNum type="alphaLcPeriod" startAt="3"/>
                </a:pPr>
                <a:endParaRPr lang="en-US" sz="2400" dirty="0">
                  <a:latin typeface="Verdana" charset="0"/>
                  <a:ea typeface="Verdana" charset="0"/>
                  <a:cs typeface="Verdana" charset="0"/>
                </a:endParaRPr>
              </a:p>
              <a:p>
                <a:pPr marL="914400"/>
                <a:r>
                  <a:rPr lang="en-US" sz="2400" dirty="0">
                    <a:latin typeface="Verdana" charset="0"/>
                    <a:ea typeface="Verdana" charset="0"/>
                    <a:cs typeface="Verdana" charset="0"/>
                  </a:rPr>
                  <a:t>______________  won the most medals in either the 2016 or 2018 Olympics, winning _____ medals in those games.  </a:t>
                </a:r>
                <a:br>
                  <a:rPr lang="en-US" sz="2400" dirty="0">
                    <a:latin typeface="Verdana" charset="0"/>
                    <a:ea typeface="Verdana" charset="0"/>
                    <a:cs typeface="Verdana" charset="0"/>
                  </a:rPr>
                </a:br>
                <a:endParaRPr lang="en-US" sz="2400" dirty="0">
                  <a:latin typeface="Verdana" charset="0"/>
                  <a:ea typeface="Verdana" charset="0"/>
                  <a:cs typeface="Verdana" charset="0"/>
                </a:endParaRPr>
              </a:p>
              <a:p>
                <a:pPr marL="914400" indent="-463550"/>
                <a:endParaRPr lang="en-US" sz="2400" dirty="0">
                  <a:latin typeface="Verdana" charset="0"/>
                  <a:ea typeface="Verdana" charset="0"/>
                  <a:cs typeface="Verdana" charset="0"/>
                </a:endParaRPr>
              </a:p>
              <a:p>
                <a:pPr marL="914400" indent="-463550">
                  <a:buFont typeface="+mj-lt"/>
                  <a:buAutoNum type="alphaLcPeriod" startAt="6"/>
                </a:pPr>
                <a:r>
                  <a:rPr lang="en-US" sz="2400" dirty="0">
                    <a:latin typeface="Verdana" charset="0"/>
                    <a:ea typeface="Verdana" charset="0"/>
                    <a:cs typeface="Verdana" charset="0"/>
                  </a:rPr>
                  <a:t>What does the joint relative frequency, </a:t>
                </a:r>
                <a14:m>
                  <m:oMath xmlns:m="http://schemas.openxmlformats.org/officeDocument/2006/math">
                    <m:f>
                      <m:fPr>
                        <m:ctrlPr>
                          <a:rPr lang="en-US" sz="2400" i="1">
                            <a:latin typeface="Cambria Math" panose="02040503050406030204" pitchFamily="18" charset="0"/>
                            <a:ea typeface="Verdana" charset="0"/>
                            <a:cs typeface="Verdana" charset="0"/>
                          </a:rPr>
                        </m:ctrlPr>
                      </m:fPr>
                      <m:num>
                        <m:r>
                          <a:rPr lang="en-US" sz="2400" i="1">
                            <a:latin typeface="Cambria Math" panose="02040503050406030204" pitchFamily="18" charset="0"/>
                            <a:ea typeface="Verdana" charset="0"/>
                            <a:cs typeface="Verdana" charset="0"/>
                          </a:rPr>
                          <m:t>121</m:t>
                        </m:r>
                      </m:num>
                      <m:den>
                        <m:r>
                          <a:rPr lang="en-US" sz="2400" i="1">
                            <a:latin typeface="Cambria Math" panose="02040503050406030204" pitchFamily="18" charset="0"/>
                            <a:ea typeface="Verdana" charset="0"/>
                            <a:cs typeface="Verdana" charset="0"/>
                          </a:rPr>
                          <m:t>317</m:t>
                        </m:r>
                      </m:den>
                    </m:f>
                  </m:oMath>
                </a14:m>
                <a:r>
                  <a:rPr lang="en-US" sz="2400" dirty="0">
                    <a:latin typeface="Verdana" charset="0"/>
                    <a:ea typeface="Verdana" charset="0"/>
                    <a:cs typeface="Verdana" charset="0"/>
                  </a:rPr>
                  <a:t>, mean in this context?</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19397" y="520394"/>
                <a:ext cx="10355283" cy="5787162"/>
              </a:xfrm>
              <a:prstGeom prst="rect">
                <a:avLst/>
              </a:prstGeom>
              <a:blipFill>
                <a:blip r:embed="rId3"/>
                <a:stretch>
                  <a:fillRect t="-842" r="-471" b="-136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3CAFD283-D668-607E-9FEC-7243D1F4967F}"/>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312</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626A51E8-5061-DAD7-632D-073B14410459}"/>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5075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55022" y="520393"/>
            <a:ext cx="10295907" cy="4893647"/>
          </a:xfrm>
          <a:prstGeom prst="rect">
            <a:avLst/>
          </a:prstGeom>
          <a:noFill/>
        </p:spPr>
        <p:txBody>
          <a:bodyPr wrap="square" rtlCol="0">
            <a:spAutoFit/>
          </a:bodyPr>
          <a:lstStyle/>
          <a:p>
            <a:pPr marL="457200" indent="-457200">
              <a:buFont typeface="+mj-lt"/>
              <a:buAutoNum type="arabicPeriod" startAt="2"/>
            </a:pPr>
            <a:r>
              <a:rPr lang="en-US" sz="2400" dirty="0">
                <a:latin typeface="Verdana" charset="0"/>
                <a:ea typeface="Verdana" charset="0"/>
                <a:cs typeface="Verdana" charset="0"/>
              </a:rPr>
              <a:t>Work with your partner to write questions that can be answered with the data in the table. </a:t>
            </a:r>
          </a:p>
          <a:p>
            <a:pPr marL="457200" indent="-457200">
              <a:buFont typeface="+mj-lt"/>
              <a:buAutoNum type="arabicPeriod" startAt="2"/>
            </a:pPr>
            <a:endParaRPr lang="en-US" sz="2400" dirty="0">
              <a:latin typeface="Verdana" charset="0"/>
              <a:ea typeface="Verdana" charset="0"/>
              <a:cs typeface="Verdana" charset="0"/>
            </a:endParaRPr>
          </a:p>
          <a:p>
            <a:pPr marL="914400" lvl="1" indent="-450850">
              <a:buFont typeface="+mj-lt"/>
              <a:buAutoNum type="alphaLcPeriod"/>
            </a:pPr>
            <a:r>
              <a:rPr lang="en-US" sz="2400" dirty="0">
                <a:latin typeface="Verdana" charset="0"/>
                <a:ea typeface="Verdana" charset="0"/>
                <a:cs typeface="Verdana" charset="0"/>
              </a:rPr>
              <a:t>Write at least one question that must be answered with a joint frequency. </a:t>
            </a:r>
            <a:br>
              <a:rPr lang="en-US" sz="2400" dirty="0">
                <a:latin typeface="Verdana" charset="0"/>
                <a:ea typeface="Verdana" charset="0"/>
                <a:cs typeface="Verdana" charset="0"/>
              </a:rPr>
            </a:br>
            <a:endParaRPr lang="en-US" sz="2400" dirty="0">
              <a:latin typeface="Verdana" charset="0"/>
              <a:ea typeface="Verdana" charset="0"/>
              <a:cs typeface="Verdana" charset="0"/>
            </a:endParaRPr>
          </a:p>
          <a:p>
            <a:pPr marL="914400" lvl="1" indent="-450850">
              <a:buFont typeface="+mj-lt"/>
              <a:buAutoNum type="alphaLcPeriod"/>
            </a:pPr>
            <a:endParaRPr lang="en-US" sz="2400" dirty="0">
              <a:latin typeface="Verdana" charset="0"/>
              <a:ea typeface="Verdana" charset="0"/>
              <a:cs typeface="Verdana" charset="0"/>
            </a:endParaRPr>
          </a:p>
          <a:p>
            <a:pPr marL="914400" lvl="1" indent="-450850">
              <a:buFont typeface="+mj-lt"/>
              <a:buAutoNum type="alphaLcPeriod"/>
            </a:pPr>
            <a:endParaRPr lang="en-US" sz="2400" dirty="0">
              <a:latin typeface="Verdana" charset="0"/>
              <a:ea typeface="Verdana" charset="0"/>
              <a:cs typeface="Verdana" charset="0"/>
            </a:endParaRPr>
          </a:p>
          <a:p>
            <a:pPr marL="914400" lvl="1" indent="-450850">
              <a:buFont typeface="+mj-lt"/>
              <a:buAutoNum type="alphaLcPeriod"/>
            </a:pPr>
            <a:endParaRPr lang="en-US" sz="2400" dirty="0">
              <a:latin typeface="Verdana" charset="0"/>
              <a:ea typeface="Verdana" charset="0"/>
              <a:cs typeface="Verdana" charset="0"/>
            </a:endParaRPr>
          </a:p>
          <a:p>
            <a:pPr marL="914400" lvl="1" indent="-450850">
              <a:buFont typeface="+mj-lt"/>
              <a:buAutoNum type="alphaLcPeriod"/>
            </a:pPr>
            <a:endParaRPr lang="en-US" sz="2400" dirty="0">
              <a:latin typeface="Verdana" charset="0"/>
              <a:ea typeface="Verdana" charset="0"/>
              <a:cs typeface="Verdana" charset="0"/>
            </a:endParaRPr>
          </a:p>
          <a:p>
            <a:pPr marL="914400" lvl="1" indent="-450850">
              <a:buFont typeface="+mj-lt"/>
              <a:buAutoNum type="alphaLcPeriod"/>
            </a:pPr>
            <a:endParaRPr lang="en-US" sz="2400" dirty="0">
              <a:latin typeface="Verdana" charset="0"/>
              <a:ea typeface="Verdana" charset="0"/>
              <a:cs typeface="Verdana" charset="0"/>
            </a:endParaRPr>
          </a:p>
          <a:p>
            <a:pPr marL="914400" lvl="1" indent="-450850">
              <a:buFont typeface="+mj-lt"/>
              <a:buAutoNum type="alphaLcPeriod"/>
            </a:pPr>
            <a:r>
              <a:rPr lang="en-US" sz="2400" dirty="0">
                <a:latin typeface="Verdana" charset="0"/>
                <a:ea typeface="Verdana" charset="0"/>
                <a:cs typeface="Verdana" charset="0"/>
              </a:rPr>
              <a:t>Write at least one question that must be answered with a marginal frequency. </a:t>
            </a:r>
          </a:p>
        </p:txBody>
      </p:sp>
      <p:sp>
        <p:nvSpPr>
          <p:cNvPr id="6" name="Google Shape;278;g104476d1465_1_17">
            <a:extLst>
              <a:ext uri="{FF2B5EF4-FFF2-40B4-BE49-F238E27FC236}">
                <a16:creationId xmlns:a16="http://schemas.microsoft.com/office/drawing/2014/main" id="{FA2A97BF-3D7B-B547-BD66-4A4651071EA8}"/>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A4626E0C-AF1C-D974-92AE-16B770D2715B}"/>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313</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32BDFB0C-45CF-61D1-2DD2-A2DE6B507931}"/>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99051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01429"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298315"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49AD17B2-1650-1830-2A74-2C4814F50AF3}"/>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313</a:t>
            </a:r>
            <a:endParaRPr i="1" dirty="0">
              <a:latin typeface="Calibri"/>
              <a:ea typeface="Calibri"/>
              <a:cs typeface="Calibri"/>
              <a:sym typeface="Calibri"/>
            </a:endParaRPr>
          </a:p>
        </p:txBody>
      </p:sp>
    </p:spTree>
    <p:extLst>
      <p:ext uri="{BB962C8B-B14F-4D97-AF65-F5344CB8AC3E}">
        <p14:creationId xmlns:p14="http://schemas.microsoft.com/office/powerpoint/2010/main" val="11484601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20042" y="60325"/>
            <a:ext cx="755190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3BEA6"/>
                </a:solidFill>
                <a:latin typeface="Verdana"/>
                <a:ea typeface="Verdana"/>
                <a:cs typeface="Verdana"/>
                <a:sym typeface="Verdana"/>
              </a:rPr>
              <a:t>14.2.3 Try It: Mono Lake</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93248"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0AB6A3A1-5A0D-C84F-AC89-57E6782F43E5}"/>
                  </a:ext>
                </a:extLst>
              </p:cNvPr>
              <p:cNvSpPr txBox="1"/>
              <p:nvPr/>
            </p:nvSpPr>
            <p:spPr>
              <a:xfrm>
                <a:off x="855022" y="1386025"/>
                <a:ext cx="10260282" cy="2677656"/>
              </a:xfrm>
              <a:prstGeom prst="rect">
                <a:avLst/>
              </a:prstGeom>
              <a:noFill/>
            </p:spPr>
            <p:txBody>
              <a:bodyPr wrap="square" rtlCol="0">
                <a:spAutoFit/>
              </a:bodyPr>
              <a:lstStyle/>
              <a:p>
                <a:r>
                  <a:rPr lang="en-US" sz="2400" dirty="0">
                    <a:latin typeface="Verdana" charset="0"/>
                    <a:ea typeface="Verdana" charset="0"/>
                    <a:cs typeface="Verdana" charset="0"/>
                  </a:rPr>
                  <a:t>In California, there is a saltwater lake called Mono Lake. The salinity, or the concentration of salt in the lake, has varied over time. According to the Global Nature Fund, the salinity of Mono Lake was at an all-time high of </a:t>
                </a:r>
                <a14:m>
                  <m:oMath xmlns:m="http://schemas.openxmlformats.org/officeDocument/2006/math">
                    <m:r>
                      <a:rPr lang="en-US" sz="2400" i="1" dirty="0" smtClean="0">
                        <a:latin typeface="Cambria Math" panose="02040503050406030204" pitchFamily="18" charset="0"/>
                        <a:ea typeface="Verdana" charset="0"/>
                        <a:cs typeface="Verdana" charset="0"/>
                      </a:rPr>
                      <m:t>99</m:t>
                    </m:r>
                  </m:oMath>
                </a14:m>
                <a:r>
                  <a:rPr lang="en-US" sz="2400" dirty="0">
                    <a:latin typeface="Verdana" charset="0"/>
                    <a:ea typeface="Verdana" charset="0"/>
                    <a:cs typeface="Verdana" charset="0"/>
                  </a:rPr>
                  <a:t> grams per liter (g/l) in 1982. The concentration of salt in Mono Lake increased as a result of water diversion. Streams that feed Mono Lake were diverted, and the fresh water was used for drinking water. </a:t>
                </a:r>
              </a:p>
            </p:txBody>
          </p:sp>
        </mc:Choice>
        <mc:Fallback>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855022" y="1386025"/>
                <a:ext cx="10260282" cy="2677656"/>
              </a:xfrm>
              <a:prstGeom prst="rect">
                <a:avLst/>
              </a:prstGeom>
              <a:blipFill>
                <a:blip r:embed="rId4"/>
                <a:stretch>
                  <a:fillRect l="-891" t="-1818" b="-4091"/>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244F00A5-2AA6-AE4D-816C-EE9779D15DDB}"/>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2" name="Google Shape;282;g104476d1465_1_17">
            <a:extLst>
              <a:ext uri="{FF2B5EF4-FFF2-40B4-BE49-F238E27FC236}">
                <a16:creationId xmlns:a16="http://schemas.microsoft.com/office/drawing/2014/main" id="{00BF6C9D-E731-C088-3D94-E5AA54B108D7}"/>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313</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5CCF9649-AA05-0F8B-E6E9-D89DC09E258D}"/>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90812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id="{A2E66A11-7F46-5543-97C7-B5D75DA087BD}"/>
              </a:ext>
            </a:extLst>
          </p:cNvPr>
          <p:cNvSpPr/>
          <p:nvPr/>
        </p:nvSpPr>
        <p:spPr>
          <a:xfrm>
            <a:off x="0" y="-1187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AB6A3A1-5A0D-C84F-AC89-57E6782F43E5}"/>
                  </a:ext>
                </a:extLst>
              </p:cNvPr>
              <p:cNvSpPr txBox="1"/>
              <p:nvPr/>
            </p:nvSpPr>
            <p:spPr>
              <a:xfrm>
                <a:off x="843147" y="471626"/>
                <a:ext cx="10284032" cy="4154984"/>
              </a:xfrm>
              <a:prstGeom prst="rect">
                <a:avLst/>
              </a:prstGeom>
              <a:noFill/>
            </p:spPr>
            <p:txBody>
              <a:bodyPr wrap="square" rtlCol="0">
                <a:spAutoFit/>
              </a:bodyPr>
              <a:lstStyle/>
              <a:p>
                <a:r>
                  <a:rPr lang="en-US" sz="2400" dirty="0">
                    <a:latin typeface="Verdana" charset="0"/>
                    <a:ea typeface="Verdana" charset="0"/>
                    <a:cs typeface="Verdana" charset="0"/>
                  </a:rPr>
                  <a:t>Regulations and compromises have helped control water diversion at Mono Lake since then, and the salinity of the lake is slowly returning to normal. In 2008, there were </a:t>
                </a:r>
                <a14:m>
                  <m:oMath xmlns:m="http://schemas.openxmlformats.org/officeDocument/2006/math">
                    <m:r>
                      <a:rPr lang="en-US" sz="2400" i="1" dirty="0" smtClean="0">
                        <a:latin typeface="Cambria Math" panose="02040503050406030204" pitchFamily="18" charset="0"/>
                        <a:ea typeface="Verdana" charset="0"/>
                        <a:cs typeface="Verdana" charset="0"/>
                      </a:rPr>
                      <m:t>79.8</m:t>
                    </m:r>
                  </m:oMath>
                </a14:m>
                <a:r>
                  <a:rPr lang="en-US" sz="2400" dirty="0">
                    <a:latin typeface="Verdana" charset="0"/>
                    <a:ea typeface="Verdana" charset="0"/>
                    <a:cs typeface="Verdana" charset="0"/>
                  </a:rPr>
                  <a:t> grams of salt per liter in Mono Lake. As a result, the populations of two main organisms that live in the lake, brine shrimp and alkali flies, have increased to more optimal levels. In 1982, there were an estimated </a:t>
                </a:r>
                <a14:m>
                  <m:oMath xmlns:m="http://schemas.openxmlformats.org/officeDocument/2006/math">
                    <m:r>
                      <a:rPr lang="en-US" sz="2400" i="1" dirty="0" smtClean="0">
                        <a:latin typeface="Cambria Math" panose="02040503050406030204" pitchFamily="18" charset="0"/>
                        <a:ea typeface="Verdana" charset="0"/>
                        <a:cs typeface="Verdana" charset="0"/>
                      </a:rPr>
                      <m:t>2,000</m:t>
                    </m:r>
                  </m:oMath>
                </a14:m>
                <a:r>
                  <a:rPr lang="en-US" sz="2400" dirty="0">
                    <a:latin typeface="Verdana" charset="0"/>
                    <a:ea typeface="Verdana" charset="0"/>
                    <a:cs typeface="Verdana" charset="0"/>
                  </a:rPr>
                  <a:t> brine shrimp per liter of lake water. In 2008, there were </a:t>
                </a:r>
                <a14:m>
                  <m:oMath xmlns:m="http://schemas.openxmlformats.org/officeDocument/2006/math">
                    <m:r>
                      <a:rPr lang="en-US" sz="2400" i="1" dirty="0" smtClean="0">
                        <a:latin typeface="Cambria Math" panose="02040503050406030204" pitchFamily="18" charset="0"/>
                        <a:ea typeface="Verdana" charset="0"/>
                        <a:cs typeface="Verdana" charset="0"/>
                      </a:rPr>
                      <m:t>3,000</m:t>
                    </m:r>
                  </m:oMath>
                </a14:m>
                <a:r>
                  <a:rPr lang="en-US" sz="2400" dirty="0">
                    <a:latin typeface="Verdana" charset="0"/>
                    <a:ea typeface="Verdana" charset="0"/>
                    <a:cs typeface="Verdana" charset="0"/>
                  </a:rPr>
                  <a:t> brine shrimp per liter of lake water. In 1982, there were </a:t>
                </a:r>
                <a14:m>
                  <m:oMath xmlns:m="http://schemas.openxmlformats.org/officeDocument/2006/math">
                    <m:r>
                      <a:rPr lang="en-US" sz="2400" i="1" dirty="0" smtClean="0">
                        <a:latin typeface="Cambria Math" panose="02040503050406030204" pitchFamily="18" charset="0"/>
                        <a:ea typeface="Verdana" charset="0"/>
                        <a:cs typeface="Verdana" charset="0"/>
                      </a:rPr>
                      <m:t>1,200</m:t>
                    </m:r>
                  </m:oMath>
                </a14:m>
                <a:r>
                  <a:rPr lang="en-US" sz="2400" dirty="0">
                    <a:latin typeface="Verdana" charset="0"/>
                    <a:ea typeface="Verdana" charset="0"/>
                    <a:cs typeface="Verdana" charset="0"/>
                  </a:rPr>
                  <a:t> alkali flies per liter of lake water. That number nearly tripled to </a:t>
                </a:r>
                <a14:m>
                  <m:oMath xmlns:m="http://schemas.openxmlformats.org/officeDocument/2006/math">
                    <m:r>
                      <a:rPr lang="en-US" sz="2400" i="1" dirty="0" smtClean="0">
                        <a:latin typeface="Cambria Math" panose="02040503050406030204" pitchFamily="18" charset="0"/>
                        <a:ea typeface="Verdana" charset="0"/>
                        <a:cs typeface="Verdana" charset="0"/>
                      </a:rPr>
                      <m:t>3,500</m:t>
                    </m:r>
                  </m:oMath>
                </a14:m>
                <a:r>
                  <a:rPr lang="en-US" sz="2400" dirty="0">
                    <a:latin typeface="Verdana" charset="0"/>
                    <a:ea typeface="Verdana" charset="0"/>
                    <a:cs typeface="Verdana" charset="0"/>
                  </a:rPr>
                  <a:t> alkali flies per liter in 2008 when the salinity of Mono Lake was </a:t>
                </a:r>
                <a14:m>
                  <m:oMath xmlns:m="http://schemas.openxmlformats.org/officeDocument/2006/math">
                    <m:r>
                      <a:rPr lang="en-US" sz="2400" i="1" dirty="0" smtClean="0">
                        <a:latin typeface="Cambria Math" panose="02040503050406030204" pitchFamily="18" charset="0"/>
                        <a:ea typeface="Verdana" charset="0"/>
                        <a:cs typeface="Verdana" charset="0"/>
                      </a:rPr>
                      <m:t>79.8</m:t>
                    </m:r>
                  </m:oMath>
                </a14:m>
                <a:r>
                  <a:rPr lang="en-US" sz="2400" dirty="0">
                    <a:latin typeface="Verdana" charset="0"/>
                    <a:ea typeface="Verdana" charset="0"/>
                    <a:cs typeface="Verdana" charset="0"/>
                  </a:rPr>
                  <a:t> g/l. </a:t>
                </a:r>
              </a:p>
            </p:txBody>
          </p:sp>
        </mc:Choice>
        <mc:Fallback>
          <p:sp>
            <p:nvSpPr>
              <p:cNvPr id="7" name="TextBox 6">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843147" y="471626"/>
                <a:ext cx="10284032" cy="4154984"/>
              </a:xfrm>
              <a:prstGeom prst="rect">
                <a:avLst/>
              </a:prstGeom>
              <a:blipFill>
                <a:blip r:embed="rId3"/>
                <a:stretch>
                  <a:fillRect l="-889" t="-1173" r="-889" b="-2199"/>
                </a:stretch>
              </a:blipFill>
            </p:spPr>
            <p:txBody>
              <a:bodyPr/>
              <a:lstStyle/>
              <a:p>
                <a:r>
                  <a:rPr lang="en-US">
                    <a:noFill/>
                  </a:rPr>
                  <a:t> </a:t>
                </a:r>
              </a:p>
            </p:txBody>
          </p:sp>
        </mc:Fallback>
      </mc:AlternateContent>
      <p:sp>
        <p:nvSpPr>
          <p:cNvPr id="8" name="Google Shape;282;g104476d1465_1_17">
            <a:extLst>
              <a:ext uri="{FF2B5EF4-FFF2-40B4-BE49-F238E27FC236}">
                <a16:creationId xmlns:a16="http://schemas.microsoft.com/office/drawing/2014/main" id="{E7AC9B6B-01E9-E7D6-9888-E423F5B0DD7D}"/>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313</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09F181A7-5BD1-F1E5-15FD-03B270DA51A3}"/>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780290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831273" y="520393"/>
                <a:ext cx="10295906" cy="1569660"/>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Construct a two-way frequency table that shows the alkali flies per liter of lake water and brine shrimp per liter of lake water living at Mono Lake when the salinity was </a:t>
                </a:r>
                <a14:m>
                  <m:oMath xmlns:m="http://schemas.openxmlformats.org/officeDocument/2006/math">
                    <m:r>
                      <a:rPr lang="en-US" sz="2400" i="1" dirty="0" smtClean="0">
                        <a:latin typeface="Cambria Math" panose="02040503050406030204" pitchFamily="18" charset="0"/>
                        <a:ea typeface="Verdana" charset="0"/>
                        <a:cs typeface="Verdana" charset="0"/>
                      </a:rPr>
                      <m:t>99</m:t>
                    </m:r>
                  </m:oMath>
                </a14:m>
                <a:r>
                  <a:rPr lang="en-US" sz="2400" dirty="0">
                    <a:latin typeface="Verdana" charset="0"/>
                    <a:ea typeface="Verdana" charset="0"/>
                    <a:cs typeface="Verdana" charset="0"/>
                  </a:rPr>
                  <a:t> g/l and </a:t>
                </a:r>
                <a14:m>
                  <m:oMath xmlns:m="http://schemas.openxmlformats.org/officeDocument/2006/math">
                    <m:r>
                      <a:rPr lang="en-US" sz="2400" i="1" dirty="0" smtClean="0">
                        <a:latin typeface="Cambria Math" panose="02040503050406030204" pitchFamily="18" charset="0"/>
                        <a:ea typeface="Verdana" charset="0"/>
                        <a:cs typeface="Verdana" charset="0"/>
                      </a:rPr>
                      <m:t>79.8</m:t>
                    </m:r>
                  </m:oMath>
                </a14:m>
                <a:r>
                  <a:rPr lang="en-US" sz="2400" dirty="0">
                    <a:latin typeface="Verdana" charset="0"/>
                    <a:ea typeface="Verdana" charset="0"/>
                    <a:cs typeface="Verdana" charset="0"/>
                  </a:rPr>
                  <a:t> g/l. </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31273" y="520393"/>
                <a:ext cx="10295906" cy="1569660"/>
              </a:xfrm>
              <a:prstGeom prst="rect">
                <a:avLst/>
              </a:prstGeom>
              <a:blipFill>
                <a:blip r:embed="rId3"/>
                <a:stretch>
                  <a:fillRect l="-888" t="-3101" b="-7364"/>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458426861"/>
                  </p:ext>
                </p:extLst>
              </p:nvPr>
            </p:nvGraphicFramePr>
            <p:xfrm>
              <a:off x="1478716" y="2552252"/>
              <a:ext cx="8452970" cy="3037068"/>
            </p:xfrm>
            <a:graphic>
              <a:graphicData uri="http://schemas.openxmlformats.org/drawingml/2006/table">
                <a:tbl>
                  <a:tblPr firstRow="1" firstCol="1" bandRow="1"/>
                  <a:tblGrid>
                    <a:gridCol w="2402869">
                      <a:extLst>
                        <a:ext uri="{9D8B030D-6E8A-4147-A177-3AD203B41FA5}">
                          <a16:colId xmlns:a16="http://schemas.microsoft.com/office/drawing/2014/main" val="20000"/>
                        </a:ext>
                      </a:extLst>
                    </a:gridCol>
                    <a:gridCol w="1989651">
                      <a:extLst>
                        <a:ext uri="{9D8B030D-6E8A-4147-A177-3AD203B41FA5}">
                          <a16:colId xmlns:a16="http://schemas.microsoft.com/office/drawing/2014/main" val="20001"/>
                        </a:ext>
                      </a:extLst>
                    </a:gridCol>
                    <a:gridCol w="2029835">
                      <a:extLst>
                        <a:ext uri="{9D8B030D-6E8A-4147-A177-3AD203B41FA5}">
                          <a16:colId xmlns:a16="http://schemas.microsoft.com/office/drawing/2014/main" val="20002"/>
                        </a:ext>
                      </a:extLst>
                    </a:gridCol>
                    <a:gridCol w="2030615">
                      <a:extLst>
                        <a:ext uri="{9D8B030D-6E8A-4147-A177-3AD203B41FA5}">
                          <a16:colId xmlns:a16="http://schemas.microsoft.com/office/drawing/2014/main" val="20003"/>
                        </a:ext>
                      </a:extLst>
                    </a:gridCol>
                  </a:tblGrid>
                  <a:tr h="1095741">
                    <a:tc>
                      <a:txBody>
                        <a:bodyPr/>
                        <a:lstStyle/>
                        <a:p>
                          <a:pPr marL="0" marR="0">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dirty="0">
                              <a:effectLst/>
                              <a:latin typeface="Verdana" charset="0"/>
                              <a:ea typeface="Verdana" charset="0"/>
                              <a:cs typeface="Verdana" charset="0"/>
                            </a:rPr>
                            <a:t>Salinity of </a:t>
                          </a:r>
                          <a:br>
                            <a:rPr lang="en-US" sz="2400" b="1" dirty="0">
                              <a:effectLst/>
                              <a:latin typeface="Verdana" charset="0"/>
                              <a:ea typeface="Verdana" charset="0"/>
                              <a:cs typeface="Verdana" charset="0"/>
                            </a:rPr>
                          </a:br>
                          <a14:m>
                            <m:oMathPara xmlns:m="http://schemas.openxmlformats.org/officeDocument/2006/math">
                              <m:oMathParaPr>
                                <m:jc m:val="centerGroup"/>
                              </m:oMathParaPr>
                              <m:oMath xmlns:m="http://schemas.openxmlformats.org/officeDocument/2006/math">
                                <m:r>
                                  <a:rPr lang="en-US" sz="2400" b="1" i="1" dirty="0" smtClean="0">
                                    <a:effectLst/>
                                    <a:latin typeface="Cambria Math" panose="02040503050406030204" pitchFamily="18" charset="0"/>
                                    <a:ea typeface="Verdana" charset="0"/>
                                    <a:cs typeface="Verdana" charset="0"/>
                                  </a:rPr>
                                  <m:t>𝟗𝟗</m:t>
                                </m:r>
                                <m:r>
                                  <a:rPr lang="en-US" sz="2400" b="1" i="1" dirty="0" smtClean="0">
                                    <a:effectLst/>
                                    <a:latin typeface="Cambria Math" panose="02040503050406030204" pitchFamily="18" charset="0"/>
                                    <a:ea typeface="Verdana" charset="0"/>
                                    <a:cs typeface="Verdana" charset="0"/>
                                  </a:rPr>
                                  <m:t> </m:t>
                                </m:r>
                                <m:r>
                                  <a:rPr lang="en-US" sz="2400" b="1" i="1" dirty="0">
                                    <a:effectLst/>
                                    <a:latin typeface="Cambria Math" panose="02040503050406030204" pitchFamily="18" charset="0"/>
                                    <a:ea typeface="Verdana" charset="0"/>
                                    <a:cs typeface="Verdana" charset="0"/>
                                  </a:rPr>
                                  <m:t>𝒈</m:t>
                                </m:r>
                                <m:r>
                                  <a:rPr lang="en-US" sz="2400" b="1" i="1" dirty="0">
                                    <a:effectLst/>
                                    <a:latin typeface="Cambria Math" panose="02040503050406030204" pitchFamily="18" charset="0"/>
                                    <a:ea typeface="Verdana" charset="0"/>
                                    <a:cs typeface="Verdana" charset="0"/>
                                  </a:rPr>
                                  <m:t>/</m:t>
                                </m:r>
                                <m:r>
                                  <a:rPr lang="en-US" sz="2400" b="1" i="1" dirty="0">
                                    <a:effectLst/>
                                    <a:latin typeface="Cambria Math" panose="02040503050406030204" pitchFamily="18" charset="0"/>
                                    <a:ea typeface="Verdana" charset="0"/>
                                    <a:cs typeface="Verdana" charset="0"/>
                                  </a:rPr>
                                  <m:t>𝒍</m:t>
                                </m:r>
                              </m:oMath>
                            </m:oMathPara>
                          </a14:m>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dirty="0">
                              <a:effectLst/>
                              <a:latin typeface="Verdana" charset="0"/>
                              <a:ea typeface="Verdana" charset="0"/>
                              <a:cs typeface="Verdana" charset="0"/>
                            </a:rPr>
                            <a:t>Salinity of </a:t>
                          </a:r>
                          <a14:m>
                            <m:oMath xmlns:m="http://schemas.openxmlformats.org/officeDocument/2006/math">
                              <m:r>
                                <a:rPr lang="en-US" sz="2400" b="1" i="1" dirty="0" smtClean="0">
                                  <a:effectLst/>
                                  <a:latin typeface="Cambria Math" panose="02040503050406030204" pitchFamily="18" charset="0"/>
                                  <a:ea typeface="Verdana" charset="0"/>
                                  <a:cs typeface="Verdana" charset="0"/>
                                </a:rPr>
                                <m:t>𝟕𝟗</m:t>
                              </m:r>
                              <m:r>
                                <a:rPr lang="en-US" sz="2400" b="1" i="1" dirty="0" smtClean="0">
                                  <a:effectLst/>
                                  <a:latin typeface="Cambria Math" panose="02040503050406030204" pitchFamily="18" charset="0"/>
                                  <a:ea typeface="Verdana" charset="0"/>
                                  <a:cs typeface="Verdana" charset="0"/>
                                </a:rPr>
                                <m:t>.</m:t>
                              </m:r>
                              <m:r>
                                <a:rPr lang="en-US" sz="2400" b="1" i="1" dirty="0" smtClean="0">
                                  <a:effectLst/>
                                  <a:latin typeface="Cambria Math" panose="02040503050406030204" pitchFamily="18" charset="0"/>
                                  <a:ea typeface="Verdana" charset="0"/>
                                  <a:cs typeface="Verdana" charset="0"/>
                                </a:rPr>
                                <m:t>𝟖</m:t>
                              </m:r>
                              <m:r>
                                <a:rPr lang="en-US" sz="2400" b="1" i="1" dirty="0" smtClean="0">
                                  <a:effectLst/>
                                  <a:latin typeface="Cambria Math" panose="02040503050406030204" pitchFamily="18" charset="0"/>
                                  <a:ea typeface="Verdana" charset="0"/>
                                  <a:cs typeface="Verdana" charset="0"/>
                                </a:rPr>
                                <m:t> </m:t>
                              </m:r>
                              <m:r>
                                <a:rPr lang="en-US" sz="2400" b="1" i="1" dirty="0" smtClean="0">
                                  <a:effectLst/>
                                  <a:latin typeface="Cambria Math" panose="02040503050406030204" pitchFamily="18" charset="0"/>
                                  <a:ea typeface="Verdana" charset="0"/>
                                  <a:cs typeface="Verdana" charset="0"/>
                                </a:rPr>
                                <m:t>𝒈</m:t>
                              </m:r>
                              <m:r>
                                <a:rPr lang="en-US" sz="2400" b="1" i="1" dirty="0" smtClean="0">
                                  <a:effectLst/>
                                  <a:latin typeface="Cambria Math" panose="02040503050406030204" pitchFamily="18" charset="0"/>
                                  <a:ea typeface="Verdana" charset="0"/>
                                  <a:cs typeface="Verdana" charset="0"/>
                                </a:rPr>
                                <m:t>/</m:t>
                              </m:r>
                              <m:r>
                                <a:rPr lang="en-US" sz="2400" b="1" i="1" dirty="0" smtClean="0">
                                  <a:effectLst/>
                                  <a:latin typeface="Cambria Math" panose="02040503050406030204" pitchFamily="18" charset="0"/>
                                  <a:ea typeface="Verdana" charset="0"/>
                                  <a:cs typeface="Verdana" charset="0"/>
                                </a:rPr>
                                <m:t>𝒍</m:t>
                              </m:r>
                            </m:oMath>
                          </a14:m>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b="1" dirty="0">
                              <a:effectLst/>
                              <a:latin typeface="Verdana" charset="0"/>
                              <a:ea typeface="Verdana" charset="0"/>
                              <a:cs typeface="Verdana" charset="0"/>
                            </a:rPr>
                            <a:t>Total</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62812">
                    <a:tc>
                      <a:txBody>
                        <a:bodyPr/>
                        <a:lstStyle/>
                        <a:p>
                          <a:pPr marL="0" marR="0" algn="ctr">
                            <a:spcBef>
                              <a:spcPts val="0"/>
                            </a:spcBef>
                            <a:spcAft>
                              <a:spcPts val="0"/>
                            </a:spcAft>
                          </a:pPr>
                          <a:r>
                            <a:rPr lang="en-US" sz="2400" b="1">
                              <a:effectLst/>
                              <a:latin typeface="Verdana" charset="0"/>
                              <a:ea typeface="Verdana" charset="0"/>
                              <a:cs typeface="Verdana" charset="0"/>
                            </a:rPr>
                            <a:t>Brine Shrimp</a:t>
                          </a:r>
                          <a:endParaRPr lang="en-US" sz="16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31768">
                    <a:tc>
                      <a:txBody>
                        <a:bodyPr/>
                        <a:lstStyle/>
                        <a:p>
                          <a:pPr marL="0" marR="0" algn="ctr">
                            <a:spcBef>
                              <a:spcPts val="0"/>
                            </a:spcBef>
                            <a:spcAft>
                              <a:spcPts val="0"/>
                            </a:spcAft>
                          </a:pPr>
                          <a:r>
                            <a:rPr lang="en-US" sz="2400" b="1">
                              <a:effectLst/>
                              <a:latin typeface="Verdana" charset="0"/>
                              <a:ea typeface="Verdana" charset="0"/>
                              <a:cs typeface="Verdana" charset="0"/>
                            </a:rPr>
                            <a:t>Alkali Flies</a:t>
                          </a:r>
                          <a:endParaRPr lang="en-US" sz="16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6747">
                    <a:tc>
                      <a:txBody>
                        <a:bodyPr/>
                        <a:lstStyle/>
                        <a:p>
                          <a:pPr marL="0" marR="0" algn="ctr">
                            <a:spcBef>
                              <a:spcPts val="0"/>
                            </a:spcBef>
                            <a:spcAft>
                              <a:spcPts val="0"/>
                            </a:spcAft>
                          </a:pPr>
                          <a:r>
                            <a:rPr lang="en-US" sz="2400" b="1" dirty="0">
                              <a:effectLst/>
                              <a:latin typeface="Verdana" charset="0"/>
                              <a:ea typeface="Verdana" charset="0"/>
                              <a:cs typeface="Verdana" charset="0"/>
                            </a:rPr>
                            <a:t>Total</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458426861"/>
                  </p:ext>
                </p:extLst>
              </p:nvPr>
            </p:nvGraphicFramePr>
            <p:xfrm>
              <a:off x="1478716" y="2552252"/>
              <a:ext cx="8452970" cy="3037068"/>
            </p:xfrm>
            <a:graphic>
              <a:graphicData uri="http://schemas.openxmlformats.org/drawingml/2006/table">
                <a:tbl>
                  <a:tblPr firstRow="1" firstCol="1" bandRow="1"/>
                  <a:tblGrid>
                    <a:gridCol w="2402869">
                      <a:extLst>
                        <a:ext uri="{9D8B030D-6E8A-4147-A177-3AD203B41FA5}">
                          <a16:colId xmlns:a16="http://schemas.microsoft.com/office/drawing/2014/main" val="20000"/>
                        </a:ext>
                      </a:extLst>
                    </a:gridCol>
                    <a:gridCol w="1989651">
                      <a:extLst>
                        <a:ext uri="{9D8B030D-6E8A-4147-A177-3AD203B41FA5}">
                          <a16:colId xmlns:a16="http://schemas.microsoft.com/office/drawing/2014/main" val="20001"/>
                        </a:ext>
                      </a:extLst>
                    </a:gridCol>
                    <a:gridCol w="2029835">
                      <a:extLst>
                        <a:ext uri="{9D8B030D-6E8A-4147-A177-3AD203B41FA5}">
                          <a16:colId xmlns:a16="http://schemas.microsoft.com/office/drawing/2014/main" val="20002"/>
                        </a:ext>
                      </a:extLst>
                    </a:gridCol>
                    <a:gridCol w="2030615">
                      <a:extLst>
                        <a:ext uri="{9D8B030D-6E8A-4147-A177-3AD203B41FA5}">
                          <a16:colId xmlns:a16="http://schemas.microsoft.com/office/drawing/2014/main" val="20003"/>
                        </a:ext>
                      </a:extLst>
                    </a:gridCol>
                  </a:tblGrid>
                  <a:tr h="1095741">
                    <a:tc>
                      <a:txBody>
                        <a:bodyPr/>
                        <a:lstStyle/>
                        <a:p>
                          <a:pPr marL="0" marR="0">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21472" t="-556" r="-205215" b="-186111"/>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16168" t="-556" r="-100299" b="-186111"/>
                          </a:stretch>
                        </a:blipFill>
                      </a:tcPr>
                    </a:tc>
                    <a:tc>
                      <a:txBody>
                        <a:bodyPr/>
                        <a:lstStyle/>
                        <a:p>
                          <a:pPr marL="0" marR="0" algn="ctr">
                            <a:spcBef>
                              <a:spcPts val="0"/>
                            </a:spcBef>
                            <a:spcAft>
                              <a:spcPts val="0"/>
                            </a:spcAft>
                          </a:pPr>
                          <a:r>
                            <a:rPr lang="en-US" sz="2400" b="1" dirty="0">
                              <a:effectLst/>
                              <a:latin typeface="Verdana" charset="0"/>
                              <a:ea typeface="Verdana" charset="0"/>
                              <a:cs typeface="Verdana" charset="0"/>
                            </a:rPr>
                            <a:t>Total</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62812">
                    <a:tc>
                      <a:txBody>
                        <a:bodyPr/>
                        <a:lstStyle/>
                        <a:p>
                          <a:pPr marL="0" marR="0" algn="ctr">
                            <a:spcBef>
                              <a:spcPts val="0"/>
                            </a:spcBef>
                            <a:spcAft>
                              <a:spcPts val="0"/>
                            </a:spcAft>
                          </a:pPr>
                          <a:r>
                            <a:rPr lang="en-US" sz="2400" b="1">
                              <a:effectLst/>
                              <a:latin typeface="Verdana" charset="0"/>
                              <a:ea typeface="Verdana" charset="0"/>
                              <a:cs typeface="Verdana" charset="0"/>
                            </a:rPr>
                            <a:t>Brine Shrimp</a:t>
                          </a:r>
                          <a:endParaRPr lang="en-US" sz="16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31768">
                    <a:tc>
                      <a:txBody>
                        <a:bodyPr/>
                        <a:lstStyle/>
                        <a:p>
                          <a:pPr marL="0" marR="0" algn="ctr">
                            <a:spcBef>
                              <a:spcPts val="0"/>
                            </a:spcBef>
                            <a:spcAft>
                              <a:spcPts val="0"/>
                            </a:spcAft>
                          </a:pPr>
                          <a:r>
                            <a:rPr lang="en-US" sz="2400" b="1">
                              <a:effectLst/>
                              <a:latin typeface="Verdana" charset="0"/>
                              <a:ea typeface="Verdana" charset="0"/>
                              <a:cs typeface="Verdana" charset="0"/>
                            </a:rPr>
                            <a:t>Alkali Flies</a:t>
                          </a:r>
                          <a:endParaRPr lang="en-US" sz="16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6747">
                    <a:tc>
                      <a:txBody>
                        <a:bodyPr/>
                        <a:lstStyle/>
                        <a:p>
                          <a:pPr marL="0" marR="0" algn="ctr">
                            <a:spcBef>
                              <a:spcPts val="0"/>
                            </a:spcBef>
                            <a:spcAft>
                              <a:spcPts val="0"/>
                            </a:spcAft>
                          </a:pPr>
                          <a:r>
                            <a:rPr lang="en-US" sz="2400" b="1" dirty="0">
                              <a:effectLst/>
                              <a:latin typeface="Verdana" charset="0"/>
                              <a:ea typeface="Verdana" charset="0"/>
                              <a:cs typeface="Verdana" charset="0"/>
                            </a:rPr>
                            <a:t>Total</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a:effectLst/>
                              <a:latin typeface="Verdana" charset="0"/>
                              <a:ea typeface="Verdana" charset="0"/>
                              <a:cs typeface="Verdana" charset="0"/>
                            </a:rPr>
                            <a:t> </a:t>
                          </a:r>
                          <a:endParaRPr lang="en-US" sz="16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400" dirty="0">
                              <a:effectLst/>
                              <a:latin typeface="Verdana" charset="0"/>
                              <a:ea typeface="Verdana" charset="0"/>
                              <a:cs typeface="Verdana" charset="0"/>
                            </a:rPr>
                            <a:t> </a:t>
                          </a:r>
                          <a:endParaRPr lang="en-US" sz="16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
        <p:nvSpPr>
          <p:cNvPr id="7" name="Google Shape;282;g104476d1465_1_17">
            <a:extLst>
              <a:ext uri="{FF2B5EF4-FFF2-40B4-BE49-F238E27FC236}">
                <a16:creationId xmlns:a16="http://schemas.microsoft.com/office/drawing/2014/main" id="{AC4CAF3B-FC13-0685-1737-30E173A51B74}"/>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313</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7A75794D-7FFA-CC09-17D1-06334E5AF692}"/>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51928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866899" y="520393"/>
                <a:ext cx="10295906" cy="5262979"/>
              </a:xfrm>
              <a:prstGeom prst="rect">
                <a:avLst/>
              </a:prstGeom>
              <a:noFill/>
            </p:spPr>
            <p:txBody>
              <a:bodyPr wrap="square" rtlCol="0">
                <a:spAutoFit/>
              </a:bodyPr>
              <a:lstStyle/>
              <a:p>
                <a:pPr marL="457200" indent="-457200">
                  <a:buFont typeface="+mj-lt"/>
                  <a:buAutoNum type="arabicPeriod" startAt="2"/>
                </a:pPr>
                <a:r>
                  <a:rPr lang="en-US" sz="2400" dirty="0">
                    <a:latin typeface="Verdana" charset="0"/>
                    <a:ea typeface="Verdana" charset="0"/>
                    <a:cs typeface="Verdana" charset="0"/>
                  </a:rPr>
                  <a:t>Work with your partner to answer each question. </a:t>
                </a:r>
              </a:p>
              <a:p>
                <a:r>
                  <a:rPr lang="en-US" sz="2400" dirty="0">
                    <a:latin typeface="Verdana" charset="0"/>
                    <a:ea typeface="Verdana" charset="0"/>
                    <a:cs typeface="Verdana" charset="0"/>
                  </a:rPr>
                  <a:t> </a:t>
                </a:r>
              </a:p>
              <a:p>
                <a:pPr marL="928688" lvl="1" indent="-481013">
                  <a:buFont typeface="+mj-lt"/>
                  <a:buAutoNum type="alphaLcPeriod"/>
                </a:pPr>
                <a:r>
                  <a:rPr lang="en-US" sz="2400" dirty="0">
                    <a:latin typeface="Verdana" charset="0"/>
                    <a:ea typeface="Verdana" charset="0"/>
                    <a:cs typeface="Verdana" charset="0"/>
                  </a:rPr>
                  <a:t>How many alkali flies per liter of lake water were found in Mono Lake when the salinity was </a:t>
                </a:r>
                <a14:m>
                  <m:oMath xmlns:m="http://schemas.openxmlformats.org/officeDocument/2006/math">
                    <m:r>
                      <a:rPr lang="en-US" sz="2400" i="1" dirty="0" smtClean="0">
                        <a:latin typeface="Cambria Math" panose="02040503050406030204" pitchFamily="18" charset="0"/>
                        <a:ea typeface="Verdana" charset="0"/>
                        <a:cs typeface="Verdana" charset="0"/>
                      </a:rPr>
                      <m:t>99</m:t>
                    </m:r>
                  </m:oMath>
                </a14:m>
                <a:r>
                  <a:rPr lang="en-US" sz="2400" dirty="0">
                    <a:latin typeface="Verdana" charset="0"/>
                    <a:ea typeface="Verdana" charset="0"/>
                    <a:cs typeface="Verdana" charset="0"/>
                  </a:rPr>
                  <a:t> g/l? </a:t>
                </a:r>
              </a:p>
              <a:p>
                <a:pPr marL="928688" lvl="1" indent="-481013">
                  <a:buFont typeface="+mj-lt"/>
                  <a:buAutoNum type="alphaLcPeriod"/>
                </a:pPr>
                <a:endParaRPr lang="en-US" sz="2400" dirty="0">
                  <a:latin typeface="Verdana" charset="0"/>
                  <a:ea typeface="Verdana" charset="0"/>
                  <a:cs typeface="Verdana" charset="0"/>
                </a:endParaRPr>
              </a:p>
              <a:p>
                <a:pPr marL="928688" lvl="1" indent="-481013">
                  <a:buFont typeface="+mj-lt"/>
                  <a:buAutoNum type="alphaLcPeriod"/>
                </a:pPr>
                <a:endParaRPr lang="en-US" sz="2400" dirty="0">
                  <a:latin typeface="Verdana" charset="0"/>
                  <a:ea typeface="Verdana" charset="0"/>
                  <a:cs typeface="Verdana" charset="0"/>
                </a:endParaRPr>
              </a:p>
              <a:p>
                <a:pPr marL="928688" lvl="1" indent="-481013">
                  <a:buFont typeface="+mj-lt"/>
                  <a:buAutoNum type="alphaLcPeriod"/>
                </a:pPr>
                <a:r>
                  <a:rPr lang="en-US" sz="2400" dirty="0">
                    <a:latin typeface="Verdana" charset="0"/>
                    <a:ea typeface="Verdana" charset="0"/>
                    <a:cs typeface="Verdana" charset="0"/>
                  </a:rPr>
                  <a:t>When the salinity of Mono Lake was </a:t>
                </a:r>
                <a14:m>
                  <m:oMath xmlns:m="http://schemas.openxmlformats.org/officeDocument/2006/math">
                    <m:r>
                      <a:rPr lang="en-US" sz="2400" i="1" dirty="0" smtClean="0">
                        <a:latin typeface="Cambria Math" panose="02040503050406030204" pitchFamily="18" charset="0"/>
                        <a:ea typeface="Verdana" charset="0"/>
                        <a:cs typeface="Verdana" charset="0"/>
                      </a:rPr>
                      <m:t>79.8</m:t>
                    </m:r>
                  </m:oMath>
                </a14:m>
                <a:r>
                  <a:rPr lang="en-US" sz="2400" dirty="0">
                    <a:latin typeface="Verdana" charset="0"/>
                    <a:ea typeface="Verdana" charset="0"/>
                    <a:cs typeface="Verdana" charset="0"/>
                  </a:rPr>
                  <a:t> g/l, how many brine shrimp and alkali flies per liter of lake water were found?   </a:t>
                </a:r>
              </a:p>
              <a:p>
                <a:pPr marL="928688" lvl="1" indent="-481013">
                  <a:buFont typeface="+mj-lt"/>
                  <a:buAutoNum type="alphaLcPeriod"/>
                </a:pPr>
                <a:endParaRPr lang="en-US" sz="2400" dirty="0">
                  <a:latin typeface="Verdana" charset="0"/>
                  <a:ea typeface="Verdana" charset="0"/>
                  <a:cs typeface="Verdana" charset="0"/>
                </a:endParaRPr>
              </a:p>
              <a:p>
                <a:pPr marL="928688" lvl="1" indent="-481013">
                  <a:buFont typeface="+mj-lt"/>
                  <a:buAutoNum type="alphaLcPeriod"/>
                </a:pPr>
                <a:endParaRPr lang="en-US" sz="2400" dirty="0">
                  <a:latin typeface="Verdana" charset="0"/>
                  <a:ea typeface="Verdana" charset="0"/>
                  <a:cs typeface="Verdana" charset="0"/>
                </a:endParaRPr>
              </a:p>
              <a:p>
                <a:pPr marL="928688" lvl="1" indent="-481013">
                  <a:buFont typeface="+mj-lt"/>
                  <a:buAutoNum type="alphaLcPeriod"/>
                </a:pPr>
                <a:r>
                  <a:rPr lang="en-US" sz="2400" dirty="0">
                    <a:latin typeface="Verdana" charset="0"/>
                    <a:ea typeface="Verdana" charset="0"/>
                    <a:cs typeface="Verdana" charset="0"/>
                  </a:rPr>
                  <a:t>Which is greater — the combined total of alkali flies, or the combined total of brine shrimp in Mono Lake from these two samples? </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66899" y="520393"/>
                <a:ext cx="10295906" cy="5262979"/>
              </a:xfrm>
              <a:prstGeom prst="rect">
                <a:avLst/>
              </a:prstGeom>
              <a:blipFill>
                <a:blip r:embed="rId3"/>
                <a:stretch>
                  <a:fillRect l="-888" t="-926" r="-1007" b="-1620"/>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EBC4BF44-F13D-9432-FB54-51BBEE3BDBC7}"/>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314</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917B4FC6-2561-DDF1-5636-BC83347BAB4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98332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866899" y="520394"/>
                <a:ext cx="10295905" cy="5632311"/>
              </a:xfrm>
              <a:prstGeom prst="rect">
                <a:avLst/>
              </a:prstGeom>
              <a:noFill/>
            </p:spPr>
            <p:txBody>
              <a:bodyPr wrap="square" rtlCol="0">
                <a:spAutoFit/>
              </a:bodyPr>
              <a:lstStyle/>
              <a:p>
                <a:pPr marL="914400" lvl="1" indent="-457200">
                  <a:buFont typeface="+mj-lt"/>
                  <a:buAutoNum type="alphaLcPeriod" startAt="4"/>
                </a:pPr>
                <a:r>
                  <a:rPr lang="en-US" sz="2400" dirty="0">
                    <a:latin typeface="Verdana" charset="0"/>
                    <a:ea typeface="Verdana" charset="0"/>
                    <a:cs typeface="Verdana" charset="0"/>
                  </a:rPr>
                  <a:t>What was the salinity of Mono Lake when the population of alkali flies was </a:t>
                </a:r>
                <a14:m>
                  <m:oMath xmlns:m="http://schemas.openxmlformats.org/officeDocument/2006/math">
                    <m:r>
                      <a:rPr lang="en-US" sz="2400" i="1" dirty="0" smtClean="0">
                        <a:latin typeface="Cambria Math" panose="02040503050406030204" pitchFamily="18" charset="0"/>
                        <a:ea typeface="Verdana" charset="0"/>
                        <a:cs typeface="Verdana" charset="0"/>
                      </a:rPr>
                      <m:t>3,500</m:t>
                    </m:r>
                  </m:oMath>
                </a14:m>
                <a:r>
                  <a:rPr lang="en-US" sz="2400" dirty="0">
                    <a:latin typeface="Verdana" charset="0"/>
                    <a:ea typeface="Verdana" charset="0"/>
                    <a:cs typeface="Verdana" charset="0"/>
                  </a:rPr>
                  <a:t> per liter?  </a:t>
                </a:r>
              </a:p>
              <a:p>
                <a:pPr marL="914400" lvl="1" indent="-457200">
                  <a:buFont typeface="+mj-lt"/>
                  <a:buAutoNum type="alphaLcPeriod" startAt="4"/>
                </a:pPr>
                <a:endParaRPr lang="en-US" sz="2400" dirty="0">
                  <a:latin typeface="Verdana" charset="0"/>
                  <a:ea typeface="Verdana" charset="0"/>
                  <a:cs typeface="Verdana" charset="0"/>
                </a:endParaRPr>
              </a:p>
              <a:p>
                <a:pPr marL="914400" lvl="1" indent="-457200">
                  <a:buFont typeface="+mj-lt"/>
                  <a:buAutoNum type="alphaLcPeriod" startAt="4"/>
                </a:pPr>
                <a:endParaRPr lang="en-US" sz="2400" dirty="0">
                  <a:latin typeface="Verdana" charset="0"/>
                  <a:ea typeface="Verdana" charset="0"/>
                  <a:cs typeface="Verdana" charset="0"/>
                </a:endParaRPr>
              </a:p>
              <a:p>
                <a:pPr marL="914400" lvl="1" indent="-457200">
                  <a:buFont typeface="+mj-lt"/>
                  <a:buAutoNum type="alphaLcPeriod" startAt="4"/>
                </a:pPr>
                <a:endParaRPr lang="en-US" sz="2400" dirty="0">
                  <a:latin typeface="Verdana" charset="0"/>
                  <a:ea typeface="Verdana" charset="0"/>
                  <a:cs typeface="Verdana" charset="0"/>
                </a:endParaRPr>
              </a:p>
              <a:p>
                <a:pPr marL="914400" lvl="1" indent="-457200">
                  <a:buFont typeface="+mj-lt"/>
                  <a:buAutoNum type="alphaLcPeriod" startAt="4"/>
                </a:pPr>
                <a:endParaRPr lang="en-US" sz="2400" dirty="0">
                  <a:latin typeface="Verdana" charset="0"/>
                  <a:ea typeface="Verdana" charset="0"/>
                  <a:cs typeface="Verdana" charset="0"/>
                </a:endParaRPr>
              </a:p>
              <a:p>
                <a:pPr marL="914400" lvl="1" indent="-457200">
                  <a:buFont typeface="+mj-lt"/>
                  <a:buAutoNum type="alphaLcPeriod" startAt="4"/>
                </a:pPr>
                <a:r>
                  <a:rPr lang="en-US" sz="2400" dirty="0">
                    <a:latin typeface="Verdana" charset="0"/>
                    <a:ea typeface="Verdana" charset="0"/>
                    <a:cs typeface="Verdana" charset="0"/>
                  </a:rPr>
                  <a:t>What was the total amount of brine shrimp found in Mono Lake from the two studies? </a:t>
                </a:r>
              </a:p>
              <a:p>
                <a:pPr marL="914400" lvl="1" indent="-457200">
                  <a:buFont typeface="+mj-lt"/>
                  <a:buAutoNum type="alphaLcPeriod" startAt="4"/>
                </a:pPr>
                <a:endParaRPr lang="en-US" sz="2400" dirty="0">
                  <a:latin typeface="Verdana" charset="0"/>
                  <a:ea typeface="Verdana" charset="0"/>
                  <a:cs typeface="Verdana" charset="0"/>
                </a:endParaRPr>
              </a:p>
              <a:p>
                <a:pPr marL="914400" lvl="1" indent="-457200">
                  <a:buFont typeface="+mj-lt"/>
                  <a:buAutoNum type="alphaLcPeriod" startAt="4"/>
                </a:pPr>
                <a:endParaRPr lang="en-US" sz="2400" dirty="0">
                  <a:latin typeface="Verdana" charset="0"/>
                  <a:ea typeface="Verdana" charset="0"/>
                  <a:cs typeface="Verdana" charset="0"/>
                </a:endParaRPr>
              </a:p>
              <a:p>
                <a:pPr marL="914400" lvl="1" indent="-457200">
                  <a:buFont typeface="+mj-lt"/>
                  <a:buAutoNum type="alphaLcPeriod" startAt="4"/>
                </a:pPr>
                <a:endParaRPr lang="en-US" sz="2400" dirty="0">
                  <a:latin typeface="Verdana" charset="0"/>
                  <a:ea typeface="Verdana" charset="0"/>
                  <a:cs typeface="Verdana" charset="0"/>
                </a:endParaRPr>
              </a:p>
              <a:p>
                <a:pPr marL="914400" lvl="1" indent="-457200">
                  <a:buFont typeface="+mj-lt"/>
                  <a:buAutoNum type="alphaLcPeriod" startAt="4"/>
                </a:pPr>
                <a:endParaRPr lang="en-US" sz="2400" dirty="0">
                  <a:latin typeface="Verdana" charset="0"/>
                  <a:ea typeface="Verdana" charset="0"/>
                  <a:cs typeface="Verdana" charset="0"/>
                </a:endParaRPr>
              </a:p>
              <a:p>
                <a:pPr marL="914400" lvl="1" indent="-457200">
                  <a:buFont typeface="+mj-lt"/>
                  <a:buAutoNum type="alphaLcPeriod" startAt="4"/>
                </a:pPr>
                <a:r>
                  <a:rPr lang="en-US" sz="2400" dirty="0">
                    <a:latin typeface="Verdana" charset="0"/>
                    <a:ea typeface="Verdana" charset="0"/>
                    <a:cs typeface="Verdana" charset="0"/>
                  </a:rPr>
                  <a:t>Was the population of brine shrimp smaller when the salinity of Mono Lake was </a:t>
                </a:r>
                <a14:m>
                  <m:oMath xmlns:m="http://schemas.openxmlformats.org/officeDocument/2006/math">
                    <m:r>
                      <a:rPr lang="en-US" sz="2400" i="1" dirty="0" smtClean="0">
                        <a:latin typeface="Cambria Math" panose="02040503050406030204" pitchFamily="18" charset="0"/>
                        <a:ea typeface="Verdana" charset="0"/>
                        <a:cs typeface="Verdana" charset="0"/>
                      </a:rPr>
                      <m:t>99</m:t>
                    </m:r>
                  </m:oMath>
                </a14:m>
                <a:r>
                  <a:rPr lang="en-US" sz="2400" dirty="0">
                    <a:latin typeface="Verdana" charset="0"/>
                    <a:ea typeface="Verdana" charset="0"/>
                    <a:cs typeface="Verdana" charset="0"/>
                  </a:rPr>
                  <a:t> g/l or </a:t>
                </a:r>
                <a14:m>
                  <m:oMath xmlns:m="http://schemas.openxmlformats.org/officeDocument/2006/math">
                    <m:r>
                      <a:rPr lang="en-US" sz="2400" i="1" dirty="0" smtClean="0">
                        <a:latin typeface="Cambria Math" panose="02040503050406030204" pitchFamily="18" charset="0"/>
                        <a:ea typeface="Verdana" charset="0"/>
                        <a:cs typeface="Verdana" charset="0"/>
                      </a:rPr>
                      <m:t>79.8</m:t>
                    </m:r>
                  </m:oMath>
                </a14:m>
                <a:r>
                  <a:rPr lang="en-US" sz="2400" dirty="0">
                    <a:latin typeface="Verdana" charset="0"/>
                    <a:ea typeface="Verdana" charset="0"/>
                    <a:cs typeface="Verdana" charset="0"/>
                  </a:rPr>
                  <a:t> g/l? </a:t>
                </a:r>
                <a:br>
                  <a:rPr lang="en-US" sz="2400" dirty="0">
                    <a:latin typeface="Verdana" charset="0"/>
                    <a:ea typeface="Verdana" charset="0"/>
                    <a:cs typeface="Verdana" charset="0"/>
                  </a:rPr>
                </a:br>
                <a:endParaRPr lang="en-US" sz="2400" dirty="0">
                  <a:latin typeface="Verdana" charset="0"/>
                  <a:ea typeface="Verdana" charset="0"/>
                  <a:cs typeface="Verdana" charset="0"/>
                </a:endParaRP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66899" y="520394"/>
                <a:ext cx="10295905" cy="5632311"/>
              </a:xfrm>
              <a:prstGeom prst="rect">
                <a:avLst/>
              </a:prstGeom>
              <a:blipFill>
                <a:blip r:embed="rId3"/>
                <a:stretch>
                  <a:fillRect t="-866" r="-1066"/>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A2E66A11-7F46-5543-97C7-B5D75DA087BD}"/>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0DD11AD4-BC72-6436-8134-37FF897B634E}"/>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314</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FAA1E02A-0157-9676-3F0B-52F062ECC23A}"/>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4104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194"/>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2116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29595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785A5C34-F3F1-816C-1A76-CCAADC285A17}"/>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314</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E394E0EB-C1CA-1E8A-1AD6-A1636BDD5183}"/>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96290" y="60325"/>
            <a:ext cx="7575659"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14.2.4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593248" y="6032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59C3E41-93EC-B84D-963F-86A3B15AC1C6}"/>
                  </a:ext>
                </a:extLst>
              </p:cNvPr>
              <p:cNvSpPr txBox="1"/>
              <p:nvPr/>
            </p:nvSpPr>
            <p:spPr>
              <a:xfrm>
                <a:off x="831272" y="1386025"/>
                <a:ext cx="10284032" cy="3046988"/>
              </a:xfrm>
              <a:prstGeom prst="rect">
                <a:avLst/>
              </a:prstGeom>
              <a:noFill/>
            </p:spPr>
            <p:txBody>
              <a:bodyPr wrap="square" rtlCol="0">
                <a:spAutoFit/>
              </a:bodyPr>
              <a:lstStyle/>
              <a:p>
                <a:pPr marL="457200" indent="-457200">
                  <a:buFont typeface="+mj-lt"/>
                  <a:buAutoNum type="arabicPeriod"/>
                </a:pPr>
                <a:r>
                  <a:rPr lang="en-US" sz="2400" dirty="0">
                    <a:latin typeface="Verdana" charset="0"/>
                    <a:ea typeface="Verdana" charset="0"/>
                    <a:cs typeface="Verdana" charset="0"/>
                  </a:rPr>
                  <a:t>At </a:t>
                </a:r>
                <a:r>
                  <a:rPr lang="en-US" sz="2400" dirty="0" err="1">
                    <a:latin typeface="Verdana" charset="0"/>
                    <a:ea typeface="Verdana" charset="0"/>
                    <a:cs typeface="Verdana" charset="0"/>
                  </a:rPr>
                  <a:t>Dupont</a:t>
                </a:r>
                <a:r>
                  <a:rPr lang="en-US" sz="2400" dirty="0">
                    <a:latin typeface="Verdana" charset="0"/>
                    <a:ea typeface="Verdana" charset="0"/>
                    <a:cs typeface="Verdana" charset="0"/>
                  </a:rPr>
                  <a:t> Middle School in Jacksonville, FL, </a:t>
                </a:r>
                <a14:m>
                  <m:oMath xmlns:m="http://schemas.openxmlformats.org/officeDocument/2006/math">
                    <m:r>
                      <a:rPr lang="en-US" sz="2400" i="1">
                        <a:latin typeface="Cambria Math" panose="02040503050406030204" pitchFamily="18" charset="0"/>
                        <a:ea typeface="Verdana" charset="0"/>
                        <a:cs typeface="Verdana" charset="0"/>
                      </a:rPr>
                      <m:t>635</m:t>
                    </m:r>
                  </m:oMath>
                </a14:m>
                <a:r>
                  <a:rPr lang="en-US" sz="2400" dirty="0">
                    <a:latin typeface="Verdana" charset="0"/>
                    <a:ea typeface="Verdana" charset="0"/>
                    <a:cs typeface="Verdana" charset="0"/>
                  </a:rPr>
                  <a:t> students were asked which social media site they updated the most on a daily basis. Seventy-five seventh graders said they used Instagram the most. A total of </a:t>
                </a:r>
                <a14:m>
                  <m:oMath xmlns:m="http://schemas.openxmlformats.org/officeDocument/2006/math">
                    <m:r>
                      <a:rPr lang="en-US" sz="2400" i="1">
                        <a:latin typeface="Cambria Math" panose="02040503050406030204" pitchFamily="18" charset="0"/>
                        <a:ea typeface="Verdana" charset="0"/>
                        <a:cs typeface="Verdana" charset="0"/>
                      </a:rPr>
                      <m:t>321</m:t>
                    </m:r>
                  </m:oMath>
                </a14:m>
                <a:r>
                  <a:rPr lang="en-US" sz="2400" dirty="0">
                    <a:latin typeface="Verdana" charset="0"/>
                    <a:ea typeface="Verdana" charset="0"/>
                    <a:cs typeface="Verdana" charset="0"/>
                  </a:rPr>
                  <a:t> students said they updated Facebook the most. Of the </a:t>
                </a:r>
                <a14:m>
                  <m:oMath xmlns:m="http://schemas.openxmlformats.org/officeDocument/2006/math">
                    <m:r>
                      <a:rPr lang="en-US" sz="2400" i="1">
                        <a:latin typeface="Cambria Math" panose="02040503050406030204" pitchFamily="18" charset="0"/>
                        <a:ea typeface="Verdana" charset="0"/>
                        <a:cs typeface="Verdana" charset="0"/>
                      </a:rPr>
                      <m:t>247 </m:t>
                    </m:r>
                  </m:oMath>
                </a14:m>
                <a:r>
                  <a:rPr lang="en-US" sz="2400" dirty="0">
                    <a:latin typeface="Verdana" charset="0"/>
                    <a:ea typeface="Verdana" charset="0"/>
                    <a:cs typeface="Verdana" charset="0"/>
                  </a:rPr>
                  <a:t>eighth graders, </a:t>
                </a:r>
                <a14:m>
                  <m:oMath xmlns:m="http://schemas.openxmlformats.org/officeDocument/2006/math">
                    <m:r>
                      <a:rPr lang="en-US" sz="2400" i="1">
                        <a:latin typeface="Cambria Math" panose="02040503050406030204" pitchFamily="18" charset="0"/>
                        <a:ea typeface="Verdana" charset="0"/>
                        <a:cs typeface="Verdana" charset="0"/>
                      </a:rPr>
                      <m:t>23</m:t>
                    </m:r>
                  </m:oMath>
                </a14:m>
                <a:r>
                  <a:rPr lang="en-US" sz="2400" dirty="0">
                    <a:latin typeface="Verdana" charset="0"/>
                    <a:ea typeface="Verdana" charset="0"/>
                    <a:cs typeface="Verdana" charset="0"/>
                  </a:rPr>
                  <a:t> of them updated Instagram the most. There are </a:t>
                </a:r>
                <a14:m>
                  <m:oMath xmlns:m="http://schemas.openxmlformats.org/officeDocument/2006/math">
                    <m:r>
                      <a:rPr lang="en-US" sz="2400" i="1">
                        <a:latin typeface="Cambria Math" panose="02040503050406030204" pitchFamily="18" charset="0"/>
                        <a:ea typeface="Verdana" charset="0"/>
                        <a:cs typeface="Verdana" charset="0"/>
                      </a:rPr>
                      <m:t>181</m:t>
                    </m:r>
                  </m:oMath>
                </a14:m>
                <a:r>
                  <a:rPr lang="en-US" sz="2400" dirty="0">
                    <a:latin typeface="Verdana" charset="0"/>
                    <a:ea typeface="Verdana" charset="0"/>
                    <a:cs typeface="Verdana" charset="0"/>
                  </a:rPr>
                  <a:t> sixth graders at </a:t>
                </a:r>
                <a:r>
                  <a:rPr lang="en-US" sz="2400" dirty="0" err="1">
                    <a:latin typeface="Verdana" charset="0"/>
                    <a:ea typeface="Verdana" charset="0"/>
                    <a:cs typeface="Verdana" charset="0"/>
                  </a:rPr>
                  <a:t>Dupont</a:t>
                </a:r>
                <a:r>
                  <a:rPr lang="en-US" sz="2400" dirty="0">
                    <a:latin typeface="Verdana" charset="0"/>
                    <a:ea typeface="Verdana" charset="0"/>
                    <a:cs typeface="Verdana" charset="0"/>
                  </a:rPr>
                  <a:t>. Of the </a:t>
                </a:r>
                <a14:m>
                  <m:oMath xmlns:m="http://schemas.openxmlformats.org/officeDocument/2006/math">
                    <m:r>
                      <a:rPr lang="en-US" sz="2400" i="1">
                        <a:latin typeface="Cambria Math" panose="02040503050406030204" pitchFamily="18" charset="0"/>
                        <a:ea typeface="Verdana" charset="0"/>
                        <a:cs typeface="Verdana" charset="0"/>
                      </a:rPr>
                      <m:t>158</m:t>
                    </m:r>
                  </m:oMath>
                </a14:m>
                <a:r>
                  <a:rPr lang="en-US" sz="2400" dirty="0">
                    <a:latin typeface="Verdana" charset="0"/>
                    <a:ea typeface="Verdana" charset="0"/>
                    <a:cs typeface="Verdana" charset="0"/>
                  </a:rPr>
                  <a:t> Twitter users, </a:t>
                </a:r>
                <a14:m>
                  <m:oMath xmlns:m="http://schemas.openxmlformats.org/officeDocument/2006/math">
                    <m:r>
                      <a:rPr lang="en-US" sz="2400" i="1">
                        <a:latin typeface="Cambria Math" panose="02040503050406030204" pitchFamily="18" charset="0"/>
                        <a:ea typeface="Verdana" charset="0"/>
                        <a:cs typeface="Verdana" charset="0"/>
                      </a:rPr>
                      <m:t>45</m:t>
                    </m:r>
                  </m:oMath>
                </a14:m>
                <a:r>
                  <a:rPr lang="en-US" sz="2400" dirty="0">
                    <a:latin typeface="Verdana" charset="0"/>
                    <a:ea typeface="Verdana" charset="0"/>
                    <a:cs typeface="Verdana" charset="0"/>
                  </a:rPr>
                  <a:t> of them were sixth graders. There were </a:t>
                </a:r>
                <a14:m>
                  <m:oMath xmlns:m="http://schemas.openxmlformats.org/officeDocument/2006/math">
                    <m:r>
                      <a:rPr lang="en-US" sz="2400" i="1">
                        <a:latin typeface="Cambria Math" panose="02040503050406030204" pitchFamily="18" charset="0"/>
                        <a:ea typeface="Verdana" charset="0"/>
                        <a:cs typeface="Verdana" charset="0"/>
                      </a:rPr>
                      <m:t>123</m:t>
                    </m:r>
                  </m:oMath>
                </a14:m>
                <a:r>
                  <a:rPr lang="en-US" sz="2400" dirty="0">
                    <a:latin typeface="Verdana" charset="0"/>
                    <a:ea typeface="Verdana" charset="0"/>
                    <a:cs typeface="Verdana" charset="0"/>
                  </a:rPr>
                  <a:t> eighth graders using Facebook. </a:t>
                </a:r>
              </a:p>
            </p:txBody>
          </p:sp>
        </mc:Choice>
        <mc:Fallback>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831272" y="1386025"/>
                <a:ext cx="10284032" cy="3046988"/>
              </a:xfrm>
              <a:prstGeom prst="rect">
                <a:avLst/>
              </a:prstGeom>
              <a:blipFill>
                <a:blip r:embed="rId4"/>
                <a:stretch>
                  <a:fillRect l="-889" t="-1800" r="-1482" b="-3400"/>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3497339A-36B9-2142-AAF4-61C2E4DE6EB2}"/>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a:extLst>
              <a:ext uri="{FF2B5EF4-FFF2-40B4-BE49-F238E27FC236}">
                <a16:creationId xmlns:a16="http://schemas.microsoft.com/office/drawing/2014/main" id="{71E290BC-24A5-62CF-399C-D3ED326A3890}"/>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314</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2BC3CDF0-6AC8-4AB1-F9B8-0E4EB2065E95}"/>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3"/>
            <a:ext cx="10307783" cy="830997"/>
          </a:xfrm>
          <a:prstGeom prst="rect">
            <a:avLst/>
          </a:prstGeom>
          <a:noFill/>
        </p:spPr>
        <p:txBody>
          <a:bodyPr wrap="square" rtlCol="0">
            <a:spAutoFit/>
          </a:bodyPr>
          <a:lstStyle/>
          <a:p>
            <a:pPr marL="463550"/>
            <a:r>
              <a:rPr lang="en-US" sz="2400" dirty="0">
                <a:latin typeface="Verdana" charset="0"/>
                <a:ea typeface="Verdana" charset="0"/>
                <a:cs typeface="Verdana" charset="0"/>
              </a:rPr>
              <a:t>Complete the two-way table summarizing the data.</a:t>
            </a:r>
          </a:p>
          <a:p>
            <a:r>
              <a:rPr lang="en-US" sz="2400" dirty="0">
                <a:latin typeface="Verdana" charset="0"/>
                <a:ea typeface="Verdana" charset="0"/>
                <a:cs typeface="Verdana" charset="0"/>
              </a:rPr>
              <a:t> </a:t>
            </a:r>
          </a:p>
        </p:txBody>
      </p:sp>
      <p:sp>
        <p:nvSpPr>
          <p:cNvPr id="6" name="Google Shape;278;g104476d1465_1_17">
            <a:extLst>
              <a:ext uri="{FF2B5EF4-FFF2-40B4-BE49-F238E27FC236}">
                <a16:creationId xmlns:a16="http://schemas.microsoft.com/office/drawing/2014/main" id="{FC9D7F98-E787-6F4D-92A1-6A0986979BF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3407341186"/>
              </p:ext>
            </p:extLst>
          </p:nvPr>
        </p:nvGraphicFramePr>
        <p:xfrm>
          <a:off x="1803483" y="2376079"/>
          <a:ext cx="7886698" cy="3017781"/>
        </p:xfrm>
        <a:graphic>
          <a:graphicData uri="http://schemas.openxmlformats.org/drawingml/2006/table">
            <a:tbl>
              <a:tblPr/>
              <a:tblGrid>
                <a:gridCol w="918344">
                  <a:extLst>
                    <a:ext uri="{9D8B030D-6E8A-4147-A177-3AD203B41FA5}">
                      <a16:colId xmlns:a16="http://schemas.microsoft.com/office/drawing/2014/main" val="20000"/>
                    </a:ext>
                  </a:extLst>
                </a:gridCol>
                <a:gridCol w="1741361">
                  <a:extLst>
                    <a:ext uri="{9D8B030D-6E8A-4147-A177-3AD203B41FA5}">
                      <a16:colId xmlns:a16="http://schemas.microsoft.com/office/drawing/2014/main" val="20001"/>
                    </a:ext>
                  </a:extLst>
                </a:gridCol>
                <a:gridCol w="1742816">
                  <a:extLst>
                    <a:ext uri="{9D8B030D-6E8A-4147-A177-3AD203B41FA5}">
                      <a16:colId xmlns:a16="http://schemas.microsoft.com/office/drawing/2014/main" val="20002"/>
                    </a:ext>
                  </a:extLst>
                </a:gridCol>
                <a:gridCol w="1741361">
                  <a:extLst>
                    <a:ext uri="{9D8B030D-6E8A-4147-A177-3AD203B41FA5}">
                      <a16:colId xmlns:a16="http://schemas.microsoft.com/office/drawing/2014/main" val="20003"/>
                    </a:ext>
                  </a:extLst>
                </a:gridCol>
                <a:gridCol w="1742816">
                  <a:extLst>
                    <a:ext uri="{9D8B030D-6E8A-4147-A177-3AD203B41FA5}">
                      <a16:colId xmlns:a16="http://schemas.microsoft.com/office/drawing/2014/main" val="20004"/>
                    </a:ext>
                  </a:extLst>
                </a:gridCol>
              </a:tblGrid>
              <a:tr h="569959">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effectLst/>
                          <a:latin typeface="Verdana" charset="0"/>
                          <a:ea typeface="Yu Mincho" charset="-128"/>
                          <a:cs typeface="Cambria" charset="0"/>
                        </a:rPr>
                        <a:t>Facebook</a:t>
                      </a:r>
                      <a:endParaRPr lang="en-US" sz="1200" dirty="0">
                        <a:effectLst/>
                        <a:latin typeface="Cambria" charset="0"/>
                        <a:ea typeface="Yu Mincho" charset="-128"/>
                        <a:cs typeface="Cambria" charset="0"/>
                      </a:endParaRPr>
                    </a:p>
                  </a:txBody>
                  <a:tcPr marL="54541" marR="54541" marT="54541" marB="545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effectLst/>
                          <a:latin typeface="Verdana" charset="0"/>
                          <a:ea typeface="Yu Mincho" charset="-128"/>
                          <a:cs typeface="Cambria" charset="0"/>
                        </a:rPr>
                        <a:t>Instagram</a:t>
                      </a:r>
                      <a:endParaRPr lang="en-US" sz="1200">
                        <a:effectLst/>
                        <a:latin typeface="Cambria" charset="0"/>
                        <a:ea typeface="Yu Mincho" charset="-128"/>
                        <a:cs typeface="Cambria" charset="0"/>
                      </a:endParaRPr>
                    </a:p>
                  </a:txBody>
                  <a:tcPr marL="54541" marR="54541" marT="54541" marB="545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effectLst/>
                          <a:latin typeface="Verdana" charset="0"/>
                          <a:ea typeface="Yu Mincho" charset="-128"/>
                          <a:cs typeface="Cambria" charset="0"/>
                        </a:rPr>
                        <a:t>Twitter</a:t>
                      </a:r>
                      <a:endParaRPr lang="en-US" sz="1200">
                        <a:effectLst/>
                        <a:latin typeface="Cambria" charset="0"/>
                        <a:ea typeface="Yu Mincho" charset="-128"/>
                        <a:cs typeface="Cambria" charset="0"/>
                      </a:endParaRPr>
                    </a:p>
                  </a:txBody>
                  <a:tcPr marL="54541" marR="54541" marT="54541" marB="545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effectLst/>
                          <a:latin typeface="Verdana" charset="0"/>
                          <a:ea typeface="Yu Mincho" charset="-128"/>
                          <a:cs typeface="Cambria" charset="0"/>
                        </a:rPr>
                        <a:t>Total</a:t>
                      </a:r>
                      <a:endParaRPr lang="en-US" sz="1200" dirty="0">
                        <a:effectLst/>
                        <a:latin typeface="Cambria" charset="0"/>
                        <a:ea typeface="Yu Mincho" charset="-128"/>
                        <a:cs typeface="Cambria" charset="0"/>
                      </a:endParaRPr>
                    </a:p>
                  </a:txBody>
                  <a:tcPr marL="54541" marR="54541" marT="54541" marB="545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02138">
                <a:tc>
                  <a:txBody>
                    <a:bodyPr/>
                    <a:lstStyle/>
                    <a:p>
                      <a:pPr marL="0" marR="0" algn="ctr">
                        <a:spcBef>
                          <a:spcPts val="0"/>
                        </a:spcBef>
                        <a:spcAft>
                          <a:spcPts val="1000"/>
                        </a:spcAft>
                      </a:pPr>
                      <a:r>
                        <a:rPr lang="en-US" sz="2000" b="1">
                          <a:effectLst/>
                          <a:latin typeface="Verdana" charset="0"/>
                          <a:ea typeface="Yu Mincho" charset="-128"/>
                          <a:cs typeface="Cambria" charset="0"/>
                        </a:rPr>
                        <a:t>6</a:t>
                      </a:r>
                      <a:r>
                        <a:rPr lang="en-US" sz="2000" b="1" baseline="30000">
                          <a:effectLst/>
                          <a:latin typeface="Verdana" charset="0"/>
                          <a:ea typeface="Yu Mincho" charset="-128"/>
                          <a:cs typeface="Cambria" charset="0"/>
                        </a:rPr>
                        <a:t>th</a:t>
                      </a:r>
                      <a:endParaRPr lang="en-US" sz="1200">
                        <a:effectLst/>
                        <a:latin typeface="Cambria" charset="0"/>
                        <a:ea typeface="Yu Mincho" charset="-128"/>
                        <a:cs typeface="Cambria" charset="0"/>
                      </a:endParaRPr>
                    </a:p>
                  </a:txBody>
                  <a:tcPr marL="54541" marR="54541" marT="54541" marB="545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charset="0"/>
                          <a:ea typeface="Yu Mincho" charset="-128"/>
                          <a:cs typeface="Cambria" charset="0"/>
                        </a:rPr>
                        <a:t> </a:t>
                      </a:r>
                      <a:endParaRPr lang="en-US" sz="1200" dirty="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charset="0"/>
                          <a:ea typeface="Yu Mincho" charset="-128"/>
                          <a:cs typeface="Cambria" charset="0"/>
                        </a:rPr>
                        <a:t> </a:t>
                      </a:r>
                      <a:endParaRPr lang="en-US" sz="1200" dirty="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67777">
                <a:tc>
                  <a:txBody>
                    <a:bodyPr/>
                    <a:lstStyle/>
                    <a:p>
                      <a:pPr marL="0" marR="0" algn="ctr">
                        <a:spcBef>
                          <a:spcPts val="0"/>
                        </a:spcBef>
                        <a:spcAft>
                          <a:spcPts val="1000"/>
                        </a:spcAft>
                      </a:pPr>
                      <a:r>
                        <a:rPr lang="en-US" sz="2000" b="1">
                          <a:effectLst/>
                          <a:latin typeface="Verdana" charset="0"/>
                          <a:ea typeface="Yu Mincho" charset="-128"/>
                          <a:cs typeface="Cambria" charset="0"/>
                        </a:rPr>
                        <a:t>7</a:t>
                      </a:r>
                      <a:r>
                        <a:rPr lang="en-US" sz="2000" b="1" baseline="30000">
                          <a:effectLst/>
                          <a:latin typeface="Verdana" charset="0"/>
                          <a:ea typeface="Yu Mincho" charset="-128"/>
                          <a:cs typeface="Cambria" charset="0"/>
                        </a:rPr>
                        <a:t>th</a:t>
                      </a:r>
                      <a:endParaRPr lang="en-US" sz="1200">
                        <a:effectLst/>
                        <a:latin typeface="Cambria" charset="0"/>
                        <a:ea typeface="Yu Mincho" charset="-128"/>
                        <a:cs typeface="Cambria" charset="0"/>
                      </a:endParaRPr>
                    </a:p>
                  </a:txBody>
                  <a:tcPr marL="54541" marR="54541" marT="54541" marB="545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charset="0"/>
                          <a:ea typeface="Yu Mincho" charset="-128"/>
                          <a:cs typeface="Cambria" charset="0"/>
                        </a:rPr>
                        <a:t> </a:t>
                      </a:r>
                      <a:endParaRPr lang="en-US" sz="1200" dirty="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23598">
                <a:tc>
                  <a:txBody>
                    <a:bodyPr/>
                    <a:lstStyle/>
                    <a:p>
                      <a:pPr marL="0" marR="0" algn="ctr">
                        <a:spcBef>
                          <a:spcPts val="0"/>
                        </a:spcBef>
                        <a:spcAft>
                          <a:spcPts val="1000"/>
                        </a:spcAft>
                      </a:pPr>
                      <a:r>
                        <a:rPr lang="en-US" sz="2000" b="1">
                          <a:effectLst/>
                          <a:latin typeface="Verdana" charset="0"/>
                          <a:ea typeface="Yu Mincho" charset="-128"/>
                          <a:cs typeface="Cambria" charset="0"/>
                        </a:rPr>
                        <a:t>8</a:t>
                      </a:r>
                      <a:r>
                        <a:rPr lang="en-US" sz="2000" b="1" baseline="30000">
                          <a:effectLst/>
                          <a:latin typeface="Verdana" charset="0"/>
                          <a:ea typeface="Yu Mincho" charset="-128"/>
                          <a:cs typeface="Cambria" charset="0"/>
                        </a:rPr>
                        <a:t>th</a:t>
                      </a:r>
                      <a:endParaRPr lang="en-US" sz="1200">
                        <a:effectLst/>
                        <a:latin typeface="Cambria" charset="0"/>
                        <a:ea typeface="Yu Mincho" charset="-128"/>
                        <a:cs typeface="Cambria" charset="0"/>
                      </a:endParaRPr>
                    </a:p>
                  </a:txBody>
                  <a:tcPr marL="54541" marR="54541" marT="54541" marB="545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charset="0"/>
                          <a:ea typeface="Yu Mincho" charset="-128"/>
                          <a:cs typeface="Cambria" charset="0"/>
                        </a:rPr>
                        <a:t> </a:t>
                      </a:r>
                      <a:endParaRPr lang="en-US" sz="1200" dirty="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54309">
                <a:tc>
                  <a:txBody>
                    <a:bodyPr/>
                    <a:lstStyle/>
                    <a:p>
                      <a:pPr marL="0" marR="0" algn="ctr">
                        <a:spcBef>
                          <a:spcPts val="0"/>
                        </a:spcBef>
                        <a:spcAft>
                          <a:spcPts val="1000"/>
                        </a:spcAft>
                      </a:pPr>
                      <a:r>
                        <a:rPr lang="en-US" sz="2000" b="1">
                          <a:effectLst/>
                          <a:latin typeface="Verdana" charset="0"/>
                          <a:ea typeface="Yu Mincho" charset="-128"/>
                          <a:cs typeface="Cambria" charset="0"/>
                        </a:rPr>
                        <a:t>Total</a:t>
                      </a:r>
                      <a:endParaRPr lang="en-US" sz="1200">
                        <a:effectLst/>
                        <a:latin typeface="Cambria" charset="0"/>
                        <a:ea typeface="Yu Mincho" charset="-128"/>
                        <a:cs typeface="Cambria" charset="0"/>
                      </a:endParaRPr>
                    </a:p>
                  </a:txBody>
                  <a:tcPr marL="54541" marR="54541" marT="54541" marB="54541"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a:effectLst/>
                          <a:latin typeface="Verdana" charset="0"/>
                          <a:ea typeface="Yu Mincho" charset="-128"/>
                          <a:cs typeface="Cambria" charset="0"/>
                        </a:rPr>
                        <a:t> </a:t>
                      </a:r>
                      <a:endParaRPr lang="en-US" sz="120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1000"/>
                        </a:spcAft>
                      </a:pPr>
                      <a:r>
                        <a:rPr lang="en-US" sz="2000" dirty="0">
                          <a:effectLst/>
                          <a:latin typeface="Verdana" charset="0"/>
                          <a:ea typeface="Yu Mincho" charset="-128"/>
                          <a:cs typeface="Cambria" charset="0"/>
                        </a:rPr>
                        <a:t> </a:t>
                      </a:r>
                      <a:endParaRPr lang="en-US" sz="1200" dirty="0">
                        <a:effectLst/>
                        <a:latin typeface="Cambria" charset="0"/>
                        <a:ea typeface="Yu Mincho" charset="-128"/>
                        <a:cs typeface="Cambria" charset="0"/>
                      </a:endParaRPr>
                    </a:p>
                  </a:txBody>
                  <a:tcPr marL="54541" marR="54541" marT="54541" marB="5454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TextBox 2">
            <a:extLst>
              <a:ext uri="{FF2B5EF4-FFF2-40B4-BE49-F238E27FC236}">
                <a16:creationId xmlns:a16="http://schemas.microsoft.com/office/drawing/2014/main" id="{64B70A7F-926E-D84C-A9BA-ECD3CAE363EF}"/>
              </a:ext>
            </a:extLst>
          </p:cNvPr>
          <p:cNvSpPr txBox="1"/>
          <p:nvPr/>
        </p:nvSpPr>
        <p:spPr>
          <a:xfrm>
            <a:off x="2317047" y="1760526"/>
            <a:ext cx="6859570" cy="615553"/>
          </a:xfrm>
          <a:prstGeom prst="rect">
            <a:avLst/>
          </a:prstGeom>
          <a:noFill/>
        </p:spPr>
        <p:txBody>
          <a:bodyPr wrap="none" rtlCol="0">
            <a:spAutoFit/>
          </a:bodyPr>
          <a:lstStyle/>
          <a:p>
            <a:r>
              <a:rPr lang="en-US" sz="2000" b="1" dirty="0">
                <a:latin typeface="Verdana" charset="0"/>
                <a:ea typeface="Verdana" charset="0"/>
                <a:cs typeface="Verdana" charset="0"/>
              </a:rPr>
              <a:t>Dupont Middle School Social Media Preference</a:t>
            </a:r>
            <a:endParaRPr lang="en-US" sz="2000" dirty="0">
              <a:latin typeface="Verdana" charset="0"/>
              <a:ea typeface="Verdana" charset="0"/>
              <a:cs typeface="Verdana" charset="0"/>
            </a:endParaRPr>
          </a:p>
          <a:p>
            <a:endParaRPr lang="en-US" dirty="0"/>
          </a:p>
        </p:txBody>
      </p:sp>
      <p:sp>
        <p:nvSpPr>
          <p:cNvPr id="8" name="Google Shape;282;g104476d1465_1_17">
            <a:extLst>
              <a:ext uri="{FF2B5EF4-FFF2-40B4-BE49-F238E27FC236}">
                <a16:creationId xmlns:a16="http://schemas.microsoft.com/office/drawing/2014/main" id="{DBB4E015-5551-3C22-9198-1CCB600873E7}"/>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314</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8BEAC21F-1074-CE53-0E21-11ED76532CBA}"/>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85257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84599" y="520393"/>
            <a:ext cx="10290082" cy="1569660"/>
          </a:xfrm>
          <a:prstGeom prst="rect">
            <a:avLst/>
          </a:prstGeom>
          <a:noFill/>
        </p:spPr>
        <p:txBody>
          <a:bodyPr wrap="square" rtlCol="0">
            <a:spAutoFit/>
          </a:bodyPr>
          <a:lstStyle/>
          <a:p>
            <a:pPr marL="457200" indent="-457200">
              <a:buFont typeface="+mj-lt"/>
              <a:buAutoNum type="arabicPeriod" startAt="2"/>
            </a:pPr>
            <a:r>
              <a:rPr lang="en-US" sz="2400" dirty="0">
                <a:latin typeface="Verdana" charset="0"/>
                <a:ea typeface="Verdana" charset="0"/>
                <a:cs typeface="Verdana" charset="0"/>
              </a:rPr>
              <a:t>Austin studies birth weight and height as part of his research at Florida School of Traditional Midwifery in Gainesville, Florida. The following two-way table shows data from births in the month of June 2021 at UF Health </a:t>
            </a:r>
            <a:r>
              <a:rPr lang="en-US" sz="2400" dirty="0" err="1">
                <a:latin typeface="Verdana" charset="0"/>
                <a:ea typeface="Verdana" charset="0"/>
                <a:cs typeface="Verdana" charset="0"/>
              </a:rPr>
              <a:t>Shands</a:t>
            </a:r>
            <a:r>
              <a:rPr lang="en-US" sz="2400" dirty="0">
                <a:latin typeface="Verdana" charset="0"/>
                <a:ea typeface="Verdana" charset="0"/>
                <a:cs typeface="Verdana" charset="0"/>
              </a:rPr>
              <a:t> Hospital.</a:t>
            </a:r>
          </a:p>
        </p:txBody>
      </p:sp>
      <p:sp>
        <p:nvSpPr>
          <p:cNvPr id="6" name="Google Shape;278;g104476d1465_1_17">
            <a:extLst>
              <a:ext uri="{FF2B5EF4-FFF2-40B4-BE49-F238E27FC236}">
                <a16:creationId xmlns:a16="http://schemas.microsoft.com/office/drawing/2014/main" id="{FC9D7F98-E787-6F4D-92A1-6A0986979BF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2721329720"/>
                  </p:ext>
                </p:extLst>
              </p:nvPr>
            </p:nvGraphicFramePr>
            <p:xfrm>
              <a:off x="1585594" y="2994469"/>
              <a:ext cx="8327136" cy="3289549"/>
            </p:xfrm>
            <a:graphic>
              <a:graphicData uri="http://schemas.openxmlformats.org/drawingml/2006/table">
                <a:tbl>
                  <a:tblPr firstRow="1" firstCol="1" bandRow="1"/>
                  <a:tblGrid>
                    <a:gridCol w="2839606">
                      <a:extLst>
                        <a:ext uri="{9D8B030D-6E8A-4147-A177-3AD203B41FA5}">
                          <a16:colId xmlns:a16="http://schemas.microsoft.com/office/drawing/2014/main" val="20000"/>
                        </a:ext>
                      </a:extLst>
                    </a:gridCol>
                    <a:gridCol w="1461810">
                      <a:extLst>
                        <a:ext uri="{9D8B030D-6E8A-4147-A177-3AD203B41FA5}">
                          <a16:colId xmlns:a16="http://schemas.microsoft.com/office/drawing/2014/main" val="20001"/>
                        </a:ext>
                      </a:extLst>
                    </a:gridCol>
                    <a:gridCol w="1260181">
                      <a:extLst>
                        <a:ext uri="{9D8B030D-6E8A-4147-A177-3AD203B41FA5}">
                          <a16:colId xmlns:a16="http://schemas.microsoft.com/office/drawing/2014/main" val="20002"/>
                        </a:ext>
                      </a:extLst>
                    </a:gridCol>
                    <a:gridCol w="1411402">
                      <a:extLst>
                        <a:ext uri="{9D8B030D-6E8A-4147-A177-3AD203B41FA5}">
                          <a16:colId xmlns:a16="http://schemas.microsoft.com/office/drawing/2014/main" val="20003"/>
                        </a:ext>
                      </a:extLst>
                    </a:gridCol>
                    <a:gridCol w="1354137">
                      <a:extLst>
                        <a:ext uri="{9D8B030D-6E8A-4147-A177-3AD203B41FA5}">
                          <a16:colId xmlns:a16="http://schemas.microsoft.com/office/drawing/2014/main" val="20004"/>
                        </a:ext>
                      </a:extLst>
                    </a:gridCol>
                  </a:tblGrid>
                  <a:tr h="928048">
                    <a:tc>
                      <a:txBody>
                        <a:bodyPr/>
                        <a:lstStyle/>
                        <a:p>
                          <a:pPr marL="0" marR="34290" algn="ctr">
                            <a:spcBef>
                              <a:spcPts val="900"/>
                            </a:spcBef>
                            <a:spcAft>
                              <a:spcPts val="900"/>
                            </a:spcAft>
                          </a:pPr>
                          <a:r>
                            <a:rPr lang="en-US" sz="2000" b="1"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dirty="0">
                              <a:solidFill>
                                <a:srgbClr val="000000"/>
                              </a:solidFill>
                              <a:effectLst/>
                              <a:latin typeface="Verdana" charset="0"/>
                              <a:ea typeface="Verdana" charset="0"/>
                              <a:cs typeface="Verdana" charset="0"/>
                            </a:rPr>
                            <a:t>Less Than </a:t>
                          </a:r>
                          <a14:m>
                            <m:oMath xmlns:m="http://schemas.openxmlformats.org/officeDocument/2006/math">
                              <m:r>
                                <a:rPr lang="en-US" sz="2000" b="1" i="1" dirty="0" smtClean="0">
                                  <a:solidFill>
                                    <a:srgbClr val="000000"/>
                                  </a:solidFill>
                                  <a:effectLst/>
                                  <a:latin typeface="Cambria Math" panose="02040503050406030204" pitchFamily="18" charset="0"/>
                                  <a:ea typeface="Verdana" charset="0"/>
                                  <a:cs typeface="Verdana" charset="0"/>
                                </a:rPr>
                                <m:t>𝟓</m:t>
                              </m:r>
                            </m:oMath>
                          </a14:m>
                          <a:r>
                            <a:rPr lang="en-US" sz="2000" b="1" dirty="0">
                              <a:solidFill>
                                <a:srgbClr val="000000"/>
                              </a:solidFill>
                              <a:effectLst/>
                              <a:latin typeface="Verdana" charset="0"/>
                              <a:ea typeface="Verdana" charset="0"/>
                              <a:cs typeface="Verdana" charset="0"/>
                            </a:rPr>
                            <a:t> lbs. </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14:m>
                            <m:oMath xmlns:m="http://schemas.openxmlformats.org/officeDocument/2006/math">
                              <m:r>
                                <a:rPr lang="en-US" sz="2000" b="1" i="1" dirty="0" smtClean="0">
                                  <a:solidFill>
                                    <a:srgbClr val="000000"/>
                                  </a:solidFill>
                                  <a:effectLst/>
                                  <a:latin typeface="Cambria Math" panose="02040503050406030204" pitchFamily="18" charset="0"/>
                                  <a:ea typeface="Verdana" charset="0"/>
                                  <a:cs typeface="Verdana" charset="0"/>
                                </a:rPr>
                                <m:t>𝟓</m:t>
                              </m:r>
                              <m:r>
                                <a:rPr lang="en-US" sz="2000" b="1" i="1" dirty="0" smtClean="0">
                                  <a:solidFill>
                                    <a:srgbClr val="000000"/>
                                  </a:solidFill>
                                  <a:effectLst/>
                                  <a:latin typeface="Cambria Math" panose="02040503050406030204" pitchFamily="18" charset="0"/>
                                  <a:ea typeface="Verdana" charset="0"/>
                                  <a:cs typeface="Verdana" charset="0"/>
                                </a:rPr>
                                <m:t>−</m:t>
                              </m:r>
                              <m:r>
                                <a:rPr lang="en-US" sz="2000" b="1" i="1" dirty="0" smtClean="0">
                                  <a:solidFill>
                                    <a:srgbClr val="000000"/>
                                  </a:solidFill>
                                  <a:effectLst/>
                                  <a:latin typeface="Cambria Math" panose="02040503050406030204" pitchFamily="18" charset="0"/>
                                  <a:ea typeface="Verdana" charset="0"/>
                                  <a:cs typeface="Verdana" charset="0"/>
                                </a:rPr>
                                <m:t>𝟖</m:t>
                              </m:r>
                            </m:oMath>
                          </a14:m>
                          <a:r>
                            <a:rPr lang="en-US" sz="2000" b="1" dirty="0">
                              <a:solidFill>
                                <a:srgbClr val="000000"/>
                              </a:solidFill>
                              <a:effectLst/>
                              <a:latin typeface="Verdana" charset="0"/>
                              <a:ea typeface="Verdana" charset="0"/>
                              <a:cs typeface="Verdana" charset="0"/>
                            </a:rPr>
                            <a:t> lbs. </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dirty="0">
                              <a:solidFill>
                                <a:srgbClr val="000000"/>
                              </a:solidFill>
                              <a:effectLst/>
                              <a:latin typeface="Verdana" charset="0"/>
                              <a:ea typeface="Verdana" charset="0"/>
                              <a:cs typeface="Verdana" charset="0"/>
                            </a:rPr>
                            <a:t>More Than </a:t>
                          </a:r>
                          <a14:m>
                            <m:oMath xmlns:m="http://schemas.openxmlformats.org/officeDocument/2006/math">
                              <m:r>
                                <a:rPr lang="en-US" sz="2000" b="1" i="1" dirty="0" smtClean="0">
                                  <a:solidFill>
                                    <a:srgbClr val="000000"/>
                                  </a:solidFill>
                                  <a:effectLst/>
                                  <a:latin typeface="Cambria Math" panose="02040503050406030204" pitchFamily="18" charset="0"/>
                                  <a:ea typeface="Verdana" charset="0"/>
                                  <a:cs typeface="Verdana" charset="0"/>
                                </a:rPr>
                                <m:t>𝟖</m:t>
                              </m:r>
                            </m:oMath>
                          </a14:m>
                          <a:r>
                            <a:rPr lang="en-US" sz="2000" b="1" dirty="0">
                              <a:solidFill>
                                <a:srgbClr val="000000"/>
                              </a:solidFill>
                              <a:effectLst/>
                              <a:latin typeface="Verdana" charset="0"/>
                              <a:ea typeface="Verdana" charset="0"/>
                              <a:cs typeface="Verdana" charset="0"/>
                            </a:rPr>
                            <a:t> lbs.</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18699">
                    <a:tc>
                      <a:txBody>
                        <a:bodyPr/>
                        <a:lstStyle/>
                        <a:p>
                          <a:pPr marL="0" marR="36830" algn="ctr">
                            <a:spcBef>
                              <a:spcPts val="0"/>
                            </a:spcBef>
                            <a:spcAft>
                              <a:spcPts val="0"/>
                            </a:spcAft>
                          </a:pPr>
                          <a:r>
                            <a:rPr lang="en-US" sz="2000" b="1" dirty="0">
                              <a:solidFill>
                                <a:srgbClr val="000000"/>
                              </a:solidFill>
                              <a:effectLst/>
                              <a:latin typeface="Verdana" charset="0"/>
                              <a:ea typeface="Verdana" charset="0"/>
                              <a:cs typeface="Verdana" charset="0"/>
                            </a:rPr>
                            <a:t>Less Than </a:t>
                          </a:r>
                          <a:endParaRPr lang="en-US" sz="2000" dirty="0">
                            <a:effectLst/>
                            <a:latin typeface="Verdana" charset="0"/>
                            <a:ea typeface="Verdana" charset="0"/>
                            <a:cs typeface="Verdana" charset="0"/>
                          </a:endParaRPr>
                        </a:p>
                        <a:p>
                          <a:pPr marL="0" marR="36830" algn="ctr">
                            <a:spcBef>
                              <a:spcPts val="0"/>
                            </a:spcBef>
                            <a:spcAft>
                              <a:spcPts val="0"/>
                            </a:spcAft>
                          </a:pPr>
                          <a14:m>
                            <m:oMath xmlns:m="http://schemas.openxmlformats.org/officeDocument/2006/math">
                              <m:r>
                                <a:rPr lang="en-US" sz="2000" b="1" i="1" dirty="0" smtClean="0">
                                  <a:solidFill>
                                    <a:srgbClr val="000000"/>
                                  </a:solidFill>
                                  <a:effectLst/>
                                  <a:latin typeface="Cambria Math" panose="02040503050406030204" pitchFamily="18" charset="0"/>
                                  <a:ea typeface="Verdana" charset="0"/>
                                  <a:cs typeface="Verdana" charset="0"/>
                                </a:rPr>
                                <m:t>𝟏𝟔</m:t>
                              </m:r>
                            </m:oMath>
                          </a14:m>
                          <a:r>
                            <a:rPr lang="en-US" sz="2000" b="1" dirty="0">
                              <a:solidFill>
                                <a:srgbClr val="000000"/>
                              </a:solidFill>
                              <a:effectLst/>
                              <a:latin typeface="Verdana" charset="0"/>
                              <a:ea typeface="Verdana" charset="0"/>
                              <a:cs typeface="Verdana" charset="0"/>
                            </a:rPr>
                            <a:t> in.</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panose="02040503050406030204" pitchFamily="18" charset="0"/>
                                    <a:ea typeface="Verdana" charset="0"/>
                                    <a:cs typeface="Verdana" charset="0"/>
                                  </a:rPr>
                                  <m:t>21</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panose="02040503050406030204" pitchFamily="18" charset="0"/>
                                    <a:ea typeface="Verdana" charset="0"/>
                                    <a:cs typeface="Verdana" charset="0"/>
                                  </a:rPr>
                                  <m:t> </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panose="02040503050406030204" pitchFamily="18" charset="0"/>
                                    <a:ea typeface="Verdana" charset="0"/>
                                    <a:cs typeface="Verdana" charset="0"/>
                                  </a:rPr>
                                  <m:t>2</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panose="02040503050406030204" pitchFamily="18" charset="0"/>
                                    <a:ea typeface="Verdana" charset="0"/>
                                    <a:cs typeface="Verdana" charset="0"/>
                                  </a:rPr>
                                  <m:t>32</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80934">
                    <a:tc>
                      <a:txBody>
                        <a:bodyPr/>
                        <a:lstStyle/>
                        <a:p>
                          <a:pPr marL="0" marR="36830" algn="ctr">
                            <a:spcBef>
                              <a:spcPts val="0"/>
                            </a:spcBef>
                            <a:spcAft>
                              <a:spcPts val="0"/>
                            </a:spcAft>
                          </a:pPr>
                          <a14:m>
                            <m:oMath xmlns:m="http://schemas.openxmlformats.org/officeDocument/2006/math">
                              <m:r>
                                <a:rPr lang="en-US" sz="2000" b="1" i="1" dirty="0" smtClean="0">
                                  <a:solidFill>
                                    <a:srgbClr val="000000"/>
                                  </a:solidFill>
                                  <a:effectLst/>
                                  <a:latin typeface="Cambria Math" panose="02040503050406030204" pitchFamily="18" charset="0"/>
                                  <a:ea typeface="Verdana" charset="0"/>
                                  <a:cs typeface="Verdana" charset="0"/>
                                </a:rPr>
                                <m:t>𝟏𝟔</m:t>
                              </m:r>
                              <m:r>
                                <a:rPr lang="en-US" sz="2000" b="1" i="1" dirty="0" smtClean="0">
                                  <a:solidFill>
                                    <a:srgbClr val="000000"/>
                                  </a:solidFill>
                                  <a:effectLst/>
                                  <a:latin typeface="Cambria Math" panose="02040503050406030204" pitchFamily="18" charset="0"/>
                                  <a:ea typeface="Verdana" charset="0"/>
                                  <a:cs typeface="Verdana" charset="0"/>
                                </a:rPr>
                                <m:t>−</m:t>
                              </m:r>
                              <m:r>
                                <a:rPr lang="en-US" sz="2000" b="1" i="1" dirty="0" smtClean="0">
                                  <a:solidFill>
                                    <a:srgbClr val="000000"/>
                                  </a:solidFill>
                                  <a:effectLst/>
                                  <a:latin typeface="Cambria Math" panose="02040503050406030204" pitchFamily="18" charset="0"/>
                                  <a:ea typeface="Verdana" charset="0"/>
                                  <a:cs typeface="Verdana" charset="0"/>
                                </a:rPr>
                                <m:t>𝟐𝟎</m:t>
                              </m:r>
                            </m:oMath>
                          </a14:m>
                          <a:r>
                            <a:rPr lang="en-US" sz="2000" b="1" dirty="0">
                              <a:solidFill>
                                <a:srgbClr val="000000"/>
                              </a:solidFill>
                              <a:effectLst/>
                              <a:latin typeface="Verdana" charset="0"/>
                              <a:ea typeface="Verdana" charset="0"/>
                              <a:cs typeface="Verdana" charset="0"/>
                            </a:rPr>
                            <a:t> in.</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panose="02040503050406030204" pitchFamily="18" charset="0"/>
                                    <a:ea typeface="Verdana" charset="0"/>
                                    <a:cs typeface="Verdana" charset="0"/>
                                  </a:rPr>
                                  <m:t>14</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panose="02040503050406030204" pitchFamily="18" charset="0"/>
                                    <a:ea typeface="Verdana" charset="0"/>
                                    <a:cs typeface="Verdana" charset="0"/>
                                  </a:rPr>
                                  <m:t>97</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panose="02040503050406030204" pitchFamily="18" charset="0"/>
                                    <a:ea typeface="Verdana" charset="0"/>
                                    <a:cs typeface="Verdana" charset="0"/>
                                  </a:rPr>
                                  <m:t>68</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panose="02040503050406030204" pitchFamily="18" charset="0"/>
                                    <a:ea typeface="Verdana" charset="0"/>
                                    <a:cs typeface="Verdana" charset="0"/>
                                  </a:rPr>
                                  <m:t> </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80934">
                    <a:tc>
                      <a:txBody>
                        <a:bodyPr/>
                        <a:lstStyle/>
                        <a:p>
                          <a:pPr marL="0" marR="36830" algn="ctr">
                            <a:spcBef>
                              <a:spcPts val="0"/>
                            </a:spcBef>
                            <a:spcAft>
                              <a:spcPts val="0"/>
                            </a:spcAft>
                          </a:pPr>
                          <a:r>
                            <a:rPr lang="en-US" sz="2000" b="1" dirty="0">
                              <a:solidFill>
                                <a:srgbClr val="000000"/>
                              </a:solidFill>
                              <a:effectLst/>
                              <a:latin typeface="Verdana" charset="0"/>
                              <a:ea typeface="Verdana" charset="0"/>
                              <a:cs typeface="Verdana" charset="0"/>
                            </a:rPr>
                            <a:t>More Than </a:t>
                          </a:r>
                          <a14:m>
                            <m:oMath xmlns:m="http://schemas.openxmlformats.org/officeDocument/2006/math">
                              <m:r>
                                <a:rPr lang="en-US" sz="2000" b="1" i="1" dirty="0" smtClean="0">
                                  <a:solidFill>
                                    <a:srgbClr val="000000"/>
                                  </a:solidFill>
                                  <a:effectLst/>
                                  <a:latin typeface="Cambria Math" panose="02040503050406030204" pitchFamily="18" charset="0"/>
                                  <a:ea typeface="Verdana" charset="0"/>
                                  <a:cs typeface="Verdana" charset="0"/>
                                </a:rPr>
                                <m:t>𝟐𝟎</m:t>
                              </m:r>
                            </m:oMath>
                          </a14:m>
                          <a:r>
                            <a:rPr lang="en-US" sz="2000" b="1" dirty="0">
                              <a:solidFill>
                                <a:srgbClr val="000000"/>
                              </a:solidFill>
                              <a:effectLst/>
                              <a:latin typeface="Verdana" charset="0"/>
                              <a:ea typeface="Verdana" charset="0"/>
                              <a:cs typeface="Verdana" charset="0"/>
                            </a:rPr>
                            <a:t> in.</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panose="02040503050406030204" pitchFamily="18" charset="0"/>
                                    <a:ea typeface="Verdana" charset="0"/>
                                    <a:cs typeface="Verdana" charset="0"/>
                                  </a:rPr>
                                  <m:t>0</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panose="02040503050406030204" pitchFamily="18" charset="0"/>
                                    <a:ea typeface="Verdana" charset="0"/>
                                    <a:cs typeface="Verdana" charset="0"/>
                                  </a:rPr>
                                  <m:t>8</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panose="02040503050406030204" pitchFamily="18" charset="0"/>
                                    <a:ea typeface="Verdana" charset="0"/>
                                    <a:cs typeface="Verdana" charset="0"/>
                                  </a:rPr>
                                  <m:t> </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panose="02040503050406030204" pitchFamily="18" charset="0"/>
                                    <a:ea typeface="Verdana" charset="0"/>
                                    <a:cs typeface="Verdana" charset="0"/>
                                  </a:rPr>
                                  <m:t> </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80934">
                    <a:tc>
                      <a:txBody>
                        <a:bodyPr/>
                        <a:lstStyle/>
                        <a:p>
                          <a:pPr marL="0" marR="36830" algn="ctr">
                            <a:spcBef>
                              <a:spcPts val="0"/>
                            </a:spcBef>
                            <a:spcAft>
                              <a:spcPts val="0"/>
                            </a:spcAft>
                          </a:pPr>
                          <a:r>
                            <a:rPr lang="en-US" sz="2000" b="1">
                              <a:solidFill>
                                <a:srgbClr val="000000"/>
                              </a:solidFill>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solidFill>
                                      <a:srgbClr val="000000"/>
                                    </a:solidFill>
                                    <a:effectLst/>
                                    <a:latin typeface="Cambria Math" panose="02040503050406030204" pitchFamily="18" charset="0"/>
                                    <a:ea typeface="Verdana" charset="0"/>
                                    <a:cs typeface="Verdana" charset="0"/>
                                  </a:rPr>
                                  <m:t> </m:t>
                                </m:r>
                              </m:oMath>
                            </m:oMathPara>
                          </a14:m>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panose="02040503050406030204" pitchFamily="18" charset="0"/>
                                    <a:ea typeface="Verdana" charset="0"/>
                                    <a:cs typeface="Verdana" charset="0"/>
                                  </a:rPr>
                                  <m:t> </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panose="02040503050406030204" pitchFamily="18" charset="0"/>
                                    <a:ea typeface="Verdana" charset="0"/>
                                    <a:cs typeface="Verdana" charset="0"/>
                                  </a:rPr>
                                  <m:t>101</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683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solidFill>
                                      <a:srgbClr val="000000"/>
                                    </a:solidFill>
                                    <a:effectLst/>
                                    <a:latin typeface="Cambria Math" panose="02040503050406030204" pitchFamily="18" charset="0"/>
                                    <a:ea typeface="Verdana" charset="0"/>
                                    <a:cs typeface="Verdana" charset="0"/>
                                  </a:rPr>
                                  <m:t> </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2721329720"/>
                  </p:ext>
                </p:extLst>
              </p:nvPr>
            </p:nvGraphicFramePr>
            <p:xfrm>
              <a:off x="1585594" y="2994469"/>
              <a:ext cx="8327136" cy="3289549"/>
            </p:xfrm>
            <a:graphic>
              <a:graphicData uri="http://schemas.openxmlformats.org/drawingml/2006/table">
                <a:tbl>
                  <a:tblPr firstRow="1" firstCol="1" bandRow="1"/>
                  <a:tblGrid>
                    <a:gridCol w="2839606">
                      <a:extLst>
                        <a:ext uri="{9D8B030D-6E8A-4147-A177-3AD203B41FA5}">
                          <a16:colId xmlns:a16="http://schemas.microsoft.com/office/drawing/2014/main" val="20000"/>
                        </a:ext>
                      </a:extLst>
                    </a:gridCol>
                    <a:gridCol w="1461810">
                      <a:extLst>
                        <a:ext uri="{9D8B030D-6E8A-4147-A177-3AD203B41FA5}">
                          <a16:colId xmlns:a16="http://schemas.microsoft.com/office/drawing/2014/main" val="20001"/>
                        </a:ext>
                      </a:extLst>
                    </a:gridCol>
                    <a:gridCol w="1260181">
                      <a:extLst>
                        <a:ext uri="{9D8B030D-6E8A-4147-A177-3AD203B41FA5}">
                          <a16:colId xmlns:a16="http://schemas.microsoft.com/office/drawing/2014/main" val="20002"/>
                        </a:ext>
                      </a:extLst>
                    </a:gridCol>
                    <a:gridCol w="1411402">
                      <a:extLst>
                        <a:ext uri="{9D8B030D-6E8A-4147-A177-3AD203B41FA5}">
                          <a16:colId xmlns:a16="http://schemas.microsoft.com/office/drawing/2014/main" val="20003"/>
                        </a:ext>
                      </a:extLst>
                    </a:gridCol>
                    <a:gridCol w="1354137">
                      <a:extLst>
                        <a:ext uri="{9D8B030D-6E8A-4147-A177-3AD203B41FA5}">
                          <a16:colId xmlns:a16="http://schemas.microsoft.com/office/drawing/2014/main" val="20004"/>
                        </a:ext>
                      </a:extLst>
                    </a:gridCol>
                  </a:tblGrid>
                  <a:tr h="928048">
                    <a:tc>
                      <a:txBody>
                        <a:bodyPr/>
                        <a:lstStyle/>
                        <a:p>
                          <a:pPr marL="0" marR="34290" algn="ctr">
                            <a:spcBef>
                              <a:spcPts val="900"/>
                            </a:spcBef>
                            <a:spcAft>
                              <a:spcPts val="900"/>
                            </a:spcAft>
                          </a:pPr>
                          <a:r>
                            <a:rPr lang="en-US" sz="2000" b="1"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94583" t="-8553" r="-276250" b="-259211"/>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1546" t="-8553" r="-220290" b="-259211"/>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93966" t="-8553" r="-96552" b="-259211"/>
                          </a:stretch>
                        </a:blipFill>
                      </a:tcPr>
                    </a:tc>
                    <a:tc>
                      <a:txBody>
                        <a:bodyPr/>
                        <a:lstStyle/>
                        <a:p>
                          <a:pPr marL="0" marR="34290" algn="ctr">
                            <a:spcBef>
                              <a:spcPts val="900"/>
                            </a:spcBef>
                            <a:spcAft>
                              <a:spcPts val="900"/>
                            </a:spcAft>
                          </a:pPr>
                          <a:r>
                            <a:rPr lang="en-US" sz="2000" b="1">
                              <a:solidFill>
                                <a:srgbClr val="000000"/>
                              </a:solidFill>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18699">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15" t="-161765" r="-193777" b="-28627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94583" t="-161765" r="-276250" b="-28627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1546" t="-161765" r="-220290" b="-28627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93966" t="-161765" r="-96552" b="-28627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16216" t="-161765" r="-901" b="-286275"/>
                          </a:stretch>
                        </a:blipFill>
                      </a:tcPr>
                    </a:tc>
                    <a:extLst>
                      <a:ext uri="{0D108BD9-81ED-4DB2-BD59-A6C34878D82A}">
                        <a16:rowId xmlns:a16="http://schemas.microsoft.com/office/drawing/2014/main" val="10001"/>
                      </a:ext>
                    </a:extLst>
                  </a:tr>
                  <a:tr h="580934">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15" t="-281053" r="-193777" b="-20736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94583" t="-281053" r="-276250" b="-20736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1546" t="-281053" r="-220290" b="-20736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93966" t="-281053" r="-96552" b="-20736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16216" t="-281053" r="-901" b="-207368"/>
                          </a:stretch>
                        </a:blipFill>
                      </a:tcPr>
                    </a:tc>
                    <a:extLst>
                      <a:ext uri="{0D108BD9-81ED-4DB2-BD59-A6C34878D82A}">
                        <a16:rowId xmlns:a16="http://schemas.microsoft.com/office/drawing/2014/main" val="10002"/>
                      </a:ext>
                    </a:extLst>
                  </a:tr>
                  <a:tr h="580934">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215" t="-377083" r="-193777" b="-10520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94583" t="-377083" r="-276250" b="-10520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1546" t="-377083" r="-220290" b="-10520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93966" t="-377083" r="-96552" b="-10520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16216" t="-377083" r="-901" b="-105208"/>
                          </a:stretch>
                        </a:blipFill>
                      </a:tcPr>
                    </a:tc>
                    <a:extLst>
                      <a:ext uri="{0D108BD9-81ED-4DB2-BD59-A6C34878D82A}">
                        <a16:rowId xmlns:a16="http://schemas.microsoft.com/office/drawing/2014/main" val="10003"/>
                      </a:ext>
                    </a:extLst>
                  </a:tr>
                  <a:tr h="580934">
                    <a:tc>
                      <a:txBody>
                        <a:bodyPr/>
                        <a:lstStyle/>
                        <a:p>
                          <a:pPr marL="0" marR="36830" algn="ctr">
                            <a:spcBef>
                              <a:spcPts val="0"/>
                            </a:spcBef>
                            <a:spcAft>
                              <a:spcPts val="0"/>
                            </a:spcAft>
                          </a:pPr>
                          <a:r>
                            <a:rPr lang="en-US" sz="2000" b="1">
                              <a:solidFill>
                                <a:srgbClr val="000000"/>
                              </a:solidFill>
                              <a:effectLst/>
                              <a:latin typeface="Verdana" charset="0"/>
                              <a:ea typeface="Verdana" charset="0"/>
                              <a:cs typeface="Verdana" charset="0"/>
                            </a:rPr>
                            <a:t>Total</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194583" t="-482105" r="-276250" b="-6316"/>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41546" t="-482105" r="-220290" b="-6316"/>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393966" t="-482105" r="-96552" b="-6316"/>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3"/>
                          <a:stretch>
                            <a:fillRect l="-516216" t="-482105" r="-901" b="-6316"/>
                          </a:stretch>
                        </a:blipFill>
                      </a:tcPr>
                    </a:tc>
                    <a:extLst>
                      <a:ext uri="{0D108BD9-81ED-4DB2-BD59-A6C34878D82A}">
                        <a16:rowId xmlns:a16="http://schemas.microsoft.com/office/drawing/2014/main" val="10004"/>
                      </a:ext>
                    </a:extLst>
                  </a:tr>
                </a:tbl>
              </a:graphicData>
            </a:graphic>
          </p:graphicFrame>
        </mc:Fallback>
      </mc:AlternateContent>
      <p:sp>
        <p:nvSpPr>
          <p:cNvPr id="3" name="TextBox 2">
            <a:extLst>
              <a:ext uri="{FF2B5EF4-FFF2-40B4-BE49-F238E27FC236}">
                <a16:creationId xmlns:a16="http://schemas.microsoft.com/office/drawing/2014/main" id="{4AE2C2F6-0A8B-5545-BE66-34757204271F}"/>
              </a:ext>
            </a:extLst>
          </p:cNvPr>
          <p:cNvSpPr txBox="1"/>
          <p:nvPr/>
        </p:nvSpPr>
        <p:spPr>
          <a:xfrm>
            <a:off x="1846501" y="2378916"/>
            <a:ext cx="7596951" cy="615553"/>
          </a:xfrm>
          <a:prstGeom prst="rect">
            <a:avLst/>
          </a:prstGeom>
          <a:noFill/>
        </p:spPr>
        <p:txBody>
          <a:bodyPr wrap="none" rtlCol="0">
            <a:spAutoFit/>
          </a:bodyPr>
          <a:lstStyle/>
          <a:p>
            <a:r>
              <a:rPr lang="en-US" sz="2000" b="1" dirty="0">
                <a:latin typeface="Verdana" charset="0"/>
                <a:ea typeface="Verdana" charset="0"/>
                <a:cs typeface="Verdana" charset="0"/>
              </a:rPr>
              <a:t>Births from UF Health </a:t>
            </a:r>
            <a:r>
              <a:rPr lang="en-US" sz="2000" b="1" dirty="0" err="1">
                <a:latin typeface="Verdana" charset="0"/>
                <a:ea typeface="Verdana" charset="0"/>
                <a:cs typeface="Verdana" charset="0"/>
              </a:rPr>
              <a:t>Shands</a:t>
            </a:r>
            <a:r>
              <a:rPr lang="en-US" sz="2000" b="1" dirty="0">
                <a:latin typeface="Verdana" charset="0"/>
                <a:ea typeface="Verdana" charset="0"/>
                <a:cs typeface="Verdana" charset="0"/>
              </a:rPr>
              <a:t> Hospital (June 2021)</a:t>
            </a:r>
            <a:endParaRPr lang="en-US" sz="2000" dirty="0">
              <a:latin typeface="Verdana" charset="0"/>
              <a:ea typeface="Verdana" charset="0"/>
              <a:cs typeface="Verdana" charset="0"/>
            </a:endParaRPr>
          </a:p>
          <a:p>
            <a:endParaRPr lang="en-US" dirty="0"/>
          </a:p>
        </p:txBody>
      </p:sp>
      <p:sp>
        <p:nvSpPr>
          <p:cNvPr id="8" name="Google Shape;282;g104476d1465_1_17">
            <a:extLst>
              <a:ext uri="{FF2B5EF4-FFF2-40B4-BE49-F238E27FC236}">
                <a16:creationId xmlns:a16="http://schemas.microsoft.com/office/drawing/2014/main" id="{47C89F10-B06D-DD46-CBD7-656DE70F1E32}"/>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315</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CEB3BCD0-C042-D6EF-EB00-66CC37D3D2A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02565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855022" y="520394"/>
                <a:ext cx="10295907" cy="4893647"/>
              </a:xfrm>
              <a:prstGeom prst="rect">
                <a:avLst/>
              </a:prstGeom>
              <a:noFill/>
            </p:spPr>
            <p:txBody>
              <a:bodyPr wrap="square" rtlCol="0">
                <a:spAutoFit/>
              </a:bodyPr>
              <a:lstStyle/>
              <a:p>
                <a:pPr marL="463550"/>
                <a:r>
                  <a:rPr lang="en-US" sz="2400" dirty="0">
                    <a:latin typeface="Verdana" charset="0"/>
                    <a:ea typeface="Verdana" charset="0"/>
                    <a:cs typeface="Verdana" charset="0"/>
                  </a:rPr>
                  <a:t>Use the table to answer the following questions and prompts.</a:t>
                </a:r>
              </a:p>
              <a:p>
                <a:pPr marL="457200" indent="-457200">
                  <a:buFont typeface="+mj-lt"/>
                  <a:buAutoNum type="alphaLcPeriod"/>
                </a:pPr>
                <a:endParaRPr lang="en-US" sz="2400" dirty="0">
                  <a:latin typeface="Verdana" charset="0"/>
                  <a:ea typeface="Verdana" charset="0"/>
                  <a:cs typeface="Verdana" charset="0"/>
                </a:endParaRPr>
              </a:p>
              <a:p>
                <a:pPr marL="914400" indent="-450850">
                  <a:buFont typeface="+mj-lt"/>
                  <a:buAutoNum type="alphaLcPeriod"/>
                </a:pPr>
                <a:r>
                  <a:rPr lang="en-US" sz="2400" dirty="0">
                    <a:latin typeface="Verdana" charset="0"/>
                    <a:ea typeface="Verdana" charset="0"/>
                    <a:cs typeface="Verdana" charset="0"/>
                  </a:rPr>
                  <a:t>Circle the smallest marginal frequency in the table. </a:t>
                </a:r>
                <a:br>
                  <a:rPr lang="en-US" sz="2400" dirty="0">
                    <a:latin typeface="Verdana" charset="0"/>
                    <a:ea typeface="Verdana" charset="0"/>
                    <a:cs typeface="Verdana" charset="0"/>
                  </a:rPr>
                </a:br>
                <a:endParaRPr lang="en-US" sz="2400" dirty="0">
                  <a:latin typeface="Verdana" charset="0"/>
                  <a:ea typeface="Verdana" charset="0"/>
                  <a:cs typeface="Verdana" charset="0"/>
                </a:endParaRPr>
              </a:p>
              <a:p>
                <a:pPr marL="914400" indent="-450850"/>
                <a:endParaRPr lang="en-US" sz="2400" dirty="0">
                  <a:latin typeface="Verdana" charset="0"/>
                  <a:ea typeface="Verdana" charset="0"/>
                  <a:cs typeface="Verdana" charset="0"/>
                </a:endParaRPr>
              </a:p>
              <a:p>
                <a:pPr marL="914400" indent="-450850">
                  <a:buFont typeface="+mj-lt"/>
                  <a:buAutoNum type="alphaLcPeriod" startAt="2"/>
                </a:pPr>
                <a:r>
                  <a:rPr lang="en-US" sz="2400" dirty="0">
                    <a:latin typeface="Verdana" charset="0"/>
                    <a:ea typeface="Verdana" charset="0"/>
                    <a:cs typeface="Verdana" charset="0"/>
                  </a:rPr>
                  <a:t>Underline the largest joint frequency in the table. </a:t>
                </a:r>
                <a:br>
                  <a:rPr lang="en-US" sz="2400" dirty="0">
                    <a:latin typeface="Verdana" charset="0"/>
                    <a:ea typeface="Verdana" charset="0"/>
                    <a:cs typeface="Verdana" charset="0"/>
                  </a:rPr>
                </a:br>
                <a:endParaRPr lang="en-US" sz="2400" dirty="0">
                  <a:latin typeface="Verdana" charset="0"/>
                  <a:ea typeface="Verdana" charset="0"/>
                  <a:cs typeface="Verdana" charset="0"/>
                </a:endParaRPr>
              </a:p>
              <a:p>
                <a:pPr marL="914400" indent="-450850">
                  <a:buFont typeface="+mj-lt"/>
                  <a:buAutoNum type="alphaLcPeriod" startAt="2"/>
                </a:pPr>
                <a:endParaRPr lang="en-US" sz="2400" dirty="0">
                  <a:latin typeface="Verdana" charset="0"/>
                  <a:ea typeface="Verdana" charset="0"/>
                  <a:cs typeface="Verdana" charset="0"/>
                </a:endParaRPr>
              </a:p>
              <a:p>
                <a:pPr marL="914400" indent="-450850">
                  <a:buFont typeface="+mj-lt"/>
                  <a:buAutoNum type="alphaLcPeriod" startAt="2"/>
                </a:pPr>
                <a:r>
                  <a:rPr lang="en-US" sz="2400" dirty="0">
                    <a:latin typeface="Verdana" charset="0"/>
                    <a:ea typeface="Verdana" charset="0"/>
                    <a:cs typeface="Verdana" charset="0"/>
                  </a:rPr>
                  <a:t>Describe what the value </a:t>
                </a:r>
                <a14:m>
                  <m:oMath xmlns:m="http://schemas.openxmlformats.org/officeDocument/2006/math">
                    <m:r>
                      <a:rPr lang="en-US" sz="2400" i="1">
                        <a:latin typeface="Cambria Math" panose="02040503050406030204" pitchFamily="18" charset="0"/>
                        <a:ea typeface="Verdana" charset="0"/>
                        <a:cs typeface="Verdana" charset="0"/>
                      </a:rPr>
                      <m:t>14</m:t>
                    </m:r>
                  </m:oMath>
                </a14:m>
                <a:r>
                  <a:rPr lang="en-US" sz="2400" dirty="0">
                    <a:latin typeface="Verdana" charset="0"/>
                    <a:ea typeface="Verdana" charset="0"/>
                    <a:cs typeface="Verdana" charset="0"/>
                  </a:rPr>
                  <a:t> means in context of the data. </a:t>
                </a:r>
                <a:br>
                  <a:rPr lang="en-US" sz="2400" dirty="0">
                    <a:latin typeface="Verdana" charset="0"/>
                    <a:ea typeface="Verdana" charset="0"/>
                    <a:cs typeface="Verdana" charset="0"/>
                  </a:rPr>
                </a:br>
                <a:br>
                  <a:rPr lang="en-US" sz="2400" dirty="0">
                    <a:latin typeface="Verdana" charset="0"/>
                    <a:ea typeface="Verdana" charset="0"/>
                    <a:cs typeface="Verdana" charset="0"/>
                  </a:rPr>
                </a:br>
                <a:endParaRPr lang="en-US" sz="2400" dirty="0">
                  <a:latin typeface="Verdana" charset="0"/>
                  <a:ea typeface="Verdana" charset="0"/>
                  <a:cs typeface="Verdana" charset="0"/>
                </a:endParaRPr>
              </a:p>
              <a:p>
                <a:pPr marL="914400" indent="-450850">
                  <a:buFont typeface="+mj-lt"/>
                  <a:buAutoNum type="alphaLcPeriod" startAt="2"/>
                </a:pPr>
                <a:endParaRPr lang="en-US" sz="2400" dirty="0">
                  <a:latin typeface="Verdana" charset="0"/>
                  <a:ea typeface="Verdana" charset="0"/>
                  <a:cs typeface="Verdana" charset="0"/>
                </a:endParaRPr>
              </a:p>
              <a:p>
                <a:pPr marL="914400" indent="-450850">
                  <a:buFont typeface="+mj-lt"/>
                  <a:buAutoNum type="alphaLcPeriod" startAt="2"/>
                </a:pPr>
                <a:r>
                  <a:rPr lang="en-US" sz="2400" dirty="0">
                    <a:latin typeface="Verdana" charset="0"/>
                    <a:ea typeface="Verdana" charset="0"/>
                    <a:cs typeface="Verdana" charset="0"/>
                  </a:rPr>
                  <a:t>Describe what the value </a:t>
                </a:r>
                <a14:m>
                  <m:oMath xmlns:m="http://schemas.openxmlformats.org/officeDocument/2006/math">
                    <m:r>
                      <a:rPr lang="en-US" sz="2400" i="1">
                        <a:latin typeface="Cambria Math" panose="02040503050406030204" pitchFamily="18" charset="0"/>
                        <a:ea typeface="Verdana" charset="0"/>
                        <a:cs typeface="Verdana" charset="0"/>
                      </a:rPr>
                      <m:t>101</m:t>
                    </m:r>
                  </m:oMath>
                </a14:m>
                <a:r>
                  <a:rPr lang="en-US" sz="2400" dirty="0">
                    <a:latin typeface="Verdana" charset="0"/>
                    <a:ea typeface="Verdana" charset="0"/>
                    <a:cs typeface="Verdana" charset="0"/>
                  </a:rPr>
                  <a:t> means in context of the data. </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855022" y="520394"/>
                <a:ext cx="10295907" cy="4893647"/>
              </a:xfrm>
              <a:prstGeom prst="rect">
                <a:avLst/>
              </a:prstGeom>
              <a:blipFill>
                <a:blip r:embed="rId3"/>
                <a:stretch>
                  <a:fillRect t="-996" b="-174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FC9D7F98-E787-6F4D-92A1-6A0986979BF3}"/>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36586C1F-0B55-75CE-2AB2-51854E8E11CD}"/>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315</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D5C45810-FF34-BCA9-8903-26C425D5C640}"/>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96755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5925"/>
            <a:ext cx="2731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26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2905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299E71BE-AEFC-BC73-C87B-D8D85186D8AD}"/>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315</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8753"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22696" y="60325"/>
            <a:ext cx="10463954" cy="118280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14.2.5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534780" y="15324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908429" y="1279409"/>
            <a:ext cx="10254376" cy="5170646"/>
          </a:xfrm>
          <a:prstGeom prst="rect">
            <a:avLst/>
          </a:prstGeom>
          <a:noFill/>
        </p:spPr>
        <p:txBody>
          <a:bodyPr wrap="square" rtlCol="0">
            <a:spAutoFit/>
          </a:bodyPr>
          <a:lstStyle/>
          <a:p>
            <a:r>
              <a:rPr lang="en-US" sz="2200" dirty="0">
                <a:latin typeface="Verdana" charset="0"/>
                <a:ea typeface="Verdana" charset="0"/>
                <a:cs typeface="Verdana" charset="0"/>
              </a:rPr>
              <a:t>Use the two-way table showing students’ field trip preferences to answer the questions. </a:t>
            </a:r>
          </a:p>
          <a:p>
            <a:endParaRPr lang="en-US" sz="2200" dirty="0">
              <a:latin typeface="Verdana" charset="0"/>
              <a:ea typeface="Verdana" charset="0"/>
              <a:cs typeface="Verdana" charset="0"/>
            </a:endParaRPr>
          </a:p>
          <a:p>
            <a:endParaRPr lang="en-US" sz="2200" dirty="0">
              <a:latin typeface="Verdana" charset="0"/>
              <a:ea typeface="Verdana" charset="0"/>
              <a:cs typeface="Verdana" charset="0"/>
            </a:endParaRPr>
          </a:p>
          <a:p>
            <a:endParaRPr lang="en-US" sz="2200" dirty="0">
              <a:latin typeface="Verdana" charset="0"/>
              <a:ea typeface="Verdana" charset="0"/>
              <a:cs typeface="Verdana" charset="0"/>
            </a:endParaRPr>
          </a:p>
          <a:p>
            <a:endParaRPr lang="en-US" sz="2200" dirty="0">
              <a:latin typeface="Verdana" charset="0"/>
              <a:ea typeface="Verdana" charset="0"/>
              <a:cs typeface="Verdana" charset="0"/>
            </a:endParaRPr>
          </a:p>
          <a:p>
            <a:endParaRPr lang="en-US" sz="2200" dirty="0">
              <a:latin typeface="Verdana" charset="0"/>
              <a:ea typeface="Verdana" charset="0"/>
              <a:cs typeface="Verdana" charset="0"/>
            </a:endParaRPr>
          </a:p>
          <a:p>
            <a:endParaRPr lang="en-US" sz="2200" dirty="0">
              <a:latin typeface="Verdana" charset="0"/>
              <a:ea typeface="Verdana" charset="0"/>
              <a:cs typeface="Verdana" charset="0"/>
            </a:endParaRPr>
          </a:p>
          <a:p>
            <a:endParaRPr lang="en-US" sz="2200" dirty="0">
              <a:latin typeface="Verdana" charset="0"/>
              <a:ea typeface="Verdana" charset="0"/>
              <a:cs typeface="Verdana" charset="0"/>
            </a:endParaRPr>
          </a:p>
          <a:p>
            <a:endParaRPr lang="en-US" sz="2200" dirty="0">
              <a:latin typeface="Verdana" charset="0"/>
              <a:ea typeface="Verdana" charset="0"/>
              <a:cs typeface="Verdana" charset="0"/>
            </a:endParaRPr>
          </a:p>
          <a:p>
            <a:endParaRPr lang="en-US" sz="2200" dirty="0">
              <a:latin typeface="Verdana" charset="0"/>
              <a:ea typeface="Verdana" charset="0"/>
              <a:cs typeface="Verdana" charset="0"/>
            </a:endParaRPr>
          </a:p>
          <a:p>
            <a:pPr marL="457200" indent="-457200">
              <a:buFont typeface="+mj-lt"/>
              <a:buAutoNum type="arabicPeriod"/>
            </a:pPr>
            <a:r>
              <a:rPr lang="en-US" sz="2200" dirty="0">
                <a:latin typeface="Verdana" charset="0"/>
                <a:ea typeface="Verdana" charset="0"/>
                <a:cs typeface="Verdana" charset="0"/>
              </a:rPr>
              <a:t>Underline the smallest joint frequency.</a:t>
            </a:r>
          </a:p>
          <a:p>
            <a:endParaRPr lang="en-US" sz="2200" dirty="0">
              <a:latin typeface="Verdana" charset="0"/>
              <a:ea typeface="Verdana" charset="0"/>
              <a:cs typeface="Verdana" charset="0"/>
            </a:endParaRPr>
          </a:p>
          <a:p>
            <a:pPr marL="457200" indent="-457200">
              <a:buFont typeface="+mj-lt"/>
              <a:buAutoNum type="arabicPeriod" startAt="2"/>
            </a:pPr>
            <a:r>
              <a:rPr lang="en-US" sz="2200" dirty="0">
                <a:latin typeface="Verdana" charset="0"/>
                <a:ea typeface="Verdana" charset="0"/>
                <a:cs typeface="Verdana" charset="0"/>
              </a:rPr>
              <a:t>Explain what the smallest joint frequency represents in terms of students’ field trip preferences. </a:t>
            </a:r>
          </a:p>
        </p:txBody>
      </p:sp>
      <p:sp>
        <p:nvSpPr>
          <p:cNvPr id="8" name="Google Shape;278;g104476d1465_1_17">
            <a:extLst>
              <a:ext uri="{FF2B5EF4-FFF2-40B4-BE49-F238E27FC236}">
                <a16:creationId xmlns:a16="http://schemas.microsoft.com/office/drawing/2014/main" id="{535320C0-DAB2-7C41-B3D0-5B31075C43FF}"/>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2789704668"/>
                  </p:ext>
                </p:extLst>
              </p:nvPr>
            </p:nvGraphicFramePr>
            <p:xfrm>
              <a:off x="1422696" y="2457510"/>
              <a:ext cx="7696771" cy="2477770"/>
            </p:xfrm>
            <a:graphic>
              <a:graphicData uri="http://schemas.openxmlformats.org/drawingml/2006/table">
                <a:tbl>
                  <a:tblPr firstRow="1" firstCol="1" bandRow="1"/>
                  <a:tblGrid>
                    <a:gridCol w="1929037">
                      <a:extLst>
                        <a:ext uri="{9D8B030D-6E8A-4147-A177-3AD203B41FA5}">
                          <a16:colId xmlns:a16="http://schemas.microsoft.com/office/drawing/2014/main" val="20000"/>
                        </a:ext>
                      </a:extLst>
                    </a:gridCol>
                    <a:gridCol w="1852966">
                      <a:extLst>
                        <a:ext uri="{9D8B030D-6E8A-4147-A177-3AD203B41FA5}">
                          <a16:colId xmlns:a16="http://schemas.microsoft.com/office/drawing/2014/main" val="20001"/>
                        </a:ext>
                      </a:extLst>
                    </a:gridCol>
                    <a:gridCol w="1190578">
                      <a:extLst>
                        <a:ext uri="{9D8B030D-6E8A-4147-A177-3AD203B41FA5}">
                          <a16:colId xmlns:a16="http://schemas.microsoft.com/office/drawing/2014/main" val="20002"/>
                        </a:ext>
                      </a:extLst>
                    </a:gridCol>
                    <a:gridCol w="1794119">
                      <a:extLst>
                        <a:ext uri="{9D8B030D-6E8A-4147-A177-3AD203B41FA5}">
                          <a16:colId xmlns:a16="http://schemas.microsoft.com/office/drawing/2014/main" val="20003"/>
                        </a:ext>
                      </a:extLst>
                    </a:gridCol>
                    <a:gridCol w="930071">
                      <a:extLst>
                        <a:ext uri="{9D8B030D-6E8A-4147-A177-3AD203B41FA5}">
                          <a16:colId xmlns:a16="http://schemas.microsoft.com/office/drawing/2014/main" val="20004"/>
                        </a:ext>
                      </a:extLst>
                    </a:gridCol>
                  </a:tblGrid>
                  <a:tr h="91190">
                    <a:tc>
                      <a:txBody>
                        <a:bodyPr/>
                        <a:lstStyle/>
                        <a:p>
                          <a:pPr marL="0" marR="0" indent="99695" algn="ctr">
                            <a:spcBef>
                              <a:spcPts val="0"/>
                            </a:spcBef>
                            <a:spcAft>
                              <a:spcPts val="100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50000"/>
                          </a:schemeClr>
                        </a:solidFill>
                      </a:tcPr>
                    </a:tc>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Amusement</a:t>
                          </a:r>
                          <a:endParaRPr lang="en-US" sz="2000" dirty="0">
                            <a:effectLst/>
                            <a:latin typeface="Verdana" charset="0"/>
                            <a:ea typeface="Verdana" charset="0"/>
                            <a:cs typeface="Verdana" charset="0"/>
                          </a:endParaRPr>
                        </a:p>
                        <a:p>
                          <a:pPr marL="0" marR="0" algn="ctr">
                            <a:spcBef>
                              <a:spcPts val="0"/>
                            </a:spcBef>
                            <a:spcAft>
                              <a:spcPts val="1000"/>
                            </a:spcAft>
                          </a:pPr>
                          <a:r>
                            <a:rPr lang="en-US" sz="2000" b="1" dirty="0">
                              <a:solidFill>
                                <a:srgbClr val="000000"/>
                              </a:solidFill>
                              <a:effectLst/>
                              <a:latin typeface="Verdana" charset="0"/>
                              <a:ea typeface="Verdana" charset="0"/>
                              <a:cs typeface="Verdana" charset="0"/>
                            </a:rPr>
                            <a:t>Park</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Verdana" charset="0"/>
                              <a:cs typeface="Verdana" charset="0"/>
                            </a:rPr>
                            <a:t>Water</a:t>
                          </a:r>
                          <a:endParaRPr lang="en-US" sz="2000">
                            <a:effectLst/>
                            <a:latin typeface="Verdana" charset="0"/>
                            <a:ea typeface="Verdana" charset="0"/>
                            <a:cs typeface="Verdana" charset="0"/>
                          </a:endParaRPr>
                        </a:p>
                        <a:p>
                          <a:pPr marL="0" marR="0" algn="ctr">
                            <a:spcBef>
                              <a:spcPts val="0"/>
                            </a:spcBef>
                            <a:spcAft>
                              <a:spcPts val="1000"/>
                            </a:spcAft>
                          </a:pPr>
                          <a:r>
                            <a:rPr lang="en-US" sz="2000" b="1">
                              <a:solidFill>
                                <a:srgbClr val="000000"/>
                              </a:solidFill>
                              <a:effectLst/>
                              <a:latin typeface="Verdana" charset="0"/>
                              <a:ea typeface="Verdana" charset="0"/>
                              <a:cs typeface="Verdana" charset="0"/>
                            </a:rPr>
                            <a:t>Park</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Verdana" charset="0"/>
                              <a:cs typeface="Verdana" charset="0"/>
                            </a:rPr>
                            <a:t>Mystery</a:t>
                          </a:r>
                          <a:endParaRPr lang="en-US" sz="2000">
                            <a:effectLst/>
                            <a:latin typeface="Verdana" charset="0"/>
                            <a:ea typeface="Verdana" charset="0"/>
                            <a:cs typeface="Verdana" charset="0"/>
                          </a:endParaRPr>
                        </a:p>
                        <a:p>
                          <a:pPr marL="0" marR="0" algn="ctr">
                            <a:spcBef>
                              <a:spcPts val="0"/>
                            </a:spcBef>
                            <a:spcAft>
                              <a:spcPts val="1000"/>
                            </a:spcAft>
                          </a:pPr>
                          <a:r>
                            <a:rPr lang="en-US" sz="2000" b="1">
                              <a:solidFill>
                                <a:srgbClr val="000000"/>
                              </a:solidFill>
                              <a:effectLst/>
                              <a:latin typeface="Verdana" charset="0"/>
                              <a:ea typeface="Verdana" charset="0"/>
                              <a:cs typeface="Verdana" charset="0"/>
                            </a:rPr>
                            <a:t>Destination</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Total</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80390">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Freshmen</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solidFill>
                                      <a:srgbClr val="000000"/>
                                    </a:solidFill>
                                    <a:effectLst/>
                                    <a:latin typeface="Cambria Math" panose="02040503050406030204" pitchFamily="18" charset="0"/>
                                    <a:ea typeface="Verdana" charset="0"/>
                                    <a:cs typeface="Verdana" charset="0"/>
                                  </a:rPr>
                                  <m:t>25</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solidFill>
                                      <a:srgbClr val="000000"/>
                                    </a:solidFill>
                                    <a:effectLst/>
                                    <a:latin typeface="Cambria Math" panose="02040503050406030204" pitchFamily="18" charset="0"/>
                                    <a:ea typeface="Verdana" charset="0"/>
                                    <a:cs typeface="Verdana" charset="0"/>
                                  </a:rPr>
                                  <m:t>9</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solidFill>
                                      <a:srgbClr val="000000"/>
                                    </a:solidFill>
                                    <a:effectLst/>
                                    <a:latin typeface="Cambria Math" panose="02040503050406030204" pitchFamily="18" charset="0"/>
                                    <a:ea typeface="Verdana" charset="0"/>
                                    <a:cs typeface="Verdana" charset="0"/>
                                  </a:rPr>
                                  <m:t>20</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solidFill>
                                      <a:srgbClr val="000000"/>
                                    </a:solidFill>
                                    <a:effectLst/>
                                    <a:latin typeface="Cambria Math" panose="02040503050406030204" pitchFamily="18" charset="0"/>
                                    <a:ea typeface="Verdana" charset="0"/>
                                    <a:cs typeface="Verdana" charset="0"/>
                                  </a:rPr>
                                  <m:t>54</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80390">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Sophomores</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35</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solidFill>
                                      <a:srgbClr val="000000"/>
                                    </a:solidFill>
                                    <a:effectLst/>
                                    <a:latin typeface="Cambria Math" panose="02040503050406030204" pitchFamily="18" charset="0"/>
                                    <a:ea typeface="Verdana" charset="0"/>
                                    <a:cs typeface="Verdana" charset="0"/>
                                  </a:rPr>
                                  <m:t>6</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solidFill>
                                      <a:srgbClr val="000000"/>
                                    </a:solidFill>
                                    <a:effectLst/>
                                    <a:latin typeface="Cambria Math" panose="02040503050406030204" pitchFamily="18" charset="0"/>
                                    <a:ea typeface="Verdana" charset="0"/>
                                    <a:cs typeface="Verdana" charset="0"/>
                                  </a:rPr>
                                  <m:t>5</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solidFill>
                                      <a:srgbClr val="000000"/>
                                    </a:solidFill>
                                    <a:effectLst/>
                                    <a:latin typeface="Cambria Math" panose="02040503050406030204" pitchFamily="18" charset="0"/>
                                    <a:ea typeface="Verdana" charset="0"/>
                                    <a:cs typeface="Verdana" charset="0"/>
                                  </a:rPr>
                                  <m:t>46</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80390">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Total</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dirty="0">
                              <a:solidFill>
                                <a:srgbClr val="000000"/>
                              </a:solidFill>
                              <a:effectLst/>
                              <a:latin typeface="Verdana" charset="0"/>
                              <a:ea typeface="Verdana" charset="0"/>
                              <a:cs typeface="Verdana" charset="0"/>
                            </a:rPr>
                            <a:t>60</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solidFill>
                                      <a:srgbClr val="000000"/>
                                    </a:solidFill>
                                    <a:effectLst/>
                                    <a:latin typeface="Cambria Math" panose="02040503050406030204" pitchFamily="18" charset="0"/>
                                    <a:ea typeface="Verdana" charset="0"/>
                                    <a:cs typeface="Verdana" charset="0"/>
                                  </a:rPr>
                                  <m:t>15</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solidFill>
                                      <a:srgbClr val="000000"/>
                                    </a:solidFill>
                                    <a:effectLst/>
                                    <a:latin typeface="Cambria Math" panose="02040503050406030204" pitchFamily="18" charset="0"/>
                                    <a:ea typeface="Verdana" charset="0"/>
                                    <a:cs typeface="Verdana" charset="0"/>
                                  </a:rPr>
                                  <m:t>25</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1000"/>
                            </a:spcAft>
                          </a:pPr>
                          <a14:m>
                            <m:oMathPara xmlns:m="http://schemas.openxmlformats.org/officeDocument/2006/math">
                              <m:oMathParaPr>
                                <m:jc m:val="centerGroup"/>
                              </m:oMathParaPr>
                              <m:oMath xmlns:m="http://schemas.openxmlformats.org/officeDocument/2006/math">
                                <m:r>
                                  <a:rPr lang="en-US" sz="2000">
                                    <a:solidFill>
                                      <a:srgbClr val="000000"/>
                                    </a:solidFill>
                                    <a:effectLst/>
                                    <a:latin typeface="Cambria Math" panose="02040503050406030204" pitchFamily="18" charset="0"/>
                                    <a:ea typeface="Verdana" charset="0"/>
                                    <a:cs typeface="Verdana" charset="0"/>
                                  </a:rPr>
                                  <m:t>100</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2789704668"/>
                  </p:ext>
                </p:extLst>
              </p:nvPr>
            </p:nvGraphicFramePr>
            <p:xfrm>
              <a:off x="1422696" y="2457510"/>
              <a:ext cx="7696771" cy="2477770"/>
            </p:xfrm>
            <a:graphic>
              <a:graphicData uri="http://schemas.openxmlformats.org/drawingml/2006/table">
                <a:tbl>
                  <a:tblPr firstRow="1" firstCol="1" bandRow="1"/>
                  <a:tblGrid>
                    <a:gridCol w="1929037">
                      <a:extLst>
                        <a:ext uri="{9D8B030D-6E8A-4147-A177-3AD203B41FA5}">
                          <a16:colId xmlns:a16="http://schemas.microsoft.com/office/drawing/2014/main" val="20000"/>
                        </a:ext>
                      </a:extLst>
                    </a:gridCol>
                    <a:gridCol w="1852966">
                      <a:extLst>
                        <a:ext uri="{9D8B030D-6E8A-4147-A177-3AD203B41FA5}">
                          <a16:colId xmlns:a16="http://schemas.microsoft.com/office/drawing/2014/main" val="20001"/>
                        </a:ext>
                      </a:extLst>
                    </a:gridCol>
                    <a:gridCol w="1190578">
                      <a:extLst>
                        <a:ext uri="{9D8B030D-6E8A-4147-A177-3AD203B41FA5}">
                          <a16:colId xmlns:a16="http://schemas.microsoft.com/office/drawing/2014/main" val="20002"/>
                        </a:ext>
                      </a:extLst>
                    </a:gridCol>
                    <a:gridCol w="1794119">
                      <a:extLst>
                        <a:ext uri="{9D8B030D-6E8A-4147-A177-3AD203B41FA5}">
                          <a16:colId xmlns:a16="http://schemas.microsoft.com/office/drawing/2014/main" val="20003"/>
                        </a:ext>
                      </a:extLst>
                    </a:gridCol>
                    <a:gridCol w="930071">
                      <a:extLst>
                        <a:ext uri="{9D8B030D-6E8A-4147-A177-3AD203B41FA5}">
                          <a16:colId xmlns:a16="http://schemas.microsoft.com/office/drawing/2014/main" val="20004"/>
                        </a:ext>
                      </a:extLst>
                    </a:gridCol>
                  </a:tblGrid>
                  <a:tr h="736600">
                    <a:tc>
                      <a:txBody>
                        <a:bodyPr/>
                        <a:lstStyle/>
                        <a:p>
                          <a:pPr marL="0" marR="0" indent="99695" algn="ctr">
                            <a:spcBef>
                              <a:spcPts val="0"/>
                            </a:spcBef>
                            <a:spcAft>
                              <a:spcPts val="1000"/>
                            </a:spcAft>
                          </a:pPr>
                          <a:r>
                            <a:rPr lang="en-US" sz="2000" dirty="0">
                              <a:solidFill>
                                <a:srgbClr val="000000"/>
                              </a:solidFill>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50000"/>
                          </a:schemeClr>
                        </a:solidFill>
                      </a:tcPr>
                    </a:tc>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Amusement</a:t>
                          </a:r>
                          <a:endParaRPr lang="en-US" sz="2000" dirty="0">
                            <a:effectLst/>
                            <a:latin typeface="Verdana" charset="0"/>
                            <a:ea typeface="Verdana" charset="0"/>
                            <a:cs typeface="Verdana" charset="0"/>
                          </a:endParaRPr>
                        </a:p>
                        <a:p>
                          <a:pPr marL="0" marR="0" algn="ctr">
                            <a:spcBef>
                              <a:spcPts val="0"/>
                            </a:spcBef>
                            <a:spcAft>
                              <a:spcPts val="1000"/>
                            </a:spcAft>
                          </a:pPr>
                          <a:r>
                            <a:rPr lang="en-US" sz="2000" b="1" dirty="0">
                              <a:solidFill>
                                <a:srgbClr val="000000"/>
                              </a:solidFill>
                              <a:effectLst/>
                              <a:latin typeface="Verdana" charset="0"/>
                              <a:ea typeface="Verdana" charset="0"/>
                              <a:cs typeface="Verdana" charset="0"/>
                            </a:rPr>
                            <a:t>Park</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Verdana" charset="0"/>
                              <a:cs typeface="Verdana" charset="0"/>
                            </a:rPr>
                            <a:t>Water</a:t>
                          </a:r>
                          <a:endParaRPr lang="en-US" sz="2000">
                            <a:effectLst/>
                            <a:latin typeface="Verdana" charset="0"/>
                            <a:ea typeface="Verdana" charset="0"/>
                            <a:cs typeface="Verdana" charset="0"/>
                          </a:endParaRPr>
                        </a:p>
                        <a:p>
                          <a:pPr marL="0" marR="0" algn="ctr">
                            <a:spcBef>
                              <a:spcPts val="0"/>
                            </a:spcBef>
                            <a:spcAft>
                              <a:spcPts val="1000"/>
                            </a:spcAft>
                          </a:pPr>
                          <a:r>
                            <a:rPr lang="en-US" sz="2000" b="1">
                              <a:solidFill>
                                <a:srgbClr val="000000"/>
                              </a:solidFill>
                              <a:effectLst/>
                              <a:latin typeface="Verdana" charset="0"/>
                              <a:ea typeface="Verdana" charset="0"/>
                              <a:cs typeface="Verdana" charset="0"/>
                            </a:rPr>
                            <a:t>Park</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a:solidFill>
                                <a:srgbClr val="000000"/>
                              </a:solidFill>
                              <a:effectLst/>
                              <a:latin typeface="Verdana" charset="0"/>
                              <a:ea typeface="Verdana" charset="0"/>
                              <a:cs typeface="Verdana" charset="0"/>
                            </a:rPr>
                            <a:t>Mystery</a:t>
                          </a:r>
                          <a:endParaRPr lang="en-US" sz="2000">
                            <a:effectLst/>
                            <a:latin typeface="Verdana" charset="0"/>
                            <a:ea typeface="Verdana" charset="0"/>
                            <a:cs typeface="Verdana" charset="0"/>
                          </a:endParaRPr>
                        </a:p>
                        <a:p>
                          <a:pPr marL="0" marR="0" algn="ctr">
                            <a:spcBef>
                              <a:spcPts val="0"/>
                            </a:spcBef>
                            <a:spcAft>
                              <a:spcPts val="1000"/>
                            </a:spcAft>
                          </a:pPr>
                          <a:r>
                            <a:rPr lang="en-US" sz="2000" b="1">
                              <a:solidFill>
                                <a:srgbClr val="000000"/>
                              </a:solidFill>
                              <a:effectLst/>
                              <a:latin typeface="Verdana" charset="0"/>
                              <a:ea typeface="Verdana" charset="0"/>
                              <a:cs typeface="Verdana" charset="0"/>
                            </a:rPr>
                            <a:t>Destination</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Total</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80390">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Freshmen</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4605" t="-141053" r="-212171" b="-20315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18974" t="-141053" r="-230769" b="-20315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77891" t="-141053" r="-53061" b="-203158"/>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26144" t="-141053" r="-1961" b="-203158"/>
                          </a:stretch>
                        </a:blipFill>
                      </a:tcPr>
                    </a:tc>
                    <a:extLst>
                      <a:ext uri="{0D108BD9-81ED-4DB2-BD59-A6C34878D82A}">
                        <a16:rowId xmlns:a16="http://schemas.microsoft.com/office/drawing/2014/main" val="10001"/>
                      </a:ext>
                    </a:extLst>
                  </a:tr>
                  <a:tr h="580390">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Sophomores</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a:solidFill>
                                <a:srgbClr val="000000"/>
                              </a:solidFill>
                              <a:effectLst/>
                              <a:latin typeface="Verdana" charset="0"/>
                              <a:ea typeface="Verdana" charset="0"/>
                              <a:cs typeface="Verdana" charset="0"/>
                            </a:rPr>
                            <a:t>35</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18974" t="-238542" r="-230769" b="-10104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77891" t="-238542" r="-53061" b="-101042"/>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26144" t="-238542" r="-1961" b="-101042"/>
                          </a:stretch>
                        </a:blipFill>
                      </a:tcPr>
                    </a:tc>
                    <a:extLst>
                      <a:ext uri="{0D108BD9-81ED-4DB2-BD59-A6C34878D82A}">
                        <a16:rowId xmlns:a16="http://schemas.microsoft.com/office/drawing/2014/main" val="10002"/>
                      </a:ext>
                    </a:extLst>
                  </a:tr>
                  <a:tr h="580390">
                    <a:tc>
                      <a:txBody>
                        <a:bodyPr/>
                        <a:lstStyle/>
                        <a:p>
                          <a:pPr marL="0" marR="0" algn="ctr">
                            <a:spcBef>
                              <a:spcPts val="0"/>
                            </a:spcBef>
                            <a:spcAft>
                              <a:spcPts val="1000"/>
                            </a:spcAft>
                          </a:pPr>
                          <a:r>
                            <a:rPr lang="en-US" sz="2000" b="1" dirty="0">
                              <a:solidFill>
                                <a:srgbClr val="000000"/>
                              </a:solidFill>
                              <a:effectLst/>
                              <a:latin typeface="Verdana" charset="0"/>
                              <a:ea typeface="Verdana" charset="0"/>
                              <a:cs typeface="Verdana" charset="0"/>
                            </a:rPr>
                            <a:t>Total</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1000"/>
                            </a:spcAft>
                          </a:pPr>
                          <a:r>
                            <a:rPr lang="en-US" sz="2000" dirty="0">
                              <a:solidFill>
                                <a:srgbClr val="000000"/>
                              </a:solidFill>
                              <a:effectLst/>
                              <a:latin typeface="Verdana" charset="0"/>
                              <a:ea typeface="Verdana" charset="0"/>
                              <a:cs typeface="Verdana" charset="0"/>
                            </a:rPr>
                            <a:t>60</a:t>
                          </a:r>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18974" t="-342105" r="-230769" b="-210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77891" t="-342105" r="-53061" b="-2105"/>
                          </a:stretch>
                        </a:blip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726144" t="-342105" r="-1961" b="-2105"/>
                          </a:stretch>
                        </a:blipFill>
                      </a:tcPr>
                    </a:tc>
                    <a:extLst>
                      <a:ext uri="{0D108BD9-81ED-4DB2-BD59-A6C34878D82A}">
                        <a16:rowId xmlns:a16="http://schemas.microsoft.com/office/drawing/2014/main" val="10003"/>
                      </a:ext>
                    </a:extLst>
                  </a:tr>
                </a:tbl>
              </a:graphicData>
            </a:graphic>
          </p:graphicFrame>
        </mc:Fallback>
      </mc:AlternateContent>
      <p:sp>
        <p:nvSpPr>
          <p:cNvPr id="10" name="TextBox 9">
            <a:extLst>
              <a:ext uri="{FF2B5EF4-FFF2-40B4-BE49-F238E27FC236}">
                <a16:creationId xmlns:a16="http://schemas.microsoft.com/office/drawing/2014/main" id="{CCE266F4-D6DC-0444-A170-67185FA99DC3}"/>
              </a:ext>
            </a:extLst>
          </p:cNvPr>
          <p:cNvSpPr txBox="1"/>
          <p:nvPr/>
        </p:nvSpPr>
        <p:spPr>
          <a:xfrm>
            <a:off x="2747516" y="2021120"/>
            <a:ext cx="5047129" cy="400110"/>
          </a:xfrm>
          <a:prstGeom prst="rect">
            <a:avLst/>
          </a:prstGeom>
          <a:noFill/>
        </p:spPr>
        <p:txBody>
          <a:bodyPr wrap="square">
            <a:spAutoFit/>
          </a:bodyPr>
          <a:lstStyle/>
          <a:p>
            <a:pPr algn="ctr"/>
            <a:r>
              <a:rPr lang="en-US" sz="2000" b="1" dirty="0">
                <a:latin typeface="Verdana" charset="0"/>
                <a:ea typeface="Verdana" charset="0"/>
                <a:cs typeface="Verdana" charset="0"/>
              </a:rPr>
              <a:t>Students’ Field Trip Preferences</a:t>
            </a:r>
            <a:endParaRPr lang="en-US" sz="2000" dirty="0">
              <a:latin typeface="Verdana" charset="0"/>
              <a:ea typeface="Verdana" charset="0"/>
              <a:cs typeface="Verdana" charset="0"/>
            </a:endParaRPr>
          </a:p>
        </p:txBody>
      </p:sp>
      <p:sp>
        <p:nvSpPr>
          <p:cNvPr id="11" name="Google Shape;282;g104476d1465_1_17">
            <a:extLst>
              <a:ext uri="{FF2B5EF4-FFF2-40B4-BE49-F238E27FC236}">
                <a16:creationId xmlns:a16="http://schemas.microsoft.com/office/drawing/2014/main" id="{9DF660BC-EF8C-536F-31C7-03C6034C25EC}"/>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315</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843147" y="520393"/>
            <a:ext cx="10307783" cy="2308324"/>
          </a:xfrm>
          <a:prstGeom prst="rect">
            <a:avLst/>
          </a:prstGeom>
          <a:noFill/>
        </p:spPr>
        <p:txBody>
          <a:bodyPr wrap="square" rtlCol="0">
            <a:spAutoFit/>
          </a:bodyPr>
          <a:lstStyle/>
          <a:p>
            <a:pPr marL="457200" indent="-457200">
              <a:buFont typeface="+mj-lt"/>
              <a:buAutoNum type="arabicPeriod" startAt="3"/>
            </a:pPr>
            <a:r>
              <a:rPr lang="en-US" sz="2400" dirty="0">
                <a:latin typeface="Verdana" charset="0"/>
                <a:ea typeface="Verdana" charset="0"/>
                <a:cs typeface="Verdana" charset="0"/>
              </a:rPr>
              <a:t>Circle the largest marginal frequency. </a:t>
            </a: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a:pPr>
            <a:endParaRPr lang="en-US" sz="2400" dirty="0">
              <a:latin typeface="Verdana" charset="0"/>
              <a:ea typeface="Verdana" charset="0"/>
              <a:cs typeface="Verdana" charset="0"/>
            </a:endParaRPr>
          </a:p>
          <a:p>
            <a:pPr marL="457200" indent="-457200">
              <a:buFont typeface="+mj-lt"/>
              <a:buAutoNum type="arabicPeriod" startAt="4"/>
            </a:pPr>
            <a:r>
              <a:rPr lang="en-US" sz="2400" dirty="0">
                <a:latin typeface="Verdana" charset="0"/>
                <a:ea typeface="Verdana" charset="0"/>
                <a:cs typeface="Verdana" charset="0"/>
              </a:rPr>
              <a:t>Explain what the largest marginal frequency represents in terms of students’ field trip preferences. </a:t>
            </a:r>
          </a:p>
        </p:txBody>
      </p:sp>
      <p:sp>
        <p:nvSpPr>
          <p:cNvPr id="6" name="Google Shape;278;g104476d1465_1_17">
            <a:extLst>
              <a:ext uri="{FF2B5EF4-FFF2-40B4-BE49-F238E27FC236}">
                <a16:creationId xmlns:a16="http://schemas.microsoft.com/office/drawing/2014/main" id="{1B4CE872-CBCF-7A4A-8FD6-F7BE492A466A}"/>
              </a:ext>
            </a:extLst>
          </p:cNvPr>
          <p:cNvSpPr/>
          <p:nvPr/>
        </p:nvSpPr>
        <p:spPr>
          <a:xfrm>
            <a:off x="0" y="-8225"/>
            <a:ext cx="223200" cy="6866100"/>
          </a:xfrm>
          <a:prstGeom prst="rect">
            <a:avLst/>
          </a:prstGeom>
          <a:solidFill>
            <a:srgbClr val="5C051A"/>
          </a:solidFill>
          <a:ln w="9525" cap="flat" cmpd="sng">
            <a:solidFill>
              <a:srgbClr val="5C05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a:extLst>
              <a:ext uri="{FF2B5EF4-FFF2-40B4-BE49-F238E27FC236}">
                <a16:creationId xmlns:a16="http://schemas.microsoft.com/office/drawing/2014/main" id="{BB6EB742-6264-2189-8093-4D2119468774}"/>
              </a:ext>
            </a:extLst>
          </p:cNvPr>
          <p:cNvSpPr txBox="1"/>
          <p:nvPr/>
        </p:nvSpPr>
        <p:spPr>
          <a:xfrm>
            <a:off x="882133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315</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2323F61D-9AFF-A39F-9862-6E566AFB52B2}"/>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59559" y="6200600"/>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1273238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1418</TotalTime>
  <Words>1750</Words>
  <Application>Microsoft Office PowerPoint</Application>
  <PresentationFormat>Widescreen</PresentationFormat>
  <Paragraphs>311</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Arial Black</vt:lpstr>
      <vt:lpstr>Calibri</vt:lpstr>
      <vt:lpstr>Cambria</vt:lpstr>
      <vt:lpstr>Cambria Math</vt:lpstr>
      <vt:lpstr>Century Gothic</vt:lpstr>
      <vt:lpstr>Verdana</vt:lpstr>
      <vt:lpstr>Wingdings</vt:lpstr>
      <vt:lpstr>1_Office Theme</vt:lpstr>
      <vt:lpstr>Algebra 1  Unit 14, Lesson 2  Interpreting Joint and Marginal Frequencies  Volume 2, pg. 311  </vt:lpstr>
      <vt:lpstr>Benchmarks</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25</cp:revision>
  <dcterms:created xsi:type="dcterms:W3CDTF">2015-03-17T18:51:18Z</dcterms:created>
  <dcterms:modified xsi:type="dcterms:W3CDTF">2022-06-30T19:03:18Z</dcterms:modified>
</cp:coreProperties>
</file>