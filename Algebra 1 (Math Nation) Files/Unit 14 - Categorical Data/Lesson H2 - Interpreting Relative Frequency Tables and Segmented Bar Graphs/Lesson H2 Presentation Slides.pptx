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6"/>
  </p:notesMasterIdLst>
  <p:sldIdLst>
    <p:sldId id="256" r:id="rId5"/>
    <p:sldId id="257" r:id="rId6"/>
    <p:sldId id="285" r:id="rId7"/>
    <p:sldId id="286" r:id="rId8"/>
    <p:sldId id="261" r:id="rId9"/>
    <p:sldId id="287" r:id="rId10"/>
    <p:sldId id="288" r:id="rId11"/>
    <p:sldId id="314" r:id="rId12"/>
    <p:sldId id="315" r:id="rId13"/>
    <p:sldId id="352" r:id="rId14"/>
    <p:sldId id="353" r:id="rId15"/>
    <p:sldId id="354" r:id="rId16"/>
    <p:sldId id="359" r:id="rId17"/>
    <p:sldId id="355" r:id="rId18"/>
    <p:sldId id="356" r:id="rId19"/>
    <p:sldId id="357" r:id="rId20"/>
    <p:sldId id="358" r:id="rId21"/>
    <p:sldId id="360" r:id="rId22"/>
    <p:sldId id="306" r:id="rId23"/>
    <p:sldId id="307" r:id="rId24"/>
    <p:sldId id="351"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B2D9DE-2F1E-7A49-A385-C49A8B8F6EFC}" v="35" dt="2024-03-22T18:53:31.795"/>
  </p1510:revLst>
</p1510:revInfo>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59"/>
    <p:restoredTop sz="94694"/>
  </p:normalViewPr>
  <p:slideViewPr>
    <p:cSldViewPr snapToGrid="0">
      <p:cViewPr varScale="1">
        <p:scale>
          <a:sx n="117" d="100"/>
          <a:sy n="117" d="100"/>
        </p:scale>
        <p:origin x="856"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57" Type="http://schemas.openxmlformats.org/officeDocument/2006/relationships/viewProps" Target="viewProps.xml"/><Relationship Id="rId61"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56" Type="http://schemas.openxmlformats.org/officeDocument/2006/relationships/presProps" Target="pres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 Ellen Freeman" userId="65f5a77e-75d5-47e0-b99f-d2749fd11cfe" providerId="ADAL" clId="{89B2D9DE-2F1E-7A49-A385-C49A8B8F6EFC}"/>
    <pc:docChg chg="undo custSel delSld modSld">
      <pc:chgData name="Mary Ellen Freeman" userId="65f5a77e-75d5-47e0-b99f-d2749fd11cfe" providerId="ADAL" clId="{89B2D9DE-2F1E-7A49-A385-C49A8B8F6EFC}" dt="2024-03-22T18:53:57.817" v="210" actId="20577"/>
      <pc:docMkLst>
        <pc:docMk/>
      </pc:docMkLst>
      <pc:sldChg chg="addSp modSp mod">
        <pc:chgData name="Mary Ellen Freeman" userId="65f5a77e-75d5-47e0-b99f-d2749fd11cfe" providerId="ADAL" clId="{89B2D9DE-2F1E-7A49-A385-C49A8B8F6EFC}" dt="2024-03-22T18:44:06.904" v="28" actId="1076"/>
        <pc:sldMkLst>
          <pc:docMk/>
          <pc:sldMk cId="1674437042" sldId="315"/>
        </pc:sldMkLst>
        <pc:spChg chg="add mod">
          <ac:chgData name="Mary Ellen Freeman" userId="65f5a77e-75d5-47e0-b99f-d2749fd11cfe" providerId="ADAL" clId="{89B2D9DE-2F1E-7A49-A385-C49A8B8F6EFC}" dt="2024-03-22T18:44:04.194" v="27" actId="1076"/>
          <ac:spMkLst>
            <pc:docMk/>
            <pc:sldMk cId="1674437042" sldId="315"/>
            <ac:spMk id="2" creationId="{20238EC7-7C5B-75D6-E44F-735F27412AE3}"/>
          </ac:spMkLst>
        </pc:spChg>
        <pc:spChg chg="mod">
          <ac:chgData name="Mary Ellen Freeman" userId="65f5a77e-75d5-47e0-b99f-d2749fd11cfe" providerId="ADAL" clId="{89B2D9DE-2F1E-7A49-A385-C49A8B8F6EFC}" dt="2024-03-22T18:44:06.904" v="28" actId="1076"/>
          <ac:spMkLst>
            <pc:docMk/>
            <pc:sldMk cId="1674437042" sldId="315"/>
            <ac:spMk id="10" creationId="{E44DF7DE-9172-3E4E-B74A-7A51585FB6EA}"/>
          </ac:spMkLst>
        </pc:spChg>
      </pc:sldChg>
      <pc:sldChg chg="modSp del mod">
        <pc:chgData name="Mary Ellen Freeman" userId="65f5a77e-75d5-47e0-b99f-d2749fd11cfe" providerId="ADAL" clId="{89B2D9DE-2F1E-7A49-A385-C49A8B8F6EFC}" dt="2024-03-22T18:44:21.049" v="29" actId="2696"/>
        <pc:sldMkLst>
          <pc:docMk/>
          <pc:sldMk cId="1320626688" sldId="342"/>
        </pc:sldMkLst>
        <pc:spChg chg="mod">
          <ac:chgData name="Mary Ellen Freeman" userId="65f5a77e-75d5-47e0-b99f-d2749fd11cfe" providerId="ADAL" clId="{89B2D9DE-2F1E-7A49-A385-C49A8B8F6EFC}" dt="2024-03-22T18:43:39.359" v="21" actId="1076"/>
          <ac:spMkLst>
            <pc:docMk/>
            <pc:sldMk cId="1320626688" sldId="342"/>
            <ac:spMk id="7" creationId="{E44DF7DE-9172-3E4E-B74A-7A51585FB6EA}"/>
          </ac:spMkLst>
        </pc:spChg>
      </pc:sldChg>
      <pc:sldChg chg="addSp delSp modSp mod">
        <pc:chgData name="Mary Ellen Freeman" userId="65f5a77e-75d5-47e0-b99f-d2749fd11cfe" providerId="ADAL" clId="{89B2D9DE-2F1E-7A49-A385-C49A8B8F6EFC}" dt="2024-03-22T18:45:36.092" v="44" actId="14100"/>
        <pc:sldMkLst>
          <pc:docMk/>
          <pc:sldMk cId="1469502050" sldId="352"/>
        </pc:sldMkLst>
        <pc:spChg chg="del">
          <ac:chgData name="Mary Ellen Freeman" userId="65f5a77e-75d5-47e0-b99f-d2749fd11cfe" providerId="ADAL" clId="{89B2D9DE-2F1E-7A49-A385-C49A8B8F6EFC}" dt="2024-03-22T18:44:43.794" v="33" actId="478"/>
          <ac:spMkLst>
            <pc:docMk/>
            <pc:sldMk cId="1469502050" sldId="352"/>
            <ac:spMk id="2" creationId="{00000000-0000-0000-0000-000000000000}"/>
          </ac:spMkLst>
        </pc:spChg>
        <pc:spChg chg="mod">
          <ac:chgData name="Mary Ellen Freeman" userId="65f5a77e-75d5-47e0-b99f-d2749fd11cfe" providerId="ADAL" clId="{89B2D9DE-2F1E-7A49-A385-C49A8B8F6EFC}" dt="2024-03-22T18:45:13.868" v="40" actId="12"/>
          <ac:spMkLst>
            <pc:docMk/>
            <pc:sldMk cId="1469502050" sldId="352"/>
            <ac:spMk id="14" creationId="{2FA392D8-3ED3-7940-83A8-1451AA8A08D4}"/>
          </ac:spMkLst>
        </pc:spChg>
        <pc:graphicFrameChg chg="del">
          <ac:chgData name="Mary Ellen Freeman" userId="65f5a77e-75d5-47e0-b99f-d2749fd11cfe" providerId="ADAL" clId="{89B2D9DE-2F1E-7A49-A385-C49A8B8F6EFC}" dt="2024-03-22T18:44:42.493" v="32" actId="478"/>
          <ac:graphicFrameMkLst>
            <pc:docMk/>
            <pc:sldMk cId="1469502050" sldId="352"/>
            <ac:graphicFrameMk id="4" creationId="{00000000-0000-0000-0000-000000000000}"/>
          </ac:graphicFrameMkLst>
        </pc:graphicFrameChg>
        <pc:picChg chg="add del mod">
          <ac:chgData name="Mary Ellen Freeman" userId="65f5a77e-75d5-47e0-b99f-d2749fd11cfe" providerId="ADAL" clId="{89B2D9DE-2F1E-7A49-A385-C49A8B8F6EFC}" dt="2024-03-22T18:45:32.147" v="41" actId="478"/>
          <ac:picMkLst>
            <pc:docMk/>
            <pc:sldMk cId="1469502050" sldId="352"/>
            <ac:picMk id="3" creationId="{CDC36F8E-985C-2A8B-09CD-37D3B0947CF5}"/>
          </ac:picMkLst>
        </pc:picChg>
        <pc:picChg chg="add mod">
          <ac:chgData name="Mary Ellen Freeman" userId="65f5a77e-75d5-47e0-b99f-d2749fd11cfe" providerId="ADAL" clId="{89B2D9DE-2F1E-7A49-A385-C49A8B8F6EFC}" dt="2024-03-22T18:45:36.092" v="44" actId="14100"/>
          <ac:picMkLst>
            <pc:docMk/>
            <pc:sldMk cId="1469502050" sldId="352"/>
            <ac:picMk id="5" creationId="{97E81CF8-A17F-5EDE-E0F6-9022B17A2A92}"/>
          </ac:picMkLst>
        </pc:picChg>
      </pc:sldChg>
      <pc:sldChg chg="modSp mod">
        <pc:chgData name="Mary Ellen Freeman" userId="65f5a77e-75d5-47e0-b99f-d2749fd11cfe" providerId="ADAL" clId="{89B2D9DE-2F1E-7A49-A385-C49A8B8F6EFC}" dt="2024-03-22T18:46:35.958" v="49" actId="255"/>
        <pc:sldMkLst>
          <pc:docMk/>
          <pc:sldMk cId="2145579959" sldId="353"/>
        </pc:sldMkLst>
        <pc:spChg chg="mod">
          <ac:chgData name="Mary Ellen Freeman" userId="65f5a77e-75d5-47e0-b99f-d2749fd11cfe" providerId="ADAL" clId="{89B2D9DE-2F1E-7A49-A385-C49A8B8F6EFC}" dt="2024-03-22T18:46:35.958" v="49" actId="255"/>
          <ac:spMkLst>
            <pc:docMk/>
            <pc:sldMk cId="2145579959" sldId="353"/>
            <ac:spMk id="14" creationId="{2FA392D8-3ED3-7940-83A8-1451AA8A08D4}"/>
          </ac:spMkLst>
        </pc:spChg>
      </pc:sldChg>
      <pc:sldChg chg="modSp mod">
        <pc:chgData name="Mary Ellen Freeman" userId="65f5a77e-75d5-47e0-b99f-d2749fd11cfe" providerId="ADAL" clId="{89B2D9DE-2F1E-7A49-A385-C49A8B8F6EFC}" dt="2024-03-22T18:47:33.565" v="55" actId="1076"/>
        <pc:sldMkLst>
          <pc:docMk/>
          <pc:sldMk cId="1585330948" sldId="354"/>
        </pc:sldMkLst>
        <pc:spChg chg="mod">
          <ac:chgData name="Mary Ellen Freeman" userId="65f5a77e-75d5-47e0-b99f-d2749fd11cfe" providerId="ADAL" clId="{89B2D9DE-2F1E-7A49-A385-C49A8B8F6EFC}" dt="2024-03-22T18:47:33.565" v="55" actId="1076"/>
          <ac:spMkLst>
            <pc:docMk/>
            <pc:sldMk cId="1585330948" sldId="354"/>
            <ac:spMk id="14" creationId="{2FA392D8-3ED3-7940-83A8-1451AA8A08D4}"/>
          </ac:spMkLst>
        </pc:spChg>
      </pc:sldChg>
      <pc:sldChg chg="addSp delSp modSp mod">
        <pc:chgData name="Mary Ellen Freeman" userId="65f5a77e-75d5-47e0-b99f-d2749fd11cfe" providerId="ADAL" clId="{89B2D9DE-2F1E-7A49-A385-C49A8B8F6EFC}" dt="2024-03-22T18:49:41.235" v="76" actId="14100"/>
        <pc:sldMkLst>
          <pc:docMk/>
          <pc:sldMk cId="1351047262" sldId="356"/>
        </pc:sldMkLst>
        <pc:spChg chg="mod">
          <ac:chgData name="Mary Ellen Freeman" userId="65f5a77e-75d5-47e0-b99f-d2749fd11cfe" providerId="ADAL" clId="{89B2D9DE-2F1E-7A49-A385-C49A8B8F6EFC}" dt="2024-03-22T18:49:28.517" v="72" actId="255"/>
          <ac:spMkLst>
            <pc:docMk/>
            <pc:sldMk cId="1351047262" sldId="356"/>
            <ac:spMk id="10" creationId="{0AB6A3A1-5A0D-C84F-AC89-57E6782F43E5}"/>
          </ac:spMkLst>
        </pc:spChg>
        <pc:graphicFrameChg chg="del">
          <ac:chgData name="Mary Ellen Freeman" userId="65f5a77e-75d5-47e0-b99f-d2749fd11cfe" providerId="ADAL" clId="{89B2D9DE-2F1E-7A49-A385-C49A8B8F6EFC}" dt="2024-03-22T18:49:37.699" v="73" actId="478"/>
          <ac:graphicFrameMkLst>
            <pc:docMk/>
            <pc:sldMk cId="1351047262" sldId="356"/>
            <ac:graphicFrameMk id="2" creationId="{00000000-0000-0000-0000-000000000000}"/>
          </ac:graphicFrameMkLst>
        </pc:graphicFrameChg>
        <pc:picChg chg="add mod">
          <ac:chgData name="Mary Ellen Freeman" userId="65f5a77e-75d5-47e0-b99f-d2749fd11cfe" providerId="ADAL" clId="{89B2D9DE-2F1E-7A49-A385-C49A8B8F6EFC}" dt="2024-03-22T18:49:41.235" v="76" actId="14100"/>
          <ac:picMkLst>
            <pc:docMk/>
            <pc:sldMk cId="1351047262" sldId="356"/>
            <ac:picMk id="3" creationId="{7CA73BD3-BC06-22CA-4C5E-74E05DE5C88D}"/>
          </ac:picMkLst>
        </pc:picChg>
      </pc:sldChg>
      <pc:sldChg chg="modSp mod">
        <pc:chgData name="Mary Ellen Freeman" userId="65f5a77e-75d5-47e0-b99f-d2749fd11cfe" providerId="ADAL" clId="{89B2D9DE-2F1E-7A49-A385-C49A8B8F6EFC}" dt="2024-03-22T18:50:49.127" v="117" actId="20577"/>
        <pc:sldMkLst>
          <pc:docMk/>
          <pc:sldMk cId="579150919" sldId="357"/>
        </pc:sldMkLst>
        <pc:spChg chg="mod">
          <ac:chgData name="Mary Ellen Freeman" userId="65f5a77e-75d5-47e0-b99f-d2749fd11cfe" providerId="ADAL" clId="{89B2D9DE-2F1E-7A49-A385-C49A8B8F6EFC}" dt="2024-03-22T18:50:49.127" v="117" actId="20577"/>
          <ac:spMkLst>
            <pc:docMk/>
            <pc:sldMk cId="579150919" sldId="357"/>
            <ac:spMk id="14" creationId="{2FA392D8-3ED3-7940-83A8-1451AA8A08D4}"/>
          </ac:spMkLst>
        </pc:spChg>
      </pc:sldChg>
      <pc:sldChg chg="addSp modSp mod">
        <pc:chgData name="Mary Ellen Freeman" userId="65f5a77e-75d5-47e0-b99f-d2749fd11cfe" providerId="ADAL" clId="{89B2D9DE-2F1E-7A49-A385-C49A8B8F6EFC}" dt="2024-03-22T18:52:44.913" v="149" actId="1076"/>
        <pc:sldMkLst>
          <pc:docMk/>
          <pc:sldMk cId="1723806675" sldId="358"/>
        </pc:sldMkLst>
        <pc:spChg chg="mod">
          <ac:chgData name="Mary Ellen Freeman" userId="65f5a77e-75d5-47e0-b99f-d2749fd11cfe" providerId="ADAL" clId="{89B2D9DE-2F1E-7A49-A385-C49A8B8F6EFC}" dt="2024-03-22T18:52:41.432" v="147" actId="20577"/>
          <ac:spMkLst>
            <pc:docMk/>
            <pc:sldMk cId="1723806675" sldId="358"/>
            <ac:spMk id="14" creationId="{2FA392D8-3ED3-7940-83A8-1451AA8A08D4}"/>
          </ac:spMkLst>
        </pc:spChg>
        <pc:picChg chg="add mod">
          <ac:chgData name="Mary Ellen Freeman" userId="65f5a77e-75d5-47e0-b99f-d2749fd11cfe" providerId="ADAL" clId="{89B2D9DE-2F1E-7A49-A385-C49A8B8F6EFC}" dt="2024-03-22T18:52:44.913" v="149" actId="1076"/>
          <ac:picMkLst>
            <pc:docMk/>
            <pc:sldMk cId="1723806675" sldId="358"/>
            <ac:picMk id="2" creationId="{19163871-A675-992E-7403-105889DC6653}"/>
          </ac:picMkLst>
        </pc:picChg>
      </pc:sldChg>
      <pc:sldChg chg="addSp delSp modSp mod">
        <pc:chgData name="Mary Ellen Freeman" userId="65f5a77e-75d5-47e0-b99f-d2749fd11cfe" providerId="ADAL" clId="{89B2D9DE-2F1E-7A49-A385-C49A8B8F6EFC}" dt="2024-03-22T18:48:55.509" v="70" actId="1076"/>
        <pc:sldMkLst>
          <pc:docMk/>
          <pc:sldMk cId="1979370769" sldId="359"/>
        </pc:sldMkLst>
        <pc:spChg chg="mod">
          <ac:chgData name="Mary Ellen Freeman" userId="65f5a77e-75d5-47e0-b99f-d2749fd11cfe" providerId="ADAL" clId="{89B2D9DE-2F1E-7A49-A385-C49A8B8F6EFC}" dt="2024-03-22T18:48:52.420" v="68" actId="255"/>
          <ac:spMkLst>
            <pc:docMk/>
            <pc:sldMk cId="1979370769" sldId="359"/>
            <ac:spMk id="14" creationId="{2FA392D8-3ED3-7940-83A8-1451AA8A08D4}"/>
          </ac:spMkLst>
        </pc:spChg>
        <pc:picChg chg="del">
          <ac:chgData name="Mary Ellen Freeman" userId="65f5a77e-75d5-47e0-b99f-d2749fd11cfe" providerId="ADAL" clId="{89B2D9DE-2F1E-7A49-A385-C49A8B8F6EFC}" dt="2024-03-22T18:48:21.096" v="57" actId="478"/>
          <ac:picMkLst>
            <pc:docMk/>
            <pc:sldMk cId="1979370769" sldId="359"/>
            <ac:picMk id="2" creationId="{00000000-0000-0000-0000-000000000000}"/>
          </ac:picMkLst>
        </pc:picChg>
        <pc:picChg chg="add mod">
          <ac:chgData name="Mary Ellen Freeman" userId="65f5a77e-75d5-47e0-b99f-d2749fd11cfe" providerId="ADAL" clId="{89B2D9DE-2F1E-7A49-A385-C49A8B8F6EFC}" dt="2024-03-22T18:48:55.509" v="70" actId="1076"/>
          <ac:picMkLst>
            <pc:docMk/>
            <pc:sldMk cId="1979370769" sldId="359"/>
            <ac:picMk id="3" creationId="{E7111B05-B730-9BEC-8D12-C3C93F473DE4}"/>
          </ac:picMkLst>
        </pc:picChg>
      </pc:sldChg>
      <pc:sldChg chg="modSp mod">
        <pc:chgData name="Mary Ellen Freeman" userId="65f5a77e-75d5-47e0-b99f-d2749fd11cfe" providerId="ADAL" clId="{89B2D9DE-2F1E-7A49-A385-C49A8B8F6EFC}" dt="2024-03-22T18:53:57.817" v="210" actId="20577"/>
        <pc:sldMkLst>
          <pc:docMk/>
          <pc:sldMk cId="62270150" sldId="360"/>
        </pc:sldMkLst>
        <pc:spChg chg="mod">
          <ac:chgData name="Mary Ellen Freeman" userId="65f5a77e-75d5-47e0-b99f-d2749fd11cfe" providerId="ADAL" clId="{89B2D9DE-2F1E-7A49-A385-C49A8B8F6EFC}" dt="2024-03-22T18:53:57.817" v="210" actId="20577"/>
          <ac:spMkLst>
            <pc:docMk/>
            <pc:sldMk cId="62270150" sldId="360"/>
            <ac:spMk id="14" creationId="{2FA392D8-3ED3-7940-83A8-1451AA8A08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859013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6970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27634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6153389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601113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706732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93607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169050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749874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66745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H2</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Interpreting Relative Frequency Tables and Segmented Bar Graphs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331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9144"/>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FC2FF27A-A046-614D-A5AC-E785259A48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7849" y="1445821"/>
            <a:ext cx="920055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MA.912.DP.3.2 </a:t>
            </a:r>
          </a:p>
          <a:p>
            <a:pPr marL="463550" indent="0">
              <a:buNone/>
            </a:pPr>
            <a:r>
              <a:rPr lang="en-US" sz="2400" dirty="0">
                <a:latin typeface="Verdana" charset="0"/>
                <a:ea typeface="Verdana" charset="0"/>
                <a:cs typeface="Verdana" charset="0"/>
              </a:rPr>
              <a:t>Given marginal and conditional relative frequencies, construct a two-way relative frequency table summarizing categorical bivariate data.</a:t>
            </a:r>
          </a:p>
          <a:p>
            <a:pPr marL="95250" indent="0">
              <a:buNone/>
            </a:pPr>
            <a:r>
              <a:rPr lang="en-US" sz="2400" dirty="0">
                <a:latin typeface="Verdana" charset="0"/>
                <a:ea typeface="Verdana" charset="0"/>
                <a:cs typeface="Verdana" charset="0"/>
              </a:rPr>
              <a:t>MA.912.DP.3.3 </a:t>
            </a:r>
          </a:p>
          <a:p>
            <a:pPr marL="463550" indent="0">
              <a:buNone/>
            </a:pPr>
            <a:r>
              <a:rPr lang="en-US" sz="2400" dirty="0">
                <a:latin typeface="Verdana" charset="0"/>
                <a:ea typeface="Verdana" charset="0"/>
                <a:cs typeface="Verdana" charset="0"/>
              </a:rPr>
              <a:t>Given a two-way relative frequency table or segmented bar graph summarizing categorical bivariate data, interpret joint, marginal, and conditional relative frequencies in terms of a real-world context.</a:t>
            </a:r>
          </a:p>
          <a:p>
            <a:pPr marL="95250" indent="0">
              <a:buNone/>
            </a:pPr>
            <a:r>
              <a:rPr lang="en-US" sz="2400" dirty="0">
                <a:latin typeface="Verdana" charset="0"/>
                <a:ea typeface="Verdana" charset="0"/>
                <a:cs typeface="Verdana" charset="0"/>
              </a:rPr>
              <a:t>MA.912.DP.1.3 </a:t>
            </a:r>
          </a:p>
          <a:p>
            <a:pPr marL="463550" indent="0">
              <a:buNone/>
            </a:pPr>
            <a:r>
              <a:rPr lang="en-US" sz="2400" dirty="0">
                <a:latin typeface="Verdana" charset="0"/>
                <a:ea typeface="Verdana" charset="0"/>
                <a:cs typeface="Verdana" charset="0"/>
              </a:rPr>
              <a:t>Explain the difference between correlation and causation in the contexts of both numerical and categorical data. </a:t>
            </a:r>
          </a:p>
        </p:txBody>
      </p:sp>
      <p:sp>
        <p:nvSpPr>
          <p:cNvPr id="9" name="Google Shape;282;g104476d1465_1_17">
            <a:extLst>
              <a:ext uri="{FF2B5EF4-FFF2-40B4-BE49-F238E27FC236}">
                <a16:creationId xmlns:a16="http://schemas.microsoft.com/office/drawing/2014/main" id="{63D1C1F1-F642-4A9C-5559-53DC74283C5D}"/>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331</a:t>
            </a:r>
          </a:p>
        </p:txBody>
      </p:sp>
      <p:pic>
        <p:nvPicPr>
          <p:cNvPr id="10" name="Google Shape;283;g104476d1465_1_17">
            <a:extLst>
              <a:ext uri="{FF2B5EF4-FFF2-40B4-BE49-F238E27FC236}">
                <a16:creationId xmlns:a16="http://schemas.microsoft.com/office/drawing/2014/main" id="{98EF773C-1EBE-F31F-EEDB-5117D9D22A3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667"/>
            <a:ext cx="1002573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331</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59" y="1406385"/>
            <a:ext cx="914664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2217DB94-8CD9-E344-BEB6-DB518B29A816}"/>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700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334839"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82138" y="1600200"/>
            <a:ext cx="911876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8313" indent="-468313">
              <a:buFont typeface="Wingdings" charset="2"/>
              <a:buChar char="q"/>
            </a:pPr>
            <a:r>
              <a:rPr lang="en-US" sz="3200" dirty="0">
                <a:latin typeface="Verdana" charset="0"/>
                <a:ea typeface="Verdana" charset="0"/>
                <a:cs typeface="Verdana" charset="0"/>
              </a:rPr>
              <a:t>I can construct a two-way relative frequency table.</a:t>
            </a:r>
          </a:p>
          <a:p>
            <a:pPr marL="468313" indent="-468313">
              <a:buFont typeface="Wingdings" charset="2"/>
              <a:buChar char="q"/>
            </a:pPr>
            <a:endParaRPr lang="en-US" sz="3200" dirty="0">
              <a:latin typeface="Verdana" charset="0"/>
              <a:ea typeface="Verdana" charset="0"/>
              <a:cs typeface="Verdana" charset="0"/>
            </a:endParaRPr>
          </a:p>
          <a:p>
            <a:pPr marL="468313" indent="-468313">
              <a:buFont typeface="Wingdings" charset="2"/>
              <a:buChar char="q"/>
            </a:pPr>
            <a:r>
              <a:rPr lang="en-US" sz="3200" dirty="0">
                <a:latin typeface="Verdana" charset="0"/>
                <a:ea typeface="Verdana" charset="0"/>
                <a:cs typeface="Verdana" charset="0"/>
              </a:rPr>
              <a:t>I can interpret joint, marginal, and conditional relative frequencies in a real-world context.  </a:t>
            </a:r>
          </a:p>
        </p:txBody>
      </p:sp>
      <p:sp>
        <p:nvSpPr>
          <p:cNvPr id="8" name="Google Shape;278;g104476d1465_1_17">
            <a:extLst>
              <a:ext uri="{FF2B5EF4-FFF2-40B4-BE49-F238E27FC236}">
                <a16:creationId xmlns:a16="http://schemas.microsoft.com/office/drawing/2014/main" id="{A7D39B40-FA5F-1945-A581-51EB744FE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33A70F79-756D-E7D6-E8FE-13E16BB398FC}"/>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331</a:t>
            </a:r>
          </a:p>
        </p:txBody>
      </p:sp>
      <p:pic>
        <p:nvPicPr>
          <p:cNvPr id="11" name="Google Shape;283;g104476d1465_1_17">
            <a:extLst>
              <a:ext uri="{FF2B5EF4-FFF2-40B4-BE49-F238E27FC236}">
                <a16:creationId xmlns:a16="http://schemas.microsoft.com/office/drawing/2014/main" id="{00AC2A4F-E857-38B3-C21D-7C9C0E7B7D4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914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120694"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29494"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4D6CA4BC-9C6B-B6D6-96CB-DACB9B6716EC}"/>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331</a:t>
            </a:r>
          </a:p>
        </p:txBody>
      </p:sp>
      <p:pic>
        <p:nvPicPr>
          <p:cNvPr id="9" name="Google Shape;283;g104476d1465_1_17">
            <a:extLst>
              <a:ext uri="{FF2B5EF4-FFF2-40B4-BE49-F238E27FC236}">
                <a16:creationId xmlns:a16="http://schemas.microsoft.com/office/drawing/2014/main" id="{A4AB9C61-2A10-224F-C67F-722A2EB947B8}"/>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2698" y="60325"/>
            <a:ext cx="101281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14.H2.1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74382" y="34952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848031" y="1386025"/>
            <a:ext cx="10279147" cy="830997"/>
          </a:xfrm>
          <a:prstGeom prst="rect">
            <a:avLst/>
          </a:prstGeom>
          <a:noFill/>
        </p:spPr>
        <p:txBody>
          <a:bodyPr wrap="square" rtlCol="0">
            <a:spAutoFit/>
          </a:bodyPr>
          <a:lstStyle/>
          <a:p>
            <a:r>
              <a:rPr lang="en-US" sz="2400" dirty="0">
                <a:latin typeface="Verdana" charset="0"/>
                <a:ea typeface="Verdana" charset="0"/>
                <a:cs typeface="Verdana" charset="0"/>
              </a:rPr>
              <a:t>The segmented bar graph represents the distribution of where some of the 2009 federal budgets were expected to go.</a:t>
            </a:r>
          </a:p>
        </p:txBody>
      </p:sp>
      <p:sp>
        <p:nvSpPr>
          <p:cNvPr id="9" name="Google Shape;278;g104476d1465_1_17">
            <a:extLst>
              <a:ext uri="{FF2B5EF4-FFF2-40B4-BE49-F238E27FC236}">
                <a16:creationId xmlns:a16="http://schemas.microsoft.com/office/drawing/2014/main" id="{2C7BF6D9-BF7E-4C45-A3A0-4D9A19E544B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21682" y="2422525"/>
            <a:ext cx="7737744" cy="3561993"/>
          </a:xfrm>
          <a:prstGeom prst="rect">
            <a:avLst/>
          </a:prstGeom>
        </p:spPr>
      </p:pic>
      <p:sp>
        <p:nvSpPr>
          <p:cNvPr id="10" name="Google Shape;282;g104476d1465_1_17">
            <a:extLst>
              <a:ext uri="{FF2B5EF4-FFF2-40B4-BE49-F238E27FC236}">
                <a16:creationId xmlns:a16="http://schemas.microsoft.com/office/drawing/2014/main" id="{24054ED5-A2E6-3667-2D1B-FCC0F0FB1DF0}"/>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331</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4"/>
            <a:ext cx="10212780" cy="3416320"/>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What do you notice?</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What do you wonder?</a:t>
            </a:r>
          </a:p>
        </p:txBody>
      </p:sp>
      <p:sp>
        <p:nvSpPr>
          <p:cNvPr id="6" name="Google Shape;278;g104476d1465_1_17">
            <a:extLst>
              <a:ext uri="{FF2B5EF4-FFF2-40B4-BE49-F238E27FC236}">
                <a16:creationId xmlns:a16="http://schemas.microsoft.com/office/drawing/2014/main" id="{E2774663-8BD9-4C47-8B0B-3F2A1E300184}"/>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04733CBC-DA35-DE24-723B-B33A6A6F7517}"/>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331</a:t>
            </a:r>
          </a:p>
        </p:txBody>
      </p:sp>
      <p:pic>
        <p:nvPicPr>
          <p:cNvPr id="8" name="Google Shape;283;g104476d1465_1_17">
            <a:extLst>
              <a:ext uri="{FF2B5EF4-FFF2-40B4-BE49-F238E27FC236}">
                <a16:creationId xmlns:a16="http://schemas.microsoft.com/office/drawing/2014/main" id="{2340F70D-E461-9A6D-0DFE-9CDFB16673C4}"/>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87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41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89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F8CA6B80-A08C-C852-BCEE-F5C97F01A5B6}"/>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332</a:t>
            </a:r>
          </a:p>
        </p:txBody>
      </p:sp>
      <p:pic>
        <p:nvPicPr>
          <p:cNvPr id="9" name="Google Shape;283;g104476d1465_1_17">
            <a:extLst>
              <a:ext uri="{FF2B5EF4-FFF2-40B4-BE49-F238E27FC236}">
                <a16:creationId xmlns:a16="http://schemas.microsoft.com/office/drawing/2014/main" id="{A44247C3-DD85-87F4-DB5A-8E5E7729D98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7745" y="60325"/>
            <a:ext cx="969130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14.H2.2 Collaboration: Two-Way Relative Frequency Tables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3092" y="25326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550222" y="1386025"/>
                <a:ext cx="10284032" cy="1446550"/>
              </a:xfrm>
              <a:prstGeom prst="rect">
                <a:avLst/>
              </a:prstGeom>
              <a:noFill/>
            </p:spPr>
            <p:txBody>
              <a:bodyPr wrap="square" rtlCol="0">
                <a:spAutoFit/>
              </a:bodyPr>
              <a:lstStyle/>
              <a:p>
                <a:pPr marL="0" marR="0">
                  <a:spcBef>
                    <a:spcPts val="0"/>
                  </a:spcBef>
                  <a:spcAft>
                    <a:spcPts val="0"/>
                  </a:spcAft>
                </a:pPr>
                <a:r>
                  <a:rPr lang="en-US" sz="2200" dirty="0">
                    <a:effectLst/>
                    <a:latin typeface="Verdana" panose="020B0604030504040204" pitchFamily="34" charset="0"/>
                    <a:ea typeface="Times New Roman" panose="02020603050405020304" pitchFamily="18" charset="0"/>
                  </a:rPr>
                  <a:t>Data was collected from a 2019 random sample of traffic accidents in Chicago. Data on the road conditions at the time of the accidents (dry, wet/slushy, icy) and the amount of damage caused (</a:t>
                </a:r>
                <a14:m>
                  <m:oMath xmlns:m="http://schemas.openxmlformats.org/officeDocument/2006/math">
                    <m:r>
                      <a:rPr lang="en-US" sz="2200" i="1">
                        <a:effectLst/>
                        <a:latin typeface="Cambria Math" panose="02040503050406030204" pitchFamily="18" charset="0"/>
                        <a:ea typeface="Times New Roman" panose="02020603050405020304" pitchFamily="18" charset="0"/>
                      </a:rPr>
                      <m:t>$500</m:t>
                    </m:r>
                  </m:oMath>
                </a14:m>
                <a:r>
                  <a:rPr lang="en-US" sz="2200" dirty="0">
                    <a:effectLst/>
                    <a:latin typeface="Verdana" panose="020B0604030504040204" pitchFamily="34" charset="0"/>
                    <a:ea typeface="Times New Roman" panose="02020603050405020304" pitchFamily="18" charset="0"/>
                  </a:rPr>
                  <a:t> or less, </a:t>
                </a:r>
                <a14:m>
                  <m:oMath xmlns:m="http://schemas.openxmlformats.org/officeDocument/2006/math">
                    <m:r>
                      <a:rPr lang="en-US" sz="2200" i="1">
                        <a:effectLst/>
                        <a:latin typeface="Cambria Math" panose="02040503050406030204" pitchFamily="18" charset="0"/>
                        <a:ea typeface="Times New Roman" panose="02020603050405020304" pitchFamily="18" charset="0"/>
                      </a:rPr>
                      <m:t>$501–$1,500</m:t>
                    </m:r>
                  </m:oMath>
                </a14:m>
                <a:r>
                  <a:rPr lang="en-US" sz="2200" dirty="0">
                    <a:effectLst/>
                    <a:latin typeface="Verdana" panose="020B0604030504040204" pitchFamily="34" charset="0"/>
                    <a:ea typeface="Times New Roman" panose="02020603050405020304" pitchFamily="18" charset="0"/>
                  </a:rPr>
                  <a:t>, more than </a:t>
                </a:r>
                <a14:m>
                  <m:oMath xmlns:m="http://schemas.openxmlformats.org/officeDocument/2006/math">
                    <m:r>
                      <a:rPr lang="en-US" sz="2200" i="1">
                        <a:effectLst/>
                        <a:latin typeface="Cambria Math" panose="02040503050406030204" pitchFamily="18" charset="0"/>
                        <a:ea typeface="Times New Roman" panose="02020603050405020304" pitchFamily="18" charset="0"/>
                      </a:rPr>
                      <m:t>$1,500</m:t>
                    </m:r>
                  </m:oMath>
                </a14:m>
                <a:r>
                  <a:rPr lang="en-US" sz="2200" dirty="0">
                    <a:effectLst/>
                    <a:latin typeface="Verdana" panose="020B0604030504040204" pitchFamily="34" charset="0"/>
                    <a:ea typeface="Times New Roman" panose="02020603050405020304" pitchFamily="18" charset="0"/>
                  </a:rPr>
                  <a:t>) is summarized.</a:t>
                </a:r>
                <a:r>
                  <a:rPr lang="en-US" sz="2200" dirty="0">
                    <a:latin typeface="Verdana" charset="0"/>
                    <a:ea typeface="Verdana" charset="0"/>
                    <a:cs typeface="Verdana" charset="0"/>
                  </a:rPr>
                  <a:t> </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50222" y="1386025"/>
                <a:ext cx="10284032" cy="1446550"/>
              </a:xfrm>
              <a:prstGeom prst="rect">
                <a:avLst/>
              </a:prstGeom>
              <a:blipFill>
                <a:blip r:embed="rId4"/>
                <a:stretch>
                  <a:fillRect l="-741" t="-1724" r="-494" b="-6897"/>
                </a:stretch>
              </a:blipFill>
            </p:spPr>
            <p:txBody>
              <a:bodyPr/>
              <a:lstStyle/>
              <a:p>
                <a:r>
                  <a:rPr lang="en-US">
                    <a:noFill/>
                  </a:rPr>
                  <a:t> </a:t>
                </a:r>
              </a:p>
            </p:txBody>
          </p:sp>
        </mc:Fallback>
      </mc:AlternateContent>
      <p:sp>
        <p:nvSpPr>
          <p:cNvPr id="12" name="Google Shape;282;g104476d1465_1_17">
            <a:extLst>
              <a:ext uri="{FF2B5EF4-FFF2-40B4-BE49-F238E27FC236}">
                <a16:creationId xmlns:a16="http://schemas.microsoft.com/office/drawing/2014/main" id="{5422EE77-0048-03CB-A12F-A5CD10E8BAA1}"/>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332</a:t>
            </a:r>
          </a:p>
        </p:txBody>
      </p:sp>
      <p:pic>
        <p:nvPicPr>
          <p:cNvPr id="13" name="Google Shape;283;g104476d1465_1_17">
            <a:extLst>
              <a:ext uri="{FF2B5EF4-FFF2-40B4-BE49-F238E27FC236}">
                <a16:creationId xmlns:a16="http://schemas.microsoft.com/office/drawing/2014/main" id="{ED911D0F-FDAD-68A3-D9A9-3241A7A0E57E}"/>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78;g104476d1465_1_17">
            <a:extLst>
              <a:ext uri="{FF2B5EF4-FFF2-40B4-BE49-F238E27FC236}">
                <a16:creationId xmlns:a16="http://schemas.microsoft.com/office/drawing/2014/main" id="{0AD4899C-48A8-B57C-3533-1B0FA16E7E8B}"/>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0238EC7-7C5B-75D6-E44F-735F27412AE3}"/>
                  </a:ext>
                </a:extLst>
              </p:cNvPr>
              <p:cNvSpPr txBox="1"/>
              <p:nvPr/>
            </p:nvSpPr>
            <p:spPr>
              <a:xfrm>
                <a:off x="723463" y="2987667"/>
                <a:ext cx="11468537" cy="2800767"/>
              </a:xfrm>
              <a:prstGeom prst="rect">
                <a:avLst/>
              </a:prstGeom>
              <a:noFill/>
            </p:spPr>
            <p:txBody>
              <a:bodyPr wrap="square" rtlCol="0">
                <a:spAutoFit/>
              </a:bodyPr>
              <a:lstStyle/>
              <a:p>
                <a:pPr marL="342900" lvl="0" indent="-342900">
                  <a:buFont typeface="Arial" panose="020B0604020202020204" pitchFamily="34" charset="0"/>
                  <a:buChar char="•"/>
                </a:pPr>
                <a14:m>
                  <m:oMath xmlns:m="http://schemas.openxmlformats.org/officeDocument/2006/math">
                    <m:r>
                      <a:rPr lang="en-US" sz="2200" i="1" smtClean="0">
                        <a:latin typeface="Cambria Math" panose="02040503050406030204" pitchFamily="18" charset="0"/>
                      </a:rPr>
                      <m:t>27.76</m:t>
                    </m:r>
                    <m:r>
                      <a:rPr lang="en-US" sz="2200">
                        <a:latin typeface="Cambria Math" panose="02040503050406030204" pitchFamily="18" charset="0"/>
                      </a:rPr>
                      <m:t>%</m:t>
                    </m:r>
                  </m:oMath>
                </a14:m>
                <a:r>
                  <a:rPr lang="en-US" sz="2200" dirty="0"/>
                  <a:t> of the accidents involved damage of </a:t>
                </a:r>
                <a14:m>
                  <m:oMath xmlns:m="http://schemas.openxmlformats.org/officeDocument/2006/math">
                    <m:r>
                      <a:rPr lang="en-US" sz="2200">
                        <a:latin typeface="Cambria Math" panose="02040503050406030204" pitchFamily="18" charset="0"/>
                      </a:rPr>
                      <m:t>$500</m:t>
                    </m:r>
                  </m:oMath>
                </a14:m>
                <a:r>
                  <a:rPr lang="en-US" sz="2200" dirty="0"/>
                  <a:t> or less.</a:t>
                </a:r>
              </a:p>
              <a:p>
                <a:pPr marL="342900" lvl="0" indent="-342900">
                  <a:buFont typeface="Arial" panose="020B0604020202020204" pitchFamily="34" charset="0"/>
                  <a:buChar char="•"/>
                </a:pPr>
                <a14:m>
                  <m:oMath xmlns:m="http://schemas.openxmlformats.org/officeDocument/2006/math">
                    <m:r>
                      <a:rPr lang="en-US" sz="2200">
                        <a:latin typeface="Cambria Math" panose="02040503050406030204" pitchFamily="18" charset="0"/>
                      </a:rPr>
                      <m:t>28.77%</m:t>
                    </m:r>
                  </m:oMath>
                </a14:m>
                <a:r>
                  <a:rPr lang="en-US" sz="2200" dirty="0"/>
                  <a:t> of the accidents involved damage of </a:t>
                </a:r>
                <a14:m>
                  <m:oMath xmlns:m="http://schemas.openxmlformats.org/officeDocument/2006/math">
                    <m:r>
                      <a:rPr lang="en-US" sz="2200">
                        <a:latin typeface="Cambria Math" panose="02040503050406030204" pitchFamily="18" charset="0"/>
                      </a:rPr>
                      <m:t>$501</m:t>
                    </m:r>
                  </m:oMath>
                </a14:m>
                <a:r>
                  <a:rPr lang="en-US" sz="2200" dirty="0"/>
                  <a:t> to </a:t>
                </a:r>
                <a14:m>
                  <m:oMath xmlns:m="http://schemas.openxmlformats.org/officeDocument/2006/math">
                    <m:r>
                      <a:rPr lang="en-US" sz="2200">
                        <a:latin typeface="Cambria Math" panose="02040503050406030204" pitchFamily="18" charset="0"/>
                      </a:rPr>
                      <m:t>$1,500</m:t>
                    </m:r>
                  </m:oMath>
                </a14:m>
                <a:r>
                  <a:rPr lang="en-US" sz="2200" dirty="0"/>
                  <a:t>.</a:t>
                </a:r>
              </a:p>
              <a:p>
                <a:pPr marL="342900" lvl="0" indent="-342900">
                  <a:buFont typeface="Arial" panose="020B0604020202020204" pitchFamily="34" charset="0"/>
                  <a:buChar char="•"/>
                </a:pPr>
                <a14:m>
                  <m:oMath xmlns:m="http://schemas.openxmlformats.org/officeDocument/2006/math">
                    <m:r>
                      <a:rPr lang="en-US" sz="2200">
                        <a:latin typeface="Cambria Math" panose="02040503050406030204" pitchFamily="18" charset="0"/>
                      </a:rPr>
                      <m:t>78.43%</m:t>
                    </m:r>
                  </m:oMath>
                </a14:m>
                <a:r>
                  <a:rPr lang="en-US" sz="2200" dirty="0"/>
                  <a:t> of the accidents involved dry road conditions.</a:t>
                </a:r>
              </a:p>
              <a:p>
                <a:pPr marL="342900" lvl="0" indent="-342900">
                  <a:buFont typeface="Arial" panose="020B0604020202020204" pitchFamily="34" charset="0"/>
                  <a:buChar char="•"/>
                </a:pPr>
                <a14:m>
                  <m:oMath xmlns:m="http://schemas.openxmlformats.org/officeDocument/2006/math">
                    <m:r>
                      <a:rPr lang="en-US" sz="2200">
                        <a:latin typeface="Cambria Math" panose="02040503050406030204" pitchFamily="18" charset="0"/>
                      </a:rPr>
                      <m:t>20.40%</m:t>
                    </m:r>
                  </m:oMath>
                </a14:m>
                <a:r>
                  <a:rPr lang="en-US" sz="2200" dirty="0"/>
                  <a:t> of the accidents involved wet/slushy road conditions.</a:t>
                </a:r>
              </a:p>
              <a:p>
                <a:pPr marL="342900" lvl="0" indent="-342900">
                  <a:buFont typeface="Arial" panose="020B0604020202020204" pitchFamily="34" charset="0"/>
                  <a:buChar char="•"/>
                </a:pPr>
                <a:r>
                  <a:rPr lang="en-US" sz="2200" dirty="0"/>
                  <a:t>Of the accidents with damage of more than </a:t>
                </a:r>
                <a14:m>
                  <m:oMath xmlns:m="http://schemas.openxmlformats.org/officeDocument/2006/math">
                    <m:r>
                      <a:rPr lang="en-US" sz="2200">
                        <a:latin typeface="Cambria Math" panose="02040503050406030204" pitchFamily="18" charset="0"/>
                      </a:rPr>
                      <m:t>$1,500</m:t>
                    </m:r>
                  </m:oMath>
                </a14:m>
                <a:r>
                  <a:rPr lang="en-US" sz="2200" dirty="0"/>
                  <a:t>, </a:t>
                </a:r>
                <a14:m>
                  <m:oMath xmlns:m="http://schemas.openxmlformats.org/officeDocument/2006/math">
                    <m:r>
                      <a:rPr lang="en-US" sz="2200">
                        <a:latin typeface="Cambria Math" panose="02040503050406030204" pitchFamily="18" charset="0"/>
                      </a:rPr>
                      <m:t>69.77%</m:t>
                    </m:r>
                  </m:oMath>
                </a14:m>
                <a:r>
                  <a:rPr lang="en-US" sz="2200" dirty="0"/>
                  <a:t> involved dry road conditions.</a:t>
                </a:r>
              </a:p>
              <a:p>
                <a:pPr marL="342900" lvl="0" indent="-342900">
                  <a:buFont typeface="Arial" panose="020B0604020202020204" pitchFamily="34" charset="0"/>
                  <a:buChar char="•"/>
                </a:pPr>
                <a:r>
                  <a:rPr lang="en-US" sz="2200" dirty="0"/>
                  <a:t>Of the accidents with damage of </a:t>
                </a:r>
                <a14:m>
                  <m:oMath xmlns:m="http://schemas.openxmlformats.org/officeDocument/2006/math">
                    <m:r>
                      <a:rPr lang="en-US" sz="2200">
                        <a:latin typeface="Cambria Math" panose="02040503050406030204" pitchFamily="18" charset="0"/>
                      </a:rPr>
                      <m:t>$501–$1,500</m:t>
                    </m:r>
                  </m:oMath>
                </a14:m>
                <a:r>
                  <a:rPr lang="en-US" sz="2200" dirty="0"/>
                  <a:t>, </a:t>
                </a:r>
                <a14:m>
                  <m:oMath xmlns:m="http://schemas.openxmlformats.org/officeDocument/2006/math">
                    <m:r>
                      <a:rPr lang="en-US" sz="2200">
                        <a:latin typeface="Cambria Math" panose="02040503050406030204" pitchFamily="18" charset="0"/>
                      </a:rPr>
                      <m:t>80.22%</m:t>
                    </m:r>
                  </m:oMath>
                </a14:m>
                <a:r>
                  <a:rPr lang="en-US" sz="2200" dirty="0"/>
                  <a:t> involved dry road conditions.</a:t>
                </a:r>
              </a:p>
              <a:p>
                <a:pPr marL="342900" lvl="0" indent="-342900">
                  <a:buFont typeface="Arial" panose="020B0604020202020204" pitchFamily="34" charset="0"/>
                  <a:buChar char="•"/>
                </a:pPr>
                <a14:m>
                  <m:oMath xmlns:m="http://schemas.openxmlformats.org/officeDocument/2006/math">
                    <m:r>
                      <a:rPr lang="en-US" sz="2200">
                        <a:latin typeface="Cambria Math" panose="02040503050406030204" pitchFamily="18" charset="0"/>
                      </a:rPr>
                      <m:t>24.79%</m:t>
                    </m:r>
                  </m:oMath>
                </a14:m>
                <a:r>
                  <a:rPr lang="en-US" sz="2200" dirty="0"/>
                  <a:t> of the accidents with icy road conditions had damage of </a:t>
                </a:r>
                <a14:m>
                  <m:oMath xmlns:m="http://schemas.openxmlformats.org/officeDocument/2006/math">
                    <m:r>
                      <a:rPr lang="en-US" sz="2200">
                        <a:latin typeface="Cambria Math" panose="02040503050406030204" pitchFamily="18" charset="0"/>
                      </a:rPr>
                      <m:t>$501–$1,500</m:t>
                    </m:r>
                  </m:oMath>
                </a14:m>
                <a:r>
                  <a:rPr lang="en-US" sz="2200" dirty="0"/>
                  <a:t>.</a:t>
                </a:r>
              </a:p>
              <a:p>
                <a:pPr marL="342900" lvl="0" indent="-342900">
                  <a:buFont typeface="Arial" panose="020B0604020202020204" pitchFamily="34" charset="0"/>
                  <a:buChar char="•"/>
                </a:pPr>
                <a14:m>
                  <m:oMath xmlns:m="http://schemas.openxmlformats.org/officeDocument/2006/math">
                    <m:r>
                      <a:rPr lang="en-US" sz="2200">
                        <a:latin typeface="Cambria Math" panose="02040503050406030204" pitchFamily="18" charset="0"/>
                      </a:rPr>
                      <m:t>10.26%</m:t>
                    </m:r>
                  </m:oMath>
                </a14:m>
                <a:r>
                  <a:rPr lang="en-US" sz="2200" dirty="0"/>
                  <a:t> of the accidents with icy road conditions had damage of </a:t>
                </a:r>
                <a14:m>
                  <m:oMath xmlns:m="http://schemas.openxmlformats.org/officeDocument/2006/math">
                    <m:r>
                      <a:rPr lang="en-US" sz="2200" i="1">
                        <a:latin typeface="Cambria Math" panose="02040503050406030204" pitchFamily="18" charset="0"/>
                      </a:rPr>
                      <m:t>$500</m:t>
                    </m:r>
                  </m:oMath>
                </a14:m>
                <a:r>
                  <a:rPr lang="en-US" sz="2200" dirty="0"/>
                  <a:t> or less.</a:t>
                </a:r>
              </a:p>
            </p:txBody>
          </p:sp>
        </mc:Choice>
        <mc:Fallback>
          <p:sp>
            <p:nvSpPr>
              <p:cNvPr id="2" name="TextBox 1">
                <a:extLst>
                  <a:ext uri="{FF2B5EF4-FFF2-40B4-BE49-F238E27FC236}">
                    <a16:creationId xmlns:a16="http://schemas.microsoft.com/office/drawing/2014/main" id="{20238EC7-7C5B-75D6-E44F-735F27412AE3}"/>
                  </a:ext>
                </a:extLst>
              </p:cNvPr>
              <p:cNvSpPr txBox="1">
                <a:spLocks noRot="1" noChangeAspect="1" noMove="1" noResize="1" noEditPoints="1" noAdjustHandles="1" noChangeArrowheads="1" noChangeShapeType="1" noTextEdit="1"/>
              </p:cNvSpPr>
              <p:nvPr/>
            </p:nvSpPr>
            <p:spPr>
              <a:xfrm>
                <a:off x="723463" y="2987667"/>
                <a:ext cx="11468537" cy="2800767"/>
              </a:xfrm>
              <a:prstGeom prst="rect">
                <a:avLst/>
              </a:prstGeom>
              <a:blipFill>
                <a:blip r:embed="rId6"/>
                <a:stretch>
                  <a:fillRect l="-664" t="-1351" r="-442" b="-3153"/>
                </a:stretch>
              </a:blipFill>
            </p:spPr>
            <p:txBody>
              <a:bodyPr/>
              <a:lstStyle/>
              <a:p>
                <a:r>
                  <a:rPr lang="en-US">
                    <a:noFill/>
                  </a:rPr>
                  <a:t> </a:t>
                </a:r>
              </a:p>
            </p:txBody>
          </p:sp>
        </mc:Fallback>
      </mc:AlternateContent>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785830" y="520393"/>
            <a:ext cx="10365099" cy="830997"/>
          </a:xfrm>
          <a:prstGeom prst="rect">
            <a:avLst/>
          </a:prstGeom>
          <a:noFill/>
        </p:spPr>
        <p:txBody>
          <a:bodyPr wrap="square" rtlCol="0">
            <a:spAutoFit/>
          </a:bodyPr>
          <a:lstStyle/>
          <a:p>
            <a:pPr marL="457200" marR="0" lvl="0" indent="-457200">
              <a:spcBef>
                <a:spcPts val="0"/>
              </a:spcBef>
              <a:spcAft>
                <a:spcPts val="1000"/>
              </a:spcAft>
              <a:buSzPts val="1800"/>
              <a:buFont typeface="+mj-lt"/>
              <a:buAutoNum type="arabicPeriod"/>
            </a:pPr>
            <a:r>
              <a:rPr lang="en-US" sz="2400" dirty="0">
                <a:effectLst/>
                <a:latin typeface="Verdana" panose="020B0604030504040204" pitchFamily="34" charset="0"/>
                <a:ea typeface="Times New Roman" panose="02020603050405020304" pitchFamily="18" charset="0"/>
                <a:cs typeface="Cambria" panose="02040503050406030204" pitchFamily="18" charset="0"/>
              </a:rPr>
              <a:t>Use the data provided to construct a two-way relative frequency table. Round values to the nearest hundredth.</a:t>
            </a:r>
            <a:endParaRPr lang="en-US" sz="2400" dirty="0">
              <a:effectLst/>
              <a:latin typeface="Cambria" panose="02040503050406030204" pitchFamily="18" charset="0"/>
              <a:ea typeface="Times New Roman" panose="02020603050405020304" pitchFamily="18" charset="0"/>
              <a:cs typeface="Cambria" panose="02040503050406030204" pitchFamily="18" charset="0"/>
            </a:endParaRPr>
          </a:p>
        </p:txBody>
      </p:sp>
      <p:sp>
        <p:nvSpPr>
          <p:cNvPr id="8" name="Google Shape;282;g104476d1465_1_17">
            <a:extLst>
              <a:ext uri="{FF2B5EF4-FFF2-40B4-BE49-F238E27FC236}">
                <a16:creationId xmlns:a16="http://schemas.microsoft.com/office/drawing/2014/main" id="{6D878C1B-1E1C-7F09-D034-A1883A9B8F93}"/>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332</a:t>
            </a:r>
          </a:p>
        </p:txBody>
      </p:sp>
      <p:pic>
        <p:nvPicPr>
          <p:cNvPr id="9" name="Google Shape;283;g104476d1465_1_17">
            <a:extLst>
              <a:ext uri="{FF2B5EF4-FFF2-40B4-BE49-F238E27FC236}">
                <a16:creationId xmlns:a16="http://schemas.microsoft.com/office/drawing/2014/main" id="{A8662835-A095-07F1-58C0-79853373974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78;g104476d1465_1_17">
            <a:extLst>
              <a:ext uri="{FF2B5EF4-FFF2-40B4-BE49-F238E27FC236}">
                <a16:creationId xmlns:a16="http://schemas.microsoft.com/office/drawing/2014/main" id="{C39082D7-6631-5848-AD8C-19B375C008C6}"/>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5" name="Picture 4">
            <a:extLst>
              <a:ext uri="{FF2B5EF4-FFF2-40B4-BE49-F238E27FC236}">
                <a16:creationId xmlns:a16="http://schemas.microsoft.com/office/drawing/2014/main" id="{97E81CF8-A17F-5EDE-E0F6-9022B17A2A92}"/>
              </a:ext>
            </a:extLst>
          </p:cNvPr>
          <p:cNvPicPr>
            <a:picLocks noChangeAspect="1"/>
          </p:cNvPicPr>
          <p:nvPr/>
        </p:nvPicPr>
        <p:blipFill>
          <a:blip r:embed="rId4"/>
          <a:stretch>
            <a:fillRect/>
          </a:stretch>
        </p:blipFill>
        <p:spPr>
          <a:xfrm>
            <a:off x="2679700" y="1528535"/>
            <a:ext cx="6507720" cy="4088493"/>
          </a:xfrm>
          <a:prstGeom prst="rect">
            <a:avLst/>
          </a:prstGeom>
        </p:spPr>
      </p:pic>
    </p:spTree>
    <p:extLst>
      <p:ext uri="{BB962C8B-B14F-4D97-AF65-F5344CB8AC3E}">
        <p14:creationId xmlns:p14="http://schemas.microsoft.com/office/powerpoint/2010/main" val="1469502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43147" y="520394"/>
                <a:ext cx="10284032" cy="3785652"/>
              </a:xfrm>
              <a:prstGeom prst="rect">
                <a:avLst/>
              </a:prstGeom>
              <a:noFill/>
            </p:spPr>
            <p:txBody>
              <a:bodyPr wrap="square" rtlCol="0">
                <a:spAutoFit/>
              </a:bodyPr>
              <a:lstStyle/>
              <a:p>
                <a:pPr marL="342900" marR="34290" lvl="0" indent="-342900">
                  <a:spcBef>
                    <a:spcPts val="0"/>
                  </a:spcBef>
                  <a:spcAft>
                    <a:spcPts val="0"/>
                  </a:spcAft>
                  <a:buSzPts val="1800"/>
                  <a:buFont typeface="+mj-lt"/>
                  <a:buAutoNum type="arabicPeriod" startAt="2"/>
                </a:pPr>
                <a:r>
                  <a:rPr lang="en-US" sz="2400" dirty="0">
                    <a:effectLst/>
                    <a:latin typeface="Verdana" panose="020B0604030504040204" pitchFamily="34" charset="0"/>
                    <a:ea typeface="Times New Roman" panose="02020603050405020304" pitchFamily="18" charset="0"/>
                    <a:cs typeface="Cambria" panose="02040503050406030204" pitchFamily="18" charset="0"/>
                  </a:rPr>
                  <a:t>Interpret the joint relative frequency for dry road conditions with damage of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Cambria" panose="02040503050406030204" pitchFamily="18" charset="0"/>
                      </a:rPr>
                      <m:t>$500</m:t>
                    </m:r>
                  </m:oMath>
                </a14:m>
                <a:r>
                  <a:rPr lang="en-US" sz="2400" dirty="0">
                    <a:effectLst/>
                    <a:latin typeface="Verdana" panose="020B0604030504040204" pitchFamily="34" charset="0"/>
                    <a:ea typeface="Times New Roman" panose="02020603050405020304" pitchFamily="18" charset="0"/>
                    <a:cs typeface="Cambria" panose="02040503050406030204" pitchFamily="18" charset="0"/>
                  </a:rPr>
                  <a:t> or less.</a:t>
                </a:r>
                <a:endParaRPr lang="en-US" sz="2400" dirty="0">
                  <a:effectLst/>
                  <a:latin typeface="Cambria" panose="02040503050406030204" pitchFamily="18" charset="0"/>
                  <a:ea typeface="Times New Roman" panose="02020603050405020304" pitchFamily="18" charset="0"/>
                  <a:cs typeface="Cambria" panose="02040503050406030204" pitchFamily="18"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342900" marR="34290" lvl="0" indent="-342900">
                  <a:spcBef>
                    <a:spcPts val="0"/>
                  </a:spcBef>
                  <a:spcAft>
                    <a:spcPts val="0"/>
                  </a:spcAft>
                  <a:buSzPts val="1800"/>
                  <a:buFont typeface="+mj-lt"/>
                  <a:buAutoNum type="arabicPeriod" startAt="3"/>
                </a:pPr>
                <a:r>
                  <a:rPr lang="en-US" sz="2400" dirty="0">
                    <a:effectLst/>
                    <a:latin typeface="Verdana" panose="020B0604030504040204" pitchFamily="34" charset="0"/>
                    <a:ea typeface="Times New Roman" panose="02020603050405020304" pitchFamily="18" charset="0"/>
                    <a:cs typeface="Cambria" panose="02040503050406030204" pitchFamily="18" charset="0"/>
                  </a:rPr>
                  <a:t>Interpret the marginal relative frequency for traffic accidents that had icy road conditions. </a:t>
                </a:r>
                <a:endParaRPr lang="en-US" sz="2400" dirty="0">
                  <a:effectLst/>
                  <a:latin typeface="Cambria" panose="02040503050406030204" pitchFamily="18" charset="0"/>
                  <a:ea typeface="Times New Roman" panose="02020603050405020304" pitchFamily="18" charset="0"/>
                  <a:cs typeface="Cambria" panose="02040503050406030204" pitchFamily="18"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43147" y="520394"/>
                <a:ext cx="10284032" cy="3785652"/>
              </a:xfrm>
              <a:prstGeom prst="rect">
                <a:avLst/>
              </a:prstGeom>
              <a:blipFill>
                <a:blip r:embed="rId3"/>
                <a:stretch>
                  <a:fillRect l="-493" t="-1338" b="-301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32CC3132-3671-D3BD-9B91-1AE693A9D6E8}"/>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332</a:t>
            </a:r>
          </a:p>
        </p:txBody>
      </p:sp>
      <p:pic>
        <p:nvPicPr>
          <p:cNvPr id="8" name="Google Shape;283;g104476d1465_1_17">
            <a:extLst>
              <a:ext uri="{FF2B5EF4-FFF2-40B4-BE49-F238E27FC236}">
                <a16:creationId xmlns:a16="http://schemas.microsoft.com/office/drawing/2014/main" id="{48C28DEE-BEEB-1127-11A7-A1BD3C710255}"/>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45579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683928" y="238867"/>
            <a:ext cx="10866922" cy="4524315"/>
          </a:xfrm>
          <a:prstGeom prst="rect">
            <a:avLst/>
          </a:prstGeom>
          <a:noFill/>
        </p:spPr>
        <p:txBody>
          <a:bodyPr wrap="square" rtlCol="0">
            <a:spAutoFit/>
          </a:bodyPr>
          <a:lstStyle/>
          <a:p>
            <a:pPr marL="457200" indent="-457200">
              <a:buFont typeface="+mj-lt"/>
              <a:buAutoNum type="arabicPeriod" startAt="4"/>
            </a:pPr>
            <a:r>
              <a:rPr lang="en-US" sz="2400" dirty="0">
                <a:effectLst/>
                <a:latin typeface="Verdana" panose="020B0604030504040204" pitchFamily="34" charset="0"/>
                <a:ea typeface="Times New Roman" panose="02020603050405020304" pitchFamily="18" charset="0"/>
                <a:cs typeface="Times New Roman" panose="02020603050405020304" pitchFamily="18" charset="0"/>
              </a:rPr>
              <a:t>When the road conditions are icy, is the likelihood of the different amounts of damage the same? Explain your reasoning using conditional relative frequencies.</a:t>
            </a:r>
            <a:r>
              <a:rPr lang="en-US" sz="2400" dirty="0">
                <a:effectLst/>
              </a:rPr>
              <a:t> </a:t>
            </a:r>
            <a:endParaRPr lang="en-US" sz="2400" dirty="0">
              <a:latin typeface="Verdana" charset="0"/>
              <a:ea typeface="Verdana" charset="0"/>
              <a:cs typeface="Verdana" charset="0"/>
            </a:endParaRPr>
          </a:p>
          <a:p>
            <a:pPr marL="457200" indent="-457200">
              <a:buFont typeface="+mj-lt"/>
              <a:buAutoNum type="arabicPeriod" startAt="4"/>
            </a:pPr>
            <a:endParaRPr lang="en-US" sz="2400" dirty="0">
              <a:latin typeface="Verdana" charset="0"/>
              <a:ea typeface="Verdana" charset="0"/>
              <a:cs typeface="Verdana" charset="0"/>
            </a:endParaRPr>
          </a:p>
          <a:p>
            <a:pPr marL="457200" indent="-457200">
              <a:buFont typeface="+mj-lt"/>
              <a:buAutoNum type="arabicPeriod" startAt="4"/>
            </a:pPr>
            <a:endParaRPr lang="en-US" sz="2400" dirty="0">
              <a:latin typeface="Verdana" charset="0"/>
              <a:ea typeface="Verdana" charset="0"/>
              <a:cs typeface="Verdana" charset="0"/>
            </a:endParaRPr>
          </a:p>
          <a:p>
            <a:pPr marL="457200" indent="-457200">
              <a:buFont typeface="+mj-lt"/>
              <a:buAutoNum type="arabicPeriod" startAt="4"/>
            </a:pPr>
            <a:endParaRPr lang="en-US" sz="2400" dirty="0">
              <a:latin typeface="Verdana" charset="0"/>
              <a:ea typeface="Verdana" charset="0"/>
              <a:cs typeface="Verdana" charset="0"/>
            </a:endParaRPr>
          </a:p>
          <a:p>
            <a:pPr marL="457200" indent="-457200">
              <a:buFont typeface="+mj-lt"/>
              <a:buAutoNum type="arabicPeriod" startAt="4"/>
            </a:pPr>
            <a:r>
              <a:rPr lang="en-US" sz="2400" dirty="0">
                <a:effectLst/>
                <a:latin typeface="Verdana" panose="020B0604030504040204" pitchFamily="34" charset="0"/>
                <a:ea typeface="Times New Roman" panose="02020603050405020304" pitchFamily="18" charset="0"/>
                <a:cs typeface="Times New Roman" panose="02020603050405020304" pitchFamily="18" charset="0"/>
              </a:rPr>
              <a:t>Does there appear to be an association between road conditions and the amount of damage caused? </a:t>
            </a:r>
            <a:endParaRPr lang="en-US" sz="2400" dirty="0">
              <a:latin typeface="Verdana" charset="0"/>
              <a:ea typeface="Verdana" charset="0"/>
              <a:cs typeface="Verdana" charset="0"/>
            </a:endParaRPr>
          </a:p>
          <a:p>
            <a:pPr marL="457200" indent="-457200">
              <a:buFont typeface="+mj-lt"/>
              <a:buAutoNum type="arabicPeriod" startAt="4"/>
            </a:pPr>
            <a:endParaRPr lang="en-US" sz="2400" dirty="0">
              <a:latin typeface="Verdana" charset="0"/>
              <a:ea typeface="Verdana" charset="0"/>
              <a:cs typeface="Verdana" charset="0"/>
            </a:endParaRPr>
          </a:p>
          <a:p>
            <a:pPr marL="457200" indent="-457200">
              <a:buFont typeface="+mj-lt"/>
              <a:buAutoNum type="arabicPeriod" startAt="4"/>
            </a:pPr>
            <a:endParaRPr lang="en-US" sz="2400" dirty="0">
              <a:latin typeface="Verdana" charset="0"/>
              <a:ea typeface="Verdana" charset="0"/>
              <a:cs typeface="Verdana" charset="0"/>
            </a:endParaRPr>
          </a:p>
          <a:p>
            <a:pPr marL="457200" indent="-457200">
              <a:buFont typeface="+mj-lt"/>
              <a:buAutoNum type="arabicPeriod" startAt="4"/>
            </a:pPr>
            <a:r>
              <a:rPr lang="en-US" sz="2400" dirty="0">
                <a:effectLst/>
                <a:latin typeface="Verdana" panose="020B0604030504040204" pitchFamily="34" charset="0"/>
                <a:ea typeface="Times New Roman" panose="02020603050405020304" pitchFamily="18" charset="0"/>
                <a:cs typeface="Times New Roman" panose="02020603050405020304" pitchFamily="18" charset="0"/>
              </a:rPr>
              <a:t>Does this mean that more hazardous road conditions cause more damage in traffic accidents?</a:t>
            </a:r>
            <a:r>
              <a:rPr lang="en-US" sz="2400" dirty="0">
                <a:effectLst/>
              </a:rPr>
              <a:t> </a:t>
            </a:r>
            <a:endParaRPr lang="en-US" sz="24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40"/>
          <p:cNvSpPr txBox="1"/>
          <p:nvPr/>
        </p:nvSpPr>
        <p:spPr>
          <a:xfrm>
            <a:off x="1575322" y="4763182"/>
            <a:ext cx="7717785" cy="1650144"/>
          </a:xfrm>
          <a:prstGeom prst="roundRect">
            <a:avLst/>
          </a:prstGeom>
          <a:blipFill dpi="0" rotWithShape="1">
            <a:blip r:embed="rId3">
              <a:extLst>
                <a:ext uri="{28A0092B-C50C-407E-A947-70E740481C1C}">
                  <a14:useLocalDpi xmlns:a14="http://schemas.microsoft.com/office/drawing/2010/main"/>
                </a:ext>
              </a:extLst>
            </a:blip>
            <a:srcRect/>
            <a:stretch>
              <a:fillRect/>
            </a:stretch>
          </a:blip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8688"/>
            <a:r>
              <a:rPr lang="en-US" sz="2000" dirty="0">
                <a:solidFill>
                  <a:srgbClr val="0070C0"/>
                </a:solidFill>
                <a:latin typeface="Verdana" charset="0"/>
                <a:ea typeface="Verdana" charset="0"/>
                <a:cs typeface="Verdana" charset="0"/>
              </a:rPr>
              <a:t>Association does not imply causation! </a:t>
            </a:r>
          </a:p>
          <a:p>
            <a:pPr marL="928688"/>
            <a:r>
              <a:rPr lang="en-US" sz="2000" dirty="0">
                <a:solidFill>
                  <a:srgbClr val="0070C0"/>
                </a:solidFill>
                <a:latin typeface="Verdana" charset="0"/>
                <a:ea typeface="Verdana" charset="0"/>
                <a:cs typeface="Verdana" charset="0"/>
              </a:rPr>
              <a:t>If there is an association between two variables, it does not mean that one causes the other. </a:t>
            </a:r>
          </a:p>
          <a:p>
            <a:pPr marL="928688"/>
            <a:r>
              <a:rPr lang="en-US" sz="2000" dirty="0">
                <a:solidFill>
                  <a:srgbClr val="0070C0"/>
                </a:solidFill>
                <a:latin typeface="Verdana" charset="0"/>
                <a:ea typeface="Verdana" charset="0"/>
                <a:cs typeface="Verdana" charset="0"/>
              </a:rPr>
              <a:t>Two variables can be associated without having a causal relationship.</a:t>
            </a:r>
          </a:p>
        </p:txBody>
      </p:sp>
      <p:pic>
        <p:nvPicPr>
          <p:cNvPr id="8" name="Picture 7"/>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852175" y="4866896"/>
            <a:ext cx="542544" cy="530352"/>
          </a:xfrm>
          <a:prstGeom prst="rect">
            <a:avLst/>
          </a:prstGeom>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5CEE6B29-B0D0-F0BD-1490-F844F88E0389}"/>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333</a:t>
            </a:r>
          </a:p>
        </p:txBody>
      </p:sp>
      <p:pic>
        <p:nvPicPr>
          <p:cNvPr id="10" name="Google Shape;283;g104476d1465_1_17">
            <a:extLst>
              <a:ext uri="{FF2B5EF4-FFF2-40B4-BE49-F238E27FC236}">
                <a16:creationId xmlns:a16="http://schemas.microsoft.com/office/drawing/2014/main" id="{D5917473-7E9D-FAB1-2FE5-CDBE92449B00}"/>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85330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537247" y="163033"/>
            <a:ext cx="11577453" cy="5940088"/>
          </a:xfrm>
          <a:prstGeom prst="rect">
            <a:avLst/>
          </a:prstGeom>
          <a:noFill/>
        </p:spPr>
        <p:txBody>
          <a:bodyPr wrap="square" rtlCol="0">
            <a:spAutoFit/>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rPr>
              <a:t>Another way to represent bivariate categorical data from a two-way relative frequency table is with a segmented bar graph. These graphs are helpful in visualizing comparisons between different variables by identifying how much larger or smaller different parts of each bar are compared to other bars. </a:t>
            </a:r>
            <a:endParaRPr lang="en-US" sz="2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rPr>
              <a:t>The data from the two-way frequency table can be displayed in a segmented bar graph as shown.</a:t>
            </a:r>
            <a:endParaRPr lang="en-US" sz="2000" dirty="0">
              <a:effectLst/>
              <a:latin typeface="Times New Roman" panose="02020603050405020304" pitchFamily="18" charset="0"/>
              <a:ea typeface="Times New Roman" panose="02020603050405020304" pitchFamily="18" charset="0"/>
            </a:endParaRPr>
          </a:p>
          <a:p>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r>
              <a:rPr lang="en-US" sz="2000" dirty="0">
                <a:latin typeface="Verdana" charset="0"/>
                <a:ea typeface="Verdana" charset="0"/>
                <a:cs typeface="Verdana" charset="0"/>
              </a:rPr>
              <a:t>With your partner, discuss the similarities and differences between the two-way relative frequency table and the segmented bar graph. Summarize your discussion.</a:t>
            </a:r>
          </a:p>
        </p:txBody>
      </p:sp>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C806B020-851F-F89A-A890-A70263C84355}"/>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333</a:t>
            </a:r>
          </a:p>
        </p:txBody>
      </p:sp>
      <p:pic>
        <p:nvPicPr>
          <p:cNvPr id="8" name="Google Shape;283;g104476d1465_1_17">
            <a:extLst>
              <a:ext uri="{FF2B5EF4-FFF2-40B4-BE49-F238E27FC236}">
                <a16:creationId xmlns:a16="http://schemas.microsoft.com/office/drawing/2014/main" id="{F5D2C587-9721-018D-4828-F39A433293C2}"/>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descr="A graph of blue and orange bars&#10;&#10;Description automatically generated">
            <a:extLst>
              <a:ext uri="{FF2B5EF4-FFF2-40B4-BE49-F238E27FC236}">
                <a16:creationId xmlns:a16="http://schemas.microsoft.com/office/drawing/2014/main" id="{E7111B05-B730-9BEC-8D12-C3C93F473D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1076" y="2183006"/>
            <a:ext cx="4769848" cy="3209958"/>
          </a:xfrm>
          <a:prstGeom prst="rect">
            <a:avLst/>
          </a:prstGeom>
        </p:spPr>
      </p:pic>
    </p:spTree>
    <p:extLst>
      <p:ext uri="{BB962C8B-B14F-4D97-AF65-F5344CB8AC3E}">
        <p14:creationId xmlns:p14="http://schemas.microsoft.com/office/powerpoint/2010/main" val="1979370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601429"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98315"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86C2A0EA-1332-CA72-FF2F-2D04EA274815}"/>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334</a:t>
            </a:r>
          </a:p>
        </p:txBody>
      </p:sp>
      <p:pic>
        <p:nvPicPr>
          <p:cNvPr id="9" name="Google Shape;283;g104476d1465_1_17">
            <a:extLst>
              <a:ext uri="{FF2B5EF4-FFF2-40B4-BE49-F238E27FC236}">
                <a16:creationId xmlns:a16="http://schemas.microsoft.com/office/drawing/2014/main" id="{A432D53F-0001-5378-41D5-68695787E65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22698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84416" y="60325"/>
            <a:ext cx="10066434" cy="108720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14.H2.3 Try It: Interpreting Relative Frequencies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8904" y="22902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843147" y="1261966"/>
            <a:ext cx="10295908" cy="1569660"/>
          </a:xfrm>
          <a:prstGeom prst="rect">
            <a:avLst/>
          </a:prstGeom>
          <a:noFill/>
        </p:spPr>
        <p:txBody>
          <a:bodyPr wrap="square" rtlCol="0">
            <a:spAutoFit/>
          </a:bodyPr>
          <a:lstStyle/>
          <a:p>
            <a:pPr marL="0" marR="0">
              <a:spcBef>
                <a:spcPts val="0"/>
              </a:spcBef>
              <a:spcAft>
                <a:spcPts val="0"/>
              </a:spcAft>
            </a:pPr>
            <a:r>
              <a:rPr lang="en-US" sz="2400" dirty="0">
                <a:effectLst/>
                <a:latin typeface="Verdana" panose="020B0604030504040204" pitchFamily="34" charset="0"/>
                <a:ea typeface="Times New Roman" panose="02020603050405020304" pitchFamily="18" charset="0"/>
              </a:rPr>
              <a:t>The General Social Survey (GSS) interviews a random sample of Americans every two years. In one question, respondents are asked to rate their general happiness level. Sample results for 1972, 1998, and 2021 are summarized in the table.</a:t>
            </a:r>
            <a:endParaRPr lang="en-US" sz="2400" dirty="0">
              <a:effectLst/>
              <a:latin typeface="Times New Roman" panose="02020603050405020304" pitchFamily="18" charset="0"/>
              <a:ea typeface="Times New Roman" panose="02020603050405020304" pitchFamily="18" charset="0"/>
            </a:endParaRPr>
          </a:p>
        </p:txBody>
      </p:sp>
      <p:sp>
        <p:nvSpPr>
          <p:cNvPr id="11" name="Google Shape;278;g104476d1465_1_17">
            <a:extLst>
              <a:ext uri="{FF2B5EF4-FFF2-40B4-BE49-F238E27FC236}">
                <a16:creationId xmlns:a16="http://schemas.microsoft.com/office/drawing/2014/main" id="{244F00A5-2AA6-AE4D-816C-EE9779D15DDB}"/>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A711D70F-83E6-23A8-BABF-E48D57A6D717}"/>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334</a:t>
            </a:r>
          </a:p>
        </p:txBody>
      </p:sp>
      <p:pic>
        <p:nvPicPr>
          <p:cNvPr id="13" name="Google Shape;283;g104476d1465_1_17">
            <a:extLst>
              <a:ext uri="{FF2B5EF4-FFF2-40B4-BE49-F238E27FC236}">
                <a16:creationId xmlns:a16="http://schemas.microsoft.com/office/drawing/2014/main" id="{C5541900-5E4A-0F17-EE3C-F07FABE3240A}"/>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a:extLst>
              <a:ext uri="{FF2B5EF4-FFF2-40B4-BE49-F238E27FC236}">
                <a16:creationId xmlns:a16="http://schemas.microsoft.com/office/drawing/2014/main" id="{7CA73BD3-BC06-22CA-4C5E-74E05DE5C88D}"/>
              </a:ext>
            </a:extLst>
          </p:cNvPr>
          <p:cNvPicPr>
            <a:picLocks noChangeAspect="1"/>
          </p:cNvPicPr>
          <p:nvPr/>
        </p:nvPicPr>
        <p:blipFill>
          <a:blip r:embed="rId5"/>
          <a:stretch>
            <a:fillRect/>
          </a:stretch>
        </p:blipFill>
        <p:spPr>
          <a:xfrm>
            <a:off x="2508825" y="2946064"/>
            <a:ext cx="7459174" cy="3084621"/>
          </a:xfrm>
          <a:prstGeom prst="rect">
            <a:avLst/>
          </a:prstGeom>
        </p:spPr>
      </p:pic>
    </p:spTree>
    <p:extLst>
      <p:ext uri="{BB962C8B-B14F-4D97-AF65-F5344CB8AC3E}">
        <p14:creationId xmlns:p14="http://schemas.microsoft.com/office/powerpoint/2010/main" val="1351047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4"/>
            <a:ext cx="10307783" cy="4524315"/>
          </a:xfrm>
          <a:prstGeom prst="rect">
            <a:avLst/>
          </a:prstGeom>
          <a:noFill/>
        </p:spPr>
        <p:txBody>
          <a:bodyPr wrap="square" rtlCol="0">
            <a:spAutoFit/>
          </a:bodyPr>
          <a:lstStyle/>
          <a:p>
            <a:pPr marL="457200" lvl="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After reviewing the two-way frequency table, Diana said, “It seems like people in 2021 were a lot happier than in 1972.”</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0"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Why do you think Diana said this?</a:t>
            </a:r>
          </a:p>
          <a:p>
            <a:pPr marL="922338" lvl="0"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0"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0"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0"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0"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why this may not be an accurate conclusion to draw from the data.</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endParaRPr lang="en-US" sz="24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A6567B02-FE35-8CF1-D432-2EF4AD776CE1}"/>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334</a:t>
            </a:r>
          </a:p>
        </p:txBody>
      </p:sp>
      <p:pic>
        <p:nvPicPr>
          <p:cNvPr id="8" name="Google Shape;283;g104476d1465_1_17">
            <a:extLst>
              <a:ext uri="{FF2B5EF4-FFF2-40B4-BE49-F238E27FC236}">
                <a16:creationId xmlns:a16="http://schemas.microsoft.com/office/drawing/2014/main" id="{1ABB7AD8-1863-B05B-2395-BA243BBF05D6}"/>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79150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66898" y="520393"/>
                <a:ext cx="10284031" cy="5632311"/>
              </a:xfrm>
              <a:prstGeom prst="rect">
                <a:avLst/>
              </a:prstGeom>
              <a:noFill/>
            </p:spPr>
            <p:txBody>
              <a:bodyPr wrap="square" rtlCol="0">
                <a:spAutoFit/>
              </a:bodyPr>
              <a:lstStyle/>
              <a:p>
                <a:pPr marL="457200" lvl="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Use the data to create a two-way relative frequency table. Round values to the nearest tenth of a percent.</a:t>
                </a: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Interpret the value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9.3%</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in context of the data.</a:t>
                </a:r>
                <a:r>
                  <a:rPr lang="en-US" sz="2000" dirty="0">
                    <a:effectLst/>
                  </a:rPr>
                  <a:t> </a:t>
                </a:r>
              </a:p>
              <a:p>
                <a:pPr marL="457200" indent="-457200">
                  <a:buFont typeface="+mj-lt"/>
                  <a:buAutoNum type="arabicPeriod" startAt="2"/>
                </a:pPr>
                <a:endParaRPr lang="en-US" sz="2000" dirty="0">
                  <a:effectLst/>
                </a:endParaRPr>
              </a:p>
              <a:p>
                <a:pPr marL="457200" indent="-457200">
                  <a:buFont typeface="+mj-lt"/>
                  <a:buAutoNum type="arabicPeriod" startAt="2"/>
                </a:pPr>
                <a:endParaRPr lang="en-US" sz="2000" dirty="0">
                  <a:effectLst/>
                </a:endParaRPr>
              </a:p>
              <a:p>
                <a:pPr marL="457200" indent="-457200">
                  <a:buFont typeface="+mj-lt"/>
                  <a:buAutoNum type="arabicPeriod" startAt="2"/>
                </a:pPr>
                <a:r>
                  <a:rPr lang="en-US" sz="2000" dirty="0">
                    <a:effectLst/>
                    <a:latin typeface="Verdana" panose="020B0604030504040204" pitchFamily="34" charset="0"/>
                    <a:ea typeface="Times New Roman" panose="02020603050405020304" pitchFamily="18" charset="0"/>
                    <a:cs typeface="Cambria" panose="02040503050406030204" pitchFamily="18" charset="0"/>
                  </a:rPr>
                  <a:t>Interpret the value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Cambria" panose="02040503050406030204" pitchFamily="18" charset="0"/>
                      </a:rPr>
                      <m:t>33.3%</m:t>
                    </m:r>
                  </m:oMath>
                </a14:m>
                <a:r>
                  <a:rPr lang="en-US" sz="2000" dirty="0">
                    <a:effectLst/>
                    <a:latin typeface="Verdana" panose="020B0604030504040204" pitchFamily="34" charset="0"/>
                    <a:ea typeface="Times New Roman" panose="02020603050405020304" pitchFamily="18" charset="0"/>
                    <a:cs typeface="Cambria" panose="02040503050406030204" pitchFamily="18" charset="0"/>
                  </a:rPr>
                  <a:t> in context of the data.</a:t>
                </a:r>
              </a:p>
              <a:p>
                <a:pPr marL="457200" indent="-457200">
                  <a:buFont typeface="+mj-lt"/>
                  <a:buAutoNum type="arabicPeriod" startAt="2"/>
                </a:pP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p>
                <a:pPr marL="457200" indent="-457200">
                  <a:buFont typeface="+mj-lt"/>
                  <a:buAutoNum type="arabicPeriod" startAt="2"/>
                </a:pP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p>
                <a:pPr marL="457200" indent="-457200">
                  <a:buFont typeface="+mj-lt"/>
                  <a:buAutoNum type="arabicPeriod" startAt="2"/>
                </a:pPr>
                <a:r>
                  <a:rPr lang="en-US" sz="2000" dirty="0">
                    <a:effectLst/>
                    <a:latin typeface="Verdana" panose="020B0604030504040204" pitchFamily="34" charset="0"/>
                    <a:ea typeface="Times New Roman" panose="02020603050405020304" pitchFamily="18" charset="0"/>
                    <a:cs typeface="Cambria" panose="02040503050406030204" pitchFamily="18" charset="0"/>
                  </a:rPr>
                  <a:t>Interpret the value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Cambria" panose="02040503050406030204" pitchFamily="18" charset="0"/>
                      </a:rPr>
                      <m:t>25.6%</m:t>
                    </m:r>
                  </m:oMath>
                </a14:m>
                <a:r>
                  <a:rPr lang="en-US" sz="2000" dirty="0">
                    <a:effectLst/>
                    <a:latin typeface="Verdana" panose="020B0604030504040204" pitchFamily="34" charset="0"/>
                    <a:ea typeface="Times New Roman" panose="02020603050405020304" pitchFamily="18" charset="0"/>
                    <a:cs typeface="Cambria" panose="02040503050406030204" pitchFamily="18" charset="0"/>
                  </a:rPr>
                  <a:t> in context of the data.</a:t>
                </a:r>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66898" y="520393"/>
                <a:ext cx="10284031" cy="5632311"/>
              </a:xfrm>
              <a:prstGeom prst="rect">
                <a:avLst/>
              </a:prstGeom>
              <a:blipFill>
                <a:blip r:embed="rId3"/>
                <a:stretch>
                  <a:fillRect l="-617" t="-449" r="-1358" b="-89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A2E66A11-7F46-5543-97C7-B5D75DA087BD}"/>
              </a:ext>
            </a:extLst>
          </p:cNvPr>
          <p:cNvSpPr/>
          <p:nvPr/>
        </p:nvSpPr>
        <p:spPr>
          <a:xfrm>
            <a:off x="0"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A726C767-4A96-D260-2D22-B7C9242FE326}"/>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334</a:t>
            </a:r>
          </a:p>
        </p:txBody>
      </p:sp>
      <p:pic>
        <p:nvPicPr>
          <p:cNvPr id="8" name="Google Shape;283;g104476d1465_1_17">
            <a:extLst>
              <a:ext uri="{FF2B5EF4-FFF2-40B4-BE49-F238E27FC236}">
                <a16:creationId xmlns:a16="http://schemas.microsoft.com/office/drawing/2014/main" id="{AE05C74F-7E41-6F02-E52A-ECCE4B78730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pic>
        <p:nvPicPr>
          <p:cNvPr id="2" name="Picture 1">
            <a:extLst>
              <a:ext uri="{FF2B5EF4-FFF2-40B4-BE49-F238E27FC236}">
                <a16:creationId xmlns:a16="http://schemas.microsoft.com/office/drawing/2014/main" id="{19163871-A675-992E-7403-105889DC6653}"/>
              </a:ext>
            </a:extLst>
          </p:cNvPr>
          <p:cNvPicPr>
            <a:picLocks noChangeAspect="1"/>
          </p:cNvPicPr>
          <p:nvPr/>
        </p:nvPicPr>
        <p:blipFill>
          <a:blip r:embed="rId5"/>
          <a:stretch>
            <a:fillRect/>
          </a:stretch>
        </p:blipFill>
        <p:spPr>
          <a:xfrm>
            <a:off x="2935855" y="1248229"/>
            <a:ext cx="6142831" cy="2567153"/>
          </a:xfrm>
          <a:prstGeom prst="rect">
            <a:avLst/>
          </a:prstGeom>
        </p:spPr>
      </p:pic>
    </p:spTree>
    <p:extLst>
      <p:ext uri="{BB962C8B-B14F-4D97-AF65-F5344CB8AC3E}">
        <p14:creationId xmlns:p14="http://schemas.microsoft.com/office/powerpoint/2010/main" val="1723806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55023" y="520393"/>
                <a:ext cx="10307782" cy="4870757"/>
              </a:xfrm>
              <a:prstGeom prst="rect">
                <a:avLst/>
              </a:prstGeom>
              <a:noFill/>
            </p:spPr>
            <p:txBody>
              <a:bodyPr wrap="square" rtlCol="0">
                <a:spAutoFit/>
              </a:bodyPr>
              <a:lstStyle/>
              <a:p>
                <a:pPr marL="342900" marR="0" lvl="0" indent="-342900">
                  <a:spcBef>
                    <a:spcPts val="0"/>
                  </a:spcBef>
                  <a:spcAft>
                    <a:spcPts val="0"/>
                  </a:spcAft>
                  <a:buFont typeface="+mj-lt"/>
                  <a:buAutoNum type="arabicPeriod" startAt="6"/>
                </a:pPr>
                <a:r>
                  <a:rPr lang="en-US" sz="1800" dirty="0">
                    <a:effectLst/>
                    <a:latin typeface="Verdana" panose="020B0604030504040204" pitchFamily="34" charset="0"/>
                    <a:ea typeface="Times New Roman" panose="02020603050405020304" pitchFamily="18" charset="0"/>
                    <a:cs typeface="Cambria" panose="02040503050406030204" pitchFamily="18" charset="0"/>
                  </a:rPr>
                  <a:t>Interpret the value </a:t>
                </a:r>
                <a14:m>
                  <m:oMath xmlns:m="http://schemas.openxmlformats.org/officeDocument/2006/math">
                    <m:f>
                      <m:fPr>
                        <m:ctrlPr>
                          <a:rPr lang="en-US"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27.4%</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47.6%</m:t>
                        </m:r>
                      </m:den>
                    </m:f>
                  </m:oMath>
                </a14:m>
                <a:r>
                  <a:rPr lang="en-US" sz="1800" dirty="0">
                    <a:effectLst/>
                    <a:latin typeface="Verdana" panose="020B0604030504040204" pitchFamily="34" charset="0"/>
                    <a:ea typeface="Times New Roman" panose="02020603050405020304" pitchFamily="18" charset="0"/>
                    <a:cs typeface="Cambria" panose="02040503050406030204" pitchFamily="18" charset="0"/>
                  </a:rPr>
                  <a:t> in context of the data</a:t>
                </a:r>
                <a:r>
                  <a:rPr lang="en-US" sz="1800" dirty="0">
                    <a:latin typeface="Verdana" panose="020B0604030504040204" pitchFamily="34" charset="0"/>
                    <a:ea typeface="Times New Roman" panose="02020603050405020304" pitchFamily="18" charset="0"/>
                    <a:cs typeface="Cambria" panose="02040503050406030204" pitchFamily="18" charset="0"/>
                  </a:rPr>
                  <a:t>.</a:t>
                </a:r>
              </a:p>
              <a:p>
                <a:pPr marL="342900" marR="0" lvl="0" indent="-342900">
                  <a:spcBef>
                    <a:spcPts val="0"/>
                  </a:spcBef>
                  <a:spcAft>
                    <a:spcPts val="0"/>
                  </a:spcAft>
                  <a:buFont typeface="+mj-lt"/>
                  <a:buAutoNum type="arabicPeriod" startAt="6"/>
                </a:pPr>
                <a:endParaRPr lang="en-US" sz="1800" dirty="0">
                  <a:effectLst/>
                  <a:latin typeface="Verdana" panose="020B0604030504040204" pitchFamily="34"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endParaRPr lang="en-US" sz="1800" dirty="0">
                  <a:effectLst/>
                  <a:latin typeface="Verdana" panose="020B0604030504040204" pitchFamily="34"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endParaRPr lang="en-US" sz="1800" dirty="0">
                  <a:latin typeface="Verdana" panose="020B0604030504040204" pitchFamily="34"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endParaRPr lang="en-US" sz="1800" dirty="0">
                  <a:effectLst/>
                  <a:latin typeface="Verdana" panose="020B0604030504040204" pitchFamily="34"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r>
                  <a:rPr lang="en-US" sz="1800" dirty="0">
                    <a:effectLst/>
                    <a:latin typeface="Verdana" panose="020B0604030504040204" pitchFamily="34" charset="0"/>
                    <a:ea typeface="Times New Roman" panose="02020603050405020304" pitchFamily="18" charset="0"/>
                    <a:cs typeface="Cambria" panose="02040503050406030204" pitchFamily="18" charset="0"/>
                  </a:rPr>
                  <a:t>What percentage of the respondents from 1972 reported they were very happy?</a:t>
                </a:r>
                <a:endParaRPr lang="en-US" sz="1800" dirty="0">
                  <a:latin typeface="Cambria" panose="02040503050406030204" pitchFamily="18"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endParaRPr lang="en-US" sz="1800" dirty="0">
                  <a:effectLst/>
                  <a:latin typeface="Verdana" panose="020B0604030504040204" pitchFamily="34"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endParaRPr lang="en-US" sz="1800" dirty="0">
                  <a:effectLst/>
                  <a:latin typeface="Verdana" panose="020B0604030504040204" pitchFamily="34"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r>
                  <a:rPr lang="en-US" sz="1800" dirty="0">
                    <a:effectLst/>
                    <a:latin typeface="Verdana" panose="020B0604030504040204" pitchFamily="34" charset="0"/>
                    <a:ea typeface="Times New Roman" panose="02020603050405020304" pitchFamily="18" charset="0"/>
                    <a:cs typeface="Cambria" panose="02040503050406030204" pitchFamily="18" charset="0"/>
                  </a:rPr>
                  <a:t>What percentage of the respondents from 1998 reported they were very happy?</a:t>
                </a:r>
                <a:endParaRPr lang="en-US" sz="1800" dirty="0">
                  <a:latin typeface="Cambria" panose="02040503050406030204" pitchFamily="18"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endParaRPr lang="en-US" sz="1800" dirty="0">
                  <a:effectLst/>
                  <a:latin typeface="Verdana" panose="020B0604030504040204" pitchFamily="34"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endParaRPr lang="en-US" sz="1800" dirty="0">
                  <a:effectLst/>
                  <a:latin typeface="Verdana" panose="020B0604030504040204" pitchFamily="34"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r>
                  <a:rPr lang="en-US" sz="1800" dirty="0">
                    <a:effectLst/>
                    <a:latin typeface="Verdana" panose="020B0604030504040204" pitchFamily="34" charset="0"/>
                    <a:ea typeface="Times New Roman" panose="02020603050405020304" pitchFamily="18" charset="0"/>
                    <a:cs typeface="Cambria" panose="02040503050406030204" pitchFamily="18" charset="0"/>
                  </a:rPr>
                  <a:t>What percentage of the respondents from 2021 reported they were very happy?</a:t>
                </a:r>
                <a:endParaRPr lang="en-US" sz="1800" dirty="0">
                  <a:latin typeface="Cambria" panose="02040503050406030204" pitchFamily="18" charset="0"/>
                  <a:ea typeface="Times New Roman" panose="02020603050405020304" pitchFamily="18" charset="0"/>
                  <a:cs typeface="Cambria" panose="02040503050406030204" pitchFamily="18" charset="0"/>
                </a:endParaRPr>
              </a:p>
              <a:p>
                <a:pPr marL="342900" marR="0" lvl="0" indent="-342900">
                  <a:spcBef>
                    <a:spcPts val="0"/>
                  </a:spcBef>
                  <a:spcAft>
                    <a:spcPts val="0"/>
                  </a:spcAft>
                  <a:buFont typeface="+mj-lt"/>
                  <a:buAutoNum type="arabicPeriod" startAt="6"/>
                </a:pPr>
                <a:endParaRPr lang="en-US" sz="1800" dirty="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mj-lt"/>
                  <a:buAutoNum type="arabicPeriod" startAt="6"/>
                </a:pPr>
                <a:endParaRPr lang="en-US" sz="1800" dirty="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mj-lt"/>
                  <a:buAutoNum type="arabicPeriod" startAt="6"/>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What can be concluded about the general happiness of Americans from the two-way relative frequency table</a:t>
                </a:r>
                <a:r>
                  <a:rPr lang="en-US" sz="3200" dirty="0">
                    <a:effectLst/>
                  </a:rPr>
                  <a:t> </a:t>
                </a:r>
                <a:endParaRPr lang="en-US" sz="2400" dirty="0">
                  <a:latin typeface="Verdana" charset="0"/>
                  <a:ea typeface="Verdana" charset="0"/>
                  <a:cs typeface="Verdana"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55023" y="520393"/>
                <a:ext cx="10307782" cy="4870757"/>
              </a:xfrm>
              <a:prstGeom prst="rect">
                <a:avLst/>
              </a:prstGeom>
              <a:blipFill>
                <a:blip r:embed="rId3"/>
                <a:stretch>
                  <a:fillRect l="-493" r="-123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A2E66A11-7F46-5543-97C7-B5D75DA087BD}"/>
              </a:ext>
            </a:extLst>
          </p:cNvPr>
          <p:cNvSpPr/>
          <p:nvPr/>
        </p:nvSpPr>
        <p:spPr>
          <a:xfrm>
            <a:off x="0"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277CD964-E2FB-CAAC-2F8D-DF226E96E56C}"/>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335</a:t>
            </a:r>
          </a:p>
        </p:txBody>
      </p:sp>
      <p:pic>
        <p:nvPicPr>
          <p:cNvPr id="8" name="Google Shape;283;g104476d1465_1_17">
            <a:extLst>
              <a:ext uri="{FF2B5EF4-FFF2-40B4-BE49-F238E27FC236}">
                <a16:creationId xmlns:a16="http://schemas.microsoft.com/office/drawing/2014/main" id="{2A95DF5C-FC0A-64BC-0EFE-5A7CA665D8D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2270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26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2905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77C482F8-054F-07F1-ADED-E10B4C236F1A}"/>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335</a:t>
            </a:r>
          </a:p>
        </p:txBody>
      </p:sp>
      <p:pic>
        <p:nvPicPr>
          <p:cNvPr id="9" name="Google Shape;283;g104476d1465_1_17">
            <a:extLst>
              <a:ext uri="{FF2B5EF4-FFF2-40B4-BE49-F238E27FC236}">
                <a16:creationId xmlns:a16="http://schemas.microsoft.com/office/drawing/2014/main" id="{34B37CCD-0814-662F-341E-D84D4EC2DC9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84416" y="0"/>
            <a:ext cx="10066434" cy="124312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14.H2.4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41150" y="18571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05558" y="1386026"/>
            <a:ext cx="10245372" cy="3046988"/>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The RMS Titanic was a British passenger liner operated by the White Star Line that sank in the North Atlantic Ocean on April 15, 1912, after striking an iceberg during her maiden voyage from Southampton to New York City. </a:t>
            </a:r>
          </a:p>
          <a:p>
            <a:pPr marL="457200" indent="-457200">
              <a:buFont typeface="+mj-lt"/>
              <a:buAutoNum type="arabicPeriod"/>
            </a:pPr>
            <a:endParaRPr lang="en-US" sz="2400" dirty="0">
              <a:latin typeface="Verdana" charset="0"/>
              <a:ea typeface="Verdana" charset="0"/>
              <a:cs typeface="Verdana" charset="0"/>
            </a:endParaRPr>
          </a:p>
          <a:p>
            <a:pPr marL="463550"/>
            <a:r>
              <a:rPr lang="en-US" sz="2400" dirty="0">
                <a:latin typeface="Verdana" charset="0"/>
                <a:ea typeface="Verdana" charset="0"/>
                <a:cs typeface="Verdana" charset="0"/>
              </a:rPr>
              <a:t>The two-way relative frequency table classifies the passengers as whether the person survived (Yes or No) and the class of the ticket they had (1</a:t>
            </a:r>
            <a:r>
              <a:rPr lang="en-US" sz="2400" baseline="30000" dirty="0">
                <a:latin typeface="Verdana" charset="0"/>
                <a:ea typeface="Verdana" charset="0"/>
                <a:cs typeface="Verdana" charset="0"/>
              </a:rPr>
              <a:t>st</a:t>
            </a:r>
            <a:r>
              <a:rPr lang="en-US" sz="2400" dirty="0">
                <a:latin typeface="Verdana" charset="0"/>
                <a:ea typeface="Verdana" charset="0"/>
                <a:cs typeface="Verdana" charset="0"/>
              </a:rPr>
              <a:t>, 2</a:t>
            </a:r>
            <a:r>
              <a:rPr lang="en-US" sz="2400" baseline="30000" dirty="0">
                <a:latin typeface="Verdana" charset="0"/>
                <a:ea typeface="Verdana" charset="0"/>
                <a:cs typeface="Verdana" charset="0"/>
              </a:rPr>
              <a:t>nd</a:t>
            </a:r>
            <a:r>
              <a:rPr lang="en-US" sz="2400" dirty="0">
                <a:latin typeface="Verdana" charset="0"/>
                <a:ea typeface="Verdana" charset="0"/>
                <a:cs typeface="Verdana" charset="0"/>
              </a:rPr>
              <a:t>, 3</a:t>
            </a:r>
            <a:r>
              <a:rPr lang="en-US" sz="2400" baseline="30000" dirty="0">
                <a:latin typeface="Verdana" charset="0"/>
                <a:ea typeface="Verdana" charset="0"/>
                <a:cs typeface="Verdana" charset="0"/>
              </a:rPr>
              <a:t>rd</a:t>
            </a:r>
            <a:r>
              <a:rPr lang="en-US" sz="2400" dirty="0">
                <a:latin typeface="Verdana" charset="0"/>
                <a:ea typeface="Verdana" charset="0"/>
                <a:cs typeface="Verdana" charset="0"/>
              </a:rPr>
              <a:t>, or Crew).</a:t>
            </a:r>
          </a:p>
        </p:txBody>
      </p:sp>
      <p:sp>
        <p:nvSpPr>
          <p:cNvPr id="8" name="Google Shape;278;g104476d1465_1_17">
            <a:extLst>
              <a:ext uri="{FF2B5EF4-FFF2-40B4-BE49-F238E27FC236}">
                <a16:creationId xmlns:a16="http://schemas.microsoft.com/office/drawing/2014/main" id="{535320C0-DAB2-7C41-B3D0-5B31075C43F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575A4EB0-40C2-61F9-B223-E923BE33633A}"/>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335</a:t>
            </a:r>
          </a:p>
        </p:txBody>
      </p:sp>
      <p:pic>
        <p:nvPicPr>
          <p:cNvPr id="11" name="Google Shape;283;g104476d1465_1_17">
            <a:extLst>
              <a:ext uri="{FF2B5EF4-FFF2-40B4-BE49-F238E27FC236}">
                <a16:creationId xmlns:a16="http://schemas.microsoft.com/office/drawing/2014/main" id="{CC7CB93D-09F4-AAD7-0B4B-6463A0483F6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855023" y="3713312"/>
                <a:ext cx="10284032" cy="2113656"/>
              </a:xfrm>
              <a:prstGeom prst="rect">
                <a:avLst/>
              </a:prstGeom>
              <a:noFill/>
            </p:spPr>
            <p:txBody>
              <a:bodyPr wrap="square" rtlCol="0">
                <a:spAutoFit/>
              </a:bodyPr>
              <a:lstStyle/>
              <a:p>
                <a:pPr marL="914400" indent="-457200">
                  <a:buFont typeface="+mj-lt"/>
                  <a:buAutoNum type="alphaLcPeriod"/>
                </a:pPr>
                <a:r>
                  <a:rPr lang="en-US" sz="2400" dirty="0">
                    <a:latin typeface="Verdana" charset="0"/>
                    <a:ea typeface="Verdana" charset="0"/>
                    <a:cs typeface="Verdana" charset="0"/>
                  </a:rPr>
                  <a:t>What does the value </a:t>
                </a:r>
                <a14:m>
                  <m:oMath xmlns:m="http://schemas.openxmlformats.org/officeDocument/2006/math">
                    <m:r>
                      <a:rPr lang="en-US" sz="2400" i="1">
                        <a:latin typeface="Cambria Math" panose="02040503050406030204" pitchFamily="18" charset="0"/>
                        <a:ea typeface="Verdana" charset="0"/>
                        <a:cs typeface="Verdana" charset="0"/>
                      </a:rPr>
                      <m:t>30.6%</m:t>
                    </m:r>
                  </m:oMath>
                </a14:m>
                <a:r>
                  <a:rPr lang="en-US" sz="2400" dirty="0">
                    <a:latin typeface="Verdana" charset="0"/>
                    <a:ea typeface="Verdana" charset="0"/>
                    <a:cs typeface="Verdana" charset="0"/>
                  </a:rPr>
                  <a:t> mean in context of the data?</a:t>
                </a: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r>
                  <a:rPr lang="en-US" sz="2400" dirty="0">
                    <a:latin typeface="Verdana" charset="0"/>
                    <a:ea typeface="Verdana" charset="0"/>
                    <a:cs typeface="Verdana" charset="0"/>
                  </a:rPr>
                  <a:t>What does the value </a:t>
                </a:r>
                <a14:m>
                  <m:oMath xmlns:m="http://schemas.openxmlformats.org/officeDocument/2006/math">
                    <m:f>
                      <m:fPr>
                        <m:ctrlPr>
                          <a:rPr lang="en-US" sz="2400" i="1">
                            <a:latin typeface="Cambria Math" panose="02040503050406030204" pitchFamily="18" charset="0"/>
                            <a:ea typeface="Verdana" charset="0"/>
                            <a:cs typeface="Verdana" charset="0"/>
                          </a:rPr>
                        </m:ctrlPr>
                      </m:fPr>
                      <m:num>
                        <m:r>
                          <a:rPr lang="en-US" sz="2400">
                            <a:latin typeface="Cambria Math" panose="02040503050406030204" pitchFamily="18" charset="0"/>
                            <a:ea typeface="Verdana" charset="0"/>
                            <a:cs typeface="Verdana" charset="0"/>
                          </a:rPr>
                          <m:t>30.6% </m:t>
                        </m:r>
                      </m:num>
                      <m:den>
                        <m:r>
                          <a:rPr lang="en-US" sz="2400" i="1">
                            <a:latin typeface="Cambria Math" panose="02040503050406030204" pitchFamily="18" charset="0"/>
                            <a:ea typeface="Verdana" charset="0"/>
                            <a:cs typeface="Verdana" charset="0"/>
                          </a:rPr>
                          <m:t>40.2%</m:t>
                        </m:r>
                      </m:den>
                    </m:f>
                  </m:oMath>
                </a14:m>
                <a:r>
                  <a:rPr lang="en-US" sz="2400" dirty="0">
                    <a:latin typeface="Verdana" charset="0"/>
                    <a:ea typeface="Verdana" charset="0"/>
                    <a:cs typeface="Verdana" charset="0"/>
                  </a:rPr>
                  <a:t> mean in context of the data?</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55023" y="3713312"/>
                <a:ext cx="10284032" cy="2113656"/>
              </a:xfrm>
              <a:prstGeom prst="rect">
                <a:avLst/>
              </a:prstGeom>
              <a:blipFill>
                <a:blip r:embed="rId3"/>
                <a:stretch>
                  <a:fillRect t="-2594" b="-57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B4CE872-CBCF-7A4A-8FD6-F7BE492A466A}"/>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36660894"/>
                  </p:ext>
                </p:extLst>
              </p:nvPr>
            </p:nvGraphicFramePr>
            <p:xfrm>
              <a:off x="3085104" y="604403"/>
              <a:ext cx="4695190" cy="2725420"/>
            </p:xfrm>
            <a:graphic>
              <a:graphicData uri="http://schemas.openxmlformats.org/drawingml/2006/table">
                <a:tbl>
                  <a:tblPr firstRow="1" firstCol="1" bandRow="1"/>
                  <a:tblGrid>
                    <a:gridCol w="1362075">
                      <a:extLst>
                        <a:ext uri="{9D8B030D-6E8A-4147-A177-3AD203B41FA5}">
                          <a16:colId xmlns:a16="http://schemas.microsoft.com/office/drawing/2014/main" val="20000"/>
                        </a:ext>
                      </a:extLst>
                    </a:gridCol>
                    <a:gridCol w="1191260">
                      <a:extLst>
                        <a:ext uri="{9D8B030D-6E8A-4147-A177-3AD203B41FA5}">
                          <a16:colId xmlns:a16="http://schemas.microsoft.com/office/drawing/2014/main" val="20001"/>
                        </a:ext>
                      </a:extLst>
                    </a:gridCol>
                    <a:gridCol w="95059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tblGrid>
                  <a:tr h="393700">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a:noFill/>
                        </a:lnL>
                        <a:lnR>
                          <a:noFill/>
                        </a:lnR>
                        <a:lnT>
                          <a:noFill/>
                        </a:lnT>
                        <a:lnB>
                          <a:noFill/>
                        </a:lnB>
                      </a:tcPr>
                    </a:tc>
                    <a:tc gridSpan="3">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Survived</a:t>
                          </a:r>
                          <a:endParaRPr lang="en-US" sz="1400">
                            <a:effectLst/>
                            <a:latin typeface="Verdana" charset="0"/>
                            <a:ea typeface="Verdana" charset="0"/>
                            <a:cs typeface="Verdana" charset="0"/>
                          </a:endParaRPr>
                        </a:p>
                      </a:txBody>
                      <a:tcPr marL="68580" marR="68580" marT="0" marB="0" anchor="ctr">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37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Ticket</a:t>
                          </a:r>
                          <a:endParaRPr lang="en-US" sz="1400">
                            <a:effectLst/>
                            <a:latin typeface="Verdana" charset="0"/>
                            <a:ea typeface="Verdana" charset="0"/>
                            <a:cs typeface="Verdana"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No</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Yes</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3937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1st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5.5%</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9.2%</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14.8%</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37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2nd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7.6%</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5.4%</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12.9%</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846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3rd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24.0%</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8.1%</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32.1%</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37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Crew</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30.6%</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9.6%</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40.2%</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8460">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Total</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67.7%</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32.3%</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100.0%</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36660894"/>
                  </p:ext>
                </p:extLst>
              </p:nvPr>
            </p:nvGraphicFramePr>
            <p:xfrm>
              <a:off x="3085104" y="604403"/>
              <a:ext cx="4695190" cy="2725420"/>
            </p:xfrm>
            <a:graphic>
              <a:graphicData uri="http://schemas.openxmlformats.org/drawingml/2006/table">
                <a:tbl>
                  <a:tblPr firstRow="1" firstCol="1" bandRow="1"/>
                  <a:tblGrid>
                    <a:gridCol w="1362075">
                      <a:extLst>
                        <a:ext uri="{9D8B030D-6E8A-4147-A177-3AD203B41FA5}">
                          <a16:colId xmlns:a16="http://schemas.microsoft.com/office/drawing/2014/main" val="20000"/>
                        </a:ext>
                      </a:extLst>
                    </a:gridCol>
                    <a:gridCol w="1191260">
                      <a:extLst>
                        <a:ext uri="{9D8B030D-6E8A-4147-A177-3AD203B41FA5}">
                          <a16:colId xmlns:a16="http://schemas.microsoft.com/office/drawing/2014/main" val="20001"/>
                        </a:ext>
                      </a:extLst>
                    </a:gridCol>
                    <a:gridCol w="95059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tblGrid>
                  <a:tr h="393700">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a:noFill/>
                        </a:lnL>
                        <a:lnR>
                          <a:noFill/>
                        </a:lnR>
                        <a:lnT>
                          <a:noFill/>
                        </a:lnT>
                        <a:lnB>
                          <a:noFill/>
                        </a:lnB>
                      </a:tcPr>
                    </a:tc>
                    <a:tc gridSpan="3">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Survived</a:t>
                          </a:r>
                          <a:endParaRPr lang="en-US" sz="1400">
                            <a:effectLst/>
                            <a:latin typeface="Verdana" charset="0"/>
                            <a:ea typeface="Verdana" charset="0"/>
                            <a:cs typeface="Verdana" charset="0"/>
                          </a:endParaRPr>
                        </a:p>
                      </a:txBody>
                      <a:tcPr marL="68580" marR="68580" marT="0" marB="0" anchor="ctr">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37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Ticket</a:t>
                          </a:r>
                          <a:endParaRPr lang="en-US" sz="1400">
                            <a:effectLst/>
                            <a:latin typeface="Verdana" charset="0"/>
                            <a:ea typeface="Verdana" charset="0"/>
                            <a:cs typeface="Verdana"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No</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Yes</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3937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1st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385" t="-207692" r="-181538" b="-420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207692" r="-126923" b="-420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3878" t="-207692" r="-1020" b="-420000"/>
                          </a:stretch>
                        </a:blipFill>
                      </a:tcPr>
                    </a:tc>
                    <a:extLst>
                      <a:ext uri="{0D108BD9-81ED-4DB2-BD59-A6C34878D82A}">
                        <a16:rowId xmlns:a16="http://schemas.microsoft.com/office/drawing/2014/main" val="10002"/>
                      </a:ext>
                    </a:extLst>
                  </a:tr>
                  <a:tr h="3937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2nd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385" t="-307692" r="-181538" b="-320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307692" r="-126923" b="-320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3878" t="-307692" r="-1020" b="-320000"/>
                          </a:stretch>
                        </a:blipFill>
                      </a:tcPr>
                    </a:tc>
                    <a:extLst>
                      <a:ext uri="{0D108BD9-81ED-4DB2-BD59-A6C34878D82A}">
                        <a16:rowId xmlns:a16="http://schemas.microsoft.com/office/drawing/2014/main" val="10003"/>
                      </a:ext>
                    </a:extLst>
                  </a:tr>
                  <a:tr h="37846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3rd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385" t="-427419" r="-181538" b="-235484"/>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427419" r="-126923" b="-235484"/>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3878" t="-427419" r="-1020" b="-235484"/>
                          </a:stretch>
                        </a:blipFill>
                      </a:tcPr>
                    </a:tc>
                    <a:extLst>
                      <a:ext uri="{0D108BD9-81ED-4DB2-BD59-A6C34878D82A}">
                        <a16:rowId xmlns:a16="http://schemas.microsoft.com/office/drawing/2014/main" val="10004"/>
                      </a:ext>
                    </a:extLst>
                  </a:tr>
                  <a:tr h="3937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Crew</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385" t="-503077" r="-181538" b="-12461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503077" r="-126923" b="-12461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3878" t="-503077" r="-1020" b="-124615"/>
                          </a:stretch>
                        </a:blipFill>
                      </a:tcPr>
                    </a:tc>
                    <a:extLst>
                      <a:ext uri="{0D108BD9-81ED-4DB2-BD59-A6C34878D82A}">
                        <a16:rowId xmlns:a16="http://schemas.microsoft.com/office/drawing/2014/main" val="10005"/>
                      </a:ext>
                    </a:extLst>
                  </a:tr>
                  <a:tr h="378460">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Total</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385" t="-632258" r="-181538" b="-3064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632258" r="-126923" b="-3064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3878" t="-632258" r="-1020" b="-30645"/>
                          </a:stretch>
                        </a:blipFill>
                      </a:tcPr>
                    </a:tc>
                    <a:extLst>
                      <a:ext uri="{0D108BD9-81ED-4DB2-BD59-A6C34878D82A}">
                        <a16:rowId xmlns:a16="http://schemas.microsoft.com/office/drawing/2014/main" val="10006"/>
                      </a:ext>
                    </a:extLst>
                  </a:tr>
                </a:tbl>
              </a:graphicData>
            </a:graphic>
          </p:graphicFrame>
        </mc:Fallback>
      </mc:AlternateContent>
      <p:sp>
        <p:nvSpPr>
          <p:cNvPr id="7" name="Google Shape;282;g104476d1465_1_17">
            <a:extLst>
              <a:ext uri="{FF2B5EF4-FFF2-40B4-BE49-F238E27FC236}">
                <a16:creationId xmlns:a16="http://schemas.microsoft.com/office/drawing/2014/main" id="{E679564C-2DFD-5FF0-B6DF-3B38F0F1398D}"/>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335</a:t>
            </a:r>
          </a:p>
        </p:txBody>
      </p:sp>
      <p:pic>
        <p:nvPicPr>
          <p:cNvPr id="8" name="Google Shape;283;g104476d1465_1_17">
            <a:extLst>
              <a:ext uri="{FF2B5EF4-FFF2-40B4-BE49-F238E27FC236}">
                <a16:creationId xmlns:a16="http://schemas.microsoft.com/office/drawing/2014/main" id="{FAE906FA-98F0-1113-DE2E-90F17E9C22B5}"/>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1273238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5" ma:contentTypeDescription="Create a new document." ma:contentTypeScope="" ma:versionID="dc2e7c46903a19026ffd9241c4aab9a4">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1ddb56356d319bfd686db11b81a9c6e4"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Location" ma:index="22"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9C5B3DAE-B1AE-4AC9-BA41-53A1CB34686E}">
  <ds:schemaRefs>
    <ds:schemaRef ds:uri="http://schemas.microsoft.com/sharepoint/v3/contenttype/forms"/>
  </ds:schemaRefs>
</ds:datastoreItem>
</file>

<file path=customXml/itemProps2.xml><?xml version="1.0" encoding="utf-8"?>
<ds:datastoreItem xmlns:ds="http://schemas.openxmlformats.org/officeDocument/2006/customXml" ds:itemID="{8065552C-3CF9-4BFC-9C8A-EF86E5C530DC}"/>
</file>

<file path=customXml/itemProps3.xml><?xml version="1.0" encoding="utf-8"?>
<ds:datastoreItem xmlns:ds="http://schemas.openxmlformats.org/officeDocument/2006/customXml" ds:itemID="{0E863CE3-6177-4507-9D9F-E085E935264C}">
  <ds:schemaRefs>
    <ds:schemaRef ds:uri="c8f36ed4-5234-49bf-a7f7-5f171c3a2f56"/>
    <ds:schemaRef ds:uri="http://schemas.microsoft.com/office/2006/documentManagement/types"/>
    <ds:schemaRef ds:uri="http://purl.org/dc/dcmitype/"/>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aecc3118-db6a-47b0-8115-3eb3ee12f279"/>
  </ds:schemaRefs>
</ds:datastoreItem>
</file>

<file path=docProps/app.xml><?xml version="1.0" encoding="utf-8"?>
<Properties xmlns="http://schemas.openxmlformats.org/officeDocument/2006/extended-properties" xmlns:vt="http://schemas.openxmlformats.org/officeDocument/2006/docPropsVTypes">
  <TotalTime>2085</TotalTime>
  <Words>1241</Words>
  <Application>Microsoft Macintosh PowerPoint</Application>
  <PresentationFormat>Widescreen</PresentationFormat>
  <Paragraphs>204</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Arial Black</vt:lpstr>
      <vt:lpstr>Calibri</vt:lpstr>
      <vt:lpstr>Cambria</vt:lpstr>
      <vt:lpstr>Cambria Math</vt:lpstr>
      <vt:lpstr>Century Gothic</vt:lpstr>
      <vt:lpstr>Times New Roman</vt:lpstr>
      <vt:lpstr>Verdana</vt:lpstr>
      <vt:lpstr>Wingdings</vt:lpstr>
      <vt:lpstr>1_Office Theme</vt:lpstr>
      <vt:lpstr>Algebra 1  Unit 14, Lesson H2  Interpreting Relative Frequency Tables and Segmented Bar Graphs  Volume 2, pg. 331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Mary Ellen Freeman</cp:lastModifiedBy>
  <cp:revision>24</cp:revision>
  <dcterms:created xsi:type="dcterms:W3CDTF">2015-03-17T18:51:18Z</dcterms:created>
  <dcterms:modified xsi:type="dcterms:W3CDTF">2024-03-22T18:54:04Z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