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352" r:id="rId8"/>
    <p:sldId id="353" r:id="rId9"/>
    <p:sldId id="355" r:id="rId10"/>
    <p:sldId id="356" r:id="rId11"/>
    <p:sldId id="357" r:id="rId12"/>
    <p:sldId id="358" r:id="rId13"/>
    <p:sldId id="370" r:id="rId14"/>
    <p:sldId id="359" r:id="rId15"/>
    <p:sldId id="360" r:id="rId16"/>
    <p:sldId id="361" r:id="rId17"/>
    <p:sldId id="362" r:id="rId18"/>
    <p:sldId id="363" r:id="rId19"/>
    <p:sldId id="371" r:id="rId20"/>
    <p:sldId id="364" r:id="rId21"/>
    <p:sldId id="365" r:id="rId22"/>
    <p:sldId id="366" r:id="rId23"/>
    <p:sldId id="372" r:id="rId24"/>
    <p:sldId id="367" r:id="rId25"/>
    <p:sldId id="368" r:id="rId26"/>
    <p:sldId id="369" r:id="rId27"/>
    <p:sldId id="306" r:id="rId28"/>
    <p:sldId id="307"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051A"/>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08" autoAdjust="0"/>
    <p:restoredTop sz="94719"/>
  </p:normalViewPr>
  <p:slideViewPr>
    <p:cSldViewPr snapToGrid="0">
      <p:cViewPr varScale="1">
        <p:scale>
          <a:sx n="81" d="100"/>
          <a:sy n="81" d="100"/>
        </p:scale>
        <p:origin x="510"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698820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938970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849782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581858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528480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0085924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1666646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7817186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1480572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875098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546502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8966837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5277183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9803037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4274765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1511167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7108606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9448272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673797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7507621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Algebra 1</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14, Lesson H1</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Creating Relative Frequency Tables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325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9144"/>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id="{FC2FF27A-A046-614D-A5AC-E785259A48B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677"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7676"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4176"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127676" y="1517073"/>
            <a:ext cx="909698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200" dirty="0">
                <a:latin typeface="Verdana" charset="0"/>
                <a:ea typeface="Verdana" charset="0"/>
                <a:cs typeface="Verdana" charset="0"/>
              </a:rPr>
              <a:t>MA.912.DP.3.2 </a:t>
            </a:r>
          </a:p>
          <a:p>
            <a:pPr marL="463550" indent="0">
              <a:buNone/>
            </a:pPr>
            <a:r>
              <a:rPr lang="en-US" sz="2200" dirty="0">
                <a:latin typeface="Verdana" charset="0"/>
                <a:ea typeface="Verdana" charset="0"/>
                <a:cs typeface="Verdana" charset="0"/>
              </a:rPr>
              <a:t>Given marginal and conditional relative frequencies, construct a two-way relative frequency table summarizing categorical bivariate data.</a:t>
            </a:r>
          </a:p>
          <a:p>
            <a:pPr marL="95250" indent="0">
              <a:buNone/>
            </a:pPr>
            <a:r>
              <a:rPr lang="en-US" sz="2200" dirty="0">
                <a:latin typeface="Verdana" charset="0"/>
                <a:ea typeface="Verdana" charset="0"/>
                <a:cs typeface="Verdana" charset="0"/>
              </a:rPr>
              <a:t>MA.912.DP.1.1 </a:t>
            </a:r>
          </a:p>
          <a:p>
            <a:pPr marL="463550" indent="0">
              <a:buNone/>
            </a:pPr>
            <a:r>
              <a:rPr lang="en-US" sz="2200" dirty="0">
                <a:latin typeface="Verdana" charset="0"/>
                <a:ea typeface="Verdana" charset="0"/>
                <a:cs typeface="Verdana" charset="0"/>
              </a:rPr>
              <a:t>Given a set of data, select an appropriate method to represent the data depending on whether it is numerical or categorical data, and on whether it is univariate or bivariate.</a:t>
            </a:r>
          </a:p>
          <a:p>
            <a:pPr marL="95250" indent="0">
              <a:buNone/>
            </a:pPr>
            <a:r>
              <a:rPr lang="en-US" sz="2200" dirty="0">
                <a:latin typeface="Verdana" charset="0"/>
                <a:ea typeface="Verdana" charset="0"/>
                <a:cs typeface="Verdana" charset="0"/>
              </a:rPr>
              <a:t>MA.912.DP.1.2 </a:t>
            </a:r>
          </a:p>
          <a:p>
            <a:pPr marL="463550" indent="0">
              <a:buNone/>
            </a:pPr>
            <a:r>
              <a:rPr lang="en-US" sz="2200" dirty="0">
                <a:latin typeface="Verdana" charset="0"/>
                <a:ea typeface="Verdana" charset="0"/>
                <a:cs typeface="Verdana" charset="0"/>
              </a:rPr>
              <a:t>Interpret data distributions represented in various ways. State whether the data is numerical or categorical and whether it is univariate or bivariate, and interpret the different components and quantities in the display.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25598" y="3723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50248" y="129667"/>
            <a:ext cx="1007193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072897" y="1596390"/>
            <a:ext cx="913988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id="{2217DB94-8CD9-E344-BEB6-DB518B29A816}"/>
              </a:ext>
            </a:extLst>
          </p:cNvPr>
          <p:cNvSpPr/>
          <p:nvPr/>
        </p:nvSpPr>
        <p:spPr>
          <a:xfrm>
            <a:off x="1298"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BA45E6F8-8350-2322-474D-1B98F4F79E65}"/>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325</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22EA2CFC-1635-C0CA-BE3E-EBA69EFAB82B}"/>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78512" y="1457696"/>
            <a:ext cx="914614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9900" indent="-469900">
              <a:buFont typeface="Wingdings" charset="2"/>
              <a:buChar char="q"/>
            </a:pPr>
            <a:r>
              <a:rPr lang="en-US" sz="2800" dirty="0">
                <a:latin typeface="Verdana" charset="0"/>
                <a:ea typeface="Verdana" charset="0"/>
                <a:cs typeface="Verdana" charset="0"/>
              </a:rPr>
              <a:t>I can construct a two-way relative frequency table. </a:t>
            </a:r>
          </a:p>
        </p:txBody>
      </p:sp>
      <p:sp>
        <p:nvSpPr>
          <p:cNvPr id="8" name="Google Shape;278;g104476d1465_1_17">
            <a:extLst>
              <a:ext uri="{FF2B5EF4-FFF2-40B4-BE49-F238E27FC236}">
                <a16:creationId xmlns:a16="http://schemas.microsoft.com/office/drawing/2014/main" id="{A7D39B40-FA5F-1945-A581-51EB744FEBF3}"/>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060B6912-6FAC-BF1D-140B-A3A29A7AB298}"/>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325</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id="{F67C1598-8FBD-BA52-8179-933240E11347}"/>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2731"/>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120694"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329494"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B071F212-21AA-6CE6-064C-D58B0406D45C}"/>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325</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01324680-74C4-4DD8-3DBD-08514881B022}"/>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7959" y="60325"/>
            <a:ext cx="1004893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14.H1.1 Warm-Up: What Percentage?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456929" y="34952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855022" y="1386025"/>
            <a:ext cx="10295907" cy="132343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Mindy is in charge of ordering supplies for the break room at her workplace, so she surveys her coworkers. She asks them if they prefer coffee or tea and whether or not they like sugar in their beverages. Her findings are shown in the two-way table. </a:t>
            </a:r>
          </a:p>
        </p:txBody>
      </p:sp>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ext uri="{D42A27DB-BD31-4B8C-83A1-F6EECF244321}">
                    <p14:modId xmlns:p14="http://schemas.microsoft.com/office/powerpoint/2010/main" val="3910955866"/>
                  </p:ext>
                </p:extLst>
              </p:nvPr>
            </p:nvGraphicFramePr>
            <p:xfrm>
              <a:off x="2271783" y="2929337"/>
              <a:ext cx="5160645" cy="1219200"/>
            </p:xfrm>
            <a:graphic>
              <a:graphicData uri="http://schemas.openxmlformats.org/drawingml/2006/table">
                <a:tbl>
                  <a:tblPr firstRow="1" firstCol="1" bandRow="1"/>
                  <a:tblGrid>
                    <a:gridCol w="173164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0">
                    <a:tc>
                      <a:txBody>
                        <a:bodyPr/>
                        <a:lstStyle/>
                        <a:p>
                          <a:pPr marL="0" marR="34290" algn="ctr">
                            <a:spcBef>
                              <a:spcPts val="0"/>
                            </a:spcBef>
                            <a:spcAft>
                              <a:spcPts val="0"/>
                            </a:spcAft>
                          </a:pPr>
                          <a:r>
                            <a:rPr lang="en-US" sz="2000" b="1">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effectLst/>
                              <a:latin typeface="Verdana" charset="0"/>
                              <a:ea typeface="Verdana" charset="0"/>
                              <a:cs typeface="Verdana" charset="0"/>
                            </a:rPr>
                            <a:t>Coffee</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effectLst/>
                              <a:latin typeface="Verdana" charset="0"/>
                              <a:ea typeface="Verdana" charset="0"/>
                              <a:cs typeface="Verdana" charset="0"/>
                            </a:rPr>
                            <a:t>Tea</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0" marR="34290" algn="ctr">
                            <a:spcBef>
                              <a:spcPts val="0"/>
                            </a:spcBef>
                            <a:spcAft>
                              <a:spcPts val="0"/>
                            </a:spcAft>
                          </a:pPr>
                          <a:r>
                            <a:rPr lang="en-US" sz="2000" b="1">
                              <a:effectLst/>
                              <a:latin typeface="Verdana" charset="0"/>
                              <a:ea typeface="Verdana" charset="0"/>
                              <a:cs typeface="Verdana" charset="0"/>
                            </a:rPr>
                            <a:t>Sugar</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15</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8</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23</m:t>
                                </m:r>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34290" algn="ctr">
                            <a:spcBef>
                              <a:spcPts val="0"/>
                            </a:spcBef>
                            <a:spcAft>
                              <a:spcPts val="0"/>
                            </a:spcAft>
                          </a:pPr>
                          <a:r>
                            <a:rPr lang="en-US" sz="2000" b="1">
                              <a:effectLst/>
                              <a:latin typeface="Verdana" charset="0"/>
                              <a:ea typeface="Verdana" charset="0"/>
                              <a:cs typeface="Verdana" charset="0"/>
                            </a:rPr>
                            <a:t>No Sugar</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25</m:t>
                                </m:r>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2</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27</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34290" algn="ctr">
                            <a:spcBef>
                              <a:spcPts val="0"/>
                            </a:spcBef>
                            <a:spcAft>
                              <a:spcPts val="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40</m:t>
                                </m:r>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10</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50</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p:graphicFrame>
            <p:nvGraphicFramePr>
              <p:cNvPr id="3" name="Table 2"/>
              <p:cNvGraphicFramePr>
                <a:graphicFrameLocks noGrp="1"/>
              </p:cNvGraphicFramePr>
              <p:nvPr>
                <p:extLst>
                  <p:ext uri="{D42A27DB-BD31-4B8C-83A1-F6EECF244321}">
                    <p14:modId xmlns:p14="http://schemas.microsoft.com/office/powerpoint/2010/main" val="3910955866"/>
                  </p:ext>
                </p:extLst>
              </p:nvPr>
            </p:nvGraphicFramePr>
            <p:xfrm>
              <a:off x="2271783" y="2929337"/>
              <a:ext cx="5160645" cy="1219200"/>
            </p:xfrm>
            <a:graphic>
              <a:graphicData uri="http://schemas.openxmlformats.org/drawingml/2006/table">
                <a:tbl>
                  <a:tblPr firstRow="1" firstCol="1" bandRow="1"/>
                  <a:tblGrid>
                    <a:gridCol w="173164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04800">
                    <a:tc>
                      <a:txBody>
                        <a:bodyPr/>
                        <a:lstStyle/>
                        <a:p>
                          <a:pPr marL="0" marR="34290" algn="ctr">
                            <a:spcBef>
                              <a:spcPts val="0"/>
                            </a:spcBef>
                            <a:spcAft>
                              <a:spcPts val="0"/>
                            </a:spcAft>
                          </a:pPr>
                          <a:r>
                            <a:rPr lang="en-US" sz="2000" b="1">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effectLst/>
                              <a:latin typeface="Verdana" charset="0"/>
                              <a:ea typeface="Verdana" charset="0"/>
                              <a:cs typeface="Verdana" charset="0"/>
                            </a:rPr>
                            <a:t>Coffee</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effectLst/>
                              <a:latin typeface="Verdana" charset="0"/>
                              <a:ea typeface="Verdana" charset="0"/>
                              <a:cs typeface="Verdana" charset="0"/>
                            </a:rPr>
                            <a:t>Tea</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04800">
                    <a:tc>
                      <a:txBody>
                        <a:bodyPr/>
                        <a:lstStyle/>
                        <a:p>
                          <a:pPr marL="0" marR="34290" algn="ctr">
                            <a:spcBef>
                              <a:spcPts val="0"/>
                            </a:spcBef>
                            <a:spcAft>
                              <a:spcPts val="0"/>
                            </a:spcAft>
                          </a:pPr>
                          <a:r>
                            <a:rPr lang="en-US" sz="2000" b="1">
                              <a:effectLst/>
                              <a:latin typeface="Verdana" charset="0"/>
                              <a:ea typeface="Verdana" charset="0"/>
                              <a:cs typeface="Verdana" charset="0"/>
                            </a:rPr>
                            <a:t>Sugar</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52941" t="-121569" r="-202139" b="-245098"/>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51596" t="-121569" r="-101064" b="-245098"/>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51596" t="-121569" r="-1064" b="-245098"/>
                          </a:stretch>
                        </a:blipFill>
                      </a:tcPr>
                    </a:tc>
                    <a:extLst>
                      <a:ext uri="{0D108BD9-81ED-4DB2-BD59-A6C34878D82A}">
                        <a16:rowId xmlns:a16="http://schemas.microsoft.com/office/drawing/2014/main" val="10001"/>
                      </a:ext>
                    </a:extLst>
                  </a:tr>
                  <a:tr h="304800">
                    <a:tc>
                      <a:txBody>
                        <a:bodyPr/>
                        <a:lstStyle/>
                        <a:p>
                          <a:pPr marL="0" marR="34290" algn="ctr">
                            <a:spcBef>
                              <a:spcPts val="0"/>
                            </a:spcBef>
                            <a:spcAft>
                              <a:spcPts val="0"/>
                            </a:spcAft>
                          </a:pPr>
                          <a:r>
                            <a:rPr lang="en-US" sz="2000" b="1">
                              <a:effectLst/>
                              <a:latin typeface="Verdana" charset="0"/>
                              <a:ea typeface="Verdana" charset="0"/>
                              <a:cs typeface="Verdana" charset="0"/>
                            </a:rPr>
                            <a:t>No Sugar</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52941" t="-226000" r="-202139" b="-150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51596" t="-226000" r="-101064" b="-150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51596" t="-226000" r="-1064" b="-150000"/>
                          </a:stretch>
                        </a:blipFill>
                      </a:tcPr>
                    </a:tc>
                    <a:extLst>
                      <a:ext uri="{0D108BD9-81ED-4DB2-BD59-A6C34878D82A}">
                        <a16:rowId xmlns:a16="http://schemas.microsoft.com/office/drawing/2014/main" val="10002"/>
                      </a:ext>
                    </a:extLst>
                  </a:tr>
                  <a:tr h="304800">
                    <a:tc>
                      <a:txBody>
                        <a:bodyPr/>
                        <a:lstStyle/>
                        <a:p>
                          <a:pPr marL="0" marR="34290" algn="ctr">
                            <a:spcBef>
                              <a:spcPts val="0"/>
                            </a:spcBef>
                            <a:spcAft>
                              <a:spcPts val="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52941" t="-326000" r="-202139" b="-50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51596" t="-326000" r="-101064" b="-50000"/>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51596" t="-326000" r="-1064" b="-50000"/>
                          </a:stretch>
                        </a:blipFill>
                      </a:tcPr>
                    </a:tc>
                    <a:extLst>
                      <a:ext uri="{0D108BD9-81ED-4DB2-BD59-A6C34878D82A}">
                        <a16:rowId xmlns:a16="http://schemas.microsoft.com/office/drawing/2014/main" val="10003"/>
                      </a:ext>
                    </a:extLst>
                  </a:tr>
                </a:tbl>
              </a:graphicData>
            </a:graphic>
          </p:graphicFrame>
        </mc:Fallback>
      </mc:AlternateContent>
      <p:sp>
        <p:nvSpPr>
          <p:cNvPr id="4" name="Rectangle 3"/>
          <p:cNvSpPr/>
          <p:nvPr/>
        </p:nvSpPr>
        <p:spPr>
          <a:xfrm>
            <a:off x="855021" y="4569384"/>
            <a:ext cx="10295907" cy="1785104"/>
          </a:xfrm>
          <a:prstGeom prst="rect">
            <a:avLst/>
          </a:prstGeom>
        </p:spPr>
        <p:txBody>
          <a:bodyPr wrap="square">
            <a:spAutoFit/>
          </a:bodyPr>
          <a:lstStyle/>
          <a:p>
            <a:pPr marL="457200" marR="34290">
              <a:lnSpc>
                <a:spcPct val="150000"/>
              </a:lnSpc>
            </a:pPr>
            <a:r>
              <a:rPr lang="en-US" sz="2000" dirty="0">
                <a:latin typeface="Verdana" charset="0"/>
                <a:ea typeface="Verdana" charset="0"/>
                <a:cs typeface="Verdana" charset="0"/>
              </a:rPr>
              <a:t>Use the two-way table to answer the following questions.</a:t>
            </a:r>
          </a:p>
          <a:p>
            <a:pPr marL="914400" marR="34290" indent="-450850">
              <a:lnSpc>
                <a:spcPct val="150000"/>
              </a:lnSpc>
              <a:buFont typeface="+mj-lt"/>
              <a:buAutoNum type="alphaLcPeriod"/>
            </a:pPr>
            <a:r>
              <a:rPr lang="en-US" sz="2000" dirty="0">
                <a:latin typeface="Verdana" charset="0"/>
                <a:ea typeface="Verdana" charset="0"/>
                <a:cs typeface="Verdana" charset="0"/>
              </a:rPr>
              <a:t>What percentage of people surveyed prefer coffee? </a:t>
            </a:r>
            <a:br>
              <a:rPr lang="en-US" sz="2000" dirty="0">
                <a:latin typeface="Verdana" charset="0"/>
                <a:ea typeface="Verdana" charset="0"/>
                <a:cs typeface="Verdana" charset="0"/>
              </a:rPr>
            </a:br>
            <a:endParaRPr lang="en-US" sz="2000" dirty="0">
              <a:latin typeface="Verdana" charset="0"/>
              <a:ea typeface="Verdana" charset="0"/>
              <a:cs typeface="Verdana" charset="0"/>
            </a:endParaRPr>
          </a:p>
          <a:p>
            <a:pPr marL="914400" marR="34290" indent="-450850">
              <a:buFont typeface="+mj-lt"/>
              <a:buAutoNum type="alphaLcPeriod"/>
            </a:pPr>
            <a:r>
              <a:rPr lang="en-US" sz="2000" dirty="0">
                <a:latin typeface="Verdana" charset="0"/>
                <a:ea typeface="Verdana" charset="0"/>
                <a:cs typeface="Verdana" charset="0"/>
              </a:rPr>
              <a:t>What percentage of people surveyed drink tea with sugar? </a:t>
            </a:r>
          </a:p>
        </p:txBody>
      </p:sp>
      <p:sp>
        <p:nvSpPr>
          <p:cNvPr id="10" name="Google Shape;278;g104476d1465_1_17">
            <a:extLst>
              <a:ext uri="{FF2B5EF4-FFF2-40B4-BE49-F238E27FC236}">
                <a16:creationId xmlns:a16="http://schemas.microsoft.com/office/drawing/2014/main" id="{5F4162AC-B264-277E-D75C-F2AE98CE1216}"/>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a:extLst>
              <a:ext uri="{FF2B5EF4-FFF2-40B4-BE49-F238E27FC236}">
                <a16:creationId xmlns:a16="http://schemas.microsoft.com/office/drawing/2014/main" id="{D7469874-3CE1-BB37-AF65-12E968F86B33}"/>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325</a:t>
            </a:r>
            <a:endParaRPr i="1" dirty="0">
              <a:latin typeface="Calibri"/>
              <a:ea typeface="Calibri"/>
              <a:cs typeface="Calibri"/>
              <a:sym typeface="Calibri"/>
            </a:endParaRPr>
          </a:p>
        </p:txBody>
      </p:sp>
      <p:pic>
        <p:nvPicPr>
          <p:cNvPr id="14" name="Google Shape;283;g104476d1465_1_17">
            <a:extLst>
              <a:ext uri="{FF2B5EF4-FFF2-40B4-BE49-F238E27FC236}">
                <a16:creationId xmlns:a16="http://schemas.microsoft.com/office/drawing/2014/main" id="{9B4A775E-4FAA-DF10-A502-344CA7DED85C}"/>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320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106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42276E28-84DF-121E-27A6-5F3602BE6688}"/>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326</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1795CB2E-3EEB-536A-617A-C082ED8A7B09}"/>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0120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98538" y="60326"/>
            <a:ext cx="10073084" cy="100037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14.H1.2 Exploration: Two-Way Relative Frequency Tables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84742" y="93979"/>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52D1D4D-DCB8-A246-B186-D40316579D77}"/>
                  </a:ext>
                </a:extLst>
              </p:cNvPr>
              <p:cNvSpPr txBox="1"/>
              <p:nvPr/>
            </p:nvSpPr>
            <p:spPr>
              <a:xfrm>
                <a:off x="855022" y="1206734"/>
                <a:ext cx="10307783" cy="2462213"/>
              </a:xfrm>
              <a:prstGeom prst="rect">
                <a:avLst/>
              </a:prstGeom>
              <a:noFill/>
            </p:spPr>
            <p:txBody>
              <a:bodyPr wrap="square" rtlCol="0">
                <a:spAutoFit/>
              </a:bodyPr>
              <a:lstStyle/>
              <a:p>
                <a:r>
                  <a:rPr lang="en-US" sz="2200" dirty="0">
                    <a:latin typeface="Verdana" charset="0"/>
                    <a:ea typeface="Verdana" charset="0"/>
                    <a:cs typeface="Verdana" charset="0"/>
                  </a:rPr>
                  <a:t>A 2018 Pew Research Center survey of American teenagers was conducted to analyze trends in social media and technology. </a:t>
                </a:r>
                <a14:m>
                  <m:oMath xmlns:m="http://schemas.openxmlformats.org/officeDocument/2006/math">
                    <m:r>
                      <a:rPr lang="en-US" sz="2200" i="1">
                        <a:latin typeface="Cambria Math" panose="02040503050406030204" pitchFamily="18" charset="0"/>
                        <a:ea typeface="Verdana" charset="0"/>
                        <a:cs typeface="Verdana" charset="0"/>
                      </a:rPr>
                      <m:t>741</m:t>
                    </m:r>
                  </m:oMath>
                </a14:m>
                <a:r>
                  <a:rPr lang="en-US" sz="2200" dirty="0">
                    <a:latin typeface="Verdana" charset="0"/>
                    <a:ea typeface="Verdana" charset="0"/>
                    <a:cs typeface="Verdana" charset="0"/>
                  </a:rPr>
                  <a:t> teens who use social media were asked what effect they believe social media has had on people their age (mostly positive, mostly negative, neutral) and how much time they believe they spend with their friends in person (too much, too little, or about the right amount). The results are summarized in the joint frequency table.</a:t>
                </a:r>
              </a:p>
            </p:txBody>
          </p:sp>
        </mc:Choice>
        <mc:Fallback>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855022" y="1206734"/>
                <a:ext cx="10307783" cy="2462213"/>
              </a:xfrm>
              <a:prstGeom prst="rect">
                <a:avLst/>
              </a:prstGeom>
              <a:blipFill>
                <a:blip r:embed="rId4"/>
                <a:stretch>
                  <a:fillRect l="-769" t="-1485" r="-887" b="-4208"/>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EB4F8F2D-5430-734A-8AE9-069DDAB1B918}"/>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11" name="Table 10">
                <a:extLst>
                  <a:ext uri="{FF2B5EF4-FFF2-40B4-BE49-F238E27FC236}">
                    <a16:creationId xmlns:a16="http://schemas.microsoft.com/office/drawing/2014/main" id="{B06F78C0-C1E9-114A-AA64-5025FA587489}"/>
                  </a:ext>
                </a:extLst>
              </p:cNvPr>
              <p:cNvGraphicFramePr>
                <a:graphicFrameLocks noGrp="1"/>
              </p:cNvGraphicFramePr>
              <p:nvPr>
                <p:extLst>
                  <p:ext uri="{D42A27DB-BD31-4B8C-83A1-F6EECF244321}">
                    <p14:modId xmlns:p14="http://schemas.microsoft.com/office/powerpoint/2010/main" val="762132794"/>
                  </p:ext>
                </p:extLst>
              </p:nvPr>
            </p:nvGraphicFramePr>
            <p:xfrm>
              <a:off x="1514372" y="3935286"/>
              <a:ext cx="7573412" cy="2593952"/>
            </p:xfrm>
            <a:graphic>
              <a:graphicData uri="http://schemas.openxmlformats.org/drawingml/2006/table">
                <a:tbl>
                  <a:tblPr firstRow="1" firstCol="1" bandRow="1"/>
                  <a:tblGrid>
                    <a:gridCol w="899471">
                      <a:extLst>
                        <a:ext uri="{9D8B030D-6E8A-4147-A177-3AD203B41FA5}">
                          <a16:colId xmlns:a16="http://schemas.microsoft.com/office/drawing/2014/main" val="20000"/>
                        </a:ext>
                      </a:extLst>
                    </a:gridCol>
                    <a:gridCol w="1592443">
                      <a:extLst>
                        <a:ext uri="{9D8B030D-6E8A-4147-A177-3AD203B41FA5}">
                          <a16:colId xmlns:a16="http://schemas.microsoft.com/office/drawing/2014/main" val="20001"/>
                        </a:ext>
                      </a:extLst>
                    </a:gridCol>
                    <a:gridCol w="1488267">
                      <a:extLst>
                        <a:ext uri="{9D8B030D-6E8A-4147-A177-3AD203B41FA5}">
                          <a16:colId xmlns:a16="http://schemas.microsoft.com/office/drawing/2014/main" val="20002"/>
                        </a:ext>
                      </a:extLst>
                    </a:gridCol>
                    <a:gridCol w="1443618">
                      <a:extLst>
                        <a:ext uri="{9D8B030D-6E8A-4147-A177-3AD203B41FA5}">
                          <a16:colId xmlns:a16="http://schemas.microsoft.com/office/drawing/2014/main" val="20003"/>
                        </a:ext>
                      </a:extLst>
                    </a:gridCol>
                    <a:gridCol w="1265024">
                      <a:extLst>
                        <a:ext uri="{9D8B030D-6E8A-4147-A177-3AD203B41FA5}">
                          <a16:colId xmlns:a16="http://schemas.microsoft.com/office/drawing/2014/main" val="20004"/>
                        </a:ext>
                      </a:extLst>
                    </a:gridCol>
                    <a:gridCol w="884589">
                      <a:extLst>
                        <a:ext uri="{9D8B030D-6E8A-4147-A177-3AD203B41FA5}">
                          <a16:colId xmlns:a16="http://schemas.microsoft.com/office/drawing/2014/main" val="20005"/>
                        </a:ext>
                      </a:extLst>
                    </a:gridCol>
                  </a:tblGrid>
                  <a:tr h="280795">
                    <a:tc rowSpan="6">
                      <a:txBody>
                        <a:bodyPr/>
                        <a:lstStyle/>
                        <a:p>
                          <a:pPr marL="71755" marR="71755" algn="ctr">
                            <a:spcBef>
                              <a:spcPts val="0"/>
                            </a:spcBef>
                            <a:spcAft>
                              <a:spcPts val="0"/>
                            </a:spcAft>
                          </a:pPr>
                          <a:r>
                            <a:rPr lang="en-US" sz="2000" b="1" dirty="0">
                              <a:effectLst/>
                              <a:latin typeface="Verdana" charset="0"/>
                              <a:ea typeface="Verdana" charset="0"/>
                              <a:cs typeface="Verdana" charset="0"/>
                            </a:rPr>
                            <a:t>Time Spent</a:t>
                          </a:r>
                          <a:endParaRPr lang="en-US" sz="2000" dirty="0">
                            <a:effectLst/>
                            <a:latin typeface="Verdana" charset="0"/>
                            <a:ea typeface="Verdana" charset="0"/>
                            <a:cs typeface="Verdana" charset="0"/>
                          </a:endParaRPr>
                        </a:p>
                        <a:p>
                          <a:pPr marL="71755" marR="71755" algn="ctr">
                            <a:spcBef>
                              <a:spcPts val="0"/>
                            </a:spcBef>
                            <a:spcAft>
                              <a:spcPts val="0"/>
                            </a:spcAft>
                          </a:pPr>
                          <a:r>
                            <a:rPr lang="en-US" sz="2000" b="1" dirty="0">
                              <a:effectLst/>
                              <a:latin typeface="Verdana" charset="0"/>
                              <a:ea typeface="Verdana" charset="0"/>
                              <a:cs typeface="Verdana" charset="0"/>
                            </a:rPr>
                            <a:t>with Friends in Person</a:t>
                          </a:r>
                          <a:endParaRPr lang="en-US" sz="2000" dirty="0">
                            <a:effectLst/>
                            <a:latin typeface="Verdana" charset="0"/>
                            <a:ea typeface="Verdana" charset="0"/>
                            <a:cs typeface="Verdana" charset="0"/>
                          </a:endParaRPr>
                        </a:p>
                      </a:txBody>
                      <a:tcPr marL="58581" marR="58581" marT="0" marB="0" vert="vert270" anchor="ctr">
                        <a:lnL>
                          <a:noFill/>
                        </a:lnL>
                        <a:lnR>
                          <a:noFill/>
                        </a:lnR>
                        <a:lnT>
                          <a:noFill/>
                        </a:lnT>
                        <a:lnB>
                          <a:noFill/>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8581" marR="58581" marT="0" marB="0" anchor="ctr">
                        <a:lnL>
                          <a:noFill/>
                        </a:lnL>
                        <a:lnR>
                          <a:noFill/>
                        </a:lnR>
                        <a:lnT>
                          <a:noFill/>
                        </a:lnT>
                        <a:lnB w="12700" cap="flat" cmpd="sng" algn="ctr">
                          <a:solidFill>
                            <a:srgbClr val="000000"/>
                          </a:solidFill>
                          <a:prstDash val="solid"/>
                          <a:round/>
                          <a:headEnd type="none" w="med" len="med"/>
                          <a:tailEnd type="none" w="med" len="med"/>
                        </a:lnB>
                      </a:tcPr>
                    </a:tc>
                    <a:tc gridSpan="4">
                      <a:txBody>
                        <a:bodyPr/>
                        <a:lstStyle/>
                        <a:p>
                          <a:pPr marL="0" marR="0" algn="ctr">
                            <a:spcBef>
                              <a:spcPts val="0"/>
                            </a:spcBef>
                            <a:spcAft>
                              <a:spcPts val="0"/>
                            </a:spcAft>
                          </a:pPr>
                          <a:r>
                            <a:rPr lang="en-US" sz="2000" b="1">
                              <a:effectLst/>
                              <a:latin typeface="Verdana" charset="0"/>
                              <a:ea typeface="Verdana" charset="0"/>
                              <a:cs typeface="Verdana" charset="0"/>
                            </a:rPr>
                            <a:t>Effect on People Your Age</a:t>
                          </a:r>
                          <a:endParaRPr lang="en-US" sz="2000">
                            <a:effectLst/>
                            <a:latin typeface="Verdana" charset="0"/>
                            <a:ea typeface="Verdana" charset="0"/>
                            <a:cs typeface="Verdana" charset="0"/>
                          </a:endParaRPr>
                        </a:p>
                      </a:txBody>
                      <a:tcPr marL="58581" marR="58581"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897707">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Positive</a:t>
                          </a:r>
                          <a:endParaRPr lang="en-US" sz="2000" dirty="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Negative</a:t>
                          </a:r>
                          <a:endParaRPr lang="en-US" sz="2000" dirty="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Neutral</a:t>
                          </a:r>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352537">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Much</a:t>
                          </a:r>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22</m:t>
                                </m:r>
                              </m:oMath>
                            </m:oMathPara>
                          </a14:m>
                          <a:endParaRPr lang="en-US" sz="2000" dirty="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21</m:t>
                                </m:r>
                              </m:oMath>
                            </m:oMathPara>
                          </a14:m>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20</m:t>
                                </m:r>
                              </m:oMath>
                            </m:oMathPara>
                          </a14:m>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63</m:t>
                                </m:r>
                              </m:oMath>
                            </m:oMathPara>
                          </a14:m>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52537">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Little</a:t>
                          </a:r>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87</m:t>
                                </m:r>
                              </m:oMath>
                            </m:oMathPara>
                          </a14:m>
                          <a:endParaRPr lang="en-US" sz="2000" dirty="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77</m:t>
                                </m:r>
                              </m:oMath>
                            </m:oMathPara>
                          </a14:m>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105</m:t>
                                </m:r>
                              </m:oMath>
                            </m:oMathPara>
                          </a14:m>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269</m:t>
                                </m:r>
                              </m:oMath>
                            </m:oMathPara>
                          </a14:m>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59550">
                    <a:tc vMerge="1">
                      <a:txBody>
                        <a:bodyPr/>
                        <a:lstStyle/>
                        <a:p>
                          <a:endParaRPr lang="en-US"/>
                        </a:p>
                      </a:txBody>
                      <a:tcPr/>
                    </a:tc>
                    <a:tc>
                      <a:txBody>
                        <a:bodyPr/>
                        <a:lstStyle/>
                        <a:p>
                          <a:pPr marL="0" marR="0" algn="ctr">
                            <a:spcBef>
                              <a:spcPts val="0"/>
                            </a:spcBef>
                            <a:spcAft>
                              <a:spcPts val="0"/>
                            </a:spcAft>
                          </a:pPr>
                          <a:r>
                            <a:rPr lang="en-US" sz="2000" b="1" dirty="0">
                              <a:effectLst/>
                              <a:latin typeface="Verdana" charset="0"/>
                              <a:ea typeface="Verdana" charset="0"/>
                              <a:cs typeface="Verdana" charset="0"/>
                            </a:rPr>
                            <a:t>Just Right</a:t>
                          </a:r>
                          <a:endParaRPr lang="en-US" sz="2000" dirty="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110</m:t>
                                </m:r>
                              </m:oMath>
                            </m:oMathPara>
                          </a14:m>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113</m:t>
                                </m:r>
                              </m:oMath>
                            </m:oMathPara>
                          </a14:m>
                          <a:endParaRPr lang="en-US" sz="2000" dirty="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186</m:t>
                                </m:r>
                              </m:oMath>
                            </m:oMathPara>
                          </a14:m>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409</m:t>
                                </m:r>
                              </m:oMath>
                            </m:oMathPara>
                          </a14:m>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26821">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219</m:t>
                                </m:r>
                              </m:oMath>
                            </m:oMathPara>
                          </a14:m>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211</m:t>
                                </m:r>
                              </m:oMath>
                            </m:oMathPara>
                          </a14:m>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311</m:t>
                                </m:r>
                              </m:oMath>
                            </m:oMathPara>
                          </a14:m>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741</m:t>
                                </m:r>
                              </m:oMath>
                            </m:oMathPara>
                          </a14:m>
                          <a:endParaRPr lang="en-US" sz="2000" dirty="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p:graphicFrame>
            <p:nvGraphicFramePr>
              <p:cNvPr id="11" name="Table 10">
                <a:extLst>
                  <a:ext uri="{FF2B5EF4-FFF2-40B4-BE49-F238E27FC236}">
                    <a16:creationId xmlns:a16="http://schemas.microsoft.com/office/drawing/2014/main" id="{B06F78C0-C1E9-114A-AA64-5025FA587489}"/>
                  </a:ext>
                </a:extLst>
              </p:cNvPr>
              <p:cNvGraphicFramePr>
                <a:graphicFrameLocks noGrp="1"/>
              </p:cNvGraphicFramePr>
              <p:nvPr>
                <p:extLst>
                  <p:ext uri="{D42A27DB-BD31-4B8C-83A1-F6EECF244321}">
                    <p14:modId xmlns:p14="http://schemas.microsoft.com/office/powerpoint/2010/main" val="762132794"/>
                  </p:ext>
                </p:extLst>
              </p:nvPr>
            </p:nvGraphicFramePr>
            <p:xfrm>
              <a:off x="1514372" y="3935286"/>
              <a:ext cx="7573412" cy="2593952"/>
            </p:xfrm>
            <a:graphic>
              <a:graphicData uri="http://schemas.openxmlformats.org/drawingml/2006/table">
                <a:tbl>
                  <a:tblPr firstRow="1" firstCol="1" bandRow="1"/>
                  <a:tblGrid>
                    <a:gridCol w="899471">
                      <a:extLst>
                        <a:ext uri="{9D8B030D-6E8A-4147-A177-3AD203B41FA5}">
                          <a16:colId xmlns:a16="http://schemas.microsoft.com/office/drawing/2014/main" val="20000"/>
                        </a:ext>
                      </a:extLst>
                    </a:gridCol>
                    <a:gridCol w="1592443">
                      <a:extLst>
                        <a:ext uri="{9D8B030D-6E8A-4147-A177-3AD203B41FA5}">
                          <a16:colId xmlns:a16="http://schemas.microsoft.com/office/drawing/2014/main" val="20001"/>
                        </a:ext>
                      </a:extLst>
                    </a:gridCol>
                    <a:gridCol w="1488267">
                      <a:extLst>
                        <a:ext uri="{9D8B030D-6E8A-4147-A177-3AD203B41FA5}">
                          <a16:colId xmlns:a16="http://schemas.microsoft.com/office/drawing/2014/main" val="20002"/>
                        </a:ext>
                      </a:extLst>
                    </a:gridCol>
                    <a:gridCol w="1443618">
                      <a:extLst>
                        <a:ext uri="{9D8B030D-6E8A-4147-A177-3AD203B41FA5}">
                          <a16:colId xmlns:a16="http://schemas.microsoft.com/office/drawing/2014/main" val="20003"/>
                        </a:ext>
                      </a:extLst>
                    </a:gridCol>
                    <a:gridCol w="1265024">
                      <a:extLst>
                        <a:ext uri="{9D8B030D-6E8A-4147-A177-3AD203B41FA5}">
                          <a16:colId xmlns:a16="http://schemas.microsoft.com/office/drawing/2014/main" val="20004"/>
                        </a:ext>
                      </a:extLst>
                    </a:gridCol>
                    <a:gridCol w="884589">
                      <a:extLst>
                        <a:ext uri="{9D8B030D-6E8A-4147-A177-3AD203B41FA5}">
                          <a16:colId xmlns:a16="http://schemas.microsoft.com/office/drawing/2014/main" val="20005"/>
                        </a:ext>
                      </a:extLst>
                    </a:gridCol>
                  </a:tblGrid>
                  <a:tr h="304800">
                    <a:tc rowSpan="6">
                      <a:txBody>
                        <a:bodyPr/>
                        <a:lstStyle/>
                        <a:p>
                          <a:pPr marL="71755" marR="71755" algn="ctr">
                            <a:spcBef>
                              <a:spcPts val="0"/>
                            </a:spcBef>
                            <a:spcAft>
                              <a:spcPts val="0"/>
                            </a:spcAft>
                          </a:pPr>
                          <a:r>
                            <a:rPr lang="en-US" sz="2000" b="1" dirty="0">
                              <a:effectLst/>
                              <a:latin typeface="Verdana" charset="0"/>
                              <a:ea typeface="Verdana" charset="0"/>
                              <a:cs typeface="Verdana" charset="0"/>
                            </a:rPr>
                            <a:t>Time Spent</a:t>
                          </a:r>
                          <a:endParaRPr lang="en-US" sz="2000" dirty="0">
                            <a:effectLst/>
                            <a:latin typeface="Verdana" charset="0"/>
                            <a:ea typeface="Verdana" charset="0"/>
                            <a:cs typeface="Verdana" charset="0"/>
                          </a:endParaRPr>
                        </a:p>
                        <a:p>
                          <a:pPr marL="71755" marR="71755" algn="ctr">
                            <a:spcBef>
                              <a:spcPts val="0"/>
                            </a:spcBef>
                            <a:spcAft>
                              <a:spcPts val="0"/>
                            </a:spcAft>
                          </a:pPr>
                          <a:r>
                            <a:rPr lang="en-US" sz="2000" b="1" dirty="0">
                              <a:effectLst/>
                              <a:latin typeface="Verdana" charset="0"/>
                              <a:ea typeface="Verdana" charset="0"/>
                              <a:cs typeface="Verdana" charset="0"/>
                            </a:rPr>
                            <a:t>with Friends in Person</a:t>
                          </a:r>
                          <a:endParaRPr lang="en-US" sz="2000" dirty="0">
                            <a:effectLst/>
                            <a:latin typeface="Verdana" charset="0"/>
                            <a:ea typeface="Verdana" charset="0"/>
                            <a:cs typeface="Verdana" charset="0"/>
                          </a:endParaRPr>
                        </a:p>
                      </a:txBody>
                      <a:tcPr marL="58581" marR="58581" marT="0" marB="0" vert="vert270" anchor="ctr">
                        <a:lnL>
                          <a:noFill/>
                        </a:lnL>
                        <a:lnR>
                          <a:noFill/>
                        </a:lnR>
                        <a:lnT>
                          <a:noFill/>
                        </a:lnT>
                        <a:lnB>
                          <a:noFill/>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8581" marR="58581" marT="0" marB="0" anchor="ctr">
                        <a:lnL>
                          <a:noFill/>
                        </a:lnL>
                        <a:lnR>
                          <a:noFill/>
                        </a:lnR>
                        <a:lnT>
                          <a:noFill/>
                        </a:lnT>
                        <a:lnB w="12700" cap="flat" cmpd="sng" algn="ctr">
                          <a:solidFill>
                            <a:srgbClr val="000000"/>
                          </a:solidFill>
                          <a:prstDash val="solid"/>
                          <a:round/>
                          <a:headEnd type="none" w="med" len="med"/>
                          <a:tailEnd type="none" w="med" len="med"/>
                        </a:lnB>
                      </a:tcPr>
                    </a:tc>
                    <a:tc gridSpan="4">
                      <a:txBody>
                        <a:bodyPr/>
                        <a:lstStyle/>
                        <a:p>
                          <a:pPr marL="0" marR="0" algn="ctr">
                            <a:spcBef>
                              <a:spcPts val="0"/>
                            </a:spcBef>
                            <a:spcAft>
                              <a:spcPts val="0"/>
                            </a:spcAft>
                          </a:pPr>
                          <a:r>
                            <a:rPr lang="en-US" sz="2000" b="1">
                              <a:effectLst/>
                              <a:latin typeface="Verdana" charset="0"/>
                              <a:ea typeface="Verdana" charset="0"/>
                              <a:cs typeface="Verdana" charset="0"/>
                            </a:rPr>
                            <a:t>Effect on People Your Age</a:t>
                          </a:r>
                          <a:endParaRPr lang="en-US" sz="2000">
                            <a:effectLst/>
                            <a:latin typeface="Verdana" charset="0"/>
                            <a:ea typeface="Verdana" charset="0"/>
                            <a:cs typeface="Verdana" charset="0"/>
                          </a:endParaRPr>
                        </a:p>
                      </a:txBody>
                      <a:tcPr marL="58581" marR="58581"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897707">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Positive</a:t>
                          </a:r>
                          <a:endParaRPr lang="en-US" sz="2000" dirty="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Negative</a:t>
                          </a:r>
                          <a:endParaRPr lang="en-US" sz="2000" dirty="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Neutral</a:t>
                          </a:r>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352537">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Much</a:t>
                          </a:r>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73361" t="-362069" r="-242623" b="-334483"/>
                          </a:stretch>
                        </a:blip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81435" t="-362069" r="-149789" b="-334483"/>
                          </a:stretch>
                        </a:blip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34615" t="-362069" r="-70673" b="-334483"/>
                          </a:stretch>
                        </a:blip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6897" t="-362069" r="-1379" b="-334483"/>
                          </a:stretch>
                        </a:blipFill>
                      </a:tcPr>
                    </a:tc>
                    <a:extLst>
                      <a:ext uri="{0D108BD9-81ED-4DB2-BD59-A6C34878D82A}">
                        <a16:rowId xmlns:a16="http://schemas.microsoft.com/office/drawing/2014/main" val="10002"/>
                      </a:ext>
                    </a:extLst>
                  </a:tr>
                  <a:tr h="352537">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Little</a:t>
                          </a:r>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73361" t="-462069" r="-242623" b="-234483"/>
                          </a:stretch>
                        </a:blip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81435" t="-462069" r="-149789" b="-234483"/>
                          </a:stretch>
                        </a:blip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34615" t="-462069" r="-70673" b="-234483"/>
                          </a:stretch>
                        </a:blip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6897" t="-462069" r="-1379" b="-234483"/>
                          </a:stretch>
                        </a:blipFill>
                      </a:tcPr>
                    </a:tc>
                    <a:extLst>
                      <a:ext uri="{0D108BD9-81ED-4DB2-BD59-A6C34878D82A}">
                        <a16:rowId xmlns:a16="http://schemas.microsoft.com/office/drawing/2014/main" val="10003"/>
                      </a:ext>
                    </a:extLst>
                  </a:tr>
                  <a:tr h="359550">
                    <a:tc vMerge="1">
                      <a:txBody>
                        <a:bodyPr/>
                        <a:lstStyle/>
                        <a:p>
                          <a:endParaRPr lang="en-US"/>
                        </a:p>
                      </a:txBody>
                      <a:tcPr/>
                    </a:tc>
                    <a:tc>
                      <a:txBody>
                        <a:bodyPr/>
                        <a:lstStyle/>
                        <a:p>
                          <a:pPr marL="0" marR="0" algn="ctr">
                            <a:spcBef>
                              <a:spcPts val="0"/>
                            </a:spcBef>
                            <a:spcAft>
                              <a:spcPts val="0"/>
                            </a:spcAft>
                          </a:pPr>
                          <a:r>
                            <a:rPr lang="en-US" sz="2000" b="1" dirty="0">
                              <a:effectLst/>
                              <a:latin typeface="Verdana" charset="0"/>
                              <a:ea typeface="Verdana" charset="0"/>
                              <a:cs typeface="Verdana" charset="0"/>
                            </a:rPr>
                            <a:t>Just Right</a:t>
                          </a:r>
                          <a:endParaRPr lang="en-US" sz="2000" dirty="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73361" t="-552542" r="-242623" b="-130508"/>
                          </a:stretch>
                        </a:blip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81435" t="-552542" r="-149789" b="-130508"/>
                          </a:stretch>
                        </a:blip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34615" t="-552542" r="-70673" b="-130508"/>
                          </a:stretch>
                        </a:blip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6897" t="-552542" r="-1379" b="-130508"/>
                          </a:stretch>
                        </a:blipFill>
                      </a:tcPr>
                    </a:tc>
                    <a:extLst>
                      <a:ext uri="{0D108BD9-81ED-4DB2-BD59-A6C34878D82A}">
                        <a16:rowId xmlns:a16="http://schemas.microsoft.com/office/drawing/2014/main" val="10004"/>
                      </a:ext>
                    </a:extLst>
                  </a:tr>
                  <a:tr h="326821">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73361" t="-712963" r="-242623" b="-42593"/>
                          </a:stretch>
                        </a:blip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81435" t="-712963" r="-149789" b="-42593"/>
                          </a:stretch>
                        </a:blip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34615" t="-712963" r="-70673" b="-42593"/>
                          </a:stretch>
                        </a:blipFill>
                      </a:tcPr>
                    </a:tc>
                    <a:tc>
                      <a:txBody>
                        <a:bodyPr/>
                        <a:lstStyle/>
                        <a:p>
                          <a:endParaRPr lang="en-US"/>
                        </a:p>
                      </a:txBody>
                      <a:tcPr marL="58581" marR="585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66897" t="-712963" r="-1379" b="-42593"/>
                          </a:stretch>
                        </a:blipFill>
                      </a:tcPr>
                    </a:tc>
                    <a:extLst>
                      <a:ext uri="{0D108BD9-81ED-4DB2-BD59-A6C34878D82A}">
                        <a16:rowId xmlns:a16="http://schemas.microsoft.com/office/drawing/2014/main" val="10005"/>
                      </a:ext>
                    </a:extLst>
                  </a:tr>
                </a:tbl>
              </a:graphicData>
            </a:graphic>
          </p:graphicFrame>
        </mc:Fallback>
      </mc:AlternateContent>
      <p:sp>
        <p:nvSpPr>
          <p:cNvPr id="12" name="Google Shape;282;g104476d1465_1_17">
            <a:extLst>
              <a:ext uri="{FF2B5EF4-FFF2-40B4-BE49-F238E27FC236}">
                <a16:creationId xmlns:a16="http://schemas.microsoft.com/office/drawing/2014/main" id="{DB28082D-09FA-2962-4369-ABD94ACA3722}"/>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326</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86997831-A3F5-CB55-FEE4-18018B08FFC5}"/>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68622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15428" y="528619"/>
            <a:ext cx="10371127" cy="1569660"/>
          </a:xfrm>
          <a:prstGeom prst="rect">
            <a:avLst/>
          </a:prstGeom>
          <a:noFill/>
        </p:spPr>
        <p:txBody>
          <a:bodyPr wrap="square" rtlCol="0">
            <a:spAutoFit/>
          </a:bodyPr>
          <a:lstStyle/>
          <a:p>
            <a:r>
              <a:rPr lang="en-US" sz="2400" dirty="0">
                <a:latin typeface="Verdana" charset="0"/>
                <a:ea typeface="Verdana" charset="0"/>
                <a:cs typeface="Verdana" charset="0"/>
              </a:rPr>
              <a:t>The data can also be displayed in a joint relative frequency table, where the cells represent the joint and marginal relative frequencies. These are often useful to construct when given percentages for a data set, rather than frequencies. </a:t>
            </a:r>
          </a:p>
        </p:txBody>
      </p:sp>
      <p:sp>
        <p:nvSpPr>
          <p:cNvPr id="6" name="Google Shape;278;g104476d1465_1_17">
            <a:extLst>
              <a:ext uri="{FF2B5EF4-FFF2-40B4-BE49-F238E27FC236}">
                <a16:creationId xmlns:a16="http://schemas.microsoft.com/office/drawing/2014/main" id="{8221DE51-EC2A-7749-BA7C-D69EC4B3B96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4008997517"/>
                  </p:ext>
                </p:extLst>
              </p:nvPr>
            </p:nvGraphicFramePr>
            <p:xfrm>
              <a:off x="1459098" y="2397142"/>
              <a:ext cx="8052272" cy="3556139"/>
            </p:xfrm>
            <a:graphic>
              <a:graphicData uri="http://schemas.openxmlformats.org/drawingml/2006/table">
                <a:tbl>
                  <a:tblPr firstRow="1" firstCol="1" bandRow="1"/>
                  <a:tblGrid>
                    <a:gridCol w="859187">
                      <a:extLst>
                        <a:ext uri="{9D8B030D-6E8A-4147-A177-3AD203B41FA5}">
                          <a16:colId xmlns:a16="http://schemas.microsoft.com/office/drawing/2014/main" val="20000"/>
                        </a:ext>
                      </a:extLst>
                    </a:gridCol>
                    <a:gridCol w="1379349">
                      <a:extLst>
                        <a:ext uri="{9D8B030D-6E8A-4147-A177-3AD203B41FA5}">
                          <a16:colId xmlns:a16="http://schemas.microsoft.com/office/drawing/2014/main" val="20001"/>
                        </a:ext>
                      </a:extLst>
                    </a:gridCol>
                    <a:gridCol w="1441343">
                      <a:extLst>
                        <a:ext uri="{9D8B030D-6E8A-4147-A177-3AD203B41FA5}">
                          <a16:colId xmlns:a16="http://schemas.microsoft.com/office/drawing/2014/main" val="20002"/>
                        </a:ext>
                      </a:extLst>
                    </a:gridCol>
                    <a:gridCol w="1658318">
                      <a:extLst>
                        <a:ext uri="{9D8B030D-6E8A-4147-A177-3AD203B41FA5}">
                          <a16:colId xmlns:a16="http://schemas.microsoft.com/office/drawing/2014/main" val="20003"/>
                        </a:ext>
                      </a:extLst>
                    </a:gridCol>
                    <a:gridCol w="1534333">
                      <a:extLst>
                        <a:ext uri="{9D8B030D-6E8A-4147-A177-3AD203B41FA5}">
                          <a16:colId xmlns:a16="http://schemas.microsoft.com/office/drawing/2014/main" val="20004"/>
                        </a:ext>
                      </a:extLst>
                    </a:gridCol>
                    <a:gridCol w="1179742">
                      <a:extLst>
                        <a:ext uri="{9D8B030D-6E8A-4147-A177-3AD203B41FA5}">
                          <a16:colId xmlns:a16="http://schemas.microsoft.com/office/drawing/2014/main" val="20005"/>
                        </a:ext>
                      </a:extLst>
                    </a:gridCol>
                  </a:tblGrid>
                  <a:tr h="234646">
                    <a:tc rowSpan="6">
                      <a:txBody>
                        <a:bodyPr/>
                        <a:lstStyle/>
                        <a:p>
                          <a:pPr marL="71755" marR="71755" algn="ctr">
                            <a:spcBef>
                              <a:spcPts val="0"/>
                            </a:spcBef>
                            <a:spcAft>
                              <a:spcPts val="0"/>
                            </a:spcAft>
                          </a:pPr>
                          <a:r>
                            <a:rPr lang="en-US" sz="2000" b="1" dirty="0">
                              <a:effectLst/>
                              <a:latin typeface="Verdana" charset="0"/>
                              <a:ea typeface="Verdana" charset="0"/>
                              <a:cs typeface="Verdana" charset="0"/>
                            </a:rPr>
                            <a:t>Time Spent</a:t>
                          </a:r>
                          <a:endParaRPr lang="en-US" sz="2000" dirty="0">
                            <a:effectLst/>
                            <a:latin typeface="Verdana" charset="0"/>
                            <a:ea typeface="Verdana" charset="0"/>
                            <a:cs typeface="Verdana" charset="0"/>
                          </a:endParaRPr>
                        </a:p>
                        <a:p>
                          <a:pPr marL="71755" marR="71755" algn="ctr">
                            <a:spcBef>
                              <a:spcPts val="0"/>
                            </a:spcBef>
                            <a:spcAft>
                              <a:spcPts val="0"/>
                            </a:spcAft>
                          </a:pPr>
                          <a:r>
                            <a:rPr lang="en-US" sz="2000" b="1" dirty="0">
                              <a:effectLst/>
                              <a:latin typeface="Verdana" charset="0"/>
                              <a:ea typeface="Verdana" charset="0"/>
                              <a:cs typeface="Verdana" charset="0"/>
                            </a:rPr>
                            <a:t>with Friends in Person</a:t>
                          </a:r>
                          <a:endParaRPr lang="en-US" sz="2000" dirty="0">
                            <a:effectLst/>
                            <a:latin typeface="Verdana" charset="0"/>
                            <a:ea typeface="Verdana" charset="0"/>
                            <a:cs typeface="Verdana" charset="0"/>
                          </a:endParaRPr>
                        </a:p>
                      </a:txBody>
                      <a:tcPr marL="58661" marR="58661" marT="0" marB="0" vert="vert270" anchor="ctr">
                        <a:lnL>
                          <a:noFill/>
                        </a:lnL>
                        <a:lnR>
                          <a:noFill/>
                        </a:lnR>
                        <a:lnT>
                          <a:noFill/>
                        </a:lnT>
                        <a:lnB>
                          <a:noFill/>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8661" marR="58661" marT="0" marB="0" anchor="ctr">
                        <a:lnL>
                          <a:noFill/>
                        </a:lnL>
                        <a:lnR>
                          <a:noFill/>
                        </a:lnR>
                        <a:lnT>
                          <a:noFill/>
                        </a:lnT>
                        <a:lnB w="12700" cap="flat" cmpd="sng" algn="ctr">
                          <a:solidFill>
                            <a:srgbClr val="000000"/>
                          </a:solidFill>
                          <a:prstDash val="solid"/>
                          <a:round/>
                          <a:headEnd type="none" w="med" len="med"/>
                          <a:tailEnd type="none" w="med" len="med"/>
                        </a:lnB>
                      </a:tcPr>
                    </a:tc>
                    <a:tc gridSpan="4">
                      <a:txBody>
                        <a:bodyPr/>
                        <a:lstStyle/>
                        <a:p>
                          <a:pPr marL="0" marR="0" algn="ctr">
                            <a:spcBef>
                              <a:spcPts val="0"/>
                            </a:spcBef>
                            <a:spcAft>
                              <a:spcPts val="0"/>
                            </a:spcAft>
                          </a:pPr>
                          <a:r>
                            <a:rPr lang="en-US" sz="2000" b="1" dirty="0">
                              <a:effectLst/>
                              <a:latin typeface="Verdana" charset="0"/>
                              <a:ea typeface="Verdana" charset="0"/>
                              <a:cs typeface="Verdana" charset="0"/>
                            </a:rPr>
                            <a:t>Effect on People Your Age</a:t>
                          </a:r>
                          <a:endParaRPr lang="en-US" sz="2000" dirty="0">
                            <a:effectLst/>
                            <a:latin typeface="Verdana" charset="0"/>
                            <a:ea typeface="Verdana" charset="0"/>
                            <a:cs typeface="Verdana" charset="0"/>
                          </a:endParaRPr>
                        </a:p>
                      </a:txBody>
                      <a:tcPr marL="58661" marR="58661"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042869">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Positive</a:t>
                          </a:r>
                          <a:endParaRPr lang="en-US" sz="2000" dirty="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Mostly Negative</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Neutral</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409544">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Much</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2.97%</m:t>
                                </m:r>
                              </m:oMath>
                            </m:oMathPara>
                          </a14:m>
                          <a:endParaRPr lang="en-US" sz="2000" dirty="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2.83%</m:t>
                                </m:r>
                              </m:oMath>
                            </m:oMathPara>
                          </a14:m>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2.7%</m:t>
                                </m:r>
                              </m:oMath>
                            </m:oMathPara>
                          </a14:m>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8.5%</m:t>
                                </m:r>
                              </m:oMath>
                            </m:oMathPara>
                          </a14:m>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9544">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Little</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11.74%</m:t>
                                </m:r>
                              </m:oMath>
                            </m:oMathPara>
                          </a14:m>
                          <a:endParaRPr lang="en-US" sz="2000" dirty="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10.39%</m:t>
                                </m:r>
                              </m:oMath>
                            </m:oMathPara>
                          </a14:m>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14.17%</m:t>
                                </m:r>
                              </m:oMath>
                            </m:oMathPara>
                          </a14:m>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36.3%</m:t>
                                </m:r>
                              </m:oMath>
                            </m:oMathPara>
                          </a14:m>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17691">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Just Right</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14.84%</m:t>
                                </m:r>
                              </m:oMath>
                            </m:oMathPara>
                          </a14:m>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15.25%</m:t>
                                </m:r>
                              </m:oMath>
                            </m:oMathPara>
                          </a14:m>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25.10%</m:t>
                                </m:r>
                              </m:oMath>
                            </m:oMathPara>
                          </a14:m>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55.20%</m:t>
                                </m:r>
                              </m:oMath>
                            </m:oMathPara>
                          </a14:m>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79670">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29.55%</m:t>
                                </m:r>
                              </m:oMath>
                            </m:oMathPara>
                          </a14:m>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28.48%</m:t>
                                </m:r>
                              </m:oMath>
                            </m:oMathPara>
                          </a14:m>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41.97%</m:t>
                                </m:r>
                              </m:oMath>
                            </m:oMathPara>
                          </a14:m>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100.00%</m:t>
                                </m:r>
                              </m:oMath>
                            </m:oMathPara>
                          </a14:m>
                          <a:endParaRPr lang="en-US" sz="2000" dirty="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4008997517"/>
                  </p:ext>
                </p:extLst>
              </p:nvPr>
            </p:nvGraphicFramePr>
            <p:xfrm>
              <a:off x="1459098" y="2397142"/>
              <a:ext cx="8052272" cy="3556139"/>
            </p:xfrm>
            <a:graphic>
              <a:graphicData uri="http://schemas.openxmlformats.org/drawingml/2006/table">
                <a:tbl>
                  <a:tblPr firstRow="1" firstCol="1" bandRow="1"/>
                  <a:tblGrid>
                    <a:gridCol w="859187">
                      <a:extLst>
                        <a:ext uri="{9D8B030D-6E8A-4147-A177-3AD203B41FA5}">
                          <a16:colId xmlns:a16="http://schemas.microsoft.com/office/drawing/2014/main" val="20000"/>
                        </a:ext>
                      </a:extLst>
                    </a:gridCol>
                    <a:gridCol w="1379349">
                      <a:extLst>
                        <a:ext uri="{9D8B030D-6E8A-4147-A177-3AD203B41FA5}">
                          <a16:colId xmlns:a16="http://schemas.microsoft.com/office/drawing/2014/main" val="20001"/>
                        </a:ext>
                      </a:extLst>
                    </a:gridCol>
                    <a:gridCol w="1441343">
                      <a:extLst>
                        <a:ext uri="{9D8B030D-6E8A-4147-A177-3AD203B41FA5}">
                          <a16:colId xmlns:a16="http://schemas.microsoft.com/office/drawing/2014/main" val="20002"/>
                        </a:ext>
                      </a:extLst>
                    </a:gridCol>
                    <a:gridCol w="1658318">
                      <a:extLst>
                        <a:ext uri="{9D8B030D-6E8A-4147-A177-3AD203B41FA5}">
                          <a16:colId xmlns:a16="http://schemas.microsoft.com/office/drawing/2014/main" val="20003"/>
                        </a:ext>
                      </a:extLst>
                    </a:gridCol>
                    <a:gridCol w="1534333">
                      <a:extLst>
                        <a:ext uri="{9D8B030D-6E8A-4147-A177-3AD203B41FA5}">
                          <a16:colId xmlns:a16="http://schemas.microsoft.com/office/drawing/2014/main" val="20004"/>
                        </a:ext>
                      </a:extLst>
                    </a:gridCol>
                    <a:gridCol w="1179742">
                      <a:extLst>
                        <a:ext uri="{9D8B030D-6E8A-4147-A177-3AD203B41FA5}">
                          <a16:colId xmlns:a16="http://schemas.microsoft.com/office/drawing/2014/main" val="20005"/>
                        </a:ext>
                      </a:extLst>
                    </a:gridCol>
                  </a:tblGrid>
                  <a:tr h="304800">
                    <a:tc rowSpan="6">
                      <a:txBody>
                        <a:bodyPr/>
                        <a:lstStyle/>
                        <a:p>
                          <a:pPr marL="71755" marR="71755" algn="ctr">
                            <a:spcBef>
                              <a:spcPts val="0"/>
                            </a:spcBef>
                            <a:spcAft>
                              <a:spcPts val="0"/>
                            </a:spcAft>
                          </a:pPr>
                          <a:r>
                            <a:rPr lang="en-US" sz="2000" b="1" dirty="0">
                              <a:effectLst/>
                              <a:latin typeface="Verdana" charset="0"/>
                              <a:ea typeface="Verdana" charset="0"/>
                              <a:cs typeface="Verdana" charset="0"/>
                            </a:rPr>
                            <a:t>Time Spent</a:t>
                          </a:r>
                          <a:endParaRPr lang="en-US" sz="2000" dirty="0">
                            <a:effectLst/>
                            <a:latin typeface="Verdana" charset="0"/>
                            <a:ea typeface="Verdana" charset="0"/>
                            <a:cs typeface="Verdana" charset="0"/>
                          </a:endParaRPr>
                        </a:p>
                        <a:p>
                          <a:pPr marL="71755" marR="71755" algn="ctr">
                            <a:spcBef>
                              <a:spcPts val="0"/>
                            </a:spcBef>
                            <a:spcAft>
                              <a:spcPts val="0"/>
                            </a:spcAft>
                          </a:pPr>
                          <a:r>
                            <a:rPr lang="en-US" sz="2000" b="1" dirty="0">
                              <a:effectLst/>
                              <a:latin typeface="Verdana" charset="0"/>
                              <a:ea typeface="Verdana" charset="0"/>
                              <a:cs typeface="Verdana" charset="0"/>
                            </a:rPr>
                            <a:t>with Friends in Person</a:t>
                          </a:r>
                          <a:endParaRPr lang="en-US" sz="2000" dirty="0">
                            <a:effectLst/>
                            <a:latin typeface="Verdana" charset="0"/>
                            <a:ea typeface="Verdana" charset="0"/>
                            <a:cs typeface="Verdana" charset="0"/>
                          </a:endParaRPr>
                        </a:p>
                      </a:txBody>
                      <a:tcPr marL="58661" marR="58661" marT="0" marB="0" vert="vert270" anchor="ctr">
                        <a:lnL>
                          <a:noFill/>
                        </a:lnL>
                        <a:lnR>
                          <a:noFill/>
                        </a:lnR>
                        <a:lnT>
                          <a:noFill/>
                        </a:lnT>
                        <a:lnB>
                          <a:noFill/>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8661" marR="58661" marT="0" marB="0" anchor="ctr">
                        <a:lnL>
                          <a:noFill/>
                        </a:lnL>
                        <a:lnR>
                          <a:noFill/>
                        </a:lnR>
                        <a:lnT>
                          <a:noFill/>
                        </a:lnT>
                        <a:lnB w="12700" cap="flat" cmpd="sng" algn="ctr">
                          <a:solidFill>
                            <a:srgbClr val="000000"/>
                          </a:solidFill>
                          <a:prstDash val="solid"/>
                          <a:round/>
                          <a:headEnd type="none" w="med" len="med"/>
                          <a:tailEnd type="none" w="med" len="med"/>
                        </a:lnB>
                      </a:tcPr>
                    </a:tc>
                    <a:tc gridSpan="4">
                      <a:txBody>
                        <a:bodyPr/>
                        <a:lstStyle/>
                        <a:p>
                          <a:pPr marL="0" marR="0" algn="ctr">
                            <a:spcBef>
                              <a:spcPts val="0"/>
                            </a:spcBef>
                            <a:spcAft>
                              <a:spcPts val="0"/>
                            </a:spcAft>
                          </a:pPr>
                          <a:r>
                            <a:rPr lang="en-US" sz="2000" b="1" dirty="0">
                              <a:effectLst/>
                              <a:latin typeface="Verdana" charset="0"/>
                              <a:ea typeface="Verdana" charset="0"/>
                              <a:cs typeface="Verdana" charset="0"/>
                            </a:rPr>
                            <a:t>Effect on People Your Age</a:t>
                          </a:r>
                          <a:endParaRPr lang="en-US" sz="2000" dirty="0">
                            <a:effectLst/>
                            <a:latin typeface="Verdana" charset="0"/>
                            <a:ea typeface="Verdana" charset="0"/>
                            <a:cs typeface="Verdana" charset="0"/>
                          </a:endParaRPr>
                        </a:p>
                      </a:txBody>
                      <a:tcPr marL="58661" marR="58661"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042869">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Positive</a:t>
                          </a:r>
                          <a:endParaRPr lang="en-US" sz="2000" dirty="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Mostly Negative</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Neutral</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609600">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Much</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55932" t="-234000" r="-305085" b="-282000"/>
                          </a:stretch>
                        </a:blip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22059" t="-234000" r="-164706" b="-282000"/>
                          </a:stretch>
                        </a:blip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7619" t="-234000" r="-77778" b="-282000"/>
                          </a:stretch>
                        </a:blip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81443" t="-234000" r="-1031" b="-282000"/>
                          </a:stretch>
                        </a:blipFill>
                      </a:tcPr>
                    </a:tc>
                    <a:extLst>
                      <a:ext uri="{0D108BD9-81ED-4DB2-BD59-A6C34878D82A}">
                        <a16:rowId xmlns:a16="http://schemas.microsoft.com/office/drawing/2014/main" val="10002"/>
                      </a:ext>
                    </a:extLst>
                  </a:tr>
                  <a:tr h="609600">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Little</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55932" t="-330693" r="-305085" b="-179208"/>
                          </a:stretch>
                        </a:blip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22059" t="-330693" r="-164706" b="-179208"/>
                          </a:stretch>
                        </a:blip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7619" t="-330693" r="-77778" b="-179208"/>
                          </a:stretch>
                        </a:blip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81443" t="-330693" r="-1031" b="-179208"/>
                          </a:stretch>
                        </a:blipFill>
                      </a:tcPr>
                    </a:tc>
                    <a:extLst>
                      <a:ext uri="{0D108BD9-81ED-4DB2-BD59-A6C34878D82A}">
                        <a16:rowId xmlns:a16="http://schemas.microsoft.com/office/drawing/2014/main" val="10003"/>
                      </a:ext>
                    </a:extLst>
                  </a:tr>
                  <a:tr h="609600">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Just Right</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55932" t="-435000" r="-305085" b="-81000"/>
                          </a:stretch>
                        </a:blip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22059" t="-435000" r="-164706" b="-81000"/>
                          </a:stretch>
                        </a:blip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7619" t="-435000" r="-77778" b="-81000"/>
                          </a:stretch>
                        </a:blip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81443" t="-435000" r="-1031" b="-81000"/>
                          </a:stretch>
                        </a:blipFill>
                      </a:tcPr>
                    </a:tc>
                    <a:extLst>
                      <a:ext uri="{0D108BD9-81ED-4DB2-BD59-A6C34878D82A}">
                        <a16:rowId xmlns:a16="http://schemas.microsoft.com/office/drawing/2014/main" val="10004"/>
                      </a:ext>
                    </a:extLst>
                  </a:tr>
                  <a:tr h="379670">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55932" t="-862903" r="-305085" b="-30645"/>
                          </a:stretch>
                        </a:blip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22059" t="-862903" r="-164706" b="-30645"/>
                          </a:stretch>
                        </a:blip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7619" t="-862903" r="-77778" b="-30645"/>
                          </a:stretch>
                        </a:blipFill>
                      </a:tcPr>
                    </a:tc>
                    <a:tc>
                      <a:txBody>
                        <a:bodyPr/>
                        <a:lstStyle/>
                        <a:p>
                          <a:endParaRPr lang="en-US"/>
                        </a:p>
                      </a:txBody>
                      <a:tcPr marL="58661" marR="5866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81443" t="-862903" r="-1031" b="-30645"/>
                          </a:stretch>
                        </a:blipFill>
                      </a:tcPr>
                    </a:tc>
                    <a:extLst>
                      <a:ext uri="{0D108BD9-81ED-4DB2-BD59-A6C34878D82A}">
                        <a16:rowId xmlns:a16="http://schemas.microsoft.com/office/drawing/2014/main" val="10005"/>
                      </a:ext>
                    </a:extLst>
                  </a:tr>
                </a:tbl>
              </a:graphicData>
            </a:graphic>
          </p:graphicFrame>
        </mc:Fallback>
      </mc:AlternateContent>
      <p:sp>
        <p:nvSpPr>
          <p:cNvPr id="7" name="Google Shape;282;g104476d1465_1_17">
            <a:extLst>
              <a:ext uri="{FF2B5EF4-FFF2-40B4-BE49-F238E27FC236}">
                <a16:creationId xmlns:a16="http://schemas.microsoft.com/office/drawing/2014/main" id="{E4AF9F32-E1C3-0F2F-0E71-BBEECB4222B1}"/>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326</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CC6EDE72-D08B-FC74-EA18-BCCB9798CFA6}"/>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56358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8221DE51-EC2A-7749-BA7C-D69EC4B3B96F}"/>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Text Box 24"/>
          <p:cNvSpPr txBox="1"/>
          <p:nvPr/>
        </p:nvSpPr>
        <p:spPr>
          <a:xfrm>
            <a:off x="2453521" y="783225"/>
            <a:ext cx="5918583" cy="1613400"/>
          </a:xfrm>
          <a:prstGeom prst="roundRect">
            <a:avLst/>
          </a:prstGeom>
          <a:solidFill>
            <a:srgbClr val="E2EFD4"/>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8688"/>
            <a:r>
              <a:rPr lang="en-US" sz="2000" dirty="0">
                <a:solidFill>
                  <a:schemeClr val="accent6"/>
                </a:solidFill>
                <a:latin typeface="Verdana" charset="0"/>
                <a:ea typeface="Verdana" charset="0"/>
                <a:cs typeface="Verdana" charset="0"/>
              </a:rPr>
              <a:t>A </a:t>
            </a:r>
            <a:r>
              <a:rPr lang="en-US" sz="2000" b="1" i="1" dirty="0">
                <a:solidFill>
                  <a:schemeClr val="accent6"/>
                </a:solidFill>
                <a:latin typeface="Verdana" charset="0"/>
                <a:ea typeface="Verdana" charset="0"/>
                <a:cs typeface="Verdana" charset="0"/>
              </a:rPr>
              <a:t>joint relative frequency</a:t>
            </a:r>
            <a:r>
              <a:rPr lang="en-US" sz="2000" dirty="0">
                <a:solidFill>
                  <a:schemeClr val="accent6"/>
                </a:solidFill>
                <a:latin typeface="Verdana" charset="0"/>
                <a:ea typeface="Verdana" charset="0"/>
                <a:cs typeface="Verdana" charset="0"/>
              </a:rPr>
              <a:t> is the ratio of a joint frequency and the total number of data points. </a:t>
            </a:r>
          </a:p>
        </p:txBody>
      </p:sp>
      <p:pic>
        <p:nvPicPr>
          <p:cNvPr id="8" name="Picture 7"/>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676538" y="1047381"/>
            <a:ext cx="530352" cy="542544"/>
          </a:xfrm>
          <a:prstGeom prst="rect">
            <a:avLst/>
          </a:prstGeom>
          <a:effectLst>
            <a:outerShdw blurRad="50800" dist="38100" dir="2700000" algn="tl" rotWithShape="0">
              <a:prstClr val="black">
                <a:alpha val="40000"/>
              </a:prstClr>
            </a:outerShdw>
          </a:effectLst>
        </p:spPr>
      </p:pic>
      <p:sp>
        <p:nvSpPr>
          <p:cNvPr id="9" name="Text Box 24"/>
          <p:cNvSpPr txBox="1"/>
          <p:nvPr/>
        </p:nvSpPr>
        <p:spPr>
          <a:xfrm>
            <a:off x="2453521" y="3110361"/>
            <a:ext cx="6629400" cy="1704023"/>
          </a:xfrm>
          <a:prstGeom prst="roundRect">
            <a:avLst/>
          </a:prstGeom>
          <a:solidFill>
            <a:srgbClr val="E2EFD4"/>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chemeClr val="accent6"/>
                </a:solidFill>
                <a:latin typeface="Verdana" charset="0"/>
                <a:ea typeface="Verdana" charset="0"/>
                <a:cs typeface="Verdana" charset="0"/>
              </a:rPr>
              <a:t>A </a:t>
            </a:r>
            <a:r>
              <a:rPr lang="en-US" sz="2000" b="1" i="1" dirty="0">
                <a:solidFill>
                  <a:schemeClr val="accent6"/>
                </a:solidFill>
                <a:latin typeface="Verdana" charset="0"/>
                <a:ea typeface="Verdana" charset="0"/>
                <a:cs typeface="Verdana" charset="0"/>
              </a:rPr>
              <a:t>marginal relative frequency</a:t>
            </a:r>
            <a:r>
              <a:rPr lang="en-US" sz="2000" dirty="0">
                <a:solidFill>
                  <a:schemeClr val="accent6"/>
                </a:solidFill>
                <a:latin typeface="Verdana" charset="0"/>
                <a:ea typeface="Verdana" charset="0"/>
                <a:cs typeface="Verdana" charset="0"/>
              </a:rPr>
              <a:t> is the ratio of a marginal frequency and the total number of data points. </a:t>
            </a:r>
          </a:p>
        </p:txBody>
      </p:sp>
      <p:sp>
        <p:nvSpPr>
          <p:cNvPr id="10" name="Google Shape;282;g104476d1465_1_17">
            <a:extLst>
              <a:ext uri="{FF2B5EF4-FFF2-40B4-BE49-F238E27FC236}">
                <a16:creationId xmlns:a16="http://schemas.microsoft.com/office/drawing/2014/main" id="{33DB7FB9-F761-85B7-D894-0569EADFC554}"/>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326</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id="{08C5CDED-5F1E-3CCC-6945-05345EC56641}"/>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14055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55022" y="520394"/>
            <a:ext cx="10295907" cy="4893647"/>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What is the sum of the joint relative frequencies? </a:t>
            </a: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r>
              <a:rPr lang="en-US" sz="2400" dirty="0">
                <a:latin typeface="Verdana" charset="0"/>
                <a:ea typeface="Verdana" charset="0"/>
                <a:cs typeface="Verdana" charset="0"/>
              </a:rPr>
              <a:t>What is the sum of the marginal relative frequencies for the variable “effect on people your age?” </a:t>
            </a: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r>
              <a:rPr lang="en-US" sz="2400" dirty="0">
                <a:latin typeface="Verdana" charset="0"/>
                <a:ea typeface="Verdana" charset="0"/>
                <a:cs typeface="Verdana" charset="0"/>
              </a:rPr>
              <a:t>What is the sum of the joint relative frequencies for those who believe the effect of social media is mostly positive?</a:t>
            </a:r>
          </a:p>
        </p:txBody>
      </p:sp>
      <p:sp>
        <p:nvSpPr>
          <p:cNvPr id="6" name="Google Shape;278;g104476d1465_1_17">
            <a:extLst>
              <a:ext uri="{FF2B5EF4-FFF2-40B4-BE49-F238E27FC236}">
                <a16:creationId xmlns:a16="http://schemas.microsoft.com/office/drawing/2014/main" id="{8221DE51-EC2A-7749-BA7C-D69EC4B3B96F}"/>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21CC9A39-9794-EC06-C468-38987234558B}"/>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326</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128B62A4-EB8D-433B-6988-93F1733FED27}"/>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49771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31272" y="520393"/>
            <a:ext cx="10319657" cy="5632311"/>
          </a:xfrm>
          <a:prstGeom prst="rect">
            <a:avLst/>
          </a:prstGeom>
          <a:noFill/>
        </p:spPr>
        <p:txBody>
          <a:bodyPr wrap="square" rtlCol="0">
            <a:spAutoFit/>
          </a:bodyPr>
          <a:lstStyle/>
          <a:p>
            <a:pPr marL="457200" indent="-457200">
              <a:buFont typeface="+mj-lt"/>
              <a:buAutoNum type="arabicPeriod" startAt="4"/>
            </a:pPr>
            <a:r>
              <a:rPr lang="en-US" sz="2400" dirty="0">
                <a:latin typeface="Verdana" charset="0"/>
                <a:ea typeface="Verdana" charset="0"/>
                <a:cs typeface="Verdana" charset="0"/>
              </a:rPr>
              <a:t>What is the sum of the joint relative frequencies for those who believe they spend too much time with friends in person? </a:t>
            </a:r>
          </a:p>
          <a:p>
            <a:pPr marL="457200" indent="-457200">
              <a:buFont typeface="+mj-lt"/>
              <a:buAutoNum type="arabicPeriod" startAt="4"/>
            </a:pPr>
            <a:endParaRPr lang="en-US" sz="2400" dirty="0">
              <a:latin typeface="Verdana" charset="0"/>
              <a:ea typeface="Verdana" charset="0"/>
              <a:cs typeface="Verdana" charset="0"/>
            </a:endParaRPr>
          </a:p>
          <a:p>
            <a:pPr marL="457200" indent="-457200">
              <a:buFont typeface="+mj-lt"/>
              <a:buAutoNum type="arabicPeriod" startAt="4"/>
            </a:pPr>
            <a:r>
              <a:rPr lang="en-US" sz="2400" dirty="0">
                <a:latin typeface="Verdana" charset="0"/>
                <a:ea typeface="Verdana" charset="0"/>
                <a:cs typeface="Verdana" charset="0"/>
              </a:rPr>
              <a:t>Use only the values from the joint frequency table to answer the following questions.</a:t>
            </a:r>
          </a:p>
          <a:p>
            <a:r>
              <a:rPr lang="en-US" sz="2400" dirty="0">
                <a:latin typeface="Verdana" charset="0"/>
                <a:ea typeface="Verdana" charset="0"/>
                <a:cs typeface="Verdana" charset="0"/>
              </a:rPr>
              <a:t> </a:t>
            </a:r>
          </a:p>
          <a:p>
            <a:pPr marL="914400" lvl="1" indent="-450850">
              <a:buFont typeface="+mj-lt"/>
              <a:buAutoNum type="alphaLcPeriod"/>
            </a:pPr>
            <a:r>
              <a:rPr lang="en-US" sz="2400" dirty="0">
                <a:latin typeface="Verdana" charset="0"/>
                <a:ea typeface="Verdana" charset="0"/>
                <a:cs typeface="Verdana" charset="0"/>
              </a:rPr>
              <a:t>What percentage of those who spend too much time with friends in person believe that the effect of social media has been mostly positive?</a:t>
            </a:r>
          </a:p>
          <a:p>
            <a:pPr marL="914400" lvl="1" indent="-450850">
              <a:buFont typeface="+mj-lt"/>
              <a:buAutoNum type="alphaLcPeriod"/>
            </a:pPr>
            <a:endParaRPr lang="en-US" sz="2400" dirty="0">
              <a:latin typeface="Verdana" charset="0"/>
              <a:ea typeface="Verdana" charset="0"/>
              <a:cs typeface="Verdana" charset="0"/>
            </a:endParaRPr>
          </a:p>
          <a:p>
            <a:pPr marL="914400" lvl="1" indent="-450850">
              <a:buFont typeface="+mj-lt"/>
              <a:buAutoNum type="alphaLcPeriod"/>
            </a:pPr>
            <a:endParaRPr lang="en-US" sz="2400" dirty="0">
              <a:latin typeface="Verdana" charset="0"/>
              <a:ea typeface="Verdana" charset="0"/>
              <a:cs typeface="Verdana" charset="0"/>
            </a:endParaRPr>
          </a:p>
          <a:p>
            <a:pPr marL="914400" lvl="1" indent="-450850">
              <a:buFont typeface="+mj-lt"/>
              <a:buAutoNum type="alphaLcPeriod"/>
            </a:pPr>
            <a:endParaRPr lang="en-US" sz="2400" dirty="0">
              <a:latin typeface="Verdana" charset="0"/>
              <a:ea typeface="Verdana" charset="0"/>
              <a:cs typeface="Verdana" charset="0"/>
            </a:endParaRPr>
          </a:p>
          <a:p>
            <a:pPr marL="914400" lvl="1" indent="-450850">
              <a:buFont typeface="+mj-lt"/>
              <a:buAutoNum type="alphaLcPeriod"/>
            </a:pPr>
            <a:r>
              <a:rPr lang="en-US" sz="2400" dirty="0">
                <a:latin typeface="Verdana" charset="0"/>
                <a:ea typeface="Verdana" charset="0"/>
                <a:cs typeface="Verdana" charset="0"/>
              </a:rPr>
              <a:t>What percentage of those who spend too much time with friends in person believe that the effect of social media has been mostly negative?</a:t>
            </a:r>
          </a:p>
        </p:txBody>
      </p:sp>
      <p:sp>
        <p:nvSpPr>
          <p:cNvPr id="6" name="Google Shape;278;g104476d1465_1_17">
            <a:extLst>
              <a:ext uri="{FF2B5EF4-FFF2-40B4-BE49-F238E27FC236}">
                <a16:creationId xmlns:a16="http://schemas.microsoft.com/office/drawing/2014/main" id="{8221DE51-EC2A-7749-BA7C-D69EC4B3B96F}"/>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3F23E329-F59C-FC30-2C82-508A085B5B64}"/>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327</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59367C5F-0FEC-6429-FA4D-30B8E850A475}"/>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48138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7" y="520393"/>
            <a:ext cx="10295908" cy="830997"/>
          </a:xfrm>
          <a:prstGeom prst="rect">
            <a:avLst/>
          </a:prstGeom>
          <a:noFill/>
        </p:spPr>
        <p:txBody>
          <a:bodyPr wrap="square" rtlCol="0">
            <a:spAutoFit/>
          </a:bodyPr>
          <a:lstStyle/>
          <a:p>
            <a:r>
              <a:rPr lang="en-US" sz="2400" dirty="0">
                <a:latin typeface="Verdana" charset="0"/>
                <a:ea typeface="Verdana" charset="0"/>
                <a:cs typeface="Verdana" charset="0"/>
              </a:rPr>
              <a:t>The percentages calculated in Parts A and B above are </a:t>
            </a:r>
            <a:r>
              <a:rPr lang="en-US" sz="2400" b="1" i="1" dirty="0">
                <a:latin typeface="Verdana" charset="0"/>
                <a:ea typeface="Verdana" charset="0"/>
                <a:cs typeface="Verdana" charset="0"/>
              </a:rPr>
              <a:t>conditional relative frequencies</a:t>
            </a:r>
            <a:r>
              <a:rPr lang="en-US" sz="2400" i="1" dirty="0">
                <a:latin typeface="Verdana" charset="0"/>
                <a:ea typeface="Verdana" charset="0"/>
                <a:cs typeface="Verdana" charset="0"/>
              </a:rPr>
              <a:t>.</a:t>
            </a:r>
            <a:endParaRPr lang="en-US" sz="2400" dirty="0">
              <a:latin typeface="Verdana" charset="0"/>
              <a:ea typeface="Verdana" charset="0"/>
              <a:cs typeface="Verdana" charset="0"/>
            </a:endParaRPr>
          </a:p>
        </p:txBody>
      </p:sp>
      <p:sp>
        <p:nvSpPr>
          <p:cNvPr id="6" name="Google Shape;278;g104476d1465_1_17">
            <a:extLst>
              <a:ext uri="{FF2B5EF4-FFF2-40B4-BE49-F238E27FC236}">
                <a16:creationId xmlns:a16="http://schemas.microsoft.com/office/drawing/2014/main" id="{8221DE51-EC2A-7749-BA7C-D69EC4B3B96F}"/>
              </a:ext>
            </a:extLst>
          </p:cNvPr>
          <p:cNvSpPr/>
          <p:nvPr/>
        </p:nvSpPr>
        <p:spPr>
          <a:xfrm>
            <a:off x="4465"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Text Box 24"/>
          <p:cNvSpPr txBox="1"/>
          <p:nvPr/>
        </p:nvSpPr>
        <p:spPr>
          <a:xfrm>
            <a:off x="1702997" y="1856645"/>
            <a:ext cx="6629400" cy="1908944"/>
          </a:xfrm>
          <a:prstGeom prst="roundRect">
            <a:avLst/>
          </a:prstGeom>
          <a:solidFill>
            <a:srgbClr val="E2EFD4"/>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8688"/>
            <a:r>
              <a:rPr lang="en-US" sz="2000" dirty="0">
                <a:solidFill>
                  <a:schemeClr val="accent6"/>
                </a:solidFill>
                <a:latin typeface="Verdana" charset="0"/>
                <a:ea typeface="Verdana" charset="0"/>
                <a:cs typeface="Verdana" charset="0"/>
              </a:rPr>
              <a:t>A </a:t>
            </a:r>
            <a:r>
              <a:rPr lang="en-US" sz="2000" b="1" i="1" dirty="0">
                <a:solidFill>
                  <a:schemeClr val="accent6"/>
                </a:solidFill>
                <a:latin typeface="Verdana" charset="0"/>
                <a:ea typeface="Verdana" charset="0"/>
                <a:cs typeface="Verdana" charset="0"/>
              </a:rPr>
              <a:t>conditional relative frequency</a:t>
            </a:r>
            <a:r>
              <a:rPr lang="en-US" sz="2000" dirty="0">
                <a:solidFill>
                  <a:schemeClr val="accent6"/>
                </a:solidFill>
                <a:latin typeface="Verdana" charset="0"/>
                <a:ea typeface="Verdana" charset="0"/>
                <a:cs typeface="Verdana" charset="0"/>
              </a:rPr>
              <a:t> is the ratio of a joint relative frequency to a marginal relative frequency. Equivalently, the ratio of a joint frequency and a marginal frequency. </a:t>
            </a:r>
          </a:p>
        </p:txBody>
      </p:sp>
      <p:pic>
        <p:nvPicPr>
          <p:cNvPr id="8" name="Picture 7"/>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85390" y="2022900"/>
            <a:ext cx="530352" cy="542544"/>
          </a:xfrm>
          <a:prstGeom prst="rect">
            <a:avLst/>
          </a:prstGeom>
          <a:effectLst>
            <a:outerShdw blurRad="50800" dist="38100" dir="2700000" algn="tl" rotWithShape="0">
              <a:prstClr val="black">
                <a:alpha val="40000"/>
              </a:prstClr>
            </a:outerShdw>
          </a:effectLst>
        </p:spPr>
      </p:pic>
      <p:sp>
        <p:nvSpPr>
          <p:cNvPr id="10" name="Google Shape;282;g104476d1465_1_17">
            <a:extLst>
              <a:ext uri="{FF2B5EF4-FFF2-40B4-BE49-F238E27FC236}">
                <a16:creationId xmlns:a16="http://schemas.microsoft.com/office/drawing/2014/main" id="{C59D9D11-D55B-ED32-56C0-A9C11646078C}"/>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327</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id="{9E7F51EA-0683-E124-A2C0-A7D8D4A580F9}"/>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6105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19"/>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193379"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3047587"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570629E5-6A25-314C-0FB5-833CF4DAFF8B}"/>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327</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34AE2E1D-C187-4CB4-1EFE-007A804D87D7}"/>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47856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48790" y="-1"/>
            <a:ext cx="10200904" cy="123972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14.H1.3 Guided Instruction: Creating a Two-Way Relative Frequency Table</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589289" y="14995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01B13E8-EC8D-E443-A329-C5E3593DD13A}"/>
                  </a:ext>
                </a:extLst>
              </p:cNvPr>
              <p:cNvSpPr txBox="1"/>
              <p:nvPr/>
            </p:nvSpPr>
            <p:spPr>
              <a:xfrm>
                <a:off x="855022" y="1386025"/>
                <a:ext cx="10319659" cy="3046988"/>
              </a:xfrm>
              <a:prstGeom prst="rect">
                <a:avLst/>
              </a:prstGeom>
              <a:noFill/>
            </p:spPr>
            <p:txBody>
              <a:bodyPr wrap="square" rtlCol="0">
                <a:spAutoFit/>
              </a:bodyPr>
              <a:lstStyle/>
              <a:p>
                <a:r>
                  <a:rPr lang="en-US" sz="2400" dirty="0">
                    <a:latin typeface="Verdana" charset="0"/>
                    <a:ea typeface="Verdana" charset="0"/>
                    <a:cs typeface="Verdana" charset="0"/>
                  </a:rPr>
                  <a:t>Consider the following data on whether or not animals received a microchip from the </a:t>
                </a:r>
                <a:r>
                  <a:rPr lang="en-US" sz="2400" dirty="0" err="1">
                    <a:latin typeface="Verdana" charset="0"/>
                    <a:ea typeface="Verdana" charset="0"/>
                    <a:cs typeface="Verdana" charset="0"/>
                  </a:rPr>
                  <a:t>Kirkman</a:t>
                </a:r>
                <a:r>
                  <a:rPr lang="en-US" sz="2400" dirty="0">
                    <a:latin typeface="Verdana" charset="0"/>
                    <a:ea typeface="Verdana" charset="0"/>
                    <a:cs typeface="Verdana" charset="0"/>
                  </a:rPr>
                  <a:t> Road Veterinary Clinic’s database of canines (dogs) and felines (cats). </a:t>
                </a:r>
              </a:p>
              <a:p>
                <a:r>
                  <a:rPr lang="en-US" sz="2400" dirty="0">
                    <a:latin typeface="Verdana" charset="0"/>
                    <a:ea typeface="Verdana" charset="0"/>
                    <a:cs typeface="Verdana" charset="0"/>
                  </a:rPr>
                  <a:t> </a:t>
                </a:r>
              </a:p>
              <a:p>
                <a:pPr marL="923925" indent="-454025">
                  <a:buFont typeface="Arial" charset="0"/>
                  <a:buChar char="•"/>
                </a:pPr>
                <a14:m>
                  <m:oMath xmlns:m="http://schemas.openxmlformats.org/officeDocument/2006/math">
                    <m:r>
                      <a:rPr lang="en-US" sz="2400" i="1">
                        <a:latin typeface="Cambria Math" panose="02040503050406030204" pitchFamily="18" charset="0"/>
                        <a:ea typeface="Verdana" charset="0"/>
                        <a:cs typeface="Verdana" charset="0"/>
                      </a:rPr>
                      <m:t>37.61%</m:t>
                    </m:r>
                  </m:oMath>
                </a14:m>
                <a:r>
                  <a:rPr lang="en-US" sz="2400" dirty="0">
                    <a:latin typeface="Verdana" charset="0"/>
                    <a:ea typeface="Verdana" charset="0"/>
                    <a:cs typeface="Verdana" charset="0"/>
                  </a:rPr>
                  <a:t> of animals in the sample were felines.</a:t>
                </a:r>
              </a:p>
              <a:p>
                <a:pPr marL="923925" indent="-454025">
                  <a:buFont typeface="Arial" charset="0"/>
                  <a:buChar char="•"/>
                </a:pPr>
                <a14:m>
                  <m:oMath xmlns:m="http://schemas.openxmlformats.org/officeDocument/2006/math">
                    <m:r>
                      <a:rPr lang="en-US" sz="2400" i="1">
                        <a:latin typeface="Cambria Math" panose="02040503050406030204" pitchFamily="18" charset="0"/>
                        <a:ea typeface="Verdana" charset="0"/>
                        <a:cs typeface="Verdana" charset="0"/>
                      </a:rPr>
                      <m:t>30.63%</m:t>
                    </m:r>
                  </m:oMath>
                </a14:m>
                <a:r>
                  <a:rPr lang="en-US" sz="2400" dirty="0">
                    <a:latin typeface="Verdana" charset="0"/>
                    <a:ea typeface="Verdana" charset="0"/>
                    <a:cs typeface="Verdana" charset="0"/>
                  </a:rPr>
                  <a:t> of animals in the sample did not have microchips.</a:t>
                </a:r>
              </a:p>
              <a:p>
                <a:pPr marL="923925" indent="-454025">
                  <a:buFont typeface="Arial" charset="0"/>
                  <a:buChar char="•"/>
                </a:pPr>
                <a:r>
                  <a:rPr lang="en-US" sz="2400" dirty="0">
                    <a:latin typeface="Verdana" charset="0"/>
                    <a:ea typeface="Verdana" charset="0"/>
                    <a:cs typeface="Verdana" charset="0"/>
                  </a:rPr>
                  <a:t>Of the animals with microchips, </a:t>
                </a:r>
                <a14:m>
                  <m:oMath xmlns:m="http://schemas.openxmlformats.org/officeDocument/2006/math">
                    <m:r>
                      <a:rPr lang="en-US" sz="2400" i="1">
                        <a:latin typeface="Cambria Math" panose="02040503050406030204" pitchFamily="18" charset="0"/>
                        <a:ea typeface="Verdana" charset="0"/>
                        <a:cs typeface="Verdana" charset="0"/>
                      </a:rPr>
                      <m:t>81.17%</m:t>
                    </m:r>
                  </m:oMath>
                </a14:m>
                <a:r>
                  <a:rPr lang="en-US" sz="2400" dirty="0">
                    <a:latin typeface="Verdana" charset="0"/>
                    <a:ea typeface="Verdana" charset="0"/>
                    <a:cs typeface="Verdana" charset="0"/>
                  </a:rPr>
                  <a:t> were canines. </a:t>
                </a:r>
              </a:p>
              <a:p>
                <a:pPr marL="923925" indent="-454025">
                  <a:buFont typeface="Arial" charset="0"/>
                  <a:buChar char="•"/>
                </a:pPr>
                <a14:m>
                  <m:oMath xmlns:m="http://schemas.openxmlformats.org/officeDocument/2006/math">
                    <m:r>
                      <a:rPr lang="en-US" sz="2400" i="1">
                        <a:latin typeface="Cambria Math" panose="02040503050406030204" pitchFamily="18" charset="0"/>
                        <a:ea typeface="Verdana" charset="0"/>
                        <a:cs typeface="Verdana" charset="0"/>
                      </a:rPr>
                      <m:t>34.73%</m:t>
                    </m:r>
                  </m:oMath>
                </a14:m>
                <a:r>
                  <a:rPr lang="en-US" sz="2400" dirty="0">
                    <a:latin typeface="Verdana" charset="0"/>
                    <a:ea typeface="Verdana" charset="0"/>
                    <a:cs typeface="Verdana" charset="0"/>
                  </a:rPr>
                  <a:t> of the felines had microchips.</a:t>
                </a:r>
              </a:p>
            </p:txBody>
          </p:sp>
        </mc:Choice>
        <mc:Fallback>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855022" y="1386025"/>
                <a:ext cx="10319659" cy="3046988"/>
              </a:xfrm>
              <a:prstGeom prst="rect">
                <a:avLst/>
              </a:prstGeom>
              <a:blipFill>
                <a:blip r:embed="rId4"/>
                <a:stretch>
                  <a:fillRect l="-886" t="-1600" r="-1122" b="-3400"/>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AE4FE736-A36F-DC4F-BDE9-72EF780E2083}"/>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a:extLst>
              <a:ext uri="{FF2B5EF4-FFF2-40B4-BE49-F238E27FC236}">
                <a16:creationId xmlns:a16="http://schemas.microsoft.com/office/drawing/2014/main" id="{810599F9-FE4C-8DC4-96F9-E5E71D2C60DC}"/>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327</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id="{B7D7D497-A5EF-55D1-5FF4-46F8834310C1}"/>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65034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7" y="520393"/>
            <a:ext cx="10295908" cy="461665"/>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 Complete each statement.</a:t>
            </a:r>
          </a:p>
        </p:txBody>
      </p:sp>
      <p:sp>
        <p:nvSpPr>
          <p:cNvPr id="6" name="Google Shape;278;g104476d1465_1_17">
            <a:extLst>
              <a:ext uri="{FF2B5EF4-FFF2-40B4-BE49-F238E27FC236}">
                <a16:creationId xmlns:a16="http://schemas.microsoft.com/office/drawing/2014/main" id="{D351BC34-60FF-984A-AE0C-5354282DEDAC}"/>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2" name="Rectangle 1"/>
              <p:cNvSpPr/>
              <p:nvPr/>
            </p:nvSpPr>
            <p:spPr>
              <a:xfrm>
                <a:off x="843147" y="1492806"/>
                <a:ext cx="10295908" cy="461665"/>
              </a:xfrm>
              <a:prstGeom prst="rect">
                <a:avLst/>
              </a:prstGeom>
            </p:spPr>
            <p:txBody>
              <a:bodyPr wrap="square">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latin typeface="Cambria Math" panose="02040503050406030204" pitchFamily="18" charset="0"/>
                        <a:ea typeface="Verdana" charset="0"/>
                        <a:cs typeface="Verdana" charset="0"/>
                      </a:rPr>
                      <m:t>37.61%</m:t>
                    </m:r>
                  </m:oMath>
                </a14:m>
                <a:r>
                  <a:rPr lang="en-US" sz="2400" dirty="0">
                    <a:latin typeface="Verdana" panose="020B0604030504040204" pitchFamily="34" charset="0"/>
                    <a:ea typeface="Verdana" panose="020B0604030504040204" pitchFamily="34" charset="0"/>
                    <a:cs typeface="Verdana" panose="020B0604030504040204" pitchFamily="34" charset="0"/>
                  </a:rPr>
                  <a:t> represents a                    relative frequency.</a:t>
                </a:r>
              </a:p>
            </p:txBody>
          </p:sp>
        </mc:Choice>
        <mc:Fallback>
          <p:sp>
            <p:nvSpPr>
              <p:cNvPr id="2" name="Rectangle 1"/>
              <p:cNvSpPr>
                <a:spLocks noRot="1" noChangeAspect="1" noMove="1" noResize="1" noEditPoints="1" noAdjustHandles="1" noChangeArrowheads="1" noChangeShapeType="1" noTextEdit="1"/>
              </p:cNvSpPr>
              <p:nvPr/>
            </p:nvSpPr>
            <p:spPr>
              <a:xfrm>
                <a:off x="843147" y="1492806"/>
                <a:ext cx="10295908" cy="461665"/>
              </a:xfrm>
              <a:prstGeom prst="rect">
                <a:avLst/>
              </a:prstGeom>
              <a:blipFill>
                <a:blip r:embed="rId3"/>
                <a:stretch>
                  <a:fillRect t="-11842" b="-27632"/>
                </a:stretch>
              </a:blipFill>
            </p:spPr>
            <p:txBody>
              <a:bodyPr/>
              <a:lstStyle/>
              <a:p>
                <a:r>
                  <a:rPr lang="en-US">
                    <a:noFill/>
                  </a:rPr>
                  <a:t> </a:t>
                </a:r>
              </a:p>
            </p:txBody>
          </p:sp>
        </mc:Fallback>
      </mc:AlternateContent>
      <p:pic>
        <p:nvPicPr>
          <p:cNvPr id="3" name="Picture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047690" y="1098709"/>
            <a:ext cx="2096620" cy="1243583"/>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843147" y="2874290"/>
                <a:ext cx="10295908" cy="461665"/>
              </a:xfrm>
              <a:prstGeom prst="rect">
                <a:avLst/>
              </a:prstGeom>
            </p:spPr>
            <p:txBody>
              <a:bodyPr wrap="square">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latin typeface="Cambria Math" panose="02040503050406030204" pitchFamily="18" charset="0"/>
                        <a:ea typeface="Verdana" charset="0"/>
                        <a:cs typeface="Verdana" charset="0"/>
                      </a:rPr>
                      <m:t>30.63%</m:t>
                    </m:r>
                  </m:oMath>
                </a14:m>
                <a:r>
                  <a:rPr lang="en-US" sz="2400" dirty="0">
                    <a:latin typeface="Verdana" panose="020B0604030504040204" pitchFamily="34" charset="0"/>
                    <a:ea typeface="Verdana" panose="020B0604030504040204" pitchFamily="34" charset="0"/>
                    <a:cs typeface="Verdana" panose="020B0604030504040204" pitchFamily="34" charset="0"/>
                  </a:rPr>
                  <a:t> represents a                    relative frequency.</a:t>
                </a:r>
              </a:p>
            </p:txBody>
          </p:sp>
        </mc:Choice>
        <mc:Fallback>
          <p:sp>
            <p:nvSpPr>
              <p:cNvPr id="8" name="Rectangle 7"/>
              <p:cNvSpPr>
                <a:spLocks noRot="1" noChangeAspect="1" noMove="1" noResize="1" noEditPoints="1" noAdjustHandles="1" noChangeArrowheads="1" noChangeShapeType="1" noTextEdit="1"/>
              </p:cNvSpPr>
              <p:nvPr/>
            </p:nvSpPr>
            <p:spPr>
              <a:xfrm>
                <a:off x="843147" y="2874290"/>
                <a:ext cx="10295908" cy="461665"/>
              </a:xfrm>
              <a:prstGeom prst="rect">
                <a:avLst/>
              </a:prstGeom>
              <a:blipFill>
                <a:blip r:embed="rId5"/>
                <a:stretch>
                  <a:fillRect t="-12000" b="-29333"/>
                </a:stretch>
              </a:blipFill>
            </p:spPr>
            <p:txBody>
              <a:bodyPr/>
              <a:lstStyle/>
              <a:p>
                <a:r>
                  <a:rPr lang="en-US">
                    <a:noFill/>
                  </a:rPr>
                  <a:t> </a:t>
                </a:r>
              </a:p>
            </p:txBody>
          </p:sp>
        </mc:Fallback>
      </mc:AlternateContent>
      <p:pic>
        <p:nvPicPr>
          <p:cNvPr id="9" name="Picture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047690" y="2485896"/>
            <a:ext cx="2096620" cy="1243583"/>
          </a:xfrm>
          <a:prstGeom prst="rect">
            <a:avLst/>
          </a:prstGeom>
        </p:spPr>
      </p:pic>
      <mc:AlternateContent xmlns:mc="http://schemas.openxmlformats.org/markup-compatibility/2006">
        <mc:Choice xmlns:a14="http://schemas.microsoft.com/office/drawing/2010/main" Requires="a14">
          <p:sp>
            <p:nvSpPr>
              <p:cNvPr id="10" name="Rectangle 9"/>
              <p:cNvSpPr/>
              <p:nvPr/>
            </p:nvSpPr>
            <p:spPr>
              <a:xfrm>
                <a:off x="843147" y="4198039"/>
                <a:ext cx="10295908" cy="461665"/>
              </a:xfrm>
              <a:prstGeom prst="rect">
                <a:avLst/>
              </a:prstGeom>
            </p:spPr>
            <p:txBody>
              <a:bodyPr wrap="square">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latin typeface="Cambria Math" panose="02040503050406030204" pitchFamily="18" charset="0"/>
                        <a:ea typeface="Verdana" charset="0"/>
                        <a:cs typeface="Verdana" charset="0"/>
                      </a:rPr>
                      <m:t>81.17%</m:t>
                    </m:r>
                  </m:oMath>
                </a14:m>
                <a:r>
                  <a:rPr lang="en-US" sz="2400" dirty="0">
                    <a:latin typeface="Verdana" panose="020B0604030504040204" pitchFamily="34" charset="0"/>
                    <a:ea typeface="Verdana" panose="020B0604030504040204" pitchFamily="34" charset="0"/>
                    <a:cs typeface="Verdana" panose="020B0604030504040204" pitchFamily="34" charset="0"/>
                  </a:rPr>
                  <a:t> represents a                    relative frequency.</a:t>
                </a:r>
              </a:p>
            </p:txBody>
          </p:sp>
        </mc:Choice>
        <mc:Fallback>
          <p:sp>
            <p:nvSpPr>
              <p:cNvPr id="10" name="Rectangle 9"/>
              <p:cNvSpPr>
                <a:spLocks noRot="1" noChangeAspect="1" noMove="1" noResize="1" noEditPoints="1" noAdjustHandles="1" noChangeArrowheads="1" noChangeShapeType="1" noTextEdit="1"/>
              </p:cNvSpPr>
              <p:nvPr/>
            </p:nvSpPr>
            <p:spPr>
              <a:xfrm>
                <a:off x="843147" y="4198039"/>
                <a:ext cx="10295908" cy="461665"/>
              </a:xfrm>
              <a:prstGeom prst="rect">
                <a:avLst/>
              </a:prstGeom>
              <a:blipFill>
                <a:blip r:embed="rId6"/>
                <a:stretch>
                  <a:fillRect t="-12000" b="-29333"/>
                </a:stretch>
              </a:blipFill>
            </p:spPr>
            <p:txBody>
              <a:bodyPr/>
              <a:lstStyle/>
              <a:p>
                <a:r>
                  <a:rPr lang="en-US">
                    <a:noFill/>
                  </a:rPr>
                  <a:t> </a:t>
                </a:r>
              </a:p>
            </p:txBody>
          </p:sp>
        </mc:Fallback>
      </mc:AlternateContent>
      <p:pic>
        <p:nvPicPr>
          <p:cNvPr id="11" name="Pictur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047690" y="3773794"/>
            <a:ext cx="2096620" cy="1243583"/>
          </a:xfrm>
          <a:prstGeom prst="rect">
            <a:avLst/>
          </a:prstGeom>
        </p:spPr>
      </p:pic>
      <mc:AlternateContent xmlns:mc="http://schemas.openxmlformats.org/markup-compatibility/2006">
        <mc:Choice xmlns:a14="http://schemas.microsoft.com/office/drawing/2010/main" Requires="a14">
          <p:sp>
            <p:nvSpPr>
              <p:cNvPr id="13" name="Rectangle 12"/>
              <p:cNvSpPr/>
              <p:nvPr/>
            </p:nvSpPr>
            <p:spPr>
              <a:xfrm>
                <a:off x="843147" y="5521788"/>
                <a:ext cx="10295907" cy="461665"/>
              </a:xfrm>
              <a:prstGeom prst="rect">
                <a:avLst/>
              </a:prstGeom>
            </p:spPr>
            <p:txBody>
              <a:bodyPr wrap="square">
                <a:spAutoFit/>
              </a:bodyPr>
              <a:lstStyle/>
              <a:p>
                <a:pPr marL="914400"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latin typeface="Cambria Math" panose="02040503050406030204" pitchFamily="18" charset="0"/>
                        <a:ea typeface="Verdana" charset="0"/>
                        <a:cs typeface="Verdana" charset="0"/>
                      </a:rPr>
                      <m:t>34.73%</m:t>
                    </m:r>
                  </m:oMath>
                </a14:m>
                <a:r>
                  <a:rPr lang="en-US" sz="2400" dirty="0">
                    <a:latin typeface="Verdana" panose="020B0604030504040204" pitchFamily="34" charset="0"/>
                    <a:ea typeface="Verdana" panose="020B0604030504040204" pitchFamily="34" charset="0"/>
                    <a:cs typeface="Verdana" panose="020B0604030504040204" pitchFamily="34" charset="0"/>
                  </a:rPr>
                  <a:t> represents a                    relative frequency.</a:t>
                </a:r>
              </a:p>
            </p:txBody>
          </p:sp>
        </mc:Choice>
        <mc:Fallback>
          <p:sp>
            <p:nvSpPr>
              <p:cNvPr id="13" name="Rectangle 12"/>
              <p:cNvSpPr>
                <a:spLocks noRot="1" noChangeAspect="1" noMove="1" noResize="1" noEditPoints="1" noAdjustHandles="1" noChangeArrowheads="1" noChangeShapeType="1" noTextEdit="1"/>
              </p:cNvSpPr>
              <p:nvPr/>
            </p:nvSpPr>
            <p:spPr>
              <a:xfrm>
                <a:off x="843147" y="5521788"/>
                <a:ext cx="10295907" cy="461665"/>
              </a:xfrm>
              <a:prstGeom prst="rect">
                <a:avLst/>
              </a:prstGeom>
              <a:blipFill>
                <a:blip r:embed="rId7"/>
                <a:stretch>
                  <a:fillRect t="-11842" b="-27632"/>
                </a:stretch>
              </a:blipFill>
            </p:spPr>
            <p:txBody>
              <a:bodyPr/>
              <a:lstStyle/>
              <a:p>
                <a:r>
                  <a:rPr lang="en-US">
                    <a:noFill/>
                  </a:rPr>
                  <a:t> </a:t>
                </a:r>
              </a:p>
            </p:txBody>
          </p:sp>
        </mc:Fallback>
      </mc:AlternateContent>
      <p:pic>
        <p:nvPicPr>
          <p:cNvPr id="15" name="Picture 14"/>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047690" y="5128264"/>
            <a:ext cx="2096620" cy="1243583"/>
          </a:xfrm>
          <a:prstGeom prst="rect">
            <a:avLst/>
          </a:prstGeom>
        </p:spPr>
      </p:pic>
      <p:sp>
        <p:nvSpPr>
          <p:cNvPr id="16" name="Google Shape;282;g104476d1465_1_17">
            <a:extLst>
              <a:ext uri="{FF2B5EF4-FFF2-40B4-BE49-F238E27FC236}">
                <a16:creationId xmlns:a16="http://schemas.microsoft.com/office/drawing/2014/main" id="{E214C6A6-09E9-7EC7-9A46-AF327C598FAA}"/>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327</a:t>
            </a:r>
            <a:endParaRPr i="1" dirty="0">
              <a:latin typeface="Calibri"/>
              <a:ea typeface="Calibri"/>
              <a:cs typeface="Calibri"/>
              <a:sym typeface="Calibri"/>
            </a:endParaRPr>
          </a:p>
        </p:txBody>
      </p:sp>
      <p:pic>
        <p:nvPicPr>
          <p:cNvPr id="17" name="Google Shape;283;g104476d1465_1_17">
            <a:extLst>
              <a:ext uri="{FF2B5EF4-FFF2-40B4-BE49-F238E27FC236}">
                <a16:creationId xmlns:a16="http://schemas.microsoft.com/office/drawing/2014/main" id="{4D830E79-8043-2894-4670-1A48CF86E83A}"/>
              </a:ext>
            </a:extLst>
          </p:cNvPr>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24119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31272" y="520394"/>
            <a:ext cx="10678060" cy="4893647"/>
          </a:xfrm>
          <a:prstGeom prst="rect">
            <a:avLst/>
          </a:prstGeom>
          <a:noFill/>
        </p:spPr>
        <p:txBody>
          <a:bodyPr wrap="square" rtlCol="0">
            <a:spAutoFit/>
          </a:bodyPr>
          <a:lstStyle/>
          <a:p>
            <a:pPr marL="457200" indent="-457200">
              <a:buFont typeface="+mj-lt"/>
              <a:buAutoNum type="arabicPeriod" startAt="2"/>
            </a:pPr>
            <a:r>
              <a:rPr lang="en-US" sz="2400" dirty="0">
                <a:latin typeface="Verdana" charset="0"/>
                <a:ea typeface="Verdana" charset="0"/>
                <a:cs typeface="Verdana" charset="0"/>
              </a:rPr>
              <a:t>Explain how to determine the relative frequency of microchipped canines in the sample.</a:t>
            </a:r>
          </a:p>
          <a:p>
            <a:pPr lvl="0"/>
            <a:endParaRPr lang="en-US" sz="2400" dirty="0">
              <a:latin typeface="Verdana" charset="0"/>
              <a:ea typeface="Verdana" charset="0"/>
              <a:cs typeface="Verdana" charset="0"/>
            </a:endParaRPr>
          </a:p>
          <a:p>
            <a:r>
              <a:rPr lang="en-US" sz="2400" dirty="0">
                <a:latin typeface="Verdana" charset="0"/>
                <a:ea typeface="Verdana" charset="0"/>
                <a:cs typeface="Verdana" charset="0"/>
              </a:rPr>
              <a:t> </a:t>
            </a:r>
          </a:p>
          <a:p>
            <a:pPr marL="457200" indent="-457200">
              <a:lnSpc>
                <a:spcPct val="250000"/>
              </a:lnSpc>
              <a:buFont typeface="+mj-lt"/>
              <a:buAutoNum type="arabicPeriod" startAt="3"/>
            </a:pPr>
            <a:r>
              <a:rPr lang="en-US" sz="2400" dirty="0">
                <a:latin typeface="Verdana" charset="0"/>
                <a:ea typeface="Verdana" charset="0"/>
                <a:cs typeface="Verdana" charset="0"/>
              </a:rPr>
              <a:t>The value in question 2 represents a                    relative frequency.</a:t>
            </a: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endParaRPr lang="en-US" sz="2400" dirty="0">
              <a:latin typeface="Verdana" charset="0"/>
              <a:ea typeface="Verdana" charset="0"/>
              <a:cs typeface="Verdana" charset="0"/>
            </a:endParaRPr>
          </a:p>
          <a:p>
            <a:pPr lvl="0"/>
            <a:endParaRPr lang="en-US" sz="2400" dirty="0">
              <a:latin typeface="Verdana" charset="0"/>
              <a:ea typeface="Verdana" charset="0"/>
              <a:cs typeface="Verdana" charset="0"/>
            </a:endParaRPr>
          </a:p>
          <a:p>
            <a:pPr lvl="0"/>
            <a:endParaRPr lang="en-US" sz="2400" dirty="0">
              <a:latin typeface="Verdana" charset="0"/>
              <a:ea typeface="Verdana" charset="0"/>
              <a:cs typeface="Verdana" charset="0"/>
            </a:endParaRPr>
          </a:p>
        </p:txBody>
      </p:sp>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66465" y="2012831"/>
            <a:ext cx="2083455" cy="1235775"/>
          </a:xfrm>
          <a:prstGeom prst="rect">
            <a:avLst/>
          </a:prstGeom>
        </p:spPr>
      </p:pic>
      <p:sp>
        <p:nvSpPr>
          <p:cNvPr id="7" name="Google Shape;278;g104476d1465_1_17">
            <a:extLst>
              <a:ext uri="{FF2B5EF4-FFF2-40B4-BE49-F238E27FC236}">
                <a16:creationId xmlns:a16="http://schemas.microsoft.com/office/drawing/2014/main" id="{49EBD181-6686-91F3-01DB-297BED0E41B8}"/>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a:extLst>
              <a:ext uri="{FF2B5EF4-FFF2-40B4-BE49-F238E27FC236}">
                <a16:creationId xmlns:a16="http://schemas.microsoft.com/office/drawing/2014/main" id="{6D020B06-41E5-B181-C2C2-5238C3CE1598}"/>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328</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8EF46D17-B136-33A5-1974-B463C9591345}"/>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202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55022" y="520393"/>
            <a:ext cx="10295907" cy="830997"/>
          </a:xfrm>
          <a:prstGeom prst="rect">
            <a:avLst/>
          </a:prstGeom>
          <a:noFill/>
        </p:spPr>
        <p:txBody>
          <a:bodyPr wrap="square" rtlCol="0">
            <a:spAutoFit/>
          </a:bodyPr>
          <a:lstStyle/>
          <a:p>
            <a:pPr marL="457200" indent="-457200">
              <a:buFont typeface="+mj-lt"/>
              <a:buAutoNum type="arabicPeriod" startAt="4"/>
            </a:pPr>
            <a:r>
              <a:rPr lang="en-US" sz="2400" dirty="0">
                <a:latin typeface="Verdana" charset="0"/>
                <a:ea typeface="Verdana" charset="0"/>
                <a:cs typeface="Verdana" charset="0"/>
              </a:rPr>
              <a:t>Use the data to create a joint relative frequency table. Space is provided to make any calculations.</a:t>
            </a:r>
          </a:p>
        </p:txBody>
      </p:sp>
      <p:sp>
        <p:nvSpPr>
          <p:cNvPr id="6" name="Google Shape;278;g104476d1465_1_17">
            <a:extLst>
              <a:ext uri="{FF2B5EF4-FFF2-40B4-BE49-F238E27FC236}">
                <a16:creationId xmlns:a16="http://schemas.microsoft.com/office/drawing/2014/main" id="{D351BC34-60FF-984A-AE0C-5354282DEDAC}"/>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p:cNvSpPr/>
          <p:nvPr/>
        </p:nvSpPr>
        <p:spPr>
          <a:xfrm>
            <a:off x="2552701" y="1740609"/>
            <a:ext cx="6138219" cy="400110"/>
          </a:xfrm>
          <a:prstGeom prst="rect">
            <a:avLst/>
          </a:prstGeom>
        </p:spPr>
        <p:txBody>
          <a:bodyPr wrap="none">
            <a:spAutoFit/>
          </a:bodyPr>
          <a:lstStyle/>
          <a:p>
            <a:pPr algn="ctr">
              <a:spcAft>
                <a:spcPts val="1000"/>
              </a:spcAft>
            </a:pPr>
            <a:r>
              <a:rPr lang="en-US" sz="2000" b="1" dirty="0">
                <a:latin typeface="Verdana" charset="0"/>
                <a:ea typeface="Yu Mincho" charset="-128"/>
                <a:cs typeface="Arial" charset="0"/>
              </a:rPr>
              <a:t>Clients at </a:t>
            </a:r>
            <a:r>
              <a:rPr lang="en-US" sz="2000" b="1" dirty="0" err="1">
                <a:latin typeface="Verdana" charset="0"/>
                <a:ea typeface="Yu Mincho" charset="-128"/>
                <a:cs typeface="Arial" charset="0"/>
              </a:rPr>
              <a:t>Kirkman</a:t>
            </a:r>
            <a:r>
              <a:rPr lang="en-US" sz="2000" b="1" dirty="0">
                <a:latin typeface="Verdana" charset="0"/>
                <a:ea typeface="Yu Mincho" charset="-128"/>
                <a:cs typeface="Arial" charset="0"/>
              </a:rPr>
              <a:t> Road Veterinary Clinic</a:t>
            </a:r>
            <a:endParaRPr lang="en-US" dirty="0">
              <a:latin typeface="Cambria" charset="0"/>
              <a:ea typeface="Yu Mincho" charset="-128"/>
              <a:cs typeface="Cambria"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113225878"/>
              </p:ext>
            </p:extLst>
          </p:nvPr>
        </p:nvGraphicFramePr>
        <p:xfrm>
          <a:off x="1888218" y="2323985"/>
          <a:ext cx="7294375" cy="3002280"/>
        </p:xfrm>
        <a:graphic>
          <a:graphicData uri="http://schemas.openxmlformats.org/drawingml/2006/table">
            <a:tbl>
              <a:tblPr firstRow="1" firstCol="1" bandRow="1"/>
              <a:tblGrid>
                <a:gridCol w="1688878">
                  <a:extLst>
                    <a:ext uri="{9D8B030D-6E8A-4147-A177-3AD203B41FA5}">
                      <a16:colId xmlns:a16="http://schemas.microsoft.com/office/drawing/2014/main" val="20000"/>
                    </a:ext>
                  </a:extLst>
                </a:gridCol>
                <a:gridCol w="2120407">
                  <a:extLst>
                    <a:ext uri="{9D8B030D-6E8A-4147-A177-3AD203B41FA5}">
                      <a16:colId xmlns:a16="http://schemas.microsoft.com/office/drawing/2014/main" val="20001"/>
                    </a:ext>
                  </a:extLst>
                </a:gridCol>
                <a:gridCol w="2120407">
                  <a:extLst>
                    <a:ext uri="{9D8B030D-6E8A-4147-A177-3AD203B41FA5}">
                      <a16:colId xmlns:a16="http://schemas.microsoft.com/office/drawing/2014/main" val="20002"/>
                    </a:ext>
                  </a:extLst>
                </a:gridCol>
                <a:gridCol w="1364683">
                  <a:extLst>
                    <a:ext uri="{9D8B030D-6E8A-4147-A177-3AD203B41FA5}">
                      <a16:colId xmlns:a16="http://schemas.microsoft.com/office/drawing/2014/main" val="20003"/>
                    </a:ext>
                  </a:extLst>
                </a:gridCol>
              </a:tblGrid>
              <a:tr h="0">
                <a:tc>
                  <a:txBody>
                    <a:bodyPr/>
                    <a:lstStyle/>
                    <a:p>
                      <a:pPr marL="0" marR="0" algn="ctr">
                        <a:spcBef>
                          <a:spcPts val="0"/>
                        </a:spcBef>
                        <a:spcAft>
                          <a:spcPts val="1000"/>
                        </a:spcAft>
                      </a:pPr>
                      <a:r>
                        <a:rPr lang="en-US" sz="2000" b="1">
                          <a:effectLst/>
                          <a:latin typeface="Verdana" charset="0"/>
                          <a:ea typeface="Yu Mincho" charset="-128"/>
                          <a:cs typeface="Times New Roman" charset="0"/>
                        </a:rPr>
                        <a:t> </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effectLst/>
                          <a:latin typeface="Verdana" charset="0"/>
                          <a:ea typeface="Yu Mincho" charset="-128"/>
                          <a:cs typeface="Times New Roman" charset="0"/>
                        </a:rPr>
                        <a:t>Microchipped</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effectLst/>
                          <a:latin typeface="Verdana" charset="0"/>
                          <a:ea typeface="Yu Mincho" charset="-128"/>
                          <a:cs typeface="Times New Roman" charset="0"/>
                        </a:rPr>
                        <a:t>Not Microchipped</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effectLst/>
                          <a:latin typeface="Verdana" charset="0"/>
                          <a:ea typeface="Yu Mincho" charset="-128"/>
                          <a:cs typeface="Times New Roman" charset="0"/>
                        </a:rPr>
                        <a:t>Total</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99465">
                <a:tc>
                  <a:txBody>
                    <a:bodyPr/>
                    <a:lstStyle/>
                    <a:p>
                      <a:pPr marL="0" marR="0" algn="ctr">
                        <a:spcBef>
                          <a:spcPts val="0"/>
                        </a:spcBef>
                        <a:spcAft>
                          <a:spcPts val="1000"/>
                        </a:spcAft>
                      </a:pPr>
                      <a:r>
                        <a:rPr lang="en-US" sz="2000" b="1">
                          <a:effectLst/>
                          <a:latin typeface="Verdana" charset="0"/>
                          <a:ea typeface="Yu Mincho" charset="-128"/>
                          <a:cs typeface="Times New Roman" charset="0"/>
                        </a:rPr>
                        <a:t>Feline</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dirty="0">
                          <a:effectLst/>
                          <a:latin typeface="Verdana" charset="0"/>
                          <a:ea typeface="Yu Mincho" charset="-128"/>
                          <a:cs typeface="Times New Roman" charset="0"/>
                        </a:rPr>
                        <a:t> </a:t>
                      </a:r>
                      <a:endParaRPr lang="en-US" sz="1400" dirty="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b="1">
                          <a:effectLst/>
                          <a:latin typeface="Verdana" charset="0"/>
                          <a:ea typeface="Yu Mincho" charset="-128"/>
                          <a:cs typeface="Times New Roman" charset="0"/>
                        </a:rPr>
                        <a:t> </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b="1">
                          <a:effectLst/>
                          <a:latin typeface="Verdana" charset="0"/>
                          <a:ea typeface="Yu Mincho" charset="-128"/>
                          <a:cs typeface="Times New Roman" charset="0"/>
                        </a:rPr>
                        <a:t> </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99465">
                <a:tc>
                  <a:txBody>
                    <a:bodyPr/>
                    <a:lstStyle/>
                    <a:p>
                      <a:pPr marL="0" marR="0" algn="ctr">
                        <a:spcBef>
                          <a:spcPts val="0"/>
                        </a:spcBef>
                        <a:spcAft>
                          <a:spcPts val="1000"/>
                        </a:spcAft>
                      </a:pPr>
                      <a:r>
                        <a:rPr lang="en-US" sz="2000" b="1">
                          <a:effectLst/>
                          <a:latin typeface="Verdana" charset="0"/>
                          <a:ea typeface="Yu Mincho" charset="-128"/>
                          <a:cs typeface="Times New Roman" charset="0"/>
                        </a:rPr>
                        <a:t>Canine</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effectLst/>
                          <a:latin typeface="Verdana" charset="0"/>
                          <a:ea typeface="Yu Mincho" charset="-128"/>
                          <a:cs typeface="Times New Roman" charset="0"/>
                        </a:rPr>
                        <a:t> </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b="1">
                          <a:effectLst/>
                          <a:latin typeface="Verdana" charset="0"/>
                          <a:ea typeface="Yu Mincho" charset="-128"/>
                          <a:cs typeface="Times New Roman" charset="0"/>
                        </a:rPr>
                        <a:t> </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b="1">
                          <a:effectLst/>
                          <a:latin typeface="Verdana" charset="0"/>
                          <a:ea typeface="Yu Mincho" charset="-128"/>
                          <a:cs typeface="Times New Roman" charset="0"/>
                        </a:rPr>
                        <a:t> </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93750">
                <a:tc>
                  <a:txBody>
                    <a:bodyPr/>
                    <a:lstStyle/>
                    <a:p>
                      <a:pPr marL="0" marR="0" algn="ctr">
                        <a:spcBef>
                          <a:spcPts val="0"/>
                        </a:spcBef>
                        <a:spcAft>
                          <a:spcPts val="1000"/>
                        </a:spcAft>
                      </a:pPr>
                      <a:r>
                        <a:rPr lang="en-US" sz="2000" b="1">
                          <a:effectLst/>
                          <a:latin typeface="Verdana" charset="0"/>
                          <a:ea typeface="Yu Mincho" charset="-128"/>
                          <a:cs typeface="Times New Roman" charset="0"/>
                        </a:rPr>
                        <a:t>Total</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effectLst/>
                          <a:latin typeface="Verdana" charset="0"/>
                          <a:ea typeface="Yu Mincho" charset="-128"/>
                          <a:cs typeface="Times New Roman" charset="0"/>
                        </a:rPr>
                        <a:t> </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b="1">
                          <a:effectLst/>
                          <a:latin typeface="Verdana" charset="0"/>
                          <a:ea typeface="Yu Mincho" charset="-128"/>
                          <a:cs typeface="Times New Roman" charset="0"/>
                        </a:rPr>
                        <a:t> </a:t>
                      </a:r>
                      <a:endParaRPr lang="en-US" sz="140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b="1" dirty="0">
                          <a:effectLst/>
                          <a:latin typeface="Verdana" charset="0"/>
                          <a:ea typeface="Yu Mincho" charset="-128"/>
                          <a:cs typeface="Times New Roman" charset="0"/>
                        </a:rPr>
                        <a:t> </a:t>
                      </a:r>
                      <a:endParaRPr lang="en-US" sz="1400" dirty="0">
                        <a:effectLst/>
                        <a:latin typeface="Cambria" charset="0"/>
                        <a:ea typeface="Yu Mincho" charset="-128"/>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Google Shape;282;g104476d1465_1_17">
            <a:extLst>
              <a:ext uri="{FF2B5EF4-FFF2-40B4-BE49-F238E27FC236}">
                <a16:creationId xmlns:a16="http://schemas.microsoft.com/office/drawing/2014/main" id="{4C4CCBE8-8BFA-F447-3669-D7691B08E897}"/>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328</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251D2616-AC6E-AC60-ECBF-EAD52993A890}"/>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80620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7" y="520394"/>
            <a:ext cx="10295908" cy="5262979"/>
          </a:xfrm>
          <a:prstGeom prst="rect">
            <a:avLst/>
          </a:prstGeom>
          <a:noFill/>
        </p:spPr>
        <p:txBody>
          <a:bodyPr wrap="square" rtlCol="0">
            <a:spAutoFit/>
          </a:bodyPr>
          <a:lstStyle/>
          <a:p>
            <a:pPr marL="457200" indent="-457200">
              <a:buFont typeface="+mj-lt"/>
              <a:buAutoNum type="arabicPeriod" startAt="5"/>
            </a:pPr>
            <a:r>
              <a:rPr lang="en-US" sz="2400" dirty="0">
                <a:latin typeface="Verdana" charset="0"/>
                <a:ea typeface="Verdana" charset="0"/>
                <a:cs typeface="Verdana" charset="0"/>
              </a:rPr>
              <a:t>Complete the statement.</a:t>
            </a:r>
          </a:p>
          <a:p>
            <a:pPr marL="463550"/>
            <a:endParaRPr lang="en-US" sz="2400" dirty="0">
              <a:latin typeface="Verdana" charset="0"/>
              <a:ea typeface="Verdana" charset="0"/>
              <a:cs typeface="Verdana" charset="0"/>
            </a:endParaRPr>
          </a:p>
          <a:p>
            <a:pPr marL="463550"/>
            <a:r>
              <a:rPr lang="en-US" sz="2400" dirty="0">
                <a:latin typeface="Verdana" charset="0"/>
                <a:ea typeface="Verdana" charset="0"/>
                <a:cs typeface="Verdana" charset="0"/>
              </a:rPr>
              <a:t>The smallest percentage of animals in the sample were </a:t>
            </a:r>
          </a:p>
          <a:p>
            <a:endParaRPr lang="en-US" sz="2400" dirty="0">
              <a:latin typeface="Verdana" charset="0"/>
              <a:ea typeface="Verdana" charset="0"/>
              <a:cs typeface="Verdana" charset="0"/>
            </a:endParaRPr>
          </a:p>
          <a:p>
            <a:endParaRPr lang="en-US" sz="2400" dirty="0">
              <a:latin typeface="Verdana" charset="0"/>
              <a:ea typeface="Verdana" charset="0"/>
              <a:cs typeface="Verdana" charset="0"/>
            </a:endParaRPr>
          </a:p>
          <a:p>
            <a:endParaRPr lang="en-US" sz="2400" dirty="0">
              <a:latin typeface="Verdana" charset="0"/>
              <a:ea typeface="Verdana" charset="0"/>
              <a:cs typeface="Verdana" charset="0"/>
            </a:endParaRPr>
          </a:p>
          <a:p>
            <a:pPr marL="457200" indent="-457200">
              <a:buFont typeface="+mj-lt"/>
              <a:buAutoNum type="arabicPeriod" startAt="6"/>
            </a:pPr>
            <a:endParaRPr lang="en-US" sz="2400" dirty="0">
              <a:latin typeface="Verdana" charset="0"/>
              <a:ea typeface="Verdana" charset="0"/>
              <a:cs typeface="Verdana" charset="0"/>
            </a:endParaRPr>
          </a:p>
          <a:p>
            <a:pPr marL="457200" indent="-457200">
              <a:buFont typeface="+mj-lt"/>
              <a:buAutoNum type="arabicPeriod" startAt="6"/>
            </a:pPr>
            <a:r>
              <a:rPr lang="en-US" sz="2400" dirty="0">
                <a:latin typeface="Verdana" charset="0"/>
                <a:ea typeface="Verdana" charset="0"/>
                <a:cs typeface="Verdana" charset="0"/>
              </a:rPr>
              <a:t>What percentage of canines had microchips? </a:t>
            </a:r>
          </a:p>
          <a:p>
            <a:pPr marL="457200" indent="-457200">
              <a:buFont typeface="+mj-lt"/>
              <a:buAutoNum type="arabicPeriod" startAt="6"/>
            </a:pPr>
            <a:endParaRPr lang="en-US" sz="2400" dirty="0">
              <a:latin typeface="Verdana" charset="0"/>
              <a:ea typeface="Verdana" charset="0"/>
              <a:cs typeface="Verdana" charset="0"/>
            </a:endParaRPr>
          </a:p>
          <a:p>
            <a:pPr marL="457200" indent="-457200">
              <a:buFont typeface="+mj-lt"/>
              <a:buAutoNum type="arabicPeriod" startAt="6"/>
            </a:pPr>
            <a:endParaRPr lang="en-US" sz="2400" dirty="0">
              <a:latin typeface="Verdana" charset="0"/>
              <a:ea typeface="Verdana" charset="0"/>
              <a:cs typeface="Verdana" charset="0"/>
            </a:endParaRPr>
          </a:p>
          <a:p>
            <a:pPr marL="457200" indent="-457200">
              <a:buFont typeface="+mj-lt"/>
              <a:buAutoNum type="arabicPeriod" startAt="6"/>
            </a:pPr>
            <a:endParaRPr lang="en-US" sz="2400" dirty="0">
              <a:latin typeface="Verdana" charset="0"/>
              <a:ea typeface="Verdana" charset="0"/>
              <a:cs typeface="Verdana" charset="0"/>
            </a:endParaRPr>
          </a:p>
          <a:p>
            <a:pPr marL="457200" indent="-457200">
              <a:buFont typeface="+mj-lt"/>
              <a:buAutoNum type="arabicPeriod" startAt="6"/>
            </a:pPr>
            <a:r>
              <a:rPr lang="en-US" sz="2400" dirty="0">
                <a:latin typeface="Verdana" charset="0"/>
                <a:ea typeface="Verdana" charset="0"/>
                <a:cs typeface="Verdana" charset="0"/>
              </a:rPr>
              <a:t>Which kind of pet is more likely to be microchipped? Explain your reasoning.</a:t>
            </a:r>
          </a:p>
          <a:p>
            <a:endParaRPr lang="en-US" sz="2400" dirty="0">
              <a:latin typeface="Verdana" charset="0"/>
              <a:ea typeface="Verdana" charset="0"/>
              <a:cs typeface="Verdana" charset="0"/>
            </a:endParaRPr>
          </a:p>
        </p:txBody>
      </p:sp>
      <p:sp>
        <p:nvSpPr>
          <p:cNvPr id="6" name="Google Shape;278;g104476d1465_1_17">
            <a:extLst>
              <a:ext uri="{FF2B5EF4-FFF2-40B4-BE49-F238E27FC236}">
                <a16:creationId xmlns:a16="http://schemas.microsoft.com/office/drawing/2014/main" id="{D351BC34-60FF-984A-AE0C-5354282DEDAC}"/>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57947" y="1645152"/>
            <a:ext cx="4978083" cy="1030322"/>
          </a:xfrm>
          <a:prstGeom prst="rect">
            <a:avLst/>
          </a:prstGeom>
        </p:spPr>
      </p:pic>
      <p:sp>
        <p:nvSpPr>
          <p:cNvPr id="7" name="Google Shape;282;g104476d1465_1_17">
            <a:extLst>
              <a:ext uri="{FF2B5EF4-FFF2-40B4-BE49-F238E27FC236}">
                <a16:creationId xmlns:a16="http://schemas.microsoft.com/office/drawing/2014/main" id="{A33885B7-911F-DCB6-8511-B66EC93A60CD}"/>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328</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F34F4001-F32D-E598-7DF6-7B727C51F927}"/>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40245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19"/>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73748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050379"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Google Shape;282;g104476d1465_1_17">
            <a:extLst>
              <a:ext uri="{FF2B5EF4-FFF2-40B4-BE49-F238E27FC236}">
                <a16:creationId xmlns:a16="http://schemas.microsoft.com/office/drawing/2014/main" id="{84D1148A-3B01-852D-2A11-5F8633803C07}"/>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329</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F0330676-14D8-236F-62B2-C15F67E6759C}"/>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28330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48789" y="-37086"/>
            <a:ext cx="960713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14.H1.4 Guided Practice: Creating a Two-Way Relative Frequency Table</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61090" y="25086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1D40250-DEDD-2C41-8538-3D4DD18CCC4A}"/>
                  </a:ext>
                </a:extLst>
              </p:cNvPr>
              <p:cNvSpPr txBox="1"/>
              <p:nvPr/>
            </p:nvSpPr>
            <p:spPr>
              <a:xfrm>
                <a:off x="843148" y="1386026"/>
                <a:ext cx="10307782" cy="3046988"/>
              </a:xfrm>
              <a:prstGeom prst="rect">
                <a:avLst/>
              </a:prstGeom>
              <a:noFill/>
            </p:spPr>
            <p:txBody>
              <a:bodyPr wrap="square" rtlCol="0">
                <a:spAutoFit/>
              </a:bodyPr>
              <a:lstStyle/>
              <a:p>
                <a:r>
                  <a:rPr lang="en-US" sz="2400" dirty="0">
                    <a:latin typeface="Verdana" charset="0"/>
                    <a:ea typeface="Verdana" charset="0"/>
                    <a:cs typeface="Verdana" charset="0"/>
                  </a:rPr>
                  <a:t>A study is performed to determine the efficacy of a new test that determines whether or not a patient has a disease. </a:t>
                </a:r>
                <a14:m>
                  <m:oMath xmlns:m="http://schemas.openxmlformats.org/officeDocument/2006/math">
                    <m:r>
                      <a:rPr lang="en-US" sz="2400" i="1">
                        <a:latin typeface="Cambria Math" panose="02040503050406030204" pitchFamily="18" charset="0"/>
                        <a:ea typeface="Verdana" charset="0"/>
                        <a:cs typeface="Verdana" charset="0"/>
                      </a:rPr>
                      <m:t>100,000</m:t>
                    </m:r>
                  </m:oMath>
                </a14:m>
                <a:r>
                  <a:rPr lang="en-US" sz="2400" dirty="0">
                    <a:latin typeface="Verdana" charset="0"/>
                    <a:ea typeface="Verdana" charset="0"/>
                    <a:cs typeface="Verdana" charset="0"/>
                  </a:rPr>
                  <a:t> people were included in the study. </a:t>
                </a:r>
                <a14:m>
                  <m:oMath xmlns:m="http://schemas.openxmlformats.org/officeDocument/2006/math">
                    <m:r>
                      <a:rPr lang="en-US" sz="2400" i="1">
                        <a:latin typeface="Cambria Math" panose="02040503050406030204" pitchFamily="18" charset="0"/>
                        <a:ea typeface="Verdana" charset="0"/>
                        <a:cs typeface="Verdana" charset="0"/>
                      </a:rPr>
                      <m:t>1%</m:t>
                    </m:r>
                  </m:oMath>
                </a14:m>
                <a:r>
                  <a:rPr lang="en-US" sz="2400" dirty="0">
                    <a:latin typeface="Verdana" charset="0"/>
                    <a:ea typeface="Verdana" charset="0"/>
                    <a:cs typeface="Verdana" charset="0"/>
                  </a:rPr>
                  <a:t> of the participants are infected with the disease. Of those infected, the test correctly identified the presence of the disease in </a:t>
                </a:r>
                <a14:m>
                  <m:oMath xmlns:m="http://schemas.openxmlformats.org/officeDocument/2006/math">
                    <m:r>
                      <a:rPr lang="en-US" sz="2400" i="1">
                        <a:latin typeface="Cambria Math" panose="02040503050406030204" pitchFamily="18" charset="0"/>
                        <a:ea typeface="Verdana" charset="0"/>
                        <a:cs typeface="Verdana" charset="0"/>
                      </a:rPr>
                      <m:t>750</m:t>
                    </m:r>
                  </m:oMath>
                </a14:m>
                <a:r>
                  <a:rPr lang="en-US" sz="2400" dirty="0">
                    <a:latin typeface="Verdana" charset="0"/>
                    <a:ea typeface="Verdana" charset="0"/>
                    <a:cs typeface="Verdana" charset="0"/>
                  </a:rPr>
                  <a:t> patients, and </a:t>
                </a:r>
                <a14:m>
                  <m:oMath xmlns:m="http://schemas.openxmlformats.org/officeDocument/2006/math">
                    <m:r>
                      <a:rPr lang="en-US" sz="2400" i="1">
                        <a:latin typeface="Cambria Math" panose="02040503050406030204" pitchFamily="18" charset="0"/>
                        <a:ea typeface="Verdana" charset="0"/>
                        <a:cs typeface="Verdana" charset="0"/>
                      </a:rPr>
                      <m:t>250</m:t>
                    </m:r>
                  </m:oMath>
                </a14:m>
                <a:r>
                  <a:rPr lang="en-US" sz="2400" dirty="0">
                    <a:latin typeface="Verdana" charset="0"/>
                    <a:ea typeface="Verdana" charset="0"/>
                    <a:cs typeface="Verdana" charset="0"/>
                  </a:rPr>
                  <a:t> patients received a false negative. For those patients that were not infected with the disease, the test was correct in </a:t>
                </a:r>
                <a14:m>
                  <m:oMath xmlns:m="http://schemas.openxmlformats.org/officeDocument/2006/math">
                    <m:r>
                      <a:rPr lang="en-US" sz="2400" i="1">
                        <a:latin typeface="Cambria Math" panose="02040503050406030204" pitchFamily="18" charset="0"/>
                        <a:ea typeface="Verdana" charset="0"/>
                        <a:cs typeface="Verdana" charset="0"/>
                      </a:rPr>
                      <m:t>98,505</m:t>
                    </m:r>
                  </m:oMath>
                </a14:m>
                <a:r>
                  <a:rPr lang="en-US" sz="2400" dirty="0">
                    <a:latin typeface="Verdana" charset="0"/>
                    <a:ea typeface="Verdana" charset="0"/>
                    <a:cs typeface="Verdana" charset="0"/>
                  </a:rPr>
                  <a:t> cases. </a:t>
                </a:r>
              </a:p>
            </p:txBody>
          </p:sp>
        </mc:Choice>
        <mc:Fallback>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843148" y="1386026"/>
                <a:ext cx="10307782" cy="3046988"/>
              </a:xfrm>
              <a:prstGeom prst="rect">
                <a:avLst/>
              </a:prstGeom>
              <a:blipFill>
                <a:blip r:embed="rId4"/>
                <a:stretch>
                  <a:fillRect l="-887" t="-1600" r="-828" b="-3600"/>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9EF632C0-4346-7C46-A47D-60F9E852BB4A}"/>
              </a:ext>
            </a:extLst>
          </p:cNvPr>
          <p:cNvSpPr/>
          <p:nvPr/>
        </p:nvSpPr>
        <p:spPr>
          <a:xfrm>
            <a:off x="0" y="377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a:extLst>
              <a:ext uri="{FF2B5EF4-FFF2-40B4-BE49-F238E27FC236}">
                <a16:creationId xmlns:a16="http://schemas.microsoft.com/office/drawing/2014/main" id="{07BFBBF7-8643-F48E-E182-BA6934E5E431}"/>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329</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5D6194F3-1B5C-40F0-0E08-932A4914FC77}"/>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78258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7" y="520393"/>
            <a:ext cx="10319658" cy="461665"/>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Use this data to complete the tree diagram.</a:t>
            </a:r>
          </a:p>
        </p:txBody>
      </p:sp>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447952" y="1218352"/>
            <a:ext cx="7857460" cy="5119255"/>
          </a:xfrm>
          <a:prstGeom prst="rect">
            <a:avLst/>
          </a:prstGeom>
        </p:spPr>
      </p:pic>
      <p:sp>
        <p:nvSpPr>
          <p:cNvPr id="7" name="Google Shape;278;g104476d1465_1_17">
            <a:extLst>
              <a:ext uri="{FF2B5EF4-FFF2-40B4-BE49-F238E27FC236}">
                <a16:creationId xmlns:a16="http://schemas.microsoft.com/office/drawing/2014/main" id="{069594F4-00DA-2C0D-EB33-59209D097C35}"/>
              </a:ext>
            </a:extLst>
          </p:cNvPr>
          <p:cNvSpPr/>
          <p:nvPr/>
        </p:nvSpPr>
        <p:spPr>
          <a:xfrm>
            <a:off x="0" y="-810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a:extLst>
              <a:ext uri="{FF2B5EF4-FFF2-40B4-BE49-F238E27FC236}">
                <a16:creationId xmlns:a16="http://schemas.microsoft.com/office/drawing/2014/main" id="{49F6971E-659C-A74B-BA50-2A9B6B676D55}"/>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329</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93E67A0D-87B9-9B05-B66A-1707399302BF}"/>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81528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7" y="520393"/>
            <a:ext cx="10307783" cy="830997"/>
          </a:xfrm>
          <a:prstGeom prst="rect">
            <a:avLst/>
          </a:prstGeom>
          <a:noFill/>
        </p:spPr>
        <p:txBody>
          <a:bodyPr wrap="square" rtlCol="0">
            <a:spAutoFit/>
          </a:bodyPr>
          <a:lstStyle/>
          <a:p>
            <a:pPr marL="457200" indent="-457200">
              <a:buFont typeface="+mj-lt"/>
              <a:buAutoNum type="arabicPeriod" startAt="2"/>
            </a:pPr>
            <a:r>
              <a:rPr lang="en-US" sz="2400" dirty="0">
                <a:latin typeface="Verdana" charset="0"/>
                <a:ea typeface="Verdana" charset="0"/>
                <a:cs typeface="Verdana" charset="0"/>
              </a:rPr>
              <a:t>Complete the two-way relative frequency table to represent the data. </a:t>
            </a:r>
          </a:p>
        </p:txBody>
      </p:sp>
      <p:sp>
        <p:nvSpPr>
          <p:cNvPr id="6" name="Google Shape;278;g104476d1465_1_17">
            <a:extLst>
              <a:ext uri="{FF2B5EF4-FFF2-40B4-BE49-F238E27FC236}">
                <a16:creationId xmlns:a16="http://schemas.microsoft.com/office/drawing/2014/main" id="{15313080-ADE1-E543-977F-AF86C524F917}"/>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3250466677"/>
                  </p:ext>
                </p:extLst>
              </p:nvPr>
            </p:nvGraphicFramePr>
            <p:xfrm>
              <a:off x="1459099" y="1621121"/>
              <a:ext cx="7886699" cy="2703938"/>
            </p:xfrm>
            <a:graphic>
              <a:graphicData uri="http://schemas.openxmlformats.org/drawingml/2006/table">
                <a:tbl>
                  <a:tblPr/>
                  <a:tblGrid>
                    <a:gridCol w="1884604">
                      <a:extLst>
                        <a:ext uri="{9D8B030D-6E8A-4147-A177-3AD203B41FA5}">
                          <a16:colId xmlns:a16="http://schemas.microsoft.com/office/drawing/2014/main" val="20000"/>
                        </a:ext>
                      </a:extLst>
                    </a:gridCol>
                    <a:gridCol w="2000201">
                      <a:extLst>
                        <a:ext uri="{9D8B030D-6E8A-4147-A177-3AD203B41FA5}">
                          <a16:colId xmlns:a16="http://schemas.microsoft.com/office/drawing/2014/main" val="20001"/>
                        </a:ext>
                      </a:extLst>
                    </a:gridCol>
                    <a:gridCol w="2000947">
                      <a:extLst>
                        <a:ext uri="{9D8B030D-6E8A-4147-A177-3AD203B41FA5}">
                          <a16:colId xmlns:a16="http://schemas.microsoft.com/office/drawing/2014/main" val="20002"/>
                        </a:ext>
                      </a:extLst>
                    </a:gridCol>
                    <a:gridCol w="2000947">
                      <a:extLst>
                        <a:ext uri="{9D8B030D-6E8A-4147-A177-3AD203B41FA5}">
                          <a16:colId xmlns:a16="http://schemas.microsoft.com/office/drawing/2014/main" val="20003"/>
                        </a:ext>
                      </a:extLst>
                    </a:gridCol>
                  </a:tblGrid>
                  <a:tr h="715004">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Positive</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Negative</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33733">
                    <a:tc>
                      <a:txBody>
                        <a:bodyPr/>
                        <a:lstStyle/>
                        <a:p>
                          <a:pPr marL="0" marR="0" algn="ctr">
                            <a:spcBef>
                              <a:spcPts val="0"/>
                            </a:spcBef>
                            <a:spcAft>
                              <a:spcPts val="0"/>
                            </a:spcAft>
                          </a:pPr>
                          <a:r>
                            <a:rPr lang="en-US" sz="2000" b="1" dirty="0">
                              <a:effectLst/>
                              <a:latin typeface="Verdana" charset="0"/>
                              <a:ea typeface="Verdana" charset="0"/>
                              <a:cs typeface="Verdana" charset="0"/>
                            </a:rPr>
                            <a:t>Infected</a:t>
                          </a:r>
                          <a:endParaRPr lang="en-US" sz="1400" dirty="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m:t>
                                </m:r>
                              </m:oMath>
                            </m:oMathPara>
                          </a14:m>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33733">
                    <a:tc>
                      <a:txBody>
                        <a:bodyPr/>
                        <a:lstStyle/>
                        <a:p>
                          <a:pPr marL="0" marR="0" algn="ctr">
                            <a:spcBef>
                              <a:spcPts val="0"/>
                            </a:spcBef>
                            <a:spcAft>
                              <a:spcPts val="0"/>
                            </a:spcAft>
                          </a:pPr>
                          <a:r>
                            <a:rPr lang="en-US" sz="2000" b="1">
                              <a:effectLst/>
                              <a:latin typeface="Verdana" charset="0"/>
                              <a:ea typeface="Verdana" charset="0"/>
                              <a:cs typeface="Verdana" charset="0"/>
                            </a:rPr>
                            <a:t>Not Infected</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99%</m:t>
                                </m:r>
                              </m:oMath>
                            </m:oMathPara>
                          </a14:m>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33733">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3250466677"/>
                  </p:ext>
                </p:extLst>
              </p:nvPr>
            </p:nvGraphicFramePr>
            <p:xfrm>
              <a:off x="1459099" y="1621121"/>
              <a:ext cx="7886699" cy="2703938"/>
            </p:xfrm>
            <a:graphic>
              <a:graphicData uri="http://schemas.openxmlformats.org/drawingml/2006/table">
                <a:tbl>
                  <a:tblPr/>
                  <a:tblGrid>
                    <a:gridCol w="1884604">
                      <a:extLst>
                        <a:ext uri="{9D8B030D-6E8A-4147-A177-3AD203B41FA5}">
                          <a16:colId xmlns:a16="http://schemas.microsoft.com/office/drawing/2014/main" val="20000"/>
                        </a:ext>
                      </a:extLst>
                    </a:gridCol>
                    <a:gridCol w="2000201">
                      <a:extLst>
                        <a:ext uri="{9D8B030D-6E8A-4147-A177-3AD203B41FA5}">
                          <a16:colId xmlns:a16="http://schemas.microsoft.com/office/drawing/2014/main" val="20001"/>
                        </a:ext>
                      </a:extLst>
                    </a:gridCol>
                    <a:gridCol w="2000947">
                      <a:extLst>
                        <a:ext uri="{9D8B030D-6E8A-4147-A177-3AD203B41FA5}">
                          <a16:colId xmlns:a16="http://schemas.microsoft.com/office/drawing/2014/main" val="20002"/>
                        </a:ext>
                      </a:extLst>
                    </a:gridCol>
                    <a:gridCol w="2000947">
                      <a:extLst>
                        <a:ext uri="{9D8B030D-6E8A-4147-A177-3AD203B41FA5}">
                          <a16:colId xmlns:a16="http://schemas.microsoft.com/office/drawing/2014/main" val="20003"/>
                        </a:ext>
                      </a:extLst>
                    </a:gridCol>
                  </a:tblGrid>
                  <a:tr h="715004">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Positive</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Negative</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33733">
                    <a:tc>
                      <a:txBody>
                        <a:bodyPr/>
                        <a:lstStyle/>
                        <a:p>
                          <a:pPr marL="0" marR="0" algn="ctr">
                            <a:spcBef>
                              <a:spcPts val="0"/>
                            </a:spcBef>
                            <a:spcAft>
                              <a:spcPts val="0"/>
                            </a:spcAft>
                          </a:pPr>
                          <a:r>
                            <a:rPr lang="en-US" sz="2000" b="1" dirty="0">
                              <a:effectLst/>
                              <a:latin typeface="Verdana" charset="0"/>
                              <a:ea typeface="Verdana" charset="0"/>
                              <a:cs typeface="Verdana" charset="0"/>
                            </a:rPr>
                            <a:t>Infected</a:t>
                          </a:r>
                          <a:endParaRPr lang="en-US" sz="1400" dirty="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93921" t="-114423" r="-608" b="-216346"/>
                          </a:stretch>
                        </a:blipFill>
                      </a:tcPr>
                    </a:tc>
                    <a:extLst>
                      <a:ext uri="{0D108BD9-81ED-4DB2-BD59-A6C34878D82A}">
                        <a16:rowId xmlns:a16="http://schemas.microsoft.com/office/drawing/2014/main" val="10001"/>
                      </a:ext>
                    </a:extLst>
                  </a:tr>
                  <a:tr h="721468">
                    <a:tc>
                      <a:txBody>
                        <a:bodyPr/>
                        <a:lstStyle/>
                        <a:p>
                          <a:pPr marL="0" marR="0" algn="ctr">
                            <a:spcBef>
                              <a:spcPts val="0"/>
                            </a:spcBef>
                            <a:spcAft>
                              <a:spcPts val="0"/>
                            </a:spcAft>
                          </a:pPr>
                          <a:r>
                            <a:rPr lang="en-US" sz="2000" b="1">
                              <a:effectLst/>
                              <a:latin typeface="Verdana" charset="0"/>
                              <a:ea typeface="Verdana" charset="0"/>
                              <a:cs typeface="Verdana" charset="0"/>
                            </a:rPr>
                            <a:t>Not Infected</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93921" t="-187395" r="-608" b="-89076"/>
                          </a:stretch>
                        </a:blipFill>
                      </a:tcPr>
                    </a:tc>
                    <a:extLst>
                      <a:ext uri="{0D108BD9-81ED-4DB2-BD59-A6C34878D82A}">
                        <a16:rowId xmlns:a16="http://schemas.microsoft.com/office/drawing/2014/main" val="10002"/>
                      </a:ext>
                    </a:extLst>
                  </a:tr>
                  <a:tr h="633733">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55934" marR="55934" marT="55934" marB="5593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7" name="Google Shape;282;g104476d1465_1_17">
            <a:extLst>
              <a:ext uri="{FF2B5EF4-FFF2-40B4-BE49-F238E27FC236}">
                <a16:creationId xmlns:a16="http://schemas.microsoft.com/office/drawing/2014/main" id="{07C7F02B-5AD3-8E3D-3797-5F54563C4346}"/>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329</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60A3287F-9E01-C708-60BB-1DA2CD46BACB}"/>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55843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365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601429"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298315"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B26D8732-3E84-7159-2BC7-F3383FD632FD}"/>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330</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A3B7CFF2-94E4-54EF-68B6-E435178C7C1D}"/>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32637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72540" y="60325"/>
            <a:ext cx="9678390" cy="103775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14.H1.5 Try It: RMS Titanic</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40565" y="20429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AB6A3A1-5A0D-C84F-AC89-57E6782F43E5}"/>
                  </a:ext>
                </a:extLst>
              </p:cNvPr>
              <p:cNvSpPr txBox="1"/>
              <p:nvPr/>
            </p:nvSpPr>
            <p:spPr>
              <a:xfrm>
                <a:off x="855022" y="1098080"/>
                <a:ext cx="10295907" cy="5509200"/>
              </a:xfrm>
              <a:prstGeom prst="rect">
                <a:avLst/>
              </a:prstGeom>
              <a:noFill/>
            </p:spPr>
            <p:txBody>
              <a:bodyPr wrap="square" rtlCol="0">
                <a:spAutoFit/>
              </a:bodyPr>
              <a:lstStyle/>
              <a:p>
                <a:pPr marL="457200" indent="-457200">
                  <a:buFont typeface="+mj-lt"/>
                  <a:buAutoNum type="arabicPeriod"/>
                </a:pPr>
                <a:r>
                  <a:rPr lang="en-US" sz="2200" dirty="0">
                    <a:latin typeface="Verdana" charset="0"/>
                    <a:ea typeface="Verdana" charset="0"/>
                    <a:cs typeface="Verdana" charset="0"/>
                  </a:rPr>
                  <a:t>The RMS Titanic was a British passenger liner operated by the White Star Line that sank in the North Atlantic Ocean on April 15, 1912, after striking an iceberg during her maiden voyage from Southampton to New York City. Of the estimated </a:t>
                </a:r>
                <a14:m>
                  <m:oMath xmlns:m="http://schemas.openxmlformats.org/officeDocument/2006/math">
                    <m:r>
                      <a:rPr lang="en-US" sz="2200" i="1">
                        <a:latin typeface="Cambria Math" panose="02040503050406030204" pitchFamily="18" charset="0"/>
                        <a:ea typeface="Verdana" charset="0"/>
                        <a:cs typeface="Verdana" charset="0"/>
                      </a:rPr>
                      <m:t>2,201</m:t>
                    </m:r>
                  </m:oMath>
                </a14:m>
                <a:r>
                  <a:rPr lang="en-US" sz="2200" dirty="0">
                    <a:latin typeface="Verdana" charset="0"/>
                    <a:ea typeface="Verdana" charset="0"/>
                    <a:cs typeface="Verdana" charset="0"/>
                  </a:rPr>
                  <a:t> passengers and crew aboard, </a:t>
                </a:r>
                <a14:m>
                  <m:oMath xmlns:m="http://schemas.openxmlformats.org/officeDocument/2006/math">
                    <m:r>
                      <a:rPr lang="en-US" sz="2200" i="1">
                        <a:latin typeface="Cambria Math" panose="02040503050406030204" pitchFamily="18" charset="0"/>
                        <a:ea typeface="Verdana" charset="0"/>
                        <a:cs typeface="Verdana" charset="0"/>
                      </a:rPr>
                      <m:t>1,490</m:t>
                    </m:r>
                  </m:oMath>
                </a14:m>
                <a:r>
                  <a:rPr lang="en-US" sz="2200" dirty="0">
                    <a:latin typeface="Verdana" charset="0"/>
                    <a:ea typeface="Verdana" charset="0"/>
                    <a:cs typeface="Verdana" charset="0"/>
                  </a:rPr>
                  <a:t> died, making the sinking, at the time, one of the deadliest of a single ship.</a:t>
                </a:r>
              </a:p>
              <a:p>
                <a:r>
                  <a:rPr lang="en-US" sz="2200" dirty="0">
                    <a:latin typeface="Verdana" charset="0"/>
                    <a:ea typeface="Verdana" charset="0"/>
                    <a:cs typeface="Verdana" charset="0"/>
                  </a:rPr>
                  <a:t> </a:t>
                </a:r>
              </a:p>
              <a:p>
                <a:pPr marL="469900"/>
                <a:r>
                  <a:rPr lang="en-US" sz="2200" dirty="0">
                    <a:latin typeface="Verdana" charset="0"/>
                    <a:ea typeface="Verdana" charset="0"/>
                    <a:cs typeface="Verdana" charset="0"/>
                  </a:rPr>
                  <a:t>Passengers can be classified as whether the person survived (Yes or No) and the class of the ticket they had (1</a:t>
                </a:r>
                <a:r>
                  <a:rPr lang="en-US" sz="2200" baseline="30000" dirty="0">
                    <a:latin typeface="Verdana" charset="0"/>
                    <a:ea typeface="Verdana" charset="0"/>
                    <a:cs typeface="Verdana" charset="0"/>
                  </a:rPr>
                  <a:t>st</a:t>
                </a:r>
                <a:r>
                  <a:rPr lang="en-US" sz="2200" dirty="0">
                    <a:latin typeface="Verdana" charset="0"/>
                    <a:ea typeface="Verdana" charset="0"/>
                    <a:cs typeface="Verdana" charset="0"/>
                  </a:rPr>
                  <a:t>, 2</a:t>
                </a:r>
                <a:r>
                  <a:rPr lang="en-US" sz="2200" baseline="30000" dirty="0">
                    <a:latin typeface="Verdana" charset="0"/>
                    <a:ea typeface="Verdana" charset="0"/>
                    <a:cs typeface="Verdana" charset="0"/>
                  </a:rPr>
                  <a:t>nd</a:t>
                </a:r>
                <a:r>
                  <a:rPr lang="en-US" sz="2200" dirty="0">
                    <a:latin typeface="Verdana" charset="0"/>
                    <a:ea typeface="Verdana" charset="0"/>
                    <a:cs typeface="Verdana" charset="0"/>
                  </a:rPr>
                  <a:t>, 3</a:t>
                </a:r>
                <a:r>
                  <a:rPr lang="en-US" sz="2200" baseline="30000" dirty="0">
                    <a:latin typeface="Verdana" charset="0"/>
                    <a:ea typeface="Verdana" charset="0"/>
                    <a:cs typeface="Verdana" charset="0"/>
                  </a:rPr>
                  <a:t>rd</a:t>
                </a:r>
                <a:r>
                  <a:rPr lang="en-US" sz="2200" dirty="0">
                    <a:latin typeface="Verdana" charset="0"/>
                    <a:ea typeface="Verdana" charset="0"/>
                    <a:cs typeface="Verdana" charset="0"/>
                  </a:rPr>
                  <a:t>, or Crew).</a:t>
                </a:r>
              </a:p>
              <a:p>
                <a:r>
                  <a:rPr lang="en-US" sz="2200" dirty="0">
                    <a:latin typeface="Verdana" charset="0"/>
                    <a:ea typeface="Verdana" charset="0"/>
                    <a:cs typeface="Verdana" charset="0"/>
                  </a:rPr>
                  <a:t> </a:t>
                </a:r>
              </a:p>
              <a:p>
                <a:pPr marL="923925" indent="-454025">
                  <a:buFont typeface="Arial" charset="0"/>
                  <a:buChar char="•"/>
                </a:pPr>
                <a14:m>
                  <m:oMath xmlns:m="http://schemas.openxmlformats.org/officeDocument/2006/math">
                    <m:r>
                      <a:rPr lang="en-US" sz="2200" i="1">
                        <a:latin typeface="Cambria Math" panose="02040503050406030204" pitchFamily="18" charset="0"/>
                        <a:ea typeface="Verdana" charset="0"/>
                        <a:cs typeface="Verdana" charset="0"/>
                      </a:rPr>
                      <m:t>14.8%</m:t>
                    </m:r>
                  </m:oMath>
                </a14:m>
                <a:r>
                  <a:rPr lang="en-US" sz="2200" dirty="0">
                    <a:latin typeface="Verdana" charset="0"/>
                    <a:ea typeface="Verdana" charset="0"/>
                    <a:cs typeface="Verdana" charset="0"/>
                  </a:rPr>
                  <a:t> of passengers had 1</a:t>
                </a:r>
                <a:r>
                  <a:rPr lang="en-US" sz="2200" baseline="30000" dirty="0">
                    <a:latin typeface="Verdana" charset="0"/>
                    <a:ea typeface="Verdana" charset="0"/>
                    <a:cs typeface="Verdana" charset="0"/>
                  </a:rPr>
                  <a:t>st</a:t>
                </a:r>
                <a:r>
                  <a:rPr lang="en-US" sz="2200" dirty="0">
                    <a:latin typeface="Verdana" charset="0"/>
                    <a:ea typeface="Verdana" charset="0"/>
                    <a:cs typeface="Verdana" charset="0"/>
                  </a:rPr>
                  <a:t> class tickets.</a:t>
                </a:r>
              </a:p>
              <a:p>
                <a:pPr marL="923925" indent="-454025">
                  <a:buFont typeface="Arial" charset="0"/>
                  <a:buChar char="•"/>
                </a:pPr>
                <a14:m>
                  <m:oMath xmlns:m="http://schemas.openxmlformats.org/officeDocument/2006/math">
                    <m:r>
                      <a:rPr lang="en-US" sz="2200" i="1">
                        <a:latin typeface="Cambria Math" panose="02040503050406030204" pitchFamily="18" charset="0"/>
                        <a:ea typeface="Verdana" charset="0"/>
                        <a:cs typeface="Verdana" charset="0"/>
                      </a:rPr>
                      <m:t>13.0%</m:t>
                    </m:r>
                  </m:oMath>
                </a14:m>
                <a:r>
                  <a:rPr lang="en-US" sz="2200" dirty="0">
                    <a:latin typeface="Verdana" charset="0"/>
                    <a:ea typeface="Verdana" charset="0"/>
                    <a:cs typeface="Verdana" charset="0"/>
                  </a:rPr>
                  <a:t> of passengers had 2</a:t>
                </a:r>
                <a:r>
                  <a:rPr lang="en-US" sz="2200" baseline="30000" dirty="0">
                    <a:latin typeface="Verdana" charset="0"/>
                    <a:ea typeface="Verdana" charset="0"/>
                    <a:cs typeface="Verdana" charset="0"/>
                  </a:rPr>
                  <a:t>nd</a:t>
                </a:r>
                <a:r>
                  <a:rPr lang="en-US" sz="2200" dirty="0">
                    <a:latin typeface="Verdana" charset="0"/>
                    <a:ea typeface="Verdana" charset="0"/>
                    <a:cs typeface="Verdana" charset="0"/>
                  </a:rPr>
                  <a:t> class tickets.</a:t>
                </a:r>
              </a:p>
              <a:p>
                <a:pPr marL="923925" indent="-454025">
                  <a:buFont typeface="Arial" charset="0"/>
                  <a:buChar char="•"/>
                </a:pPr>
                <a14:m>
                  <m:oMath xmlns:m="http://schemas.openxmlformats.org/officeDocument/2006/math">
                    <m:r>
                      <a:rPr lang="en-US" sz="2200" i="1">
                        <a:latin typeface="Cambria Math" panose="02040503050406030204" pitchFamily="18" charset="0"/>
                        <a:ea typeface="Verdana" charset="0"/>
                        <a:cs typeface="Verdana" charset="0"/>
                      </a:rPr>
                      <m:t>35.4%</m:t>
                    </m:r>
                  </m:oMath>
                </a14:m>
                <a:r>
                  <a:rPr lang="en-US" sz="2200" dirty="0">
                    <a:latin typeface="Verdana" charset="0"/>
                    <a:ea typeface="Verdana" charset="0"/>
                    <a:cs typeface="Verdana" charset="0"/>
                  </a:rPr>
                  <a:t> of those who died were third class passengers.</a:t>
                </a:r>
              </a:p>
              <a:p>
                <a:pPr marL="923925" indent="-454025">
                  <a:buFont typeface="Arial" charset="0"/>
                  <a:buChar char="•"/>
                </a:pPr>
                <a14:m>
                  <m:oMath xmlns:m="http://schemas.openxmlformats.org/officeDocument/2006/math">
                    <m:r>
                      <a:rPr lang="en-US" sz="2200" i="1">
                        <a:latin typeface="Cambria Math" panose="02040503050406030204" pitchFamily="18" charset="0"/>
                        <a:ea typeface="Verdana" charset="0"/>
                        <a:cs typeface="Verdana" charset="0"/>
                      </a:rPr>
                      <m:t>25.0%</m:t>
                    </m:r>
                  </m:oMath>
                </a14:m>
                <a:r>
                  <a:rPr lang="en-US" sz="2200" dirty="0">
                    <a:latin typeface="Verdana" charset="0"/>
                    <a:ea typeface="Verdana" charset="0"/>
                    <a:cs typeface="Verdana" charset="0"/>
                  </a:rPr>
                  <a:t> of those who survived were 3</a:t>
                </a:r>
                <a:r>
                  <a:rPr lang="en-US" sz="2200" baseline="30000" dirty="0">
                    <a:latin typeface="Verdana" charset="0"/>
                    <a:ea typeface="Verdana" charset="0"/>
                    <a:cs typeface="Verdana" charset="0"/>
                  </a:rPr>
                  <a:t>rd</a:t>
                </a:r>
                <a:r>
                  <a:rPr lang="en-US" sz="2200" dirty="0">
                    <a:latin typeface="Verdana" charset="0"/>
                    <a:ea typeface="Verdana" charset="0"/>
                    <a:cs typeface="Verdana" charset="0"/>
                  </a:rPr>
                  <a:t> class passengers.</a:t>
                </a:r>
              </a:p>
              <a:p>
                <a:pPr marL="923925" indent="-454025">
                  <a:buFont typeface="Arial" charset="0"/>
                  <a:buChar char="•"/>
                </a:pPr>
                <a14:m>
                  <m:oMath xmlns:m="http://schemas.openxmlformats.org/officeDocument/2006/math">
                    <m:r>
                      <a:rPr lang="en-US" sz="2200" i="1">
                        <a:latin typeface="Cambria Math" panose="02040503050406030204" pitchFamily="18" charset="0"/>
                        <a:ea typeface="Verdana" charset="0"/>
                        <a:cs typeface="Verdana" charset="0"/>
                      </a:rPr>
                      <m:t>76.0%</m:t>
                    </m:r>
                  </m:oMath>
                </a14:m>
                <a:r>
                  <a:rPr lang="en-US" sz="2200" dirty="0">
                    <a:latin typeface="Verdana" charset="0"/>
                    <a:ea typeface="Verdana" charset="0"/>
                    <a:cs typeface="Verdana" charset="0"/>
                  </a:rPr>
                  <a:t> of the crew died.</a:t>
                </a:r>
              </a:p>
              <a:p>
                <a:pPr marL="923925" indent="-454025">
                  <a:buFont typeface="Arial" charset="0"/>
                  <a:buChar char="•"/>
                </a:pPr>
                <a14:m>
                  <m:oMath xmlns:m="http://schemas.openxmlformats.org/officeDocument/2006/math">
                    <m:r>
                      <a:rPr lang="en-US" sz="2200" i="1">
                        <a:latin typeface="Cambria Math" panose="02040503050406030204" pitchFamily="18" charset="0"/>
                        <a:ea typeface="Verdana" charset="0"/>
                        <a:cs typeface="Verdana" charset="0"/>
                      </a:rPr>
                      <m:t>62.5%</m:t>
                    </m:r>
                  </m:oMath>
                </a14:m>
                <a:r>
                  <a:rPr lang="en-US" sz="2200" dirty="0">
                    <a:latin typeface="Verdana" charset="0"/>
                    <a:ea typeface="Verdana" charset="0"/>
                    <a:cs typeface="Verdana" charset="0"/>
                  </a:rPr>
                  <a:t> of 1</a:t>
                </a:r>
                <a:r>
                  <a:rPr lang="en-US" sz="2200" baseline="30000" dirty="0">
                    <a:latin typeface="Verdana" charset="0"/>
                    <a:ea typeface="Verdana" charset="0"/>
                    <a:cs typeface="Verdana" charset="0"/>
                  </a:rPr>
                  <a:t>st</a:t>
                </a:r>
                <a:r>
                  <a:rPr lang="en-US" sz="2200" dirty="0">
                    <a:latin typeface="Verdana" charset="0"/>
                    <a:ea typeface="Verdana" charset="0"/>
                    <a:cs typeface="Verdana" charset="0"/>
                  </a:rPr>
                  <a:t> class passengers survived.</a:t>
                </a:r>
              </a:p>
            </p:txBody>
          </p:sp>
        </mc:Choice>
        <mc:Fallback>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855022" y="1098080"/>
                <a:ext cx="10295907" cy="5509200"/>
              </a:xfrm>
              <a:prstGeom prst="rect">
                <a:avLst/>
              </a:prstGeom>
              <a:blipFill>
                <a:blip r:embed="rId4"/>
                <a:stretch>
                  <a:fillRect l="-770" t="-774" r="-1599" b="-1327"/>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244F00A5-2AA6-AE4D-816C-EE9779D15DDB}"/>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3" name="Google Shape;282;g104476d1465_1_17">
            <a:extLst>
              <a:ext uri="{FF2B5EF4-FFF2-40B4-BE49-F238E27FC236}">
                <a16:creationId xmlns:a16="http://schemas.microsoft.com/office/drawing/2014/main" id="{AF1C1F32-2880-2A46-69EC-82EAFE02B54A}"/>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330</a:t>
            </a:r>
            <a:endParaRPr i="1" dirty="0">
              <a:latin typeface="Calibri"/>
              <a:ea typeface="Calibri"/>
              <a:cs typeface="Calibri"/>
              <a:sym typeface="Calibri"/>
            </a:endParaRPr>
          </a:p>
        </p:txBody>
      </p:sp>
      <p:pic>
        <p:nvPicPr>
          <p:cNvPr id="14" name="Google Shape;283;g104476d1465_1_17">
            <a:extLst>
              <a:ext uri="{FF2B5EF4-FFF2-40B4-BE49-F238E27FC236}">
                <a16:creationId xmlns:a16="http://schemas.microsoft.com/office/drawing/2014/main" id="{32F58F26-8E5E-C30E-C856-3FB62ED56E4D}"/>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990966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7" y="520393"/>
            <a:ext cx="10307783" cy="830997"/>
          </a:xfrm>
          <a:prstGeom prst="rect">
            <a:avLst/>
          </a:prstGeom>
          <a:noFill/>
        </p:spPr>
        <p:txBody>
          <a:bodyPr wrap="square" rtlCol="0">
            <a:spAutoFit/>
          </a:bodyPr>
          <a:lstStyle/>
          <a:p>
            <a:r>
              <a:rPr lang="en-US" sz="2400" dirty="0">
                <a:latin typeface="Verdana" charset="0"/>
                <a:ea typeface="Verdana" charset="0"/>
                <a:cs typeface="Verdana" charset="0"/>
              </a:rPr>
              <a:t>Create a two-way relative frequency table based on the data provided.</a:t>
            </a:r>
          </a:p>
        </p:txBody>
      </p:sp>
      <p:sp>
        <p:nvSpPr>
          <p:cNvPr id="6" name="Google Shape;278;g104476d1465_1_17">
            <a:extLst>
              <a:ext uri="{FF2B5EF4-FFF2-40B4-BE49-F238E27FC236}">
                <a16:creationId xmlns:a16="http://schemas.microsoft.com/office/drawing/2014/main" id="{A2E66A11-7F46-5543-97C7-B5D75DA087BD}"/>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3629469154"/>
              </p:ext>
            </p:extLst>
          </p:nvPr>
        </p:nvGraphicFramePr>
        <p:xfrm>
          <a:off x="1982683" y="1589690"/>
          <a:ext cx="6772939" cy="3017935"/>
        </p:xfrm>
        <a:graphic>
          <a:graphicData uri="http://schemas.openxmlformats.org/drawingml/2006/table">
            <a:tbl>
              <a:tblPr firstRow="1" firstCol="1" bandRow="1"/>
              <a:tblGrid>
                <a:gridCol w="1964830">
                  <a:extLst>
                    <a:ext uri="{9D8B030D-6E8A-4147-A177-3AD203B41FA5}">
                      <a16:colId xmlns:a16="http://schemas.microsoft.com/office/drawing/2014/main" val="20000"/>
                    </a:ext>
                  </a:extLst>
                </a:gridCol>
                <a:gridCol w="1718425">
                  <a:extLst>
                    <a:ext uri="{9D8B030D-6E8A-4147-A177-3AD203B41FA5}">
                      <a16:colId xmlns:a16="http://schemas.microsoft.com/office/drawing/2014/main" val="20001"/>
                    </a:ext>
                  </a:extLst>
                </a:gridCol>
                <a:gridCol w="1371259">
                  <a:extLst>
                    <a:ext uri="{9D8B030D-6E8A-4147-A177-3AD203B41FA5}">
                      <a16:colId xmlns:a16="http://schemas.microsoft.com/office/drawing/2014/main" val="20002"/>
                    </a:ext>
                  </a:extLst>
                </a:gridCol>
                <a:gridCol w="1718425">
                  <a:extLst>
                    <a:ext uri="{9D8B030D-6E8A-4147-A177-3AD203B41FA5}">
                      <a16:colId xmlns:a16="http://schemas.microsoft.com/office/drawing/2014/main" val="20003"/>
                    </a:ext>
                  </a:extLst>
                </a:gridCol>
              </a:tblGrid>
              <a:tr h="435955">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a:noFill/>
                    </a:lnL>
                    <a:lnR>
                      <a:noFill/>
                    </a:lnR>
                    <a:lnT>
                      <a:noFill/>
                    </a:lnT>
                    <a:lnB>
                      <a:noFill/>
                    </a:lnB>
                  </a:tcPr>
                </a:tc>
                <a:tc gridSpan="3">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Survived</a:t>
                      </a:r>
                      <a:endParaRPr lang="en-US" sz="1400">
                        <a:effectLst/>
                        <a:latin typeface="Verdana" charset="0"/>
                        <a:ea typeface="Verdana" charset="0"/>
                        <a:cs typeface="Verdana"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35955">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Ticket</a:t>
                      </a:r>
                      <a:endParaRPr lang="en-US" sz="1400">
                        <a:effectLst/>
                        <a:latin typeface="Verdana" charset="0"/>
                        <a:ea typeface="Verdana" charset="0"/>
                        <a:cs typeface="Verdana"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dirty="0">
                          <a:solidFill>
                            <a:srgbClr val="000000"/>
                          </a:solidFill>
                          <a:effectLst/>
                          <a:latin typeface="Verdana" charset="0"/>
                          <a:ea typeface="Verdana" charset="0"/>
                          <a:cs typeface="Verdana" charset="0"/>
                        </a:rPr>
                        <a:t>No</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Yes</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435955">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1st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35955">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2nd</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19080">
                <a:tc>
                  <a:txBody>
                    <a:bodyPr/>
                    <a:lstStyle/>
                    <a:p>
                      <a:pPr marL="0" marR="0" algn="ctr">
                        <a:spcBef>
                          <a:spcPts val="0"/>
                        </a:spcBef>
                        <a:spcAft>
                          <a:spcPts val="0"/>
                        </a:spcAft>
                      </a:pPr>
                      <a:r>
                        <a:rPr lang="en-US" sz="2000" b="1" dirty="0">
                          <a:solidFill>
                            <a:srgbClr val="000000"/>
                          </a:solidFill>
                          <a:effectLst/>
                          <a:latin typeface="Verdana" charset="0"/>
                          <a:ea typeface="Verdana" charset="0"/>
                          <a:cs typeface="Verdana" charset="0"/>
                        </a:rPr>
                        <a:t>3rd</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35955">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Crew</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19080">
                <a:tc>
                  <a:txBody>
                    <a:bodyPr/>
                    <a:lstStyle/>
                    <a:p>
                      <a:pPr marL="0" marR="0" algn="ctr">
                        <a:spcBef>
                          <a:spcPts val="0"/>
                        </a:spcBef>
                        <a:spcAft>
                          <a:spcPts val="0"/>
                        </a:spcAft>
                      </a:pPr>
                      <a:r>
                        <a:rPr lang="en-US" sz="2000" b="1">
                          <a:solidFill>
                            <a:srgbClr val="000000"/>
                          </a:solidFill>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solidFill>
                            <a:srgbClr val="000000"/>
                          </a:solidFill>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Google Shape;282;g104476d1465_1_17">
            <a:extLst>
              <a:ext uri="{FF2B5EF4-FFF2-40B4-BE49-F238E27FC236}">
                <a16:creationId xmlns:a16="http://schemas.microsoft.com/office/drawing/2014/main" id="{EE183F1E-6597-D5FC-7F2C-2D5B286CB7A9}"/>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330</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5FFC2B88-EA80-D78D-419D-D4E3EEE0DE59}"/>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50655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726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2905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9F60F8EC-133A-BC2F-89B7-E9B713E77D64}"/>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330</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FB0062C1-6FC6-35F2-66CC-FF45190CEFE7}"/>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96290" y="60325"/>
            <a:ext cx="10474037" cy="118280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3F2A67"/>
                </a:solidFill>
                <a:latin typeface="Verdana"/>
                <a:ea typeface="Verdana"/>
                <a:cs typeface="Verdana"/>
                <a:sym typeface="Verdana"/>
              </a:rPr>
              <a:t>14.H1.6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93248" y="278077"/>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855022" y="1386026"/>
            <a:ext cx="10272157" cy="3785652"/>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Complete each statement.</a:t>
            </a:r>
          </a:p>
          <a:p>
            <a:r>
              <a:rPr lang="en-US" sz="2400" dirty="0">
                <a:latin typeface="Verdana" charset="0"/>
                <a:ea typeface="Verdana" charset="0"/>
                <a:cs typeface="Verdana" charset="0"/>
              </a:rPr>
              <a:t> </a:t>
            </a:r>
          </a:p>
          <a:p>
            <a:pPr marL="914400" indent="-450850">
              <a:buFont typeface="+mj-lt"/>
              <a:buAutoNum type="alphaLcPeriod"/>
            </a:pPr>
            <a:r>
              <a:rPr lang="en-US" sz="2400" dirty="0">
                <a:latin typeface="Verdana" charset="0"/>
                <a:ea typeface="Verdana" charset="0"/>
                <a:cs typeface="Verdana" charset="0"/>
              </a:rPr>
              <a:t>After today’s lesson, I am still unsure about ...  </a:t>
            </a:r>
          </a:p>
          <a:p>
            <a:pPr marL="914400" indent="-450850">
              <a:buFont typeface="+mj-lt"/>
              <a:buAutoNum type="alphaLcPeriod"/>
            </a:pPr>
            <a:endParaRPr lang="en-US" sz="2400" dirty="0">
              <a:latin typeface="Verdana" charset="0"/>
              <a:ea typeface="Verdana" charset="0"/>
              <a:cs typeface="Verdana" charset="0"/>
            </a:endParaRPr>
          </a:p>
          <a:p>
            <a:pPr marL="914400" indent="-450850">
              <a:buFont typeface="+mj-lt"/>
              <a:buAutoNum type="alphaLcPeriod"/>
            </a:pPr>
            <a:endParaRPr lang="en-US" sz="2400" dirty="0">
              <a:latin typeface="Verdana" charset="0"/>
              <a:ea typeface="Verdana" charset="0"/>
              <a:cs typeface="Verdana" charset="0"/>
            </a:endParaRPr>
          </a:p>
          <a:p>
            <a:pPr marL="914400" indent="-450850">
              <a:buFont typeface="+mj-lt"/>
              <a:buAutoNum type="alphaLcPeriod"/>
            </a:pPr>
            <a:endParaRPr lang="en-US" sz="2400" dirty="0">
              <a:latin typeface="Verdana" charset="0"/>
              <a:ea typeface="Verdana" charset="0"/>
              <a:cs typeface="Verdana" charset="0"/>
            </a:endParaRPr>
          </a:p>
          <a:p>
            <a:pPr marL="914400" indent="-450850">
              <a:buFont typeface="+mj-lt"/>
              <a:buAutoNum type="alphaLcPeriod"/>
            </a:pPr>
            <a:endParaRPr lang="en-US" sz="2400" dirty="0">
              <a:latin typeface="Verdana" charset="0"/>
              <a:ea typeface="Verdana" charset="0"/>
              <a:cs typeface="Verdana" charset="0"/>
            </a:endParaRPr>
          </a:p>
          <a:p>
            <a:pPr marL="914400" indent="-450850">
              <a:buFont typeface="+mj-lt"/>
              <a:buAutoNum type="alphaLcPeriod"/>
            </a:pPr>
            <a:endParaRPr lang="en-US" sz="2400" dirty="0">
              <a:latin typeface="Verdana" charset="0"/>
              <a:ea typeface="Verdana" charset="0"/>
              <a:cs typeface="Verdana" charset="0"/>
            </a:endParaRPr>
          </a:p>
          <a:p>
            <a:pPr marL="914400" indent="-450850">
              <a:buFont typeface="+mj-lt"/>
              <a:buAutoNum type="alphaLcPeriod"/>
            </a:pPr>
            <a:endParaRPr lang="en-US" sz="2400" dirty="0">
              <a:latin typeface="Verdana" charset="0"/>
              <a:ea typeface="Verdana" charset="0"/>
              <a:cs typeface="Verdana" charset="0"/>
            </a:endParaRPr>
          </a:p>
          <a:p>
            <a:pPr marL="914400" indent="-450850">
              <a:buFont typeface="+mj-lt"/>
              <a:buAutoNum type="alphaLcPeriod"/>
            </a:pPr>
            <a:r>
              <a:rPr lang="en-US" sz="2400" dirty="0">
                <a:latin typeface="Verdana" charset="0"/>
                <a:ea typeface="Verdana" charset="0"/>
                <a:cs typeface="Verdana" charset="0"/>
              </a:rPr>
              <a:t>To fill this gap, I intend to ...</a:t>
            </a:r>
          </a:p>
        </p:txBody>
      </p:sp>
      <p:sp>
        <p:nvSpPr>
          <p:cNvPr id="8" name="Google Shape;278;g104476d1465_1_17">
            <a:extLst>
              <a:ext uri="{FF2B5EF4-FFF2-40B4-BE49-F238E27FC236}">
                <a16:creationId xmlns:a16="http://schemas.microsoft.com/office/drawing/2014/main" id="{535320C0-DAB2-7C41-B3D0-5B31075C43FF}"/>
              </a:ext>
            </a:extLst>
          </p:cNvPr>
          <p:cNvSpPr/>
          <p:nvPr/>
        </p:nvSpPr>
        <p:spPr>
          <a:xfrm>
            <a:off x="0" y="365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a:extLst>
              <a:ext uri="{FF2B5EF4-FFF2-40B4-BE49-F238E27FC236}">
                <a16:creationId xmlns:a16="http://schemas.microsoft.com/office/drawing/2014/main" id="{A6CF0BEE-6664-DFE9-74FE-ECD37C2EB7AC}"/>
              </a:ext>
            </a:extLst>
          </p:cNvPr>
          <p:cNvSpPr txBox="1"/>
          <p:nvPr/>
        </p:nvSpPr>
        <p:spPr>
          <a:xfrm>
            <a:off x="882133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330</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id="{CEAE5ECE-DDA0-EDFD-6F0E-FC863E1CC009}"/>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8825"/>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1578</TotalTime>
  <Words>1575</Words>
  <Application>Microsoft Office PowerPoint</Application>
  <PresentationFormat>Widescreen</PresentationFormat>
  <Paragraphs>304</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Arial Black</vt:lpstr>
      <vt:lpstr>Calibri</vt:lpstr>
      <vt:lpstr>Cambria</vt:lpstr>
      <vt:lpstr>Cambria Math</vt:lpstr>
      <vt:lpstr>Century Gothic</vt:lpstr>
      <vt:lpstr>Verdana</vt:lpstr>
      <vt:lpstr>Wingdings</vt:lpstr>
      <vt:lpstr>1_Office Theme</vt:lpstr>
      <vt:lpstr>Algebra 1  Unit 14, Lesson H1  Creating Relative Frequency Tables  Volume 2, pg. 325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Try It</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28</cp:revision>
  <dcterms:created xsi:type="dcterms:W3CDTF">2015-03-17T18:51:18Z</dcterms:created>
  <dcterms:modified xsi:type="dcterms:W3CDTF">2022-07-01T15:01:02Z</dcterms:modified>
</cp:coreProperties>
</file>