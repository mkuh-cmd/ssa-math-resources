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6"/>
  </p:notesMasterIdLst>
  <p:sldIdLst>
    <p:sldId id="256" r:id="rId5"/>
    <p:sldId id="257" r:id="rId6"/>
    <p:sldId id="285" r:id="rId7"/>
    <p:sldId id="286" r:id="rId8"/>
    <p:sldId id="261" r:id="rId9"/>
    <p:sldId id="287" r:id="rId10"/>
    <p:sldId id="352" r:id="rId11"/>
    <p:sldId id="353" r:id="rId12"/>
    <p:sldId id="354" r:id="rId13"/>
    <p:sldId id="355" r:id="rId14"/>
    <p:sldId id="356" r:id="rId15"/>
    <p:sldId id="358" r:id="rId16"/>
    <p:sldId id="367" r:id="rId17"/>
    <p:sldId id="368" r:id="rId18"/>
    <p:sldId id="369" r:id="rId19"/>
    <p:sldId id="370" r:id="rId20"/>
    <p:sldId id="314" r:id="rId21"/>
    <p:sldId id="315" r:id="rId22"/>
    <p:sldId id="342" r:id="rId23"/>
    <p:sldId id="359" r:id="rId24"/>
    <p:sldId id="360" r:id="rId25"/>
    <p:sldId id="361" r:id="rId26"/>
    <p:sldId id="371" r:id="rId27"/>
    <p:sldId id="362" r:id="rId28"/>
    <p:sldId id="363" r:id="rId29"/>
    <p:sldId id="364" r:id="rId30"/>
    <p:sldId id="365" r:id="rId31"/>
    <p:sldId id="366" r:id="rId32"/>
    <p:sldId id="372" r:id="rId33"/>
    <p:sldId id="306" r:id="rId34"/>
    <p:sldId id="307"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666" autoAdjust="0"/>
    <p:restoredTop sz="94609"/>
  </p:normalViewPr>
  <p:slideViewPr>
    <p:cSldViewPr snapToGrid="0">
      <p:cViewPr>
        <p:scale>
          <a:sx n="115" d="100"/>
          <a:sy n="115" d="100"/>
        </p:scale>
        <p:origin x="-102"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85242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30802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475565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237991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82053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841741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449936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1753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701424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6512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91087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004648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071994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123260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666308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6408956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755376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58868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835915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6143692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4142806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1</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Constructing Two-Way Tables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305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xmlns=""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047850" y="1355350"/>
            <a:ext cx="96399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200" dirty="0">
                <a:latin typeface="Verdana" charset="0"/>
                <a:ea typeface="Verdana" charset="0"/>
                <a:cs typeface="Verdana" charset="0"/>
              </a:rPr>
              <a:t>MA.912.DP.3.1 </a:t>
            </a:r>
          </a:p>
          <a:p>
            <a:pPr marL="460375" indent="0">
              <a:buNone/>
            </a:pPr>
            <a:r>
              <a:rPr lang="en-US" sz="2200" dirty="0">
                <a:latin typeface="Verdana" charset="0"/>
                <a:ea typeface="Verdana" charset="0"/>
                <a:cs typeface="Verdana" charset="0"/>
              </a:rPr>
              <a:t>Construct a two-way frequency table summarizing bivariate categorical data. Interpret joint and marginal frequencies and determine possible associations in terms of a real-world context.</a:t>
            </a:r>
          </a:p>
          <a:p>
            <a:pPr marL="95250" indent="0">
              <a:buNone/>
            </a:pPr>
            <a:r>
              <a:rPr lang="en-US" sz="2200" dirty="0">
                <a:latin typeface="Verdana" charset="0"/>
                <a:ea typeface="Verdana" charset="0"/>
                <a:cs typeface="Verdana" charset="0"/>
              </a:rPr>
              <a:t>MA.912.DP.1.1 </a:t>
            </a:r>
          </a:p>
          <a:p>
            <a:pPr marL="460375" indent="0">
              <a:buNone/>
            </a:pPr>
            <a:r>
              <a:rPr lang="en-US" sz="2200" dirty="0">
                <a:latin typeface="Verdana" charset="0"/>
                <a:ea typeface="Verdana" charset="0"/>
                <a:cs typeface="Verdana" charset="0"/>
              </a:rPr>
              <a:t>Given a set of data, select an appropriate method to represent the data, depending on whether it is numerical or categorical data and on whether it is univariate or bivariate.</a:t>
            </a:r>
          </a:p>
          <a:p>
            <a:pPr marL="95250" indent="0">
              <a:buNone/>
            </a:pPr>
            <a:r>
              <a:rPr lang="en-US" sz="2200" dirty="0">
                <a:latin typeface="Verdana" charset="0"/>
                <a:ea typeface="Verdana" charset="0"/>
                <a:cs typeface="Verdana" charset="0"/>
              </a:rPr>
              <a:t>MA.912.DP.1.2 </a:t>
            </a:r>
          </a:p>
          <a:p>
            <a:pPr marL="460375" indent="0">
              <a:buNone/>
            </a:pPr>
            <a:r>
              <a:rPr lang="en-US" sz="2200" dirty="0">
                <a:latin typeface="Verdana" charset="0"/>
                <a:ea typeface="Verdana" charset="0"/>
                <a:cs typeface="Verdana" charset="0"/>
              </a:rPr>
              <a:t>Interpret data distributions represented in various ways. State whether the data is numerical or categorical, whether it is univariate or bivariate and interpret the different components and quantities in the display.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2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047849" y="1596390"/>
            <a:ext cx="959244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xmlns=""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3" name="Google Shape;282;g104476d1465_1_17">
            <a:extLst>
              <a:ext uri="{FF2B5EF4-FFF2-40B4-BE49-F238E27FC236}">
                <a16:creationId xmlns:a16="http://schemas.microsoft.com/office/drawing/2014/main" xmlns="" id="{B421BC0E-E99B-4738-C506-972B035E3BDB}"/>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41103"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58941"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106240" y="1600200"/>
            <a:ext cx="954592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73075" indent="-473075">
              <a:buFont typeface="Wingdings" charset="2"/>
              <a:buChar char="q"/>
            </a:pPr>
            <a:r>
              <a:rPr lang="en-US" sz="3200" dirty="0">
                <a:latin typeface="Verdana" charset="0"/>
                <a:ea typeface="Verdana" charset="0"/>
                <a:cs typeface="Verdana" charset="0"/>
              </a:rPr>
              <a:t>I can construct a two-way frequency table. </a:t>
            </a:r>
          </a:p>
          <a:p>
            <a:pPr marL="473075" indent="-473075">
              <a:buFont typeface="Wingdings" charset="2"/>
              <a:buChar char="q"/>
            </a:pPr>
            <a:endParaRPr lang="en-US" sz="3200" dirty="0">
              <a:latin typeface="Verdana" charset="0"/>
              <a:ea typeface="Verdana" charset="0"/>
              <a:cs typeface="Verdana" charset="0"/>
            </a:endParaRPr>
          </a:p>
          <a:p>
            <a:pPr marL="473075" indent="-473075">
              <a:buFont typeface="Wingdings" charset="2"/>
              <a:buChar char="q"/>
            </a:pPr>
            <a:r>
              <a:rPr lang="en-US" sz="3200" dirty="0">
                <a:latin typeface="Verdana" charset="0"/>
                <a:ea typeface="Verdana" charset="0"/>
                <a:cs typeface="Verdana" charset="0"/>
              </a:rPr>
              <a:t>I can determine joint and marginal frequencies in a two-way frequency table.</a:t>
            </a:r>
          </a:p>
        </p:txBody>
      </p:sp>
      <p:sp>
        <p:nvSpPr>
          <p:cNvPr id="8" name="Google Shape;278;g104476d1465_1_17">
            <a:extLst>
              <a:ext uri="{FF2B5EF4-FFF2-40B4-BE49-F238E27FC236}">
                <a16:creationId xmlns:a16="http://schemas.microsoft.com/office/drawing/2014/main" xmlns="" id="{A7D39B40-FA5F-1945-A581-51EB744FEBF3}"/>
              </a:ext>
            </a:extLst>
          </p:cNvPr>
          <p:cNvSpPr/>
          <p:nvPr/>
        </p:nvSpPr>
        <p:spPr>
          <a:xfrm>
            <a:off x="3978"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xmlns="" id="{A9209D37-FB04-91E1-B7BD-F5752EC15E11}"/>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xmlns="" id="{437B013B-D194-9CB1-C41D-4BB2049CA91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4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20694"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2949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F0F5DD2C-7C45-CDEC-5E02-9233312F7EAC}"/>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DA9A936D-971D-88B8-1B69-2039DD8480B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22697" y="60325"/>
            <a:ext cx="102982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14.1.1 Warm-Up: Percent Calculations</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471056" y="26507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843147" y="1386026"/>
                <a:ext cx="10298247" cy="4893647"/>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Newborn babies typically lose some weight in the first week after birth. Weight loss of up to </a:t>
                </a:r>
                <a14:m>
                  <m:oMath xmlns:m="http://schemas.openxmlformats.org/officeDocument/2006/math">
                    <m:r>
                      <a:rPr lang="en-US" sz="2400" i="1" dirty="0" smtClean="0">
                        <a:latin typeface="Cambria Math" panose="02040503050406030204" pitchFamily="18" charset="0"/>
                        <a:ea typeface="Verdana" charset="0"/>
                        <a:cs typeface="Verdana" charset="0"/>
                      </a:rPr>
                      <m:t>10%</m:t>
                    </m:r>
                  </m:oMath>
                </a14:m>
                <a:r>
                  <a:rPr lang="en-US" sz="2400" dirty="0">
                    <a:latin typeface="Verdana" charset="0"/>
                    <a:ea typeface="Verdana" charset="0"/>
                    <a:cs typeface="Verdana" charset="0"/>
                  </a:rPr>
                  <a:t> is common. If a newborn baby weighs </a:t>
                </a:r>
                <a14:m>
                  <m:oMath xmlns:m="http://schemas.openxmlformats.org/officeDocument/2006/math">
                    <m:r>
                      <a:rPr lang="en-US" sz="2400" i="1" dirty="0" smtClean="0">
                        <a:latin typeface="Cambria Math" panose="02040503050406030204" pitchFamily="18" charset="0"/>
                        <a:ea typeface="Verdana" charset="0"/>
                        <a:cs typeface="Verdana" charset="0"/>
                      </a:rPr>
                      <m:t>8.5</m:t>
                    </m:r>
                  </m:oMath>
                </a14:m>
                <a:r>
                  <a:rPr lang="en-US" sz="2400" dirty="0">
                    <a:latin typeface="Verdana" charset="0"/>
                    <a:ea typeface="Verdana" charset="0"/>
                    <a:cs typeface="Verdana" charset="0"/>
                  </a:rPr>
                  <a:t> pounds at birth and loses </a:t>
                </a:r>
                <a14:m>
                  <m:oMath xmlns:m="http://schemas.openxmlformats.org/officeDocument/2006/math">
                    <m:r>
                      <a:rPr lang="en-US" sz="2400" i="1" dirty="0" smtClean="0">
                        <a:latin typeface="Cambria Math" panose="02040503050406030204" pitchFamily="18" charset="0"/>
                        <a:ea typeface="Verdana" charset="0"/>
                        <a:cs typeface="Verdana" charset="0"/>
                      </a:rPr>
                      <m:t>8%</m:t>
                    </m:r>
                  </m:oMath>
                </a14:m>
                <a:r>
                  <a:rPr lang="en-US" sz="2400" dirty="0">
                    <a:latin typeface="Verdana" charset="0"/>
                    <a:ea typeface="Verdana" charset="0"/>
                    <a:cs typeface="Verdana" charset="0"/>
                  </a:rPr>
                  <a:t> of their weight in the first week of life, how many pounds does the baby lose?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Anya earned a score of </a:t>
                </a:r>
                <a14:m>
                  <m:oMath xmlns:m="http://schemas.openxmlformats.org/officeDocument/2006/math">
                    <m:r>
                      <a:rPr lang="en-US" sz="2400" i="1" dirty="0" smtClean="0">
                        <a:latin typeface="Cambria Math" panose="02040503050406030204" pitchFamily="18" charset="0"/>
                        <a:ea typeface="Verdana" charset="0"/>
                        <a:cs typeface="Verdana" charset="0"/>
                      </a:rPr>
                      <m:t>75%</m:t>
                    </m:r>
                  </m:oMath>
                </a14:m>
                <a:r>
                  <a:rPr lang="en-US" sz="2400" dirty="0">
                    <a:latin typeface="Verdana" charset="0"/>
                    <a:ea typeface="Verdana" charset="0"/>
                    <a:cs typeface="Verdana" charset="0"/>
                  </a:rPr>
                  <a:t> on her last math quiz. If she earned </a:t>
                </a:r>
                <a14:m>
                  <m:oMath xmlns:m="http://schemas.openxmlformats.org/officeDocument/2006/math">
                    <m:r>
                      <a:rPr lang="en-US" sz="2400" i="1" dirty="0" smtClean="0">
                        <a:latin typeface="Cambria Math" panose="02040503050406030204" pitchFamily="18" charset="0"/>
                        <a:ea typeface="Verdana" charset="0"/>
                        <a:cs typeface="Verdana" charset="0"/>
                      </a:rPr>
                      <m:t>18</m:t>
                    </m:r>
                  </m:oMath>
                </a14:m>
                <a:r>
                  <a:rPr lang="en-US" sz="2400" dirty="0">
                    <a:latin typeface="Verdana" charset="0"/>
                    <a:ea typeface="Verdana" charset="0"/>
                    <a:cs typeface="Verdana" charset="0"/>
                  </a:rPr>
                  <a:t> points, how many total points was the quiz worth?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r>
                  <a:rPr lang="en-US" sz="2400" dirty="0">
                    <a:latin typeface="Verdana" charset="0"/>
                    <a:ea typeface="Verdana" charset="0"/>
                    <a:cs typeface="Verdana" charset="0"/>
                  </a:rPr>
                  <a:t>Five hundred gallons of maple sap were boiled to become </a:t>
                </a:r>
                <a14:m>
                  <m:oMath xmlns:m="http://schemas.openxmlformats.org/officeDocument/2006/math">
                    <m:r>
                      <a:rPr lang="en-US" sz="2400" i="1" dirty="0" smtClean="0">
                        <a:latin typeface="Cambria Math" panose="02040503050406030204" pitchFamily="18" charset="0"/>
                        <a:ea typeface="Verdana" charset="0"/>
                        <a:cs typeface="Verdana" charset="0"/>
                      </a:rPr>
                      <m:t>12.5</m:t>
                    </m:r>
                  </m:oMath>
                </a14:m>
                <a:r>
                  <a:rPr lang="en-US" sz="2400" dirty="0">
                    <a:latin typeface="Verdana" charset="0"/>
                    <a:ea typeface="Verdana" charset="0"/>
                    <a:cs typeface="Verdana" charset="0"/>
                  </a:rPr>
                  <a:t> gallons of maple syrup. What percentage of the </a:t>
                </a:r>
                <a14:m>
                  <m:oMath xmlns:m="http://schemas.openxmlformats.org/officeDocument/2006/math">
                    <m:r>
                      <a:rPr lang="en-US" sz="2400" i="1" dirty="0" smtClean="0">
                        <a:latin typeface="Cambria Math" panose="02040503050406030204" pitchFamily="18" charset="0"/>
                        <a:ea typeface="Verdana" charset="0"/>
                        <a:cs typeface="Verdana" charset="0"/>
                      </a:rPr>
                      <m:t>500</m:t>
                    </m:r>
                  </m:oMath>
                </a14:m>
                <a:r>
                  <a:rPr lang="en-US" sz="2400" dirty="0">
                    <a:latin typeface="Verdana" charset="0"/>
                    <a:ea typeface="Verdana" charset="0"/>
                    <a:cs typeface="Verdana" charset="0"/>
                  </a:rPr>
                  <a:t> gallons of sap is the </a:t>
                </a:r>
                <a14:m>
                  <m:oMath xmlns:m="http://schemas.openxmlformats.org/officeDocument/2006/math">
                    <m:r>
                      <a:rPr lang="en-US" sz="2400" i="1" dirty="0" smtClean="0">
                        <a:latin typeface="Cambria Math" panose="02040503050406030204" pitchFamily="18" charset="0"/>
                        <a:ea typeface="Verdana" charset="0"/>
                        <a:cs typeface="Verdana" charset="0"/>
                      </a:rPr>
                      <m:t>12.5</m:t>
                    </m:r>
                  </m:oMath>
                </a14:m>
                <a:r>
                  <a:rPr lang="en-US" sz="2400" dirty="0">
                    <a:latin typeface="Verdana" charset="0"/>
                    <a:ea typeface="Verdana" charset="0"/>
                    <a:cs typeface="Verdana" charset="0"/>
                  </a:rPr>
                  <a:t> gallons of maple syrup?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43147" y="1386026"/>
                <a:ext cx="10298247" cy="4893647"/>
              </a:xfrm>
              <a:prstGeom prst="rect">
                <a:avLst/>
              </a:prstGeom>
              <a:blipFill>
                <a:blip r:embed="rId5"/>
                <a:stretch>
                  <a:fillRect l="-888" t="-996" r="-1893" b="-1743"/>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xmlns=""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xmlns="" id="{9B159A05-2238-A559-5389-6B8440FCD52C}"/>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2"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3379"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47587"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79C1A8DA-90FC-BD1D-F810-2920AD1BF493}"/>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spTree>
    <p:extLst>
      <p:ext uri="{BB962C8B-B14F-4D97-AF65-F5344CB8AC3E}">
        <p14:creationId xmlns:p14="http://schemas.microsoft.com/office/powerpoint/2010/main" val="380801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472539" y="0"/>
            <a:ext cx="10224655" cy="123984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14.1.2 Guided Instruction: Two-Way Frequency Tables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593248" y="19198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855022" y="1386026"/>
                <a:ext cx="10224655" cy="2308324"/>
              </a:xfrm>
              <a:prstGeom prst="rect">
                <a:avLst/>
              </a:prstGeom>
              <a:noFill/>
            </p:spPr>
            <p:txBody>
              <a:bodyPr wrap="square" rtlCol="0">
                <a:spAutoFit/>
              </a:bodyPr>
              <a:lstStyle/>
              <a:p>
                <a:r>
                  <a:rPr lang="en-US" sz="2400" dirty="0">
                    <a:latin typeface="Verdana" charset="0"/>
                    <a:ea typeface="Verdana" charset="0"/>
                    <a:cs typeface="Verdana" charset="0"/>
                  </a:rPr>
                  <a:t>A 2018 Pew Research Center survey of American teenagers was conducted to analyze trends in social media and technology.</a:t>
                </a:r>
              </a:p>
              <a:p>
                <a:r>
                  <a:rPr lang="en-US" sz="2400" dirty="0">
                    <a:latin typeface="Verdana" charset="0"/>
                    <a:ea typeface="Verdana" charset="0"/>
                    <a:cs typeface="Verdana" charset="0"/>
                  </a:rPr>
                  <a:t> </a:t>
                </a:r>
              </a:p>
              <a:p>
                <a14:m>
                  <m:oMath xmlns:m="http://schemas.openxmlformats.org/officeDocument/2006/math">
                    <m:r>
                      <a:rPr lang="en-US" sz="2400" i="1">
                        <a:latin typeface="Cambria Math" panose="02040503050406030204" pitchFamily="18" charset="0"/>
                        <a:ea typeface="Verdana" charset="0"/>
                        <a:cs typeface="Verdana" charset="0"/>
                      </a:rPr>
                      <m:t>741</m:t>
                    </m:r>
                  </m:oMath>
                </a14:m>
                <a:r>
                  <a:rPr lang="en-US" sz="2400" dirty="0">
                    <a:latin typeface="Verdana" charset="0"/>
                    <a:ea typeface="Verdana" charset="0"/>
                    <a:cs typeface="Verdana" charset="0"/>
                  </a:rPr>
                  <a:t> teens who use social media were asked what effect they believe social media has had on people their age (mostly positive, mostly negative, neutral).</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55022" y="1386026"/>
                <a:ext cx="10224655" cy="2308324"/>
              </a:xfrm>
              <a:prstGeom prst="rect">
                <a:avLst/>
              </a:prstGeom>
              <a:blipFill>
                <a:blip r:embed="rId5"/>
                <a:stretch>
                  <a:fillRect l="-894" t="-2111" r="-119" b="-5013"/>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xmlns="" id="{AE4FE736-A36F-DC4F-BDE9-72EF780E2083}"/>
              </a:ext>
            </a:extLst>
          </p:cNvPr>
          <p:cNvSpPr/>
          <p:nvPr/>
        </p:nvSpPr>
        <p:spPr>
          <a:xfrm>
            <a:off x="0" y="-199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xmlns="" id="{7DCC96D6-2A0A-7FD2-E143-7F90FA8F6C64}"/>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spTree>
    <p:extLst>
      <p:ext uri="{BB962C8B-B14F-4D97-AF65-F5344CB8AC3E}">
        <p14:creationId xmlns:p14="http://schemas.microsoft.com/office/powerpoint/2010/main" val="931681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843147" y="520394"/>
                <a:ext cx="10307783" cy="5637441"/>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effect of social media is</a:t>
                </a:r>
              </a:p>
              <a:p>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a:spcAft>
                    <a:spcPts val="1000"/>
                  </a:spcAft>
                </a:pPr>
                <a:r>
                  <a:rPr lang="en-US" sz="2200" dirty="0">
                    <a:latin typeface="Verdana" panose="020B0604030504040204" pitchFamily="34" charset="0"/>
                    <a:ea typeface="Verdana" panose="020B0604030504040204" pitchFamily="34" charset="0"/>
                    <a:cs typeface="Verdana" panose="020B0604030504040204" pitchFamily="34" charset="0"/>
                  </a:rPr>
                  <a:t>The data when asked what effect they believe social media has had on people their age (mostly positive, mostly negative, neutral) is summarized.</a:t>
                </a:r>
              </a:p>
              <a:p>
                <a:pPr marL="930275" indent="-457200">
                  <a:buFont typeface="Symbol" charset="2"/>
                  <a:buChar char=""/>
                </a:pPr>
                <a14:m>
                  <m:oMath xmlns:m="http://schemas.openxmlformats.org/officeDocument/2006/math">
                    <m:r>
                      <a:rPr lang="en-US" sz="2200" i="1">
                        <a:latin typeface="Cambria Math" panose="02040503050406030204" pitchFamily="18" charset="0"/>
                        <a:ea typeface="Verdana" charset="0"/>
                        <a:cs typeface="Verdana" charset="0"/>
                      </a:rPr>
                      <m:t>219</m:t>
                    </m:r>
                  </m:oMath>
                </a14:m>
                <a:r>
                  <a:rPr lang="en-US" sz="2200" dirty="0">
                    <a:latin typeface="Verdana" panose="020B0604030504040204" pitchFamily="34" charset="0"/>
                    <a:ea typeface="Verdana" panose="020B0604030504040204" pitchFamily="34" charset="0"/>
                    <a:cs typeface="Verdana" panose="020B0604030504040204" pitchFamily="34" charset="0"/>
                  </a:rPr>
                  <a:t> said the effect was mostly positive</a:t>
                </a:r>
              </a:p>
              <a:p>
                <a:pPr marL="930275" indent="-457200">
                  <a:buFont typeface="Symbol" charset="2"/>
                  <a:buChar char=""/>
                </a:pPr>
                <a14:m>
                  <m:oMath xmlns:m="http://schemas.openxmlformats.org/officeDocument/2006/math">
                    <m:r>
                      <a:rPr lang="en-US" sz="2200" i="1">
                        <a:latin typeface="Cambria Math" panose="02040503050406030204" pitchFamily="18" charset="0"/>
                        <a:ea typeface="Verdana" charset="0"/>
                        <a:cs typeface="Verdana" charset="0"/>
                      </a:rPr>
                      <m:t>211</m:t>
                    </m:r>
                  </m:oMath>
                </a14:m>
                <a:r>
                  <a:rPr lang="en-US" sz="2200" dirty="0">
                    <a:latin typeface="Verdana" panose="020B0604030504040204" pitchFamily="34" charset="0"/>
                    <a:ea typeface="Verdana" panose="020B0604030504040204" pitchFamily="34" charset="0"/>
                    <a:cs typeface="Verdana" panose="020B0604030504040204" pitchFamily="34" charset="0"/>
                  </a:rPr>
                  <a:t> said the effect was mostly negative</a:t>
                </a:r>
              </a:p>
              <a:p>
                <a:pPr marL="930275" indent="-457200">
                  <a:buFont typeface="Symbol" charset="2"/>
                  <a:buChar char=""/>
                </a:pPr>
                <a14:m>
                  <m:oMath xmlns:m="http://schemas.openxmlformats.org/officeDocument/2006/math">
                    <m:r>
                      <a:rPr lang="en-US" sz="2200" i="1">
                        <a:latin typeface="Cambria Math" panose="02040503050406030204" pitchFamily="18" charset="0"/>
                        <a:ea typeface="Verdana" charset="0"/>
                        <a:cs typeface="Verdana" charset="0"/>
                      </a:rPr>
                      <m:t>311</m:t>
                    </m:r>
                  </m:oMath>
                </a14:m>
                <a:r>
                  <a:rPr lang="en-US" sz="2200" dirty="0">
                    <a:latin typeface="Verdana" panose="020B0604030504040204" pitchFamily="34" charset="0"/>
                    <a:ea typeface="Verdana" panose="020B0604030504040204" pitchFamily="34" charset="0"/>
                    <a:cs typeface="Verdana" panose="020B0604030504040204" pitchFamily="34" charset="0"/>
                  </a:rPr>
                  <a:t> said the effect was neutral</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On the same survey, the Pew Research Center also collected data from teens on how much time they believe they spend with their friends in person (too much, too little, or about the right amount).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43147" y="520394"/>
                <a:ext cx="10307783" cy="5637441"/>
              </a:xfrm>
              <a:prstGeom prst="rect">
                <a:avLst/>
              </a:prstGeom>
              <a:blipFill>
                <a:blip r:embed="rId3"/>
                <a:stretch>
                  <a:fillRect l="-769" t="-757" r="-76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Rounded Corners 4">
            <a:extLst>
              <a:ext uri="{FF2B5EF4-FFF2-40B4-BE49-F238E27FC236}">
                <a16:creationId xmlns:a16="http://schemas.microsoft.com/office/drawing/2014/main" xmlns="" id="{10017F2A-BACF-3244-81D1-4E5D53D2DA4A}"/>
              </a:ext>
            </a:extLst>
          </p:cNvPr>
          <p:cNvSpPr/>
          <p:nvPr/>
        </p:nvSpPr>
        <p:spPr>
          <a:xfrm>
            <a:off x="5465822" y="391164"/>
            <a:ext cx="3407615" cy="829945"/>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4320" indent="-342900">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quantitative variable.</a:t>
            </a:r>
            <a:endParaRPr lang="en-US" sz="2000" dirty="0">
              <a:latin typeface="Cambria" panose="02040503050406030204" pitchFamily="18" charset="0"/>
              <a:ea typeface="Yu Mincho" panose="02020400000000000000" pitchFamily="18" charset="-128"/>
              <a:cs typeface="Cambria" panose="02040503050406030204" pitchFamily="18" charset="0"/>
            </a:endParaRPr>
          </a:p>
          <a:p>
            <a:pPr marL="274320" indent="-342900">
              <a:spcAft>
                <a:spcPts val="1000"/>
              </a:spcAft>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categorical variable.</a:t>
            </a:r>
            <a:endParaRPr lang="en-US" sz="2000" dirty="0">
              <a:latin typeface="Cambria" panose="02040503050406030204" pitchFamily="18" charset="0"/>
              <a:ea typeface="Yu Mincho" panose="02020400000000000000" pitchFamily="18" charset="-128"/>
              <a:cs typeface="Cambria" panose="02040503050406030204" pitchFamily="18" charset="0"/>
            </a:endParaRPr>
          </a:p>
        </p:txBody>
      </p:sp>
      <p:sp>
        <p:nvSpPr>
          <p:cNvPr id="7" name="Google Shape;282;g104476d1465_1_17">
            <a:extLst>
              <a:ext uri="{FF2B5EF4-FFF2-40B4-BE49-F238E27FC236}">
                <a16:creationId xmlns:a16="http://schemas.microsoft.com/office/drawing/2014/main" xmlns="" id="{1E4C6E64-2456-5FFE-FDFB-3DEAC360BC3D}"/>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B61B731A-519D-71EB-D441-EB9C5B53964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5329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43147" y="520394"/>
            <a:ext cx="10319658"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Time spent with friends in person (too much, too little, or </a:t>
            </a:r>
          </a:p>
          <a:p>
            <a:pPr marL="457200" indent="-457200">
              <a:buFont typeface="+mj-lt"/>
              <a:buAutoNum type="arabicPeriod" startAt="2"/>
            </a:pPr>
            <a:endParaRPr lang="en-US" sz="2400" dirty="0">
              <a:latin typeface="Verdana" charset="0"/>
              <a:ea typeface="Verdana" charset="0"/>
              <a:cs typeface="Verdana" charset="0"/>
            </a:endParaRPr>
          </a:p>
          <a:p>
            <a:pPr marL="460375"/>
            <a:r>
              <a:rPr lang="en-US" sz="2400" dirty="0">
                <a:latin typeface="Verdana" charset="0"/>
                <a:ea typeface="Verdana" charset="0"/>
                <a:cs typeface="Verdana" charset="0"/>
              </a:rPr>
              <a:t>just the right amount) is a  </a:t>
            </a:r>
          </a:p>
          <a:p>
            <a:pPr marL="457200" indent="-457200">
              <a:buFont typeface="+mj-lt"/>
              <a:buAutoNum type="arabicPeriod" startAt="2"/>
            </a:pPr>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Rectangle: Rounded Corners 4">
            <a:extLst>
              <a:ext uri="{FF2B5EF4-FFF2-40B4-BE49-F238E27FC236}">
                <a16:creationId xmlns:a16="http://schemas.microsoft.com/office/drawing/2014/main" xmlns="" id="{59BD655D-A11E-564C-8215-3617C372A619}"/>
              </a:ext>
            </a:extLst>
          </p:cNvPr>
          <p:cNvSpPr/>
          <p:nvPr/>
        </p:nvSpPr>
        <p:spPr>
          <a:xfrm>
            <a:off x="5606657" y="1130547"/>
            <a:ext cx="3548400" cy="843915"/>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74320" indent="-342900">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quantitative variable.</a:t>
            </a:r>
            <a:endParaRPr lang="en-US" sz="2000" dirty="0">
              <a:latin typeface="Cambria" panose="02040503050406030204" pitchFamily="18" charset="0"/>
              <a:ea typeface="Yu Mincho" panose="02020400000000000000" pitchFamily="18" charset="-128"/>
              <a:cs typeface="Cambria" panose="02040503050406030204" pitchFamily="18" charset="0"/>
            </a:endParaRPr>
          </a:p>
          <a:p>
            <a:pPr marL="274320" indent="-342900">
              <a:spcAft>
                <a:spcPts val="1000"/>
              </a:spcAft>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categorical variable.</a:t>
            </a:r>
            <a:endParaRPr lang="en-US" sz="2000" dirty="0">
              <a:latin typeface="Cambria" panose="02040503050406030204" pitchFamily="18" charset="0"/>
              <a:ea typeface="Yu Mincho" panose="02020400000000000000" pitchFamily="18" charset="-128"/>
              <a:cs typeface="Cambria" panose="02040503050406030204" pitchFamily="18" charset="0"/>
            </a:endParaRPr>
          </a:p>
        </p:txBody>
      </p:sp>
      <p:sp>
        <p:nvSpPr>
          <p:cNvPr id="8" name="Text Box 24">
            <a:extLst>
              <a:ext uri="{FF2B5EF4-FFF2-40B4-BE49-F238E27FC236}">
                <a16:creationId xmlns:a16="http://schemas.microsoft.com/office/drawing/2014/main" xmlns="" id="{6DB38F70-73B7-6948-BAFA-BDC02A16CD0E}"/>
              </a:ext>
            </a:extLst>
          </p:cNvPr>
          <p:cNvSpPr txBox="1"/>
          <p:nvPr/>
        </p:nvSpPr>
        <p:spPr>
          <a:xfrm>
            <a:off x="2291957" y="3639127"/>
            <a:ext cx="6629400" cy="1704023"/>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6"/>
                </a:solidFill>
                <a:latin typeface="Verdana" charset="0"/>
                <a:ea typeface="Verdana" charset="0"/>
                <a:cs typeface="Verdana" charset="0"/>
              </a:rPr>
              <a:t>A </a:t>
            </a:r>
            <a:r>
              <a:rPr lang="en-US" sz="2000" b="1" i="1" dirty="0">
                <a:solidFill>
                  <a:schemeClr val="accent6"/>
                </a:solidFill>
                <a:latin typeface="Verdana" charset="0"/>
                <a:ea typeface="Verdana" charset="0"/>
                <a:cs typeface="Verdana" charset="0"/>
              </a:rPr>
              <a:t>two-way frequency table</a:t>
            </a:r>
            <a:r>
              <a:rPr lang="en-US" sz="2000" dirty="0">
                <a:solidFill>
                  <a:schemeClr val="accent6"/>
                </a:solidFill>
                <a:latin typeface="Verdana" charset="0"/>
                <a:ea typeface="Verdana" charset="0"/>
                <a:cs typeface="Verdana" charset="0"/>
              </a:rPr>
              <a:t> is a display used to summarize bivariate categorical data. The table can also be called a contingency table or a joint frequency table.</a:t>
            </a:r>
          </a:p>
        </p:txBody>
      </p:sp>
      <p:sp>
        <p:nvSpPr>
          <p:cNvPr id="9" name="Google Shape;282;g104476d1465_1_17">
            <a:extLst>
              <a:ext uri="{FF2B5EF4-FFF2-40B4-BE49-F238E27FC236}">
                <a16:creationId xmlns:a16="http://schemas.microsoft.com/office/drawing/2014/main" xmlns="" id="{233954DB-FCB3-8478-C55A-BC669A3F6353}"/>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xmlns="" id="{F1AA86AC-3241-78DB-136D-03E0F772C4C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70553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43147" y="259791"/>
            <a:ext cx="10319658" cy="1200329"/>
          </a:xfrm>
          <a:prstGeom prst="rect">
            <a:avLst/>
          </a:prstGeom>
          <a:noFill/>
        </p:spPr>
        <p:txBody>
          <a:bodyPr wrap="square" rtlCol="0">
            <a:spAutoFit/>
          </a:bodyPr>
          <a:lstStyle/>
          <a:p>
            <a:pPr marL="15875" indent="-15875"/>
            <a:r>
              <a:rPr lang="en-US" sz="2400" dirty="0">
                <a:latin typeface="Verdana" charset="0"/>
                <a:ea typeface="Verdana" charset="0"/>
                <a:cs typeface="Verdana" charset="0"/>
              </a:rPr>
              <a:t>The two-way frequency table displays the results for teens when asked about the effect of social media, in addition to the results when being asked about time spent with friends in person.</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xmlns="" id="{C6BFF59F-9053-A94E-92DB-F87D926664EE}"/>
                  </a:ext>
                </a:extLst>
              </p:cNvPr>
              <p:cNvGraphicFramePr>
                <a:graphicFrameLocks noGrp="1"/>
              </p:cNvGraphicFramePr>
              <p:nvPr>
                <p:extLst>
                  <p:ext uri="{D42A27DB-BD31-4B8C-83A1-F6EECF244321}">
                    <p14:modId xmlns:p14="http://schemas.microsoft.com/office/powerpoint/2010/main" val="2591138152"/>
                  </p:ext>
                </p:extLst>
              </p:nvPr>
            </p:nvGraphicFramePr>
            <p:xfrm>
              <a:off x="1300586" y="2231136"/>
              <a:ext cx="8182252" cy="3972556"/>
            </p:xfrm>
            <a:graphic>
              <a:graphicData uri="http://schemas.openxmlformats.org/drawingml/2006/table">
                <a:tbl>
                  <a:tblPr firstRow="1" firstCol="1" bandRow="1"/>
                  <a:tblGrid>
                    <a:gridCol w="1142642">
                      <a:extLst>
                        <a:ext uri="{9D8B030D-6E8A-4147-A177-3AD203B41FA5}">
                          <a16:colId xmlns:a16="http://schemas.microsoft.com/office/drawing/2014/main" xmlns="" val="20000"/>
                        </a:ext>
                      </a:extLst>
                    </a:gridCol>
                    <a:gridCol w="1571968">
                      <a:extLst>
                        <a:ext uri="{9D8B030D-6E8A-4147-A177-3AD203B41FA5}">
                          <a16:colId xmlns:a16="http://schemas.microsoft.com/office/drawing/2014/main" xmlns="" val="20001"/>
                        </a:ext>
                      </a:extLst>
                    </a:gridCol>
                    <a:gridCol w="1510962">
                      <a:extLst>
                        <a:ext uri="{9D8B030D-6E8A-4147-A177-3AD203B41FA5}">
                          <a16:colId xmlns:a16="http://schemas.microsoft.com/office/drawing/2014/main" xmlns="" val="20002"/>
                        </a:ext>
                      </a:extLst>
                    </a:gridCol>
                    <a:gridCol w="1648178">
                      <a:extLst>
                        <a:ext uri="{9D8B030D-6E8A-4147-A177-3AD203B41FA5}">
                          <a16:colId xmlns:a16="http://schemas.microsoft.com/office/drawing/2014/main" xmlns="" val="20003"/>
                        </a:ext>
                      </a:extLst>
                    </a:gridCol>
                    <a:gridCol w="1411111">
                      <a:extLst>
                        <a:ext uri="{9D8B030D-6E8A-4147-A177-3AD203B41FA5}">
                          <a16:colId xmlns:a16="http://schemas.microsoft.com/office/drawing/2014/main" xmlns="" val="20004"/>
                        </a:ext>
                      </a:extLst>
                    </a:gridCol>
                    <a:gridCol w="897391">
                      <a:extLst>
                        <a:ext uri="{9D8B030D-6E8A-4147-A177-3AD203B41FA5}">
                          <a16:colId xmlns:a16="http://schemas.microsoft.com/office/drawing/2014/main" xmlns="" val="20005"/>
                        </a:ext>
                      </a:extLst>
                    </a:gridCol>
                  </a:tblGrid>
                  <a:tr h="238589">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9647" marR="59647"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9647" marR="59647"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a:effectLst/>
                              <a:latin typeface="Verdana" charset="0"/>
                              <a:ea typeface="Verdana" charset="0"/>
                              <a:cs typeface="Verdana" charset="0"/>
                            </a:rPr>
                            <a:t>Effect on People Your Age</a:t>
                          </a:r>
                          <a:endParaRPr lang="en-US" sz="2000">
                            <a:effectLst/>
                            <a:latin typeface="Verdana" charset="0"/>
                            <a:ea typeface="Verdana" charset="0"/>
                            <a:cs typeface="Verdana" charset="0"/>
                          </a:endParaRPr>
                        </a:p>
                      </a:txBody>
                      <a:tcPr marL="59647" marR="59647"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060397">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Negative</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740068">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22</m:t>
                                </m:r>
                              </m:oMath>
                            </m:oMathPara>
                          </a14:m>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m:t>
                                </m:r>
                              </m:oMath>
                            </m:oMathPara>
                          </a14:m>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20</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63</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40656">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87</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77</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105</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269</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690362">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110</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113</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186</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409</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536273">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219</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211</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311</m:t>
                                </m:r>
                              </m:oMath>
                            </m:oMathPara>
                          </a14:m>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741</m:t>
                                </m:r>
                              </m:oMath>
                            </m:oMathPara>
                          </a14:m>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xmlns="">
          <p:graphicFrame>
            <p:nvGraphicFramePr>
              <p:cNvPr id="8" name="Table 7">
                <a:extLst>
                  <a:ext uri="{FF2B5EF4-FFF2-40B4-BE49-F238E27FC236}">
                    <a16:creationId xmlns:a16="http://schemas.microsoft.com/office/drawing/2014/main" id="{C6BFF59F-9053-A94E-92DB-F87D926664EE}"/>
                  </a:ext>
                </a:extLst>
              </p:cNvPr>
              <p:cNvGraphicFramePr>
                <a:graphicFrameLocks noGrp="1"/>
              </p:cNvGraphicFramePr>
              <p:nvPr>
                <p:extLst>
                  <p:ext uri="{D42A27DB-BD31-4B8C-83A1-F6EECF244321}">
                    <p14:modId xmlns:p14="http://schemas.microsoft.com/office/powerpoint/2010/main" val="2591138152"/>
                  </p:ext>
                </p:extLst>
              </p:nvPr>
            </p:nvGraphicFramePr>
            <p:xfrm>
              <a:off x="1300586" y="2231136"/>
              <a:ext cx="8182252" cy="3972556"/>
            </p:xfrm>
            <a:graphic>
              <a:graphicData uri="http://schemas.openxmlformats.org/drawingml/2006/table">
                <a:tbl>
                  <a:tblPr firstRow="1" firstCol="1" bandRow="1"/>
                  <a:tblGrid>
                    <a:gridCol w="1142642">
                      <a:extLst>
                        <a:ext uri="{9D8B030D-6E8A-4147-A177-3AD203B41FA5}">
                          <a16:colId xmlns:a16="http://schemas.microsoft.com/office/drawing/2014/main" val="20000"/>
                        </a:ext>
                      </a:extLst>
                    </a:gridCol>
                    <a:gridCol w="1571968">
                      <a:extLst>
                        <a:ext uri="{9D8B030D-6E8A-4147-A177-3AD203B41FA5}">
                          <a16:colId xmlns:a16="http://schemas.microsoft.com/office/drawing/2014/main" val="20001"/>
                        </a:ext>
                      </a:extLst>
                    </a:gridCol>
                    <a:gridCol w="1510962">
                      <a:extLst>
                        <a:ext uri="{9D8B030D-6E8A-4147-A177-3AD203B41FA5}">
                          <a16:colId xmlns:a16="http://schemas.microsoft.com/office/drawing/2014/main" val="20002"/>
                        </a:ext>
                      </a:extLst>
                    </a:gridCol>
                    <a:gridCol w="1648178">
                      <a:extLst>
                        <a:ext uri="{9D8B030D-6E8A-4147-A177-3AD203B41FA5}">
                          <a16:colId xmlns:a16="http://schemas.microsoft.com/office/drawing/2014/main" val="20003"/>
                        </a:ext>
                      </a:extLst>
                    </a:gridCol>
                    <a:gridCol w="1411111">
                      <a:extLst>
                        <a:ext uri="{9D8B030D-6E8A-4147-A177-3AD203B41FA5}">
                          <a16:colId xmlns:a16="http://schemas.microsoft.com/office/drawing/2014/main" val="20004"/>
                        </a:ext>
                      </a:extLst>
                    </a:gridCol>
                    <a:gridCol w="897391">
                      <a:extLst>
                        <a:ext uri="{9D8B030D-6E8A-4147-A177-3AD203B41FA5}">
                          <a16:colId xmlns:a16="http://schemas.microsoft.com/office/drawing/2014/main" val="20005"/>
                        </a:ext>
                      </a:extLst>
                    </a:gridCol>
                  </a:tblGrid>
                  <a:tr h="30480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9647" marR="59647"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9647" marR="59647"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a:effectLst/>
                              <a:latin typeface="Verdana" charset="0"/>
                              <a:ea typeface="Verdana" charset="0"/>
                              <a:cs typeface="Verdana" charset="0"/>
                            </a:rPr>
                            <a:t>Effect on People Your Age</a:t>
                          </a:r>
                          <a:endParaRPr lang="en-US" sz="2000">
                            <a:effectLst/>
                            <a:latin typeface="Verdana" charset="0"/>
                            <a:ea typeface="Verdana" charset="0"/>
                            <a:cs typeface="Verdana" charset="0"/>
                          </a:endParaRPr>
                        </a:p>
                      </a:txBody>
                      <a:tcPr marL="59647" marR="59647"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60397">
                    <a:tc vMerge="1">
                      <a:txBody>
                        <a:bodyPr/>
                        <a:lstStyle/>
                        <a:p>
                          <a:endParaRPr lang="en-US"/>
                        </a:p>
                      </a:txBody>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Negative</a:t>
                          </a:r>
                          <a:endParaRPr lang="en-US" sz="2000" dirty="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740068">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79839" t="-194262" r="-262500" b="-25573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7037" t="-194262" r="-141111" b="-25573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15517" t="-194262" r="-64224" b="-25573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13605" t="-194262" r="-1361" b="-255738"/>
                          </a:stretch>
                        </a:blipFill>
                      </a:tcPr>
                    </a:tc>
                    <a:extLst>
                      <a:ext uri="{0D108BD9-81ED-4DB2-BD59-A6C34878D82A}">
                        <a16:rowId xmlns:a16="http://schemas.microsoft.com/office/drawing/2014/main" val="10002"/>
                      </a:ext>
                    </a:extLst>
                  </a:tr>
                  <a:tr h="640656">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79839" t="-341905" r="-262500" b="-197143"/>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7037" t="-341905" r="-141111" b="-197143"/>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15517" t="-341905" r="-64224" b="-197143"/>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13605" t="-341905" r="-1361" b="-197143"/>
                          </a:stretch>
                        </a:blipFill>
                      </a:tcPr>
                    </a:tc>
                    <a:extLst>
                      <a:ext uri="{0D108BD9-81ED-4DB2-BD59-A6C34878D82A}">
                        <a16:rowId xmlns:a16="http://schemas.microsoft.com/office/drawing/2014/main" val="10003"/>
                      </a:ext>
                    </a:extLst>
                  </a:tr>
                  <a:tr h="690362">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79839" t="-410619" r="-262500" b="-83186"/>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7037" t="-410619" r="-141111" b="-83186"/>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15517" t="-410619" r="-64224" b="-83186"/>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13605" t="-410619" r="-1361" b="-83186"/>
                          </a:stretch>
                        </a:blipFill>
                      </a:tcPr>
                    </a:tc>
                    <a:extLst>
                      <a:ext uri="{0D108BD9-81ED-4DB2-BD59-A6C34878D82A}">
                        <a16:rowId xmlns:a16="http://schemas.microsoft.com/office/drawing/2014/main" val="10004"/>
                      </a:ext>
                    </a:extLst>
                  </a:tr>
                  <a:tr h="536273">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79839" t="-655682" r="-262500" b="-681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57037" t="-655682" r="-141111" b="-681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415517" t="-655682" r="-64224" b="-6818"/>
                          </a:stretch>
                        </a:blipFill>
                      </a:tcPr>
                    </a:tc>
                    <a:tc>
                      <a:txBody>
                        <a:bodyPr/>
                        <a:lstStyle/>
                        <a:p>
                          <a:endParaRPr lang="en-US"/>
                        </a:p>
                      </a:txBody>
                      <a:tcPr marL="59647" marR="5964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813605" t="-655682" r="-1361" b="-6818"/>
                          </a:stretch>
                        </a:blipFill>
                      </a:tcPr>
                    </a:tc>
                    <a:extLst>
                      <a:ext uri="{0D108BD9-81ED-4DB2-BD59-A6C34878D82A}">
                        <a16:rowId xmlns:a16="http://schemas.microsoft.com/office/drawing/2014/main" val="10005"/>
                      </a:ext>
                    </a:extLst>
                  </a:tr>
                </a:tbl>
              </a:graphicData>
            </a:graphic>
          </p:graphicFrame>
        </mc:Fallback>
      </mc:AlternateContent>
      <p:sp>
        <p:nvSpPr>
          <p:cNvPr id="9" name="TextBox 8">
            <a:extLst>
              <a:ext uri="{FF2B5EF4-FFF2-40B4-BE49-F238E27FC236}">
                <a16:creationId xmlns:a16="http://schemas.microsoft.com/office/drawing/2014/main" xmlns="" id="{94DBD0ED-B789-1C45-BDAA-8F8EBDD81755}"/>
              </a:ext>
            </a:extLst>
          </p:cNvPr>
          <p:cNvSpPr txBox="1"/>
          <p:nvPr/>
        </p:nvSpPr>
        <p:spPr>
          <a:xfrm>
            <a:off x="1513152" y="1714103"/>
            <a:ext cx="8327136" cy="400110"/>
          </a:xfrm>
          <a:prstGeom prst="rect">
            <a:avLst/>
          </a:prstGeom>
          <a:noFill/>
        </p:spPr>
        <p:txBody>
          <a:bodyPr wrap="square" rtlCol="0">
            <a:spAutoFit/>
          </a:bodyPr>
          <a:lstStyle/>
          <a:p>
            <a:pPr algn="ctr"/>
            <a:r>
              <a:rPr lang="en-US" sz="2000" b="1" dirty="0">
                <a:latin typeface="Verdana" charset="0"/>
                <a:ea typeface="Verdana" charset="0"/>
                <a:cs typeface="Verdana" charset="0"/>
              </a:rPr>
              <a:t>Teen Social Media Survey</a:t>
            </a:r>
            <a:endParaRPr lang="en-US" sz="2000" dirty="0">
              <a:latin typeface="Verdana" charset="0"/>
              <a:ea typeface="Verdana" charset="0"/>
              <a:cs typeface="Verdana" charset="0"/>
            </a:endParaRPr>
          </a:p>
        </p:txBody>
      </p:sp>
      <p:sp>
        <p:nvSpPr>
          <p:cNvPr id="10" name="Google Shape;282;g104476d1465_1_17">
            <a:extLst>
              <a:ext uri="{FF2B5EF4-FFF2-40B4-BE49-F238E27FC236}">
                <a16:creationId xmlns:a16="http://schemas.microsoft.com/office/drawing/2014/main" xmlns="" id="{7F193625-2E3E-83C1-D995-3B15A5E7DB69}"/>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xmlns="" id="{5C7ACD39-498D-222A-6AD5-CC569BB07E9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56619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66898" y="520394"/>
            <a:ext cx="10284031" cy="5262979"/>
          </a:xfrm>
          <a:prstGeom prst="rect">
            <a:avLst/>
          </a:prstGeom>
          <a:noFill/>
        </p:spPr>
        <p:txBody>
          <a:bodyPr wrap="square" rtlCol="0">
            <a:spAutoFit/>
          </a:bodyPr>
          <a:lstStyle/>
          <a:p>
            <a:pPr marL="457200" indent="-457200">
              <a:buFont typeface="+mj-lt"/>
              <a:buAutoNum type="arabicPeriod" startAt="3"/>
            </a:pPr>
            <a:r>
              <a:rPr lang="en-US" sz="2400" dirty="0">
                <a:latin typeface="Verdana" charset="0"/>
                <a:ea typeface="Verdana" charset="0"/>
                <a:cs typeface="Verdana" charset="0"/>
              </a:rPr>
              <a:t>Circle the frequency for those who said the effect of social media was mostly positive.</a:t>
            </a: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r>
              <a:rPr lang="en-US" sz="2400" dirty="0">
                <a:latin typeface="Verdana" charset="0"/>
                <a:ea typeface="Verdana" charset="0"/>
                <a:cs typeface="Verdana" charset="0"/>
              </a:rPr>
              <a:t>Circle the frequency for those who said the effect of social media was mostly negative.</a:t>
            </a: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endParaRPr lang="en-US" sz="2400" dirty="0">
              <a:latin typeface="Verdana" charset="0"/>
              <a:ea typeface="Verdana" charset="0"/>
              <a:cs typeface="Verdana" charset="0"/>
            </a:endParaRPr>
          </a:p>
          <a:p>
            <a:pPr marL="457200" indent="-457200">
              <a:buFont typeface="+mj-lt"/>
              <a:buAutoNum type="arabicPeriod" startAt="3"/>
            </a:pPr>
            <a:r>
              <a:rPr lang="en-US" sz="2400" dirty="0">
                <a:latin typeface="Verdana" charset="0"/>
                <a:ea typeface="Verdana" charset="0"/>
                <a:cs typeface="Verdana" charset="0"/>
              </a:rPr>
              <a:t>Circle the frequency for those who said the effect of social media was neutral.</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xmlns="" id="{6E39D4AD-DDBB-CDEC-07F0-FF119D115F1D}"/>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306</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xmlns="" id="{641D0CD9-FCA9-C037-729C-65E187CDDBF5}"/>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43203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55023" y="520394"/>
            <a:ext cx="10284032" cy="3170099"/>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How many teens reported spending too much time with friends in person? Circle the value in the table.</a:t>
            </a: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r>
              <a:rPr lang="en-US" sz="2000" dirty="0">
                <a:latin typeface="Verdana" charset="0"/>
                <a:ea typeface="Verdana" charset="0"/>
                <a:cs typeface="Verdana" charset="0"/>
              </a:rPr>
              <a:t>How many teens reported spending too little time with friends in person? Circle the value in the table.</a:t>
            </a: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endParaRPr lang="en-US" sz="2000" dirty="0">
              <a:latin typeface="Verdana" charset="0"/>
              <a:ea typeface="Verdana" charset="0"/>
              <a:cs typeface="Verdana" charset="0"/>
            </a:endParaRPr>
          </a:p>
          <a:p>
            <a:pPr marL="457200" indent="-457200">
              <a:buFont typeface="+mj-lt"/>
              <a:buAutoNum type="arabicPeriod" startAt="6"/>
            </a:pPr>
            <a:r>
              <a:rPr lang="en-US" sz="2000" dirty="0">
                <a:latin typeface="Verdana" charset="0"/>
                <a:ea typeface="Verdana" charset="0"/>
                <a:cs typeface="Verdana" charset="0"/>
              </a:rPr>
              <a:t>How many teens reported spending just the right amount of time with friends in person? Circle the value in the table. </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p:cNvSpPr/>
          <p:nvPr/>
        </p:nvSpPr>
        <p:spPr>
          <a:xfrm>
            <a:off x="855022" y="4005980"/>
            <a:ext cx="10683853" cy="400110"/>
          </a:xfrm>
          <a:prstGeom prst="rect">
            <a:avLst/>
          </a:prstGeom>
        </p:spPr>
        <p:txBody>
          <a:bodyPr wrap="square">
            <a:spAutoFit/>
          </a:bodyPr>
          <a:lstStyle/>
          <a:p>
            <a:pPr marL="463550" marR="34290"/>
            <a:r>
              <a:rPr lang="en-US" sz="2000" dirty="0">
                <a:latin typeface="Verdana" charset="0"/>
                <a:ea typeface="Yu Mincho" charset="-128"/>
                <a:cs typeface="Cambria" charset="0"/>
              </a:rPr>
              <a:t>Each of the values circled is a </a:t>
            </a:r>
            <a:r>
              <a:rPr lang="en-US" sz="2000" b="1" i="1" dirty="0">
                <a:latin typeface="Verdana" charset="0"/>
                <a:ea typeface="Yu Mincho" charset="-128"/>
                <a:cs typeface="Cambria" charset="0"/>
              </a:rPr>
              <a:t>marginal frequency</a:t>
            </a:r>
            <a:r>
              <a:rPr lang="en-US" sz="2000" dirty="0">
                <a:latin typeface="Verdana" charset="0"/>
                <a:ea typeface="Yu Mincho" charset="-128"/>
                <a:cs typeface="Cambria" charset="0"/>
              </a:rPr>
              <a:t>.</a:t>
            </a:r>
            <a:endParaRPr lang="en-US" dirty="0">
              <a:latin typeface="Cambria" charset="0"/>
              <a:ea typeface="Yu Mincho" charset="-128"/>
              <a:cs typeface="Cambria" charset="0"/>
            </a:endParaRPr>
          </a:p>
        </p:txBody>
      </p:sp>
      <p:sp>
        <p:nvSpPr>
          <p:cNvPr id="7" name="Text Box 24"/>
          <p:cNvSpPr txBox="1"/>
          <p:nvPr/>
        </p:nvSpPr>
        <p:spPr>
          <a:xfrm>
            <a:off x="1389433" y="4579872"/>
            <a:ext cx="6629400" cy="1704023"/>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6"/>
                </a:solidFill>
                <a:latin typeface="Verdana" charset="0"/>
                <a:ea typeface="Verdana" charset="0"/>
                <a:cs typeface="Verdana" charset="0"/>
              </a:rPr>
              <a:t>The total frequency for one category of a categorical variable, which is the total frequency for any row or column in a two-way frequency table, is called a </a:t>
            </a:r>
            <a:r>
              <a:rPr lang="en-US" sz="2000" b="1" i="1" dirty="0">
                <a:solidFill>
                  <a:schemeClr val="accent6"/>
                </a:solidFill>
                <a:latin typeface="Verdana" charset="0"/>
                <a:ea typeface="Verdana" charset="0"/>
                <a:cs typeface="Verdana" charset="0"/>
              </a:rPr>
              <a:t>marginal frequency</a:t>
            </a:r>
            <a:r>
              <a:rPr lang="en-US" sz="2000" dirty="0">
                <a:solidFill>
                  <a:schemeClr val="accent6"/>
                </a:solidFill>
                <a:latin typeface="Verdana" charset="0"/>
                <a:ea typeface="Verdana" charset="0"/>
                <a:cs typeface="Verdana" charset="0"/>
              </a:rPr>
              <a:t>.</a:t>
            </a:r>
          </a:p>
        </p:txBody>
      </p:sp>
      <p:sp>
        <p:nvSpPr>
          <p:cNvPr id="8" name="Google Shape;282;g104476d1465_1_17">
            <a:extLst>
              <a:ext uri="{FF2B5EF4-FFF2-40B4-BE49-F238E27FC236}">
                <a16:creationId xmlns:a16="http://schemas.microsoft.com/office/drawing/2014/main" xmlns="" id="{3E00E682-DE9D-AF4F-6A67-320EC8642BB0}"/>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DDAD1479-4991-8062-245B-34B90301889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389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1965"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xmlns="" id="{2FA392D8-3ED3-7940-83A8-1451AA8A08D4}"/>
              </a:ext>
            </a:extLst>
          </p:cNvPr>
          <p:cNvSpPr txBox="1"/>
          <p:nvPr/>
        </p:nvSpPr>
        <p:spPr>
          <a:xfrm>
            <a:off x="855022" y="520394"/>
            <a:ext cx="10295907" cy="5324535"/>
          </a:xfrm>
          <a:prstGeom prst="rect">
            <a:avLst/>
          </a:prstGeom>
          <a:noFill/>
        </p:spPr>
        <p:txBody>
          <a:bodyPr wrap="square" rtlCol="0">
            <a:spAutoFit/>
          </a:bodyPr>
          <a:lstStyle/>
          <a:p>
            <a:pPr marL="457200" indent="-457200">
              <a:buFont typeface="+mj-lt"/>
              <a:buAutoNum type="arabicPeriod" startAt="9"/>
            </a:pPr>
            <a:r>
              <a:rPr lang="en-US" sz="2000" dirty="0">
                <a:latin typeface="Verdana" charset="0"/>
                <a:ea typeface="Verdana" charset="0"/>
                <a:cs typeface="Verdana" charset="0"/>
              </a:rPr>
              <a:t>How many people reported that the effect of social media is mostly positive </a:t>
            </a:r>
            <a:r>
              <a:rPr lang="en-US" sz="2000" b="1" dirty="0">
                <a:latin typeface="Verdana" charset="0"/>
                <a:ea typeface="Verdana" charset="0"/>
                <a:cs typeface="Verdana" charset="0"/>
              </a:rPr>
              <a:t>and</a:t>
            </a:r>
            <a:r>
              <a:rPr lang="en-US" sz="2000" dirty="0">
                <a:latin typeface="Verdana" charset="0"/>
                <a:ea typeface="Verdana" charset="0"/>
                <a:cs typeface="Verdana" charset="0"/>
              </a:rPr>
              <a:t> reported that they spend too much time with friends in person? </a:t>
            </a: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r>
              <a:rPr lang="en-US" sz="2000" dirty="0">
                <a:latin typeface="Verdana" charset="0"/>
                <a:ea typeface="Verdana" charset="0"/>
                <a:cs typeface="Verdana" charset="0"/>
              </a:rPr>
              <a:t>How many people reported that the effect of social media is mostly negative </a:t>
            </a:r>
            <a:r>
              <a:rPr lang="en-US" sz="2000" b="1" dirty="0">
                <a:latin typeface="Verdana" charset="0"/>
                <a:ea typeface="Verdana" charset="0"/>
                <a:cs typeface="Verdana" charset="0"/>
              </a:rPr>
              <a:t>and</a:t>
            </a:r>
            <a:r>
              <a:rPr lang="en-US" sz="2000" dirty="0">
                <a:latin typeface="Verdana" charset="0"/>
                <a:ea typeface="Verdana" charset="0"/>
                <a:cs typeface="Verdana" charset="0"/>
              </a:rPr>
              <a:t> reported that they spend too much time with friends in person? </a:t>
            </a: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endParaRPr lang="en-US" sz="2000" dirty="0">
              <a:latin typeface="Verdana" charset="0"/>
              <a:ea typeface="Verdana" charset="0"/>
              <a:cs typeface="Verdana" charset="0"/>
            </a:endParaRPr>
          </a:p>
          <a:p>
            <a:pPr marL="457200" indent="-457200">
              <a:buFont typeface="+mj-lt"/>
              <a:buAutoNum type="arabicPeriod" startAt="9"/>
            </a:pPr>
            <a:r>
              <a:rPr lang="en-US" sz="2000" dirty="0">
                <a:latin typeface="Verdana" charset="0"/>
                <a:ea typeface="Verdana" charset="0"/>
                <a:cs typeface="Verdana" charset="0"/>
              </a:rPr>
              <a:t>How many people reported that the effect of social media is mostly negative </a:t>
            </a:r>
            <a:r>
              <a:rPr lang="en-US" sz="2000" b="1" dirty="0">
                <a:latin typeface="Verdana" charset="0"/>
                <a:ea typeface="Verdana" charset="0"/>
                <a:cs typeface="Verdana" charset="0"/>
              </a:rPr>
              <a:t>and</a:t>
            </a:r>
            <a:r>
              <a:rPr lang="en-US" sz="2000" dirty="0">
                <a:latin typeface="Verdana" charset="0"/>
                <a:ea typeface="Verdana" charset="0"/>
                <a:cs typeface="Verdana" charset="0"/>
              </a:rPr>
              <a:t> reported that they spend too little time with friends in person? </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3538"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xmlns="" id="{FFF3EB2D-F254-1784-4123-9A64C36F764F}"/>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spTree>
    <p:extLst>
      <p:ext uri="{BB962C8B-B14F-4D97-AF65-F5344CB8AC3E}">
        <p14:creationId xmlns:p14="http://schemas.microsoft.com/office/powerpoint/2010/main" val="66331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66898" y="2665282"/>
            <a:ext cx="10284032" cy="1938992"/>
          </a:xfrm>
          <a:prstGeom prst="rect">
            <a:avLst/>
          </a:prstGeom>
          <a:noFill/>
        </p:spPr>
        <p:txBody>
          <a:bodyPr wrap="square" rtlCol="0">
            <a:spAutoFit/>
          </a:bodyPr>
          <a:lstStyle/>
          <a:p>
            <a:pPr marL="457200" indent="-457200">
              <a:buFont typeface="+mj-lt"/>
              <a:buAutoNum type="arabicPeriod" startAt="12"/>
            </a:pPr>
            <a:r>
              <a:rPr lang="en-US" sz="2000" dirty="0">
                <a:latin typeface="Verdana" charset="0"/>
                <a:ea typeface="Verdana" charset="0"/>
                <a:cs typeface="Verdana" charset="0"/>
              </a:rPr>
              <a:t>Draw a box around each joint frequency in the table. </a:t>
            </a:r>
          </a:p>
          <a:p>
            <a:pPr marL="457200" indent="-457200">
              <a:buFont typeface="+mj-lt"/>
              <a:buAutoNum type="arabicPeriod" startAt="12"/>
            </a:pPr>
            <a:endParaRPr lang="en-US" sz="2000" dirty="0">
              <a:latin typeface="Verdana" charset="0"/>
              <a:ea typeface="Verdana" charset="0"/>
              <a:cs typeface="Verdana" charset="0"/>
            </a:endParaRPr>
          </a:p>
          <a:p>
            <a:pPr marL="457200" indent="-457200">
              <a:buFont typeface="+mj-lt"/>
              <a:buAutoNum type="arabicPeriod" startAt="12"/>
            </a:pPr>
            <a:endParaRPr lang="en-US" sz="2000" dirty="0">
              <a:latin typeface="Verdana" charset="0"/>
              <a:ea typeface="Verdana" charset="0"/>
              <a:cs typeface="Verdana" charset="0"/>
            </a:endParaRPr>
          </a:p>
          <a:p>
            <a:pPr marL="457200" indent="-457200">
              <a:buFont typeface="+mj-lt"/>
              <a:buAutoNum type="arabicPeriod" startAt="12"/>
            </a:pPr>
            <a:r>
              <a:rPr lang="en-US" sz="2000" dirty="0">
                <a:latin typeface="Verdana" charset="0"/>
                <a:ea typeface="Verdana" charset="0"/>
                <a:cs typeface="Verdana" charset="0"/>
              </a:rPr>
              <a:t>What percentage of respondents reported that the effect of social media is mostly positive </a:t>
            </a:r>
            <a:r>
              <a:rPr lang="en-US" sz="2000" b="1" dirty="0">
                <a:latin typeface="Verdana" charset="0"/>
                <a:ea typeface="Verdana" charset="0"/>
                <a:cs typeface="Verdana" charset="0"/>
              </a:rPr>
              <a:t>and</a:t>
            </a:r>
            <a:r>
              <a:rPr lang="en-US" sz="2000" dirty="0">
                <a:latin typeface="Verdana" charset="0"/>
                <a:ea typeface="Verdana" charset="0"/>
                <a:cs typeface="Verdana" charset="0"/>
              </a:rPr>
              <a:t> reported that they spend too much time with friends in person?</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24"/>
          <p:cNvSpPr txBox="1"/>
          <p:nvPr/>
        </p:nvSpPr>
        <p:spPr>
          <a:xfrm>
            <a:off x="1479744" y="493294"/>
            <a:ext cx="6629400" cy="1487907"/>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chemeClr val="accent6"/>
                </a:solidFill>
                <a:latin typeface="Verdana" charset="0"/>
                <a:ea typeface="Verdana" charset="0"/>
                <a:cs typeface="Verdana" charset="0"/>
              </a:rPr>
              <a:t>In a two-way table, a </a:t>
            </a:r>
            <a:r>
              <a:rPr lang="en-US" sz="2000" b="1" i="1" dirty="0">
                <a:solidFill>
                  <a:schemeClr val="accent6"/>
                </a:solidFill>
                <a:latin typeface="Verdana" charset="0"/>
                <a:ea typeface="Verdana" charset="0"/>
                <a:cs typeface="Verdana" charset="0"/>
              </a:rPr>
              <a:t>joint frequency</a:t>
            </a:r>
            <a:r>
              <a:rPr lang="en-US" sz="2000" dirty="0">
                <a:solidFill>
                  <a:schemeClr val="accent6"/>
                </a:solidFill>
                <a:latin typeface="Verdana" charset="0"/>
                <a:ea typeface="Verdana" charset="0"/>
                <a:cs typeface="Verdana" charset="0"/>
              </a:rPr>
              <a:t> is the number of times a combination of two conditions occurs. </a:t>
            </a:r>
          </a:p>
        </p:txBody>
      </p:sp>
      <p:pic>
        <p:nvPicPr>
          <p:cNvPr id="3" name="Picture 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833389" y="802760"/>
            <a:ext cx="530352" cy="542544"/>
          </a:xfrm>
          <a:prstGeom prst="rect">
            <a:avLst/>
          </a:prstGeom>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xmlns="" id="{50626D24-8EDF-DF46-98C2-D9111C7A46CF}"/>
              </a:ext>
            </a:extLst>
          </p:cNvPr>
          <p:cNvSpPr>
            <a:spLocks noChangeAspect="1"/>
          </p:cNvSpPr>
          <p:nvPr/>
        </p:nvSpPr>
        <p:spPr>
          <a:xfrm>
            <a:off x="4985067" y="4701751"/>
            <a:ext cx="914400" cy="61023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Connector 10">
            <a:extLst>
              <a:ext uri="{FF2B5EF4-FFF2-40B4-BE49-F238E27FC236}">
                <a16:creationId xmlns:a16="http://schemas.microsoft.com/office/drawing/2014/main" xmlns="" id="{808629BF-2FF5-CD4B-872A-3A037E24508F}"/>
              </a:ext>
            </a:extLst>
          </p:cNvPr>
          <p:cNvCxnSpPr/>
          <p:nvPr/>
        </p:nvCxnSpPr>
        <p:spPr>
          <a:xfrm>
            <a:off x="4788535" y="5409464"/>
            <a:ext cx="130746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2D688954-4715-7A4F-BA44-9EAD155B71A7}"/>
              </a:ext>
            </a:extLst>
          </p:cNvPr>
          <p:cNvSpPr>
            <a:spLocks/>
          </p:cNvSpPr>
          <p:nvPr/>
        </p:nvSpPr>
        <p:spPr>
          <a:xfrm>
            <a:off x="4983060" y="5572721"/>
            <a:ext cx="914400" cy="61214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5" name="Text Box 420">
                <a:extLst>
                  <a:ext uri="{FF2B5EF4-FFF2-40B4-BE49-F238E27FC236}">
                    <a16:creationId xmlns:a16="http://schemas.microsoft.com/office/drawing/2014/main" xmlns="" id="{FFE16856-771B-954D-9CF6-31B9A9C04E17}"/>
                  </a:ext>
                </a:extLst>
              </p:cNvPr>
              <p:cNvSpPr txBox="1"/>
              <p:nvPr/>
            </p:nvSpPr>
            <p:spPr>
              <a:xfrm>
                <a:off x="5996380" y="5046154"/>
                <a:ext cx="1149985" cy="6908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ea typeface="Yu Mincho" panose="02020400000000000000" pitchFamily="18" charset="-128"/>
                          <a:cs typeface="Cambria" panose="02040503050406030204" pitchFamily="18" charset="0"/>
                        </a:rPr>
                        <m:t>=</m:t>
                      </m:r>
                    </m:oMath>
                  </m:oMathPara>
                </a14:m>
                <a:endParaRPr lang="en-US" sz="1200">
                  <a:latin typeface="Cambria" panose="02040503050406030204" pitchFamily="18" charset="0"/>
                  <a:ea typeface="Yu Mincho" panose="02020400000000000000" pitchFamily="18" charset="-128"/>
                  <a:cs typeface="Cambria" panose="02040503050406030204" pitchFamily="18" charset="0"/>
                </a:endParaRPr>
              </a:p>
            </p:txBody>
          </p:sp>
        </mc:Choice>
        <mc:Fallback xmlns="">
          <p:sp>
            <p:nvSpPr>
              <p:cNvPr id="15" name="Text Box 420">
                <a:extLst>
                  <a:ext uri="{FF2B5EF4-FFF2-40B4-BE49-F238E27FC236}">
                    <a16:creationId xmlns:a16="http://schemas.microsoft.com/office/drawing/2014/main" id="{FFE16856-771B-954D-9CF6-31B9A9C04E17}"/>
                  </a:ext>
                </a:extLst>
              </p:cNvPr>
              <p:cNvSpPr txBox="1">
                <a:spLocks noRot="1" noChangeAspect="1" noMove="1" noResize="1" noEditPoints="1" noAdjustHandles="1" noChangeArrowheads="1" noChangeShapeType="1" noTextEdit="1"/>
              </p:cNvSpPr>
              <p:nvPr/>
            </p:nvSpPr>
            <p:spPr>
              <a:xfrm>
                <a:off x="5996380" y="5046154"/>
                <a:ext cx="1149985" cy="690880"/>
              </a:xfrm>
              <a:prstGeom prst="rect">
                <a:avLst/>
              </a:prstGeom>
              <a:blipFill>
                <a:blip r:embed="rId4"/>
                <a:stretch>
                  <a:fillRect/>
                </a:stretch>
              </a:blipFill>
              <a:ln w="6350">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xmlns="" id="{D0C09983-B043-774E-BDE7-A26A0040885C}"/>
              </a:ext>
            </a:extLst>
          </p:cNvPr>
          <p:cNvSpPr txBox="1"/>
          <p:nvPr/>
        </p:nvSpPr>
        <p:spPr>
          <a:xfrm>
            <a:off x="2184401" y="4792134"/>
            <a:ext cx="184731" cy="307777"/>
          </a:xfrm>
          <a:prstGeom prst="rect">
            <a:avLst/>
          </a:prstGeom>
          <a:noFill/>
        </p:spPr>
        <p:txBody>
          <a:bodyPr wrap="none" rtlCol="0">
            <a:spAutoFit/>
          </a:bodyPr>
          <a:lstStyle/>
          <a:p>
            <a:endParaRPr lang="en-US" dirty="0"/>
          </a:p>
        </p:txBody>
      </p:sp>
      <p:sp>
        <p:nvSpPr>
          <p:cNvPr id="16" name="Google Shape;282;g104476d1465_1_17">
            <a:extLst>
              <a:ext uri="{FF2B5EF4-FFF2-40B4-BE49-F238E27FC236}">
                <a16:creationId xmlns:a16="http://schemas.microsoft.com/office/drawing/2014/main" xmlns="" id="{77C83881-05D4-8597-A419-8291B5D5FB8F}"/>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17" name="Google Shape;283;g104476d1465_1_17">
            <a:extLst>
              <a:ext uri="{FF2B5EF4-FFF2-40B4-BE49-F238E27FC236}">
                <a16:creationId xmlns:a16="http://schemas.microsoft.com/office/drawing/2014/main" xmlns="" id="{EE4B8359-53B4-6B3E-BDCE-7258FAE45850}"/>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937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66898" y="520394"/>
            <a:ext cx="10236531" cy="1200329"/>
          </a:xfrm>
          <a:prstGeom prst="rect">
            <a:avLst/>
          </a:prstGeom>
          <a:noFill/>
        </p:spPr>
        <p:txBody>
          <a:bodyPr wrap="square" rtlCol="0">
            <a:spAutoFit/>
          </a:bodyPr>
          <a:lstStyle/>
          <a:p>
            <a:pPr marL="457200" indent="-457200">
              <a:buFont typeface="+mj-lt"/>
              <a:buAutoNum type="arabicPeriod" startAt="14"/>
            </a:pPr>
            <a:r>
              <a:rPr lang="en-US" sz="2400" dirty="0">
                <a:latin typeface="Verdana" charset="0"/>
                <a:ea typeface="Verdana" charset="0"/>
                <a:cs typeface="Verdana" charset="0"/>
              </a:rPr>
              <a:t>What percentage of respondents reported the effect of social media is mostly negative </a:t>
            </a:r>
            <a:r>
              <a:rPr lang="en-US" sz="2400" b="1" dirty="0">
                <a:latin typeface="Verdana" charset="0"/>
                <a:ea typeface="Verdana" charset="0"/>
                <a:cs typeface="Verdana" charset="0"/>
              </a:rPr>
              <a:t>and</a:t>
            </a:r>
            <a:r>
              <a:rPr lang="en-US" sz="2400" dirty="0">
                <a:latin typeface="Verdana" charset="0"/>
                <a:ea typeface="Verdana" charset="0"/>
                <a:cs typeface="Verdana" charset="0"/>
              </a:rPr>
              <a:t> reported that they spend too much time with friends in person?</a:t>
            </a:r>
          </a:p>
        </p:txBody>
      </p:sp>
      <p:sp>
        <p:nvSpPr>
          <p:cNvPr id="6" name="Google Shape;278;g104476d1465_1_17">
            <a:extLst>
              <a:ext uri="{FF2B5EF4-FFF2-40B4-BE49-F238E27FC236}">
                <a16:creationId xmlns:a16="http://schemas.microsoft.com/office/drawing/2014/main" xmlns="" id="{D351BC34-60FF-984A-AE0C-5354282DEDAC}"/>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 Box 24"/>
          <p:cNvSpPr txBox="1"/>
          <p:nvPr/>
        </p:nvSpPr>
        <p:spPr>
          <a:xfrm>
            <a:off x="2319980" y="4189427"/>
            <a:ext cx="6629400" cy="1521772"/>
          </a:xfrm>
          <a:prstGeom prst="roundRect">
            <a:avLst/>
          </a:prstGeom>
          <a:solidFill>
            <a:srgbClr val="E2EFD4"/>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chemeClr val="accent6"/>
                </a:solidFill>
                <a:latin typeface="Verdana" charset="0"/>
                <a:ea typeface="Verdana" charset="0"/>
                <a:cs typeface="Verdana" charset="0"/>
              </a:rPr>
              <a:t>In a two-way table, a </a:t>
            </a:r>
            <a:r>
              <a:rPr lang="en-US" sz="2000" b="1" i="1" dirty="0">
                <a:solidFill>
                  <a:schemeClr val="accent6"/>
                </a:solidFill>
                <a:latin typeface="Verdana" charset="0"/>
                <a:ea typeface="Verdana" charset="0"/>
                <a:cs typeface="Verdana" charset="0"/>
              </a:rPr>
              <a:t>joint relative frequency</a:t>
            </a:r>
            <a:r>
              <a:rPr lang="en-US" sz="2000" dirty="0">
                <a:solidFill>
                  <a:schemeClr val="accent6"/>
                </a:solidFill>
                <a:latin typeface="Verdana" charset="0"/>
                <a:ea typeface="Verdana" charset="0"/>
                <a:cs typeface="Verdana" charset="0"/>
              </a:rPr>
              <a:t> is the ratio of the joint frequency and the total number of data points. </a:t>
            </a:r>
          </a:p>
        </p:txBody>
      </p:sp>
      <p:pic>
        <p:nvPicPr>
          <p:cNvPr id="9" name="Picture 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620092" y="4296305"/>
            <a:ext cx="530352" cy="542544"/>
          </a:xfrm>
          <a:prstGeom prst="rect">
            <a:avLst/>
          </a:prstGeom>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xmlns="" id="{C20509C8-DFF6-BA4C-BE34-F0211714B272}"/>
              </a:ext>
            </a:extLst>
          </p:cNvPr>
          <p:cNvSpPr>
            <a:spLocks noChangeAspect="1"/>
          </p:cNvSpPr>
          <p:nvPr/>
        </p:nvSpPr>
        <p:spPr>
          <a:xfrm>
            <a:off x="3971633" y="1803728"/>
            <a:ext cx="914400" cy="61023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Connector 10">
            <a:extLst>
              <a:ext uri="{FF2B5EF4-FFF2-40B4-BE49-F238E27FC236}">
                <a16:creationId xmlns:a16="http://schemas.microsoft.com/office/drawing/2014/main" xmlns="" id="{57BE0B81-0D8D-CA4F-BCBC-B6ED5E3B8940}"/>
              </a:ext>
            </a:extLst>
          </p:cNvPr>
          <p:cNvCxnSpPr/>
          <p:nvPr/>
        </p:nvCxnSpPr>
        <p:spPr>
          <a:xfrm>
            <a:off x="3792553" y="2519718"/>
            <a:ext cx="130746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xmlns="" id="{1D518673-5DAF-B54C-9958-99E6B5551552}"/>
              </a:ext>
            </a:extLst>
          </p:cNvPr>
          <p:cNvSpPr>
            <a:spLocks/>
          </p:cNvSpPr>
          <p:nvPr/>
        </p:nvSpPr>
        <p:spPr>
          <a:xfrm>
            <a:off x="3979759" y="2625474"/>
            <a:ext cx="914400" cy="61214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15" name="Text Box 420">
                <a:extLst>
                  <a:ext uri="{FF2B5EF4-FFF2-40B4-BE49-F238E27FC236}">
                    <a16:creationId xmlns:a16="http://schemas.microsoft.com/office/drawing/2014/main" xmlns="" id="{8DBB1E45-16D9-9849-8D36-E94CAE452067}"/>
                  </a:ext>
                </a:extLst>
              </p:cNvPr>
              <p:cNvSpPr txBox="1"/>
              <p:nvPr/>
            </p:nvSpPr>
            <p:spPr>
              <a:xfrm>
                <a:off x="4946015" y="2174278"/>
                <a:ext cx="1149985" cy="6908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ea typeface="Yu Mincho" panose="02020400000000000000" pitchFamily="18" charset="-128"/>
                          <a:cs typeface="Cambria" panose="02040503050406030204" pitchFamily="18" charset="0"/>
                        </a:rPr>
                        <m:t>=</m:t>
                      </m:r>
                    </m:oMath>
                  </m:oMathPara>
                </a14:m>
                <a:endParaRPr lang="en-US" sz="1200" dirty="0">
                  <a:latin typeface="Cambria" panose="02040503050406030204" pitchFamily="18" charset="0"/>
                  <a:ea typeface="Yu Mincho" panose="02020400000000000000" pitchFamily="18" charset="-128"/>
                  <a:cs typeface="Cambria" panose="02040503050406030204" pitchFamily="18" charset="0"/>
                </a:endParaRPr>
              </a:p>
            </p:txBody>
          </p:sp>
        </mc:Choice>
        <mc:Fallback xmlns="">
          <p:sp>
            <p:nvSpPr>
              <p:cNvPr id="15" name="Text Box 420">
                <a:extLst>
                  <a:ext uri="{FF2B5EF4-FFF2-40B4-BE49-F238E27FC236}">
                    <a16:creationId xmlns:a16="http://schemas.microsoft.com/office/drawing/2014/main" id="{8DBB1E45-16D9-9849-8D36-E94CAE452067}"/>
                  </a:ext>
                </a:extLst>
              </p:cNvPr>
              <p:cNvSpPr txBox="1">
                <a:spLocks noRot="1" noChangeAspect="1" noMove="1" noResize="1" noEditPoints="1" noAdjustHandles="1" noChangeArrowheads="1" noChangeShapeType="1" noTextEdit="1"/>
              </p:cNvSpPr>
              <p:nvPr/>
            </p:nvSpPr>
            <p:spPr>
              <a:xfrm>
                <a:off x="4946015" y="2174278"/>
                <a:ext cx="1149985" cy="690880"/>
              </a:xfrm>
              <a:prstGeom prst="rect">
                <a:avLst/>
              </a:prstGeom>
              <a:blipFill>
                <a:blip r:embed="rId4"/>
                <a:stretch>
                  <a:fillRect/>
                </a:stretch>
              </a:blipFill>
              <a:ln w="6350">
                <a:noFill/>
              </a:ln>
            </p:spPr>
            <p:txBody>
              <a:bodyPr/>
              <a:lstStyle/>
              <a:p>
                <a:r>
                  <a:rPr lang="en-US">
                    <a:noFill/>
                  </a:rPr>
                  <a:t> </a:t>
                </a:r>
              </a:p>
            </p:txBody>
          </p:sp>
        </mc:Fallback>
      </mc:AlternateContent>
      <p:sp>
        <p:nvSpPr>
          <p:cNvPr id="16" name="TextBox 15">
            <a:extLst>
              <a:ext uri="{FF2B5EF4-FFF2-40B4-BE49-F238E27FC236}">
                <a16:creationId xmlns:a16="http://schemas.microsoft.com/office/drawing/2014/main" xmlns="" id="{305E1F60-76F6-B940-BC00-4ED11CC62FD4}"/>
              </a:ext>
            </a:extLst>
          </p:cNvPr>
          <p:cNvSpPr txBox="1"/>
          <p:nvPr/>
        </p:nvSpPr>
        <p:spPr>
          <a:xfrm>
            <a:off x="2319980" y="1649840"/>
            <a:ext cx="184731" cy="307777"/>
          </a:xfrm>
          <a:prstGeom prst="rect">
            <a:avLst/>
          </a:prstGeom>
          <a:noFill/>
        </p:spPr>
        <p:txBody>
          <a:bodyPr wrap="none" rtlCol="0">
            <a:spAutoFit/>
          </a:bodyPr>
          <a:lstStyle/>
          <a:p>
            <a:endParaRPr lang="en-US" dirty="0"/>
          </a:p>
        </p:txBody>
      </p:sp>
      <p:sp>
        <p:nvSpPr>
          <p:cNvPr id="17" name="Google Shape;282;g104476d1465_1_17">
            <a:extLst>
              <a:ext uri="{FF2B5EF4-FFF2-40B4-BE49-F238E27FC236}">
                <a16:creationId xmlns:a16="http://schemas.microsoft.com/office/drawing/2014/main" xmlns="" id="{2086CD8F-DFAD-9D6F-4671-D794B74BB055}"/>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307</a:t>
            </a:r>
            <a:endParaRPr i="1" dirty="0">
              <a:latin typeface="Calibri"/>
              <a:ea typeface="Calibri"/>
              <a:cs typeface="Calibri"/>
              <a:sym typeface="Calibri"/>
            </a:endParaRPr>
          </a:p>
        </p:txBody>
      </p:sp>
      <p:pic>
        <p:nvPicPr>
          <p:cNvPr id="18" name="Google Shape;283;g104476d1465_1_17">
            <a:extLst>
              <a:ext uri="{FF2B5EF4-FFF2-40B4-BE49-F238E27FC236}">
                <a16:creationId xmlns:a16="http://schemas.microsoft.com/office/drawing/2014/main" xmlns="" id="{EFDB2F22-B701-A1B9-2736-1D74E5143021}"/>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45346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1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89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xmlns="" id="{75EA8A9E-8741-A199-5A59-CEF806DCDACC}"/>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9C210266-BD30-41AB-60F6-929F42803EA5}"/>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508166" y="60325"/>
            <a:ext cx="103809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14.1.3 Collaboration: Interpreting a Two-Way Table</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0779" y="22838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855022" y="1386026"/>
            <a:ext cx="10284033" cy="1200329"/>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With your partner, use the two-way frequency table to determine if each statement in the table is true or false. If a statement is false, correct the statement to make it true. </a:t>
            </a:r>
          </a:p>
        </p:txBody>
      </p:sp>
      <p:sp>
        <p:nvSpPr>
          <p:cNvPr id="11" name="Google Shape;278;g104476d1465_1_17">
            <a:extLst>
              <a:ext uri="{FF2B5EF4-FFF2-40B4-BE49-F238E27FC236}">
                <a16:creationId xmlns:a16="http://schemas.microsoft.com/office/drawing/2014/main" xmlns="" id="{EC2600D5-FE51-9C45-B0CD-9B63FA1854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374157962"/>
                  </p:ext>
                </p:extLst>
              </p:nvPr>
            </p:nvGraphicFramePr>
            <p:xfrm>
              <a:off x="1734651" y="3361872"/>
              <a:ext cx="7886701" cy="2838728"/>
            </p:xfrm>
            <a:graphic>
              <a:graphicData uri="http://schemas.openxmlformats.org/drawingml/2006/table">
                <a:tbl>
                  <a:tblPr firstRow="1" firstCol="1" bandRow="1"/>
                  <a:tblGrid>
                    <a:gridCol w="1173707">
                      <a:extLst>
                        <a:ext uri="{9D8B030D-6E8A-4147-A177-3AD203B41FA5}">
                          <a16:colId xmlns:a16="http://schemas.microsoft.com/office/drawing/2014/main" xmlns="" val="20000"/>
                        </a:ext>
                      </a:extLst>
                    </a:gridCol>
                    <a:gridCol w="1626124">
                      <a:extLst>
                        <a:ext uri="{9D8B030D-6E8A-4147-A177-3AD203B41FA5}">
                          <a16:colId xmlns:a16="http://schemas.microsoft.com/office/drawing/2014/main" xmlns="" val="20001"/>
                        </a:ext>
                      </a:extLst>
                    </a:gridCol>
                    <a:gridCol w="1301563">
                      <a:extLst>
                        <a:ext uri="{9D8B030D-6E8A-4147-A177-3AD203B41FA5}">
                          <a16:colId xmlns:a16="http://schemas.microsoft.com/office/drawing/2014/main" xmlns="" val="20002"/>
                        </a:ext>
                      </a:extLst>
                    </a:gridCol>
                    <a:gridCol w="1524000">
                      <a:extLst>
                        <a:ext uri="{9D8B030D-6E8A-4147-A177-3AD203B41FA5}">
                          <a16:colId xmlns:a16="http://schemas.microsoft.com/office/drawing/2014/main" xmlns="" val="20003"/>
                        </a:ext>
                      </a:extLst>
                    </a:gridCol>
                    <a:gridCol w="1343378">
                      <a:extLst>
                        <a:ext uri="{9D8B030D-6E8A-4147-A177-3AD203B41FA5}">
                          <a16:colId xmlns:a16="http://schemas.microsoft.com/office/drawing/2014/main" xmlns="" val="20004"/>
                        </a:ext>
                      </a:extLst>
                    </a:gridCol>
                    <a:gridCol w="917929">
                      <a:extLst>
                        <a:ext uri="{9D8B030D-6E8A-4147-A177-3AD203B41FA5}">
                          <a16:colId xmlns:a16="http://schemas.microsoft.com/office/drawing/2014/main" xmlns="" val="20005"/>
                        </a:ext>
                      </a:extLst>
                    </a:gridCol>
                  </a:tblGrid>
                  <a:tr h="234001">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500" marR="58500"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500" marR="58500"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500" marR="5850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040004">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37862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22</m:t>
                                </m:r>
                              </m:oMath>
                            </m:oMathPara>
                          </a14:m>
                          <a:endParaRPr lang="en-US" sz="2000" dirty="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20</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63</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7862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87</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77</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105</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269</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85668">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110</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113</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186</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409</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351002">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219</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211</m:t>
                                </m:r>
                              </m:oMath>
                            </m:oMathPara>
                          </a14:m>
                          <a:endParaRPr lang="en-US" sz="2000" dirty="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311</m:t>
                                </m:r>
                              </m:oMath>
                            </m:oMathPara>
                          </a14:m>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741</m:t>
                                </m:r>
                              </m:oMath>
                            </m:oMathPara>
                          </a14:m>
                          <a:endParaRPr lang="en-US" sz="2000" dirty="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374157962"/>
                  </p:ext>
                </p:extLst>
              </p:nvPr>
            </p:nvGraphicFramePr>
            <p:xfrm>
              <a:off x="1734651" y="3361872"/>
              <a:ext cx="7886701" cy="2838728"/>
            </p:xfrm>
            <a:graphic>
              <a:graphicData uri="http://schemas.openxmlformats.org/drawingml/2006/table">
                <a:tbl>
                  <a:tblPr firstRow="1" firstCol="1" bandRow="1"/>
                  <a:tblGrid>
                    <a:gridCol w="1173707">
                      <a:extLst>
                        <a:ext uri="{9D8B030D-6E8A-4147-A177-3AD203B41FA5}">
                          <a16:colId xmlns:a16="http://schemas.microsoft.com/office/drawing/2014/main" val="20000"/>
                        </a:ext>
                      </a:extLst>
                    </a:gridCol>
                    <a:gridCol w="1626124">
                      <a:extLst>
                        <a:ext uri="{9D8B030D-6E8A-4147-A177-3AD203B41FA5}">
                          <a16:colId xmlns:a16="http://schemas.microsoft.com/office/drawing/2014/main" val="20001"/>
                        </a:ext>
                      </a:extLst>
                    </a:gridCol>
                    <a:gridCol w="1301563">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343378">
                      <a:extLst>
                        <a:ext uri="{9D8B030D-6E8A-4147-A177-3AD203B41FA5}">
                          <a16:colId xmlns:a16="http://schemas.microsoft.com/office/drawing/2014/main" val="20004"/>
                        </a:ext>
                      </a:extLst>
                    </a:gridCol>
                    <a:gridCol w="917929">
                      <a:extLst>
                        <a:ext uri="{9D8B030D-6E8A-4147-A177-3AD203B41FA5}">
                          <a16:colId xmlns:a16="http://schemas.microsoft.com/office/drawing/2014/main" val="20005"/>
                        </a:ext>
                      </a:extLst>
                    </a:gridCol>
                  </a:tblGrid>
                  <a:tr h="304800">
                    <a:tc rowSpan="6">
                      <a:txBody>
                        <a:bodyPr/>
                        <a:lstStyle/>
                        <a:p>
                          <a:pPr marL="71755" marR="71755" algn="ctr">
                            <a:spcBef>
                              <a:spcPts val="0"/>
                            </a:spcBef>
                            <a:spcAft>
                              <a:spcPts val="0"/>
                            </a:spcAft>
                          </a:pPr>
                          <a:r>
                            <a:rPr lang="en-US" sz="2000" b="1" dirty="0">
                              <a:effectLst/>
                              <a:latin typeface="Verdana" charset="0"/>
                              <a:ea typeface="Verdana" charset="0"/>
                              <a:cs typeface="Verdana" charset="0"/>
                            </a:rPr>
                            <a:t>Time Spent</a:t>
                          </a:r>
                          <a:endParaRPr lang="en-US" sz="2000" dirty="0">
                            <a:effectLst/>
                            <a:latin typeface="Verdana" charset="0"/>
                            <a:ea typeface="Verdana" charset="0"/>
                            <a:cs typeface="Verdana" charset="0"/>
                          </a:endParaRPr>
                        </a:p>
                        <a:p>
                          <a:pPr marL="71755" marR="71755" algn="ctr">
                            <a:spcBef>
                              <a:spcPts val="0"/>
                            </a:spcBef>
                            <a:spcAft>
                              <a:spcPts val="0"/>
                            </a:spcAft>
                          </a:pPr>
                          <a:r>
                            <a:rPr lang="en-US" sz="2000" b="1" dirty="0">
                              <a:effectLst/>
                              <a:latin typeface="Verdana" charset="0"/>
                              <a:ea typeface="Verdana" charset="0"/>
                              <a:cs typeface="Verdana" charset="0"/>
                            </a:rPr>
                            <a:t>with Friends in Person</a:t>
                          </a:r>
                          <a:endParaRPr lang="en-US" sz="2000" dirty="0">
                            <a:effectLst/>
                            <a:latin typeface="Verdana" charset="0"/>
                            <a:ea typeface="Verdana" charset="0"/>
                            <a:cs typeface="Verdana" charset="0"/>
                          </a:endParaRPr>
                        </a:p>
                      </a:txBody>
                      <a:tcPr marL="58500" marR="58500" marT="0" marB="0" vert="vert270" anchor="ctr">
                        <a:lnL>
                          <a:noFill/>
                        </a:lnL>
                        <a:lnR>
                          <a:noFill/>
                        </a:lnR>
                        <a:lnT>
                          <a:noFill/>
                        </a:lnT>
                        <a:lnB>
                          <a:noFill/>
                        </a:lnB>
                      </a:tcPr>
                    </a:tc>
                    <a:tc>
                      <a:txBody>
                        <a:bodyPr/>
                        <a:lstStyle/>
                        <a:p>
                          <a:pPr marL="0" marR="0" algn="ctr">
                            <a:spcBef>
                              <a:spcPts val="0"/>
                            </a:spcBef>
                            <a:spcAft>
                              <a:spcPts val="0"/>
                            </a:spcAft>
                          </a:pPr>
                          <a:r>
                            <a:rPr lang="en-US" sz="2000">
                              <a:effectLst/>
                              <a:latin typeface="Verdana" charset="0"/>
                              <a:ea typeface="Verdana" charset="0"/>
                              <a:cs typeface="Verdana" charset="0"/>
                            </a:rPr>
                            <a:t> </a:t>
                          </a:r>
                        </a:p>
                      </a:txBody>
                      <a:tcPr marL="58500" marR="58500" marT="0" marB="0" anchor="ctr">
                        <a:lnL>
                          <a:noFill/>
                        </a:lnL>
                        <a:lnR>
                          <a:noFill/>
                        </a:lnR>
                        <a:lnT>
                          <a:noFill/>
                        </a:lnT>
                        <a:lnB w="12700" cap="flat" cmpd="sng" algn="ctr">
                          <a:solidFill>
                            <a:srgbClr val="000000"/>
                          </a:solidFill>
                          <a:prstDash val="solid"/>
                          <a:round/>
                          <a:headEnd type="none" w="med" len="med"/>
                          <a:tailEnd type="none" w="med" len="med"/>
                        </a:lnB>
                      </a:tcPr>
                    </a:tc>
                    <a:tc gridSpan="4">
                      <a:txBody>
                        <a:bodyPr/>
                        <a:lstStyle/>
                        <a:p>
                          <a:pPr marL="0" marR="0" algn="ctr">
                            <a:spcBef>
                              <a:spcPts val="0"/>
                            </a:spcBef>
                            <a:spcAft>
                              <a:spcPts val="0"/>
                            </a:spcAft>
                          </a:pPr>
                          <a:r>
                            <a:rPr lang="en-US" sz="2000" b="1" dirty="0">
                              <a:effectLst/>
                              <a:latin typeface="Verdana" charset="0"/>
                              <a:ea typeface="Verdana" charset="0"/>
                              <a:cs typeface="Verdana" charset="0"/>
                            </a:rPr>
                            <a:t>Effect on People Your Age</a:t>
                          </a:r>
                          <a:endParaRPr lang="en-US" sz="2000" dirty="0">
                            <a:effectLst/>
                            <a:latin typeface="Verdana" charset="0"/>
                            <a:ea typeface="Verdana" charset="0"/>
                            <a:cs typeface="Verdana" charset="0"/>
                          </a:endParaRPr>
                        </a:p>
                      </a:txBody>
                      <a:tcPr marL="58500" marR="58500" marT="0" marB="0" anchor="ctr">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40004">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Mostly Positive</a:t>
                          </a:r>
                          <a:endParaRPr lang="en-US" sz="2000" dirty="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Mostly Negative</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Neutral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37862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Much</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5962" t="-371429" r="-292958" b="-323810"/>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8127" t="-371429" r="-148606" b="-323810"/>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0000" t="-371429" r="-69545" b="-323810"/>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57616" t="-371429" r="-1325" b="-323810"/>
                          </a:stretch>
                        </a:blipFill>
                      </a:tcPr>
                    </a:tc>
                    <a:extLst>
                      <a:ext uri="{0D108BD9-81ED-4DB2-BD59-A6C34878D82A}">
                        <a16:rowId xmlns:a16="http://schemas.microsoft.com/office/drawing/2014/main" val="10002"/>
                      </a:ext>
                    </a:extLst>
                  </a:tr>
                  <a:tr h="378627">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Too Little</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5962" t="-479032" r="-292958" b="-229032"/>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8127" t="-479032" r="-148606" b="-229032"/>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0000" t="-479032" r="-69545" b="-229032"/>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57616" t="-479032" r="-1325" b="-229032"/>
                          </a:stretch>
                        </a:blipFill>
                      </a:tcPr>
                    </a:tc>
                    <a:extLst>
                      <a:ext uri="{0D108BD9-81ED-4DB2-BD59-A6C34878D82A}">
                        <a16:rowId xmlns:a16="http://schemas.microsoft.com/office/drawing/2014/main" val="10003"/>
                      </a:ext>
                    </a:extLst>
                  </a:tr>
                  <a:tr h="385668">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Just Right</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5962" t="-569841" r="-292958" b="-12539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8127" t="-569841" r="-148606" b="-12539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0000" t="-569841" r="-69545" b="-12539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57616" t="-569841" r="-1325" b="-125397"/>
                          </a:stretch>
                        </a:blipFill>
                      </a:tcPr>
                    </a:tc>
                    <a:extLst>
                      <a:ext uri="{0D108BD9-81ED-4DB2-BD59-A6C34878D82A}">
                        <a16:rowId xmlns:a16="http://schemas.microsoft.com/office/drawing/2014/main" val="10004"/>
                      </a:ext>
                    </a:extLst>
                  </a:tr>
                  <a:tr h="351002">
                    <a:tc vMerge="1">
                      <a:txBody>
                        <a:bodyPr/>
                        <a:lstStyle/>
                        <a:p>
                          <a:endParaRPr lang="en-US"/>
                        </a:p>
                      </a:txBody>
                      <a:tcPr/>
                    </a:tc>
                    <a:tc>
                      <a:txBody>
                        <a:bodyPr/>
                        <a:lstStyle/>
                        <a:p>
                          <a:pPr marL="0" marR="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5962" t="-727586" r="-292958" b="-3620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8127" t="-727586" r="-148606" b="-3620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0000" t="-727586" r="-69545" b="-36207"/>
                          </a:stretch>
                        </a:blipFill>
                      </a:tcPr>
                    </a:tc>
                    <a:tc>
                      <a:txBody>
                        <a:bodyPr/>
                        <a:lstStyle/>
                        <a:p>
                          <a:endParaRPr lang="en-US"/>
                        </a:p>
                      </a:txBody>
                      <a:tcPr marL="58500" marR="5850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57616" t="-727586" r="-1325" b="-36207"/>
                          </a:stretch>
                        </a:blipFill>
                      </a:tcPr>
                    </a:tc>
                    <a:extLst>
                      <a:ext uri="{0D108BD9-81ED-4DB2-BD59-A6C34878D82A}">
                        <a16:rowId xmlns:a16="http://schemas.microsoft.com/office/drawing/2014/main" val="10005"/>
                      </a:ext>
                    </a:extLst>
                  </a:tr>
                </a:tbl>
              </a:graphicData>
            </a:graphic>
          </p:graphicFrame>
        </mc:Fallback>
      </mc:AlternateContent>
      <p:sp>
        <p:nvSpPr>
          <p:cNvPr id="4" name="Rectangle 3"/>
          <p:cNvSpPr/>
          <p:nvPr/>
        </p:nvSpPr>
        <p:spPr>
          <a:xfrm>
            <a:off x="3387988" y="2794132"/>
            <a:ext cx="3853940" cy="400110"/>
          </a:xfrm>
          <a:prstGeom prst="rect">
            <a:avLst/>
          </a:prstGeom>
        </p:spPr>
        <p:txBody>
          <a:bodyPr wrap="none">
            <a:spAutoFit/>
          </a:bodyPr>
          <a:lstStyle/>
          <a:p>
            <a:pPr algn="ctr"/>
            <a:r>
              <a:rPr lang="en-US" sz="2000" b="1" dirty="0">
                <a:latin typeface="Verdana" charset="0"/>
                <a:ea typeface="Yu Mincho" charset="-128"/>
                <a:cs typeface="Cambria" charset="0"/>
              </a:rPr>
              <a:t>Teen Social Media Survey</a:t>
            </a:r>
            <a:endParaRPr lang="en-US" dirty="0">
              <a:latin typeface="Cambria" charset="0"/>
              <a:ea typeface="Yu Mincho" charset="-128"/>
              <a:cs typeface="Cambria" charset="0"/>
            </a:endParaRPr>
          </a:p>
        </p:txBody>
      </p:sp>
      <p:sp>
        <p:nvSpPr>
          <p:cNvPr id="12" name="Google Shape;282;g104476d1465_1_17">
            <a:extLst>
              <a:ext uri="{FF2B5EF4-FFF2-40B4-BE49-F238E27FC236}">
                <a16:creationId xmlns:a16="http://schemas.microsoft.com/office/drawing/2014/main" xmlns="" id="{C8A94F45-619B-C4B8-84F2-D044891E5803}"/>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xmlns="" id="{56E7E12E-DCF6-3C57-D4FF-FFD44D6E9060}"/>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FA2A97BF-3D7B-B547-BD66-4A4651071EA8}"/>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342002879"/>
                  </p:ext>
                </p:extLst>
              </p:nvPr>
            </p:nvGraphicFramePr>
            <p:xfrm>
              <a:off x="1723508" y="694993"/>
              <a:ext cx="8140844" cy="5241056"/>
            </p:xfrm>
            <a:graphic>
              <a:graphicData uri="http://schemas.openxmlformats.org/drawingml/2006/table">
                <a:tbl>
                  <a:tblPr firstRow="1" firstCol="1" bandRow="1"/>
                  <a:tblGrid>
                    <a:gridCol w="6388016">
                      <a:extLst>
                        <a:ext uri="{9D8B030D-6E8A-4147-A177-3AD203B41FA5}">
                          <a16:colId xmlns:a16="http://schemas.microsoft.com/office/drawing/2014/main" xmlns="" val="20000"/>
                        </a:ext>
                      </a:extLst>
                    </a:gridCol>
                    <a:gridCol w="1752828">
                      <a:extLst>
                        <a:ext uri="{9D8B030D-6E8A-4147-A177-3AD203B41FA5}">
                          <a16:colId xmlns:a16="http://schemas.microsoft.com/office/drawing/2014/main" xmlns="" val="20001"/>
                        </a:ext>
                      </a:extLst>
                    </a:gridCol>
                  </a:tblGrid>
                  <a:tr h="790020">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269</m:t>
                              </m:r>
                            </m:oMath>
                          </a14:m>
                          <a:r>
                            <a:rPr lang="en-US" sz="2000" dirty="0">
                              <a:effectLst/>
                              <a:latin typeface="Verdana" charset="0"/>
                              <a:ea typeface="Verdana" charset="0"/>
                              <a:cs typeface="Verdana" charset="0"/>
                            </a:rPr>
                            <a:t> participants reported that they spend too little time with friends in person.</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097740">
                    <a:tc>
                      <a:txBody>
                        <a:bodyPr/>
                        <a:lstStyle/>
                        <a:p>
                          <a:pPr marL="0" marR="34290">
                            <a:spcBef>
                              <a:spcPts val="0"/>
                            </a:spcBef>
                            <a:spcAft>
                              <a:spcPts val="0"/>
                            </a:spcAft>
                          </a:pPr>
                          <a:r>
                            <a:rPr lang="en-US" sz="2000" dirty="0">
                              <a:effectLst/>
                              <a:latin typeface="Verdana" charset="0"/>
                              <a:ea typeface="Verdana" charset="0"/>
                              <a:cs typeface="Verdana" charset="0"/>
                            </a:rPr>
                            <a:t>More teens reported that they spend too little time with friends than just the right amount with friends in person.</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1360767">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211</m:t>
                              </m:r>
                            </m:oMath>
                          </a14:m>
                          <a:r>
                            <a:rPr lang="en-US" sz="2000" dirty="0">
                              <a:effectLst/>
                              <a:latin typeface="Verdana" charset="0"/>
                              <a:ea typeface="Verdana" charset="0"/>
                              <a:cs typeface="Verdana" charset="0"/>
                            </a:rPr>
                            <a:t> participants reported the effect of social media was mostly negative and spend just the right amount of time with friends in person.</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202509">
                    <a:tc>
                      <a:txBody>
                        <a:bodyPr/>
                        <a:lstStyle/>
                        <a:p>
                          <a:pPr marL="0" marR="34290">
                            <a:spcBef>
                              <a:spcPts val="0"/>
                            </a:spcBef>
                            <a:spcAft>
                              <a:spcPts val="0"/>
                            </a:spcAft>
                          </a:pPr>
                          <a14:m>
                            <m:oMath xmlns:m="http://schemas.openxmlformats.org/officeDocument/2006/math">
                              <m:r>
                                <a:rPr lang="en-US" sz="2000" i="1">
                                  <a:effectLst/>
                                  <a:latin typeface="Cambria Math" panose="02040503050406030204" pitchFamily="18" charset="0"/>
                                  <a:ea typeface="Verdana" charset="0"/>
                                  <a:cs typeface="Verdana" charset="0"/>
                                </a:rPr>
                                <m:t>186</m:t>
                              </m:r>
                            </m:oMath>
                          </a14:m>
                          <a:r>
                            <a:rPr lang="en-US" sz="2000">
                              <a:effectLst/>
                              <a:latin typeface="Verdana" charset="0"/>
                              <a:ea typeface="Verdana" charset="0"/>
                              <a:cs typeface="Verdana" charset="0"/>
                            </a:rPr>
                            <a:t> participants reported that social media has a neutral effect and they spend just the right amount of time with their friends.</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790020">
                    <a:tc>
                      <a:txBody>
                        <a:bodyPr/>
                        <a:lstStyle/>
                        <a:p>
                          <a:pPr marL="0" marR="34290">
                            <a:spcBef>
                              <a:spcPts val="0"/>
                            </a:spcBef>
                            <a:spcAft>
                              <a:spcPts val="0"/>
                            </a:spcAft>
                          </a:pPr>
                          <a:r>
                            <a:rPr lang="en-US" sz="2000">
                              <a:effectLst/>
                              <a:latin typeface="Verdana" charset="0"/>
                              <a:ea typeface="Verdana" charset="0"/>
                              <a:cs typeface="Verdana" charset="0"/>
                            </a:rPr>
                            <a:t>There was a total of </a:t>
                          </a:r>
                          <a14:m>
                            <m:oMath xmlns:m="http://schemas.openxmlformats.org/officeDocument/2006/math">
                              <m:r>
                                <a:rPr lang="en-US" sz="2000" i="1">
                                  <a:effectLst/>
                                  <a:latin typeface="Cambria Math" panose="02040503050406030204" pitchFamily="18" charset="0"/>
                                  <a:ea typeface="Verdana" charset="0"/>
                                  <a:cs typeface="Verdana" charset="0"/>
                                </a:rPr>
                                <m:t>1,823</m:t>
                              </m:r>
                            </m:oMath>
                          </a14:m>
                          <a:r>
                            <a:rPr lang="en-US" sz="2000">
                              <a:effectLst/>
                              <a:latin typeface="Verdana" charset="0"/>
                              <a:ea typeface="Verdana" charset="0"/>
                              <a:cs typeface="Verdana" charset="0"/>
                            </a:rPr>
                            <a:t> participants in the survey.</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342002879"/>
                  </p:ext>
                </p:extLst>
              </p:nvPr>
            </p:nvGraphicFramePr>
            <p:xfrm>
              <a:off x="1723508" y="694993"/>
              <a:ext cx="8140844" cy="5241056"/>
            </p:xfrm>
            <a:graphic>
              <a:graphicData uri="http://schemas.openxmlformats.org/drawingml/2006/table">
                <a:tbl>
                  <a:tblPr firstRow="1" firstCol="1" bandRow="1"/>
                  <a:tblGrid>
                    <a:gridCol w="6388016">
                      <a:extLst>
                        <a:ext uri="{9D8B030D-6E8A-4147-A177-3AD203B41FA5}">
                          <a16:colId xmlns:a16="http://schemas.microsoft.com/office/drawing/2014/main" val="20000"/>
                        </a:ext>
                      </a:extLst>
                    </a:gridCol>
                    <a:gridCol w="1752828">
                      <a:extLst>
                        <a:ext uri="{9D8B030D-6E8A-4147-A177-3AD203B41FA5}">
                          <a16:colId xmlns:a16="http://schemas.microsoft.com/office/drawing/2014/main" val="20001"/>
                        </a:ext>
                      </a:extLst>
                    </a:gridCol>
                  </a:tblGrid>
                  <a:tr h="790020">
                    <a:tc>
                      <a:txBody>
                        <a:bodyPr/>
                        <a:lstStyle/>
                        <a:p>
                          <a:endParaRPr lang="en-US"/>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5" t="-10000" r="-27645" b="-571538"/>
                          </a:stretch>
                        </a:blipFill>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97740">
                    <a:tc>
                      <a:txBody>
                        <a:bodyPr/>
                        <a:lstStyle/>
                        <a:p>
                          <a:pPr marL="0" marR="34290">
                            <a:spcBef>
                              <a:spcPts val="0"/>
                            </a:spcBef>
                            <a:spcAft>
                              <a:spcPts val="0"/>
                            </a:spcAft>
                          </a:pPr>
                          <a:r>
                            <a:rPr lang="en-US" sz="2000" dirty="0">
                              <a:effectLst/>
                              <a:latin typeface="Verdana" charset="0"/>
                              <a:ea typeface="Verdana" charset="0"/>
                              <a:cs typeface="Verdana" charset="0"/>
                            </a:rPr>
                            <a:t>More teens reported that they spend too little time with friends than just the right amount with friends in person.</a:t>
                          </a:r>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60767">
                    <a:tc>
                      <a:txBody>
                        <a:bodyPr/>
                        <a:lstStyle/>
                        <a:p>
                          <a:endParaRPr lang="en-US"/>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5" t="-144843" r="-27645" b="-152466"/>
                          </a:stretch>
                        </a:blipFill>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02509">
                    <a:tc>
                      <a:txBody>
                        <a:bodyPr/>
                        <a:lstStyle/>
                        <a:p>
                          <a:endParaRPr lang="en-US"/>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5" t="-277157" r="-27645" b="-72589"/>
                          </a:stretch>
                        </a:blipFill>
                      </a:tcPr>
                    </a:tc>
                    <a:tc>
                      <a:txBody>
                        <a:bodyPr/>
                        <a:lstStyle/>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90020">
                    <a:tc>
                      <a:txBody>
                        <a:bodyPr/>
                        <a:lstStyle/>
                        <a:p>
                          <a:endParaRPr lang="en-US"/>
                        </a:p>
                      </a:txBody>
                      <a:tcPr marL="57178" marR="571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95" t="-571538" r="-27645" b="-10000"/>
                          </a:stretch>
                        </a:blipFill>
                      </a:tcPr>
                    </a:tc>
                    <a:tc>
                      <a:txBody>
                        <a:bodyPr/>
                        <a:lstStyle/>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True</a:t>
                          </a:r>
                        </a:p>
                        <a:p>
                          <a:pPr marL="342900" marR="34290" lvl="0" indent="-342900">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57178" marR="571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7" name="Google Shape;282;g104476d1465_1_17">
            <a:extLst>
              <a:ext uri="{FF2B5EF4-FFF2-40B4-BE49-F238E27FC236}">
                <a16:creationId xmlns:a16="http://schemas.microsoft.com/office/drawing/2014/main" xmlns="" id="{CB4DA701-BA80-1F1F-BDC2-0D47431D4E26}"/>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xmlns="" id="{7BB25A75-DFEF-8A3D-3F6D-5596E902E14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20626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63611"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50379"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xmlns="" id="{C95EC270-8CDA-4968-6A8F-9AD531AE9171}"/>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F822366F-6A31-646A-9BFF-450994D7C5A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0401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484415" y="-37211"/>
            <a:ext cx="10394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14.1.4 Guided Practice: Constructing a Two-Way Table</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78037"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843148" y="1386025"/>
            <a:ext cx="10295907" cy="193899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Kieran decides to gather data on hair and eye color for his genetics project in science. Kieran’s data is shown.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460375"/>
            <a:r>
              <a:rPr lang="en-US" sz="2400" dirty="0">
                <a:latin typeface="Verdana" charset="0"/>
                <a:ea typeface="Verdana" charset="0"/>
                <a:cs typeface="Verdana" charset="0"/>
              </a:rPr>
              <a:t>The table shows the number of people who match each description.</a:t>
            </a:r>
          </a:p>
        </p:txBody>
      </p:sp>
      <p:sp>
        <p:nvSpPr>
          <p:cNvPr id="9" name="Google Shape;278;g104476d1465_1_17">
            <a:extLst>
              <a:ext uri="{FF2B5EF4-FFF2-40B4-BE49-F238E27FC236}">
                <a16:creationId xmlns:a16="http://schemas.microsoft.com/office/drawing/2014/main" xmlns="" id="{9EF632C0-4346-7C46-A47D-60F9E852BB4A}"/>
              </a:ext>
            </a:extLst>
          </p:cNvPr>
          <p:cNvSpPr/>
          <p:nvPr/>
        </p:nvSpPr>
        <p:spPr>
          <a:xfrm>
            <a:off x="-1732"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980818038"/>
              </p:ext>
            </p:extLst>
          </p:nvPr>
        </p:nvGraphicFramePr>
        <p:xfrm>
          <a:off x="2521424" y="3695506"/>
          <a:ext cx="6515100" cy="1933839"/>
        </p:xfrm>
        <a:graphic>
          <a:graphicData uri="http://schemas.openxmlformats.org/drawingml/2006/table">
            <a:tbl>
              <a:tblPr firstRow="1" firstCol="1" bandRow="1"/>
              <a:tblGrid>
                <a:gridCol w="1628775">
                  <a:extLst>
                    <a:ext uri="{9D8B030D-6E8A-4147-A177-3AD203B41FA5}">
                      <a16:colId xmlns:a16="http://schemas.microsoft.com/office/drawing/2014/main" xmlns="" val="20000"/>
                    </a:ext>
                  </a:extLst>
                </a:gridCol>
                <a:gridCol w="1628775">
                  <a:extLst>
                    <a:ext uri="{9D8B030D-6E8A-4147-A177-3AD203B41FA5}">
                      <a16:colId xmlns:a16="http://schemas.microsoft.com/office/drawing/2014/main" xmlns="" val="20001"/>
                    </a:ext>
                  </a:extLst>
                </a:gridCol>
                <a:gridCol w="1628775">
                  <a:extLst>
                    <a:ext uri="{9D8B030D-6E8A-4147-A177-3AD203B41FA5}">
                      <a16:colId xmlns:a16="http://schemas.microsoft.com/office/drawing/2014/main" xmlns="" val="20002"/>
                    </a:ext>
                  </a:extLst>
                </a:gridCol>
                <a:gridCol w="1628775">
                  <a:extLst>
                    <a:ext uri="{9D8B030D-6E8A-4147-A177-3AD203B41FA5}">
                      <a16:colId xmlns:a16="http://schemas.microsoft.com/office/drawing/2014/main" xmlns="" val="20003"/>
                    </a:ext>
                  </a:extLst>
                </a:gridCol>
              </a:tblGrid>
              <a:tr h="1437128">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Brown Hair, Brown Eyes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Brown Hair, Blue Eyes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Blonde Hair, Brown Eyes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Blonde Hair, Blue Eyes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496711">
                <a:tc>
                  <a:txBody>
                    <a:bodyPr/>
                    <a:lstStyle/>
                    <a:p>
                      <a:pPr marL="0" marR="34290" algn="ctr">
                        <a:spcBef>
                          <a:spcPts val="900"/>
                        </a:spcBef>
                        <a:spcAft>
                          <a:spcPts val="900"/>
                        </a:spcAft>
                      </a:pPr>
                      <a:r>
                        <a:rPr lang="en-US" sz="2000">
                          <a:solidFill>
                            <a:srgbClr val="000000"/>
                          </a:solidFill>
                          <a:effectLst/>
                          <a:latin typeface="Verdana" charset="0"/>
                          <a:ea typeface="Verdana" charset="0"/>
                          <a:cs typeface="Verdana" charset="0"/>
                        </a:rPr>
                        <a:t>33</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a:solidFill>
                            <a:srgbClr val="000000"/>
                          </a:solidFill>
                          <a:effectLst/>
                          <a:latin typeface="Verdana" charset="0"/>
                          <a:ea typeface="Verdana" charset="0"/>
                          <a:cs typeface="Verdana" charset="0"/>
                        </a:rPr>
                        <a:t>18</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a:solidFill>
                            <a:srgbClr val="000000"/>
                          </a:solidFill>
                          <a:effectLst/>
                          <a:latin typeface="Verdana" charset="0"/>
                          <a:ea typeface="Verdana" charset="0"/>
                          <a:cs typeface="Verdana" charset="0"/>
                        </a:rPr>
                        <a:t>11</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dirty="0">
                          <a:solidFill>
                            <a:srgbClr val="000000"/>
                          </a:solidFill>
                          <a:effectLst/>
                          <a:latin typeface="Verdana" charset="0"/>
                          <a:ea typeface="Verdana" charset="0"/>
                          <a:cs typeface="Verdana" charset="0"/>
                        </a:rPr>
                        <a:t>24</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1" name="Google Shape;282;g104476d1465_1_17">
            <a:extLst>
              <a:ext uri="{FF2B5EF4-FFF2-40B4-BE49-F238E27FC236}">
                <a16:creationId xmlns:a16="http://schemas.microsoft.com/office/drawing/2014/main" xmlns="" id="{BFFD9201-9EB0-A9B1-F3FF-5220D2E3924A}"/>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xmlns="" id="{A345C602-6743-159B-3E0F-609B4702F45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29404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307782" cy="830997"/>
          </a:xfrm>
          <a:prstGeom prst="rect">
            <a:avLst/>
          </a:prstGeom>
          <a:noFill/>
        </p:spPr>
        <p:txBody>
          <a:bodyPr wrap="square" rtlCol="0">
            <a:spAutoFit/>
          </a:bodyPr>
          <a:lstStyle/>
          <a:p>
            <a:pPr marL="914400" indent="-457200">
              <a:buFont typeface="+mj-lt"/>
              <a:buAutoNum type="alphaLcPeriod"/>
            </a:pPr>
            <a:r>
              <a:rPr lang="en-US" sz="2400" dirty="0">
                <a:latin typeface="Verdana" charset="0"/>
                <a:ea typeface="Verdana" charset="0"/>
                <a:cs typeface="Verdana" charset="0"/>
              </a:rPr>
              <a:t>Construct a two-way frequency table to summarize the data. </a:t>
            </a:r>
          </a:p>
        </p:txBody>
      </p:sp>
      <p:sp>
        <p:nvSpPr>
          <p:cNvPr id="6" name="Google Shape;278;g104476d1465_1_17">
            <a:extLst>
              <a:ext uri="{FF2B5EF4-FFF2-40B4-BE49-F238E27FC236}">
                <a16:creationId xmlns:a16="http://schemas.microsoft.com/office/drawing/2014/main" xmlns="" id="{15313080-ADE1-E543-977F-AF86C524F917}"/>
              </a:ext>
            </a:extLst>
          </p:cNvPr>
          <p:cNvSpPr/>
          <p:nvPr/>
        </p:nvSpPr>
        <p:spPr>
          <a:xfrm>
            <a:off x="-1732"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699182368"/>
              </p:ext>
            </p:extLst>
          </p:nvPr>
        </p:nvGraphicFramePr>
        <p:xfrm>
          <a:off x="2130054" y="1712547"/>
          <a:ext cx="6213475" cy="3424555"/>
        </p:xfrm>
        <a:graphic>
          <a:graphicData uri="http://schemas.openxmlformats.org/drawingml/2006/table">
            <a:tbl>
              <a:tblPr firstRow="1" firstCol="1" bandRow="1"/>
              <a:tblGrid>
                <a:gridCol w="1403350">
                  <a:extLst>
                    <a:ext uri="{9D8B030D-6E8A-4147-A177-3AD203B41FA5}">
                      <a16:colId xmlns:a16="http://schemas.microsoft.com/office/drawing/2014/main" xmlns="" val="20000"/>
                    </a:ext>
                  </a:extLst>
                </a:gridCol>
                <a:gridCol w="1784350">
                  <a:extLst>
                    <a:ext uri="{9D8B030D-6E8A-4147-A177-3AD203B41FA5}">
                      <a16:colId xmlns:a16="http://schemas.microsoft.com/office/drawing/2014/main" xmlns="" val="20001"/>
                    </a:ext>
                  </a:extLst>
                </a:gridCol>
                <a:gridCol w="1784350">
                  <a:extLst>
                    <a:ext uri="{9D8B030D-6E8A-4147-A177-3AD203B41FA5}">
                      <a16:colId xmlns:a16="http://schemas.microsoft.com/office/drawing/2014/main" xmlns="" val="20002"/>
                    </a:ext>
                  </a:extLst>
                </a:gridCol>
                <a:gridCol w="1241425">
                  <a:extLst>
                    <a:ext uri="{9D8B030D-6E8A-4147-A177-3AD203B41FA5}">
                      <a16:colId xmlns:a16="http://schemas.microsoft.com/office/drawing/2014/main" xmlns="" val="20003"/>
                    </a:ext>
                  </a:extLst>
                </a:gridCol>
              </a:tblGrid>
              <a:tr h="703580">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907415">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dirty="0">
                          <a:solidFill>
                            <a:srgbClr val="000000"/>
                          </a:solidFill>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06780">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906780">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Total</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7" name="Google Shape;282;g104476d1465_1_17">
            <a:extLst>
              <a:ext uri="{FF2B5EF4-FFF2-40B4-BE49-F238E27FC236}">
                <a16:creationId xmlns:a16="http://schemas.microsoft.com/office/drawing/2014/main" xmlns="" id="{32877C0B-19E2-D0D3-EFDB-3A888BCF97D5}"/>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308</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xmlns="" id="{36ADDBF5-8DAC-78A0-0891-DBFAF5756639}"/>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5497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31272" y="520394"/>
            <a:ext cx="10319657" cy="5262979"/>
          </a:xfrm>
          <a:prstGeom prst="rect">
            <a:avLst/>
          </a:prstGeom>
          <a:noFill/>
        </p:spPr>
        <p:txBody>
          <a:bodyPr wrap="square" rtlCol="0">
            <a:spAutoFit/>
          </a:bodyPr>
          <a:lstStyle/>
          <a:p>
            <a:pPr marL="914400" indent="-457200">
              <a:buFont typeface="+mj-lt"/>
              <a:buAutoNum type="alphaLcPeriod" startAt="2"/>
            </a:pPr>
            <a:r>
              <a:rPr lang="en-US" sz="2400" dirty="0">
                <a:latin typeface="Verdana" charset="0"/>
                <a:ea typeface="Verdana" charset="0"/>
                <a:cs typeface="Verdana" charset="0"/>
              </a:rPr>
              <a:t>The total number of students surveyed with brown eyes is ________ . </a:t>
            </a:r>
          </a:p>
          <a:p>
            <a:pPr marL="460375" indent="-460375"/>
            <a:endParaRPr lang="en-US" sz="2400" dirty="0">
              <a:latin typeface="Verdana" charset="0"/>
              <a:ea typeface="Verdana" charset="0"/>
              <a:cs typeface="Verdana" charset="0"/>
            </a:endParaRPr>
          </a:p>
          <a:p>
            <a:pPr marL="460375" indent="-460375"/>
            <a:endParaRPr lang="en-US" sz="2400" dirty="0">
              <a:latin typeface="Verdana" charset="0"/>
              <a:ea typeface="Verdana" charset="0"/>
              <a:cs typeface="Verdana" charset="0"/>
            </a:endParaRPr>
          </a:p>
          <a:p>
            <a:pPr marL="914400"/>
            <a:r>
              <a:rPr lang="en-US" sz="2400" dirty="0">
                <a:latin typeface="Verdana" charset="0"/>
                <a:ea typeface="Verdana" charset="0"/>
                <a:cs typeface="Verdana" charset="0"/>
              </a:rPr>
              <a:t>This value represents a </a:t>
            </a:r>
          </a:p>
          <a:p>
            <a:pPr marL="460375" indent="-460375"/>
            <a:endParaRPr lang="en-US" sz="2400" dirty="0">
              <a:latin typeface="Verdana" charset="0"/>
              <a:ea typeface="Verdana" charset="0"/>
              <a:cs typeface="Verdana" charset="0"/>
            </a:endParaRPr>
          </a:p>
          <a:p>
            <a:pPr marL="460375" indent="-460375"/>
            <a:endParaRPr lang="en-US" sz="2400" dirty="0">
              <a:latin typeface="Verdana" charset="0"/>
              <a:ea typeface="Verdana" charset="0"/>
              <a:cs typeface="Verdana" charset="0"/>
            </a:endParaRPr>
          </a:p>
          <a:p>
            <a:pPr marL="460375" indent="-460375"/>
            <a:endParaRPr lang="en-US" sz="2400" dirty="0">
              <a:latin typeface="Verdana" charset="0"/>
              <a:ea typeface="Verdana" charset="0"/>
              <a:cs typeface="Verdana" charset="0"/>
            </a:endParaRPr>
          </a:p>
          <a:p>
            <a:pPr marL="914400" indent="-457200">
              <a:buFont typeface="+mj-lt"/>
              <a:buAutoNum type="alphaLcPeriod" startAt="3"/>
            </a:pPr>
            <a:r>
              <a:rPr lang="en-US" sz="2400" dirty="0">
                <a:latin typeface="Verdana" charset="0"/>
                <a:ea typeface="Verdana" charset="0"/>
                <a:cs typeface="Verdana" charset="0"/>
              </a:rPr>
              <a:t>The total number of students surveyed with brown eyes and blonde hair is ________ . </a:t>
            </a:r>
          </a:p>
          <a:p>
            <a:endParaRPr lang="en-US" sz="2400" dirty="0">
              <a:latin typeface="Verdana" charset="0"/>
              <a:ea typeface="Verdana" charset="0"/>
              <a:cs typeface="Verdana" charset="0"/>
            </a:endParaRPr>
          </a:p>
          <a:p>
            <a:endParaRPr lang="en-US" sz="2400" dirty="0">
              <a:latin typeface="Verdana" charset="0"/>
              <a:ea typeface="Verdana" charset="0"/>
              <a:cs typeface="Verdana" charset="0"/>
            </a:endParaRPr>
          </a:p>
          <a:p>
            <a:pPr marL="914400" indent="-3175"/>
            <a:r>
              <a:rPr lang="en-US" sz="2400" dirty="0">
                <a:latin typeface="Verdana" charset="0"/>
                <a:ea typeface="Verdana" charset="0"/>
                <a:cs typeface="Verdana" charset="0"/>
              </a:rPr>
              <a:t>This value represents a </a:t>
            </a:r>
          </a:p>
          <a:p>
            <a:pPr lvl="0"/>
            <a:endParaRPr lang="en-US" sz="24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xmlns="" id="{15313080-ADE1-E543-977F-AF86C524F917}"/>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Rectangle: Rounded Corners 4">
            <a:extLst>
              <a:ext uri="{FF2B5EF4-FFF2-40B4-BE49-F238E27FC236}">
                <a16:creationId xmlns:a16="http://schemas.microsoft.com/office/drawing/2014/main" xmlns="" id="{3716D5D5-99F3-DC4D-8249-BAE1D3375948}"/>
              </a:ext>
            </a:extLst>
          </p:cNvPr>
          <p:cNvSpPr/>
          <p:nvPr/>
        </p:nvSpPr>
        <p:spPr>
          <a:xfrm>
            <a:off x="5566951" y="1849461"/>
            <a:ext cx="3199950" cy="81153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17170" indent="-285750">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marginal frequency.</a:t>
            </a:r>
            <a:endParaRPr lang="en-US" sz="2000" dirty="0">
              <a:latin typeface="Cambria" panose="02040503050406030204" pitchFamily="18" charset="0"/>
              <a:ea typeface="Yu Mincho" panose="02020400000000000000" pitchFamily="18" charset="-128"/>
              <a:cs typeface="Cambria" panose="02040503050406030204" pitchFamily="18" charset="0"/>
            </a:endParaRPr>
          </a:p>
          <a:p>
            <a:pPr marL="217170" indent="-285750">
              <a:spcAft>
                <a:spcPts val="1000"/>
              </a:spcAft>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joint frequency.</a:t>
            </a:r>
            <a:endParaRPr lang="en-US" sz="2000" dirty="0">
              <a:latin typeface="Cambria" panose="02040503050406030204" pitchFamily="18" charset="0"/>
              <a:ea typeface="Yu Mincho" panose="02020400000000000000" pitchFamily="18" charset="-128"/>
              <a:cs typeface="Cambria" panose="02040503050406030204" pitchFamily="18" charset="0"/>
            </a:endParaRPr>
          </a:p>
        </p:txBody>
      </p:sp>
      <p:sp>
        <p:nvSpPr>
          <p:cNvPr id="9" name="Rectangle: Rounded Corners 4">
            <a:extLst>
              <a:ext uri="{FF2B5EF4-FFF2-40B4-BE49-F238E27FC236}">
                <a16:creationId xmlns:a16="http://schemas.microsoft.com/office/drawing/2014/main" xmlns="" id="{50A5357A-00B4-6349-A3D5-6FA53CACD249}"/>
              </a:ext>
            </a:extLst>
          </p:cNvPr>
          <p:cNvSpPr/>
          <p:nvPr/>
        </p:nvSpPr>
        <p:spPr>
          <a:xfrm>
            <a:off x="5566951" y="4715932"/>
            <a:ext cx="3199950" cy="811530"/>
          </a:xfrm>
          <a:prstGeom prst="roundRect">
            <a:avLst/>
          </a:prstGeom>
          <a:ln/>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217170" indent="-285750">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marginal frequency.</a:t>
            </a:r>
            <a:endParaRPr lang="en-US" sz="2000" dirty="0">
              <a:latin typeface="Cambria" panose="02040503050406030204" pitchFamily="18" charset="0"/>
              <a:ea typeface="Yu Mincho" panose="02020400000000000000" pitchFamily="18" charset="-128"/>
              <a:cs typeface="Cambria" panose="02040503050406030204" pitchFamily="18" charset="0"/>
            </a:endParaRPr>
          </a:p>
          <a:p>
            <a:pPr marL="217170" indent="-285750">
              <a:spcAft>
                <a:spcPts val="1000"/>
              </a:spcAft>
              <a:buFont typeface="Courier New" panose="02070309020205020404" pitchFamily="49" charset="0"/>
              <a:buChar char="o"/>
            </a:pPr>
            <a:r>
              <a:rPr lang="en-US" sz="2000" dirty="0">
                <a:latin typeface="Verdana" panose="020B0604030504040204" pitchFamily="34" charset="0"/>
                <a:ea typeface="Yu Mincho" panose="02020400000000000000" pitchFamily="18" charset="-128"/>
                <a:cs typeface="Cambria" panose="02040503050406030204" pitchFamily="18" charset="0"/>
              </a:rPr>
              <a:t>joint frequency.</a:t>
            </a:r>
            <a:endParaRPr lang="en-US" sz="2000" dirty="0">
              <a:latin typeface="Cambria" panose="02040503050406030204" pitchFamily="18" charset="0"/>
              <a:ea typeface="Yu Mincho" panose="02020400000000000000" pitchFamily="18" charset="-128"/>
              <a:cs typeface="Cambria" panose="02040503050406030204" pitchFamily="18" charset="0"/>
            </a:endParaRPr>
          </a:p>
        </p:txBody>
      </p:sp>
      <p:sp>
        <p:nvSpPr>
          <p:cNvPr id="10" name="Google Shape;282;g104476d1465_1_17">
            <a:extLst>
              <a:ext uri="{FF2B5EF4-FFF2-40B4-BE49-F238E27FC236}">
                <a16:creationId xmlns:a16="http://schemas.microsoft.com/office/drawing/2014/main" xmlns="" id="{A6E72682-F6B8-CDFE-3001-196B5E628786}"/>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xmlns="" id="{A83444B4-30DF-E3AC-5D6C-45952AFEED7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05534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610221"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307107"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xmlns="" id="{006ECF22-7074-BBF7-DBFC-9B254AB49895}"/>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83D2D270-D158-C3C9-07C9-80619A06393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1099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22697" y="60325"/>
            <a:ext cx="101425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14.1.5 Try It: Constructing a Two-Way Table</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93248" y="21764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xmlns="" id="{0AB6A3A1-5A0D-C84F-AC89-57E6782F43E5}"/>
                  </a:ext>
                </a:extLst>
              </p:cNvPr>
              <p:cNvSpPr txBox="1"/>
              <p:nvPr/>
            </p:nvSpPr>
            <p:spPr>
              <a:xfrm>
                <a:off x="843147" y="1386025"/>
                <a:ext cx="10295907" cy="2677656"/>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A survey of high school students asked </a:t>
                </a:r>
                <a:r>
                  <a:rPr lang="en-US" sz="2400" dirty="0" smtClean="0">
                    <a:latin typeface="Verdana" charset="0"/>
                    <a:ea typeface="Verdana" charset="0"/>
                    <a:cs typeface="Verdana" charset="0"/>
                  </a:rPr>
                  <a:t>participants their gender and </a:t>
                </a:r>
                <a:r>
                  <a:rPr lang="en-US" sz="2400" dirty="0">
                    <a:latin typeface="Verdana" charset="0"/>
                    <a:ea typeface="Verdana" charset="0"/>
                    <a:cs typeface="Verdana" charset="0"/>
                  </a:rPr>
                  <a:t>if they play video </a:t>
                </a:r>
                <a:r>
                  <a:rPr lang="en-US" sz="2400" dirty="0" smtClean="0">
                    <a:latin typeface="Verdana" charset="0"/>
                    <a:ea typeface="Verdana" charset="0"/>
                    <a:cs typeface="Verdana" charset="0"/>
                  </a:rPr>
                  <a:t>games. The </a:t>
                </a:r>
                <a:r>
                  <a:rPr lang="en-US" sz="2400" dirty="0">
                    <a:latin typeface="Verdana" charset="0"/>
                    <a:ea typeface="Verdana" charset="0"/>
                    <a:cs typeface="Verdana" charset="0"/>
                  </a:rPr>
                  <a:t>data is summarized:</a:t>
                </a:r>
              </a:p>
              <a:p>
                <a:pPr marL="920750" indent="-46037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68</m:t>
                    </m:r>
                  </m:oMath>
                </a14:m>
                <a:r>
                  <a:rPr lang="en-US" sz="2400" dirty="0">
                    <a:latin typeface="Verdana" charset="0"/>
                    <a:ea typeface="Verdana" charset="0"/>
                    <a:cs typeface="Verdana" charset="0"/>
                  </a:rPr>
                  <a:t> participants </a:t>
                </a:r>
                <a:r>
                  <a:rPr lang="en-US" sz="2400" dirty="0" smtClean="0">
                    <a:latin typeface="Verdana" charset="0"/>
                    <a:ea typeface="Verdana" charset="0"/>
                    <a:cs typeface="Verdana" charset="0"/>
                  </a:rPr>
                  <a:t>were </a:t>
                </a:r>
                <a:r>
                  <a:rPr lang="en-US" sz="2400" dirty="0">
                    <a:latin typeface="Verdana" charset="0"/>
                    <a:ea typeface="Verdana" charset="0"/>
                    <a:cs typeface="Verdana" charset="0"/>
                  </a:rPr>
                  <a:t>males who play video games</a:t>
                </a:r>
              </a:p>
              <a:p>
                <a:pPr marL="920750" indent="-46037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60</m:t>
                    </m:r>
                  </m:oMath>
                </a14:m>
                <a:r>
                  <a:rPr lang="en-US" sz="2400" dirty="0">
                    <a:latin typeface="Verdana" charset="0"/>
                    <a:ea typeface="Verdana" charset="0"/>
                    <a:cs typeface="Verdana" charset="0"/>
                  </a:rPr>
                  <a:t> participants </a:t>
                </a:r>
                <a:r>
                  <a:rPr lang="en-US" sz="2400" dirty="0" smtClean="0">
                    <a:latin typeface="Verdana" charset="0"/>
                    <a:ea typeface="Verdana" charset="0"/>
                    <a:cs typeface="Verdana" charset="0"/>
                  </a:rPr>
                  <a:t>were males </a:t>
                </a:r>
                <a:r>
                  <a:rPr lang="en-US" sz="2400" dirty="0">
                    <a:latin typeface="Verdana" charset="0"/>
                    <a:ea typeface="Verdana" charset="0"/>
                    <a:cs typeface="Verdana" charset="0"/>
                  </a:rPr>
                  <a:t>who do not play video games</a:t>
                </a:r>
              </a:p>
              <a:p>
                <a:pPr marL="920750" indent="-460375">
                  <a:buFont typeface="Arial" charset="0"/>
                  <a:buChar char="•"/>
                </a:pPr>
                <a14:m>
                  <m:oMath xmlns:m="http://schemas.openxmlformats.org/officeDocument/2006/math">
                    <m:r>
                      <a:rPr lang="en-US" sz="2400" i="1">
                        <a:latin typeface="Cambria Math" panose="02040503050406030204" pitchFamily="18" charset="0"/>
                        <a:ea typeface="Verdana" charset="0"/>
                        <a:cs typeface="Verdana" charset="0"/>
                      </a:rPr>
                      <m:t>145</m:t>
                    </m:r>
                  </m:oMath>
                </a14:m>
                <a:r>
                  <a:rPr lang="en-US" sz="2400" dirty="0">
                    <a:latin typeface="Verdana" charset="0"/>
                    <a:ea typeface="Verdana" charset="0"/>
                    <a:cs typeface="Verdana" charset="0"/>
                  </a:rPr>
                  <a:t> participants do not play video games</a:t>
                </a:r>
              </a:p>
              <a:p>
                <a:pPr marL="920750" indent="-460375">
                  <a:buFont typeface="Arial" charset="0"/>
                  <a:buChar char="•"/>
                </a:pPr>
                <a:r>
                  <a:rPr lang="en-US" sz="2400" dirty="0">
                    <a:latin typeface="Verdana" charset="0"/>
                    <a:ea typeface="Verdana" charset="0"/>
                    <a:cs typeface="Verdana" charset="0"/>
                  </a:rPr>
                  <a:t>There were </a:t>
                </a:r>
                <a14:m>
                  <m:oMath xmlns:m="http://schemas.openxmlformats.org/officeDocument/2006/math">
                    <m:r>
                      <a:rPr lang="en-US" sz="2400" i="1">
                        <a:latin typeface="Cambria Math" panose="02040503050406030204" pitchFamily="18" charset="0"/>
                        <a:ea typeface="Verdana" charset="0"/>
                        <a:cs typeface="Verdana" charset="0"/>
                      </a:rPr>
                      <m:t>279</m:t>
                    </m:r>
                  </m:oMath>
                </a14:m>
                <a:r>
                  <a:rPr lang="en-US" sz="2400" dirty="0">
                    <a:latin typeface="Verdana" charset="0"/>
                    <a:ea typeface="Verdana" charset="0"/>
                    <a:cs typeface="Verdana" charset="0"/>
                  </a:rPr>
                  <a:t> participants in the survey</a:t>
                </a:r>
              </a:p>
            </p:txBody>
          </p:sp>
        </mc:Choice>
        <mc:Fallback>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843147" y="1386025"/>
                <a:ext cx="10295907" cy="2677656"/>
              </a:xfrm>
              <a:prstGeom prst="rect">
                <a:avLst/>
              </a:prstGeom>
              <a:blipFill rotWithShape="1">
                <a:blip r:embed="rId5"/>
                <a:stretch>
                  <a:fillRect l="-888" t="-1818" b="-3864"/>
                </a:stretch>
              </a:blipFill>
            </p:spPr>
            <p:txBody>
              <a:bodyPr/>
              <a:lstStyle/>
              <a:p>
                <a:r>
                  <a:rPr lang="en-PH">
                    <a:noFill/>
                  </a:rPr>
                  <a:t> </a:t>
                </a:r>
              </a:p>
            </p:txBody>
          </p:sp>
        </mc:Fallback>
      </mc:AlternateContent>
      <p:sp>
        <p:nvSpPr>
          <p:cNvPr id="11" name="Google Shape;278;g104476d1465_1_17">
            <a:extLst>
              <a:ext uri="{FF2B5EF4-FFF2-40B4-BE49-F238E27FC236}">
                <a16:creationId xmlns:a16="http://schemas.microsoft.com/office/drawing/2014/main" xmlns=""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xmlns="" id="{E6A6695A-2E76-0E7E-465D-77479F52A815}"/>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spTree>
    <p:extLst>
      <p:ext uri="{BB962C8B-B14F-4D97-AF65-F5344CB8AC3E}">
        <p14:creationId xmlns:p14="http://schemas.microsoft.com/office/powerpoint/2010/main" val="1515649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236529" cy="461665"/>
          </a:xfrm>
          <a:prstGeom prst="rect">
            <a:avLst/>
          </a:prstGeom>
          <a:noFill/>
        </p:spPr>
        <p:txBody>
          <a:bodyPr wrap="square" rtlCol="0">
            <a:spAutoFit/>
          </a:bodyPr>
          <a:lstStyle/>
          <a:p>
            <a:pPr marL="914400" indent="-457200">
              <a:buFont typeface="+mj-lt"/>
              <a:buAutoNum type="alphaLcPeriod"/>
            </a:pPr>
            <a:r>
              <a:rPr lang="en-US" sz="2400" dirty="0">
                <a:latin typeface="Verdana" charset="0"/>
                <a:ea typeface="Verdana" charset="0"/>
                <a:cs typeface="Verdana" charset="0"/>
              </a:rPr>
              <a:t>Complete the joint frequency table.</a:t>
            </a:r>
          </a:p>
        </p:txBody>
      </p:sp>
      <p:sp>
        <p:nvSpPr>
          <p:cNvPr id="6" name="Google Shape;278;g104476d1465_1_17">
            <a:extLst>
              <a:ext uri="{FF2B5EF4-FFF2-40B4-BE49-F238E27FC236}">
                <a16:creationId xmlns:a16="http://schemas.microsoft.com/office/drawing/2014/main" xmlns=""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605702136"/>
              </p:ext>
            </p:extLst>
          </p:nvPr>
        </p:nvGraphicFramePr>
        <p:xfrm>
          <a:off x="2191485" y="2090525"/>
          <a:ext cx="6845935" cy="2834640"/>
        </p:xfrm>
        <a:graphic>
          <a:graphicData uri="http://schemas.openxmlformats.org/drawingml/2006/table">
            <a:tbl>
              <a:tblPr firstRow="1" firstCol="1" bandRow="1"/>
              <a:tblGrid>
                <a:gridCol w="1763395">
                  <a:extLst>
                    <a:ext uri="{9D8B030D-6E8A-4147-A177-3AD203B41FA5}">
                      <a16:colId xmlns:a16="http://schemas.microsoft.com/office/drawing/2014/main" xmlns="" val="20000"/>
                    </a:ext>
                  </a:extLst>
                </a:gridCol>
                <a:gridCol w="1823085">
                  <a:extLst>
                    <a:ext uri="{9D8B030D-6E8A-4147-A177-3AD203B41FA5}">
                      <a16:colId xmlns:a16="http://schemas.microsoft.com/office/drawing/2014/main" xmlns="" val="20001"/>
                    </a:ext>
                  </a:extLst>
                </a:gridCol>
                <a:gridCol w="1823085">
                  <a:extLst>
                    <a:ext uri="{9D8B030D-6E8A-4147-A177-3AD203B41FA5}">
                      <a16:colId xmlns:a16="http://schemas.microsoft.com/office/drawing/2014/main" xmlns="" val="20002"/>
                    </a:ext>
                  </a:extLst>
                </a:gridCol>
                <a:gridCol w="1436370">
                  <a:extLst>
                    <a:ext uri="{9D8B030D-6E8A-4147-A177-3AD203B41FA5}">
                      <a16:colId xmlns:a16="http://schemas.microsoft.com/office/drawing/2014/main" xmlns="" val="20003"/>
                    </a:ext>
                  </a:extLst>
                </a:gridCol>
              </a:tblGrid>
              <a:tr h="640080">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Play</a:t>
                      </a:r>
                      <a:r>
                        <a:rPr lang="en-US" sz="2000" b="0" dirty="0">
                          <a:solidFill>
                            <a:schemeClr val="tx1"/>
                          </a:solidFill>
                          <a:effectLst/>
                          <a:latin typeface="Verdana" charset="0"/>
                          <a:ea typeface="Verdana" charset="0"/>
                          <a:cs typeface="Verdana" charset="0"/>
                        </a:rPr>
                        <a:t> </a:t>
                      </a:r>
                      <a:r>
                        <a:rPr lang="en-US" sz="2000" b="1" dirty="0">
                          <a:solidFill>
                            <a:srgbClr val="000000"/>
                          </a:solidFill>
                          <a:effectLst/>
                          <a:latin typeface="Verdana" charset="0"/>
                          <a:ea typeface="Verdana" charset="0"/>
                          <a:cs typeface="Verdana" charset="0"/>
                        </a:rPr>
                        <a:t>Video Games</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Do Not Play</a:t>
                      </a:r>
                      <a:r>
                        <a:rPr lang="en-US" sz="2000" b="0" dirty="0">
                          <a:solidFill>
                            <a:schemeClr val="tx1"/>
                          </a:solidFill>
                          <a:effectLst/>
                          <a:latin typeface="Verdana" charset="0"/>
                          <a:ea typeface="Verdana" charset="0"/>
                          <a:cs typeface="Verdana" charset="0"/>
                        </a:rPr>
                        <a:t> </a:t>
                      </a:r>
                      <a:r>
                        <a:rPr lang="en-US" sz="2000" b="1" dirty="0">
                          <a:solidFill>
                            <a:srgbClr val="000000"/>
                          </a:solidFill>
                          <a:effectLst/>
                          <a:latin typeface="Verdana" charset="0"/>
                          <a:ea typeface="Verdana" charset="0"/>
                          <a:cs typeface="Verdana" charset="0"/>
                        </a:rPr>
                        <a:t>Video Games</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640080">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Male</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2385">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640080">
                <a:tc>
                  <a:txBody>
                    <a:bodyPr/>
                    <a:lstStyle/>
                    <a:p>
                      <a:pPr marL="114300" marR="0" indent="-114300" algn="ctr">
                        <a:spcBef>
                          <a:spcPts val="0"/>
                        </a:spcBef>
                        <a:spcAft>
                          <a:spcPts val="1000"/>
                        </a:spcAft>
                      </a:pPr>
                      <a:r>
                        <a:rPr lang="en-US" sz="2000" b="1">
                          <a:solidFill>
                            <a:srgbClr val="000000"/>
                          </a:solidFill>
                          <a:effectLst/>
                          <a:latin typeface="Verdana" charset="0"/>
                          <a:ea typeface="Verdana" charset="0"/>
                          <a:cs typeface="Verdana" charset="0"/>
                        </a:rPr>
                        <a:t>Female</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640080">
                <a:tc>
                  <a:txBody>
                    <a:bodyPr/>
                    <a:lstStyle/>
                    <a:p>
                      <a:pPr marL="114300" marR="0" indent="-114300" algn="ctr">
                        <a:spcBef>
                          <a:spcPts val="0"/>
                        </a:spcBef>
                        <a:spcAft>
                          <a:spcPts val="100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3" name="Rectangle 2"/>
          <p:cNvSpPr/>
          <p:nvPr/>
        </p:nvSpPr>
        <p:spPr>
          <a:xfrm>
            <a:off x="3379133" y="1336236"/>
            <a:ext cx="4304383" cy="400110"/>
          </a:xfrm>
          <a:prstGeom prst="rect">
            <a:avLst/>
          </a:prstGeom>
        </p:spPr>
        <p:txBody>
          <a:bodyPr wrap="none">
            <a:spAutoFit/>
          </a:bodyPr>
          <a:lstStyle/>
          <a:p>
            <a:pPr algn="ctr">
              <a:spcAft>
                <a:spcPts val="1000"/>
              </a:spcAft>
            </a:pPr>
            <a:r>
              <a:rPr lang="en-US" sz="2000" b="1" dirty="0">
                <a:latin typeface="Verdana" charset="0"/>
                <a:ea typeface="Yu Mincho" charset="-128"/>
                <a:cs typeface="Cambria" charset="0"/>
              </a:rPr>
              <a:t>Student Video Game Activity</a:t>
            </a:r>
            <a:endParaRPr lang="en-US" dirty="0">
              <a:latin typeface="Cambria" charset="0"/>
              <a:ea typeface="Yu Mincho" charset="-128"/>
              <a:cs typeface="Cambria" charset="0"/>
            </a:endParaRPr>
          </a:p>
        </p:txBody>
      </p:sp>
      <p:sp>
        <p:nvSpPr>
          <p:cNvPr id="8" name="Google Shape;282;g104476d1465_1_17">
            <a:extLst>
              <a:ext uri="{FF2B5EF4-FFF2-40B4-BE49-F238E27FC236}">
                <a16:creationId xmlns:a16="http://schemas.microsoft.com/office/drawing/2014/main" xmlns="" id="{54D25659-0069-400E-36E8-633EF914267D}"/>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ED34E595-3792-3196-62FB-15A6D93FA8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829331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307781" cy="4524315"/>
          </a:xfrm>
          <a:prstGeom prst="rect">
            <a:avLst/>
          </a:prstGeom>
          <a:noFill/>
        </p:spPr>
        <p:txBody>
          <a:bodyPr wrap="square" rtlCol="0">
            <a:spAutoFit/>
          </a:bodyPr>
          <a:lstStyle/>
          <a:p>
            <a:pPr marL="914400" indent="-457200">
              <a:buFont typeface="+mj-lt"/>
              <a:buAutoNum type="alphaLcPeriod" startAt="2"/>
            </a:pPr>
            <a:r>
              <a:rPr lang="en-US" sz="2400" dirty="0">
                <a:latin typeface="Verdana" charset="0"/>
                <a:ea typeface="Verdana" charset="0"/>
                <a:cs typeface="Verdana" charset="0"/>
              </a:rPr>
              <a:t>How many </a:t>
            </a:r>
            <a:r>
              <a:rPr lang="en-US" sz="2400" dirty="0" smtClean="0">
                <a:latin typeface="Verdana" charset="0"/>
                <a:ea typeface="Verdana" charset="0"/>
                <a:cs typeface="Verdana" charset="0"/>
              </a:rPr>
              <a:t>female students and </a:t>
            </a:r>
            <a:r>
              <a:rPr lang="en-US" sz="2400" dirty="0">
                <a:latin typeface="Verdana" charset="0"/>
                <a:ea typeface="Verdana" charset="0"/>
                <a:cs typeface="Verdana" charset="0"/>
              </a:rPr>
              <a:t>do not play video games? </a:t>
            </a: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r>
              <a:rPr lang="en-US" sz="2400" dirty="0">
                <a:latin typeface="Verdana" charset="0"/>
                <a:ea typeface="Verdana" charset="0"/>
                <a:cs typeface="Verdana" charset="0"/>
              </a:rPr>
              <a:t>Of the students who play video games, how many </a:t>
            </a:r>
            <a:r>
              <a:rPr lang="en-US" sz="2400" dirty="0" smtClean="0">
                <a:latin typeface="Verdana" charset="0"/>
                <a:ea typeface="Verdana" charset="0"/>
                <a:cs typeface="Verdana" charset="0"/>
              </a:rPr>
              <a:t>were </a:t>
            </a:r>
            <a:r>
              <a:rPr lang="en-US" sz="2400" dirty="0">
                <a:latin typeface="Verdana" charset="0"/>
                <a:ea typeface="Verdana" charset="0"/>
                <a:cs typeface="Verdana" charset="0"/>
              </a:rPr>
              <a:t>female? </a:t>
            </a: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endParaRPr lang="en-US" sz="2400" dirty="0">
              <a:latin typeface="Verdana" charset="0"/>
              <a:ea typeface="Verdana" charset="0"/>
              <a:cs typeface="Verdana" charset="0"/>
            </a:endParaRPr>
          </a:p>
          <a:p>
            <a:pPr marL="914400" indent="-457200">
              <a:buFont typeface="+mj-lt"/>
              <a:buAutoNum type="alphaLcPeriod" startAt="2"/>
            </a:pPr>
            <a:r>
              <a:rPr lang="en-US" sz="2400" dirty="0">
                <a:latin typeface="Verdana" charset="0"/>
                <a:ea typeface="Verdana" charset="0"/>
                <a:cs typeface="Verdana" charset="0"/>
              </a:rPr>
              <a:t>How many students surveyed play video games?</a:t>
            </a:r>
          </a:p>
        </p:txBody>
      </p:sp>
      <p:sp>
        <p:nvSpPr>
          <p:cNvPr id="6" name="Google Shape;278;g104476d1465_1_17">
            <a:extLst>
              <a:ext uri="{FF2B5EF4-FFF2-40B4-BE49-F238E27FC236}">
                <a16:creationId xmlns:a16="http://schemas.microsoft.com/office/drawing/2014/main" xmlns=""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xmlns="" id="{A4F18C45-F2C9-E4E7-8148-21B2435D6668}"/>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309</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xmlns="" id="{9D376CE9-0271-FADC-25C6-4FB57E69FEB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994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70339" y="544144"/>
            <a:ext cx="10268716"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Jackson County Schools, located in Marianna, Florida, conducted a student survey to find out how students  spend the majority of their free time outside of school.</a:t>
            </a:r>
          </a:p>
          <a:p>
            <a:r>
              <a:rPr lang="en-US" sz="2400" dirty="0">
                <a:latin typeface="Verdana" charset="0"/>
                <a:ea typeface="Verdana" charset="0"/>
                <a:cs typeface="Verdana" charset="0"/>
              </a:rPr>
              <a:t> </a:t>
            </a:r>
          </a:p>
          <a:p>
            <a:pPr marL="460375"/>
            <a:r>
              <a:rPr lang="en-US" sz="2400" dirty="0">
                <a:latin typeface="Verdana" charset="0"/>
                <a:ea typeface="Verdana" charset="0"/>
                <a:cs typeface="Verdana" charset="0"/>
              </a:rPr>
              <a:t>The data of this survey is shown in tables below.  </a:t>
            </a:r>
          </a:p>
        </p:txBody>
      </p:sp>
      <p:sp>
        <p:nvSpPr>
          <p:cNvPr id="6" name="Google Shape;278;g104476d1465_1_17">
            <a:extLst>
              <a:ext uri="{FF2B5EF4-FFF2-40B4-BE49-F238E27FC236}">
                <a16:creationId xmlns:a16="http://schemas.microsoft.com/office/drawing/2014/main" xmlns=""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638703004"/>
              </p:ext>
            </p:extLst>
          </p:nvPr>
        </p:nvGraphicFramePr>
        <p:xfrm>
          <a:off x="2058164" y="2749928"/>
          <a:ext cx="7623910" cy="914400"/>
        </p:xfrm>
        <a:graphic>
          <a:graphicData uri="http://schemas.openxmlformats.org/drawingml/2006/table">
            <a:tbl>
              <a:tblPr firstRow="1" firstCol="1" bandRow="1"/>
              <a:tblGrid>
                <a:gridCol w="2329615">
                  <a:extLst>
                    <a:ext uri="{9D8B030D-6E8A-4147-A177-3AD203B41FA5}">
                      <a16:colId xmlns:a16="http://schemas.microsoft.com/office/drawing/2014/main" xmlns="" val="20000"/>
                    </a:ext>
                  </a:extLst>
                </a:gridCol>
                <a:gridCol w="3529792">
                  <a:extLst>
                    <a:ext uri="{9D8B030D-6E8A-4147-A177-3AD203B41FA5}">
                      <a16:colId xmlns:a16="http://schemas.microsoft.com/office/drawing/2014/main" xmlns="" val="20001"/>
                    </a:ext>
                  </a:extLst>
                </a:gridCol>
                <a:gridCol w="1764503">
                  <a:extLst>
                    <a:ext uri="{9D8B030D-6E8A-4147-A177-3AD203B41FA5}">
                      <a16:colId xmlns:a16="http://schemas.microsoft.com/office/drawing/2014/main" xmlns="" val="20002"/>
                    </a:ext>
                  </a:extLst>
                </a:gridCol>
              </a:tblGrid>
              <a:tr h="173355">
                <a:tc gridSpan="3">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Elementary Students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173355">
                <a:tc>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On the Phone</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Playing Video Games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Reading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165735">
                <a:tc>
                  <a:txBody>
                    <a:bodyPr/>
                    <a:lstStyle/>
                    <a:p>
                      <a:pPr marL="0" marR="36830" algn="ctr">
                        <a:spcBef>
                          <a:spcPts val="0"/>
                        </a:spcBef>
                        <a:spcAft>
                          <a:spcPts val="0"/>
                        </a:spcAft>
                      </a:pPr>
                      <a:r>
                        <a:rPr lang="en-US" sz="2000">
                          <a:solidFill>
                            <a:srgbClr val="000000"/>
                          </a:solidFill>
                          <a:effectLst/>
                          <a:latin typeface="Verdana" charset="0"/>
                          <a:ea typeface="Verdana" charset="0"/>
                          <a:cs typeface="Verdana" charset="0"/>
                        </a:rPr>
                        <a:t>389</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a:solidFill>
                            <a:srgbClr val="000000"/>
                          </a:solidFill>
                          <a:effectLst/>
                          <a:latin typeface="Verdana" charset="0"/>
                          <a:ea typeface="Verdana" charset="0"/>
                          <a:cs typeface="Verdana" charset="0"/>
                        </a:rPr>
                        <a:t>863</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dirty="0">
                          <a:solidFill>
                            <a:srgbClr val="000000"/>
                          </a:solidFill>
                          <a:effectLst/>
                          <a:latin typeface="Verdana" charset="0"/>
                          <a:ea typeface="Verdana" charset="0"/>
                          <a:cs typeface="Verdana" charset="0"/>
                        </a:rPr>
                        <a:t>1,242</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430455793"/>
              </p:ext>
            </p:extLst>
          </p:nvPr>
        </p:nvGraphicFramePr>
        <p:xfrm>
          <a:off x="2058164" y="4137737"/>
          <a:ext cx="7645748" cy="914400"/>
        </p:xfrm>
        <a:graphic>
          <a:graphicData uri="http://schemas.openxmlformats.org/drawingml/2006/table">
            <a:tbl>
              <a:tblPr firstRow="1" firstCol="1" bandRow="1"/>
              <a:tblGrid>
                <a:gridCol w="2336201">
                  <a:extLst>
                    <a:ext uri="{9D8B030D-6E8A-4147-A177-3AD203B41FA5}">
                      <a16:colId xmlns:a16="http://schemas.microsoft.com/office/drawing/2014/main" xmlns="" val="20000"/>
                    </a:ext>
                  </a:extLst>
                </a:gridCol>
                <a:gridCol w="3539698">
                  <a:extLst>
                    <a:ext uri="{9D8B030D-6E8A-4147-A177-3AD203B41FA5}">
                      <a16:colId xmlns:a16="http://schemas.microsoft.com/office/drawing/2014/main" xmlns="" val="20001"/>
                    </a:ext>
                  </a:extLst>
                </a:gridCol>
                <a:gridCol w="1769849">
                  <a:extLst>
                    <a:ext uri="{9D8B030D-6E8A-4147-A177-3AD203B41FA5}">
                      <a16:colId xmlns:a16="http://schemas.microsoft.com/office/drawing/2014/main" xmlns="" val="20002"/>
                    </a:ext>
                  </a:extLst>
                </a:gridCol>
              </a:tblGrid>
              <a:tr h="0">
                <a:tc gridSpan="3">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Middle School Students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0">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On the Phone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Playing Video Games</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Reading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0">
                <a:tc>
                  <a:txBody>
                    <a:bodyPr/>
                    <a:lstStyle/>
                    <a:p>
                      <a:pPr marL="0" marR="36830" algn="ctr">
                        <a:spcBef>
                          <a:spcPts val="0"/>
                        </a:spcBef>
                        <a:spcAft>
                          <a:spcPts val="0"/>
                        </a:spcAft>
                      </a:pPr>
                      <a:r>
                        <a:rPr lang="en-US" sz="2000">
                          <a:solidFill>
                            <a:srgbClr val="000000"/>
                          </a:solidFill>
                          <a:effectLst/>
                          <a:latin typeface="Verdana" charset="0"/>
                          <a:ea typeface="Verdana" charset="0"/>
                          <a:cs typeface="Verdana" charset="0"/>
                        </a:rPr>
                        <a:t>532</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dirty="0">
                          <a:solidFill>
                            <a:srgbClr val="000000"/>
                          </a:solidFill>
                          <a:effectLst/>
                          <a:latin typeface="Verdana" charset="0"/>
                          <a:ea typeface="Verdana" charset="0"/>
                          <a:cs typeface="Verdana" charset="0"/>
                        </a:rPr>
                        <a:t>557</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dirty="0">
                          <a:solidFill>
                            <a:srgbClr val="000000"/>
                          </a:solidFill>
                          <a:effectLst/>
                          <a:latin typeface="Verdana" charset="0"/>
                          <a:ea typeface="Verdana" charset="0"/>
                          <a:cs typeface="Verdana" charset="0"/>
                        </a:rPr>
                        <a:t>481</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124746864"/>
              </p:ext>
            </p:extLst>
          </p:nvPr>
        </p:nvGraphicFramePr>
        <p:xfrm>
          <a:off x="2058164" y="5525546"/>
          <a:ext cx="7645748" cy="914400"/>
        </p:xfrm>
        <a:graphic>
          <a:graphicData uri="http://schemas.openxmlformats.org/drawingml/2006/table">
            <a:tbl>
              <a:tblPr firstRow="1" firstCol="1" bandRow="1"/>
              <a:tblGrid>
                <a:gridCol w="2336201">
                  <a:extLst>
                    <a:ext uri="{9D8B030D-6E8A-4147-A177-3AD203B41FA5}">
                      <a16:colId xmlns:a16="http://schemas.microsoft.com/office/drawing/2014/main" xmlns="" val="20000"/>
                    </a:ext>
                  </a:extLst>
                </a:gridCol>
                <a:gridCol w="3539698">
                  <a:extLst>
                    <a:ext uri="{9D8B030D-6E8A-4147-A177-3AD203B41FA5}">
                      <a16:colId xmlns:a16="http://schemas.microsoft.com/office/drawing/2014/main" xmlns="" val="20001"/>
                    </a:ext>
                  </a:extLst>
                </a:gridCol>
                <a:gridCol w="1769849">
                  <a:extLst>
                    <a:ext uri="{9D8B030D-6E8A-4147-A177-3AD203B41FA5}">
                      <a16:colId xmlns:a16="http://schemas.microsoft.com/office/drawing/2014/main" xmlns="" val="20002"/>
                    </a:ext>
                  </a:extLst>
                </a:gridCol>
              </a:tblGrid>
              <a:tr h="0">
                <a:tc gridSpan="3">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High School Students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0">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On the Phone</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Playing Video Games</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Reading</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1"/>
                  </a:ext>
                </a:extLst>
              </a:tr>
              <a:tr h="0">
                <a:tc>
                  <a:txBody>
                    <a:bodyPr/>
                    <a:lstStyle/>
                    <a:p>
                      <a:pPr marL="0" marR="36830" algn="ctr">
                        <a:spcBef>
                          <a:spcPts val="0"/>
                        </a:spcBef>
                        <a:spcAft>
                          <a:spcPts val="0"/>
                        </a:spcAft>
                      </a:pPr>
                      <a:r>
                        <a:rPr lang="en-US" sz="2000" dirty="0">
                          <a:solidFill>
                            <a:srgbClr val="000000"/>
                          </a:solidFill>
                          <a:effectLst/>
                          <a:latin typeface="Verdana" charset="0"/>
                          <a:ea typeface="Verdana" charset="0"/>
                          <a:cs typeface="Verdana" charset="0"/>
                        </a:rPr>
                        <a:t>978</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a:solidFill>
                            <a:srgbClr val="000000"/>
                          </a:solidFill>
                          <a:effectLst/>
                          <a:latin typeface="Verdana" charset="0"/>
                          <a:ea typeface="Verdana" charset="0"/>
                          <a:cs typeface="Verdana" charset="0"/>
                        </a:rPr>
                        <a:t>844</a:t>
                      </a:r>
                      <a:endParaRPr lang="en-US" sz="14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r>
                        <a:rPr lang="en-US" sz="2000" dirty="0">
                          <a:solidFill>
                            <a:srgbClr val="000000"/>
                          </a:solidFill>
                          <a:effectLst/>
                          <a:latin typeface="Verdana" charset="0"/>
                          <a:ea typeface="Verdana" charset="0"/>
                          <a:cs typeface="Verdana" charset="0"/>
                        </a:rPr>
                        <a:t>224</a:t>
                      </a:r>
                      <a:endParaRPr lang="en-US" sz="14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9" name="Google Shape;282;g104476d1465_1_17">
            <a:extLst>
              <a:ext uri="{FF2B5EF4-FFF2-40B4-BE49-F238E27FC236}">
                <a16:creationId xmlns:a16="http://schemas.microsoft.com/office/drawing/2014/main" xmlns="" id="{7CE968B4-82C5-A14B-02E8-B458925CA56A}"/>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xmlns="" id="{AB3CD497-562F-2D9C-9B3D-2C9DA48CA8D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83576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xmlns="" id="{2FA392D8-3ED3-7940-83A8-1451AA8A08D4}"/>
              </a:ext>
            </a:extLst>
          </p:cNvPr>
          <p:cNvSpPr txBox="1"/>
          <p:nvPr/>
        </p:nvSpPr>
        <p:spPr>
          <a:xfrm>
            <a:off x="855023" y="520393"/>
            <a:ext cx="10284032" cy="830997"/>
          </a:xfrm>
          <a:prstGeom prst="rect">
            <a:avLst/>
          </a:prstGeom>
          <a:noFill/>
        </p:spPr>
        <p:txBody>
          <a:bodyPr wrap="square" rtlCol="0">
            <a:spAutoFit/>
          </a:bodyPr>
          <a:lstStyle/>
          <a:p>
            <a:r>
              <a:rPr lang="en-US" sz="2400" dirty="0">
                <a:latin typeface="Verdana" charset="0"/>
                <a:ea typeface="Verdana" charset="0"/>
                <a:cs typeface="Verdana" charset="0"/>
              </a:rPr>
              <a:t>Construct a two-way frequency table that shows all of the survey data. </a:t>
            </a:r>
          </a:p>
        </p:txBody>
      </p:sp>
      <p:sp>
        <p:nvSpPr>
          <p:cNvPr id="6" name="Google Shape;278;g104476d1465_1_17">
            <a:extLst>
              <a:ext uri="{FF2B5EF4-FFF2-40B4-BE49-F238E27FC236}">
                <a16:creationId xmlns:a16="http://schemas.microsoft.com/office/drawing/2014/main" xmlns=""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77576412"/>
              </p:ext>
            </p:extLst>
          </p:nvPr>
        </p:nvGraphicFramePr>
        <p:xfrm>
          <a:off x="2463574" y="1614802"/>
          <a:ext cx="6404127" cy="4351337"/>
        </p:xfrm>
        <a:graphic>
          <a:graphicData uri="http://schemas.openxmlformats.org/drawingml/2006/table">
            <a:tbl>
              <a:tblPr firstRow="1" firstCol="1" bandRow="1"/>
              <a:tblGrid>
                <a:gridCol w="1415366">
                  <a:extLst>
                    <a:ext uri="{9D8B030D-6E8A-4147-A177-3AD203B41FA5}">
                      <a16:colId xmlns:a16="http://schemas.microsoft.com/office/drawing/2014/main" xmlns="" val="20000"/>
                    </a:ext>
                  </a:extLst>
                </a:gridCol>
                <a:gridCol w="4988761">
                  <a:extLst>
                    <a:ext uri="{9D8B030D-6E8A-4147-A177-3AD203B41FA5}">
                      <a16:colId xmlns:a16="http://schemas.microsoft.com/office/drawing/2014/main" xmlns="" val="20001"/>
                    </a:ext>
                  </a:extLst>
                </a:gridCol>
              </a:tblGrid>
              <a:tr h="657155">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4579" marR="64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4579" marR="64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3694182">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p>
                      <a:pPr marL="0" marR="34290" algn="ctr">
                        <a:spcBef>
                          <a:spcPts val="900"/>
                        </a:spcBef>
                        <a:spcAft>
                          <a:spcPts val="900"/>
                        </a:spcAft>
                      </a:pPr>
                      <a:r>
                        <a:rPr lang="en-US" sz="2000" b="1">
                          <a:solidFill>
                            <a:srgbClr val="000000"/>
                          </a:solidFill>
                          <a:effectLst/>
                          <a:latin typeface="Verdana" charset="0"/>
                          <a:ea typeface="Verdana" charset="0"/>
                          <a:cs typeface="Verdana" charset="0"/>
                        </a:rPr>
                        <a:t> </a:t>
                      </a:r>
                      <a:endParaRPr lang="en-US" sz="2000">
                        <a:effectLst/>
                        <a:latin typeface="Verdana" charset="0"/>
                        <a:ea typeface="Verdana" charset="0"/>
                        <a:cs typeface="Verdana" charset="0"/>
                      </a:endParaRPr>
                    </a:p>
                  </a:txBody>
                  <a:tcPr marL="64579" marR="64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4579" marR="64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7" name="Google Shape;282;g104476d1465_1_17">
            <a:extLst>
              <a:ext uri="{FF2B5EF4-FFF2-40B4-BE49-F238E27FC236}">
                <a16:creationId xmlns:a16="http://schemas.microsoft.com/office/drawing/2014/main" xmlns="" id="{D36120FB-C029-7A8D-BF13-2F0908CCBEA4}"/>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xmlns="" id="{8BF0DA83-6868-46FA-2C6C-0901B82AA96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02892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734B4607-632E-5682-375D-772E306329BA}"/>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xmlns="" id="{BC8A2139-128F-7AB5-0D74-FB7182609CA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520041" y="60325"/>
            <a:ext cx="10141527" cy="118280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14.1.6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593248" y="27807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927854" y="1386025"/>
            <a:ext cx="10141527" cy="830997"/>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Rate your confidence in creating two-way tables to display bivariate categorical data.</a:t>
            </a:r>
          </a:p>
        </p:txBody>
      </p:sp>
      <p:sp>
        <p:nvSpPr>
          <p:cNvPr id="8" name="Google Shape;278;g104476d1465_1_17">
            <a:extLst>
              <a:ext uri="{FF2B5EF4-FFF2-40B4-BE49-F238E27FC236}">
                <a16:creationId xmlns:a16="http://schemas.microsoft.com/office/drawing/2014/main" xmlns="" id="{535320C0-DAB2-7C41-B3D0-5B31075C43F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31425" y="2513888"/>
            <a:ext cx="7115941" cy="2116640"/>
          </a:xfrm>
          <a:prstGeom prst="rect">
            <a:avLst/>
          </a:prstGeom>
        </p:spPr>
      </p:pic>
      <p:sp>
        <p:nvSpPr>
          <p:cNvPr id="3" name="Rectangle 2"/>
          <p:cNvSpPr/>
          <p:nvPr/>
        </p:nvSpPr>
        <p:spPr>
          <a:xfrm>
            <a:off x="927853" y="4962578"/>
            <a:ext cx="10141527" cy="830997"/>
          </a:xfrm>
          <a:prstGeom prst="rect">
            <a:avLst/>
          </a:prstGeom>
        </p:spPr>
        <p:txBody>
          <a:bodyPr wrap="square">
            <a:spAutoFit/>
          </a:bodyPr>
          <a:lstStyle/>
          <a:p>
            <a:pPr marL="457200" marR="34290" indent="-457200">
              <a:buFont typeface="+mj-lt"/>
              <a:buAutoNum type="arabicPeriod" startAt="2"/>
            </a:pPr>
            <a:r>
              <a:rPr lang="en-US" sz="2400" dirty="0">
                <a:latin typeface="Verdana" charset="0"/>
                <a:ea typeface="Yu Mincho" charset="-128"/>
                <a:cs typeface="Cambria" charset="0"/>
              </a:rPr>
              <a:t>What are some questions you still have about two-way frequency tables?</a:t>
            </a:r>
            <a:endParaRPr lang="en-US" sz="1600" dirty="0">
              <a:latin typeface="Cambria" charset="0"/>
              <a:ea typeface="Yu Mincho" charset="-128"/>
              <a:cs typeface="Cambria" charset="0"/>
            </a:endParaRPr>
          </a:p>
        </p:txBody>
      </p:sp>
      <p:sp>
        <p:nvSpPr>
          <p:cNvPr id="10" name="Google Shape;282;g104476d1465_1_17">
            <a:extLst>
              <a:ext uri="{FF2B5EF4-FFF2-40B4-BE49-F238E27FC236}">
                <a16:creationId xmlns:a16="http://schemas.microsoft.com/office/drawing/2014/main" xmlns="" id="{BEC0FE5E-4852-4744-82B3-F6E7285D6FF5}"/>
              </a:ext>
            </a:extLst>
          </p:cNvPr>
          <p:cNvSpPr txBox="1"/>
          <p:nvPr/>
        </p:nvSpPr>
        <p:spPr>
          <a:xfrm>
            <a:off x="8827027"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310</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xmlns="" id="{4A28F06F-2791-1DA1-332A-0B87538AC265}"/>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5253"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75FC874-D609-4011-96DC-A7BA929B0513}">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BE7A15BE-AC65-4D51-BD39-FE70EF8501C6}">
  <ds:schemaRefs>
    <ds:schemaRef ds:uri="http://schemas.microsoft.com/sharepoint/v3/contenttype/forms"/>
  </ds:schemaRefs>
</ds:datastoreItem>
</file>

<file path=customXml/itemProps3.xml><?xml version="1.0" encoding="utf-8"?>
<ds:datastoreItem xmlns:ds="http://schemas.openxmlformats.org/officeDocument/2006/customXml" ds:itemID="{9F109706-A216-43D1-B27B-A69A48089B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1476</TotalTime>
  <Words>1542</Words>
  <Application>Microsoft Office PowerPoint</Application>
  <PresentationFormat>Custom</PresentationFormat>
  <Paragraphs>345</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1_Office Theme</vt:lpstr>
      <vt:lpstr>Algebra 1  Unit 14, Lesson 1  Constructing Two-Way Tables  Volume 2, pg. 305  </vt:lpstr>
      <vt:lpstr>Benchmarks</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Guided Practice</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29</cp:revision>
  <dcterms:created xsi:type="dcterms:W3CDTF">2015-03-17T18:51:18Z</dcterms:created>
  <dcterms:modified xsi:type="dcterms:W3CDTF">2023-07-11T23:25:34Z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