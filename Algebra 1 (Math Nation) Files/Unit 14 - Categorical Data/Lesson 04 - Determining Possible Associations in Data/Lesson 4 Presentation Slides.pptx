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3"/>
  </p:notesMasterIdLst>
  <p:sldIdLst>
    <p:sldId id="256" r:id="rId2"/>
    <p:sldId id="257" r:id="rId3"/>
    <p:sldId id="285" r:id="rId4"/>
    <p:sldId id="286" r:id="rId5"/>
    <p:sldId id="261" r:id="rId6"/>
    <p:sldId id="287" r:id="rId7"/>
    <p:sldId id="288" r:id="rId8"/>
    <p:sldId id="352" r:id="rId9"/>
    <p:sldId id="353" r:id="rId10"/>
    <p:sldId id="354" r:id="rId11"/>
    <p:sldId id="356" r:id="rId12"/>
    <p:sldId id="364" r:id="rId13"/>
    <p:sldId id="357" r:id="rId14"/>
    <p:sldId id="358" r:id="rId15"/>
    <p:sldId id="359" r:id="rId16"/>
    <p:sldId id="360" r:id="rId17"/>
    <p:sldId id="361" r:id="rId18"/>
    <p:sldId id="362" r:id="rId19"/>
    <p:sldId id="363" r:id="rId20"/>
    <p:sldId id="306" r:id="rId21"/>
    <p:sldId id="307" r:id="rId22"/>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55" roundtripDataSignature="AMtx7miXGu+iP6Z2M0kNO/4dLqrShsAMT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C051A"/>
    <a:srgbClr val="DA4487"/>
    <a:srgbClr val="276C46"/>
    <a:srgbClr val="C9DF6F"/>
    <a:srgbClr val="417DBF"/>
    <a:srgbClr val="3F2A67"/>
    <a:srgbClr val="E24E5F"/>
    <a:srgbClr val="26B7D4"/>
    <a:srgbClr val="54B5D1"/>
    <a:srgbClr val="33BEA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91F0D33-8C57-4600-99A7-42BC86742BE1}">
  <a:tblStyle styleId="{A91F0D33-8C57-4600-99A7-42BC86742BE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31" autoAdjust="0"/>
    <p:restoredTop sz="94719"/>
  </p:normalViewPr>
  <p:slideViewPr>
    <p:cSldViewPr snapToGrid="0">
      <p:cViewPr varScale="1">
        <p:scale>
          <a:sx n="86" d="100"/>
          <a:sy n="86" d="100"/>
        </p:scale>
        <p:origin x="654" y="66"/>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55" Type="http://customschemas.google.com/relationships/presentationmetadata" Target="meta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59"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8"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57"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56"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104476d146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 name="Google Shape;258;g104476d1465_0_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a:t>
            </a:fld>
            <a:endParaRPr/>
          </a:p>
        </p:txBody>
      </p:sp>
    </p:spTree>
    <p:extLst>
      <p:ext uri="{BB962C8B-B14F-4D97-AF65-F5344CB8AC3E}">
        <p14:creationId xmlns:p14="http://schemas.microsoft.com/office/powerpoint/2010/main" val="23286833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4</a:t>
            </a:fld>
            <a:endParaRPr/>
          </a:p>
        </p:txBody>
      </p:sp>
    </p:spTree>
    <p:extLst>
      <p:ext uri="{BB962C8B-B14F-4D97-AF65-F5344CB8AC3E}">
        <p14:creationId xmlns:p14="http://schemas.microsoft.com/office/powerpoint/2010/main" val="17468404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6</a:t>
            </a:fld>
            <a:endParaRPr/>
          </a:p>
        </p:txBody>
      </p:sp>
    </p:spTree>
    <p:extLst>
      <p:ext uri="{BB962C8B-B14F-4D97-AF65-F5344CB8AC3E}">
        <p14:creationId xmlns:p14="http://schemas.microsoft.com/office/powerpoint/2010/main" val="15833789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7</a:t>
            </a:fld>
            <a:endParaRPr/>
          </a:p>
        </p:txBody>
      </p:sp>
    </p:spTree>
    <p:extLst>
      <p:ext uri="{BB962C8B-B14F-4D97-AF65-F5344CB8AC3E}">
        <p14:creationId xmlns:p14="http://schemas.microsoft.com/office/powerpoint/2010/main" val="306399360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a:t>
            </a:fld>
            <a:endParaRPr/>
          </a:p>
        </p:txBody>
      </p:sp>
    </p:spTree>
    <p:extLst>
      <p:ext uri="{BB962C8B-B14F-4D97-AF65-F5344CB8AC3E}">
        <p14:creationId xmlns:p14="http://schemas.microsoft.com/office/powerpoint/2010/main" val="170706645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9</a:t>
            </a:fld>
            <a:endParaRPr/>
          </a:p>
        </p:txBody>
      </p:sp>
    </p:spTree>
    <p:extLst>
      <p:ext uri="{BB962C8B-B14F-4D97-AF65-F5344CB8AC3E}">
        <p14:creationId xmlns:p14="http://schemas.microsoft.com/office/powerpoint/2010/main" val="197758479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10</a:t>
            </a:fld>
            <a:endParaRPr/>
          </a:p>
        </p:txBody>
      </p:sp>
    </p:spTree>
    <p:extLst>
      <p:ext uri="{BB962C8B-B14F-4D97-AF65-F5344CB8AC3E}">
        <p14:creationId xmlns:p14="http://schemas.microsoft.com/office/powerpoint/2010/main" val="53291390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11</a:t>
            </a:fld>
            <a:endParaRPr/>
          </a:p>
        </p:txBody>
      </p:sp>
    </p:spTree>
    <p:extLst>
      <p:ext uri="{BB962C8B-B14F-4D97-AF65-F5344CB8AC3E}">
        <p14:creationId xmlns:p14="http://schemas.microsoft.com/office/powerpoint/2010/main" val="118332979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12</a:t>
            </a:fld>
            <a:endParaRPr/>
          </a:p>
        </p:txBody>
      </p:sp>
    </p:spTree>
    <p:extLst>
      <p:ext uri="{BB962C8B-B14F-4D97-AF65-F5344CB8AC3E}">
        <p14:creationId xmlns:p14="http://schemas.microsoft.com/office/powerpoint/2010/main" val="10881388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13</a:t>
            </a:fld>
            <a:endParaRPr/>
          </a:p>
        </p:txBody>
      </p:sp>
    </p:spTree>
    <p:extLst>
      <p:ext uri="{BB962C8B-B14F-4D97-AF65-F5344CB8AC3E}">
        <p14:creationId xmlns:p14="http://schemas.microsoft.com/office/powerpoint/2010/main" val="10125498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14</a:t>
            </a:fld>
            <a:endParaRPr/>
          </a:p>
        </p:txBody>
      </p:sp>
    </p:spTree>
    <p:extLst>
      <p:ext uri="{BB962C8B-B14F-4D97-AF65-F5344CB8AC3E}">
        <p14:creationId xmlns:p14="http://schemas.microsoft.com/office/powerpoint/2010/main" val="129282954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15</a:t>
            </a:fld>
            <a:endParaRPr/>
          </a:p>
        </p:txBody>
      </p:sp>
    </p:spTree>
    <p:extLst>
      <p:ext uri="{BB962C8B-B14F-4D97-AF65-F5344CB8AC3E}">
        <p14:creationId xmlns:p14="http://schemas.microsoft.com/office/powerpoint/2010/main" val="99122826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16</a:t>
            </a:fld>
            <a:endParaRPr/>
          </a:p>
        </p:txBody>
      </p:sp>
    </p:spTree>
    <p:extLst>
      <p:ext uri="{BB962C8B-B14F-4D97-AF65-F5344CB8AC3E}">
        <p14:creationId xmlns:p14="http://schemas.microsoft.com/office/powerpoint/2010/main" val="3991875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17</a:t>
            </a:fld>
            <a:endParaRPr/>
          </a:p>
        </p:txBody>
      </p:sp>
    </p:spTree>
    <p:extLst>
      <p:ext uri="{BB962C8B-B14F-4D97-AF65-F5344CB8AC3E}">
        <p14:creationId xmlns:p14="http://schemas.microsoft.com/office/powerpoint/2010/main" val="107917435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18</a:t>
            </a:fld>
            <a:endParaRPr/>
          </a:p>
        </p:txBody>
      </p:sp>
    </p:spTree>
    <p:extLst>
      <p:ext uri="{BB962C8B-B14F-4D97-AF65-F5344CB8AC3E}">
        <p14:creationId xmlns:p14="http://schemas.microsoft.com/office/powerpoint/2010/main" val="3339241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19</a:t>
            </a:fld>
            <a:endParaRPr/>
          </a:p>
        </p:txBody>
      </p:sp>
    </p:spTree>
    <p:extLst>
      <p:ext uri="{BB962C8B-B14F-4D97-AF65-F5344CB8AC3E}">
        <p14:creationId xmlns:p14="http://schemas.microsoft.com/office/powerpoint/2010/main" val="167018634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20</a:t>
            </a:fld>
            <a:endParaRPr/>
          </a:p>
        </p:txBody>
      </p:sp>
    </p:spTree>
    <p:extLst>
      <p:ext uri="{BB962C8B-B14F-4D97-AF65-F5344CB8AC3E}">
        <p14:creationId xmlns:p14="http://schemas.microsoft.com/office/powerpoint/2010/main" val="71668810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21</a:t>
            </a:fld>
            <a:endParaRPr/>
          </a:p>
        </p:txBody>
      </p:sp>
    </p:spTree>
    <p:extLst>
      <p:ext uri="{BB962C8B-B14F-4D97-AF65-F5344CB8AC3E}">
        <p14:creationId xmlns:p14="http://schemas.microsoft.com/office/powerpoint/2010/main" val="193732810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Title Slide">
  <p:cSld name="1_Title Slide">
    <p:bg>
      <p:bgPr>
        <a:blipFill>
          <a:blip r:embed="rId2" cstate="screen">
            <a:alphaModFix/>
            <a:extLst>
              <a:ext uri="{28A0092B-C50C-407E-A947-70E740481C1C}">
                <a14:useLocalDpi xmlns:a14="http://schemas.microsoft.com/office/drawing/2010/main"/>
              </a:ext>
            </a:extLst>
          </a:blip>
          <a:stretch>
            <a:fillRect/>
          </a:stretch>
        </a:blipFill>
        <a:effectLst/>
      </p:bgPr>
    </p:bg>
    <p:spTree>
      <p:nvGrpSpPr>
        <p:cNvPr id="1" name="Shape 15"/>
        <p:cNvGrpSpPr/>
        <p:nvPr/>
      </p:nvGrpSpPr>
      <p:grpSpPr>
        <a:xfrm>
          <a:off x="0" y="0"/>
          <a:ext cx="0" cy="0"/>
          <a:chOff x="0" y="0"/>
          <a:chExt cx="0" cy="0"/>
        </a:xfrm>
      </p:grpSpPr>
      <p:sp>
        <p:nvSpPr>
          <p:cNvPr id="16" name="Google Shape;16;p56"/>
          <p:cNvSpPr txBox="1">
            <a:spLocks noGrp="1"/>
          </p:cNvSpPr>
          <p:nvPr>
            <p:ph type="ctrTitle"/>
          </p:nvPr>
        </p:nvSpPr>
        <p:spPr>
          <a:xfrm>
            <a:off x="5299677" y="1070919"/>
            <a:ext cx="6526000" cy="3618000"/>
          </a:xfrm>
          <a:prstGeom prst="rect">
            <a:avLst/>
          </a:prstGeom>
          <a:noFill/>
          <a:ln>
            <a:noFill/>
          </a:ln>
        </p:spPr>
        <p:txBody>
          <a:bodyPr spcFirstLastPara="1" wrap="square" lIns="91425" tIns="91425" rIns="91425" bIns="91425" anchor="b" anchorCtr="0">
            <a:normAutofit/>
          </a:bodyPr>
          <a:lstStyle>
            <a:lvl1pPr lvl="0" algn="l" rtl="0">
              <a:lnSpc>
                <a:spcPct val="90000"/>
              </a:lnSpc>
              <a:spcBef>
                <a:spcPts val="0"/>
              </a:spcBef>
              <a:spcAft>
                <a:spcPts val="0"/>
              </a:spcAft>
              <a:buClr>
                <a:srgbClr val="FFFFFF"/>
              </a:buClr>
              <a:buSzPts val="3000"/>
              <a:buFont typeface="Arial Black"/>
              <a:buNone/>
              <a:defRPr sz="3000">
                <a:solidFill>
                  <a:srgbClr val="FFFFFF"/>
                </a:solidFill>
                <a:latin typeface="Arial Black"/>
                <a:ea typeface="Arial Black"/>
                <a:cs typeface="Arial Black"/>
                <a:sym typeface="Arial Black"/>
              </a:defRPr>
            </a:lvl1pPr>
            <a:lvl2pPr lvl="1" rtl="0">
              <a:spcBef>
                <a:spcPts val="0"/>
              </a:spcBef>
              <a:spcAft>
                <a:spcPts val="0"/>
              </a:spcAft>
              <a:buSzPts val="1400"/>
              <a:buNone/>
              <a:defRPr sz="7200"/>
            </a:lvl2pPr>
            <a:lvl3pPr lvl="2" rtl="0">
              <a:spcBef>
                <a:spcPts val="0"/>
              </a:spcBef>
              <a:spcAft>
                <a:spcPts val="0"/>
              </a:spcAft>
              <a:buSzPts val="1400"/>
              <a:buNone/>
              <a:defRPr sz="7200"/>
            </a:lvl3pPr>
            <a:lvl4pPr lvl="3" rtl="0">
              <a:spcBef>
                <a:spcPts val="0"/>
              </a:spcBef>
              <a:spcAft>
                <a:spcPts val="0"/>
              </a:spcAft>
              <a:buSzPts val="1400"/>
              <a:buNone/>
              <a:defRPr sz="7200"/>
            </a:lvl4pPr>
            <a:lvl5pPr lvl="4" rtl="0">
              <a:spcBef>
                <a:spcPts val="0"/>
              </a:spcBef>
              <a:spcAft>
                <a:spcPts val="0"/>
              </a:spcAft>
              <a:buSzPts val="1400"/>
              <a:buNone/>
              <a:defRPr sz="7200"/>
            </a:lvl5pPr>
            <a:lvl6pPr lvl="5" rtl="0">
              <a:spcBef>
                <a:spcPts val="0"/>
              </a:spcBef>
              <a:spcAft>
                <a:spcPts val="0"/>
              </a:spcAft>
              <a:buSzPts val="1400"/>
              <a:buNone/>
              <a:defRPr sz="7200"/>
            </a:lvl6pPr>
            <a:lvl7pPr lvl="6" rtl="0">
              <a:spcBef>
                <a:spcPts val="0"/>
              </a:spcBef>
              <a:spcAft>
                <a:spcPts val="0"/>
              </a:spcAft>
              <a:buSzPts val="1400"/>
              <a:buNone/>
              <a:defRPr sz="7200"/>
            </a:lvl7pPr>
            <a:lvl8pPr lvl="7" rtl="0">
              <a:spcBef>
                <a:spcPts val="0"/>
              </a:spcBef>
              <a:spcAft>
                <a:spcPts val="0"/>
              </a:spcAft>
              <a:buSzPts val="1400"/>
              <a:buNone/>
              <a:defRPr sz="7200"/>
            </a:lvl8pPr>
            <a:lvl9pPr lvl="8" rtl="0">
              <a:spcBef>
                <a:spcPts val="0"/>
              </a:spcBef>
              <a:spcAft>
                <a:spcPts val="0"/>
              </a:spcAft>
              <a:buSzPts val="1400"/>
              <a:buNone/>
              <a:defRPr sz="72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7"/>
        <p:cNvGrpSpPr/>
        <p:nvPr/>
      </p:nvGrpSpPr>
      <p:grpSpPr>
        <a:xfrm>
          <a:off x="0" y="0"/>
          <a:ext cx="0" cy="0"/>
          <a:chOff x="0" y="0"/>
          <a:chExt cx="0" cy="0"/>
        </a:xfrm>
      </p:grpSpPr>
      <p:sp>
        <p:nvSpPr>
          <p:cNvPr id="18" name="Google Shape;18;p77"/>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9" name="Google Shape;19;p77"/>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rtl="0">
              <a:lnSpc>
                <a:spcPct val="90000"/>
              </a:lnSpc>
              <a:spcBef>
                <a:spcPts val="750"/>
              </a:spcBef>
              <a:spcAft>
                <a:spcPts val="0"/>
              </a:spcAft>
              <a:buClr>
                <a:schemeClr val="dk1"/>
              </a:buClr>
              <a:buSzPts val="1800"/>
              <a:buNone/>
              <a:defRPr sz="1800"/>
            </a:lvl1pPr>
            <a:lvl2pPr lvl="1" algn="ctr" rtl="0">
              <a:lnSpc>
                <a:spcPct val="90000"/>
              </a:lnSpc>
              <a:spcBef>
                <a:spcPts val="375"/>
              </a:spcBef>
              <a:spcAft>
                <a:spcPts val="0"/>
              </a:spcAft>
              <a:buClr>
                <a:schemeClr val="dk1"/>
              </a:buClr>
              <a:buSzPts val="1500"/>
              <a:buNone/>
              <a:defRPr sz="1500"/>
            </a:lvl2pPr>
            <a:lvl3pPr lvl="2" algn="ctr" rtl="0">
              <a:lnSpc>
                <a:spcPct val="90000"/>
              </a:lnSpc>
              <a:spcBef>
                <a:spcPts val="375"/>
              </a:spcBef>
              <a:spcAft>
                <a:spcPts val="0"/>
              </a:spcAft>
              <a:buClr>
                <a:schemeClr val="dk1"/>
              </a:buClr>
              <a:buSzPts val="1350"/>
              <a:buNone/>
              <a:defRPr sz="1350"/>
            </a:lvl3pPr>
            <a:lvl4pPr lvl="3" algn="ctr" rtl="0">
              <a:lnSpc>
                <a:spcPct val="90000"/>
              </a:lnSpc>
              <a:spcBef>
                <a:spcPts val="375"/>
              </a:spcBef>
              <a:spcAft>
                <a:spcPts val="0"/>
              </a:spcAft>
              <a:buClr>
                <a:schemeClr val="dk1"/>
              </a:buClr>
              <a:buSzPts val="1200"/>
              <a:buNone/>
              <a:defRPr sz="1200"/>
            </a:lvl4pPr>
            <a:lvl5pPr lvl="4" algn="ctr" rtl="0">
              <a:lnSpc>
                <a:spcPct val="90000"/>
              </a:lnSpc>
              <a:spcBef>
                <a:spcPts val="375"/>
              </a:spcBef>
              <a:spcAft>
                <a:spcPts val="0"/>
              </a:spcAft>
              <a:buClr>
                <a:schemeClr val="dk1"/>
              </a:buClr>
              <a:buSzPts val="1200"/>
              <a:buNone/>
              <a:defRPr sz="1200"/>
            </a:lvl5pPr>
            <a:lvl6pPr lvl="5" algn="ctr" rtl="0">
              <a:lnSpc>
                <a:spcPct val="90000"/>
              </a:lnSpc>
              <a:spcBef>
                <a:spcPts val="375"/>
              </a:spcBef>
              <a:spcAft>
                <a:spcPts val="0"/>
              </a:spcAft>
              <a:buClr>
                <a:schemeClr val="dk1"/>
              </a:buClr>
              <a:buSzPts val="1200"/>
              <a:buNone/>
              <a:defRPr sz="1200"/>
            </a:lvl6pPr>
            <a:lvl7pPr lvl="6" algn="ctr" rtl="0">
              <a:lnSpc>
                <a:spcPct val="90000"/>
              </a:lnSpc>
              <a:spcBef>
                <a:spcPts val="375"/>
              </a:spcBef>
              <a:spcAft>
                <a:spcPts val="0"/>
              </a:spcAft>
              <a:buClr>
                <a:schemeClr val="dk1"/>
              </a:buClr>
              <a:buSzPts val="1200"/>
              <a:buNone/>
              <a:defRPr sz="1200"/>
            </a:lvl7pPr>
            <a:lvl8pPr lvl="7" algn="ctr" rtl="0">
              <a:lnSpc>
                <a:spcPct val="90000"/>
              </a:lnSpc>
              <a:spcBef>
                <a:spcPts val="375"/>
              </a:spcBef>
              <a:spcAft>
                <a:spcPts val="0"/>
              </a:spcAft>
              <a:buClr>
                <a:schemeClr val="dk1"/>
              </a:buClr>
              <a:buSzPts val="1200"/>
              <a:buNone/>
              <a:defRPr sz="1200"/>
            </a:lvl8pPr>
            <a:lvl9pPr lvl="8" algn="ctr" rtl="0">
              <a:lnSpc>
                <a:spcPct val="90000"/>
              </a:lnSpc>
              <a:spcBef>
                <a:spcPts val="375"/>
              </a:spcBef>
              <a:spcAft>
                <a:spcPts val="0"/>
              </a:spcAft>
              <a:buClr>
                <a:schemeClr val="dk1"/>
              </a:buClr>
              <a:buSzPts val="1200"/>
              <a:buNone/>
              <a:defRPr sz="1200"/>
            </a:lvl9pPr>
          </a:lstStyle>
          <a:p>
            <a:endParaRPr/>
          </a:p>
        </p:txBody>
      </p:sp>
      <p:sp>
        <p:nvSpPr>
          <p:cNvPr id="20" name="Google Shape;20;p7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1" name="Google Shape;21;p7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2" name="Google Shape;22;p7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3"/>
        <p:cNvGrpSpPr/>
        <p:nvPr/>
      </p:nvGrpSpPr>
      <p:grpSpPr>
        <a:xfrm>
          <a:off x="0" y="0"/>
          <a:ext cx="0" cy="0"/>
          <a:chOff x="0" y="0"/>
          <a:chExt cx="0" cy="0"/>
        </a:xfrm>
      </p:grpSpPr>
      <p:sp>
        <p:nvSpPr>
          <p:cNvPr id="24" name="Google Shape;24;p78"/>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5" name="Google Shape;25;p78"/>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26" name="Google Shape;26;p78"/>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7" name="Google Shape;27;p78"/>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8" name="Google Shape;28;p78"/>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9"/>
        <p:cNvGrpSpPr/>
        <p:nvPr/>
      </p:nvGrpSpPr>
      <p:grpSpPr>
        <a:xfrm>
          <a:off x="0" y="0"/>
          <a:ext cx="0" cy="0"/>
          <a:chOff x="0" y="0"/>
          <a:chExt cx="0" cy="0"/>
        </a:xfrm>
      </p:grpSpPr>
      <p:sp>
        <p:nvSpPr>
          <p:cNvPr id="30" name="Google Shape;30;p79"/>
          <p:cNvSpPr txBox="1">
            <a:spLocks noGrp="1"/>
          </p:cNvSpPr>
          <p:nvPr>
            <p:ph type="title"/>
          </p:nvPr>
        </p:nvSpPr>
        <p:spPr>
          <a:xfrm>
            <a:off x="831851" y="1709739"/>
            <a:ext cx="10515600" cy="28527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1" name="Google Shape;31;p79"/>
          <p:cNvSpPr txBox="1">
            <a:spLocks noGrp="1"/>
          </p:cNvSpPr>
          <p:nvPr>
            <p:ph type="body" idx="1"/>
          </p:nvPr>
        </p:nvSpPr>
        <p:spPr>
          <a:xfrm>
            <a:off x="831851" y="4589464"/>
            <a:ext cx="10515600" cy="15003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rgbClr val="888888"/>
              </a:buClr>
              <a:buSzPts val="1800"/>
              <a:buNone/>
              <a:defRPr sz="1800">
                <a:solidFill>
                  <a:srgbClr val="888888"/>
                </a:solidFill>
              </a:defRPr>
            </a:lvl1pPr>
            <a:lvl2pPr marL="914400" lvl="1" indent="-228600" algn="l" rtl="0">
              <a:lnSpc>
                <a:spcPct val="90000"/>
              </a:lnSpc>
              <a:spcBef>
                <a:spcPts val="375"/>
              </a:spcBef>
              <a:spcAft>
                <a:spcPts val="0"/>
              </a:spcAft>
              <a:buClr>
                <a:srgbClr val="888888"/>
              </a:buClr>
              <a:buSzPts val="1500"/>
              <a:buNone/>
              <a:defRPr sz="1500">
                <a:solidFill>
                  <a:srgbClr val="888888"/>
                </a:solidFill>
              </a:defRPr>
            </a:lvl2pPr>
            <a:lvl3pPr marL="1371600" lvl="2" indent="-228600" algn="l" rtl="0">
              <a:lnSpc>
                <a:spcPct val="90000"/>
              </a:lnSpc>
              <a:spcBef>
                <a:spcPts val="375"/>
              </a:spcBef>
              <a:spcAft>
                <a:spcPts val="0"/>
              </a:spcAft>
              <a:buClr>
                <a:srgbClr val="888888"/>
              </a:buClr>
              <a:buSzPts val="1350"/>
              <a:buNone/>
              <a:defRPr sz="1350">
                <a:solidFill>
                  <a:srgbClr val="888888"/>
                </a:solidFill>
              </a:defRPr>
            </a:lvl3pPr>
            <a:lvl4pPr marL="1828800" lvl="3" indent="-228600" algn="l" rtl="0">
              <a:lnSpc>
                <a:spcPct val="90000"/>
              </a:lnSpc>
              <a:spcBef>
                <a:spcPts val="375"/>
              </a:spcBef>
              <a:spcAft>
                <a:spcPts val="0"/>
              </a:spcAft>
              <a:buClr>
                <a:srgbClr val="888888"/>
              </a:buClr>
              <a:buSzPts val="1200"/>
              <a:buNone/>
              <a:defRPr sz="1200">
                <a:solidFill>
                  <a:srgbClr val="888888"/>
                </a:solidFill>
              </a:defRPr>
            </a:lvl4pPr>
            <a:lvl5pPr marL="2286000" lvl="4" indent="-228600" algn="l" rtl="0">
              <a:lnSpc>
                <a:spcPct val="90000"/>
              </a:lnSpc>
              <a:spcBef>
                <a:spcPts val="375"/>
              </a:spcBef>
              <a:spcAft>
                <a:spcPts val="0"/>
              </a:spcAft>
              <a:buClr>
                <a:srgbClr val="888888"/>
              </a:buClr>
              <a:buSzPts val="1200"/>
              <a:buNone/>
              <a:defRPr sz="1200">
                <a:solidFill>
                  <a:srgbClr val="888888"/>
                </a:solidFill>
              </a:defRPr>
            </a:lvl5pPr>
            <a:lvl6pPr marL="2743200" lvl="5" indent="-228600" algn="l" rtl="0">
              <a:lnSpc>
                <a:spcPct val="90000"/>
              </a:lnSpc>
              <a:spcBef>
                <a:spcPts val="375"/>
              </a:spcBef>
              <a:spcAft>
                <a:spcPts val="0"/>
              </a:spcAft>
              <a:buClr>
                <a:srgbClr val="888888"/>
              </a:buClr>
              <a:buSzPts val="1200"/>
              <a:buNone/>
              <a:defRPr sz="1200">
                <a:solidFill>
                  <a:srgbClr val="888888"/>
                </a:solidFill>
              </a:defRPr>
            </a:lvl6pPr>
            <a:lvl7pPr marL="3200400" lvl="6" indent="-228600" algn="l" rtl="0">
              <a:lnSpc>
                <a:spcPct val="90000"/>
              </a:lnSpc>
              <a:spcBef>
                <a:spcPts val="375"/>
              </a:spcBef>
              <a:spcAft>
                <a:spcPts val="0"/>
              </a:spcAft>
              <a:buClr>
                <a:srgbClr val="888888"/>
              </a:buClr>
              <a:buSzPts val="1200"/>
              <a:buNone/>
              <a:defRPr sz="1200">
                <a:solidFill>
                  <a:srgbClr val="888888"/>
                </a:solidFill>
              </a:defRPr>
            </a:lvl7pPr>
            <a:lvl8pPr marL="3657600" lvl="7" indent="-228600" algn="l" rtl="0">
              <a:lnSpc>
                <a:spcPct val="90000"/>
              </a:lnSpc>
              <a:spcBef>
                <a:spcPts val="375"/>
              </a:spcBef>
              <a:spcAft>
                <a:spcPts val="0"/>
              </a:spcAft>
              <a:buClr>
                <a:srgbClr val="888888"/>
              </a:buClr>
              <a:buSzPts val="1200"/>
              <a:buNone/>
              <a:defRPr sz="1200">
                <a:solidFill>
                  <a:srgbClr val="888888"/>
                </a:solidFill>
              </a:defRPr>
            </a:lvl8pPr>
            <a:lvl9pPr marL="4114800" lvl="8" indent="-228600" algn="l" rtl="0">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32" name="Google Shape;32;p79"/>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3" name="Google Shape;33;p79"/>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4" name="Google Shape;34;p79"/>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5"/>
        <p:cNvGrpSpPr/>
        <p:nvPr/>
      </p:nvGrpSpPr>
      <p:grpSpPr>
        <a:xfrm>
          <a:off x="0" y="0"/>
          <a:ext cx="0" cy="0"/>
          <a:chOff x="0" y="0"/>
          <a:chExt cx="0" cy="0"/>
        </a:xfrm>
      </p:grpSpPr>
      <p:sp>
        <p:nvSpPr>
          <p:cNvPr id="36" name="Google Shape;36;p80"/>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7" name="Google Shape;37;p80"/>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8" name="Google Shape;38;p80"/>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9" name="Google Shape;39;p80"/>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0" name="Google Shape;40;p80"/>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1" name="Google Shape;41;p80"/>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2"/>
        <p:cNvGrpSpPr/>
        <p:nvPr/>
      </p:nvGrpSpPr>
      <p:grpSpPr>
        <a:xfrm>
          <a:off x="0" y="0"/>
          <a:ext cx="0" cy="0"/>
          <a:chOff x="0" y="0"/>
          <a:chExt cx="0" cy="0"/>
        </a:xfrm>
      </p:grpSpPr>
      <p:sp>
        <p:nvSpPr>
          <p:cNvPr id="43" name="Google Shape;43;p81"/>
          <p:cNvSpPr txBox="1">
            <a:spLocks noGrp="1"/>
          </p:cNvSpPr>
          <p:nvPr>
            <p:ph type="title"/>
          </p:nvPr>
        </p:nvSpPr>
        <p:spPr>
          <a:xfrm>
            <a:off x="839788"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4" name="Google Shape;44;p81"/>
          <p:cNvSpPr txBox="1">
            <a:spLocks noGrp="1"/>
          </p:cNvSpPr>
          <p:nvPr>
            <p:ph type="body" idx="1"/>
          </p:nvPr>
        </p:nvSpPr>
        <p:spPr>
          <a:xfrm>
            <a:off x="839789" y="1681163"/>
            <a:ext cx="51576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5" name="Google Shape;45;p81"/>
          <p:cNvSpPr txBox="1">
            <a:spLocks noGrp="1"/>
          </p:cNvSpPr>
          <p:nvPr>
            <p:ph type="body" idx="2"/>
          </p:nvPr>
        </p:nvSpPr>
        <p:spPr>
          <a:xfrm>
            <a:off x="839789" y="2505075"/>
            <a:ext cx="51576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6" name="Google Shape;46;p81"/>
          <p:cNvSpPr txBox="1">
            <a:spLocks noGrp="1"/>
          </p:cNvSpPr>
          <p:nvPr>
            <p:ph type="body" idx="3"/>
          </p:nvPr>
        </p:nvSpPr>
        <p:spPr>
          <a:xfrm>
            <a:off x="6172200" y="1681163"/>
            <a:ext cx="51832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7" name="Google Shape;47;p81"/>
          <p:cNvSpPr txBox="1">
            <a:spLocks noGrp="1"/>
          </p:cNvSpPr>
          <p:nvPr>
            <p:ph type="body" idx="4"/>
          </p:nvPr>
        </p:nvSpPr>
        <p:spPr>
          <a:xfrm>
            <a:off x="6172200" y="2505075"/>
            <a:ext cx="51832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8" name="Google Shape;48;p81"/>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9" name="Google Shape;49;p81"/>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81"/>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1"/>
        <p:cNvGrpSpPr/>
        <p:nvPr/>
      </p:nvGrpSpPr>
      <p:grpSpPr>
        <a:xfrm>
          <a:off x="0" y="0"/>
          <a:ext cx="0" cy="0"/>
          <a:chOff x="0" y="0"/>
          <a:chExt cx="0" cy="0"/>
        </a:xfrm>
      </p:grpSpPr>
      <p:sp>
        <p:nvSpPr>
          <p:cNvPr id="52" name="Google Shape;52;p82"/>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3" name="Google Shape;53;p82"/>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4" name="Google Shape;54;p82"/>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2"/>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83"/>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8" name="Google Shape;58;p83"/>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9" name="Google Shape;59;p83"/>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84"/>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2" name="Google Shape;62;p84"/>
          <p:cNvSpPr txBox="1">
            <a:spLocks noGrp="1"/>
          </p:cNvSpPr>
          <p:nvPr>
            <p:ph type="body" idx="1"/>
          </p:nvPr>
        </p:nvSpPr>
        <p:spPr>
          <a:xfrm>
            <a:off x="5183188" y="987426"/>
            <a:ext cx="6172400" cy="4873500"/>
          </a:xfrm>
          <a:prstGeom prst="rect">
            <a:avLst/>
          </a:prstGeom>
          <a:noFill/>
          <a:ln>
            <a:noFill/>
          </a:ln>
        </p:spPr>
        <p:txBody>
          <a:bodyPr spcFirstLastPara="1" wrap="square" lIns="91425" tIns="45700" rIns="91425" bIns="45700" anchor="t" anchorCtr="0">
            <a:normAutofit/>
          </a:bodyPr>
          <a:lstStyle>
            <a:lvl1pPr marL="457200" lvl="0" indent="-381000" algn="l" rtl="0">
              <a:lnSpc>
                <a:spcPct val="90000"/>
              </a:lnSpc>
              <a:spcBef>
                <a:spcPts val="750"/>
              </a:spcBef>
              <a:spcAft>
                <a:spcPts val="0"/>
              </a:spcAft>
              <a:buClr>
                <a:schemeClr val="dk1"/>
              </a:buClr>
              <a:buSzPts val="2400"/>
              <a:buChar char="•"/>
              <a:defRPr sz="2400"/>
            </a:lvl1pPr>
            <a:lvl2pPr marL="914400" lvl="1" indent="-361950" algn="l" rtl="0">
              <a:lnSpc>
                <a:spcPct val="90000"/>
              </a:lnSpc>
              <a:spcBef>
                <a:spcPts val="375"/>
              </a:spcBef>
              <a:spcAft>
                <a:spcPts val="0"/>
              </a:spcAft>
              <a:buClr>
                <a:schemeClr val="dk1"/>
              </a:buClr>
              <a:buSzPts val="2100"/>
              <a:buChar char="•"/>
              <a:defRPr sz="2100"/>
            </a:lvl2pPr>
            <a:lvl3pPr marL="1371600" lvl="2" indent="-342900" algn="l" rtl="0">
              <a:lnSpc>
                <a:spcPct val="90000"/>
              </a:lnSpc>
              <a:spcBef>
                <a:spcPts val="375"/>
              </a:spcBef>
              <a:spcAft>
                <a:spcPts val="0"/>
              </a:spcAft>
              <a:buClr>
                <a:schemeClr val="dk1"/>
              </a:buClr>
              <a:buSzPts val="1800"/>
              <a:buChar char="•"/>
              <a:defRPr sz="1800"/>
            </a:lvl3pPr>
            <a:lvl4pPr marL="1828800" lvl="3" indent="-323850" algn="l" rtl="0">
              <a:lnSpc>
                <a:spcPct val="90000"/>
              </a:lnSpc>
              <a:spcBef>
                <a:spcPts val="375"/>
              </a:spcBef>
              <a:spcAft>
                <a:spcPts val="0"/>
              </a:spcAft>
              <a:buClr>
                <a:schemeClr val="dk1"/>
              </a:buClr>
              <a:buSzPts val="1500"/>
              <a:buChar char="•"/>
              <a:defRPr sz="1500"/>
            </a:lvl4pPr>
            <a:lvl5pPr marL="2286000" lvl="4" indent="-323850" algn="l" rtl="0">
              <a:lnSpc>
                <a:spcPct val="90000"/>
              </a:lnSpc>
              <a:spcBef>
                <a:spcPts val="375"/>
              </a:spcBef>
              <a:spcAft>
                <a:spcPts val="0"/>
              </a:spcAft>
              <a:buClr>
                <a:schemeClr val="dk1"/>
              </a:buClr>
              <a:buSzPts val="1500"/>
              <a:buChar char="•"/>
              <a:defRPr sz="1500"/>
            </a:lvl5pPr>
            <a:lvl6pPr marL="2743200" lvl="5" indent="-323850" algn="l" rtl="0">
              <a:lnSpc>
                <a:spcPct val="90000"/>
              </a:lnSpc>
              <a:spcBef>
                <a:spcPts val="375"/>
              </a:spcBef>
              <a:spcAft>
                <a:spcPts val="0"/>
              </a:spcAft>
              <a:buClr>
                <a:schemeClr val="dk1"/>
              </a:buClr>
              <a:buSzPts val="1500"/>
              <a:buChar char="•"/>
              <a:defRPr sz="1500"/>
            </a:lvl6pPr>
            <a:lvl7pPr marL="3200400" lvl="6" indent="-323850" algn="l" rtl="0">
              <a:lnSpc>
                <a:spcPct val="90000"/>
              </a:lnSpc>
              <a:spcBef>
                <a:spcPts val="375"/>
              </a:spcBef>
              <a:spcAft>
                <a:spcPts val="0"/>
              </a:spcAft>
              <a:buClr>
                <a:schemeClr val="dk1"/>
              </a:buClr>
              <a:buSzPts val="1500"/>
              <a:buChar char="•"/>
              <a:defRPr sz="1500"/>
            </a:lvl7pPr>
            <a:lvl8pPr marL="3657600" lvl="7" indent="-323850" algn="l" rtl="0">
              <a:lnSpc>
                <a:spcPct val="90000"/>
              </a:lnSpc>
              <a:spcBef>
                <a:spcPts val="375"/>
              </a:spcBef>
              <a:spcAft>
                <a:spcPts val="0"/>
              </a:spcAft>
              <a:buClr>
                <a:schemeClr val="dk1"/>
              </a:buClr>
              <a:buSzPts val="1500"/>
              <a:buChar char="•"/>
              <a:defRPr sz="1500"/>
            </a:lvl8pPr>
            <a:lvl9pPr marL="4114800" lvl="8" indent="-323850" algn="l" rtl="0">
              <a:lnSpc>
                <a:spcPct val="90000"/>
              </a:lnSpc>
              <a:spcBef>
                <a:spcPts val="375"/>
              </a:spcBef>
              <a:spcAft>
                <a:spcPts val="0"/>
              </a:spcAft>
              <a:buClr>
                <a:schemeClr val="dk1"/>
              </a:buClr>
              <a:buSzPts val="1500"/>
              <a:buChar char="•"/>
              <a:defRPr sz="1500"/>
            </a:lvl9pPr>
          </a:lstStyle>
          <a:p>
            <a:endParaRPr/>
          </a:p>
        </p:txBody>
      </p:sp>
      <p:sp>
        <p:nvSpPr>
          <p:cNvPr id="63" name="Google Shape;63;p84"/>
          <p:cNvSpPr txBox="1">
            <a:spLocks noGrp="1"/>
          </p:cNvSpPr>
          <p:nvPr>
            <p:ph type="body" idx="2"/>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64" name="Google Shape;64;p84"/>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5" name="Google Shape;65;p84"/>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6" name="Google Shape;66;p84"/>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85"/>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9" name="Google Shape;69;p85"/>
          <p:cNvSpPr>
            <a:spLocks noGrp="1"/>
          </p:cNvSpPr>
          <p:nvPr>
            <p:ph type="pic" idx="2"/>
          </p:nvPr>
        </p:nvSpPr>
        <p:spPr>
          <a:xfrm>
            <a:off x="5183188" y="987426"/>
            <a:ext cx="6172400" cy="4873500"/>
          </a:xfrm>
          <a:prstGeom prst="rect">
            <a:avLst/>
          </a:prstGeom>
          <a:noFill/>
          <a:ln>
            <a:noFill/>
          </a:ln>
        </p:spPr>
      </p:sp>
      <p:sp>
        <p:nvSpPr>
          <p:cNvPr id="70" name="Google Shape;70;p85"/>
          <p:cNvSpPr txBox="1">
            <a:spLocks noGrp="1"/>
          </p:cNvSpPr>
          <p:nvPr>
            <p:ph type="body" idx="1"/>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71" name="Google Shape;71;p8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2" name="Google Shape;72;p8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3" name="Google Shape;73;p8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86"/>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6" name="Google Shape;76;p86"/>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77" name="Google Shape;77;p86"/>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8" name="Google Shape;78;p86"/>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9" name="Google Shape;79;p86"/>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87"/>
          <p:cNvSpPr txBox="1">
            <a:spLocks noGrp="1"/>
          </p:cNvSpPr>
          <p:nvPr>
            <p:ph type="title"/>
          </p:nvPr>
        </p:nvSpPr>
        <p:spPr>
          <a:xfrm rot="5400000">
            <a:off x="7133450" y="1956675"/>
            <a:ext cx="5811900" cy="26288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2" name="Google Shape;82;p87"/>
          <p:cNvSpPr txBox="1">
            <a:spLocks noGrp="1"/>
          </p:cNvSpPr>
          <p:nvPr>
            <p:ph type="body" idx="1"/>
          </p:nvPr>
        </p:nvSpPr>
        <p:spPr>
          <a:xfrm rot="5400000">
            <a:off x="1799350" y="-596125"/>
            <a:ext cx="5811900" cy="77344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83" name="Google Shape;83;p8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4" name="Google Shape;84;p8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5" name="Google Shape;85;p8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ext Slide">
  <p:cSld name="Text Slide">
    <p:bg>
      <p:bgPr>
        <a:solidFill>
          <a:schemeClr val="lt1"/>
        </a:solidFill>
        <a:effectLst/>
      </p:bgPr>
    </p:bg>
    <p:spTree>
      <p:nvGrpSpPr>
        <p:cNvPr id="1" name="Shape 86"/>
        <p:cNvGrpSpPr/>
        <p:nvPr/>
      </p:nvGrpSpPr>
      <p:grpSpPr>
        <a:xfrm>
          <a:off x="0" y="0"/>
          <a:ext cx="0" cy="0"/>
          <a:chOff x="0" y="0"/>
          <a:chExt cx="0" cy="0"/>
        </a:xfrm>
      </p:grpSpPr>
      <p:pic>
        <p:nvPicPr>
          <p:cNvPr id="87" name="Google Shape;87;p88" descr="A picture containing text, sign, seat&#10;&#10;Description automatically generated"/>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8576869" y="5603082"/>
            <a:ext cx="3413760" cy="1828800"/>
          </a:xfrm>
          <a:prstGeom prst="rect">
            <a:avLst/>
          </a:prstGeom>
          <a:noFill/>
          <a:ln>
            <a:noFill/>
          </a:ln>
        </p:spPr>
      </p:pic>
      <p:sp>
        <p:nvSpPr>
          <p:cNvPr id="88" name="Google Shape;88;p88"/>
          <p:cNvSpPr/>
          <p:nvPr/>
        </p:nvSpPr>
        <p:spPr>
          <a:xfrm>
            <a:off x="0" y="0"/>
            <a:ext cx="198000" cy="6858000"/>
          </a:xfrm>
          <a:prstGeom prst="rect">
            <a:avLst/>
          </a:prstGeom>
          <a:solidFill>
            <a:srgbClr val="2776B6"/>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Divider 2">
  <p:cSld name="Divider 2">
    <p:spTree>
      <p:nvGrpSpPr>
        <p:cNvPr id="1" name="Shape 89"/>
        <p:cNvGrpSpPr/>
        <p:nvPr/>
      </p:nvGrpSpPr>
      <p:grpSpPr>
        <a:xfrm>
          <a:off x="0" y="0"/>
          <a:ext cx="0" cy="0"/>
          <a:chOff x="0" y="0"/>
          <a:chExt cx="0" cy="0"/>
        </a:xfrm>
      </p:grpSpPr>
      <p:pic>
        <p:nvPicPr>
          <p:cNvPr id="90" name="Google Shape;90;p89" descr="ANation-PPT22_5.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1" name="Google Shape;91;p89"/>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2" name="Google Shape;92;p89"/>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3" name="Google Shape;93;p89"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ivider 3">
  <p:cSld name="Divider 3">
    <p:spTree>
      <p:nvGrpSpPr>
        <p:cNvPr id="1" name="Shape 94"/>
        <p:cNvGrpSpPr/>
        <p:nvPr/>
      </p:nvGrpSpPr>
      <p:grpSpPr>
        <a:xfrm>
          <a:off x="0" y="0"/>
          <a:ext cx="0" cy="0"/>
          <a:chOff x="0" y="0"/>
          <a:chExt cx="0" cy="0"/>
        </a:xfrm>
      </p:grpSpPr>
      <p:pic>
        <p:nvPicPr>
          <p:cNvPr id="95" name="Google Shape;95;p90" descr="ANation-PPT22_6.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6" name="Google Shape;96;p90"/>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7" name="Google Shape;97;p90"/>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8" name="Google Shape;98;p90"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Divider 1">
  <p:cSld name="Divider 1">
    <p:spTree>
      <p:nvGrpSpPr>
        <p:cNvPr id="1" name="Shape 99"/>
        <p:cNvGrpSpPr/>
        <p:nvPr/>
      </p:nvGrpSpPr>
      <p:grpSpPr>
        <a:xfrm>
          <a:off x="0" y="0"/>
          <a:ext cx="0" cy="0"/>
          <a:chOff x="0" y="0"/>
          <a:chExt cx="0" cy="0"/>
        </a:xfrm>
      </p:grpSpPr>
      <p:pic>
        <p:nvPicPr>
          <p:cNvPr id="100" name="Google Shape;100;p91" descr="ANation-PPT22_2.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1" name="Google Shape;101;p91"/>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2" name="Google Shape;102;p91"/>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3" name="Google Shape;103;p91"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Divider 4">
  <p:cSld name="Divider 4">
    <p:spTree>
      <p:nvGrpSpPr>
        <p:cNvPr id="1" name="Shape 104"/>
        <p:cNvGrpSpPr/>
        <p:nvPr/>
      </p:nvGrpSpPr>
      <p:grpSpPr>
        <a:xfrm>
          <a:off x="0" y="0"/>
          <a:ext cx="0" cy="0"/>
          <a:chOff x="0" y="0"/>
          <a:chExt cx="0" cy="0"/>
        </a:xfrm>
      </p:grpSpPr>
      <p:pic>
        <p:nvPicPr>
          <p:cNvPr id="105" name="Google Shape;105;p92" descr="ANation-PPT2_7.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6" name="Google Shape;106;p92"/>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7" name="Google Shape;107;p92"/>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8" name="Google Shape;108;p92"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5"/>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11" name="Google Shape;11;p55"/>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2" name="Google Shape;12;p5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5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5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rgbClr val="888888"/>
                </a:solidFill>
                <a:latin typeface="Calibri"/>
                <a:ea typeface="Calibri"/>
                <a:cs typeface="Calibri"/>
                <a:sym typeface="Calibri"/>
              </a:defRPr>
            </a:lvl1pPr>
            <a:lvl2pPr marL="0" marR="0" lvl="1" indent="0" algn="r" rtl="0">
              <a:spcBef>
                <a:spcPts val="0"/>
              </a:spcBef>
              <a:buNone/>
              <a:defRPr sz="900" b="0" i="0" u="none" strike="noStrike" cap="none">
                <a:solidFill>
                  <a:srgbClr val="888888"/>
                </a:solidFill>
                <a:latin typeface="Calibri"/>
                <a:ea typeface="Calibri"/>
                <a:cs typeface="Calibri"/>
                <a:sym typeface="Calibri"/>
              </a:defRPr>
            </a:lvl2pPr>
            <a:lvl3pPr marL="0" marR="0" lvl="2" indent="0" algn="r" rtl="0">
              <a:spcBef>
                <a:spcPts val="0"/>
              </a:spcBef>
              <a:buNone/>
              <a:defRPr sz="900" b="0" i="0" u="none" strike="noStrike" cap="none">
                <a:solidFill>
                  <a:srgbClr val="888888"/>
                </a:solidFill>
                <a:latin typeface="Calibri"/>
                <a:ea typeface="Calibri"/>
                <a:cs typeface="Calibri"/>
                <a:sym typeface="Calibri"/>
              </a:defRPr>
            </a:lvl3pPr>
            <a:lvl4pPr marL="0" marR="0" lvl="3" indent="0" algn="r" rtl="0">
              <a:spcBef>
                <a:spcPts val="0"/>
              </a:spcBef>
              <a:buNone/>
              <a:defRPr sz="900" b="0" i="0" u="none" strike="noStrike" cap="none">
                <a:solidFill>
                  <a:srgbClr val="888888"/>
                </a:solidFill>
                <a:latin typeface="Calibri"/>
                <a:ea typeface="Calibri"/>
                <a:cs typeface="Calibri"/>
                <a:sym typeface="Calibri"/>
              </a:defRPr>
            </a:lvl4pPr>
            <a:lvl5pPr marL="0" marR="0" lvl="4" indent="0" algn="r" rtl="0">
              <a:spcBef>
                <a:spcPts val="0"/>
              </a:spcBef>
              <a:buNone/>
              <a:defRPr sz="900" b="0" i="0" u="none" strike="noStrike" cap="none">
                <a:solidFill>
                  <a:srgbClr val="888888"/>
                </a:solidFill>
                <a:latin typeface="Calibri"/>
                <a:ea typeface="Calibri"/>
                <a:cs typeface="Calibri"/>
                <a:sym typeface="Calibri"/>
              </a:defRPr>
            </a:lvl5pPr>
            <a:lvl6pPr marL="0" marR="0" lvl="5" indent="0" algn="r" rtl="0">
              <a:spcBef>
                <a:spcPts val="0"/>
              </a:spcBef>
              <a:buNone/>
              <a:defRPr sz="900" b="0" i="0" u="none" strike="noStrike" cap="none">
                <a:solidFill>
                  <a:srgbClr val="888888"/>
                </a:solidFill>
                <a:latin typeface="Calibri"/>
                <a:ea typeface="Calibri"/>
                <a:cs typeface="Calibri"/>
                <a:sym typeface="Calibri"/>
              </a:defRPr>
            </a:lvl6pPr>
            <a:lvl7pPr marL="0" marR="0" lvl="6" indent="0" algn="r" rtl="0">
              <a:spcBef>
                <a:spcPts val="0"/>
              </a:spcBef>
              <a:buNone/>
              <a:defRPr sz="900" b="0" i="0" u="none" strike="noStrike" cap="none">
                <a:solidFill>
                  <a:srgbClr val="888888"/>
                </a:solidFill>
                <a:latin typeface="Calibri"/>
                <a:ea typeface="Calibri"/>
                <a:cs typeface="Calibri"/>
                <a:sym typeface="Calibri"/>
              </a:defRPr>
            </a:lvl7pPr>
            <a:lvl8pPr marL="0" marR="0" lvl="7" indent="0" algn="r" rtl="0">
              <a:spcBef>
                <a:spcPts val="0"/>
              </a:spcBef>
              <a:buNone/>
              <a:defRPr sz="900" b="0" i="0" u="none" strike="noStrike" cap="none">
                <a:solidFill>
                  <a:srgbClr val="888888"/>
                </a:solidFill>
                <a:latin typeface="Calibri"/>
                <a:ea typeface="Calibri"/>
                <a:cs typeface="Calibri"/>
                <a:sym typeface="Calibri"/>
              </a:defRPr>
            </a:lvl8pPr>
            <a:lvl9pPr marL="0" marR="0" lvl="8" indent="0" algn="r" rtl="0">
              <a:spcBef>
                <a:spcPts val="0"/>
              </a:spcBef>
              <a:buNone/>
              <a:defRPr sz="9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8.xml"/><Relationship Id="rId5" Type="http://schemas.openxmlformats.org/officeDocument/2006/relationships/image" Target="../media/image13.png"/><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8.xml"/><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8.xml"/><Relationship Id="rId5" Type="http://schemas.openxmlformats.org/officeDocument/2006/relationships/image" Target="../media/image15.png"/><Relationship Id="rId4" Type="http://schemas.openxmlformats.org/officeDocument/2006/relationships/image" Target="../media/image14.png"/></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0.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17.png"/></Relationships>
</file>

<file path=ppt/slides/_rels/slide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1.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3.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4.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21.png"/></Relationships>
</file>

<file path=ppt/slides/_rels/slide1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5.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23.png"/></Relationships>
</file>

<file path=ppt/slides/_rels/slide1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6.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7.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26.png"/></Relationships>
</file>

<file path=ppt/slides/_rels/slide1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8.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9.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2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0.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2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1.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2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61" name="Google Shape;261;g104476d1465_0_0"/>
          <p:cNvSpPr txBox="1">
            <a:spLocks noGrp="1"/>
          </p:cNvSpPr>
          <p:nvPr>
            <p:ph type="ctrTitle" idx="4294967295"/>
          </p:nvPr>
        </p:nvSpPr>
        <p:spPr>
          <a:xfrm>
            <a:off x="5590352" y="2054277"/>
            <a:ext cx="5077649" cy="3194455"/>
          </a:xfrm>
          <a:prstGeom prst="rect">
            <a:avLst/>
          </a:prstGeom>
        </p:spPr>
        <p:txBody>
          <a:bodyPr spcFirstLastPara="1" wrap="square" lIns="91425" tIns="45700" rIns="91425" bIns="45700" anchor="ctr" anchorCtr="0">
            <a:noAutofit/>
          </a:bodyPr>
          <a:lstStyle/>
          <a:p>
            <a:pPr algn="ctr">
              <a:lnSpc>
                <a:spcPct val="100000"/>
              </a:lnSpc>
            </a:pPr>
            <a:r>
              <a:rPr lang="en-US" sz="3600" b="1" dirty="0">
                <a:solidFill>
                  <a:srgbClr val="417DBF"/>
                </a:solidFill>
                <a:latin typeface="Verdana"/>
                <a:ea typeface="Verdana"/>
                <a:cs typeface="Verdana"/>
                <a:sym typeface="Verdana"/>
              </a:rPr>
              <a:t>Algebra 1</a:t>
            </a:r>
            <a:br>
              <a:rPr lang="en-US" sz="3600" b="1" dirty="0">
                <a:solidFill>
                  <a:srgbClr val="417DBF"/>
                </a:solidFill>
                <a:latin typeface="Verdana"/>
                <a:ea typeface="Verdana"/>
                <a:cs typeface="Verdana"/>
                <a:sym typeface="Verdana"/>
              </a:rPr>
            </a:br>
            <a:endParaRPr lang="en-US" sz="3600" b="1" dirty="0">
              <a:solidFill>
                <a:srgbClr val="417DBF"/>
              </a:solidFill>
              <a:latin typeface="Verdana"/>
              <a:ea typeface="Verdana"/>
              <a:cs typeface="Verdana"/>
              <a:sym typeface="Verdana"/>
            </a:endParaRPr>
          </a:p>
          <a:p>
            <a:pPr algn="ctr">
              <a:lnSpc>
                <a:spcPct val="100000"/>
              </a:lnSpc>
              <a:buClr>
                <a:srgbClr val="000000"/>
              </a:buClr>
            </a:pPr>
            <a:r>
              <a:rPr lang="en-US" sz="3600" b="1" dirty="0">
                <a:solidFill>
                  <a:srgbClr val="417DBF"/>
                </a:solidFill>
                <a:latin typeface="Verdana"/>
                <a:ea typeface="Verdana"/>
                <a:cs typeface="Verdana"/>
                <a:sym typeface="Verdana"/>
              </a:rPr>
              <a:t>Unit 14, Lesson 4</a:t>
            </a:r>
            <a:br>
              <a:rPr lang="en-US" sz="3600" b="1" dirty="0">
                <a:solidFill>
                  <a:srgbClr val="417DBF"/>
                </a:solidFill>
                <a:latin typeface="Verdana"/>
                <a:ea typeface="Verdana"/>
                <a:cs typeface="Verdana"/>
                <a:sym typeface="Verdana"/>
              </a:rPr>
            </a:br>
            <a:br>
              <a:rPr lang="en-US" sz="3600" b="1" dirty="0">
                <a:solidFill>
                  <a:srgbClr val="417DBF"/>
                </a:solidFill>
                <a:latin typeface="Verdana"/>
                <a:ea typeface="Verdana"/>
                <a:cs typeface="Verdana"/>
                <a:sym typeface="Verdana"/>
              </a:rPr>
            </a:br>
            <a:r>
              <a:rPr lang="en-US" sz="3600" b="1" dirty="0">
                <a:solidFill>
                  <a:srgbClr val="417DBF"/>
                </a:solidFill>
                <a:latin typeface="Verdana"/>
                <a:ea typeface="Verdana"/>
                <a:cs typeface="Verdana"/>
                <a:sym typeface="Verdana"/>
              </a:rPr>
              <a:t>Determining Possible Associations in Data</a:t>
            </a:r>
            <a:br>
              <a:rPr lang="en-US" sz="3800" b="1" dirty="0">
                <a:solidFill>
                  <a:srgbClr val="417DBF"/>
                </a:solidFill>
                <a:latin typeface="Verdana"/>
                <a:ea typeface="Verdana"/>
                <a:cs typeface="Verdana"/>
                <a:sym typeface="Verdana"/>
              </a:rPr>
            </a:br>
            <a:br>
              <a:rPr lang="en-US" sz="3800" b="1" dirty="0">
                <a:solidFill>
                  <a:srgbClr val="417DBF"/>
                </a:solidFill>
                <a:latin typeface="Verdana"/>
                <a:ea typeface="Verdana"/>
                <a:cs typeface="Verdana"/>
                <a:sym typeface="Verdana"/>
              </a:rPr>
            </a:br>
            <a:r>
              <a:rPr lang="en-US" sz="2800" b="1" dirty="0">
                <a:solidFill>
                  <a:srgbClr val="417DBF"/>
                </a:solidFill>
                <a:latin typeface="Verdana"/>
                <a:ea typeface="Verdana"/>
                <a:cs typeface="Verdana"/>
                <a:sym typeface="Verdana"/>
              </a:rPr>
              <a:t>Volume 2, pg. 321</a:t>
            </a:r>
          </a:p>
          <a:p>
            <a:pPr algn="ctr">
              <a:lnSpc>
                <a:spcPct val="100000"/>
              </a:lnSpc>
              <a:buClr>
                <a:srgbClr val="000000"/>
              </a:buClr>
            </a:pPr>
            <a:endParaRPr lang="en-US" sz="3400" b="1" dirty="0">
              <a:solidFill>
                <a:srgbClr val="417DBF"/>
              </a:solidFill>
              <a:latin typeface="Verdana"/>
              <a:ea typeface="Verdana"/>
              <a:cs typeface="Verdana"/>
              <a:sym typeface="Verdana"/>
            </a:endParaRPr>
          </a:p>
          <a:p>
            <a:pPr algn="ctr">
              <a:lnSpc>
                <a:spcPct val="75000"/>
              </a:lnSpc>
            </a:pPr>
            <a:endParaRPr sz="3100" dirty="0">
              <a:solidFill>
                <a:srgbClr val="417DBF"/>
              </a:solidFill>
            </a:endParaRPr>
          </a:p>
        </p:txBody>
      </p:sp>
      <p:sp>
        <p:nvSpPr>
          <p:cNvPr id="20" name="Google Shape;309;g104476d1465_1_39">
            <a:extLst>
              <a:ext uri="{FF2B5EF4-FFF2-40B4-BE49-F238E27FC236}">
                <a16:creationId xmlns:a16="http://schemas.microsoft.com/office/drawing/2014/main" id="{566F1422-A32C-7745-9E85-5AF7B9DBC697}"/>
              </a:ext>
            </a:extLst>
          </p:cNvPr>
          <p:cNvSpPr/>
          <p:nvPr/>
        </p:nvSpPr>
        <p:spPr>
          <a:xfrm>
            <a:off x="0" y="-9144"/>
            <a:ext cx="4094106" cy="6866100"/>
          </a:xfrm>
          <a:prstGeom prst="rect">
            <a:avLst/>
          </a:prstGeom>
          <a:solidFill>
            <a:srgbClr val="5C051A"/>
          </a:solidFill>
          <a:ln w="9525" cap="flat" cmpd="sng">
            <a:solidFill>
              <a:srgbClr val="5C051A"/>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6" name="Picture 5" descr="Logo&#10;&#10;Description automatically generated">
            <a:extLst>
              <a:ext uri="{FF2B5EF4-FFF2-40B4-BE49-F238E27FC236}">
                <a16:creationId xmlns:a16="http://schemas.microsoft.com/office/drawing/2014/main" id="{FC2FF27A-A046-614D-A5AC-E785259A48B8}"/>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83677" y="1603831"/>
            <a:ext cx="3126752" cy="3644900"/>
          </a:xfrm>
          <a:prstGeom prst="rect">
            <a:avLst/>
          </a:prstGeom>
          <a:effectLst>
            <a:outerShdw blurRad="50800" dist="38100" dir="2700000" algn="tl" rotWithShape="0">
              <a:prstClr val="black">
                <a:alpha val="40000"/>
              </a:prst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79" name="Google Shape;279;g104476d1465_1_17"/>
          <p:cNvSpPr txBox="1">
            <a:spLocks noGrp="1"/>
          </p:cNvSpPr>
          <p:nvPr>
            <p:ph type="title" idx="4294967295"/>
          </p:nvPr>
        </p:nvSpPr>
        <p:spPr>
          <a:xfrm>
            <a:off x="1124050" y="136525"/>
            <a:ext cx="7509900" cy="1325700"/>
          </a:xfrm>
          <a:prstGeom prst="rect">
            <a:avLst/>
          </a:prstGeom>
          <a:noFill/>
          <a:ln>
            <a:noFill/>
          </a:ln>
        </p:spPr>
        <p:txBody>
          <a:bodyPr spcFirstLastPara="1" wrap="square" lIns="91425" tIns="45700" rIns="91425" bIns="45700" anchor="ctr" anchorCtr="0">
            <a:normAutofit/>
          </a:bodyPr>
          <a:lstStyle/>
          <a:p>
            <a:pPr>
              <a:buSzPts val="5400"/>
            </a:pPr>
            <a:r>
              <a:rPr lang="en-US" sz="4700" b="1" dirty="0">
                <a:solidFill>
                  <a:srgbClr val="54B5D1"/>
                </a:solidFill>
                <a:latin typeface="Verdana"/>
                <a:ea typeface="Verdana"/>
                <a:cs typeface="Verdana"/>
                <a:sym typeface="Verdana"/>
              </a:rPr>
              <a:t>Benchmark</a:t>
            </a:r>
            <a:endParaRPr sz="3700" b="1" dirty="0">
              <a:solidFill>
                <a:srgbClr val="54B5D1"/>
              </a:solidFill>
              <a:latin typeface="Verdana"/>
              <a:ea typeface="Verdana"/>
              <a:cs typeface="Verdana"/>
              <a:sym typeface="Verdana"/>
            </a:endParaRPr>
          </a:p>
        </p:txBody>
      </p:sp>
      <p:pic>
        <p:nvPicPr>
          <p:cNvPr id="281" name="Google Shape;281;g104476d1465_1_17"/>
          <p:cNvPicPr preferRelativeResize="0"/>
          <p:nvPr/>
        </p:nvPicPr>
        <p:blipFill>
          <a:blip r:embed="rId3">
            <a:alphaModFix/>
          </a:blip>
          <a:stretch>
            <a:fillRect/>
          </a:stretch>
        </p:blipFill>
        <p:spPr>
          <a:xfrm>
            <a:off x="300550" y="372300"/>
            <a:ext cx="747300" cy="747300"/>
          </a:xfrm>
          <a:prstGeom prst="rect">
            <a:avLst/>
          </a:prstGeom>
          <a:noFill/>
          <a:ln>
            <a:noFill/>
          </a:ln>
          <a:effectLst>
            <a:outerShdw blurRad="57150" dist="19050" dir="5400000" algn="bl" rotWithShape="0">
              <a:srgbClr val="000000">
                <a:alpha val="50000"/>
              </a:srgbClr>
            </a:outerShdw>
          </a:effectLst>
        </p:spPr>
      </p:pic>
      <p:sp>
        <p:nvSpPr>
          <p:cNvPr id="8" name="Google Shape;280;g104476d1465_1_17">
            <a:extLst>
              <a:ext uri="{FF2B5EF4-FFF2-40B4-BE49-F238E27FC236}">
                <a16:creationId xmlns:a16="http://schemas.microsoft.com/office/drawing/2014/main" id="{527A9F9F-07B8-ED47-B967-E5507C67DBC5}"/>
              </a:ext>
            </a:extLst>
          </p:cNvPr>
          <p:cNvSpPr txBox="1">
            <a:spLocks/>
          </p:cNvSpPr>
          <p:nvPr/>
        </p:nvSpPr>
        <p:spPr>
          <a:xfrm>
            <a:off x="1047850" y="1600200"/>
            <a:ext cx="9188970" cy="42057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pPr marL="95250" indent="0">
              <a:buNone/>
            </a:pPr>
            <a:r>
              <a:rPr lang="en-US" sz="2400" dirty="0">
                <a:latin typeface="Verdana" charset="0"/>
                <a:ea typeface="Verdana" charset="0"/>
                <a:cs typeface="Verdana" charset="0"/>
              </a:rPr>
              <a:t>MA.912.DP.3.1 </a:t>
            </a:r>
          </a:p>
          <a:p>
            <a:pPr marL="458788" indent="0">
              <a:buNone/>
            </a:pPr>
            <a:r>
              <a:rPr lang="en-US" sz="2400" dirty="0">
                <a:latin typeface="Verdana" charset="0"/>
                <a:ea typeface="Verdana" charset="0"/>
                <a:cs typeface="Verdana" charset="0"/>
              </a:rPr>
              <a:t>Construct a two-way frequency table summarizing bivariate categorical data. Interpret joint and marginal frequencies and determine possible associations in terms of a real-world context.</a:t>
            </a:r>
          </a:p>
        </p:txBody>
      </p:sp>
      <p:sp>
        <p:nvSpPr>
          <p:cNvPr id="9" name="Google Shape;282;g104476d1465_1_17">
            <a:extLst>
              <a:ext uri="{FF2B5EF4-FFF2-40B4-BE49-F238E27FC236}">
                <a16:creationId xmlns:a16="http://schemas.microsoft.com/office/drawing/2014/main" id="{46FF2ABE-151D-2986-DB04-5191F9A1C77C}"/>
              </a:ext>
            </a:extLst>
          </p:cNvPr>
          <p:cNvSpPr txBox="1"/>
          <p:nvPr/>
        </p:nvSpPr>
        <p:spPr>
          <a:xfrm>
            <a:off x="8821333" y="6457675"/>
            <a:ext cx="2634000" cy="400200"/>
          </a:xfrm>
          <a:prstGeom prst="rect">
            <a:avLst/>
          </a:prstGeom>
          <a:noFill/>
          <a:ln>
            <a:noFill/>
          </a:ln>
        </p:spPr>
        <p:txBody>
          <a:bodyPr spcFirstLastPara="1" wrap="square" lIns="91425" tIns="91425" rIns="91425" bIns="91425" anchor="t" anchorCtr="0">
            <a:spAutoFit/>
          </a:bodyPr>
          <a:lstStyle/>
          <a:p>
            <a:pPr lvl="0" algn="r"/>
            <a:r>
              <a:rPr lang="nb-NO" i="1" dirty="0">
                <a:latin typeface="Calibri"/>
                <a:ea typeface="Calibri"/>
                <a:cs typeface="Calibri"/>
                <a:sym typeface="Calibri"/>
              </a:rPr>
              <a:t>volume 2, pg. 321</a:t>
            </a:r>
          </a:p>
        </p:txBody>
      </p:sp>
      <p:pic>
        <p:nvPicPr>
          <p:cNvPr id="10" name="Google Shape;283;g104476d1465_1_17">
            <a:extLst>
              <a:ext uri="{FF2B5EF4-FFF2-40B4-BE49-F238E27FC236}">
                <a16:creationId xmlns:a16="http://schemas.microsoft.com/office/drawing/2014/main" id="{BC7AE529-480F-1595-D5DE-B3AB0BC338D2}"/>
              </a:ext>
            </a:extLst>
          </p:cNvPr>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59559" y="6200600"/>
            <a:ext cx="563850" cy="657276"/>
          </a:xfrm>
          <a:prstGeom prst="rect">
            <a:avLst/>
          </a:prstGeom>
          <a:noFill/>
          <a:ln>
            <a:noFill/>
          </a:ln>
          <a:effectLst>
            <a:outerShdw blurRad="57150" dist="19050" dir="5400000" algn="bl" rotWithShape="0">
              <a:srgbClr val="000000">
                <a:alpha val="50000"/>
              </a:srgbClr>
            </a:outerShdw>
          </a:effec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1" name="Google Shape;281;g104476d1465_1_17"/>
          <p:cNvPicPr preferRelativeResize="0"/>
          <p:nvPr/>
        </p:nvPicPr>
        <p:blipFill>
          <a:blip r:embed="rId3">
            <a:alphaModFix/>
          </a:blip>
          <a:stretch>
            <a:fillRect/>
          </a:stretch>
        </p:blipFill>
        <p:spPr>
          <a:xfrm>
            <a:off x="300550" y="372300"/>
            <a:ext cx="747300" cy="747300"/>
          </a:xfrm>
          <a:prstGeom prst="rect">
            <a:avLst/>
          </a:prstGeom>
          <a:noFill/>
          <a:ln>
            <a:noFill/>
          </a:ln>
          <a:effectLst>
            <a:outerShdw blurRad="57150" dist="19050" dir="5400000" algn="bl" rotWithShape="0">
              <a:srgbClr val="000000">
                <a:alpha val="50000"/>
              </a:srgbClr>
            </a:outerShdw>
          </a:effectLst>
        </p:spPr>
      </p:pic>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59559" y="6200600"/>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95;g103996e1364_0_10">
            <a:extLst>
              <a:ext uri="{FF2B5EF4-FFF2-40B4-BE49-F238E27FC236}">
                <a16:creationId xmlns:a16="http://schemas.microsoft.com/office/drawing/2014/main" id="{08B3C7FF-E6D0-2145-9A84-003D15672764}"/>
              </a:ext>
            </a:extLst>
          </p:cNvPr>
          <p:cNvSpPr txBox="1">
            <a:spLocks/>
          </p:cNvSpPr>
          <p:nvPr/>
        </p:nvSpPr>
        <p:spPr>
          <a:xfrm>
            <a:off x="1125199" y="129667"/>
            <a:ext cx="10434359"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200" b="1" dirty="0">
                <a:solidFill>
                  <a:srgbClr val="54B5D1"/>
                </a:solidFill>
                <a:latin typeface="Verdana"/>
                <a:ea typeface="Verdana"/>
                <a:cs typeface="Verdana"/>
                <a:sym typeface="Verdana"/>
              </a:rPr>
              <a:t>Integrated Mathematical Thinking and Reasoning Standards</a:t>
            </a:r>
          </a:p>
        </p:txBody>
      </p:sp>
      <p:sp>
        <p:nvSpPr>
          <p:cNvPr id="10" name="Google Shape;282;g104476d1465_1_17">
            <a:extLst>
              <a:ext uri="{FF2B5EF4-FFF2-40B4-BE49-F238E27FC236}">
                <a16:creationId xmlns:a16="http://schemas.microsoft.com/office/drawing/2014/main" id="{E701C7D4-7BD4-5F4C-ACEB-5781D00837A2}"/>
              </a:ext>
            </a:extLst>
          </p:cNvPr>
          <p:cNvSpPr txBox="1"/>
          <p:nvPr/>
        </p:nvSpPr>
        <p:spPr>
          <a:xfrm>
            <a:off x="8821333" y="6457675"/>
            <a:ext cx="2634000" cy="400200"/>
          </a:xfrm>
          <a:prstGeom prst="rect">
            <a:avLst/>
          </a:prstGeom>
          <a:noFill/>
          <a:ln>
            <a:noFill/>
          </a:ln>
        </p:spPr>
        <p:txBody>
          <a:bodyPr spcFirstLastPara="1" wrap="square" lIns="91425" tIns="91425" rIns="91425" bIns="91425" anchor="t" anchorCtr="0">
            <a:spAutoFit/>
          </a:bodyPr>
          <a:lstStyle/>
          <a:p>
            <a:pPr lvl="0" algn="r"/>
            <a:r>
              <a:rPr lang="nb-NO" i="1" dirty="0">
                <a:latin typeface="Calibri"/>
                <a:ea typeface="Calibri"/>
                <a:cs typeface="Calibri"/>
                <a:sym typeface="Calibri"/>
              </a:rPr>
              <a:t>volume 2, pg. 321</a:t>
            </a:r>
          </a:p>
        </p:txBody>
      </p:sp>
      <p:sp>
        <p:nvSpPr>
          <p:cNvPr id="11" name="Google Shape;296;g103996e1364_0_10">
            <a:extLst>
              <a:ext uri="{FF2B5EF4-FFF2-40B4-BE49-F238E27FC236}">
                <a16:creationId xmlns:a16="http://schemas.microsoft.com/office/drawing/2014/main" id="{A6E18E39-B007-D647-9935-55A748533A45}"/>
              </a:ext>
            </a:extLst>
          </p:cNvPr>
          <p:cNvSpPr txBox="1">
            <a:spLocks/>
          </p:cNvSpPr>
          <p:nvPr/>
        </p:nvSpPr>
        <p:spPr>
          <a:xfrm>
            <a:off x="1047850" y="1596390"/>
            <a:ext cx="9155516"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523"/>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MA.K12.MTR.2.1 Demonstrate understanding by representing problems in multiple ways.</a:t>
            </a:r>
          </a:p>
          <a:p>
            <a:pPr marL="457200">
              <a:buSzPts val="523"/>
            </a:pPr>
            <a:endPar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MA.K12.MTR.4.1 Engage in discussions that reflect on the mathematical thinking of self and others.</a:t>
            </a:r>
          </a:p>
          <a:p>
            <a:pPr>
              <a:buSzPts val="523"/>
            </a:pPr>
            <a:endPar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MA.K12.MTR.6.1 Assess the reasonableness of solutions.</a:t>
            </a:r>
          </a:p>
          <a:p>
            <a:pPr>
              <a:buSzPts val="523"/>
            </a:pPr>
            <a:endPar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MA.K12.MTR.7.1 </a:t>
            </a: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rPr>
              <a:t>Apply mathematics to real-world contexts.</a:t>
            </a:r>
            <a:endPar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p:txBody>
      </p:sp>
      <p:sp>
        <p:nvSpPr>
          <p:cNvPr id="9" name="Google Shape;278;g104476d1465_1_17">
            <a:extLst>
              <a:ext uri="{FF2B5EF4-FFF2-40B4-BE49-F238E27FC236}">
                <a16:creationId xmlns:a16="http://schemas.microsoft.com/office/drawing/2014/main" id="{2217DB94-8CD9-E344-BEB6-DB518B29A816}"/>
              </a:ext>
            </a:extLst>
          </p:cNvPr>
          <p:cNvSpPr/>
          <p:nvPr/>
        </p:nvSpPr>
        <p:spPr>
          <a:xfrm>
            <a:off x="0" y="-8225"/>
            <a:ext cx="223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Tree>
    <p:extLst>
      <p:ext uri="{BB962C8B-B14F-4D97-AF65-F5344CB8AC3E}">
        <p14:creationId xmlns:p14="http://schemas.microsoft.com/office/powerpoint/2010/main" val="20808422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10" name="Google Shape;301;g103996e1364_0_16">
            <a:extLst>
              <a:ext uri="{FF2B5EF4-FFF2-40B4-BE49-F238E27FC236}">
                <a16:creationId xmlns:a16="http://schemas.microsoft.com/office/drawing/2014/main" id="{5771FBFA-7311-BB45-8AFF-04B380531EE6}"/>
              </a:ext>
            </a:extLst>
          </p:cNvPr>
          <p:cNvSpPr txBox="1">
            <a:spLocks/>
          </p:cNvSpPr>
          <p:nvPr/>
        </p:nvSpPr>
        <p:spPr>
          <a:xfrm>
            <a:off x="1113375" y="30660"/>
            <a:ext cx="79584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700" b="1" dirty="0">
                <a:solidFill>
                  <a:srgbClr val="52BDA6"/>
                </a:solidFill>
                <a:latin typeface="Verdana"/>
                <a:ea typeface="Verdana"/>
                <a:cs typeface="Verdana"/>
                <a:sym typeface="Verdana"/>
              </a:rPr>
              <a:t>Learning Target</a:t>
            </a:r>
          </a:p>
        </p:txBody>
      </p:sp>
      <p:pic>
        <p:nvPicPr>
          <p:cNvPr id="12" name="Google Shape;303;g103996e1364_0_16">
            <a:extLst>
              <a:ext uri="{FF2B5EF4-FFF2-40B4-BE49-F238E27FC236}">
                <a16:creationId xmlns:a16="http://schemas.microsoft.com/office/drawing/2014/main" id="{81DC7EB0-4FED-FC45-BAEC-D699ED5C2169}"/>
              </a:ext>
            </a:extLst>
          </p:cNvPr>
          <p:cNvPicPr preferRelativeResize="0"/>
          <p:nvPr/>
        </p:nvPicPr>
        <p:blipFill>
          <a:blip r:embed="rId3">
            <a:alphaModFix/>
          </a:blip>
          <a:stretch>
            <a:fillRect/>
          </a:stretch>
        </p:blipFill>
        <p:spPr>
          <a:xfrm>
            <a:off x="331213" y="319860"/>
            <a:ext cx="747300" cy="747300"/>
          </a:xfrm>
          <a:prstGeom prst="rect">
            <a:avLst/>
          </a:prstGeom>
          <a:noFill/>
          <a:ln>
            <a:noFill/>
          </a:ln>
          <a:effectLst>
            <a:outerShdw blurRad="50800" dist="38100" dir="2700000" algn="tl" rotWithShape="0">
              <a:prstClr val="black">
                <a:alpha val="40000"/>
              </a:prstClr>
            </a:outerShdw>
          </a:effectLst>
        </p:spPr>
      </p:pic>
      <p:sp>
        <p:nvSpPr>
          <p:cNvPr id="14" name="Google Shape;302;g103996e1364_0_16">
            <a:extLst>
              <a:ext uri="{FF2B5EF4-FFF2-40B4-BE49-F238E27FC236}">
                <a16:creationId xmlns:a16="http://schemas.microsoft.com/office/drawing/2014/main" id="{9B7C98EC-F13C-9146-B728-D7044DB4247D}"/>
              </a:ext>
            </a:extLst>
          </p:cNvPr>
          <p:cNvSpPr txBox="1">
            <a:spLocks/>
          </p:cNvSpPr>
          <p:nvPr/>
        </p:nvSpPr>
        <p:spPr>
          <a:xfrm>
            <a:off x="1078512" y="1600200"/>
            <a:ext cx="9147156"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69900" indent="-469900">
              <a:buFont typeface="Wingdings" charset="2"/>
              <a:buChar char="q"/>
            </a:pPr>
            <a:r>
              <a:rPr lang="en-US" sz="2800" dirty="0">
                <a:latin typeface="Verdana" charset="0"/>
                <a:ea typeface="Verdana" charset="0"/>
                <a:cs typeface="Verdana" charset="0"/>
              </a:rPr>
              <a:t>I can determine possible associations from a two-way table and segmented bar graph. </a:t>
            </a:r>
          </a:p>
        </p:txBody>
      </p:sp>
      <p:sp>
        <p:nvSpPr>
          <p:cNvPr id="8" name="Google Shape;278;g104476d1465_1_17">
            <a:extLst>
              <a:ext uri="{FF2B5EF4-FFF2-40B4-BE49-F238E27FC236}">
                <a16:creationId xmlns:a16="http://schemas.microsoft.com/office/drawing/2014/main" id="{A7D39B40-FA5F-1945-A581-51EB744FEBF3}"/>
              </a:ext>
            </a:extLst>
          </p:cNvPr>
          <p:cNvSpPr/>
          <p:nvPr/>
        </p:nvSpPr>
        <p:spPr>
          <a:xfrm>
            <a:off x="0" y="-8225"/>
            <a:ext cx="223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9" name="Google Shape;282;g104476d1465_1_17">
            <a:extLst>
              <a:ext uri="{FF2B5EF4-FFF2-40B4-BE49-F238E27FC236}">
                <a16:creationId xmlns:a16="http://schemas.microsoft.com/office/drawing/2014/main" id="{0A16DEBF-5883-81CD-FAFF-41C0B1B2B681}"/>
              </a:ext>
            </a:extLst>
          </p:cNvPr>
          <p:cNvSpPr txBox="1"/>
          <p:nvPr/>
        </p:nvSpPr>
        <p:spPr>
          <a:xfrm>
            <a:off x="8821333" y="6457675"/>
            <a:ext cx="2634000" cy="400200"/>
          </a:xfrm>
          <a:prstGeom prst="rect">
            <a:avLst/>
          </a:prstGeom>
          <a:noFill/>
          <a:ln>
            <a:noFill/>
          </a:ln>
        </p:spPr>
        <p:txBody>
          <a:bodyPr spcFirstLastPara="1" wrap="square" lIns="91425" tIns="91425" rIns="91425" bIns="91425" anchor="t" anchorCtr="0">
            <a:spAutoFit/>
          </a:bodyPr>
          <a:lstStyle/>
          <a:p>
            <a:pPr lvl="0" algn="r"/>
            <a:r>
              <a:rPr lang="nb-NO" i="1" dirty="0">
                <a:latin typeface="Calibri"/>
                <a:ea typeface="Calibri"/>
                <a:cs typeface="Calibri"/>
                <a:sym typeface="Calibri"/>
              </a:rPr>
              <a:t>volume 2, pg. 321</a:t>
            </a:r>
          </a:p>
        </p:txBody>
      </p:sp>
      <p:pic>
        <p:nvPicPr>
          <p:cNvPr id="11" name="Google Shape;283;g104476d1465_1_17">
            <a:extLst>
              <a:ext uri="{FF2B5EF4-FFF2-40B4-BE49-F238E27FC236}">
                <a16:creationId xmlns:a16="http://schemas.microsoft.com/office/drawing/2014/main" id="{4E1E8C80-3B9E-FCD2-37BF-87963BB327F2}"/>
              </a:ext>
            </a:extLst>
          </p:cNvPr>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59559" y="6200600"/>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071420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9144"/>
            <a:ext cx="2731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2" name="Google Shape;312;g104476d1465_1_39"/>
          <p:cNvPicPr preferRelativeResize="0"/>
          <p:nvPr/>
        </p:nvPicPr>
        <p:blipFill>
          <a:blip r:embed="rId3">
            <a:alphaModFix/>
          </a:blip>
          <a:stretch>
            <a:fillRect/>
          </a:stretch>
        </p:blipFill>
        <p:spPr>
          <a:xfrm>
            <a:off x="3120694" y="2879325"/>
            <a:ext cx="1031750" cy="1031750"/>
          </a:xfrm>
          <a:prstGeom prst="rect">
            <a:avLst/>
          </a:prstGeom>
          <a:noFill/>
          <a:ln>
            <a:noFill/>
          </a:ln>
          <a:effectLst>
            <a:outerShdw blurRad="50800" dist="38100" dir="2700000" algn="tl" rotWithShape="0">
              <a:prstClr val="black">
                <a:alpha val="40000"/>
              </a:prstClr>
            </a:outerShdw>
          </a:effectLst>
        </p:spPr>
      </p:pic>
      <p:sp>
        <p:nvSpPr>
          <p:cNvPr id="313" name="Google Shape;313;g104476d1465_1_39"/>
          <p:cNvSpPr txBox="1">
            <a:spLocks noGrp="1"/>
          </p:cNvSpPr>
          <p:nvPr>
            <p:ph type="title" idx="4294967295"/>
          </p:nvPr>
        </p:nvSpPr>
        <p:spPr>
          <a:xfrm>
            <a:off x="4329494" y="2766145"/>
            <a:ext cx="404820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Warm-Up</a:t>
            </a:r>
            <a:endParaRPr sz="5100" b="1" dirty="0">
              <a:solidFill>
                <a:srgbClr val="3F2A67"/>
              </a:solidFill>
              <a:latin typeface="Verdana"/>
              <a:ea typeface="Verdana"/>
              <a:cs typeface="Verdana"/>
              <a:sym typeface="Verdana"/>
            </a:endParaRPr>
          </a:p>
        </p:txBody>
      </p:sp>
      <p:sp>
        <p:nvSpPr>
          <p:cNvPr id="8" name="Google Shape;282;g104476d1465_1_17">
            <a:extLst>
              <a:ext uri="{FF2B5EF4-FFF2-40B4-BE49-F238E27FC236}">
                <a16:creationId xmlns:a16="http://schemas.microsoft.com/office/drawing/2014/main" id="{64FC13B5-6BB5-5ACC-86C1-E50906B520D2}"/>
              </a:ext>
            </a:extLst>
          </p:cNvPr>
          <p:cNvSpPr txBox="1"/>
          <p:nvPr/>
        </p:nvSpPr>
        <p:spPr>
          <a:xfrm>
            <a:off x="8821333" y="6457675"/>
            <a:ext cx="2634000" cy="400200"/>
          </a:xfrm>
          <a:prstGeom prst="rect">
            <a:avLst/>
          </a:prstGeom>
          <a:noFill/>
          <a:ln>
            <a:noFill/>
          </a:ln>
        </p:spPr>
        <p:txBody>
          <a:bodyPr spcFirstLastPara="1" wrap="square" lIns="91425" tIns="91425" rIns="91425" bIns="91425" anchor="t" anchorCtr="0">
            <a:spAutoFit/>
          </a:bodyPr>
          <a:lstStyle/>
          <a:p>
            <a:pPr lvl="0" algn="r"/>
            <a:r>
              <a:rPr lang="nb-NO" i="1" dirty="0">
                <a:latin typeface="Calibri"/>
                <a:ea typeface="Calibri"/>
                <a:cs typeface="Calibri"/>
                <a:sym typeface="Calibri"/>
              </a:rPr>
              <a:t>volume 2, pg. 321</a:t>
            </a:r>
          </a:p>
        </p:txBody>
      </p:sp>
      <p:pic>
        <p:nvPicPr>
          <p:cNvPr id="9" name="Google Shape;283;g104476d1465_1_17">
            <a:extLst>
              <a:ext uri="{FF2B5EF4-FFF2-40B4-BE49-F238E27FC236}">
                <a16:creationId xmlns:a16="http://schemas.microsoft.com/office/drawing/2014/main" id="{16CDD57F-810F-E800-6BAE-D9F2A02A196E}"/>
              </a:ext>
            </a:extLst>
          </p:cNvPr>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59559" y="6200600"/>
            <a:ext cx="563850" cy="657276"/>
          </a:xfrm>
          <a:prstGeom prst="rect">
            <a:avLst/>
          </a:prstGeom>
          <a:noFill/>
          <a:ln>
            <a:noFill/>
          </a:ln>
          <a:effectLst>
            <a:outerShdw blurRad="57150" dist="19050" dir="5400000" algn="bl" rotWithShape="0">
              <a:srgbClr val="000000">
                <a:alpha val="50000"/>
              </a:srgbClr>
            </a:outerShdw>
          </a:effec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59559" y="6200600"/>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505414" y="60325"/>
            <a:ext cx="10381236"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14.4.1 Warm-Up: Playing Instruments and Sports</a:t>
            </a:r>
          </a:p>
        </p:txBody>
      </p:sp>
      <p:pic>
        <p:nvPicPr>
          <p:cNvPr id="13" name="Google Shape;326;g103996e1364_0_25">
            <a:extLst>
              <a:ext uri="{FF2B5EF4-FFF2-40B4-BE49-F238E27FC236}">
                <a16:creationId xmlns:a16="http://schemas.microsoft.com/office/drawing/2014/main" id="{0B25478F-1F7B-DF44-A9BD-898178E878B3}"/>
              </a:ext>
            </a:extLst>
          </p:cNvPr>
          <p:cNvPicPr preferRelativeResize="0"/>
          <p:nvPr/>
        </p:nvPicPr>
        <p:blipFill>
          <a:blip r:embed="rId4">
            <a:alphaModFix/>
          </a:blip>
          <a:stretch>
            <a:fillRect/>
          </a:stretch>
        </p:blipFill>
        <p:spPr>
          <a:xfrm>
            <a:off x="623422" y="196641"/>
            <a:ext cx="747300" cy="747300"/>
          </a:xfrm>
          <a:prstGeom prst="rect">
            <a:avLst/>
          </a:prstGeom>
          <a:noFill/>
          <a:ln>
            <a:noFill/>
          </a:ln>
          <a:effectLst>
            <a:outerShdw blurRad="50800" dist="38100" dir="2700000" algn="tl" rotWithShape="0">
              <a:prstClr val="black">
                <a:alpha val="40000"/>
              </a:prstClr>
            </a:outerShdw>
          </a:effectLst>
        </p:spPr>
      </p:pic>
      <p:sp>
        <p:nvSpPr>
          <p:cNvPr id="2" name="TextBox 1">
            <a:extLst>
              <a:ext uri="{FF2B5EF4-FFF2-40B4-BE49-F238E27FC236}">
                <a16:creationId xmlns:a16="http://schemas.microsoft.com/office/drawing/2014/main" id="{E1D7562E-134F-D14B-AF1A-DF40E11EF758}"/>
              </a:ext>
            </a:extLst>
          </p:cNvPr>
          <p:cNvSpPr txBox="1"/>
          <p:nvPr/>
        </p:nvSpPr>
        <p:spPr>
          <a:xfrm>
            <a:off x="847492" y="1386026"/>
            <a:ext cx="10292576" cy="1938992"/>
          </a:xfrm>
          <a:prstGeom prst="rect">
            <a:avLst/>
          </a:prstGeom>
          <a:noFill/>
        </p:spPr>
        <p:txBody>
          <a:bodyPr wrap="square" rtlCol="0">
            <a:spAutoFit/>
          </a:bodyPr>
          <a:lstStyle/>
          <a:p>
            <a:r>
              <a:rPr lang="en-US" sz="2000" dirty="0">
                <a:latin typeface="Verdana" charset="0"/>
                <a:ea typeface="Verdana" charset="0"/>
                <a:cs typeface="Verdana" charset="0"/>
              </a:rPr>
              <a:t>Orlando asked his classmates these questions:</a:t>
            </a:r>
          </a:p>
          <a:p>
            <a:pPr marL="696913" indent="-233363">
              <a:buFont typeface="Arial" charset="0"/>
              <a:buChar char="•"/>
            </a:pPr>
            <a:r>
              <a:rPr lang="en-US" sz="2000" dirty="0">
                <a:latin typeface="Verdana" charset="0"/>
                <a:ea typeface="Verdana" charset="0"/>
                <a:cs typeface="Verdana" charset="0"/>
              </a:rPr>
              <a:t>Do you play a sport?</a:t>
            </a:r>
          </a:p>
          <a:p>
            <a:pPr marL="696913" indent="-233363">
              <a:buFont typeface="Arial" charset="0"/>
              <a:buChar char="•"/>
            </a:pPr>
            <a:r>
              <a:rPr lang="en-US" sz="2000" dirty="0">
                <a:latin typeface="Verdana" charset="0"/>
                <a:ea typeface="Verdana" charset="0"/>
                <a:cs typeface="Verdana" charset="0"/>
              </a:rPr>
              <a:t>Do you play a musical instrument?</a:t>
            </a:r>
          </a:p>
          <a:p>
            <a:r>
              <a:rPr lang="en-US" sz="2000" dirty="0">
                <a:latin typeface="Verdana" charset="0"/>
                <a:ea typeface="Verdana" charset="0"/>
                <a:cs typeface="Verdana" charset="0"/>
              </a:rPr>
              <a:t> </a:t>
            </a:r>
          </a:p>
          <a:p>
            <a:pPr marL="457200" indent="-457200">
              <a:buFont typeface="+mj-lt"/>
              <a:buAutoNum type="arabicPeriod"/>
            </a:pPr>
            <a:r>
              <a:rPr lang="en-US" sz="2000" dirty="0">
                <a:latin typeface="Verdana" charset="0"/>
                <a:ea typeface="Verdana" charset="0"/>
                <a:cs typeface="Verdana" charset="0"/>
              </a:rPr>
              <a:t>The two-way table gives partial results from the survey. Complete the table, assuming that all students answered both questions. </a:t>
            </a:r>
          </a:p>
        </p:txBody>
      </p:sp>
      <p:sp>
        <p:nvSpPr>
          <p:cNvPr id="9" name="Google Shape;278;g104476d1465_1_17">
            <a:extLst>
              <a:ext uri="{FF2B5EF4-FFF2-40B4-BE49-F238E27FC236}">
                <a16:creationId xmlns:a16="http://schemas.microsoft.com/office/drawing/2014/main" id="{2C7BF6D9-BF7E-4C45-A3A0-4D9A19E544B3}"/>
              </a:ext>
            </a:extLst>
          </p:cNvPr>
          <p:cNvSpPr/>
          <p:nvPr/>
        </p:nvSpPr>
        <p:spPr>
          <a:xfrm>
            <a:off x="0" y="-8225"/>
            <a:ext cx="223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mc:Choice xmlns:a14="http://schemas.microsoft.com/office/drawing/2010/main" Requires="a14">
          <p:graphicFrame>
            <p:nvGraphicFramePr>
              <p:cNvPr id="3" name="Table 2"/>
              <p:cNvGraphicFramePr>
                <a:graphicFrameLocks noGrp="1"/>
              </p:cNvGraphicFramePr>
              <p:nvPr>
                <p:extLst>
                  <p:ext uri="{D42A27DB-BD31-4B8C-83A1-F6EECF244321}">
                    <p14:modId xmlns:p14="http://schemas.microsoft.com/office/powerpoint/2010/main" val="219580165"/>
                  </p:ext>
                </p:extLst>
              </p:nvPr>
            </p:nvGraphicFramePr>
            <p:xfrm>
              <a:off x="1370722" y="3660886"/>
              <a:ext cx="7484478" cy="2389994"/>
            </p:xfrm>
            <a:graphic>
              <a:graphicData uri="http://schemas.openxmlformats.org/drawingml/2006/table">
                <a:tbl>
                  <a:tblPr firstRow="1" firstCol="1" lastRow="1" lastCol="1"/>
                  <a:tblGrid>
                    <a:gridCol w="1688498">
                      <a:extLst>
                        <a:ext uri="{9D8B030D-6E8A-4147-A177-3AD203B41FA5}">
                          <a16:colId xmlns:a16="http://schemas.microsoft.com/office/drawing/2014/main" val="20000"/>
                        </a:ext>
                      </a:extLst>
                    </a:gridCol>
                    <a:gridCol w="1907045">
                      <a:extLst>
                        <a:ext uri="{9D8B030D-6E8A-4147-A177-3AD203B41FA5}">
                          <a16:colId xmlns:a16="http://schemas.microsoft.com/office/drawing/2014/main" val="20001"/>
                        </a:ext>
                      </a:extLst>
                    </a:gridCol>
                    <a:gridCol w="2393536">
                      <a:extLst>
                        <a:ext uri="{9D8B030D-6E8A-4147-A177-3AD203B41FA5}">
                          <a16:colId xmlns:a16="http://schemas.microsoft.com/office/drawing/2014/main" val="20002"/>
                        </a:ext>
                      </a:extLst>
                    </a:gridCol>
                    <a:gridCol w="1495399">
                      <a:extLst>
                        <a:ext uri="{9D8B030D-6E8A-4147-A177-3AD203B41FA5}">
                          <a16:colId xmlns:a16="http://schemas.microsoft.com/office/drawing/2014/main" val="20003"/>
                        </a:ext>
                      </a:extLst>
                    </a:gridCol>
                  </a:tblGrid>
                  <a:tr h="543935">
                    <a:tc>
                      <a:txBody>
                        <a:bodyPr/>
                        <a:lstStyle/>
                        <a:p>
                          <a:pPr marL="342900" marR="0" lvl="0" indent="-342900" algn="ctr">
                            <a:spcBef>
                              <a:spcPts val="180"/>
                            </a:spcBef>
                            <a:spcAft>
                              <a:spcPts val="180"/>
                            </a:spcAft>
                            <a:buFont typeface="Arial" charset="0"/>
                            <a:buChar char=" "/>
                            <a:tabLst>
                              <a:tab pos="0" algn="l"/>
                            </a:tabLst>
                          </a:pPr>
                          <a:r>
                            <a:rPr lang="en-US" sz="2000" b="1" dirty="0">
                              <a:effectLst/>
                              <a:latin typeface="Verdana" charset="0"/>
                              <a:ea typeface="Verdana" charset="0"/>
                              <a:cs typeface="Verdana" charset="0"/>
                            </a:rPr>
                            <a:t> </a:t>
                          </a:r>
                          <a:endParaRPr lang="en-US" sz="1400" dirty="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180"/>
                            </a:spcBef>
                            <a:spcAft>
                              <a:spcPts val="180"/>
                            </a:spcAft>
                          </a:pPr>
                          <a:r>
                            <a:rPr lang="en-US" sz="2000" b="1">
                              <a:effectLst/>
                              <a:latin typeface="Verdana" charset="0"/>
                              <a:ea typeface="Verdana" charset="0"/>
                              <a:cs typeface="Verdana" charset="0"/>
                            </a:rPr>
                            <a:t>Plays Instrument</a:t>
                          </a:r>
                          <a:endParaRPr lang="en-US" sz="14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180"/>
                            </a:spcBef>
                            <a:spcAft>
                              <a:spcPts val="180"/>
                            </a:spcAft>
                          </a:pPr>
                          <a:r>
                            <a:rPr lang="en-US" sz="2000" b="1">
                              <a:effectLst/>
                              <a:latin typeface="Verdana" charset="0"/>
                              <a:ea typeface="Verdana" charset="0"/>
                              <a:cs typeface="Verdana" charset="0"/>
                            </a:rPr>
                            <a:t>Does not Play Instrument</a:t>
                          </a:r>
                          <a:endParaRPr lang="en-US" sz="14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180"/>
                            </a:spcBef>
                            <a:spcAft>
                              <a:spcPts val="180"/>
                            </a:spcAft>
                          </a:pPr>
                          <a:r>
                            <a:rPr lang="en-US" sz="2000" b="1">
                              <a:effectLst/>
                              <a:latin typeface="Verdana" charset="0"/>
                              <a:ea typeface="Verdana" charset="0"/>
                              <a:cs typeface="Verdana" charset="0"/>
                            </a:rPr>
                            <a:t>Total</a:t>
                          </a:r>
                          <a:endParaRPr lang="en-US" sz="14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0000"/>
                      </a:ext>
                    </a:extLst>
                  </a:tr>
                  <a:tr h="561194">
                    <a:tc>
                      <a:txBody>
                        <a:bodyPr/>
                        <a:lstStyle/>
                        <a:p>
                          <a:pPr marL="0" marR="0" algn="ctr">
                            <a:spcBef>
                              <a:spcPts val="180"/>
                            </a:spcBef>
                            <a:spcAft>
                              <a:spcPts val="180"/>
                            </a:spcAft>
                          </a:pPr>
                          <a:r>
                            <a:rPr lang="en-US" sz="2000" b="1">
                              <a:effectLst/>
                              <a:latin typeface="Verdana" charset="0"/>
                              <a:ea typeface="Verdana" charset="0"/>
                              <a:cs typeface="Verdana" charset="0"/>
                            </a:rPr>
                            <a:t>Plays Sport</a:t>
                          </a:r>
                          <a:endParaRPr lang="en-US" sz="14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180"/>
                            </a:spcBef>
                            <a:spcAft>
                              <a:spcPts val="180"/>
                            </a:spcAft>
                          </a:pPr>
                          <a14:m>
                            <m:oMathPara xmlns:m="http://schemas.openxmlformats.org/officeDocument/2006/math">
                              <m:oMathParaPr>
                                <m:jc m:val="centerGroup"/>
                              </m:oMathParaPr>
                              <m:oMath xmlns:m="http://schemas.openxmlformats.org/officeDocument/2006/math">
                                <m:r>
                                  <a:rPr lang="en-US" sz="2000" i="1" dirty="0" smtClean="0">
                                    <a:effectLst/>
                                    <a:latin typeface="Cambria Math" panose="02040503050406030204" pitchFamily="18" charset="0"/>
                                    <a:ea typeface="Verdana" charset="0"/>
                                    <a:cs typeface="Verdana" charset="0"/>
                                  </a:rPr>
                                  <m:t>5</m:t>
                                </m:r>
                              </m:oMath>
                            </m:oMathPara>
                          </a14:m>
                          <a:endParaRPr lang="en-US" sz="1400" dirty="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342900" marR="0" lvl="0" indent="-342900" algn="ctr">
                            <a:spcBef>
                              <a:spcPts val="180"/>
                            </a:spcBef>
                            <a:spcAft>
                              <a:spcPts val="180"/>
                            </a:spcAft>
                            <a:buFont typeface="Arial" charset="0"/>
                            <a:buChar char=" "/>
                            <a:tabLst>
                              <a:tab pos="0" algn="l"/>
                            </a:tabLst>
                          </a:pPr>
                          <a14:m>
                            <m:oMath xmlns:m="http://schemas.openxmlformats.org/officeDocument/2006/math">
                              <m:r>
                                <a:rPr lang="en-US" sz="2000" i="1" dirty="0" smtClean="0">
                                  <a:effectLst/>
                                  <a:latin typeface="Cambria Math" panose="02040503050406030204" pitchFamily="18" charset="0"/>
                                  <a:ea typeface="Verdana" charset="0"/>
                                  <a:cs typeface="Verdana" charset="0"/>
                                </a:rPr>
                                <m:t> </m:t>
                              </m:r>
                            </m:oMath>
                          </a14:m>
                          <a:endParaRPr lang="en-US" sz="1400" dirty="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180"/>
                            </a:spcBef>
                            <a:spcAft>
                              <a:spcPts val="180"/>
                            </a:spcAft>
                          </a:pPr>
                          <a14:m>
                            <m:oMathPara xmlns:m="http://schemas.openxmlformats.org/officeDocument/2006/math">
                              <m:oMathParaPr>
                                <m:jc m:val="centerGroup"/>
                              </m:oMathParaPr>
                              <m:oMath xmlns:m="http://schemas.openxmlformats.org/officeDocument/2006/math">
                                <m:r>
                                  <a:rPr lang="en-US" sz="2000" i="1" smtClean="0">
                                    <a:effectLst/>
                                    <a:latin typeface="Cambria Math" panose="02040503050406030204" pitchFamily="18" charset="0"/>
                                    <a:ea typeface="Verdana" charset="0"/>
                                    <a:cs typeface="Verdana" charset="0"/>
                                  </a:rPr>
                                  <m:t>16</m:t>
                                </m:r>
                              </m:oMath>
                            </m:oMathPara>
                          </a14:m>
                          <a:endParaRPr lang="en-US" sz="14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561194">
                    <a:tc>
                      <a:txBody>
                        <a:bodyPr/>
                        <a:lstStyle/>
                        <a:p>
                          <a:pPr marL="0" marR="0" algn="ctr">
                            <a:spcBef>
                              <a:spcPts val="180"/>
                            </a:spcBef>
                            <a:spcAft>
                              <a:spcPts val="180"/>
                            </a:spcAft>
                          </a:pPr>
                          <a:r>
                            <a:rPr lang="en-US" sz="2000" b="1">
                              <a:effectLst/>
                              <a:latin typeface="Verdana" charset="0"/>
                              <a:ea typeface="Verdana" charset="0"/>
                              <a:cs typeface="Verdana" charset="0"/>
                            </a:rPr>
                            <a:t>Does not Play Sport</a:t>
                          </a:r>
                          <a:endParaRPr lang="en-US" sz="14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342900" marR="0" lvl="0" indent="-342900" algn="ctr">
                            <a:spcBef>
                              <a:spcPts val="180"/>
                            </a:spcBef>
                            <a:spcAft>
                              <a:spcPts val="180"/>
                            </a:spcAft>
                            <a:buFont typeface="Arial" charset="0"/>
                            <a:buChar char=" "/>
                            <a:tabLst>
                              <a:tab pos="0" algn="l"/>
                            </a:tabLst>
                          </a:pPr>
                          <a14:m>
                            <m:oMath xmlns:m="http://schemas.openxmlformats.org/officeDocument/2006/math">
                              <m:r>
                                <a:rPr lang="en-US" sz="2000" i="1" dirty="0" smtClean="0">
                                  <a:effectLst/>
                                  <a:latin typeface="Cambria Math" panose="02040503050406030204" pitchFamily="18" charset="0"/>
                                  <a:ea typeface="Verdana" charset="0"/>
                                  <a:cs typeface="Verdana" charset="0"/>
                                </a:rPr>
                                <m:t> </m:t>
                              </m:r>
                            </m:oMath>
                          </a14:m>
                          <a:endParaRPr lang="en-US" sz="1400" dirty="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342900" marR="0" lvl="0" indent="-342900" algn="ctr">
                            <a:spcBef>
                              <a:spcPts val="180"/>
                            </a:spcBef>
                            <a:spcAft>
                              <a:spcPts val="180"/>
                            </a:spcAft>
                            <a:buFont typeface="Arial" charset="0"/>
                            <a:buChar char=" "/>
                            <a:tabLst>
                              <a:tab pos="0" algn="l"/>
                            </a:tabLst>
                          </a:pPr>
                          <a14:m>
                            <m:oMath xmlns:m="http://schemas.openxmlformats.org/officeDocument/2006/math">
                              <m:r>
                                <a:rPr lang="en-US" sz="2000" i="1" dirty="0" smtClean="0">
                                  <a:effectLst/>
                                  <a:latin typeface="Cambria Math" panose="02040503050406030204" pitchFamily="18" charset="0"/>
                                  <a:ea typeface="Verdana" charset="0"/>
                                  <a:cs typeface="Verdana" charset="0"/>
                                </a:rPr>
                                <m:t> </m:t>
                              </m:r>
                            </m:oMath>
                          </a14:m>
                          <a:endParaRPr lang="en-US" sz="1400" dirty="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342900" marR="0" lvl="0" indent="-342900" algn="ctr">
                            <a:spcBef>
                              <a:spcPts val="180"/>
                            </a:spcBef>
                            <a:spcAft>
                              <a:spcPts val="180"/>
                            </a:spcAft>
                            <a:buFont typeface="Arial" charset="0"/>
                            <a:buChar char=" "/>
                            <a:tabLst>
                              <a:tab pos="0" algn="l"/>
                            </a:tabLst>
                          </a:pPr>
                          <a14:m>
                            <m:oMath xmlns:m="http://schemas.openxmlformats.org/officeDocument/2006/math">
                              <m:r>
                                <a:rPr lang="en-US" sz="2000" b="1" i="1" dirty="0" smtClean="0">
                                  <a:effectLst/>
                                  <a:latin typeface="Cambria Math" panose="02040503050406030204" pitchFamily="18" charset="0"/>
                                  <a:ea typeface="Verdana" charset="0"/>
                                  <a:cs typeface="Verdana" charset="0"/>
                                </a:rPr>
                                <m:t> </m:t>
                              </m:r>
                            </m:oMath>
                          </a14:m>
                          <a:endParaRPr lang="en-US" sz="1400" dirty="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561194">
                    <a:tc>
                      <a:txBody>
                        <a:bodyPr/>
                        <a:lstStyle/>
                        <a:p>
                          <a:pPr marL="0" marR="0" algn="ctr">
                            <a:spcBef>
                              <a:spcPts val="180"/>
                            </a:spcBef>
                            <a:spcAft>
                              <a:spcPts val="180"/>
                            </a:spcAft>
                          </a:pPr>
                          <a:r>
                            <a:rPr lang="en-US" sz="2000" b="1">
                              <a:effectLst/>
                              <a:latin typeface="Verdana" charset="0"/>
                              <a:ea typeface="Verdana" charset="0"/>
                              <a:cs typeface="Verdana" charset="0"/>
                            </a:rPr>
                            <a:t>Total</a:t>
                          </a:r>
                          <a:endParaRPr lang="en-US" sz="14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342900" marR="0" lvl="0" indent="-342900" algn="ctr">
                            <a:spcBef>
                              <a:spcPts val="180"/>
                            </a:spcBef>
                            <a:spcAft>
                              <a:spcPts val="180"/>
                            </a:spcAft>
                            <a:buFont typeface="Arial" charset="0"/>
                            <a:buChar char=" "/>
                            <a:tabLst>
                              <a:tab pos="0" algn="l"/>
                            </a:tabLst>
                          </a:pPr>
                          <a14:m>
                            <m:oMath xmlns:m="http://schemas.openxmlformats.org/officeDocument/2006/math">
                              <m:r>
                                <a:rPr lang="en-US" sz="2000" b="1" i="1" dirty="0" smtClean="0">
                                  <a:effectLst/>
                                  <a:latin typeface="Cambria Math" panose="02040503050406030204" pitchFamily="18" charset="0"/>
                                  <a:ea typeface="Verdana" charset="0"/>
                                  <a:cs typeface="Verdana" charset="0"/>
                                </a:rPr>
                                <m:t> </m:t>
                              </m:r>
                            </m:oMath>
                          </a14:m>
                          <a:endParaRPr lang="en-US" sz="1400" dirty="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180"/>
                            </a:spcBef>
                            <a:spcAft>
                              <a:spcPts val="180"/>
                            </a:spcAft>
                          </a:pPr>
                          <a14:m>
                            <m:oMathPara xmlns:m="http://schemas.openxmlformats.org/officeDocument/2006/math">
                              <m:oMathParaPr>
                                <m:jc m:val="centerGroup"/>
                              </m:oMathParaPr>
                              <m:oMath xmlns:m="http://schemas.openxmlformats.org/officeDocument/2006/math">
                                <m:r>
                                  <a:rPr lang="en-US" sz="2000" i="1" smtClean="0">
                                    <a:effectLst/>
                                    <a:latin typeface="Cambria Math" panose="02040503050406030204" pitchFamily="18" charset="0"/>
                                    <a:ea typeface="Verdana" charset="0"/>
                                    <a:cs typeface="Verdana" charset="0"/>
                                  </a:rPr>
                                  <m:t>15</m:t>
                                </m:r>
                              </m:oMath>
                            </m:oMathPara>
                          </a14:m>
                          <a:endParaRPr lang="en-US" sz="14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180"/>
                            </a:spcBef>
                            <a:spcAft>
                              <a:spcPts val="180"/>
                            </a:spcAft>
                          </a:pPr>
                          <a14:m>
                            <m:oMathPara xmlns:m="http://schemas.openxmlformats.org/officeDocument/2006/math">
                              <m:oMathParaPr>
                                <m:jc m:val="centerGroup"/>
                              </m:oMathParaPr>
                              <m:oMath xmlns:m="http://schemas.openxmlformats.org/officeDocument/2006/math">
                                <m:r>
                                  <a:rPr lang="en-US" sz="2000" i="1" dirty="0" smtClean="0">
                                    <a:effectLst/>
                                    <a:latin typeface="Cambria Math" panose="02040503050406030204" pitchFamily="18" charset="0"/>
                                    <a:ea typeface="Verdana" charset="0"/>
                                    <a:cs typeface="Verdana" charset="0"/>
                                  </a:rPr>
                                  <m:t>25</m:t>
                                </m:r>
                              </m:oMath>
                            </m:oMathPara>
                          </a14:m>
                          <a:endParaRPr lang="en-US" sz="1400" dirty="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mc:Choice>
        <mc:Fallback>
          <p:graphicFrame>
            <p:nvGraphicFramePr>
              <p:cNvPr id="3" name="Table 2"/>
              <p:cNvGraphicFramePr>
                <a:graphicFrameLocks noGrp="1"/>
              </p:cNvGraphicFramePr>
              <p:nvPr>
                <p:extLst>
                  <p:ext uri="{D42A27DB-BD31-4B8C-83A1-F6EECF244321}">
                    <p14:modId xmlns:p14="http://schemas.microsoft.com/office/powerpoint/2010/main" val="219580165"/>
                  </p:ext>
                </p:extLst>
              </p:nvPr>
            </p:nvGraphicFramePr>
            <p:xfrm>
              <a:off x="1370722" y="3660886"/>
              <a:ext cx="7484478" cy="2389994"/>
            </p:xfrm>
            <a:graphic>
              <a:graphicData uri="http://schemas.openxmlformats.org/drawingml/2006/table">
                <a:tbl>
                  <a:tblPr firstRow="1" firstCol="1" lastRow="1" lastCol="1"/>
                  <a:tblGrid>
                    <a:gridCol w="1688498">
                      <a:extLst>
                        <a:ext uri="{9D8B030D-6E8A-4147-A177-3AD203B41FA5}">
                          <a16:colId xmlns:a16="http://schemas.microsoft.com/office/drawing/2014/main" val="20000"/>
                        </a:ext>
                      </a:extLst>
                    </a:gridCol>
                    <a:gridCol w="1907045">
                      <a:extLst>
                        <a:ext uri="{9D8B030D-6E8A-4147-A177-3AD203B41FA5}">
                          <a16:colId xmlns:a16="http://schemas.microsoft.com/office/drawing/2014/main" val="20001"/>
                        </a:ext>
                      </a:extLst>
                    </a:gridCol>
                    <a:gridCol w="2393536">
                      <a:extLst>
                        <a:ext uri="{9D8B030D-6E8A-4147-A177-3AD203B41FA5}">
                          <a16:colId xmlns:a16="http://schemas.microsoft.com/office/drawing/2014/main" val="20002"/>
                        </a:ext>
                      </a:extLst>
                    </a:gridCol>
                    <a:gridCol w="1495399">
                      <a:extLst>
                        <a:ext uri="{9D8B030D-6E8A-4147-A177-3AD203B41FA5}">
                          <a16:colId xmlns:a16="http://schemas.microsoft.com/office/drawing/2014/main" val="20003"/>
                        </a:ext>
                      </a:extLst>
                    </a:gridCol>
                  </a:tblGrid>
                  <a:tr h="609600">
                    <a:tc>
                      <a:txBody>
                        <a:bodyPr/>
                        <a:lstStyle/>
                        <a:p>
                          <a:pPr marL="342900" marR="0" lvl="0" indent="-342900" algn="ctr">
                            <a:spcBef>
                              <a:spcPts val="180"/>
                            </a:spcBef>
                            <a:spcAft>
                              <a:spcPts val="180"/>
                            </a:spcAft>
                            <a:buFont typeface="Arial" charset="0"/>
                            <a:buChar char=" "/>
                            <a:tabLst>
                              <a:tab pos="0" algn="l"/>
                            </a:tabLst>
                          </a:pPr>
                          <a:r>
                            <a:rPr lang="en-US" sz="2000" b="1" dirty="0">
                              <a:effectLst/>
                              <a:latin typeface="Verdana" charset="0"/>
                              <a:ea typeface="Verdana" charset="0"/>
                              <a:cs typeface="Verdana" charset="0"/>
                            </a:rPr>
                            <a:t> </a:t>
                          </a:r>
                          <a:endParaRPr lang="en-US" sz="1400" dirty="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180"/>
                            </a:spcBef>
                            <a:spcAft>
                              <a:spcPts val="180"/>
                            </a:spcAft>
                          </a:pPr>
                          <a:r>
                            <a:rPr lang="en-US" sz="2000" b="1">
                              <a:effectLst/>
                              <a:latin typeface="Verdana" charset="0"/>
                              <a:ea typeface="Verdana" charset="0"/>
                              <a:cs typeface="Verdana" charset="0"/>
                            </a:rPr>
                            <a:t>Plays Instrument</a:t>
                          </a:r>
                          <a:endParaRPr lang="en-US" sz="14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180"/>
                            </a:spcBef>
                            <a:spcAft>
                              <a:spcPts val="180"/>
                            </a:spcAft>
                          </a:pPr>
                          <a:r>
                            <a:rPr lang="en-US" sz="2000" b="1">
                              <a:effectLst/>
                              <a:latin typeface="Verdana" charset="0"/>
                              <a:ea typeface="Verdana" charset="0"/>
                              <a:cs typeface="Verdana" charset="0"/>
                            </a:rPr>
                            <a:t>Does not Play Instrument</a:t>
                          </a:r>
                          <a:endParaRPr lang="en-US" sz="14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180"/>
                            </a:spcBef>
                            <a:spcAft>
                              <a:spcPts val="180"/>
                            </a:spcAft>
                          </a:pPr>
                          <a:r>
                            <a:rPr lang="en-US" sz="2000" b="1">
                              <a:effectLst/>
                              <a:latin typeface="Verdana" charset="0"/>
                              <a:ea typeface="Verdana" charset="0"/>
                              <a:cs typeface="Verdana" charset="0"/>
                            </a:rPr>
                            <a:t>Total</a:t>
                          </a:r>
                          <a:endParaRPr lang="en-US" sz="14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0000"/>
                      </a:ext>
                    </a:extLst>
                  </a:tr>
                  <a:tr h="609600">
                    <a:tc>
                      <a:txBody>
                        <a:bodyPr/>
                        <a:lstStyle/>
                        <a:p>
                          <a:pPr marL="0" marR="0" algn="ctr">
                            <a:spcBef>
                              <a:spcPts val="180"/>
                            </a:spcBef>
                            <a:spcAft>
                              <a:spcPts val="180"/>
                            </a:spcAft>
                          </a:pPr>
                          <a:r>
                            <a:rPr lang="en-US" sz="2000" b="1">
                              <a:effectLst/>
                              <a:latin typeface="Verdana" charset="0"/>
                              <a:ea typeface="Verdana" charset="0"/>
                              <a:cs typeface="Verdana" charset="0"/>
                            </a:rPr>
                            <a:t>Plays Sport</a:t>
                          </a:r>
                          <a:endParaRPr lang="en-US" sz="14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endParaRPr lang="en-US"/>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88818" t="-112000" r="-204792" b="-200000"/>
                          </a:stretch>
                        </a:blipFill>
                      </a:tcPr>
                    </a:tc>
                    <a:tc>
                      <a:txBody>
                        <a:bodyPr/>
                        <a:lstStyle/>
                        <a:p>
                          <a:endParaRPr lang="en-US"/>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150382" t="-112000" r="-63104" b="-200000"/>
                          </a:stretch>
                        </a:blipFill>
                      </a:tcPr>
                    </a:tc>
                    <a:tc>
                      <a:txBody>
                        <a:bodyPr/>
                        <a:lstStyle/>
                        <a:p>
                          <a:endParaRPr lang="en-US"/>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400000" t="-112000" r="-813" b="-200000"/>
                          </a:stretch>
                        </a:blipFill>
                      </a:tcPr>
                    </a:tc>
                    <a:extLst>
                      <a:ext uri="{0D108BD9-81ED-4DB2-BD59-A6C34878D82A}">
                        <a16:rowId xmlns:a16="http://schemas.microsoft.com/office/drawing/2014/main" val="10001"/>
                      </a:ext>
                    </a:extLst>
                  </a:tr>
                  <a:tr h="609600">
                    <a:tc>
                      <a:txBody>
                        <a:bodyPr/>
                        <a:lstStyle/>
                        <a:p>
                          <a:pPr marL="0" marR="0" algn="ctr">
                            <a:spcBef>
                              <a:spcPts val="180"/>
                            </a:spcBef>
                            <a:spcAft>
                              <a:spcPts val="180"/>
                            </a:spcAft>
                          </a:pPr>
                          <a:r>
                            <a:rPr lang="en-US" sz="2000" b="1">
                              <a:effectLst/>
                              <a:latin typeface="Verdana" charset="0"/>
                              <a:ea typeface="Verdana" charset="0"/>
                              <a:cs typeface="Verdana" charset="0"/>
                            </a:rPr>
                            <a:t>Does not Play Sport</a:t>
                          </a:r>
                          <a:endParaRPr lang="en-US" sz="14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endParaRPr lang="en-US"/>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88818" t="-209901" r="-204792" b="-98020"/>
                          </a:stretch>
                        </a:blipFill>
                      </a:tcPr>
                    </a:tc>
                    <a:tc>
                      <a:txBody>
                        <a:bodyPr/>
                        <a:lstStyle/>
                        <a:p>
                          <a:endParaRPr lang="en-US"/>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150382" t="-209901" r="-63104" b="-98020"/>
                          </a:stretch>
                        </a:blipFill>
                      </a:tcPr>
                    </a:tc>
                    <a:tc>
                      <a:txBody>
                        <a:bodyPr/>
                        <a:lstStyle/>
                        <a:p>
                          <a:endParaRPr lang="en-US"/>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400000" t="-209901" r="-813" b="-98020"/>
                          </a:stretch>
                        </a:blipFill>
                      </a:tcPr>
                    </a:tc>
                    <a:extLst>
                      <a:ext uri="{0D108BD9-81ED-4DB2-BD59-A6C34878D82A}">
                        <a16:rowId xmlns:a16="http://schemas.microsoft.com/office/drawing/2014/main" val="10002"/>
                      </a:ext>
                    </a:extLst>
                  </a:tr>
                  <a:tr h="561194">
                    <a:tc>
                      <a:txBody>
                        <a:bodyPr/>
                        <a:lstStyle/>
                        <a:p>
                          <a:pPr marL="0" marR="0" algn="ctr">
                            <a:spcBef>
                              <a:spcPts val="180"/>
                            </a:spcBef>
                            <a:spcAft>
                              <a:spcPts val="180"/>
                            </a:spcAft>
                          </a:pPr>
                          <a:r>
                            <a:rPr lang="en-US" sz="2000" b="1">
                              <a:effectLst/>
                              <a:latin typeface="Verdana" charset="0"/>
                              <a:ea typeface="Verdana" charset="0"/>
                              <a:cs typeface="Verdana" charset="0"/>
                            </a:rPr>
                            <a:t>Total</a:t>
                          </a:r>
                          <a:endParaRPr lang="en-US" sz="14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endParaRPr lang="en-US"/>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88818" t="-340217" r="-204792" b="-7609"/>
                          </a:stretch>
                        </a:blipFill>
                      </a:tcPr>
                    </a:tc>
                    <a:tc>
                      <a:txBody>
                        <a:bodyPr/>
                        <a:lstStyle/>
                        <a:p>
                          <a:endParaRPr lang="en-US"/>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150382" t="-340217" r="-63104" b="-7609"/>
                          </a:stretch>
                        </a:blipFill>
                      </a:tcPr>
                    </a:tc>
                    <a:tc>
                      <a:txBody>
                        <a:bodyPr/>
                        <a:lstStyle/>
                        <a:p>
                          <a:endParaRPr lang="en-US"/>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400000" t="-340217" r="-813" b="-7609"/>
                          </a:stretch>
                        </a:blipFill>
                      </a:tcPr>
                    </a:tc>
                    <a:extLst>
                      <a:ext uri="{0D108BD9-81ED-4DB2-BD59-A6C34878D82A}">
                        <a16:rowId xmlns:a16="http://schemas.microsoft.com/office/drawing/2014/main" val="10003"/>
                      </a:ext>
                    </a:extLst>
                  </a:tr>
                </a:tbl>
              </a:graphicData>
            </a:graphic>
          </p:graphicFrame>
        </mc:Fallback>
      </mc:AlternateContent>
      <p:sp>
        <p:nvSpPr>
          <p:cNvPr id="10" name="Google Shape;282;g104476d1465_1_17">
            <a:extLst>
              <a:ext uri="{FF2B5EF4-FFF2-40B4-BE49-F238E27FC236}">
                <a16:creationId xmlns:a16="http://schemas.microsoft.com/office/drawing/2014/main" id="{AA477F2F-D31A-306A-DC87-37C33E82227A}"/>
              </a:ext>
            </a:extLst>
          </p:cNvPr>
          <p:cNvSpPr txBox="1"/>
          <p:nvPr/>
        </p:nvSpPr>
        <p:spPr>
          <a:xfrm>
            <a:off x="8821333" y="6457675"/>
            <a:ext cx="2634000" cy="400200"/>
          </a:xfrm>
          <a:prstGeom prst="rect">
            <a:avLst/>
          </a:prstGeom>
          <a:noFill/>
          <a:ln>
            <a:noFill/>
          </a:ln>
        </p:spPr>
        <p:txBody>
          <a:bodyPr spcFirstLastPara="1" wrap="square" lIns="91425" tIns="91425" rIns="91425" bIns="91425" anchor="t" anchorCtr="0">
            <a:spAutoFit/>
          </a:bodyPr>
          <a:lstStyle/>
          <a:p>
            <a:pPr lvl="0" algn="r"/>
            <a:r>
              <a:rPr lang="nb-NO" i="1" dirty="0">
                <a:latin typeface="Calibri"/>
                <a:ea typeface="Calibri"/>
                <a:cs typeface="Calibri"/>
                <a:sym typeface="Calibri"/>
              </a:rPr>
              <a:t>volume 2, pg. 321</a:t>
            </a:r>
          </a:p>
        </p:txBody>
      </p:sp>
    </p:spTree>
    <p:extLst>
      <p:ext uri="{BB962C8B-B14F-4D97-AF65-F5344CB8AC3E}">
        <p14:creationId xmlns:p14="http://schemas.microsoft.com/office/powerpoint/2010/main" val="29490299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14" name="TextBox 13">
            <a:extLst>
              <a:ext uri="{FF2B5EF4-FFF2-40B4-BE49-F238E27FC236}">
                <a16:creationId xmlns:a16="http://schemas.microsoft.com/office/drawing/2014/main" id="{2FA392D8-3ED3-7940-83A8-1451AA8A08D4}"/>
              </a:ext>
            </a:extLst>
          </p:cNvPr>
          <p:cNvSpPr txBox="1"/>
          <p:nvPr/>
        </p:nvSpPr>
        <p:spPr>
          <a:xfrm>
            <a:off x="869795" y="520394"/>
            <a:ext cx="10259122" cy="3416320"/>
          </a:xfrm>
          <a:prstGeom prst="rect">
            <a:avLst/>
          </a:prstGeom>
          <a:noFill/>
        </p:spPr>
        <p:txBody>
          <a:bodyPr wrap="square" rtlCol="0">
            <a:spAutoFit/>
          </a:bodyPr>
          <a:lstStyle/>
          <a:p>
            <a:pPr marL="457200" indent="-457200">
              <a:buFont typeface="+mj-lt"/>
              <a:buAutoNum type="arabicPeriod" startAt="2"/>
            </a:pPr>
            <a:r>
              <a:rPr lang="en-US" sz="2400" dirty="0">
                <a:latin typeface="Verdana" charset="0"/>
                <a:ea typeface="Verdana" charset="0"/>
                <a:cs typeface="Verdana" charset="0"/>
              </a:rPr>
              <a:t>What fraction of the total students do not play an instrument and also do not play sports? </a:t>
            </a:r>
            <a:br>
              <a:rPr lang="en-US" sz="2400" dirty="0">
                <a:latin typeface="Verdana" charset="0"/>
                <a:ea typeface="Verdana" charset="0"/>
                <a:cs typeface="Verdana" charset="0"/>
              </a:rPr>
            </a:br>
            <a:endParaRPr lang="en-US" sz="2400" dirty="0">
              <a:latin typeface="Verdana" charset="0"/>
              <a:ea typeface="Verdana" charset="0"/>
              <a:cs typeface="Verdana" charset="0"/>
            </a:endParaRPr>
          </a:p>
          <a:p>
            <a:pPr marL="457200" indent="-457200">
              <a:buFont typeface="+mj-lt"/>
              <a:buAutoNum type="arabicPeriod" startAt="2"/>
            </a:pPr>
            <a:endParaRPr lang="en-US" sz="2400" dirty="0">
              <a:latin typeface="Verdana" charset="0"/>
              <a:ea typeface="Verdana" charset="0"/>
              <a:cs typeface="Verdana" charset="0"/>
            </a:endParaRPr>
          </a:p>
          <a:p>
            <a:pPr marL="457200" indent="-457200">
              <a:buFont typeface="+mj-lt"/>
              <a:buAutoNum type="arabicPeriod" startAt="2"/>
            </a:pPr>
            <a:endParaRPr lang="en-US" sz="2400" dirty="0">
              <a:latin typeface="Verdana" charset="0"/>
              <a:ea typeface="Verdana" charset="0"/>
              <a:cs typeface="Verdana" charset="0"/>
            </a:endParaRPr>
          </a:p>
          <a:p>
            <a:pPr marL="457200" indent="-457200">
              <a:buFont typeface="+mj-lt"/>
              <a:buAutoNum type="arabicPeriod" startAt="2"/>
            </a:pPr>
            <a:endParaRPr lang="en-US" sz="2400" dirty="0">
              <a:latin typeface="Verdana" charset="0"/>
              <a:ea typeface="Verdana" charset="0"/>
              <a:cs typeface="Verdana" charset="0"/>
            </a:endParaRPr>
          </a:p>
          <a:p>
            <a:pPr marL="457200" indent="-457200">
              <a:buFont typeface="+mj-lt"/>
              <a:buAutoNum type="arabicPeriod" startAt="2"/>
            </a:pPr>
            <a:endParaRPr lang="en-US" sz="2400" dirty="0">
              <a:latin typeface="Verdana" charset="0"/>
              <a:ea typeface="Verdana" charset="0"/>
              <a:cs typeface="Verdana" charset="0"/>
            </a:endParaRPr>
          </a:p>
          <a:p>
            <a:pPr marL="457200" indent="-457200">
              <a:buFont typeface="+mj-lt"/>
              <a:buAutoNum type="arabicPeriod" startAt="2"/>
            </a:pPr>
            <a:r>
              <a:rPr lang="en-US" sz="2400" dirty="0">
                <a:latin typeface="Verdana" charset="0"/>
                <a:ea typeface="Verdana" charset="0"/>
                <a:cs typeface="Verdana" charset="0"/>
              </a:rPr>
              <a:t>Does the fraction you found in represent a joint or marginal relative frequency? </a:t>
            </a:r>
          </a:p>
        </p:txBody>
      </p:sp>
      <p:sp>
        <p:nvSpPr>
          <p:cNvPr id="6" name="Google Shape;278;g104476d1465_1_17">
            <a:extLst>
              <a:ext uri="{FF2B5EF4-FFF2-40B4-BE49-F238E27FC236}">
                <a16:creationId xmlns:a16="http://schemas.microsoft.com/office/drawing/2014/main" id="{E2774663-8BD9-4C47-8B0B-3F2A1E300184}"/>
              </a:ext>
            </a:extLst>
          </p:cNvPr>
          <p:cNvSpPr/>
          <p:nvPr/>
        </p:nvSpPr>
        <p:spPr>
          <a:xfrm>
            <a:off x="0" y="-8225"/>
            <a:ext cx="223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7" name="Google Shape;282;g104476d1465_1_17">
            <a:extLst>
              <a:ext uri="{FF2B5EF4-FFF2-40B4-BE49-F238E27FC236}">
                <a16:creationId xmlns:a16="http://schemas.microsoft.com/office/drawing/2014/main" id="{998873ED-9EB4-EBA2-FF97-88CD1311BD95}"/>
              </a:ext>
            </a:extLst>
          </p:cNvPr>
          <p:cNvSpPr txBox="1"/>
          <p:nvPr/>
        </p:nvSpPr>
        <p:spPr>
          <a:xfrm>
            <a:off x="8821333" y="6457675"/>
            <a:ext cx="2634000" cy="400200"/>
          </a:xfrm>
          <a:prstGeom prst="rect">
            <a:avLst/>
          </a:prstGeom>
          <a:noFill/>
          <a:ln>
            <a:noFill/>
          </a:ln>
        </p:spPr>
        <p:txBody>
          <a:bodyPr spcFirstLastPara="1" wrap="square" lIns="91425" tIns="91425" rIns="91425" bIns="91425" anchor="t" anchorCtr="0">
            <a:spAutoFit/>
          </a:bodyPr>
          <a:lstStyle/>
          <a:p>
            <a:pPr lvl="0" algn="r"/>
            <a:r>
              <a:rPr lang="nb-NO" i="1" dirty="0">
                <a:latin typeface="Calibri"/>
                <a:ea typeface="Calibri"/>
                <a:cs typeface="Calibri"/>
                <a:sym typeface="Calibri"/>
              </a:rPr>
              <a:t>volume 2, pg. 321</a:t>
            </a:r>
          </a:p>
        </p:txBody>
      </p:sp>
      <p:pic>
        <p:nvPicPr>
          <p:cNvPr id="8" name="Google Shape;283;g104476d1465_1_17">
            <a:extLst>
              <a:ext uri="{FF2B5EF4-FFF2-40B4-BE49-F238E27FC236}">
                <a16:creationId xmlns:a16="http://schemas.microsoft.com/office/drawing/2014/main" id="{CF1A6069-8D6E-F124-D325-C60167642BF0}"/>
              </a:ext>
            </a:extLst>
          </p:cNvPr>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59559" y="6200600"/>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5982330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4050"/>
            <a:ext cx="2731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59559" y="6200600"/>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4193379" y="2766145"/>
            <a:ext cx="448075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54B5D1"/>
                </a:solidFill>
                <a:latin typeface="Verdana"/>
                <a:ea typeface="Verdana"/>
                <a:cs typeface="Verdana"/>
                <a:sym typeface="Verdana"/>
              </a:rPr>
              <a:t>Guided Instruction</a:t>
            </a:r>
            <a:endParaRPr sz="5100" b="1" dirty="0">
              <a:solidFill>
                <a:srgbClr val="54B5D1"/>
              </a:solidFill>
              <a:latin typeface="Verdana"/>
              <a:ea typeface="Verdana"/>
              <a:cs typeface="Verdana"/>
              <a:sym typeface="Verdana"/>
            </a:endParaRPr>
          </a:p>
        </p:txBody>
      </p:sp>
      <p:pic>
        <p:nvPicPr>
          <p:cNvPr id="7" name="Google Shape;338;g103996e1364_0_315">
            <a:extLst>
              <a:ext uri="{FF2B5EF4-FFF2-40B4-BE49-F238E27FC236}">
                <a16:creationId xmlns:a16="http://schemas.microsoft.com/office/drawing/2014/main" id="{2AC58C8F-2DD8-F347-9ECA-58EE9E1B7E9C}"/>
              </a:ext>
            </a:extLst>
          </p:cNvPr>
          <p:cNvPicPr preferRelativeResize="0"/>
          <p:nvPr/>
        </p:nvPicPr>
        <p:blipFill rotWithShape="1">
          <a:blip r:embed="rId4">
            <a:alphaModFix/>
          </a:blip>
          <a:srcRect/>
          <a:stretch/>
        </p:blipFill>
        <p:spPr>
          <a:xfrm>
            <a:off x="3047587" y="2849920"/>
            <a:ext cx="1145792" cy="1158150"/>
          </a:xfrm>
          <a:prstGeom prst="rect">
            <a:avLst/>
          </a:prstGeom>
          <a:noFill/>
          <a:ln>
            <a:noFill/>
          </a:ln>
          <a:effectLst>
            <a:outerShdw blurRad="50800" dist="38100" dir="2700000" algn="tl" rotWithShape="0">
              <a:prstClr val="black">
                <a:alpha val="40000"/>
              </a:prstClr>
            </a:outerShdw>
          </a:effectLst>
        </p:spPr>
      </p:pic>
      <p:sp>
        <p:nvSpPr>
          <p:cNvPr id="9" name="Google Shape;282;g104476d1465_1_17">
            <a:extLst>
              <a:ext uri="{FF2B5EF4-FFF2-40B4-BE49-F238E27FC236}">
                <a16:creationId xmlns:a16="http://schemas.microsoft.com/office/drawing/2014/main" id="{BE511F69-CC27-6B69-F521-A71EADCD6783}"/>
              </a:ext>
            </a:extLst>
          </p:cNvPr>
          <p:cNvSpPr txBox="1"/>
          <p:nvPr/>
        </p:nvSpPr>
        <p:spPr>
          <a:xfrm>
            <a:off x="8821333" y="6457675"/>
            <a:ext cx="2634000" cy="400200"/>
          </a:xfrm>
          <a:prstGeom prst="rect">
            <a:avLst/>
          </a:prstGeom>
          <a:noFill/>
          <a:ln>
            <a:noFill/>
          </a:ln>
        </p:spPr>
        <p:txBody>
          <a:bodyPr spcFirstLastPara="1" wrap="square" lIns="91425" tIns="91425" rIns="91425" bIns="91425" anchor="t" anchorCtr="0">
            <a:spAutoFit/>
          </a:bodyPr>
          <a:lstStyle/>
          <a:p>
            <a:pPr lvl="0" algn="r"/>
            <a:r>
              <a:rPr lang="nb-NO" i="1" dirty="0">
                <a:latin typeface="Calibri"/>
                <a:ea typeface="Calibri"/>
                <a:cs typeface="Calibri"/>
                <a:sym typeface="Calibri"/>
              </a:rPr>
              <a:t>volume 2, pg. 322</a:t>
            </a:r>
          </a:p>
        </p:txBody>
      </p:sp>
    </p:spTree>
    <p:extLst>
      <p:ext uri="{BB962C8B-B14F-4D97-AF65-F5344CB8AC3E}">
        <p14:creationId xmlns:p14="http://schemas.microsoft.com/office/powerpoint/2010/main" val="12981491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59559" y="6200600"/>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343;g103996e1364_0_321">
            <a:extLst>
              <a:ext uri="{FF2B5EF4-FFF2-40B4-BE49-F238E27FC236}">
                <a16:creationId xmlns:a16="http://schemas.microsoft.com/office/drawing/2014/main" id="{21B1DF8E-16A0-FA4E-8CEB-434668DFA68D}"/>
              </a:ext>
            </a:extLst>
          </p:cNvPr>
          <p:cNvSpPr txBox="1">
            <a:spLocks/>
          </p:cNvSpPr>
          <p:nvPr/>
        </p:nvSpPr>
        <p:spPr>
          <a:xfrm>
            <a:off x="1402252" y="-85979"/>
            <a:ext cx="10157307"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2800" b="1" dirty="0">
                <a:solidFill>
                  <a:srgbClr val="54B5D1"/>
                </a:solidFill>
                <a:latin typeface="Verdana"/>
                <a:ea typeface="Verdana"/>
                <a:cs typeface="Verdana"/>
                <a:sym typeface="Verdana"/>
              </a:rPr>
              <a:t>14.4.2 Guided Instruction: Finding Possible Associations in the Data</a:t>
            </a:r>
          </a:p>
        </p:txBody>
      </p:sp>
      <p:pic>
        <p:nvPicPr>
          <p:cNvPr id="9" name="Google Shape;345;g103996e1364_0_321">
            <a:extLst>
              <a:ext uri="{FF2B5EF4-FFF2-40B4-BE49-F238E27FC236}">
                <a16:creationId xmlns:a16="http://schemas.microsoft.com/office/drawing/2014/main" id="{CBDD45DF-949B-9F42-BFF6-A7167F0CF795}"/>
              </a:ext>
            </a:extLst>
          </p:cNvPr>
          <p:cNvPicPr preferRelativeResize="0"/>
          <p:nvPr/>
        </p:nvPicPr>
        <p:blipFill rotWithShape="1">
          <a:blip r:embed="rId4">
            <a:alphaModFix/>
          </a:blip>
          <a:srcRect/>
          <a:stretch/>
        </p:blipFill>
        <p:spPr>
          <a:xfrm>
            <a:off x="439076" y="191924"/>
            <a:ext cx="747300" cy="747300"/>
          </a:xfrm>
          <a:prstGeom prst="rect">
            <a:avLst/>
          </a:prstGeom>
          <a:noFill/>
          <a:ln>
            <a:noFill/>
          </a:ln>
          <a:effectLst>
            <a:outerShdw blurRad="50800" dist="38100" dir="2700000" algn="tl" rotWithShape="0">
              <a:prstClr val="black">
                <a:alpha val="40000"/>
              </a:prstClr>
            </a:outerShdw>
          </a:effectLst>
        </p:spPr>
      </p:pic>
      <p:sp>
        <p:nvSpPr>
          <p:cNvPr id="13" name="TextBox 12">
            <a:extLst>
              <a:ext uri="{FF2B5EF4-FFF2-40B4-BE49-F238E27FC236}">
                <a16:creationId xmlns:a16="http://schemas.microsoft.com/office/drawing/2014/main" id="{C01B13E8-EC8D-E443-A329-C5E3593DD13A}"/>
              </a:ext>
            </a:extLst>
          </p:cNvPr>
          <p:cNvSpPr txBox="1"/>
          <p:nvPr/>
        </p:nvSpPr>
        <p:spPr>
          <a:xfrm>
            <a:off x="858643" y="1386026"/>
            <a:ext cx="10303727" cy="1200329"/>
          </a:xfrm>
          <a:prstGeom prst="rect">
            <a:avLst/>
          </a:prstGeom>
          <a:noFill/>
        </p:spPr>
        <p:txBody>
          <a:bodyPr wrap="square" rtlCol="0">
            <a:spAutoFit/>
          </a:bodyPr>
          <a:lstStyle/>
          <a:p>
            <a:r>
              <a:rPr lang="en-US" sz="2400" dirty="0">
                <a:latin typeface="Verdana" charset="0"/>
                <a:ea typeface="Verdana" charset="0"/>
                <a:cs typeface="Verdana" charset="0"/>
              </a:rPr>
              <a:t>Two-way tables are effective for organizing data. Creating a segmented bar graph for the data in a two-way table can help make possible associations more visible. </a:t>
            </a:r>
          </a:p>
        </p:txBody>
      </p:sp>
      <p:sp>
        <p:nvSpPr>
          <p:cNvPr id="8" name="Google Shape;278;g104476d1465_1_17">
            <a:extLst>
              <a:ext uri="{FF2B5EF4-FFF2-40B4-BE49-F238E27FC236}">
                <a16:creationId xmlns:a16="http://schemas.microsoft.com/office/drawing/2014/main" id="{AE4FE736-A36F-DC4F-BDE9-72EF780E2083}"/>
              </a:ext>
            </a:extLst>
          </p:cNvPr>
          <p:cNvSpPr/>
          <p:nvPr/>
        </p:nvSpPr>
        <p:spPr>
          <a:xfrm>
            <a:off x="0" y="-8225"/>
            <a:ext cx="223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10" name="Text Box 24"/>
          <p:cNvSpPr txBox="1"/>
          <p:nvPr/>
        </p:nvSpPr>
        <p:spPr>
          <a:xfrm>
            <a:off x="2191933" y="3033157"/>
            <a:ext cx="6629400" cy="1704023"/>
          </a:xfrm>
          <a:prstGeom prst="roundRect">
            <a:avLst/>
          </a:prstGeom>
          <a:solidFill>
            <a:srgbClr val="E2EFD4"/>
          </a:solidFill>
          <a:ln>
            <a:noFill/>
          </a:ln>
          <a:effectLst>
            <a:outerShdw blurRad="50800" dist="76200" dir="2700000" algn="tl" rotWithShape="0">
              <a:prstClr val="black">
                <a:alpha val="40000"/>
              </a:prstClr>
            </a:outerShdw>
          </a:effectLst>
        </p:spPr>
        <p:style>
          <a:lnRef idx="3">
            <a:schemeClr val="lt1"/>
          </a:lnRef>
          <a:fillRef idx="1">
            <a:schemeClr val="accent5"/>
          </a:fillRef>
          <a:effectRef idx="1">
            <a:schemeClr val="accent5"/>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917575"/>
            <a:r>
              <a:rPr lang="en-US" sz="2000" dirty="0">
                <a:solidFill>
                  <a:schemeClr val="accent6"/>
                </a:solidFill>
                <a:latin typeface="Verdana" charset="0"/>
                <a:ea typeface="Verdana" charset="0"/>
                <a:cs typeface="Verdana" charset="0"/>
              </a:rPr>
              <a:t>An </a:t>
            </a:r>
            <a:r>
              <a:rPr lang="en-US" sz="2000" b="1" i="1" dirty="0">
                <a:solidFill>
                  <a:schemeClr val="accent6"/>
                </a:solidFill>
                <a:latin typeface="Verdana" charset="0"/>
                <a:ea typeface="Verdana" charset="0"/>
                <a:cs typeface="Verdana" charset="0"/>
              </a:rPr>
              <a:t>association</a:t>
            </a:r>
            <a:r>
              <a:rPr lang="en-US" sz="2000" dirty="0">
                <a:solidFill>
                  <a:schemeClr val="accent6"/>
                </a:solidFill>
                <a:latin typeface="Verdana" charset="0"/>
                <a:ea typeface="Verdana" charset="0"/>
                <a:cs typeface="Verdana" charset="0"/>
              </a:rPr>
              <a:t> is a way to describe the relationship between the two variables in a bivariate data set. For categorical data, descriptions include strong or weak.</a:t>
            </a:r>
          </a:p>
        </p:txBody>
      </p:sp>
      <p:pic>
        <p:nvPicPr>
          <p:cNvPr id="11" name="Picture 10"/>
          <p:cNvPicPr>
            <a:picLocks noChangeAspect="1"/>
          </p:cNvPicPr>
          <p:nvPr/>
        </p:nvPicPr>
        <p:blipFill>
          <a:blip r:embed="rId5">
            <a:extLst>
              <a:ext uri="{28A0092B-C50C-407E-A947-70E740481C1C}">
                <a14:useLocalDpi xmlns:a14="http://schemas.microsoft.com/office/drawing/2010/main"/>
              </a:ext>
            </a:extLst>
          </a:blip>
          <a:stretch>
            <a:fillRect/>
          </a:stretch>
        </p:blipFill>
        <p:spPr>
          <a:xfrm>
            <a:off x="2514181" y="3177616"/>
            <a:ext cx="530352" cy="542544"/>
          </a:xfrm>
          <a:prstGeom prst="rect">
            <a:avLst/>
          </a:prstGeom>
          <a:effectLst>
            <a:outerShdw blurRad="50800" dist="38100" dir="2700000" algn="tl" rotWithShape="0">
              <a:prstClr val="black">
                <a:alpha val="40000"/>
              </a:prstClr>
            </a:outerShdw>
          </a:effectLst>
        </p:spPr>
      </p:pic>
      <p:sp>
        <p:nvSpPr>
          <p:cNvPr id="14" name="Google Shape;282;g104476d1465_1_17">
            <a:extLst>
              <a:ext uri="{FF2B5EF4-FFF2-40B4-BE49-F238E27FC236}">
                <a16:creationId xmlns:a16="http://schemas.microsoft.com/office/drawing/2014/main" id="{16D99404-9E63-A434-658A-4586EFD33C32}"/>
              </a:ext>
            </a:extLst>
          </p:cNvPr>
          <p:cNvSpPr txBox="1"/>
          <p:nvPr/>
        </p:nvSpPr>
        <p:spPr>
          <a:xfrm>
            <a:off x="8821333" y="6457675"/>
            <a:ext cx="2634000" cy="400200"/>
          </a:xfrm>
          <a:prstGeom prst="rect">
            <a:avLst/>
          </a:prstGeom>
          <a:noFill/>
          <a:ln>
            <a:noFill/>
          </a:ln>
        </p:spPr>
        <p:txBody>
          <a:bodyPr spcFirstLastPara="1" wrap="square" lIns="91425" tIns="91425" rIns="91425" bIns="91425" anchor="t" anchorCtr="0">
            <a:spAutoFit/>
          </a:bodyPr>
          <a:lstStyle/>
          <a:p>
            <a:pPr lvl="0" algn="r"/>
            <a:r>
              <a:rPr lang="nb-NO" i="1" dirty="0">
                <a:latin typeface="Calibri"/>
                <a:ea typeface="Calibri"/>
                <a:cs typeface="Calibri"/>
                <a:sym typeface="Calibri"/>
              </a:rPr>
              <a:t>volume 2, pg. 322</a:t>
            </a:r>
          </a:p>
        </p:txBody>
      </p:sp>
    </p:spTree>
    <p:extLst>
      <p:ext uri="{BB962C8B-B14F-4D97-AF65-F5344CB8AC3E}">
        <p14:creationId xmlns:p14="http://schemas.microsoft.com/office/powerpoint/2010/main" val="4920443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14" name="TextBox 13">
            <a:extLst>
              <a:ext uri="{FF2B5EF4-FFF2-40B4-BE49-F238E27FC236}">
                <a16:creationId xmlns:a16="http://schemas.microsoft.com/office/drawing/2014/main" id="{2FA392D8-3ED3-7940-83A8-1451AA8A08D4}"/>
              </a:ext>
            </a:extLst>
          </p:cNvPr>
          <p:cNvSpPr txBox="1"/>
          <p:nvPr/>
        </p:nvSpPr>
        <p:spPr>
          <a:xfrm>
            <a:off x="858643" y="520394"/>
            <a:ext cx="10270273" cy="1015663"/>
          </a:xfrm>
          <a:prstGeom prst="rect">
            <a:avLst/>
          </a:prstGeom>
          <a:noFill/>
        </p:spPr>
        <p:txBody>
          <a:bodyPr wrap="square" rtlCol="0">
            <a:spAutoFit/>
          </a:bodyPr>
          <a:lstStyle/>
          <a:p>
            <a:r>
              <a:rPr lang="en-US" sz="2000" dirty="0">
                <a:latin typeface="Verdana" charset="0"/>
                <a:ea typeface="Verdana" charset="0"/>
                <a:cs typeface="Verdana" charset="0"/>
              </a:rPr>
              <a:t>Orlando would like to know if there is any association between playing an instrument and playing a sport. He makes a segmented bar graph from the data in the two-way table. </a:t>
            </a:r>
          </a:p>
        </p:txBody>
      </p:sp>
      <p:sp>
        <p:nvSpPr>
          <p:cNvPr id="6" name="Google Shape;278;g104476d1465_1_17">
            <a:extLst>
              <a:ext uri="{FF2B5EF4-FFF2-40B4-BE49-F238E27FC236}">
                <a16:creationId xmlns:a16="http://schemas.microsoft.com/office/drawing/2014/main" id="{D351BC34-60FF-984A-AE0C-5354282DEDAC}"/>
              </a:ext>
            </a:extLst>
          </p:cNvPr>
          <p:cNvSpPr/>
          <p:nvPr/>
        </p:nvSpPr>
        <p:spPr>
          <a:xfrm>
            <a:off x="0" y="-8225"/>
            <a:ext cx="223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mc:Choice xmlns:a14="http://schemas.microsoft.com/office/drawing/2010/main" Requires="a14">
          <p:graphicFrame>
            <p:nvGraphicFramePr>
              <p:cNvPr id="2" name="Table 1"/>
              <p:cNvGraphicFramePr>
                <a:graphicFrameLocks noGrp="1"/>
              </p:cNvGraphicFramePr>
              <p:nvPr>
                <p:extLst>
                  <p:ext uri="{D42A27DB-BD31-4B8C-83A1-F6EECF244321}">
                    <p14:modId xmlns:p14="http://schemas.microsoft.com/office/powerpoint/2010/main" val="3863906896"/>
                  </p:ext>
                </p:extLst>
              </p:nvPr>
            </p:nvGraphicFramePr>
            <p:xfrm>
              <a:off x="1037448" y="1636497"/>
              <a:ext cx="7940987" cy="2035474"/>
            </p:xfrm>
            <a:graphic>
              <a:graphicData uri="http://schemas.openxmlformats.org/drawingml/2006/table">
                <a:tbl>
                  <a:tblPr firstRow="1" firstCol="1" lastRow="1" lastCol="1"/>
                  <a:tblGrid>
                    <a:gridCol w="2786377">
                      <a:extLst>
                        <a:ext uri="{9D8B030D-6E8A-4147-A177-3AD203B41FA5}">
                          <a16:colId xmlns:a16="http://schemas.microsoft.com/office/drawing/2014/main" val="20000"/>
                        </a:ext>
                      </a:extLst>
                    </a:gridCol>
                    <a:gridCol w="1999282">
                      <a:extLst>
                        <a:ext uri="{9D8B030D-6E8A-4147-A177-3AD203B41FA5}">
                          <a16:colId xmlns:a16="http://schemas.microsoft.com/office/drawing/2014/main" val="20001"/>
                        </a:ext>
                      </a:extLst>
                    </a:gridCol>
                    <a:gridCol w="2200759">
                      <a:extLst>
                        <a:ext uri="{9D8B030D-6E8A-4147-A177-3AD203B41FA5}">
                          <a16:colId xmlns:a16="http://schemas.microsoft.com/office/drawing/2014/main" val="20002"/>
                        </a:ext>
                      </a:extLst>
                    </a:gridCol>
                    <a:gridCol w="954569">
                      <a:extLst>
                        <a:ext uri="{9D8B030D-6E8A-4147-A177-3AD203B41FA5}">
                          <a16:colId xmlns:a16="http://schemas.microsoft.com/office/drawing/2014/main" val="20003"/>
                        </a:ext>
                      </a:extLst>
                    </a:gridCol>
                  </a:tblGrid>
                  <a:tr h="656590">
                    <a:tc>
                      <a:txBody>
                        <a:bodyPr/>
                        <a:lstStyle/>
                        <a:p>
                          <a:pPr marL="342900" marR="0" lvl="0" indent="-342900" algn="ctr">
                            <a:spcBef>
                              <a:spcPts val="180"/>
                            </a:spcBef>
                            <a:spcAft>
                              <a:spcPts val="180"/>
                            </a:spcAft>
                            <a:buFont typeface="Arial" charset="0"/>
                            <a:buChar char=" "/>
                            <a:tabLst>
                              <a:tab pos="0" algn="l"/>
                            </a:tabLst>
                          </a:pPr>
                          <a:r>
                            <a:rPr lang="en-US" sz="2000" b="1" dirty="0">
                              <a:effectLst/>
                              <a:latin typeface="Verdana" charset="0"/>
                              <a:ea typeface="Verdana" charset="0"/>
                              <a:cs typeface="Verdana" charset="0"/>
                            </a:rPr>
                            <a:t> </a:t>
                          </a:r>
                          <a:endParaRPr lang="en-US" sz="1400" dirty="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180"/>
                            </a:spcBef>
                            <a:spcAft>
                              <a:spcPts val="180"/>
                            </a:spcAft>
                          </a:pPr>
                          <a:r>
                            <a:rPr lang="en-US" sz="2000" b="1" dirty="0">
                              <a:effectLst/>
                              <a:latin typeface="Verdana" charset="0"/>
                              <a:ea typeface="Verdana" charset="0"/>
                              <a:cs typeface="Verdana" charset="0"/>
                            </a:rPr>
                            <a:t>Plays Instrument</a:t>
                          </a:r>
                          <a:endParaRPr lang="en-US" sz="1400" dirty="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180"/>
                            </a:spcBef>
                            <a:spcAft>
                              <a:spcPts val="180"/>
                            </a:spcAft>
                          </a:pPr>
                          <a:r>
                            <a:rPr lang="en-US" sz="2000" b="1">
                              <a:effectLst/>
                              <a:latin typeface="Verdana" charset="0"/>
                              <a:ea typeface="Verdana" charset="0"/>
                              <a:cs typeface="Verdana" charset="0"/>
                            </a:rPr>
                            <a:t>Does not Play Instrument</a:t>
                          </a:r>
                          <a:endParaRPr lang="en-US" sz="14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180"/>
                            </a:spcBef>
                            <a:spcAft>
                              <a:spcPts val="180"/>
                            </a:spcAft>
                          </a:pPr>
                          <a:r>
                            <a:rPr lang="en-US" sz="2000" b="1">
                              <a:effectLst/>
                              <a:latin typeface="Verdana" charset="0"/>
                              <a:ea typeface="Verdana" charset="0"/>
                              <a:cs typeface="Verdana" charset="0"/>
                            </a:rPr>
                            <a:t>Total</a:t>
                          </a:r>
                          <a:endParaRPr lang="en-US" sz="14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0000"/>
                      </a:ext>
                    </a:extLst>
                  </a:tr>
                  <a:tr h="339389">
                    <a:tc>
                      <a:txBody>
                        <a:bodyPr/>
                        <a:lstStyle/>
                        <a:p>
                          <a:pPr marL="0" marR="0" algn="ctr">
                            <a:spcBef>
                              <a:spcPts val="180"/>
                            </a:spcBef>
                            <a:spcAft>
                              <a:spcPts val="180"/>
                            </a:spcAft>
                          </a:pPr>
                          <a:r>
                            <a:rPr lang="en-US" sz="2000" b="1">
                              <a:effectLst/>
                              <a:latin typeface="Verdana" charset="0"/>
                              <a:ea typeface="Verdana" charset="0"/>
                              <a:cs typeface="Verdana" charset="0"/>
                            </a:rPr>
                            <a:t>Plays Sports</a:t>
                          </a:r>
                          <a:endParaRPr lang="en-US" sz="14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180"/>
                            </a:spcBef>
                            <a:spcAft>
                              <a:spcPts val="180"/>
                            </a:spcAft>
                          </a:pPr>
                          <a14:m>
                            <m:oMathPara xmlns:m="http://schemas.openxmlformats.org/officeDocument/2006/math">
                              <m:oMathParaPr>
                                <m:jc m:val="centerGroup"/>
                              </m:oMathParaPr>
                              <m:oMath xmlns:m="http://schemas.openxmlformats.org/officeDocument/2006/math">
                                <m:r>
                                  <a:rPr lang="en-US" sz="2000" i="1" dirty="0" smtClean="0">
                                    <a:effectLst/>
                                    <a:latin typeface="Cambria Math" panose="02040503050406030204" pitchFamily="18" charset="0"/>
                                    <a:ea typeface="Verdana" charset="0"/>
                                    <a:cs typeface="Verdana" charset="0"/>
                                  </a:rPr>
                                  <m:t>5</m:t>
                                </m:r>
                              </m:oMath>
                            </m:oMathPara>
                          </a14:m>
                          <a:endParaRPr lang="en-US" sz="1400" dirty="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180"/>
                            </a:spcBef>
                            <a:spcAft>
                              <a:spcPts val="180"/>
                            </a:spcAft>
                          </a:pPr>
                          <a14:m>
                            <m:oMathPara xmlns:m="http://schemas.openxmlformats.org/officeDocument/2006/math">
                              <m:oMathParaPr>
                                <m:jc m:val="centerGroup"/>
                              </m:oMathParaPr>
                              <m:oMath xmlns:m="http://schemas.openxmlformats.org/officeDocument/2006/math">
                                <m:r>
                                  <a:rPr lang="en-US" sz="2000" i="1" smtClean="0">
                                    <a:effectLst/>
                                    <a:latin typeface="Cambria Math" panose="02040503050406030204" pitchFamily="18" charset="0"/>
                                    <a:ea typeface="Verdana" charset="0"/>
                                    <a:cs typeface="Verdana" charset="0"/>
                                  </a:rPr>
                                  <m:t>11</m:t>
                                </m:r>
                              </m:oMath>
                            </m:oMathPara>
                          </a14:m>
                          <a:endParaRPr lang="en-US" sz="14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180"/>
                            </a:spcBef>
                            <a:spcAft>
                              <a:spcPts val="180"/>
                            </a:spcAft>
                          </a:pPr>
                          <a14:m>
                            <m:oMathPara xmlns:m="http://schemas.openxmlformats.org/officeDocument/2006/math">
                              <m:oMathParaPr>
                                <m:jc m:val="centerGroup"/>
                              </m:oMathParaPr>
                              <m:oMath xmlns:m="http://schemas.openxmlformats.org/officeDocument/2006/math">
                                <m:r>
                                  <a:rPr lang="en-US" sz="2000" i="1" smtClean="0">
                                    <a:effectLst/>
                                    <a:latin typeface="Cambria Math" panose="02040503050406030204" pitchFamily="18" charset="0"/>
                                    <a:ea typeface="Verdana" charset="0"/>
                                    <a:cs typeface="Verdana" charset="0"/>
                                  </a:rPr>
                                  <m:t>16</m:t>
                                </m:r>
                              </m:oMath>
                            </m:oMathPara>
                          </a14:m>
                          <a:endParaRPr lang="en-US" sz="14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677545">
                    <a:tc>
                      <a:txBody>
                        <a:bodyPr/>
                        <a:lstStyle/>
                        <a:p>
                          <a:pPr marL="0" marR="0" algn="ctr">
                            <a:spcBef>
                              <a:spcPts val="180"/>
                            </a:spcBef>
                            <a:spcAft>
                              <a:spcPts val="180"/>
                            </a:spcAft>
                          </a:pPr>
                          <a:r>
                            <a:rPr lang="en-US" sz="2000" b="1" dirty="0">
                              <a:effectLst/>
                              <a:latin typeface="Verdana" charset="0"/>
                              <a:ea typeface="Verdana" charset="0"/>
                              <a:cs typeface="Verdana" charset="0"/>
                            </a:rPr>
                            <a:t>Does not Play Sports</a:t>
                          </a:r>
                          <a:endParaRPr lang="en-US" sz="1400" dirty="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180"/>
                            </a:spcBef>
                            <a:spcAft>
                              <a:spcPts val="180"/>
                            </a:spcAft>
                          </a:pPr>
                          <a14:m>
                            <m:oMathPara xmlns:m="http://schemas.openxmlformats.org/officeDocument/2006/math">
                              <m:oMathParaPr>
                                <m:jc m:val="centerGroup"/>
                              </m:oMathParaPr>
                              <m:oMath xmlns:m="http://schemas.openxmlformats.org/officeDocument/2006/math">
                                <m:r>
                                  <a:rPr lang="en-US" sz="2000" i="1" smtClean="0">
                                    <a:effectLst/>
                                    <a:latin typeface="Cambria Math" panose="02040503050406030204" pitchFamily="18" charset="0"/>
                                    <a:ea typeface="Verdana" charset="0"/>
                                    <a:cs typeface="Verdana" charset="0"/>
                                  </a:rPr>
                                  <m:t>5</m:t>
                                </m:r>
                              </m:oMath>
                            </m:oMathPara>
                          </a14:m>
                          <a:endParaRPr lang="en-US" sz="14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180"/>
                            </a:spcBef>
                            <a:spcAft>
                              <a:spcPts val="180"/>
                            </a:spcAft>
                          </a:pPr>
                          <a14:m>
                            <m:oMathPara xmlns:m="http://schemas.openxmlformats.org/officeDocument/2006/math">
                              <m:oMathParaPr>
                                <m:jc m:val="centerGroup"/>
                              </m:oMathParaPr>
                              <m:oMath xmlns:m="http://schemas.openxmlformats.org/officeDocument/2006/math">
                                <m:r>
                                  <a:rPr lang="en-US" sz="2000" i="1" dirty="0" smtClean="0">
                                    <a:effectLst/>
                                    <a:latin typeface="Cambria Math" panose="02040503050406030204" pitchFamily="18" charset="0"/>
                                    <a:ea typeface="Verdana" charset="0"/>
                                    <a:cs typeface="Verdana" charset="0"/>
                                  </a:rPr>
                                  <m:t>4</m:t>
                                </m:r>
                              </m:oMath>
                            </m:oMathPara>
                          </a14:m>
                          <a:endParaRPr lang="en-US" sz="1400" dirty="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180"/>
                            </a:spcBef>
                            <a:spcAft>
                              <a:spcPts val="180"/>
                            </a:spcAft>
                          </a:pPr>
                          <a14:m>
                            <m:oMathPara xmlns:m="http://schemas.openxmlformats.org/officeDocument/2006/math">
                              <m:oMathParaPr>
                                <m:jc m:val="centerGroup"/>
                              </m:oMathParaPr>
                              <m:oMath xmlns:m="http://schemas.openxmlformats.org/officeDocument/2006/math">
                                <m:r>
                                  <a:rPr lang="en-US" sz="2000" i="1" dirty="0" smtClean="0">
                                    <a:effectLst/>
                                    <a:latin typeface="Cambria Math" panose="02040503050406030204" pitchFamily="18" charset="0"/>
                                    <a:ea typeface="Verdana" charset="0"/>
                                    <a:cs typeface="Verdana" charset="0"/>
                                  </a:rPr>
                                  <m:t>9</m:t>
                                </m:r>
                              </m:oMath>
                            </m:oMathPara>
                          </a14:m>
                          <a:endParaRPr lang="en-US" sz="1400" dirty="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361950">
                    <a:tc>
                      <a:txBody>
                        <a:bodyPr/>
                        <a:lstStyle/>
                        <a:p>
                          <a:pPr marL="0" marR="0" algn="ctr">
                            <a:spcBef>
                              <a:spcPts val="180"/>
                            </a:spcBef>
                            <a:spcAft>
                              <a:spcPts val="180"/>
                            </a:spcAft>
                          </a:pPr>
                          <a:r>
                            <a:rPr lang="en-US" sz="2000" b="1">
                              <a:effectLst/>
                              <a:latin typeface="Verdana" charset="0"/>
                              <a:ea typeface="Verdana" charset="0"/>
                              <a:cs typeface="Verdana" charset="0"/>
                            </a:rPr>
                            <a:t>Total</a:t>
                          </a:r>
                          <a:endParaRPr lang="en-US" sz="14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180"/>
                            </a:spcBef>
                            <a:spcAft>
                              <a:spcPts val="180"/>
                            </a:spcAft>
                          </a:pPr>
                          <a14:m>
                            <m:oMathPara xmlns:m="http://schemas.openxmlformats.org/officeDocument/2006/math">
                              <m:oMathParaPr>
                                <m:jc m:val="centerGroup"/>
                              </m:oMathParaPr>
                              <m:oMath xmlns:m="http://schemas.openxmlformats.org/officeDocument/2006/math">
                                <m:r>
                                  <a:rPr lang="en-US" sz="2000" i="1" dirty="0" smtClean="0">
                                    <a:effectLst/>
                                    <a:latin typeface="Cambria Math" panose="02040503050406030204" pitchFamily="18" charset="0"/>
                                    <a:ea typeface="Verdana" charset="0"/>
                                    <a:cs typeface="Verdana" charset="0"/>
                                  </a:rPr>
                                  <m:t>10</m:t>
                                </m:r>
                              </m:oMath>
                            </m:oMathPara>
                          </a14:m>
                          <a:endParaRPr lang="en-US" sz="1400" dirty="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180"/>
                            </a:spcBef>
                            <a:spcAft>
                              <a:spcPts val="180"/>
                            </a:spcAft>
                          </a:pPr>
                          <a14:m>
                            <m:oMathPara xmlns:m="http://schemas.openxmlformats.org/officeDocument/2006/math">
                              <m:oMathParaPr>
                                <m:jc m:val="centerGroup"/>
                              </m:oMathParaPr>
                              <m:oMath xmlns:m="http://schemas.openxmlformats.org/officeDocument/2006/math">
                                <m:r>
                                  <a:rPr lang="en-US" sz="2000" i="1" smtClean="0">
                                    <a:effectLst/>
                                    <a:latin typeface="Cambria Math" panose="02040503050406030204" pitchFamily="18" charset="0"/>
                                    <a:ea typeface="Verdana" charset="0"/>
                                    <a:cs typeface="Verdana" charset="0"/>
                                  </a:rPr>
                                  <m:t>15</m:t>
                                </m:r>
                              </m:oMath>
                            </m:oMathPara>
                          </a14:m>
                          <a:endParaRPr lang="en-US" sz="14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180"/>
                            </a:spcBef>
                            <a:spcAft>
                              <a:spcPts val="180"/>
                            </a:spcAft>
                          </a:pPr>
                          <a14:m>
                            <m:oMathPara xmlns:m="http://schemas.openxmlformats.org/officeDocument/2006/math">
                              <m:oMathParaPr>
                                <m:jc m:val="centerGroup"/>
                              </m:oMathParaPr>
                              <m:oMath xmlns:m="http://schemas.openxmlformats.org/officeDocument/2006/math">
                                <m:r>
                                  <a:rPr lang="en-US" sz="2000" i="1" dirty="0" smtClean="0">
                                    <a:effectLst/>
                                    <a:latin typeface="Cambria Math" panose="02040503050406030204" pitchFamily="18" charset="0"/>
                                    <a:ea typeface="Verdana" charset="0"/>
                                    <a:cs typeface="Verdana" charset="0"/>
                                  </a:rPr>
                                  <m:t>25</m:t>
                                </m:r>
                              </m:oMath>
                            </m:oMathPara>
                          </a14:m>
                          <a:endParaRPr lang="en-US" sz="1400" dirty="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mc:Choice>
        <mc:Fallback>
          <p:graphicFrame>
            <p:nvGraphicFramePr>
              <p:cNvPr id="2" name="Table 1"/>
              <p:cNvGraphicFramePr>
                <a:graphicFrameLocks noGrp="1"/>
              </p:cNvGraphicFramePr>
              <p:nvPr>
                <p:extLst>
                  <p:ext uri="{D42A27DB-BD31-4B8C-83A1-F6EECF244321}">
                    <p14:modId xmlns:p14="http://schemas.microsoft.com/office/powerpoint/2010/main" val="3863906896"/>
                  </p:ext>
                </p:extLst>
              </p:nvPr>
            </p:nvGraphicFramePr>
            <p:xfrm>
              <a:off x="1037448" y="1636497"/>
              <a:ext cx="7940987" cy="2035474"/>
            </p:xfrm>
            <a:graphic>
              <a:graphicData uri="http://schemas.openxmlformats.org/drawingml/2006/table">
                <a:tbl>
                  <a:tblPr firstRow="1" firstCol="1" lastRow="1" lastCol="1"/>
                  <a:tblGrid>
                    <a:gridCol w="2786377">
                      <a:extLst>
                        <a:ext uri="{9D8B030D-6E8A-4147-A177-3AD203B41FA5}">
                          <a16:colId xmlns:a16="http://schemas.microsoft.com/office/drawing/2014/main" val="20000"/>
                        </a:ext>
                      </a:extLst>
                    </a:gridCol>
                    <a:gridCol w="1999282">
                      <a:extLst>
                        <a:ext uri="{9D8B030D-6E8A-4147-A177-3AD203B41FA5}">
                          <a16:colId xmlns:a16="http://schemas.microsoft.com/office/drawing/2014/main" val="20001"/>
                        </a:ext>
                      </a:extLst>
                    </a:gridCol>
                    <a:gridCol w="2200759">
                      <a:extLst>
                        <a:ext uri="{9D8B030D-6E8A-4147-A177-3AD203B41FA5}">
                          <a16:colId xmlns:a16="http://schemas.microsoft.com/office/drawing/2014/main" val="20002"/>
                        </a:ext>
                      </a:extLst>
                    </a:gridCol>
                    <a:gridCol w="954569">
                      <a:extLst>
                        <a:ext uri="{9D8B030D-6E8A-4147-A177-3AD203B41FA5}">
                          <a16:colId xmlns:a16="http://schemas.microsoft.com/office/drawing/2014/main" val="20003"/>
                        </a:ext>
                      </a:extLst>
                    </a:gridCol>
                  </a:tblGrid>
                  <a:tr h="656590">
                    <a:tc>
                      <a:txBody>
                        <a:bodyPr/>
                        <a:lstStyle/>
                        <a:p>
                          <a:pPr marL="342900" marR="0" lvl="0" indent="-342900" algn="ctr">
                            <a:spcBef>
                              <a:spcPts val="180"/>
                            </a:spcBef>
                            <a:spcAft>
                              <a:spcPts val="180"/>
                            </a:spcAft>
                            <a:buFont typeface="Arial" charset="0"/>
                            <a:buChar char=" "/>
                            <a:tabLst>
                              <a:tab pos="0" algn="l"/>
                            </a:tabLst>
                          </a:pPr>
                          <a:r>
                            <a:rPr lang="en-US" sz="2000" b="1" dirty="0">
                              <a:effectLst/>
                              <a:latin typeface="Verdana" charset="0"/>
                              <a:ea typeface="Verdana" charset="0"/>
                              <a:cs typeface="Verdana" charset="0"/>
                            </a:rPr>
                            <a:t> </a:t>
                          </a:r>
                          <a:endParaRPr lang="en-US" sz="1400" dirty="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180"/>
                            </a:spcBef>
                            <a:spcAft>
                              <a:spcPts val="180"/>
                            </a:spcAft>
                          </a:pPr>
                          <a:r>
                            <a:rPr lang="en-US" sz="2000" b="1" dirty="0">
                              <a:effectLst/>
                              <a:latin typeface="Verdana" charset="0"/>
                              <a:ea typeface="Verdana" charset="0"/>
                              <a:cs typeface="Verdana" charset="0"/>
                            </a:rPr>
                            <a:t>Plays Instrument</a:t>
                          </a:r>
                          <a:endParaRPr lang="en-US" sz="1400" dirty="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180"/>
                            </a:spcBef>
                            <a:spcAft>
                              <a:spcPts val="180"/>
                            </a:spcAft>
                          </a:pPr>
                          <a:r>
                            <a:rPr lang="en-US" sz="2000" b="1">
                              <a:effectLst/>
                              <a:latin typeface="Verdana" charset="0"/>
                              <a:ea typeface="Verdana" charset="0"/>
                              <a:cs typeface="Verdana" charset="0"/>
                            </a:rPr>
                            <a:t>Does not Play Instrument</a:t>
                          </a:r>
                          <a:endParaRPr lang="en-US" sz="14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180"/>
                            </a:spcBef>
                            <a:spcAft>
                              <a:spcPts val="180"/>
                            </a:spcAft>
                          </a:pPr>
                          <a:r>
                            <a:rPr lang="en-US" sz="2000" b="1">
                              <a:effectLst/>
                              <a:latin typeface="Verdana" charset="0"/>
                              <a:ea typeface="Verdana" charset="0"/>
                              <a:cs typeface="Verdana" charset="0"/>
                            </a:rPr>
                            <a:t>Total</a:t>
                          </a:r>
                          <a:endParaRPr lang="en-US" sz="14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0000"/>
                      </a:ext>
                    </a:extLst>
                  </a:tr>
                  <a:tr h="339389">
                    <a:tc>
                      <a:txBody>
                        <a:bodyPr/>
                        <a:lstStyle/>
                        <a:p>
                          <a:pPr marL="0" marR="0" algn="ctr">
                            <a:spcBef>
                              <a:spcPts val="180"/>
                            </a:spcBef>
                            <a:spcAft>
                              <a:spcPts val="180"/>
                            </a:spcAft>
                          </a:pPr>
                          <a:r>
                            <a:rPr lang="en-US" sz="2000" b="1">
                              <a:effectLst/>
                              <a:latin typeface="Verdana" charset="0"/>
                              <a:ea typeface="Verdana" charset="0"/>
                              <a:cs typeface="Verdana" charset="0"/>
                            </a:rPr>
                            <a:t>Plays Sports</a:t>
                          </a:r>
                          <a:endParaRPr lang="en-US" sz="14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endParaRPr lang="en-US"/>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3"/>
                          <a:stretch>
                            <a:fillRect l="-139634" t="-208929" r="-158537" b="-341071"/>
                          </a:stretch>
                        </a:blipFill>
                      </a:tcPr>
                    </a:tc>
                    <a:tc>
                      <a:txBody>
                        <a:bodyPr/>
                        <a:lstStyle/>
                        <a:p>
                          <a:endParaRPr lang="en-US"/>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3"/>
                          <a:stretch>
                            <a:fillRect l="-217729" t="-208929" r="-44044" b="-341071"/>
                          </a:stretch>
                        </a:blipFill>
                      </a:tcPr>
                    </a:tc>
                    <a:tc>
                      <a:txBody>
                        <a:bodyPr/>
                        <a:lstStyle/>
                        <a:p>
                          <a:endParaRPr lang="en-US"/>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3"/>
                          <a:stretch>
                            <a:fillRect l="-730573" t="-208929" r="-1274" b="-341071"/>
                          </a:stretch>
                        </a:blipFill>
                      </a:tcPr>
                    </a:tc>
                    <a:extLst>
                      <a:ext uri="{0D108BD9-81ED-4DB2-BD59-A6C34878D82A}">
                        <a16:rowId xmlns:a16="http://schemas.microsoft.com/office/drawing/2014/main" val="10001"/>
                      </a:ext>
                    </a:extLst>
                  </a:tr>
                  <a:tr h="677545">
                    <a:tc>
                      <a:txBody>
                        <a:bodyPr/>
                        <a:lstStyle/>
                        <a:p>
                          <a:pPr marL="0" marR="0" algn="ctr">
                            <a:spcBef>
                              <a:spcPts val="180"/>
                            </a:spcBef>
                            <a:spcAft>
                              <a:spcPts val="180"/>
                            </a:spcAft>
                          </a:pPr>
                          <a:r>
                            <a:rPr lang="en-US" sz="2000" b="1" dirty="0">
                              <a:effectLst/>
                              <a:latin typeface="Verdana" charset="0"/>
                              <a:ea typeface="Verdana" charset="0"/>
                              <a:cs typeface="Verdana" charset="0"/>
                            </a:rPr>
                            <a:t>Does not Play Sports</a:t>
                          </a:r>
                          <a:endParaRPr lang="en-US" sz="1400" dirty="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endParaRPr lang="en-US"/>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3"/>
                          <a:stretch>
                            <a:fillRect l="-139634" t="-155856" r="-158537" b="-72072"/>
                          </a:stretch>
                        </a:blipFill>
                      </a:tcPr>
                    </a:tc>
                    <a:tc>
                      <a:txBody>
                        <a:bodyPr/>
                        <a:lstStyle/>
                        <a:p>
                          <a:endParaRPr lang="en-US"/>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3"/>
                          <a:stretch>
                            <a:fillRect l="-217729" t="-155856" r="-44044" b="-72072"/>
                          </a:stretch>
                        </a:blipFill>
                      </a:tcPr>
                    </a:tc>
                    <a:tc>
                      <a:txBody>
                        <a:bodyPr/>
                        <a:lstStyle/>
                        <a:p>
                          <a:endParaRPr lang="en-US"/>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3"/>
                          <a:stretch>
                            <a:fillRect l="-730573" t="-155856" r="-1274" b="-72072"/>
                          </a:stretch>
                        </a:blipFill>
                      </a:tcPr>
                    </a:tc>
                    <a:extLst>
                      <a:ext uri="{0D108BD9-81ED-4DB2-BD59-A6C34878D82A}">
                        <a16:rowId xmlns:a16="http://schemas.microsoft.com/office/drawing/2014/main" val="10002"/>
                      </a:ext>
                    </a:extLst>
                  </a:tr>
                  <a:tr h="361950">
                    <a:tc>
                      <a:txBody>
                        <a:bodyPr/>
                        <a:lstStyle/>
                        <a:p>
                          <a:pPr marL="0" marR="0" algn="ctr">
                            <a:spcBef>
                              <a:spcPts val="180"/>
                            </a:spcBef>
                            <a:spcAft>
                              <a:spcPts val="180"/>
                            </a:spcAft>
                          </a:pPr>
                          <a:r>
                            <a:rPr lang="en-US" sz="2000" b="1">
                              <a:effectLst/>
                              <a:latin typeface="Verdana" charset="0"/>
                              <a:ea typeface="Verdana" charset="0"/>
                              <a:cs typeface="Verdana" charset="0"/>
                            </a:rPr>
                            <a:t>Total</a:t>
                          </a:r>
                          <a:endParaRPr lang="en-US" sz="14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endParaRPr lang="en-US"/>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3"/>
                          <a:stretch>
                            <a:fillRect l="-139634" t="-473333" r="-158537" b="-33333"/>
                          </a:stretch>
                        </a:blipFill>
                      </a:tcPr>
                    </a:tc>
                    <a:tc>
                      <a:txBody>
                        <a:bodyPr/>
                        <a:lstStyle/>
                        <a:p>
                          <a:endParaRPr lang="en-US"/>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3"/>
                          <a:stretch>
                            <a:fillRect l="-217729" t="-473333" r="-44044" b="-33333"/>
                          </a:stretch>
                        </a:blipFill>
                      </a:tcPr>
                    </a:tc>
                    <a:tc>
                      <a:txBody>
                        <a:bodyPr/>
                        <a:lstStyle/>
                        <a:p>
                          <a:endParaRPr lang="en-US"/>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3"/>
                          <a:stretch>
                            <a:fillRect l="-730573" t="-473333" r="-1274" b="-33333"/>
                          </a:stretch>
                        </a:blipFill>
                      </a:tcPr>
                    </a:tc>
                    <a:extLst>
                      <a:ext uri="{0D108BD9-81ED-4DB2-BD59-A6C34878D82A}">
                        <a16:rowId xmlns:a16="http://schemas.microsoft.com/office/drawing/2014/main" val="10003"/>
                      </a:ext>
                    </a:extLst>
                  </a:tr>
                </a:tbl>
              </a:graphicData>
            </a:graphic>
          </p:graphicFrame>
        </mc:Fallback>
      </mc:AlternateContent>
      <p:pic>
        <p:nvPicPr>
          <p:cNvPr id="7" name="Picture 6">
            <a:extLst>
              <a:ext uri="{FF2B5EF4-FFF2-40B4-BE49-F238E27FC236}">
                <a16:creationId xmlns:a16="http://schemas.microsoft.com/office/drawing/2014/main" id="{3596CD3B-9E06-224E-AF17-19EC76C53BBB}"/>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2646375" y="3678771"/>
            <a:ext cx="5300421" cy="3085464"/>
          </a:xfrm>
          <a:prstGeom prst="rect">
            <a:avLst/>
          </a:prstGeom>
        </p:spPr>
      </p:pic>
      <p:sp>
        <p:nvSpPr>
          <p:cNvPr id="8" name="Google Shape;282;g104476d1465_1_17">
            <a:extLst>
              <a:ext uri="{FF2B5EF4-FFF2-40B4-BE49-F238E27FC236}">
                <a16:creationId xmlns:a16="http://schemas.microsoft.com/office/drawing/2014/main" id="{B2DF7C89-A656-4D21-DDAA-26D0883ABF96}"/>
              </a:ext>
            </a:extLst>
          </p:cNvPr>
          <p:cNvSpPr txBox="1"/>
          <p:nvPr/>
        </p:nvSpPr>
        <p:spPr>
          <a:xfrm>
            <a:off x="8821333" y="6457675"/>
            <a:ext cx="2634000" cy="400200"/>
          </a:xfrm>
          <a:prstGeom prst="rect">
            <a:avLst/>
          </a:prstGeom>
          <a:noFill/>
          <a:ln>
            <a:noFill/>
          </a:ln>
        </p:spPr>
        <p:txBody>
          <a:bodyPr spcFirstLastPara="1" wrap="square" lIns="91425" tIns="91425" rIns="91425" bIns="91425" anchor="t" anchorCtr="0">
            <a:spAutoFit/>
          </a:bodyPr>
          <a:lstStyle/>
          <a:p>
            <a:pPr lvl="0" algn="r"/>
            <a:r>
              <a:rPr lang="nb-NO" i="1" dirty="0">
                <a:latin typeface="Calibri"/>
                <a:ea typeface="Calibri"/>
                <a:cs typeface="Calibri"/>
                <a:sym typeface="Calibri"/>
              </a:rPr>
              <a:t>volume 2, pg. 322</a:t>
            </a:r>
          </a:p>
        </p:txBody>
      </p:sp>
      <p:pic>
        <p:nvPicPr>
          <p:cNvPr id="9" name="Google Shape;283;g104476d1465_1_17">
            <a:extLst>
              <a:ext uri="{FF2B5EF4-FFF2-40B4-BE49-F238E27FC236}">
                <a16:creationId xmlns:a16="http://schemas.microsoft.com/office/drawing/2014/main" id="{D6BB9E02-BF04-0A43-5FB2-50676E29C312}"/>
              </a:ext>
            </a:extLst>
          </p:cNvPr>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559559" y="6200600"/>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5011879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14" name="TextBox 13">
            <a:extLst>
              <a:ext uri="{FF2B5EF4-FFF2-40B4-BE49-F238E27FC236}">
                <a16:creationId xmlns:a16="http://schemas.microsoft.com/office/drawing/2014/main" id="{2FA392D8-3ED3-7940-83A8-1451AA8A08D4}"/>
              </a:ext>
            </a:extLst>
          </p:cNvPr>
          <p:cNvSpPr txBox="1"/>
          <p:nvPr/>
        </p:nvSpPr>
        <p:spPr>
          <a:xfrm>
            <a:off x="858643" y="520394"/>
            <a:ext cx="10270274" cy="1200329"/>
          </a:xfrm>
          <a:prstGeom prst="rect">
            <a:avLst/>
          </a:prstGeom>
          <a:noFill/>
        </p:spPr>
        <p:txBody>
          <a:bodyPr wrap="square" rtlCol="0">
            <a:spAutoFit/>
          </a:bodyPr>
          <a:lstStyle/>
          <a:p>
            <a:pPr marL="457200" indent="-457200">
              <a:buFont typeface="+mj-lt"/>
              <a:buAutoNum type="arabicPeriod"/>
            </a:pPr>
            <a:r>
              <a:rPr lang="en-US" sz="2400" dirty="0">
                <a:latin typeface="Verdana" charset="0"/>
                <a:ea typeface="Verdana" charset="0"/>
                <a:cs typeface="Verdana" charset="0"/>
              </a:rPr>
              <a:t>Orlando and Hannah discussed possible associations in the data using the displays. Each student’s thinking is shared in the table.</a:t>
            </a:r>
          </a:p>
        </p:txBody>
      </p:sp>
      <p:sp>
        <p:nvSpPr>
          <p:cNvPr id="6" name="Google Shape;278;g104476d1465_1_17">
            <a:extLst>
              <a:ext uri="{FF2B5EF4-FFF2-40B4-BE49-F238E27FC236}">
                <a16:creationId xmlns:a16="http://schemas.microsoft.com/office/drawing/2014/main" id="{D351BC34-60FF-984A-AE0C-5354282DEDAC}"/>
              </a:ext>
            </a:extLst>
          </p:cNvPr>
          <p:cNvSpPr/>
          <p:nvPr/>
        </p:nvSpPr>
        <p:spPr>
          <a:xfrm>
            <a:off x="0" y="-8225"/>
            <a:ext cx="223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mc:Choice xmlns:a14="http://schemas.microsoft.com/office/drawing/2010/main" Requires="a14">
          <p:graphicFrame>
            <p:nvGraphicFramePr>
              <p:cNvPr id="2" name="Table 1"/>
              <p:cNvGraphicFramePr>
                <a:graphicFrameLocks noGrp="1"/>
              </p:cNvGraphicFramePr>
              <p:nvPr>
                <p:extLst>
                  <p:ext uri="{D42A27DB-BD31-4B8C-83A1-F6EECF244321}">
                    <p14:modId xmlns:p14="http://schemas.microsoft.com/office/powerpoint/2010/main" val="4127576334"/>
                  </p:ext>
                </p:extLst>
              </p:nvPr>
            </p:nvGraphicFramePr>
            <p:xfrm>
              <a:off x="1321151" y="1970464"/>
              <a:ext cx="8398923" cy="3962400"/>
            </p:xfrm>
            <a:graphic>
              <a:graphicData uri="http://schemas.openxmlformats.org/drawingml/2006/table">
                <a:tbl>
                  <a:tblPr firstRow="1" firstCol="1" bandRow="1"/>
                  <a:tblGrid>
                    <a:gridCol w="3800853">
                      <a:extLst>
                        <a:ext uri="{9D8B030D-6E8A-4147-A177-3AD203B41FA5}">
                          <a16:colId xmlns:a16="http://schemas.microsoft.com/office/drawing/2014/main" val="20000"/>
                        </a:ext>
                      </a:extLst>
                    </a:gridCol>
                    <a:gridCol w="4598070">
                      <a:extLst>
                        <a:ext uri="{9D8B030D-6E8A-4147-A177-3AD203B41FA5}">
                          <a16:colId xmlns:a16="http://schemas.microsoft.com/office/drawing/2014/main" val="20001"/>
                        </a:ext>
                      </a:extLst>
                    </a:gridCol>
                  </a:tblGrid>
                  <a:tr h="271145">
                    <a:tc>
                      <a:txBody>
                        <a:bodyPr/>
                        <a:lstStyle/>
                        <a:p>
                          <a:pPr marL="0" marR="34290" algn="ctr">
                            <a:spcBef>
                              <a:spcPts val="0"/>
                            </a:spcBef>
                            <a:spcAft>
                              <a:spcPts val="0"/>
                            </a:spcAft>
                          </a:pPr>
                          <a:r>
                            <a:rPr lang="en-US" sz="2000" b="1">
                              <a:solidFill>
                                <a:srgbClr val="000000"/>
                              </a:solidFill>
                              <a:effectLst/>
                              <a:latin typeface="Verdana" charset="0"/>
                              <a:ea typeface="Verdana" charset="0"/>
                              <a:cs typeface="Verdana" charset="0"/>
                            </a:rPr>
                            <a:t>Orlando’s Thinking</a:t>
                          </a:r>
                          <a:endParaRPr lang="en-US" sz="14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34290" algn="ctr">
                            <a:spcBef>
                              <a:spcPts val="0"/>
                            </a:spcBef>
                            <a:spcAft>
                              <a:spcPts val="0"/>
                            </a:spcAft>
                          </a:pPr>
                          <a:r>
                            <a:rPr lang="en-US" sz="2000" b="1">
                              <a:solidFill>
                                <a:srgbClr val="000000"/>
                              </a:solidFill>
                              <a:effectLst/>
                              <a:latin typeface="Verdana" charset="0"/>
                              <a:ea typeface="Verdana" charset="0"/>
                              <a:cs typeface="Verdana" charset="0"/>
                            </a:rPr>
                            <a:t>Hannah’s Thinking</a:t>
                          </a:r>
                          <a:endParaRPr lang="en-US" sz="14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0000"/>
                      </a:ext>
                    </a:extLst>
                  </a:tr>
                  <a:tr h="3583940">
                    <a:tc>
                      <a:txBody>
                        <a:bodyPr/>
                        <a:lstStyle/>
                        <a:p>
                          <a:pPr marL="0" marR="34290" algn="ctr">
                            <a:spcBef>
                              <a:spcPts val="0"/>
                            </a:spcBef>
                            <a:spcAft>
                              <a:spcPts val="0"/>
                            </a:spcAft>
                          </a:pPr>
                          <a:r>
                            <a:rPr lang="en-US" sz="2000" i="1" dirty="0">
                              <a:solidFill>
                                <a:srgbClr val="000000"/>
                              </a:solidFill>
                              <a:effectLst/>
                              <a:latin typeface="Verdana" charset="0"/>
                              <a:ea typeface="Verdana" charset="0"/>
                              <a:cs typeface="Verdana" charset="0"/>
                            </a:rPr>
                            <a:t>“Of the students who play sports, there are </a:t>
                          </a:r>
                          <a14:m>
                            <m:oMath xmlns:m="http://schemas.openxmlformats.org/officeDocument/2006/math">
                              <m:r>
                                <a:rPr lang="en-US" sz="2000" i="1">
                                  <a:solidFill>
                                    <a:srgbClr val="000000"/>
                                  </a:solidFill>
                                  <a:effectLst/>
                                  <a:latin typeface="Cambria Math" panose="02040503050406030204" pitchFamily="18" charset="0"/>
                                  <a:ea typeface="Verdana" charset="0"/>
                                  <a:cs typeface="Verdana" charset="0"/>
                                </a:rPr>
                                <m:t>5</m:t>
                              </m:r>
                            </m:oMath>
                          </a14:m>
                          <a:r>
                            <a:rPr lang="en-US" sz="2000" i="1" dirty="0">
                              <a:solidFill>
                                <a:srgbClr val="000000"/>
                              </a:solidFill>
                              <a:effectLst/>
                              <a:latin typeface="Verdana" charset="0"/>
                              <a:ea typeface="Verdana" charset="0"/>
                              <a:cs typeface="Verdana" charset="0"/>
                            </a:rPr>
                            <a:t> people who play an instrument. This is also true of the students who do not play sports. This means there is no association, or relationship, between playing sports and playing an instrument because it’s </a:t>
                          </a:r>
                          <a14:m>
                            <m:oMath xmlns:m="http://schemas.openxmlformats.org/officeDocument/2006/math">
                              <m:r>
                                <a:rPr lang="en-US" sz="2000" i="1">
                                  <a:solidFill>
                                    <a:srgbClr val="000000"/>
                                  </a:solidFill>
                                  <a:effectLst/>
                                  <a:latin typeface="Cambria Math" panose="02040503050406030204" pitchFamily="18" charset="0"/>
                                  <a:ea typeface="Verdana" charset="0"/>
                                  <a:cs typeface="Verdana" charset="0"/>
                                </a:rPr>
                                <m:t>5</m:t>
                              </m:r>
                            </m:oMath>
                          </a14:m>
                          <a:r>
                            <a:rPr lang="en-US" sz="2000" i="1" dirty="0">
                              <a:solidFill>
                                <a:srgbClr val="000000"/>
                              </a:solidFill>
                              <a:effectLst/>
                              <a:latin typeface="Verdana" charset="0"/>
                              <a:ea typeface="Verdana" charset="0"/>
                              <a:cs typeface="Verdana" charset="0"/>
                            </a:rPr>
                            <a:t> people in both cases.” </a:t>
                          </a:r>
                          <a:endParaRPr lang="en-US" sz="1400" dirty="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34290" algn="ctr">
                            <a:spcBef>
                              <a:spcPts val="0"/>
                            </a:spcBef>
                            <a:spcAft>
                              <a:spcPts val="0"/>
                            </a:spcAft>
                          </a:pPr>
                          <a:r>
                            <a:rPr lang="en-US" sz="2000" i="1" dirty="0">
                              <a:solidFill>
                                <a:srgbClr val="000000"/>
                              </a:solidFill>
                              <a:effectLst/>
                              <a:latin typeface="Verdana" charset="0"/>
                              <a:ea typeface="Verdana" charset="0"/>
                              <a:cs typeface="Verdana" charset="0"/>
                            </a:rPr>
                            <a:t>“While there are only </a:t>
                          </a:r>
                          <a14:m>
                            <m:oMath xmlns:m="http://schemas.openxmlformats.org/officeDocument/2006/math">
                              <m:r>
                                <a:rPr lang="en-US" sz="2000" i="1">
                                  <a:solidFill>
                                    <a:srgbClr val="000000"/>
                                  </a:solidFill>
                                  <a:effectLst/>
                                  <a:latin typeface="Cambria Math" panose="02040503050406030204" pitchFamily="18" charset="0"/>
                                  <a:ea typeface="Verdana" charset="0"/>
                                  <a:cs typeface="Verdana" charset="0"/>
                                </a:rPr>
                                <m:t>5</m:t>
                              </m:r>
                            </m:oMath>
                          </a14:m>
                          <a:r>
                            <a:rPr lang="en-US" sz="2000" i="1" dirty="0">
                              <a:solidFill>
                                <a:srgbClr val="000000"/>
                              </a:solidFill>
                              <a:effectLst/>
                              <a:latin typeface="Verdana" charset="0"/>
                              <a:ea typeface="Verdana" charset="0"/>
                              <a:cs typeface="Verdana" charset="0"/>
                            </a:rPr>
                            <a:t> people in each category who play an instrument, there is a much larger portion of the students who do not play sports. Half of the students who don’t play sports do play an instrument. I think there is an association between playing sports and playing an instrument. It seems more likely a student plays an instrument if they don’t play a sport.”</a:t>
                          </a:r>
                          <a:endParaRPr lang="en-US" sz="1400" dirty="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mc:Choice>
        <mc:Fallback>
          <p:graphicFrame>
            <p:nvGraphicFramePr>
              <p:cNvPr id="2" name="Table 1"/>
              <p:cNvGraphicFramePr>
                <a:graphicFrameLocks noGrp="1"/>
              </p:cNvGraphicFramePr>
              <p:nvPr>
                <p:extLst>
                  <p:ext uri="{D42A27DB-BD31-4B8C-83A1-F6EECF244321}">
                    <p14:modId xmlns:p14="http://schemas.microsoft.com/office/powerpoint/2010/main" val="4127576334"/>
                  </p:ext>
                </p:extLst>
              </p:nvPr>
            </p:nvGraphicFramePr>
            <p:xfrm>
              <a:off x="1321151" y="1970464"/>
              <a:ext cx="8398923" cy="3962400"/>
            </p:xfrm>
            <a:graphic>
              <a:graphicData uri="http://schemas.openxmlformats.org/drawingml/2006/table">
                <a:tbl>
                  <a:tblPr firstRow="1" firstCol="1" bandRow="1"/>
                  <a:tblGrid>
                    <a:gridCol w="3800853">
                      <a:extLst>
                        <a:ext uri="{9D8B030D-6E8A-4147-A177-3AD203B41FA5}">
                          <a16:colId xmlns:a16="http://schemas.microsoft.com/office/drawing/2014/main" val="20000"/>
                        </a:ext>
                      </a:extLst>
                    </a:gridCol>
                    <a:gridCol w="4598070">
                      <a:extLst>
                        <a:ext uri="{9D8B030D-6E8A-4147-A177-3AD203B41FA5}">
                          <a16:colId xmlns:a16="http://schemas.microsoft.com/office/drawing/2014/main" val="20001"/>
                        </a:ext>
                      </a:extLst>
                    </a:gridCol>
                  </a:tblGrid>
                  <a:tr h="304800">
                    <a:tc>
                      <a:txBody>
                        <a:bodyPr/>
                        <a:lstStyle/>
                        <a:p>
                          <a:pPr marL="0" marR="34290" algn="ctr">
                            <a:spcBef>
                              <a:spcPts val="0"/>
                            </a:spcBef>
                            <a:spcAft>
                              <a:spcPts val="0"/>
                            </a:spcAft>
                          </a:pPr>
                          <a:r>
                            <a:rPr lang="en-US" sz="2000" b="1">
                              <a:solidFill>
                                <a:srgbClr val="000000"/>
                              </a:solidFill>
                              <a:effectLst/>
                              <a:latin typeface="Verdana" charset="0"/>
                              <a:ea typeface="Verdana" charset="0"/>
                              <a:cs typeface="Verdana" charset="0"/>
                            </a:rPr>
                            <a:t>Orlando’s Thinking</a:t>
                          </a:r>
                          <a:endParaRPr lang="en-US" sz="14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34290" algn="ctr">
                            <a:spcBef>
                              <a:spcPts val="0"/>
                            </a:spcBef>
                            <a:spcAft>
                              <a:spcPts val="0"/>
                            </a:spcAft>
                          </a:pPr>
                          <a:r>
                            <a:rPr lang="en-US" sz="2000" b="1">
                              <a:solidFill>
                                <a:srgbClr val="000000"/>
                              </a:solidFill>
                              <a:effectLst/>
                              <a:latin typeface="Verdana" charset="0"/>
                              <a:ea typeface="Verdana" charset="0"/>
                              <a:cs typeface="Verdana" charset="0"/>
                            </a:rPr>
                            <a:t>Hannah’s Thinking</a:t>
                          </a:r>
                          <a:endParaRPr lang="en-US" sz="14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0000"/>
                      </a:ext>
                    </a:extLst>
                  </a:tr>
                  <a:tr h="3657600">
                    <a:tc>
                      <a:txBody>
                        <a:bodyPr/>
                        <a:lstStyle/>
                        <a:p>
                          <a:endParaRPr lang="en-US"/>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3"/>
                          <a:stretch>
                            <a:fillRect l="-160" t="-10483" r="-121314" b="-4160"/>
                          </a:stretch>
                        </a:blipFill>
                      </a:tcPr>
                    </a:tc>
                    <a:tc>
                      <a:txBody>
                        <a:bodyPr/>
                        <a:lstStyle/>
                        <a:p>
                          <a:endParaRPr lang="en-US"/>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3"/>
                          <a:stretch>
                            <a:fillRect l="-82781" t="-10483" r="-265" b="-4160"/>
                          </a:stretch>
                        </a:blipFill>
                      </a:tcPr>
                    </a:tc>
                    <a:extLst>
                      <a:ext uri="{0D108BD9-81ED-4DB2-BD59-A6C34878D82A}">
                        <a16:rowId xmlns:a16="http://schemas.microsoft.com/office/drawing/2014/main" val="10001"/>
                      </a:ext>
                    </a:extLst>
                  </a:tr>
                </a:tbl>
              </a:graphicData>
            </a:graphic>
          </p:graphicFrame>
        </mc:Fallback>
      </mc:AlternateContent>
      <p:sp>
        <p:nvSpPr>
          <p:cNvPr id="7" name="Google Shape;282;g104476d1465_1_17">
            <a:extLst>
              <a:ext uri="{FF2B5EF4-FFF2-40B4-BE49-F238E27FC236}">
                <a16:creationId xmlns:a16="http://schemas.microsoft.com/office/drawing/2014/main" id="{41AD84EE-77FE-3475-3101-0CBA2D087E59}"/>
              </a:ext>
            </a:extLst>
          </p:cNvPr>
          <p:cNvSpPr txBox="1"/>
          <p:nvPr/>
        </p:nvSpPr>
        <p:spPr>
          <a:xfrm>
            <a:off x="8821333" y="6457675"/>
            <a:ext cx="2634000" cy="400200"/>
          </a:xfrm>
          <a:prstGeom prst="rect">
            <a:avLst/>
          </a:prstGeom>
          <a:noFill/>
          <a:ln>
            <a:noFill/>
          </a:ln>
        </p:spPr>
        <p:txBody>
          <a:bodyPr spcFirstLastPara="1" wrap="square" lIns="91425" tIns="91425" rIns="91425" bIns="91425" anchor="t" anchorCtr="0">
            <a:spAutoFit/>
          </a:bodyPr>
          <a:lstStyle/>
          <a:p>
            <a:pPr lvl="0" algn="r"/>
            <a:r>
              <a:rPr lang="nb-NO" i="1" dirty="0">
                <a:latin typeface="Calibri"/>
                <a:ea typeface="Calibri"/>
                <a:cs typeface="Calibri"/>
                <a:sym typeface="Calibri"/>
              </a:rPr>
              <a:t>volume 2, pg. 322</a:t>
            </a:r>
          </a:p>
        </p:txBody>
      </p:sp>
      <p:pic>
        <p:nvPicPr>
          <p:cNvPr id="8" name="Google Shape;283;g104476d1465_1_17">
            <a:extLst>
              <a:ext uri="{FF2B5EF4-FFF2-40B4-BE49-F238E27FC236}">
                <a16:creationId xmlns:a16="http://schemas.microsoft.com/office/drawing/2014/main" id="{39832B7B-263A-8377-1BCF-813A6DB4B7B4}"/>
              </a:ext>
            </a:extLst>
          </p:cNvPr>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59559" y="6200600"/>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31766732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14" name="TextBox 13">
            <a:extLst>
              <a:ext uri="{FF2B5EF4-FFF2-40B4-BE49-F238E27FC236}">
                <a16:creationId xmlns:a16="http://schemas.microsoft.com/office/drawing/2014/main" id="{2FA392D8-3ED3-7940-83A8-1451AA8A08D4}"/>
              </a:ext>
            </a:extLst>
          </p:cNvPr>
          <p:cNvSpPr txBox="1"/>
          <p:nvPr/>
        </p:nvSpPr>
        <p:spPr>
          <a:xfrm>
            <a:off x="847493" y="520394"/>
            <a:ext cx="10281424" cy="4154984"/>
          </a:xfrm>
          <a:prstGeom prst="rect">
            <a:avLst/>
          </a:prstGeom>
          <a:noFill/>
        </p:spPr>
        <p:txBody>
          <a:bodyPr wrap="square" rtlCol="0">
            <a:spAutoFit/>
          </a:bodyPr>
          <a:lstStyle/>
          <a:p>
            <a:pPr marL="914400" indent="-457200">
              <a:buFont typeface="+mj-lt"/>
              <a:buAutoNum type="alphaLcPeriod"/>
            </a:pPr>
            <a:r>
              <a:rPr lang="en-US" sz="2400" dirty="0">
                <a:latin typeface="Verdana" charset="0"/>
                <a:ea typeface="Verdana" charset="0"/>
                <a:cs typeface="Verdana" charset="0"/>
              </a:rPr>
              <a:t>Without the help of your partner, explain whether you agree more with Orlando or Hannah.</a:t>
            </a:r>
          </a:p>
          <a:p>
            <a:pPr marL="914400" indent="-457200">
              <a:buFont typeface="+mj-lt"/>
              <a:buAutoNum type="alphaLcPeriod"/>
            </a:pPr>
            <a:endParaRPr lang="en-US" sz="2400" dirty="0">
              <a:latin typeface="Verdana" charset="0"/>
              <a:ea typeface="Verdana" charset="0"/>
              <a:cs typeface="Verdana" charset="0"/>
            </a:endParaRPr>
          </a:p>
          <a:p>
            <a:pPr marL="914400" indent="-457200">
              <a:buFont typeface="+mj-lt"/>
              <a:buAutoNum type="alphaLcPeriod"/>
            </a:pPr>
            <a:endParaRPr lang="en-US" sz="2400" dirty="0">
              <a:latin typeface="Verdana" charset="0"/>
              <a:ea typeface="Verdana" charset="0"/>
              <a:cs typeface="Verdana" charset="0"/>
            </a:endParaRPr>
          </a:p>
          <a:p>
            <a:pPr marL="914400" indent="-457200">
              <a:buFont typeface="+mj-lt"/>
              <a:buAutoNum type="alphaLcPeriod"/>
            </a:pPr>
            <a:endParaRPr lang="en-US" sz="2400" dirty="0">
              <a:latin typeface="Verdana" charset="0"/>
              <a:ea typeface="Verdana" charset="0"/>
              <a:cs typeface="Verdana" charset="0"/>
            </a:endParaRPr>
          </a:p>
          <a:p>
            <a:pPr marL="914400" indent="-457200">
              <a:buFont typeface="+mj-lt"/>
              <a:buAutoNum type="alphaLcPeriod"/>
            </a:pPr>
            <a:endParaRPr lang="en-US" sz="2400" dirty="0">
              <a:latin typeface="Verdana" charset="0"/>
              <a:ea typeface="Verdana" charset="0"/>
              <a:cs typeface="Verdana" charset="0"/>
            </a:endParaRPr>
          </a:p>
          <a:p>
            <a:pPr marL="914400" indent="-457200">
              <a:buFont typeface="+mj-lt"/>
              <a:buAutoNum type="alphaLcPeriod"/>
            </a:pPr>
            <a:endParaRPr lang="en-US" sz="2400" dirty="0">
              <a:latin typeface="Verdana" charset="0"/>
              <a:ea typeface="Verdana" charset="0"/>
              <a:cs typeface="Verdana" charset="0"/>
            </a:endParaRPr>
          </a:p>
          <a:p>
            <a:pPr marL="914400" indent="-457200">
              <a:buFont typeface="+mj-lt"/>
              <a:buAutoNum type="alphaLcPeriod"/>
            </a:pPr>
            <a:endParaRPr lang="en-US" sz="2400" dirty="0">
              <a:latin typeface="Verdana" charset="0"/>
              <a:ea typeface="Verdana" charset="0"/>
              <a:cs typeface="Verdana" charset="0"/>
            </a:endParaRPr>
          </a:p>
          <a:p>
            <a:pPr marL="914400" indent="-457200">
              <a:buFont typeface="+mj-lt"/>
              <a:buAutoNum type="alphaLcPeriod"/>
            </a:pPr>
            <a:endParaRPr lang="en-US" sz="2400" dirty="0">
              <a:latin typeface="Verdana" charset="0"/>
              <a:ea typeface="Verdana" charset="0"/>
              <a:cs typeface="Verdana" charset="0"/>
            </a:endParaRPr>
          </a:p>
          <a:p>
            <a:pPr marL="914400" indent="-457200">
              <a:buFont typeface="+mj-lt"/>
              <a:buAutoNum type="alphaLcPeriod"/>
            </a:pPr>
            <a:r>
              <a:rPr lang="en-US" sz="2400" dirty="0">
                <a:latin typeface="Verdana" charset="0"/>
                <a:ea typeface="Verdana" charset="0"/>
                <a:cs typeface="Verdana" charset="0"/>
              </a:rPr>
              <a:t>Compare your answer with your partner’s. Make any edits to your explanation based on your discussion.</a:t>
            </a:r>
          </a:p>
        </p:txBody>
      </p:sp>
      <p:sp>
        <p:nvSpPr>
          <p:cNvPr id="6" name="Google Shape;278;g104476d1465_1_17">
            <a:extLst>
              <a:ext uri="{FF2B5EF4-FFF2-40B4-BE49-F238E27FC236}">
                <a16:creationId xmlns:a16="http://schemas.microsoft.com/office/drawing/2014/main" id="{D351BC34-60FF-984A-AE0C-5354282DEDAC}"/>
              </a:ext>
            </a:extLst>
          </p:cNvPr>
          <p:cNvSpPr/>
          <p:nvPr/>
        </p:nvSpPr>
        <p:spPr>
          <a:xfrm>
            <a:off x="0" y="-8225"/>
            <a:ext cx="223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7" name="Google Shape;282;g104476d1465_1_17">
            <a:extLst>
              <a:ext uri="{FF2B5EF4-FFF2-40B4-BE49-F238E27FC236}">
                <a16:creationId xmlns:a16="http://schemas.microsoft.com/office/drawing/2014/main" id="{01140B67-2A22-4E9E-F1E6-9D04CC1BE407}"/>
              </a:ext>
            </a:extLst>
          </p:cNvPr>
          <p:cNvSpPr txBox="1"/>
          <p:nvPr/>
        </p:nvSpPr>
        <p:spPr>
          <a:xfrm>
            <a:off x="8821333" y="6457675"/>
            <a:ext cx="2634000" cy="400200"/>
          </a:xfrm>
          <a:prstGeom prst="rect">
            <a:avLst/>
          </a:prstGeom>
          <a:noFill/>
          <a:ln>
            <a:noFill/>
          </a:ln>
        </p:spPr>
        <p:txBody>
          <a:bodyPr spcFirstLastPara="1" wrap="square" lIns="91425" tIns="91425" rIns="91425" bIns="91425" anchor="t" anchorCtr="0">
            <a:spAutoFit/>
          </a:bodyPr>
          <a:lstStyle/>
          <a:p>
            <a:pPr lvl="0" algn="r"/>
            <a:r>
              <a:rPr lang="nb-NO" i="1" dirty="0">
                <a:latin typeface="Calibri"/>
                <a:ea typeface="Calibri"/>
                <a:cs typeface="Calibri"/>
                <a:sym typeface="Calibri"/>
              </a:rPr>
              <a:t>volume 2, pg. 322</a:t>
            </a:r>
          </a:p>
        </p:txBody>
      </p:sp>
      <p:pic>
        <p:nvPicPr>
          <p:cNvPr id="8" name="Google Shape;283;g104476d1465_1_17">
            <a:extLst>
              <a:ext uri="{FF2B5EF4-FFF2-40B4-BE49-F238E27FC236}">
                <a16:creationId xmlns:a16="http://schemas.microsoft.com/office/drawing/2014/main" id="{6CE0CE2C-4F24-7902-E175-DD111B341572}"/>
              </a:ext>
            </a:extLst>
          </p:cNvPr>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59559" y="6200600"/>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70654491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13199"/>
            <a:ext cx="2731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4003707" y="2766145"/>
            <a:ext cx="448075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26B7D4"/>
                </a:solidFill>
                <a:latin typeface="Verdana"/>
                <a:ea typeface="Verdana"/>
                <a:cs typeface="Verdana"/>
                <a:sym typeface="Verdana"/>
              </a:rPr>
              <a:t>Bring It Together</a:t>
            </a:r>
            <a:endParaRPr sz="5100" b="1" dirty="0">
              <a:solidFill>
                <a:srgbClr val="26B7D4"/>
              </a:solidFill>
              <a:latin typeface="Verdana"/>
              <a:ea typeface="Verdana"/>
              <a:cs typeface="Verdana"/>
              <a:sym typeface="Verdana"/>
            </a:endParaRPr>
          </a:p>
        </p:txBody>
      </p:sp>
      <p:pic>
        <p:nvPicPr>
          <p:cNvPr id="13314" name="Picture 2" descr="Icon&#10;&#10;Description automatically generated">
            <a:extLst>
              <a:ext uri="{FF2B5EF4-FFF2-40B4-BE49-F238E27FC236}">
                <a16:creationId xmlns:a16="http://schemas.microsoft.com/office/drawing/2014/main" id="{31E4CCCA-703A-4C46-A49C-ABEAC0061CD4}"/>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3190399" y="2852923"/>
            <a:ext cx="1152144" cy="115214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7" name="Google Shape;282;g104476d1465_1_17">
            <a:extLst>
              <a:ext uri="{FF2B5EF4-FFF2-40B4-BE49-F238E27FC236}">
                <a16:creationId xmlns:a16="http://schemas.microsoft.com/office/drawing/2014/main" id="{5552DFE3-219A-C240-C275-A083644D7DA5}"/>
              </a:ext>
            </a:extLst>
          </p:cNvPr>
          <p:cNvSpPr txBox="1"/>
          <p:nvPr/>
        </p:nvSpPr>
        <p:spPr>
          <a:xfrm>
            <a:off x="8821333" y="6457675"/>
            <a:ext cx="2634000" cy="400200"/>
          </a:xfrm>
          <a:prstGeom prst="rect">
            <a:avLst/>
          </a:prstGeom>
          <a:noFill/>
          <a:ln>
            <a:noFill/>
          </a:ln>
        </p:spPr>
        <p:txBody>
          <a:bodyPr spcFirstLastPara="1" wrap="square" lIns="91425" tIns="91425" rIns="91425" bIns="91425" anchor="t" anchorCtr="0">
            <a:spAutoFit/>
          </a:bodyPr>
          <a:lstStyle/>
          <a:p>
            <a:pPr lvl="0" algn="r"/>
            <a:r>
              <a:rPr lang="nb-NO" i="1" dirty="0">
                <a:latin typeface="Calibri"/>
                <a:ea typeface="Calibri"/>
                <a:cs typeface="Calibri"/>
                <a:sym typeface="Calibri"/>
              </a:rPr>
              <a:t>volume 2, pg. 323</a:t>
            </a:r>
          </a:p>
        </p:txBody>
      </p:sp>
      <p:pic>
        <p:nvPicPr>
          <p:cNvPr id="9" name="Google Shape;283;g104476d1465_1_17">
            <a:extLst>
              <a:ext uri="{FF2B5EF4-FFF2-40B4-BE49-F238E27FC236}">
                <a16:creationId xmlns:a16="http://schemas.microsoft.com/office/drawing/2014/main" id="{F67A06F5-F583-5553-9644-982D3454E77A}"/>
              </a:ext>
            </a:extLst>
          </p:cNvPr>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59559" y="6200600"/>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56067468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7" name="Google Shape;343;g103996e1364_0_321">
            <a:extLst>
              <a:ext uri="{FF2B5EF4-FFF2-40B4-BE49-F238E27FC236}">
                <a16:creationId xmlns:a16="http://schemas.microsoft.com/office/drawing/2014/main" id="{21B1DF8E-16A0-FA4E-8CEB-434668DFA68D}"/>
              </a:ext>
            </a:extLst>
          </p:cNvPr>
          <p:cNvSpPr txBox="1">
            <a:spLocks/>
          </p:cNvSpPr>
          <p:nvPr/>
        </p:nvSpPr>
        <p:spPr>
          <a:xfrm>
            <a:off x="1460809" y="64663"/>
            <a:ext cx="10326029"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200" b="1" dirty="0">
                <a:solidFill>
                  <a:srgbClr val="54B5D1"/>
                </a:solidFill>
                <a:latin typeface="Verdana"/>
                <a:ea typeface="Verdana"/>
                <a:cs typeface="Verdana"/>
                <a:sym typeface="Verdana"/>
              </a:rPr>
              <a:t>14.4.3 Bring It Together: Using Segmented Bar Graphs to Find Possible Associations</a:t>
            </a:r>
          </a:p>
        </p:txBody>
      </p:sp>
      <p:sp>
        <p:nvSpPr>
          <p:cNvPr id="8" name="TextBox 7">
            <a:extLst>
              <a:ext uri="{FF2B5EF4-FFF2-40B4-BE49-F238E27FC236}">
                <a16:creationId xmlns:a16="http://schemas.microsoft.com/office/drawing/2014/main" id="{669E00F9-F39F-5043-888E-B0A2D8C9AE0F}"/>
              </a:ext>
            </a:extLst>
          </p:cNvPr>
          <p:cNvSpPr txBox="1"/>
          <p:nvPr/>
        </p:nvSpPr>
        <p:spPr>
          <a:xfrm>
            <a:off x="556905" y="1506713"/>
            <a:ext cx="8327136" cy="3785652"/>
          </a:xfrm>
          <a:prstGeom prst="rect">
            <a:avLst/>
          </a:prstGeom>
          <a:noFill/>
        </p:spPr>
        <p:txBody>
          <a:bodyPr wrap="square" rtlCol="0">
            <a:spAutoFit/>
          </a:bodyPr>
          <a:lstStyle/>
          <a:p>
            <a:pPr marL="457200" lvl="4" indent="-457200">
              <a:buFont typeface="+mj-lt"/>
              <a:buAutoNum type="arabicPeriod"/>
            </a:pPr>
            <a:r>
              <a:rPr lang="en-US" sz="2000" dirty="0">
                <a:latin typeface="Verdana" charset="0"/>
                <a:ea typeface="Verdana" charset="0"/>
                <a:cs typeface="Verdana" charset="0"/>
              </a:rPr>
              <a:t>Complete the statements. </a:t>
            </a:r>
          </a:p>
          <a:p>
            <a:pPr marL="457200" lvl="4" indent="-457200">
              <a:buFont typeface="+mj-lt"/>
              <a:buAutoNum type="arabicPeriod"/>
            </a:pPr>
            <a:endParaRPr lang="en-US" sz="2000" dirty="0">
              <a:latin typeface="Verdana" charset="0"/>
              <a:ea typeface="Verdana" charset="0"/>
              <a:cs typeface="Verdana" charset="0"/>
            </a:endParaRPr>
          </a:p>
          <a:p>
            <a:pPr marL="917575" lvl="4" indent="-444500">
              <a:buFont typeface="+mj-lt"/>
              <a:buAutoNum type="alphaLcPeriod"/>
            </a:pPr>
            <a:r>
              <a:rPr lang="en-US" sz="2000" dirty="0">
                <a:latin typeface="Verdana" charset="0"/>
                <a:ea typeface="Verdana" charset="0"/>
                <a:cs typeface="Verdana" charset="0"/>
              </a:rPr>
              <a:t>Segmented bar graphs are useful for displaying </a:t>
            </a:r>
          </a:p>
          <a:p>
            <a:pPr marL="917575" lvl="4" indent="-444500">
              <a:buFont typeface="+mj-lt"/>
              <a:buAutoNum type="alphaLcPeriod"/>
            </a:pPr>
            <a:endParaRPr lang="en-US" sz="2000" dirty="0">
              <a:latin typeface="Verdana" charset="0"/>
              <a:ea typeface="Verdana" charset="0"/>
              <a:cs typeface="Verdana" charset="0"/>
            </a:endParaRPr>
          </a:p>
          <a:p>
            <a:pPr marL="917575" lvl="4"/>
            <a:r>
              <a:rPr lang="en-US" sz="2000" dirty="0">
                <a:latin typeface="Verdana" charset="0"/>
                <a:ea typeface="Verdana" charset="0"/>
                <a:cs typeface="Verdana" charset="0"/>
              </a:rPr>
              <a:t>Categorical                        data. </a:t>
            </a:r>
          </a:p>
          <a:p>
            <a:pPr marL="917575" lvl="4" indent="-444500">
              <a:buFont typeface="+mj-lt"/>
              <a:buAutoNum type="alphaLcPeriod"/>
            </a:pPr>
            <a:endParaRPr lang="en-US" sz="2000" dirty="0">
              <a:latin typeface="Verdana" charset="0"/>
              <a:ea typeface="Verdana" charset="0"/>
              <a:cs typeface="Verdana" charset="0"/>
            </a:endParaRPr>
          </a:p>
          <a:p>
            <a:pPr marL="917575" lvl="4" indent="-444500">
              <a:buFont typeface="+mj-lt"/>
              <a:buAutoNum type="alphaLcPeriod"/>
            </a:pPr>
            <a:endParaRPr lang="en-US" sz="2000" dirty="0">
              <a:latin typeface="Verdana" charset="0"/>
              <a:ea typeface="Verdana" charset="0"/>
              <a:cs typeface="Verdana" charset="0"/>
            </a:endParaRPr>
          </a:p>
          <a:p>
            <a:pPr marL="930275" lvl="4" indent="-457200">
              <a:buFont typeface="+mj-lt"/>
              <a:buAutoNum type="alphaLcPeriod" startAt="2"/>
            </a:pPr>
            <a:r>
              <a:rPr lang="en-US" sz="2000" dirty="0">
                <a:latin typeface="Verdana" charset="0"/>
                <a:ea typeface="Verdana" charset="0"/>
                <a:cs typeface="Verdana" charset="0"/>
              </a:rPr>
              <a:t>Segmented bar graphs can be helpful for making visual comparisons between joint and marginal frequencies. Take, for example, the bar on the left of the graph from the previous component labeled “plays sports.” </a:t>
            </a:r>
          </a:p>
          <a:p>
            <a:pPr marL="917575" lvl="4" indent="-444500">
              <a:buFont typeface="+mj-lt"/>
              <a:buAutoNum type="alphaLcPeriod" startAt="2"/>
            </a:pPr>
            <a:endParaRPr lang="en-US" sz="2000" dirty="0">
              <a:latin typeface="Verdana" charset="0"/>
              <a:ea typeface="Verdana" charset="0"/>
              <a:cs typeface="Verdana" charset="0"/>
            </a:endParaRPr>
          </a:p>
        </p:txBody>
      </p:sp>
      <p:sp>
        <p:nvSpPr>
          <p:cNvPr id="10" name="Google Shape;278;g104476d1465_1_17">
            <a:extLst>
              <a:ext uri="{FF2B5EF4-FFF2-40B4-BE49-F238E27FC236}">
                <a16:creationId xmlns:a16="http://schemas.microsoft.com/office/drawing/2014/main" id="{184E346C-1485-3C45-9A4A-2D894EB8F58F}"/>
              </a:ext>
            </a:extLst>
          </p:cNvPr>
          <p:cNvSpPr/>
          <p:nvPr/>
        </p:nvSpPr>
        <p:spPr>
          <a:xfrm>
            <a:off x="5189" y="-8225"/>
            <a:ext cx="223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11" name="Picture 2" descr="Icon&#10;&#10;Description automatically generated">
            <a:extLst>
              <a:ext uri="{FF2B5EF4-FFF2-40B4-BE49-F238E27FC236}">
                <a16:creationId xmlns:a16="http://schemas.microsoft.com/office/drawing/2014/main" id="{F61936AD-FCB7-9440-995C-794C60982B79}"/>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556905" y="189287"/>
            <a:ext cx="749808" cy="74980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2" name="Picture 1"/>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3034178" y="2551840"/>
            <a:ext cx="1951925" cy="804311"/>
          </a:xfrm>
          <a:prstGeom prst="rect">
            <a:avLst/>
          </a:prstGeom>
        </p:spPr>
      </p:pic>
      <p:sp>
        <p:nvSpPr>
          <p:cNvPr id="9" name="Google Shape;282;g104476d1465_1_17">
            <a:extLst>
              <a:ext uri="{FF2B5EF4-FFF2-40B4-BE49-F238E27FC236}">
                <a16:creationId xmlns:a16="http://schemas.microsoft.com/office/drawing/2014/main" id="{4304BD8B-9939-502F-125E-374D49F3BF84}"/>
              </a:ext>
            </a:extLst>
          </p:cNvPr>
          <p:cNvSpPr txBox="1"/>
          <p:nvPr/>
        </p:nvSpPr>
        <p:spPr>
          <a:xfrm>
            <a:off x="8821333" y="6457675"/>
            <a:ext cx="2634000" cy="400200"/>
          </a:xfrm>
          <a:prstGeom prst="rect">
            <a:avLst/>
          </a:prstGeom>
          <a:noFill/>
          <a:ln>
            <a:noFill/>
          </a:ln>
        </p:spPr>
        <p:txBody>
          <a:bodyPr spcFirstLastPara="1" wrap="square" lIns="91425" tIns="91425" rIns="91425" bIns="91425" anchor="t" anchorCtr="0">
            <a:spAutoFit/>
          </a:bodyPr>
          <a:lstStyle/>
          <a:p>
            <a:pPr lvl="0" algn="r"/>
            <a:r>
              <a:rPr lang="nb-NO" i="1" dirty="0">
                <a:latin typeface="Calibri"/>
                <a:ea typeface="Calibri"/>
                <a:cs typeface="Calibri"/>
                <a:sym typeface="Calibri"/>
              </a:rPr>
              <a:t>volume 2, pg. 323</a:t>
            </a:r>
          </a:p>
        </p:txBody>
      </p:sp>
      <p:pic>
        <p:nvPicPr>
          <p:cNvPr id="13" name="Google Shape;283;g104476d1465_1_17">
            <a:extLst>
              <a:ext uri="{FF2B5EF4-FFF2-40B4-BE49-F238E27FC236}">
                <a16:creationId xmlns:a16="http://schemas.microsoft.com/office/drawing/2014/main" id="{F3803181-3C7A-398B-E888-73BE60E44740}"/>
              </a:ext>
            </a:extLst>
          </p:cNvPr>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559559" y="6200600"/>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68302450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14" name="TextBox 13">
            <a:extLst>
              <a:ext uri="{FF2B5EF4-FFF2-40B4-BE49-F238E27FC236}">
                <a16:creationId xmlns:a16="http://schemas.microsoft.com/office/drawing/2014/main" id="{2FA392D8-3ED3-7940-83A8-1451AA8A08D4}"/>
              </a:ext>
            </a:extLst>
          </p:cNvPr>
          <p:cNvSpPr txBox="1"/>
          <p:nvPr/>
        </p:nvSpPr>
        <p:spPr>
          <a:xfrm>
            <a:off x="847493" y="520394"/>
            <a:ext cx="10281424" cy="5419112"/>
          </a:xfrm>
          <a:prstGeom prst="rect">
            <a:avLst/>
          </a:prstGeom>
          <a:noFill/>
        </p:spPr>
        <p:txBody>
          <a:bodyPr wrap="square" rtlCol="0">
            <a:spAutoFit/>
          </a:bodyPr>
          <a:lstStyle/>
          <a:p>
            <a:pPr>
              <a:lnSpc>
                <a:spcPct val="300000"/>
              </a:lnSpc>
            </a:pPr>
            <a:r>
              <a:rPr lang="en-US" sz="2400" dirty="0">
                <a:latin typeface="Verdana" charset="0"/>
                <a:ea typeface="Verdana" charset="0"/>
                <a:cs typeface="Verdana" charset="0"/>
              </a:rPr>
              <a:t>About         of this bar is orange. The other bar, labeled “does </a:t>
            </a:r>
          </a:p>
          <a:p>
            <a:pPr>
              <a:lnSpc>
                <a:spcPct val="300000"/>
              </a:lnSpc>
            </a:pPr>
            <a:r>
              <a:rPr lang="en-US" sz="2400" dirty="0">
                <a:latin typeface="Verdana" charset="0"/>
                <a:ea typeface="Verdana" charset="0"/>
                <a:cs typeface="Verdana" charset="0"/>
              </a:rPr>
              <a:t>not play sports” is just over         orange. This means a larger portion of the students who                           play an instrument, which means there may be an association between playing sports and instruments. </a:t>
            </a:r>
          </a:p>
        </p:txBody>
      </p:sp>
      <p:sp>
        <p:nvSpPr>
          <p:cNvPr id="6" name="Google Shape;278;g104476d1465_1_17">
            <a:extLst>
              <a:ext uri="{FF2B5EF4-FFF2-40B4-BE49-F238E27FC236}">
                <a16:creationId xmlns:a16="http://schemas.microsoft.com/office/drawing/2014/main" id="{F8FE04BB-F3FA-5B4A-8F1B-F17A449A27C9}"/>
              </a:ext>
            </a:extLst>
          </p:cNvPr>
          <p:cNvSpPr/>
          <p:nvPr/>
        </p:nvSpPr>
        <p:spPr>
          <a:xfrm>
            <a:off x="0" y="-8225"/>
            <a:ext cx="223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 name="Picture 1"/>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5296330" y="1813238"/>
            <a:ext cx="799670" cy="1287273"/>
          </a:xfrm>
          <a:prstGeom prst="rect">
            <a:avLst/>
          </a:prstGeom>
        </p:spPr>
      </p:pic>
      <p:pic>
        <p:nvPicPr>
          <p:cNvPr id="3" name="Picture 2"/>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5296330" y="3100511"/>
            <a:ext cx="2772644" cy="844265"/>
          </a:xfrm>
          <a:prstGeom prst="rect">
            <a:avLst/>
          </a:prstGeom>
        </p:spPr>
      </p:pic>
      <p:pic>
        <p:nvPicPr>
          <p:cNvPr id="8" name="Picture 7"/>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917829" y="691529"/>
            <a:ext cx="799670" cy="1287273"/>
          </a:xfrm>
          <a:prstGeom prst="rect">
            <a:avLst/>
          </a:prstGeom>
        </p:spPr>
      </p:pic>
      <p:sp>
        <p:nvSpPr>
          <p:cNvPr id="9" name="Google Shape;282;g104476d1465_1_17">
            <a:extLst>
              <a:ext uri="{FF2B5EF4-FFF2-40B4-BE49-F238E27FC236}">
                <a16:creationId xmlns:a16="http://schemas.microsoft.com/office/drawing/2014/main" id="{115FA09B-B6DC-1C81-E457-7DFA39E37821}"/>
              </a:ext>
            </a:extLst>
          </p:cNvPr>
          <p:cNvSpPr txBox="1"/>
          <p:nvPr/>
        </p:nvSpPr>
        <p:spPr>
          <a:xfrm>
            <a:off x="8821333" y="6457675"/>
            <a:ext cx="2634000" cy="400200"/>
          </a:xfrm>
          <a:prstGeom prst="rect">
            <a:avLst/>
          </a:prstGeom>
          <a:noFill/>
          <a:ln>
            <a:noFill/>
          </a:ln>
        </p:spPr>
        <p:txBody>
          <a:bodyPr spcFirstLastPara="1" wrap="square" lIns="91425" tIns="91425" rIns="91425" bIns="91425" anchor="t" anchorCtr="0">
            <a:spAutoFit/>
          </a:bodyPr>
          <a:lstStyle/>
          <a:p>
            <a:pPr lvl="0" algn="r"/>
            <a:r>
              <a:rPr lang="nb-NO" i="1" dirty="0">
                <a:latin typeface="Calibri"/>
                <a:ea typeface="Calibri"/>
                <a:cs typeface="Calibri"/>
                <a:sym typeface="Calibri"/>
              </a:rPr>
              <a:t>volume 2, pg. 323</a:t>
            </a:r>
          </a:p>
        </p:txBody>
      </p:sp>
      <p:pic>
        <p:nvPicPr>
          <p:cNvPr id="10" name="Google Shape;283;g104476d1465_1_17">
            <a:extLst>
              <a:ext uri="{FF2B5EF4-FFF2-40B4-BE49-F238E27FC236}">
                <a16:creationId xmlns:a16="http://schemas.microsoft.com/office/drawing/2014/main" id="{72EF0CBD-9382-61D1-639D-0C64C3227C81}"/>
              </a:ext>
            </a:extLst>
          </p:cNvPr>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559559" y="6200600"/>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28801251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225"/>
            <a:ext cx="2731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3601429" y="2766150"/>
            <a:ext cx="439693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3BEA6"/>
                </a:solidFill>
                <a:latin typeface="Verdana"/>
                <a:ea typeface="Verdana"/>
                <a:cs typeface="Verdana"/>
                <a:sym typeface="Verdana"/>
              </a:rPr>
              <a:t>Try It</a:t>
            </a:r>
            <a:endParaRPr sz="5100" b="1" dirty="0">
              <a:solidFill>
                <a:srgbClr val="33BEA6"/>
              </a:solidFill>
              <a:latin typeface="Verdana"/>
              <a:ea typeface="Verdana"/>
              <a:cs typeface="Verdana"/>
              <a:sym typeface="Verdana"/>
            </a:endParaRPr>
          </a:p>
        </p:txBody>
      </p:sp>
      <p:pic>
        <p:nvPicPr>
          <p:cNvPr id="7170" name="Picture 2">
            <a:extLst>
              <a:ext uri="{FF2B5EF4-FFF2-40B4-BE49-F238E27FC236}">
                <a16:creationId xmlns:a16="http://schemas.microsoft.com/office/drawing/2014/main" id="{B098E9CE-9B4F-0D4F-9369-4E0B8D4E3D1A}"/>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3298315" y="2852928"/>
            <a:ext cx="1152144" cy="115214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8" name="Google Shape;282;g104476d1465_1_17">
            <a:extLst>
              <a:ext uri="{FF2B5EF4-FFF2-40B4-BE49-F238E27FC236}">
                <a16:creationId xmlns:a16="http://schemas.microsoft.com/office/drawing/2014/main" id="{F927C1E3-F586-EAB0-3956-A1450DA577AC}"/>
              </a:ext>
            </a:extLst>
          </p:cNvPr>
          <p:cNvSpPr txBox="1"/>
          <p:nvPr/>
        </p:nvSpPr>
        <p:spPr>
          <a:xfrm>
            <a:off x="8821333" y="6457675"/>
            <a:ext cx="2634000" cy="400200"/>
          </a:xfrm>
          <a:prstGeom prst="rect">
            <a:avLst/>
          </a:prstGeom>
          <a:noFill/>
          <a:ln>
            <a:noFill/>
          </a:ln>
        </p:spPr>
        <p:txBody>
          <a:bodyPr spcFirstLastPara="1" wrap="square" lIns="91425" tIns="91425" rIns="91425" bIns="91425" anchor="t" anchorCtr="0">
            <a:spAutoFit/>
          </a:bodyPr>
          <a:lstStyle/>
          <a:p>
            <a:pPr lvl="0" algn="r"/>
            <a:r>
              <a:rPr lang="nb-NO" i="1" dirty="0">
                <a:latin typeface="Calibri"/>
                <a:ea typeface="Calibri"/>
                <a:cs typeface="Calibri"/>
                <a:sym typeface="Calibri"/>
              </a:rPr>
              <a:t>volume 2, pg. 323</a:t>
            </a:r>
          </a:p>
        </p:txBody>
      </p:sp>
      <p:pic>
        <p:nvPicPr>
          <p:cNvPr id="9" name="Google Shape;283;g104476d1465_1_17">
            <a:extLst>
              <a:ext uri="{FF2B5EF4-FFF2-40B4-BE49-F238E27FC236}">
                <a16:creationId xmlns:a16="http://schemas.microsoft.com/office/drawing/2014/main" id="{059F3638-85A4-E53B-8881-81AE348F68A7}"/>
              </a:ext>
            </a:extLst>
          </p:cNvPr>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59559" y="6200600"/>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87251816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477759" y="60325"/>
            <a:ext cx="9874181"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3BEA6"/>
                </a:solidFill>
                <a:latin typeface="Verdana"/>
                <a:ea typeface="Verdana"/>
                <a:cs typeface="Verdana"/>
                <a:sym typeface="Verdana"/>
              </a:rPr>
              <a:t>14.4.4 Try It: Possible Associations</a:t>
            </a:r>
          </a:p>
        </p:txBody>
      </p:sp>
      <p:pic>
        <p:nvPicPr>
          <p:cNvPr id="9" name="Picture 2">
            <a:extLst>
              <a:ext uri="{FF2B5EF4-FFF2-40B4-BE49-F238E27FC236}">
                <a16:creationId xmlns:a16="http://schemas.microsoft.com/office/drawing/2014/main" id="{E0B7508E-1910-D441-91B6-6EA6022F20CC}"/>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593248" y="348271"/>
            <a:ext cx="749808" cy="74980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0AB6A3A1-5A0D-C84F-AC89-57E6782F43E5}"/>
              </a:ext>
            </a:extLst>
          </p:cNvPr>
          <p:cNvSpPr txBox="1"/>
          <p:nvPr/>
        </p:nvSpPr>
        <p:spPr>
          <a:xfrm>
            <a:off x="840060" y="1386025"/>
            <a:ext cx="10300008" cy="1938992"/>
          </a:xfrm>
          <a:prstGeom prst="rect">
            <a:avLst/>
          </a:prstGeom>
          <a:noFill/>
        </p:spPr>
        <p:txBody>
          <a:bodyPr wrap="square" rtlCol="0">
            <a:spAutoFit/>
          </a:bodyPr>
          <a:lstStyle/>
          <a:p>
            <a:pPr marL="457200" indent="-457200">
              <a:buFont typeface="+mj-lt"/>
              <a:buAutoNum type="arabicPeriod"/>
            </a:pPr>
            <a:r>
              <a:rPr lang="en-US" sz="2400" dirty="0">
                <a:latin typeface="Verdana" charset="0"/>
                <a:ea typeface="Verdana" charset="0"/>
                <a:cs typeface="Verdana" charset="0"/>
              </a:rPr>
              <a:t>An ecologist is studying a forest with a mixture of tree types. Since the average tree height in the area is 40 feet, the height of each tree is measured against that and recorded. The type of tree is also recorded. The results are shown in the table and segmented bar graphs. </a:t>
            </a:r>
          </a:p>
        </p:txBody>
      </p:sp>
      <p:sp>
        <p:nvSpPr>
          <p:cNvPr id="11" name="Google Shape;278;g104476d1465_1_17">
            <a:extLst>
              <a:ext uri="{FF2B5EF4-FFF2-40B4-BE49-F238E27FC236}">
                <a16:creationId xmlns:a16="http://schemas.microsoft.com/office/drawing/2014/main" id="{244F00A5-2AA6-AE4D-816C-EE9779D15DDB}"/>
              </a:ext>
            </a:extLst>
          </p:cNvPr>
          <p:cNvSpPr/>
          <p:nvPr/>
        </p:nvSpPr>
        <p:spPr>
          <a:xfrm>
            <a:off x="0" y="-8225"/>
            <a:ext cx="223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mc:Choice xmlns:a14="http://schemas.microsoft.com/office/drawing/2010/main" Requires="a14">
          <p:graphicFrame>
            <p:nvGraphicFramePr>
              <p:cNvPr id="2" name="Table 1"/>
              <p:cNvGraphicFramePr>
                <a:graphicFrameLocks noGrp="1"/>
              </p:cNvGraphicFramePr>
              <p:nvPr>
                <p:extLst>
                  <p:ext uri="{D42A27DB-BD31-4B8C-83A1-F6EECF244321}">
                    <p14:modId xmlns:p14="http://schemas.microsoft.com/office/powerpoint/2010/main" val="2380735108"/>
                  </p:ext>
                </p:extLst>
              </p:nvPr>
            </p:nvGraphicFramePr>
            <p:xfrm>
              <a:off x="1767692" y="3546089"/>
              <a:ext cx="6558112" cy="2602534"/>
            </p:xfrm>
            <a:graphic>
              <a:graphicData uri="http://schemas.openxmlformats.org/drawingml/2006/table">
                <a:tbl>
                  <a:tblPr firstRow="1" firstCol="1" lastRow="1" lastCol="1"/>
                  <a:tblGrid>
                    <a:gridCol w="1639528">
                      <a:extLst>
                        <a:ext uri="{9D8B030D-6E8A-4147-A177-3AD203B41FA5}">
                          <a16:colId xmlns:a16="http://schemas.microsoft.com/office/drawing/2014/main" val="20000"/>
                        </a:ext>
                      </a:extLst>
                    </a:gridCol>
                    <a:gridCol w="1639528">
                      <a:extLst>
                        <a:ext uri="{9D8B030D-6E8A-4147-A177-3AD203B41FA5}">
                          <a16:colId xmlns:a16="http://schemas.microsoft.com/office/drawing/2014/main" val="20001"/>
                        </a:ext>
                      </a:extLst>
                    </a:gridCol>
                    <a:gridCol w="1639528">
                      <a:extLst>
                        <a:ext uri="{9D8B030D-6E8A-4147-A177-3AD203B41FA5}">
                          <a16:colId xmlns:a16="http://schemas.microsoft.com/office/drawing/2014/main" val="20002"/>
                        </a:ext>
                      </a:extLst>
                    </a:gridCol>
                    <a:gridCol w="1639528">
                      <a:extLst>
                        <a:ext uri="{9D8B030D-6E8A-4147-A177-3AD203B41FA5}">
                          <a16:colId xmlns:a16="http://schemas.microsoft.com/office/drawing/2014/main" val="20003"/>
                        </a:ext>
                      </a:extLst>
                    </a:gridCol>
                  </a:tblGrid>
                  <a:tr h="722926">
                    <a:tc>
                      <a:txBody>
                        <a:bodyPr/>
                        <a:lstStyle/>
                        <a:p>
                          <a:pPr marL="0" marR="0" algn="ctr">
                            <a:spcBef>
                              <a:spcPts val="180"/>
                            </a:spcBef>
                            <a:spcAft>
                              <a:spcPts val="180"/>
                            </a:spcAft>
                          </a:pPr>
                          <a:r>
                            <a:rPr lang="en-US" sz="2000" b="1">
                              <a:effectLst/>
                              <a:latin typeface="Verdana" charset="0"/>
                              <a:ea typeface="Verdana" charset="0"/>
                              <a:cs typeface="Verdana" charset="0"/>
                            </a:rPr>
                            <a:t> </a:t>
                          </a:r>
                          <a:endParaRPr lang="en-US" sz="1400">
                            <a:effectLst/>
                            <a:latin typeface="Verdana" charset="0"/>
                            <a:ea typeface="Verdana" charset="0"/>
                            <a:cs typeface="Verdana"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180"/>
                            </a:spcBef>
                            <a:spcAft>
                              <a:spcPts val="180"/>
                            </a:spcAft>
                          </a:pPr>
                          <a:r>
                            <a:rPr lang="en-US" sz="2000" b="1">
                              <a:effectLst/>
                              <a:latin typeface="Verdana" charset="0"/>
                              <a:ea typeface="Verdana" charset="0"/>
                              <a:cs typeface="Verdana" charset="0"/>
                            </a:rPr>
                            <a:t>Under 40 Feet</a:t>
                          </a:r>
                          <a:endParaRPr lang="en-US" sz="1400">
                            <a:effectLst/>
                            <a:latin typeface="Verdana" charset="0"/>
                            <a:ea typeface="Verdana" charset="0"/>
                            <a:cs typeface="Verdana"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180"/>
                            </a:spcBef>
                            <a:spcAft>
                              <a:spcPts val="180"/>
                            </a:spcAft>
                          </a:pPr>
                          <a:r>
                            <a:rPr lang="en-US" sz="2000" b="1">
                              <a:effectLst/>
                              <a:latin typeface="Verdana" charset="0"/>
                              <a:ea typeface="Verdana" charset="0"/>
                              <a:cs typeface="Verdana" charset="0"/>
                            </a:rPr>
                            <a:t>40 Feet or Taller</a:t>
                          </a:r>
                          <a:endParaRPr lang="en-US" sz="1400">
                            <a:effectLst/>
                            <a:latin typeface="Verdana" charset="0"/>
                            <a:ea typeface="Verdana" charset="0"/>
                            <a:cs typeface="Verdana"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180"/>
                            </a:spcBef>
                            <a:spcAft>
                              <a:spcPts val="180"/>
                            </a:spcAft>
                          </a:pPr>
                          <a:r>
                            <a:rPr lang="en-US" sz="2000" b="1">
                              <a:effectLst/>
                              <a:latin typeface="Verdana" charset="0"/>
                              <a:ea typeface="Verdana" charset="0"/>
                              <a:cs typeface="Verdana" charset="0"/>
                            </a:rPr>
                            <a:t>Total</a:t>
                          </a:r>
                          <a:endParaRPr lang="en-US" sz="1400">
                            <a:effectLst/>
                            <a:latin typeface="Verdana" charset="0"/>
                            <a:ea typeface="Verdana" charset="0"/>
                            <a:cs typeface="Verdana"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0000"/>
                      </a:ext>
                    </a:extLst>
                  </a:tr>
                  <a:tr h="722926">
                    <a:tc>
                      <a:txBody>
                        <a:bodyPr/>
                        <a:lstStyle/>
                        <a:p>
                          <a:pPr marL="0" marR="0" algn="ctr">
                            <a:spcBef>
                              <a:spcPts val="180"/>
                            </a:spcBef>
                            <a:spcAft>
                              <a:spcPts val="180"/>
                            </a:spcAft>
                          </a:pPr>
                          <a:r>
                            <a:rPr lang="en-US" sz="2000" b="1">
                              <a:effectLst/>
                              <a:latin typeface="Verdana" charset="0"/>
                              <a:ea typeface="Verdana" charset="0"/>
                              <a:cs typeface="Verdana" charset="0"/>
                            </a:rPr>
                            <a:t>Deciduous</a:t>
                          </a:r>
                          <a:endParaRPr lang="en-US" sz="1400">
                            <a:effectLst/>
                            <a:latin typeface="Verdana" charset="0"/>
                            <a:ea typeface="Verdana" charset="0"/>
                            <a:cs typeface="Verdana"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180"/>
                            </a:spcBef>
                            <a:spcAft>
                              <a:spcPts val="180"/>
                            </a:spcAft>
                          </a:pPr>
                          <a14:m>
                            <m:oMathPara xmlns:m="http://schemas.openxmlformats.org/officeDocument/2006/math">
                              <m:oMathParaPr>
                                <m:jc m:val="centerGroup"/>
                              </m:oMathParaPr>
                              <m:oMath xmlns:m="http://schemas.openxmlformats.org/officeDocument/2006/math">
                                <m:r>
                                  <a:rPr lang="en-US" sz="2000" i="1" dirty="0" smtClean="0">
                                    <a:effectLst/>
                                    <a:latin typeface="Cambria Math" panose="02040503050406030204" pitchFamily="18" charset="0"/>
                                    <a:ea typeface="Verdana" charset="0"/>
                                    <a:cs typeface="Verdana" charset="0"/>
                                  </a:rPr>
                                  <m:t>45</m:t>
                                </m:r>
                              </m:oMath>
                            </m:oMathPara>
                          </a14:m>
                          <a:endParaRPr lang="en-US" sz="1400" dirty="0">
                            <a:effectLst/>
                            <a:latin typeface="Verdana" charset="0"/>
                            <a:ea typeface="Verdana" charset="0"/>
                            <a:cs typeface="Verdana"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180"/>
                            </a:spcBef>
                            <a:spcAft>
                              <a:spcPts val="180"/>
                            </a:spcAft>
                          </a:pPr>
                          <a14:m>
                            <m:oMathPara xmlns:m="http://schemas.openxmlformats.org/officeDocument/2006/math">
                              <m:oMathParaPr>
                                <m:jc m:val="centerGroup"/>
                              </m:oMathParaPr>
                              <m:oMath xmlns:m="http://schemas.openxmlformats.org/officeDocument/2006/math">
                                <m:r>
                                  <a:rPr lang="en-US" sz="2000" i="1" dirty="0" smtClean="0">
                                    <a:effectLst/>
                                    <a:latin typeface="Cambria Math" panose="02040503050406030204" pitchFamily="18" charset="0"/>
                                    <a:ea typeface="Verdana" charset="0"/>
                                    <a:cs typeface="Verdana" charset="0"/>
                                  </a:rPr>
                                  <m:t>30</m:t>
                                </m:r>
                              </m:oMath>
                            </m:oMathPara>
                          </a14:m>
                          <a:endParaRPr lang="en-US" sz="1400" dirty="0">
                            <a:effectLst/>
                            <a:latin typeface="Verdana" charset="0"/>
                            <a:ea typeface="Verdana" charset="0"/>
                            <a:cs typeface="Verdana"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180"/>
                            </a:spcBef>
                            <a:spcAft>
                              <a:spcPts val="180"/>
                            </a:spcAft>
                          </a:pPr>
                          <a14:m>
                            <m:oMathPara xmlns:m="http://schemas.openxmlformats.org/officeDocument/2006/math">
                              <m:oMathParaPr>
                                <m:jc m:val="centerGroup"/>
                              </m:oMathParaPr>
                              <m:oMath xmlns:m="http://schemas.openxmlformats.org/officeDocument/2006/math">
                                <m:r>
                                  <a:rPr lang="en-US" sz="2000" i="1" dirty="0" smtClean="0">
                                    <a:effectLst/>
                                    <a:latin typeface="Cambria Math" panose="02040503050406030204" pitchFamily="18" charset="0"/>
                                    <a:ea typeface="Verdana" charset="0"/>
                                    <a:cs typeface="Verdana" charset="0"/>
                                  </a:rPr>
                                  <m:t>75</m:t>
                                </m:r>
                              </m:oMath>
                            </m:oMathPara>
                          </a14:m>
                          <a:endParaRPr lang="en-US" sz="1400" dirty="0">
                            <a:effectLst/>
                            <a:latin typeface="Verdana" charset="0"/>
                            <a:ea typeface="Verdana" charset="0"/>
                            <a:cs typeface="Verdana"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722926">
                    <a:tc>
                      <a:txBody>
                        <a:bodyPr/>
                        <a:lstStyle/>
                        <a:p>
                          <a:pPr marL="0" marR="0" algn="ctr">
                            <a:spcBef>
                              <a:spcPts val="180"/>
                            </a:spcBef>
                            <a:spcAft>
                              <a:spcPts val="180"/>
                            </a:spcAft>
                          </a:pPr>
                          <a:r>
                            <a:rPr lang="en-US" sz="2000" b="1">
                              <a:effectLst/>
                              <a:latin typeface="Verdana" charset="0"/>
                              <a:ea typeface="Verdana" charset="0"/>
                              <a:cs typeface="Verdana" charset="0"/>
                            </a:rPr>
                            <a:t>Evergreen</a:t>
                          </a:r>
                          <a:endParaRPr lang="en-US" sz="1400">
                            <a:effectLst/>
                            <a:latin typeface="Verdana" charset="0"/>
                            <a:ea typeface="Verdana" charset="0"/>
                            <a:cs typeface="Verdana"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180"/>
                            </a:spcBef>
                            <a:spcAft>
                              <a:spcPts val="180"/>
                            </a:spcAft>
                          </a:pPr>
                          <a14:m>
                            <m:oMathPara xmlns:m="http://schemas.openxmlformats.org/officeDocument/2006/math">
                              <m:oMathParaPr>
                                <m:jc m:val="centerGroup"/>
                              </m:oMathParaPr>
                              <m:oMath xmlns:m="http://schemas.openxmlformats.org/officeDocument/2006/math">
                                <m:r>
                                  <a:rPr lang="en-US" sz="2000" i="1" dirty="0" smtClean="0">
                                    <a:effectLst/>
                                    <a:latin typeface="Cambria Math" panose="02040503050406030204" pitchFamily="18" charset="0"/>
                                    <a:ea typeface="Verdana" charset="0"/>
                                    <a:cs typeface="Verdana" charset="0"/>
                                  </a:rPr>
                                  <m:t>14</m:t>
                                </m:r>
                              </m:oMath>
                            </m:oMathPara>
                          </a14:m>
                          <a:endParaRPr lang="en-US" sz="1400" dirty="0">
                            <a:effectLst/>
                            <a:latin typeface="Verdana" charset="0"/>
                            <a:ea typeface="Verdana" charset="0"/>
                            <a:cs typeface="Verdana"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180"/>
                            </a:spcBef>
                            <a:spcAft>
                              <a:spcPts val="180"/>
                            </a:spcAft>
                          </a:pPr>
                          <a14:m>
                            <m:oMathPara xmlns:m="http://schemas.openxmlformats.org/officeDocument/2006/math">
                              <m:oMathParaPr>
                                <m:jc m:val="centerGroup"/>
                              </m:oMathParaPr>
                              <m:oMath xmlns:m="http://schemas.openxmlformats.org/officeDocument/2006/math">
                                <m:r>
                                  <a:rPr lang="en-US" sz="2000" i="1" dirty="0" smtClean="0">
                                    <a:effectLst/>
                                    <a:latin typeface="Cambria Math" panose="02040503050406030204" pitchFamily="18" charset="0"/>
                                    <a:ea typeface="Verdana" charset="0"/>
                                    <a:cs typeface="Verdana" charset="0"/>
                                  </a:rPr>
                                  <m:t>10</m:t>
                                </m:r>
                              </m:oMath>
                            </m:oMathPara>
                          </a14:m>
                          <a:endParaRPr lang="en-US" sz="1400" dirty="0">
                            <a:effectLst/>
                            <a:latin typeface="Verdana" charset="0"/>
                            <a:ea typeface="Verdana" charset="0"/>
                            <a:cs typeface="Verdana"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180"/>
                            </a:spcBef>
                            <a:spcAft>
                              <a:spcPts val="180"/>
                            </a:spcAft>
                          </a:pPr>
                          <a14:m>
                            <m:oMathPara xmlns:m="http://schemas.openxmlformats.org/officeDocument/2006/math">
                              <m:oMathParaPr>
                                <m:jc m:val="centerGroup"/>
                              </m:oMathParaPr>
                              <m:oMath xmlns:m="http://schemas.openxmlformats.org/officeDocument/2006/math">
                                <m:r>
                                  <a:rPr lang="en-US" sz="2000" i="1" dirty="0" smtClean="0">
                                    <a:effectLst/>
                                    <a:latin typeface="Cambria Math" panose="02040503050406030204" pitchFamily="18" charset="0"/>
                                    <a:ea typeface="Verdana" charset="0"/>
                                    <a:cs typeface="Verdana" charset="0"/>
                                  </a:rPr>
                                  <m:t>24</m:t>
                                </m:r>
                              </m:oMath>
                            </m:oMathPara>
                          </a14:m>
                          <a:endParaRPr lang="en-US" sz="1400" dirty="0">
                            <a:effectLst/>
                            <a:latin typeface="Verdana" charset="0"/>
                            <a:ea typeface="Verdana" charset="0"/>
                            <a:cs typeface="Verdana"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433756">
                    <a:tc>
                      <a:txBody>
                        <a:bodyPr/>
                        <a:lstStyle/>
                        <a:p>
                          <a:pPr marL="0" marR="0" algn="ctr">
                            <a:spcBef>
                              <a:spcPts val="180"/>
                            </a:spcBef>
                            <a:spcAft>
                              <a:spcPts val="180"/>
                            </a:spcAft>
                          </a:pPr>
                          <a:r>
                            <a:rPr lang="en-US" sz="2000" b="1">
                              <a:effectLst/>
                              <a:latin typeface="Verdana" charset="0"/>
                              <a:ea typeface="Verdana" charset="0"/>
                              <a:cs typeface="Verdana" charset="0"/>
                            </a:rPr>
                            <a:t>Total</a:t>
                          </a:r>
                          <a:endParaRPr lang="en-US" sz="1400">
                            <a:effectLst/>
                            <a:latin typeface="Verdana" charset="0"/>
                            <a:ea typeface="Verdana" charset="0"/>
                            <a:cs typeface="Verdana"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180"/>
                            </a:spcBef>
                            <a:spcAft>
                              <a:spcPts val="180"/>
                            </a:spcAft>
                          </a:pPr>
                          <a14:m>
                            <m:oMathPara xmlns:m="http://schemas.openxmlformats.org/officeDocument/2006/math">
                              <m:oMathParaPr>
                                <m:jc m:val="centerGroup"/>
                              </m:oMathParaPr>
                              <m:oMath xmlns:m="http://schemas.openxmlformats.org/officeDocument/2006/math">
                                <m:r>
                                  <a:rPr lang="en-US" sz="2000" i="1" smtClean="0">
                                    <a:effectLst/>
                                    <a:latin typeface="Cambria Math" panose="02040503050406030204" pitchFamily="18" charset="0"/>
                                    <a:ea typeface="Verdana" charset="0"/>
                                    <a:cs typeface="Verdana" charset="0"/>
                                  </a:rPr>
                                  <m:t>59</m:t>
                                </m:r>
                              </m:oMath>
                            </m:oMathPara>
                          </a14:m>
                          <a:endParaRPr lang="en-US" sz="1400">
                            <a:effectLst/>
                            <a:latin typeface="Verdana" charset="0"/>
                            <a:ea typeface="Verdana" charset="0"/>
                            <a:cs typeface="Verdana"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180"/>
                            </a:spcBef>
                            <a:spcAft>
                              <a:spcPts val="180"/>
                            </a:spcAft>
                          </a:pPr>
                          <a14:m>
                            <m:oMathPara xmlns:m="http://schemas.openxmlformats.org/officeDocument/2006/math">
                              <m:oMathParaPr>
                                <m:jc m:val="centerGroup"/>
                              </m:oMathParaPr>
                              <m:oMath xmlns:m="http://schemas.openxmlformats.org/officeDocument/2006/math">
                                <m:r>
                                  <a:rPr lang="en-US" sz="2000" i="1" smtClean="0">
                                    <a:effectLst/>
                                    <a:latin typeface="Cambria Math" panose="02040503050406030204" pitchFamily="18" charset="0"/>
                                    <a:ea typeface="Verdana" charset="0"/>
                                    <a:cs typeface="Verdana" charset="0"/>
                                  </a:rPr>
                                  <m:t>40</m:t>
                                </m:r>
                              </m:oMath>
                            </m:oMathPara>
                          </a14:m>
                          <a:endParaRPr lang="en-US" sz="1400">
                            <a:effectLst/>
                            <a:latin typeface="Verdana" charset="0"/>
                            <a:ea typeface="Verdana" charset="0"/>
                            <a:cs typeface="Verdana"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180"/>
                            </a:spcBef>
                            <a:spcAft>
                              <a:spcPts val="180"/>
                            </a:spcAft>
                          </a:pPr>
                          <a14:m>
                            <m:oMathPara xmlns:m="http://schemas.openxmlformats.org/officeDocument/2006/math">
                              <m:oMathParaPr>
                                <m:jc m:val="centerGroup"/>
                              </m:oMathParaPr>
                              <m:oMath xmlns:m="http://schemas.openxmlformats.org/officeDocument/2006/math">
                                <m:r>
                                  <a:rPr lang="en-US" sz="2000" i="1" dirty="0" smtClean="0">
                                    <a:effectLst/>
                                    <a:latin typeface="Cambria Math" panose="02040503050406030204" pitchFamily="18" charset="0"/>
                                    <a:ea typeface="Verdana" charset="0"/>
                                    <a:cs typeface="Verdana" charset="0"/>
                                  </a:rPr>
                                  <m:t>99</m:t>
                                </m:r>
                              </m:oMath>
                            </m:oMathPara>
                          </a14:m>
                          <a:endParaRPr lang="en-US" sz="1400" dirty="0">
                            <a:effectLst/>
                            <a:latin typeface="Verdana" charset="0"/>
                            <a:ea typeface="Verdana" charset="0"/>
                            <a:cs typeface="Verdana"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mc:Choice>
        <mc:Fallback>
          <p:graphicFrame>
            <p:nvGraphicFramePr>
              <p:cNvPr id="2" name="Table 1"/>
              <p:cNvGraphicFramePr>
                <a:graphicFrameLocks noGrp="1"/>
              </p:cNvGraphicFramePr>
              <p:nvPr>
                <p:extLst>
                  <p:ext uri="{D42A27DB-BD31-4B8C-83A1-F6EECF244321}">
                    <p14:modId xmlns:p14="http://schemas.microsoft.com/office/powerpoint/2010/main" val="2380735108"/>
                  </p:ext>
                </p:extLst>
              </p:nvPr>
            </p:nvGraphicFramePr>
            <p:xfrm>
              <a:off x="1767692" y="3546089"/>
              <a:ext cx="6558112" cy="2602534"/>
            </p:xfrm>
            <a:graphic>
              <a:graphicData uri="http://schemas.openxmlformats.org/drawingml/2006/table">
                <a:tbl>
                  <a:tblPr firstRow="1" firstCol="1" lastRow="1" lastCol="1"/>
                  <a:tblGrid>
                    <a:gridCol w="1639528">
                      <a:extLst>
                        <a:ext uri="{9D8B030D-6E8A-4147-A177-3AD203B41FA5}">
                          <a16:colId xmlns:a16="http://schemas.microsoft.com/office/drawing/2014/main" val="20000"/>
                        </a:ext>
                      </a:extLst>
                    </a:gridCol>
                    <a:gridCol w="1639528">
                      <a:extLst>
                        <a:ext uri="{9D8B030D-6E8A-4147-A177-3AD203B41FA5}">
                          <a16:colId xmlns:a16="http://schemas.microsoft.com/office/drawing/2014/main" val="20001"/>
                        </a:ext>
                      </a:extLst>
                    </a:gridCol>
                    <a:gridCol w="1639528">
                      <a:extLst>
                        <a:ext uri="{9D8B030D-6E8A-4147-A177-3AD203B41FA5}">
                          <a16:colId xmlns:a16="http://schemas.microsoft.com/office/drawing/2014/main" val="20002"/>
                        </a:ext>
                      </a:extLst>
                    </a:gridCol>
                    <a:gridCol w="1639528">
                      <a:extLst>
                        <a:ext uri="{9D8B030D-6E8A-4147-A177-3AD203B41FA5}">
                          <a16:colId xmlns:a16="http://schemas.microsoft.com/office/drawing/2014/main" val="20003"/>
                        </a:ext>
                      </a:extLst>
                    </a:gridCol>
                  </a:tblGrid>
                  <a:tr h="722926">
                    <a:tc>
                      <a:txBody>
                        <a:bodyPr/>
                        <a:lstStyle/>
                        <a:p>
                          <a:pPr marL="0" marR="0" algn="ctr">
                            <a:spcBef>
                              <a:spcPts val="180"/>
                            </a:spcBef>
                            <a:spcAft>
                              <a:spcPts val="180"/>
                            </a:spcAft>
                          </a:pPr>
                          <a:r>
                            <a:rPr lang="en-US" sz="2000" b="1">
                              <a:effectLst/>
                              <a:latin typeface="Verdana" charset="0"/>
                              <a:ea typeface="Verdana" charset="0"/>
                              <a:cs typeface="Verdana" charset="0"/>
                            </a:rPr>
                            <a:t> </a:t>
                          </a:r>
                          <a:endParaRPr lang="en-US" sz="1400">
                            <a:effectLst/>
                            <a:latin typeface="Verdana" charset="0"/>
                            <a:ea typeface="Verdana" charset="0"/>
                            <a:cs typeface="Verdana"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180"/>
                            </a:spcBef>
                            <a:spcAft>
                              <a:spcPts val="180"/>
                            </a:spcAft>
                          </a:pPr>
                          <a:r>
                            <a:rPr lang="en-US" sz="2000" b="1">
                              <a:effectLst/>
                              <a:latin typeface="Verdana" charset="0"/>
                              <a:ea typeface="Verdana" charset="0"/>
                              <a:cs typeface="Verdana" charset="0"/>
                            </a:rPr>
                            <a:t>Under 40 Feet</a:t>
                          </a:r>
                          <a:endParaRPr lang="en-US" sz="1400">
                            <a:effectLst/>
                            <a:latin typeface="Verdana" charset="0"/>
                            <a:ea typeface="Verdana" charset="0"/>
                            <a:cs typeface="Verdana"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180"/>
                            </a:spcBef>
                            <a:spcAft>
                              <a:spcPts val="180"/>
                            </a:spcAft>
                          </a:pPr>
                          <a:r>
                            <a:rPr lang="en-US" sz="2000" b="1">
                              <a:effectLst/>
                              <a:latin typeface="Verdana" charset="0"/>
                              <a:ea typeface="Verdana" charset="0"/>
                              <a:cs typeface="Verdana" charset="0"/>
                            </a:rPr>
                            <a:t>40 Feet or Taller</a:t>
                          </a:r>
                          <a:endParaRPr lang="en-US" sz="1400">
                            <a:effectLst/>
                            <a:latin typeface="Verdana" charset="0"/>
                            <a:ea typeface="Verdana" charset="0"/>
                            <a:cs typeface="Verdana"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180"/>
                            </a:spcBef>
                            <a:spcAft>
                              <a:spcPts val="180"/>
                            </a:spcAft>
                          </a:pPr>
                          <a:r>
                            <a:rPr lang="en-US" sz="2000" b="1">
                              <a:effectLst/>
                              <a:latin typeface="Verdana" charset="0"/>
                              <a:ea typeface="Verdana" charset="0"/>
                              <a:cs typeface="Verdana" charset="0"/>
                            </a:rPr>
                            <a:t>Total</a:t>
                          </a:r>
                          <a:endParaRPr lang="en-US" sz="1400">
                            <a:effectLst/>
                            <a:latin typeface="Verdana" charset="0"/>
                            <a:ea typeface="Verdana" charset="0"/>
                            <a:cs typeface="Verdana"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0000"/>
                      </a:ext>
                    </a:extLst>
                  </a:tr>
                  <a:tr h="722926">
                    <a:tc>
                      <a:txBody>
                        <a:bodyPr/>
                        <a:lstStyle/>
                        <a:p>
                          <a:pPr marL="0" marR="0" algn="ctr">
                            <a:spcBef>
                              <a:spcPts val="180"/>
                            </a:spcBef>
                            <a:spcAft>
                              <a:spcPts val="180"/>
                            </a:spcAft>
                          </a:pPr>
                          <a:r>
                            <a:rPr lang="en-US" sz="2000" b="1">
                              <a:effectLst/>
                              <a:latin typeface="Verdana" charset="0"/>
                              <a:ea typeface="Verdana" charset="0"/>
                              <a:cs typeface="Verdana" charset="0"/>
                            </a:rPr>
                            <a:t>Deciduous</a:t>
                          </a:r>
                          <a:endParaRPr lang="en-US" sz="1400">
                            <a:effectLst/>
                            <a:latin typeface="Verdana" charset="0"/>
                            <a:ea typeface="Verdana" charset="0"/>
                            <a:cs typeface="Verdana"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endParaRPr lang="en-US"/>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100000" t="-110084" r="-200000" b="-163025"/>
                          </a:stretch>
                        </a:blipFill>
                      </a:tcPr>
                    </a:tc>
                    <a:tc>
                      <a:txBody>
                        <a:bodyPr/>
                        <a:lstStyle/>
                        <a:p>
                          <a:endParaRPr lang="en-US"/>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200743" t="-110084" r="-100743" b="-163025"/>
                          </a:stretch>
                        </a:blipFill>
                      </a:tcPr>
                    </a:tc>
                    <a:tc>
                      <a:txBody>
                        <a:bodyPr/>
                        <a:lstStyle/>
                        <a:p>
                          <a:endParaRPr lang="en-US"/>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300743" t="-110084" r="-743" b="-163025"/>
                          </a:stretch>
                        </a:blipFill>
                      </a:tcPr>
                    </a:tc>
                    <a:extLst>
                      <a:ext uri="{0D108BD9-81ED-4DB2-BD59-A6C34878D82A}">
                        <a16:rowId xmlns:a16="http://schemas.microsoft.com/office/drawing/2014/main" val="10001"/>
                      </a:ext>
                    </a:extLst>
                  </a:tr>
                  <a:tr h="722926">
                    <a:tc>
                      <a:txBody>
                        <a:bodyPr/>
                        <a:lstStyle/>
                        <a:p>
                          <a:pPr marL="0" marR="0" algn="ctr">
                            <a:spcBef>
                              <a:spcPts val="180"/>
                            </a:spcBef>
                            <a:spcAft>
                              <a:spcPts val="180"/>
                            </a:spcAft>
                          </a:pPr>
                          <a:r>
                            <a:rPr lang="en-US" sz="2000" b="1">
                              <a:effectLst/>
                              <a:latin typeface="Verdana" charset="0"/>
                              <a:ea typeface="Verdana" charset="0"/>
                              <a:cs typeface="Verdana" charset="0"/>
                            </a:rPr>
                            <a:t>Evergreen</a:t>
                          </a:r>
                          <a:endParaRPr lang="en-US" sz="1400">
                            <a:effectLst/>
                            <a:latin typeface="Verdana" charset="0"/>
                            <a:ea typeface="Verdana" charset="0"/>
                            <a:cs typeface="Verdana"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endParaRPr lang="en-US"/>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100000" t="-210084" r="-200000" b="-63025"/>
                          </a:stretch>
                        </a:blipFill>
                      </a:tcPr>
                    </a:tc>
                    <a:tc>
                      <a:txBody>
                        <a:bodyPr/>
                        <a:lstStyle/>
                        <a:p>
                          <a:endParaRPr lang="en-US"/>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200743" t="-210084" r="-100743" b="-63025"/>
                          </a:stretch>
                        </a:blipFill>
                      </a:tcPr>
                    </a:tc>
                    <a:tc>
                      <a:txBody>
                        <a:bodyPr/>
                        <a:lstStyle/>
                        <a:p>
                          <a:endParaRPr lang="en-US"/>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300743" t="-210084" r="-743" b="-63025"/>
                          </a:stretch>
                        </a:blipFill>
                      </a:tcPr>
                    </a:tc>
                    <a:extLst>
                      <a:ext uri="{0D108BD9-81ED-4DB2-BD59-A6C34878D82A}">
                        <a16:rowId xmlns:a16="http://schemas.microsoft.com/office/drawing/2014/main" val="10002"/>
                      </a:ext>
                    </a:extLst>
                  </a:tr>
                  <a:tr h="433756">
                    <a:tc>
                      <a:txBody>
                        <a:bodyPr/>
                        <a:lstStyle/>
                        <a:p>
                          <a:pPr marL="0" marR="0" algn="ctr">
                            <a:spcBef>
                              <a:spcPts val="180"/>
                            </a:spcBef>
                            <a:spcAft>
                              <a:spcPts val="180"/>
                            </a:spcAft>
                          </a:pPr>
                          <a:r>
                            <a:rPr lang="en-US" sz="2000" b="1">
                              <a:effectLst/>
                              <a:latin typeface="Verdana" charset="0"/>
                              <a:ea typeface="Verdana" charset="0"/>
                              <a:cs typeface="Verdana" charset="0"/>
                            </a:rPr>
                            <a:t>Total</a:t>
                          </a:r>
                          <a:endParaRPr lang="en-US" sz="1400">
                            <a:effectLst/>
                            <a:latin typeface="Verdana" charset="0"/>
                            <a:ea typeface="Verdana" charset="0"/>
                            <a:cs typeface="Verdana"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endParaRPr lang="en-US"/>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100000" t="-519718" r="-200000" b="-5634"/>
                          </a:stretch>
                        </a:blipFill>
                      </a:tcPr>
                    </a:tc>
                    <a:tc>
                      <a:txBody>
                        <a:bodyPr/>
                        <a:lstStyle/>
                        <a:p>
                          <a:endParaRPr lang="en-US"/>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200743" t="-519718" r="-100743" b="-5634"/>
                          </a:stretch>
                        </a:blipFill>
                      </a:tcPr>
                    </a:tc>
                    <a:tc>
                      <a:txBody>
                        <a:bodyPr/>
                        <a:lstStyle/>
                        <a:p>
                          <a:endParaRPr lang="en-US"/>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300743" t="-519718" r="-743" b="-5634"/>
                          </a:stretch>
                        </a:blipFill>
                      </a:tcPr>
                    </a:tc>
                    <a:extLst>
                      <a:ext uri="{0D108BD9-81ED-4DB2-BD59-A6C34878D82A}">
                        <a16:rowId xmlns:a16="http://schemas.microsoft.com/office/drawing/2014/main" val="10003"/>
                      </a:ext>
                    </a:extLst>
                  </a:tr>
                </a:tbl>
              </a:graphicData>
            </a:graphic>
          </p:graphicFrame>
        </mc:Fallback>
      </mc:AlternateContent>
      <p:sp>
        <p:nvSpPr>
          <p:cNvPr id="12" name="Google Shape;282;g104476d1465_1_17">
            <a:extLst>
              <a:ext uri="{FF2B5EF4-FFF2-40B4-BE49-F238E27FC236}">
                <a16:creationId xmlns:a16="http://schemas.microsoft.com/office/drawing/2014/main" id="{3C692BAF-2B64-3E4F-839A-EE3B8EF67B1F}"/>
              </a:ext>
            </a:extLst>
          </p:cNvPr>
          <p:cNvSpPr txBox="1"/>
          <p:nvPr/>
        </p:nvSpPr>
        <p:spPr>
          <a:xfrm>
            <a:off x="8821333" y="6457675"/>
            <a:ext cx="2634000" cy="400200"/>
          </a:xfrm>
          <a:prstGeom prst="rect">
            <a:avLst/>
          </a:prstGeom>
          <a:noFill/>
          <a:ln>
            <a:noFill/>
          </a:ln>
        </p:spPr>
        <p:txBody>
          <a:bodyPr spcFirstLastPara="1" wrap="square" lIns="91425" tIns="91425" rIns="91425" bIns="91425" anchor="t" anchorCtr="0">
            <a:spAutoFit/>
          </a:bodyPr>
          <a:lstStyle/>
          <a:p>
            <a:pPr lvl="0" algn="r"/>
            <a:r>
              <a:rPr lang="nb-NO" i="1" dirty="0">
                <a:latin typeface="Calibri"/>
                <a:ea typeface="Calibri"/>
                <a:cs typeface="Calibri"/>
                <a:sym typeface="Calibri"/>
              </a:rPr>
              <a:t>volume 2, pg. 323</a:t>
            </a:r>
          </a:p>
        </p:txBody>
      </p:sp>
      <p:pic>
        <p:nvPicPr>
          <p:cNvPr id="13" name="Google Shape;283;g104476d1465_1_17">
            <a:extLst>
              <a:ext uri="{FF2B5EF4-FFF2-40B4-BE49-F238E27FC236}">
                <a16:creationId xmlns:a16="http://schemas.microsoft.com/office/drawing/2014/main" id="{469A7FAC-19B3-88B2-942D-4CD4F08F35B8}"/>
              </a:ext>
            </a:extLst>
          </p:cNvPr>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559559" y="6200600"/>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65549338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6" name="Google Shape;278;g104476d1465_1_17">
            <a:extLst>
              <a:ext uri="{FF2B5EF4-FFF2-40B4-BE49-F238E27FC236}">
                <a16:creationId xmlns:a16="http://schemas.microsoft.com/office/drawing/2014/main" id="{A2E66A11-7F46-5543-97C7-B5D75DA087BD}"/>
              </a:ext>
            </a:extLst>
          </p:cNvPr>
          <p:cNvSpPr/>
          <p:nvPr/>
        </p:nvSpPr>
        <p:spPr>
          <a:xfrm>
            <a:off x="0" y="-8225"/>
            <a:ext cx="223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 name="Picture 1"/>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815732" y="439991"/>
            <a:ext cx="7706747" cy="5665441"/>
          </a:xfrm>
          <a:prstGeom prst="rect">
            <a:avLst/>
          </a:prstGeom>
        </p:spPr>
      </p:pic>
      <p:sp>
        <p:nvSpPr>
          <p:cNvPr id="7" name="Google Shape;282;g104476d1465_1_17">
            <a:extLst>
              <a:ext uri="{FF2B5EF4-FFF2-40B4-BE49-F238E27FC236}">
                <a16:creationId xmlns:a16="http://schemas.microsoft.com/office/drawing/2014/main" id="{CFB9E145-5FFB-C3B5-8340-BCA0964104A1}"/>
              </a:ext>
            </a:extLst>
          </p:cNvPr>
          <p:cNvSpPr txBox="1"/>
          <p:nvPr/>
        </p:nvSpPr>
        <p:spPr>
          <a:xfrm>
            <a:off x="8821333" y="6457675"/>
            <a:ext cx="2634000" cy="400200"/>
          </a:xfrm>
          <a:prstGeom prst="rect">
            <a:avLst/>
          </a:prstGeom>
          <a:noFill/>
          <a:ln>
            <a:noFill/>
          </a:ln>
        </p:spPr>
        <p:txBody>
          <a:bodyPr spcFirstLastPara="1" wrap="square" lIns="91425" tIns="91425" rIns="91425" bIns="91425" anchor="t" anchorCtr="0">
            <a:spAutoFit/>
          </a:bodyPr>
          <a:lstStyle/>
          <a:p>
            <a:pPr lvl="0" algn="r"/>
            <a:r>
              <a:rPr lang="nb-NO" i="1" dirty="0">
                <a:latin typeface="Calibri"/>
                <a:ea typeface="Calibri"/>
                <a:cs typeface="Calibri"/>
                <a:sym typeface="Calibri"/>
              </a:rPr>
              <a:t>volume 2, pg. 323</a:t>
            </a:r>
          </a:p>
        </p:txBody>
      </p:sp>
      <p:pic>
        <p:nvPicPr>
          <p:cNvPr id="8" name="Google Shape;283;g104476d1465_1_17">
            <a:extLst>
              <a:ext uri="{FF2B5EF4-FFF2-40B4-BE49-F238E27FC236}">
                <a16:creationId xmlns:a16="http://schemas.microsoft.com/office/drawing/2014/main" id="{2331EA94-93BB-74C2-F8FF-536388C53DC6}"/>
              </a:ext>
            </a:extLst>
          </p:cNvPr>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59559" y="6200600"/>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22381339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14" name="TextBox 13">
            <a:extLst>
              <a:ext uri="{FF2B5EF4-FFF2-40B4-BE49-F238E27FC236}">
                <a16:creationId xmlns:a16="http://schemas.microsoft.com/office/drawing/2014/main" id="{2FA392D8-3ED3-7940-83A8-1451AA8A08D4}"/>
              </a:ext>
            </a:extLst>
          </p:cNvPr>
          <p:cNvSpPr txBox="1"/>
          <p:nvPr/>
        </p:nvSpPr>
        <p:spPr>
          <a:xfrm>
            <a:off x="847493" y="4115558"/>
            <a:ext cx="10259122" cy="2246769"/>
          </a:xfrm>
          <a:prstGeom prst="rect">
            <a:avLst/>
          </a:prstGeom>
          <a:noFill/>
        </p:spPr>
        <p:txBody>
          <a:bodyPr wrap="square" rtlCol="0">
            <a:spAutoFit/>
          </a:bodyPr>
          <a:lstStyle/>
          <a:p>
            <a:pPr marL="914400" lvl="1" indent="-457200">
              <a:buFont typeface="+mj-lt"/>
              <a:buAutoNum type="alphaLcPeriod"/>
            </a:pPr>
            <a:r>
              <a:rPr lang="en-US" sz="2000" dirty="0">
                <a:latin typeface="Verdana" charset="0"/>
                <a:ea typeface="Verdana" charset="0"/>
                <a:cs typeface="Verdana" charset="0"/>
              </a:rPr>
              <a:t>Explain whether or not there is evidence of an association between tree height and tree type. </a:t>
            </a:r>
          </a:p>
          <a:p>
            <a:pPr marL="914400" lvl="1" indent="-457200"/>
            <a:endParaRPr lang="en-US" sz="2000" dirty="0">
              <a:latin typeface="Verdana" charset="0"/>
              <a:ea typeface="Verdana" charset="0"/>
              <a:cs typeface="Verdana" charset="0"/>
            </a:endParaRPr>
          </a:p>
          <a:p>
            <a:pPr marL="914400" lvl="1" indent="-457200">
              <a:buFont typeface="+mj-lt"/>
              <a:buAutoNum type="alphaLcPeriod"/>
            </a:pPr>
            <a:endParaRPr lang="en-US" sz="2000" dirty="0">
              <a:latin typeface="Verdana" charset="0"/>
              <a:ea typeface="Verdana" charset="0"/>
              <a:cs typeface="Verdana" charset="0"/>
            </a:endParaRPr>
          </a:p>
          <a:p>
            <a:pPr marL="914400" lvl="1" indent="-457200">
              <a:buFont typeface="+mj-lt"/>
              <a:buAutoNum type="alphaLcPeriod" startAt="2"/>
            </a:pPr>
            <a:r>
              <a:rPr lang="en-US" sz="2000" dirty="0">
                <a:latin typeface="Verdana" charset="0"/>
                <a:ea typeface="Verdana" charset="0"/>
                <a:cs typeface="Verdana" charset="0"/>
              </a:rPr>
              <a:t>Explain which data display was more helpful in determining whether or not there is evidence of an association between height and type of tree. </a:t>
            </a:r>
          </a:p>
        </p:txBody>
      </p:sp>
      <p:sp>
        <p:nvSpPr>
          <p:cNvPr id="6" name="Google Shape;278;g104476d1465_1_17">
            <a:extLst>
              <a:ext uri="{FF2B5EF4-FFF2-40B4-BE49-F238E27FC236}">
                <a16:creationId xmlns:a16="http://schemas.microsoft.com/office/drawing/2014/main" id="{A2E66A11-7F46-5543-97C7-B5D75DA087BD}"/>
              </a:ext>
            </a:extLst>
          </p:cNvPr>
          <p:cNvSpPr/>
          <p:nvPr/>
        </p:nvSpPr>
        <p:spPr>
          <a:xfrm>
            <a:off x="0" y="-8225"/>
            <a:ext cx="223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 name="Picture 1"/>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2189542" y="290974"/>
            <a:ext cx="6938342" cy="3729236"/>
          </a:xfrm>
          <a:prstGeom prst="rect">
            <a:avLst/>
          </a:prstGeom>
        </p:spPr>
      </p:pic>
      <p:sp>
        <p:nvSpPr>
          <p:cNvPr id="7" name="Google Shape;282;g104476d1465_1_17">
            <a:extLst>
              <a:ext uri="{FF2B5EF4-FFF2-40B4-BE49-F238E27FC236}">
                <a16:creationId xmlns:a16="http://schemas.microsoft.com/office/drawing/2014/main" id="{0E919CB8-B425-362C-15C3-6CF6619A9385}"/>
              </a:ext>
            </a:extLst>
          </p:cNvPr>
          <p:cNvSpPr txBox="1"/>
          <p:nvPr/>
        </p:nvSpPr>
        <p:spPr>
          <a:xfrm>
            <a:off x="8821333" y="6457675"/>
            <a:ext cx="2634000" cy="400200"/>
          </a:xfrm>
          <a:prstGeom prst="rect">
            <a:avLst/>
          </a:prstGeom>
          <a:noFill/>
          <a:ln>
            <a:noFill/>
          </a:ln>
        </p:spPr>
        <p:txBody>
          <a:bodyPr spcFirstLastPara="1" wrap="square" lIns="91425" tIns="91425" rIns="91425" bIns="91425" anchor="t" anchorCtr="0">
            <a:spAutoFit/>
          </a:bodyPr>
          <a:lstStyle/>
          <a:p>
            <a:pPr lvl="0" algn="r"/>
            <a:r>
              <a:rPr lang="nb-NO" i="1" dirty="0">
                <a:latin typeface="Calibri"/>
                <a:ea typeface="Calibri"/>
                <a:cs typeface="Calibri"/>
                <a:sym typeface="Calibri"/>
              </a:rPr>
              <a:t>volume 2, pg. 324</a:t>
            </a:r>
          </a:p>
        </p:txBody>
      </p:sp>
      <p:pic>
        <p:nvPicPr>
          <p:cNvPr id="8" name="Google Shape;283;g104476d1465_1_17">
            <a:extLst>
              <a:ext uri="{FF2B5EF4-FFF2-40B4-BE49-F238E27FC236}">
                <a16:creationId xmlns:a16="http://schemas.microsoft.com/office/drawing/2014/main" id="{9302F303-F0D4-D4DC-AD0D-96B89207C6F2}"/>
              </a:ext>
            </a:extLst>
          </p:cNvPr>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59559" y="6200600"/>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45211366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4050"/>
            <a:ext cx="2731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3726339" y="2779100"/>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Wrap-Up</a:t>
            </a:r>
            <a:endParaRPr sz="5100" b="1" dirty="0">
              <a:solidFill>
                <a:srgbClr val="3F2A67"/>
              </a:solidFill>
              <a:latin typeface="Verdana"/>
              <a:ea typeface="Verdana"/>
              <a:cs typeface="Verdana"/>
              <a:sym typeface="Verdana"/>
            </a:endParaRPr>
          </a:p>
        </p:txBody>
      </p:sp>
      <p:pic>
        <p:nvPicPr>
          <p:cNvPr id="7" name="Google Shape;450;g103996e1364_0_457">
            <a:extLst>
              <a:ext uri="{FF2B5EF4-FFF2-40B4-BE49-F238E27FC236}">
                <a16:creationId xmlns:a16="http://schemas.microsoft.com/office/drawing/2014/main" id="{DE95225C-59B5-E847-AFA2-B83DCFFA10D8}"/>
              </a:ext>
            </a:extLst>
          </p:cNvPr>
          <p:cNvPicPr preferRelativeResize="0"/>
          <p:nvPr/>
        </p:nvPicPr>
        <p:blipFill rotWithShape="1">
          <a:blip r:embed="rId3">
            <a:alphaModFix/>
          </a:blip>
          <a:srcRect/>
          <a:stretch/>
        </p:blipFill>
        <p:spPr>
          <a:xfrm>
            <a:off x="2905333" y="2933695"/>
            <a:ext cx="1008299" cy="1016513"/>
          </a:xfrm>
          <a:prstGeom prst="rect">
            <a:avLst/>
          </a:prstGeom>
          <a:noFill/>
          <a:ln>
            <a:noFill/>
          </a:ln>
          <a:effectLst>
            <a:outerShdw blurRad="50800" dist="38100" dir="2700000" algn="tl" rotWithShape="0">
              <a:prstClr val="black">
                <a:alpha val="40000"/>
              </a:prstClr>
            </a:outerShdw>
          </a:effectLst>
        </p:spPr>
      </p:pic>
      <p:sp>
        <p:nvSpPr>
          <p:cNvPr id="8" name="Google Shape;282;g104476d1465_1_17">
            <a:extLst>
              <a:ext uri="{FF2B5EF4-FFF2-40B4-BE49-F238E27FC236}">
                <a16:creationId xmlns:a16="http://schemas.microsoft.com/office/drawing/2014/main" id="{6495B97D-6080-CD8A-1B06-FB37CFEAFD75}"/>
              </a:ext>
            </a:extLst>
          </p:cNvPr>
          <p:cNvSpPr txBox="1"/>
          <p:nvPr/>
        </p:nvSpPr>
        <p:spPr>
          <a:xfrm>
            <a:off x="8821333" y="6457675"/>
            <a:ext cx="2634000" cy="400200"/>
          </a:xfrm>
          <a:prstGeom prst="rect">
            <a:avLst/>
          </a:prstGeom>
          <a:noFill/>
          <a:ln>
            <a:noFill/>
          </a:ln>
        </p:spPr>
        <p:txBody>
          <a:bodyPr spcFirstLastPara="1" wrap="square" lIns="91425" tIns="91425" rIns="91425" bIns="91425" anchor="t" anchorCtr="0">
            <a:spAutoFit/>
          </a:bodyPr>
          <a:lstStyle/>
          <a:p>
            <a:pPr lvl="0" algn="r"/>
            <a:r>
              <a:rPr lang="nb-NO" i="1" dirty="0">
                <a:latin typeface="Calibri"/>
                <a:ea typeface="Calibri"/>
                <a:cs typeface="Calibri"/>
                <a:sym typeface="Calibri"/>
              </a:rPr>
              <a:t>volume 2, pg. 324</a:t>
            </a:r>
          </a:p>
        </p:txBody>
      </p:sp>
      <p:pic>
        <p:nvPicPr>
          <p:cNvPr id="9" name="Google Shape;283;g104476d1465_1_17">
            <a:extLst>
              <a:ext uri="{FF2B5EF4-FFF2-40B4-BE49-F238E27FC236}">
                <a16:creationId xmlns:a16="http://schemas.microsoft.com/office/drawing/2014/main" id="{B1EDF530-C99E-CD01-6F01-CD961E7044BC}"/>
              </a:ext>
            </a:extLst>
          </p:cNvPr>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59559" y="6200600"/>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67690871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 name="Picture 1"/>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3005334" y="2586355"/>
            <a:ext cx="4612523" cy="4173235"/>
          </a:xfrm>
          <a:prstGeom prst="rect">
            <a:avLst/>
          </a:prstGeom>
        </p:spPr>
      </p:pic>
      <p:sp>
        <p:nvSpPr>
          <p:cNvPr id="7" name="Google Shape;456;g103996e1364_0_463">
            <a:extLst>
              <a:ext uri="{FF2B5EF4-FFF2-40B4-BE49-F238E27FC236}">
                <a16:creationId xmlns:a16="http://schemas.microsoft.com/office/drawing/2014/main" id="{68C03D65-F0BF-3F41-B52A-024F47388982}"/>
              </a:ext>
            </a:extLst>
          </p:cNvPr>
          <p:cNvSpPr txBox="1">
            <a:spLocks/>
          </p:cNvSpPr>
          <p:nvPr/>
        </p:nvSpPr>
        <p:spPr>
          <a:xfrm>
            <a:off x="1449658" y="60325"/>
            <a:ext cx="10436992" cy="1182804"/>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400" b="1" dirty="0">
                <a:solidFill>
                  <a:srgbClr val="3F2A67"/>
                </a:solidFill>
                <a:latin typeface="Verdana"/>
                <a:ea typeface="Verdana"/>
                <a:cs typeface="Verdana"/>
                <a:sym typeface="Verdana"/>
              </a:rPr>
              <a:t>14.4.5 Wrap-Up: Reflection</a:t>
            </a:r>
          </a:p>
        </p:txBody>
      </p:sp>
      <p:pic>
        <p:nvPicPr>
          <p:cNvPr id="9" name="Google Shape;458;g103996e1364_0_463">
            <a:extLst>
              <a:ext uri="{FF2B5EF4-FFF2-40B4-BE49-F238E27FC236}">
                <a16:creationId xmlns:a16="http://schemas.microsoft.com/office/drawing/2014/main" id="{EEA44D6C-2366-AC41-B1B5-EDDC34786A66}"/>
              </a:ext>
            </a:extLst>
          </p:cNvPr>
          <p:cNvPicPr preferRelativeResize="0"/>
          <p:nvPr/>
        </p:nvPicPr>
        <p:blipFill rotWithShape="1">
          <a:blip r:embed="rId4">
            <a:alphaModFix/>
          </a:blip>
          <a:srcRect/>
          <a:stretch/>
        </p:blipFill>
        <p:spPr>
          <a:xfrm>
            <a:off x="561382" y="278077"/>
            <a:ext cx="747300" cy="747300"/>
          </a:xfrm>
          <a:prstGeom prst="rect">
            <a:avLst/>
          </a:prstGeom>
          <a:noFill/>
          <a:ln>
            <a:noFill/>
          </a:ln>
          <a:effectLst>
            <a:outerShdw blurRad="50800" dist="38100" dir="2700000" algn="tl" rotWithShape="0">
              <a:prstClr val="black">
                <a:alpha val="40000"/>
              </a:prstClr>
            </a:outerShdw>
          </a:effectLst>
        </p:spPr>
      </p:pic>
      <p:sp>
        <p:nvSpPr>
          <p:cNvPr id="12" name="TextBox 11">
            <a:extLst>
              <a:ext uri="{FF2B5EF4-FFF2-40B4-BE49-F238E27FC236}">
                <a16:creationId xmlns:a16="http://schemas.microsoft.com/office/drawing/2014/main" id="{0370EDB7-6994-3D43-ABF9-E04CBAFB9CD9}"/>
              </a:ext>
            </a:extLst>
          </p:cNvPr>
          <p:cNvSpPr txBox="1"/>
          <p:nvPr/>
        </p:nvSpPr>
        <p:spPr>
          <a:xfrm>
            <a:off x="847492" y="1386026"/>
            <a:ext cx="10292576" cy="1200329"/>
          </a:xfrm>
          <a:prstGeom prst="rect">
            <a:avLst/>
          </a:prstGeom>
          <a:noFill/>
        </p:spPr>
        <p:txBody>
          <a:bodyPr wrap="square" rtlCol="0">
            <a:spAutoFit/>
          </a:bodyPr>
          <a:lstStyle/>
          <a:p>
            <a:pPr marL="457200" lvl="4" indent="-457200">
              <a:buFont typeface="+mj-lt"/>
              <a:buAutoNum type="arabicPeriod"/>
            </a:pPr>
            <a:r>
              <a:rPr lang="en-US" sz="2400" dirty="0">
                <a:latin typeface="Verdana" charset="0"/>
                <a:ea typeface="Verdana" charset="0"/>
                <a:cs typeface="Verdana" charset="0"/>
              </a:rPr>
              <a:t>Plot a point in one of the quadrants below to indicate where you are on today’s learning target, “I can determine possible associations from a two-way table and segmented bar graph.”</a:t>
            </a:r>
            <a:endParaRPr lang="en-US" sz="1600" dirty="0">
              <a:latin typeface="Verdana" charset="0"/>
              <a:ea typeface="Verdana" charset="0"/>
              <a:cs typeface="Verdana" charset="0"/>
            </a:endParaRPr>
          </a:p>
        </p:txBody>
      </p:sp>
      <p:sp>
        <p:nvSpPr>
          <p:cNvPr id="8" name="Google Shape;278;g104476d1465_1_17">
            <a:extLst>
              <a:ext uri="{FF2B5EF4-FFF2-40B4-BE49-F238E27FC236}">
                <a16:creationId xmlns:a16="http://schemas.microsoft.com/office/drawing/2014/main" id="{535320C0-DAB2-7C41-B3D0-5B31075C43FF}"/>
              </a:ext>
            </a:extLst>
          </p:cNvPr>
          <p:cNvSpPr/>
          <p:nvPr/>
        </p:nvSpPr>
        <p:spPr>
          <a:xfrm>
            <a:off x="0" y="-8225"/>
            <a:ext cx="223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10" name="Google Shape;282;g104476d1465_1_17">
            <a:extLst>
              <a:ext uri="{FF2B5EF4-FFF2-40B4-BE49-F238E27FC236}">
                <a16:creationId xmlns:a16="http://schemas.microsoft.com/office/drawing/2014/main" id="{165FED03-13A1-DF0E-1902-C292EFC96E03}"/>
              </a:ext>
            </a:extLst>
          </p:cNvPr>
          <p:cNvSpPr txBox="1"/>
          <p:nvPr/>
        </p:nvSpPr>
        <p:spPr>
          <a:xfrm>
            <a:off x="8821333" y="6457675"/>
            <a:ext cx="2634000" cy="400200"/>
          </a:xfrm>
          <a:prstGeom prst="rect">
            <a:avLst/>
          </a:prstGeom>
          <a:noFill/>
          <a:ln>
            <a:noFill/>
          </a:ln>
        </p:spPr>
        <p:txBody>
          <a:bodyPr spcFirstLastPara="1" wrap="square" lIns="91425" tIns="91425" rIns="91425" bIns="91425" anchor="t" anchorCtr="0">
            <a:spAutoFit/>
          </a:bodyPr>
          <a:lstStyle/>
          <a:p>
            <a:pPr lvl="0" algn="r"/>
            <a:r>
              <a:rPr lang="nb-NO" i="1" dirty="0">
                <a:latin typeface="Calibri"/>
                <a:ea typeface="Calibri"/>
                <a:cs typeface="Calibri"/>
                <a:sym typeface="Calibri"/>
              </a:rPr>
              <a:t>volume 2, pg. 324</a:t>
            </a:r>
          </a:p>
        </p:txBody>
      </p:sp>
      <p:pic>
        <p:nvPicPr>
          <p:cNvPr id="11" name="Google Shape;283;g104476d1465_1_17">
            <a:extLst>
              <a:ext uri="{FF2B5EF4-FFF2-40B4-BE49-F238E27FC236}">
                <a16:creationId xmlns:a16="http://schemas.microsoft.com/office/drawing/2014/main" id="{B00234CD-F6CE-47BC-D361-770732EF9A1E}"/>
              </a:ext>
            </a:extLst>
          </p:cNvPr>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559559" y="6200600"/>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553995615"/>
      </p:ext>
    </p:extLst>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1381</TotalTime>
  <Words>989</Words>
  <Application>Microsoft Office PowerPoint</Application>
  <PresentationFormat>Widescreen</PresentationFormat>
  <Paragraphs>157</Paragraphs>
  <Slides>21</Slides>
  <Notes>21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21</vt:i4>
      </vt:variant>
    </vt:vector>
  </HeadingPairs>
  <TitlesOfParts>
    <vt:vector size="29" baseType="lpstr">
      <vt:lpstr>Arial</vt:lpstr>
      <vt:lpstr>Arial Black</vt:lpstr>
      <vt:lpstr>Calibri</vt:lpstr>
      <vt:lpstr>Cambria Math</vt:lpstr>
      <vt:lpstr>Century Gothic</vt:lpstr>
      <vt:lpstr>Verdana</vt:lpstr>
      <vt:lpstr>Wingdings</vt:lpstr>
      <vt:lpstr>1_Office Theme</vt:lpstr>
      <vt:lpstr>Algebra 1  Unit 14, Lesson 4  Determining Possible Associations in Data  Volume 2, pg. 321  </vt:lpstr>
      <vt:lpstr>Benchmark</vt:lpstr>
      <vt:lpstr>PowerPoint Presentation</vt:lpstr>
      <vt:lpstr>PowerPoint Presentation</vt:lpstr>
      <vt:lpstr>Warm-Up</vt:lpstr>
      <vt:lpstr>PowerPoint Presentation</vt:lpstr>
      <vt:lpstr>PowerPoint Presentation</vt:lpstr>
      <vt:lpstr>Guided Instruction</vt:lpstr>
      <vt:lpstr>PowerPoint Presentation</vt:lpstr>
      <vt:lpstr>PowerPoint Presentation</vt:lpstr>
      <vt:lpstr>PowerPoint Presentation</vt:lpstr>
      <vt:lpstr>PowerPoint Presentation</vt:lpstr>
      <vt:lpstr>Bring It Together</vt:lpstr>
      <vt:lpstr>PowerPoint Presentation</vt:lpstr>
      <vt:lpstr>PowerPoint Presentation</vt:lpstr>
      <vt:lpstr>Try It</vt:lpstr>
      <vt:lpstr>PowerPoint Presentation</vt:lpstr>
      <vt:lpstr>PowerPoint Presentation</vt:lpstr>
      <vt:lpstr>PowerPoint Presentation</vt:lpstr>
      <vt:lpstr>Wrap-Up</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Algebra 2 Unit 4 Lesson 4</dc:title>
  <dc:creator>Karen McKenzie</dc:creator>
  <cp:lastModifiedBy>Natasha Dease</cp:lastModifiedBy>
  <cp:revision>25</cp:revision>
  <dcterms:created xsi:type="dcterms:W3CDTF">2015-03-17T18:51:18Z</dcterms:created>
  <dcterms:modified xsi:type="dcterms:W3CDTF">2022-07-01T14:03:20Z</dcterms:modified>
</cp:coreProperties>
</file>